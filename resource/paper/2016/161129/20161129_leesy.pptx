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70" r:id="rId9"/>
    <p:sldId id="268" r:id="rId10"/>
    <p:sldId id="272" r:id="rId11"/>
    <p:sldId id="273" r:id="rId12"/>
    <p:sldId id="274" r:id="rId13"/>
    <p:sldId id="275" r:id="rId14"/>
    <p:sldId id="276" r:id="rId15"/>
    <p:sldId id="264" r:id="rId16"/>
    <p:sldId id="265" r:id="rId17"/>
    <p:sldId id="267" r:id="rId18"/>
    <p:sldId id="266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50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42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411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71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59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59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01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1142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8811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400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D3EC4-1565-416E-A0BD-585469334933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988B-83D1-4230-82E2-53C17EA3C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13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A </a:t>
            </a:r>
            <a:r>
              <a:rPr lang="en-US" altLang="zh-TW" b="1" dirty="0" smtClean="0"/>
              <a:t>Fast Algorithm </a:t>
            </a:r>
            <a:r>
              <a:rPr lang="en-US" altLang="zh-TW" b="1" dirty="0"/>
              <a:t>for </a:t>
            </a:r>
            <a:r>
              <a:rPr lang="en-US" altLang="zh-TW" b="1" dirty="0" smtClean="0"/>
              <a:t>Computing Longest Common Subsequences</a:t>
            </a:r>
            <a:r>
              <a:rPr lang="en-US" altLang="zh-TW" b="1" dirty="0"/>
              <a:t/>
            </a:r>
            <a:br>
              <a:rPr lang="en-US" altLang="zh-TW" b="1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James W. Hunt, Thomas G. Szymanski </a:t>
            </a:r>
          </a:p>
          <a:p>
            <a:r>
              <a:rPr lang="en-US" altLang="zh-TW" dirty="0" smtClean="0"/>
              <a:t>Communications of the ACM </a:t>
            </a:r>
            <a:endParaRPr lang="en-US" altLang="zh-TW" dirty="0" smtClean="0"/>
          </a:p>
          <a:p>
            <a:r>
              <a:rPr lang="en-US" altLang="zh-TW" dirty="0" smtClean="0"/>
              <a:t>Pages 350-353 </a:t>
            </a:r>
          </a:p>
          <a:p>
            <a:r>
              <a:rPr lang="en-US" altLang="zh-TW" dirty="0"/>
              <a:t>May 1977 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143000" y="5257800"/>
            <a:ext cx="6858000" cy="124182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 smtClean="0"/>
              <a:t>Presenter : </a:t>
            </a:r>
            <a:r>
              <a:rPr lang="en-US" altLang="zh-TW" sz="1800" dirty="0" err="1" smtClean="0"/>
              <a:t>Shie</a:t>
            </a:r>
            <a:r>
              <a:rPr lang="en-US" altLang="zh-TW" sz="1800" dirty="0" smtClean="0"/>
              <a:t>-Yan Lee</a:t>
            </a:r>
          </a:p>
          <a:p>
            <a:r>
              <a:rPr lang="en-US" altLang="zh-TW" sz="1800" dirty="0" smtClean="0"/>
              <a:t>Date : 2016/11/29</a:t>
            </a:r>
            <a:endParaRPr lang="en-US" altLang="zh-TW" sz="1800" dirty="0"/>
          </a:p>
          <a:p>
            <a:endParaRPr lang="en-US" altLang="zh-TW" sz="1800" dirty="0"/>
          </a:p>
          <a:p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1247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714376" y="1690689"/>
                <a:ext cx="7886700" cy="326350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Previously published algorithms for finding the longest common subsequence of two sequences of length n have had a best-case running time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r>
                  <a:rPr lang="en-US" altLang="zh-TW" dirty="0" smtClean="0"/>
                  <a:t>An algorithm for this problem is presented which has a running time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altLang="zh-TW" dirty="0" smtClean="0"/>
                  <a:t>where r is the total number of ordered pairs of positions at which the two sequences match. Thus in the worst case the algorithm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has a running time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. However, for those applications where most positions of one sequence match relatively few positions in the other sequence, a running time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dirty="0" smtClean="0"/>
                  <a:t>can be expected. </a:t>
                </a: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4376" y="1690689"/>
                <a:ext cx="7886700" cy="3263504"/>
              </a:xfrm>
              <a:blipFill rotWithShape="0">
                <a:blip r:embed="rId2"/>
                <a:stretch>
                  <a:fillRect l="-1391" t="-4664" r="-1855" b="-20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08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Threshhold</a:t>
            </a:r>
            <a:r>
              <a:rPr lang="en-US" altLang="zh-TW" dirty="0" smtClean="0"/>
              <a:t> Value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28651" y="3448051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dirty="0" smtClean="0"/>
              <a:t>a b c b d </a:t>
            </a:r>
            <a:r>
              <a:rPr lang="en-US" altLang="zh-TW" sz="3000" dirty="0" err="1" smtClean="0"/>
              <a:t>d</a:t>
            </a:r>
            <a:r>
              <a:rPr lang="en-US" altLang="zh-TW" sz="3000" dirty="0" smtClean="0"/>
              <a:t> a</a:t>
            </a:r>
            <a:endParaRPr lang="en-US" altLang="zh-TW" sz="3000" dirty="0"/>
          </a:p>
          <a:p>
            <a:r>
              <a:rPr lang="en-US" altLang="zh-TW" sz="3000" dirty="0"/>
              <a:t>String B : </a:t>
            </a:r>
            <a:r>
              <a:rPr lang="en-US" altLang="zh-TW" sz="3000" dirty="0" smtClean="0"/>
              <a:t>b a d b a b d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00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smallest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sz="3000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sz="3000" dirty="0"/>
                  <a:t> </a:t>
                </a:r>
                <a:r>
                  <a:rPr lang="en-US" altLang="zh-TW" sz="30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[1: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3000" dirty="0"/>
                  <a:t> </a:t>
                </a:r>
                <a:endParaRPr lang="en-US" altLang="zh-TW" sz="3000" dirty="0"/>
              </a:p>
              <a:p>
                <a:pPr marL="0" indent="0">
                  <a:buNone/>
                </a:pPr>
                <a:r>
                  <a:rPr lang="en-US" altLang="zh-TW" sz="3000" dirty="0"/>
                  <a:t>            contain a common subsequence of length k</a:t>
                </a:r>
                <a:endParaRPr lang="zh-TW" altLang="en-US" sz="3000" dirty="0"/>
              </a:p>
              <a:p>
                <a:pPr marL="0" indent="0"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8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  <a:blipFill rotWithShape="0">
                <a:blip r:embed="rId2"/>
                <a:stretch>
                  <a:fillRect t="-3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6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00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smallest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sz="3000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sz="3000" dirty="0"/>
                  <a:t> </a:t>
                </a:r>
                <a:r>
                  <a:rPr lang="en-US" altLang="zh-TW" sz="30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[1: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3000" dirty="0"/>
                  <a:t> </a:t>
                </a:r>
                <a:endParaRPr lang="en-US" altLang="zh-TW" sz="3000" dirty="0"/>
              </a:p>
              <a:p>
                <a:pPr marL="0" indent="0">
                  <a:buNone/>
                </a:pPr>
                <a:r>
                  <a:rPr lang="en-US" altLang="zh-TW" sz="3000" dirty="0"/>
                  <a:t>            contain a common subsequence of length k</a:t>
                </a:r>
                <a:endParaRPr lang="zh-TW" altLang="en-US" sz="3000" dirty="0"/>
              </a:p>
              <a:p>
                <a:pPr marL="0" indent="0"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  <a:blipFill rotWithShape="0">
                <a:blip r:embed="rId2"/>
                <a:stretch>
                  <a:fillRect t="-3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628651" y="3448051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dirty="0" smtClean="0"/>
              <a:t>a </a:t>
            </a:r>
            <a:r>
              <a:rPr lang="en-US" altLang="zh-TW" sz="3000" b="1" dirty="0" smtClean="0"/>
              <a:t>b</a:t>
            </a:r>
            <a:r>
              <a:rPr lang="en-US" altLang="zh-TW" sz="3000" dirty="0" smtClean="0"/>
              <a:t> c b d </a:t>
            </a:r>
            <a:r>
              <a:rPr lang="en-US" altLang="zh-TW" sz="3000" dirty="0" err="1" smtClean="0">
                <a:solidFill>
                  <a:schemeClr val="bg1">
                    <a:lumMod val="75000"/>
                  </a:schemeClr>
                </a:solidFill>
              </a:rPr>
              <a:t>d</a:t>
            </a: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</a:rPr>
              <a:t> a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sz="3000" dirty="0"/>
              <a:t>String B : </a:t>
            </a:r>
            <a:r>
              <a:rPr lang="en-US" altLang="zh-TW" sz="3000" b="1" dirty="0" smtClean="0"/>
              <a:t>b</a:t>
            </a:r>
            <a:r>
              <a:rPr lang="en-US" altLang="zh-TW" sz="3000" dirty="0" smtClean="0"/>
              <a:t> </a:t>
            </a: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</a:rPr>
              <a:t>a d b a b d</a:t>
            </a:r>
            <a:endParaRPr lang="zh-TW" altLang="en-US" sz="3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Threshhold</a:t>
            </a:r>
            <a:r>
              <a:rPr lang="en-US" altLang="zh-TW" dirty="0" smtClean="0"/>
              <a:t> Value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572000" y="3448051"/>
                <a:ext cx="1622175" cy="5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7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700" i="1">
                              <a:latin typeface="Cambria Math" panose="02040503050406030204" pitchFamily="18" charset="0"/>
                            </a:rPr>
                            <m:t> 5 , 1</m:t>
                          </m:r>
                        </m:sub>
                      </m:sSub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7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7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448051"/>
                <a:ext cx="1622175" cy="5260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50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628651" y="3448051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dirty="0" smtClean="0"/>
              <a:t>a </a:t>
            </a:r>
            <a:r>
              <a:rPr lang="en-US" altLang="zh-TW" sz="3000" b="1" dirty="0" smtClean="0"/>
              <a:t>b</a:t>
            </a:r>
            <a:r>
              <a:rPr lang="en-US" altLang="zh-TW" sz="3000" dirty="0" smtClean="0"/>
              <a:t> c b </a:t>
            </a:r>
            <a:r>
              <a:rPr lang="en-US" altLang="zh-TW" sz="3000" b="1" dirty="0" smtClean="0"/>
              <a:t>d</a:t>
            </a:r>
            <a:r>
              <a:rPr lang="en-US" altLang="zh-TW" sz="3000" dirty="0" smtClean="0"/>
              <a:t> </a:t>
            </a:r>
            <a:r>
              <a:rPr lang="en-US" altLang="zh-TW" sz="3000" dirty="0" err="1" smtClean="0">
                <a:solidFill>
                  <a:schemeClr val="bg1">
                    <a:lumMod val="75000"/>
                  </a:schemeClr>
                </a:solidFill>
              </a:rPr>
              <a:t>d</a:t>
            </a: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</a:rPr>
              <a:t> a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sz="3000" dirty="0"/>
              <a:t>String B : </a:t>
            </a:r>
            <a:r>
              <a:rPr lang="en-US" altLang="zh-TW" sz="3000" b="1" dirty="0" smtClean="0"/>
              <a:t>b</a:t>
            </a:r>
            <a:r>
              <a:rPr lang="en-US" altLang="zh-TW" sz="3000" dirty="0" smtClean="0"/>
              <a:t> a </a:t>
            </a:r>
            <a:r>
              <a:rPr lang="en-US" altLang="zh-TW" sz="3000" b="1" dirty="0" smtClean="0"/>
              <a:t>d</a:t>
            </a:r>
            <a:r>
              <a:rPr lang="en-US" altLang="zh-TW" sz="3000" dirty="0" smtClean="0"/>
              <a:t> </a:t>
            </a: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</a:rPr>
              <a:t>b a b d</a:t>
            </a:r>
            <a:endParaRPr lang="zh-TW" altLang="en-US" sz="3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Threshhold</a:t>
            </a:r>
            <a:r>
              <a:rPr lang="en-US" altLang="zh-TW" dirty="0" smtClean="0"/>
              <a:t> Value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572000" y="3448051"/>
                <a:ext cx="1545231" cy="5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7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700" i="1">
                              <a:latin typeface="Cambria Math" panose="02040503050406030204" pitchFamily="18" charset="0"/>
                            </a:rPr>
                            <m:t> 5 , </m:t>
                          </m:r>
                          <m:r>
                            <a:rPr lang="en-US" altLang="zh-TW" sz="2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7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7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448051"/>
                <a:ext cx="1545231" cy="52604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00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smallest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sz="3000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sz="3000" dirty="0"/>
                  <a:t> </a:t>
                </a:r>
                <a:r>
                  <a:rPr lang="en-US" altLang="zh-TW" sz="30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[1: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3000" dirty="0"/>
                  <a:t> </a:t>
                </a:r>
                <a:endParaRPr lang="en-US" altLang="zh-TW" sz="3000" dirty="0"/>
              </a:p>
              <a:p>
                <a:pPr marL="0" indent="0">
                  <a:buNone/>
                </a:pPr>
                <a:r>
                  <a:rPr lang="en-US" altLang="zh-TW" sz="3000" dirty="0"/>
                  <a:t>            contain a common subsequence of length k</a:t>
                </a:r>
                <a:endParaRPr lang="zh-TW" altLang="en-US" sz="3000" dirty="0"/>
              </a:p>
              <a:p>
                <a:pPr marL="0" indent="0"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12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  <a:blipFill rotWithShape="0">
                <a:blip r:embed="rId3"/>
                <a:stretch>
                  <a:fillRect t="-3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13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00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smallest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sz="3000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sz="3000" dirty="0"/>
                  <a:t> </a:t>
                </a:r>
                <a:r>
                  <a:rPr lang="en-US" altLang="zh-TW" sz="30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[1: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3000" dirty="0"/>
                  <a:t> </a:t>
                </a:r>
                <a:endParaRPr lang="en-US" altLang="zh-TW" sz="3000" dirty="0"/>
              </a:p>
              <a:p>
                <a:pPr marL="0" indent="0">
                  <a:buNone/>
                </a:pPr>
                <a:r>
                  <a:rPr lang="en-US" altLang="zh-TW" sz="3000" dirty="0"/>
                  <a:t>            contain a common subsequence of length k</a:t>
                </a:r>
                <a:endParaRPr lang="zh-TW" altLang="en-US" sz="3000" dirty="0"/>
              </a:p>
              <a:p>
                <a:pPr marL="0" indent="0"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7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  <a:blipFill rotWithShape="0">
                <a:blip r:embed="rId2"/>
                <a:stretch>
                  <a:fillRect t="-3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628651" y="3448051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b="1" dirty="0" smtClean="0"/>
              <a:t>a</a:t>
            </a:r>
            <a:r>
              <a:rPr lang="en-US" altLang="zh-TW" sz="3000" dirty="0" smtClean="0"/>
              <a:t> </a:t>
            </a:r>
            <a:r>
              <a:rPr lang="en-US" altLang="zh-TW" sz="3000" b="1" dirty="0" smtClean="0"/>
              <a:t>b</a:t>
            </a:r>
            <a:r>
              <a:rPr lang="en-US" altLang="zh-TW" sz="3000" dirty="0" smtClean="0"/>
              <a:t> c </a:t>
            </a:r>
            <a:r>
              <a:rPr lang="en-US" altLang="zh-TW" sz="3000" b="1" dirty="0" smtClean="0"/>
              <a:t>b</a:t>
            </a:r>
            <a:r>
              <a:rPr lang="en-US" altLang="zh-TW" sz="3000" dirty="0" smtClean="0"/>
              <a:t> d </a:t>
            </a:r>
            <a:r>
              <a:rPr lang="en-US" altLang="zh-TW" sz="3000" dirty="0" err="1" smtClean="0">
                <a:solidFill>
                  <a:schemeClr val="bg1">
                    <a:lumMod val="75000"/>
                  </a:schemeClr>
                </a:solidFill>
              </a:rPr>
              <a:t>d</a:t>
            </a: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</a:rPr>
              <a:t> a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sz="3000" dirty="0"/>
              <a:t>String B : </a:t>
            </a:r>
            <a:r>
              <a:rPr lang="en-US" altLang="zh-TW" sz="3000" dirty="0" smtClean="0"/>
              <a:t>b </a:t>
            </a:r>
            <a:r>
              <a:rPr lang="en-US" altLang="zh-TW" sz="3000" b="1" dirty="0" smtClean="0"/>
              <a:t>a</a:t>
            </a:r>
            <a:r>
              <a:rPr lang="en-US" altLang="zh-TW" sz="3000" dirty="0" smtClean="0"/>
              <a:t> d </a:t>
            </a:r>
            <a:r>
              <a:rPr lang="en-US" altLang="zh-TW" sz="3000" b="1" dirty="0" smtClean="0"/>
              <a:t>b</a:t>
            </a:r>
            <a:r>
              <a:rPr lang="en-US" altLang="zh-TW" sz="3000" dirty="0" smtClean="0"/>
              <a:t> a </a:t>
            </a:r>
            <a:r>
              <a:rPr lang="en-US" altLang="zh-TW" sz="3000" b="1" dirty="0" smtClean="0"/>
              <a:t>b</a:t>
            </a:r>
            <a:r>
              <a:rPr lang="en-US" altLang="zh-TW" sz="3000" dirty="0" smtClean="0"/>
              <a:t> </a:t>
            </a:r>
            <a:r>
              <a:rPr lang="en-US" altLang="zh-TW" sz="3000" b="1" dirty="0" smtClean="0"/>
              <a:t>d</a:t>
            </a:r>
            <a:endParaRPr lang="zh-TW" altLang="en-US" sz="3000" b="1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Threshhold</a:t>
            </a:r>
            <a:r>
              <a:rPr lang="en-US" altLang="zh-TW" dirty="0" smtClean="0"/>
              <a:t> Value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572000" y="3448051"/>
                <a:ext cx="1545230" cy="5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7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700" i="1">
                              <a:latin typeface="Cambria Math" panose="02040503050406030204" pitchFamily="18" charset="0"/>
                            </a:rPr>
                            <m:t> 5 , </m:t>
                          </m:r>
                          <m:r>
                            <a:rPr lang="en-US" altLang="zh-TW" sz="27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7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7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448051"/>
                <a:ext cx="1545230" cy="5260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22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5000626" y="438658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dirty="0" smtClean="0"/>
              <a:t>a b c b d </a:t>
            </a:r>
            <a:r>
              <a:rPr lang="en-US" altLang="zh-TW" sz="3000" dirty="0" err="1" smtClean="0"/>
              <a:t>d</a:t>
            </a:r>
            <a:r>
              <a:rPr lang="en-US" altLang="zh-TW" sz="3000" dirty="0" smtClean="0"/>
              <a:t> a</a:t>
            </a:r>
            <a:endParaRPr lang="en-US" altLang="zh-TW" sz="3000" dirty="0"/>
          </a:p>
          <a:p>
            <a:r>
              <a:rPr lang="en-US" altLang="zh-TW" sz="3000" dirty="0"/>
              <a:t>String B : </a:t>
            </a:r>
            <a:r>
              <a:rPr lang="en-US" altLang="zh-TW" sz="3000" dirty="0" smtClean="0"/>
              <a:t>b a d b a b d</a:t>
            </a:r>
            <a:endParaRPr lang="zh-TW" altLang="en-US" sz="3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00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smallest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sz="3000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sz="3000" dirty="0"/>
                  <a:t> </a:t>
                </a:r>
                <a:r>
                  <a:rPr lang="en-US" altLang="zh-TW" sz="30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[1: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3000" dirty="0"/>
                  <a:t> </a:t>
                </a:r>
                <a:endParaRPr lang="en-US" altLang="zh-TW" sz="3000" dirty="0"/>
              </a:p>
              <a:p>
                <a:pPr marL="0" indent="0">
                  <a:buNone/>
                </a:pPr>
                <a:r>
                  <a:rPr lang="en-US" altLang="zh-TW" sz="3000" dirty="0"/>
                  <a:t>            contain a common subsequence of length k</a:t>
                </a:r>
                <a:endParaRPr lang="zh-TW" altLang="en-US" sz="3000" dirty="0"/>
              </a:p>
              <a:p>
                <a:pPr marL="0" indent="0"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8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16299"/>
                <a:ext cx="8286750" cy="3263504"/>
              </a:xfrm>
              <a:blipFill rotWithShape="0">
                <a:blip r:embed="rId2"/>
                <a:stretch>
                  <a:fillRect t="-3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58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5000626" y="438658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dirty="0" smtClean="0"/>
              <a:t>a b c b d </a:t>
            </a:r>
            <a:r>
              <a:rPr lang="en-US" altLang="zh-TW" sz="3000" dirty="0" err="1" smtClean="0"/>
              <a:t>d</a:t>
            </a:r>
            <a:r>
              <a:rPr lang="en-US" altLang="zh-TW" sz="3000" dirty="0" smtClean="0"/>
              <a:t> a</a:t>
            </a:r>
            <a:endParaRPr lang="en-US" altLang="zh-TW" sz="3000" dirty="0"/>
          </a:p>
          <a:p>
            <a:r>
              <a:rPr lang="en-US" altLang="zh-TW" sz="3000" dirty="0"/>
              <a:t>String B : </a:t>
            </a:r>
            <a:r>
              <a:rPr lang="en-US" altLang="zh-TW" sz="3000" dirty="0" smtClean="0"/>
              <a:t>b a d b a b d</a:t>
            </a:r>
            <a:endParaRPr lang="zh-TW" altLang="en-US" sz="3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16299"/>
                <a:ext cx="8286750" cy="10888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00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smallest</m:t>
                    </m:r>
                    <m:r>
                      <a:rPr lang="en-US" altLang="zh-TW" sz="3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sz="3000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[1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3000" dirty="0"/>
                  <a:t> </a:t>
                </a:r>
                <a:endParaRPr lang="en-US" altLang="zh-TW" sz="3000" dirty="0"/>
              </a:p>
              <a:p>
                <a:pPr marL="0" indent="0">
                  <a:buNone/>
                </a:pPr>
                <a:r>
                  <a:rPr lang="en-US" altLang="zh-TW" sz="3000" dirty="0"/>
                  <a:t>            contain a common subsequence of length k</a:t>
                </a:r>
                <a:endParaRPr lang="zh-TW" altLang="en-US" sz="3000" dirty="0"/>
              </a:p>
              <a:p>
                <a:pPr marL="0" indent="0"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7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16299"/>
                <a:ext cx="8286750" cy="1088826"/>
              </a:xfrm>
              <a:blipFill rotWithShape="0">
                <a:blip r:embed="rId2"/>
                <a:stretch>
                  <a:fillRect t="-11173" b="-128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0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5000626" y="438658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dirty="0" smtClean="0"/>
              <a:t>a b c b d </a:t>
            </a:r>
            <a:r>
              <a:rPr lang="en-US" altLang="zh-TW" sz="3000" dirty="0" err="1" smtClean="0"/>
              <a:t>d</a:t>
            </a:r>
            <a:r>
              <a:rPr lang="en-US" altLang="zh-TW" sz="3000" dirty="0" smtClean="0"/>
              <a:t> a</a:t>
            </a:r>
            <a:endParaRPr lang="en-US" altLang="zh-TW" sz="3000" dirty="0"/>
          </a:p>
          <a:p>
            <a:r>
              <a:rPr lang="en-US" altLang="zh-TW" sz="3000" dirty="0"/>
              <a:t>String B : </a:t>
            </a:r>
            <a:r>
              <a:rPr lang="en-US" altLang="zh-TW" sz="3000" dirty="0" smtClean="0"/>
              <a:t>b a d b a b d</a:t>
            </a:r>
            <a:endParaRPr lang="zh-TW" altLang="en-US" sz="3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54321"/>
            <a:ext cx="5463876" cy="3752850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748038"/>
              </p:ext>
            </p:extLst>
          </p:nvPr>
        </p:nvGraphicFramePr>
        <p:xfrm>
          <a:off x="628650" y="5448328"/>
          <a:ext cx="7810509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829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3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4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6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THRESH[</a:t>
                      </a:r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r>
                        <a:rPr lang="en-US" altLang="zh-TW" sz="2800" dirty="0" smtClean="0">
                          <a:latin typeface="+mn-lt"/>
                        </a:rPr>
                        <a:t>]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08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54321"/>
            <a:ext cx="5463876" cy="3752850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748038"/>
              </p:ext>
            </p:extLst>
          </p:nvPr>
        </p:nvGraphicFramePr>
        <p:xfrm>
          <a:off x="628650" y="5448328"/>
          <a:ext cx="7810509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829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3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4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6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THRESH[</a:t>
                      </a:r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r>
                        <a:rPr lang="en-US" altLang="zh-TW" sz="2800" dirty="0" smtClean="0">
                          <a:latin typeface="+mn-lt"/>
                        </a:rPr>
                        <a:t>]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951642"/>
              </p:ext>
            </p:extLst>
          </p:nvPr>
        </p:nvGraphicFramePr>
        <p:xfrm>
          <a:off x="5073355" y="793185"/>
          <a:ext cx="3924296" cy="3338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0537"/>
                <a:gridCol w="490537"/>
                <a:gridCol w="490537"/>
                <a:gridCol w="490537"/>
                <a:gridCol w="490537"/>
                <a:gridCol w="490537"/>
                <a:gridCol w="490537"/>
                <a:gridCol w="490537"/>
              </a:tblGrid>
              <a:tr h="41731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591054" y="793185"/>
            <a:ext cx="4074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A</a:t>
            </a:r>
            <a:endParaRPr lang="zh-TW" altLang="en-US" sz="3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305429" y="242008"/>
            <a:ext cx="3946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85171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54321"/>
            <a:ext cx="5463876" cy="3752850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17322"/>
              </p:ext>
            </p:extLst>
          </p:nvPr>
        </p:nvGraphicFramePr>
        <p:xfrm>
          <a:off x="628650" y="5448328"/>
          <a:ext cx="7810509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829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3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4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6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THRESH[</a:t>
                      </a:r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r>
                        <a:rPr lang="en-US" altLang="zh-TW" sz="2800" dirty="0" smtClean="0">
                          <a:latin typeface="+mn-lt"/>
                        </a:rPr>
                        <a:t>]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951642"/>
              </p:ext>
            </p:extLst>
          </p:nvPr>
        </p:nvGraphicFramePr>
        <p:xfrm>
          <a:off x="5073355" y="793185"/>
          <a:ext cx="3924296" cy="3338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0537"/>
                <a:gridCol w="490537"/>
                <a:gridCol w="490537"/>
                <a:gridCol w="490537"/>
                <a:gridCol w="490537"/>
                <a:gridCol w="490537"/>
                <a:gridCol w="490537"/>
                <a:gridCol w="490537"/>
              </a:tblGrid>
              <a:tr h="41731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591054" y="793185"/>
            <a:ext cx="4074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A</a:t>
            </a:r>
            <a:endParaRPr lang="zh-TW" altLang="en-US" sz="3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05429" y="242008"/>
            <a:ext cx="3946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01631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54321"/>
            <a:ext cx="5463876" cy="3752850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52461"/>
              </p:ext>
            </p:extLst>
          </p:nvPr>
        </p:nvGraphicFramePr>
        <p:xfrm>
          <a:off x="628650" y="5448328"/>
          <a:ext cx="7810509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829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3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4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6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THRESH[</a:t>
                      </a:r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r>
                        <a:rPr lang="en-US" altLang="zh-TW" sz="2800" dirty="0" smtClean="0">
                          <a:latin typeface="+mn-lt"/>
                        </a:rPr>
                        <a:t>]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951642"/>
              </p:ext>
            </p:extLst>
          </p:nvPr>
        </p:nvGraphicFramePr>
        <p:xfrm>
          <a:off x="5073355" y="793185"/>
          <a:ext cx="3924296" cy="3338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0537"/>
                <a:gridCol w="490537"/>
                <a:gridCol w="490537"/>
                <a:gridCol w="490537"/>
                <a:gridCol w="490537"/>
                <a:gridCol w="490537"/>
                <a:gridCol w="490537"/>
                <a:gridCol w="490537"/>
              </a:tblGrid>
              <a:tr h="41731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591054" y="793185"/>
            <a:ext cx="4074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A</a:t>
            </a:r>
            <a:endParaRPr lang="zh-TW" altLang="en-US" sz="3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05429" y="242008"/>
            <a:ext cx="3946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96210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54321"/>
            <a:ext cx="5463876" cy="3752850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915337"/>
              </p:ext>
            </p:extLst>
          </p:nvPr>
        </p:nvGraphicFramePr>
        <p:xfrm>
          <a:off x="628650" y="5448328"/>
          <a:ext cx="7810509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829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3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4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6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THRESH[</a:t>
                      </a:r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r>
                        <a:rPr lang="en-US" altLang="zh-TW" sz="2800" dirty="0" smtClean="0">
                          <a:latin typeface="+mn-lt"/>
                        </a:rPr>
                        <a:t>]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951642"/>
              </p:ext>
            </p:extLst>
          </p:nvPr>
        </p:nvGraphicFramePr>
        <p:xfrm>
          <a:off x="5073355" y="793185"/>
          <a:ext cx="3924296" cy="3338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0537"/>
                <a:gridCol w="490537"/>
                <a:gridCol w="490537"/>
                <a:gridCol w="490537"/>
                <a:gridCol w="490537"/>
                <a:gridCol w="490537"/>
                <a:gridCol w="490537"/>
                <a:gridCol w="490537"/>
              </a:tblGrid>
              <a:tr h="41731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73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591054" y="793185"/>
            <a:ext cx="4074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A</a:t>
            </a:r>
            <a:endParaRPr lang="zh-TW" altLang="en-US" sz="3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05429" y="242008"/>
            <a:ext cx="3946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11" name="矩形 10"/>
          <p:cNvSpPr/>
          <p:nvPr/>
        </p:nvSpPr>
        <p:spPr>
          <a:xfrm>
            <a:off x="5372100" y="5448328"/>
            <a:ext cx="781050" cy="10363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69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54321"/>
            <a:ext cx="5463876" cy="3752850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915337"/>
              </p:ext>
            </p:extLst>
          </p:nvPr>
        </p:nvGraphicFramePr>
        <p:xfrm>
          <a:off x="628650" y="5448328"/>
          <a:ext cx="7810509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829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3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4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6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THRESH[</a:t>
                      </a:r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r>
                        <a:rPr lang="en-US" altLang="zh-TW" sz="2800" dirty="0" smtClean="0">
                          <a:latin typeface="+mn-lt"/>
                        </a:rPr>
                        <a:t>]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5372100" y="5448328"/>
            <a:ext cx="781050" cy="10363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572000" y="2305050"/>
                <a:ext cx="4275145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400" b="0" dirty="0" smtClean="0"/>
                  <a:t>Time complexity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4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</m:func>
                    </m:oMath>
                  </m:oMathPara>
                </a14:m>
                <a:endParaRPr lang="zh-TW" altLang="en-US" sz="4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305050"/>
                <a:ext cx="4275145" cy="1446550"/>
              </a:xfrm>
              <a:prstGeom prst="rect">
                <a:avLst/>
              </a:prstGeom>
              <a:blipFill rotWithShape="0">
                <a:blip r:embed="rId3"/>
                <a:stretch>
                  <a:fillRect l="-5706" t="-8439" r="-3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08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5000626" y="438658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dirty="0" smtClean="0"/>
              <a:t>a b c b d </a:t>
            </a:r>
            <a:r>
              <a:rPr lang="en-US" altLang="zh-TW" sz="3000" dirty="0" err="1" smtClean="0"/>
              <a:t>d</a:t>
            </a:r>
            <a:r>
              <a:rPr lang="en-US" altLang="zh-TW" sz="3000" dirty="0" smtClean="0"/>
              <a:t> a</a:t>
            </a:r>
            <a:endParaRPr lang="en-US" altLang="zh-TW" sz="3000" dirty="0"/>
          </a:p>
          <a:p>
            <a:r>
              <a:rPr lang="en-US" altLang="zh-TW" sz="3000" dirty="0"/>
              <a:t>String B : </a:t>
            </a:r>
            <a:r>
              <a:rPr lang="en-US" altLang="zh-TW" sz="3000" dirty="0" smtClean="0"/>
              <a:t>b a d b a b d</a:t>
            </a:r>
            <a:endParaRPr lang="zh-TW" altLang="en-US" sz="3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2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16299"/>
                <a:ext cx="8286750" cy="10888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𝐴𝑇𝐶𝐻𝐿𝐼𝑆𝑇</m:t>
                      </m:r>
                    </m:oMath>
                  </m:oMathPara>
                </a14:m>
                <a:endParaRPr lang="en-US" altLang="zh-TW" sz="3000" b="0" dirty="0" smtClean="0"/>
              </a:p>
              <a:p>
                <a:pPr marL="0" indent="0"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7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16299"/>
                <a:ext cx="8286750" cy="1088826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/>
              <p:cNvSpPr txBox="1">
                <a:spLocks/>
              </p:cNvSpPr>
              <p:nvPr/>
            </p:nvSpPr>
            <p:spPr>
              <a:xfrm>
                <a:off x="1476375" y="2360712"/>
                <a:ext cx="5486400" cy="30685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 smtClean="0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 &lt;5, 2&gt;</m:t>
                      </m:r>
                    </m:oMath>
                  </m:oMathPara>
                </a14:m>
                <a:endParaRPr lang="en-US" altLang="zh-TW" sz="30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= &lt;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6, 4, 1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altLang="zh-TW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= &lt;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altLang="zh-TW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TW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= &lt;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7, 3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altLang="zh-TW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altLang="zh-TW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𝑀𝐴𝑇𝐶𝐻𝐿𝐼𝑆𝑇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TW" sz="3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3000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8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375" y="2360712"/>
                <a:ext cx="5486400" cy="3068538"/>
              </a:xfrm>
              <a:prstGeom prst="rect">
                <a:avLst/>
              </a:prstGeom>
              <a:blipFill rotWithShape="0">
                <a:blip r:embed="rId3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06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2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6" y="66675"/>
            <a:ext cx="4591446" cy="6791325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>
            <a:off x="285750" y="3619500"/>
            <a:ext cx="19240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右大括弧 3"/>
          <p:cNvSpPr/>
          <p:nvPr/>
        </p:nvSpPr>
        <p:spPr>
          <a:xfrm>
            <a:off x="3990975" y="1390650"/>
            <a:ext cx="1066800" cy="752475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220096" y="1451416"/>
                <a:ext cx="2333972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TW" sz="3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5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35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3500" b="0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</m:func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96" y="1451416"/>
                <a:ext cx="2333972" cy="63094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右大括弧 7"/>
          <p:cNvSpPr/>
          <p:nvPr/>
        </p:nvSpPr>
        <p:spPr>
          <a:xfrm>
            <a:off x="3990975" y="2339976"/>
            <a:ext cx="1066800" cy="698499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220096" y="2400742"/>
                <a:ext cx="1237262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96" y="2400742"/>
                <a:ext cx="1237262" cy="63094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右大括弧 10"/>
          <p:cNvSpPr/>
          <p:nvPr/>
        </p:nvSpPr>
        <p:spPr>
          <a:xfrm>
            <a:off x="3990975" y="3168648"/>
            <a:ext cx="1066800" cy="1841502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5220096" y="3773928"/>
                <a:ext cx="3091616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en-US" altLang="zh-TW" sz="3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5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35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3500" b="0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</m:func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96" y="3773928"/>
                <a:ext cx="3091616" cy="63094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右大括弧 12"/>
          <p:cNvSpPr/>
          <p:nvPr/>
        </p:nvSpPr>
        <p:spPr>
          <a:xfrm>
            <a:off x="4691132" y="5257800"/>
            <a:ext cx="1066800" cy="1466850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948828" y="5675754"/>
                <a:ext cx="1237262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828" y="5675754"/>
                <a:ext cx="1237262" cy="63094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04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9" grpId="0"/>
      <p:bldP spid="11" grpId="0" animBg="1"/>
      <p:bldP spid="12" grpId="0"/>
      <p:bldP spid="13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2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6" y="66675"/>
            <a:ext cx="4591446" cy="6791325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>
            <a:off x="285750" y="3619500"/>
            <a:ext cx="19240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953142" y="2314575"/>
                <a:ext cx="5309723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400" b="0" dirty="0" smtClean="0"/>
                  <a:t>Time complexity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4400" b="0" i="1" smtClean="0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4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4400" b="0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</m:func>
                    </m:oMath>
                  </m:oMathPara>
                </a14:m>
                <a:endParaRPr lang="zh-TW" altLang="en-US" sz="44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142" y="2314575"/>
                <a:ext cx="5309723" cy="1446550"/>
              </a:xfrm>
              <a:prstGeom prst="rect">
                <a:avLst/>
              </a:prstGeom>
              <a:blipFill rotWithShape="0">
                <a:blip r:embed="rId3"/>
                <a:stretch>
                  <a:fillRect l="-4592" t="-88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3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5000626" y="438658"/>
            <a:ext cx="3651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String A : </a:t>
            </a:r>
            <a:r>
              <a:rPr lang="en-US" altLang="zh-TW" sz="3000" dirty="0" smtClean="0"/>
              <a:t>a b c b d </a:t>
            </a:r>
            <a:r>
              <a:rPr lang="en-US" altLang="zh-TW" sz="3000" dirty="0" err="1" smtClean="0"/>
              <a:t>d</a:t>
            </a:r>
            <a:r>
              <a:rPr lang="en-US" altLang="zh-TW" sz="3000" dirty="0" smtClean="0"/>
              <a:t> a</a:t>
            </a:r>
            <a:endParaRPr lang="en-US" altLang="zh-TW" sz="3000" dirty="0"/>
          </a:p>
          <a:p>
            <a:r>
              <a:rPr lang="en-US" altLang="zh-TW" sz="3000" dirty="0"/>
              <a:t>String B : </a:t>
            </a:r>
            <a:r>
              <a:rPr lang="en-US" altLang="zh-TW" sz="3000" dirty="0" smtClean="0"/>
              <a:t>b a d b a b d</a:t>
            </a:r>
            <a:endParaRPr lang="zh-TW" altLang="en-US" sz="3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2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936309"/>
              </p:ext>
            </p:extLst>
          </p:nvPr>
        </p:nvGraphicFramePr>
        <p:xfrm>
          <a:off x="704846" y="1764221"/>
          <a:ext cx="7810509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829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  <a:gridCol w="77033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3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4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6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 smtClean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THRESH[</a:t>
                      </a:r>
                      <a:r>
                        <a:rPr lang="en-US" altLang="zh-TW" sz="2800" dirty="0" err="1" smtClean="0">
                          <a:latin typeface="+mn-lt"/>
                        </a:rPr>
                        <a:t>i</a:t>
                      </a:r>
                      <a:r>
                        <a:rPr lang="en-US" altLang="zh-TW" sz="2800" dirty="0" smtClean="0">
                          <a:latin typeface="+mn-lt"/>
                        </a:rPr>
                        <a:t>]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0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1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2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5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7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+mn-lt"/>
                        </a:rPr>
                        <a:t>8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419725" y="1764221"/>
            <a:ext cx="781050" cy="10363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086600" y="3433858"/>
            <a:ext cx="81915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1 , 2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05750" y="3433857"/>
            <a:ext cx="60960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6057900" y="3743421"/>
            <a:ext cx="1028700" cy="346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857750" y="3433858"/>
            <a:ext cx="81915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2</a:t>
            </a:r>
            <a:r>
              <a:rPr lang="en-US" altLang="zh-TW" sz="2800" dirty="0" smtClean="0">
                <a:solidFill>
                  <a:schemeClr val="tx1"/>
                </a:solidFill>
              </a:rPr>
              <a:t> , 4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676900" y="3433857"/>
            <a:ext cx="60960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3829050" y="3743421"/>
            <a:ext cx="1028700" cy="346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2628900" y="3433858"/>
            <a:ext cx="81915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4</a:t>
            </a:r>
            <a:r>
              <a:rPr lang="en-US" altLang="zh-TW" sz="2800" dirty="0" smtClean="0">
                <a:solidFill>
                  <a:schemeClr val="tx1"/>
                </a:solidFill>
              </a:rPr>
              <a:t> , 6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48050" y="3433857"/>
            <a:ext cx="60960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/>
          <p:cNvCxnSpPr/>
          <p:nvPr/>
        </p:nvCxnSpPr>
        <p:spPr>
          <a:xfrm>
            <a:off x="1600200" y="3743421"/>
            <a:ext cx="1028700" cy="346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00050" y="3433858"/>
            <a:ext cx="81915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5</a:t>
            </a:r>
            <a:r>
              <a:rPr lang="en-US" altLang="zh-TW" sz="2800" dirty="0" smtClean="0">
                <a:solidFill>
                  <a:schemeClr val="tx1"/>
                </a:solidFill>
              </a:rPr>
              <a:t> , 7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19200" y="3433857"/>
            <a:ext cx="60960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1211186" y="5257800"/>
            <a:ext cx="117006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000" dirty="0" smtClean="0"/>
              <a:t>LCS</a:t>
            </a:r>
            <a:r>
              <a:rPr lang="en-US" altLang="zh-TW" sz="3000" dirty="0" smtClean="0"/>
              <a:t> </a:t>
            </a:r>
            <a:endParaRPr lang="zh-TW" altLang="en-US" sz="3000" dirty="0"/>
          </a:p>
        </p:txBody>
      </p:sp>
      <p:sp>
        <p:nvSpPr>
          <p:cNvPr id="28" name="矩形 27"/>
          <p:cNvSpPr/>
          <p:nvPr/>
        </p:nvSpPr>
        <p:spPr>
          <a:xfrm>
            <a:off x="2590800" y="5364519"/>
            <a:ext cx="60960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>
                <a:solidFill>
                  <a:schemeClr val="tx1"/>
                </a:solidFill>
              </a:rPr>
              <a:t>a</a:t>
            </a:r>
            <a:endParaRPr lang="zh-TW" altLang="en-US" sz="4800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09950" y="5364519"/>
            <a:ext cx="60960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>
                <a:solidFill>
                  <a:schemeClr val="tx1"/>
                </a:solidFill>
              </a:rPr>
              <a:t>b</a:t>
            </a:r>
            <a:endParaRPr lang="zh-TW" altLang="en-US" sz="4800" dirty="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229100" y="5364519"/>
            <a:ext cx="60960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>
                <a:solidFill>
                  <a:schemeClr val="tx1"/>
                </a:solidFill>
              </a:rPr>
              <a:t>b</a:t>
            </a:r>
            <a:endParaRPr lang="zh-TW" altLang="en-US" sz="4800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048250" y="5364519"/>
            <a:ext cx="609600" cy="619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>
                <a:solidFill>
                  <a:schemeClr val="tx1"/>
                </a:solidFill>
              </a:rPr>
              <a:t>d</a:t>
            </a:r>
            <a:endParaRPr lang="zh-TW" altLang="en-US" sz="4800" dirty="0">
              <a:solidFill>
                <a:schemeClr val="tx1"/>
              </a:solidFill>
            </a:endParaRPr>
          </a:p>
        </p:txBody>
      </p:sp>
      <p:cxnSp>
        <p:nvCxnSpPr>
          <p:cNvPr id="33" name="直線單箭頭接點 32"/>
          <p:cNvCxnSpPr>
            <a:stCxn id="6" idx="2"/>
          </p:cNvCxnSpPr>
          <p:nvPr/>
        </p:nvCxnSpPr>
        <p:spPr>
          <a:xfrm flipH="1">
            <a:off x="2895600" y="4052983"/>
            <a:ext cx="4600575" cy="1204817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8" idx="2"/>
          </p:cNvCxnSpPr>
          <p:nvPr/>
        </p:nvCxnSpPr>
        <p:spPr>
          <a:xfrm flipH="1">
            <a:off x="3714750" y="4052983"/>
            <a:ext cx="1552575" cy="1204817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22" idx="2"/>
          </p:cNvCxnSpPr>
          <p:nvPr/>
        </p:nvCxnSpPr>
        <p:spPr>
          <a:xfrm>
            <a:off x="3038475" y="4052983"/>
            <a:ext cx="1476375" cy="1204817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5" idx="2"/>
          </p:cNvCxnSpPr>
          <p:nvPr/>
        </p:nvCxnSpPr>
        <p:spPr>
          <a:xfrm>
            <a:off x="809625" y="4052983"/>
            <a:ext cx="4457700" cy="1204817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94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8" grpId="0" animBg="1"/>
      <p:bldP spid="19" grpId="0" animBg="1"/>
      <p:bldP spid="22" grpId="0" animBg="1"/>
      <p:bldP spid="23" grpId="0" animBg="1"/>
      <p:bldP spid="25" grpId="0" animBg="1"/>
      <p:bldP spid="26" grpId="0" animBg="1"/>
      <p:bldP spid="27" grpId="0"/>
      <p:bldP spid="28" grpId="0" animBg="1"/>
      <p:bldP spid="29" grpId="0" animBg="1"/>
      <p:bldP spid="30" grpId="0" animBg="1"/>
      <p:bldP spid="31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1426</TotalTime>
  <Words>523</Words>
  <Application>Microsoft Office PowerPoint</Application>
  <PresentationFormat>如螢幕大小 (4:3)</PresentationFormat>
  <Paragraphs>274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Cambria Math</vt:lpstr>
      <vt:lpstr>Office 佈景主題</vt:lpstr>
      <vt:lpstr>A Fast Algorithm for Computing Longest Common Subsequences </vt:lpstr>
      <vt:lpstr>Abstract</vt:lpstr>
      <vt:lpstr>Threshhold Value</vt:lpstr>
      <vt:lpstr>Threshhold Value</vt:lpstr>
      <vt:lpstr>Threshhold Value</vt:lpstr>
      <vt:lpstr>Threshhold Value</vt:lpstr>
      <vt:lpstr>Algorithm 1</vt:lpstr>
      <vt:lpstr>Algorithm 1</vt:lpstr>
      <vt:lpstr>Algorithm 1</vt:lpstr>
      <vt:lpstr>Algorithm 1</vt:lpstr>
      <vt:lpstr>Algorithm 1</vt:lpstr>
      <vt:lpstr>Algorithm 1</vt:lpstr>
      <vt:lpstr>Algorithm 1</vt:lpstr>
      <vt:lpstr>Algorithm 1</vt:lpstr>
      <vt:lpstr>Algorithm 2</vt:lpstr>
      <vt:lpstr>Algorithm 2</vt:lpstr>
      <vt:lpstr>Algorithm 2</vt:lpstr>
      <vt:lpstr>Algorithm 2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Longest Common Subsequences</dc:title>
  <dc:creator>YanLee</dc:creator>
  <cp:lastModifiedBy>pplab-class</cp:lastModifiedBy>
  <cp:revision>42</cp:revision>
  <dcterms:created xsi:type="dcterms:W3CDTF">2016-11-22T07:31:58Z</dcterms:created>
  <dcterms:modified xsi:type="dcterms:W3CDTF">2016-11-29T10:05:36Z</dcterms:modified>
</cp:coreProperties>
</file>