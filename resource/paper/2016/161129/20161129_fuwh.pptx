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4"/>
  </p:notesMasterIdLst>
  <p:handoutMasterIdLst>
    <p:handoutMasterId r:id="rId15"/>
  </p:handoutMasterIdLst>
  <p:sldIdLst>
    <p:sldId id="256" r:id="rId2"/>
    <p:sldId id="257" r:id="rId3"/>
    <p:sldId id="258" r:id="rId4"/>
    <p:sldId id="262" r:id="rId5"/>
    <p:sldId id="261" r:id="rId6"/>
    <p:sldId id="264" r:id="rId7"/>
    <p:sldId id="265" r:id="rId8"/>
    <p:sldId id="266" r:id="rId9"/>
    <p:sldId id="263" r:id="rId10"/>
    <p:sldId id="267" r:id="rId11"/>
    <p:sldId id="268" r:id="rId12"/>
    <p:sldId id="260" r:id="rId13"/>
  </p:sldIdLst>
  <p:sldSz cx="10080625" cy="7559675"/>
  <p:notesSz cx="7559675" cy="10691813"/>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1">
          <p15:clr>
            <a:srgbClr val="A4A3A4"/>
          </p15:clr>
        </p15:guide>
        <p15:guide id="2" pos="3175">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hfu" initials="w" lastIdx="2"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
    <a:wholeTbl>
      <a:tcTxStyle>
        <a:font>
          <a:latin typeface="+mn-lt"/>
          <a:ea typeface="+mn-ea"/>
          <a:cs typeface="+mn-cs"/>
        </a:font>
        <a:srgbClr val="000000"/>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AEFF7"/>
          </a:solidFill>
        </a:fill>
      </a:tcStyle>
    </a:wholeTbl>
    <a:band1H>
      <a:tcStyle>
        <a:tcBdr/>
        <a:fill>
          <a:solidFill>
            <a:srgbClr val="D2DEEF"/>
          </a:solidFill>
        </a:fill>
      </a:tcStyle>
    </a:band1H>
    <a:band2H>
      <a:tcStyle>
        <a:tcBdr/>
      </a:tcStyle>
    </a:band2H>
    <a:band1V>
      <a:tcStyle>
        <a:tcBdr/>
        <a:fill>
          <a:solidFill>
            <a:srgbClr val="D2DEEF"/>
          </a:solidFill>
        </a:fill>
      </a:tcStyle>
    </a:band1V>
    <a:band2V>
      <a:tcStyle>
        <a:tcBdr/>
      </a:tcStyle>
    </a:band2V>
    <a:lastCol>
      <a:tcTxStyle b="on">
        <a:font>
          <a:latin typeface="+mn-lt"/>
          <a:ea typeface="+mn-ea"/>
          <a:cs typeface="+mn-cs"/>
        </a:font>
        <a:srgbClr val="FFFFFF"/>
      </a:tcTxStyle>
      <a:tcStyle>
        <a:tcBdr/>
        <a:fill>
          <a:solidFill>
            <a:srgbClr val="5B9BD5"/>
          </a:solidFill>
        </a:fill>
      </a:tcStyle>
    </a:lastCol>
    <a:firstCol>
      <a:tcTxStyle b="on">
        <a:font>
          <a:latin typeface="+mn-lt"/>
          <a:ea typeface="+mn-ea"/>
          <a:cs typeface="+mn-cs"/>
        </a:font>
        <a:srgbClr val="FFFFFF"/>
      </a:tcTxStyle>
      <a:tcStyle>
        <a:tcBdr/>
        <a:fill>
          <a:solidFill>
            <a:srgbClr val="5B9BD5"/>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5B9BD5"/>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5B9BD5"/>
          </a:solidFill>
        </a:fill>
      </a:tcStyle>
    </a:firstRow>
  </a:tblStyle>
  <a:tblStyle styleId="{BC89EF96-8CEA-46FF-86C4-4CE0E7609802}" styleName="">
    <a:wholeTbl>
      <a:tcTxStyle>
        <a:font>
          <a:latin typeface="+mn-lt"/>
          <a:ea typeface="+mn-ea"/>
          <a:cs typeface="+mn-cs"/>
        </a:font>
        <a:srgbClr val="000000"/>
      </a:tcTxStyle>
      <a:tcStyle>
        <a:tcBdr>
          <a:left>
            <a:ln w="12701" cap="flat" cmpd="sng" algn="ctr">
              <a:solidFill>
                <a:srgbClr val="5B9BD5"/>
              </a:solidFill>
              <a:prstDash val="solid"/>
              <a:round/>
              <a:headEnd type="none" w="med" len="med"/>
              <a:tailEnd type="none" w="med" len="med"/>
            </a:ln>
          </a:left>
          <a:right>
            <a:ln w="12701" cap="flat" cmpd="sng" algn="ctr">
              <a:solidFill>
                <a:srgbClr val="5B9BD5"/>
              </a:solidFill>
              <a:prstDash val="solid"/>
              <a:round/>
              <a:headEnd type="none" w="med" len="med"/>
              <a:tailEnd type="none" w="med" len="med"/>
            </a:ln>
          </a:right>
          <a:top>
            <a:ln w="12701" cap="flat" cmpd="sng" algn="ctr">
              <a:solidFill>
                <a:srgbClr val="5B9BD5"/>
              </a:solidFill>
              <a:prstDash val="solid"/>
              <a:round/>
              <a:headEnd type="none" w="med" len="med"/>
              <a:tailEnd type="none" w="med" len="med"/>
            </a:ln>
          </a:top>
          <a:bottom>
            <a:ln w="12701" cap="flat" cmpd="sng" algn="ctr">
              <a:solidFill>
                <a:srgbClr val="5B9BD5"/>
              </a:solidFill>
              <a:prstDash val="solid"/>
              <a:round/>
              <a:headEnd type="none" w="med" len="med"/>
              <a:tailEnd type="none" w="med" len="med"/>
            </a:ln>
          </a:bottom>
        </a:tcBdr>
      </a:tcStyle>
    </a:wholeTbl>
    <a:band1H>
      <a:tcStyle>
        <a:tcBdr/>
        <a:fill>
          <a:solidFill>
            <a:srgbClr val="5B9BD5"/>
          </a:solidFill>
        </a:fill>
      </a:tcStyle>
    </a:band1H>
    <a:band1V>
      <a:tcStyle>
        <a:tcBdr/>
        <a:fill>
          <a:solidFill>
            <a:srgbClr val="5B9BD5"/>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5B9BD5"/>
              </a:solidFill>
              <a:prstDash val="solid"/>
              <a:round/>
              <a:headEnd type="none" w="med" len="med"/>
              <a:tailEnd type="none" w="med" len="med"/>
            </a:ln>
          </a:top>
        </a:tcBdr>
      </a:tcStyle>
    </a:lastRow>
    <a:firstRow>
      <a:tcTxStyle b="on">
        <a:font>
          <a:latin typeface=""/>
          <a:ea typeface=""/>
          <a:cs typeface=""/>
        </a:font>
      </a:tcTxStyle>
      <a:tcStyle>
        <a:tcBdr>
          <a:bottom>
            <a:ln w="25402" cap="flat" cmpd="sng" algn="ctr">
              <a:solidFill>
                <a:srgbClr val="5B9BD5"/>
              </a:solidFill>
              <a:prstDash val="solid"/>
              <a:round/>
              <a:headEnd type="none" w="med" len="med"/>
              <a:tailEnd type="none" w="med" len="med"/>
            </a:ln>
          </a:bottom>
        </a:tcBdr>
      </a:tcStyle>
    </a:firstRow>
  </a:tblStyle>
  <a:tblStyle styleId="{5940675A-B579-460E-94D1-54222C63F5DA}" styleName="">
    <a:wholeTbl>
      <a:tcTxStyle>
        <a:font>
          <a:latin typeface="+mn-lt"/>
          <a:ea typeface="+mn-ea"/>
          <a:cs typeface="+mn-cs"/>
        </a:font>
        <a:srgbClr val="000000"/>
      </a:tcTxStyle>
      <a:tcStyle>
        <a:tcBdr>
          <a:left>
            <a:ln w="12701" cap="flat" cmpd="sng" algn="ctr">
              <a:solidFill>
                <a:srgbClr val="000000"/>
              </a:solidFill>
              <a:prstDash val="solid"/>
              <a:round/>
              <a:headEnd type="none" w="med" len="med"/>
              <a:tailEnd type="none" w="med" len="med"/>
            </a:ln>
          </a:left>
          <a:right>
            <a:ln w="12701" cap="flat" cmpd="sng" algn="ctr">
              <a:solidFill>
                <a:srgbClr val="000000"/>
              </a:solidFill>
              <a:prstDash val="solid"/>
              <a:round/>
              <a:headEnd type="none" w="med" len="med"/>
              <a:tailEnd type="none" w="med" len="med"/>
            </a:ln>
          </a:right>
          <a:top>
            <a:ln w="12701" cap="flat" cmpd="sng" algn="ctr">
              <a:solidFill>
                <a:srgbClr val="000000"/>
              </a:solidFill>
              <a:prstDash val="solid"/>
              <a:round/>
              <a:headEnd type="none" w="med" len="med"/>
              <a:tailEnd type="none" w="med" len="med"/>
            </a:ln>
          </a:top>
          <a:bottom>
            <a:ln w="12701" cap="flat" cmpd="sng" algn="ctr">
              <a:solidFill>
                <a:srgbClr val="000000"/>
              </a:solidFill>
              <a:prstDash val="solid"/>
              <a:round/>
              <a:headEnd type="none" w="med" len="med"/>
              <a:tailEnd type="none" w="med" len="med"/>
            </a:ln>
          </a:bottom>
        </a:tcBdr>
      </a:tcStyle>
    </a:wholeTbl>
  </a:tblStyle>
  <a:tblStyle styleId="{E8B1032C-EA38-4F05-BA0D-38AFFFC7BED3}" styleName="">
    <a:wholeTbl>
      <a:tcTxStyle>
        <a:font>
          <a:latin typeface="+mn-lt"/>
          <a:ea typeface="+mn-ea"/>
          <a:cs typeface="+mn-cs"/>
        </a:font>
        <a:srgbClr val="000000"/>
      </a:tcTxStyle>
      <a:tcStyle>
        <a:tcBdr>
          <a:left>
            <a:ln w="12701" cap="flat" cmpd="sng" algn="ctr">
              <a:solidFill>
                <a:srgbClr val="70AD47"/>
              </a:solidFill>
              <a:prstDash val="solid"/>
              <a:round/>
              <a:headEnd type="none" w="med" len="med"/>
              <a:tailEnd type="none" w="med" len="med"/>
            </a:ln>
          </a:left>
          <a:right>
            <a:ln w="12701" cap="flat" cmpd="sng" algn="ctr">
              <a:solidFill>
                <a:srgbClr val="70AD47"/>
              </a:solidFill>
              <a:prstDash val="solid"/>
              <a:round/>
              <a:headEnd type="none" w="med" len="med"/>
              <a:tailEnd type="none" w="med" len="med"/>
            </a:ln>
          </a:right>
          <a:top>
            <a:ln w="12701" cap="flat" cmpd="sng" algn="ctr">
              <a:solidFill>
                <a:srgbClr val="70AD47"/>
              </a:solidFill>
              <a:prstDash val="solid"/>
              <a:round/>
              <a:headEnd type="none" w="med" len="med"/>
              <a:tailEnd type="none" w="med" len="med"/>
            </a:ln>
          </a:top>
          <a:bottom>
            <a:ln w="12701" cap="flat" cmpd="sng" algn="ctr">
              <a:solidFill>
                <a:srgbClr val="70AD47"/>
              </a:solidFill>
              <a:prstDash val="solid"/>
              <a:round/>
              <a:headEnd type="none" w="med" len="med"/>
              <a:tailEnd type="none" w="med" len="med"/>
            </a:ln>
          </a:bottom>
        </a:tcBdr>
      </a:tcStyle>
    </a:wholeTbl>
    <a:band1H>
      <a:tcStyle>
        <a:tcBdr/>
        <a:fill>
          <a:solidFill>
            <a:srgbClr val="70AD47"/>
          </a:solidFill>
        </a:fill>
      </a:tcStyle>
    </a:band1H>
    <a:band1V>
      <a:tcStyle>
        <a:tcBdr/>
        <a:fill>
          <a:solidFill>
            <a:srgbClr val="70AD47"/>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70AD47"/>
              </a:solidFill>
              <a:prstDash val="solid"/>
              <a:round/>
              <a:headEnd type="none" w="med" len="med"/>
              <a:tailEnd type="none" w="med" len="med"/>
            </a:ln>
          </a:top>
        </a:tcBdr>
      </a:tcStyle>
    </a:lastRow>
    <a:firstRow>
      <a:tcTxStyle b="on">
        <a:font>
          <a:latin typeface=""/>
          <a:ea typeface=""/>
          <a:cs typeface=""/>
        </a:font>
      </a:tcTxStyle>
      <a:tcStyle>
        <a:tcBdr>
          <a:bottom>
            <a:ln w="25402" cap="flat" cmpd="sng" algn="ctr">
              <a:solidFill>
                <a:srgbClr val="70AD47"/>
              </a:solidFill>
              <a:prstDash val="solid"/>
              <a:round/>
              <a:headEnd type="none" w="med" len="med"/>
              <a:tailEnd type="none" w="med" len="med"/>
            </a:ln>
          </a:bottom>
        </a:tcBdr>
      </a:tcStyle>
    </a:firstRow>
  </a:tblStyle>
  <a:tblStyle styleId="{5DA37D80-6434-44D0-A028-1B22A696006F}" styleName="">
    <a:wholeTbl>
      <a:tcTxStyle>
        <a:font>
          <a:latin typeface="+mn-lt"/>
          <a:ea typeface="+mn-ea"/>
          <a:cs typeface="+mn-cs"/>
        </a:font>
        <a:srgbClr val="000000"/>
      </a:tcTxStyle>
      <a:tcStyle>
        <a:tcBdr>
          <a:left>
            <a:ln w="12701" cap="flat" cmpd="sng" algn="ctr">
              <a:solidFill>
                <a:srgbClr val="ED7D31"/>
              </a:solidFill>
              <a:prstDash val="solid"/>
              <a:round/>
              <a:headEnd type="none" w="med" len="med"/>
              <a:tailEnd type="none" w="med" len="med"/>
            </a:ln>
          </a:left>
          <a:right>
            <a:ln w="12701" cap="flat" cmpd="sng" algn="ctr">
              <a:solidFill>
                <a:srgbClr val="ED7D31"/>
              </a:solidFill>
              <a:prstDash val="solid"/>
              <a:round/>
              <a:headEnd type="none" w="med" len="med"/>
              <a:tailEnd type="none" w="med" len="med"/>
            </a:ln>
          </a:right>
          <a:top>
            <a:ln w="12701" cap="flat" cmpd="sng" algn="ctr">
              <a:solidFill>
                <a:srgbClr val="ED7D31"/>
              </a:solidFill>
              <a:prstDash val="solid"/>
              <a:round/>
              <a:headEnd type="none" w="med" len="med"/>
              <a:tailEnd type="none" w="med" len="med"/>
            </a:ln>
          </a:top>
          <a:bottom>
            <a:ln w="12701" cap="flat" cmpd="sng" algn="ctr">
              <a:solidFill>
                <a:srgbClr val="ED7D31"/>
              </a:solidFill>
              <a:prstDash val="solid"/>
              <a:round/>
              <a:headEnd type="none" w="med" len="med"/>
              <a:tailEnd type="none" w="med" len="med"/>
            </a:ln>
          </a:bottom>
        </a:tcBdr>
      </a:tcStyle>
    </a:wholeTbl>
    <a:band1H>
      <a:tcStyle>
        <a:tcBdr/>
        <a:fill>
          <a:solidFill>
            <a:srgbClr val="ED7D31"/>
          </a:solidFill>
        </a:fill>
      </a:tcStyle>
    </a:band1H>
    <a:band1V>
      <a:tcStyle>
        <a:tcBdr/>
        <a:fill>
          <a:solidFill>
            <a:srgbClr val="ED7D31"/>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ED7D31"/>
              </a:solidFill>
              <a:prstDash val="solid"/>
              <a:round/>
              <a:headEnd type="none" w="med" len="med"/>
              <a:tailEnd type="none" w="med" len="med"/>
            </a:ln>
          </a:top>
        </a:tcBdr>
      </a:tcStyle>
    </a:lastRow>
    <a:firstRow>
      <a:tcTxStyle b="on">
        <a:font>
          <a:latin typeface=""/>
          <a:ea typeface=""/>
          <a:cs typeface=""/>
        </a:font>
      </a:tcTxStyle>
      <a:tcStyle>
        <a:tcBdr>
          <a:bottom>
            <a:ln w="25402" cap="flat" cmpd="sng" algn="ctr">
              <a:solidFill>
                <a:srgbClr val="ED7D31"/>
              </a:solidFill>
              <a:prstDash val="solid"/>
              <a:round/>
              <a:headEnd type="none" w="med" len="med"/>
              <a:tailEnd type="none" w="med" len="med"/>
            </a:ln>
          </a:bottom>
        </a:tcBdr>
      </a:tcStyle>
    </a:firstRow>
  </a:tblStyle>
  <a:tblStyle styleId="{EB344D84-9AFB-497E-A393-DC336BA19D2E}" styleName="">
    <a:wholeTbl>
      <a:tcTxStyle>
        <a:font>
          <a:latin typeface="+mn-lt"/>
          <a:ea typeface="+mn-ea"/>
          <a:cs typeface="+mn-cs"/>
        </a:font>
        <a:srgbClr val="000000"/>
      </a:tcTxStyle>
      <a:tcStyle>
        <a:tcBdr>
          <a:top>
            <a:ln w="25402" cap="flat" cmpd="sng" algn="ctr">
              <a:solidFill>
                <a:srgbClr val="000000"/>
              </a:solidFill>
              <a:prstDash val="solid"/>
              <a:round/>
              <a:headEnd type="none" w="med" len="med"/>
              <a:tailEnd type="none" w="med" len="med"/>
            </a:ln>
          </a:top>
          <a:bottom>
            <a:ln w="25402" cap="flat" cmpd="sng" algn="ctr">
              <a:solidFill>
                <a:srgbClr val="000000"/>
              </a:solidFill>
              <a:prstDash val="solid"/>
              <a:round/>
              <a:headEnd type="none" w="med" len="med"/>
              <a:tailEnd type="none" w="med" len="med"/>
            </a:ln>
          </a:bottom>
        </a:tcBdr>
        <a:fill>
          <a:solidFill>
            <a:srgbClr val="FFFFFF"/>
          </a:solidFill>
        </a:fill>
      </a:tcStyle>
    </a:wholeTbl>
    <a:band1H>
      <a:tcStyle>
        <a:tcBdr/>
        <a:fill>
          <a:solidFill>
            <a:srgbClr val="E7E7E7"/>
          </a:solidFill>
        </a:fill>
      </a:tcStyle>
    </a:band1H>
    <a:band1V>
      <a:tcStyle>
        <a:tcBdr/>
        <a:fill>
          <a:solidFill>
            <a:srgbClr val="E7E7E7"/>
          </a:solidFill>
        </a:fill>
      </a:tcStyle>
    </a:band1V>
    <a:lastCol>
      <a:tcTxStyle b="on">
        <a:font>
          <a:latin typeface="+mn-lt"/>
          <a:ea typeface="+mn-ea"/>
          <a:cs typeface="+mn-cs"/>
        </a:font>
        <a:srgbClr val="FFFFFF"/>
      </a:tcTxStyle>
      <a:tcStyle>
        <a:tcBdr/>
        <a:fill>
          <a:solidFill>
            <a:srgbClr val="A5A5A5"/>
          </a:solidFill>
        </a:fill>
      </a:tcStyle>
    </a:lastCol>
    <a:firstCol>
      <a:tcTxStyle b="on">
        <a:font>
          <a:latin typeface="+mn-lt"/>
          <a:ea typeface="+mn-ea"/>
          <a:cs typeface="+mn-cs"/>
        </a:font>
        <a:srgbClr val="FFFFFF"/>
      </a:tcTxStyle>
      <a:tcStyle>
        <a:tcBdr/>
        <a:fill>
          <a:solidFill>
            <a:srgbClr val="A5A5A5"/>
          </a:solidFill>
        </a:fill>
      </a:tcStyle>
    </a:firstCol>
    <a:lastRow>
      <a:tcTxStyle b="on">
        <a:font>
          <a:latin typeface=""/>
          <a:ea typeface=""/>
          <a:cs typeface=""/>
        </a:font>
      </a:tcTxStyle>
      <a:tcStyle>
        <a:tcBdr>
          <a:top>
            <a:ln w="50804" cap="flat" cmpd="dbl" algn="ctr">
              <a:solidFill>
                <a:srgbClr val="000000"/>
              </a:solidFill>
              <a:prstDash val="solid"/>
              <a:round/>
              <a:headEnd type="none" w="med" len="med"/>
              <a:tailEnd type="none" w="med" len="med"/>
            </a:ln>
          </a:top>
        </a:tcBdr>
        <a:fill>
          <a:solidFill>
            <a:srgbClr val="FFFFFF"/>
          </a:solidFill>
        </a:fill>
      </a:tcStyle>
    </a:lastRow>
    <a:firstRow>
      <a:tcTxStyle b="on">
        <a:font>
          <a:latin typeface="+mn-lt"/>
          <a:ea typeface="+mn-ea"/>
          <a:cs typeface="+mn-cs"/>
        </a:font>
        <a:srgbClr val="FFFFFF"/>
      </a:tcTxStyle>
      <a:tcStyle>
        <a:tcBdr>
          <a:bottom>
            <a:ln w="25402" cap="flat" cmpd="sng" algn="ctr">
              <a:solidFill>
                <a:srgbClr val="000000"/>
              </a:solidFill>
              <a:prstDash val="solid"/>
              <a:round/>
              <a:headEnd type="none" w="med" len="med"/>
              <a:tailEnd type="none" w="med" len="med"/>
            </a:ln>
          </a:bottom>
        </a:tcBdr>
        <a:fill>
          <a:solidFill>
            <a:srgbClr val="A5A5A5"/>
          </a:solidFill>
        </a:fill>
      </a:tcStyle>
    </a:firstRow>
  </a:tblStyle>
  <a:tblStyle styleId="{5202B0CA-FC54-4496-8BCA-5EF66A818D29}" styleName="深色樣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深色樣式 2 - 輔色 1/輔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深色樣式 2 - 輔色 3/輔色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D113A9D2-9D6B-4929-AA2D-F23B5EE8CBE7}" styleName="佈景主題樣式 2 - 輔色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佈景主題樣式 2 - 輔色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545" autoAdjust="0"/>
  </p:normalViewPr>
  <p:slideViewPr>
    <p:cSldViewPr snapToGrid="0">
      <p:cViewPr varScale="1">
        <p:scale>
          <a:sx n="90" d="100"/>
          <a:sy n="90" d="100"/>
        </p:scale>
        <p:origin x="330" y="84"/>
      </p:cViewPr>
      <p:guideLst>
        <p:guide orient="horz" pos="2381"/>
        <p:guide pos="317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頁首版面配置區 1"/>
          <p:cNvSpPr txBox="1">
            <a:spLocks noGrp="1"/>
          </p:cNvSpPr>
          <p:nvPr>
            <p:ph type="hdr" sz="quarter"/>
          </p:nvPr>
        </p:nvSpPr>
        <p:spPr>
          <a:xfrm>
            <a:off x="0" y="0"/>
            <a:ext cx="3280684" cy="534238"/>
          </a:xfrm>
          <a:prstGeom prst="rect">
            <a:avLst/>
          </a:prstGeom>
          <a:noFill/>
          <a:ln>
            <a:noFill/>
          </a:ln>
        </p:spPr>
        <p:txBody>
          <a:bodyPr vert="horz" wrap="non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en-US" sz="1400" b="0" i="0" u="none" strike="noStrike" kern="1200" cap="none" spc="0" baseline="0">
              <a:solidFill>
                <a:srgbClr val="000000"/>
              </a:solidFill>
              <a:uFillTx/>
              <a:latin typeface="Liberation Sans" pitchFamily="18"/>
              <a:ea typeface="微軟正黑體" pitchFamily="2"/>
              <a:cs typeface="Mangal" pitchFamily="2"/>
            </a:endParaRPr>
          </a:p>
        </p:txBody>
      </p:sp>
      <p:sp>
        <p:nvSpPr>
          <p:cNvPr id="3" name="日期版面配置區 2"/>
          <p:cNvSpPr txBox="1">
            <a:spLocks noGrp="1"/>
          </p:cNvSpPr>
          <p:nvPr>
            <p:ph type="dt" sz="quarter" idx="1"/>
          </p:nvPr>
        </p:nvSpPr>
        <p:spPr>
          <a:xfrm>
            <a:off x="4278962" y="0"/>
            <a:ext cx="3280684" cy="534238"/>
          </a:xfrm>
          <a:prstGeom prst="rect">
            <a:avLst/>
          </a:prstGeom>
          <a:noFill/>
          <a:ln>
            <a:noFill/>
          </a:ln>
        </p:spPr>
        <p:txBody>
          <a:bodyPr vert="horz" wrap="none" lIns="90004" tIns="44997" rIns="90004" bIns="44997" anchor="t" anchorCtr="0" compatLnSpc="0">
            <a:noAutofit/>
          </a:bodyPr>
          <a:lstStyle/>
          <a:p>
            <a:pPr marL="0" marR="0" lvl="0" indent="0" algn="r"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en-US" sz="1400" b="0" i="0" u="none" strike="noStrike" kern="1200" cap="none" spc="0" baseline="0">
              <a:solidFill>
                <a:srgbClr val="000000"/>
              </a:solidFill>
              <a:uFillTx/>
              <a:latin typeface="Liberation Sans" pitchFamily="18"/>
              <a:ea typeface="微軟正黑體" pitchFamily="2"/>
              <a:cs typeface="Mangal" pitchFamily="2"/>
            </a:endParaRPr>
          </a:p>
        </p:txBody>
      </p:sp>
      <p:sp>
        <p:nvSpPr>
          <p:cNvPr id="4" name="頁尾版面配置區 3"/>
          <p:cNvSpPr txBox="1">
            <a:spLocks noGrp="1"/>
          </p:cNvSpPr>
          <p:nvPr>
            <p:ph type="ftr" sz="quarter" idx="2"/>
          </p:nvPr>
        </p:nvSpPr>
        <p:spPr>
          <a:xfrm>
            <a:off x="0" y="10157402"/>
            <a:ext cx="3280684" cy="534238"/>
          </a:xfrm>
          <a:prstGeom prst="rect">
            <a:avLst/>
          </a:prstGeom>
          <a:noFill/>
          <a:ln>
            <a:noFill/>
          </a:ln>
        </p:spPr>
        <p:txBody>
          <a:bodyPr vert="horz" wrap="none" lIns="90004" tIns="44997" rIns="90004" bIns="44997" anchor="b" anchorCtr="0" compatLnSpc="0">
            <a:noAutofit/>
          </a:bodyPr>
          <a:lstStyle/>
          <a:p>
            <a:pPr marL="0" marR="0" lvl="0" indent="0" algn="l"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en-US" sz="1400" b="0" i="0" u="none" strike="noStrike" kern="1200" cap="none" spc="0" baseline="0">
              <a:solidFill>
                <a:srgbClr val="000000"/>
              </a:solidFill>
              <a:uFillTx/>
              <a:latin typeface="Liberation Sans" pitchFamily="18"/>
              <a:ea typeface="微軟正黑體" pitchFamily="2"/>
              <a:cs typeface="Mangal" pitchFamily="2"/>
            </a:endParaRPr>
          </a:p>
        </p:txBody>
      </p:sp>
      <p:sp>
        <p:nvSpPr>
          <p:cNvPr id="5" name="投影片編號版面配置區 4"/>
          <p:cNvSpPr txBox="1">
            <a:spLocks noGrp="1"/>
          </p:cNvSpPr>
          <p:nvPr>
            <p:ph type="sldNum" sz="quarter" idx="3"/>
          </p:nvPr>
        </p:nvSpPr>
        <p:spPr>
          <a:xfrm>
            <a:off x="4278962" y="10157402"/>
            <a:ext cx="3280684" cy="534238"/>
          </a:xfrm>
          <a:prstGeom prst="rect">
            <a:avLst/>
          </a:prstGeom>
          <a:noFill/>
          <a:ln>
            <a:noFill/>
          </a:ln>
        </p:spPr>
        <p:txBody>
          <a:bodyPr vert="horz" wrap="none" lIns="90004" tIns="44997" rIns="90004" bIns="44997" anchor="b" anchorCtr="0" compatLnSpc="0">
            <a:noAutofit/>
          </a:bodyPr>
          <a:lstStyle/>
          <a:p>
            <a:pPr marL="0" marR="0" lvl="0" indent="0" algn="r"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fld id="{50227E8C-9554-460F-B633-51D5AD774E1F}" type="slidenum">
              <a:t>‹#›</a:t>
            </a:fld>
            <a:endParaRPr lang="en-US" sz="1400" b="0" i="0" u="none" strike="noStrike" kern="1200" cap="none" spc="0" baseline="0">
              <a:solidFill>
                <a:srgbClr val="000000"/>
              </a:solidFill>
              <a:uFillTx/>
              <a:latin typeface="Liberation Sans" pitchFamily="18"/>
              <a:ea typeface="微軟正黑體" pitchFamily="2"/>
              <a:cs typeface="Mangal" pitchFamily="2"/>
            </a:endParaRPr>
          </a:p>
        </p:txBody>
      </p:sp>
    </p:spTree>
    <p:extLst>
      <p:ext uri="{BB962C8B-B14F-4D97-AF65-F5344CB8AC3E}">
        <p14:creationId xmlns:p14="http://schemas.microsoft.com/office/powerpoint/2010/main" val="155139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idx="2"/>
          </p:nvPr>
        </p:nvSpPr>
        <p:spPr>
          <a:xfrm>
            <a:off x="1107000" y="812517"/>
            <a:ext cx="5345280" cy="4008958"/>
          </a:xfrm>
          <a:prstGeom prst="rect">
            <a:avLst/>
          </a:prstGeom>
          <a:noFill/>
          <a:ln>
            <a:noFill/>
            <a:prstDash val="solid"/>
          </a:ln>
        </p:spPr>
      </p:sp>
      <p:sp>
        <p:nvSpPr>
          <p:cNvPr id="3" name="備忘稿版面配置區 2"/>
          <p:cNvSpPr txBox="1">
            <a:spLocks noGrp="1"/>
          </p:cNvSpPr>
          <p:nvPr>
            <p:ph type="body" sz="quarter" idx="3"/>
          </p:nvPr>
        </p:nvSpPr>
        <p:spPr>
          <a:xfrm>
            <a:off x="755998" y="5078522"/>
            <a:ext cx="6047640" cy="4811042"/>
          </a:xfrm>
          <a:prstGeom prst="rect">
            <a:avLst/>
          </a:prstGeom>
          <a:noFill/>
          <a:ln>
            <a:noFill/>
          </a:ln>
        </p:spPr>
        <p:txBody>
          <a:bodyPr vert="horz" wrap="square" lIns="0" tIns="0" rIns="0" bIns="0" anchor="t" anchorCtr="0" compatLnSpc="1">
            <a:noAutofit/>
          </a:bodyPr>
          <a:lstStyle/>
          <a:p>
            <a:pPr lvl="0"/>
            <a:endParaRPr lang="en-US"/>
          </a:p>
        </p:txBody>
      </p:sp>
      <p:sp>
        <p:nvSpPr>
          <p:cNvPr id="4" name="頁首版面配置區 3"/>
          <p:cNvSpPr txBox="1">
            <a:spLocks noGrp="1"/>
          </p:cNvSpPr>
          <p:nvPr>
            <p:ph type="hdr" sz="quarter"/>
          </p:nvPr>
        </p:nvSpPr>
        <p:spPr>
          <a:xfrm>
            <a:off x="0" y="0"/>
            <a:ext cx="3280684" cy="534238"/>
          </a:xfrm>
          <a:prstGeom prst="rect">
            <a:avLst/>
          </a:prstGeom>
          <a:noFill/>
          <a:ln>
            <a:noFill/>
          </a:ln>
        </p:spPr>
        <p:txBody>
          <a:bodyPr vert="horz" wrap="square" lIns="0" tIns="0" rIns="0" bIns="0" anchor="t" anchorCtr="0" compatLnSpc="1">
            <a:noAutofit/>
          </a:bodyPr>
          <a:lstStyle>
            <a:lvl1pPr marL="0" marR="0" lvl="0" indent="0" algn="l"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5" name="日期版面配置區 4"/>
          <p:cNvSpPr txBox="1">
            <a:spLocks noGrp="1"/>
          </p:cNvSpPr>
          <p:nvPr>
            <p:ph type="dt" idx="1"/>
          </p:nvPr>
        </p:nvSpPr>
        <p:spPr>
          <a:xfrm>
            <a:off x="4278962" y="0"/>
            <a:ext cx="3280684" cy="534238"/>
          </a:xfrm>
          <a:prstGeom prst="rect">
            <a:avLst/>
          </a:prstGeom>
          <a:noFill/>
          <a:ln>
            <a:noFill/>
          </a:ln>
        </p:spPr>
        <p:txBody>
          <a:bodyPr vert="horz" wrap="square" lIns="0" tIns="0" rIns="0" bIns="0" anchor="t" anchorCtr="0" compatLnSpc="1">
            <a:noAutofit/>
          </a:bodyPr>
          <a:lstStyle>
            <a:lvl1pPr marL="0" marR="0" lvl="0" indent="0" algn="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6" name="頁尾版面配置區 5"/>
          <p:cNvSpPr txBox="1">
            <a:spLocks noGrp="1"/>
          </p:cNvSpPr>
          <p:nvPr>
            <p:ph type="ftr" sz="quarter" idx="4"/>
          </p:nvPr>
        </p:nvSpPr>
        <p:spPr>
          <a:xfrm>
            <a:off x="0" y="10157402"/>
            <a:ext cx="3280684" cy="534238"/>
          </a:xfrm>
          <a:prstGeom prst="rect">
            <a:avLst/>
          </a:prstGeom>
          <a:noFill/>
          <a:ln>
            <a:noFill/>
          </a:ln>
        </p:spPr>
        <p:txBody>
          <a:bodyPr vert="horz" wrap="square" lIns="0" tIns="0" rIns="0" bIns="0" anchor="b" anchorCtr="0" compatLnSpc="1">
            <a:noAutofit/>
          </a:bodyPr>
          <a:lstStyle>
            <a:lvl1pPr marL="0" marR="0" lvl="0" indent="0" algn="l"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7" name="投影片編號版面配置區 6"/>
          <p:cNvSpPr txBox="1">
            <a:spLocks noGrp="1"/>
          </p:cNvSpPr>
          <p:nvPr>
            <p:ph type="sldNum" sz="quarter" idx="5"/>
          </p:nvPr>
        </p:nvSpPr>
        <p:spPr>
          <a:xfrm>
            <a:off x="4278962" y="10157402"/>
            <a:ext cx="3280684" cy="534238"/>
          </a:xfrm>
          <a:prstGeom prst="rect">
            <a:avLst/>
          </a:prstGeom>
          <a:noFill/>
          <a:ln>
            <a:noFill/>
          </a:ln>
        </p:spPr>
        <p:txBody>
          <a:bodyPr vert="horz" wrap="square" lIns="0" tIns="0" rIns="0" bIns="0" anchor="b" anchorCtr="0" compatLnSpc="1">
            <a:noAutofit/>
          </a:bodyPr>
          <a:lstStyle>
            <a:lvl1pPr marL="0" marR="0" lvl="0" indent="0" algn="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fld id="{78A57073-AB8B-4F7A-BB5E-FAEF8A970D70}" type="slidenum">
              <a:t>‹#›</a:t>
            </a:fld>
            <a:endParaRPr lang="en-US"/>
          </a:p>
        </p:txBody>
      </p:sp>
    </p:spTree>
    <p:extLst>
      <p:ext uri="{BB962C8B-B14F-4D97-AF65-F5344CB8AC3E}">
        <p14:creationId xmlns:p14="http://schemas.microsoft.com/office/powerpoint/2010/main" val="1409133388"/>
      </p:ext>
    </p:extLst>
  </p:cSld>
  <p:clrMap bg1="lt1" tx1="dk1" bg2="lt2" tx2="dk2" accent1="accent1" accent2="accent2" accent3="accent3" accent4="accent4" accent5="accent5" accent6="accent6" hlink="hlink" folHlink="folHlink"/>
  <p:notesStyle>
    <a:lvl1pPr marL="215999" marR="0" lvl="0" indent="-215999" defTabSz="914400" rtl="0" fontAlgn="auto" hangingPunct="0">
      <a:lnSpc>
        <a:spcPct val="100000"/>
      </a:lnSpc>
      <a:spcBef>
        <a:spcPts val="0"/>
      </a:spcBef>
      <a:spcAft>
        <a:spcPts val="0"/>
      </a:spcAft>
      <a:buNone/>
      <a:tabLst/>
      <a:defRPr lang="en-US" sz="2000" b="0" i="0" u="none" strike="noStrike" kern="1200" cap="none" spc="0" baseline="0">
        <a:solidFill>
          <a:srgbClr val="000000"/>
        </a:solidFill>
        <a:highlight>
          <a:scrgbClr r="0" g="0" b="0">
            <a:alpha val="0"/>
          </a:scrgbClr>
        </a:highlight>
        <a:uFillTx/>
        <a:latin typeface="Liberation Sans" pitchFamily="18"/>
        <a:ea typeface="微軟正黑體" pitchFamily="2"/>
        <a:cs typeface="Mangal" pitchFamily="2"/>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6"/>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044E8A48-0BB3-4429-A23E-981E055DBE4D}" type="slidenum">
              <a:t>1</a:t>
            </a:fld>
            <a:endParaRPr lang="en-US" sz="1400" b="0" i="0" u="none" strike="noStrike" kern="1200" cap="none" spc="0" baseline="0">
              <a:solidFill>
                <a:srgbClr val="000000"/>
              </a:solidFill>
              <a:uFillTx/>
              <a:latin typeface="Liberation Serif" pitchFamily="18"/>
              <a:ea typeface="新細明體" pitchFamily="2"/>
              <a:cs typeface="Tahoma" pitchFamily="2"/>
            </a:endParaRPr>
          </a:p>
        </p:txBody>
      </p:sp>
      <p:sp>
        <p:nvSpPr>
          <p:cNvPr id="3" name="投影片圖像版面配置區 1"/>
          <p:cNvSpPr>
            <a:spLocks noGrp="1" noRot="1" noChangeAspect="1"/>
          </p:cNvSpPr>
          <p:nvPr>
            <p:ph type="sldImg"/>
          </p:nvPr>
        </p:nvSpPr>
        <p:spPr>
          <a:xfrm>
            <a:off x="1106488" y="812800"/>
            <a:ext cx="5345112" cy="4008438"/>
          </a:xfrm>
          <a:solidFill>
            <a:srgbClr val="729FCF"/>
          </a:solidFill>
          <a:ln w="25402">
            <a:solidFill>
              <a:srgbClr val="3465A4"/>
            </a:solidFill>
            <a:prstDash val="solid"/>
          </a:ln>
        </p:spPr>
      </p:sp>
      <p:sp>
        <p:nvSpPr>
          <p:cNvPr id="4" name="備忘稿版面配置區 2"/>
          <p:cNvSpPr txBox="1">
            <a:spLocks noGrp="1"/>
          </p:cNvSpPr>
          <p:nvPr>
            <p:ph type="body" sz="quarter" idx="1"/>
          </p:nvPr>
        </p:nvSpPr>
        <p:spPr/>
        <p:txBody>
          <a:bodyPr/>
          <a:lstStyle/>
          <a:p>
            <a:endParaRPr lang="zh-TW" altLang="en-US"/>
          </a:p>
        </p:txBody>
      </p:sp>
    </p:spTree>
    <p:extLst>
      <p:ext uri="{BB962C8B-B14F-4D97-AF65-F5344CB8AC3E}">
        <p14:creationId xmlns:p14="http://schemas.microsoft.com/office/powerpoint/2010/main" val="15746622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106488" y="812800"/>
            <a:ext cx="5345112" cy="4008438"/>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pPr lvl="0"/>
            <a:fld id="{78A57073-AB8B-4F7A-BB5E-FAEF8A970D70}" type="slidenum">
              <a:rPr lang="en-US" altLang="zh-TW" smtClean="0"/>
              <a:t>4</a:t>
            </a:fld>
            <a:endParaRPr lang="zh-TW" altLang="en-US"/>
          </a:p>
        </p:txBody>
      </p:sp>
    </p:spTree>
    <p:extLst>
      <p:ext uri="{BB962C8B-B14F-4D97-AF65-F5344CB8AC3E}">
        <p14:creationId xmlns:p14="http://schemas.microsoft.com/office/powerpoint/2010/main" val="617206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106488" y="812800"/>
            <a:ext cx="5345112" cy="4008438"/>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pPr lvl="0"/>
            <a:fld id="{78A57073-AB8B-4F7A-BB5E-FAEF8A970D70}" type="slidenum">
              <a:rPr lang="en-US" altLang="zh-TW" smtClean="0"/>
              <a:t>8</a:t>
            </a:fld>
            <a:endParaRPr lang="zh-TW" altLang="en-US"/>
          </a:p>
        </p:txBody>
      </p:sp>
    </p:spTree>
    <p:extLst>
      <p:ext uri="{BB962C8B-B14F-4D97-AF65-F5344CB8AC3E}">
        <p14:creationId xmlns:p14="http://schemas.microsoft.com/office/powerpoint/2010/main" val="36881798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106488" y="812800"/>
            <a:ext cx="5345112" cy="4008438"/>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pPr lvl="0"/>
            <a:fld id="{78A57073-AB8B-4F7A-BB5E-FAEF8A970D70}" type="slidenum">
              <a:rPr lang="en-US" altLang="zh-TW" smtClean="0"/>
              <a:t>9</a:t>
            </a:fld>
            <a:endParaRPr lang="zh-TW" altLang="en-US"/>
          </a:p>
        </p:txBody>
      </p:sp>
    </p:spTree>
    <p:extLst>
      <p:ext uri="{BB962C8B-B14F-4D97-AF65-F5344CB8AC3E}">
        <p14:creationId xmlns:p14="http://schemas.microsoft.com/office/powerpoint/2010/main" val="1923565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106488" y="812800"/>
            <a:ext cx="5345112" cy="4008438"/>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pPr lvl="0"/>
            <a:fld id="{78A57073-AB8B-4F7A-BB5E-FAEF8A970D70}" type="slidenum">
              <a:rPr lang="en-US" altLang="zh-TW" smtClean="0"/>
              <a:t>10</a:t>
            </a:fld>
            <a:endParaRPr lang="zh-TW" altLang="en-US"/>
          </a:p>
        </p:txBody>
      </p:sp>
    </p:spTree>
    <p:extLst>
      <p:ext uri="{BB962C8B-B14F-4D97-AF65-F5344CB8AC3E}">
        <p14:creationId xmlns:p14="http://schemas.microsoft.com/office/powerpoint/2010/main" val="23181583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106488" y="812800"/>
            <a:ext cx="5345112" cy="4008438"/>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pPr lvl="0"/>
            <a:fld id="{78A57073-AB8B-4F7A-BB5E-FAEF8A970D70}" type="slidenum">
              <a:rPr lang="en-US" altLang="zh-TW" smtClean="0"/>
              <a:t>11</a:t>
            </a:fld>
            <a:endParaRPr lang="zh-TW" altLang="en-US"/>
          </a:p>
        </p:txBody>
      </p:sp>
    </p:spTree>
    <p:extLst>
      <p:ext uri="{BB962C8B-B14F-4D97-AF65-F5344CB8AC3E}">
        <p14:creationId xmlns:p14="http://schemas.microsoft.com/office/powerpoint/2010/main" val="10582405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txBox="1">
            <a:spLocks noGrp="1"/>
          </p:cNvSpPr>
          <p:nvPr>
            <p:ph type="ctrTitle"/>
          </p:nvPr>
        </p:nvSpPr>
        <p:spPr>
          <a:xfrm>
            <a:off x="1260472" y="1236661"/>
            <a:ext cx="7559673" cy="2632072"/>
          </a:xfrm>
        </p:spPr>
        <p:txBody>
          <a:bodyPr anchor="b"/>
          <a:lstStyle>
            <a:lvl1pPr>
              <a:defRPr lang="zh-TW" sz="6000"/>
            </a:lvl1pPr>
          </a:lstStyle>
          <a:p>
            <a:pPr lvl="0"/>
            <a:r>
              <a:rPr lang="zh-TW"/>
              <a:t>按一下以編輯母片標題樣式</a:t>
            </a:r>
            <a:endParaRPr lang="en-US"/>
          </a:p>
        </p:txBody>
      </p:sp>
      <p:sp>
        <p:nvSpPr>
          <p:cNvPr id="3" name="副標題 2"/>
          <p:cNvSpPr txBox="1">
            <a:spLocks noGrp="1"/>
          </p:cNvSpPr>
          <p:nvPr>
            <p:ph type="subTitle" idx="1"/>
          </p:nvPr>
        </p:nvSpPr>
        <p:spPr>
          <a:xfrm>
            <a:off x="1260472" y="3970333"/>
            <a:ext cx="7559673" cy="1825627"/>
          </a:xfrm>
        </p:spPr>
        <p:txBody>
          <a:bodyPr anchorCtr="1"/>
          <a:lstStyle>
            <a:lvl1pPr algn="ctr">
              <a:defRPr sz="2400"/>
            </a:lvl1pPr>
          </a:lstStyle>
          <a:p>
            <a:pPr lvl="0"/>
            <a:r>
              <a:rPr lang="zh-TW"/>
              <a:t>按一下以編輯母片副標題樣式</a:t>
            </a:r>
            <a:endParaRPr lang="en-US"/>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AE6BFC27-068B-4B72-92F7-9C821F0A3E7B}" type="slidenum">
              <a:t>‹#›</a:t>
            </a:fld>
            <a:endParaRPr lang="en-US"/>
          </a:p>
        </p:txBody>
      </p:sp>
    </p:spTree>
    <p:extLst>
      <p:ext uri="{BB962C8B-B14F-4D97-AF65-F5344CB8AC3E}">
        <p14:creationId xmlns:p14="http://schemas.microsoft.com/office/powerpoint/2010/main" val="345342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內容版面配置區 2"/>
          <p:cNvSpPr txBox="1">
            <a:spLocks noGrp="1"/>
          </p:cNvSpPr>
          <p:nvPr>
            <p:ph idx="1"/>
          </p:nvPr>
        </p:nvSpPr>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68842836-F473-4F88-8FC5-E6506225DA8A}" type="slidenum">
              <a:t>‹#›</a:t>
            </a:fld>
            <a:endParaRPr lang="en-US"/>
          </a:p>
        </p:txBody>
      </p:sp>
    </p:spTree>
    <p:extLst>
      <p:ext uri="{BB962C8B-B14F-4D97-AF65-F5344CB8AC3E}">
        <p14:creationId xmlns:p14="http://schemas.microsoft.com/office/powerpoint/2010/main" val="2282692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txBox="1">
            <a:spLocks noGrp="1"/>
          </p:cNvSpPr>
          <p:nvPr>
            <p:ph type="title"/>
          </p:nvPr>
        </p:nvSpPr>
        <p:spPr>
          <a:xfrm>
            <a:off x="687391" y="1884358"/>
            <a:ext cx="8694736" cy="3144841"/>
          </a:xfrm>
        </p:spPr>
        <p:txBody>
          <a:bodyPr anchor="b"/>
          <a:lstStyle>
            <a:lvl1pPr>
              <a:defRPr lang="zh-TW" sz="6000"/>
            </a:lvl1pPr>
          </a:lstStyle>
          <a:p>
            <a:pPr lvl="0"/>
            <a:r>
              <a:rPr lang="zh-TW"/>
              <a:t>按一下以編輯母片標題樣式</a:t>
            </a:r>
            <a:endParaRPr lang="en-US"/>
          </a:p>
        </p:txBody>
      </p:sp>
      <p:sp>
        <p:nvSpPr>
          <p:cNvPr id="3" name="文字版面配置區 2"/>
          <p:cNvSpPr txBox="1">
            <a:spLocks noGrp="1"/>
          </p:cNvSpPr>
          <p:nvPr>
            <p:ph type="body" idx="1"/>
          </p:nvPr>
        </p:nvSpPr>
        <p:spPr>
          <a:xfrm>
            <a:off x="687391" y="5059366"/>
            <a:ext cx="8694736" cy="1652585"/>
          </a:xfrm>
        </p:spPr>
        <p:txBody>
          <a:bodyPr/>
          <a:lstStyle>
            <a:lvl1pPr>
              <a:defRPr sz="2400">
                <a:solidFill>
                  <a:srgbClr val="898989"/>
                </a:solidFill>
              </a:defRPr>
            </a:lvl1pPr>
          </a:lstStyle>
          <a:p>
            <a:pPr lvl="0"/>
            <a:r>
              <a:rPr lang="zh-TW"/>
              <a:t>按一下以編輯母片文字樣式</a:t>
            </a:r>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F06D477E-DD58-4DE2-94A6-FBA23A92454D}" type="slidenum">
              <a:t>‹#›</a:t>
            </a:fld>
            <a:endParaRPr lang="en-US"/>
          </a:p>
        </p:txBody>
      </p:sp>
    </p:spTree>
    <p:extLst>
      <p:ext uri="{BB962C8B-B14F-4D97-AF65-F5344CB8AC3E}">
        <p14:creationId xmlns:p14="http://schemas.microsoft.com/office/powerpoint/2010/main" val="1381223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內容版面配置區 2"/>
          <p:cNvSpPr txBox="1">
            <a:spLocks noGrp="1"/>
          </p:cNvSpPr>
          <p:nvPr>
            <p:ph idx="1"/>
          </p:nvPr>
        </p:nvSpPr>
        <p:spPr>
          <a:xfrm>
            <a:off x="503240" y="1768477"/>
            <a:ext cx="4459291" cy="4384676"/>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內容版面配置區 3"/>
          <p:cNvSpPr txBox="1">
            <a:spLocks noGrp="1"/>
          </p:cNvSpPr>
          <p:nvPr>
            <p:ph idx="2"/>
          </p:nvPr>
        </p:nvSpPr>
        <p:spPr>
          <a:xfrm>
            <a:off x="5114925" y="1768477"/>
            <a:ext cx="4460872" cy="4384676"/>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5" name="日期版面配置區 4"/>
          <p:cNvSpPr txBox="1">
            <a:spLocks noGrp="1"/>
          </p:cNvSpPr>
          <p:nvPr>
            <p:ph type="dt" sz="half" idx="7"/>
          </p:nvPr>
        </p:nvSpPr>
        <p:spPr/>
        <p:txBody>
          <a:bodyPr/>
          <a:lstStyle>
            <a:lvl1pPr>
              <a:defRPr/>
            </a:lvl1pPr>
          </a:lstStyle>
          <a:p>
            <a:pPr lvl="0"/>
            <a:endParaRPr lang="en-US"/>
          </a:p>
        </p:txBody>
      </p:sp>
      <p:sp>
        <p:nvSpPr>
          <p:cNvPr id="6" name="頁尾版面配置區 5"/>
          <p:cNvSpPr txBox="1">
            <a:spLocks noGrp="1"/>
          </p:cNvSpPr>
          <p:nvPr>
            <p:ph type="ftr" sz="quarter" idx="9"/>
          </p:nvPr>
        </p:nvSpPr>
        <p:spPr/>
        <p:txBody>
          <a:bodyPr/>
          <a:lstStyle>
            <a:lvl1pPr>
              <a:defRPr/>
            </a:lvl1pPr>
          </a:lstStyle>
          <a:p>
            <a:pPr lvl="0"/>
            <a:endParaRPr lang="en-US"/>
          </a:p>
        </p:txBody>
      </p:sp>
      <p:sp>
        <p:nvSpPr>
          <p:cNvPr id="7" name="投影片編號版面配置區 6"/>
          <p:cNvSpPr txBox="1">
            <a:spLocks noGrp="1"/>
          </p:cNvSpPr>
          <p:nvPr>
            <p:ph type="sldNum" sz="quarter" idx="8"/>
          </p:nvPr>
        </p:nvSpPr>
        <p:spPr/>
        <p:txBody>
          <a:bodyPr/>
          <a:lstStyle>
            <a:lvl1pPr>
              <a:defRPr/>
            </a:lvl1pPr>
          </a:lstStyle>
          <a:p>
            <a:pPr lvl="0"/>
            <a:fld id="{A72D141D-6966-43C1-8EB1-BB4818DFA3BC}" type="slidenum">
              <a:t>‹#›</a:t>
            </a:fld>
            <a:endParaRPr lang="en-US"/>
          </a:p>
        </p:txBody>
      </p:sp>
    </p:spTree>
    <p:extLst>
      <p:ext uri="{BB962C8B-B14F-4D97-AF65-F5344CB8AC3E}">
        <p14:creationId xmlns:p14="http://schemas.microsoft.com/office/powerpoint/2010/main" val="1156981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txBox="1">
            <a:spLocks noGrp="1"/>
          </p:cNvSpPr>
          <p:nvPr>
            <p:ph type="title"/>
          </p:nvPr>
        </p:nvSpPr>
        <p:spPr>
          <a:xfrm>
            <a:off x="693736" y="403222"/>
            <a:ext cx="8694736" cy="1460497"/>
          </a:xfrm>
        </p:spPr>
        <p:txBody>
          <a:bodyPr/>
          <a:lstStyle>
            <a:lvl1pPr>
              <a:defRPr lang="zh-TW"/>
            </a:lvl1pPr>
          </a:lstStyle>
          <a:p>
            <a:pPr lvl="0"/>
            <a:r>
              <a:rPr lang="zh-TW"/>
              <a:t>按一下以編輯母片標題樣式</a:t>
            </a:r>
            <a:endParaRPr lang="en-US"/>
          </a:p>
        </p:txBody>
      </p:sp>
      <p:sp>
        <p:nvSpPr>
          <p:cNvPr id="3" name="文字版面配置區 2"/>
          <p:cNvSpPr txBox="1">
            <a:spLocks noGrp="1"/>
          </p:cNvSpPr>
          <p:nvPr>
            <p:ph type="body" idx="1"/>
          </p:nvPr>
        </p:nvSpPr>
        <p:spPr>
          <a:xfrm>
            <a:off x="693736" y="1852610"/>
            <a:ext cx="4265611" cy="908054"/>
          </a:xfrm>
        </p:spPr>
        <p:txBody>
          <a:bodyPr anchor="b"/>
          <a:lstStyle>
            <a:lvl1pPr>
              <a:defRPr sz="2400" b="1"/>
            </a:lvl1pPr>
          </a:lstStyle>
          <a:p>
            <a:pPr lvl="0"/>
            <a:r>
              <a:rPr lang="zh-TW"/>
              <a:t>按一下以編輯母片文字樣式</a:t>
            </a:r>
          </a:p>
        </p:txBody>
      </p:sp>
      <p:sp>
        <p:nvSpPr>
          <p:cNvPr id="4" name="內容版面配置區 3"/>
          <p:cNvSpPr txBox="1">
            <a:spLocks noGrp="1"/>
          </p:cNvSpPr>
          <p:nvPr>
            <p:ph idx="2"/>
          </p:nvPr>
        </p:nvSpPr>
        <p:spPr>
          <a:xfrm>
            <a:off x="693736" y="2760665"/>
            <a:ext cx="4265611" cy="4062414"/>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5" name="文字版面配置區 4"/>
          <p:cNvSpPr txBox="1">
            <a:spLocks noGrp="1"/>
          </p:cNvSpPr>
          <p:nvPr>
            <p:ph type="body" idx="3"/>
          </p:nvPr>
        </p:nvSpPr>
        <p:spPr>
          <a:xfrm>
            <a:off x="5103815" y="1852610"/>
            <a:ext cx="4284658" cy="908054"/>
          </a:xfrm>
        </p:spPr>
        <p:txBody>
          <a:bodyPr anchor="b"/>
          <a:lstStyle>
            <a:lvl1pPr>
              <a:defRPr sz="2400" b="1"/>
            </a:lvl1pPr>
          </a:lstStyle>
          <a:p>
            <a:pPr lvl="0"/>
            <a:r>
              <a:rPr lang="zh-TW"/>
              <a:t>按一下以編輯母片文字樣式</a:t>
            </a:r>
          </a:p>
        </p:txBody>
      </p:sp>
      <p:sp>
        <p:nvSpPr>
          <p:cNvPr id="6" name="內容版面配置區 5"/>
          <p:cNvSpPr txBox="1">
            <a:spLocks noGrp="1"/>
          </p:cNvSpPr>
          <p:nvPr>
            <p:ph idx="4"/>
          </p:nvPr>
        </p:nvSpPr>
        <p:spPr>
          <a:xfrm>
            <a:off x="5103815" y="2760665"/>
            <a:ext cx="4284658" cy="4062414"/>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7" name="日期版面配置區 6"/>
          <p:cNvSpPr txBox="1">
            <a:spLocks noGrp="1"/>
          </p:cNvSpPr>
          <p:nvPr>
            <p:ph type="dt" sz="half" idx="7"/>
          </p:nvPr>
        </p:nvSpPr>
        <p:spPr/>
        <p:txBody>
          <a:bodyPr/>
          <a:lstStyle>
            <a:lvl1pPr>
              <a:defRPr/>
            </a:lvl1pPr>
          </a:lstStyle>
          <a:p>
            <a:pPr lvl="0"/>
            <a:endParaRPr lang="en-US"/>
          </a:p>
        </p:txBody>
      </p:sp>
      <p:sp>
        <p:nvSpPr>
          <p:cNvPr id="8" name="頁尾版面配置區 7"/>
          <p:cNvSpPr txBox="1">
            <a:spLocks noGrp="1"/>
          </p:cNvSpPr>
          <p:nvPr>
            <p:ph type="ftr" sz="quarter" idx="9"/>
          </p:nvPr>
        </p:nvSpPr>
        <p:spPr/>
        <p:txBody>
          <a:bodyPr/>
          <a:lstStyle>
            <a:lvl1pPr>
              <a:defRPr/>
            </a:lvl1pPr>
          </a:lstStyle>
          <a:p>
            <a:pPr lvl="0"/>
            <a:endParaRPr lang="en-US"/>
          </a:p>
        </p:txBody>
      </p:sp>
      <p:sp>
        <p:nvSpPr>
          <p:cNvPr id="9" name="投影片編號版面配置區 8"/>
          <p:cNvSpPr txBox="1">
            <a:spLocks noGrp="1"/>
          </p:cNvSpPr>
          <p:nvPr>
            <p:ph type="sldNum" sz="quarter" idx="8"/>
          </p:nvPr>
        </p:nvSpPr>
        <p:spPr/>
        <p:txBody>
          <a:bodyPr/>
          <a:lstStyle>
            <a:lvl1pPr>
              <a:defRPr/>
            </a:lvl1pPr>
          </a:lstStyle>
          <a:p>
            <a:pPr lvl="0"/>
            <a:fld id="{4D382990-A4FF-4906-9C3D-CE47CFC3DCA5}" type="slidenum">
              <a:t>‹#›</a:t>
            </a:fld>
            <a:endParaRPr lang="en-US"/>
          </a:p>
        </p:txBody>
      </p:sp>
    </p:spTree>
    <p:extLst>
      <p:ext uri="{BB962C8B-B14F-4D97-AF65-F5344CB8AC3E}">
        <p14:creationId xmlns:p14="http://schemas.microsoft.com/office/powerpoint/2010/main" val="3403414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日期版面配置區 2"/>
          <p:cNvSpPr txBox="1">
            <a:spLocks noGrp="1"/>
          </p:cNvSpPr>
          <p:nvPr>
            <p:ph type="dt" sz="half" idx="7"/>
          </p:nvPr>
        </p:nvSpPr>
        <p:spPr/>
        <p:txBody>
          <a:bodyPr/>
          <a:lstStyle>
            <a:lvl1pPr>
              <a:defRPr/>
            </a:lvl1pPr>
          </a:lstStyle>
          <a:p>
            <a:pPr lvl="0"/>
            <a:endParaRPr lang="en-US"/>
          </a:p>
        </p:txBody>
      </p:sp>
      <p:sp>
        <p:nvSpPr>
          <p:cNvPr id="4" name="頁尾版面配置區 3"/>
          <p:cNvSpPr txBox="1">
            <a:spLocks noGrp="1"/>
          </p:cNvSpPr>
          <p:nvPr>
            <p:ph type="ftr" sz="quarter" idx="9"/>
          </p:nvPr>
        </p:nvSpPr>
        <p:spPr/>
        <p:txBody>
          <a:bodyPr/>
          <a:lstStyle>
            <a:lvl1pPr>
              <a:defRPr/>
            </a:lvl1pPr>
          </a:lstStyle>
          <a:p>
            <a:pPr lvl="0"/>
            <a:endParaRPr lang="en-US"/>
          </a:p>
        </p:txBody>
      </p:sp>
      <p:sp>
        <p:nvSpPr>
          <p:cNvPr id="5" name="投影片編號版面配置區 4"/>
          <p:cNvSpPr txBox="1">
            <a:spLocks noGrp="1"/>
          </p:cNvSpPr>
          <p:nvPr>
            <p:ph type="sldNum" sz="quarter" idx="8"/>
          </p:nvPr>
        </p:nvSpPr>
        <p:spPr/>
        <p:txBody>
          <a:bodyPr/>
          <a:lstStyle>
            <a:lvl1pPr>
              <a:defRPr/>
            </a:lvl1pPr>
          </a:lstStyle>
          <a:p>
            <a:pPr lvl="0"/>
            <a:fld id="{C73CCA10-4506-4689-B9C6-7A25C650BAFF}" type="slidenum">
              <a:t>‹#›</a:t>
            </a:fld>
            <a:endParaRPr lang="en-US"/>
          </a:p>
        </p:txBody>
      </p:sp>
    </p:spTree>
    <p:extLst>
      <p:ext uri="{BB962C8B-B14F-4D97-AF65-F5344CB8AC3E}">
        <p14:creationId xmlns:p14="http://schemas.microsoft.com/office/powerpoint/2010/main" val="2056262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txBox="1">
            <a:spLocks noGrp="1"/>
          </p:cNvSpPr>
          <p:nvPr>
            <p:ph type="dt" sz="half" idx="7"/>
          </p:nvPr>
        </p:nvSpPr>
        <p:spPr/>
        <p:txBody>
          <a:bodyPr/>
          <a:lstStyle>
            <a:lvl1pPr>
              <a:defRPr/>
            </a:lvl1pPr>
          </a:lstStyle>
          <a:p>
            <a:pPr lvl="0"/>
            <a:endParaRPr lang="en-US"/>
          </a:p>
        </p:txBody>
      </p:sp>
      <p:sp>
        <p:nvSpPr>
          <p:cNvPr id="3" name="頁尾版面配置區 2"/>
          <p:cNvSpPr txBox="1">
            <a:spLocks noGrp="1"/>
          </p:cNvSpPr>
          <p:nvPr>
            <p:ph type="ftr" sz="quarter" idx="9"/>
          </p:nvPr>
        </p:nvSpPr>
        <p:spPr/>
        <p:txBody>
          <a:bodyPr/>
          <a:lstStyle>
            <a:lvl1pPr>
              <a:defRPr/>
            </a:lvl1pPr>
          </a:lstStyle>
          <a:p>
            <a:pPr lvl="0"/>
            <a:endParaRPr lang="en-US"/>
          </a:p>
        </p:txBody>
      </p:sp>
      <p:sp>
        <p:nvSpPr>
          <p:cNvPr id="4" name="投影片編號版面配置區 3"/>
          <p:cNvSpPr txBox="1">
            <a:spLocks noGrp="1"/>
          </p:cNvSpPr>
          <p:nvPr>
            <p:ph type="sldNum" sz="quarter" idx="8"/>
          </p:nvPr>
        </p:nvSpPr>
        <p:spPr/>
        <p:txBody>
          <a:bodyPr/>
          <a:lstStyle>
            <a:lvl1pPr>
              <a:defRPr/>
            </a:lvl1pPr>
          </a:lstStyle>
          <a:p>
            <a:pPr lvl="0"/>
            <a:fld id="{DA413963-2284-408C-A1F3-BA9C90A14B4D}" type="slidenum">
              <a:t>‹#›</a:t>
            </a:fld>
            <a:endParaRPr lang="en-US"/>
          </a:p>
        </p:txBody>
      </p:sp>
    </p:spTree>
    <p:extLst>
      <p:ext uri="{BB962C8B-B14F-4D97-AF65-F5344CB8AC3E}">
        <p14:creationId xmlns:p14="http://schemas.microsoft.com/office/powerpoint/2010/main" val="3566101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txBox="1">
            <a:spLocks noGrp="1"/>
          </p:cNvSpPr>
          <p:nvPr>
            <p:ph type="title"/>
          </p:nvPr>
        </p:nvSpPr>
        <p:spPr>
          <a:xfrm>
            <a:off x="693736" y="503240"/>
            <a:ext cx="3251204" cy="1765304"/>
          </a:xfrm>
        </p:spPr>
        <p:txBody>
          <a:bodyPr anchor="b"/>
          <a:lstStyle>
            <a:lvl1pPr>
              <a:defRPr lang="zh-TW" sz="3200"/>
            </a:lvl1pPr>
          </a:lstStyle>
          <a:p>
            <a:pPr lvl="0"/>
            <a:r>
              <a:rPr lang="zh-TW"/>
              <a:t>按一下以編輯母片標題樣式</a:t>
            </a:r>
            <a:endParaRPr lang="en-US"/>
          </a:p>
        </p:txBody>
      </p:sp>
      <p:sp>
        <p:nvSpPr>
          <p:cNvPr id="3" name="內容版面配置區 2"/>
          <p:cNvSpPr txBox="1">
            <a:spLocks noGrp="1"/>
          </p:cNvSpPr>
          <p:nvPr>
            <p:ph idx="1"/>
          </p:nvPr>
        </p:nvSpPr>
        <p:spPr>
          <a:xfrm>
            <a:off x="4286249" y="1089022"/>
            <a:ext cx="5102223" cy="5372100"/>
          </a:xfrm>
        </p:spPr>
        <p:txBody>
          <a:bodyPr/>
          <a:lstStyle>
            <a:lvl1pPr>
              <a:defRPr/>
            </a:lvl1pPr>
            <a:lvl2pPr>
              <a:defRPr sz="2800"/>
            </a:lvl2pPr>
            <a:lvl3pPr>
              <a:defRPr sz="2400"/>
            </a:lvl3pPr>
            <a:lvl4pPr>
              <a:defRPr sz="2000"/>
            </a:lvl4pPr>
            <a:lvl5pPr>
              <a:defRPr sz="2000"/>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文字版面配置區 3"/>
          <p:cNvSpPr txBox="1">
            <a:spLocks noGrp="1"/>
          </p:cNvSpPr>
          <p:nvPr>
            <p:ph type="body" idx="2"/>
          </p:nvPr>
        </p:nvSpPr>
        <p:spPr>
          <a:xfrm>
            <a:off x="693736" y="2268534"/>
            <a:ext cx="3251204" cy="4200525"/>
          </a:xfrm>
        </p:spPr>
        <p:txBody>
          <a:bodyPr/>
          <a:lstStyle>
            <a:lvl1pPr>
              <a:defRPr sz="1600"/>
            </a:lvl1pPr>
          </a:lstStyle>
          <a:p>
            <a:pPr lvl="0"/>
            <a:r>
              <a:rPr lang="zh-TW"/>
              <a:t>按一下以編輯母片文字樣式</a:t>
            </a:r>
          </a:p>
        </p:txBody>
      </p:sp>
      <p:sp>
        <p:nvSpPr>
          <p:cNvPr id="5" name="日期版面配置區 4"/>
          <p:cNvSpPr txBox="1">
            <a:spLocks noGrp="1"/>
          </p:cNvSpPr>
          <p:nvPr>
            <p:ph type="dt" sz="half" idx="7"/>
          </p:nvPr>
        </p:nvSpPr>
        <p:spPr/>
        <p:txBody>
          <a:bodyPr/>
          <a:lstStyle>
            <a:lvl1pPr>
              <a:defRPr/>
            </a:lvl1pPr>
          </a:lstStyle>
          <a:p>
            <a:pPr lvl="0"/>
            <a:endParaRPr lang="en-US"/>
          </a:p>
        </p:txBody>
      </p:sp>
      <p:sp>
        <p:nvSpPr>
          <p:cNvPr id="6" name="頁尾版面配置區 5"/>
          <p:cNvSpPr txBox="1">
            <a:spLocks noGrp="1"/>
          </p:cNvSpPr>
          <p:nvPr>
            <p:ph type="ftr" sz="quarter" idx="9"/>
          </p:nvPr>
        </p:nvSpPr>
        <p:spPr/>
        <p:txBody>
          <a:bodyPr/>
          <a:lstStyle>
            <a:lvl1pPr>
              <a:defRPr/>
            </a:lvl1pPr>
          </a:lstStyle>
          <a:p>
            <a:pPr lvl="0"/>
            <a:endParaRPr lang="en-US"/>
          </a:p>
        </p:txBody>
      </p:sp>
      <p:sp>
        <p:nvSpPr>
          <p:cNvPr id="7" name="投影片編號版面配置區 6"/>
          <p:cNvSpPr txBox="1">
            <a:spLocks noGrp="1"/>
          </p:cNvSpPr>
          <p:nvPr>
            <p:ph type="sldNum" sz="quarter" idx="8"/>
          </p:nvPr>
        </p:nvSpPr>
        <p:spPr/>
        <p:txBody>
          <a:bodyPr/>
          <a:lstStyle>
            <a:lvl1pPr>
              <a:defRPr/>
            </a:lvl1pPr>
          </a:lstStyle>
          <a:p>
            <a:pPr lvl="0"/>
            <a:fld id="{8059FB30-6DA3-498A-B3E4-39789FBB385A}" type="slidenum">
              <a:t>‹#›</a:t>
            </a:fld>
            <a:endParaRPr lang="en-US"/>
          </a:p>
        </p:txBody>
      </p:sp>
    </p:spTree>
    <p:extLst>
      <p:ext uri="{BB962C8B-B14F-4D97-AF65-F5344CB8AC3E}">
        <p14:creationId xmlns:p14="http://schemas.microsoft.com/office/powerpoint/2010/main" val="2952677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txBox="1">
            <a:spLocks noGrp="1"/>
          </p:cNvSpPr>
          <p:nvPr>
            <p:ph type="title"/>
          </p:nvPr>
        </p:nvSpPr>
        <p:spPr>
          <a:xfrm>
            <a:off x="693736" y="503240"/>
            <a:ext cx="3251204" cy="1765304"/>
          </a:xfrm>
        </p:spPr>
        <p:txBody>
          <a:bodyPr anchor="b"/>
          <a:lstStyle>
            <a:lvl1pPr>
              <a:defRPr lang="zh-TW" sz="3200"/>
            </a:lvl1pPr>
          </a:lstStyle>
          <a:p>
            <a:pPr lvl="0"/>
            <a:r>
              <a:rPr lang="zh-TW"/>
              <a:t>按一下以編輯母片標題樣式</a:t>
            </a:r>
            <a:endParaRPr lang="en-US"/>
          </a:p>
        </p:txBody>
      </p:sp>
      <p:sp>
        <p:nvSpPr>
          <p:cNvPr id="3" name="圖片版面配置區 2"/>
          <p:cNvSpPr txBox="1">
            <a:spLocks noGrp="1"/>
          </p:cNvSpPr>
          <p:nvPr>
            <p:ph type="pic" idx="1"/>
          </p:nvPr>
        </p:nvSpPr>
        <p:spPr>
          <a:xfrm>
            <a:off x="4286249" y="1089022"/>
            <a:ext cx="5102223" cy="5372100"/>
          </a:xfrm>
        </p:spPr>
        <p:txBody>
          <a:bodyPr/>
          <a:lstStyle>
            <a:lvl1pPr>
              <a:defRPr lang="en-US"/>
            </a:lvl1pPr>
          </a:lstStyle>
          <a:p>
            <a:pPr lvl="0"/>
            <a:endParaRPr lang="en-US"/>
          </a:p>
        </p:txBody>
      </p:sp>
      <p:sp>
        <p:nvSpPr>
          <p:cNvPr id="4" name="文字版面配置區 3"/>
          <p:cNvSpPr txBox="1">
            <a:spLocks noGrp="1"/>
          </p:cNvSpPr>
          <p:nvPr>
            <p:ph type="body" idx="2"/>
          </p:nvPr>
        </p:nvSpPr>
        <p:spPr>
          <a:xfrm>
            <a:off x="693736" y="2268534"/>
            <a:ext cx="3251204" cy="4200525"/>
          </a:xfrm>
        </p:spPr>
        <p:txBody>
          <a:bodyPr/>
          <a:lstStyle>
            <a:lvl1pPr>
              <a:defRPr sz="1600"/>
            </a:lvl1pPr>
          </a:lstStyle>
          <a:p>
            <a:pPr lvl="0"/>
            <a:r>
              <a:rPr lang="zh-TW"/>
              <a:t>按一下以編輯母片文字樣式</a:t>
            </a:r>
          </a:p>
        </p:txBody>
      </p:sp>
      <p:sp>
        <p:nvSpPr>
          <p:cNvPr id="5" name="日期版面配置區 4"/>
          <p:cNvSpPr txBox="1">
            <a:spLocks noGrp="1"/>
          </p:cNvSpPr>
          <p:nvPr>
            <p:ph type="dt" sz="half" idx="7"/>
          </p:nvPr>
        </p:nvSpPr>
        <p:spPr/>
        <p:txBody>
          <a:bodyPr/>
          <a:lstStyle>
            <a:lvl1pPr>
              <a:defRPr/>
            </a:lvl1pPr>
          </a:lstStyle>
          <a:p>
            <a:pPr lvl="0"/>
            <a:endParaRPr lang="en-US"/>
          </a:p>
        </p:txBody>
      </p:sp>
      <p:sp>
        <p:nvSpPr>
          <p:cNvPr id="6" name="頁尾版面配置區 5"/>
          <p:cNvSpPr txBox="1">
            <a:spLocks noGrp="1"/>
          </p:cNvSpPr>
          <p:nvPr>
            <p:ph type="ftr" sz="quarter" idx="9"/>
          </p:nvPr>
        </p:nvSpPr>
        <p:spPr/>
        <p:txBody>
          <a:bodyPr/>
          <a:lstStyle>
            <a:lvl1pPr>
              <a:defRPr/>
            </a:lvl1pPr>
          </a:lstStyle>
          <a:p>
            <a:pPr lvl="0"/>
            <a:endParaRPr lang="en-US"/>
          </a:p>
        </p:txBody>
      </p:sp>
      <p:sp>
        <p:nvSpPr>
          <p:cNvPr id="7" name="投影片編號版面配置區 6"/>
          <p:cNvSpPr txBox="1">
            <a:spLocks noGrp="1"/>
          </p:cNvSpPr>
          <p:nvPr>
            <p:ph type="sldNum" sz="quarter" idx="8"/>
          </p:nvPr>
        </p:nvSpPr>
        <p:spPr/>
        <p:txBody>
          <a:bodyPr/>
          <a:lstStyle>
            <a:lvl1pPr>
              <a:defRPr/>
            </a:lvl1pPr>
          </a:lstStyle>
          <a:p>
            <a:pPr lvl="0"/>
            <a:fld id="{62DDE591-0FAF-4F51-A0C1-3BEDC4250AEC}" type="slidenum">
              <a:t>‹#›</a:t>
            </a:fld>
            <a:endParaRPr lang="en-US"/>
          </a:p>
        </p:txBody>
      </p:sp>
    </p:spTree>
    <p:extLst>
      <p:ext uri="{BB962C8B-B14F-4D97-AF65-F5344CB8AC3E}">
        <p14:creationId xmlns:p14="http://schemas.microsoft.com/office/powerpoint/2010/main" val="1247615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直排文字版面配置區 2"/>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30523178-8C3C-4D5B-987E-9C6DE9B05220}" type="slidenum">
              <a:t>‹#›</a:t>
            </a:fld>
            <a:endParaRPr lang="en-US"/>
          </a:p>
        </p:txBody>
      </p:sp>
    </p:spTree>
    <p:extLst>
      <p:ext uri="{BB962C8B-B14F-4D97-AF65-F5344CB8AC3E}">
        <p14:creationId xmlns:p14="http://schemas.microsoft.com/office/powerpoint/2010/main" val="3461704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txBox="1">
            <a:spLocks noGrp="1"/>
          </p:cNvSpPr>
          <p:nvPr>
            <p:ph type="title" orient="vert"/>
          </p:nvPr>
        </p:nvSpPr>
        <p:spPr>
          <a:xfrm>
            <a:off x="7308854" y="301623"/>
            <a:ext cx="2266953" cy="5851529"/>
          </a:xfrm>
        </p:spPr>
        <p:txBody>
          <a:bodyPr vert="eaVert"/>
          <a:lstStyle>
            <a:lvl1pPr>
              <a:defRPr lang="zh-TW"/>
            </a:lvl1pPr>
          </a:lstStyle>
          <a:p>
            <a:pPr lvl="0"/>
            <a:r>
              <a:rPr lang="zh-TW"/>
              <a:t>按一下以編輯母片標題樣式</a:t>
            </a:r>
            <a:endParaRPr lang="en-US"/>
          </a:p>
        </p:txBody>
      </p:sp>
      <p:sp>
        <p:nvSpPr>
          <p:cNvPr id="3" name="直排文字版面配置區 2"/>
          <p:cNvSpPr txBox="1">
            <a:spLocks noGrp="1"/>
          </p:cNvSpPr>
          <p:nvPr>
            <p:ph type="body" orient="vert" idx="1"/>
          </p:nvPr>
        </p:nvSpPr>
        <p:spPr>
          <a:xfrm>
            <a:off x="503240" y="301623"/>
            <a:ext cx="6653210" cy="5851529"/>
          </a:xfrm>
        </p:spPr>
        <p:txBody>
          <a:bodyPr vert="eaVert"/>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0683D96B-BEA4-46BB-A345-50D7E40AC1BE}" type="slidenum">
              <a:t>‹#›</a:t>
            </a:fld>
            <a:endParaRPr lang="en-US"/>
          </a:p>
        </p:txBody>
      </p:sp>
    </p:spTree>
    <p:extLst>
      <p:ext uri="{BB962C8B-B14F-4D97-AF65-F5344CB8AC3E}">
        <p14:creationId xmlns:p14="http://schemas.microsoft.com/office/powerpoint/2010/main" val="3075908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版面配置區 1"/>
          <p:cNvSpPr txBox="1">
            <a:spLocks noGrp="1"/>
          </p:cNvSpPr>
          <p:nvPr>
            <p:ph type="title"/>
          </p:nvPr>
        </p:nvSpPr>
        <p:spPr>
          <a:xfrm>
            <a:off x="503998" y="301322"/>
            <a:ext cx="9071643" cy="1262155"/>
          </a:xfrm>
          <a:prstGeom prst="rect">
            <a:avLst/>
          </a:prstGeom>
          <a:noFill/>
          <a:ln>
            <a:noFill/>
          </a:ln>
        </p:spPr>
        <p:txBody>
          <a:bodyPr vert="horz" wrap="square" lIns="0" tIns="0" rIns="0" bIns="0" anchor="ctr" anchorCtr="1" compatLnSpc="1">
            <a:noAutofit/>
          </a:bodyPr>
          <a:lstStyle/>
          <a:p>
            <a:pPr lvl="0"/>
            <a:endParaRPr lang="en-US"/>
          </a:p>
        </p:txBody>
      </p:sp>
      <p:sp>
        <p:nvSpPr>
          <p:cNvPr id="3" name="文字版面配置區 2"/>
          <p:cNvSpPr txBox="1">
            <a:spLocks noGrp="1"/>
          </p:cNvSpPr>
          <p:nvPr>
            <p:ph type="body" idx="1"/>
          </p:nvPr>
        </p:nvSpPr>
        <p:spPr>
          <a:xfrm>
            <a:off x="503998" y="1769043"/>
            <a:ext cx="9071643" cy="4384438"/>
          </a:xfrm>
          <a:prstGeom prst="rect">
            <a:avLst/>
          </a:prstGeom>
          <a:noFill/>
          <a:ln>
            <a:noFill/>
          </a:ln>
        </p:spPr>
        <p:txBody>
          <a:bodyPr vert="horz" wrap="square" lIns="0" tIns="0" rIns="0" bIns="0" anchor="t" anchorCtr="0" compatLnSpc="1">
            <a:noAutofit/>
          </a:body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2"/>
          </p:nvPr>
        </p:nvSpPr>
        <p:spPr>
          <a:xfrm>
            <a:off x="503998" y="6887160"/>
            <a:ext cx="2348279" cy="521281"/>
          </a:xfrm>
          <a:prstGeom prst="rect">
            <a:avLst/>
          </a:prstGeom>
          <a:noFill/>
          <a:ln>
            <a:noFill/>
          </a:ln>
        </p:spPr>
        <p:txBody>
          <a:bodyPr vert="horz" wrap="square" lIns="0" tIns="0" rIns="0" bIns="0" anchor="t" anchorCtr="0" compatLnSpc="1">
            <a:noAutofit/>
          </a:bodyPr>
          <a:lstStyle>
            <a:lvl1pPr marL="0" marR="0" lvl="0" indent="0" algn="l"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5" name="頁尾版面配置區 4"/>
          <p:cNvSpPr txBox="1">
            <a:spLocks noGrp="1"/>
          </p:cNvSpPr>
          <p:nvPr>
            <p:ph type="ftr" sz="quarter" idx="3"/>
          </p:nvPr>
        </p:nvSpPr>
        <p:spPr>
          <a:xfrm>
            <a:off x="3447361" y="6887160"/>
            <a:ext cx="3194995" cy="521281"/>
          </a:xfrm>
          <a:prstGeom prst="rect">
            <a:avLst/>
          </a:prstGeom>
          <a:noFill/>
          <a:ln>
            <a:noFill/>
          </a:ln>
        </p:spPr>
        <p:txBody>
          <a:bodyPr vert="horz" wrap="square" lIns="0" tIns="0" rIns="0" bIns="0" anchor="t" anchorCtr="1" compatLnSpc="1">
            <a:noAutofit/>
          </a:bodyPr>
          <a:lstStyle>
            <a:lvl1pPr marL="0" marR="0" lvl="0" indent="0" algn="ct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6" name="投影片編號版面配置區 5"/>
          <p:cNvSpPr txBox="1">
            <a:spLocks noGrp="1"/>
          </p:cNvSpPr>
          <p:nvPr>
            <p:ph type="sldNum" sz="quarter" idx="4"/>
          </p:nvPr>
        </p:nvSpPr>
        <p:spPr>
          <a:xfrm>
            <a:off x="7227362" y="6887160"/>
            <a:ext cx="2348279" cy="521281"/>
          </a:xfrm>
          <a:prstGeom prst="rect">
            <a:avLst/>
          </a:prstGeom>
          <a:noFill/>
          <a:ln>
            <a:noFill/>
          </a:ln>
        </p:spPr>
        <p:txBody>
          <a:bodyPr vert="horz" wrap="square" lIns="0" tIns="0" rIns="0" bIns="0" anchor="t" anchorCtr="0" compatLnSpc="1">
            <a:noAutofit/>
          </a:bodyPr>
          <a:lstStyle>
            <a:lvl1pPr marL="0" marR="0" lvl="0" indent="0" algn="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fld id="{FA3188D1-A64F-4C0D-9118-94DC8B17CC66}" type="slidenum">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marL="0" marR="0" lvl="0" indent="0" algn="ctr" defTabSz="914400" rtl="0" fontAlgn="auto" hangingPunct="0">
        <a:lnSpc>
          <a:spcPct val="100000"/>
        </a:lnSpc>
        <a:spcBef>
          <a:spcPts val="0"/>
        </a:spcBef>
        <a:spcAft>
          <a:spcPts val="0"/>
        </a:spcAft>
        <a:buNone/>
        <a:tabLst/>
        <a:defRPr lang="en-US" sz="4400" b="0" i="0" u="none" strike="noStrike" kern="1200" cap="none" spc="0" baseline="0">
          <a:solidFill>
            <a:srgbClr val="000000"/>
          </a:solidFill>
          <a:highlight>
            <a:scrgbClr r="0" g="0" b="0">
              <a:alpha val="0"/>
            </a:scrgbClr>
          </a:highlight>
          <a:uFillTx/>
          <a:latin typeface="Liberation Sans" pitchFamily="18"/>
          <a:ea typeface="微軟正黑體" pitchFamily="2"/>
          <a:cs typeface="Mangal" pitchFamily="2"/>
        </a:defRPr>
      </a:lvl1pPr>
    </p:titleStyle>
    <p:bodyStyle>
      <a:lvl1pPr marL="0" marR="0" lvl="0" indent="0" defTabSz="914400" rtl="0" fontAlgn="auto" hangingPunct="0">
        <a:lnSpc>
          <a:spcPct val="100000"/>
        </a:lnSpc>
        <a:spcBef>
          <a:spcPts val="1415"/>
        </a:spcBef>
        <a:spcAft>
          <a:spcPts val="0"/>
        </a:spcAft>
        <a:buNone/>
        <a:tabLst/>
        <a:defRPr lang="zh-TW" sz="3200" b="0" i="0" u="none" strike="noStrike" kern="1200" cap="none" spc="0" baseline="0">
          <a:solidFill>
            <a:srgbClr val="000000"/>
          </a:solidFill>
          <a:highlight>
            <a:scrgbClr r="0" g="0" b="0">
              <a:alpha val="0"/>
            </a:scrgbClr>
          </a:highlight>
          <a:uFillTx/>
          <a:latin typeface="Liberation Sans" pitchFamily="18"/>
          <a:ea typeface="微軟正黑體" pitchFamily="2"/>
          <a:cs typeface="Mangal" pitchFamily="2"/>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zh-TW" sz="2400" b="0" i="0" u="none" strike="noStrike" kern="1200" cap="none" spc="0" baseline="0">
          <a:solidFill>
            <a:srgbClr val="000000"/>
          </a:solidFill>
          <a:uFillTx/>
          <a:latin typeface="Calibri"/>
          <a:ea typeface="新細明體" pitchFamily="18"/>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zh-TW" sz="2000" b="0" i="0" u="none" strike="noStrike" kern="1200" cap="none" spc="0" baseline="0">
          <a:solidFill>
            <a:srgbClr val="000000"/>
          </a:solidFill>
          <a:uFillTx/>
          <a:latin typeface="Calibri"/>
          <a:ea typeface="新細明體" pitchFamily="18"/>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zh-TW" sz="1800" b="0" i="0" u="none" strike="noStrike" kern="1200" cap="none" spc="0" baseline="0">
          <a:solidFill>
            <a:srgbClr val="000000"/>
          </a:solidFill>
          <a:uFillTx/>
          <a:latin typeface="Calibri"/>
          <a:ea typeface="新細明體" pitchFamily="18"/>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zh-TW" sz="1800" b="0" i="0" u="none" strike="noStrike" kern="1200" cap="none" spc="0" baseline="0">
          <a:solidFill>
            <a:srgbClr val="000000"/>
          </a:solidFill>
          <a:uFillTx/>
          <a:latin typeface="Calibri"/>
          <a:ea typeface="新細明體" pitchFamily="1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slide" Target="slide5.xml"/><Relationship Id="rId1" Type="http://schemas.openxmlformats.org/officeDocument/2006/relationships/slideLayout" Target="../slideLayouts/slideLayout2.xml"/><Relationship Id="rId5" Type="http://schemas.openxmlformats.org/officeDocument/2006/relationships/slide" Target="slide8.xml"/><Relationship Id="rId4" Type="http://schemas.openxmlformats.org/officeDocument/2006/relationships/slide" Target="slide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slide" Target="slide3.xml"/></Relationships>
</file>

<file path=ppt/slides/_rels/slide1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page1">
    <p:spTree>
      <p:nvGrpSpPr>
        <p:cNvPr id="1" name=""/>
        <p:cNvGrpSpPr/>
        <p:nvPr/>
      </p:nvGrpSpPr>
      <p:grpSpPr>
        <a:xfrm>
          <a:off x="0" y="0"/>
          <a:ext cx="0" cy="0"/>
          <a:chOff x="0" y="0"/>
          <a:chExt cx="0" cy="0"/>
        </a:xfrm>
      </p:grpSpPr>
      <p:sp>
        <p:nvSpPr>
          <p:cNvPr id="2" name="標題 1"/>
          <p:cNvSpPr txBox="1">
            <a:spLocks noGrp="1"/>
          </p:cNvSpPr>
          <p:nvPr>
            <p:ph type="title" idx="4294967295"/>
          </p:nvPr>
        </p:nvSpPr>
        <p:spPr>
          <a:xfrm>
            <a:off x="576355" y="2989593"/>
            <a:ext cx="9071643" cy="1661993"/>
          </a:xfrm>
        </p:spPr>
        <p:txBody>
          <a:bodyPr>
            <a:spAutoFit/>
          </a:bodyPr>
          <a:lstStyle/>
          <a:p>
            <a:pPr lvl="0"/>
            <a:r>
              <a:rPr lang="en-US" altLang="zh-TW" sz="2700" b="1" dirty="0">
                <a:solidFill>
                  <a:srgbClr val="898989"/>
                </a:solidFill>
                <a:latin typeface="Sitka Subheading" panose="02000505000000020004" pitchFamily="2" charset="0"/>
                <a:ea typeface="新細明體" pitchFamily="2"/>
              </a:rPr>
              <a:t>IEEE International Conference on Computer Vision, Barcelona, Spain, 2011</a:t>
            </a:r>
            <a:br>
              <a:rPr lang="en-US" altLang="zh-TW" sz="2700" b="1" dirty="0">
                <a:solidFill>
                  <a:srgbClr val="898989"/>
                </a:solidFill>
                <a:latin typeface="Sitka Subheading" panose="02000505000000020004" pitchFamily="2" charset="0"/>
                <a:ea typeface="新細明體" pitchFamily="2"/>
              </a:rPr>
            </a:br>
            <a:r>
              <a:rPr lang="zh-TW" altLang="en-US" sz="2700" b="1" dirty="0">
                <a:solidFill>
                  <a:srgbClr val="898989"/>
                </a:solidFill>
                <a:latin typeface="Sitka Subheading" panose="02000505000000020004" pitchFamily="2" charset="0"/>
                <a:ea typeface="新細明體" pitchFamily="2"/>
              </a:rPr>
              <a:t> </a:t>
            </a:r>
            <a:r>
              <a:rPr lang="en-US" altLang="zh-TW" sz="2700" b="1" dirty="0">
                <a:solidFill>
                  <a:srgbClr val="898989"/>
                </a:solidFill>
                <a:latin typeface="Sitka Subheading" panose="02000505000000020004" pitchFamily="2" charset="0"/>
                <a:ea typeface="新細明體" pitchFamily="2"/>
              </a:rPr>
              <a:t>Ethan Rublee, Vincent Rabaud, Kurt Konolige, Gary Bradski</a:t>
            </a:r>
            <a:endParaRPr lang="en-US" sz="2700" b="1" dirty="0">
              <a:solidFill>
                <a:srgbClr val="898989"/>
              </a:solidFill>
              <a:latin typeface="Sitka Subheading" panose="02000505000000020004" pitchFamily="2" charset="0"/>
              <a:ea typeface="新細明體" pitchFamily="2"/>
            </a:endParaRPr>
          </a:p>
        </p:txBody>
      </p:sp>
      <p:sp>
        <p:nvSpPr>
          <p:cNvPr id="3" name="文字版面配置區 2"/>
          <p:cNvSpPr txBox="1">
            <a:spLocks noGrp="1"/>
          </p:cNvSpPr>
          <p:nvPr>
            <p:ph type="body" idx="4294967295"/>
          </p:nvPr>
        </p:nvSpPr>
        <p:spPr>
          <a:xfrm>
            <a:off x="576355" y="935998"/>
            <a:ext cx="9071643" cy="1491891"/>
          </a:xfrm>
        </p:spPr>
        <p:txBody>
          <a:bodyPr anchorCtr="1"/>
          <a:lstStyle/>
          <a:p>
            <a:pPr lvl="0" algn="ctr"/>
            <a:r>
              <a:rPr lang="en-US" sz="4000" b="1" dirty="0">
                <a:latin typeface="Cambria Math" panose="02040503050406030204" pitchFamily="18" charset="0"/>
                <a:ea typeface="Cambria Math" panose="02040503050406030204" pitchFamily="18" charset="0"/>
                <a:cs typeface="Ebrima" panose="02000000000000000000" pitchFamily="2" charset="0"/>
              </a:rPr>
              <a:t>ORB: an efficient alternative to SIFT or SURF</a:t>
            </a:r>
          </a:p>
        </p:txBody>
      </p:sp>
      <p:sp>
        <p:nvSpPr>
          <p:cNvPr id="4" name="文字版面配置區 3"/>
          <p:cNvSpPr txBox="1">
            <a:spLocks noGrp="1"/>
          </p:cNvSpPr>
          <p:nvPr>
            <p:ph type="body" idx="4294967295"/>
          </p:nvPr>
        </p:nvSpPr>
        <p:spPr>
          <a:xfrm>
            <a:off x="704380" y="5920800"/>
            <a:ext cx="9071643" cy="1159806"/>
          </a:xfrm>
        </p:spPr>
        <p:txBody>
          <a:bodyPr/>
          <a:lstStyle/>
          <a:p>
            <a:pPr lvl="1" algn="r" hangingPunct="0">
              <a:spcBef>
                <a:spcPts val="1415"/>
              </a:spcBef>
              <a:buNone/>
            </a:pPr>
            <a:r>
              <a:rPr lang="en-US" dirty="0">
                <a:highlight>
                  <a:scrgbClr r="0" g="0" b="0">
                    <a:alpha val="0"/>
                  </a:scrgbClr>
                </a:highlight>
                <a:latin typeface="Liberation Sans Narrow" pitchFamily="34"/>
                <a:ea typeface="微軟正黑體" pitchFamily="34"/>
                <a:cs typeface="Mangal" pitchFamily="2"/>
              </a:rPr>
              <a:t>Presenter</a:t>
            </a:r>
            <a:r>
              <a:rPr lang="zh-TW" dirty="0">
                <a:highlight>
                  <a:scrgbClr r="0" g="0" b="0">
                    <a:alpha val="0"/>
                  </a:scrgbClr>
                </a:highlight>
                <a:latin typeface="Liberation Sans Narrow" pitchFamily="34"/>
                <a:ea typeface="微軟正黑體" pitchFamily="34"/>
                <a:cs typeface="Mangal" pitchFamily="2"/>
              </a:rPr>
              <a:t>：</a:t>
            </a:r>
            <a:r>
              <a:rPr lang="en-US" altLang="zh-TW" dirty="0">
                <a:highlight>
                  <a:scrgbClr r="0" g="0" b="0">
                    <a:alpha val="0"/>
                  </a:scrgbClr>
                </a:highlight>
                <a:latin typeface="Liberation Sans Narrow" pitchFamily="34"/>
                <a:ea typeface="微軟正黑體" pitchFamily="34"/>
                <a:cs typeface="Mangal" pitchFamily="2"/>
              </a:rPr>
              <a:t>Wei-</a:t>
            </a:r>
            <a:r>
              <a:rPr lang="en-US" altLang="zh-TW" dirty="0" err="1">
                <a:highlight>
                  <a:scrgbClr r="0" g="0" b="0">
                    <a:alpha val="0"/>
                  </a:scrgbClr>
                </a:highlight>
                <a:latin typeface="Liberation Sans Narrow" pitchFamily="34"/>
                <a:ea typeface="微軟正黑體" pitchFamily="34"/>
                <a:cs typeface="Mangal" pitchFamily="2"/>
              </a:rPr>
              <a:t>Hao</a:t>
            </a:r>
            <a:r>
              <a:rPr lang="en-US" altLang="zh-TW" dirty="0">
                <a:highlight>
                  <a:scrgbClr r="0" g="0" b="0">
                    <a:alpha val="0"/>
                  </a:scrgbClr>
                </a:highlight>
                <a:latin typeface="Liberation Sans Narrow" pitchFamily="34"/>
                <a:ea typeface="微軟正黑體" pitchFamily="34"/>
                <a:cs typeface="Mangal" pitchFamily="2"/>
              </a:rPr>
              <a:t> Fu</a:t>
            </a:r>
            <a:endParaRPr lang="en-US" dirty="0">
              <a:highlight>
                <a:scrgbClr r="0" g="0" b="0">
                  <a:alpha val="0"/>
                </a:scrgbClr>
              </a:highlight>
              <a:latin typeface="Liberation Sans Narrow" pitchFamily="34"/>
              <a:ea typeface="微軟正黑體" pitchFamily="34"/>
              <a:cs typeface="Mangal" pitchFamily="2"/>
            </a:endParaRPr>
          </a:p>
          <a:p>
            <a:pPr lvl="1" algn="r" hangingPunct="0">
              <a:spcBef>
                <a:spcPts val="1415"/>
              </a:spcBef>
              <a:buNone/>
            </a:pPr>
            <a:r>
              <a:rPr lang="en-US" dirty="0">
                <a:highlight>
                  <a:scrgbClr r="0" g="0" b="0">
                    <a:alpha val="0"/>
                  </a:scrgbClr>
                </a:highlight>
                <a:latin typeface="Liberation Sans Narrow" pitchFamily="34"/>
                <a:ea typeface="微軟正黑體" pitchFamily="34"/>
                <a:cs typeface="Mangal" pitchFamily="2"/>
              </a:rPr>
              <a:t>Date</a:t>
            </a:r>
            <a:r>
              <a:rPr lang="zh-TW" dirty="0">
                <a:highlight>
                  <a:scrgbClr r="0" g="0" b="0">
                    <a:alpha val="0"/>
                  </a:scrgbClr>
                </a:highlight>
                <a:latin typeface="Liberation Sans Narrow" pitchFamily="34"/>
                <a:ea typeface="微軟正黑體" pitchFamily="34"/>
                <a:cs typeface="Mangal" pitchFamily="2"/>
              </a:rPr>
              <a:t>：</a:t>
            </a:r>
            <a:r>
              <a:rPr lang="en-US" altLang="zh-TW">
                <a:highlight>
                  <a:scrgbClr r="0" g="0" b="0">
                    <a:alpha val="0"/>
                  </a:scrgbClr>
                </a:highlight>
                <a:latin typeface="Liberation Sans Narrow" pitchFamily="34"/>
                <a:ea typeface="微軟正黑體" pitchFamily="34"/>
                <a:cs typeface="Mangal" pitchFamily="2"/>
              </a:rPr>
              <a:t>2016</a:t>
            </a:r>
            <a:r>
              <a:rPr lang="en-US">
                <a:highlight>
                  <a:scrgbClr r="0" g="0" b="0">
                    <a:alpha val="0"/>
                  </a:scrgbClr>
                </a:highlight>
                <a:latin typeface="Liberation Sans Narrow" pitchFamily="34"/>
                <a:ea typeface="微軟正黑體" pitchFamily="34"/>
                <a:cs typeface="Mangal" pitchFamily="2"/>
              </a:rPr>
              <a:t>/ </a:t>
            </a:r>
            <a:r>
              <a:rPr lang="en-US" dirty="0">
                <a:highlight>
                  <a:scrgbClr r="0" g="0" b="0">
                    <a:alpha val="0"/>
                  </a:scrgbClr>
                </a:highlight>
                <a:latin typeface="Liberation Sans Narrow" pitchFamily="34"/>
                <a:ea typeface="微軟正黑體" pitchFamily="34"/>
                <a:cs typeface="Mangal" pitchFamily="2"/>
              </a:rPr>
              <a:t>11/</a:t>
            </a:r>
            <a:r>
              <a:rPr lang="zh-TW" altLang="en-US" dirty="0">
                <a:highlight>
                  <a:scrgbClr r="0" g="0" b="0">
                    <a:alpha val="0"/>
                  </a:scrgbClr>
                </a:highlight>
                <a:latin typeface="Liberation Sans Narrow" pitchFamily="34"/>
                <a:ea typeface="微軟正黑體" pitchFamily="34"/>
                <a:cs typeface="Mangal" pitchFamily="2"/>
              </a:rPr>
              <a:t> </a:t>
            </a:r>
            <a:r>
              <a:rPr lang="en-US" altLang="zh-TW" dirty="0">
                <a:highlight>
                  <a:scrgbClr r="0" g="0" b="0">
                    <a:alpha val="0"/>
                  </a:scrgbClr>
                </a:highlight>
                <a:latin typeface="Liberation Sans Narrow" pitchFamily="34"/>
                <a:ea typeface="微軟正黑體" pitchFamily="34"/>
                <a:cs typeface="Mangal" pitchFamily="2"/>
              </a:rPr>
              <a:t>29</a:t>
            </a:r>
            <a:endParaRPr lang="en-US" dirty="0">
              <a:highlight>
                <a:scrgbClr r="0" g="0" b="0">
                  <a:alpha val="0"/>
                </a:scrgbClr>
              </a:highlight>
              <a:latin typeface="Liberation Sans Narrow" pitchFamily="34"/>
              <a:ea typeface="微軟正黑體" pitchFamily="34"/>
              <a:cs typeface="Mangal" pitchFamily="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dirty="0">
                <a:latin typeface="Ebrima" panose="02000000000000000000" pitchFamily="2" charset="0"/>
                <a:ea typeface="Ebrima" panose="02000000000000000000" pitchFamily="2" charset="0"/>
                <a:cs typeface="Ebrima" panose="02000000000000000000" pitchFamily="2" charset="0"/>
              </a:rPr>
              <a:t>Abstract</a:t>
            </a:r>
            <a:endParaRPr lang="zh-TW" altLang="en-US"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r>
              <a:rPr lang="en-US" altLang="zh-TW" sz="3000" dirty="0">
                <a:latin typeface="Cambria Math" panose="02040503050406030204" pitchFamily="18" charset="0"/>
                <a:ea typeface="Cambria Math" panose="02040503050406030204" pitchFamily="18" charset="0"/>
                <a:cs typeface="Ebrima" panose="02000000000000000000" pitchFamily="2" charset="0"/>
              </a:rPr>
              <a:t>Feature matching is at the base of many computer vision problems, such as object recognition or structure from motion. Current methods rely on costly descriptors for detection and matching. In this paper, we propose a very fast binary descriptor based on BRIEF, called ORB, which is rotation invariant and resistant to noise. We demonstrate through experiments how ORB is at two orders of magnitude faster than SIFT, while performing as well in many situations. The efficiency is tested on several real-world applications, including object detection and patch-tracking on a smart phone.</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2</a:t>
            </a:fld>
            <a:endParaRPr lang="zh-TW" altLang="en-US" dirty="0"/>
          </a:p>
        </p:txBody>
      </p:sp>
    </p:spTree>
    <p:extLst>
      <p:ext uri="{BB962C8B-B14F-4D97-AF65-F5344CB8AC3E}">
        <p14:creationId xmlns:p14="http://schemas.microsoft.com/office/powerpoint/2010/main" val="2128211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Ebrima" panose="02000000000000000000" pitchFamily="2" charset="0"/>
                <a:ea typeface="Ebrima" panose="02000000000000000000" pitchFamily="2" charset="0"/>
                <a:cs typeface="Ebrima" panose="02000000000000000000" pitchFamily="2" charset="0"/>
              </a:rPr>
              <a:t>Algorithm</a:t>
            </a:r>
            <a:endParaRPr lang="zh-TW" altLang="en-US"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p:txBody>
          <a:bodyPr/>
          <a:lstStyle/>
          <a:p>
            <a:pPr marL="457200" indent="-457200">
              <a:buFont typeface="Arial" panose="020B0604020202020204" pitchFamily="34" charset="0"/>
              <a:buChar char="•"/>
            </a:pPr>
            <a:r>
              <a:rPr lang="zh-TW" altLang="en-US" dirty="0">
                <a:latin typeface="Cambria Math" panose="02040503050406030204" pitchFamily="18" charset="0"/>
                <a:ea typeface="微軟正黑體" panose="020B0604030504040204" pitchFamily="34" charset="-120"/>
              </a:rPr>
              <a:t>尋找特徵點</a:t>
            </a:r>
            <a:endParaRPr lang="en-US" altLang="zh-TW" dirty="0">
              <a:latin typeface="Cambria Math" panose="02040503050406030204" pitchFamily="18" charset="0"/>
              <a:ea typeface="微軟正黑體" panose="020B0604030504040204" pitchFamily="34" charset="-120"/>
            </a:endParaRPr>
          </a:p>
          <a:p>
            <a:pPr marL="1200150" lvl="1" indent="-514350">
              <a:buFont typeface="+mj-lt"/>
              <a:buAutoNum type="arabicPeriod"/>
            </a:pPr>
            <a:r>
              <a:rPr lang="zh-TW" altLang="en-US" sz="2800" dirty="0">
                <a:latin typeface="Cambria Math" panose="02040503050406030204" pitchFamily="18" charset="0"/>
                <a:ea typeface="微軟正黑體" panose="020B0604030504040204" pitchFamily="34" charset="-120"/>
              </a:rPr>
              <a:t>利用</a:t>
            </a:r>
            <a:r>
              <a:rPr lang="en-US" altLang="zh-TW" sz="3000" dirty="0">
                <a:highlight>
                  <a:scrgbClr r="0" g="0" b="0">
                    <a:alpha val="0"/>
                  </a:scrgbClr>
                </a:highlight>
                <a:latin typeface="Cambria Math" panose="02040503050406030204" pitchFamily="18" charset="0"/>
                <a:ea typeface="微軟正黑體" panose="020B0604030504040204" pitchFamily="34" charset="-120"/>
                <a:cs typeface="Ebrima" panose="02000000000000000000" pitchFamily="2" charset="0"/>
              </a:rPr>
              <a:t>FAST</a:t>
            </a:r>
            <a:r>
              <a:rPr lang="zh-TW" altLang="en-US" sz="2800" dirty="0">
                <a:latin typeface="Cambria Math" panose="02040503050406030204" pitchFamily="18" charset="0"/>
                <a:ea typeface="微軟正黑體" panose="020B0604030504040204" pitchFamily="34" charset="-120"/>
              </a:rPr>
              <a:t>尋找特徵點</a:t>
            </a:r>
            <a:endParaRPr lang="en-US" altLang="zh-TW" sz="2800" dirty="0">
              <a:latin typeface="Cambria Math" panose="02040503050406030204" pitchFamily="18" charset="0"/>
              <a:ea typeface="微軟正黑體" panose="020B0604030504040204" pitchFamily="34" charset="-120"/>
            </a:endParaRPr>
          </a:p>
          <a:p>
            <a:pPr marL="1200150" lvl="1" indent="-514350">
              <a:buFont typeface="Wingdings" panose="05000000000000000000" pitchFamily="2" charset="2"/>
              <a:buAutoNum type="arabicPeriod"/>
            </a:pPr>
            <a:r>
              <a:rPr lang="zh-TW" altLang="en-US" sz="2800" dirty="0">
                <a:latin typeface="Cambria Math" panose="02040503050406030204" pitchFamily="18" charset="0"/>
                <a:ea typeface="微軟正黑體" panose="020B0604030504040204" pitchFamily="34" charset="-120"/>
              </a:rPr>
              <a:t>再藉由</a:t>
            </a:r>
            <a:r>
              <a:rPr lang="en-US" altLang="zh-TW" sz="3000" dirty="0">
                <a:highlight>
                  <a:scrgbClr r="0" g="0" b="0">
                    <a:alpha val="0"/>
                  </a:scrgbClr>
                </a:highlight>
                <a:latin typeface="Cambria Math" panose="02040503050406030204" pitchFamily="18" charset="0"/>
                <a:ea typeface="微軟正黑體" panose="020B0604030504040204" pitchFamily="34" charset="-120"/>
                <a:cs typeface="Ebrima" panose="02000000000000000000" pitchFamily="2" charset="0"/>
              </a:rPr>
              <a:t>Harris</a:t>
            </a:r>
            <a:r>
              <a:rPr lang="zh-TW" altLang="en-US" sz="2800" dirty="0">
                <a:latin typeface="Cambria Math" panose="02040503050406030204" pitchFamily="18" charset="0"/>
                <a:ea typeface="微軟正黑體" panose="020B0604030504040204" pitchFamily="34" charset="-120"/>
              </a:rPr>
              <a:t>過濾</a:t>
            </a:r>
            <a:endParaRPr lang="en-US" altLang="zh-TW" sz="2800" dirty="0">
              <a:latin typeface="Cambria Math" panose="02040503050406030204" pitchFamily="18" charset="0"/>
              <a:ea typeface="微軟正黑體" panose="020B0604030504040204" pitchFamily="34" charset="-120"/>
            </a:endParaRPr>
          </a:p>
          <a:p>
            <a:pPr marL="1200150" lvl="1" indent="-514350">
              <a:buFont typeface="Wingdings" panose="05000000000000000000" pitchFamily="2" charset="2"/>
              <a:buChar char="ü"/>
            </a:pPr>
            <a:r>
              <a:rPr lang="zh-TW" altLang="en-US" sz="2800" dirty="0">
                <a:latin typeface="Cambria Math" panose="02040503050406030204" pitchFamily="18" charset="0"/>
                <a:ea typeface="微軟正黑體" panose="020B0604030504040204" pitchFamily="34" charset="-120"/>
              </a:rPr>
              <a:t>問題：</a:t>
            </a:r>
            <a:endParaRPr lang="en-US" altLang="zh-TW" sz="2800" dirty="0">
              <a:latin typeface="Cambria Math" panose="02040503050406030204" pitchFamily="18" charset="0"/>
              <a:ea typeface="微軟正黑體" panose="020B0604030504040204" pitchFamily="34" charset="-120"/>
            </a:endParaRPr>
          </a:p>
          <a:p>
            <a:pPr marL="1657350" lvl="2" indent="-514350">
              <a:buFont typeface="Wingdings" panose="05000000000000000000" pitchFamily="2" charset="2"/>
              <a:buAutoNum type="circleNumWdWhitePlain"/>
            </a:pPr>
            <a:r>
              <a:rPr lang="zh-TW" altLang="en-US" sz="2400" dirty="0">
                <a:latin typeface="Cambria Math" panose="02040503050406030204" pitchFamily="18" charset="0"/>
                <a:ea typeface="微軟正黑體" panose="020B0604030504040204" pitchFamily="34" charset="-120"/>
              </a:rPr>
              <a:t>尺度不變性及</a:t>
            </a:r>
            <a:r>
              <a:rPr lang="zh-TW" altLang="en-US" sz="2400" dirty="0">
                <a:solidFill>
                  <a:schemeClr val="tx1"/>
                </a:solidFill>
                <a:latin typeface="Cambria Math" panose="02040503050406030204" pitchFamily="18" charset="0"/>
                <a:ea typeface="微軟正黑體" panose="020B0604030504040204" pitchFamily="34" charset="-120"/>
                <a:hlinkClick r:id="rId2" action="ppaction://hlinksldjump"/>
              </a:rPr>
              <a:t>旋轉不變性</a:t>
            </a:r>
            <a:r>
              <a:rPr lang="zh-TW" altLang="en-US" sz="2400" dirty="0">
                <a:latin typeface="Cambria Math" panose="02040503050406030204" pitchFamily="18" charset="0"/>
                <a:ea typeface="微軟正黑體" panose="020B0604030504040204" pitchFamily="34" charset="-120"/>
              </a:rPr>
              <a:t>如何解決？</a:t>
            </a:r>
            <a:endParaRPr lang="en-US" altLang="zh-TW" sz="2400" dirty="0">
              <a:latin typeface="Cambria Math" panose="02040503050406030204" pitchFamily="18" charset="0"/>
              <a:ea typeface="微軟正黑體" panose="020B0604030504040204" pitchFamily="34" charset="-120"/>
            </a:endParaRPr>
          </a:p>
          <a:p>
            <a:pPr marL="457200" indent="-457200">
              <a:buFont typeface="Arial" panose="020B0604020202020204" pitchFamily="34" charset="0"/>
              <a:buChar char="•"/>
            </a:pPr>
            <a:r>
              <a:rPr lang="zh-TW" altLang="en-US" dirty="0">
                <a:latin typeface="Cambria Math" panose="02040503050406030204" pitchFamily="18" charset="0"/>
                <a:ea typeface="微軟正黑體" panose="020B0604030504040204" pitchFamily="34" charset="-120"/>
              </a:rPr>
              <a:t>利用</a:t>
            </a:r>
            <a:r>
              <a:rPr lang="en-US" altLang="zh-TW" dirty="0">
                <a:latin typeface="Cambria Math" panose="02040503050406030204" pitchFamily="18" charset="0"/>
                <a:ea typeface="微軟正黑體" panose="020B0604030504040204" pitchFamily="34" charset="-120"/>
                <a:hlinkClick r:id="rId3" action="ppaction://hlinksldjump"/>
              </a:rPr>
              <a:t>BRIEF</a:t>
            </a:r>
            <a:r>
              <a:rPr lang="zh-TW" altLang="en-US" dirty="0">
                <a:latin typeface="Cambria Math" panose="02040503050406030204" pitchFamily="18" charset="0"/>
                <a:ea typeface="微軟正黑體" panose="020B0604030504040204" pitchFamily="34" charset="-120"/>
              </a:rPr>
              <a:t>作為特徵點的</a:t>
            </a:r>
            <a:r>
              <a:rPr lang="en-US" altLang="zh-TW" sz="3000" dirty="0">
                <a:latin typeface="Cambria Math" panose="02040503050406030204" pitchFamily="18" charset="0"/>
                <a:ea typeface="微軟正黑體" panose="020B0604030504040204" pitchFamily="34" charset="-120"/>
                <a:cs typeface="Ebrima" panose="02000000000000000000" pitchFamily="2" charset="0"/>
              </a:rPr>
              <a:t>Descriptor</a:t>
            </a:r>
          </a:p>
          <a:p>
            <a:pPr marL="1143000" lvl="1" indent="-457200">
              <a:buFont typeface="Wingdings" panose="05000000000000000000" pitchFamily="2" charset="2"/>
              <a:buChar char="ü"/>
            </a:pPr>
            <a:r>
              <a:rPr lang="zh-TW" altLang="en-US" sz="2800" dirty="0">
                <a:latin typeface="Cambria Math" panose="02040503050406030204" pitchFamily="18" charset="0"/>
                <a:ea typeface="微軟正黑體" panose="020B0604030504040204" pitchFamily="34" charset="-120"/>
              </a:rPr>
              <a:t>問題：</a:t>
            </a:r>
            <a:endParaRPr lang="en-US" altLang="zh-TW" sz="2800" dirty="0">
              <a:latin typeface="Cambria Math" panose="02040503050406030204" pitchFamily="18" charset="0"/>
              <a:ea typeface="微軟正黑體" panose="020B0604030504040204" pitchFamily="34" charset="-120"/>
            </a:endParaRPr>
          </a:p>
          <a:p>
            <a:pPr marL="1600200" lvl="2" indent="-457200">
              <a:buFont typeface="Wingdings" panose="05000000000000000000" pitchFamily="2" charset="2"/>
              <a:buAutoNum type="circleNumWdWhitePlain"/>
            </a:pPr>
            <a:r>
              <a:rPr lang="zh-TW" altLang="en-US" sz="2400" dirty="0">
                <a:latin typeface="Cambria Math" panose="02040503050406030204" pitchFamily="18" charset="0"/>
                <a:ea typeface="微軟正黑體" panose="020B0604030504040204" pitchFamily="34" charset="-120"/>
                <a:hlinkClick r:id="rId4" action="ppaction://hlinksldjump"/>
              </a:rPr>
              <a:t>旋轉不變性</a:t>
            </a:r>
            <a:r>
              <a:rPr lang="zh-TW" altLang="en-US" sz="2400" dirty="0">
                <a:latin typeface="Cambria Math" panose="02040503050406030204" pitchFamily="18" charset="0"/>
                <a:ea typeface="微軟正黑體" panose="020B0604030504040204" pitchFamily="34" charset="-120"/>
              </a:rPr>
              <a:t>如何解決？</a:t>
            </a:r>
            <a:endParaRPr lang="en-US" altLang="zh-TW" sz="2400" dirty="0">
              <a:latin typeface="Cambria Math" panose="02040503050406030204" pitchFamily="18" charset="0"/>
              <a:ea typeface="微軟正黑體" panose="020B0604030504040204" pitchFamily="34" charset="-120"/>
            </a:endParaRPr>
          </a:p>
          <a:p>
            <a:pPr marL="1600200" lvl="2" indent="-457200">
              <a:buFont typeface="Wingdings" panose="05000000000000000000" pitchFamily="2" charset="2"/>
              <a:buAutoNum type="circleNumWdWhitePlain"/>
            </a:pPr>
            <a:r>
              <a:rPr lang="zh-TW" altLang="en-US" sz="2400" dirty="0">
                <a:latin typeface="Cambria Math" panose="02040503050406030204" pitchFamily="18" charset="0"/>
                <a:ea typeface="微軟正黑體" panose="020B0604030504040204" pitchFamily="34" charset="-120"/>
              </a:rPr>
              <a:t>具有旋轉不變性則造成</a:t>
            </a:r>
            <a:r>
              <a:rPr lang="en-US" altLang="zh-TW" sz="2400" dirty="0">
                <a:latin typeface="Cambria Math" panose="02040503050406030204" pitchFamily="18" charset="0"/>
                <a:ea typeface="微軟正黑體" panose="020B0604030504040204" pitchFamily="34" charset="-120"/>
                <a:hlinkClick r:id="rId5" action="ppaction://hlinksldjump"/>
              </a:rPr>
              <a:t>bit</a:t>
            </a:r>
            <a:r>
              <a:rPr lang="zh-TW" altLang="en-US" sz="2400" dirty="0">
                <a:latin typeface="Cambria Math" panose="02040503050406030204" pitchFamily="18" charset="0"/>
                <a:ea typeface="微軟正黑體" panose="020B0604030504040204" pitchFamily="34" charset="-120"/>
                <a:hlinkClick r:id="rId5" action="ppaction://hlinksldjump"/>
              </a:rPr>
              <a:t>間區別度降低</a:t>
            </a:r>
            <a:r>
              <a:rPr lang="zh-TW" altLang="en-US" sz="2400" dirty="0">
                <a:latin typeface="Cambria Math" panose="02040503050406030204" pitchFamily="18" charset="0"/>
                <a:ea typeface="微軟正黑體" panose="020B0604030504040204" pitchFamily="34" charset="-120"/>
              </a:rPr>
              <a:t>，如何解決？</a:t>
            </a:r>
            <a:endParaRPr lang="en-US" altLang="zh-TW" sz="2400" dirty="0">
              <a:latin typeface="Cambria Math" panose="02040503050406030204" pitchFamily="18" charset="0"/>
              <a:ea typeface="微軟正黑體" panose="020B0604030504040204" pitchFamily="34" charset="-12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3</a:t>
            </a:fld>
            <a:endParaRPr lang="zh-TW" altLang="en-US"/>
          </a:p>
        </p:txBody>
      </p:sp>
    </p:spTree>
    <p:extLst>
      <p:ext uri="{BB962C8B-B14F-4D97-AF65-F5344CB8AC3E}">
        <p14:creationId xmlns:p14="http://schemas.microsoft.com/office/powerpoint/2010/main" val="18316016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Ebrima" panose="02000000000000000000" pitchFamily="2" charset="0"/>
                <a:ea typeface="Ebrima" panose="02000000000000000000" pitchFamily="2" charset="0"/>
                <a:cs typeface="Ebrima" panose="02000000000000000000" pitchFamily="2" charset="0"/>
              </a:rPr>
              <a:t>Experiment</a:t>
            </a:r>
            <a:r>
              <a:rPr lang="en-US" altLang="zh-TW" dirty="0"/>
              <a:t> </a:t>
            </a:r>
            <a:r>
              <a:rPr lang="en-US" altLang="zh-TW" dirty="0">
                <a:latin typeface="Ebrima" panose="02000000000000000000" pitchFamily="2" charset="0"/>
                <a:ea typeface="Ebrima" panose="02000000000000000000" pitchFamily="2" charset="0"/>
                <a:cs typeface="Ebrima" panose="02000000000000000000" pitchFamily="2" charset="0"/>
              </a:rPr>
              <a:t>Result</a:t>
            </a:r>
            <a:endParaRPr lang="zh-TW" altLang="en-US"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p:txBody>
          <a:bodyPr/>
          <a:lstStyle/>
          <a:p>
            <a:pPr marL="457200" indent="-457200">
              <a:buFont typeface="Arial" panose="020B0604020202020204" pitchFamily="34" charset="0"/>
              <a:buChar char="•"/>
            </a:pPr>
            <a:r>
              <a:rPr lang="en-US" altLang="zh-TW" dirty="0">
                <a:latin typeface="Cambria Math" panose="02040503050406030204" pitchFamily="18" charset="0"/>
                <a:ea typeface="Cambria Math" panose="02040503050406030204" pitchFamily="18" charset="0"/>
                <a:cs typeface="Ebrima" panose="02000000000000000000" pitchFamily="2" charset="0"/>
              </a:rPr>
              <a:t>Data</a:t>
            </a:r>
            <a:r>
              <a:rPr lang="en-US" altLang="zh-TW" dirty="0"/>
              <a:t>: </a:t>
            </a:r>
            <a:r>
              <a:rPr lang="en-US" altLang="zh-TW" dirty="0">
                <a:latin typeface="Cambria Math" panose="02040503050406030204" pitchFamily="18" charset="0"/>
                <a:ea typeface="Cambria Math" panose="02040503050406030204" pitchFamily="18" charset="0"/>
                <a:cs typeface="Ebrima" panose="02000000000000000000" pitchFamily="2" charset="0"/>
              </a:rPr>
              <a:t>24</a:t>
            </a:r>
            <a:r>
              <a:rPr lang="en-US" altLang="zh-TW" dirty="0"/>
              <a:t> </a:t>
            </a:r>
            <a:r>
              <a:rPr lang="en-US" altLang="zh-TW" dirty="0">
                <a:latin typeface="Cambria Math" panose="02040503050406030204" pitchFamily="18" charset="0"/>
                <a:ea typeface="Cambria Math" panose="02040503050406030204" pitchFamily="18" charset="0"/>
                <a:cs typeface="Ebrima" panose="02000000000000000000" pitchFamily="2" charset="0"/>
              </a:rPr>
              <a:t>640*480</a:t>
            </a:r>
            <a:r>
              <a:rPr lang="en-US" altLang="zh-TW" dirty="0"/>
              <a:t> </a:t>
            </a:r>
            <a:r>
              <a:rPr lang="en-US" altLang="zh-TW" dirty="0">
                <a:latin typeface="Cambria Math" panose="02040503050406030204" pitchFamily="18" charset="0"/>
                <a:ea typeface="Cambria Math" panose="02040503050406030204" pitchFamily="18" charset="0"/>
                <a:cs typeface="Ebrima" panose="02000000000000000000" pitchFamily="2" charset="0"/>
              </a:rPr>
              <a:t>images</a:t>
            </a:r>
          </a:p>
          <a:p>
            <a:pPr marL="457200" indent="-457200">
              <a:buFont typeface="Arial" panose="020B0604020202020204" pitchFamily="34" charset="0"/>
              <a:buChar char="•"/>
            </a:pPr>
            <a:endParaRPr lang="zh-TW" altLang="en-US" dirty="0"/>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4</a:t>
            </a:fld>
            <a:endParaRPr lang="zh-TW" alt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974" y="2398712"/>
            <a:ext cx="9210675" cy="1381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直線接點 5"/>
          <p:cNvCxnSpPr/>
          <p:nvPr/>
        </p:nvCxnSpPr>
        <p:spPr>
          <a:xfrm>
            <a:off x="5056077" y="3563007"/>
            <a:ext cx="777165" cy="0"/>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2430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解決旋轉不變性</a:t>
            </a:r>
            <a:r>
              <a:rPr lang="en-US" altLang="zh-TW" dirty="0"/>
              <a:t>(1/3)</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503998" y="1769043"/>
                <a:ext cx="9071643" cy="5402466"/>
              </a:xfrm>
            </p:spPr>
            <p:txBody>
              <a:bodyPr/>
              <a:lstStyle/>
              <a:p>
                <a:pPr marL="457200" indent="-457200">
                  <a:buFont typeface="Arial" panose="020B0604020202020204" pitchFamily="34" charset="0"/>
                  <a:buChar char="•"/>
                </a:pPr>
                <a:r>
                  <a:rPr lang="zh-TW" altLang="en-US" dirty="0">
                    <a:latin typeface="Cambria Math" panose="02040503050406030204" pitchFamily="18" charset="0"/>
                    <a:ea typeface="微軟正黑體" panose="020B0604030504040204" pitchFamily="34" charset="-120"/>
                  </a:rPr>
                  <a:t>利用</a:t>
                </a:r>
                <a:r>
                  <a:rPr lang="en-US" altLang="zh-TW" dirty="0">
                    <a:latin typeface="Cambria Math" panose="02040503050406030204" pitchFamily="18" charset="0"/>
                    <a:ea typeface="微軟正黑體" panose="020B0604030504040204" pitchFamily="34" charset="-120"/>
                    <a:cs typeface="Ebrima" panose="02000000000000000000" pitchFamily="2" charset="0"/>
                  </a:rPr>
                  <a:t>Intensity</a:t>
                </a:r>
                <a:r>
                  <a:rPr lang="en-US" altLang="zh-TW" dirty="0">
                    <a:latin typeface="Cambria Math" panose="02040503050406030204" pitchFamily="18" charset="0"/>
                    <a:ea typeface="微軟正黑體" panose="020B0604030504040204" pitchFamily="34" charset="-120"/>
                  </a:rPr>
                  <a:t> </a:t>
                </a:r>
                <a:r>
                  <a:rPr lang="en-US" altLang="zh-TW" dirty="0">
                    <a:latin typeface="Cambria Math" panose="02040503050406030204" pitchFamily="18" charset="0"/>
                    <a:ea typeface="微軟正黑體" panose="020B0604030504040204" pitchFamily="34" charset="-120"/>
                    <a:cs typeface="Ebrima" panose="02000000000000000000" pitchFamily="2" charset="0"/>
                  </a:rPr>
                  <a:t>centroid</a:t>
                </a:r>
              </a:p>
              <a:p>
                <a:pPr marL="457200" indent="-457200">
                  <a:buFont typeface="Arial" panose="020B0604020202020204" pitchFamily="34" charset="0"/>
                  <a:buChar char="•"/>
                </a:pPr>
                <a:r>
                  <a:rPr lang="en-US" altLang="zh-TW" dirty="0">
                    <a:latin typeface="Cambria Math" panose="02040503050406030204" pitchFamily="18" charset="0"/>
                    <a:ea typeface="微軟正黑體" panose="020B0604030504040204" pitchFamily="34" charset="-120"/>
                    <a:cs typeface="Ebrima" panose="02000000000000000000" pitchFamily="2" charset="0"/>
                  </a:rPr>
                  <a:t>Rosin</a:t>
                </a:r>
                <a:r>
                  <a:rPr lang="zh-TW" altLang="en-US" dirty="0">
                    <a:latin typeface="Cambria Math" panose="02040503050406030204" pitchFamily="18" charset="0"/>
                    <a:ea typeface="微軟正黑體" panose="020B0604030504040204" pitchFamily="34" charset="-120"/>
                  </a:rPr>
                  <a:t> </a:t>
                </a:r>
                <a:r>
                  <a:rPr lang="en-US" altLang="zh-TW" dirty="0">
                    <a:latin typeface="Cambria Math" panose="02040503050406030204" pitchFamily="18" charset="0"/>
                    <a:ea typeface="微軟正黑體" panose="020B0604030504040204" pitchFamily="34" charset="-120"/>
                    <a:cs typeface="Ebrima" panose="02000000000000000000" pitchFamily="2" charset="0"/>
                  </a:rPr>
                  <a:t>defines:</a:t>
                </a:r>
              </a:p>
              <a:p>
                <a:pPr/>
                <a14:m>
                  <m:oMathPara xmlns:m="http://schemas.openxmlformats.org/officeDocument/2006/math">
                    <m:oMathParaPr>
                      <m:jc m:val="center"/>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𝑚</m:t>
                          </m:r>
                        </m:e>
                        <m:sub>
                          <m:r>
                            <a:rPr lang="en-US" altLang="zh-TW" b="0" i="1" smtClean="0">
                              <a:latin typeface="Cambria Math" panose="02040503050406030204" pitchFamily="18" charset="0"/>
                            </a:rPr>
                            <m:t>𝑝𝑞</m:t>
                          </m:r>
                        </m:sub>
                      </m:sSub>
                      <m:r>
                        <a:rPr lang="en-US" altLang="zh-TW" b="0" i="1" smtClean="0">
                          <a:latin typeface="Cambria Math" panose="02040503050406030204" pitchFamily="18" charset="0"/>
                        </a:rPr>
                        <m:t>=</m:t>
                      </m:r>
                      <m:nary>
                        <m:naryPr>
                          <m:chr m:val="∑"/>
                          <m:supHide m:val="on"/>
                          <m:ctrlPr>
                            <a:rPr lang="en-US" altLang="zh-TW" b="0" i="1" smtClean="0">
                              <a:latin typeface="Cambria Math" panose="02040503050406030204" pitchFamily="18" charset="0"/>
                            </a:rPr>
                          </m:ctrlPr>
                        </m:naryPr>
                        <m:sub>
                          <m:r>
                            <m:rPr>
                              <m:brk m:alnAt="7"/>
                            </m:rPr>
                            <a:rPr lang="en-US" altLang="zh-TW" b="0" i="1" smtClean="0">
                              <a:latin typeface="Cambria Math" panose="02040503050406030204" pitchFamily="18" charset="0"/>
                            </a:rPr>
                            <m:t>𝑥</m:t>
                          </m:r>
                          <m:r>
                            <a:rPr lang="en-US" altLang="zh-TW" b="0" i="1" smtClean="0">
                              <a:latin typeface="Cambria Math" panose="02040503050406030204" pitchFamily="18" charset="0"/>
                            </a:rPr>
                            <m:t>, </m:t>
                          </m:r>
                          <m:r>
                            <a:rPr lang="en-US" altLang="zh-TW" b="0" i="1" smtClean="0">
                              <a:latin typeface="Cambria Math" panose="02040503050406030204" pitchFamily="18" charset="0"/>
                            </a:rPr>
                            <m:t>𝑦</m:t>
                          </m:r>
                        </m:sub>
                        <m:sup/>
                        <m:e>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𝑥</m:t>
                              </m:r>
                            </m:e>
                            <m:sup>
                              <m:r>
                                <a:rPr lang="en-US" altLang="zh-TW" b="0" i="1" smtClean="0">
                                  <a:latin typeface="Cambria Math" panose="02040503050406030204" pitchFamily="18" charset="0"/>
                                </a:rPr>
                                <m:t>𝑝</m:t>
                              </m:r>
                            </m:sup>
                          </m:sSup>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𝑦</m:t>
                              </m:r>
                            </m:e>
                            <m:sup>
                              <m:r>
                                <a:rPr lang="en-US" altLang="zh-TW" b="0" i="1" smtClean="0">
                                  <a:latin typeface="Cambria Math" panose="02040503050406030204" pitchFamily="18" charset="0"/>
                                </a:rPr>
                                <m:t>𝑞</m:t>
                              </m:r>
                            </m:sup>
                          </m:sSup>
                          <m:r>
                            <a:rPr lang="en-US" altLang="zh-TW" b="0" i="1" smtClean="0">
                              <a:latin typeface="Cambria Math" panose="02040503050406030204" pitchFamily="18" charset="0"/>
                            </a:rPr>
                            <m:t>𝐼</m:t>
                          </m:r>
                          <m:r>
                            <a:rPr lang="en-US" altLang="zh-TW" b="0" i="1" smtClean="0">
                              <a:latin typeface="Cambria Math" panose="02040503050406030204" pitchFamily="18" charset="0"/>
                            </a:rPr>
                            <m:t>(</m:t>
                          </m:r>
                          <m:r>
                            <a:rPr lang="en-US" altLang="zh-TW" b="0" i="1" smtClean="0">
                              <a:latin typeface="Cambria Math" panose="02040503050406030204" pitchFamily="18" charset="0"/>
                            </a:rPr>
                            <m:t>𝑥</m:t>
                          </m:r>
                          <m:r>
                            <a:rPr lang="en-US" altLang="zh-TW" b="0" i="1" smtClean="0">
                              <a:latin typeface="Cambria Math" panose="02040503050406030204" pitchFamily="18" charset="0"/>
                            </a:rPr>
                            <m:t>, </m:t>
                          </m:r>
                          <m:r>
                            <a:rPr lang="en-US" altLang="zh-TW" b="0" i="1" smtClean="0">
                              <a:latin typeface="Cambria Math" panose="02040503050406030204" pitchFamily="18" charset="0"/>
                            </a:rPr>
                            <m:t>𝑦</m:t>
                          </m:r>
                          <m:r>
                            <a:rPr lang="en-US" altLang="zh-TW" b="0" i="1" smtClean="0">
                              <a:latin typeface="Cambria Math" panose="02040503050406030204" pitchFamily="18" charset="0"/>
                            </a:rPr>
                            <m:t>)</m:t>
                          </m:r>
                        </m:e>
                      </m:nary>
                    </m:oMath>
                  </m:oMathPara>
                </a14:m>
                <a:endParaRPr lang="en-US" altLang="zh-TW" dirty="0">
                  <a:latin typeface="Cambria Math" panose="02040503050406030204" pitchFamily="18" charset="0"/>
                  <a:ea typeface="微軟正黑體" panose="020B0604030504040204" pitchFamily="34" charset="-120"/>
                </a:endParaRPr>
              </a:p>
              <a:p>
                <a:pPr marL="457200" indent="-457200">
                  <a:buFont typeface="Arial" panose="020B0604020202020204" pitchFamily="34" charset="0"/>
                  <a:buChar char="•"/>
                </a:pPr>
                <a:r>
                  <a:rPr lang="en-US" altLang="zh-TW" dirty="0">
                    <a:latin typeface="Cambria Math" panose="02040503050406030204" pitchFamily="18" charset="0"/>
                    <a:ea typeface="微軟正黑體" panose="020B0604030504040204" pitchFamily="34" charset="-120"/>
                    <a:cs typeface="Ebrima" panose="02000000000000000000" pitchFamily="2" charset="0"/>
                  </a:rPr>
                  <a:t>Centroid:</a:t>
                </a:r>
              </a:p>
              <a:p>
                <a:pPr/>
                <a14:m>
                  <m:oMathPara xmlns:m="http://schemas.openxmlformats.org/officeDocument/2006/math">
                    <m:oMathParaPr>
                      <m:jc m:val="center"/>
                    </m:oMathParaPr>
                    <m:oMath xmlns:m="http://schemas.openxmlformats.org/officeDocument/2006/math">
                      <m:r>
                        <a:rPr lang="en-US" altLang="zh-TW" b="0" i="1" smtClean="0">
                          <a:latin typeface="Cambria Math" panose="02040503050406030204" pitchFamily="18" charset="0"/>
                        </a:rPr>
                        <m:t>𝐶</m:t>
                      </m:r>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𝑚</m:t>
                              </m:r>
                            </m:e>
                            <m:sub>
                              <m:r>
                                <a:rPr lang="en-US" altLang="zh-TW" b="0" i="1" smtClean="0">
                                  <a:latin typeface="Cambria Math" panose="02040503050406030204" pitchFamily="18" charset="0"/>
                                </a:rPr>
                                <m:t>10</m:t>
                              </m:r>
                            </m:sub>
                          </m:sSub>
                        </m:num>
                        <m:den>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𝑚</m:t>
                              </m:r>
                            </m:e>
                            <m:sub>
                              <m:r>
                                <a:rPr lang="en-US" altLang="zh-TW" b="0" i="1" smtClean="0">
                                  <a:latin typeface="Cambria Math" panose="02040503050406030204" pitchFamily="18" charset="0"/>
                                </a:rPr>
                                <m:t>00</m:t>
                              </m:r>
                            </m:sub>
                          </m:sSub>
                        </m:den>
                      </m:f>
                      <m:r>
                        <a:rPr lang="en-US" altLang="zh-TW" b="0" i="1" smtClean="0">
                          <a:latin typeface="Cambria Math" panose="02040503050406030204" pitchFamily="18" charset="0"/>
                        </a:rPr>
                        <m:t>, </m:t>
                      </m:r>
                      <m:f>
                        <m:fPr>
                          <m:ctrlPr>
                            <a:rPr lang="en-US" altLang="zh-TW" b="0" i="1" smtClean="0">
                              <a:latin typeface="Cambria Math" panose="02040503050406030204" pitchFamily="18" charset="0"/>
                            </a:rPr>
                          </m:ctrlPr>
                        </m:fPr>
                        <m:num>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𝑚</m:t>
                              </m:r>
                            </m:e>
                            <m:sub>
                              <m:r>
                                <a:rPr lang="en-US" altLang="zh-TW" b="0" i="1" smtClean="0">
                                  <a:latin typeface="Cambria Math" panose="02040503050406030204" pitchFamily="18" charset="0"/>
                                </a:rPr>
                                <m:t>01</m:t>
                              </m:r>
                            </m:sub>
                          </m:sSub>
                        </m:num>
                        <m:den>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𝑚</m:t>
                              </m:r>
                            </m:e>
                            <m:sub>
                              <m:r>
                                <a:rPr lang="en-US" altLang="zh-TW" b="0" i="1" smtClean="0">
                                  <a:latin typeface="Cambria Math" panose="02040503050406030204" pitchFamily="18" charset="0"/>
                                </a:rPr>
                                <m:t>00</m:t>
                              </m:r>
                            </m:sub>
                          </m:sSub>
                        </m:den>
                      </m:f>
                      <m:r>
                        <a:rPr lang="en-US" altLang="zh-TW" b="0" i="1" smtClean="0">
                          <a:latin typeface="Cambria Math" panose="02040503050406030204" pitchFamily="18" charset="0"/>
                        </a:rPr>
                        <m:t>)</m:t>
                      </m:r>
                    </m:oMath>
                  </m:oMathPara>
                </a14:m>
                <a:endParaRPr lang="en-US" altLang="zh-TW" dirty="0">
                  <a:latin typeface="Cambria Math" panose="02040503050406030204" pitchFamily="18" charset="0"/>
                  <a:ea typeface="微軟正黑體" panose="020B0604030504040204" pitchFamily="34" charset="-120"/>
                </a:endParaRPr>
              </a:p>
              <a:p>
                <a:pPr marL="457200" indent="-457200">
                  <a:buFont typeface="Arial" panose="020B0604020202020204" pitchFamily="34" charset="0"/>
                  <a:buChar char="•"/>
                </a:pPr>
                <a:r>
                  <a:rPr lang="zh-TW" altLang="en-US" dirty="0">
                    <a:latin typeface="Cambria Math" panose="02040503050406030204" pitchFamily="18" charset="0"/>
                    <a:ea typeface="微軟正黑體" panose="020B0604030504040204" pitchFamily="34" charset="-120"/>
                  </a:rPr>
                  <a:t>角度：</a:t>
                </a:r>
                <a:endParaRPr lang="en-US" altLang="zh-TW" dirty="0">
                  <a:latin typeface="Cambria Math" panose="02040503050406030204" pitchFamily="18" charset="0"/>
                  <a:ea typeface="微軟正黑體" panose="020B0604030504040204" pitchFamily="34" charset="-120"/>
                </a:endParaRPr>
              </a:p>
              <a:p>
                <a:pPr/>
                <a14:m>
                  <m:oMathPara xmlns:m="http://schemas.openxmlformats.org/officeDocument/2006/math">
                    <m:oMathParaPr>
                      <m:jc m:val="center"/>
                    </m:oMathParaPr>
                    <m:oMath xmlns:m="http://schemas.openxmlformats.org/officeDocument/2006/math">
                      <m:r>
                        <a:rPr lang="zh-TW" altLang="en-US" i="1" smtClean="0">
                          <a:latin typeface="Cambria Math" panose="02040503050406030204" pitchFamily="18" charset="0"/>
                        </a:rPr>
                        <m:t>𝜃</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arctan</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𝑚</m:t>
                          </m:r>
                        </m:e>
                        <m:sub>
                          <m:r>
                            <a:rPr lang="en-US" altLang="zh-TW" b="0" i="1" smtClean="0">
                              <a:latin typeface="Cambria Math" panose="02040503050406030204" pitchFamily="18" charset="0"/>
                            </a:rPr>
                            <m:t>01,</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𝑚</m:t>
                          </m:r>
                        </m:e>
                        <m:sub>
                          <m:r>
                            <a:rPr lang="en-US" altLang="zh-TW" b="0" i="1" smtClean="0">
                              <a:latin typeface="Cambria Math" panose="02040503050406030204" pitchFamily="18" charset="0"/>
                            </a:rPr>
                            <m:t>10</m:t>
                          </m:r>
                        </m:sub>
                      </m:sSub>
                      <m:r>
                        <a:rPr lang="en-US" altLang="zh-TW" b="0" i="1" smtClean="0">
                          <a:latin typeface="Cambria Math" panose="02040503050406030204" pitchFamily="18" charset="0"/>
                        </a:rPr>
                        <m:t>)</m:t>
                      </m:r>
                    </m:oMath>
                  </m:oMathPara>
                </a14:m>
                <a:endParaRPr lang="zh-TW" altLang="en-US" dirty="0">
                  <a:latin typeface="Cambria Math" panose="02040503050406030204" pitchFamily="18" charset="0"/>
                  <a:ea typeface="微軟正黑體" panose="020B0604030504040204" pitchFamily="34" charset="-12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503998" y="1769043"/>
                <a:ext cx="9071643" cy="5402466"/>
              </a:xfrm>
              <a:blipFill>
                <a:blip r:embed="rId2"/>
                <a:stretch>
                  <a:fillRect l="-2554" t="-2257"/>
                </a:stretch>
              </a:blipFill>
            </p:spPr>
            <p:txBody>
              <a:bodyPr/>
              <a:lstStyle/>
              <a:p>
                <a:r>
                  <a:rPr lang="zh-TW" altLang="en-US">
                    <a:noFill/>
                  </a:rPr>
                  <a:t> </a:t>
                </a:r>
              </a:p>
            </p:txBody>
          </p:sp>
        </mc:Fallback>
      </mc:AlternateContent>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5</a:t>
            </a:fld>
            <a:endParaRPr lang="zh-TW" altLang="en-US" dirty="0"/>
          </a:p>
        </p:txBody>
      </p:sp>
    </p:spTree>
    <p:extLst>
      <p:ext uri="{BB962C8B-B14F-4D97-AF65-F5344CB8AC3E}">
        <p14:creationId xmlns:p14="http://schemas.microsoft.com/office/powerpoint/2010/main" val="1704172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內容版面配置區 16"/>
          <p:cNvGraphicFramePr>
            <a:graphicFrameLocks noGrp="1"/>
          </p:cNvGraphicFramePr>
          <p:nvPr>
            <p:ph idx="1"/>
            <p:extLst>
              <p:ext uri="{D42A27DB-BD31-4B8C-83A1-F6EECF244321}">
                <p14:modId xmlns:p14="http://schemas.microsoft.com/office/powerpoint/2010/main" val="269245497"/>
              </p:ext>
            </p:extLst>
          </p:nvPr>
        </p:nvGraphicFramePr>
        <p:xfrm>
          <a:off x="1686915" y="1261235"/>
          <a:ext cx="6947647" cy="6006147"/>
        </p:xfrm>
        <a:graphic>
          <a:graphicData uri="http://schemas.openxmlformats.org/drawingml/2006/table">
            <a:tbl>
              <a:tblPr firstRow="1" bandRow="1">
                <a:tableStyleId>{5940675A-B579-460E-94D1-54222C63F5DA}</a:tableStyleId>
              </a:tblPr>
              <a:tblGrid>
                <a:gridCol w="992521">
                  <a:extLst>
                    <a:ext uri="{9D8B030D-6E8A-4147-A177-3AD203B41FA5}">
                      <a16:colId xmlns:a16="http://schemas.microsoft.com/office/drawing/2014/main" val="20000"/>
                    </a:ext>
                  </a:extLst>
                </a:gridCol>
                <a:gridCol w="992521">
                  <a:extLst>
                    <a:ext uri="{9D8B030D-6E8A-4147-A177-3AD203B41FA5}">
                      <a16:colId xmlns:a16="http://schemas.microsoft.com/office/drawing/2014/main" val="20001"/>
                    </a:ext>
                  </a:extLst>
                </a:gridCol>
                <a:gridCol w="992521">
                  <a:extLst>
                    <a:ext uri="{9D8B030D-6E8A-4147-A177-3AD203B41FA5}">
                      <a16:colId xmlns:a16="http://schemas.microsoft.com/office/drawing/2014/main" val="20002"/>
                    </a:ext>
                  </a:extLst>
                </a:gridCol>
                <a:gridCol w="992521">
                  <a:extLst>
                    <a:ext uri="{9D8B030D-6E8A-4147-A177-3AD203B41FA5}">
                      <a16:colId xmlns:a16="http://schemas.microsoft.com/office/drawing/2014/main" val="20003"/>
                    </a:ext>
                  </a:extLst>
                </a:gridCol>
                <a:gridCol w="992521">
                  <a:extLst>
                    <a:ext uri="{9D8B030D-6E8A-4147-A177-3AD203B41FA5}">
                      <a16:colId xmlns:a16="http://schemas.microsoft.com/office/drawing/2014/main" val="20004"/>
                    </a:ext>
                  </a:extLst>
                </a:gridCol>
                <a:gridCol w="992521">
                  <a:extLst>
                    <a:ext uri="{9D8B030D-6E8A-4147-A177-3AD203B41FA5}">
                      <a16:colId xmlns:a16="http://schemas.microsoft.com/office/drawing/2014/main" val="20005"/>
                    </a:ext>
                  </a:extLst>
                </a:gridCol>
                <a:gridCol w="992521">
                  <a:extLst>
                    <a:ext uri="{9D8B030D-6E8A-4147-A177-3AD203B41FA5}">
                      <a16:colId xmlns:a16="http://schemas.microsoft.com/office/drawing/2014/main" val="20006"/>
                    </a:ext>
                  </a:extLst>
                </a:gridCol>
              </a:tblGrid>
              <a:tr h="858021">
                <a:tc>
                  <a:txBody>
                    <a:bodyPr/>
                    <a:lstStyle/>
                    <a:p>
                      <a:endParaRPr lang="zh-TW" altLang="en-US" sz="2300" dirty="0"/>
                    </a:p>
                  </a:txBody>
                  <a:tcPr marL="113167" marR="113167" marT="56584" marB="56584"/>
                </a:tc>
                <a:tc>
                  <a:txBody>
                    <a:bodyPr/>
                    <a:lstStyle/>
                    <a:p>
                      <a:endParaRPr lang="zh-TW" altLang="en-US" sz="2300"/>
                    </a:p>
                  </a:txBody>
                  <a:tcPr marL="113167" marR="113167" marT="56584" marB="56584"/>
                </a:tc>
                <a:tc>
                  <a:txBody>
                    <a:bodyPr/>
                    <a:lstStyle/>
                    <a:p>
                      <a:endParaRPr lang="zh-TW" altLang="en-US" sz="2300"/>
                    </a:p>
                  </a:txBody>
                  <a:tcPr marL="113167" marR="113167" marT="56584" marB="56584"/>
                </a:tc>
                <a:tc>
                  <a:txBody>
                    <a:bodyPr/>
                    <a:lstStyle/>
                    <a:p>
                      <a:endParaRPr lang="zh-TW" altLang="en-US" sz="2300"/>
                    </a:p>
                  </a:txBody>
                  <a:tcPr marL="113167" marR="113167" marT="56584" marB="56584"/>
                </a:tc>
                <a:tc>
                  <a:txBody>
                    <a:bodyPr/>
                    <a:lstStyle/>
                    <a:p>
                      <a:endParaRPr lang="zh-TW" altLang="en-US" sz="2300"/>
                    </a:p>
                  </a:txBody>
                  <a:tcPr marL="113167" marR="113167" marT="56584" marB="56584"/>
                </a:tc>
                <a:tc>
                  <a:txBody>
                    <a:bodyPr/>
                    <a:lstStyle/>
                    <a:p>
                      <a:endParaRPr lang="zh-TW" altLang="en-US" sz="2300"/>
                    </a:p>
                  </a:txBody>
                  <a:tcPr marL="113167" marR="113167" marT="56584" marB="56584"/>
                </a:tc>
                <a:tc>
                  <a:txBody>
                    <a:bodyPr/>
                    <a:lstStyle/>
                    <a:p>
                      <a:endParaRPr lang="zh-TW" altLang="en-US" sz="2300" dirty="0"/>
                    </a:p>
                  </a:txBody>
                  <a:tcPr marL="113167" marR="113167" marT="56584" marB="56584"/>
                </a:tc>
                <a:extLst>
                  <a:ext uri="{0D108BD9-81ED-4DB2-BD59-A6C34878D82A}">
                    <a16:rowId xmlns:a16="http://schemas.microsoft.com/office/drawing/2014/main" val="10000"/>
                  </a:ext>
                </a:extLst>
              </a:tr>
              <a:tr h="858021">
                <a:tc>
                  <a:txBody>
                    <a:bodyPr/>
                    <a:lstStyle/>
                    <a:p>
                      <a:endParaRPr lang="zh-TW" altLang="en-US" sz="2300"/>
                    </a:p>
                  </a:txBody>
                  <a:tcPr marL="113167" marR="113167" marT="56584" marB="56584"/>
                </a:tc>
                <a:tc>
                  <a:txBody>
                    <a:bodyPr/>
                    <a:lstStyle/>
                    <a:p>
                      <a:endParaRPr lang="zh-TW" altLang="en-US" sz="2300"/>
                    </a:p>
                  </a:txBody>
                  <a:tcPr marL="113167" marR="113167" marT="56584" marB="56584"/>
                </a:tc>
                <a:tc>
                  <a:txBody>
                    <a:bodyPr/>
                    <a:lstStyle/>
                    <a:p>
                      <a:endParaRPr lang="zh-TW" altLang="en-US" sz="2300"/>
                    </a:p>
                  </a:txBody>
                  <a:tcPr marL="113167" marR="113167" marT="56584" marB="56584"/>
                </a:tc>
                <a:tc>
                  <a:txBody>
                    <a:bodyPr/>
                    <a:lstStyle/>
                    <a:p>
                      <a:endParaRPr lang="zh-TW" altLang="en-US" sz="2300"/>
                    </a:p>
                  </a:txBody>
                  <a:tcPr marL="113167" marR="113167" marT="56584" marB="56584"/>
                </a:tc>
                <a:tc>
                  <a:txBody>
                    <a:bodyPr/>
                    <a:lstStyle/>
                    <a:p>
                      <a:endParaRPr lang="zh-TW" altLang="en-US" sz="2300"/>
                    </a:p>
                  </a:txBody>
                  <a:tcPr marL="113167" marR="113167" marT="56584" marB="56584"/>
                </a:tc>
                <a:tc>
                  <a:txBody>
                    <a:bodyPr/>
                    <a:lstStyle/>
                    <a:p>
                      <a:endParaRPr lang="zh-TW" altLang="en-US" sz="2300" dirty="0"/>
                    </a:p>
                  </a:txBody>
                  <a:tcPr marL="113167" marR="113167" marT="56584" marB="56584"/>
                </a:tc>
                <a:tc>
                  <a:txBody>
                    <a:bodyPr/>
                    <a:lstStyle/>
                    <a:p>
                      <a:endParaRPr lang="zh-TW" altLang="en-US" sz="2300"/>
                    </a:p>
                  </a:txBody>
                  <a:tcPr marL="113167" marR="113167" marT="56584" marB="56584"/>
                </a:tc>
                <a:extLst>
                  <a:ext uri="{0D108BD9-81ED-4DB2-BD59-A6C34878D82A}">
                    <a16:rowId xmlns:a16="http://schemas.microsoft.com/office/drawing/2014/main" val="10001"/>
                  </a:ext>
                </a:extLst>
              </a:tr>
              <a:tr h="858021">
                <a:tc>
                  <a:txBody>
                    <a:bodyPr/>
                    <a:lstStyle/>
                    <a:p>
                      <a:endParaRPr lang="zh-TW" altLang="en-US" sz="2300"/>
                    </a:p>
                  </a:txBody>
                  <a:tcPr marL="113167" marR="113167" marT="56584" marB="56584"/>
                </a:tc>
                <a:tc>
                  <a:txBody>
                    <a:bodyPr/>
                    <a:lstStyle/>
                    <a:p>
                      <a:endParaRPr lang="zh-TW" altLang="en-US" sz="2300"/>
                    </a:p>
                  </a:txBody>
                  <a:tcPr marL="113167" marR="113167" marT="56584" marB="56584"/>
                </a:tc>
                <a:tc>
                  <a:txBody>
                    <a:bodyPr/>
                    <a:lstStyle/>
                    <a:p>
                      <a:endParaRPr lang="zh-TW" altLang="en-US" sz="2300"/>
                    </a:p>
                  </a:txBody>
                  <a:tcPr marL="113167" marR="113167" marT="56584" marB="56584"/>
                </a:tc>
                <a:tc>
                  <a:txBody>
                    <a:bodyPr/>
                    <a:lstStyle/>
                    <a:p>
                      <a:endParaRPr lang="zh-TW" altLang="en-US" sz="2300"/>
                    </a:p>
                  </a:txBody>
                  <a:tcPr marL="113167" marR="113167" marT="56584" marB="56584"/>
                </a:tc>
                <a:tc>
                  <a:txBody>
                    <a:bodyPr/>
                    <a:lstStyle/>
                    <a:p>
                      <a:endParaRPr lang="zh-TW" altLang="en-US" sz="2300"/>
                    </a:p>
                  </a:txBody>
                  <a:tcPr marL="113167" marR="113167" marT="56584" marB="56584"/>
                </a:tc>
                <a:tc>
                  <a:txBody>
                    <a:bodyPr/>
                    <a:lstStyle/>
                    <a:p>
                      <a:endParaRPr lang="zh-TW" altLang="en-US" sz="2300" dirty="0"/>
                    </a:p>
                  </a:txBody>
                  <a:tcPr marL="113167" marR="113167" marT="56584" marB="56584"/>
                </a:tc>
                <a:tc>
                  <a:txBody>
                    <a:bodyPr/>
                    <a:lstStyle/>
                    <a:p>
                      <a:endParaRPr lang="zh-TW" altLang="en-US" sz="2300"/>
                    </a:p>
                  </a:txBody>
                  <a:tcPr marL="113167" marR="113167" marT="56584" marB="56584"/>
                </a:tc>
                <a:extLst>
                  <a:ext uri="{0D108BD9-81ED-4DB2-BD59-A6C34878D82A}">
                    <a16:rowId xmlns:a16="http://schemas.microsoft.com/office/drawing/2014/main" val="10002"/>
                  </a:ext>
                </a:extLst>
              </a:tr>
              <a:tr h="858021">
                <a:tc>
                  <a:txBody>
                    <a:bodyPr/>
                    <a:lstStyle/>
                    <a:p>
                      <a:endParaRPr lang="zh-TW" altLang="en-US" sz="2300"/>
                    </a:p>
                  </a:txBody>
                  <a:tcPr marL="113167" marR="113167" marT="56584" marB="56584"/>
                </a:tc>
                <a:tc>
                  <a:txBody>
                    <a:bodyPr/>
                    <a:lstStyle/>
                    <a:p>
                      <a:endParaRPr lang="zh-TW" altLang="en-US" sz="2300"/>
                    </a:p>
                  </a:txBody>
                  <a:tcPr marL="113167" marR="113167" marT="56584" marB="56584"/>
                </a:tc>
                <a:tc>
                  <a:txBody>
                    <a:bodyPr/>
                    <a:lstStyle/>
                    <a:p>
                      <a:endParaRPr lang="zh-TW" altLang="en-US" sz="2300"/>
                    </a:p>
                  </a:txBody>
                  <a:tcPr marL="113167" marR="113167" marT="56584" marB="56584"/>
                </a:tc>
                <a:tc>
                  <a:txBody>
                    <a:bodyPr/>
                    <a:lstStyle/>
                    <a:p>
                      <a:endParaRPr lang="zh-TW" altLang="en-US" sz="2300"/>
                    </a:p>
                  </a:txBody>
                  <a:tcPr marL="113167" marR="113167" marT="56584" marB="56584"/>
                </a:tc>
                <a:tc>
                  <a:txBody>
                    <a:bodyPr/>
                    <a:lstStyle/>
                    <a:p>
                      <a:endParaRPr lang="zh-TW" altLang="en-US" sz="2300" dirty="0"/>
                    </a:p>
                  </a:txBody>
                  <a:tcPr marL="113167" marR="113167" marT="56584" marB="56584"/>
                </a:tc>
                <a:tc>
                  <a:txBody>
                    <a:bodyPr/>
                    <a:lstStyle/>
                    <a:p>
                      <a:endParaRPr lang="zh-TW" altLang="en-US" sz="2300"/>
                    </a:p>
                  </a:txBody>
                  <a:tcPr marL="113167" marR="113167" marT="56584" marB="56584"/>
                </a:tc>
                <a:tc>
                  <a:txBody>
                    <a:bodyPr/>
                    <a:lstStyle/>
                    <a:p>
                      <a:endParaRPr lang="zh-TW" altLang="en-US" sz="2300"/>
                    </a:p>
                  </a:txBody>
                  <a:tcPr marL="113167" marR="113167" marT="56584" marB="56584"/>
                </a:tc>
                <a:extLst>
                  <a:ext uri="{0D108BD9-81ED-4DB2-BD59-A6C34878D82A}">
                    <a16:rowId xmlns:a16="http://schemas.microsoft.com/office/drawing/2014/main" val="10003"/>
                  </a:ext>
                </a:extLst>
              </a:tr>
              <a:tr h="858021">
                <a:tc>
                  <a:txBody>
                    <a:bodyPr/>
                    <a:lstStyle/>
                    <a:p>
                      <a:endParaRPr lang="zh-TW" altLang="en-US" sz="2300"/>
                    </a:p>
                  </a:txBody>
                  <a:tcPr marL="113167" marR="113167" marT="56584" marB="56584"/>
                </a:tc>
                <a:tc>
                  <a:txBody>
                    <a:bodyPr/>
                    <a:lstStyle/>
                    <a:p>
                      <a:endParaRPr lang="zh-TW" altLang="en-US" sz="2300"/>
                    </a:p>
                  </a:txBody>
                  <a:tcPr marL="113167" marR="113167" marT="56584" marB="56584"/>
                </a:tc>
                <a:tc>
                  <a:txBody>
                    <a:bodyPr/>
                    <a:lstStyle/>
                    <a:p>
                      <a:endParaRPr lang="zh-TW" altLang="en-US" sz="2300"/>
                    </a:p>
                  </a:txBody>
                  <a:tcPr marL="113167" marR="113167" marT="56584" marB="56584"/>
                </a:tc>
                <a:tc>
                  <a:txBody>
                    <a:bodyPr/>
                    <a:lstStyle/>
                    <a:p>
                      <a:endParaRPr lang="zh-TW" altLang="en-US" sz="2300"/>
                    </a:p>
                  </a:txBody>
                  <a:tcPr marL="113167" marR="113167" marT="56584" marB="56584"/>
                </a:tc>
                <a:tc>
                  <a:txBody>
                    <a:bodyPr/>
                    <a:lstStyle/>
                    <a:p>
                      <a:endParaRPr lang="zh-TW" altLang="en-US" sz="2300"/>
                    </a:p>
                  </a:txBody>
                  <a:tcPr marL="113167" marR="113167" marT="56584" marB="56584"/>
                </a:tc>
                <a:tc>
                  <a:txBody>
                    <a:bodyPr/>
                    <a:lstStyle/>
                    <a:p>
                      <a:endParaRPr lang="zh-TW" altLang="en-US" sz="2300"/>
                    </a:p>
                  </a:txBody>
                  <a:tcPr marL="113167" marR="113167" marT="56584" marB="56584"/>
                </a:tc>
                <a:tc>
                  <a:txBody>
                    <a:bodyPr/>
                    <a:lstStyle/>
                    <a:p>
                      <a:endParaRPr lang="zh-TW" altLang="en-US" sz="2300"/>
                    </a:p>
                  </a:txBody>
                  <a:tcPr marL="113167" marR="113167" marT="56584" marB="56584"/>
                </a:tc>
                <a:extLst>
                  <a:ext uri="{0D108BD9-81ED-4DB2-BD59-A6C34878D82A}">
                    <a16:rowId xmlns:a16="http://schemas.microsoft.com/office/drawing/2014/main" val="10004"/>
                  </a:ext>
                </a:extLst>
              </a:tr>
              <a:tr h="858021">
                <a:tc>
                  <a:txBody>
                    <a:bodyPr/>
                    <a:lstStyle/>
                    <a:p>
                      <a:endParaRPr lang="zh-TW" altLang="en-US" sz="2300"/>
                    </a:p>
                  </a:txBody>
                  <a:tcPr marL="113167" marR="113167" marT="56584" marB="56584"/>
                </a:tc>
                <a:tc>
                  <a:txBody>
                    <a:bodyPr/>
                    <a:lstStyle/>
                    <a:p>
                      <a:endParaRPr lang="zh-TW" altLang="en-US" sz="2300"/>
                    </a:p>
                  </a:txBody>
                  <a:tcPr marL="113167" marR="113167" marT="56584" marB="56584"/>
                </a:tc>
                <a:tc>
                  <a:txBody>
                    <a:bodyPr/>
                    <a:lstStyle/>
                    <a:p>
                      <a:endParaRPr lang="zh-TW" altLang="en-US" sz="2300"/>
                    </a:p>
                  </a:txBody>
                  <a:tcPr marL="113167" marR="113167" marT="56584" marB="56584"/>
                </a:tc>
                <a:tc>
                  <a:txBody>
                    <a:bodyPr/>
                    <a:lstStyle/>
                    <a:p>
                      <a:endParaRPr lang="zh-TW" altLang="en-US" sz="2300" dirty="0"/>
                    </a:p>
                  </a:txBody>
                  <a:tcPr marL="113167" marR="113167" marT="56584" marB="56584"/>
                </a:tc>
                <a:tc>
                  <a:txBody>
                    <a:bodyPr/>
                    <a:lstStyle/>
                    <a:p>
                      <a:endParaRPr lang="zh-TW" altLang="en-US" sz="2300"/>
                    </a:p>
                  </a:txBody>
                  <a:tcPr marL="113167" marR="113167" marT="56584" marB="56584"/>
                </a:tc>
                <a:tc>
                  <a:txBody>
                    <a:bodyPr/>
                    <a:lstStyle/>
                    <a:p>
                      <a:endParaRPr lang="zh-TW" altLang="en-US" sz="2300"/>
                    </a:p>
                  </a:txBody>
                  <a:tcPr marL="113167" marR="113167" marT="56584" marB="56584"/>
                </a:tc>
                <a:tc>
                  <a:txBody>
                    <a:bodyPr/>
                    <a:lstStyle/>
                    <a:p>
                      <a:endParaRPr lang="zh-TW" altLang="en-US" sz="2300"/>
                    </a:p>
                  </a:txBody>
                  <a:tcPr marL="113167" marR="113167" marT="56584" marB="56584"/>
                </a:tc>
                <a:extLst>
                  <a:ext uri="{0D108BD9-81ED-4DB2-BD59-A6C34878D82A}">
                    <a16:rowId xmlns:a16="http://schemas.microsoft.com/office/drawing/2014/main" val="10005"/>
                  </a:ext>
                </a:extLst>
              </a:tr>
              <a:tr h="858021">
                <a:tc>
                  <a:txBody>
                    <a:bodyPr/>
                    <a:lstStyle/>
                    <a:p>
                      <a:endParaRPr lang="zh-TW" altLang="en-US" sz="2300"/>
                    </a:p>
                  </a:txBody>
                  <a:tcPr marL="113167" marR="113167" marT="56584" marB="56584"/>
                </a:tc>
                <a:tc>
                  <a:txBody>
                    <a:bodyPr/>
                    <a:lstStyle/>
                    <a:p>
                      <a:endParaRPr lang="zh-TW" altLang="en-US" sz="2300"/>
                    </a:p>
                  </a:txBody>
                  <a:tcPr marL="113167" marR="113167" marT="56584" marB="56584"/>
                </a:tc>
                <a:tc>
                  <a:txBody>
                    <a:bodyPr/>
                    <a:lstStyle/>
                    <a:p>
                      <a:endParaRPr lang="zh-TW" altLang="en-US" sz="2300"/>
                    </a:p>
                  </a:txBody>
                  <a:tcPr marL="113167" marR="113167" marT="56584" marB="56584"/>
                </a:tc>
                <a:tc>
                  <a:txBody>
                    <a:bodyPr/>
                    <a:lstStyle/>
                    <a:p>
                      <a:endParaRPr lang="zh-TW" altLang="en-US" sz="2300"/>
                    </a:p>
                  </a:txBody>
                  <a:tcPr marL="113167" marR="113167" marT="56584" marB="56584"/>
                </a:tc>
                <a:tc>
                  <a:txBody>
                    <a:bodyPr/>
                    <a:lstStyle/>
                    <a:p>
                      <a:endParaRPr lang="zh-TW" altLang="en-US" sz="2300"/>
                    </a:p>
                  </a:txBody>
                  <a:tcPr marL="113167" marR="113167" marT="56584" marB="56584"/>
                </a:tc>
                <a:tc>
                  <a:txBody>
                    <a:bodyPr/>
                    <a:lstStyle/>
                    <a:p>
                      <a:endParaRPr lang="zh-TW" altLang="en-US" sz="2300" dirty="0"/>
                    </a:p>
                  </a:txBody>
                  <a:tcPr marL="113167" marR="113167" marT="56584" marB="56584"/>
                </a:tc>
                <a:tc>
                  <a:txBody>
                    <a:bodyPr/>
                    <a:lstStyle/>
                    <a:p>
                      <a:endParaRPr lang="zh-TW" altLang="en-US" sz="2300" dirty="0"/>
                    </a:p>
                  </a:txBody>
                  <a:tcPr marL="113167" marR="113167" marT="56584" marB="56584"/>
                </a:tc>
                <a:extLst>
                  <a:ext uri="{0D108BD9-81ED-4DB2-BD59-A6C34878D82A}">
                    <a16:rowId xmlns:a16="http://schemas.microsoft.com/office/drawing/2014/main" val="10006"/>
                  </a:ext>
                </a:extLst>
              </a:tr>
            </a:tbl>
          </a:graphicData>
        </a:graphic>
      </p:graphicFrame>
      <p:sp>
        <p:nvSpPr>
          <p:cNvPr id="2" name="標題 1"/>
          <p:cNvSpPr>
            <a:spLocks noGrp="1"/>
          </p:cNvSpPr>
          <p:nvPr>
            <p:ph type="title"/>
          </p:nvPr>
        </p:nvSpPr>
        <p:spPr/>
        <p:txBody>
          <a:bodyPr/>
          <a:lstStyle/>
          <a:p>
            <a:r>
              <a:rPr lang="zh-TW" altLang="en-US" dirty="0"/>
              <a:t>解決旋轉不變性</a:t>
            </a:r>
            <a:r>
              <a:rPr lang="en-US" altLang="zh-TW" dirty="0"/>
              <a:t>(2/3)</a:t>
            </a:r>
            <a:endParaRPr lang="zh-TW" altLang="en-US" dirty="0"/>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6</a:t>
            </a:fld>
            <a:endParaRPr lang="zh-TW" altLang="en-US"/>
          </a:p>
        </p:txBody>
      </p:sp>
      <p:sp>
        <p:nvSpPr>
          <p:cNvPr id="6" name="橢圓 5"/>
          <p:cNvSpPr/>
          <p:nvPr/>
        </p:nvSpPr>
        <p:spPr>
          <a:xfrm>
            <a:off x="2349062" y="1513490"/>
            <a:ext cx="5644056" cy="5644056"/>
          </a:xfrm>
          <a:prstGeom prst="ellipse">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3" name="直線單箭頭接點 22"/>
          <p:cNvCxnSpPr/>
          <p:nvPr/>
        </p:nvCxnSpPr>
        <p:spPr>
          <a:xfrm flipV="1">
            <a:off x="5171090" y="1277008"/>
            <a:ext cx="0" cy="614855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7" name="直線單箭頭接點 26"/>
          <p:cNvCxnSpPr/>
          <p:nvPr/>
        </p:nvCxnSpPr>
        <p:spPr>
          <a:xfrm>
            <a:off x="1513490" y="4335518"/>
            <a:ext cx="7267903"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7" name="橢圓 6"/>
          <p:cNvSpPr/>
          <p:nvPr/>
        </p:nvSpPr>
        <p:spPr>
          <a:xfrm>
            <a:off x="4974021" y="4146331"/>
            <a:ext cx="394138" cy="3783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橢圓 29"/>
          <p:cNvSpPr/>
          <p:nvPr/>
        </p:nvSpPr>
        <p:spPr>
          <a:xfrm>
            <a:off x="6009290" y="3250093"/>
            <a:ext cx="394138" cy="378373"/>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2" name="直線接點 31"/>
          <p:cNvCxnSpPr>
            <a:stCxn id="7" idx="7"/>
            <a:endCxn id="30" idx="3"/>
          </p:cNvCxnSpPr>
          <p:nvPr/>
        </p:nvCxnSpPr>
        <p:spPr>
          <a:xfrm flipV="1">
            <a:off x="5310439" y="3573055"/>
            <a:ext cx="756571" cy="628687"/>
          </a:xfrm>
          <a:prstGeom prst="line">
            <a:avLst/>
          </a:prstGeom>
          <a:ln w="25400">
            <a:solidFill>
              <a:schemeClr val="tx1">
                <a:lumMod val="95000"/>
                <a:lumOff val="5000"/>
              </a:schemeClr>
            </a:solidFill>
            <a:prstDash val="solid"/>
          </a:ln>
        </p:spPr>
        <p:style>
          <a:lnRef idx="1">
            <a:schemeClr val="accent1"/>
          </a:lnRef>
          <a:fillRef idx="0">
            <a:schemeClr val="accent1"/>
          </a:fillRef>
          <a:effectRef idx="0">
            <a:schemeClr val="accent1"/>
          </a:effectRef>
          <a:fontRef idx="minor">
            <a:schemeClr val="tx1"/>
          </a:fontRef>
        </p:style>
      </p:cxnSp>
      <p:sp>
        <p:nvSpPr>
          <p:cNvPr id="33" name="文字方塊 32"/>
          <p:cNvSpPr txBox="1"/>
          <p:nvPr/>
        </p:nvSpPr>
        <p:spPr>
          <a:xfrm>
            <a:off x="5725528" y="3737993"/>
            <a:ext cx="457176" cy="707886"/>
          </a:xfrm>
          <a:prstGeom prst="rect">
            <a:avLst/>
          </a:prstGeom>
          <a:noFill/>
        </p:spPr>
        <p:txBody>
          <a:bodyPr wrap="none" rtlCol="0">
            <a:spAutoFit/>
          </a:bodyPr>
          <a:lstStyle/>
          <a:p>
            <a:r>
              <a:rPr lang="en-US" altLang="zh-TW" sz="4000" dirty="0">
                <a:solidFill>
                  <a:srgbClr val="FF0000"/>
                </a:solidFill>
              </a:rPr>
              <a:t>θ</a:t>
            </a:r>
            <a:endParaRPr lang="zh-TW" altLang="en-US" sz="4000" dirty="0">
              <a:solidFill>
                <a:srgbClr val="FF0000"/>
              </a:solidFill>
            </a:endParaRPr>
          </a:p>
        </p:txBody>
      </p:sp>
      <p:sp>
        <p:nvSpPr>
          <p:cNvPr id="34" name="弧形 33"/>
          <p:cNvSpPr/>
          <p:nvPr/>
        </p:nvSpPr>
        <p:spPr>
          <a:xfrm rot="903746">
            <a:off x="5322915" y="3995534"/>
            <a:ext cx="415089" cy="613290"/>
          </a:xfrm>
          <a:prstGeom prst="arc">
            <a:avLst>
              <a:gd name="adj1" fmla="val 15509191"/>
              <a:gd name="adj2" fmla="val 21460884"/>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36" name="動作按鈕: 返回 35">
            <a:hlinkClick r:id="rId2" action="ppaction://hlinksldjump" highlightClick="1"/>
          </p:cNvPr>
          <p:cNvSpPr/>
          <p:nvPr/>
        </p:nvSpPr>
        <p:spPr>
          <a:xfrm>
            <a:off x="8781393" y="7054961"/>
            <a:ext cx="425669" cy="402129"/>
          </a:xfrm>
          <a:prstGeom prst="actionButtonReturn">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587731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解決旋轉不變性</a:t>
            </a:r>
            <a:r>
              <a:rPr lang="en-US" altLang="zh-TW" dirty="0"/>
              <a:t>(3/3)</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503998" y="1769042"/>
                <a:ext cx="9071643" cy="5146107"/>
              </a:xfrm>
            </p:spPr>
            <p:txBody>
              <a:bodyPr/>
              <a:lstStyle/>
              <a:p>
                <a:pPr marL="457200" indent="-457200">
                  <a:buFont typeface="Arial" panose="020B0604020202020204" pitchFamily="34" charset="0"/>
                  <a:buChar char="•"/>
                </a:pPr>
                <a:r>
                  <a:rPr lang="en-US" altLang="zh-TW" dirty="0">
                    <a:latin typeface="Cambria Math" panose="02040503050406030204" pitchFamily="18" charset="0"/>
                    <a:ea typeface="微軟正黑體" panose="020B0604030504040204" pitchFamily="34" charset="-120"/>
                  </a:rPr>
                  <a:t>Steered BRIEF</a:t>
                </a:r>
                <a:r>
                  <a:rPr lang="zh-TW" altLang="en-US" dirty="0">
                    <a:latin typeface="Cambria Math" panose="02040503050406030204" pitchFamily="18" charset="0"/>
                    <a:ea typeface="微軟正黑體" panose="020B0604030504040204" pitchFamily="34" charset="-120"/>
                  </a:rPr>
                  <a:t>：將角度加進去</a:t>
                </a:r>
                <a:r>
                  <a:rPr lang="en-US" altLang="zh-TW" dirty="0">
                    <a:latin typeface="Cambria Math" panose="02040503050406030204" pitchFamily="18" charset="0"/>
                    <a:ea typeface="微軟正黑體" panose="020B0604030504040204" pitchFamily="34" charset="-120"/>
                    <a:cs typeface="Ebrima" panose="02000000000000000000" pitchFamily="2" charset="0"/>
                  </a:rPr>
                  <a:t>BRIEF</a:t>
                </a:r>
                <a:r>
                  <a:rPr lang="zh-TW" altLang="en-US" dirty="0">
                    <a:latin typeface="Cambria Math" panose="02040503050406030204" pitchFamily="18" charset="0"/>
                    <a:ea typeface="微軟正黑體" panose="020B0604030504040204" pitchFamily="34" charset="-120"/>
                  </a:rPr>
                  <a:t>中</a:t>
                </a:r>
                <a:endParaRPr lang="en-US" altLang="zh-TW" dirty="0">
                  <a:latin typeface="Cambria Math" panose="02040503050406030204" pitchFamily="18" charset="0"/>
                  <a:ea typeface="微軟正黑體" panose="020B0604030504040204" pitchFamily="34" charset="-120"/>
                </a:endParaRPr>
              </a:p>
              <a:p>
                <a:pPr marL="457200" indent="-457200">
                  <a:buFont typeface="Arial" panose="020B0604020202020204" pitchFamily="34" charset="0"/>
                  <a:buChar char="•"/>
                </a:pPr>
                <a:r>
                  <a:rPr lang="en-US" altLang="zh-TW" dirty="0">
                    <a:latin typeface="Cambria Math" panose="02040503050406030204" pitchFamily="18" charset="0"/>
                    <a:ea typeface="微軟正黑體" panose="020B0604030504040204" pitchFamily="34" charset="-120"/>
                    <a:cs typeface="Ebrima" panose="02000000000000000000" pitchFamily="2" charset="0"/>
                  </a:rPr>
                  <a:t>n</a:t>
                </a:r>
                <a:r>
                  <a:rPr lang="zh-TW" altLang="en-US" dirty="0">
                    <a:latin typeface="Cambria Math" panose="02040503050406030204" pitchFamily="18" charset="0"/>
                    <a:ea typeface="微軟正黑體" panose="020B0604030504040204" pitchFamily="34" charset="-120"/>
                  </a:rPr>
                  <a:t>個點對：</a:t>
                </a:r>
                <a:endParaRPr lang="en-US" altLang="zh-TW" dirty="0">
                  <a:latin typeface="Cambria Math" panose="02040503050406030204" pitchFamily="18" charset="0"/>
                  <a:ea typeface="微軟正黑體" panose="020B0604030504040204" pitchFamily="34" charset="-120"/>
                </a:endParaRPr>
              </a:p>
              <a:p>
                <a:pPr/>
                <a14:m>
                  <m:oMathPara xmlns:m="http://schemas.openxmlformats.org/officeDocument/2006/math">
                    <m:oMathParaPr>
                      <m:jc m:val="center"/>
                    </m:oMathParaPr>
                    <m:oMath xmlns:m="http://schemas.openxmlformats.org/officeDocument/2006/math">
                      <m:r>
                        <a:rPr lang="en-US" altLang="zh-TW" b="0" i="1" smtClean="0">
                          <a:latin typeface="Cambria Math" panose="02040503050406030204" pitchFamily="18" charset="0"/>
                        </a:rPr>
                        <m:t>𝑆</m:t>
                      </m:r>
                      <m:r>
                        <a:rPr lang="en-US" altLang="zh-TW" b="0" i="1" smtClean="0">
                          <a:latin typeface="Cambria Math" panose="02040503050406030204" pitchFamily="18" charset="0"/>
                        </a:rPr>
                        <m:t>=</m:t>
                      </m:r>
                      <m:d>
                        <m:dPr>
                          <m:ctrlPr>
                            <a:rPr lang="en-US" altLang="zh-TW" b="0" i="1" smtClean="0">
                              <a:latin typeface="Cambria Math" panose="02040503050406030204" pitchFamily="18" charset="0"/>
                            </a:rPr>
                          </m:ctrlPr>
                        </m:dPr>
                        <m:e>
                          <m:f>
                            <m:fPr>
                              <m:type m:val="noBar"/>
                              <m:ctrlPr>
                                <a:rPr lang="en-US" altLang="zh-TW" b="0" i="1" smtClean="0">
                                  <a:latin typeface="Cambria Math" panose="02040503050406030204" pitchFamily="18" charset="0"/>
                                </a:rPr>
                              </m:ctrlPr>
                            </m:fPr>
                            <m:num>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𝑎</m:t>
                                  </m:r>
                                </m:e>
                                <m:sub>
                                  <m:r>
                                    <a:rPr lang="en-US" altLang="zh-TW" b="0" i="1" smtClean="0">
                                      <a:latin typeface="Cambria Math" panose="02040503050406030204" pitchFamily="18" charset="0"/>
                                    </a:rPr>
                                    <m:t>1</m:t>
                                  </m:r>
                                </m:sub>
                              </m:sSub>
                            </m:num>
                            <m:den>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𝑏</m:t>
                                  </m:r>
                                </m:e>
                                <m:sub>
                                  <m:r>
                                    <a:rPr lang="en-US" altLang="zh-TW" b="0" i="1" smtClean="0">
                                      <a:latin typeface="Cambria Math" panose="02040503050406030204" pitchFamily="18" charset="0"/>
                                    </a:rPr>
                                    <m:t>1</m:t>
                                  </m:r>
                                </m:sub>
                              </m:sSub>
                            </m:den>
                          </m:f>
                          <m:r>
                            <a:rPr lang="en-US" altLang="zh-TW" b="0" i="1" smtClean="0">
                              <a:latin typeface="Cambria Math" panose="02040503050406030204" pitchFamily="18" charset="0"/>
                            </a:rPr>
                            <m:t>, …, </m:t>
                          </m:r>
                          <m:f>
                            <m:fPr>
                              <m:type m:val="noBar"/>
                              <m:ctrlPr>
                                <a:rPr lang="en-US" altLang="zh-TW" b="0" i="1" smtClean="0">
                                  <a:latin typeface="Cambria Math" panose="02040503050406030204" pitchFamily="18" charset="0"/>
                                </a:rPr>
                              </m:ctrlPr>
                            </m:fPr>
                            <m:num>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𝑎</m:t>
                                  </m:r>
                                </m:e>
                                <m:sub>
                                  <m:r>
                                    <a:rPr lang="en-US" altLang="zh-TW" b="0" i="1" smtClean="0">
                                      <a:latin typeface="Cambria Math" panose="02040503050406030204" pitchFamily="18" charset="0"/>
                                    </a:rPr>
                                    <m:t>𝑛</m:t>
                                  </m:r>
                                </m:sub>
                              </m:sSub>
                            </m:num>
                            <m:den>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𝑏</m:t>
                                  </m:r>
                                </m:e>
                                <m:sub>
                                  <m:r>
                                    <a:rPr lang="en-US" altLang="zh-TW" b="0" i="1" smtClean="0">
                                      <a:latin typeface="Cambria Math" panose="02040503050406030204" pitchFamily="18" charset="0"/>
                                    </a:rPr>
                                    <m:t>𝑛</m:t>
                                  </m:r>
                                </m:sub>
                              </m:sSub>
                            </m:den>
                          </m:f>
                        </m:e>
                      </m:d>
                    </m:oMath>
                  </m:oMathPara>
                </a14:m>
                <a:endParaRPr lang="en-US" altLang="zh-TW" b="0" dirty="0">
                  <a:latin typeface="Cambria Math" panose="02040503050406030204" pitchFamily="18" charset="0"/>
                  <a:ea typeface="微軟正黑體" panose="020B0604030504040204" pitchFamily="34" charset="-120"/>
                </a:endParaRPr>
              </a:p>
              <a:p>
                <a:endParaRPr lang="en-US" altLang="zh-TW" b="0" dirty="0">
                  <a:latin typeface="Cambria Math" panose="02040503050406030204" pitchFamily="18" charset="0"/>
                  <a:ea typeface="微軟正黑體" panose="020B0604030504040204" pitchFamily="34" charset="-120"/>
                </a:endParaRPr>
              </a:p>
              <a:p>
                <a:pPr/>
                <a14:m>
                  <m:oMathPara xmlns:m="http://schemas.openxmlformats.org/officeDocument/2006/math">
                    <m:oMathParaPr>
                      <m:jc m:val="center"/>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𝑆</m:t>
                          </m:r>
                        </m:e>
                        <m:sub>
                          <m:r>
                            <a:rPr lang="zh-TW" altLang="en-US" i="1" smtClean="0">
                              <a:latin typeface="Cambria Math" panose="02040503050406030204" pitchFamily="18" charset="0"/>
                            </a:rPr>
                            <m:t>𝜃</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𝑅</m:t>
                          </m:r>
                        </m:e>
                        <m:sub>
                          <m:r>
                            <a:rPr lang="zh-TW" altLang="en-US" b="0" i="1" smtClean="0">
                              <a:latin typeface="Cambria Math" panose="02040503050406030204" pitchFamily="18" charset="0"/>
                            </a:rPr>
                            <m:t>𝜃</m:t>
                          </m:r>
                        </m:sub>
                      </m:sSub>
                      <m:r>
                        <a:rPr lang="en-US" altLang="zh-TW" b="0" i="1" smtClean="0">
                          <a:latin typeface="Cambria Math" panose="02040503050406030204" pitchFamily="18" charset="0"/>
                        </a:rPr>
                        <m:t>𝑆</m:t>
                      </m:r>
                    </m:oMath>
                  </m:oMathPara>
                </a14:m>
                <a:endParaRPr lang="en-US" altLang="zh-TW" dirty="0">
                  <a:latin typeface="Cambria Math" panose="02040503050406030204" pitchFamily="18" charset="0"/>
                  <a:ea typeface="微軟正黑體" panose="020B0604030504040204" pitchFamily="34" charset="-120"/>
                </a:endParaRPr>
              </a:p>
              <a:p>
                <a:endParaRPr lang="en-US" altLang="zh-TW" dirty="0"/>
              </a:p>
              <a:p>
                <a:pPr/>
                <a14:m>
                  <m:oMathPara xmlns:m="http://schemas.openxmlformats.org/officeDocument/2006/math">
                    <m:oMathParaPr>
                      <m:jc m:val="center"/>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a:rPr>
                            <m:t>𝑅</m:t>
                          </m:r>
                        </m:e>
                        <m:sub>
                          <m:r>
                            <a:rPr lang="zh-TW" altLang="en-US" i="1" smtClean="0">
                              <a:latin typeface="Cambria Math"/>
                            </a:rPr>
                            <m:t>𝜃</m:t>
                          </m:r>
                        </m:sub>
                      </m:sSub>
                      <m:r>
                        <a:rPr lang="en-US" altLang="zh-TW" b="0" i="1" smtClean="0">
                          <a:latin typeface="Cambria Math"/>
                        </a:rPr>
                        <m:t>=</m:t>
                      </m:r>
                      <m:d>
                        <m:dPr>
                          <m:begChr m:val="["/>
                          <m:endChr m:val="]"/>
                          <m:ctrlPr>
                            <a:rPr lang="en-US" altLang="zh-TW" b="0" i="1" smtClean="0">
                              <a:latin typeface="Cambria Math" panose="02040503050406030204" pitchFamily="18" charset="0"/>
                            </a:rPr>
                          </m:ctrlPr>
                        </m:dPr>
                        <m:e>
                          <m:m>
                            <m:mPr>
                              <m:mcs>
                                <m:mc>
                                  <m:mcPr>
                                    <m:count m:val="2"/>
                                    <m:mcJc m:val="center"/>
                                  </m:mcPr>
                                </m:mc>
                              </m:mcs>
                              <m:ctrlPr>
                                <a:rPr lang="en-US" altLang="zh-TW" b="0" i="1" smtClean="0">
                                  <a:latin typeface="Cambria Math" panose="02040503050406030204" pitchFamily="18" charset="0"/>
                                </a:rPr>
                              </m:ctrlPr>
                            </m:mPr>
                            <m:mr>
                              <m:e>
                                <m:func>
                                  <m:funcPr>
                                    <m:ctrlPr>
                                      <a:rPr lang="en-US" altLang="zh-TW" b="0" i="1" smtClean="0">
                                        <a:latin typeface="Cambria Math" panose="02040503050406030204" pitchFamily="18" charset="0"/>
                                      </a:rPr>
                                    </m:ctrlPr>
                                  </m:funcPr>
                                  <m:fName>
                                    <m:r>
                                      <m:rPr>
                                        <m:sty m:val="p"/>
                                        <m:brk m:alnAt="7"/>
                                      </m:rPr>
                                      <a:rPr lang="en-US" altLang="zh-TW" b="0" i="0" smtClean="0">
                                        <a:latin typeface="Cambria Math"/>
                                      </a:rPr>
                                      <m:t>c</m:t>
                                    </m:r>
                                    <m:r>
                                      <m:rPr>
                                        <m:sty m:val="p"/>
                                      </m:rPr>
                                      <a:rPr lang="en-US" altLang="zh-TW" b="0" i="0" smtClean="0">
                                        <a:latin typeface="Cambria Math"/>
                                      </a:rPr>
                                      <m:t>os</m:t>
                                    </m:r>
                                  </m:fName>
                                  <m:e>
                                    <m:r>
                                      <a:rPr lang="zh-TW" altLang="en-US" b="0" i="1" smtClean="0">
                                        <a:latin typeface="Cambria Math"/>
                                      </a:rPr>
                                      <m:t>𝜃</m:t>
                                    </m:r>
                                  </m:e>
                                </m:func>
                              </m:e>
                              <m:e>
                                <m:func>
                                  <m:funcPr>
                                    <m:ctrlPr>
                                      <a:rPr lang="en-US" altLang="zh-TW" b="0" i="1" smtClean="0">
                                        <a:latin typeface="Cambria Math" panose="02040503050406030204" pitchFamily="18" charset="0"/>
                                      </a:rPr>
                                    </m:ctrlPr>
                                  </m:funcPr>
                                  <m:fName>
                                    <m:r>
                                      <m:rPr>
                                        <m:sty m:val="p"/>
                                      </m:rPr>
                                      <a:rPr lang="en-US" altLang="zh-TW" b="0" i="0" smtClean="0">
                                        <a:latin typeface="Cambria Math"/>
                                      </a:rPr>
                                      <m:t>sin</m:t>
                                    </m:r>
                                  </m:fName>
                                  <m:e>
                                    <m:r>
                                      <a:rPr lang="zh-TW" altLang="en-US" b="0" i="1" smtClean="0">
                                        <a:latin typeface="Cambria Math"/>
                                      </a:rPr>
                                      <m:t>𝜃</m:t>
                                    </m:r>
                                  </m:e>
                                </m:func>
                              </m:e>
                            </m:mr>
                            <m:mr>
                              <m:e>
                                <m:r>
                                  <a:rPr lang="en-US" altLang="zh-TW" b="0" i="1" smtClean="0">
                                    <a:latin typeface="Cambria Math"/>
                                  </a:rPr>
                                  <m:t>−</m:t>
                                </m:r>
                                <m:func>
                                  <m:funcPr>
                                    <m:ctrlPr>
                                      <a:rPr lang="en-US" altLang="zh-TW" b="0" i="1" smtClean="0">
                                        <a:latin typeface="Cambria Math" panose="02040503050406030204" pitchFamily="18" charset="0"/>
                                      </a:rPr>
                                    </m:ctrlPr>
                                  </m:funcPr>
                                  <m:fName>
                                    <m:r>
                                      <m:rPr>
                                        <m:sty m:val="p"/>
                                      </m:rPr>
                                      <a:rPr lang="en-US" altLang="zh-TW" b="0" i="0" smtClean="0">
                                        <a:latin typeface="Cambria Math"/>
                                      </a:rPr>
                                      <m:t>sin</m:t>
                                    </m:r>
                                  </m:fName>
                                  <m:e>
                                    <m:r>
                                      <a:rPr lang="zh-TW" altLang="en-US" b="0" i="1" smtClean="0">
                                        <a:latin typeface="Cambria Math"/>
                                      </a:rPr>
                                      <m:t>𝜃</m:t>
                                    </m:r>
                                  </m:e>
                                </m:func>
                              </m:e>
                              <m:e>
                                <m:func>
                                  <m:funcPr>
                                    <m:ctrlPr>
                                      <a:rPr lang="en-US" altLang="zh-TW" b="0" i="1" smtClean="0">
                                        <a:latin typeface="Cambria Math" panose="02040503050406030204" pitchFamily="18" charset="0"/>
                                      </a:rPr>
                                    </m:ctrlPr>
                                  </m:funcPr>
                                  <m:fName>
                                    <m:r>
                                      <m:rPr>
                                        <m:sty m:val="p"/>
                                      </m:rPr>
                                      <a:rPr lang="en-US" altLang="zh-TW" b="0" i="0" smtClean="0">
                                        <a:latin typeface="Cambria Math"/>
                                      </a:rPr>
                                      <m:t>cos</m:t>
                                    </m:r>
                                  </m:fName>
                                  <m:e>
                                    <m:r>
                                      <a:rPr lang="zh-TW" altLang="en-US" b="0" i="1" smtClean="0">
                                        <a:latin typeface="Cambria Math"/>
                                      </a:rPr>
                                      <m:t>𝜃</m:t>
                                    </m:r>
                                  </m:e>
                                </m:func>
                              </m:e>
                            </m:mr>
                          </m:m>
                        </m:e>
                      </m:d>
                    </m:oMath>
                  </m:oMathPara>
                </a14:m>
                <a:endParaRPr lang="en-US" altLang="zh-TW"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503998" y="1769042"/>
                <a:ext cx="9071643" cy="5146107"/>
              </a:xfrm>
              <a:blipFill>
                <a:blip r:embed="rId2"/>
                <a:stretch>
                  <a:fillRect l="-2554" t="-6754" b="-13744"/>
                </a:stretch>
              </a:blipFill>
            </p:spPr>
            <p:txBody>
              <a:bodyPr/>
              <a:lstStyle/>
              <a:p>
                <a:r>
                  <a:rPr lang="zh-TW" altLang="en-US">
                    <a:noFill/>
                  </a:rPr>
                  <a:t> </a:t>
                </a:r>
              </a:p>
            </p:txBody>
          </p:sp>
        </mc:Fallback>
      </mc:AlternateContent>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7</a:t>
            </a:fld>
            <a:endParaRPr lang="zh-TW" altLang="en-US"/>
          </a:p>
        </p:txBody>
      </p:sp>
      <p:sp>
        <p:nvSpPr>
          <p:cNvPr id="5" name="動作按鈕: 返回 4">
            <a:hlinkClick r:id="rId3" action="ppaction://hlinksldjump" highlightClick="1"/>
          </p:cNvPr>
          <p:cNvSpPr/>
          <p:nvPr/>
        </p:nvSpPr>
        <p:spPr>
          <a:xfrm>
            <a:off x="8781393" y="7054961"/>
            <a:ext cx="425669" cy="402129"/>
          </a:xfrm>
          <a:prstGeom prst="actionButtonReturn">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343660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解決</a:t>
            </a:r>
            <a:r>
              <a:rPr lang="en-US" altLang="zh-TW" dirty="0">
                <a:latin typeface="Ebrima" panose="02000000000000000000" pitchFamily="2" charset="0"/>
                <a:ea typeface="Ebrima" panose="02000000000000000000" pitchFamily="2" charset="0"/>
                <a:cs typeface="Ebrima" panose="02000000000000000000" pitchFamily="2" charset="0"/>
              </a:rPr>
              <a:t>bit</a:t>
            </a:r>
            <a:r>
              <a:rPr lang="zh-TW" altLang="en-US" dirty="0"/>
              <a:t>間區別性下降問題</a:t>
            </a:r>
            <a:r>
              <a:rPr lang="en-US" altLang="zh-TW" dirty="0">
                <a:latin typeface="Ebrima" panose="02000000000000000000" pitchFamily="2" charset="0"/>
                <a:ea typeface="Ebrima" panose="02000000000000000000" pitchFamily="2" charset="0"/>
                <a:cs typeface="Ebrima" panose="02000000000000000000" pitchFamily="2" charset="0"/>
              </a:rPr>
              <a:t>(1/4)</a:t>
            </a:r>
            <a:endParaRPr lang="zh-TW" altLang="en-US"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4997517"/>
          </a:xfrm>
        </p:spPr>
        <p:txBody>
          <a:bodyPr/>
          <a:lstStyle/>
          <a:p>
            <a:pPr marL="457200" indent="-457200">
              <a:buFont typeface="Arial" panose="020B0604020202020204" pitchFamily="34" charset="0"/>
              <a:buChar char="•"/>
            </a:pPr>
            <a:r>
              <a:rPr lang="en-US" altLang="zh-TW" sz="2800" dirty="0">
                <a:latin typeface="Cambria Math" panose="02040503050406030204" pitchFamily="18" charset="0"/>
                <a:ea typeface="微軟正黑體" panose="020B0604030504040204" pitchFamily="34" charset="-120"/>
              </a:rPr>
              <a:t>BRIEF</a:t>
            </a:r>
            <a:r>
              <a:rPr lang="zh-TW" altLang="en-US" sz="2800" dirty="0">
                <a:latin typeface="Cambria Math" panose="02040503050406030204" pitchFamily="18" charset="0"/>
                <a:ea typeface="微軟正黑體" panose="020B0604030504040204" pitchFamily="34" charset="-120"/>
              </a:rPr>
              <a:t>的特別處在於，每個位置的</a:t>
            </a:r>
            <a:r>
              <a:rPr lang="en-US" altLang="zh-TW" sz="2800" dirty="0">
                <a:latin typeface="Cambria Math" panose="02040503050406030204" pitchFamily="18" charset="0"/>
                <a:ea typeface="微軟正黑體" panose="020B0604030504040204" pitchFamily="34" charset="-120"/>
              </a:rPr>
              <a:t>bit</a:t>
            </a:r>
            <a:r>
              <a:rPr lang="zh-TW" altLang="en-US" sz="2800" dirty="0">
                <a:latin typeface="Cambria Math" panose="02040503050406030204" pitchFamily="18" charset="0"/>
                <a:ea typeface="微軟正黑體" panose="020B0604030504040204" pitchFamily="34" charset="-120"/>
              </a:rPr>
              <a:t>平均十分接近</a:t>
            </a:r>
            <a:r>
              <a:rPr lang="en-US" altLang="zh-TW" sz="2800" dirty="0">
                <a:latin typeface="Cambria Math" panose="02040503050406030204" pitchFamily="18" charset="0"/>
                <a:ea typeface="微軟正黑體" panose="020B0604030504040204" pitchFamily="34" charset="-120"/>
              </a:rPr>
              <a:t>0.5</a:t>
            </a:r>
            <a:r>
              <a:rPr lang="zh-TW" altLang="en-US" sz="2800" dirty="0">
                <a:latin typeface="Cambria Math" panose="02040503050406030204" pitchFamily="18" charset="0"/>
                <a:ea typeface="微軟正黑體" panose="020B0604030504040204" pitchFamily="34" charset="-120"/>
              </a:rPr>
              <a:t>，使得變異數很大，因此每個</a:t>
            </a:r>
            <a:r>
              <a:rPr lang="en-US" altLang="zh-TW" sz="2800" dirty="0">
                <a:latin typeface="Cambria Math" panose="02040503050406030204" pitchFamily="18" charset="0"/>
                <a:ea typeface="微軟正黑體" panose="020B0604030504040204" pitchFamily="34" charset="-120"/>
              </a:rPr>
              <a:t>bit</a:t>
            </a:r>
            <a:r>
              <a:rPr lang="zh-TW" altLang="en-US" sz="2800" dirty="0">
                <a:latin typeface="Cambria Math" panose="02040503050406030204" pitchFamily="18" charset="0"/>
                <a:ea typeface="微軟正黑體" panose="020B0604030504040204" pitchFamily="34" charset="-120"/>
              </a:rPr>
              <a:t>很有區別性。</a:t>
            </a:r>
            <a:endParaRPr lang="en-US" altLang="zh-TW" sz="2800" dirty="0">
              <a:latin typeface="Cambria Math" panose="02040503050406030204" pitchFamily="18" charset="0"/>
              <a:ea typeface="微軟正黑體" panose="020B0604030504040204" pitchFamily="34" charset="-120"/>
            </a:endParaRPr>
          </a:p>
          <a:p>
            <a:pPr marL="457200" indent="-457200">
              <a:buFont typeface="Arial" panose="020B0604020202020204" pitchFamily="34" charset="0"/>
              <a:buChar char="•"/>
            </a:pPr>
            <a:r>
              <a:rPr lang="en-US" altLang="zh-TW" sz="2800" dirty="0">
                <a:latin typeface="Cambria Math" panose="02040503050406030204" pitchFamily="18" charset="0"/>
                <a:ea typeface="微軟正黑體" panose="020B0604030504040204" pitchFamily="34" charset="-120"/>
              </a:rPr>
              <a:t>Steered BRIEF</a:t>
            </a:r>
            <a:r>
              <a:rPr lang="zh-TW" altLang="en-US" sz="2800" dirty="0">
                <a:latin typeface="Cambria Math" panose="02040503050406030204" pitchFamily="18" charset="0"/>
                <a:ea typeface="微軟正黑體" panose="020B0604030504040204" pitchFamily="34" charset="-120"/>
              </a:rPr>
              <a:t>中每個位置的</a:t>
            </a:r>
            <a:r>
              <a:rPr lang="en-US" altLang="zh-TW" sz="2800" dirty="0">
                <a:latin typeface="Cambria Math" panose="02040503050406030204" pitchFamily="18" charset="0"/>
                <a:ea typeface="微軟正黑體" panose="020B0604030504040204" pitchFamily="34" charset="-120"/>
              </a:rPr>
              <a:t>bit</a:t>
            </a:r>
            <a:r>
              <a:rPr lang="zh-TW" altLang="en-US" sz="2800" dirty="0">
                <a:latin typeface="Cambria Math" panose="02040503050406030204" pitchFamily="18" charset="0"/>
                <a:ea typeface="微軟正黑體" panose="020B0604030504040204" pitchFamily="34" charset="-120"/>
              </a:rPr>
              <a:t>平均離</a:t>
            </a:r>
            <a:r>
              <a:rPr lang="en-US" altLang="zh-TW" sz="2800" dirty="0">
                <a:latin typeface="Cambria Math" panose="02040503050406030204" pitchFamily="18" charset="0"/>
                <a:ea typeface="微軟正黑體" panose="020B0604030504040204" pitchFamily="34" charset="-120"/>
              </a:rPr>
              <a:t>0.5</a:t>
            </a:r>
            <a:r>
              <a:rPr lang="zh-TW" altLang="en-US" sz="2800" dirty="0">
                <a:latin typeface="Cambria Math" panose="02040503050406030204" pitchFamily="18" charset="0"/>
                <a:ea typeface="微軟正黑體" panose="020B0604030504040204" pitchFamily="34" charset="-120"/>
              </a:rPr>
              <a:t>並沒有很接近，造成變異數相對變小，因此每個</a:t>
            </a:r>
            <a:r>
              <a:rPr lang="en-US" altLang="zh-TW" sz="2800" dirty="0">
                <a:latin typeface="Cambria Math" panose="02040503050406030204" pitchFamily="18" charset="0"/>
                <a:ea typeface="微軟正黑體" panose="020B0604030504040204" pitchFamily="34" charset="-120"/>
              </a:rPr>
              <a:t>bit</a:t>
            </a:r>
            <a:r>
              <a:rPr lang="zh-TW" altLang="en-US" sz="2800" dirty="0">
                <a:latin typeface="Cambria Math" panose="02040503050406030204" pitchFamily="18" charset="0"/>
                <a:ea typeface="微軟正黑體" panose="020B0604030504040204" pitchFamily="34" charset="-120"/>
              </a:rPr>
              <a:t>的區別性也跟著下降。</a:t>
            </a:r>
            <a:endParaRPr lang="en-US" altLang="zh-TW" sz="2800" dirty="0">
              <a:latin typeface="Cambria Math" panose="02040503050406030204" pitchFamily="18" charset="0"/>
              <a:ea typeface="微軟正黑體" panose="020B0604030504040204" pitchFamily="34" charset="-120"/>
            </a:endParaRPr>
          </a:p>
          <a:p>
            <a:pPr marL="457200" indent="-457200">
              <a:buFont typeface="Arial" panose="020B0604020202020204" pitchFamily="34" charset="0"/>
              <a:buChar char="•"/>
            </a:pPr>
            <a:r>
              <a:rPr lang="zh-TW" altLang="en-US" sz="2800" dirty="0">
                <a:latin typeface="Cambria Math" panose="02040503050406030204" pitchFamily="18" charset="0"/>
                <a:ea typeface="微軟正黑體" panose="020B0604030504040204" pitchFamily="34" charset="-120"/>
              </a:rPr>
              <a:t>例如：</a:t>
            </a:r>
            <a:endParaRPr lang="en-US" altLang="zh-TW" sz="2800" dirty="0">
              <a:latin typeface="Cambria Math" panose="02040503050406030204" pitchFamily="18" charset="0"/>
              <a:ea typeface="微軟正黑體" panose="020B0604030504040204" pitchFamily="34" charset="-120"/>
            </a:endParaRPr>
          </a:p>
          <a:p>
            <a:pPr marL="457200" indent="-457200">
              <a:buFont typeface="Arial" panose="020B0604020202020204" pitchFamily="34" charset="0"/>
              <a:buChar char="•"/>
            </a:pPr>
            <a:r>
              <a:rPr lang="en-US" altLang="zh-TW" sz="2800" dirty="0">
                <a:latin typeface="Cambria Math" panose="02040503050406030204" pitchFamily="18" charset="0"/>
                <a:ea typeface="微軟正黑體" panose="020B0604030504040204" pitchFamily="34" charset="-120"/>
              </a:rPr>
              <a:t>101010		mean=0.5		variance=0.25</a:t>
            </a:r>
          </a:p>
          <a:p>
            <a:pPr marL="457200" indent="-457200">
              <a:buFont typeface="Arial" panose="020B0604020202020204" pitchFamily="34" charset="0"/>
              <a:buChar char="•"/>
            </a:pPr>
            <a:r>
              <a:rPr lang="en-US" altLang="zh-TW" sz="2800" dirty="0">
                <a:latin typeface="Cambria Math" panose="02040503050406030204" pitchFamily="18" charset="0"/>
                <a:ea typeface="微軟正黑體" panose="020B0604030504040204" pitchFamily="34" charset="-120"/>
              </a:rPr>
              <a:t>111110		mean=0.83		variance=0.1389</a:t>
            </a:r>
          </a:p>
          <a:p>
            <a:pPr marL="457200" indent="-457200">
              <a:buFont typeface="Arial" panose="020B0604020202020204" pitchFamily="34" charset="0"/>
              <a:buChar char="•"/>
            </a:pPr>
            <a:endParaRPr lang="en-US" altLang="zh-TW" sz="2800" dirty="0">
              <a:latin typeface="Cambria Math" panose="02040503050406030204" pitchFamily="18" charset="0"/>
              <a:ea typeface="微軟正黑體" panose="020B0604030504040204" pitchFamily="34" charset="-12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8</a:t>
            </a:fld>
            <a:endParaRPr lang="zh-TW" altLang="en-US" dirty="0"/>
          </a:p>
        </p:txBody>
      </p:sp>
    </p:spTree>
    <p:extLst>
      <p:ext uri="{BB962C8B-B14F-4D97-AF65-F5344CB8AC3E}">
        <p14:creationId xmlns:p14="http://schemas.microsoft.com/office/powerpoint/2010/main" val="11759529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解決</a:t>
            </a:r>
            <a:r>
              <a:rPr lang="en-US" altLang="zh-TW" dirty="0">
                <a:latin typeface="Ebrima" panose="02000000000000000000" pitchFamily="2" charset="0"/>
                <a:ea typeface="Ebrima" panose="02000000000000000000" pitchFamily="2" charset="0"/>
                <a:cs typeface="Ebrima" panose="02000000000000000000" pitchFamily="2" charset="0"/>
              </a:rPr>
              <a:t>bit</a:t>
            </a:r>
            <a:r>
              <a:rPr lang="zh-TW" altLang="en-US" dirty="0"/>
              <a:t>間區別性下降問題</a:t>
            </a:r>
            <a:r>
              <a:rPr lang="en-US" altLang="zh-TW" dirty="0">
                <a:latin typeface="Ebrima" panose="02000000000000000000" pitchFamily="2" charset="0"/>
                <a:ea typeface="Ebrima" panose="02000000000000000000" pitchFamily="2" charset="0"/>
                <a:cs typeface="Ebrima" panose="02000000000000000000" pitchFamily="2" charset="0"/>
              </a:rPr>
              <a:t>(2/4)</a:t>
            </a:r>
            <a:endParaRPr lang="zh-TW" altLang="en-US" dirty="0"/>
          </a:p>
        </p:txBody>
      </p:sp>
      <p:sp>
        <p:nvSpPr>
          <p:cNvPr id="3" name="內容版面配置區 2"/>
          <p:cNvSpPr>
            <a:spLocks noGrp="1"/>
          </p:cNvSpPr>
          <p:nvPr>
            <p:ph idx="1"/>
          </p:nvPr>
        </p:nvSpPr>
        <p:spPr>
          <a:xfrm>
            <a:off x="503998" y="1769042"/>
            <a:ext cx="9071643" cy="5467781"/>
          </a:xfrm>
        </p:spPr>
        <p:txBody>
          <a:bodyPr>
            <a:normAutofit fontScale="92500" lnSpcReduction="10000"/>
          </a:bodyPr>
          <a:lstStyle/>
          <a:p>
            <a:pPr marL="457200" indent="-457200">
              <a:buFont typeface="Arial" panose="020B0604020202020204" pitchFamily="34" charset="0"/>
              <a:buChar char="•"/>
            </a:pPr>
            <a:r>
              <a:rPr lang="en-US" altLang="zh-TW" dirty="0" err="1">
                <a:latin typeface="Cambria Math" panose="02040503050406030204" pitchFamily="18" charset="0"/>
                <a:ea typeface="微軟正黑體" panose="020B0604030504040204" pitchFamily="34" charset="-120"/>
              </a:rPr>
              <a:t>rBRIEF</a:t>
            </a:r>
            <a:endParaRPr lang="en-US" altLang="zh-TW" dirty="0">
              <a:latin typeface="Cambria Math" panose="02040503050406030204" pitchFamily="18" charset="0"/>
              <a:ea typeface="微軟正黑體" panose="020B0604030504040204" pitchFamily="34" charset="-120"/>
            </a:endParaRPr>
          </a:p>
          <a:p>
            <a:pPr marL="457200" indent="-457200">
              <a:buFont typeface="Arial" panose="020B0604020202020204" pitchFamily="34" charset="0"/>
              <a:buChar char="•"/>
            </a:pPr>
            <a:r>
              <a:rPr lang="zh-TW" altLang="en-US" dirty="0">
                <a:latin typeface="Cambria Math" panose="02040503050406030204" pitchFamily="18" charset="0"/>
                <a:ea typeface="微軟正黑體" panose="020B0604030504040204" pitchFamily="34" charset="-120"/>
              </a:rPr>
              <a:t>將全部的圖都取特徵點，再以特徵點為中心，畫一個</a:t>
            </a:r>
            <a:r>
              <a:rPr lang="en-US" altLang="zh-TW" dirty="0">
                <a:latin typeface="Cambria Math" panose="02040503050406030204" pitchFamily="18" charset="0"/>
                <a:ea typeface="微軟正黑體" panose="020B0604030504040204" pitchFamily="34" charset="-120"/>
                <a:cs typeface="Ebrima" panose="02000000000000000000" pitchFamily="2" charset="0"/>
              </a:rPr>
              <a:t>31</a:t>
            </a:r>
            <a:r>
              <a:rPr lang="zh-TW" altLang="en-US" dirty="0">
                <a:latin typeface="Cambria Math" panose="02040503050406030204" pitchFamily="18" charset="0"/>
                <a:ea typeface="微軟正黑體" panose="020B0604030504040204" pitchFamily="34" charset="-120"/>
                <a:cs typeface="Ebrima" panose="02000000000000000000" pitchFamily="2" charset="0"/>
              </a:rPr>
              <a:t>*</a:t>
            </a:r>
            <a:r>
              <a:rPr lang="en-US" altLang="zh-TW" dirty="0">
                <a:latin typeface="Cambria Math" panose="02040503050406030204" pitchFamily="18" charset="0"/>
                <a:ea typeface="微軟正黑體" panose="020B0604030504040204" pitchFamily="34" charset="-120"/>
                <a:cs typeface="Ebrima" panose="02000000000000000000" pitchFamily="2" charset="0"/>
              </a:rPr>
              <a:t>31</a:t>
            </a:r>
            <a:r>
              <a:rPr lang="zh-TW" altLang="en-US" dirty="0">
                <a:latin typeface="Cambria Math" panose="02040503050406030204" pitchFamily="18" charset="0"/>
                <a:ea typeface="微軟正黑體" panose="020B0604030504040204" pitchFamily="34" charset="-120"/>
              </a:rPr>
              <a:t>的</a:t>
            </a:r>
            <a:r>
              <a:rPr lang="en-US" altLang="zh-TW" dirty="0">
                <a:latin typeface="Cambria Math" panose="02040503050406030204" pitchFamily="18" charset="0"/>
                <a:ea typeface="微軟正黑體" panose="020B0604030504040204" pitchFamily="34" charset="-120"/>
                <a:cs typeface="Ebrima" panose="02000000000000000000" pitchFamily="2" charset="0"/>
              </a:rPr>
              <a:t>block</a:t>
            </a:r>
            <a:r>
              <a:rPr lang="zh-TW" altLang="en-US" dirty="0">
                <a:latin typeface="Cambria Math" panose="02040503050406030204" pitchFamily="18" charset="0"/>
                <a:ea typeface="微軟正黑體" panose="020B0604030504040204" pitchFamily="34" charset="-120"/>
              </a:rPr>
              <a:t>，</a:t>
            </a:r>
            <a:r>
              <a:rPr lang="en-US" altLang="zh-TW" dirty="0">
                <a:latin typeface="Cambria Math" panose="02040503050406030204" pitchFamily="18" charset="0"/>
                <a:ea typeface="微軟正黑體" panose="020B0604030504040204" pitchFamily="34" charset="-120"/>
                <a:cs typeface="Ebrima" panose="02000000000000000000" pitchFamily="2" charset="0"/>
              </a:rPr>
              <a:t>block</a:t>
            </a:r>
            <a:r>
              <a:rPr lang="zh-TW" altLang="en-US" dirty="0">
                <a:latin typeface="Cambria Math" panose="02040503050406030204" pitchFamily="18" charset="0"/>
                <a:ea typeface="微軟正黑體" panose="020B0604030504040204" pitchFamily="34" charset="-120"/>
              </a:rPr>
              <a:t>內部再畫出數個</a:t>
            </a:r>
            <a:r>
              <a:rPr lang="en-US" altLang="zh-TW" dirty="0">
                <a:latin typeface="Cambria Math" panose="02040503050406030204" pitchFamily="18" charset="0"/>
                <a:ea typeface="微軟正黑體" panose="020B0604030504040204" pitchFamily="34" charset="-120"/>
                <a:cs typeface="Ebrima" panose="02000000000000000000" pitchFamily="2" charset="0"/>
              </a:rPr>
              <a:t>5</a:t>
            </a:r>
            <a:r>
              <a:rPr lang="zh-TW" altLang="en-US" dirty="0">
                <a:latin typeface="Cambria Math" panose="02040503050406030204" pitchFamily="18" charset="0"/>
                <a:ea typeface="微軟正黑體" panose="020B0604030504040204" pitchFamily="34" charset="-120"/>
                <a:cs typeface="Ebrima" panose="02000000000000000000" pitchFamily="2" charset="0"/>
              </a:rPr>
              <a:t>*</a:t>
            </a:r>
            <a:r>
              <a:rPr lang="en-US" altLang="zh-TW" dirty="0">
                <a:latin typeface="Cambria Math" panose="02040503050406030204" pitchFamily="18" charset="0"/>
                <a:ea typeface="微軟正黑體" panose="020B0604030504040204" pitchFamily="34" charset="-120"/>
                <a:cs typeface="Ebrima" panose="02000000000000000000" pitchFamily="2" charset="0"/>
              </a:rPr>
              <a:t>5</a:t>
            </a:r>
            <a:r>
              <a:rPr lang="zh-TW" altLang="en-US" dirty="0">
                <a:latin typeface="Cambria Math" panose="02040503050406030204" pitchFamily="18" charset="0"/>
                <a:ea typeface="微軟正黑體" panose="020B0604030504040204" pitchFamily="34" charset="-120"/>
              </a:rPr>
              <a:t>的</a:t>
            </a:r>
            <a:r>
              <a:rPr lang="en-US" altLang="zh-TW" dirty="0">
                <a:latin typeface="Cambria Math" panose="02040503050406030204" pitchFamily="18" charset="0"/>
                <a:ea typeface="微軟正黑體" panose="020B0604030504040204" pitchFamily="34" charset="-120"/>
                <a:cs typeface="Ebrima" panose="02000000000000000000" pitchFamily="2" charset="0"/>
              </a:rPr>
              <a:t>sub-block</a:t>
            </a:r>
            <a:r>
              <a:rPr lang="zh-TW" altLang="en-US" dirty="0">
                <a:latin typeface="Cambria Math" panose="02040503050406030204" pitchFamily="18" charset="0"/>
                <a:ea typeface="微軟正黑體" panose="020B0604030504040204" pitchFamily="34" charset="-120"/>
              </a:rPr>
              <a:t>，接著兩兩配對。</a:t>
            </a:r>
            <a:endParaRPr lang="en-US" altLang="zh-TW" dirty="0">
              <a:latin typeface="Cambria Math" panose="02040503050406030204" pitchFamily="18" charset="0"/>
              <a:ea typeface="微軟正黑體" panose="020B0604030504040204" pitchFamily="34" charset="-120"/>
            </a:endParaRPr>
          </a:p>
          <a:p>
            <a:pPr marL="457200" indent="-457200">
              <a:buFont typeface="Arial" panose="020B0604020202020204" pitchFamily="34" charset="0"/>
              <a:buChar char="•"/>
            </a:pPr>
            <a:r>
              <a:rPr lang="zh-TW" altLang="en-US" dirty="0">
                <a:latin typeface="Cambria Math" panose="02040503050406030204" pitchFamily="18" charset="0"/>
                <a:ea typeface="微軟正黑體" panose="020B0604030504040204" pitchFamily="34" charset="-120"/>
              </a:rPr>
              <a:t>計算這些數對</a:t>
            </a:r>
            <a:r>
              <a:rPr lang="en-US" altLang="zh-TW" dirty="0">
                <a:latin typeface="Cambria Math" panose="02040503050406030204" pitchFamily="18" charset="0"/>
                <a:ea typeface="微軟正黑體" panose="020B0604030504040204" pitchFamily="34" charset="-120"/>
              </a:rPr>
              <a:t>bit</a:t>
            </a:r>
            <a:r>
              <a:rPr lang="zh-TW" altLang="en-US" dirty="0">
                <a:latin typeface="Cambria Math" panose="02040503050406030204" pitchFamily="18" charset="0"/>
                <a:ea typeface="微軟正黑體" panose="020B0604030504040204" pitchFamily="34" charset="-120"/>
              </a:rPr>
              <a:t>的平均，並且計算和</a:t>
            </a:r>
            <a:r>
              <a:rPr lang="en-US" altLang="zh-TW" dirty="0">
                <a:latin typeface="Cambria Math" panose="02040503050406030204" pitchFamily="18" charset="0"/>
                <a:ea typeface="微軟正黑體" panose="020B0604030504040204" pitchFamily="34" charset="-120"/>
                <a:cs typeface="Ebrima" panose="02000000000000000000" pitchFamily="2" charset="0"/>
              </a:rPr>
              <a:t>0.5</a:t>
            </a:r>
            <a:r>
              <a:rPr lang="zh-TW" altLang="en-US" dirty="0">
                <a:latin typeface="Cambria Math" panose="02040503050406030204" pitchFamily="18" charset="0"/>
                <a:ea typeface="微軟正黑體" panose="020B0604030504040204" pitchFamily="34" charset="-120"/>
              </a:rPr>
              <a:t>的距離，接著做排序，將每個元素構成一個向量</a:t>
            </a:r>
            <a:r>
              <a:rPr lang="en-US" altLang="zh-TW" dirty="0">
                <a:latin typeface="Cambria Math" panose="02040503050406030204" pitchFamily="18" charset="0"/>
                <a:ea typeface="微軟正黑體" panose="020B0604030504040204" pitchFamily="34" charset="-120"/>
                <a:cs typeface="Ebrima" panose="02000000000000000000" pitchFamily="2" charset="0"/>
              </a:rPr>
              <a:t>T</a:t>
            </a:r>
            <a:r>
              <a:rPr lang="zh-TW" altLang="en-US" dirty="0">
                <a:latin typeface="Cambria Math" panose="02040503050406030204" pitchFamily="18" charset="0"/>
                <a:ea typeface="微軟正黑體" panose="020B0604030504040204" pitchFamily="34" charset="-120"/>
              </a:rPr>
              <a:t>。</a:t>
            </a:r>
            <a:endParaRPr lang="en-US" altLang="zh-TW" dirty="0">
              <a:latin typeface="Cambria Math" panose="02040503050406030204" pitchFamily="18" charset="0"/>
              <a:ea typeface="微軟正黑體" panose="020B0604030504040204" pitchFamily="34" charset="-120"/>
            </a:endParaRPr>
          </a:p>
          <a:p>
            <a:pPr marL="457200" indent="-457200">
              <a:buFont typeface="Arial" panose="020B0604020202020204" pitchFamily="34" charset="0"/>
              <a:buChar char="•"/>
            </a:pPr>
            <a:r>
              <a:rPr lang="en-US" altLang="zh-TW" dirty="0">
                <a:latin typeface="Cambria Math" panose="02040503050406030204" pitchFamily="18" charset="0"/>
                <a:ea typeface="微軟正黑體" panose="020B0604030504040204" pitchFamily="34" charset="-120"/>
                <a:cs typeface="Ebrima" panose="02000000000000000000" pitchFamily="2" charset="0"/>
              </a:rPr>
              <a:t>Greedy search</a:t>
            </a:r>
          </a:p>
          <a:p>
            <a:pPr marL="1200150" lvl="1" indent="-514350">
              <a:buFont typeface="+mj-lt"/>
              <a:buAutoNum type="arabicPeriod"/>
            </a:pPr>
            <a:r>
              <a:rPr lang="zh-TW" altLang="en-US" sz="2800" dirty="0">
                <a:latin typeface="Cambria Math" panose="02040503050406030204" pitchFamily="18" charset="0"/>
                <a:ea typeface="微軟正黑體" panose="020B0604030504040204" pitchFamily="34" charset="-120"/>
              </a:rPr>
              <a:t>將第一個元素加入</a:t>
            </a:r>
            <a:r>
              <a:rPr lang="en-US" altLang="zh-TW" sz="2800" dirty="0">
                <a:highlight>
                  <a:scrgbClr r="0" g="0" b="0">
                    <a:alpha val="0"/>
                  </a:scrgbClr>
                </a:highlight>
                <a:latin typeface="Cambria Math" panose="02040503050406030204" pitchFamily="18" charset="0"/>
                <a:ea typeface="微軟正黑體" panose="020B0604030504040204" pitchFamily="34" charset="-120"/>
                <a:cs typeface="Ebrima" panose="02000000000000000000" pitchFamily="2" charset="0"/>
              </a:rPr>
              <a:t>R</a:t>
            </a:r>
            <a:r>
              <a:rPr lang="zh-TW" altLang="en-US" sz="2800" dirty="0">
                <a:latin typeface="Cambria Math" panose="02040503050406030204" pitchFamily="18" charset="0"/>
                <a:ea typeface="微軟正黑體" panose="020B0604030504040204" pitchFamily="34" charset="-120"/>
              </a:rPr>
              <a:t>，並從</a:t>
            </a:r>
            <a:r>
              <a:rPr lang="en-US" altLang="zh-TW" sz="2800" dirty="0">
                <a:highlight>
                  <a:scrgbClr r="0" g="0" b="0">
                    <a:alpha val="0"/>
                  </a:scrgbClr>
                </a:highlight>
                <a:latin typeface="Cambria Math" panose="02040503050406030204" pitchFamily="18" charset="0"/>
                <a:ea typeface="微軟正黑體" panose="020B0604030504040204" pitchFamily="34" charset="-120"/>
                <a:cs typeface="Ebrima" panose="02000000000000000000" pitchFamily="2" charset="0"/>
              </a:rPr>
              <a:t>T</a:t>
            </a:r>
            <a:r>
              <a:rPr lang="zh-TW" altLang="en-US" sz="2800" dirty="0">
                <a:latin typeface="Cambria Math" panose="02040503050406030204" pitchFamily="18" charset="0"/>
                <a:ea typeface="微軟正黑體" panose="020B0604030504040204" pitchFamily="34" charset="-120"/>
              </a:rPr>
              <a:t>中移除。</a:t>
            </a:r>
            <a:endParaRPr lang="en-US" altLang="zh-TW" sz="2800" dirty="0">
              <a:latin typeface="Cambria Math" panose="02040503050406030204" pitchFamily="18" charset="0"/>
              <a:ea typeface="微軟正黑體" panose="020B0604030504040204" pitchFamily="34" charset="-120"/>
            </a:endParaRPr>
          </a:p>
          <a:p>
            <a:pPr marL="1200150" lvl="1" indent="-514350">
              <a:buFont typeface="+mj-lt"/>
              <a:buAutoNum type="arabicPeriod"/>
            </a:pPr>
            <a:r>
              <a:rPr lang="zh-TW" altLang="en-US" sz="2800" dirty="0">
                <a:latin typeface="Cambria Math" panose="02040503050406030204" pitchFamily="18" charset="0"/>
                <a:ea typeface="微軟正黑體" panose="020B0604030504040204" pitchFamily="34" charset="-120"/>
              </a:rPr>
              <a:t>將下一個元素和在</a:t>
            </a:r>
            <a:r>
              <a:rPr lang="en-US" altLang="zh-TW" sz="2800" dirty="0">
                <a:highlight>
                  <a:scrgbClr r="0" g="0" b="0">
                    <a:alpha val="0"/>
                  </a:scrgbClr>
                </a:highlight>
                <a:latin typeface="Cambria Math" panose="02040503050406030204" pitchFamily="18" charset="0"/>
                <a:ea typeface="微軟正黑體" panose="020B0604030504040204" pitchFamily="34" charset="-120"/>
                <a:cs typeface="Ebrima" panose="02000000000000000000" pitchFamily="2" charset="0"/>
              </a:rPr>
              <a:t>R</a:t>
            </a:r>
            <a:r>
              <a:rPr lang="zh-TW" altLang="en-US" sz="2800" dirty="0">
                <a:latin typeface="Cambria Math" panose="02040503050406030204" pitchFamily="18" charset="0"/>
                <a:ea typeface="微軟正黑體" panose="020B0604030504040204" pitchFamily="34" charset="-120"/>
              </a:rPr>
              <a:t>中的元素做關聯性比較，若大於</a:t>
            </a:r>
            <a:r>
              <a:rPr lang="en-US" altLang="zh-TW" sz="2800" dirty="0">
                <a:highlight>
                  <a:scrgbClr r="0" g="0" b="0">
                    <a:alpha val="0"/>
                  </a:scrgbClr>
                </a:highlight>
                <a:latin typeface="Cambria Math" panose="02040503050406030204" pitchFamily="18" charset="0"/>
                <a:ea typeface="微軟正黑體" panose="020B0604030504040204" pitchFamily="34" charset="-120"/>
                <a:cs typeface="Ebrima" panose="02000000000000000000" pitchFamily="2" charset="0"/>
              </a:rPr>
              <a:t>threshold</a:t>
            </a:r>
            <a:r>
              <a:rPr lang="zh-TW" altLang="en-US" sz="2800" dirty="0">
                <a:latin typeface="Cambria Math" panose="02040503050406030204" pitchFamily="18" charset="0"/>
                <a:ea typeface="微軟正黑體" panose="020B0604030504040204" pitchFamily="34" charset="-120"/>
              </a:rPr>
              <a:t>則捨棄，反之加入</a:t>
            </a:r>
            <a:r>
              <a:rPr lang="en-US" altLang="zh-TW" sz="2800" dirty="0">
                <a:latin typeface="Cambria Math" panose="02040503050406030204" pitchFamily="18" charset="0"/>
                <a:ea typeface="微軟正黑體" panose="020B0604030504040204" pitchFamily="34" charset="-120"/>
              </a:rPr>
              <a:t>R</a:t>
            </a:r>
            <a:r>
              <a:rPr lang="zh-TW" altLang="en-US" sz="2800" dirty="0">
                <a:latin typeface="Cambria Math" panose="02040503050406030204" pitchFamily="18" charset="0"/>
                <a:ea typeface="微軟正黑體" panose="020B0604030504040204" pitchFamily="34" charset="-120"/>
              </a:rPr>
              <a:t>中。</a:t>
            </a:r>
            <a:endParaRPr lang="en-US" altLang="zh-TW" sz="2800" dirty="0">
              <a:latin typeface="Cambria Math" panose="02040503050406030204" pitchFamily="18" charset="0"/>
              <a:ea typeface="微軟正黑體" panose="020B0604030504040204" pitchFamily="34" charset="-120"/>
            </a:endParaRPr>
          </a:p>
          <a:p>
            <a:pPr marL="1200150" lvl="1" indent="-514350">
              <a:buFont typeface="+mj-lt"/>
              <a:buAutoNum type="arabicPeriod"/>
            </a:pPr>
            <a:r>
              <a:rPr lang="zh-TW" altLang="en-US" sz="2800" dirty="0">
                <a:latin typeface="Cambria Math" panose="02040503050406030204" pitchFamily="18" charset="0"/>
                <a:ea typeface="微軟正黑體" panose="020B0604030504040204" pitchFamily="34" charset="-120"/>
              </a:rPr>
              <a:t>一直重複直到找到</a:t>
            </a:r>
            <a:r>
              <a:rPr lang="en-US" altLang="zh-TW" sz="2800" dirty="0">
                <a:highlight>
                  <a:scrgbClr r="0" g="0" b="0">
                    <a:alpha val="0"/>
                  </a:scrgbClr>
                </a:highlight>
                <a:latin typeface="Cambria Math" panose="02040503050406030204" pitchFamily="18" charset="0"/>
                <a:ea typeface="微軟正黑體" panose="020B0604030504040204" pitchFamily="34" charset="-120"/>
                <a:cs typeface="Ebrima" panose="02000000000000000000" pitchFamily="2" charset="0"/>
              </a:rPr>
              <a:t>256</a:t>
            </a:r>
            <a:r>
              <a:rPr lang="zh-TW" altLang="en-US" sz="2800" dirty="0">
                <a:latin typeface="Cambria Math" panose="02040503050406030204" pitchFamily="18" charset="0"/>
                <a:ea typeface="微軟正黑體" panose="020B0604030504040204" pitchFamily="34" charset="-120"/>
              </a:rPr>
              <a:t>對為止；若全部找完還是沒有則重新設定</a:t>
            </a:r>
            <a:r>
              <a:rPr lang="en-US" altLang="zh-TW" sz="2800" dirty="0">
                <a:highlight>
                  <a:scrgbClr r="0" g="0" b="0">
                    <a:alpha val="0"/>
                  </a:scrgbClr>
                </a:highlight>
                <a:latin typeface="Cambria Math" panose="02040503050406030204" pitchFamily="18" charset="0"/>
                <a:ea typeface="微軟正黑體" panose="020B0604030504040204" pitchFamily="34" charset="-120"/>
                <a:cs typeface="Ebrima" panose="02000000000000000000" pitchFamily="2" charset="0"/>
              </a:rPr>
              <a:t>threshold</a:t>
            </a:r>
            <a:r>
              <a:rPr lang="zh-TW" altLang="en-US" sz="2800" dirty="0">
                <a:latin typeface="Cambria Math" panose="02040503050406030204" pitchFamily="18" charset="0"/>
                <a:ea typeface="微軟正黑體" panose="020B0604030504040204" pitchFamily="34" charset="-120"/>
              </a:rPr>
              <a:t>。</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9</a:t>
            </a:fld>
            <a:endParaRPr lang="zh-TW" altLang="en-US" dirty="0"/>
          </a:p>
        </p:txBody>
      </p:sp>
    </p:spTree>
    <p:extLst>
      <p:ext uri="{BB962C8B-B14F-4D97-AF65-F5344CB8AC3E}">
        <p14:creationId xmlns:p14="http://schemas.microsoft.com/office/powerpoint/2010/main" val="48408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解決</a:t>
            </a:r>
            <a:r>
              <a:rPr lang="en-US" altLang="zh-TW" dirty="0">
                <a:latin typeface="Ebrima" panose="02000000000000000000" pitchFamily="2" charset="0"/>
                <a:ea typeface="Ebrima" panose="02000000000000000000" pitchFamily="2" charset="0"/>
                <a:cs typeface="Ebrima" panose="02000000000000000000" pitchFamily="2" charset="0"/>
              </a:rPr>
              <a:t>bit</a:t>
            </a:r>
            <a:r>
              <a:rPr lang="zh-TW" altLang="en-US" dirty="0"/>
              <a:t>間區別性下降問題</a:t>
            </a:r>
            <a:r>
              <a:rPr lang="en-US" altLang="zh-TW" dirty="0">
                <a:latin typeface="Ebrima" panose="02000000000000000000" pitchFamily="2" charset="0"/>
                <a:ea typeface="Ebrima" panose="02000000000000000000" pitchFamily="2" charset="0"/>
                <a:cs typeface="Ebrima" panose="02000000000000000000" pitchFamily="2" charset="0"/>
              </a:rPr>
              <a:t>(3/4)</a:t>
            </a:r>
            <a:endParaRPr lang="zh-TW" altLang="en-US" dirty="0"/>
          </a:p>
        </p:txBody>
      </p:sp>
      <p:sp>
        <p:nvSpPr>
          <p:cNvPr id="3" name="內容版面配置區 2"/>
          <p:cNvSpPr>
            <a:spLocks noGrp="1"/>
          </p:cNvSpPr>
          <p:nvPr>
            <p:ph idx="1"/>
          </p:nvPr>
        </p:nvSpPr>
        <p:spPr/>
        <p:txBody>
          <a:bodyPr/>
          <a:lstStyle/>
          <a:p>
            <a:pPr marL="457200" indent="-457200">
              <a:buFont typeface="Arial" panose="020B0604020202020204" pitchFamily="34" charset="0"/>
              <a:buChar char="•"/>
            </a:pPr>
            <a:endParaRPr lang="zh-TW" altLang="en-US" sz="2800" dirty="0">
              <a:latin typeface="Cambria Math" panose="02040503050406030204" pitchFamily="18" charset="0"/>
              <a:ea typeface="微軟正黑體" panose="020B0604030504040204" pitchFamily="34" charset="-12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10</a:t>
            </a:fld>
            <a:endParaRPr lang="zh-TW" altLang="en-US"/>
          </a:p>
        </p:txBody>
      </p:sp>
      <p:sp>
        <p:nvSpPr>
          <p:cNvPr id="7" name="矩形 6"/>
          <p:cNvSpPr/>
          <p:nvPr/>
        </p:nvSpPr>
        <p:spPr>
          <a:xfrm>
            <a:off x="2445474" y="1769043"/>
            <a:ext cx="5188689" cy="5188689"/>
          </a:xfrm>
          <a:prstGeom prst="rect">
            <a:avLst/>
          </a:prstGeom>
          <a:no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橢圓 7"/>
          <p:cNvSpPr/>
          <p:nvPr/>
        </p:nvSpPr>
        <p:spPr>
          <a:xfrm>
            <a:off x="4851628" y="4175197"/>
            <a:ext cx="376379" cy="37637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p:cNvSpPr/>
          <p:nvPr/>
        </p:nvSpPr>
        <p:spPr>
          <a:xfrm>
            <a:off x="2704011" y="1907177"/>
            <a:ext cx="1724297" cy="172429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p:cNvSpPr/>
          <p:nvPr/>
        </p:nvSpPr>
        <p:spPr>
          <a:xfrm>
            <a:off x="5717177" y="5047350"/>
            <a:ext cx="1724297" cy="172429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2" name="直線接點 11"/>
          <p:cNvCxnSpPr/>
          <p:nvPr/>
        </p:nvCxnSpPr>
        <p:spPr>
          <a:xfrm>
            <a:off x="3566159" y="2769325"/>
            <a:ext cx="3013166" cy="314017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3022142" y="4706047"/>
            <a:ext cx="1724297" cy="1724297"/>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15"/>
          <p:cNvSpPr/>
          <p:nvPr/>
        </p:nvSpPr>
        <p:spPr>
          <a:xfrm>
            <a:off x="5530687" y="2704887"/>
            <a:ext cx="1724297" cy="1724297"/>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8" name="直線接點 17"/>
          <p:cNvCxnSpPr/>
          <p:nvPr/>
        </p:nvCxnSpPr>
        <p:spPr>
          <a:xfrm flipH="1">
            <a:off x="3884290" y="3567035"/>
            <a:ext cx="2508545" cy="21675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234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解決</a:t>
            </a:r>
            <a:r>
              <a:rPr lang="en-US" altLang="zh-TW" dirty="0">
                <a:latin typeface="Ebrima" panose="02000000000000000000" pitchFamily="2" charset="0"/>
                <a:ea typeface="Ebrima" panose="02000000000000000000" pitchFamily="2" charset="0"/>
                <a:cs typeface="Ebrima" panose="02000000000000000000" pitchFamily="2" charset="0"/>
              </a:rPr>
              <a:t>bit</a:t>
            </a:r>
            <a:r>
              <a:rPr lang="zh-TW" altLang="en-US" dirty="0"/>
              <a:t>間區別性下降問題</a:t>
            </a:r>
            <a:r>
              <a:rPr lang="en-US" altLang="zh-TW" dirty="0">
                <a:latin typeface="Ebrima" panose="02000000000000000000" pitchFamily="2" charset="0"/>
                <a:ea typeface="Ebrima" panose="02000000000000000000" pitchFamily="2" charset="0"/>
                <a:cs typeface="Ebrima" panose="02000000000000000000" pitchFamily="2" charset="0"/>
              </a:rPr>
              <a:t>(4/4)</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endParaRPr lang="en-US" altLang="zh-TW" sz="2800" i="1" dirty="0">
                  <a:latin typeface="Cambria Math" panose="02040503050406030204" pitchFamily="18" charset="0"/>
                  <a:ea typeface="微軟正黑體" panose="020B0604030504040204" pitchFamily="34" charset="-120"/>
                </a:endParaRPr>
              </a:p>
              <a:p>
                <a:endParaRPr lang="en-US" altLang="zh-TW" sz="2800" i="1" dirty="0">
                  <a:latin typeface="Cambria Math" panose="02040503050406030204" pitchFamily="18" charset="0"/>
                  <a:ea typeface="微軟正黑體" panose="020B0604030504040204" pitchFamily="34" charset="-120"/>
                </a:endParaRPr>
              </a:p>
              <a:p>
                <a:pPr/>
                <a14:m>
                  <m:oMathPara xmlns:m="http://schemas.openxmlformats.org/officeDocument/2006/math">
                    <m:oMathParaPr>
                      <m:jc m:val="centerGroup"/>
                    </m:oMathParaPr>
                    <m:oMath xmlns:m="http://schemas.openxmlformats.org/officeDocument/2006/math">
                      <m:d>
                        <m:dPr>
                          <m:begChr m:val="["/>
                          <m:endChr m:val="]"/>
                          <m:ctrlPr>
                            <a:rPr lang="en-US" altLang="zh-TW" sz="5400" i="1" smtClean="0">
                              <a:latin typeface="Cambria Math" panose="02040503050406030204" pitchFamily="18" charset="0"/>
                              <a:ea typeface="微軟正黑體" panose="020B0604030504040204" pitchFamily="34" charset="-120"/>
                            </a:rPr>
                          </m:ctrlPr>
                        </m:dPr>
                        <m:e>
                          <m:eqArr>
                            <m:eqArrPr>
                              <m:ctrlPr>
                                <a:rPr lang="en-US" altLang="zh-TW" sz="5400" i="1" smtClean="0">
                                  <a:latin typeface="Cambria Math" panose="02040503050406030204" pitchFamily="18" charset="0"/>
                                  <a:ea typeface="微軟正黑體" panose="020B0604030504040204" pitchFamily="34" charset="-120"/>
                                </a:rPr>
                              </m:ctrlPr>
                            </m:eqArrPr>
                            <m:e>
                              <m:m>
                                <m:mPr>
                                  <m:mcs>
                                    <m:mc>
                                      <m:mcPr>
                                        <m:count m:val="2"/>
                                        <m:mcJc m:val="center"/>
                                      </m:mcPr>
                                    </m:mc>
                                  </m:mcs>
                                  <m:ctrlPr>
                                    <a:rPr lang="en-US" altLang="zh-TW" sz="5400" i="1" smtClean="0">
                                      <a:latin typeface="Cambria Math" panose="02040503050406030204" pitchFamily="18" charset="0"/>
                                      <a:ea typeface="微軟正黑體" panose="020B0604030504040204" pitchFamily="34" charset="-120"/>
                                    </a:rPr>
                                  </m:ctrlPr>
                                </m:mPr>
                                <m:mr>
                                  <m:e>
                                    <m:r>
                                      <m:rPr>
                                        <m:brk m:alnAt="7"/>
                                      </m:rPr>
                                      <a:rPr lang="en-US" altLang="zh-TW" sz="5400" b="0" i="1" smtClean="0">
                                        <a:latin typeface="Cambria Math" panose="02040503050406030204" pitchFamily="18" charset="0"/>
                                        <a:ea typeface="微軟正黑體" panose="020B0604030504040204" pitchFamily="34" charset="-120"/>
                                      </a:rPr>
                                      <m:t>1</m:t>
                                    </m:r>
                                  </m:e>
                                  <m:e>
                                    <m:r>
                                      <a:rPr lang="en-US" altLang="zh-TW" sz="5400" b="0" i="1" smtClean="0">
                                        <a:latin typeface="Cambria Math" panose="02040503050406030204" pitchFamily="18" charset="0"/>
                                        <a:ea typeface="微軟正黑體" panose="020B0604030504040204" pitchFamily="34" charset="-120"/>
                                      </a:rPr>
                                      <m:t>0</m:t>
                                    </m:r>
                                  </m:e>
                                </m:mr>
                                <m:mr>
                                  <m:e>
                                    <m:r>
                                      <a:rPr lang="en-US" altLang="zh-TW" sz="5400" b="0" i="1" smtClean="0">
                                        <a:latin typeface="Cambria Math" panose="02040503050406030204" pitchFamily="18" charset="0"/>
                                        <a:ea typeface="微軟正黑體" panose="020B0604030504040204" pitchFamily="34" charset="-120"/>
                                      </a:rPr>
                                      <m:t>1</m:t>
                                    </m:r>
                                  </m:e>
                                  <m:e>
                                    <m:r>
                                      <a:rPr lang="en-US" altLang="zh-TW" sz="5400" b="0" i="1" smtClean="0">
                                        <a:latin typeface="Cambria Math" panose="02040503050406030204" pitchFamily="18" charset="0"/>
                                        <a:ea typeface="微軟正黑體" panose="020B0604030504040204" pitchFamily="34" charset="-120"/>
                                      </a:rPr>
                                      <m:t>1</m:t>
                                    </m:r>
                                  </m:e>
                                </m:mr>
                              </m:m>
                              <m:r>
                                <a:rPr lang="en-US" altLang="zh-TW" sz="5400" i="1" smtClean="0">
                                  <a:latin typeface="Cambria Math" panose="02040503050406030204" pitchFamily="18" charset="0"/>
                                  <a:ea typeface="微軟正黑體" panose="020B0604030504040204" pitchFamily="34" charset="-120"/>
                                </a:rPr>
                                <m:t>⋯</m:t>
                              </m:r>
                              <m:m>
                                <m:mPr>
                                  <m:mcs>
                                    <m:mc>
                                      <m:mcPr>
                                        <m:count m:val="2"/>
                                        <m:mcJc m:val="center"/>
                                      </m:mcPr>
                                    </m:mc>
                                  </m:mcs>
                                  <m:ctrlPr>
                                    <a:rPr lang="en-US" altLang="zh-TW" sz="5400" i="1" smtClean="0">
                                      <a:latin typeface="Cambria Math" panose="02040503050406030204" pitchFamily="18" charset="0"/>
                                      <a:ea typeface="微軟正黑體" panose="020B0604030504040204" pitchFamily="34" charset="-120"/>
                                    </a:rPr>
                                  </m:ctrlPr>
                                </m:mPr>
                                <m:mr>
                                  <m:e>
                                    <m:r>
                                      <m:rPr>
                                        <m:brk m:alnAt="7"/>
                                      </m:rPr>
                                      <a:rPr lang="en-US" altLang="zh-TW" sz="5400" b="0" i="1" smtClean="0">
                                        <a:latin typeface="Cambria Math" panose="02040503050406030204" pitchFamily="18" charset="0"/>
                                        <a:ea typeface="微軟正黑體" panose="020B0604030504040204" pitchFamily="34" charset="-120"/>
                                      </a:rPr>
                                      <m:t>1</m:t>
                                    </m:r>
                                  </m:e>
                                  <m:e>
                                    <m:r>
                                      <a:rPr lang="en-US" altLang="zh-TW" sz="5400" b="0" i="1" smtClean="0">
                                        <a:latin typeface="Cambria Math" panose="02040503050406030204" pitchFamily="18" charset="0"/>
                                        <a:ea typeface="微軟正黑體" panose="020B0604030504040204" pitchFamily="34" charset="-120"/>
                                      </a:rPr>
                                      <m:t>1</m:t>
                                    </m:r>
                                  </m:e>
                                </m:mr>
                                <m:mr>
                                  <m:e>
                                    <m:r>
                                      <a:rPr lang="en-US" altLang="zh-TW" sz="5400" b="0" i="1" smtClean="0">
                                        <a:latin typeface="Cambria Math" panose="02040503050406030204" pitchFamily="18" charset="0"/>
                                        <a:ea typeface="微軟正黑體" panose="020B0604030504040204" pitchFamily="34" charset="-120"/>
                                      </a:rPr>
                                      <m:t>0</m:t>
                                    </m:r>
                                  </m:e>
                                  <m:e>
                                    <m:r>
                                      <a:rPr lang="en-US" altLang="zh-TW" sz="5400" b="0" i="1" smtClean="0">
                                        <a:latin typeface="Cambria Math" panose="02040503050406030204" pitchFamily="18" charset="0"/>
                                        <a:ea typeface="微軟正黑體" panose="020B0604030504040204" pitchFamily="34" charset="-120"/>
                                      </a:rPr>
                                      <m:t>0</m:t>
                                    </m:r>
                                  </m:e>
                                </m:mr>
                              </m:m>
                            </m:e>
                            <m:e>
                              <m:r>
                                <a:rPr lang="en-US" altLang="zh-TW" sz="5400" i="1" smtClean="0">
                                  <a:latin typeface="Cambria Math" panose="02040503050406030204" pitchFamily="18" charset="0"/>
                                  <a:ea typeface="微軟正黑體" panose="020B0604030504040204" pitchFamily="34" charset="-120"/>
                                </a:rPr>
                                <m:t>⋮</m:t>
                              </m:r>
                            </m:e>
                            <m:e>
                              <m:m>
                                <m:mPr>
                                  <m:mcs>
                                    <m:mc>
                                      <m:mcPr>
                                        <m:count m:val="2"/>
                                        <m:mcJc m:val="center"/>
                                      </m:mcPr>
                                    </m:mc>
                                  </m:mcs>
                                  <m:ctrlPr>
                                    <a:rPr lang="en-US" altLang="zh-TW" sz="5400" i="1" smtClean="0">
                                      <a:latin typeface="Cambria Math" panose="02040503050406030204" pitchFamily="18" charset="0"/>
                                      <a:ea typeface="微軟正黑體" panose="020B0604030504040204" pitchFamily="34" charset="-120"/>
                                    </a:rPr>
                                  </m:ctrlPr>
                                </m:mPr>
                                <m:mr>
                                  <m:e>
                                    <m:r>
                                      <m:rPr>
                                        <m:brk m:alnAt="7"/>
                                      </m:rPr>
                                      <a:rPr lang="en-US" altLang="zh-TW" sz="5400" b="0" i="1" smtClean="0">
                                        <a:latin typeface="Cambria Math" panose="02040503050406030204" pitchFamily="18" charset="0"/>
                                        <a:ea typeface="微軟正黑體" panose="020B0604030504040204" pitchFamily="34" charset="-120"/>
                                      </a:rPr>
                                      <m:t>0</m:t>
                                    </m:r>
                                  </m:e>
                                  <m:e>
                                    <m:r>
                                      <a:rPr lang="en-US" altLang="zh-TW" sz="5400" b="0" i="1" smtClean="0">
                                        <a:latin typeface="Cambria Math" panose="02040503050406030204" pitchFamily="18" charset="0"/>
                                        <a:ea typeface="微軟正黑體" panose="020B0604030504040204" pitchFamily="34" charset="-120"/>
                                      </a:rPr>
                                      <m:t>1</m:t>
                                    </m:r>
                                  </m:e>
                                </m:mr>
                                <m:mr>
                                  <m:e>
                                    <m:r>
                                      <a:rPr lang="en-US" altLang="zh-TW" sz="5400" b="0" i="1" smtClean="0">
                                        <a:latin typeface="Cambria Math" panose="02040503050406030204" pitchFamily="18" charset="0"/>
                                        <a:ea typeface="微軟正黑體" panose="020B0604030504040204" pitchFamily="34" charset="-120"/>
                                      </a:rPr>
                                      <m:t>1</m:t>
                                    </m:r>
                                  </m:e>
                                  <m:e>
                                    <m:r>
                                      <a:rPr lang="en-US" altLang="zh-TW" sz="5400" b="0" i="1" smtClean="0">
                                        <a:latin typeface="Cambria Math" panose="02040503050406030204" pitchFamily="18" charset="0"/>
                                        <a:ea typeface="微軟正黑體" panose="020B0604030504040204" pitchFamily="34" charset="-120"/>
                                      </a:rPr>
                                      <m:t>0</m:t>
                                    </m:r>
                                  </m:e>
                                </m:mr>
                              </m:m>
                              <m:r>
                                <a:rPr lang="en-US" altLang="zh-TW" sz="5400" i="1" smtClean="0">
                                  <a:latin typeface="Cambria Math" panose="02040503050406030204" pitchFamily="18" charset="0"/>
                                  <a:ea typeface="微軟正黑體" panose="020B0604030504040204" pitchFamily="34" charset="-120"/>
                                </a:rPr>
                                <m:t>…</m:t>
                              </m:r>
                              <m:m>
                                <m:mPr>
                                  <m:mcs>
                                    <m:mc>
                                      <m:mcPr>
                                        <m:count m:val="2"/>
                                        <m:mcJc m:val="center"/>
                                      </m:mcPr>
                                    </m:mc>
                                  </m:mcs>
                                  <m:ctrlPr>
                                    <a:rPr lang="en-US" altLang="zh-TW" sz="5400" i="1" smtClean="0">
                                      <a:latin typeface="Cambria Math" panose="02040503050406030204" pitchFamily="18" charset="0"/>
                                      <a:ea typeface="微軟正黑體" panose="020B0604030504040204" pitchFamily="34" charset="-120"/>
                                    </a:rPr>
                                  </m:ctrlPr>
                                </m:mPr>
                                <m:mr>
                                  <m:e>
                                    <m:r>
                                      <m:rPr>
                                        <m:brk m:alnAt="7"/>
                                      </m:rPr>
                                      <a:rPr lang="en-US" altLang="zh-TW" sz="5400" b="0" i="1" smtClean="0">
                                        <a:latin typeface="Cambria Math" panose="02040503050406030204" pitchFamily="18" charset="0"/>
                                        <a:ea typeface="微軟正黑體" panose="020B0604030504040204" pitchFamily="34" charset="-120"/>
                                      </a:rPr>
                                      <m:t>0</m:t>
                                    </m:r>
                                  </m:e>
                                  <m:e>
                                    <m:r>
                                      <a:rPr lang="en-US" altLang="zh-TW" sz="5400" b="0" i="1" smtClean="0">
                                        <a:latin typeface="Cambria Math" panose="02040503050406030204" pitchFamily="18" charset="0"/>
                                        <a:ea typeface="微軟正黑體" panose="020B0604030504040204" pitchFamily="34" charset="-120"/>
                                      </a:rPr>
                                      <m:t>1</m:t>
                                    </m:r>
                                  </m:e>
                                </m:mr>
                                <m:mr>
                                  <m:e>
                                    <m:r>
                                      <a:rPr lang="en-US" altLang="zh-TW" sz="5400" b="0" i="1" smtClean="0">
                                        <a:latin typeface="Cambria Math" panose="02040503050406030204" pitchFamily="18" charset="0"/>
                                        <a:ea typeface="微軟正黑體" panose="020B0604030504040204" pitchFamily="34" charset="-120"/>
                                      </a:rPr>
                                      <m:t>0</m:t>
                                    </m:r>
                                  </m:e>
                                  <m:e>
                                    <m:r>
                                      <a:rPr lang="en-US" altLang="zh-TW" sz="5400" b="0" i="1" smtClean="0">
                                        <a:latin typeface="Cambria Math" panose="02040503050406030204" pitchFamily="18" charset="0"/>
                                        <a:ea typeface="微軟正黑體" panose="020B0604030504040204" pitchFamily="34" charset="-120"/>
                                      </a:rPr>
                                      <m:t>1</m:t>
                                    </m:r>
                                  </m:e>
                                </m:mr>
                              </m:m>
                            </m:e>
                          </m:eqArr>
                        </m:e>
                      </m:d>
                    </m:oMath>
                  </m:oMathPara>
                </a14:m>
                <a:endParaRPr lang="zh-TW" altLang="en-US" sz="5400" dirty="0">
                  <a:latin typeface="Cambria Math" panose="02040503050406030204" pitchFamily="18" charset="0"/>
                  <a:ea typeface="微軟正黑體" panose="020B0604030504040204" pitchFamily="34" charset="-12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a:blip r:embed="rId3"/>
                <a:stretch>
                  <a:fillRect t="-139" b="-30459"/>
                </a:stretch>
              </a:blipFill>
            </p:spPr>
            <p:txBody>
              <a:bodyPr/>
              <a:lstStyle/>
              <a:p>
                <a:r>
                  <a:rPr lang="zh-TW" altLang="en-US">
                    <a:noFill/>
                  </a:rPr>
                  <a:t> </a:t>
                </a:r>
              </a:p>
            </p:txBody>
          </p:sp>
        </mc:Fallback>
      </mc:AlternateContent>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11</a:t>
            </a:fld>
            <a:endParaRPr lang="zh-TW" altLang="en-US"/>
          </a:p>
        </p:txBody>
      </p:sp>
      <p:sp>
        <p:nvSpPr>
          <p:cNvPr id="5" name="動作按鈕: 返回 4">
            <a:hlinkClick r:id="rId4" action="ppaction://hlinksldjump" highlightClick="1"/>
          </p:cNvPr>
          <p:cNvSpPr/>
          <p:nvPr/>
        </p:nvSpPr>
        <p:spPr>
          <a:xfrm>
            <a:off x="8781393" y="7054961"/>
            <a:ext cx="425669" cy="402129"/>
          </a:xfrm>
          <a:prstGeom prst="actionButtonReturn">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1" name="直線單箭頭接點 10"/>
          <p:cNvCxnSpPr/>
          <p:nvPr/>
        </p:nvCxnSpPr>
        <p:spPr>
          <a:xfrm>
            <a:off x="2521132" y="3148148"/>
            <a:ext cx="326571" cy="0"/>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文字方塊 12"/>
          <p:cNvSpPr txBox="1"/>
          <p:nvPr/>
        </p:nvSpPr>
        <p:spPr>
          <a:xfrm>
            <a:off x="1259248" y="2886538"/>
            <a:ext cx="1261884" cy="523220"/>
          </a:xfrm>
          <a:prstGeom prst="rect">
            <a:avLst/>
          </a:prstGeom>
          <a:noFill/>
        </p:spPr>
        <p:txBody>
          <a:bodyPr wrap="none" rtlCol="0">
            <a:spAutoFit/>
          </a:bodyPr>
          <a:lstStyle/>
          <a:p>
            <a:r>
              <a:rPr lang="zh-TW" altLang="en-US" sz="2800" b="1" dirty="0">
                <a:latin typeface="微軟正黑體" panose="020B0604030504040204" pitchFamily="34" charset="-120"/>
                <a:ea typeface="微軟正黑體" panose="020B0604030504040204" pitchFamily="34" charset="-120"/>
              </a:rPr>
              <a:t>特徵點</a:t>
            </a:r>
          </a:p>
        </p:txBody>
      </p:sp>
      <p:cxnSp>
        <p:nvCxnSpPr>
          <p:cNvPr id="17" name="直線單箭頭接點 16"/>
          <p:cNvCxnSpPr/>
          <p:nvPr/>
        </p:nvCxnSpPr>
        <p:spPr>
          <a:xfrm>
            <a:off x="3383280" y="2429691"/>
            <a:ext cx="0" cy="339281"/>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文字方塊 20"/>
          <p:cNvSpPr txBox="1"/>
          <p:nvPr/>
        </p:nvSpPr>
        <p:spPr>
          <a:xfrm>
            <a:off x="2931874" y="1906471"/>
            <a:ext cx="902811" cy="523220"/>
          </a:xfrm>
          <a:prstGeom prst="rect">
            <a:avLst/>
          </a:prstGeom>
          <a:noFill/>
        </p:spPr>
        <p:txBody>
          <a:bodyPr wrap="none" rtlCol="0">
            <a:spAutoFit/>
          </a:bodyPr>
          <a:lstStyle/>
          <a:p>
            <a:r>
              <a:rPr lang="zh-TW" altLang="en-US" sz="2800" b="1" dirty="0">
                <a:latin typeface="微軟正黑體" panose="020B0604030504040204" pitchFamily="34" charset="-120"/>
                <a:ea typeface="微軟正黑體" panose="020B0604030504040204" pitchFamily="34" charset="-120"/>
              </a:rPr>
              <a:t>數對</a:t>
            </a:r>
          </a:p>
        </p:txBody>
      </p:sp>
      <p:sp>
        <p:nvSpPr>
          <p:cNvPr id="22" name="矩形 21"/>
          <p:cNvSpPr/>
          <p:nvPr/>
        </p:nvSpPr>
        <p:spPr>
          <a:xfrm>
            <a:off x="3148148" y="2873475"/>
            <a:ext cx="470263" cy="351426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3" name="直線單箭頭接點 22"/>
          <p:cNvCxnSpPr/>
          <p:nvPr/>
        </p:nvCxnSpPr>
        <p:spPr>
          <a:xfrm>
            <a:off x="3383279" y="6547879"/>
            <a:ext cx="0" cy="339281"/>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文字方塊 23"/>
          <p:cNvSpPr txBox="1"/>
          <p:nvPr/>
        </p:nvSpPr>
        <p:spPr>
          <a:xfrm>
            <a:off x="2931874" y="6837660"/>
            <a:ext cx="902811" cy="523220"/>
          </a:xfrm>
          <a:prstGeom prst="rect">
            <a:avLst/>
          </a:prstGeom>
          <a:noFill/>
        </p:spPr>
        <p:txBody>
          <a:bodyPr wrap="none" rtlCol="0">
            <a:spAutoFit/>
          </a:bodyPr>
          <a:lstStyle/>
          <a:p>
            <a:r>
              <a:rPr lang="zh-TW" altLang="en-US" sz="2800" b="1" dirty="0">
                <a:latin typeface="微軟正黑體" panose="020B0604030504040204" pitchFamily="34" charset="-120"/>
                <a:ea typeface="微軟正黑體" panose="020B0604030504040204" pitchFamily="34" charset="-120"/>
              </a:rPr>
              <a:t>平均</a:t>
            </a:r>
          </a:p>
        </p:txBody>
      </p:sp>
      <p:sp>
        <p:nvSpPr>
          <p:cNvPr id="25" name="文字方塊 24"/>
          <p:cNvSpPr txBox="1"/>
          <p:nvPr/>
        </p:nvSpPr>
        <p:spPr>
          <a:xfrm>
            <a:off x="4034500" y="6837660"/>
            <a:ext cx="902811" cy="523220"/>
          </a:xfrm>
          <a:prstGeom prst="rect">
            <a:avLst/>
          </a:prstGeom>
          <a:noFill/>
        </p:spPr>
        <p:txBody>
          <a:bodyPr wrap="none" rtlCol="0">
            <a:spAutoFit/>
          </a:bodyPr>
          <a:lstStyle/>
          <a:p>
            <a:r>
              <a:rPr lang="zh-TW" altLang="en-US" sz="2800" b="1" dirty="0">
                <a:latin typeface="微軟正黑體" panose="020B0604030504040204" pitchFamily="34" charset="-120"/>
                <a:ea typeface="微軟正黑體" panose="020B0604030504040204" pitchFamily="34" charset="-120"/>
              </a:rPr>
              <a:t>平均</a:t>
            </a:r>
          </a:p>
        </p:txBody>
      </p:sp>
      <p:sp>
        <p:nvSpPr>
          <p:cNvPr id="26" name="文字方塊 25"/>
          <p:cNvSpPr txBox="1"/>
          <p:nvPr/>
        </p:nvSpPr>
        <p:spPr>
          <a:xfrm>
            <a:off x="5137126" y="6837660"/>
            <a:ext cx="902811" cy="523220"/>
          </a:xfrm>
          <a:prstGeom prst="rect">
            <a:avLst/>
          </a:prstGeom>
          <a:noFill/>
        </p:spPr>
        <p:txBody>
          <a:bodyPr wrap="none" rtlCol="0">
            <a:spAutoFit/>
          </a:bodyPr>
          <a:lstStyle/>
          <a:p>
            <a:r>
              <a:rPr lang="zh-TW" altLang="en-US" sz="2800" b="1" dirty="0">
                <a:latin typeface="微軟正黑體" panose="020B0604030504040204" pitchFamily="34" charset="-120"/>
                <a:ea typeface="微軟正黑體" panose="020B0604030504040204" pitchFamily="34" charset="-120"/>
              </a:rPr>
              <a:t>平均</a:t>
            </a:r>
          </a:p>
        </p:txBody>
      </p:sp>
      <p:sp>
        <p:nvSpPr>
          <p:cNvPr id="27" name="文字方塊 26"/>
          <p:cNvSpPr txBox="1"/>
          <p:nvPr/>
        </p:nvSpPr>
        <p:spPr>
          <a:xfrm>
            <a:off x="6182244" y="6837660"/>
            <a:ext cx="902811" cy="523220"/>
          </a:xfrm>
          <a:prstGeom prst="rect">
            <a:avLst/>
          </a:prstGeom>
          <a:noFill/>
        </p:spPr>
        <p:txBody>
          <a:bodyPr wrap="none" rtlCol="0">
            <a:spAutoFit/>
          </a:bodyPr>
          <a:lstStyle/>
          <a:p>
            <a:r>
              <a:rPr lang="zh-TW" altLang="en-US" sz="2800" b="1" dirty="0">
                <a:latin typeface="微軟正黑體" panose="020B0604030504040204" pitchFamily="34" charset="-120"/>
                <a:ea typeface="微軟正黑體" panose="020B0604030504040204" pitchFamily="34" charset="-120"/>
              </a:rPr>
              <a:t>平均</a:t>
            </a:r>
          </a:p>
        </p:txBody>
      </p:sp>
      <p:cxnSp>
        <p:nvCxnSpPr>
          <p:cNvPr id="29" name="弧形接點 28"/>
          <p:cNvCxnSpPr>
            <a:stCxn id="27" idx="3"/>
          </p:cNvCxnSpPr>
          <p:nvPr/>
        </p:nvCxnSpPr>
        <p:spPr>
          <a:xfrm flipV="1">
            <a:off x="7085055" y="6717519"/>
            <a:ext cx="364395" cy="381751"/>
          </a:xfrm>
          <a:prstGeom prst="curvedConnector2">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弧形 30"/>
          <p:cNvSpPr/>
          <p:nvPr/>
        </p:nvSpPr>
        <p:spPr>
          <a:xfrm rot="2683818">
            <a:off x="6495414" y="6826555"/>
            <a:ext cx="591450" cy="545430"/>
          </a:xfrm>
          <a:prstGeom prst="arc">
            <a:avLst/>
          </a:prstGeom>
          <a:ln w="508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33" name="弧形 32"/>
          <p:cNvSpPr/>
          <p:nvPr/>
        </p:nvSpPr>
        <p:spPr>
          <a:xfrm rot="2683818" flipH="1" flipV="1">
            <a:off x="2920068" y="6823185"/>
            <a:ext cx="576019" cy="531200"/>
          </a:xfrm>
          <a:prstGeom prst="arc">
            <a:avLst/>
          </a:prstGeom>
          <a:ln w="508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34" name="文字方塊 33"/>
          <p:cNvSpPr txBox="1"/>
          <p:nvPr/>
        </p:nvSpPr>
        <p:spPr>
          <a:xfrm>
            <a:off x="7228561" y="6191735"/>
            <a:ext cx="396262" cy="523220"/>
          </a:xfrm>
          <a:prstGeom prst="rect">
            <a:avLst/>
          </a:prstGeom>
          <a:noFill/>
        </p:spPr>
        <p:txBody>
          <a:bodyPr wrap="none" rtlCol="0">
            <a:spAutoFit/>
          </a:bodyPr>
          <a:lstStyle/>
          <a:p>
            <a:r>
              <a:rPr lang="en-US" altLang="zh-TW" sz="2800" b="1" dirty="0">
                <a:latin typeface="Cambria Math" panose="02040503050406030204" pitchFamily="18" charset="0"/>
                <a:ea typeface="Cambria Math" panose="02040503050406030204" pitchFamily="18" charset="0"/>
              </a:rPr>
              <a:t>T</a:t>
            </a:r>
            <a:endParaRPr lang="zh-TW" altLang="en-US" sz="2800" b="1" dirty="0">
              <a:latin typeface="Cambria Math" panose="02040503050406030204" pitchFamily="18" charset="0"/>
              <a:ea typeface="微軟正黑體" panose="020B0604030504040204" pitchFamily="34" charset="-120"/>
            </a:endParaRPr>
          </a:p>
        </p:txBody>
      </p:sp>
    </p:spTree>
    <p:extLst>
      <p:ext uri="{BB962C8B-B14F-4D97-AF65-F5344CB8AC3E}">
        <p14:creationId xmlns:p14="http://schemas.microsoft.com/office/powerpoint/2010/main" val="3225519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Ebrima" panose="02000000000000000000" pitchFamily="2" charset="0"/>
                <a:ea typeface="Ebrima" panose="02000000000000000000" pitchFamily="2" charset="0"/>
                <a:cs typeface="Ebrima" panose="02000000000000000000" pitchFamily="2" charset="0"/>
              </a:rPr>
              <a:t>BRIEF</a:t>
            </a:r>
            <a:endParaRPr lang="zh-TW" altLang="en-US"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p:txBody>
          <a:bodyPr/>
          <a:lstStyle/>
          <a:p>
            <a:pPr marL="457200" indent="-457200">
              <a:buFont typeface="Arial" panose="020B0604020202020204" pitchFamily="34" charset="0"/>
              <a:buChar char="•"/>
            </a:pPr>
            <a:r>
              <a:rPr lang="zh-TW" altLang="en-US" dirty="0">
                <a:latin typeface="Cambria Math" panose="02040503050406030204" pitchFamily="18" charset="0"/>
                <a:ea typeface="微軟正黑體" panose="020B0604030504040204" pitchFamily="34" charset="-120"/>
              </a:rPr>
              <a:t>目的：利用</a:t>
            </a:r>
            <a:r>
              <a:rPr lang="en-US" altLang="zh-TW" sz="3000" dirty="0">
                <a:latin typeface="Cambria Math" panose="02040503050406030204" pitchFamily="18" charset="0"/>
                <a:ea typeface="微軟正黑體" panose="020B0604030504040204" pitchFamily="34" charset="-120"/>
                <a:cs typeface="Ebrima" panose="02000000000000000000" pitchFamily="2" charset="0"/>
              </a:rPr>
              <a:t>binary</a:t>
            </a:r>
            <a:r>
              <a:rPr lang="zh-TW" altLang="en-US" dirty="0">
                <a:latin typeface="Cambria Math" panose="02040503050406030204" pitchFamily="18" charset="0"/>
                <a:ea typeface="微軟正黑體" panose="020B0604030504040204" pitchFamily="34" charset="-120"/>
              </a:rPr>
              <a:t>的方式將特徵點編碼。</a:t>
            </a:r>
            <a:endParaRPr lang="en-US" altLang="zh-TW" dirty="0">
              <a:latin typeface="Cambria Math" panose="02040503050406030204" pitchFamily="18" charset="0"/>
              <a:ea typeface="微軟正黑體" panose="020B0604030504040204" pitchFamily="34" charset="-120"/>
            </a:endParaRPr>
          </a:p>
          <a:p>
            <a:pPr marL="457200" indent="-457200">
              <a:buFont typeface="Arial" panose="020B0604020202020204" pitchFamily="34" charset="0"/>
              <a:buChar char="•"/>
            </a:pPr>
            <a:r>
              <a:rPr lang="zh-TW" altLang="en-US" dirty="0">
                <a:latin typeface="Cambria Math" panose="02040503050406030204" pitchFamily="18" charset="0"/>
                <a:ea typeface="微軟正黑體" panose="020B0604030504040204" pitchFamily="34" charset="-120"/>
              </a:rPr>
              <a:t>優點：</a:t>
            </a:r>
            <a:endParaRPr lang="en-US" altLang="zh-TW" dirty="0">
              <a:latin typeface="Cambria Math" panose="02040503050406030204" pitchFamily="18" charset="0"/>
              <a:ea typeface="微軟正黑體" panose="020B0604030504040204" pitchFamily="34" charset="-120"/>
            </a:endParaRPr>
          </a:p>
          <a:p>
            <a:pPr marL="1200150" lvl="1" indent="-514350">
              <a:buFont typeface="+mj-lt"/>
              <a:buAutoNum type="arabicPeriod"/>
            </a:pPr>
            <a:r>
              <a:rPr lang="zh-TW" altLang="en-US" sz="2800" dirty="0">
                <a:latin typeface="Cambria Math" panose="02040503050406030204" pitchFamily="18" charset="0"/>
                <a:ea typeface="微軟正黑體" panose="020B0604030504040204" pitchFamily="34" charset="-120"/>
              </a:rPr>
              <a:t>節省空間</a:t>
            </a:r>
            <a:endParaRPr lang="en-US" altLang="zh-TW" sz="2800" dirty="0">
              <a:latin typeface="Cambria Math" panose="02040503050406030204" pitchFamily="18" charset="0"/>
              <a:ea typeface="微軟正黑體" panose="020B0604030504040204" pitchFamily="34" charset="-120"/>
            </a:endParaRPr>
          </a:p>
          <a:p>
            <a:pPr marL="1200150" lvl="1" indent="-514350">
              <a:buFont typeface="+mj-lt"/>
              <a:buAutoNum type="arabicPeriod"/>
            </a:pPr>
            <a:r>
              <a:rPr lang="zh-TW" altLang="en-US" sz="2800" dirty="0">
                <a:latin typeface="Cambria Math" panose="02040503050406030204" pitchFamily="18" charset="0"/>
                <a:ea typeface="微軟正黑體" panose="020B0604030504040204" pitchFamily="34" charset="-120"/>
              </a:rPr>
              <a:t>減少比對時間，可直接利用</a:t>
            </a:r>
            <a:r>
              <a:rPr lang="en-US" altLang="zh-TW" sz="3000" dirty="0">
                <a:highlight>
                  <a:scrgbClr r="0" g="0" b="0">
                    <a:alpha val="0"/>
                  </a:scrgbClr>
                </a:highlight>
                <a:latin typeface="Cambria Math" panose="02040503050406030204" pitchFamily="18" charset="0"/>
                <a:ea typeface="微軟正黑體" panose="020B0604030504040204" pitchFamily="34" charset="-120"/>
                <a:cs typeface="Ebrima" panose="02000000000000000000" pitchFamily="2" charset="0"/>
              </a:rPr>
              <a:t>XOR</a:t>
            </a:r>
            <a:r>
              <a:rPr lang="zh-TW" altLang="en-US" sz="2800" dirty="0">
                <a:latin typeface="Cambria Math" panose="02040503050406030204" pitchFamily="18" charset="0"/>
                <a:ea typeface="微軟正黑體" panose="020B0604030504040204" pitchFamily="34" charset="-120"/>
              </a:rPr>
              <a:t>運算</a:t>
            </a:r>
            <a:endParaRPr lang="en-US" altLang="zh-TW" sz="2800" dirty="0">
              <a:latin typeface="Cambria Math" panose="02040503050406030204" pitchFamily="18" charset="0"/>
              <a:ea typeface="微軟正黑體" panose="020B0604030504040204" pitchFamily="34" charset="-120"/>
            </a:endParaRPr>
          </a:p>
          <a:p>
            <a:pPr marL="571500" indent="-571500">
              <a:buFont typeface="Arial" panose="020B0604020202020204" pitchFamily="34" charset="0"/>
              <a:buChar char="•"/>
            </a:pPr>
            <a:r>
              <a:rPr lang="zh-TW" altLang="en-US" dirty="0">
                <a:latin typeface="Cambria Math" panose="02040503050406030204" pitchFamily="18" charset="0"/>
                <a:ea typeface="微軟正黑體" panose="020B0604030504040204" pitchFamily="34" charset="-120"/>
              </a:rPr>
              <a:t>缺點</a:t>
            </a:r>
            <a:r>
              <a:rPr lang="zh-TW" altLang="en-US" sz="3600" dirty="0">
                <a:latin typeface="Cambria Math" panose="02040503050406030204" pitchFamily="18" charset="0"/>
                <a:ea typeface="微軟正黑體" panose="020B0604030504040204" pitchFamily="34" charset="-120"/>
              </a:rPr>
              <a:t>：</a:t>
            </a:r>
            <a:endParaRPr lang="en-US" altLang="zh-TW" sz="3600" dirty="0">
              <a:latin typeface="Cambria Math" panose="02040503050406030204" pitchFamily="18" charset="0"/>
              <a:ea typeface="微軟正黑體" panose="020B0604030504040204" pitchFamily="34" charset="-120"/>
            </a:endParaRPr>
          </a:p>
          <a:p>
            <a:pPr marL="1257300" lvl="1" indent="-571500">
              <a:buFont typeface="+mj-lt"/>
              <a:buAutoNum type="arabicPeriod"/>
            </a:pPr>
            <a:r>
              <a:rPr lang="zh-TW" altLang="en-US" sz="2800" dirty="0">
                <a:latin typeface="Cambria Math" panose="02040503050406030204" pitchFamily="18" charset="0"/>
                <a:ea typeface="微軟正黑體" panose="020B0604030504040204" pitchFamily="34" charset="-120"/>
              </a:rPr>
              <a:t>不具有尺度不變性及旋轉不變性</a:t>
            </a:r>
            <a:endParaRPr lang="en-US" altLang="zh-TW" sz="2800" dirty="0">
              <a:latin typeface="Cambria Math" panose="02040503050406030204" pitchFamily="18" charset="0"/>
              <a:ea typeface="微軟正黑體" panose="020B0604030504040204" pitchFamily="34" charset="-120"/>
            </a:endParaRPr>
          </a:p>
          <a:p>
            <a:pPr marL="1257300" lvl="1" indent="-571500">
              <a:buFont typeface="+mj-lt"/>
              <a:buAutoNum type="arabicPeriod"/>
            </a:pPr>
            <a:r>
              <a:rPr lang="zh-TW" altLang="en-US" sz="2800" dirty="0">
                <a:latin typeface="Cambria Math" panose="02040503050406030204" pitchFamily="18" charset="0"/>
                <a:ea typeface="微軟正黑體" panose="020B0604030504040204" pitchFamily="34" charset="-120"/>
              </a:rPr>
              <a:t>抗</a:t>
            </a:r>
            <a:r>
              <a:rPr lang="en-US" altLang="zh-TW" sz="3000" dirty="0">
                <a:highlight>
                  <a:scrgbClr r="0" g="0" b="0">
                    <a:alpha val="0"/>
                  </a:scrgbClr>
                </a:highlight>
                <a:latin typeface="Cambria Math" panose="02040503050406030204" pitchFamily="18" charset="0"/>
                <a:ea typeface="微軟正黑體" panose="020B0604030504040204" pitchFamily="34" charset="-120"/>
                <a:cs typeface="Ebrima" panose="02000000000000000000" pitchFamily="2" charset="0"/>
              </a:rPr>
              <a:t>Noise</a:t>
            </a:r>
            <a:r>
              <a:rPr lang="zh-TW" altLang="en-US" sz="2800" dirty="0">
                <a:latin typeface="Cambria Math" panose="02040503050406030204" pitchFamily="18" charset="0"/>
                <a:ea typeface="微軟正黑體" panose="020B0604030504040204" pitchFamily="34" charset="-120"/>
              </a:rPr>
              <a:t>能力不佳</a:t>
            </a:r>
            <a:endParaRPr lang="en-US" altLang="zh-TW" sz="2800" dirty="0">
              <a:latin typeface="Cambria Math" panose="02040503050406030204" pitchFamily="18" charset="0"/>
              <a:ea typeface="微軟正黑體" panose="020B0604030504040204" pitchFamily="34" charset="-12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12</a:t>
            </a:fld>
            <a:endParaRPr lang="zh-TW" altLang="en-US"/>
          </a:p>
        </p:txBody>
      </p:sp>
      <p:sp>
        <p:nvSpPr>
          <p:cNvPr id="5" name="動作按鈕: 返回 4">
            <a:hlinkClick r:id="rId2" action="ppaction://hlinksldjump" highlightClick="1"/>
          </p:cNvPr>
          <p:cNvSpPr/>
          <p:nvPr/>
        </p:nvSpPr>
        <p:spPr>
          <a:xfrm>
            <a:off x="8781393" y="7054961"/>
            <a:ext cx="425669" cy="402129"/>
          </a:xfrm>
          <a:prstGeom prst="actionButtonReturn">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335151828"/>
      </p:ext>
    </p:extLst>
  </p:cSld>
  <p:clrMapOvr>
    <a:masterClrMapping/>
  </p:clrMapOvr>
</p:sld>
</file>

<file path=ppt/theme/theme1.xml><?xml version="1.0" encoding="utf-8"?>
<a:theme xmlns:a="http://schemas.openxmlformats.org/drawingml/2006/main" name="預設">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10592</TotalTime>
  <Words>546</Words>
  <Application>Microsoft Office PowerPoint</Application>
  <PresentationFormat>自訂</PresentationFormat>
  <Paragraphs>87</Paragraphs>
  <Slides>12</Slides>
  <Notes>6</Notes>
  <HiddenSlides>0</HiddenSlides>
  <MMClips>0</MMClips>
  <ScaleCrop>false</ScaleCrop>
  <HeadingPairs>
    <vt:vector size="6" baseType="variant">
      <vt:variant>
        <vt:lpstr>使用字型</vt:lpstr>
      </vt:variant>
      <vt:variant>
        <vt:i4>13</vt:i4>
      </vt:variant>
      <vt:variant>
        <vt:lpstr>佈景主題</vt:lpstr>
      </vt:variant>
      <vt:variant>
        <vt:i4>1</vt:i4>
      </vt:variant>
      <vt:variant>
        <vt:lpstr>投影片標題</vt:lpstr>
      </vt:variant>
      <vt:variant>
        <vt:i4>12</vt:i4>
      </vt:variant>
    </vt:vector>
  </HeadingPairs>
  <TitlesOfParts>
    <vt:vector size="26" baseType="lpstr">
      <vt:lpstr>Liberation Sans</vt:lpstr>
      <vt:lpstr>Liberation Sans Narrow</vt:lpstr>
      <vt:lpstr>Liberation Serif</vt:lpstr>
      <vt:lpstr>Mangal</vt:lpstr>
      <vt:lpstr>微軟正黑體</vt:lpstr>
      <vt:lpstr>新細明體</vt:lpstr>
      <vt:lpstr>Arial</vt:lpstr>
      <vt:lpstr>Calibri</vt:lpstr>
      <vt:lpstr>Cambria Math</vt:lpstr>
      <vt:lpstr>Ebrima</vt:lpstr>
      <vt:lpstr>Sitka Subheading</vt:lpstr>
      <vt:lpstr>Tahoma</vt:lpstr>
      <vt:lpstr>Wingdings</vt:lpstr>
      <vt:lpstr>預設</vt:lpstr>
      <vt:lpstr>IEEE International Conference on Computer Vision, Barcelona, Spain, 2011  Ethan Rublee, Vincent Rabaud, Kurt Konolige, Gary Bradski</vt:lpstr>
      <vt:lpstr>Abstract</vt:lpstr>
      <vt:lpstr>Algorithm</vt:lpstr>
      <vt:lpstr>Experiment Result</vt:lpstr>
      <vt:lpstr>解決旋轉不變性(1/3)</vt:lpstr>
      <vt:lpstr>解決旋轉不變性(2/3)</vt:lpstr>
      <vt:lpstr>解決旋轉不變性(3/3)</vt:lpstr>
      <vt:lpstr>解決bit間區別性下降問題(1/4)</vt:lpstr>
      <vt:lpstr>解決bit間區別性下降問題(2/4)</vt:lpstr>
      <vt:lpstr>解決bit間區別性下降問題(3/4)</vt:lpstr>
      <vt:lpstr>解決bit間區別性下降問題(4/4)</vt:lpstr>
      <vt:lpstr>BRIEF</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Communications of the ACM June 1975 Volume 18 Number 6 D.S. Hirschberg Princeton University</dc:title>
  <dc:creator>Shecil</dc:creator>
  <cp:lastModifiedBy>whfu</cp:lastModifiedBy>
  <cp:revision>179</cp:revision>
  <dcterms:created xsi:type="dcterms:W3CDTF">2015-10-08T13:19:19Z</dcterms:created>
  <dcterms:modified xsi:type="dcterms:W3CDTF">2016-11-29T09:59:35Z</dcterms:modified>
</cp:coreProperties>
</file>