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257" r:id="rId2"/>
    <p:sldId id="258" r:id="rId3"/>
    <p:sldId id="259" r:id="rId4"/>
    <p:sldId id="298" r:id="rId5"/>
    <p:sldId id="346" r:id="rId6"/>
    <p:sldId id="317" r:id="rId7"/>
    <p:sldId id="344" r:id="rId8"/>
    <p:sldId id="340" r:id="rId9"/>
    <p:sldId id="341" r:id="rId10"/>
    <p:sldId id="342" r:id="rId11"/>
    <p:sldId id="343" r:id="rId12"/>
    <p:sldId id="345" r:id="rId13"/>
    <p:sldId id="347" r:id="rId14"/>
    <p:sldId id="348" r:id="rId15"/>
    <p:sldId id="349" r:id="rId16"/>
    <p:sldId id="351" r:id="rId17"/>
    <p:sldId id="352" r:id="rId18"/>
    <p:sldId id="354" r:id="rId19"/>
    <p:sldId id="355" r:id="rId20"/>
    <p:sldId id="356" r:id="rId21"/>
    <p:sldId id="357" r:id="rId22"/>
    <p:sldId id="358" r:id="rId23"/>
    <p:sldId id="359" r:id="rId24"/>
    <p:sldId id="360" r:id="rId25"/>
    <p:sldId id="361" r:id="rId26"/>
    <p:sldId id="362" r:id="rId27"/>
    <p:sldId id="363" r:id="rId28"/>
  </p:sldIdLst>
  <p:sldSz cx="9144000" cy="6858000" type="screen4x3"/>
  <p:notesSz cx="6816725" cy="99441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9FBC"/>
    <a:srgbClr val="9933FF"/>
    <a:srgbClr val="AFC5B7"/>
    <a:srgbClr val="FF8585"/>
    <a:srgbClr val="2F586C"/>
    <a:srgbClr val="739A82"/>
    <a:srgbClr val="C0F2ED"/>
    <a:srgbClr val="D0AED6"/>
    <a:srgbClr val="FAD9D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4338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60800" y="0"/>
            <a:ext cx="2954338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E2734-7699-4EF9-884B-AAC21663F783}" type="datetimeFigureOut">
              <a:rPr lang="zh-TW" altLang="en-US" smtClean="0"/>
              <a:t>2016/4/12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71575" y="1243013"/>
            <a:ext cx="4473575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1038" y="4786313"/>
            <a:ext cx="5454650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5625"/>
            <a:ext cx="2954338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60800" y="9445625"/>
            <a:ext cx="2954338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A0B9A-4F24-4307-B491-1A350913E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8771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003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9809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9895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7323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552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752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8061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442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8148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86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5233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8420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576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7809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84991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0751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40928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44627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78491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74087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25553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41117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88143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0A0B9A-4F24-4307-B491-1A350913EAF1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3097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279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919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59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708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767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524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358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696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604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059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4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AE7E2-FA14-47B6-AD01-B71A470256B7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2016/4/12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E2A82-54AE-4A04-A81E-B06DF6FF4715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338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/>
          <p:cNvSpPr txBox="1"/>
          <p:nvPr/>
        </p:nvSpPr>
        <p:spPr>
          <a:xfrm>
            <a:off x="786821" y="4978792"/>
            <a:ext cx="6508185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prstClr val="black"/>
                </a:solidFill>
                <a:latin typeface="+mj-lt"/>
              </a:rPr>
              <a:t>Presenter: Tzu-Chiang Hsu </a:t>
            </a:r>
            <a:r>
              <a:rPr lang="zh-TW" altLang="en-US" sz="3200" dirty="0">
                <a:solidFill>
                  <a:prstClr val="black"/>
                </a:solidFill>
                <a:latin typeface="+mj-lt"/>
              </a:rPr>
              <a:t> </a:t>
            </a:r>
            <a:r>
              <a:rPr lang="en-US" altLang="zh-TW" sz="3200" dirty="0">
                <a:solidFill>
                  <a:prstClr val="black"/>
                </a:solidFill>
              </a:rPr>
              <a:t>(</a:t>
            </a:r>
            <a:r>
              <a:rPr lang="zh-TW" altLang="en-US" sz="4000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徐子強</a:t>
            </a:r>
            <a:r>
              <a:rPr lang="en-US" altLang="zh-TW" sz="3200" dirty="0">
                <a:solidFill>
                  <a:prstClr val="black"/>
                </a:solidFill>
              </a:rPr>
              <a:t>)</a:t>
            </a:r>
          </a:p>
          <a:p>
            <a:r>
              <a:rPr lang="en-US" altLang="zh-TW" sz="2500" dirty="0" smtClean="0">
                <a:solidFill>
                  <a:prstClr val="black"/>
                </a:solidFill>
                <a:latin typeface="+mj-lt"/>
              </a:rPr>
              <a:t>2016/04/12</a:t>
            </a:r>
            <a:endParaRPr lang="zh-TW" altLang="en-US" sz="25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585216" y="0"/>
            <a:ext cx="7772400" cy="2387600"/>
          </a:xfrm>
        </p:spPr>
        <p:txBody>
          <a:bodyPr>
            <a:normAutofit/>
          </a:bodyPr>
          <a:lstStyle/>
          <a:p>
            <a:r>
              <a:rPr lang="en-US" altLang="zh-TW" sz="4000" dirty="0"/>
              <a:t>Finding Maximal Repetitions in a Word in Linear Time</a:t>
            </a:r>
            <a:endParaRPr lang="en-US" altLang="zh-TW" sz="4000" dirty="0">
              <a:effectLst/>
            </a:endParaRPr>
          </a:p>
        </p:txBody>
      </p:sp>
      <p:sp>
        <p:nvSpPr>
          <p:cNvPr id="9" name="副標題 2"/>
          <p:cNvSpPr txBox="1">
            <a:spLocks/>
          </p:cNvSpPr>
          <p:nvPr/>
        </p:nvSpPr>
        <p:spPr>
          <a:xfrm>
            <a:off x="0" y="2570480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endParaRPr lang="pt-BR" altLang="zh-TW" dirty="0">
              <a:solidFill>
                <a:prstClr val="black"/>
              </a:solidFill>
              <a:latin typeface="+mj-lt"/>
            </a:endParaRPr>
          </a:p>
          <a:p>
            <a:pPr fontAlgn="base"/>
            <a:r>
              <a:rPr lang="it-IT" altLang="zh-TW" sz="2800" dirty="0" smtClean="0">
                <a:solidFill>
                  <a:prstClr val="black"/>
                </a:solidFill>
                <a:latin typeface="+mj-lt"/>
              </a:rPr>
              <a:t>Roman Kolpakov and Gregory Kucherov</a:t>
            </a:r>
          </a:p>
          <a:p>
            <a:pPr fontAlgn="base"/>
            <a:endParaRPr lang="en-US" altLang="zh-TW" sz="1100" dirty="0">
              <a:solidFill>
                <a:prstClr val="black"/>
              </a:solidFill>
              <a:latin typeface="+mj-lt"/>
            </a:endParaRPr>
          </a:p>
          <a:p>
            <a:r>
              <a:rPr lang="en-US" altLang="zh-TW" dirty="0">
                <a:latin typeface="+mj-lt"/>
              </a:rPr>
              <a:t>Proceedings of the 40th Annual Symposium on </a:t>
            </a:r>
            <a:r>
              <a:rPr lang="en-US" altLang="zh-TW" dirty="0" smtClean="0">
                <a:latin typeface="+mj-lt"/>
              </a:rPr>
              <a:t>Foundations of</a:t>
            </a:r>
          </a:p>
          <a:p>
            <a:r>
              <a:rPr lang="en-US" altLang="zh-TW" dirty="0" smtClean="0">
                <a:latin typeface="+mj-lt"/>
              </a:rPr>
              <a:t>Computer </a:t>
            </a:r>
            <a:r>
              <a:rPr lang="en-US" altLang="zh-TW" dirty="0">
                <a:latin typeface="+mj-lt"/>
              </a:rPr>
              <a:t>Science </a:t>
            </a:r>
            <a:r>
              <a:rPr lang="en-US" altLang="zh-TW" dirty="0" smtClean="0">
                <a:latin typeface="+mj-lt"/>
              </a:rPr>
              <a:t>(FOCS ‘99) pp. 596 - 604 (1999)</a:t>
            </a:r>
            <a:endParaRPr lang="en-US" altLang="zh-TW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4061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(1/2)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repetition in a word 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period of at most half of the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length. We study maximal repetitions occurring in 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that is those for which any extended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subword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a bigger period. The set of such repetitions represents in a compact way all repetitions in 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70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Georgia" panose="02040502050405020303" pitchFamily="18" charset="0"/>
                <a:ea typeface="Ebrima" panose="02000000000000000000" pitchFamily="2" charset="0"/>
                <a:cs typeface="Ebrima" panose="02000000000000000000" pitchFamily="2" charset="0"/>
              </a:rPr>
              <a:t>Abstract (2/2)</a:t>
            </a:r>
            <a:endParaRPr lang="zh-TW" altLang="en-US" dirty="0">
              <a:latin typeface="Georgia" panose="02040502050405020303" pitchFamily="18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first prove a combinatorial result asserting that the sum of exponents of all maximal repetitions of a word of length 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bounded by a linear function in 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implies, in particular that there is only a linear number of maximal repetitions in a word. This allows us to construct a linear-time algorithm for finding all maximal repetitions. Some consequences and applications of these results are discussed, as well as related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works.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14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014326" y="1441144"/>
            <a:ext cx="8007961" cy="489364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Square-free Detection</a:t>
            </a:r>
            <a:endParaRPr lang="en-US" altLang="zh-TW" sz="2400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Squares</a:t>
            </a:r>
            <a:endParaRPr lang="en-US" altLang="zh-TW" sz="2400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Primitively Rooted Squares</a:t>
            </a:r>
            <a:endParaRPr lang="en-US" altLang="zh-TW" sz="2400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Non-extendable Primitively Rooted </a:t>
            </a:r>
            <a:r>
              <a:rPr lang="en-US" altLang="zh-TW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nteger Powers</a:t>
            </a:r>
            <a:endParaRPr lang="en-US" altLang="zh-TW" sz="2400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Leftmost Maximal Periodicities</a:t>
            </a:r>
          </a:p>
          <a:p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	Michael G. Main,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(1989)</a:t>
            </a:r>
          </a:p>
          <a:p>
            <a:endParaRPr lang="en-US" altLang="zh-TW" sz="2400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Repetitions in a Word in Linear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r>
              <a:rPr lang="en-US" altLang="zh-TW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400" dirty="0" err="1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Kolpakov</a:t>
            </a:r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400" dirty="0" err="1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Kucherov</a:t>
            </a:r>
            <a:r>
              <a:rPr lang="en-US" altLang="zh-TW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(1999)</a:t>
            </a:r>
          </a:p>
          <a:p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矩形 2"/>
          <p:cNvSpPr/>
          <p:nvPr/>
        </p:nvSpPr>
        <p:spPr>
          <a:xfrm>
            <a:off x="121133" y="1120247"/>
            <a:ext cx="893193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15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TW" altLang="en-US" sz="11500" b="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1133" y="3722940"/>
            <a:ext cx="893193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15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TW" altLang="en-US" sz="11500" b="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3769" y="797081"/>
            <a:ext cx="210826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O(n log n)</a:t>
            </a:r>
            <a:endParaRPr lang="zh-TW" altLang="en-US" sz="3600" b="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8109" y="3399774"/>
            <a:ext cx="105670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endParaRPr lang="zh-TW" altLang="en-US" sz="3600" b="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51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28305" y="1735736"/>
            <a:ext cx="292900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S-factorization</a:t>
            </a:r>
            <a:endParaRPr lang="zh-TW" altLang="en-US" sz="3600" b="0" cap="none" spc="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136148"/>
              </p:ext>
            </p:extLst>
          </p:nvPr>
        </p:nvGraphicFramePr>
        <p:xfrm>
          <a:off x="3618738" y="3178937"/>
          <a:ext cx="4245528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0691"/>
                <a:gridCol w="530691"/>
                <a:gridCol w="530691"/>
                <a:gridCol w="530691"/>
                <a:gridCol w="530691"/>
                <a:gridCol w="530691"/>
                <a:gridCol w="530691"/>
                <a:gridCol w="530691"/>
              </a:tblGrid>
              <a:tr h="370501"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b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b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b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C5B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736850"/>
              </p:ext>
            </p:extLst>
          </p:nvPr>
        </p:nvGraphicFramePr>
        <p:xfrm>
          <a:off x="3618738" y="4629531"/>
          <a:ext cx="4245528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0691"/>
                <a:gridCol w="530691"/>
                <a:gridCol w="530691"/>
                <a:gridCol w="530691"/>
                <a:gridCol w="530691"/>
                <a:gridCol w="530691"/>
                <a:gridCol w="530691"/>
                <a:gridCol w="530691"/>
              </a:tblGrid>
              <a:tr h="370501"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b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4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4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b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b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C5B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094747"/>
              </p:ext>
            </p:extLst>
          </p:nvPr>
        </p:nvGraphicFramePr>
        <p:xfrm>
          <a:off x="3618738" y="1681684"/>
          <a:ext cx="4245528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0691"/>
                <a:gridCol w="530691"/>
                <a:gridCol w="530691"/>
                <a:gridCol w="530691"/>
                <a:gridCol w="530691"/>
                <a:gridCol w="530691"/>
                <a:gridCol w="530691"/>
                <a:gridCol w="530691"/>
              </a:tblGrid>
              <a:tr h="370501"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b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b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b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4400" dirty="0" smtClean="0"/>
                        <a:t>a</a:t>
                      </a:r>
                      <a:endParaRPr lang="zh-TW" altLang="en-US" sz="4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C5B7"/>
                    </a:solidFill>
                  </a:tcPr>
                </a:tc>
              </a:tr>
            </a:tbl>
          </a:graphicData>
        </a:graphic>
      </p:graphicFrame>
      <p:sp>
        <p:nvSpPr>
          <p:cNvPr id="16" name="矩形 15"/>
          <p:cNvSpPr/>
          <p:nvPr/>
        </p:nvSpPr>
        <p:spPr>
          <a:xfrm>
            <a:off x="1555739" y="3236771"/>
            <a:ext cx="105990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LZ77</a:t>
            </a:r>
            <a:endParaRPr lang="zh-TW" altLang="en-US" sz="3600" b="0" cap="none" spc="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555738" y="4687365"/>
            <a:ext cx="105990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LZ78</a:t>
            </a:r>
            <a:endParaRPr lang="zh-TW" altLang="en-US" sz="3600" b="0" cap="none" spc="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571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73250" y="1393170"/>
            <a:ext cx="344119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S-factorization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72835" y="2779964"/>
            <a:ext cx="46618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spc="300" dirty="0" err="1">
                <a:ln w="0"/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a</a:t>
            </a:r>
            <a:r>
              <a:rPr lang="en-US" altLang="zh-TW" sz="5400" spc="300" dirty="0" err="1">
                <a:ln w="0"/>
                <a:latin typeface="+mj-lt"/>
                <a:cs typeface="Times New Roman" panose="02020603050405020304" pitchFamily="18" charset="0"/>
              </a:rPr>
              <a:t>bc</a:t>
            </a:r>
            <a:r>
              <a:rPr lang="en-US" altLang="zh-TW" sz="5400" b="0" cap="none" spc="300" dirty="0" err="1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bcbbcbaba</a:t>
            </a:r>
            <a:endParaRPr lang="zh-TW" altLang="en-US" sz="5400" b="0" cap="none" spc="30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62059" y="4320647"/>
            <a:ext cx="550343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dirty="0">
                <a:ln w="0"/>
                <a:solidFill>
                  <a:srgbClr val="0070C0"/>
                </a:solidFill>
                <a:latin typeface="+mj-lt"/>
              </a:rPr>
              <a:t>a</a:t>
            </a:r>
            <a:r>
              <a:rPr lang="en-US" altLang="zh-TW" sz="4800" dirty="0">
                <a:ln w="0"/>
                <a:latin typeface="+mj-lt"/>
              </a:rPr>
              <a:t>, b, 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latin typeface="+mj-lt"/>
              </a:rPr>
              <a:t>c, </a:t>
            </a:r>
            <a:r>
              <a:rPr lang="en-US" altLang="zh-TW" sz="4800" dirty="0" err="1" smtClean="0">
                <a:ln w="0"/>
                <a:latin typeface="+mj-lt"/>
              </a:rPr>
              <a:t>bcb</a:t>
            </a:r>
            <a:r>
              <a:rPr lang="en-US" altLang="zh-TW" sz="4800" dirty="0" smtClean="0">
                <a:ln w="0"/>
                <a:latin typeface="+mj-lt"/>
              </a:rPr>
              <a:t>, </a:t>
            </a:r>
            <a:r>
              <a:rPr lang="en-US" altLang="zh-TW" sz="4800" b="0" cap="none" spc="0" dirty="0" err="1" smtClean="0">
                <a:ln w="0"/>
                <a:solidFill>
                  <a:schemeClr val="tx1"/>
                </a:solidFill>
                <a:latin typeface="+mj-lt"/>
              </a:rPr>
              <a:t>bcb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latin typeface="+mj-lt"/>
              </a:rPr>
              <a:t>, </a:t>
            </a:r>
            <a:r>
              <a:rPr lang="en-US" altLang="zh-TW" sz="4800" dirty="0" smtClean="0">
                <a:ln w="0"/>
                <a:latin typeface="+mj-lt"/>
              </a:rPr>
              <a:t>ab, 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latin typeface="+mj-lt"/>
              </a:rPr>
              <a:t>a</a:t>
            </a:r>
            <a:endParaRPr lang="zh-TW" altLang="en-US" sz="48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5791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73250" y="1393170"/>
            <a:ext cx="344119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S-factorization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72835" y="2779964"/>
            <a:ext cx="46618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spc="300" dirty="0" err="1">
                <a:ln w="0"/>
                <a:latin typeface="+mj-lt"/>
                <a:cs typeface="Times New Roman" panose="02020603050405020304" pitchFamily="18" charset="0"/>
              </a:rPr>
              <a:t>a</a:t>
            </a:r>
            <a:r>
              <a:rPr lang="en-US" altLang="zh-TW" sz="5400" b="0" cap="none" spc="300" dirty="0" err="1" smtClean="0">
                <a:ln w="0"/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b</a:t>
            </a:r>
            <a:r>
              <a:rPr lang="en-US" altLang="zh-TW" sz="5400" b="0" cap="none" spc="300" dirty="0" err="1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cbcbbcbaba</a:t>
            </a:r>
            <a:endParaRPr lang="zh-TW" altLang="en-US" sz="5400" b="0" cap="none" spc="30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62059" y="4320647"/>
            <a:ext cx="550343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dirty="0">
                <a:ln w="0"/>
                <a:latin typeface="+mj-lt"/>
              </a:rPr>
              <a:t>a, </a:t>
            </a:r>
            <a:r>
              <a:rPr lang="en-US" altLang="zh-TW" sz="4800" dirty="0" smtClean="0">
                <a:ln w="0"/>
                <a:solidFill>
                  <a:srgbClr val="0070C0"/>
                </a:solidFill>
                <a:latin typeface="+mj-lt"/>
              </a:rPr>
              <a:t>b</a:t>
            </a:r>
            <a:r>
              <a:rPr lang="en-US" altLang="zh-TW" sz="4800" dirty="0" smtClean="0">
                <a:ln w="0"/>
                <a:latin typeface="+mj-lt"/>
              </a:rPr>
              <a:t>, 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latin typeface="+mj-lt"/>
              </a:rPr>
              <a:t>c, </a:t>
            </a:r>
            <a:r>
              <a:rPr lang="en-US" altLang="zh-TW" sz="4800" dirty="0" err="1" smtClean="0">
                <a:ln w="0"/>
                <a:latin typeface="+mj-lt"/>
              </a:rPr>
              <a:t>bcb</a:t>
            </a:r>
            <a:r>
              <a:rPr lang="en-US" altLang="zh-TW" sz="4800" dirty="0" smtClean="0">
                <a:ln w="0"/>
                <a:latin typeface="+mj-lt"/>
              </a:rPr>
              <a:t>, </a:t>
            </a:r>
            <a:r>
              <a:rPr lang="en-US" altLang="zh-TW" sz="4800" b="0" cap="none" spc="0" dirty="0" err="1" smtClean="0">
                <a:ln w="0"/>
                <a:solidFill>
                  <a:schemeClr val="tx1"/>
                </a:solidFill>
                <a:latin typeface="+mj-lt"/>
              </a:rPr>
              <a:t>bcb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latin typeface="+mj-lt"/>
              </a:rPr>
              <a:t>, </a:t>
            </a:r>
            <a:r>
              <a:rPr lang="en-US" altLang="zh-TW" sz="4800" dirty="0" smtClean="0">
                <a:ln w="0"/>
                <a:latin typeface="+mj-lt"/>
              </a:rPr>
              <a:t>ab, 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latin typeface="+mj-lt"/>
              </a:rPr>
              <a:t>a</a:t>
            </a:r>
            <a:endParaRPr lang="zh-TW" altLang="en-US" sz="48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780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73250" y="1393170"/>
            <a:ext cx="344119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S-factorization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72835" y="2779964"/>
            <a:ext cx="46618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spc="300" dirty="0" err="1" smtClean="0">
                <a:ln w="0"/>
                <a:latin typeface="+mj-lt"/>
                <a:cs typeface="Times New Roman" panose="02020603050405020304" pitchFamily="18" charset="0"/>
              </a:rPr>
              <a:t>ab</a:t>
            </a:r>
            <a:r>
              <a:rPr lang="en-US" altLang="zh-TW" sz="5400" b="0" cap="none" spc="300" dirty="0" err="1" smtClean="0">
                <a:ln w="0"/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c</a:t>
            </a:r>
            <a:r>
              <a:rPr lang="en-US" altLang="zh-TW" sz="5400" b="0" cap="none" spc="300" dirty="0" err="1" smtClean="0">
                <a:ln w="0"/>
                <a:latin typeface="+mj-lt"/>
                <a:cs typeface="Times New Roman" panose="02020603050405020304" pitchFamily="18" charset="0"/>
              </a:rPr>
              <a:t>b</a:t>
            </a:r>
            <a:r>
              <a:rPr lang="en-US" altLang="zh-TW" sz="5400" b="0" cap="none" spc="300" dirty="0" err="1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cbbcbaba</a:t>
            </a:r>
            <a:endParaRPr lang="zh-TW" altLang="en-US" sz="5400" b="0" cap="none" spc="30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62059" y="4320647"/>
            <a:ext cx="550343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dirty="0" smtClean="0">
                <a:ln w="0"/>
                <a:latin typeface="+mj-lt"/>
              </a:rPr>
              <a:t>a, b, </a:t>
            </a:r>
            <a:r>
              <a:rPr lang="en-US" altLang="zh-TW" sz="4800" b="0" cap="none" spc="0" dirty="0" smtClean="0">
                <a:ln w="0"/>
                <a:solidFill>
                  <a:srgbClr val="0070C0"/>
                </a:solidFill>
                <a:latin typeface="+mj-lt"/>
              </a:rPr>
              <a:t>c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latin typeface="+mj-lt"/>
              </a:rPr>
              <a:t>, </a:t>
            </a:r>
            <a:r>
              <a:rPr lang="en-US" altLang="zh-TW" sz="4800" dirty="0" err="1" smtClean="0">
                <a:ln w="0"/>
                <a:latin typeface="+mj-lt"/>
              </a:rPr>
              <a:t>bcb</a:t>
            </a:r>
            <a:r>
              <a:rPr lang="en-US" altLang="zh-TW" sz="4800" dirty="0" smtClean="0">
                <a:ln w="0"/>
                <a:latin typeface="+mj-lt"/>
              </a:rPr>
              <a:t>, </a:t>
            </a:r>
            <a:r>
              <a:rPr lang="en-US" altLang="zh-TW" sz="4800" b="0" cap="none" spc="0" dirty="0" err="1" smtClean="0">
                <a:ln w="0"/>
                <a:solidFill>
                  <a:schemeClr val="tx1"/>
                </a:solidFill>
                <a:latin typeface="+mj-lt"/>
              </a:rPr>
              <a:t>bcb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latin typeface="+mj-lt"/>
              </a:rPr>
              <a:t>, </a:t>
            </a:r>
            <a:r>
              <a:rPr lang="en-US" altLang="zh-TW" sz="4800" dirty="0" smtClean="0">
                <a:ln w="0"/>
                <a:latin typeface="+mj-lt"/>
              </a:rPr>
              <a:t>ab, 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latin typeface="+mj-lt"/>
              </a:rPr>
              <a:t>a</a:t>
            </a:r>
            <a:endParaRPr lang="zh-TW" altLang="en-US" sz="48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7310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73250" y="1393170"/>
            <a:ext cx="344119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S-factorization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72835" y="2779964"/>
            <a:ext cx="46618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spc="300" dirty="0" err="1" smtClean="0">
                <a:ln w="0"/>
                <a:latin typeface="+mj-lt"/>
                <a:cs typeface="Times New Roman" panose="02020603050405020304" pitchFamily="18" charset="0"/>
              </a:rPr>
              <a:t>a</a:t>
            </a:r>
            <a:r>
              <a:rPr lang="en-US" altLang="zh-TW" sz="5400" u="sng" spc="300" dirty="0" err="1" smtClean="0">
                <a:ln w="0"/>
                <a:latin typeface="+mj-lt"/>
                <a:cs typeface="Times New Roman" panose="02020603050405020304" pitchFamily="18" charset="0"/>
              </a:rPr>
              <a:t>b</a:t>
            </a:r>
            <a:r>
              <a:rPr lang="en-US" altLang="zh-TW" sz="5400" b="0" u="sng" cap="none" spc="300" dirty="0" err="1" smtClean="0">
                <a:ln w="0"/>
                <a:latin typeface="+mj-lt"/>
                <a:cs typeface="Times New Roman" panose="02020603050405020304" pitchFamily="18" charset="0"/>
              </a:rPr>
              <a:t>c</a:t>
            </a:r>
            <a:r>
              <a:rPr lang="en-US" altLang="zh-TW" sz="5400" b="0" u="sng" cap="none" spc="300" dirty="0" err="1" smtClean="0">
                <a:ln w="0"/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b</a:t>
            </a:r>
            <a:r>
              <a:rPr lang="en-US" altLang="zh-TW" sz="5400" b="0" cap="none" spc="300" dirty="0" err="1" smtClean="0">
                <a:ln w="0"/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cb</a:t>
            </a:r>
            <a:r>
              <a:rPr lang="en-US" altLang="zh-TW" sz="5400" b="0" cap="none" spc="300" dirty="0" err="1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bcbaba</a:t>
            </a:r>
            <a:endParaRPr lang="zh-TW" altLang="en-US" sz="5400" b="0" cap="none" spc="30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62059" y="4320647"/>
            <a:ext cx="550343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dirty="0" smtClean="0">
                <a:ln w="0"/>
                <a:latin typeface="+mj-lt"/>
              </a:rPr>
              <a:t>a, b, </a:t>
            </a:r>
            <a:r>
              <a:rPr lang="en-US" altLang="zh-TW" sz="4800" b="0" cap="none" spc="0" dirty="0" smtClean="0">
                <a:ln w="0"/>
                <a:latin typeface="+mj-lt"/>
              </a:rPr>
              <a:t>c, </a:t>
            </a:r>
            <a:r>
              <a:rPr lang="en-US" altLang="zh-TW" sz="4800" dirty="0" err="1" smtClean="0">
                <a:ln w="0"/>
                <a:solidFill>
                  <a:srgbClr val="0070C0"/>
                </a:solidFill>
                <a:latin typeface="+mj-lt"/>
              </a:rPr>
              <a:t>bcb</a:t>
            </a:r>
            <a:r>
              <a:rPr lang="en-US" altLang="zh-TW" sz="4800" dirty="0" smtClean="0">
                <a:ln w="0"/>
                <a:latin typeface="+mj-lt"/>
              </a:rPr>
              <a:t>, </a:t>
            </a:r>
            <a:r>
              <a:rPr lang="en-US" altLang="zh-TW" sz="4800" b="0" cap="none" spc="0" dirty="0" err="1" smtClean="0">
                <a:ln w="0"/>
                <a:solidFill>
                  <a:schemeClr val="tx1"/>
                </a:solidFill>
                <a:latin typeface="+mj-lt"/>
              </a:rPr>
              <a:t>bcb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latin typeface="+mj-lt"/>
              </a:rPr>
              <a:t>, </a:t>
            </a:r>
            <a:r>
              <a:rPr lang="en-US" altLang="zh-TW" sz="4800" dirty="0" smtClean="0">
                <a:ln w="0"/>
                <a:latin typeface="+mj-lt"/>
              </a:rPr>
              <a:t>ab, 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latin typeface="+mj-lt"/>
              </a:rPr>
              <a:t>a</a:t>
            </a:r>
            <a:endParaRPr lang="zh-TW" altLang="en-US" sz="48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338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73250" y="1393170"/>
            <a:ext cx="344119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S-factorization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72835" y="2779964"/>
            <a:ext cx="46618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spc="300" dirty="0" err="1" smtClean="0">
                <a:ln w="0"/>
                <a:latin typeface="+mj-lt"/>
                <a:cs typeface="Times New Roman" panose="02020603050405020304" pitchFamily="18" charset="0"/>
              </a:rPr>
              <a:t>ab</a:t>
            </a:r>
            <a:r>
              <a:rPr lang="en-US" altLang="zh-TW" sz="5400" b="0" cap="none" spc="300" dirty="0" err="1" smtClean="0">
                <a:ln w="0"/>
                <a:latin typeface="+mj-lt"/>
                <a:cs typeface="Times New Roman" panose="02020603050405020304" pitchFamily="18" charset="0"/>
              </a:rPr>
              <a:t>cb</a:t>
            </a:r>
            <a:r>
              <a:rPr lang="en-US" altLang="zh-TW" sz="5400" b="0" cap="none" spc="300" dirty="0" err="1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cb</a:t>
            </a:r>
            <a:r>
              <a:rPr lang="en-US" altLang="zh-TW" sz="5400" b="0" cap="none" spc="300" dirty="0" err="1" smtClean="0">
                <a:ln w="0"/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bcb</a:t>
            </a:r>
            <a:r>
              <a:rPr lang="en-US" altLang="zh-TW" sz="5400" b="0" cap="none" spc="300" dirty="0" err="1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aba</a:t>
            </a:r>
            <a:endParaRPr lang="zh-TW" altLang="en-US" sz="5400" b="0" cap="none" spc="30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62059" y="4320647"/>
            <a:ext cx="550343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dirty="0" smtClean="0">
                <a:ln w="0"/>
                <a:latin typeface="+mj-lt"/>
              </a:rPr>
              <a:t>a, b, </a:t>
            </a:r>
            <a:r>
              <a:rPr lang="en-US" altLang="zh-TW" sz="4800" b="0" cap="none" spc="0" dirty="0" smtClean="0">
                <a:ln w="0"/>
                <a:latin typeface="+mj-lt"/>
              </a:rPr>
              <a:t>c, </a:t>
            </a:r>
            <a:r>
              <a:rPr lang="en-US" altLang="zh-TW" sz="4800" dirty="0" err="1" smtClean="0">
                <a:ln w="0"/>
                <a:latin typeface="+mj-lt"/>
              </a:rPr>
              <a:t>bcb</a:t>
            </a:r>
            <a:r>
              <a:rPr lang="en-US" altLang="zh-TW" sz="4800" dirty="0" smtClean="0">
                <a:ln w="0"/>
                <a:latin typeface="+mj-lt"/>
              </a:rPr>
              <a:t>, </a:t>
            </a:r>
            <a:r>
              <a:rPr lang="en-US" altLang="zh-TW" sz="4800" b="0" cap="none" spc="0" dirty="0" err="1" smtClean="0">
                <a:ln w="0"/>
                <a:solidFill>
                  <a:srgbClr val="0070C0"/>
                </a:solidFill>
                <a:latin typeface="+mj-lt"/>
              </a:rPr>
              <a:t>bcb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latin typeface="+mj-lt"/>
              </a:rPr>
              <a:t>, </a:t>
            </a:r>
            <a:r>
              <a:rPr lang="en-US" altLang="zh-TW" sz="4800" dirty="0" smtClean="0">
                <a:ln w="0"/>
                <a:latin typeface="+mj-lt"/>
              </a:rPr>
              <a:t>ab, 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latin typeface="+mj-lt"/>
              </a:rPr>
              <a:t>a</a:t>
            </a:r>
            <a:endParaRPr lang="zh-TW" altLang="en-US" sz="48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7876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73250" y="1393170"/>
            <a:ext cx="344119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S-factorization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72835" y="2779964"/>
            <a:ext cx="46618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u="sng" spc="300" dirty="0" err="1" smtClean="0">
                <a:ln w="0"/>
                <a:latin typeface="+mj-lt"/>
                <a:cs typeface="Times New Roman" panose="02020603050405020304" pitchFamily="18" charset="0"/>
              </a:rPr>
              <a:t>ab</a:t>
            </a:r>
            <a:r>
              <a:rPr lang="en-US" altLang="zh-TW" sz="5400" b="0" cap="none" spc="300" dirty="0" err="1" smtClean="0">
                <a:ln w="0"/>
                <a:latin typeface="+mj-lt"/>
                <a:cs typeface="Times New Roman" panose="02020603050405020304" pitchFamily="18" charset="0"/>
              </a:rPr>
              <a:t>cb</a:t>
            </a:r>
            <a:r>
              <a:rPr lang="en-US" altLang="zh-TW" sz="5400" b="0" cap="none" spc="300" dirty="0" err="1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cbbcb</a:t>
            </a:r>
            <a:r>
              <a:rPr lang="en-US" altLang="zh-TW" sz="5400" b="0" cap="none" spc="300" dirty="0" err="1" smtClean="0">
                <a:ln w="0"/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ab</a:t>
            </a:r>
            <a:r>
              <a:rPr lang="en-US" altLang="zh-TW" sz="5400" b="0" cap="none" spc="300" dirty="0" err="1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a</a:t>
            </a:r>
            <a:endParaRPr lang="zh-TW" altLang="en-US" sz="5400" b="0" cap="none" spc="30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62059" y="4320647"/>
            <a:ext cx="550343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dirty="0" smtClean="0">
                <a:ln w="0"/>
                <a:latin typeface="+mj-lt"/>
              </a:rPr>
              <a:t>a, b, </a:t>
            </a:r>
            <a:r>
              <a:rPr lang="en-US" altLang="zh-TW" sz="4800" b="0" cap="none" spc="0" dirty="0" smtClean="0">
                <a:ln w="0"/>
                <a:latin typeface="+mj-lt"/>
              </a:rPr>
              <a:t>c, </a:t>
            </a:r>
            <a:r>
              <a:rPr lang="en-US" altLang="zh-TW" sz="4800" dirty="0" err="1" smtClean="0">
                <a:ln w="0"/>
                <a:latin typeface="+mj-lt"/>
              </a:rPr>
              <a:t>bcb</a:t>
            </a:r>
            <a:r>
              <a:rPr lang="en-US" altLang="zh-TW" sz="4800" dirty="0" smtClean="0">
                <a:ln w="0"/>
                <a:latin typeface="+mj-lt"/>
              </a:rPr>
              <a:t>, </a:t>
            </a:r>
            <a:r>
              <a:rPr lang="en-US" altLang="zh-TW" sz="4800" b="0" cap="none" spc="0" dirty="0" err="1" smtClean="0">
                <a:ln w="0"/>
                <a:solidFill>
                  <a:schemeClr val="tx1"/>
                </a:solidFill>
                <a:latin typeface="+mj-lt"/>
              </a:rPr>
              <a:t>bcb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latin typeface="+mj-lt"/>
              </a:rPr>
              <a:t>, </a:t>
            </a:r>
            <a:r>
              <a:rPr lang="en-US" altLang="zh-TW" sz="4800" dirty="0" smtClean="0">
                <a:ln w="0"/>
                <a:solidFill>
                  <a:srgbClr val="0070C0"/>
                </a:solidFill>
                <a:latin typeface="+mj-lt"/>
              </a:rPr>
              <a:t>ab</a:t>
            </a:r>
            <a:r>
              <a:rPr lang="en-US" altLang="zh-TW" sz="4800" dirty="0" smtClean="0">
                <a:ln w="0"/>
                <a:latin typeface="+mj-lt"/>
              </a:rPr>
              <a:t>, </a:t>
            </a:r>
            <a:r>
              <a:rPr lang="en-US" altLang="zh-TW" sz="4800" b="0" cap="none" spc="0" dirty="0" smtClean="0">
                <a:ln w="0"/>
                <a:solidFill>
                  <a:schemeClr val="tx1"/>
                </a:solidFill>
                <a:latin typeface="+mj-lt"/>
              </a:rPr>
              <a:t>a</a:t>
            </a:r>
            <a:endParaRPr lang="zh-TW" altLang="en-US" sz="48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93335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73250" y="1393170"/>
            <a:ext cx="3441198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S-factorization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01725" y="2779964"/>
            <a:ext cx="20040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spc="300" dirty="0" err="1" smtClean="0">
                <a:ln w="0"/>
                <a:latin typeface="+mj-lt"/>
                <a:cs typeface="Times New Roman" panose="02020603050405020304" pitchFamily="18" charset="0"/>
              </a:rPr>
              <a:t>aaaaa</a:t>
            </a:r>
            <a:endParaRPr lang="zh-TW" altLang="en-US" sz="5400" b="0" cap="none" spc="30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55069" y="4320647"/>
            <a:ext cx="192552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800" dirty="0" smtClean="0">
                <a:ln w="0"/>
                <a:latin typeface="+mj-lt"/>
              </a:rPr>
              <a:t>a, </a:t>
            </a:r>
            <a:r>
              <a:rPr lang="en-US" altLang="zh-TW" sz="4800" dirty="0" err="1" smtClean="0">
                <a:ln w="0"/>
                <a:latin typeface="+mj-lt"/>
              </a:rPr>
              <a:t>aaaa</a:t>
            </a:r>
            <a:endParaRPr lang="zh-TW" altLang="en-US" sz="48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6379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128660" y="2721850"/>
            <a:ext cx="8783751" cy="255454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Theorem (Fine and Wilf, 1965)</a:t>
            </a:r>
            <a:endParaRPr lang="en-US" altLang="zh-TW" sz="4000" dirty="0">
              <a:ln w="0"/>
              <a:latin typeface="+mj-lt"/>
              <a:cs typeface="Times New Roman" panose="02020603050405020304" pitchFamily="18" charset="0"/>
            </a:endParaRPr>
          </a:p>
          <a:p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	If word </a:t>
            </a:r>
            <a:r>
              <a:rPr lang="en-US" altLang="zh-TW" sz="4000" b="0" i="1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w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has periods p</a:t>
            </a:r>
            <a:r>
              <a:rPr lang="en-US" altLang="zh-TW" sz="4000" b="0" cap="none" spc="0" baseline="-2500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1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, p</a:t>
            </a:r>
            <a:r>
              <a:rPr lang="en-US" altLang="zh-TW" sz="4000" b="0" cap="none" spc="0" baseline="-2500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2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,</a:t>
            </a:r>
          </a:p>
          <a:p>
            <a:r>
              <a:rPr lang="en-US" altLang="zh-TW" sz="4000" dirty="0">
                <a:ln w="0"/>
                <a:latin typeface="+mj-lt"/>
                <a:cs typeface="Times New Roman" panose="02020603050405020304" pitchFamily="18" charset="0"/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and |</a:t>
            </a:r>
            <a:r>
              <a:rPr lang="en-US" altLang="zh-TW" sz="4000" i="1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w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| ≥ p</a:t>
            </a:r>
            <a:r>
              <a:rPr lang="en-US" altLang="zh-TW" sz="4000" b="0" cap="none" spc="0" baseline="-2500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1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+ p</a:t>
            </a:r>
            <a:r>
              <a:rPr lang="en-US" altLang="zh-TW" sz="4000" b="0" cap="none" spc="0" baseline="-2500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2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– </a:t>
            </a:r>
            <a:r>
              <a:rPr lang="en-US" altLang="zh-TW" sz="4000" b="0" cap="none" spc="0" dirty="0" err="1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gcd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(p</a:t>
            </a:r>
            <a:r>
              <a:rPr lang="en-US" altLang="zh-TW" sz="4000" b="0" cap="none" spc="0" baseline="-2500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1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, p</a:t>
            </a:r>
            <a:r>
              <a:rPr lang="en-US" altLang="zh-TW" sz="4000" b="0" cap="none" spc="0" baseline="-2500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2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),</a:t>
            </a:r>
          </a:p>
          <a:p>
            <a:r>
              <a:rPr lang="en-US" altLang="zh-TW" sz="4000" dirty="0">
                <a:ln w="0"/>
                <a:latin typeface="+mj-lt"/>
                <a:cs typeface="Times New Roman" panose="02020603050405020304" pitchFamily="18" charset="0"/>
              </a:rPr>
              <a:t>	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then </a:t>
            </a:r>
            <a:r>
              <a:rPr lang="en-US" altLang="zh-TW" sz="4000" b="0" cap="none" spc="0" dirty="0" err="1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gcd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(p</a:t>
            </a:r>
            <a:r>
              <a:rPr lang="en-US" altLang="zh-TW" sz="4000" b="0" cap="none" spc="0" baseline="-2500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1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, p</a:t>
            </a:r>
            <a:r>
              <a:rPr lang="en-US" altLang="zh-TW" sz="4000" b="0" cap="none" spc="0" baseline="-2500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2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) is also a period of </a:t>
            </a:r>
            <a:r>
              <a:rPr lang="en-US" altLang="zh-TW" sz="4000" b="0" i="1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w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9" name="矩形 18"/>
          <p:cNvSpPr/>
          <p:nvPr/>
        </p:nvSpPr>
        <p:spPr>
          <a:xfrm>
            <a:off x="128660" y="1217318"/>
            <a:ext cx="5477269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Properties of runs (1/2)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431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128659" y="1217318"/>
            <a:ext cx="54772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Properties of runs (2/2)</a:t>
            </a:r>
            <a:endParaRPr lang="zh-TW" altLang="en-US" sz="4400" b="0" cap="none" spc="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040" y="2745663"/>
            <a:ext cx="6353860" cy="246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01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014326" y="709848"/>
            <a:ext cx="8007961" cy="563231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1: 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2: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Leftmost Maximal Periodicities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	Michael G. Main,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(1989)</a:t>
            </a:r>
          </a:p>
          <a:p>
            <a:endParaRPr lang="en-US" altLang="zh-TW" sz="2400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Repetitions in a Word in Linear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r>
              <a:rPr lang="en-US" altLang="zh-TW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400" dirty="0" err="1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Kolpakov</a:t>
            </a:r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400" dirty="0" err="1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Kucherov</a:t>
            </a:r>
            <a:r>
              <a:rPr lang="en-US" altLang="zh-TW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(1999)</a:t>
            </a:r>
          </a:p>
          <a:p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13" name="矩形 12"/>
          <p:cNvSpPr/>
          <p:nvPr/>
        </p:nvSpPr>
        <p:spPr>
          <a:xfrm>
            <a:off x="121133" y="3722940"/>
            <a:ext cx="893193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15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TW" altLang="en-US" sz="11500" b="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8109" y="3399774"/>
            <a:ext cx="105670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endParaRPr lang="zh-TW" altLang="en-US" sz="3600" b="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599818"/>
              </p:ext>
            </p:extLst>
          </p:nvPr>
        </p:nvGraphicFramePr>
        <p:xfrm>
          <a:off x="2657856" y="1351280"/>
          <a:ext cx="43190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24"/>
                <a:gridCol w="868680"/>
                <a:gridCol w="1143000"/>
                <a:gridCol w="1810512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rgbClr val="649FBC"/>
                        </a:solidFill>
                      </a:endParaRPr>
                    </a:p>
                  </a:txBody>
                  <a:tcPr>
                    <a:solidFill>
                      <a:srgbClr val="649FB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805076"/>
              </p:ext>
            </p:extLst>
          </p:nvPr>
        </p:nvGraphicFramePr>
        <p:xfrm>
          <a:off x="2657856" y="2482088"/>
          <a:ext cx="43190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24"/>
                <a:gridCol w="868680"/>
                <a:gridCol w="1143000"/>
                <a:gridCol w="1810512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rgbClr val="649FBC"/>
                        </a:solidFill>
                      </a:endParaRPr>
                    </a:p>
                  </a:txBody>
                  <a:tcPr>
                    <a:solidFill>
                      <a:srgbClr val="649FBC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 rot="16200000">
            <a:off x="4824103" y="175402"/>
            <a:ext cx="64793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1500" b="0" cap="none" spc="0" dirty="0" smtClean="0">
                <a:ln w="0"/>
                <a:solidFill>
                  <a:srgbClr val="FF0000"/>
                </a:solidFill>
              </a:rPr>
              <a:t>}</a:t>
            </a:r>
            <a:endParaRPr lang="zh-TW" altLang="en-US" sz="11500" b="0" cap="none" spc="0" dirty="0">
              <a:ln w="0"/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 rot="16200000">
            <a:off x="5570558" y="1837432"/>
            <a:ext cx="42672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6000" b="0" cap="none" spc="0" dirty="0" smtClean="0">
                <a:ln w="0"/>
                <a:solidFill>
                  <a:srgbClr val="FF0000"/>
                </a:solidFill>
              </a:rPr>
              <a:t>}</a:t>
            </a:r>
            <a:endParaRPr lang="zh-TW" altLang="en-US" sz="6000" b="0" cap="none" spc="0" dirty="0">
              <a:ln w="0"/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11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014326" y="709848"/>
            <a:ext cx="1175322" cy="267765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1: 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2: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599818"/>
              </p:ext>
            </p:extLst>
          </p:nvPr>
        </p:nvGraphicFramePr>
        <p:xfrm>
          <a:off x="2657856" y="1351280"/>
          <a:ext cx="43190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24"/>
                <a:gridCol w="868680"/>
                <a:gridCol w="1143000"/>
                <a:gridCol w="1810512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rgbClr val="649FBC"/>
                        </a:solidFill>
                      </a:endParaRPr>
                    </a:p>
                  </a:txBody>
                  <a:tcPr>
                    <a:solidFill>
                      <a:srgbClr val="649FB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805076"/>
              </p:ext>
            </p:extLst>
          </p:nvPr>
        </p:nvGraphicFramePr>
        <p:xfrm>
          <a:off x="2657856" y="2482088"/>
          <a:ext cx="43190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24"/>
                <a:gridCol w="868680"/>
                <a:gridCol w="1143000"/>
                <a:gridCol w="1810512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rgbClr val="649FBC"/>
                        </a:solidFill>
                      </a:endParaRPr>
                    </a:p>
                  </a:txBody>
                  <a:tcPr>
                    <a:solidFill>
                      <a:srgbClr val="649FBC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 rot="16200000">
            <a:off x="4824103" y="175402"/>
            <a:ext cx="64793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1500" b="0" cap="none" spc="0" dirty="0" smtClean="0">
                <a:ln w="0"/>
                <a:solidFill>
                  <a:srgbClr val="FF0000"/>
                </a:solidFill>
              </a:rPr>
              <a:t>}</a:t>
            </a:r>
            <a:endParaRPr lang="zh-TW" altLang="en-US" sz="11500" b="0" cap="none" spc="0" dirty="0">
              <a:ln w="0"/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 rot="16200000">
            <a:off x="5570558" y="1837432"/>
            <a:ext cx="42672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6000" b="0" cap="none" spc="0" dirty="0" smtClean="0">
                <a:ln w="0"/>
                <a:solidFill>
                  <a:srgbClr val="FF0000"/>
                </a:solidFill>
              </a:rPr>
              <a:t>}</a:t>
            </a:r>
            <a:endParaRPr lang="zh-TW" altLang="en-US" sz="6000" b="0" cap="none" spc="0" dirty="0">
              <a:ln w="0"/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95745" y="3821603"/>
            <a:ext cx="392607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spc="300" dirty="0" err="1" smtClean="0">
                <a:ln w="0"/>
                <a:latin typeface="+mj-lt"/>
                <a:cs typeface="Times New Roman" panose="02020603050405020304" pitchFamily="18" charset="0"/>
              </a:rPr>
              <a:t>a</a:t>
            </a:r>
            <a:r>
              <a:rPr lang="en-US" altLang="zh-TW" sz="4400" u="sng" spc="300" dirty="0" err="1" smtClean="0">
                <a:ln w="0"/>
                <a:latin typeface="+mj-lt"/>
                <a:cs typeface="Times New Roman" panose="02020603050405020304" pitchFamily="18" charset="0"/>
              </a:rPr>
              <a:t>b</a:t>
            </a:r>
            <a:r>
              <a:rPr lang="en-US" altLang="zh-TW" sz="4400" b="0" u="sng" cap="none" spc="300" dirty="0" err="1" smtClean="0">
                <a:ln w="0"/>
                <a:latin typeface="+mj-lt"/>
                <a:cs typeface="Times New Roman" panose="02020603050405020304" pitchFamily="18" charset="0"/>
              </a:rPr>
              <a:t>c</a:t>
            </a:r>
            <a:r>
              <a:rPr lang="en-US" altLang="zh-TW" sz="4400" b="0" u="sng" cap="none" spc="300" dirty="0" err="1" smtClean="0">
                <a:ln w="0"/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b</a:t>
            </a:r>
            <a:r>
              <a:rPr lang="en-US" altLang="zh-TW" sz="4400" b="0" cap="none" spc="300" dirty="0" err="1" smtClean="0">
                <a:ln w="0"/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cb</a:t>
            </a:r>
            <a:r>
              <a:rPr lang="en-US" altLang="zh-TW" sz="4400" b="0" cap="none" spc="300" dirty="0" err="1" smtClean="0">
                <a:ln w="0"/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bcbaba</a:t>
            </a:r>
            <a:endParaRPr lang="zh-TW" altLang="en-US" sz="4400" b="0" cap="none" spc="300" dirty="0">
              <a:ln w="0"/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593571" y="4952411"/>
            <a:ext cx="460414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000" dirty="0" smtClean="0">
                <a:ln w="0"/>
                <a:latin typeface="+mj-lt"/>
              </a:rPr>
              <a:t>a, b, </a:t>
            </a:r>
            <a:r>
              <a:rPr lang="en-US" altLang="zh-TW" sz="4000" b="0" cap="none" spc="0" dirty="0" smtClean="0">
                <a:ln w="0"/>
                <a:latin typeface="+mj-lt"/>
              </a:rPr>
              <a:t>c, </a:t>
            </a:r>
            <a:r>
              <a:rPr lang="en-US" altLang="zh-TW" sz="4000" dirty="0" err="1" smtClean="0">
                <a:ln w="0"/>
                <a:solidFill>
                  <a:srgbClr val="0070C0"/>
                </a:solidFill>
                <a:latin typeface="+mj-lt"/>
              </a:rPr>
              <a:t>bcb</a:t>
            </a:r>
            <a:r>
              <a:rPr lang="en-US" altLang="zh-TW" sz="4000" dirty="0" smtClean="0">
                <a:ln w="0"/>
                <a:latin typeface="+mj-lt"/>
              </a:rPr>
              <a:t>, </a:t>
            </a:r>
            <a:r>
              <a:rPr lang="en-US" altLang="zh-TW" sz="4000" b="0" cap="none" spc="0" dirty="0" err="1" smtClean="0">
                <a:ln w="0"/>
                <a:solidFill>
                  <a:schemeClr val="tx1"/>
                </a:solidFill>
                <a:latin typeface="+mj-lt"/>
              </a:rPr>
              <a:t>bcb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</a:rPr>
              <a:t>, </a:t>
            </a:r>
            <a:r>
              <a:rPr lang="en-US" altLang="zh-TW" sz="4000" dirty="0" smtClean="0">
                <a:ln w="0"/>
                <a:latin typeface="+mj-lt"/>
              </a:rPr>
              <a:t>ab, </a:t>
            </a:r>
            <a:r>
              <a:rPr lang="en-US" altLang="zh-TW" sz="4000" b="0" cap="none" spc="0" dirty="0" smtClean="0">
                <a:ln w="0"/>
                <a:solidFill>
                  <a:schemeClr val="tx1"/>
                </a:solidFill>
                <a:latin typeface="+mj-lt"/>
              </a:rPr>
              <a:t>a</a:t>
            </a:r>
            <a:endParaRPr lang="zh-TW" altLang="en-US" sz="4000" b="0" cap="none" spc="0" dirty="0">
              <a:ln w="0"/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矩形 12"/>
          <p:cNvSpPr/>
          <p:nvPr/>
        </p:nvSpPr>
        <p:spPr>
          <a:xfrm rot="16200000">
            <a:off x="3711278" y="1843528"/>
            <a:ext cx="42672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6000" b="0" cap="none" spc="0" dirty="0" smtClean="0">
                <a:ln w="0"/>
                <a:solidFill>
                  <a:srgbClr val="FF0000"/>
                </a:solidFill>
              </a:rPr>
              <a:t>}</a:t>
            </a:r>
            <a:endParaRPr lang="zh-TW" altLang="en-US" sz="6000" b="0" cap="none" spc="0" dirty="0">
              <a:ln w="0"/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98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014326" y="709848"/>
            <a:ext cx="1175322" cy="267765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1: 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2: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201765"/>
              </p:ext>
            </p:extLst>
          </p:nvPr>
        </p:nvGraphicFramePr>
        <p:xfrm>
          <a:off x="2657856" y="1351280"/>
          <a:ext cx="43190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24"/>
                <a:gridCol w="868680"/>
                <a:gridCol w="1143000"/>
                <a:gridCol w="1810512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</a:rPr>
                        <a:t>h-1</a:t>
                      </a:r>
                      <a:endParaRPr lang="zh-TW" altLang="en-US" baseline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4"/>
                          </a:solidFill>
                        </a:rPr>
                        <a:t>h</a:t>
                      </a:r>
                      <a:endParaRPr lang="zh-TW" altLang="en-US" dirty="0">
                        <a:solidFill>
                          <a:schemeClr val="accent4"/>
                        </a:solidFill>
                      </a:endParaRPr>
                    </a:p>
                  </a:txBody>
                  <a:tcPr>
                    <a:solidFill>
                      <a:srgbClr val="649FB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805076"/>
              </p:ext>
            </p:extLst>
          </p:nvPr>
        </p:nvGraphicFramePr>
        <p:xfrm>
          <a:off x="2657856" y="2482088"/>
          <a:ext cx="43190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24"/>
                <a:gridCol w="868680"/>
                <a:gridCol w="1143000"/>
                <a:gridCol w="1810512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rgbClr val="649FBC"/>
                        </a:solidFill>
                      </a:endParaRPr>
                    </a:p>
                  </a:txBody>
                  <a:tcPr>
                    <a:solidFill>
                      <a:srgbClr val="649FBC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 rot="16200000">
            <a:off x="4824103" y="175402"/>
            <a:ext cx="64793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1500" b="0" cap="none" spc="0" dirty="0" smtClean="0">
                <a:ln w="0"/>
                <a:solidFill>
                  <a:srgbClr val="FF0000"/>
                </a:solidFill>
              </a:rPr>
              <a:t>}</a:t>
            </a:r>
            <a:endParaRPr lang="zh-TW" altLang="en-US" sz="11500" b="0" cap="none" spc="0" dirty="0">
              <a:ln w="0"/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 rot="16200000">
            <a:off x="5570558" y="1837432"/>
            <a:ext cx="42672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6000" b="0" cap="none" spc="0" dirty="0" smtClean="0">
                <a:ln w="0"/>
                <a:solidFill>
                  <a:srgbClr val="FF0000"/>
                </a:solidFill>
              </a:rPr>
              <a:t>}</a:t>
            </a:r>
            <a:endParaRPr lang="zh-TW" altLang="en-US" sz="6000" b="0" cap="none" spc="0" dirty="0">
              <a:ln w="0"/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028284" y="4155948"/>
                <a:ext cx="3578159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4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TW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4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40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284" y="4155948"/>
                <a:ext cx="3578159" cy="61555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4985205" y="356722"/>
            <a:ext cx="32573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200" b="0" cap="none" spc="0" dirty="0" smtClean="0">
                <a:ln w="0"/>
                <a:solidFill>
                  <a:srgbClr val="FF0000"/>
                </a:solidFill>
                <a:latin typeface="+mj-lt"/>
              </a:rPr>
              <a:t>r</a:t>
            </a:r>
            <a:endParaRPr lang="zh-TW" altLang="en-US" sz="3200" b="0" cap="none" spc="0" dirty="0">
              <a:ln w="0"/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02727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014326" y="709848"/>
            <a:ext cx="117532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1: 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201765"/>
              </p:ext>
            </p:extLst>
          </p:nvPr>
        </p:nvGraphicFramePr>
        <p:xfrm>
          <a:off x="2657856" y="1351280"/>
          <a:ext cx="43190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24"/>
                <a:gridCol w="868680"/>
                <a:gridCol w="1143000"/>
                <a:gridCol w="1810512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 smtClean="0">
                          <a:solidFill>
                            <a:srgbClr val="FF0000"/>
                          </a:solidFill>
                        </a:rPr>
                        <a:t>h-1</a:t>
                      </a:r>
                      <a:endParaRPr lang="zh-TW" altLang="en-US" baseline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accent4"/>
                          </a:solidFill>
                        </a:rPr>
                        <a:t>h</a:t>
                      </a:r>
                      <a:endParaRPr lang="zh-TW" altLang="en-US" dirty="0">
                        <a:solidFill>
                          <a:schemeClr val="accent4"/>
                        </a:solidFill>
                      </a:endParaRPr>
                    </a:p>
                  </a:txBody>
                  <a:tcPr>
                    <a:solidFill>
                      <a:srgbClr val="649FBC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 rot="16200000">
            <a:off x="4824103" y="175402"/>
            <a:ext cx="64793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1500" b="0" cap="none" spc="0" dirty="0" smtClean="0">
                <a:ln w="0"/>
                <a:solidFill>
                  <a:srgbClr val="FF0000"/>
                </a:solidFill>
              </a:rPr>
              <a:t>}</a:t>
            </a:r>
            <a:endParaRPr lang="zh-TW" altLang="en-US" sz="11500" b="0" cap="none" spc="0" dirty="0">
              <a:ln w="0"/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852012" y="2179996"/>
                <a:ext cx="322101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sz="3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40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12" y="2179996"/>
                <a:ext cx="3221010" cy="55399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4985205" y="356722"/>
            <a:ext cx="32573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200" b="0" cap="none" spc="0" dirty="0" smtClean="0">
                <a:ln w="0"/>
                <a:solidFill>
                  <a:srgbClr val="FF0000"/>
                </a:solidFill>
                <a:latin typeface="+mj-lt"/>
              </a:rPr>
              <a:t>r</a:t>
            </a:r>
            <a:endParaRPr lang="zh-TW" altLang="en-US" sz="3200" b="0" cap="none" spc="0" dirty="0">
              <a:ln w="0"/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723" y="2915269"/>
            <a:ext cx="7407282" cy="347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3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014326" y="709848"/>
            <a:ext cx="117532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1: 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599818"/>
              </p:ext>
            </p:extLst>
          </p:nvPr>
        </p:nvGraphicFramePr>
        <p:xfrm>
          <a:off x="2657856" y="1351280"/>
          <a:ext cx="43190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24"/>
                <a:gridCol w="868680"/>
                <a:gridCol w="1143000"/>
                <a:gridCol w="1810512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rgbClr val="649FBC"/>
                        </a:solidFill>
                      </a:endParaRPr>
                    </a:p>
                  </a:txBody>
                  <a:tcPr>
                    <a:solidFill>
                      <a:srgbClr val="649FBC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 rot="16200000">
            <a:off x="4824103" y="175402"/>
            <a:ext cx="64793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1500" b="0" cap="none" spc="0" dirty="0" smtClean="0">
                <a:ln w="0"/>
                <a:solidFill>
                  <a:srgbClr val="FF0000"/>
                </a:solidFill>
              </a:rPr>
              <a:t>}</a:t>
            </a:r>
            <a:endParaRPr lang="zh-TW" altLang="en-US" sz="11500" b="0" cap="none" spc="0" dirty="0">
              <a:ln w="0"/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81738" y="2970569"/>
            <a:ext cx="8018221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Leftmost Maximal Periodicities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Michael G. Main, Discrete Applied Mathematics (1989)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O(n log n) Algorithm for Finding All Repetitions in a String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Michael G. Main, Journal of Algorithms (1984)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605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309036"/>
              </p:ext>
            </p:extLst>
          </p:nvPr>
        </p:nvGraphicFramePr>
        <p:xfrm>
          <a:off x="743715" y="594360"/>
          <a:ext cx="7437120" cy="2044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</a:tblGrid>
              <a:tr h="1022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1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2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3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4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5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6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7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8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9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0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1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2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3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4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5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6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</a:tr>
              <a:tr h="1022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a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730836" y="3698815"/>
            <a:ext cx="2151551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dirty="0">
                <a:ln w="0"/>
                <a:latin typeface="+mj-lt"/>
              </a:rPr>
              <a:t>LS[4] = </a:t>
            </a:r>
            <a:r>
              <a:rPr lang="en-US" altLang="zh-TW" sz="4400" dirty="0" smtClean="0">
                <a:ln w="0"/>
                <a:latin typeface="+mj-lt"/>
              </a:rPr>
              <a:t>0</a:t>
            </a:r>
          </a:p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LP[5] = 0</a:t>
            </a:r>
          </a:p>
        </p:txBody>
      </p:sp>
      <p:sp>
        <p:nvSpPr>
          <p:cNvPr id="11" name="矩形 10"/>
          <p:cNvSpPr/>
          <p:nvPr/>
        </p:nvSpPr>
        <p:spPr>
          <a:xfrm>
            <a:off x="618747" y="2652375"/>
            <a:ext cx="3440365" cy="35394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(begin, end, period)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(2, 6, 2)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(4, 13, 3)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(6, 7, 1)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(9, 10, 1)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(12, 16, 1)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(12, 16, 2)</a:t>
            </a:r>
          </a:p>
        </p:txBody>
      </p:sp>
      <p:sp>
        <p:nvSpPr>
          <p:cNvPr id="10" name="矩形 9"/>
          <p:cNvSpPr/>
          <p:nvPr/>
        </p:nvSpPr>
        <p:spPr>
          <a:xfrm>
            <a:off x="2109539" y="693126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4" name="群組 13"/>
          <p:cNvGrpSpPr/>
          <p:nvPr/>
        </p:nvGrpSpPr>
        <p:grpSpPr>
          <a:xfrm>
            <a:off x="740664" y="1744251"/>
            <a:ext cx="2779776" cy="806926"/>
            <a:chOff x="740664" y="1744251"/>
            <a:chExt cx="2779776" cy="806926"/>
          </a:xfrm>
        </p:grpSpPr>
        <p:sp>
          <p:nvSpPr>
            <p:cNvPr id="15" name="矩形 14"/>
            <p:cNvSpPr/>
            <p:nvPr/>
          </p:nvSpPr>
          <p:spPr>
            <a:xfrm>
              <a:off x="740664" y="1746505"/>
              <a:ext cx="1353312" cy="804672"/>
            </a:xfrm>
            <a:prstGeom prst="rect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2103120" y="1744251"/>
              <a:ext cx="1417320" cy="806926"/>
            </a:xfrm>
            <a:prstGeom prst="rect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456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674530"/>
              </p:ext>
            </p:extLst>
          </p:nvPr>
        </p:nvGraphicFramePr>
        <p:xfrm>
          <a:off x="743715" y="594360"/>
          <a:ext cx="7437120" cy="2044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</a:tblGrid>
              <a:tr h="1022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1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2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3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4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5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6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7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8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9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0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1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2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3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4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5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6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</a:tr>
              <a:tr h="1022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a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730836" y="3698815"/>
            <a:ext cx="2151551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dirty="0" smtClean="0">
                <a:ln w="0"/>
                <a:latin typeface="+mj-lt"/>
              </a:rPr>
              <a:t>LS[5] </a:t>
            </a:r>
            <a:r>
              <a:rPr lang="en-US" altLang="zh-TW" sz="4400" dirty="0">
                <a:ln w="0"/>
                <a:latin typeface="+mj-lt"/>
              </a:rPr>
              <a:t>= </a:t>
            </a:r>
            <a:r>
              <a:rPr lang="en-US" altLang="zh-TW" sz="4400" dirty="0" smtClean="0">
                <a:ln w="0"/>
                <a:latin typeface="+mj-lt"/>
              </a:rPr>
              <a:t>2</a:t>
            </a:r>
          </a:p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LP[6] = 1</a:t>
            </a:r>
          </a:p>
        </p:txBody>
      </p:sp>
      <p:sp>
        <p:nvSpPr>
          <p:cNvPr id="11" name="矩形 10"/>
          <p:cNvSpPr/>
          <p:nvPr/>
        </p:nvSpPr>
        <p:spPr>
          <a:xfrm>
            <a:off x="618747" y="2652375"/>
            <a:ext cx="3440365" cy="35394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(begin, end, period)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(2, 6, 2)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(4, 13, 3)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(6, 7, 1)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(9, 10, 1)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(12, 16, 1)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(12, 16, 2)</a:t>
            </a:r>
          </a:p>
        </p:txBody>
      </p:sp>
      <p:sp>
        <p:nvSpPr>
          <p:cNvPr id="6" name="矩形 5"/>
          <p:cNvSpPr/>
          <p:nvPr/>
        </p:nvSpPr>
        <p:spPr>
          <a:xfrm>
            <a:off x="2594171" y="693126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36259" y="3131526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740664" y="1744251"/>
            <a:ext cx="2779776" cy="806926"/>
            <a:chOff x="740664" y="1744251"/>
            <a:chExt cx="2779776" cy="806926"/>
          </a:xfrm>
        </p:grpSpPr>
        <p:sp>
          <p:nvSpPr>
            <p:cNvPr id="2" name="矩形 1"/>
            <p:cNvSpPr/>
            <p:nvPr/>
          </p:nvSpPr>
          <p:spPr>
            <a:xfrm>
              <a:off x="740664" y="1746505"/>
              <a:ext cx="1353312" cy="804672"/>
            </a:xfrm>
            <a:prstGeom prst="rect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2103120" y="1744251"/>
              <a:ext cx="1417320" cy="806926"/>
            </a:xfrm>
            <a:prstGeom prst="rect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" name="矩形 4"/>
          <p:cNvSpPr/>
          <p:nvPr/>
        </p:nvSpPr>
        <p:spPr>
          <a:xfrm>
            <a:off x="3399560" y="2467709"/>
            <a:ext cx="32733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2400" b="0" cap="none" spc="0" dirty="0" smtClean="0">
                <a:ln w="0"/>
                <a:solidFill>
                  <a:schemeClr val="accent4"/>
                </a:solidFill>
              </a:rPr>
              <a:t>?</a:t>
            </a:r>
            <a:endParaRPr lang="zh-TW" altLang="en-US" sz="2400" b="0" cap="none" spc="0" dirty="0">
              <a:ln w="0"/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169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309036"/>
              </p:ext>
            </p:extLst>
          </p:nvPr>
        </p:nvGraphicFramePr>
        <p:xfrm>
          <a:off x="743715" y="594360"/>
          <a:ext cx="7437120" cy="2044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</a:tblGrid>
              <a:tr h="1022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1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2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3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4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5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6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7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8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9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0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1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2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3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4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5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6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</a:tr>
              <a:tr h="1022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a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730836" y="3698815"/>
            <a:ext cx="2151551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dirty="0" smtClean="0">
                <a:ln w="0"/>
                <a:latin typeface="+mj-lt"/>
              </a:rPr>
              <a:t>LS[7] </a:t>
            </a:r>
            <a:r>
              <a:rPr lang="en-US" altLang="zh-TW" sz="4400" dirty="0">
                <a:ln w="0"/>
                <a:latin typeface="+mj-lt"/>
              </a:rPr>
              <a:t>= 1</a:t>
            </a:r>
            <a:endParaRPr lang="en-US" altLang="zh-TW" sz="4400" dirty="0" smtClean="0">
              <a:ln w="0"/>
              <a:latin typeface="+mj-lt"/>
            </a:endParaRPr>
          </a:p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LP[8] = 0</a:t>
            </a:r>
          </a:p>
        </p:txBody>
      </p:sp>
      <p:sp>
        <p:nvSpPr>
          <p:cNvPr id="11" name="矩形 10"/>
          <p:cNvSpPr/>
          <p:nvPr/>
        </p:nvSpPr>
        <p:spPr>
          <a:xfrm>
            <a:off x="618747" y="2652375"/>
            <a:ext cx="3440365" cy="35394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(begin, end, period)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(2, 6, 2)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(4, 13, 3)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(6, 7, 1)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(9, 10, 1)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(12, 16, 1)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(12, 16, 2)</a:t>
            </a:r>
          </a:p>
        </p:txBody>
      </p:sp>
      <p:sp>
        <p:nvSpPr>
          <p:cNvPr id="6" name="矩形 5"/>
          <p:cNvSpPr/>
          <p:nvPr/>
        </p:nvSpPr>
        <p:spPr>
          <a:xfrm>
            <a:off x="3545147" y="693126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36259" y="3131526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36259" y="4099774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740664" y="1744251"/>
            <a:ext cx="6016752" cy="806926"/>
            <a:chOff x="740664" y="1744251"/>
            <a:chExt cx="6016752" cy="806926"/>
          </a:xfrm>
        </p:grpSpPr>
        <p:sp>
          <p:nvSpPr>
            <p:cNvPr id="19" name="矩形 18"/>
            <p:cNvSpPr/>
            <p:nvPr/>
          </p:nvSpPr>
          <p:spPr>
            <a:xfrm>
              <a:off x="3520440" y="1744251"/>
              <a:ext cx="3236976" cy="806926"/>
            </a:xfrm>
            <a:prstGeom prst="rect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740664" y="1746505"/>
              <a:ext cx="2779776" cy="804672"/>
            </a:xfrm>
            <a:prstGeom prst="rect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126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309036"/>
              </p:ext>
            </p:extLst>
          </p:nvPr>
        </p:nvGraphicFramePr>
        <p:xfrm>
          <a:off x="743715" y="594360"/>
          <a:ext cx="7437120" cy="2044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</a:tblGrid>
              <a:tr h="1022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1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2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3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4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5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6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7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8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9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0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1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2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3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4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5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6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</a:tr>
              <a:tr h="1022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a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588169" y="3698815"/>
            <a:ext cx="243688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dirty="0" smtClean="0">
                <a:ln w="0"/>
                <a:latin typeface="+mj-lt"/>
              </a:rPr>
              <a:t>LS[9] </a:t>
            </a:r>
            <a:r>
              <a:rPr lang="en-US" altLang="zh-TW" sz="4400" dirty="0">
                <a:ln w="0"/>
                <a:latin typeface="+mj-lt"/>
              </a:rPr>
              <a:t>= </a:t>
            </a:r>
            <a:r>
              <a:rPr lang="en-US" altLang="zh-TW" sz="4400" dirty="0" smtClean="0">
                <a:ln w="0"/>
                <a:latin typeface="+mj-lt"/>
              </a:rPr>
              <a:t>3</a:t>
            </a:r>
          </a:p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LP[10] = 4</a:t>
            </a:r>
          </a:p>
        </p:txBody>
      </p:sp>
      <p:sp>
        <p:nvSpPr>
          <p:cNvPr id="11" name="矩形 10"/>
          <p:cNvSpPr/>
          <p:nvPr/>
        </p:nvSpPr>
        <p:spPr>
          <a:xfrm>
            <a:off x="618747" y="2652375"/>
            <a:ext cx="3440365" cy="35394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(begin, end, period)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(2, 6, 2)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(4, 13, 3)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(6, 7, 1)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(9, 10, 1)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(12, 16, 1)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(12, 16, 2)</a:t>
            </a:r>
          </a:p>
        </p:txBody>
      </p:sp>
      <p:sp>
        <p:nvSpPr>
          <p:cNvPr id="6" name="矩形 5"/>
          <p:cNvSpPr/>
          <p:nvPr/>
        </p:nvSpPr>
        <p:spPr>
          <a:xfrm>
            <a:off x="4450403" y="693126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36259" y="3131526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36259" y="4099774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740664" y="1744251"/>
            <a:ext cx="6016752" cy="806926"/>
            <a:chOff x="740664" y="1744251"/>
            <a:chExt cx="6016752" cy="806926"/>
          </a:xfrm>
        </p:grpSpPr>
        <p:sp>
          <p:nvSpPr>
            <p:cNvPr id="12" name="矩形 11"/>
            <p:cNvSpPr/>
            <p:nvPr/>
          </p:nvSpPr>
          <p:spPr>
            <a:xfrm>
              <a:off x="3520440" y="1744251"/>
              <a:ext cx="3236976" cy="806926"/>
            </a:xfrm>
            <a:prstGeom prst="rect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740664" y="1746505"/>
              <a:ext cx="2779776" cy="804672"/>
            </a:xfrm>
            <a:prstGeom prst="rect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4" name="矩形 13"/>
          <p:cNvSpPr/>
          <p:nvPr/>
        </p:nvSpPr>
        <p:spPr>
          <a:xfrm>
            <a:off x="2536259" y="3628965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857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309036"/>
              </p:ext>
            </p:extLst>
          </p:nvPr>
        </p:nvGraphicFramePr>
        <p:xfrm>
          <a:off x="743715" y="594360"/>
          <a:ext cx="7437120" cy="2044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</a:tblGrid>
              <a:tr h="1022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1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2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3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4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5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6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7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8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9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0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1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2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3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4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5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6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</a:tr>
              <a:tr h="1022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a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588169" y="3698815"/>
            <a:ext cx="2436885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dirty="0" smtClean="0">
                <a:ln w="0"/>
                <a:latin typeface="+mj-lt"/>
              </a:rPr>
              <a:t>LS[14] </a:t>
            </a:r>
            <a:r>
              <a:rPr lang="en-US" altLang="zh-TW" sz="4400" dirty="0">
                <a:ln w="0"/>
                <a:latin typeface="+mj-lt"/>
              </a:rPr>
              <a:t>= </a:t>
            </a:r>
            <a:r>
              <a:rPr lang="en-US" altLang="zh-TW" sz="4400" dirty="0" smtClean="0">
                <a:ln w="0"/>
                <a:latin typeface="+mj-lt"/>
              </a:rPr>
              <a:t>2</a:t>
            </a:r>
          </a:p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LP[15] = 2</a:t>
            </a:r>
          </a:p>
        </p:txBody>
      </p:sp>
      <p:sp>
        <p:nvSpPr>
          <p:cNvPr id="11" name="矩形 10"/>
          <p:cNvSpPr/>
          <p:nvPr/>
        </p:nvSpPr>
        <p:spPr>
          <a:xfrm>
            <a:off x="618747" y="2652375"/>
            <a:ext cx="3440365" cy="35394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(begin, end, period)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(2, 6, 2)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(4, 13, 3)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(6, 7, 1)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(9, 10, 1)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(12, 16, 1)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(12, 16, 2)</a:t>
            </a:r>
          </a:p>
        </p:txBody>
      </p:sp>
      <p:sp>
        <p:nvSpPr>
          <p:cNvPr id="6" name="矩形 5"/>
          <p:cNvSpPr/>
          <p:nvPr/>
        </p:nvSpPr>
        <p:spPr>
          <a:xfrm>
            <a:off x="6763835" y="693126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36259" y="3131526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36259" y="4099774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743714" y="1744251"/>
            <a:ext cx="7421878" cy="806926"/>
            <a:chOff x="743714" y="1744251"/>
            <a:chExt cx="7421878" cy="806926"/>
          </a:xfrm>
        </p:grpSpPr>
        <p:sp>
          <p:nvSpPr>
            <p:cNvPr id="12" name="矩形 11"/>
            <p:cNvSpPr/>
            <p:nvPr/>
          </p:nvSpPr>
          <p:spPr>
            <a:xfrm>
              <a:off x="6803136" y="1744251"/>
              <a:ext cx="1362456" cy="806926"/>
            </a:xfrm>
            <a:prstGeom prst="rect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743714" y="1744251"/>
              <a:ext cx="6059422" cy="806926"/>
            </a:xfrm>
            <a:prstGeom prst="rect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4" name="矩形 13"/>
          <p:cNvSpPr/>
          <p:nvPr/>
        </p:nvSpPr>
        <p:spPr>
          <a:xfrm>
            <a:off x="2536259" y="3628965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536259" y="5068022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3157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309036"/>
              </p:ext>
            </p:extLst>
          </p:nvPr>
        </p:nvGraphicFramePr>
        <p:xfrm>
          <a:off x="743715" y="594360"/>
          <a:ext cx="7437120" cy="2044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</a:tblGrid>
              <a:tr h="1022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1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2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3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4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5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6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7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8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9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0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1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2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3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4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5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6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</a:tr>
              <a:tr h="1022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a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4588169" y="3698815"/>
            <a:ext cx="2436885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4400" dirty="0" smtClean="0">
                <a:ln w="0"/>
                <a:latin typeface="+mj-lt"/>
              </a:rPr>
              <a:t>LS[15] </a:t>
            </a:r>
            <a:r>
              <a:rPr lang="en-US" altLang="zh-TW" sz="4400" dirty="0">
                <a:ln w="0"/>
                <a:latin typeface="+mj-lt"/>
              </a:rPr>
              <a:t>= </a:t>
            </a:r>
            <a:r>
              <a:rPr lang="en-US" altLang="zh-TW" sz="4400" dirty="0" smtClean="0">
                <a:ln w="0"/>
                <a:latin typeface="+mj-lt"/>
              </a:rPr>
              <a:t>2</a:t>
            </a:r>
          </a:p>
          <a:p>
            <a:pPr algn="ctr"/>
            <a:r>
              <a:rPr lang="en-US" altLang="zh-TW" sz="4400" b="0" cap="none" spc="0" dirty="0" smtClean="0">
                <a:ln w="0"/>
                <a:solidFill>
                  <a:schemeClr val="tx1"/>
                </a:solidFill>
                <a:latin typeface="+mj-lt"/>
              </a:rPr>
              <a:t>LP[16] = 1</a:t>
            </a:r>
          </a:p>
        </p:txBody>
      </p:sp>
      <p:sp>
        <p:nvSpPr>
          <p:cNvPr id="11" name="矩形 10"/>
          <p:cNvSpPr/>
          <p:nvPr/>
        </p:nvSpPr>
        <p:spPr>
          <a:xfrm>
            <a:off x="618747" y="2652375"/>
            <a:ext cx="3440365" cy="35394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(begin, end, period)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(2, 6, 2)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(4, 13, 3)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(6, 7, 1)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(9, 10, 1)</a:t>
            </a:r>
          </a:p>
          <a:p>
            <a:r>
              <a:rPr lang="en-US" altLang="zh-TW" sz="3200" dirty="0" smtClean="0">
                <a:ln w="0"/>
                <a:latin typeface="+mj-lt"/>
              </a:rPr>
              <a:t>(12, 16, 1)</a:t>
            </a:r>
          </a:p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(12, 16, 2)</a:t>
            </a:r>
          </a:p>
        </p:txBody>
      </p:sp>
      <p:sp>
        <p:nvSpPr>
          <p:cNvPr id="6" name="矩形 5"/>
          <p:cNvSpPr/>
          <p:nvPr/>
        </p:nvSpPr>
        <p:spPr>
          <a:xfrm>
            <a:off x="7239323" y="693126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36259" y="3131526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36259" y="4099774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743714" y="1744251"/>
            <a:ext cx="7421878" cy="806926"/>
            <a:chOff x="743714" y="1744251"/>
            <a:chExt cx="7421878" cy="806926"/>
          </a:xfrm>
        </p:grpSpPr>
        <p:sp>
          <p:nvSpPr>
            <p:cNvPr id="12" name="矩形 11"/>
            <p:cNvSpPr/>
            <p:nvPr/>
          </p:nvSpPr>
          <p:spPr>
            <a:xfrm>
              <a:off x="6803136" y="1744251"/>
              <a:ext cx="1362456" cy="806926"/>
            </a:xfrm>
            <a:prstGeom prst="rect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743714" y="1744251"/>
              <a:ext cx="6059422" cy="806926"/>
            </a:xfrm>
            <a:prstGeom prst="rect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4" name="矩形 13"/>
          <p:cNvSpPr/>
          <p:nvPr/>
        </p:nvSpPr>
        <p:spPr>
          <a:xfrm>
            <a:off x="2536259" y="3628965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536259" y="5068022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36259" y="5629914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4290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014326" y="709848"/>
            <a:ext cx="8007961" cy="563231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1: 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2: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Leftmost Maximal Periodicities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	Michael G. Main,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(1989)</a:t>
            </a:r>
          </a:p>
          <a:p>
            <a:endParaRPr lang="en-US" altLang="zh-TW" sz="2400" dirty="0">
              <a:ln w="0"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Maximal Repetitions in a Word in Linear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r>
              <a:rPr lang="en-US" altLang="zh-TW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TW" sz="2400" dirty="0" err="1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Kolpakov</a:t>
            </a:r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400" dirty="0" err="1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Kucherov</a:t>
            </a:r>
            <a:r>
              <a:rPr lang="en-US" altLang="zh-TW" sz="24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(1999)</a:t>
            </a:r>
          </a:p>
          <a:p>
            <a:r>
              <a:rPr lang="en-US" altLang="zh-TW" sz="2400" dirty="0" smtClean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13" name="矩形 12"/>
          <p:cNvSpPr/>
          <p:nvPr/>
        </p:nvSpPr>
        <p:spPr>
          <a:xfrm>
            <a:off x="121133" y="3722940"/>
            <a:ext cx="893193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1500" dirty="0">
                <a:ln w="0"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TW" altLang="en-US" sz="11500" b="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8109" y="3399774"/>
            <a:ext cx="1056700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3600" b="0" cap="none" spc="0" dirty="0" smtClean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endParaRPr lang="zh-TW" altLang="en-US" sz="3600" b="0" cap="none" spc="0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599818"/>
              </p:ext>
            </p:extLst>
          </p:nvPr>
        </p:nvGraphicFramePr>
        <p:xfrm>
          <a:off x="2657856" y="1351280"/>
          <a:ext cx="43190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24"/>
                <a:gridCol w="868680"/>
                <a:gridCol w="1143000"/>
                <a:gridCol w="1810512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rgbClr val="649FBC"/>
                        </a:solidFill>
                      </a:endParaRPr>
                    </a:p>
                  </a:txBody>
                  <a:tcPr>
                    <a:solidFill>
                      <a:srgbClr val="649FB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805076"/>
              </p:ext>
            </p:extLst>
          </p:nvPr>
        </p:nvGraphicFramePr>
        <p:xfrm>
          <a:off x="2657856" y="2482088"/>
          <a:ext cx="431901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824"/>
                <a:gridCol w="868680"/>
                <a:gridCol w="1143000"/>
                <a:gridCol w="1810512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649FBC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rgbClr val="AFC5B7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>
                        <a:solidFill>
                          <a:srgbClr val="649FBC"/>
                        </a:solidFill>
                      </a:endParaRPr>
                    </a:p>
                  </a:txBody>
                  <a:tcPr>
                    <a:solidFill>
                      <a:srgbClr val="649FBC"/>
                    </a:solidFill>
                  </a:tcPr>
                </a:tc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 rot="16200000">
            <a:off x="4824103" y="175402"/>
            <a:ext cx="647934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1500" b="0" cap="none" spc="0" dirty="0" smtClean="0">
                <a:ln w="0"/>
                <a:solidFill>
                  <a:srgbClr val="FF0000"/>
                </a:solidFill>
              </a:rPr>
              <a:t>}</a:t>
            </a:r>
            <a:endParaRPr lang="zh-TW" altLang="en-US" sz="11500" b="0" cap="none" spc="0" dirty="0">
              <a:ln w="0"/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 rot="16200000">
            <a:off x="5570558" y="1837432"/>
            <a:ext cx="426720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6000" b="0" cap="none" spc="0" dirty="0" smtClean="0">
                <a:ln w="0"/>
                <a:solidFill>
                  <a:srgbClr val="FF0000"/>
                </a:solidFill>
              </a:rPr>
              <a:t>}</a:t>
            </a:r>
            <a:endParaRPr lang="zh-TW" altLang="en-US" sz="6000" b="0" cap="none" spc="0" dirty="0">
              <a:ln w="0"/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57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039016"/>
              </p:ext>
            </p:extLst>
          </p:nvPr>
        </p:nvGraphicFramePr>
        <p:xfrm>
          <a:off x="743715" y="594360"/>
          <a:ext cx="7437120" cy="2044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  <a:gridCol w="464820"/>
              </a:tblGrid>
              <a:tr h="1022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1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2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3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4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5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6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7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8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9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0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1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2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3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4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5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latin typeface="+mj-lt"/>
                        </a:rPr>
                        <a:t>6</a:t>
                      </a:r>
                      <a:endParaRPr lang="zh-TW" altLang="en-US" sz="2800" b="0" dirty="0">
                        <a:latin typeface="+mj-lt"/>
                      </a:endParaRPr>
                    </a:p>
                  </a:txBody>
                  <a:tcPr anchor="b"/>
                </a:tc>
              </a:tr>
              <a:tr h="10220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a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u="sng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u="sng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u="sng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u="sng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u="sng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u="sng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u="sng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u="sng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u="sng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u="sng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u="sng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u="sng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u="sng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u="sng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c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rgbClr val="0070C0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rgbClr val="0070C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6000" dirty="0" smtClean="0">
                          <a:solidFill>
                            <a:schemeClr val="accent6"/>
                          </a:solidFill>
                          <a:latin typeface="+mj-lt"/>
                        </a:rPr>
                        <a:t>b</a:t>
                      </a:r>
                      <a:endParaRPr lang="zh-TW" altLang="en-US" sz="6000" b="0" dirty="0">
                        <a:solidFill>
                          <a:schemeClr val="accent6"/>
                        </a:solidFill>
                        <a:latin typeface="+mj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655323" y="3641532"/>
            <a:ext cx="144462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200" dirty="0" smtClean="0">
                <a:ln w="0"/>
                <a:latin typeface="+mj-lt"/>
              </a:rPr>
              <a:t>(2, 6, 2)</a:t>
            </a:r>
          </a:p>
        </p:txBody>
      </p:sp>
      <p:sp>
        <p:nvSpPr>
          <p:cNvPr id="17" name="矩形 16"/>
          <p:cNvSpPr/>
          <p:nvPr/>
        </p:nvSpPr>
        <p:spPr>
          <a:xfrm>
            <a:off x="1586510" y="4406329"/>
            <a:ext cx="165301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200" b="0" cap="none" spc="0" dirty="0" smtClean="0">
                <a:ln w="0"/>
                <a:solidFill>
                  <a:schemeClr val="tx1"/>
                </a:solidFill>
                <a:latin typeface="+mj-lt"/>
              </a:rPr>
              <a:t>(4, 13, 3)</a:t>
            </a:r>
          </a:p>
        </p:txBody>
      </p:sp>
      <p:sp>
        <p:nvSpPr>
          <p:cNvPr id="18" name="矩形 17"/>
          <p:cNvSpPr/>
          <p:nvPr/>
        </p:nvSpPr>
        <p:spPr>
          <a:xfrm>
            <a:off x="5186075" y="3641533"/>
            <a:ext cx="186140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200" dirty="0" smtClean="0">
                <a:ln w="0"/>
                <a:latin typeface="+mj-lt"/>
              </a:rPr>
              <a:t>(12, 16, 1)</a:t>
            </a:r>
          </a:p>
          <a:p>
            <a:r>
              <a:rPr lang="en-US" altLang="zh-TW" sz="3200" strike="sngStrike" dirty="0">
                <a:ln w="0"/>
                <a:latin typeface="+mj-lt"/>
              </a:rPr>
              <a:t>(12, 16, 2)</a:t>
            </a:r>
          </a:p>
          <a:p>
            <a:endParaRPr lang="en-US" altLang="zh-TW" sz="3200" dirty="0" smtClean="0">
              <a:ln w="0"/>
              <a:latin typeface="+mj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657859" y="3641533"/>
            <a:ext cx="144462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200" dirty="0" smtClean="0">
                <a:ln w="0"/>
                <a:latin typeface="+mj-lt"/>
              </a:rPr>
              <a:t>(6, 7, 1)</a:t>
            </a:r>
          </a:p>
        </p:txBody>
      </p:sp>
      <p:sp>
        <p:nvSpPr>
          <p:cNvPr id="20" name="矩形 19"/>
          <p:cNvSpPr/>
          <p:nvPr/>
        </p:nvSpPr>
        <p:spPr>
          <a:xfrm>
            <a:off x="3965451" y="5191826"/>
            <a:ext cx="165301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zh-TW" sz="3200" dirty="0" smtClean="0">
                <a:ln w="0"/>
                <a:latin typeface="+mj-lt"/>
              </a:rPr>
              <a:t>(9, 10, 1)</a:t>
            </a:r>
          </a:p>
        </p:txBody>
      </p:sp>
      <p:cxnSp>
        <p:nvCxnSpPr>
          <p:cNvPr id="21" name="直線單箭頭接點 20"/>
          <p:cNvCxnSpPr/>
          <p:nvPr/>
        </p:nvCxnSpPr>
        <p:spPr>
          <a:xfrm>
            <a:off x="1377636" y="2594037"/>
            <a:ext cx="0" cy="636016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2316420" y="2594037"/>
            <a:ext cx="0" cy="636016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>
            <a:off x="3248611" y="2601976"/>
            <a:ext cx="0" cy="636016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>
            <a:off x="6116779" y="2617216"/>
            <a:ext cx="0" cy="636016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5562923" y="5250902"/>
            <a:ext cx="45878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54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ˇ</a:t>
            </a:r>
            <a:endParaRPr lang="zh-TW" altLang="en-US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27323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1253</TotalTime>
  <Words>1093</Words>
  <Application>Microsoft Office PowerPoint</Application>
  <PresentationFormat>如螢幕大小 (4:3)</PresentationFormat>
  <Paragraphs>487</Paragraphs>
  <Slides>27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7" baseType="lpstr">
      <vt:lpstr>微軟正黑體</vt:lpstr>
      <vt:lpstr>新細明體</vt:lpstr>
      <vt:lpstr>Arial</vt:lpstr>
      <vt:lpstr>Calibri</vt:lpstr>
      <vt:lpstr>Calibri Light</vt:lpstr>
      <vt:lpstr>Cambria Math</vt:lpstr>
      <vt:lpstr>Ebrima</vt:lpstr>
      <vt:lpstr>Georgia</vt:lpstr>
      <vt:lpstr>Times New Roman</vt:lpstr>
      <vt:lpstr>1_Office 佈景主題</vt:lpstr>
      <vt:lpstr>Finding Maximal Repetitions in a Word in Linear Time</vt:lpstr>
      <vt:lpstr>Abstract (1/2)</vt:lpstr>
      <vt:lpstr>Abstract (2/2)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M033040055</dc:creator>
  <cp:lastModifiedBy>徐子強</cp:lastModifiedBy>
  <cp:revision>566</cp:revision>
  <cp:lastPrinted>2015-10-07T10:30:40Z</cp:lastPrinted>
  <dcterms:created xsi:type="dcterms:W3CDTF">2015-09-15T02:34:25Z</dcterms:created>
  <dcterms:modified xsi:type="dcterms:W3CDTF">2016-04-12T03:24:25Z</dcterms:modified>
</cp:coreProperties>
</file>