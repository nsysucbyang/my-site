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6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808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72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49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2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60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75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77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86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17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25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35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19AF7-3B86-4537-A500-3C2A259826B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720725" y="942979"/>
            <a:ext cx="7772400" cy="147002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 Improved  Algorithm  for  Matching  Biological  Sequences </a:t>
            </a:r>
            <a:endParaRPr lang="zh-TW" altLang="en-US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4" y="3019429"/>
            <a:ext cx="6400800" cy="4794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OSAMU GOTOH</a:t>
            </a:r>
            <a:endParaRPr lang="en-US" altLang="zh-TW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1328"/>
              </p:ext>
            </p:extLst>
          </p:nvPr>
        </p:nvGraphicFramePr>
        <p:xfrm>
          <a:off x="2890451" y="3498854"/>
          <a:ext cx="4611691" cy="1312371"/>
        </p:xfrm>
        <a:graphic>
          <a:graphicData uri="http://schemas.openxmlformats.org/drawingml/2006/table">
            <a:tbl>
              <a:tblPr/>
              <a:tblGrid>
                <a:gridCol w="4611691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Department  of  Biochemistry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Saitama  Cancer  Center  Research  Institute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Ina-</a:t>
                      </a:r>
                      <a:r>
                        <a:rPr lang="en-US" sz="1400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,  Saitama  362,  Japan 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 Mol.  Biol.  (1982)  162,  705-708 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2" y="5219703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Chong-Xuan Lo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Date:2016/4/12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15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 algorithm  of  Waterman  et  al.  (1976)  for  matching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biological 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sequences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modified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  some limitations  to be accomplished  in essentially  MN  steps,  instead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  necessary  in  the  original  algorithm.  The  limitations  do  not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seriously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 the  generality  of  the  original  method,  and  the  present  method  is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available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 most  practical  uses. The  algorithm  can be executed  on a small  computer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 limited  capacity  of  core  memory.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 r="-28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55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Affine gap penalty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affine gap penalty combines the components in both the constant and linear gap penalty, taking the form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+(k</a:t>
            </a:r>
            <a:r>
              <a:rPr lang="el-G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gap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</a:p>
          <a:p>
            <a:pPr marL="0" indent="0">
              <a:buNone/>
            </a:pPr>
            <a:r>
              <a:rPr lang="el-G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gap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-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the gap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21" y="3368483"/>
            <a:ext cx="1647825" cy="8667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386" y="4736113"/>
            <a:ext cx="1609725" cy="9048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880" y="3297045"/>
            <a:ext cx="1104900" cy="10096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512" y="4736113"/>
            <a:ext cx="11430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3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1727" y="1499616"/>
                <a:ext cx="7886700" cy="46977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cost for alignment of prefixes (a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….a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,b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-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for alignment of prefixes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….a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,b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that ends with a gap in b (i.e. last column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𝑎𝑖</m:t>
                            </m:r>
                          </m: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for alignment of prefixes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….a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,b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that ends with a gap in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(i.e. last column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</m: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𝑏𝑗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727" y="1499616"/>
                <a:ext cx="7886700" cy="4697732"/>
              </a:xfrm>
              <a:blipFill rotWithShape="0">
                <a:blip r:embed="rId2"/>
                <a:stretch>
                  <a:fillRect l="-1237" t="-18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Gotoh’s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400799" y="404738"/>
            <a:ext cx="2533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a1a2…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…am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b1b2…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bj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90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1727" y="1499616"/>
                <a:ext cx="7886700" cy="46977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min[D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i-1,j-1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+w(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,b</a:t>
                </a:r>
                <a:r>
                  <a:rPr lang="en-US" altLang="zh-TW" sz="20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, P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Q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min[D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l-G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,   P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l-G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(deletion gap opening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(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deletion gap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extension)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min[D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i,j-1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l-G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Q</a:t>
                </a:r>
                <a:r>
                  <a:rPr lang="en-US" altLang="zh-TW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i,j-1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l-GR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(insertion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gap opening)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insertion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gap extension)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j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≥1,</m:t>
                    </m:r>
                    <m: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for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727" y="1499616"/>
                <a:ext cx="7886700" cy="4697732"/>
              </a:xfrm>
              <a:blipFill rotWithShape="0">
                <a:blip r:embed="rId2"/>
                <a:stretch>
                  <a:fillRect l="-1624" t="-2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Gotoh’s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400799" y="910064"/>
            <a:ext cx="2533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a1a2…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…am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b1b2…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bj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08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85473" y="0"/>
            <a:ext cx="4860758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Gotoh’s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6358" y="1402931"/>
                <a:ext cx="8758989" cy="5455069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 = CC  and   B = GCCT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Cost functions: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Match : w(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,b</a:t>
                </a:r>
                <a:r>
                  <a:rPr lang="en-US" altLang="zh-TW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0    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𝑖𝑓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𝑏𝑗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1    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𝑒𝑙𝑠𝑒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gap penalty : g(k)=7 + 2k 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358" y="1402931"/>
                <a:ext cx="8758989" cy="5455069"/>
              </a:xfrm>
              <a:blipFill rotWithShape="0">
                <a:blip r:embed="rId2"/>
                <a:stretch>
                  <a:fillRect l="-1253" t="-1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58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378" y="-336884"/>
            <a:ext cx="4860758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Gotoh’s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4379" y="721895"/>
            <a:ext cx="8758989" cy="54550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3386"/>
              </p:ext>
            </p:extLst>
          </p:nvPr>
        </p:nvGraphicFramePr>
        <p:xfrm>
          <a:off x="625642" y="721895"/>
          <a:ext cx="4108283" cy="1795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463"/>
                <a:gridCol w="684463"/>
                <a:gridCol w="684463"/>
                <a:gridCol w="684463"/>
                <a:gridCol w="684463"/>
                <a:gridCol w="685968"/>
              </a:tblGrid>
              <a:tr h="41275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0877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0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0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2791181"/>
                  </p:ext>
                </p:extLst>
              </p:nvPr>
            </p:nvGraphicFramePr>
            <p:xfrm>
              <a:off x="625642" y="2832765"/>
              <a:ext cx="4106778" cy="18545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463"/>
                    <a:gridCol w="684463"/>
                    <a:gridCol w="684463"/>
                    <a:gridCol w="684463"/>
                    <a:gridCol w="684463"/>
                    <a:gridCol w="684463"/>
                  </a:tblGrid>
                  <a:tr h="471909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2791181"/>
                  </p:ext>
                </p:extLst>
              </p:nvPr>
            </p:nvGraphicFramePr>
            <p:xfrm>
              <a:off x="625642" y="2832765"/>
              <a:ext cx="4106778" cy="18545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463"/>
                    <a:gridCol w="684463"/>
                    <a:gridCol w="684463"/>
                    <a:gridCol w="684463"/>
                    <a:gridCol w="684463"/>
                    <a:gridCol w="684463"/>
                  </a:tblGrid>
                  <a:tr h="471909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1786" t="-207895" r="-403571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1786" t="-307895" r="-403571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901278"/>
                  </p:ext>
                </p:extLst>
              </p:nvPr>
            </p:nvGraphicFramePr>
            <p:xfrm>
              <a:off x="639103" y="4929026"/>
              <a:ext cx="4106778" cy="18435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463"/>
                    <a:gridCol w="684463"/>
                    <a:gridCol w="684463"/>
                    <a:gridCol w="684463"/>
                    <a:gridCol w="684463"/>
                    <a:gridCol w="684463"/>
                  </a:tblGrid>
                  <a:tr h="46087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901278"/>
                  </p:ext>
                </p:extLst>
              </p:nvPr>
            </p:nvGraphicFramePr>
            <p:xfrm>
              <a:off x="639103" y="4929026"/>
              <a:ext cx="4106778" cy="18435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463"/>
                    <a:gridCol w="684463"/>
                    <a:gridCol w="684463"/>
                    <a:gridCol w="684463"/>
                    <a:gridCol w="684463"/>
                    <a:gridCol w="684463"/>
                  </a:tblGrid>
                  <a:tr h="46087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000" t="-106579" r="-300000" b="-2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2679" t="-106579" r="-202679" b="-2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99115" t="-106579" r="-100885" b="-2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3571" t="-106579" r="-1786" b="-202632"/>
                          </a:stretch>
                        </a:blipFill>
                      </a:tcPr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608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－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文字方塊 8"/>
          <p:cNvSpPr txBox="1"/>
          <p:nvPr/>
        </p:nvSpPr>
        <p:spPr>
          <a:xfrm>
            <a:off x="80937" y="1491916"/>
            <a:ext cx="558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r>
              <a:rPr lang="en-US" altLang="zh-TW" sz="2000" i="1" dirty="0" smtClean="0"/>
              <a:t>i,j</a:t>
            </a:r>
            <a:endParaRPr lang="zh-TW" altLang="en-US" sz="2000" i="1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4167" y="5647600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P</a:t>
            </a:r>
            <a:r>
              <a:rPr lang="en-US" altLang="zh-TW" sz="2000" i="1" dirty="0" smtClean="0"/>
              <a:t>i,j</a:t>
            </a:r>
            <a:endParaRPr lang="zh-TW" altLang="en-US" sz="2000" i="1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4907" y="3649774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Q</a:t>
            </a:r>
            <a:r>
              <a:rPr lang="en-US" altLang="zh-TW" sz="2000" i="1" dirty="0" smtClean="0"/>
              <a:t>i,j</a:t>
            </a:r>
            <a:endParaRPr lang="zh-TW" altLang="en-US" sz="20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5422230" y="21097"/>
                <a:ext cx="3994485" cy="1363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 : w(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,b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0    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𝑖𝑓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𝑏𝑗</m:t>
                            </m:r>
                          </m:e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1    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𝑒𝑙𝑠𝑒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gap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penalty : g(k)=7 + 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2k 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230" y="21097"/>
                <a:ext cx="3994485" cy="1363643"/>
              </a:xfrm>
              <a:prstGeom prst="rect">
                <a:avLst/>
              </a:prstGeom>
              <a:blipFill rotWithShape="0">
                <a:blip r:embed="rId4"/>
                <a:stretch>
                  <a:fillRect l="-1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5245768" y="195358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cxnSp>
        <p:nvCxnSpPr>
          <p:cNvPr id="25" name="直線單箭頭接點 24"/>
          <p:cNvCxnSpPr/>
          <p:nvPr/>
        </p:nvCxnSpPr>
        <p:spPr>
          <a:xfrm>
            <a:off x="4860757" y="1344798"/>
            <a:ext cx="770021" cy="702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4844715" y="3822681"/>
            <a:ext cx="8021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5245768" y="5365185"/>
            <a:ext cx="0" cy="1065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2225472" y="11225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176897" y="1625821"/>
            <a:ext cx="233306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856351" y="1625821"/>
            <a:ext cx="233306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571875" y="2047457"/>
            <a:ext cx="286679" cy="38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174201" y="2062496"/>
            <a:ext cx="233306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873038" y="2071281"/>
            <a:ext cx="233306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570493" y="1625821"/>
            <a:ext cx="233306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181303" y="1622867"/>
            <a:ext cx="41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181303" y="2071281"/>
            <a:ext cx="46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118358" y="3753352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118358" y="4253635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873038" y="3753352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3487014" y="3747045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771775" y="4253635"/>
            <a:ext cx="557662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526455" y="4253635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191374" y="3745061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4181303" y="4253635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121626" y="5872838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2822406" y="6310869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2822406" y="5872838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3518999" y="6325495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2179307" y="6321827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499208" y="5880692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176010" y="5889668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176009" y="6321827"/>
            <a:ext cx="456399" cy="366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832250" y="2182204"/>
            <a:ext cx="925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(Match)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4783204" y="4338814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Inserion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4783204" y="6430535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(deletion)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879976" y="2705100"/>
            <a:ext cx="3280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min[D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i,j-1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,   Q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i,j-1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zh-TW" altLang="en-US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5878376" y="3296184"/>
            <a:ext cx="3203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min[D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i-1,j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,   P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i-1,j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zh-TW" altLang="en-US" dirty="0"/>
          </a:p>
        </p:txBody>
      </p:sp>
      <p:sp>
        <p:nvSpPr>
          <p:cNvPr id="62" name="弧形箭號 (左彎) 61"/>
          <p:cNvSpPr/>
          <p:nvPr/>
        </p:nvSpPr>
        <p:spPr>
          <a:xfrm>
            <a:off x="4560111" y="2182205"/>
            <a:ext cx="503003" cy="234797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3" name="向左箭號 62"/>
          <p:cNvSpPr/>
          <p:nvPr/>
        </p:nvSpPr>
        <p:spPr>
          <a:xfrm>
            <a:off x="3838192" y="4357567"/>
            <a:ext cx="381340" cy="17261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向左箭號 65"/>
          <p:cNvSpPr/>
          <p:nvPr/>
        </p:nvSpPr>
        <p:spPr>
          <a:xfrm rot="4544707">
            <a:off x="2330838" y="3282047"/>
            <a:ext cx="2037022" cy="1909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向左箭號 66"/>
          <p:cNvSpPr/>
          <p:nvPr/>
        </p:nvSpPr>
        <p:spPr>
          <a:xfrm rot="2538577">
            <a:off x="2422168" y="1972575"/>
            <a:ext cx="488250" cy="21413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向左箭號 67"/>
          <p:cNvSpPr/>
          <p:nvPr/>
        </p:nvSpPr>
        <p:spPr>
          <a:xfrm rot="2538577">
            <a:off x="1748034" y="1477450"/>
            <a:ext cx="488250" cy="21413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向左箭號 68"/>
          <p:cNvSpPr/>
          <p:nvPr/>
        </p:nvSpPr>
        <p:spPr>
          <a:xfrm rot="2538577">
            <a:off x="3776907" y="1952087"/>
            <a:ext cx="488250" cy="214131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向左箭號 69"/>
          <p:cNvSpPr/>
          <p:nvPr/>
        </p:nvSpPr>
        <p:spPr>
          <a:xfrm rot="2538577">
            <a:off x="3109717" y="1469424"/>
            <a:ext cx="488250" cy="214131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向左箭號 70"/>
          <p:cNvSpPr/>
          <p:nvPr/>
        </p:nvSpPr>
        <p:spPr>
          <a:xfrm>
            <a:off x="2461362" y="1239795"/>
            <a:ext cx="381340" cy="172611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向左箭號 71"/>
          <p:cNvSpPr/>
          <p:nvPr/>
        </p:nvSpPr>
        <p:spPr>
          <a:xfrm>
            <a:off x="1829198" y="1240183"/>
            <a:ext cx="381340" cy="172611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文字方塊 72"/>
          <p:cNvSpPr txBox="1"/>
          <p:nvPr/>
        </p:nvSpPr>
        <p:spPr>
          <a:xfrm>
            <a:off x="6736753" y="4225654"/>
            <a:ext cx="26003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Traceback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AutoNum type="arabicPeriod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4" name="文字方塊 73"/>
          <p:cNvSpPr txBox="1"/>
          <p:nvPr/>
        </p:nvSpPr>
        <p:spPr>
          <a:xfrm>
            <a:off x="6736753" y="5500956"/>
            <a:ext cx="16996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-   -   C 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G  C 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53807" y="2174800"/>
            <a:ext cx="36182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min[D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i-1,j-1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+w(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TW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TW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9805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/>
      <p:bldP spid="37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60" grpId="0"/>
      <p:bldP spid="61" grpId="0"/>
      <p:bldP spid="62" grpId="0" animBg="1"/>
      <p:bldP spid="63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05557"/>
            <a:ext cx="78867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Gotoh’s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Affine gap as finite state machine</a:t>
            </a: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63" y="2400300"/>
            <a:ext cx="61722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5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05557"/>
            <a:ext cx="78867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Gotoh’s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366236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 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56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11047</TotalTime>
  <Words>397</Words>
  <Application>Microsoft Office PowerPoint</Application>
  <PresentationFormat>如螢幕大小 (4:3)</PresentationFormat>
  <Paragraphs>133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Arial Unicode MS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Abstract</vt:lpstr>
      <vt:lpstr>Affine gap penalty</vt:lpstr>
      <vt:lpstr>Gotoh’s algorithm</vt:lpstr>
      <vt:lpstr>Gotoh’s algorithm</vt:lpstr>
      <vt:lpstr>Gotoh’s algorithm</vt:lpstr>
      <vt:lpstr>Gotoh’s algorithm</vt:lpstr>
      <vt:lpstr>Gotoh’s algorithm</vt:lpstr>
      <vt:lpstr>Gotoh’s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much</cp:lastModifiedBy>
  <cp:revision>66</cp:revision>
  <dcterms:created xsi:type="dcterms:W3CDTF">2015-07-07T05:45:41Z</dcterms:created>
  <dcterms:modified xsi:type="dcterms:W3CDTF">2016-04-12T10:29:06Z</dcterms:modified>
</cp:coreProperties>
</file>