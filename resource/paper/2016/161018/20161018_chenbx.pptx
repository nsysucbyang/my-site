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8" r:id="rId3"/>
    <p:sldId id="261" r:id="rId4"/>
    <p:sldId id="274" r:id="rId5"/>
    <p:sldId id="275" r:id="rId6"/>
    <p:sldId id="262" r:id="rId7"/>
    <p:sldId id="264" r:id="rId8"/>
    <p:sldId id="265" r:id="rId9"/>
    <p:sldId id="268" r:id="rId10"/>
    <p:sldId id="267" r:id="rId11"/>
    <p:sldId id="269" r:id="rId12"/>
    <p:sldId id="271" r:id="rId13"/>
    <p:sldId id="272" r:id="rId14"/>
    <p:sldId id="273" r:id="rId1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59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C7986E-2186-42F2-A1F5-4424A07DD94D}" type="datetimeFigureOut">
              <a:rPr lang="zh-TW" altLang="en-US" smtClean="0"/>
              <a:t>2016/10/18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014D64-E656-4722-AF7D-B3D63D1F5D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819734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014D64-E656-4722-AF7D-B3D63D1F5DC9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49784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014D64-E656-4722-AF7D-B3D63D1F5DC9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90036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8152B-59F4-4B06-8DD2-BCE3344D5EC0}" type="datetime1">
              <a:rPr lang="zh-TW" altLang="en-US" smtClean="0"/>
              <a:t>2016/10/18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564647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9EABF-21E7-4D09-8BCD-B3673EF39A75}" type="datetime1">
              <a:rPr lang="zh-TW" altLang="en-US" smtClean="0"/>
              <a:t>2016/10/18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837517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79E49-E21C-42D3-9E48-B338B8E80A19}" type="datetime1">
              <a:rPr lang="zh-TW" altLang="en-US" smtClean="0"/>
              <a:t>2016/10/18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65964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E2046-49AE-4B24-A9BA-2A66FFB2A1B0}" type="datetime1">
              <a:rPr lang="zh-TW" altLang="en-US" smtClean="0"/>
              <a:t>2016/10/18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0852358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0E5BB-EB66-452A-A8AB-C045388E8AEC}" type="datetime1">
              <a:rPr lang="zh-TW" altLang="en-US" smtClean="0"/>
              <a:t>2016/10/18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000604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414AD-386F-412C-8A3E-FBCFB9673E2B}" type="datetime1">
              <a:rPr lang="zh-TW" altLang="en-US" smtClean="0"/>
              <a:t>2016/10/18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099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81BB0-F383-4A08-A353-0A684F484537}" type="datetime1">
              <a:rPr lang="zh-TW" altLang="en-US" smtClean="0"/>
              <a:t>2016/10/18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21298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6580C-1901-4FDE-81CE-74187D08E40A}" type="datetime1">
              <a:rPr lang="zh-TW" altLang="en-US" smtClean="0"/>
              <a:t>2016/10/18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461219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7E7C8-6625-492A-9684-6CCA522D5B8D}" type="datetime1">
              <a:rPr lang="zh-TW" altLang="en-US" smtClean="0"/>
              <a:t>2016/10/18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3726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1F6D4-3402-4AA3-BE0A-7EA86802DF7D}" type="datetime1">
              <a:rPr lang="zh-TW" altLang="en-US" smtClean="0"/>
              <a:t>2016/10/18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48019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A81B2-E6DF-49C2-8B81-EA165970F8D3}" type="datetime1">
              <a:rPr lang="zh-TW" altLang="en-US" smtClean="0"/>
              <a:t>2016/10/18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3835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E90198-EFF5-490F-B3D6-8F1715016FB4}" type="datetime1">
              <a:rPr lang="zh-TW" altLang="en-US" smtClean="0"/>
              <a:t>2016/10/18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A97ABC-EF3A-4183-AE2C-72E330AF5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26280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578899"/>
            <a:ext cx="9144000" cy="1819245"/>
          </a:xfrm>
        </p:spPr>
        <p:txBody>
          <a:bodyPr>
            <a:normAutofit fontScale="90000"/>
          </a:bodyPr>
          <a:lstStyle/>
          <a:p>
            <a:r>
              <a:rPr lang="en-US" altLang="zh-TW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Linear Space Algorithm </a:t>
            </a:r>
            <a:br>
              <a:rPr lang="en-US" altLang="zh-TW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Computing </a:t>
            </a:r>
            <a:br>
              <a:rPr lang="en-US" altLang="zh-TW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Maximal Common Subsequences</a:t>
            </a:r>
            <a:endParaRPr lang="zh-TW" alt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7959305" y="5620621"/>
            <a:ext cx="3893389" cy="935455"/>
          </a:xfrm>
        </p:spPr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Bo-Xian Chen</a:t>
            </a: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Date : </a:t>
            </a:r>
            <a:fld id="{DA00540B-99AF-4B5E-9AEF-55C0985778C8}" type="datetime1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2016/10/18</a:t>
            </a:fld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1981185" y="3277622"/>
            <a:ext cx="8229630" cy="1788310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449" b="1" dirty="0" smtClean="0">
                <a:solidFill>
                  <a:srgbClr val="898989"/>
                </a:solidFill>
                <a:highlight>
                  <a:scrgbClr r="0" g="0" b="0">
                    <a:alpha val="0"/>
                  </a:scrgbClr>
                </a:highlight>
                <a:latin typeface="Times New Roman" panose="02020603050405020304" pitchFamily="18" charset="0"/>
                <a:ea typeface="新細明體" pitchFamily="2"/>
                <a:cs typeface="Times New Roman" panose="02020603050405020304" pitchFamily="18" charset="0"/>
              </a:rPr>
              <a:t>Communications of the ACM </a:t>
            </a:r>
          </a:p>
          <a:p>
            <a:pPr algn="ctr"/>
            <a:r>
              <a:rPr lang="en-US" altLang="zh-TW" sz="2449" b="1" dirty="0" smtClean="0">
                <a:solidFill>
                  <a:srgbClr val="898989"/>
                </a:solidFill>
                <a:highlight>
                  <a:scrgbClr r="0" g="0" b="0">
                    <a:alpha val="0"/>
                  </a:scrgbClr>
                </a:highlight>
                <a:latin typeface="Times New Roman" panose="02020603050405020304" pitchFamily="18" charset="0"/>
                <a:ea typeface="新細明體" pitchFamily="2"/>
                <a:cs typeface="Times New Roman" panose="02020603050405020304" pitchFamily="18" charset="0"/>
              </a:rPr>
              <a:t>Volume 18 Number 6 </a:t>
            </a:r>
            <a:r>
              <a:rPr lang="en-US" altLang="zh-TW" sz="2449" b="1" dirty="0" smtClean="0">
                <a:solidFill>
                  <a:srgbClr val="898989"/>
                </a:solidFill>
                <a:highlight>
                  <a:scrgbClr r="0" g="0" b="0">
                    <a:alpha val="0"/>
                  </a:scrgbClr>
                </a:highlight>
                <a:latin typeface="Times New Roman" panose="02020603050405020304" pitchFamily="18" charset="0"/>
                <a:ea typeface="新細明體" pitchFamily="2"/>
                <a:cs typeface="Times New Roman" panose="02020603050405020304" pitchFamily="18" charset="0"/>
              </a:rPr>
              <a:t>pp. 341-343 </a:t>
            </a:r>
            <a:r>
              <a:rPr lang="en-US" altLang="zh-TW" sz="2449" b="1" dirty="0" smtClean="0">
                <a:solidFill>
                  <a:srgbClr val="898989"/>
                </a:solidFill>
                <a:highlight>
                  <a:scrgbClr r="0" g="0" b="0">
                    <a:alpha val="0"/>
                  </a:scrgbClr>
                </a:highlight>
                <a:latin typeface="Times New Roman" panose="02020603050405020304" pitchFamily="18" charset="0"/>
                <a:ea typeface="新細明體" pitchFamily="2"/>
                <a:cs typeface="Times New Roman" panose="02020603050405020304" pitchFamily="18" charset="0"/>
              </a:rPr>
              <a:t>June 1975</a:t>
            </a:r>
            <a:endParaRPr lang="en-US" altLang="zh-TW" sz="2449" b="1" dirty="0">
              <a:solidFill>
                <a:srgbClr val="898989"/>
              </a:solidFill>
              <a:highlight>
                <a:scrgbClr r="0" g="0" b="0">
                  <a:alpha val="0"/>
                </a:scrgbClr>
              </a:highlight>
              <a:latin typeface="Times New Roman" panose="02020603050405020304" pitchFamily="18" charset="0"/>
              <a:ea typeface="新細明體" pitchFamily="2"/>
              <a:cs typeface="Times New Roman" panose="02020603050405020304" pitchFamily="18" charset="0"/>
            </a:endParaRPr>
          </a:p>
          <a:p>
            <a:pPr algn="ctr"/>
            <a:r>
              <a:rPr lang="en-US" altLang="zh-TW" sz="2449" b="1" dirty="0" smtClean="0">
                <a:solidFill>
                  <a:srgbClr val="898989"/>
                </a:solidFill>
                <a:highlight>
                  <a:scrgbClr r="0" g="0" b="0">
                    <a:alpha val="0"/>
                  </a:scrgbClr>
                </a:highlight>
                <a:latin typeface="Times New Roman" panose="02020603050405020304" pitchFamily="18" charset="0"/>
                <a:ea typeface="新細明體" pitchFamily="2"/>
                <a:cs typeface="Times New Roman" panose="02020603050405020304" pitchFamily="18" charset="0"/>
              </a:rPr>
              <a:t>D.S. Hirschberg </a:t>
            </a:r>
          </a:p>
          <a:p>
            <a:pPr algn="ctr"/>
            <a:r>
              <a:rPr lang="en-US" altLang="zh-TW" sz="2449" b="1" dirty="0" smtClean="0">
                <a:solidFill>
                  <a:srgbClr val="898989"/>
                </a:solidFill>
                <a:highlight>
                  <a:scrgbClr r="0" g="0" b="0">
                    <a:alpha val="0"/>
                  </a:scrgbClr>
                </a:highlight>
                <a:latin typeface="Times New Roman" panose="02020603050405020304" pitchFamily="18" charset="0"/>
                <a:ea typeface="新細明體" pitchFamily="2"/>
                <a:cs typeface="Times New Roman" panose="02020603050405020304" pitchFamily="18" charset="0"/>
              </a:rPr>
              <a:t>Princeton University</a:t>
            </a:r>
            <a:r>
              <a:rPr lang="en-US" altLang="zh-TW" sz="2449" b="1" dirty="0" smtClean="0">
                <a:solidFill>
                  <a:srgbClr val="898989"/>
                </a:solidFill>
                <a:ea typeface="新細明體" pitchFamily="2"/>
              </a:rPr>
              <a:t/>
            </a:r>
            <a:br>
              <a:rPr lang="en-US" altLang="zh-TW" sz="2449" b="1" dirty="0" smtClean="0">
                <a:solidFill>
                  <a:srgbClr val="898989"/>
                </a:solidFill>
                <a:ea typeface="新細明體" pitchFamily="2"/>
              </a:rPr>
            </a:br>
            <a:endParaRPr lang="en-US" sz="2449" b="1" dirty="0">
              <a:solidFill>
                <a:srgbClr val="898989"/>
              </a:solidFill>
              <a:ea typeface="新細明體" pitchFamily="2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01700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0551"/>
          </a:xfrm>
        </p:spPr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351005"/>
            <a:ext cx="10515600" cy="4825958"/>
          </a:xfrm>
        </p:spPr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LCS</a:t>
            </a:r>
          </a:p>
          <a:p>
            <a:pPr lvl="1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How to work?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&amp; Time and Space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</a:p>
          <a:p>
            <a:pPr lvl="1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  <a:p>
            <a:pPr lvl="1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  <a:p>
            <a:pPr lvl="1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04602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0551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351005"/>
            <a:ext cx="10515600" cy="482595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altLang="zh-TW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problem of finding a longest common subsequences of two strings has been solved in quadratic time and space. An algorithm is presented which will solve this problem in quadratic time and in linear space.</a:t>
            </a:r>
            <a:endParaRPr lang="zh-TW" alt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6221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Longest Common Subsequence(LCS)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Suppose two string A, B </a:t>
            </a:r>
          </a:p>
          <a:p>
            <a:pPr marL="0" indent="0"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= “</a:t>
            </a:r>
            <a:r>
              <a:rPr lang="en-US" altLang="zh-TW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abyxabx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b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 = “</a:t>
            </a:r>
            <a:r>
              <a:rPr lang="en-US" altLang="zh-TW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bbyax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  <a:p>
            <a:pPr marL="0" indent="0"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 can find common subsequences in two strings A, B : </a:t>
            </a:r>
          </a:p>
          <a:p>
            <a:pPr marL="0" indent="0"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common subsequences :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b, by ,ax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  <a:p>
            <a:pPr marL="0" indent="0"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but there will be a longest common subsequence in both of them . </a:t>
            </a:r>
          </a:p>
          <a:p>
            <a:pPr marL="0" indent="0"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longest common subsequences : </a:t>
            </a:r>
            <a:r>
              <a:rPr lang="en-US" altLang="zh-TW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byax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05498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LCS – How to work?</a:t>
            </a:r>
            <a:endParaRPr lang="zh-TW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Suppose two strings A</a:t>
            </a:r>
            <a:r>
              <a:rPr lang="en-US" altLang="zh-TW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1m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, B</a:t>
            </a:r>
            <a:r>
              <a:rPr lang="en-US" altLang="zh-TW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1n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, and a  Largest common subsequence C(</a:t>
            </a:r>
            <a:r>
              <a:rPr lang="en-US" altLang="zh-TW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j)</a:t>
            </a:r>
          </a:p>
          <a:p>
            <a:pPr marL="0" indent="0"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Let A</a:t>
            </a:r>
            <a:r>
              <a:rPr lang="en-US" altLang="zh-TW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1m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a</a:t>
            </a:r>
            <a:r>
              <a:rPr lang="en-US" altLang="zh-TW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</a:t>
            </a:r>
            <a:r>
              <a:rPr lang="en-US" altLang="zh-TW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... a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1n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b</a:t>
            </a:r>
            <a:r>
              <a:rPr lang="en-US" altLang="zh-TW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... </a:t>
            </a:r>
            <a:r>
              <a:rPr lang="en-US" altLang="zh-TW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sz="2400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, C(</a:t>
            </a:r>
            <a:r>
              <a:rPr lang="en-US" altLang="zh-TW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j)=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3…</a:t>
            </a:r>
            <a:r>
              <a:rPr lang="en-US" altLang="zh-TW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400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lang="en-US" altLang="zh-TW" sz="2400" baseline="-25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2400" baseline="-25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altLang="zh-TW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400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TW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sz="2400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and taking </a:t>
            </a:r>
            <a:r>
              <a:rPr lang="en-US" altLang="zh-TW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400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TW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400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TW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→  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1,i-1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1,j-1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 + 1</a:t>
            </a: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4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≠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sz="24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and taking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4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 smtClean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= </a:t>
            </a:r>
            <a:r>
              <a:rPr lang="en-US" altLang="zh-TW" sz="2400" dirty="0" err="1" smtClean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400" baseline="-25000" dirty="0" err="1" smtClean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400" dirty="0" smtClean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zh-TW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→  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1,i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B</a:t>
            </a:r>
            <a:r>
              <a:rPr lang="en-US" altLang="zh-TW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1,j-1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(</a:t>
            </a:r>
            <a:r>
              <a:rPr lang="zh-TW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∵ </a:t>
            </a:r>
            <a:r>
              <a:rPr lang="en-US" altLang="zh-TW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sz="2400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 not used</a:t>
            </a: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4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≠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sz="24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and taking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4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 smtClean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= </a:t>
            </a:r>
            <a:r>
              <a:rPr lang="en-US" altLang="zh-TW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sz="2400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TW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(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1,i-1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B</a:t>
            </a:r>
            <a:r>
              <a:rPr lang="en-US" altLang="zh-TW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1,j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∵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not used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0148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0551"/>
          </a:xfrm>
        </p:spPr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A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33768" y="1235676"/>
            <a:ext cx="4236308" cy="2627871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ALG A(m, n, A, B, L)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Initialization: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L(i,0) </a:t>
            </a:r>
            <a:r>
              <a:rPr lang="zh-TW" alt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←</a:t>
            </a:r>
            <a:r>
              <a:rPr lang="en-US" altLang="zh-TW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 [</a:t>
            </a:r>
            <a:r>
              <a:rPr lang="en-US" altLang="zh-TW" sz="1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=0…m]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L(0,j) </a:t>
            </a:r>
            <a:r>
              <a:rPr lang="zh-TW" alt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←</a:t>
            </a:r>
            <a:r>
              <a:rPr lang="en-US" altLang="zh-TW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 [j=0…n]</a:t>
            </a:r>
            <a:endParaRPr lang="zh-TW" alt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zh-TW" sz="1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i</a:t>
            </a:r>
            <a:r>
              <a:rPr lang="zh-TW" alt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← </a:t>
            </a:r>
            <a:r>
              <a:rPr lang="en-US" altLang="zh-TW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 to m do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begin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j </a:t>
            </a:r>
            <a:r>
              <a:rPr lang="zh-TW" alt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← </a:t>
            </a:r>
            <a:r>
              <a:rPr lang="en-US" altLang="zh-TW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 to n do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A(i) = B(j) then L(i , j)</a:t>
            </a:r>
            <a:r>
              <a:rPr lang="zh-TW" alt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←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L(i-1 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j-1) + 1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else L(i , j)</a:t>
            </a:r>
            <a:r>
              <a:rPr lang="zh-TW" alt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←</a:t>
            </a:r>
            <a:r>
              <a:rPr lang="en-US" altLang="zh-TW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max{L(</a:t>
            </a:r>
            <a:r>
              <a:rPr lang="en-US" altLang="zh-TW" sz="1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, j-1) , L(i-1 , j)}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endParaRPr lang="zh-TW" alt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內容版面配置區 2"/>
          <p:cNvSpPr txBox="1">
            <a:spLocks/>
          </p:cNvSpPr>
          <p:nvPr/>
        </p:nvSpPr>
        <p:spPr>
          <a:xfrm>
            <a:off x="6604713" y="1235676"/>
            <a:ext cx="4153929" cy="9985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Suppose two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trings A, B</a:t>
            </a:r>
            <a:b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: </a:t>
            </a:r>
            <a:r>
              <a:rPr lang="en-US" altLang="zh-TW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abyx</a:t>
            </a:r>
            <a:endParaRPr lang="en-US" altLang="zh-TW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 : </a:t>
            </a:r>
            <a:r>
              <a:rPr lang="en-US" altLang="zh-TW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bby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2149492"/>
              </p:ext>
            </p:extLst>
          </p:nvPr>
        </p:nvGraphicFramePr>
        <p:xfrm>
          <a:off x="6604713" y="2477234"/>
          <a:ext cx="2160000" cy="2176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/>
                <a:gridCol w="432000"/>
                <a:gridCol w="432000"/>
                <a:gridCol w="432000"/>
                <a:gridCol w="432000"/>
              </a:tblGrid>
              <a:tr h="435767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2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  <a:p>
                      <a:pPr algn="l"/>
                      <a:r>
                        <a:rPr lang="en-US" altLang="zh-TW" sz="12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2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Ø</a:t>
                      </a:r>
                      <a:endParaRPr lang="zh-TW" altLang="en-US" sz="15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1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1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endParaRPr lang="zh-TW" altLang="en-US" sz="1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4484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Ø</a:t>
                      </a:r>
                      <a:endParaRPr lang="zh-TW" altLang="en-US" sz="15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4484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4484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1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4484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endParaRPr lang="zh-TW" altLang="en-US" sz="1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4484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1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向下箭號 3"/>
          <p:cNvSpPr/>
          <p:nvPr/>
        </p:nvSpPr>
        <p:spPr>
          <a:xfrm rot="16200000">
            <a:off x="9077776" y="3409029"/>
            <a:ext cx="296562" cy="30480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9002078"/>
              </p:ext>
            </p:extLst>
          </p:nvPr>
        </p:nvGraphicFramePr>
        <p:xfrm>
          <a:off x="9687401" y="2477234"/>
          <a:ext cx="2160000" cy="2176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/>
                <a:gridCol w="432000"/>
                <a:gridCol w="432000"/>
                <a:gridCol w="432000"/>
                <a:gridCol w="432000"/>
              </a:tblGrid>
              <a:tr h="435767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2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  <a:p>
                      <a:pPr algn="l"/>
                      <a:r>
                        <a:rPr lang="en-US" altLang="zh-TW" sz="12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2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Ø</a:t>
                      </a:r>
                      <a:endParaRPr lang="zh-TW" altLang="en-US" sz="15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1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1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endParaRPr lang="zh-TW" altLang="en-US" sz="1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4484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Ø</a:t>
                      </a:r>
                      <a:endParaRPr lang="zh-TW" alt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4484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5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4484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15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4484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endParaRPr lang="zh-TW" altLang="en-US" sz="15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4484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15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1" name="內容版面配置區 2"/>
          <p:cNvSpPr txBox="1">
            <a:spLocks/>
          </p:cNvSpPr>
          <p:nvPr/>
        </p:nvSpPr>
        <p:spPr>
          <a:xfrm>
            <a:off x="6604713" y="4888617"/>
            <a:ext cx="5564741" cy="15621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Execution : </a:t>
            </a:r>
            <a:r>
              <a:rPr lang="en-US" altLang="zh-TW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mn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times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Input and output arrays : </a:t>
            </a:r>
            <a:r>
              <a:rPr lang="en-US" altLang="zh-TW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m+n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+(m+1)(n+1)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  complexity :  O(</a:t>
            </a:r>
            <a:r>
              <a:rPr lang="en-US" altLang="zh-TW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mn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b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Space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complexity :  O(</a:t>
            </a:r>
            <a:r>
              <a:rPr lang="en-US" altLang="zh-TW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mn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7" name="文字方塊 6"/>
          <p:cNvSpPr txBox="1"/>
          <p:nvPr/>
        </p:nvSpPr>
        <p:spPr>
          <a:xfrm>
            <a:off x="5637362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1328753" y="4888617"/>
                <a:ext cx="2982611" cy="9766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TW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−1, 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r>
                                <a:rPr lang="en-US" altLang="zh-TW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altLang="zh-TW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max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⁡(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, 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r>
                                <a:rPr lang="en-US" altLang="zh-TW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 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−1, 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])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8753" y="4888617"/>
                <a:ext cx="2982611" cy="976614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矩形 8"/>
          <p:cNvSpPr/>
          <p:nvPr/>
        </p:nvSpPr>
        <p:spPr>
          <a:xfrm>
            <a:off x="433768" y="4364766"/>
            <a:ext cx="53635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Let matrix </a:t>
            </a:r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be notation of maximum length of A and B</a:t>
            </a:r>
            <a:endParaRPr lang="zh-TW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433768" y="5197943"/>
            <a:ext cx="9108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L[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j] =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4487314" y="4888617"/>
            <a:ext cx="13099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=0 or j=0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4487314" y="5197943"/>
            <a:ext cx="19495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j &gt;0 and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b</a:t>
            </a:r>
            <a:r>
              <a:rPr lang="en-US" altLang="zh-TW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4487313" y="5485030"/>
            <a:ext cx="19720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j &gt;0 and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≠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b</a:t>
            </a:r>
            <a:r>
              <a:rPr lang="en-US" altLang="zh-TW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zh-TW" altLang="en-US" dirty="0"/>
          </a:p>
        </p:txBody>
      </p:sp>
      <p:sp>
        <p:nvSpPr>
          <p:cNvPr id="17" name="投影片編號版面配置區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2108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4" grpId="0" animBg="1"/>
      <p:bldP spid="11" grpId="0"/>
      <p:bldP spid="8" grpId="0"/>
      <p:bldP spid="9" grpId="0"/>
      <p:bldP spid="12" grpId="0"/>
      <p:bldP spid="13" grpId="0"/>
      <p:bldP spid="14" grpId="0"/>
      <p:bldP spid="1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0551"/>
          </a:xfrm>
        </p:spPr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33768" y="1235676"/>
            <a:ext cx="4086474" cy="2627871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ALG B(m, n, A, B, LL)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Initialization: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K(1, j) </a:t>
            </a:r>
            <a:r>
              <a:rPr lang="zh-TW" alt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←</a:t>
            </a:r>
            <a:r>
              <a:rPr lang="en-US" altLang="zh-TW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 [j=0…n]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i</a:t>
            </a:r>
            <a:r>
              <a:rPr lang="zh-TW" alt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← </a:t>
            </a:r>
            <a:r>
              <a:rPr lang="en-US" altLang="zh-TW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 to m do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Begin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K(0, 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j) </a:t>
            </a:r>
            <a:r>
              <a:rPr lang="zh-TW" alt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←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K(1, 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j)</a:t>
            </a:r>
            <a:r>
              <a:rPr lang="en-US" altLang="zh-TW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[j=0…n</a:t>
            </a:r>
            <a:r>
              <a:rPr lang="en-US" altLang="zh-TW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j </a:t>
            </a:r>
            <a:r>
              <a:rPr lang="zh-TW" alt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← </a:t>
            </a:r>
            <a:r>
              <a:rPr lang="en-US" altLang="zh-TW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 to n do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A(i) = B(j) then K(1 , j)</a:t>
            </a:r>
            <a:r>
              <a:rPr lang="zh-TW" alt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←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K(0 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j-1) + 1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else K(1 , j)</a:t>
            </a:r>
            <a:r>
              <a:rPr lang="zh-TW" alt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←</a:t>
            </a:r>
            <a:r>
              <a:rPr lang="en-US" altLang="zh-TW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max{K(1, j-1), K(0, j)}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LL(j)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TW" alt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←</a:t>
            </a:r>
            <a:r>
              <a:rPr lang="en-US" altLang="zh-TW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K(1, j) 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[j=0…n</a:t>
            </a:r>
            <a:r>
              <a:rPr lang="en-US" altLang="zh-TW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altLang="zh-TW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zh-TW" alt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1313864"/>
              </p:ext>
            </p:extLst>
          </p:nvPr>
        </p:nvGraphicFramePr>
        <p:xfrm>
          <a:off x="7102300" y="4902179"/>
          <a:ext cx="2581194" cy="11338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199"/>
                <a:gridCol w="430199"/>
                <a:gridCol w="430199"/>
                <a:gridCol w="430199"/>
                <a:gridCol w="430199"/>
                <a:gridCol w="430199"/>
              </a:tblGrid>
              <a:tr h="435767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2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j</a:t>
                      </a:r>
                    </a:p>
                    <a:p>
                      <a:pPr algn="r"/>
                      <a:endParaRPr lang="zh-TW" altLang="en-US" sz="12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sz="1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n-1</a:t>
                      </a:r>
                      <a:endParaRPr lang="zh-TW" altLang="en-US" sz="1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zh-TW" altLang="en-US" sz="1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4484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4484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3" name="內容版面配置區 2"/>
          <p:cNvSpPr txBox="1">
            <a:spLocks/>
          </p:cNvSpPr>
          <p:nvPr/>
        </p:nvSpPr>
        <p:spPr>
          <a:xfrm>
            <a:off x="6525508" y="1416671"/>
            <a:ext cx="4379033" cy="3129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[Induction]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altLang="zh-TW" sz="1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=1 , L(i-1, j)=L(0, j) = 0 (statement 1 of ALG A 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∵</a:t>
            </a:r>
            <a:r>
              <a:rPr lang="en-US" altLang="zh-TW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K(1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j) 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←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[j=0…n</a:t>
            </a:r>
            <a:r>
              <a:rPr lang="en-US" altLang="zh-TW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 , 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K(0, j) 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←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K(1, j) [j=0…n]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L(i-1, j) = K(0, j)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zh-TW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Assume K(0, j) =L(i-1, j) , then K(1, j) =L(</a:t>
            </a:r>
            <a:r>
              <a:rPr lang="en-US" altLang="zh-TW" sz="1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j) since the statements within the inner loops of ALG A and ALG B are equivalent 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zh-TW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K(0, j)=L(</a:t>
            </a:r>
            <a:r>
              <a:rPr lang="en-US" altLang="zh-TW" sz="1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j)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inner loops of ALG A and ALG B are equivalent .</a:t>
            </a:r>
            <a:r>
              <a:rPr lang="en-US" altLang="zh-TW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K(1, j)=L(i+1, j) </a:t>
            </a:r>
            <a:endParaRPr lang="en-US" altLang="zh-TW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zh-TW" sz="1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zh-TW" sz="1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zh-TW" alt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內容版面配置區 2"/>
          <p:cNvSpPr txBox="1">
            <a:spLocks/>
          </p:cNvSpPr>
          <p:nvPr/>
        </p:nvSpPr>
        <p:spPr>
          <a:xfrm>
            <a:off x="433768" y="3863547"/>
            <a:ext cx="4086474" cy="99312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L(i,1) L(i,2) … L(</a:t>
            </a:r>
            <a:r>
              <a:rPr lang="en-US" altLang="zh-TW" sz="1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i,n</a:t>
            </a:r>
            <a:r>
              <a:rPr lang="en-US" altLang="zh-TW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requires only row i-1 of matrix L .</a:t>
            </a:r>
            <a:endParaRPr lang="zh-TW" alt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7" name="表格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4664298"/>
              </p:ext>
            </p:extLst>
          </p:nvPr>
        </p:nvGraphicFramePr>
        <p:xfrm>
          <a:off x="1458822" y="4545732"/>
          <a:ext cx="2160000" cy="21683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/>
                <a:gridCol w="432000"/>
                <a:gridCol w="432000"/>
                <a:gridCol w="432000"/>
                <a:gridCol w="432000"/>
              </a:tblGrid>
              <a:tr h="435767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2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  <a:p>
                      <a:pPr algn="l"/>
                      <a:r>
                        <a:rPr lang="en-US" altLang="zh-TW" sz="12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2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Ø</a:t>
                      </a:r>
                      <a:endParaRPr lang="zh-TW" altLang="en-US" sz="14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1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1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endParaRPr lang="zh-TW" altLang="en-US" sz="1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448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Ø</a:t>
                      </a:r>
                      <a:endParaRPr lang="zh-TW" altLang="en-US" sz="14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4484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5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4484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15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4484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endParaRPr lang="zh-TW" altLang="en-US" sz="15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4484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15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8" name="直線單箭頭接點 7"/>
          <p:cNvCxnSpPr/>
          <p:nvPr/>
        </p:nvCxnSpPr>
        <p:spPr>
          <a:xfrm>
            <a:off x="2240951" y="5851365"/>
            <a:ext cx="203875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/>
          <p:cNvCxnSpPr/>
          <p:nvPr/>
        </p:nvCxnSpPr>
        <p:spPr>
          <a:xfrm>
            <a:off x="2538822" y="5582733"/>
            <a:ext cx="0" cy="17402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單箭頭接點 24"/>
          <p:cNvCxnSpPr/>
          <p:nvPr/>
        </p:nvCxnSpPr>
        <p:spPr>
          <a:xfrm rot="2700000">
            <a:off x="2240950" y="5684671"/>
            <a:ext cx="203875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字方塊 29"/>
          <p:cNvSpPr txBox="1"/>
          <p:nvPr/>
        </p:nvSpPr>
        <p:spPr>
          <a:xfrm>
            <a:off x="975360" y="5657555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 smtClean="0"/>
              <a:t>i</a:t>
            </a:r>
            <a:endParaRPr lang="zh-TW" altLang="en-US" dirty="0"/>
          </a:p>
        </p:txBody>
      </p:sp>
      <p:sp>
        <p:nvSpPr>
          <p:cNvPr id="31" name="文字方塊 30"/>
          <p:cNvSpPr txBox="1"/>
          <p:nvPr/>
        </p:nvSpPr>
        <p:spPr>
          <a:xfrm>
            <a:off x="6525508" y="5381142"/>
            <a:ext cx="6062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 smtClean="0"/>
              <a:t>K(0, j)</a:t>
            </a:r>
          </a:p>
        </p:txBody>
      </p:sp>
      <p:sp>
        <p:nvSpPr>
          <p:cNvPr id="32" name="文字方塊 31"/>
          <p:cNvSpPr txBox="1"/>
          <p:nvPr/>
        </p:nvSpPr>
        <p:spPr>
          <a:xfrm>
            <a:off x="6525508" y="5688920"/>
            <a:ext cx="6062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 smtClean="0"/>
              <a:t>K(1, j)</a:t>
            </a:r>
          </a:p>
        </p:txBody>
      </p:sp>
      <p:sp>
        <p:nvSpPr>
          <p:cNvPr id="33" name="向下箭號 32"/>
          <p:cNvSpPr/>
          <p:nvPr/>
        </p:nvSpPr>
        <p:spPr>
          <a:xfrm rot="16200000">
            <a:off x="1177073" y="5758637"/>
            <a:ext cx="180442" cy="18545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5233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30" grpId="0"/>
      <p:bldP spid="3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0551"/>
          </a:xfrm>
        </p:spPr>
        <p:txBody>
          <a:bodyPr>
            <a:norm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 (Cont'd)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33768" y="1235676"/>
            <a:ext cx="4236308" cy="279286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 B(m, n, A, B, LL)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Initialization: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K(1, j) 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←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[j=0…n]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altLang="zh-TW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← 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to m do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Begin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K(0, j) 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←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K(1, j) [j=0…n]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j 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← 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to n do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A(</a:t>
            </a:r>
            <a:r>
              <a:rPr lang="en-US" altLang="zh-TW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B(j) then K(1 , j)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←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K(0 , j-1) + 1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else K(1 , j)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←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max{K(1, j-1), K(0, j)}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LL(j)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←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K(1, j) [j=0…n]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zh-TW" alt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內容版面配置區 2"/>
          <p:cNvSpPr txBox="1">
            <a:spLocks/>
          </p:cNvSpPr>
          <p:nvPr/>
        </p:nvSpPr>
        <p:spPr>
          <a:xfrm>
            <a:off x="4992129" y="1235677"/>
            <a:ext cx="4153929" cy="9985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Suppose two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trings A, B</a:t>
            </a:r>
            <a:b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: </a:t>
            </a:r>
            <a:r>
              <a:rPr lang="en-US" altLang="zh-TW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abyx</a:t>
            </a:r>
            <a:endParaRPr lang="en-US" altLang="zh-TW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 : </a:t>
            </a:r>
            <a:r>
              <a:rPr lang="en-US" altLang="zh-TW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bby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1" name="內容版面配置區 2"/>
          <p:cNvSpPr txBox="1">
            <a:spLocks/>
          </p:cNvSpPr>
          <p:nvPr/>
        </p:nvSpPr>
        <p:spPr>
          <a:xfrm>
            <a:off x="5598385" y="5098097"/>
            <a:ext cx="5564741" cy="15621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Execution : </a:t>
            </a:r>
            <a:r>
              <a:rPr lang="en-US" altLang="zh-TW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mn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times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and output arrays : </a:t>
            </a:r>
            <a:r>
              <a:rPr lang="en-US" altLang="zh-TW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m+n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+(n+1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)*2</a:t>
            </a: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 complexity :  O(</a:t>
            </a:r>
            <a:r>
              <a:rPr lang="en-US" altLang="zh-TW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mn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b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Space complexity : 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O(</a:t>
            </a:r>
            <a:r>
              <a:rPr lang="en-US" altLang="zh-TW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m+n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graphicFrame>
        <p:nvGraphicFramePr>
          <p:cNvPr id="14" name="表格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2578152"/>
              </p:ext>
            </p:extLst>
          </p:nvPr>
        </p:nvGraphicFramePr>
        <p:xfrm>
          <a:off x="5598385" y="2373085"/>
          <a:ext cx="2078815" cy="11338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5763"/>
                <a:gridCol w="415763"/>
                <a:gridCol w="415763"/>
                <a:gridCol w="415763"/>
                <a:gridCol w="415763"/>
              </a:tblGrid>
              <a:tr h="435767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2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j</a:t>
                      </a:r>
                    </a:p>
                    <a:p>
                      <a:pPr algn="r"/>
                      <a:endParaRPr lang="zh-TW" altLang="en-US" sz="12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</a:t>
                      </a:r>
                      <a:endParaRPr lang="zh-TW" altLang="en-US" sz="1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1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4484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4484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5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7" name="文字方塊 16"/>
          <p:cNvSpPr txBox="1"/>
          <p:nvPr/>
        </p:nvSpPr>
        <p:spPr>
          <a:xfrm>
            <a:off x="5006861" y="2835571"/>
            <a:ext cx="6062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 smtClean="0"/>
              <a:t>K(0, j)</a:t>
            </a:r>
          </a:p>
        </p:txBody>
      </p:sp>
      <p:sp>
        <p:nvSpPr>
          <p:cNvPr id="18" name="文字方塊 17"/>
          <p:cNvSpPr txBox="1"/>
          <p:nvPr/>
        </p:nvSpPr>
        <p:spPr>
          <a:xfrm>
            <a:off x="5006861" y="3143349"/>
            <a:ext cx="6062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 smtClean="0"/>
              <a:t>K(1, j)</a:t>
            </a:r>
          </a:p>
        </p:txBody>
      </p:sp>
      <p:graphicFrame>
        <p:nvGraphicFramePr>
          <p:cNvPr id="21" name="表格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1153771"/>
              </p:ext>
            </p:extLst>
          </p:nvPr>
        </p:nvGraphicFramePr>
        <p:xfrm>
          <a:off x="8605509" y="2369142"/>
          <a:ext cx="2078815" cy="11338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5763"/>
                <a:gridCol w="415763"/>
                <a:gridCol w="415763"/>
                <a:gridCol w="415763"/>
                <a:gridCol w="415763"/>
              </a:tblGrid>
              <a:tr h="435767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2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j</a:t>
                      </a:r>
                    </a:p>
                    <a:p>
                      <a:pPr algn="r"/>
                      <a:endParaRPr lang="zh-TW" altLang="en-US" sz="12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</a:t>
                      </a:r>
                      <a:endParaRPr lang="zh-TW" altLang="en-US" sz="1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1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4484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4484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5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2" name="文字方塊 21"/>
          <p:cNvSpPr txBox="1"/>
          <p:nvPr/>
        </p:nvSpPr>
        <p:spPr>
          <a:xfrm>
            <a:off x="8013985" y="2825691"/>
            <a:ext cx="6062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 smtClean="0"/>
              <a:t>K(0, j)</a:t>
            </a:r>
          </a:p>
        </p:txBody>
      </p:sp>
      <p:sp>
        <p:nvSpPr>
          <p:cNvPr id="23" name="文字方塊 22"/>
          <p:cNvSpPr txBox="1"/>
          <p:nvPr/>
        </p:nvSpPr>
        <p:spPr>
          <a:xfrm>
            <a:off x="8013985" y="3133469"/>
            <a:ext cx="6062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 smtClean="0"/>
              <a:t>K(1, j)</a:t>
            </a:r>
          </a:p>
        </p:txBody>
      </p:sp>
      <p:graphicFrame>
        <p:nvGraphicFramePr>
          <p:cNvPr id="24" name="表格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1955253"/>
              </p:ext>
            </p:extLst>
          </p:nvPr>
        </p:nvGraphicFramePr>
        <p:xfrm>
          <a:off x="5583653" y="3825650"/>
          <a:ext cx="2078815" cy="11338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5763"/>
                <a:gridCol w="415763"/>
                <a:gridCol w="415763"/>
                <a:gridCol w="415763"/>
                <a:gridCol w="415763"/>
              </a:tblGrid>
              <a:tr h="435767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2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j</a:t>
                      </a:r>
                    </a:p>
                    <a:p>
                      <a:pPr algn="r"/>
                      <a:endParaRPr lang="zh-TW" altLang="en-US" sz="12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</a:t>
                      </a:r>
                      <a:endParaRPr lang="zh-TW" altLang="en-US" sz="1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1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4484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4484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5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文字方塊 24"/>
          <p:cNvSpPr txBox="1"/>
          <p:nvPr/>
        </p:nvSpPr>
        <p:spPr>
          <a:xfrm>
            <a:off x="4992129" y="4282199"/>
            <a:ext cx="6062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 smtClean="0"/>
              <a:t>K(0, j)</a:t>
            </a:r>
          </a:p>
        </p:txBody>
      </p:sp>
      <p:sp>
        <p:nvSpPr>
          <p:cNvPr id="26" name="文字方塊 25"/>
          <p:cNvSpPr txBox="1"/>
          <p:nvPr/>
        </p:nvSpPr>
        <p:spPr>
          <a:xfrm>
            <a:off x="4992129" y="4589977"/>
            <a:ext cx="6062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 smtClean="0"/>
              <a:t>K(1, j)</a:t>
            </a:r>
          </a:p>
        </p:txBody>
      </p:sp>
      <p:sp>
        <p:nvSpPr>
          <p:cNvPr id="27" name="向下箭號 26"/>
          <p:cNvSpPr/>
          <p:nvPr/>
        </p:nvSpPr>
        <p:spPr>
          <a:xfrm rot="16200000">
            <a:off x="7827832" y="2806455"/>
            <a:ext cx="162137" cy="246745"/>
          </a:xfrm>
          <a:prstGeom prst="downArrow">
            <a:avLst>
              <a:gd name="adj1" fmla="val 50000"/>
              <a:gd name="adj2" fmla="val 5308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向下箭號 27"/>
          <p:cNvSpPr/>
          <p:nvPr/>
        </p:nvSpPr>
        <p:spPr>
          <a:xfrm rot="16200000">
            <a:off x="7827832" y="4269203"/>
            <a:ext cx="162137" cy="246745"/>
          </a:xfrm>
          <a:prstGeom prst="downArrow">
            <a:avLst>
              <a:gd name="adj1" fmla="val 50000"/>
              <a:gd name="adj2" fmla="val 5308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向下箭號 28"/>
          <p:cNvSpPr/>
          <p:nvPr/>
        </p:nvSpPr>
        <p:spPr>
          <a:xfrm rot="16200000">
            <a:off x="4787688" y="4323125"/>
            <a:ext cx="162137" cy="246745"/>
          </a:xfrm>
          <a:prstGeom prst="downArrow">
            <a:avLst>
              <a:gd name="adj1" fmla="val 50000"/>
              <a:gd name="adj2" fmla="val 5308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31" name="表格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2581204"/>
              </p:ext>
            </p:extLst>
          </p:nvPr>
        </p:nvGraphicFramePr>
        <p:xfrm>
          <a:off x="8620241" y="3814240"/>
          <a:ext cx="2078815" cy="11338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5763"/>
                <a:gridCol w="415763"/>
                <a:gridCol w="415763"/>
                <a:gridCol w="415763"/>
                <a:gridCol w="415763"/>
              </a:tblGrid>
              <a:tr h="435767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2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j</a:t>
                      </a:r>
                    </a:p>
                    <a:p>
                      <a:pPr algn="r"/>
                      <a:endParaRPr lang="zh-TW" altLang="en-US" sz="12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</a:t>
                      </a:r>
                      <a:endParaRPr lang="zh-TW" altLang="en-US" sz="1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1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4484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4484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5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32" name="文字方塊 31"/>
          <p:cNvSpPr txBox="1"/>
          <p:nvPr/>
        </p:nvSpPr>
        <p:spPr>
          <a:xfrm>
            <a:off x="8028717" y="4270789"/>
            <a:ext cx="6062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 smtClean="0"/>
              <a:t>K(0, j)</a:t>
            </a:r>
          </a:p>
        </p:txBody>
      </p:sp>
      <p:sp>
        <p:nvSpPr>
          <p:cNvPr id="33" name="文字方塊 32"/>
          <p:cNvSpPr txBox="1"/>
          <p:nvPr/>
        </p:nvSpPr>
        <p:spPr>
          <a:xfrm>
            <a:off x="8028717" y="4578567"/>
            <a:ext cx="6062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 smtClean="0"/>
              <a:t>K(1, j)</a:t>
            </a:r>
          </a:p>
        </p:txBody>
      </p:sp>
      <p:graphicFrame>
        <p:nvGraphicFramePr>
          <p:cNvPr id="30" name="表格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5832600"/>
              </p:ext>
            </p:extLst>
          </p:nvPr>
        </p:nvGraphicFramePr>
        <p:xfrm>
          <a:off x="8605509" y="1096835"/>
          <a:ext cx="2078815" cy="11338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5763"/>
                <a:gridCol w="415763"/>
                <a:gridCol w="415763"/>
                <a:gridCol w="415763"/>
                <a:gridCol w="415763"/>
              </a:tblGrid>
              <a:tr h="435767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2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j</a:t>
                      </a:r>
                    </a:p>
                    <a:p>
                      <a:pPr algn="r"/>
                      <a:endParaRPr lang="zh-TW" altLang="en-US" sz="12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</a:t>
                      </a:r>
                      <a:endParaRPr lang="zh-TW" altLang="en-US" sz="1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1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4484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4484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5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1342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7" grpId="0"/>
      <p:bldP spid="18" grpId="0"/>
      <p:bldP spid="22" grpId="0"/>
      <p:bldP spid="23" grpId="0"/>
      <p:bldP spid="25" grpId="0"/>
      <p:bldP spid="26" grpId="0"/>
      <p:bldP spid="27" grpId="0" animBg="1"/>
      <p:bldP spid="28" grpId="0" animBg="1"/>
      <p:bldP spid="29" grpId="0" animBg="1"/>
      <p:bldP spid="32" grpId="0"/>
      <p:bldP spid="3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0551"/>
          </a:xfrm>
        </p:spPr>
        <p:txBody>
          <a:bodyPr>
            <a:norm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C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33767" y="1235675"/>
            <a:ext cx="11470685" cy="5432543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Using Algorithm B for appropriate substrings of A and B will enable us to recover a maximal common subsequence of A and B in linear space 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altLang="zh-TW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Let </a:t>
            </a:r>
            <a:r>
              <a:rPr lang="en-US" altLang="zh-TW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to be m/2 : A</a:t>
            </a:r>
            <a:r>
              <a:rPr lang="en-US" altLang="zh-TW" sz="22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1i</a:t>
            </a:r>
            <a:r>
              <a:rPr lang="en-US" altLang="zh-TW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TW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TW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2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i+1,m </a:t>
            </a:r>
            <a:r>
              <a:rPr lang="en-US" altLang="zh-TW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altLang="zh-TW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altLang="zh-TW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altLang="zh-TW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Find j (0</a:t>
            </a:r>
            <a:r>
              <a:rPr lang="en-US" altLang="zh-TW" sz="2200" dirty="0" smtClean="0">
                <a:latin typeface="Times New Roman" panose="02020603050405020304" pitchFamily="18" charset="0"/>
                <a:ea typeface="Cambria Math" pitchFamily="18"/>
                <a:cs typeface="Times New Roman" panose="02020603050405020304" pitchFamily="18" charset="0"/>
              </a:rPr>
              <a:t>≦ </a:t>
            </a:r>
            <a:r>
              <a:rPr lang="en-US" altLang="zh-TW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200" dirty="0" err="1" smtClean="0">
                <a:latin typeface="Times New Roman" panose="02020603050405020304" pitchFamily="18" charset="0"/>
                <a:ea typeface="Cambria Math" pitchFamily="18"/>
                <a:cs typeface="Times New Roman" panose="02020603050405020304" pitchFamily="18" charset="0"/>
              </a:rPr>
              <a:t>≦n</a:t>
            </a:r>
            <a:r>
              <a:rPr lang="en-US" altLang="zh-TW" sz="2200" dirty="0" smtClean="0">
                <a:latin typeface="Times New Roman" panose="02020603050405020304" pitchFamily="18" charset="0"/>
                <a:ea typeface="Cambria Math" pitchFamily="18"/>
                <a:cs typeface="Times New Roman" panose="02020603050405020304" pitchFamily="18" charset="0"/>
              </a:rPr>
              <a:t>)</a:t>
            </a:r>
            <a:r>
              <a:rPr lang="en-US" altLang="zh-TW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to determine a prefix </a:t>
            </a:r>
            <a:r>
              <a:rPr lang="en-US" altLang="ja-JP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ja-JP" sz="22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altLang="zh-TW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 B which can be matched with the first half A</a:t>
            </a:r>
            <a:r>
              <a:rPr lang="en-US" altLang="zh-TW" sz="22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altLang="zh-TW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  A , and  suffix </a:t>
            </a:r>
            <a:r>
              <a:rPr lang="en-US" altLang="ja-JP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ja-JP" sz="22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B </a:t>
            </a:r>
            <a:r>
              <a:rPr lang="en-US" altLang="zh-TW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matched with the last half A</a:t>
            </a:r>
            <a:r>
              <a:rPr lang="en-US" altLang="zh-TW" sz="22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of A </a:t>
            </a: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LCS(A, B)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altLang="zh-TW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altLang="zh-TW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zh-TW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0" name="表格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223899"/>
              </p:ext>
            </p:extLst>
          </p:nvPr>
        </p:nvGraphicFramePr>
        <p:xfrm>
          <a:off x="4315963" y="2383265"/>
          <a:ext cx="5861583" cy="3448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886"/>
                <a:gridCol w="442886"/>
                <a:gridCol w="442886"/>
                <a:gridCol w="442886"/>
                <a:gridCol w="442886"/>
                <a:gridCol w="442886"/>
                <a:gridCol w="442886"/>
                <a:gridCol w="442886"/>
                <a:gridCol w="442886"/>
                <a:gridCol w="510895"/>
                <a:gridCol w="518855"/>
                <a:gridCol w="493800"/>
                <a:gridCol w="352059"/>
              </a:tblGrid>
              <a:tr h="34484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zh-TW" altLang="en-US" sz="15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5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15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15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sz="15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i-1</a:t>
                      </a:r>
                      <a:endParaRPr lang="zh-TW" altLang="en-US" sz="15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zh-TW" altLang="en-US" sz="15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i+1</a:t>
                      </a:r>
                      <a:endParaRPr lang="zh-TW" altLang="en-US" sz="15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sz="15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m-3</a:t>
                      </a:r>
                      <a:endParaRPr lang="zh-TW" altLang="en-US" sz="15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m-2</a:t>
                      </a:r>
                      <a:endParaRPr lang="zh-TW" altLang="en-US" sz="15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m-1</a:t>
                      </a:r>
                      <a:endParaRPr lang="zh-TW" altLang="en-US" sz="15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endParaRPr lang="zh-TW" altLang="en-US" sz="15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弧形 5"/>
          <p:cNvSpPr/>
          <p:nvPr/>
        </p:nvSpPr>
        <p:spPr>
          <a:xfrm>
            <a:off x="9962716" y="2256994"/>
            <a:ext cx="221531" cy="252540"/>
          </a:xfrm>
          <a:prstGeom prst="arc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弧形 33"/>
          <p:cNvSpPr/>
          <p:nvPr/>
        </p:nvSpPr>
        <p:spPr>
          <a:xfrm>
            <a:off x="7204760" y="2251971"/>
            <a:ext cx="221531" cy="252540"/>
          </a:xfrm>
          <a:prstGeom prst="arc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弧形 34"/>
          <p:cNvSpPr/>
          <p:nvPr/>
        </p:nvSpPr>
        <p:spPr>
          <a:xfrm flipH="1">
            <a:off x="4763067" y="2256994"/>
            <a:ext cx="221531" cy="252540"/>
          </a:xfrm>
          <a:prstGeom prst="arc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弧形 36"/>
          <p:cNvSpPr/>
          <p:nvPr/>
        </p:nvSpPr>
        <p:spPr>
          <a:xfrm flipH="1">
            <a:off x="7416253" y="2256994"/>
            <a:ext cx="221531" cy="252540"/>
          </a:xfrm>
          <a:prstGeom prst="arc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/>
          <p:cNvSpPr txBox="1"/>
          <p:nvPr/>
        </p:nvSpPr>
        <p:spPr>
          <a:xfrm>
            <a:off x="5977217" y="1948286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 smtClean="0"/>
              <a:t>i</a:t>
            </a:r>
            <a:endParaRPr lang="zh-TW" altLang="en-US" dirty="0"/>
          </a:p>
        </p:txBody>
      </p:sp>
      <p:sp>
        <p:nvSpPr>
          <p:cNvPr id="38" name="文字方塊 37"/>
          <p:cNvSpPr txBox="1"/>
          <p:nvPr/>
        </p:nvSpPr>
        <p:spPr>
          <a:xfrm>
            <a:off x="8542426" y="1950422"/>
            <a:ext cx="492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m-</a:t>
            </a:r>
            <a:r>
              <a:rPr lang="en-US" altLang="zh-TW" dirty="0" err="1" smtClean="0"/>
              <a:t>i</a:t>
            </a:r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35354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0551"/>
          </a:xfrm>
        </p:spPr>
        <p:txBody>
          <a:bodyPr>
            <a:norm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 (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Cont'd)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60385" y="1235676"/>
                <a:ext cx="4823416" cy="5091972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altLang="zh-TW" sz="1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ALG C (</a:t>
                </a:r>
                <a:r>
                  <a:rPr lang="en-US" altLang="zh-TW" sz="15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m, n, A, B, C</a:t>
                </a:r>
                <a:r>
                  <a:rPr lang="en-US" altLang="zh-TW" sz="1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en-US" altLang="zh-TW" sz="1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altLang="zh-TW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sz="1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 problem is trivial, solve it: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altLang="zh-TW" sz="1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</a:t>
                </a:r>
                <a:r>
                  <a:rPr lang="en-US" altLang="zh-TW" sz="15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TW" sz="1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</a:t>
                </a:r>
                <a:r>
                  <a:rPr lang="zh-TW" altLang="en-US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1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 then </a:t>
                </a:r>
                <a:r>
                  <a:rPr lang="en-US" altLang="zh-TW" sz="15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 </a:t>
                </a:r>
                <a:r>
                  <a:rPr lang="zh-TW" altLang="en-US" sz="15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←</a:t>
                </a:r>
                <a:r>
                  <a:rPr lang="en-US" altLang="zh-TW" sz="15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r>
                  <a:rPr lang="en-US" altLang="zh-TW" sz="1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(e is the empty string)</a:t>
                </a:r>
                <a:br>
                  <a:rPr lang="en-US" altLang="zh-TW" sz="1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TW" sz="1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else if </a:t>
                </a:r>
                <a:r>
                  <a:rPr lang="en-US" altLang="zh-TW" sz="15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US" altLang="zh-TW" sz="1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 then if </a:t>
                </a:r>
                <a:r>
                  <a:rPr lang="zh-TW" altLang="en-US" sz="1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∃ </a:t>
                </a:r>
                <a:r>
                  <a:rPr lang="en-US" altLang="zh-TW" sz="15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US" altLang="zh-TW" sz="1400" i="1" dirty="0">
                    <a:latin typeface="Times New Roman" panose="02020603050405020304" pitchFamily="18" charset="0"/>
                    <a:ea typeface="Cambria Math" pitchFamily="18"/>
                    <a:cs typeface="Times New Roman" panose="02020603050405020304" pitchFamily="18" charset="0"/>
                  </a:rPr>
                  <a:t> ≦ </a:t>
                </a:r>
                <a:r>
                  <a:rPr lang="en-US" altLang="zh-TW" sz="15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 such that A(1) = B(j)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altLang="zh-TW" sz="1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</a:t>
                </a:r>
                <a:r>
                  <a:rPr lang="en-US" altLang="zh-TW" sz="1500" dirty="0" smtClean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then </a:t>
                </a:r>
                <a:r>
                  <a:rPr lang="en-US" altLang="zh-TW" sz="1500" i="1" dirty="0" smtClean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zh-TW" altLang="en-US" sz="15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← </a:t>
                </a:r>
                <a:r>
                  <a:rPr lang="en-US" altLang="zh-TW" sz="1500" i="1" dirty="0" smtClean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A(1)</a:t>
                </a:r>
              </a:p>
              <a:p>
                <a:pPr marL="3600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altLang="zh-TW" sz="1500" dirty="0" smtClean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                                else </a:t>
                </a:r>
                <a:r>
                  <a:rPr lang="en-US" altLang="zh-TW" sz="1500" i="1" dirty="0" smtClean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zh-TW" altLang="en-US" sz="15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← </a:t>
                </a:r>
                <a:r>
                  <a:rPr lang="en-US" altLang="zh-TW" sz="1500" i="1" dirty="0" smtClean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e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altLang="zh-TW" sz="1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Otherwise, split problem: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altLang="zh-TW" sz="1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else begin </a:t>
                </a:r>
                <a:r>
                  <a:rPr lang="en-US" altLang="zh-TW" sz="15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zh-TW" altLang="en-US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zh-TW" altLang="en-US" sz="1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←⌊ </a:t>
                </a:r>
                <a:r>
                  <a:rPr lang="en-US" altLang="zh-TW" sz="1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m/2</a:t>
                </a:r>
                <a:r>
                  <a:rPr lang="zh-TW" altLang="en-US" sz="1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1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⌋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altLang="zh-TW" sz="1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Evaluate </a:t>
                </a:r>
                <a:r>
                  <a:rPr lang="en-US" altLang="zh-TW" sz="15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L(</a:t>
                </a:r>
                <a:r>
                  <a:rPr lang="en-US" altLang="zh-TW" sz="1500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sz="15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j</a:t>
                </a:r>
                <a:r>
                  <a:rPr lang="en-US" altLang="zh-TW" sz="15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en-US" altLang="zh-TW" sz="1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</a:t>
                </a:r>
                <a:r>
                  <a:rPr lang="en-US" altLang="zh-TW" sz="15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L*(</a:t>
                </a:r>
                <a:r>
                  <a:rPr lang="en-US" altLang="zh-TW" sz="15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sz="15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j</a:t>
                </a:r>
                <a:r>
                  <a:rPr lang="en-US" altLang="zh-TW" sz="15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altLang="zh-TW" sz="1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[j=0…n]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altLang="zh-TW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1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ALG</a:t>
                </a:r>
                <a:r>
                  <a:rPr lang="zh-TW" altLang="en-US" sz="1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1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zh-TW" altLang="en-US" sz="1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1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TW" sz="1500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sz="15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n, A</a:t>
                </a:r>
                <a:r>
                  <a:rPr lang="en-US" altLang="zh-TW" sz="15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1i</a:t>
                </a:r>
                <a:r>
                  <a:rPr lang="en-US" altLang="zh-TW" sz="15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B</a:t>
                </a:r>
                <a:r>
                  <a:rPr lang="en-US" altLang="zh-TW" sz="15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1n</a:t>
                </a:r>
                <a:r>
                  <a:rPr lang="en-US" altLang="zh-TW" sz="15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L1</a:t>
                </a:r>
                <a:r>
                  <a:rPr lang="en-US" altLang="zh-TW" sz="1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zh-TW" altLang="en-US" sz="1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</a:t>
                </a:r>
                <a:r>
                  <a:rPr lang="en-US" altLang="zh-TW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ALG</a:t>
                </a:r>
                <a:r>
                  <a:rPr lang="zh-TW" altLang="en-US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zh-TW" altLang="en-US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1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TW" sz="15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m-</a:t>
                </a:r>
                <a:r>
                  <a:rPr lang="en-US" altLang="zh-TW" sz="1500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sz="15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zh-TW" sz="15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n, </a:t>
                </a:r>
                <a:r>
                  <a:rPr lang="en-US" altLang="zh-TW" sz="15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Ȃ</a:t>
                </a:r>
                <a:r>
                  <a:rPr lang="en-US" altLang="zh-TW" sz="15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m,i+1</a:t>
                </a:r>
                <a:r>
                  <a:rPr lang="en-US" altLang="zh-TW" sz="15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TW" sz="15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TW" sz="15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en-US" altLang="zh-TW" sz="15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n1</a:t>
                </a:r>
                <a:r>
                  <a:rPr lang="en-US" altLang="zh-TW" sz="15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L2</a:t>
                </a:r>
                <a:r>
                  <a:rPr lang="en-US" altLang="zh-TW" sz="1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altLang="zh-TW" sz="1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Find </a:t>
                </a:r>
                <a:r>
                  <a:rPr lang="en-US" altLang="zh-TW" sz="15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 such that L(</a:t>
                </a:r>
                <a:r>
                  <a:rPr lang="en-US" altLang="zh-TW" sz="1500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sz="15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j) + L*(</a:t>
                </a:r>
                <a:r>
                  <a:rPr lang="en-US" altLang="zh-TW" sz="1500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sz="15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j) = L(m, n</a:t>
                </a:r>
                <a:r>
                  <a:rPr lang="en-US" altLang="zh-TW" sz="15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en-US" altLang="zh-TW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using theorem:</a:t>
                </a:r>
                <a:br>
                  <a:rPr lang="en-US" altLang="zh-TW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TW" sz="1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M</a:t>
                </a:r>
                <a:r>
                  <a:rPr lang="zh-TW" altLang="en-US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zh-TW" altLang="en-US" sz="1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← </a:t>
                </a:r>
                <a14:m>
                  <m:oMath xmlns:m="http://schemas.openxmlformats.org/officeDocument/2006/math">
                    <m:r>
                      <a:rPr lang="en-US" altLang="zh-TW" sz="15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𝑚𝑎𝑥</m:t>
                    </m:r>
                  </m:oMath>
                </a14:m>
                <a:r>
                  <a:rPr lang="en-US" altLang="zh-TW" sz="1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{</a:t>
                </a:r>
                <a:r>
                  <a:rPr lang="en-US" altLang="zh-TW" sz="15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L1(j) + L2(n-j)</a:t>
                </a:r>
                <a:r>
                  <a:rPr lang="en-US" altLang="zh-TW" sz="1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</a:t>
                </a:r>
              </a:p>
              <a:p>
                <a:pPr marL="0" indent="0">
                  <a:lnSpc>
                    <a:spcPts val="500"/>
                  </a:lnSpc>
                  <a:spcBef>
                    <a:spcPts val="0"/>
                  </a:spcBef>
                  <a:buNone/>
                </a:pPr>
                <a:r>
                  <a:rPr lang="en-US" altLang="zh-TW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1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</a:t>
                </a:r>
                <a:r>
                  <a:rPr lang="en-US" altLang="zh-TW" sz="10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altLang="zh-TW" sz="1000" i="1" dirty="0" smtClean="0">
                    <a:latin typeface="Times New Roman" panose="02020603050405020304" pitchFamily="18" charset="0"/>
                    <a:ea typeface="Cambria Math" pitchFamily="18"/>
                    <a:cs typeface="Times New Roman" panose="02020603050405020304" pitchFamily="18" charset="0"/>
                  </a:rPr>
                  <a:t>≦ </a:t>
                </a:r>
                <a:r>
                  <a:rPr lang="en-US" altLang="zh-TW" sz="1000" i="1" dirty="0" err="1" smtClean="0">
                    <a:latin typeface="Times New Roman" panose="02020603050405020304" pitchFamily="18" charset="0"/>
                    <a:ea typeface="Cambria Math" pitchFamily="18"/>
                    <a:cs typeface="Times New Roman" panose="02020603050405020304" pitchFamily="18" charset="0"/>
                  </a:rPr>
                  <a:t>j≦n</a:t>
                </a:r>
                <a:endParaRPr lang="en-US" altLang="zh-TW" sz="1000" i="1" dirty="0" smtClean="0">
                  <a:latin typeface="Times New Roman" panose="02020603050405020304" pitchFamily="18" charset="0"/>
                  <a:ea typeface="Cambria Math" pitchFamily="18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altLang="zh-TW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k</a:t>
                </a:r>
                <a:r>
                  <a:rPr lang="zh-TW" altLang="en-US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zh-TW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← </a:t>
                </a:r>
                <a14:m>
                  <m:oMath xmlns:m="http://schemas.openxmlformats.org/officeDocument/2006/math">
                    <m:r>
                      <a:rPr lang="en-US" altLang="zh-TW" sz="16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𝑚𝑖𝑛</m:t>
                    </m:r>
                  </m:oMath>
                </a14:m>
                <a:r>
                  <a:rPr lang="en-US" altLang="zh-TW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j such that L1(j</a:t>
                </a:r>
                <a:r>
                  <a:rPr lang="en-US" altLang="zh-TW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+ L2(n-j</a:t>
                </a:r>
                <a:r>
                  <a:rPr lang="en-US" altLang="zh-TW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zh-TW" altLang="en-US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zh-TW" altLang="en-US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altLang="zh-TW" sz="1600" dirty="0" smtClean="0">
                    <a:latin typeface="Times New Roman" panose="02020603050405020304" pitchFamily="18" charset="0"/>
                    <a:ea typeface="Cambria Math" pitchFamily="18"/>
                    <a:cs typeface="Times New Roman" panose="02020603050405020304" pitchFamily="18" charset="0"/>
                  </a:rPr>
                  <a:t>Solve simpler problem 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altLang="zh-TW" sz="1600" dirty="0">
                    <a:latin typeface="Times New Roman" panose="02020603050405020304" pitchFamily="18" charset="0"/>
                    <a:ea typeface="Cambria Math" pitchFamily="18"/>
                    <a:cs typeface="Times New Roman" panose="02020603050405020304" pitchFamily="18" charset="0"/>
                  </a:rPr>
                  <a:t> </a:t>
                </a:r>
                <a:r>
                  <a:rPr lang="en-US" altLang="zh-TW" sz="1600" dirty="0" smtClean="0">
                    <a:latin typeface="Times New Roman" panose="02020603050405020304" pitchFamily="18" charset="0"/>
                    <a:ea typeface="Cambria Math" pitchFamily="18"/>
                    <a:cs typeface="Times New Roman" panose="02020603050405020304" pitchFamily="18" charset="0"/>
                  </a:rPr>
                  <a:t> </a:t>
                </a:r>
                <a:r>
                  <a:rPr lang="en-US" altLang="zh-TW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ALG</a:t>
                </a:r>
                <a:r>
                  <a:rPr lang="zh-TW" altLang="en-US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zh-TW" altLang="en-US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TW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zh-TW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k, </a:t>
                </a:r>
                <a:r>
                  <a:rPr lang="en-US" altLang="zh-TW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TW" sz="16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1i</a:t>
                </a:r>
                <a:r>
                  <a:rPr lang="en-US" altLang="zh-TW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zh-TW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zh-TW" sz="16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1k</a:t>
                </a:r>
                <a:r>
                  <a:rPr lang="en-US" altLang="zh-TW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C1</a:t>
                </a:r>
                <a:r>
                  <a:rPr lang="en-US" altLang="zh-TW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altLang="zh-TW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ALG</a:t>
                </a:r>
                <a:r>
                  <a:rPr lang="zh-TW" altLang="en-US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zh-TW" altLang="en-US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TW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m-</a:t>
                </a:r>
                <a:r>
                  <a:rPr lang="en-US" altLang="zh-TW" sz="1600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n-k, </a:t>
                </a:r>
                <a:r>
                  <a:rPr lang="en-US" altLang="zh-TW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TW" sz="16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i+1,m</a:t>
                </a:r>
                <a:r>
                  <a:rPr lang="en-US" altLang="zh-TW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B</a:t>
                </a:r>
                <a:r>
                  <a:rPr lang="en-US" altLang="zh-TW" sz="16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k+1,n</a:t>
                </a:r>
                <a:r>
                  <a:rPr lang="en-US" altLang="zh-TW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C2</a:t>
                </a:r>
                <a:r>
                  <a:rPr lang="en-US" altLang="zh-TW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br>
                  <a:rPr lang="en-US" altLang="zh-TW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endParaRPr lang="en-US" altLang="zh-TW" sz="16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altLang="zh-TW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Given output :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altLang="zh-TW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C</a:t>
                </a:r>
                <a:r>
                  <a:rPr lang="zh-TW" altLang="en-US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← </a:t>
                </a:r>
                <a:r>
                  <a:rPr lang="en-US" altLang="zh-TW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C1</a:t>
                </a:r>
                <a:r>
                  <a:rPr lang="zh-TW" altLang="en-US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||</a:t>
                </a:r>
                <a:r>
                  <a:rPr lang="zh-TW" altLang="en-US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C2</a:t>
                </a:r>
                <a:r>
                  <a:rPr lang="zh-TW" altLang="en-US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(concatenation of string C1 and C2)</a:t>
                </a:r>
                <a:endParaRPr lang="en-US" altLang="zh-TW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385" y="1235676"/>
                <a:ext cx="4823416" cy="5091972"/>
              </a:xfrm>
              <a:blipFill rotWithShape="0">
                <a:blip r:embed="rId3"/>
                <a:stretch>
                  <a:fillRect l="-759" t="-35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內容版面配置區 2"/>
          <p:cNvSpPr txBox="1">
            <a:spLocks/>
          </p:cNvSpPr>
          <p:nvPr/>
        </p:nvSpPr>
        <p:spPr>
          <a:xfrm>
            <a:off x="4992129" y="1235677"/>
            <a:ext cx="4153929" cy="9985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Suppose two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trings A, B</a:t>
            </a:r>
            <a:b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: </a:t>
            </a:r>
            <a:r>
              <a:rPr lang="en-US" altLang="zh-TW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abyx</a:t>
            </a:r>
            <a:endParaRPr lang="en-US" altLang="zh-TW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 : </a:t>
            </a:r>
            <a:r>
              <a:rPr lang="en-US" altLang="zh-TW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bby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4" name="向下箭號 33"/>
          <p:cNvSpPr/>
          <p:nvPr/>
        </p:nvSpPr>
        <p:spPr>
          <a:xfrm rot="16200000">
            <a:off x="6884138" y="2506191"/>
            <a:ext cx="162137" cy="246745"/>
          </a:xfrm>
          <a:prstGeom prst="downArrow">
            <a:avLst>
              <a:gd name="adj1" fmla="val 50000"/>
              <a:gd name="adj2" fmla="val 5308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40" name="表格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8727400"/>
              </p:ext>
            </p:extLst>
          </p:nvPr>
        </p:nvGraphicFramePr>
        <p:xfrm>
          <a:off x="5355528" y="4016911"/>
          <a:ext cx="2078815" cy="11338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5763"/>
                <a:gridCol w="415763"/>
                <a:gridCol w="415763"/>
                <a:gridCol w="415763"/>
                <a:gridCol w="415763"/>
              </a:tblGrid>
              <a:tr h="435767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2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j</a:t>
                      </a:r>
                    </a:p>
                    <a:p>
                      <a:pPr algn="r"/>
                      <a:endParaRPr lang="zh-TW" altLang="en-US" sz="12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1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1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endParaRPr lang="zh-TW" altLang="en-US" sz="1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4484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4484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5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3" name="表格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5036055"/>
              </p:ext>
            </p:extLst>
          </p:nvPr>
        </p:nvGraphicFramePr>
        <p:xfrm>
          <a:off x="5355528" y="5546085"/>
          <a:ext cx="2078815" cy="11338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5763"/>
                <a:gridCol w="415763"/>
                <a:gridCol w="415763"/>
                <a:gridCol w="415763"/>
                <a:gridCol w="415763"/>
              </a:tblGrid>
              <a:tr h="435767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2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j</a:t>
                      </a:r>
                    </a:p>
                    <a:p>
                      <a:pPr algn="r"/>
                      <a:endParaRPr lang="zh-TW" altLang="en-US" sz="12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1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1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endParaRPr lang="zh-TW" altLang="en-US" sz="1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4484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4484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15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7506602" y="6310605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6" name="表格 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4322368"/>
              </p:ext>
            </p:extLst>
          </p:nvPr>
        </p:nvGraphicFramePr>
        <p:xfrm>
          <a:off x="9146058" y="4016911"/>
          <a:ext cx="2078815" cy="11338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5763"/>
                <a:gridCol w="415763"/>
                <a:gridCol w="415763"/>
                <a:gridCol w="415763"/>
                <a:gridCol w="415763"/>
              </a:tblGrid>
              <a:tr h="435767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2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j</a:t>
                      </a:r>
                    </a:p>
                    <a:p>
                      <a:pPr algn="r"/>
                      <a:endParaRPr lang="zh-TW" altLang="en-US" sz="12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endParaRPr lang="zh-TW" altLang="en-US" sz="1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1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1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4484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4484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15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4987014" y="3521033"/>
            <a:ext cx="313178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2, 3, “ab”, “bby”,L1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8619572" y="3521033"/>
            <a:ext cx="313178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2, 3, “</a:t>
            </a:r>
            <a:r>
              <a:rPr lang="en-US" altLang="zh-TW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xy</a:t>
            </a:r>
            <a:r>
              <a:rPr lang="en-US" altLang="zh-TW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”, “ybb”,L2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向下箭號 49"/>
          <p:cNvSpPr/>
          <p:nvPr/>
        </p:nvSpPr>
        <p:spPr>
          <a:xfrm>
            <a:off x="6313866" y="5235005"/>
            <a:ext cx="162137" cy="246745"/>
          </a:xfrm>
          <a:prstGeom prst="downArrow">
            <a:avLst>
              <a:gd name="adj1" fmla="val 50000"/>
              <a:gd name="adj2" fmla="val 5308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1" name="向下箭號 50"/>
          <p:cNvSpPr/>
          <p:nvPr/>
        </p:nvSpPr>
        <p:spPr>
          <a:xfrm>
            <a:off x="10104396" y="5242932"/>
            <a:ext cx="162137" cy="246745"/>
          </a:xfrm>
          <a:prstGeom prst="downArrow">
            <a:avLst>
              <a:gd name="adj1" fmla="val 50000"/>
              <a:gd name="adj2" fmla="val 5308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52" name="表格 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5166606"/>
              </p:ext>
            </p:extLst>
          </p:nvPr>
        </p:nvGraphicFramePr>
        <p:xfrm>
          <a:off x="9146058" y="5546085"/>
          <a:ext cx="2078815" cy="11338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5763"/>
                <a:gridCol w="415763"/>
                <a:gridCol w="415763"/>
                <a:gridCol w="415763"/>
                <a:gridCol w="415763"/>
              </a:tblGrid>
              <a:tr h="435767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2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j</a:t>
                      </a:r>
                    </a:p>
                    <a:p>
                      <a:pPr algn="r"/>
                      <a:endParaRPr lang="zh-TW" altLang="en-US" sz="12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endParaRPr lang="zh-TW" altLang="en-US" sz="1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1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1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4484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4484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endParaRPr lang="zh-TW" altLang="en-US" sz="15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3" name="內容版面配置區 2"/>
          <p:cNvSpPr txBox="1">
            <a:spLocks/>
          </p:cNvSpPr>
          <p:nvPr/>
        </p:nvSpPr>
        <p:spPr>
          <a:xfrm>
            <a:off x="5499541" y="2372035"/>
            <a:ext cx="1319061" cy="51505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: </a:t>
            </a:r>
            <a:r>
              <a:rPr lang="en-US" altLang="zh-TW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abyx</a:t>
            </a:r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7149036" y="2171367"/>
            <a:ext cx="169928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0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1,i</a:t>
            </a:r>
            <a:r>
              <a:rPr lang="zh-TW" altLang="en-US" sz="20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ab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7173675" y="2783689"/>
            <a:ext cx="130875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Ȃ</a:t>
            </a:r>
            <a:r>
              <a:rPr lang="en-US" altLang="zh-TW" sz="20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m,i+1 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TW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xy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文字方塊 53"/>
          <p:cNvSpPr txBox="1"/>
          <p:nvPr/>
        </p:nvSpPr>
        <p:spPr>
          <a:xfrm>
            <a:off x="11353800" y="6327648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9343845" y="6408109"/>
            <a:ext cx="2743200" cy="365125"/>
          </a:xfrm>
        </p:spPr>
        <p:txBody>
          <a:bodyPr/>
          <a:lstStyle/>
          <a:p>
            <a:fld id="{C8A97ABC-EF3A-4183-AE2C-72E330AF586D}" type="slidenum">
              <a:rPr lang="zh-TW" altLang="en-US" smtClean="0"/>
              <a:t>10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65641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4" grpId="0" animBg="1"/>
      <p:bldP spid="7" grpId="0"/>
      <p:bldP spid="8" grpId="0"/>
      <p:bldP spid="49" grpId="0"/>
      <p:bldP spid="50" grpId="0" animBg="1"/>
      <p:bldP spid="51" grpId="0" animBg="1"/>
      <p:bldP spid="53" grpId="0"/>
      <p:bldP spid="9" grpId="0"/>
      <p:bldP spid="10" grpId="0"/>
      <p:bldP spid="5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0551"/>
          </a:xfrm>
        </p:spPr>
        <p:txBody>
          <a:bodyPr>
            <a:norm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C (Cont'd)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3" name="表格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4120542"/>
              </p:ext>
            </p:extLst>
          </p:nvPr>
        </p:nvGraphicFramePr>
        <p:xfrm>
          <a:off x="838200" y="2446520"/>
          <a:ext cx="2078815" cy="11338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5763"/>
                <a:gridCol w="415763"/>
                <a:gridCol w="415763"/>
                <a:gridCol w="415763"/>
                <a:gridCol w="415763"/>
              </a:tblGrid>
              <a:tr h="435767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2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j</a:t>
                      </a:r>
                    </a:p>
                    <a:p>
                      <a:pPr algn="r"/>
                      <a:endParaRPr lang="zh-TW" altLang="en-US" sz="12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1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1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endParaRPr lang="zh-TW" altLang="en-US" sz="1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4484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4484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15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2989274" y="3211040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2" name="表格 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0134425"/>
              </p:ext>
            </p:extLst>
          </p:nvPr>
        </p:nvGraphicFramePr>
        <p:xfrm>
          <a:off x="4628730" y="2446520"/>
          <a:ext cx="2078815" cy="11338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5763"/>
                <a:gridCol w="415763"/>
                <a:gridCol w="415763"/>
                <a:gridCol w="415763"/>
                <a:gridCol w="415763"/>
              </a:tblGrid>
              <a:tr h="435767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2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j</a:t>
                      </a:r>
                    </a:p>
                    <a:p>
                      <a:pPr algn="r"/>
                      <a:endParaRPr lang="en-US" altLang="zh-TW" sz="1200" b="1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endParaRPr lang="zh-TW" altLang="en-US" sz="1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1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1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4484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4484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endParaRPr lang="zh-TW" altLang="en-US" sz="15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398" marR="78398" marT="39199" marB="39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4" name="文字方塊 53"/>
          <p:cNvSpPr txBox="1"/>
          <p:nvPr/>
        </p:nvSpPr>
        <p:spPr>
          <a:xfrm>
            <a:off x="6836472" y="3228083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838200" y="1347373"/>
                <a:ext cx="6096000" cy="987450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Find 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 such that L(</a:t>
                </a:r>
                <a:r>
                  <a:rPr lang="en-US" altLang="zh-TW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j) + L*(</a:t>
                </a:r>
                <a:r>
                  <a:rPr lang="en-US" altLang="zh-TW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j) = L(m, n)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using theorem:</a:t>
                </a:r>
                <a:b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M</a:t>
                </a:r>
                <a:r>
                  <a: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← 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𝑚𝑎𝑥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{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L1(j) + L2(n-j)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</a:t>
                </a:r>
              </a:p>
              <a:p>
                <a:pPr>
                  <a:lnSpc>
                    <a:spcPts val="500"/>
                  </a:lnSpc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</a:t>
                </a:r>
                <a:r>
                  <a:rPr lang="en-US" altLang="zh-TW" sz="105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altLang="zh-TW" sz="1050" i="1" dirty="0">
                    <a:latin typeface="Times New Roman" panose="02020603050405020304" pitchFamily="18" charset="0"/>
                    <a:ea typeface="Cambria Math" pitchFamily="18"/>
                    <a:cs typeface="Times New Roman" panose="02020603050405020304" pitchFamily="18" charset="0"/>
                  </a:rPr>
                  <a:t>≦ </a:t>
                </a:r>
                <a:r>
                  <a:rPr lang="en-US" altLang="zh-TW" sz="1050" i="1" dirty="0" err="1">
                    <a:latin typeface="Times New Roman" panose="02020603050405020304" pitchFamily="18" charset="0"/>
                    <a:ea typeface="Cambria Math" pitchFamily="18"/>
                    <a:cs typeface="Times New Roman" panose="02020603050405020304" pitchFamily="18" charset="0"/>
                  </a:rPr>
                  <a:t>j≦n</a:t>
                </a:r>
                <a:endParaRPr lang="en-US" altLang="zh-TW" sz="1050" i="1" dirty="0">
                  <a:latin typeface="Times New Roman" panose="02020603050405020304" pitchFamily="18" charset="0"/>
                  <a:ea typeface="Cambria Math" pitchFamily="18"/>
                  <a:cs typeface="Times New Roman" panose="02020603050405020304" pitchFamily="18" charset="0"/>
                </a:endParaRPr>
              </a:p>
              <a:p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k</a:t>
                </a:r>
                <a:r>
                  <a: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← 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𝑚𝑖𝑛</m:t>
                    </m:r>
                  </m:oMath>
                </a14:m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j such that L1(j) + L2(n-j)</a:t>
                </a:r>
                <a:r>
                  <a:rPr lang="zh-TW" alt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zh-TW" alt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347373"/>
                <a:ext cx="6096000" cy="987450"/>
              </a:xfrm>
              <a:prstGeom prst="rect">
                <a:avLst/>
              </a:prstGeom>
              <a:blipFill rotWithShape="0">
                <a:blip r:embed="rId2"/>
                <a:stretch>
                  <a:fillRect l="-900" t="-3086" b="-925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矩形 21"/>
          <p:cNvSpPr/>
          <p:nvPr/>
        </p:nvSpPr>
        <p:spPr>
          <a:xfrm>
            <a:off x="838200" y="3693784"/>
            <a:ext cx="5562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j = 0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 L1(0) + L2(3) =  1</a:t>
            </a: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j = 1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 L1(1)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L2(2)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←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 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j =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=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2 ,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L1(2)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L2(1)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j = 3 ,  L1(3) + L2(0) =  1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7290442" y="3693821"/>
            <a:ext cx="471216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Cambria Math" pitchFamily="18"/>
                <a:cs typeface="Times New Roman" panose="02020603050405020304" pitchFamily="18" charset="0"/>
              </a:rPr>
              <a:t>Solve simpler problem </a:t>
            </a:r>
          </a:p>
          <a:p>
            <a:r>
              <a:rPr lang="en-US" altLang="zh-TW" dirty="0">
                <a:latin typeface="Times New Roman" panose="02020603050405020304" pitchFamily="18" charset="0"/>
                <a:ea typeface="Cambria Math" pitchFamily="18"/>
                <a:cs typeface="Times New Roman" panose="02020603050405020304" pitchFamily="18" charset="0"/>
              </a:rPr>
              <a:t> 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k, A</a:t>
            </a:r>
            <a:r>
              <a:rPr lang="en-US" altLang="zh-TW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1i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</a:t>
            </a:r>
            <a:r>
              <a:rPr lang="en-US" altLang="zh-TW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1k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C1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ALG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m-</a:t>
            </a:r>
            <a:r>
              <a:rPr lang="en-US" altLang="zh-TW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n-k, A</a:t>
            </a:r>
            <a:r>
              <a:rPr lang="en-US" altLang="zh-TW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i+1,m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</a:t>
            </a:r>
            <a:r>
              <a:rPr lang="en-US" altLang="zh-TW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k+1,n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C2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ALG C (</a:t>
            </a:r>
            <a:r>
              <a:rPr lang="en-US" altLang="zh-TW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2, </a:t>
            </a:r>
            <a:r>
              <a:rPr lang="en-US" altLang="zh-TW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1, </a:t>
            </a:r>
            <a:r>
              <a:rPr lang="en-US" altLang="zh-TW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en-US" altLang="zh-TW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B</a:t>
            </a:r>
            <a:r>
              <a:rPr lang="en-US" altLang="zh-TW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altLang="zh-TW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, C1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ALG C (</a:t>
            </a:r>
            <a:r>
              <a:rPr lang="en-US" altLang="zh-TW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2, </a:t>
            </a:r>
            <a:r>
              <a:rPr lang="en-US" altLang="zh-TW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2, </a:t>
            </a:r>
            <a:r>
              <a:rPr lang="en-US" altLang="zh-TW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34</a:t>
            </a:r>
            <a:r>
              <a:rPr lang="en-US" altLang="zh-TW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B</a:t>
            </a:r>
            <a:r>
              <a:rPr lang="en-US" altLang="zh-TW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23</a:t>
            </a:r>
            <a:r>
              <a:rPr lang="en-US" altLang="zh-TW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, C2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zh-TW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9907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0551"/>
          </a:xfrm>
        </p:spPr>
        <p:txBody>
          <a:bodyPr>
            <a:norm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C (Cont'd)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088366" y="2624083"/>
            <a:ext cx="3048000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 C (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2, </a:t>
            </a:r>
            <a:r>
              <a:rPr lang="en-US" altLang="zh-TW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1,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</a:t>
            </a:r>
            <a:r>
              <a:rPr lang="en-US" altLang="zh-TW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C1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ALG C (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2, </a:t>
            </a:r>
            <a:r>
              <a:rPr lang="en-US" altLang="zh-TW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2,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34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</a:t>
            </a:r>
            <a:r>
              <a:rPr lang="en-US" altLang="zh-TW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C2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zh-TW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向下箭號 8"/>
          <p:cNvSpPr/>
          <p:nvPr/>
        </p:nvSpPr>
        <p:spPr>
          <a:xfrm rot="16200000">
            <a:off x="3931925" y="2687374"/>
            <a:ext cx="162137" cy="246745"/>
          </a:xfrm>
          <a:prstGeom prst="downArrow">
            <a:avLst>
              <a:gd name="adj1" fmla="val 50000"/>
              <a:gd name="adj2" fmla="val 5308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/>
          <p:cNvSpPr/>
          <p:nvPr/>
        </p:nvSpPr>
        <p:spPr>
          <a:xfrm>
            <a:off x="4136366" y="2360345"/>
            <a:ext cx="27980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ALG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 (</a:t>
            </a:r>
            <a:r>
              <a:rPr lang="en-US" altLang="zh-TW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1, 1, A</a:t>
            </a:r>
            <a:r>
              <a:rPr lang="en-US" altLang="zh-TW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altLang="zh-TW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“b</a:t>
            </a:r>
            <a:r>
              <a:rPr lang="en-US" altLang="zh-TW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”,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C1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136366" y="2870935"/>
            <a:ext cx="28094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ALG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 (</a:t>
            </a:r>
            <a:r>
              <a:rPr lang="en-US" altLang="zh-TW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1, 1, A</a:t>
            </a:r>
            <a:r>
              <a:rPr lang="en-US" altLang="zh-TW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r>
            <a:r>
              <a:rPr lang="en-US" altLang="zh-TW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“b”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C1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136366" y="3509751"/>
            <a:ext cx="27133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ALG B (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 </a:t>
            </a:r>
            <a:r>
              <a:rPr lang="en-US" altLang="zh-TW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2,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33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23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C2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4136366" y="4020341"/>
            <a:ext cx="27047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ALG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 (</a:t>
            </a:r>
            <a:r>
              <a:rPr lang="en-US" altLang="zh-TW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1, 2, A</a:t>
            </a:r>
            <a:r>
              <a:rPr lang="en-US" altLang="zh-TW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44</a:t>
            </a:r>
            <a:r>
              <a:rPr lang="en-US" altLang="zh-TW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</a:t>
            </a:r>
            <a:r>
              <a:rPr lang="en-US" altLang="zh-TW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C2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向下箭號 14"/>
          <p:cNvSpPr/>
          <p:nvPr/>
        </p:nvSpPr>
        <p:spPr>
          <a:xfrm rot="16200000">
            <a:off x="3931925" y="3828388"/>
            <a:ext cx="162137" cy="246745"/>
          </a:xfrm>
          <a:prstGeom prst="downArrow">
            <a:avLst>
              <a:gd name="adj1" fmla="val 50000"/>
              <a:gd name="adj2" fmla="val 5308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向下箭號 16"/>
          <p:cNvSpPr/>
          <p:nvPr/>
        </p:nvSpPr>
        <p:spPr>
          <a:xfrm rot="16200000">
            <a:off x="6883385" y="2687374"/>
            <a:ext cx="162137" cy="246745"/>
          </a:xfrm>
          <a:prstGeom prst="downArrow">
            <a:avLst>
              <a:gd name="adj1" fmla="val 50000"/>
              <a:gd name="adj2" fmla="val 5308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向下箭號 17"/>
          <p:cNvSpPr/>
          <p:nvPr/>
        </p:nvSpPr>
        <p:spPr>
          <a:xfrm rot="16200000">
            <a:off x="6883384" y="3815900"/>
            <a:ext cx="162137" cy="246745"/>
          </a:xfrm>
          <a:prstGeom prst="downArrow">
            <a:avLst>
              <a:gd name="adj1" fmla="val 50000"/>
              <a:gd name="adj2" fmla="val 5308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矩形 19"/>
          <p:cNvSpPr/>
          <p:nvPr/>
        </p:nvSpPr>
        <p:spPr>
          <a:xfrm>
            <a:off x="7087825" y="2343389"/>
            <a:ext cx="30380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ALG B (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 </a:t>
            </a:r>
            <a:r>
              <a:rPr lang="en-US" altLang="zh-TW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1, “a”, “b”, C1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7087825" y="3509751"/>
            <a:ext cx="2922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ALG B (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 </a:t>
            </a:r>
            <a:r>
              <a:rPr lang="en-US" altLang="zh-TW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2, “y”, “by”, C2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7087825" y="4020341"/>
            <a:ext cx="30380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ALG B (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 </a:t>
            </a:r>
            <a:r>
              <a:rPr lang="en-US" altLang="zh-TW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2, “x”, “by”, C2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7087825" y="2876297"/>
            <a:ext cx="30380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ALG B (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 </a:t>
            </a:r>
            <a:r>
              <a:rPr lang="en-US" altLang="zh-TW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1, “b”, “b”, C1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5990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0551"/>
          </a:xfrm>
        </p:spPr>
        <p:txBody>
          <a:bodyPr>
            <a:norm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C (Cont'd)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04598" y="1407451"/>
            <a:ext cx="439415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concatenation of string C1 and C2</a:t>
            </a:r>
            <a:endParaRPr lang="zh-TW" altLang="en-US" sz="2400" dirty="0"/>
          </a:p>
        </p:txBody>
      </p:sp>
      <p:sp>
        <p:nvSpPr>
          <p:cNvPr id="45" name="向下箭號 44"/>
          <p:cNvSpPr/>
          <p:nvPr/>
        </p:nvSpPr>
        <p:spPr>
          <a:xfrm rot="16200000">
            <a:off x="6806898" y="3634448"/>
            <a:ext cx="259458" cy="394851"/>
          </a:xfrm>
          <a:prstGeom prst="downArrow">
            <a:avLst>
              <a:gd name="adj1" fmla="val 50000"/>
              <a:gd name="adj2" fmla="val 5308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200"/>
          </a:p>
        </p:txBody>
      </p:sp>
      <p:sp>
        <p:nvSpPr>
          <p:cNvPr id="46" name="矩形 45"/>
          <p:cNvSpPr/>
          <p:nvPr/>
        </p:nvSpPr>
        <p:spPr>
          <a:xfrm>
            <a:off x="7288697" y="3648121"/>
            <a:ext cx="716863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“by”</a:t>
            </a:r>
            <a:endParaRPr lang="zh-TW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7970294" y="3648121"/>
            <a:ext cx="2004075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LCS(</a:t>
            </a:r>
            <a:r>
              <a:rPr lang="en-US" altLang="zh-TW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abyx</a:t>
            </a:r>
            <a:r>
              <a:rPr lang="en-US" altLang="zh-TW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bby</a:t>
            </a:r>
            <a:r>
              <a:rPr lang="en-US" altLang="zh-TW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152448" y="2743067"/>
            <a:ext cx="385333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ALG B (</a:t>
            </a:r>
            <a:r>
              <a:rPr lang="en-US" altLang="zh-TW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 </a:t>
            </a:r>
            <a:r>
              <a:rPr lang="en-US" altLang="zh-TW" sz="2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1, “a”, “b”, </a:t>
            </a:r>
            <a:r>
              <a:rPr lang="en-US" altLang="zh-TW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C2</a:t>
            </a:r>
            <a:r>
              <a:rPr lang="en-US" altLang="zh-TW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2152447" y="3275975"/>
            <a:ext cx="3468501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ALG B (</a:t>
            </a:r>
            <a:r>
              <a:rPr lang="en-US" altLang="zh-TW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 </a:t>
            </a:r>
            <a:r>
              <a:rPr lang="en-US" altLang="zh-TW" sz="2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1, “b”, “b”, </a:t>
            </a:r>
            <a:r>
              <a:rPr lang="en-US" altLang="zh-TW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C2</a:t>
            </a:r>
            <a:r>
              <a:rPr lang="en-US" altLang="zh-TW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2152448" y="4085384"/>
            <a:ext cx="3532185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ALG B (</a:t>
            </a:r>
            <a:r>
              <a:rPr lang="en-US" altLang="zh-TW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 </a:t>
            </a:r>
            <a:r>
              <a:rPr lang="en-US" altLang="zh-TW" sz="2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2, “y”, “by”, C2</a:t>
            </a:r>
            <a:r>
              <a:rPr lang="en-US" altLang="zh-TW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152448" y="4595974"/>
            <a:ext cx="3532185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ALG B (</a:t>
            </a:r>
            <a:r>
              <a:rPr lang="en-US" altLang="zh-TW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 </a:t>
            </a:r>
            <a:r>
              <a:rPr lang="en-US" altLang="zh-TW" sz="2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2, “x”, “by”, C2</a:t>
            </a:r>
            <a:r>
              <a:rPr lang="en-US" altLang="zh-TW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向下箭號 18"/>
          <p:cNvSpPr/>
          <p:nvPr/>
        </p:nvSpPr>
        <p:spPr>
          <a:xfrm rot="16200000">
            <a:off x="5663252" y="4410544"/>
            <a:ext cx="162137" cy="246745"/>
          </a:xfrm>
          <a:prstGeom prst="downArrow">
            <a:avLst>
              <a:gd name="adj1" fmla="val 50000"/>
              <a:gd name="adj2" fmla="val 5308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200"/>
          </a:p>
        </p:txBody>
      </p:sp>
      <p:sp>
        <p:nvSpPr>
          <p:cNvPr id="20" name="矩形 19"/>
          <p:cNvSpPr/>
          <p:nvPr/>
        </p:nvSpPr>
        <p:spPr>
          <a:xfrm>
            <a:off x="5867694" y="2748117"/>
            <a:ext cx="303807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zh-TW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5867694" y="3271257"/>
            <a:ext cx="303807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向下箭號 21"/>
          <p:cNvSpPr/>
          <p:nvPr/>
        </p:nvSpPr>
        <p:spPr>
          <a:xfrm rot="16200000">
            <a:off x="5663253" y="3106016"/>
            <a:ext cx="162137" cy="246745"/>
          </a:xfrm>
          <a:prstGeom prst="downArrow">
            <a:avLst>
              <a:gd name="adj1" fmla="val 50000"/>
              <a:gd name="adj2" fmla="val 5308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200"/>
          </a:p>
        </p:txBody>
      </p:sp>
      <p:sp>
        <p:nvSpPr>
          <p:cNvPr id="23" name="矩形 22"/>
          <p:cNvSpPr/>
          <p:nvPr/>
        </p:nvSpPr>
        <p:spPr>
          <a:xfrm>
            <a:off x="5867694" y="4543553"/>
            <a:ext cx="303807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zh-TW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5867694" y="4021961"/>
            <a:ext cx="303807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lang="zh-TW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3771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0551"/>
          </a:xfrm>
        </p:spPr>
        <p:txBody>
          <a:bodyPr>
            <a:norm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C (Cont'd)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60385" y="1235676"/>
                <a:ext cx="4823416" cy="5091972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altLang="zh-TW" sz="1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ALG C (</a:t>
                </a:r>
                <a:r>
                  <a:rPr lang="en-US" altLang="zh-TW" sz="15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m, n, A, B, C</a:t>
                </a:r>
                <a:r>
                  <a:rPr lang="en-US" altLang="zh-TW" sz="1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en-US" altLang="zh-TW" sz="1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altLang="zh-TW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sz="1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 problem is trivial, solve it: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altLang="zh-TW" sz="1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</a:t>
                </a:r>
                <a:r>
                  <a:rPr lang="en-US" altLang="zh-TW" sz="15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TW" sz="1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</a:t>
                </a:r>
                <a:r>
                  <a:rPr lang="zh-TW" altLang="en-US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1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 then </a:t>
                </a:r>
                <a:r>
                  <a:rPr lang="en-US" altLang="zh-TW" sz="15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 </a:t>
                </a:r>
                <a:r>
                  <a:rPr lang="zh-TW" altLang="en-US" sz="15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←</a:t>
                </a:r>
                <a:r>
                  <a:rPr lang="en-US" altLang="zh-TW" sz="15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r>
                  <a:rPr lang="en-US" altLang="zh-TW" sz="1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(e is the empty string)</a:t>
                </a:r>
                <a:br>
                  <a:rPr lang="en-US" altLang="zh-TW" sz="1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TW" sz="1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else if </a:t>
                </a:r>
                <a:r>
                  <a:rPr lang="en-US" altLang="zh-TW" sz="15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US" altLang="zh-TW" sz="1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 then if </a:t>
                </a:r>
                <a:r>
                  <a:rPr lang="zh-TW" altLang="en-US" sz="1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∃ </a:t>
                </a:r>
                <a:r>
                  <a:rPr lang="en-US" altLang="zh-TW" sz="15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US" altLang="zh-TW" sz="1400" i="1" dirty="0">
                    <a:latin typeface="Times New Roman" panose="02020603050405020304" pitchFamily="18" charset="0"/>
                    <a:ea typeface="Cambria Math" pitchFamily="18"/>
                    <a:cs typeface="Times New Roman" panose="02020603050405020304" pitchFamily="18" charset="0"/>
                  </a:rPr>
                  <a:t> ≦ </a:t>
                </a:r>
                <a:r>
                  <a:rPr lang="en-US" altLang="zh-TW" sz="15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 such that A(1) = B(j)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altLang="zh-TW" sz="1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</a:t>
                </a:r>
                <a:r>
                  <a:rPr lang="en-US" altLang="zh-TW" sz="1500" dirty="0" smtClean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then </a:t>
                </a:r>
                <a:r>
                  <a:rPr lang="en-US" altLang="zh-TW" sz="1500" i="1" dirty="0" smtClean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zh-TW" altLang="en-US" sz="15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← </a:t>
                </a:r>
                <a:r>
                  <a:rPr lang="en-US" altLang="zh-TW" sz="1500" i="1" dirty="0" smtClean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A(1)</a:t>
                </a:r>
              </a:p>
              <a:p>
                <a:pPr marL="3600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altLang="zh-TW" sz="1500" dirty="0" smtClean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                                else </a:t>
                </a:r>
                <a:r>
                  <a:rPr lang="en-US" altLang="zh-TW" sz="1500" i="1" dirty="0" smtClean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zh-TW" altLang="en-US" sz="15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← </a:t>
                </a:r>
                <a:r>
                  <a:rPr lang="en-US" altLang="zh-TW" sz="1500" i="1" dirty="0" smtClean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e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altLang="zh-TW" sz="1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Otherwise, split problem: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altLang="zh-TW" sz="1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else begin </a:t>
                </a:r>
                <a:r>
                  <a:rPr lang="en-US" altLang="zh-TW" sz="15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zh-TW" altLang="en-US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zh-TW" altLang="en-US" sz="1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←⌊ </a:t>
                </a:r>
                <a:r>
                  <a:rPr lang="en-US" altLang="zh-TW" sz="1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m/2</a:t>
                </a:r>
                <a:r>
                  <a:rPr lang="zh-TW" altLang="en-US" sz="1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1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⌋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altLang="zh-TW" sz="1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Evaluate </a:t>
                </a:r>
                <a:r>
                  <a:rPr lang="en-US" altLang="zh-TW" sz="15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L(</a:t>
                </a:r>
                <a:r>
                  <a:rPr lang="en-US" altLang="zh-TW" sz="1500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sz="15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j</a:t>
                </a:r>
                <a:r>
                  <a:rPr lang="en-US" altLang="zh-TW" sz="15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en-US" altLang="zh-TW" sz="1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</a:t>
                </a:r>
                <a:r>
                  <a:rPr lang="en-US" altLang="zh-TW" sz="15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L*(</a:t>
                </a:r>
                <a:r>
                  <a:rPr lang="en-US" altLang="zh-TW" sz="15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sz="15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j</a:t>
                </a:r>
                <a:r>
                  <a:rPr lang="en-US" altLang="zh-TW" sz="15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altLang="zh-TW" sz="1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[j=0…n]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altLang="zh-TW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1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ALG</a:t>
                </a:r>
                <a:r>
                  <a:rPr lang="zh-TW" altLang="en-US" sz="1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1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zh-TW" altLang="en-US" sz="1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1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TW" sz="1500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sz="15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n, A</a:t>
                </a:r>
                <a:r>
                  <a:rPr lang="en-US" altLang="zh-TW" sz="15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1i</a:t>
                </a:r>
                <a:r>
                  <a:rPr lang="en-US" altLang="zh-TW" sz="15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B</a:t>
                </a:r>
                <a:r>
                  <a:rPr lang="en-US" altLang="zh-TW" sz="15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1n</a:t>
                </a:r>
                <a:r>
                  <a:rPr lang="en-US" altLang="zh-TW" sz="15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L1</a:t>
                </a:r>
                <a:r>
                  <a:rPr lang="en-US" altLang="zh-TW" sz="1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zh-TW" altLang="en-US" sz="1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</a:t>
                </a:r>
                <a:r>
                  <a:rPr lang="en-US" altLang="zh-TW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ALG</a:t>
                </a:r>
                <a:r>
                  <a:rPr lang="zh-TW" altLang="en-US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zh-TW" altLang="en-US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1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TW" sz="15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m-</a:t>
                </a:r>
                <a:r>
                  <a:rPr lang="en-US" altLang="zh-TW" sz="1500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sz="15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zh-TW" sz="15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n, </a:t>
                </a:r>
                <a:r>
                  <a:rPr lang="en-US" altLang="zh-TW" sz="15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Ȃ</a:t>
                </a:r>
                <a:r>
                  <a:rPr lang="en-US" altLang="zh-TW" sz="15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m,i+1</a:t>
                </a:r>
                <a:r>
                  <a:rPr lang="en-US" altLang="zh-TW" sz="15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TW" sz="15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TW" sz="15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en-US" altLang="zh-TW" sz="15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n1</a:t>
                </a:r>
                <a:r>
                  <a:rPr lang="en-US" altLang="zh-TW" sz="15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L2</a:t>
                </a:r>
                <a:r>
                  <a:rPr lang="en-US" altLang="zh-TW" sz="1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altLang="zh-TW" sz="1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Find </a:t>
                </a:r>
                <a:r>
                  <a:rPr lang="en-US" altLang="zh-TW" sz="15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 such that L(</a:t>
                </a:r>
                <a:r>
                  <a:rPr lang="en-US" altLang="zh-TW" sz="1500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sz="15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j) + L*(</a:t>
                </a:r>
                <a:r>
                  <a:rPr lang="en-US" altLang="zh-TW" sz="1500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sz="15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j) = L(m, n</a:t>
                </a:r>
                <a:r>
                  <a:rPr lang="en-US" altLang="zh-TW" sz="15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en-US" altLang="zh-TW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using theorem:</a:t>
                </a:r>
                <a:br>
                  <a:rPr lang="en-US" altLang="zh-TW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TW" sz="1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M</a:t>
                </a:r>
                <a:r>
                  <a:rPr lang="zh-TW" altLang="en-US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zh-TW" altLang="en-US" sz="1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← </a:t>
                </a:r>
                <a14:m>
                  <m:oMath xmlns:m="http://schemas.openxmlformats.org/officeDocument/2006/math">
                    <m:r>
                      <a:rPr lang="en-US" altLang="zh-TW" sz="15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𝑚𝑎𝑥</m:t>
                    </m:r>
                  </m:oMath>
                </a14:m>
                <a:r>
                  <a:rPr lang="en-US" altLang="zh-TW" sz="1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{</a:t>
                </a:r>
                <a:r>
                  <a:rPr lang="en-US" altLang="zh-TW" sz="15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L1(j) + L2(n-j)</a:t>
                </a:r>
                <a:r>
                  <a:rPr lang="en-US" altLang="zh-TW" sz="1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</a:t>
                </a:r>
              </a:p>
              <a:p>
                <a:pPr marL="0" indent="0">
                  <a:lnSpc>
                    <a:spcPts val="500"/>
                  </a:lnSpc>
                  <a:spcBef>
                    <a:spcPts val="0"/>
                  </a:spcBef>
                  <a:buNone/>
                </a:pPr>
                <a:r>
                  <a:rPr lang="en-US" altLang="zh-TW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1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</a:t>
                </a:r>
                <a:r>
                  <a:rPr lang="en-US" altLang="zh-TW" sz="10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altLang="zh-TW" sz="1000" i="1" dirty="0" smtClean="0">
                    <a:latin typeface="Times New Roman" panose="02020603050405020304" pitchFamily="18" charset="0"/>
                    <a:ea typeface="Cambria Math" pitchFamily="18"/>
                    <a:cs typeface="Times New Roman" panose="02020603050405020304" pitchFamily="18" charset="0"/>
                  </a:rPr>
                  <a:t>≦ </a:t>
                </a:r>
                <a:r>
                  <a:rPr lang="en-US" altLang="zh-TW" sz="1000" i="1" dirty="0" err="1" smtClean="0">
                    <a:latin typeface="Times New Roman" panose="02020603050405020304" pitchFamily="18" charset="0"/>
                    <a:ea typeface="Cambria Math" pitchFamily="18"/>
                    <a:cs typeface="Times New Roman" panose="02020603050405020304" pitchFamily="18" charset="0"/>
                  </a:rPr>
                  <a:t>j≦n</a:t>
                </a:r>
                <a:endParaRPr lang="en-US" altLang="zh-TW" sz="1000" i="1" dirty="0" smtClean="0">
                  <a:latin typeface="Times New Roman" panose="02020603050405020304" pitchFamily="18" charset="0"/>
                  <a:ea typeface="Cambria Math" pitchFamily="18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altLang="zh-TW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k</a:t>
                </a:r>
                <a:r>
                  <a:rPr lang="zh-TW" altLang="en-US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zh-TW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← </a:t>
                </a:r>
                <a14:m>
                  <m:oMath xmlns:m="http://schemas.openxmlformats.org/officeDocument/2006/math">
                    <m:r>
                      <a:rPr lang="en-US" altLang="zh-TW" sz="16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𝑚𝑖𝑛</m:t>
                    </m:r>
                  </m:oMath>
                </a14:m>
                <a:r>
                  <a:rPr lang="en-US" altLang="zh-TW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j such that L1(j</a:t>
                </a:r>
                <a:r>
                  <a:rPr lang="en-US" altLang="zh-TW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+ L2(n-j</a:t>
                </a:r>
                <a:r>
                  <a:rPr lang="en-US" altLang="zh-TW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zh-TW" altLang="en-US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zh-TW" altLang="en-US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altLang="zh-TW" sz="1600" dirty="0" smtClean="0">
                    <a:latin typeface="Times New Roman" panose="02020603050405020304" pitchFamily="18" charset="0"/>
                    <a:ea typeface="Cambria Math" pitchFamily="18"/>
                    <a:cs typeface="Times New Roman" panose="02020603050405020304" pitchFamily="18" charset="0"/>
                  </a:rPr>
                  <a:t>Solve simpler problem 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altLang="zh-TW" sz="1600" dirty="0">
                    <a:latin typeface="Times New Roman" panose="02020603050405020304" pitchFamily="18" charset="0"/>
                    <a:ea typeface="Cambria Math" pitchFamily="18"/>
                    <a:cs typeface="Times New Roman" panose="02020603050405020304" pitchFamily="18" charset="0"/>
                  </a:rPr>
                  <a:t> </a:t>
                </a:r>
                <a:r>
                  <a:rPr lang="en-US" altLang="zh-TW" sz="1600" dirty="0" smtClean="0">
                    <a:latin typeface="Times New Roman" panose="02020603050405020304" pitchFamily="18" charset="0"/>
                    <a:ea typeface="Cambria Math" pitchFamily="18"/>
                    <a:cs typeface="Times New Roman" panose="02020603050405020304" pitchFamily="18" charset="0"/>
                  </a:rPr>
                  <a:t> </a:t>
                </a:r>
                <a:r>
                  <a:rPr lang="en-US" altLang="zh-TW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ALG</a:t>
                </a:r>
                <a:r>
                  <a:rPr lang="zh-TW" altLang="en-US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zh-TW" altLang="en-US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TW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zh-TW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k, </a:t>
                </a:r>
                <a:r>
                  <a:rPr lang="en-US" altLang="zh-TW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TW" sz="16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1i</a:t>
                </a:r>
                <a:r>
                  <a:rPr lang="en-US" altLang="zh-TW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zh-TW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zh-TW" sz="16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1k</a:t>
                </a:r>
                <a:r>
                  <a:rPr lang="en-US" altLang="zh-TW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C1</a:t>
                </a:r>
                <a:r>
                  <a:rPr lang="en-US" altLang="zh-TW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altLang="zh-TW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ALG</a:t>
                </a:r>
                <a:r>
                  <a:rPr lang="zh-TW" altLang="en-US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zh-TW" altLang="en-US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TW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m-</a:t>
                </a:r>
                <a:r>
                  <a:rPr lang="en-US" altLang="zh-TW" sz="1600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n-k, </a:t>
                </a:r>
                <a:r>
                  <a:rPr lang="en-US" altLang="zh-TW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TW" sz="16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i+1,m</a:t>
                </a:r>
                <a:r>
                  <a:rPr lang="en-US" altLang="zh-TW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B</a:t>
                </a:r>
                <a:r>
                  <a:rPr lang="en-US" altLang="zh-TW" sz="16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k+1,n</a:t>
                </a:r>
                <a:r>
                  <a:rPr lang="en-US" altLang="zh-TW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C2</a:t>
                </a:r>
                <a:r>
                  <a:rPr lang="en-US" altLang="zh-TW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br>
                  <a:rPr lang="en-US" altLang="zh-TW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endParaRPr lang="en-US" altLang="zh-TW" sz="16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altLang="zh-TW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Given output :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altLang="zh-TW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C</a:t>
                </a:r>
                <a:r>
                  <a:rPr lang="zh-TW" altLang="en-US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← </a:t>
                </a:r>
                <a:r>
                  <a:rPr lang="en-US" altLang="zh-TW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C1</a:t>
                </a:r>
                <a:r>
                  <a:rPr lang="zh-TW" altLang="en-US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||</a:t>
                </a:r>
                <a:r>
                  <a:rPr lang="zh-TW" altLang="en-US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C2</a:t>
                </a:r>
                <a:r>
                  <a:rPr lang="zh-TW" altLang="en-US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(concatenation of string C1 and C2)</a:t>
                </a:r>
                <a:endParaRPr lang="en-US" altLang="zh-TW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385" y="1235676"/>
                <a:ext cx="4823416" cy="5091972"/>
              </a:xfrm>
              <a:blipFill rotWithShape="0">
                <a:blip r:embed="rId2"/>
                <a:stretch>
                  <a:fillRect l="-759" t="-35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內容版面配置區 2"/>
          <p:cNvSpPr txBox="1">
            <a:spLocks/>
          </p:cNvSpPr>
          <p:nvPr/>
        </p:nvSpPr>
        <p:spPr>
          <a:xfrm>
            <a:off x="5789059" y="2483451"/>
            <a:ext cx="5564741" cy="12180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 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complexity :  O(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mn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Space complexity : 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O(</a:t>
            </a:r>
            <a:r>
              <a:rPr lang="en-US" altLang="zh-TW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m+n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36164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2021</TotalTime>
  <Words>1672</Words>
  <Application>Microsoft Office PowerPoint</Application>
  <PresentationFormat>寬螢幕</PresentationFormat>
  <Paragraphs>515</Paragraphs>
  <Slides>14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22" baseType="lpstr">
      <vt:lpstr>ＭＳ Ｐゴシック</vt:lpstr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A Linear Space Algorithm  for Computing  Maximal Common Subsequences</vt:lpstr>
      <vt:lpstr>Outline</vt:lpstr>
      <vt:lpstr>Abstract</vt:lpstr>
      <vt:lpstr>Longest Common Subsequence(LCS)</vt:lpstr>
      <vt:lpstr>LCS – How to work?</vt:lpstr>
      <vt:lpstr>Algorithm A</vt:lpstr>
      <vt:lpstr>Algorithm B</vt:lpstr>
      <vt:lpstr>Algorithm B (Cont'd)</vt:lpstr>
      <vt:lpstr>Algorithm C</vt:lpstr>
      <vt:lpstr>Algorithm C (Cont'd)</vt:lpstr>
      <vt:lpstr>Algorithm C (Cont'd)</vt:lpstr>
      <vt:lpstr>Algorithm C (Cont'd)</vt:lpstr>
      <vt:lpstr>Algorithm C (Cont'd)</vt:lpstr>
      <vt:lpstr>Algorithm C (Cont'd)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Linear Space Algorithm  for Computing  Maximal Common Subsequences</dc:title>
  <dc:creator>BX CHEN</dc:creator>
  <cp:lastModifiedBy>User</cp:lastModifiedBy>
  <cp:revision>111</cp:revision>
  <dcterms:created xsi:type="dcterms:W3CDTF">2016-10-10T16:56:48Z</dcterms:created>
  <dcterms:modified xsi:type="dcterms:W3CDTF">2016-10-18T06:00:46Z</dcterms:modified>
</cp:coreProperties>
</file>