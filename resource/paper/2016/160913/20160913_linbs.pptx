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355" r:id="rId5"/>
    <p:sldId id="356" r:id="rId6"/>
    <p:sldId id="357" r:id="rId7"/>
    <p:sldId id="358" r:id="rId8"/>
    <p:sldId id="360" r:id="rId9"/>
    <p:sldId id="361" r:id="rId10"/>
    <p:sldId id="359" r:id="rId11"/>
    <p:sldId id="362" r:id="rId12"/>
    <p:sldId id="364" r:id="rId13"/>
    <p:sldId id="365" r:id="rId14"/>
    <p:sldId id="366" r:id="rId15"/>
    <p:sldId id="367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99CC"/>
    <a:srgbClr val="C5C0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3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118B5-9F64-4BCF-B1EE-1FDC52667EE1}" type="datetimeFigureOut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C9B0B-B10D-49AA-966C-9C58E0B863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497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385C0-1FCA-4A75-9F23-6295E7490FEE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67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0020-C82E-415B-9299-1A25D7552E73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08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9755A-A3D0-49B7-B750-A84F0F8C3152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904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FF536-6844-4449-BA87-F2BF5DABF104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35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0BCE-4D5B-445D-9EBF-D040FF475579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18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3B6D-3892-4D58-A340-8C410260F3D7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12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735E-8418-4C4A-BC7E-83B7EA882B5A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49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C0A7B-C3EA-46E9-832E-F519368F0FB0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41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CC982-7446-446B-8F17-73F2858A31F6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8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7670E-D1D9-4108-B311-ADAABD8B0D32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52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0F84-786D-4EF2-8481-140225BF3227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09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EB57B-0D0F-41CB-A932-683E565E4EE2}" type="datetime1">
              <a:rPr lang="zh-TW" altLang="en-US" smtClean="0"/>
              <a:t>2016/9/13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3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598488" y="1286632"/>
            <a:ext cx="7772400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3200" dirty="0" smtClean="0">
                <a:latin typeface="Times New Roman" panose="02020603050405020304" pitchFamily="18" charset="0"/>
                <a:ea typeface="Arial Unicode MS" pitchFamily="34" charset="-120"/>
                <a:cs typeface="Times New Roman" panose="02020603050405020304" pitchFamily="18" charset="0"/>
              </a:rPr>
              <a:t>Semi-local longest common subsequences in </a:t>
            </a:r>
            <a:r>
              <a:rPr lang="en-US" altLang="zh-TW" sz="3200" dirty="0" err="1" smtClean="0">
                <a:latin typeface="Times New Roman" panose="02020603050405020304" pitchFamily="18" charset="0"/>
                <a:ea typeface="Arial Unicode MS" pitchFamily="34" charset="-120"/>
                <a:cs typeface="Times New Roman" panose="02020603050405020304" pitchFamily="18" charset="0"/>
              </a:rPr>
              <a:t>subquadratic</a:t>
            </a:r>
            <a:r>
              <a:rPr lang="en-US" altLang="zh-TW" sz="3200" dirty="0" smtClean="0">
                <a:latin typeface="Times New Roman" panose="02020603050405020304" pitchFamily="18" charset="0"/>
                <a:ea typeface="Arial Unicode MS" pitchFamily="34" charset="-120"/>
                <a:cs typeface="Times New Roman" panose="02020603050405020304" pitchFamily="18" charset="0"/>
              </a:rPr>
              <a:t> time</a:t>
            </a:r>
            <a:endParaRPr lang="zh-TW" altLang="en-US" sz="3200" dirty="0"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3019431"/>
            <a:ext cx="6400800" cy="479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2000" dirty="0" smtClean="0"/>
              <a:t>Alexander </a:t>
            </a:r>
            <a:r>
              <a:rPr lang="en-US" altLang="zh-TW" sz="2000" dirty="0" err="1" smtClean="0"/>
              <a:t>Tiskin</a:t>
            </a:r>
            <a:endParaRPr lang="en-US" altLang="zh-TW" sz="2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145914"/>
              </p:ext>
            </p:extLst>
          </p:nvPr>
        </p:nvGraphicFramePr>
        <p:xfrm>
          <a:off x="2698748" y="3848099"/>
          <a:ext cx="3816351" cy="1769571"/>
        </p:xfrm>
        <a:graphic>
          <a:graphicData uri="http://schemas.openxmlformats.org/drawingml/2006/table">
            <a:tbl>
              <a:tblPr/>
              <a:tblGrid>
                <a:gridCol w="3816351"/>
              </a:tblGrid>
              <a:tr h="84686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Journal of Discrete Algorithms,</a:t>
                      </a:r>
                      <a:endParaRPr lang="en-US" altLang="zh-TW" sz="1800" b="0" i="0" u="non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Volume</a:t>
                      </a:r>
                      <a:r>
                        <a:rPr lang="en-US" altLang="zh-TW" sz="1800" b="0" i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6, Issue 4,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December 2008,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Pages </a:t>
                      </a: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570–581</a:t>
                      </a: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2982910" y="5253638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</a:t>
            </a:r>
            <a:r>
              <a:rPr lang="en-US" altLang="zh-TW" sz="1800" dirty="0" smtClean="0"/>
              <a:t>Bi-</a:t>
            </a:r>
            <a:r>
              <a:rPr lang="en-US" altLang="zh-TW" sz="1800" dirty="0" err="1" smtClean="0"/>
              <a:t>Shiang</a:t>
            </a:r>
            <a:r>
              <a:rPr lang="en-US" altLang="zh-TW" sz="1800" dirty="0" smtClean="0"/>
              <a:t> Lin</a:t>
            </a:r>
            <a:endParaRPr lang="en-US" altLang="zh-TW" sz="18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2016/9/13</a:t>
            </a:fld>
            <a:endParaRPr lang="zh-TW" altLang="en-US" sz="18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466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Abstract(1/3)</a:t>
            </a:r>
            <a:endParaRPr lang="zh-TW" altLang="en-US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 anchor="t" anchorCtr="0">
                <a:normAutofit fontScale="92500"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two strings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lengths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respectively, the longest common subsequence(LCS) problem consists in comparing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7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computing the length of their LCS. In this paper, we define a </a:t>
                </a:r>
                <a:r>
                  <a:rPr lang="en-US" altLang="zh-TW" sz="27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generalisation</a:t>
                </a:r>
                <a:r>
                  <a:rPr lang="en-US" altLang="zh-TW" sz="2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called “the all semi-local LCS problem”, where each string is compared against all substrings of the other string, and all prefixes of each string are compared against all suffixes of the other string.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 rotWithShape="0">
                <a:blip r:embed="rId2"/>
                <a:stretch>
                  <a:fillRect l="-1236" r="-13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755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Abstract(2/3)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explicit representation of the output lengths is of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We show that the output can be represented implicitly by a geometric data structure of size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allowing efficient queries of the individual output lengths. The currently best all string-substring LCS algorithm by Alves et al., based on previous work by Schmidt, can be adapted to produce the output in this form.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r="-13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811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Abstract(3/3)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also develop the first all semi-local LCS algorithm, running in time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m and n are reasonably close. Compared to a number of previous results</a:t>
                </a:r>
                <a:r>
                  <a:rPr lang="en-US" altLang="zh-TW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our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approach presents an improvement in algorithm functionality, output representation efficiency, and/or running time.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r="-16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021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Semi-local LCS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string-substring LCS problem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against every substring of B</a:t>
            </a:r>
          </a:p>
          <a:p>
            <a:pPr lvl="1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against every substring of A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prefix-suffix LCS problem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 prefix of A against every suffix of B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prefix of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against every suffix of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405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irected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cyclic Graph(DAG)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semi-local problems can transfer to find four kinds of paths in alignment dag.</a:t>
                </a:r>
              </a:p>
              <a:p>
                <a:pPr marL="0" indent="0" algn="ctr">
                  <a:buNone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ength of string 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2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381" r="-13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299" y="3761218"/>
            <a:ext cx="4343400" cy="279082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186" y="3302432"/>
            <a:ext cx="6143625" cy="323850"/>
          </a:xfrm>
          <a:prstGeom prst="rect">
            <a:avLst/>
          </a:prstGeom>
        </p:spPr>
      </p:pic>
      <p:sp>
        <p:nvSpPr>
          <p:cNvPr id="9" name="橢圓 8"/>
          <p:cNvSpPr/>
          <p:nvPr/>
        </p:nvSpPr>
        <p:spPr>
          <a:xfrm>
            <a:off x="2549236" y="4816765"/>
            <a:ext cx="203200" cy="21243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23243" y="6360967"/>
            <a:ext cx="203200" cy="21243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688771" y="3522228"/>
            <a:ext cx="203200" cy="21243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2057111" y="3522228"/>
            <a:ext cx="203200" cy="21243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799607" y="3904312"/>
            <a:ext cx="203200" cy="21243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950238" y="6360967"/>
            <a:ext cx="203200" cy="21243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16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DAG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054644"/>
              </p:ext>
            </p:extLst>
          </p:nvPr>
        </p:nvGraphicFramePr>
        <p:xfrm>
          <a:off x="1514765" y="3434630"/>
          <a:ext cx="5744727" cy="26361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8303"/>
                <a:gridCol w="638303"/>
                <a:gridCol w="638303"/>
                <a:gridCol w="638303"/>
                <a:gridCol w="638303"/>
                <a:gridCol w="638303"/>
                <a:gridCol w="638303"/>
                <a:gridCol w="638303"/>
                <a:gridCol w="638303"/>
              </a:tblGrid>
              <a:tr h="52722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52722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52722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52722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52722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2687781" y="4372119"/>
            <a:ext cx="203200" cy="21243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4599710" y="5964527"/>
            <a:ext cx="203200" cy="21243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1413165" y="3346888"/>
            <a:ext cx="203200" cy="212436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內容版面配置區 2"/>
              <p:cNvSpPr txBox="1">
                <a:spLocks/>
              </p:cNvSpPr>
              <p:nvPr/>
            </p:nvSpPr>
            <p:spPr>
              <a:xfrm>
                <a:off x="628650" y="1825625"/>
                <a:ext cx="78867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dirty="0" smtClean="0"/>
                  <a:t>With the highest-score matrix, all problems can be solved.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𝑒𝑥𝑎𝑚𝑝𝑙𝑒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𝑚𝑎𝑥𝑠𝑐𝑜𝑟𝑒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’)−</m:t>
                      </m:r>
                      <m:r>
                        <a:rPr lang="en-US" altLang="zh-TW" i="1" dirty="0" err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21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825625"/>
                <a:ext cx="7886700" cy="4351338"/>
              </a:xfrm>
              <a:prstGeom prst="rect">
                <a:avLst/>
              </a:prstGeom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向左箭號 21"/>
          <p:cNvSpPr/>
          <p:nvPr/>
        </p:nvSpPr>
        <p:spPr>
          <a:xfrm>
            <a:off x="258907" y="4368729"/>
            <a:ext cx="1043709" cy="767915"/>
          </a:xfrm>
          <a:prstGeom prst="lef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向右箭號 22"/>
          <p:cNvSpPr/>
          <p:nvPr/>
        </p:nvSpPr>
        <p:spPr>
          <a:xfrm>
            <a:off x="7471641" y="4327813"/>
            <a:ext cx="1154258" cy="84974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2789381" y="4136078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(i,0)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4701310" y="5701413"/>
            <a:ext cx="682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(</a:t>
            </a:r>
            <a:r>
              <a:rPr lang="en-US" altLang="zh-TW" dirty="0" err="1" smtClean="0"/>
              <a:t>m,j</a:t>
            </a:r>
            <a:r>
              <a:rPr lang="en-US" altLang="zh-TW" dirty="0" smtClean="0"/>
              <a:t>’)</a:t>
            </a:r>
            <a:endParaRPr lang="zh-TW" altLang="en-US" dirty="0"/>
          </a:p>
        </p:txBody>
      </p:sp>
      <p:sp>
        <p:nvSpPr>
          <p:cNvPr id="26" name="橢圓 25"/>
          <p:cNvSpPr/>
          <p:nvPr/>
        </p:nvSpPr>
        <p:spPr>
          <a:xfrm>
            <a:off x="5891662" y="5437547"/>
            <a:ext cx="203200" cy="21243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5236021" y="3328412"/>
            <a:ext cx="203200" cy="21243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6504130" y="5957239"/>
            <a:ext cx="203200" cy="212436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32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A-critical point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8</a:t>
            </a:fld>
            <a:endParaRPr lang="zh-TW" altLang="en-US" dirty="0"/>
          </a:p>
        </p:txBody>
      </p:sp>
      <p:pic>
        <p:nvPicPr>
          <p:cNvPr id="21" name="圖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337" y="3016174"/>
            <a:ext cx="4505325" cy="2838450"/>
          </a:xfrm>
          <a:prstGeom prst="rect">
            <a:avLst/>
          </a:prstGeom>
        </p:spPr>
      </p:pic>
      <p:sp>
        <p:nvSpPr>
          <p:cNvPr id="29" name="橢圓 28"/>
          <p:cNvSpPr/>
          <p:nvPr/>
        </p:nvSpPr>
        <p:spPr>
          <a:xfrm>
            <a:off x="3925453" y="2976667"/>
            <a:ext cx="87963" cy="79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/>
          <p:cNvSpPr/>
          <p:nvPr/>
        </p:nvSpPr>
        <p:spPr>
          <a:xfrm>
            <a:off x="4528017" y="5825797"/>
            <a:ext cx="87963" cy="79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4868336" y="2976667"/>
            <a:ext cx="87963" cy="79014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5470560" y="5825797"/>
            <a:ext cx="87963" cy="79014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73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A-critical point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index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dirty="0" smtClean="0"/>
                  <a:t> will be critical for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 err="1" smtClean="0"/>
                  <a:t>iff</a:t>
                </a:r>
                <a:r>
                  <a:rPr lang="en-US" altLang="zh-TW" dirty="0" smtClean="0"/>
                  <a:t> index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TW" dirty="0" smtClean="0"/>
                  <a:t> is critical for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There are exactly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dirty="0" smtClean="0"/>
                  <a:t> non-trivial A-critical points.</a:t>
                </a:r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9</a:t>
            </a:fld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425" y="3622242"/>
            <a:ext cx="615315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3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A-critical point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 dirty="0" err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altLang="zh-TW" b="0" dirty="0" smtClean="0"/>
              </a:p>
              <a:p>
                <a:pPr marL="0" indent="0">
                  <a:buNone/>
                </a:pPr>
                <a:endParaRPr lang="en-US" altLang="zh-TW" sz="6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5=11−4−2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LCS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abcba</m:t>
                      </m:r>
                    </m:oMath>
                  </m:oMathPara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10</a:t>
            </a:fld>
            <a:endParaRPr lang="zh-TW" altLang="en-US" dirty="0"/>
          </a:p>
        </p:txBody>
      </p:sp>
      <p:pic>
        <p:nvPicPr>
          <p:cNvPr id="33" name="圖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337" y="3016174"/>
            <a:ext cx="4505325" cy="2838450"/>
          </a:xfrm>
          <a:prstGeom prst="rect">
            <a:avLst/>
          </a:prstGeom>
        </p:spPr>
      </p:pic>
      <p:sp>
        <p:nvSpPr>
          <p:cNvPr id="34" name="橢圓 33"/>
          <p:cNvSpPr/>
          <p:nvPr/>
        </p:nvSpPr>
        <p:spPr>
          <a:xfrm>
            <a:off x="3925453" y="2976667"/>
            <a:ext cx="87963" cy="79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4528017" y="5825797"/>
            <a:ext cx="87963" cy="79014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4868336" y="2976667"/>
            <a:ext cx="87963" cy="79014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5470560" y="5825797"/>
            <a:ext cx="87963" cy="79014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/>
          <p:nvPr/>
        </p:nvCxnSpPr>
        <p:spPr>
          <a:xfrm flipH="1">
            <a:off x="3823854" y="2807850"/>
            <a:ext cx="1" cy="348211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 flipH="1">
            <a:off x="5980545" y="2807850"/>
            <a:ext cx="1" cy="348211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72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A-critical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11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868227"/>
              </p:ext>
            </p:extLst>
          </p:nvPr>
        </p:nvGraphicFramePr>
        <p:xfrm>
          <a:off x="628650" y="2771775"/>
          <a:ext cx="2962276" cy="2232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0569"/>
                <a:gridCol w="740569"/>
                <a:gridCol w="740569"/>
                <a:gridCol w="740569"/>
              </a:tblGrid>
              <a:tr h="55816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/>
                </a:tc>
              </a:tr>
              <a:tr h="558165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/>
                </a:tc>
              </a:tr>
              <a:tr h="558165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</a:tr>
              <a:tr h="558165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780821"/>
              </p:ext>
            </p:extLst>
          </p:nvPr>
        </p:nvGraphicFramePr>
        <p:xfrm>
          <a:off x="4219576" y="2483167"/>
          <a:ext cx="3714750" cy="2809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2950"/>
                <a:gridCol w="742950"/>
                <a:gridCol w="742950"/>
                <a:gridCol w="742950"/>
                <a:gridCol w="742950"/>
              </a:tblGrid>
              <a:tr h="5619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/>
                </a:tc>
              </a:tr>
              <a:tr h="5619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/>
                </a:tc>
              </a:tr>
              <a:tr h="5619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/>
                </a:tc>
              </a:tr>
              <a:tr h="5619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/>
                </a:tc>
              </a:tr>
              <a:tr h="5619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向左箭號 5"/>
          <p:cNvSpPr/>
          <p:nvPr/>
        </p:nvSpPr>
        <p:spPr>
          <a:xfrm>
            <a:off x="628650" y="3257550"/>
            <a:ext cx="2219325" cy="142875"/>
          </a:xfrm>
          <a:prstGeom prst="lef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下箭號 7"/>
          <p:cNvSpPr/>
          <p:nvPr/>
        </p:nvSpPr>
        <p:spPr>
          <a:xfrm>
            <a:off x="2752725" y="3288030"/>
            <a:ext cx="171450" cy="1716405"/>
          </a:xfrm>
          <a:prstGeom prst="down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向左箭號 9"/>
          <p:cNvSpPr/>
          <p:nvPr/>
        </p:nvSpPr>
        <p:spPr>
          <a:xfrm>
            <a:off x="628651" y="2676525"/>
            <a:ext cx="1466850" cy="166687"/>
          </a:xfrm>
          <a:prstGeom prst="lef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向下箭號 10"/>
          <p:cNvSpPr/>
          <p:nvPr/>
        </p:nvSpPr>
        <p:spPr>
          <a:xfrm>
            <a:off x="2009774" y="2714625"/>
            <a:ext cx="185739" cy="2289810"/>
          </a:xfrm>
          <a:prstGeom prst="down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82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Divide and conquer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Divide : cut the origin block into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subblocks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Merge : after calculating the A-critical points of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subblocks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merge them and get the implicit A-critical points of origin block.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 : get the</a:t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A-critical Points</a:t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 block.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12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55154"/>
              </p:ext>
            </p:extLst>
          </p:nvPr>
        </p:nvGraphicFramePr>
        <p:xfrm>
          <a:off x="3619499" y="4246880"/>
          <a:ext cx="4543424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928"/>
                <a:gridCol w="567928"/>
                <a:gridCol w="567928"/>
                <a:gridCol w="567928"/>
                <a:gridCol w="567928"/>
                <a:gridCol w="567928"/>
                <a:gridCol w="567928"/>
                <a:gridCol w="567928"/>
              </a:tblGrid>
              <a:tr h="35602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56023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5602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5602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5602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56023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直線接點 6"/>
          <p:cNvCxnSpPr>
            <a:stCxn id="5" idx="2"/>
          </p:cNvCxnSpPr>
          <p:nvPr/>
        </p:nvCxnSpPr>
        <p:spPr>
          <a:xfrm flipH="1" flipV="1">
            <a:off x="5872161" y="4057650"/>
            <a:ext cx="19050" cy="238379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3400425" y="5344160"/>
            <a:ext cx="2471736" cy="20956"/>
          </a:xfrm>
          <a:prstGeom prst="line">
            <a:avLst/>
          </a:prstGeom>
          <a:ln w="635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 flipV="1">
            <a:off x="4745830" y="4057650"/>
            <a:ext cx="2" cy="1286113"/>
          </a:xfrm>
          <a:prstGeom prst="line">
            <a:avLst/>
          </a:prstGeom>
          <a:ln w="635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743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Merge step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0809769"/>
              </p:ext>
            </p:extLst>
          </p:nvPr>
        </p:nvGraphicFramePr>
        <p:xfrm>
          <a:off x="1095374" y="1474624"/>
          <a:ext cx="1838324" cy="16992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581"/>
                <a:gridCol w="459581"/>
                <a:gridCol w="459581"/>
                <a:gridCol w="459581"/>
              </a:tblGrid>
              <a:tr h="4248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424816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424816"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424816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13</a:t>
            </a:fld>
            <a:endParaRPr lang="zh-TW" altLang="en-US"/>
          </a:p>
        </p:txBody>
      </p:sp>
      <p:graphicFrame>
        <p:nvGraphicFramePr>
          <p:cNvPr id="10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9692562"/>
              </p:ext>
            </p:extLst>
          </p:nvPr>
        </p:nvGraphicFramePr>
        <p:xfrm>
          <a:off x="1095374" y="3324224"/>
          <a:ext cx="1838324" cy="1638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581"/>
                <a:gridCol w="459581"/>
                <a:gridCol w="459581"/>
                <a:gridCol w="459581"/>
              </a:tblGrid>
              <a:tr h="409575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4095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  <a:tr h="409575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409575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142320"/>
              </p:ext>
            </p:extLst>
          </p:nvPr>
        </p:nvGraphicFramePr>
        <p:xfrm>
          <a:off x="4848224" y="111281"/>
          <a:ext cx="2638425" cy="212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7685"/>
                <a:gridCol w="527685"/>
                <a:gridCol w="527685"/>
                <a:gridCol w="527685"/>
                <a:gridCol w="527685"/>
              </a:tblGrid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C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7030A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484880"/>
              </p:ext>
            </p:extLst>
          </p:nvPr>
        </p:nvGraphicFramePr>
        <p:xfrm>
          <a:off x="4848224" y="2324256"/>
          <a:ext cx="2638425" cy="212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7685"/>
                <a:gridCol w="527685"/>
                <a:gridCol w="527685"/>
                <a:gridCol w="527685"/>
                <a:gridCol w="527685"/>
              </a:tblGrid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C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7030A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073006"/>
              </p:ext>
            </p:extLst>
          </p:nvPr>
        </p:nvGraphicFramePr>
        <p:xfrm>
          <a:off x="4848223" y="4537231"/>
          <a:ext cx="2638425" cy="212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7685"/>
                <a:gridCol w="527685"/>
                <a:gridCol w="527685"/>
                <a:gridCol w="527685"/>
                <a:gridCol w="527685"/>
              </a:tblGrid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5797644"/>
              </p:ext>
            </p:extLst>
          </p:nvPr>
        </p:nvGraphicFramePr>
        <p:xfrm>
          <a:off x="1095374" y="5022212"/>
          <a:ext cx="1838324" cy="16992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581"/>
                <a:gridCol w="459581"/>
                <a:gridCol w="459581"/>
                <a:gridCol w="459581"/>
              </a:tblGrid>
              <a:tr h="4248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424816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424816"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424816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4848223" y="111281"/>
            <a:ext cx="2638425" cy="42211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 flipV="1">
            <a:off x="6448425" y="2324256"/>
            <a:ext cx="495301" cy="212725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6448425" y="4549932"/>
            <a:ext cx="495301" cy="41259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單箭頭接點 18"/>
          <p:cNvCxnSpPr/>
          <p:nvPr/>
        </p:nvCxnSpPr>
        <p:spPr>
          <a:xfrm flipV="1">
            <a:off x="3038475" y="1474624"/>
            <a:ext cx="1466850" cy="10018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3105150" y="3333749"/>
            <a:ext cx="1466850" cy="10018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V="1">
            <a:off x="3157535" y="5192874"/>
            <a:ext cx="1466850" cy="10018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46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step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4−2−2+1=1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Cut recursively until Find the ‘1’.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 step</a:t>
                </a:r>
                <a:b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1.5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memory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b="-30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14</a:t>
            </a:fld>
            <a:endParaRPr lang="zh-TW" altLang="en-US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62495"/>
              </p:ext>
            </p:extLst>
          </p:nvPr>
        </p:nvGraphicFramePr>
        <p:xfrm>
          <a:off x="5876925" y="1825625"/>
          <a:ext cx="2638425" cy="2127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7685"/>
                <a:gridCol w="527685"/>
                <a:gridCol w="527685"/>
                <a:gridCol w="527685"/>
                <a:gridCol w="527685"/>
              </a:tblGrid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2545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2713229"/>
              </p:ext>
            </p:extLst>
          </p:nvPr>
        </p:nvGraphicFramePr>
        <p:xfrm>
          <a:off x="6605586" y="4306249"/>
          <a:ext cx="1838324" cy="16992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9581"/>
                <a:gridCol w="459581"/>
                <a:gridCol w="459581"/>
                <a:gridCol w="459581"/>
              </a:tblGrid>
              <a:tr h="4248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424816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</a:tr>
              <a:tr h="424816"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</a:tr>
              <a:tr h="424816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7524748" y="4310054"/>
            <a:ext cx="933447" cy="84677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749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: time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TW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m close to n.</a:t>
                </a:r>
              </a:p>
              <a:p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Efficient data structure for query : size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query in time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func>
                          </m:e>
                        </m:func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1681" r="-13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15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043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6298</TotalTime>
  <Words>550</Words>
  <Application>Microsoft Office PowerPoint</Application>
  <PresentationFormat>如螢幕大小 (4:3)</PresentationFormat>
  <Paragraphs>216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5" baseType="lpstr">
      <vt:lpstr>Arial Unicode MS</vt:lpstr>
      <vt:lpstr>KaiTi</vt:lpstr>
      <vt:lpstr>新細明體</vt:lpstr>
      <vt:lpstr>Arial</vt:lpstr>
      <vt:lpstr>Calibri</vt:lpstr>
      <vt:lpstr>Calibri Light</vt:lpstr>
      <vt:lpstr>Cambria Math</vt:lpstr>
      <vt:lpstr>Times New Roman</vt:lpstr>
      <vt:lpstr>Verdana</vt:lpstr>
      <vt:lpstr>Office 佈景主題</vt:lpstr>
      <vt:lpstr>PowerPoint 簡報</vt:lpstr>
      <vt:lpstr>Abstract(1/3)</vt:lpstr>
      <vt:lpstr>Abstract(2/3)</vt:lpstr>
      <vt:lpstr>Abstract(3/3)</vt:lpstr>
      <vt:lpstr>Semi-local LCS problem</vt:lpstr>
      <vt:lpstr>Alignment Directed Acyclic Graph(DAG)</vt:lpstr>
      <vt:lpstr>Alignment DAG</vt:lpstr>
      <vt:lpstr>A-critical point</vt:lpstr>
      <vt:lpstr>A-critical point</vt:lpstr>
      <vt:lpstr>A-critical point</vt:lpstr>
      <vt:lpstr>A-critical point</vt:lpstr>
      <vt:lpstr>Algorithm</vt:lpstr>
      <vt:lpstr>Merge step</vt:lpstr>
      <vt:lpstr>Merge step</vt:lpstr>
      <vt:lpstr>Conclusions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Bebe</dc:creator>
  <cp:lastModifiedBy>pplab-class</cp:lastModifiedBy>
  <cp:revision>566</cp:revision>
  <dcterms:created xsi:type="dcterms:W3CDTF">2015-06-30T03:57:49Z</dcterms:created>
  <dcterms:modified xsi:type="dcterms:W3CDTF">2016-09-13T11:25:23Z</dcterms:modified>
</cp:coreProperties>
</file>