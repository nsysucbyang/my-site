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3" r:id="rId4"/>
    <p:sldId id="282" r:id="rId5"/>
    <p:sldId id="283" r:id="rId6"/>
    <p:sldId id="284" r:id="rId7"/>
    <p:sldId id="285" r:id="rId8"/>
    <p:sldId id="286" r:id="rId9"/>
    <p:sldId id="287" r:id="rId10"/>
    <p:sldId id="289" r:id="rId11"/>
    <p:sldId id="290" r:id="rId12"/>
    <p:sldId id="262" r:id="rId13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angHuai" initials="S" lastIdx="1" clrIdx="0">
    <p:extLst>
      <p:ext uri="{19B8F6BF-5375-455C-9EA6-DF929625EA0E}">
        <p15:presenceInfo xmlns:p15="http://schemas.microsoft.com/office/powerpoint/2012/main" userId="SiangHuai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淺色樣式 3 - 輔色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中等深淺樣式 4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4C1A8A3-306A-4EB7-A6B1-4F7E0EB9C5D6}" styleName="中等深淺樣式 3 - 輔色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58" autoAdjust="0"/>
    <p:restoredTop sz="90698" autoAdjust="0"/>
  </p:normalViewPr>
  <p:slideViewPr>
    <p:cSldViewPr showGuides="1">
      <p:cViewPr varScale="1">
        <p:scale>
          <a:sx n="94" d="100"/>
          <a:sy n="94" d="100"/>
        </p:scale>
        <p:origin x="882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CE63A-BC02-48AE-AD61-DEBFD4CD7A65}" type="datetimeFigureOut">
              <a:rPr lang="zh-TW" altLang="en-US" smtClean="0"/>
              <a:t>2016/9/13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AC61C5-6144-4B51-874B-9068A2E119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7172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AC61C5-6144-4B51-874B-9068A2E119E1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3924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45F2B-D50C-428F-9E1B-3EA57954334E}" type="datetime1">
              <a:rPr lang="zh-TW" altLang="en-US" smtClean="0"/>
              <a:t>2016/9/13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0230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8BA86-FFD5-4191-BE14-2242F3A963FB}" type="datetime1">
              <a:rPr lang="zh-TW" altLang="en-US" smtClean="0"/>
              <a:t>2016/9/13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1932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997DB-FE0C-44AD-8220-97B334E47226}" type="datetime1">
              <a:rPr lang="zh-TW" altLang="en-US" smtClean="0"/>
              <a:t>2016/9/13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7651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F6E74-7577-4E95-904A-1389A1EE14EC}" type="datetime1">
              <a:rPr lang="zh-TW" altLang="en-US" smtClean="0"/>
              <a:t>2016/9/13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0674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2DA43-54E5-4159-8D24-7599593EEF71}" type="datetime1">
              <a:rPr lang="zh-TW" altLang="en-US" smtClean="0"/>
              <a:t>2016/9/13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9399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8608D-AE12-402D-A232-D49EA7567D97}" type="datetime1">
              <a:rPr lang="zh-TW" altLang="en-US" smtClean="0"/>
              <a:t>2016/9/13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8315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8594C-0EC6-4616-AA89-51CF22CF926A}" type="datetime1">
              <a:rPr lang="zh-TW" altLang="en-US" smtClean="0"/>
              <a:t>2016/9/13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1395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A8FE4-E4EF-4472-84D1-D13C2E57E5E4}" type="datetime1">
              <a:rPr lang="zh-TW" altLang="en-US" smtClean="0"/>
              <a:t>2016/9/13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4510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CC58B-3596-4B02-A477-AA9C456BAED0}" type="datetime1">
              <a:rPr lang="zh-TW" altLang="en-US" smtClean="0"/>
              <a:t>2016/9/13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9484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AE385-6693-4EC2-84D7-9DF4218B9FE5}" type="datetime1">
              <a:rPr lang="zh-TW" altLang="en-US" smtClean="0"/>
              <a:t>2016/9/13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5438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7F467-6F87-49D9-8F57-A31E8D94BAD1}" type="datetime1">
              <a:rPr lang="zh-TW" altLang="en-US" smtClean="0"/>
              <a:t>2016/9/13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7697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B6EED0-F0C7-4BC1-9843-277DBD85C3AB}" type="datetime1">
              <a:rPr lang="zh-TW" altLang="en-US" smtClean="0"/>
              <a:t>2016/9/13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7838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764704"/>
            <a:ext cx="7772400" cy="1470025"/>
          </a:xfrm>
        </p:spPr>
        <p:txBody>
          <a:bodyPr>
            <a:noAutofit/>
          </a:bodyPr>
          <a:lstStyle/>
          <a:p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for 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Constrained Longest Common Subsequence Problems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23528" y="3068960"/>
            <a:ext cx="7992888" cy="1752600"/>
          </a:xfrm>
        </p:spPr>
        <p:txBody>
          <a:bodyPr>
            <a:normAutofit/>
          </a:bodyPr>
          <a:lstStyle/>
          <a:p>
            <a:r>
              <a:rPr lang="en-US" altLang="zh-TW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Abduliah</a:t>
            </a:r>
            <a:r>
              <a:rPr lang="en-US" altLang="zh-TW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N. </a:t>
            </a:r>
            <a:r>
              <a:rPr lang="en-US" altLang="zh-TW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Arslan</a:t>
            </a:r>
            <a:r>
              <a:rPr lang="en-US" altLang="zh-TW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Omer </a:t>
            </a:r>
            <a:r>
              <a:rPr lang="en-US" altLang="zh-TW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Egecioglu</a:t>
            </a:r>
            <a:endParaRPr lang="en-US" altLang="zh-TW" sz="20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Foundations of Computer Science</a:t>
            </a:r>
          </a:p>
          <a:p>
            <a:r>
              <a:rPr lang="en-US" altLang="zh-TW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Vol. 16, No. 6, 2005, 1099-1109</a:t>
            </a:r>
            <a:endParaRPr lang="zh-TW" altLang="en-US" sz="2000" baseline="30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826060" y="5029744"/>
            <a:ext cx="29878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Siang-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Huai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Hung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2016/09/13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3640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Given string S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S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and P, the constrained longest common subsequence problem for S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S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with respect to P is to find a longest common subsequence 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lcs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S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which contains P as a subsequence. We present an algorithm which improves the time complexity of the problems from the previously known </a:t>
            </a:r>
          </a:p>
          <a:p>
            <a:pPr marL="0" indent="0"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O(rn</a:t>
            </a:r>
            <a:r>
              <a:rPr lang="en-US" altLang="zh-TW" sz="24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24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to O(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rnm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where r, n, and m are the lengths of P, S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and S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respectively. As a generalization of this, we extend the definition of the problem so that the 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lcs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sought contains a subsequence whose edit distance from P is less than a given parameter d. For the latter problem, we propose an algorithm whose time complexity is O(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drnm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1463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435572" y="1313430"/>
            <a:ext cx="6080644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4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bbaba</a:t>
            </a:r>
            <a:endParaRPr lang="en-US" altLang="zh-TW" sz="4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4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abbaa</a:t>
            </a:r>
            <a:endParaRPr lang="en-US" altLang="zh-TW" sz="4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 = ab</a:t>
            </a:r>
          </a:p>
          <a:p>
            <a:r>
              <a:rPr lang="en-US" altLang="zh-TW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LCS = </a:t>
            </a:r>
            <a:r>
              <a:rPr lang="en-US" altLang="zh-TW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bbaa</a:t>
            </a:r>
            <a:endParaRPr lang="en-US" altLang="zh-TW" sz="4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CLCS = aba</a:t>
            </a:r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539552" y="0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Constrained LCS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6605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CLCS Algorithm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all 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j, k, 1 ≤ </a:t>
                </a:r>
                <a:r>
                  <a:rPr lang="en-US" altLang="zh-TW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≤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n, 1 ≤ j ≤ m, 0 ≤ k ≤ r, </a:t>
                </a:r>
                <a:r>
                  <a:rPr lang="en-US" altLang="zh-TW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TW" sz="2400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i,j,k</a:t>
                </a:r>
                <a:r>
                  <a:rPr lang="en-US" altLang="zh-TW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satisfies</a:t>
                </a:r>
              </a:p>
              <a:p>
                <a:pPr marL="0" indent="0">
                  <a:buNone/>
                </a:pPr>
                <a:endParaRPr lang="en-US" altLang="zh-TW" sz="24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r>
                  <a:rPr lang="en-US" altLang="zh-TW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TW" sz="2400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i,j,k</a:t>
                </a:r>
                <a:r>
                  <a:rPr lang="en-US" altLang="zh-TW" sz="24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max{</a:t>
                </a:r>
                <a:r>
                  <a:rPr lang="en-US" altLang="zh-TW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TW" sz="2400" dirty="0" err="1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’</a:t>
                </a:r>
                <a:r>
                  <a:rPr lang="en-US" altLang="zh-TW" sz="2400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i,j,k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L</a:t>
                </a:r>
                <a:r>
                  <a:rPr lang="en-US" altLang="zh-TW" sz="24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i,j-1,k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L</a:t>
                </a:r>
                <a:r>
                  <a:rPr lang="en-US" altLang="zh-TW" sz="24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i-1,j,k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</a:p>
              <a:p>
                <a:pPr marL="0" indent="0" algn="ctr">
                  <a:buNone/>
                </a:pPr>
                <a:r>
                  <a:rPr lang="en-US" altLang="zh-TW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TW" sz="2400" dirty="0" err="1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’</a:t>
                </a:r>
                <a:r>
                  <a:rPr lang="en-US" altLang="zh-TW" sz="2400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i,j,k</a:t>
                </a:r>
                <a:r>
                  <a:rPr lang="en-US" altLang="zh-TW" sz="24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max{</a:t>
                </a:r>
                <a:r>
                  <a:rPr lang="en-US" altLang="zh-TW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TW" sz="2400" dirty="0" err="1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”</a:t>
                </a:r>
                <a:r>
                  <a:rPr lang="en-US" altLang="zh-TW" sz="2400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i,j,k</a:t>
                </a:r>
                <a:r>
                  <a:rPr lang="en-US" altLang="zh-TW" sz="24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L</a:t>
                </a:r>
                <a:r>
                  <a:rPr lang="en-US" altLang="zh-TW" sz="24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’’’</a:t>
                </a:r>
                <a:r>
                  <a:rPr lang="en-US" altLang="zh-TW" sz="2400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i,j,k</a:t>
                </a:r>
                <a:r>
                  <a:rPr lang="en-US" altLang="zh-TW" sz="24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</a:t>
                </a:r>
              </a:p>
              <a:p>
                <a:pPr marL="0" indent="0"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TW" sz="24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’’</a:t>
                </a:r>
                <a:r>
                  <a:rPr lang="en-US" altLang="zh-TW" sz="2400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i,j,k</a:t>
                </a:r>
                <a:r>
                  <a:rPr lang="en-US" altLang="zh-TW" sz="24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TW" sz="1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sz="1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TW" sz="1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1+</m:t>
                            </m:r>
                            <m:r>
                              <a:rPr lang="en-US" altLang="zh-TW" sz="1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𝐿𝑖</m:t>
                            </m:r>
                            <m:r>
                              <a:rPr lang="en-US" altLang="zh-TW" sz="1800" b="0" i="1" baseline="-250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−1,</m:t>
                            </m:r>
                            <m:r>
                              <a:rPr lang="en-US" altLang="zh-TW" sz="1800" b="0" i="1" baseline="-250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  <m:r>
                              <a:rPr lang="en-US" altLang="zh-TW" sz="1800" b="0" i="1" baseline="-250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−1,</m:t>
                            </m:r>
                            <m:r>
                              <a:rPr lang="en-US" altLang="zh-TW" sz="1800" b="0" i="1" baseline="-250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  <m:r>
                              <a:rPr lang="en-US" altLang="zh-TW" sz="1800" b="0" i="1" baseline="-250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−1     </m:t>
                            </m:r>
                            <m:r>
                              <a:rPr lang="en-US" altLang="zh-TW" sz="1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𝑖𝑓</m:t>
                            </m:r>
                            <m:r>
                              <a:rPr lang="en-US" altLang="zh-TW" sz="1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altLang="zh-TW" sz="1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  <m:r>
                              <a:rPr lang="en-US" altLang="zh-TW" sz="1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=1 </m:t>
                            </m:r>
                            <m:r>
                              <a:rPr lang="en-US" altLang="zh-TW" sz="1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𝑜𝑟</m:t>
                            </m:r>
                            <m:r>
                              <a:rPr lang="en-US" altLang="zh-TW" sz="1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d>
                              <m:dPr>
                                <m:ctrlPr>
                                  <a:rPr lang="en-US" altLang="zh-TW" sz="1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&gt;1 </m:t>
                                </m:r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𝑎𝑛𝑑</m:t>
                                </m:r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en-US" altLang="zh-TW" sz="18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  <m:r>
                                  <a:rPr lang="en-US" altLang="zh-TW" sz="1800" i="1" baseline="-250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zh-TW" sz="1800" b="0" i="1" baseline="-2500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altLang="zh-TW" sz="1800" i="1" baseline="-250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1,</m:t>
                                </m:r>
                                <m:r>
                                  <a:rPr lang="en-US" altLang="zh-TW" sz="1800" i="1" baseline="-250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  <m:r>
                                  <a:rPr lang="en-US" altLang="zh-TW" sz="1800" i="1" baseline="-250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−1,</m:t>
                                </m:r>
                                <m:r>
                                  <a:rPr lang="en-US" altLang="zh-TW" sz="1800" i="1" baseline="-250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  <m:r>
                                  <a:rPr lang="en-US" altLang="zh-TW" sz="1800" i="1" baseline="-250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−1&gt;0</m:t>
                                </m:r>
                              </m:e>
                            </m:d>
                            <m:r>
                              <a:rPr lang="en-US" altLang="zh-TW" sz="1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  <m:e>
                            <m:r>
                              <a:rPr lang="en-US" altLang="zh-TW" sz="1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                                                                        </m:t>
                            </m:r>
                            <m:r>
                              <a:rPr lang="en-US" altLang="zh-TW" sz="1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𝑎𝑛𝑑</m:t>
                            </m:r>
                            <m:r>
                              <a:rPr lang="en-US" altLang="zh-TW" sz="1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 altLang="zh-TW" sz="1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  <m:r>
                              <a:rPr lang="en-US" altLang="zh-TW" sz="1800" b="0" i="1" baseline="-250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TW" sz="1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e>
                            </m:d>
                            <m:r>
                              <a:rPr lang="en-US" altLang="zh-TW" sz="1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r>
                              <a:rPr lang="en-US" altLang="zh-TW" sz="1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  <m:r>
                              <a:rPr lang="en-US" altLang="zh-TW" sz="1800" b="0" i="1" baseline="-250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TW" sz="1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e>
                            </m:d>
                            <m:r>
                              <a:rPr lang="en-US" altLang="zh-TW" sz="1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r>
                              <a:rPr lang="en-US" altLang="zh-TW" sz="1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𝑃</m:t>
                            </m:r>
                            <m:r>
                              <a:rPr lang="en-US" altLang="zh-TW" sz="1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[</m:t>
                            </m:r>
                            <m:r>
                              <a:rPr lang="en-US" altLang="zh-TW" sz="1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  <m:r>
                              <a:rPr lang="en-US" altLang="zh-TW" sz="1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]</m:t>
                            </m:r>
                          </m:e>
                          <m:e>
                            <m:r>
                              <a:rPr lang="en-US" altLang="zh-TW" sz="1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0                                     </m:t>
                            </m:r>
                            <m:r>
                              <a:rPr lang="en-US" altLang="zh-TW" sz="1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𝑜𝑡h𝑒𝑟𝑤𝑖𝑠𝑒</m:t>
                            </m:r>
                            <m:r>
                              <a:rPr lang="en-US" altLang="zh-TW" sz="1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                                                                </m:t>
                            </m:r>
                          </m:e>
                        </m:eqArr>
                      </m:e>
                    </m:d>
                  </m:oMath>
                </a14:m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TW" sz="24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’”</a:t>
                </a:r>
                <a:r>
                  <a:rPr lang="en-US" altLang="zh-TW" sz="24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i,j,k</a:t>
                </a:r>
                <a:r>
                  <a:rPr lang="en-US" altLang="zh-TW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TW" sz="19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sz="19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1+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𝐿𝑖</m:t>
                            </m:r>
                            <m:r>
                              <a:rPr lang="en-US" altLang="zh-TW" sz="1900" i="1" baseline="-25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−1,</m:t>
                            </m:r>
                            <m:r>
                              <a:rPr lang="en-US" altLang="zh-TW" sz="1900" i="1" baseline="-25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  <m:r>
                              <a:rPr lang="en-US" altLang="zh-TW" sz="1900" i="1" baseline="-25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−1,</m:t>
                            </m:r>
                            <m:r>
                              <a:rPr lang="en-US" altLang="zh-TW" sz="1900" i="1" baseline="-25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  <m:r>
                              <a:rPr lang="en-US" altLang="zh-TW" sz="1900" i="1" baseline="-250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       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𝑖𝑓</m:t>
                            </m:r>
                            <m:d>
                              <m:d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=0 </m:t>
                                </m:r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𝑜𝑟</m:t>
                                </m:r>
                                <m:r>
                                  <a:rPr lang="en-US" altLang="zh-TW" sz="19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en-US" altLang="zh-TW" sz="19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𝐿𝑖</m:t>
                                </m:r>
                                <m:r>
                                  <a:rPr lang="en-US" altLang="zh-TW" sz="1900" b="0" i="1" baseline="-2500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−1,</m:t>
                                </m:r>
                                <m:r>
                                  <a:rPr lang="en-US" altLang="zh-TW" sz="1900" b="0" i="1" baseline="-2500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  <m:r>
                                  <a:rPr lang="en-US" altLang="zh-TW" sz="1900" b="0" i="1" baseline="-2500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−1,</m:t>
                                </m:r>
                                <m:r>
                                  <a:rPr lang="en-US" altLang="zh-TW" sz="1900" b="0" i="1" baseline="-2500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  <m:r>
                                  <a:rPr lang="en-US" altLang="zh-TW" sz="19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&gt;0</m:t>
                                </m:r>
                              </m:e>
                            </m:d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𝑎𝑛𝑑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TW" sz="19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9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e>
                            </m:d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2[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]</m:t>
                            </m:r>
                          </m:e>
                          <m:e/>
                          <m:e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0          </m:t>
                            </m:r>
                            <m:r>
                              <a:rPr lang="en-US" altLang="zh-TW" sz="19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                   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 altLang="zh-TW" sz="19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𝑜𝑡h𝑒𝑟𝑤𝑖𝑠𝑒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    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       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    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                                                    </m:t>
                            </m:r>
                          </m:e>
                        </m:eqArr>
                      </m:e>
                    </m:d>
                  </m:oMath>
                </a14:m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111" t="-18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5280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578984" cy="4709120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abbaa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S</a:t>
            </a:r>
            <a:r>
              <a:rPr lang="en-US" altLang="zh-TW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bbaba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P = ab</a:t>
            </a:r>
          </a:p>
          <a:p>
            <a:pPr marL="0" indent="0">
              <a:buNone/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k = 0                               k = 1                               k = 2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CLCS = aba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5891930"/>
              </p:ext>
            </p:extLst>
          </p:nvPr>
        </p:nvGraphicFramePr>
        <p:xfrm>
          <a:off x="323528" y="2348880"/>
          <a:ext cx="2808000" cy="21945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68000"/>
                <a:gridCol w="468000"/>
                <a:gridCol w="468000"/>
                <a:gridCol w="468000"/>
                <a:gridCol w="468000"/>
                <a:gridCol w="468000"/>
              </a:tblGrid>
              <a:tr h="32400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b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b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a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b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a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6476644"/>
              </p:ext>
            </p:extLst>
          </p:nvPr>
        </p:nvGraphicFramePr>
        <p:xfrm>
          <a:off x="3275856" y="2348880"/>
          <a:ext cx="2808000" cy="21945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68000"/>
                <a:gridCol w="468000"/>
                <a:gridCol w="468000"/>
                <a:gridCol w="468000"/>
                <a:gridCol w="468000"/>
                <a:gridCol w="468000"/>
              </a:tblGrid>
              <a:tr h="32400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b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b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a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b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a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9021192"/>
              </p:ext>
            </p:extLst>
          </p:nvPr>
        </p:nvGraphicFramePr>
        <p:xfrm>
          <a:off x="6228184" y="2348880"/>
          <a:ext cx="2808000" cy="21945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68000"/>
                <a:gridCol w="468000"/>
                <a:gridCol w="468000"/>
                <a:gridCol w="468000"/>
                <a:gridCol w="468000"/>
                <a:gridCol w="468000"/>
              </a:tblGrid>
              <a:tr h="32400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b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b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a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b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a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2282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complexity: O(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rnm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Space complexity: O(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rm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Space complexity with LCS result: O(r</a:t>
            </a:r>
            <a:r>
              <a:rPr lang="en-US" altLang="zh-TW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029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Edit Distance CLCS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bbaba</a:t>
            </a:r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abbaa</a:t>
            </a:r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</a:p>
          <a:p>
            <a:pPr marL="0" indent="0">
              <a:buNone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dit distance = 1 (Ex. P</a:t>
            </a:r>
            <a:r>
              <a:rPr lang="en-US" altLang="zh-TW" sz="28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’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_b or P</a:t>
            </a:r>
            <a:r>
              <a:rPr lang="en-US" altLang="zh-TW" sz="28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’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a</a:t>
            </a:r>
            <a:r>
              <a:rPr lang="en-US" altLang="zh-TW" sz="28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or P</a:t>
            </a:r>
            <a:r>
              <a:rPr lang="en-US" altLang="zh-TW" sz="28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’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sz="2800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LCS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bbaa</a:t>
            </a:r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CLCS = 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aba</a:t>
            </a:r>
          </a:p>
          <a:p>
            <a:pPr marL="0" indent="0">
              <a:buNone/>
            </a:pP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CLCS with edit distance = </a:t>
            </a:r>
            <a:r>
              <a:rPr lang="en-US" altLang="zh-TW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bbaa</a:t>
            </a:r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TW" altLang="en-US" sz="28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1251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Edit Distance CLCS Algorithm(1/2)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6548" y="1700808"/>
            <a:ext cx="5050904" cy="1380626"/>
          </a:xfrm>
          <a:prstGeom prst="rect">
            <a:avLst/>
          </a:prstGeo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8</a:t>
            </a:fld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3081434"/>
            <a:ext cx="6605095" cy="3345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415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Edit Distance CLCS Algorithm(2/2)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9</a:t>
            </a:fld>
            <a:endParaRPr lang="zh-TW" altLang="en-US"/>
          </a:p>
        </p:txBody>
      </p:sp>
      <p:pic>
        <p:nvPicPr>
          <p:cNvPr id="7" name="內容版面配置區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740" y="2147480"/>
            <a:ext cx="5200340" cy="701026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40" y="2924944"/>
            <a:ext cx="8960519" cy="2160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447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2658"/>
            <a:ext cx="8229600" cy="1143000"/>
          </a:xfrm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95536" y="966384"/>
            <a:ext cx="8578984" cy="58916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abbaa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S</a:t>
            </a:r>
            <a:r>
              <a:rPr lang="en-US" altLang="zh-TW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bbaba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P = ab</a:t>
            </a:r>
          </a:p>
          <a:p>
            <a:pPr marL="0" indent="0">
              <a:buNone/>
            </a:pPr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k = 0, t = 0                k = 1, t = 0                 k = 2, t = 0</a:t>
            </a: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k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0, t =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               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1, t =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                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2, t =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638801"/>
              </p:ext>
            </p:extLst>
          </p:nvPr>
        </p:nvGraphicFramePr>
        <p:xfrm>
          <a:off x="611824" y="1484784"/>
          <a:ext cx="2376000" cy="21945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96000"/>
                <a:gridCol w="396000"/>
                <a:gridCol w="396000"/>
                <a:gridCol w="396000"/>
                <a:gridCol w="396000"/>
                <a:gridCol w="396000"/>
              </a:tblGrid>
              <a:tr h="32400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b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b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a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B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a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6897695"/>
              </p:ext>
            </p:extLst>
          </p:nvPr>
        </p:nvGraphicFramePr>
        <p:xfrm>
          <a:off x="3204112" y="1484784"/>
          <a:ext cx="2376000" cy="21945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96000"/>
                <a:gridCol w="396000"/>
                <a:gridCol w="396000"/>
                <a:gridCol w="396000"/>
                <a:gridCol w="396000"/>
                <a:gridCol w="396000"/>
              </a:tblGrid>
              <a:tr h="32400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b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b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a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b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a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233990"/>
              </p:ext>
            </p:extLst>
          </p:nvPr>
        </p:nvGraphicFramePr>
        <p:xfrm>
          <a:off x="5796400" y="1484784"/>
          <a:ext cx="2376000" cy="21945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96000"/>
                <a:gridCol w="396000"/>
                <a:gridCol w="396000"/>
                <a:gridCol w="396000"/>
                <a:gridCol w="396000"/>
                <a:gridCol w="396000"/>
              </a:tblGrid>
              <a:tr h="32400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b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b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a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b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a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10</a:t>
            </a:fld>
            <a:endParaRPr lang="zh-TW" altLang="en-US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2497757"/>
              </p:ext>
            </p:extLst>
          </p:nvPr>
        </p:nvGraphicFramePr>
        <p:xfrm>
          <a:off x="611824" y="4005064"/>
          <a:ext cx="2376000" cy="21945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96000"/>
                <a:gridCol w="396000"/>
                <a:gridCol w="396000"/>
                <a:gridCol w="396000"/>
                <a:gridCol w="396000"/>
                <a:gridCol w="396000"/>
              </a:tblGrid>
              <a:tr h="32400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b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b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a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B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a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8578805"/>
              </p:ext>
            </p:extLst>
          </p:nvPr>
        </p:nvGraphicFramePr>
        <p:xfrm>
          <a:off x="3204112" y="4005064"/>
          <a:ext cx="2376000" cy="21945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96000"/>
                <a:gridCol w="396000"/>
                <a:gridCol w="396000"/>
                <a:gridCol w="396000"/>
                <a:gridCol w="396000"/>
                <a:gridCol w="396000"/>
              </a:tblGrid>
              <a:tr h="32400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b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b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a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b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a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6230396"/>
              </p:ext>
            </p:extLst>
          </p:nvPr>
        </p:nvGraphicFramePr>
        <p:xfrm>
          <a:off x="5796400" y="4005064"/>
          <a:ext cx="2376000" cy="21945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96000"/>
                <a:gridCol w="396000"/>
                <a:gridCol w="396000"/>
                <a:gridCol w="396000"/>
                <a:gridCol w="396000"/>
                <a:gridCol w="396000"/>
              </a:tblGrid>
              <a:tr h="32400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b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b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a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b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a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0241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complexity: O(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drnm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Space complexity: O(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drm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Space complexity with LCS result: O(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drnm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0379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95736" y="2852936"/>
            <a:ext cx="4752528" cy="86409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Thanks for listening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5175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5070</TotalTime>
  <Words>748</Words>
  <Application>Microsoft Office PowerPoint</Application>
  <PresentationFormat>如螢幕大小 (4:3)</PresentationFormat>
  <Paragraphs>394</Paragraphs>
  <Slides>12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8" baseType="lpstr">
      <vt:lpstr>新細明體</vt:lpstr>
      <vt:lpstr>Arial</vt:lpstr>
      <vt:lpstr>Calibri</vt:lpstr>
      <vt:lpstr>Cambria Math</vt:lpstr>
      <vt:lpstr>Times New Roman</vt:lpstr>
      <vt:lpstr>Office 佈景主題</vt:lpstr>
      <vt:lpstr>Algorithms for the Constrained Longest Common Subsequence Problems</vt:lpstr>
      <vt:lpstr>Abstract</vt:lpstr>
      <vt:lpstr>Constrained LCS</vt:lpstr>
      <vt:lpstr>CLCS Algorithm</vt:lpstr>
      <vt:lpstr>Example</vt:lpstr>
      <vt:lpstr>Complexity</vt:lpstr>
      <vt:lpstr>Edit Distance CLCS</vt:lpstr>
      <vt:lpstr>Edit Distance CLCS Algorithm(1/2)</vt:lpstr>
      <vt:lpstr>Edit Distance CLCS Algorithm(2/2) </vt:lpstr>
      <vt:lpstr>Example</vt:lpstr>
      <vt:lpstr>Complexity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Longest Common Subsequence Algorithm Suitable for Similar Text Strings</dc:title>
  <dc:creator>yotsuki</dc:creator>
  <cp:lastModifiedBy>pplab-class</cp:lastModifiedBy>
  <cp:revision>191</cp:revision>
  <dcterms:created xsi:type="dcterms:W3CDTF">2014-03-03T17:19:54Z</dcterms:created>
  <dcterms:modified xsi:type="dcterms:W3CDTF">2016-09-13T12:29:52Z</dcterms:modified>
</cp:coreProperties>
</file>