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5" r:id="rId7"/>
    <p:sldId id="261" r:id="rId8"/>
    <p:sldId id="266" r:id="rId9"/>
    <p:sldId id="262" r:id="rId10"/>
    <p:sldId id="263" r:id="rId11"/>
    <p:sldId id="264" r:id="rId12"/>
  </p:sldIdLst>
  <p:sldSz cx="10080625" cy="7559675"/>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fu" initials="w" lastIdx="2" clrIdx="0">
    <p:extLst>
      <p:ext uri="{19B8F6BF-5375-455C-9EA6-DF929625EA0E}">
        <p15:presenceInfo xmlns:p15="http://schemas.microsoft.com/office/powerpoint/2012/main" userId="whf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5B9BD5"/>
              </a:solidFill>
              <a:prstDash val="solid"/>
              <a:round/>
              <a:headEnd type="none" w="med" len="med"/>
              <a:tailEnd type="none" w="med" len="med"/>
            </a:ln>
          </a:left>
          <a:right>
            <a:ln w="12701" cap="flat" cmpd="sng" algn="ctr">
              <a:solidFill>
                <a:srgbClr val="5B9BD5"/>
              </a:solidFill>
              <a:prstDash val="solid"/>
              <a:round/>
              <a:headEnd type="none" w="med" len="med"/>
              <a:tailEnd type="none" w="med" len="med"/>
            </a:ln>
          </a:right>
          <a:top>
            <a:ln w="12701" cap="flat" cmpd="sng" algn="ctr">
              <a:solidFill>
                <a:srgbClr val="5B9BD5"/>
              </a:solidFill>
              <a:prstDash val="solid"/>
              <a:round/>
              <a:headEnd type="none" w="med" len="med"/>
              <a:tailEnd type="none" w="med" len="med"/>
            </a:ln>
          </a:top>
          <a:bottom>
            <a:ln w="12701" cap="flat" cmpd="sng" algn="ctr">
              <a:solidFill>
                <a:srgbClr val="5B9BD5"/>
              </a:solidFill>
              <a:prstDash val="solid"/>
              <a:round/>
              <a:headEnd type="none" w="med" len="med"/>
              <a:tailEnd type="none" w="med" len="med"/>
            </a:ln>
          </a:bottom>
        </a:tcBdr>
      </a:tcStyle>
    </a:wholeTbl>
    <a:band1H>
      <a:tcStyle>
        <a:tcBdr/>
        <a:fill>
          <a:solidFill>
            <a:srgbClr val="5B9BD5"/>
          </a:solidFill>
        </a:fill>
      </a:tcStyle>
    </a:band1H>
    <a:band1V>
      <a:tcStyle>
        <a:tcBdr/>
        <a:fill>
          <a:solidFill>
            <a:srgbClr val="5B9BD5"/>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5B9BD5"/>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5B9BD5"/>
              </a:solidFill>
              <a:prstDash val="solid"/>
              <a:round/>
              <a:headEnd type="none" w="med" len="med"/>
              <a:tailEnd type="none" w="med" len="med"/>
            </a:ln>
          </a:bottom>
        </a:tcBdr>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E8B1032C-EA38-4F05-BA0D-38AFFFC7BED3}" styleName="">
    <a:wholeTbl>
      <a:tcTxStyle>
        <a:font>
          <a:latin typeface="+mn-lt"/>
          <a:ea typeface="+mn-ea"/>
          <a:cs typeface="+mn-cs"/>
        </a:font>
        <a:srgbClr val="000000"/>
      </a:tcTxStyle>
      <a:tcStyle>
        <a:tcBdr>
          <a:left>
            <a:ln w="12701" cap="flat" cmpd="sng" algn="ctr">
              <a:solidFill>
                <a:srgbClr val="70AD47"/>
              </a:solidFill>
              <a:prstDash val="solid"/>
              <a:round/>
              <a:headEnd type="none" w="med" len="med"/>
              <a:tailEnd type="none" w="med" len="med"/>
            </a:ln>
          </a:left>
          <a:right>
            <a:ln w="12701" cap="flat" cmpd="sng" algn="ctr">
              <a:solidFill>
                <a:srgbClr val="70AD47"/>
              </a:solidFill>
              <a:prstDash val="solid"/>
              <a:round/>
              <a:headEnd type="none" w="med" len="med"/>
              <a:tailEnd type="none" w="med" len="med"/>
            </a:ln>
          </a:right>
          <a:top>
            <a:ln w="12701" cap="flat" cmpd="sng" algn="ctr">
              <a:solidFill>
                <a:srgbClr val="70AD47"/>
              </a:solidFill>
              <a:prstDash val="solid"/>
              <a:round/>
              <a:headEnd type="none" w="med" len="med"/>
              <a:tailEnd type="none" w="med" len="med"/>
            </a:ln>
          </a:top>
          <a:bottom>
            <a:ln w="12701" cap="flat" cmpd="sng" algn="ctr">
              <a:solidFill>
                <a:srgbClr val="70AD47"/>
              </a:solidFill>
              <a:prstDash val="solid"/>
              <a:round/>
              <a:headEnd type="none" w="med" len="med"/>
              <a:tailEnd type="none" w="med" len="med"/>
            </a:ln>
          </a:bottom>
        </a:tcBdr>
      </a:tcStyle>
    </a:wholeTbl>
    <a:band1H>
      <a:tcStyle>
        <a:tcBdr/>
        <a:fill>
          <a:solidFill>
            <a:srgbClr val="70AD47"/>
          </a:solidFill>
        </a:fill>
      </a:tcStyle>
    </a:band1H>
    <a:band1V>
      <a:tcStyle>
        <a:tcBdr/>
        <a:fill>
          <a:solidFill>
            <a:srgbClr val="70AD47"/>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70AD47"/>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70AD47"/>
              </a:solidFill>
              <a:prstDash val="solid"/>
              <a:round/>
              <a:headEnd type="none" w="med" len="med"/>
              <a:tailEnd type="none" w="med" len="med"/>
            </a:ln>
          </a:bottom>
        </a:tcBdr>
      </a:tcStyle>
    </a:firstRow>
  </a:tblStyle>
  <a:tblStyle styleId="{5DA37D80-6434-44D0-A028-1B22A696006F}" styleName="">
    <a:wholeTbl>
      <a:tcTxStyle>
        <a:font>
          <a:latin typeface="+mn-lt"/>
          <a:ea typeface="+mn-ea"/>
          <a:cs typeface="+mn-cs"/>
        </a:font>
        <a:srgbClr val="000000"/>
      </a:tcTxStyle>
      <a:tcStyle>
        <a:tcBdr>
          <a:left>
            <a:ln w="12701" cap="flat" cmpd="sng" algn="ctr">
              <a:solidFill>
                <a:srgbClr val="ED7D31"/>
              </a:solidFill>
              <a:prstDash val="solid"/>
              <a:round/>
              <a:headEnd type="none" w="med" len="med"/>
              <a:tailEnd type="none" w="med" len="med"/>
            </a:ln>
          </a:left>
          <a:right>
            <a:ln w="12701" cap="flat" cmpd="sng" algn="ctr">
              <a:solidFill>
                <a:srgbClr val="ED7D31"/>
              </a:solidFill>
              <a:prstDash val="solid"/>
              <a:round/>
              <a:headEnd type="none" w="med" len="med"/>
              <a:tailEnd type="none" w="med" len="med"/>
            </a:ln>
          </a:right>
          <a:top>
            <a:ln w="12701" cap="flat" cmpd="sng" algn="ctr">
              <a:solidFill>
                <a:srgbClr val="ED7D31"/>
              </a:solidFill>
              <a:prstDash val="solid"/>
              <a:round/>
              <a:headEnd type="none" w="med" len="med"/>
              <a:tailEnd type="none" w="med" len="med"/>
            </a:ln>
          </a:top>
          <a:bottom>
            <a:ln w="12701" cap="flat" cmpd="sng" algn="ctr">
              <a:solidFill>
                <a:srgbClr val="ED7D31"/>
              </a:solidFill>
              <a:prstDash val="solid"/>
              <a:round/>
              <a:headEnd type="none" w="med" len="med"/>
              <a:tailEnd type="none" w="med" len="med"/>
            </a:ln>
          </a:bottom>
        </a:tcBdr>
      </a:tcStyle>
    </a:wholeTbl>
    <a:band1H>
      <a:tcStyle>
        <a:tcBdr/>
        <a:fill>
          <a:solidFill>
            <a:srgbClr val="ED7D31"/>
          </a:solidFill>
        </a:fill>
      </a:tcStyle>
    </a:band1H>
    <a:band1V>
      <a:tcStyle>
        <a:tcBdr/>
        <a:fill>
          <a:solidFill>
            <a:srgbClr val="ED7D31"/>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ED7D31"/>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ED7D31"/>
              </a:solidFill>
              <a:prstDash val="solid"/>
              <a:round/>
              <a:headEnd type="none" w="med" len="med"/>
              <a:tailEnd type="none" w="med" len="med"/>
            </a:ln>
          </a:bottom>
        </a:tcBdr>
      </a:tcStyle>
    </a:firstRow>
  </a:tblStyle>
  <a:tblStyle styleId="{EB344D84-9AFB-497E-A393-DC336BA19D2E}"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A5A5A5"/>
          </a:solidFill>
        </a:fill>
      </a:tcStyle>
    </a:lastCol>
    <a:firstCol>
      <a:tcTxStyle b="on">
        <a:font>
          <a:latin typeface="+mn-lt"/>
          <a:ea typeface="+mn-ea"/>
          <a:cs typeface="+mn-cs"/>
        </a:font>
        <a:srgbClr val="FFFFFF"/>
      </a:tcTxStyle>
      <a:tcStyle>
        <a:tcBdr/>
        <a:fill>
          <a:solidFill>
            <a:srgbClr val="A5A5A5"/>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A5A5A5"/>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45" autoAdjust="0"/>
  </p:normalViewPr>
  <p:slideViewPr>
    <p:cSldViewPr snapToGrid="0">
      <p:cViewPr varScale="1">
        <p:scale>
          <a:sx n="84" d="100"/>
          <a:sy n="84" d="100"/>
        </p:scale>
        <p:origin x="936" y="90"/>
      </p:cViewPr>
      <p:guideLst>
        <p:guide orient="horz" pos="2381"/>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頁首版面配置區 1"/>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3" name="日期版面配置區 2"/>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4" name="頁尾版面配置區 3"/>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5" name="投影片編號版面配置區 4"/>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50227E8C-9554-460F-B633-51D5AD774E1F}" type="slidenum">
              <a:t>‹#›</a:t>
            </a:fld>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Tree>
    <p:extLst>
      <p:ext uri="{BB962C8B-B14F-4D97-AF65-F5344CB8AC3E}">
        <p14:creationId xmlns:p14="http://schemas.microsoft.com/office/powerpoint/2010/main" val="15513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idx="2"/>
          </p:nvPr>
        </p:nvSpPr>
        <p:spPr>
          <a:xfrm>
            <a:off x="1107000" y="812517"/>
            <a:ext cx="5345280" cy="4008958"/>
          </a:xfrm>
          <a:prstGeom prst="rect">
            <a:avLst/>
          </a:prstGeom>
          <a:noFill/>
          <a:ln>
            <a:noFill/>
            <a:prstDash val="solid"/>
          </a:ln>
        </p:spPr>
      </p:sp>
      <p:sp>
        <p:nvSpPr>
          <p:cNvPr id="3" name="備忘稿版面配置區 2"/>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n-US"/>
          </a:p>
        </p:txBody>
      </p:sp>
      <p:sp>
        <p:nvSpPr>
          <p:cNvPr id="4" name="頁首版面配置區 3"/>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日期版面配置區 4"/>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頁尾版面配置區 5"/>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7" name="投影片編號版面配置區 6"/>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78A57073-AB8B-4F7A-BB5E-FAEF8A970D70}" type="slidenum">
              <a:t>‹#›</a:t>
            </a:fld>
            <a:endParaRPr lang="en-US"/>
          </a:p>
        </p:txBody>
      </p:sp>
    </p:spTree>
    <p:extLst>
      <p:ext uri="{BB962C8B-B14F-4D97-AF65-F5344CB8AC3E}">
        <p14:creationId xmlns:p14="http://schemas.microsoft.com/office/powerpoint/2010/main" val="1409133388"/>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44E8A48-0BB3-4429-A23E-981E055DBE4D}" type="slidenum">
              <a:t>1</a:t>
            </a:fld>
            <a:endParaRPr lang="en-US" sz="1400" b="0" i="0" u="none" strike="noStrike" kern="1200" cap="none" spc="0" baseline="0">
              <a:solidFill>
                <a:srgbClr val="000000"/>
              </a:solidFill>
              <a:uFillTx/>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1574662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txBox="1">
            <a:spLocks noGrp="1"/>
          </p:cNvSpPr>
          <p:nvPr>
            <p:ph type="ctrTitle"/>
          </p:nvPr>
        </p:nvSpPr>
        <p:spPr>
          <a:xfrm>
            <a:off x="1260472" y="1236661"/>
            <a:ext cx="7559673" cy="2632072"/>
          </a:xfrm>
        </p:spPr>
        <p:txBody>
          <a:bodyPr anchor="b"/>
          <a:lstStyle>
            <a:lvl1pPr>
              <a:defRPr lang="zh-TW" sz="6000"/>
            </a:lvl1pPr>
          </a:lstStyle>
          <a:p>
            <a:pPr lvl="0"/>
            <a:r>
              <a:rPr lang="zh-TW"/>
              <a:t>按一下以編輯母片標題樣式</a:t>
            </a:r>
            <a:endParaRPr lang="en-US"/>
          </a:p>
        </p:txBody>
      </p:sp>
      <p:sp>
        <p:nvSpPr>
          <p:cNvPr id="3" name="副標題 2"/>
          <p:cNvSpPr txBox="1">
            <a:spLocks noGrp="1"/>
          </p:cNvSpPr>
          <p:nvPr>
            <p:ph type="subTitle" idx="1"/>
          </p:nvPr>
        </p:nvSpPr>
        <p:spPr>
          <a:xfrm>
            <a:off x="1260472" y="3970333"/>
            <a:ext cx="7559673" cy="1825627"/>
          </a:xfrm>
        </p:spPr>
        <p:txBody>
          <a:bodyPr anchorCtr="1"/>
          <a:lstStyle>
            <a:lvl1pPr algn="ctr">
              <a:defRPr sz="2400"/>
            </a:lvl1pPr>
          </a:lstStyle>
          <a:p>
            <a:pPr lvl="0"/>
            <a:r>
              <a:rPr lang="zh-TW"/>
              <a:t>按一下以編輯母片副標題樣式</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AE6BFC27-068B-4B72-92F7-9C821F0A3E7B}" type="slidenum">
              <a:t>‹#›</a:t>
            </a:fld>
            <a:endParaRPr lang="en-US"/>
          </a:p>
        </p:txBody>
      </p:sp>
    </p:spTree>
    <p:extLst>
      <p:ext uri="{BB962C8B-B14F-4D97-AF65-F5344CB8AC3E}">
        <p14:creationId xmlns:p14="http://schemas.microsoft.com/office/powerpoint/2010/main" val="34534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68842836-F473-4F88-8FC5-E6506225DA8A}" type="slidenum">
              <a:t>‹#›</a:t>
            </a:fld>
            <a:endParaRPr lang="en-US"/>
          </a:p>
        </p:txBody>
      </p:sp>
    </p:spTree>
    <p:extLst>
      <p:ext uri="{BB962C8B-B14F-4D97-AF65-F5344CB8AC3E}">
        <p14:creationId xmlns:p14="http://schemas.microsoft.com/office/powerpoint/2010/main" val="228269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txBox="1">
            <a:spLocks noGrp="1"/>
          </p:cNvSpPr>
          <p:nvPr>
            <p:ph type="title"/>
          </p:nvPr>
        </p:nvSpPr>
        <p:spPr>
          <a:xfrm>
            <a:off x="687391" y="1884358"/>
            <a:ext cx="8694736" cy="3144841"/>
          </a:xfrm>
        </p:spPr>
        <p:txBody>
          <a:bodyPr anchor="b"/>
          <a:lstStyle>
            <a:lvl1pPr>
              <a:defRPr lang="zh-TW" sz="6000"/>
            </a:lvl1pPr>
          </a:lstStyle>
          <a:p>
            <a:pPr lvl="0"/>
            <a:r>
              <a:rPr lang="zh-TW"/>
              <a:t>按一下以編輯母片標題樣式</a:t>
            </a:r>
            <a:endParaRPr lang="en-US"/>
          </a:p>
        </p:txBody>
      </p:sp>
      <p:sp>
        <p:nvSpPr>
          <p:cNvPr id="3" name="文字版面配置區 2"/>
          <p:cNvSpPr txBox="1">
            <a:spLocks noGrp="1"/>
          </p:cNvSpPr>
          <p:nvPr>
            <p:ph type="body" idx="1"/>
          </p:nvPr>
        </p:nvSpPr>
        <p:spPr>
          <a:xfrm>
            <a:off x="687391" y="5059366"/>
            <a:ext cx="8694736" cy="1652585"/>
          </a:xfrm>
        </p:spPr>
        <p:txBody>
          <a:bodyPr/>
          <a:lstStyle>
            <a:lvl1pPr>
              <a:defRPr sz="2400">
                <a:solidFill>
                  <a:srgbClr val="898989"/>
                </a:solidFill>
              </a:defRPr>
            </a:lvl1pPr>
          </a:lstStyle>
          <a:p>
            <a:pPr lvl="0"/>
            <a:r>
              <a:rPr lang="zh-TW"/>
              <a:t>按一下以編輯母片文字樣式</a:t>
            </a:r>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F06D477E-DD58-4DE2-94A6-FBA23A92454D}" type="slidenum">
              <a:t>‹#›</a:t>
            </a:fld>
            <a:endParaRPr lang="en-US"/>
          </a:p>
        </p:txBody>
      </p:sp>
    </p:spTree>
    <p:extLst>
      <p:ext uri="{BB962C8B-B14F-4D97-AF65-F5344CB8AC3E}">
        <p14:creationId xmlns:p14="http://schemas.microsoft.com/office/powerpoint/2010/main" val="138122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a:xfrm>
            <a:off x="503240" y="1768477"/>
            <a:ext cx="4459291"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內容版面配置區 3"/>
          <p:cNvSpPr txBox="1">
            <a:spLocks noGrp="1"/>
          </p:cNvSpPr>
          <p:nvPr>
            <p:ph idx="2"/>
          </p:nvPr>
        </p:nvSpPr>
        <p:spPr>
          <a:xfrm>
            <a:off x="5114925" y="1768477"/>
            <a:ext cx="4460872"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A72D141D-6966-43C1-8EB1-BB4818DFA3BC}" type="slidenum">
              <a:t>‹#›</a:t>
            </a:fld>
            <a:endParaRPr lang="en-US"/>
          </a:p>
        </p:txBody>
      </p:sp>
    </p:spTree>
    <p:extLst>
      <p:ext uri="{BB962C8B-B14F-4D97-AF65-F5344CB8AC3E}">
        <p14:creationId xmlns:p14="http://schemas.microsoft.com/office/powerpoint/2010/main" val="115698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403222"/>
            <a:ext cx="8694736" cy="1460497"/>
          </a:xfrm>
        </p:spPr>
        <p:txBody>
          <a:bodyPr/>
          <a:lstStyle>
            <a:lvl1pPr>
              <a:defRPr lang="zh-TW"/>
            </a:lvl1pPr>
          </a:lstStyle>
          <a:p>
            <a:pPr lvl="0"/>
            <a:r>
              <a:rPr lang="zh-TW"/>
              <a:t>按一下以編輯母片標題樣式</a:t>
            </a:r>
            <a:endParaRPr lang="en-US"/>
          </a:p>
        </p:txBody>
      </p:sp>
      <p:sp>
        <p:nvSpPr>
          <p:cNvPr id="3" name="文字版面配置區 2"/>
          <p:cNvSpPr txBox="1">
            <a:spLocks noGrp="1"/>
          </p:cNvSpPr>
          <p:nvPr>
            <p:ph type="body" idx="1"/>
          </p:nvPr>
        </p:nvSpPr>
        <p:spPr>
          <a:xfrm>
            <a:off x="693736" y="1852610"/>
            <a:ext cx="4265611" cy="908054"/>
          </a:xfrm>
        </p:spPr>
        <p:txBody>
          <a:bodyPr anchor="b"/>
          <a:lstStyle>
            <a:lvl1pPr>
              <a:defRPr sz="2400" b="1"/>
            </a:lvl1pPr>
          </a:lstStyle>
          <a:p>
            <a:pPr lvl="0"/>
            <a:r>
              <a:rPr lang="zh-TW"/>
              <a:t>按一下以編輯母片文字樣式</a:t>
            </a:r>
          </a:p>
        </p:txBody>
      </p:sp>
      <p:sp>
        <p:nvSpPr>
          <p:cNvPr id="4" name="內容版面配置區 3"/>
          <p:cNvSpPr txBox="1">
            <a:spLocks noGrp="1"/>
          </p:cNvSpPr>
          <p:nvPr>
            <p:ph idx="2"/>
          </p:nvPr>
        </p:nvSpPr>
        <p:spPr>
          <a:xfrm>
            <a:off x="693736" y="2760665"/>
            <a:ext cx="4265611"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文字版面配置區 4"/>
          <p:cNvSpPr txBox="1">
            <a:spLocks noGrp="1"/>
          </p:cNvSpPr>
          <p:nvPr>
            <p:ph type="body" idx="3"/>
          </p:nvPr>
        </p:nvSpPr>
        <p:spPr>
          <a:xfrm>
            <a:off x="5103815" y="1852610"/>
            <a:ext cx="4284658" cy="908054"/>
          </a:xfrm>
        </p:spPr>
        <p:txBody>
          <a:bodyPr anchor="b"/>
          <a:lstStyle>
            <a:lvl1pPr>
              <a:defRPr sz="2400" b="1"/>
            </a:lvl1pPr>
          </a:lstStyle>
          <a:p>
            <a:pPr lvl="0"/>
            <a:r>
              <a:rPr lang="zh-TW"/>
              <a:t>按一下以編輯母片文字樣式</a:t>
            </a:r>
          </a:p>
        </p:txBody>
      </p:sp>
      <p:sp>
        <p:nvSpPr>
          <p:cNvPr id="6" name="內容版面配置區 5"/>
          <p:cNvSpPr txBox="1">
            <a:spLocks noGrp="1"/>
          </p:cNvSpPr>
          <p:nvPr>
            <p:ph idx="4"/>
          </p:nvPr>
        </p:nvSpPr>
        <p:spPr>
          <a:xfrm>
            <a:off x="5103815" y="2760665"/>
            <a:ext cx="4284658"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7" name="日期版面配置區 6"/>
          <p:cNvSpPr txBox="1">
            <a:spLocks noGrp="1"/>
          </p:cNvSpPr>
          <p:nvPr>
            <p:ph type="dt" sz="half" idx="7"/>
          </p:nvPr>
        </p:nvSpPr>
        <p:spPr/>
        <p:txBody>
          <a:bodyPr/>
          <a:lstStyle>
            <a:lvl1pPr>
              <a:defRPr/>
            </a:lvl1pPr>
          </a:lstStyle>
          <a:p>
            <a:pPr lvl="0"/>
            <a:endParaRPr lang="en-US"/>
          </a:p>
        </p:txBody>
      </p:sp>
      <p:sp>
        <p:nvSpPr>
          <p:cNvPr id="8" name="頁尾版面配置區 7"/>
          <p:cNvSpPr txBox="1">
            <a:spLocks noGrp="1"/>
          </p:cNvSpPr>
          <p:nvPr>
            <p:ph type="ftr" sz="quarter" idx="9"/>
          </p:nvPr>
        </p:nvSpPr>
        <p:spPr/>
        <p:txBody>
          <a:bodyPr/>
          <a:lstStyle>
            <a:lvl1pPr>
              <a:defRPr/>
            </a:lvl1pPr>
          </a:lstStyle>
          <a:p>
            <a:pPr lvl="0"/>
            <a:endParaRPr lang="en-US"/>
          </a:p>
        </p:txBody>
      </p:sp>
      <p:sp>
        <p:nvSpPr>
          <p:cNvPr id="9" name="投影片編號版面配置區 8"/>
          <p:cNvSpPr txBox="1">
            <a:spLocks noGrp="1"/>
          </p:cNvSpPr>
          <p:nvPr>
            <p:ph type="sldNum" sz="quarter" idx="8"/>
          </p:nvPr>
        </p:nvSpPr>
        <p:spPr/>
        <p:txBody>
          <a:bodyPr/>
          <a:lstStyle>
            <a:lvl1pPr>
              <a:defRPr/>
            </a:lvl1pPr>
          </a:lstStyle>
          <a:p>
            <a:pPr lvl="0"/>
            <a:fld id="{4D382990-A4FF-4906-9C3D-CE47CFC3DCA5}" type="slidenum">
              <a:t>‹#›</a:t>
            </a:fld>
            <a:endParaRPr lang="en-US"/>
          </a:p>
        </p:txBody>
      </p:sp>
    </p:spTree>
    <p:extLst>
      <p:ext uri="{BB962C8B-B14F-4D97-AF65-F5344CB8AC3E}">
        <p14:creationId xmlns:p14="http://schemas.microsoft.com/office/powerpoint/2010/main" val="340341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日期版面配置區 2"/>
          <p:cNvSpPr txBox="1">
            <a:spLocks noGrp="1"/>
          </p:cNvSpPr>
          <p:nvPr>
            <p:ph type="dt" sz="half" idx="7"/>
          </p:nvPr>
        </p:nvSpPr>
        <p:spPr/>
        <p:txBody>
          <a:bodyPr/>
          <a:lstStyle>
            <a:lvl1pPr>
              <a:defRPr/>
            </a:lvl1pPr>
          </a:lstStyle>
          <a:p>
            <a:pPr lvl="0"/>
            <a:endParaRPr lang="en-US"/>
          </a:p>
        </p:txBody>
      </p:sp>
      <p:sp>
        <p:nvSpPr>
          <p:cNvPr id="4" name="頁尾版面配置區 3"/>
          <p:cNvSpPr txBox="1">
            <a:spLocks noGrp="1"/>
          </p:cNvSpPr>
          <p:nvPr>
            <p:ph type="ftr" sz="quarter" idx="9"/>
          </p:nvPr>
        </p:nvSpPr>
        <p:spPr/>
        <p:txBody>
          <a:bodyPr/>
          <a:lstStyle>
            <a:lvl1pPr>
              <a:defRPr/>
            </a:lvl1pPr>
          </a:lstStyle>
          <a:p>
            <a:pPr lvl="0"/>
            <a:endParaRPr lang="en-US"/>
          </a:p>
        </p:txBody>
      </p:sp>
      <p:sp>
        <p:nvSpPr>
          <p:cNvPr id="5" name="投影片編號版面配置區 4"/>
          <p:cNvSpPr txBox="1">
            <a:spLocks noGrp="1"/>
          </p:cNvSpPr>
          <p:nvPr>
            <p:ph type="sldNum" sz="quarter" idx="8"/>
          </p:nvPr>
        </p:nvSpPr>
        <p:spPr/>
        <p:txBody>
          <a:bodyPr/>
          <a:lstStyle>
            <a:lvl1pPr>
              <a:defRPr/>
            </a:lvl1pPr>
          </a:lstStyle>
          <a:p>
            <a:pPr lvl="0"/>
            <a:fld id="{C73CCA10-4506-4689-B9C6-7A25C650BAFF}" type="slidenum">
              <a:t>‹#›</a:t>
            </a:fld>
            <a:endParaRPr lang="en-US"/>
          </a:p>
        </p:txBody>
      </p:sp>
    </p:spTree>
    <p:extLst>
      <p:ext uri="{BB962C8B-B14F-4D97-AF65-F5344CB8AC3E}">
        <p14:creationId xmlns:p14="http://schemas.microsoft.com/office/powerpoint/2010/main" val="205626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txBox="1">
            <a:spLocks noGrp="1"/>
          </p:cNvSpPr>
          <p:nvPr>
            <p:ph type="dt" sz="half" idx="7"/>
          </p:nvPr>
        </p:nvSpPr>
        <p:spPr/>
        <p:txBody>
          <a:bodyPr/>
          <a:lstStyle>
            <a:lvl1pPr>
              <a:defRPr/>
            </a:lvl1pPr>
          </a:lstStyle>
          <a:p>
            <a:pPr lvl="0"/>
            <a:endParaRPr lang="en-US"/>
          </a:p>
        </p:txBody>
      </p:sp>
      <p:sp>
        <p:nvSpPr>
          <p:cNvPr id="3" name="頁尾版面配置區 2"/>
          <p:cNvSpPr txBox="1">
            <a:spLocks noGrp="1"/>
          </p:cNvSpPr>
          <p:nvPr>
            <p:ph type="ftr" sz="quarter" idx="9"/>
          </p:nvPr>
        </p:nvSpPr>
        <p:spPr/>
        <p:txBody>
          <a:bodyPr/>
          <a:lstStyle>
            <a:lvl1pPr>
              <a:defRPr/>
            </a:lvl1pPr>
          </a:lstStyle>
          <a:p>
            <a:pPr lvl="0"/>
            <a:endParaRPr lang="en-US"/>
          </a:p>
        </p:txBody>
      </p:sp>
      <p:sp>
        <p:nvSpPr>
          <p:cNvPr id="4" name="投影片編號版面配置區 3"/>
          <p:cNvSpPr txBox="1">
            <a:spLocks noGrp="1"/>
          </p:cNvSpPr>
          <p:nvPr>
            <p:ph type="sldNum" sz="quarter" idx="8"/>
          </p:nvPr>
        </p:nvSpPr>
        <p:spPr/>
        <p:txBody>
          <a:bodyPr/>
          <a:lstStyle>
            <a:lvl1pPr>
              <a:defRPr/>
            </a:lvl1pPr>
          </a:lstStyle>
          <a:p>
            <a:pPr lvl="0"/>
            <a:fld id="{DA413963-2284-408C-A1F3-BA9C90A14B4D}" type="slidenum">
              <a:t>‹#›</a:t>
            </a:fld>
            <a:endParaRPr lang="en-US"/>
          </a:p>
        </p:txBody>
      </p:sp>
    </p:spTree>
    <p:extLst>
      <p:ext uri="{BB962C8B-B14F-4D97-AF65-F5344CB8AC3E}">
        <p14:creationId xmlns:p14="http://schemas.microsoft.com/office/powerpoint/2010/main" val="356610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內容版面配置區 2"/>
          <p:cNvSpPr txBox="1">
            <a:spLocks noGrp="1"/>
          </p:cNvSpPr>
          <p:nvPr>
            <p:ph idx="1"/>
          </p:nvPr>
        </p:nvSpPr>
        <p:spPr>
          <a:xfrm>
            <a:off x="4286249" y="1089022"/>
            <a:ext cx="5102223" cy="5372100"/>
          </a:xfrm>
        </p:spPr>
        <p:txBody>
          <a:bodyPr/>
          <a:lstStyle>
            <a:lvl1pPr>
              <a:defRPr/>
            </a:lvl1pPr>
            <a:lvl2pPr>
              <a:defRPr sz="2800"/>
            </a:lvl2pPr>
            <a:lvl3pPr>
              <a:defRPr sz="2400"/>
            </a:lvl3pPr>
            <a:lvl4pPr>
              <a:defRPr sz="2000"/>
            </a:lvl4pPr>
            <a:lvl5pPr>
              <a:defRPr sz="2000"/>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8059FB30-6DA3-498A-B3E4-39789FBB385A}" type="slidenum">
              <a:t>‹#›</a:t>
            </a:fld>
            <a:endParaRPr lang="en-US"/>
          </a:p>
        </p:txBody>
      </p:sp>
    </p:spTree>
    <p:extLst>
      <p:ext uri="{BB962C8B-B14F-4D97-AF65-F5344CB8AC3E}">
        <p14:creationId xmlns:p14="http://schemas.microsoft.com/office/powerpoint/2010/main" val="2952677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圖片版面配置區 2"/>
          <p:cNvSpPr txBox="1">
            <a:spLocks noGrp="1"/>
          </p:cNvSpPr>
          <p:nvPr>
            <p:ph type="pic" idx="1"/>
          </p:nvPr>
        </p:nvSpPr>
        <p:spPr>
          <a:xfrm>
            <a:off x="4286249" y="1089022"/>
            <a:ext cx="5102223" cy="5372100"/>
          </a:xfrm>
        </p:spPr>
        <p:txBody>
          <a:bodyPr/>
          <a:lstStyle>
            <a:lvl1pPr>
              <a:defRPr lang="en-US"/>
            </a:lvl1pPr>
          </a:lstStyle>
          <a:p>
            <a:pPr lvl="0"/>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62DDE591-0FAF-4F51-A0C1-3BEDC4250AEC}" type="slidenum">
              <a:t>‹#›</a:t>
            </a:fld>
            <a:endParaRPr lang="en-US"/>
          </a:p>
        </p:txBody>
      </p:sp>
    </p:spTree>
    <p:extLst>
      <p:ext uri="{BB962C8B-B14F-4D97-AF65-F5344CB8AC3E}">
        <p14:creationId xmlns:p14="http://schemas.microsoft.com/office/powerpoint/2010/main" val="124761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30523178-8C3C-4D5B-987E-9C6DE9B05220}" type="slidenum">
              <a:t>‹#›</a:t>
            </a:fld>
            <a:endParaRPr lang="en-US"/>
          </a:p>
        </p:txBody>
      </p:sp>
    </p:spTree>
    <p:extLst>
      <p:ext uri="{BB962C8B-B14F-4D97-AF65-F5344CB8AC3E}">
        <p14:creationId xmlns:p14="http://schemas.microsoft.com/office/powerpoint/2010/main" val="3461704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txBox="1">
            <a:spLocks noGrp="1"/>
          </p:cNvSpPr>
          <p:nvPr>
            <p:ph type="title" orient="vert"/>
          </p:nvPr>
        </p:nvSpPr>
        <p:spPr>
          <a:xfrm>
            <a:off x="7308854" y="301623"/>
            <a:ext cx="2266953" cy="5851529"/>
          </a:xfrm>
        </p:spPr>
        <p:txBody>
          <a:bodyPr vert="eaVert"/>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a:xfrm>
            <a:off x="503240" y="301623"/>
            <a:ext cx="6653210" cy="5851529"/>
          </a:xfrm>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0683D96B-BEA4-46BB-A345-50D7E40AC1BE}" type="slidenum">
              <a:t>‹#›</a:t>
            </a:fld>
            <a:endParaRPr lang="en-US"/>
          </a:p>
        </p:txBody>
      </p:sp>
    </p:spTree>
    <p:extLst>
      <p:ext uri="{BB962C8B-B14F-4D97-AF65-F5344CB8AC3E}">
        <p14:creationId xmlns:p14="http://schemas.microsoft.com/office/powerpoint/2010/main" val="307590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標題版面配置區 1"/>
          <p:cNvSpPr txBox="1">
            <a:spLocks noGrp="1"/>
          </p:cNvSpPr>
          <p:nvPr>
            <p:ph type="title"/>
          </p:nvPr>
        </p:nvSpPr>
        <p:spPr>
          <a:xfrm>
            <a:off x="503998" y="301322"/>
            <a:ext cx="9071643" cy="1262155"/>
          </a:xfrm>
          <a:prstGeom prst="rect">
            <a:avLst/>
          </a:prstGeom>
          <a:noFill/>
          <a:ln>
            <a:noFill/>
          </a:ln>
        </p:spPr>
        <p:txBody>
          <a:bodyPr vert="horz" wrap="square" lIns="0" tIns="0" rIns="0" bIns="0" anchor="ctr" anchorCtr="1" compatLnSpc="1">
            <a:noAutofit/>
          </a:bodyPr>
          <a:lstStyle/>
          <a:p>
            <a:pPr lvl="0"/>
            <a:endParaRPr lang="en-US"/>
          </a:p>
        </p:txBody>
      </p:sp>
      <p:sp>
        <p:nvSpPr>
          <p:cNvPr id="3" name="文字版面配置區 2"/>
          <p:cNvSpPr txBox="1">
            <a:spLocks noGrp="1"/>
          </p:cNvSpPr>
          <p:nvPr>
            <p:ph type="body" idx="1"/>
          </p:nvPr>
        </p:nvSpPr>
        <p:spPr>
          <a:xfrm>
            <a:off x="503998" y="1769043"/>
            <a:ext cx="9071643" cy="4384438"/>
          </a:xfrm>
          <a:prstGeom prst="rect">
            <a:avLst/>
          </a:prstGeom>
          <a:noFill/>
          <a:ln>
            <a:noFill/>
          </a:ln>
        </p:spPr>
        <p:txBody>
          <a:bodyPr vert="horz" wrap="square" lIns="0" tIns="0" rIns="0" bIns="0" anchor="t" anchorCtr="0" compatLnSpc="1">
            <a:no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2"/>
          </p:nvPr>
        </p:nvSpPr>
        <p:spPr>
          <a:xfrm>
            <a:off x="503998" y="6887160"/>
            <a:ext cx="2348279" cy="521281"/>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頁尾版面配置區 4"/>
          <p:cNvSpPr txBox="1">
            <a:spLocks noGrp="1"/>
          </p:cNvSpPr>
          <p:nvPr>
            <p:ph type="ftr" sz="quarter" idx="3"/>
          </p:nvPr>
        </p:nvSpPr>
        <p:spPr>
          <a:xfrm>
            <a:off x="3447361" y="6887160"/>
            <a:ext cx="3194995" cy="521281"/>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投影片編號版面配置區 5"/>
          <p:cNvSpPr txBox="1">
            <a:spLocks noGrp="1"/>
          </p:cNvSpPr>
          <p:nvPr>
            <p:ph type="sldNum" sz="quarter" idx="4"/>
          </p:nvPr>
        </p:nvSpPr>
        <p:spPr>
          <a:xfrm>
            <a:off x="7227362" y="6887160"/>
            <a:ext cx="2348279" cy="521281"/>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FA3188D1-A64F-4C0D-9118-94DC8B17CC66}"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ctr" defTabSz="914400" rtl="0" fontAlgn="auto" hangingPunct="0">
        <a:lnSpc>
          <a:spcPct val="100000"/>
        </a:lnSpc>
        <a:spcBef>
          <a:spcPts val="0"/>
        </a:spcBef>
        <a:spcAft>
          <a:spcPts val="0"/>
        </a:spcAft>
        <a:buNone/>
        <a:tabLst/>
        <a:defRPr lang="en-US" sz="44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p:titleStyle>
    <p:bodyStyle>
      <a:lvl1pPr marL="0" marR="0" lvl="0" indent="0" defTabSz="914400" rtl="0" fontAlgn="auto" hangingPunct="0">
        <a:lnSpc>
          <a:spcPct val="100000"/>
        </a:lnSpc>
        <a:spcBef>
          <a:spcPts val="1415"/>
        </a:spcBef>
        <a:spcAft>
          <a:spcPts val="0"/>
        </a:spcAft>
        <a:buNone/>
        <a:tabLst/>
        <a:defRPr lang="zh-TW" sz="32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zh-TW" sz="2400" b="0" i="0" u="none" strike="noStrike" kern="1200" cap="none" spc="0" baseline="0">
          <a:solidFill>
            <a:srgbClr val="000000"/>
          </a:solidFill>
          <a:uFillTx/>
          <a:latin typeface="Calibri"/>
          <a:ea typeface="新細明體" pitchFamily="18"/>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zh-TW" sz="2000" b="0" i="0" u="none" strike="noStrike" kern="1200" cap="none" spc="0" baseline="0">
          <a:solidFill>
            <a:srgbClr val="000000"/>
          </a:solidFill>
          <a:uFillTx/>
          <a:latin typeface="Calibri"/>
          <a:ea typeface="新細明體" pitchFamily="18"/>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576355" y="2989593"/>
            <a:ext cx="9071643" cy="1661993"/>
          </a:xfrm>
        </p:spPr>
        <p:txBody>
          <a:bodyPr>
            <a:spAutoFit/>
          </a:bodyPr>
          <a:lstStyle/>
          <a:p>
            <a:pPr lvl="0"/>
            <a:r>
              <a:rPr lang="en-US" altLang="zh-TW" sz="2700" b="1" dirty="0">
                <a:solidFill>
                  <a:srgbClr val="898989"/>
                </a:solidFill>
                <a:latin typeface="Sitka Subheading" panose="02000505000000020004" pitchFamily="2" charset="0"/>
                <a:ea typeface="新細明體" pitchFamily="2"/>
              </a:rPr>
              <a:t>Maria-Elena </a:t>
            </a:r>
            <a:r>
              <a:rPr lang="en-US" altLang="zh-TW" sz="2700" b="1" dirty="0" err="1">
                <a:solidFill>
                  <a:srgbClr val="898989"/>
                </a:solidFill>
                <a:latin typeface="Sitka Subheading" panose="02000505000000020004" pitchFamily="2" charset="0"/>
                <a:ea typeface="新細明體" pitchFamily="2"/>
              </a:rPr>
              <a:t>Nilsback</a:t>
            </a:r>
            <a:r>
              <a:rPr lang="en-US" altLang="zh-TW" sz="2700" b="1" dirty="0">
                <a:solidFill>
                  <a:srgbClr val="898989"/>
                </a:solidFill>
                <a:latin typeface="Sitka Subheading" panose="02000505000000020004" pitchFamily="2" charset="0"/>
                <a:ea typeface="新細明體" pitchFamily="2"/>
              </a:rPr>
              <a:t> and Andrew Zisserman</a:t>
            </a:r>
            <a:br>
              <a:rPr lang="en-US" altLang="zh-TW" sz="2700" b="1" dirty="0">
                <a:solidFill>
                  <a:srgbClr val="898989"/>
                </a:solidFill>
                <a:latin typeface="Sitka Subheading" panose="02000505000000020004" pitchFamily="2" charset="0"/>
                <a:ea typeface="新細明體" pitchFamily="2"/>
              </a:rPr>
            </a:br>
            <a:r>
              <a:rPr lang="en-US" altLang="zh-TW" sz="2700" b="1" dirty="0">
                <a:solidFill>
                  <a:srgbClr val="898989"/>
                </a:solidFill>
                <a:latin typeface="Sitka Subheading" panose="02000505000000020004" pitchFamily="2" charset="0"/>
                <a:ea typeface="新細明體" pitchFamily="2"/>
              </a:rPr>
              <a:t>Proceedings </a:t>
            </a:r>
            <a:r>
              <a:rPr lang="en-US" altLang="zh-TW" sz="2700" b="1" dirty="0">
                <a:solidFill>
                  <a:srgbClr val="898989"/>
                </a:solidFill>
                <a:latin typeface="Sitka Subheading" panose="02000505000000020004" pitchFamily="2" charset="0"/>
                <a:ea typeface="新細明體" pitchFamily="2"/>
              </a:rPr>
              <a:t>of the IEEE Conference on Computer Vision and Pattern Recognition, </a:t>
            </a:r>
            <a:r>
              <a:rPr lang="en-US" altLang="zh-TW" sz="2700" b="1" dirty="0" smtClean="0">
                <a:solidFill>
                  <a:srgbClr val="898989"/>
                </a:solidFill>
                <a:latin typeface="Sitka Subheading" panose="02000505000000020004" pitchFamily="2" charset="0"/>
                <a:ea typeface="新細明體" pitchFamily="2"/>
              </a:rPr>
              <a:t>2006</a:t>
            </a:r>
            <a:endParaRPr lang="en-US" sz="2700" b="1" dirty="0">
              <a:solidFill>
                <a:srgbClr val="898989"/>
              </a:solidFill>
              <a:latin typeface="Sitka Subheading" panose="02000505000000020004" pitchFamily="2" charset="0"/>
              <a:ea typeface="新細明體" pitchFamily="2"/>
            </a:endParaRPr>
          </a:p>
        </p:txBody>
      </p:sp>
      <p:sp>
        <p:nvSpPr>
          <p:cNvPr id="3" name="文字版面配置區 2"/>
          <p:cNvSpPr txBox="1">
            <a:spLocks noGrp="1"/>
          </p:cNvSpPr>
          <p:nvPr>
            <p:ph type="body" idx="4294967295"/>
          </p:nvPr>
        </p:nvSpPr>
        <p:spPr>
          <a:xfrm>
            <a:off x="576355" y="935998"/>
            <a:ext cx="9071643" cy="1491891"/>
          </a:xfrm>
        </p:spPr>
        <p:txBody>
          <a:bodyPr anchorCtr="1"/>
          <a:lstStyle/>
          <a:p>
            <a:pPr lvl="0" algn="ctr"/>
            <a:r>
              <a:rPr lang="en-US" sz="4000" b="1" dirty="0">
                <a:latin typeface="Cambria Math" panose="02040503050406030204" pitchFamily="18" charset="0"/>
                <a:ea typeface="Cambria Math" panose="02040503050406030204" pitchFamily="18" charset="0"/>
                <a:cs typeface="Ebrima" panose="02000000000000000000" pitchFamily="2" charset="0"/>
              </a:rPr>
              <a:t>Automated flower classification over a large number of classes</a:t>
            </a:r>
          </a:p>
        </p:txBody>
      </p:sp>
      <p:sp>
        <p:nvSpPr>
          <p:cNvPr id="4" name="文字版面配置區 3"/>
          <p:cNvSpPr txBox="1">
            <a:spLocks noGrp="1"/>
          </p:cNvSpPr>
          <p:nvPr>
            <p:ph type="body" idx="4294967295"/>
          </p:nvPr>
        </p:nvSpPr>
        <p:spPr>
          <a:xfrm>
            <a:off x="704380" y="5920800"/>
            <a:ext cx="9071643" cy="1159806"/>
          </a:xfrm>
        </p:spPr>
        <p:txBody>
          <a:bodyPr/>
          <a:lstStyle/>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Wei-</a:t>
            </a:r>
            <a:r>
              <a:rPr lang="en-US" altLang="zh-TW" dirty="0" err="1">
                <a:highlight>
                  <a:scrgbClr r="0" g="0" b="0">
                    <a:alpha val="0"/>
                  </a:scrgbClr>
                </a:highlight>
                <a:latin typeface="Liberation Sans Narrow" pitchFamily="34"/>
                <a:ea typeface="微軟正黑體" pitchFamily="34"/>
                <a:cs typeface="Mangal" pitchFamily="2"/>
              </a:rPr>
              <a:t>Hao</a:t>
            </a:r>
            <a:r>
              <a:rPr lang="en-US" altLang="zh-TW" dirty="0">
                <a:highlight>
                  <a:scrgbClr r="0" g="0" b="0">
                    <a:alpha val="0"/>
                  </a:scrgbClr>
                </a:highlight>
                <a:latin typeface="Liberation Sans Narrow" pitchFamily="34"/>
                <a:ea typeface="微軟正黑體" pitchFamily="34"/>
                <a:cs typeface="Mangal" pitchFamily="2"/>
              </a:rPr>
              <a:t> Fu</a:t>
            </a:r>
            <a:endParaRPr lang="en-US" dirty="0">
              <a:highlight>
                <a:scrgbClr r="0" g="0" b="0">
                  <a:alpha val="0"/>
                </a:scrgbClr>
              </a:highlight>
              <a:latin typeface="Liberation Sans Narrow" pitchFamily="34"/>
              <a:ea typeface="微軟正黑體" pitchFamily="34"/>
              <a:cs typeface="Mangal" pitchFamily="2"/>
            </a:endParaRPr>
          </a:p>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Date</a:t>
            </a:r>
            <a:r>
              <a:rPr lang="zh-TW" dirty="0" smtClean="0">
                <a:highlight>
                  <a:scrgbClr r="0" g="0" b="0">
                    <a:alpha val="0"/>
                  </a:scrgbClr>
                </a:highlight>
                <a:latin typeface="Liberation Sans Narrow" pitchFamily="34"/>
                <a:ea typeface="微軟正黑體" pitchFamily="34"/>
                <a:cs typeface="Mangal" pitchFamily="2"/>
              </a:rPr>
              <a:t>：</a:t>
            </a:r>
            <a:r>
              <a:rPr lang="en-US" altLang="zh-TW" smtClean="0">
                <a:highlight>
                  <a:scrgbClr r="0" g="0" b="0">
                    <a:alpha val="0"/>
                  </a:scrgbClr>
                </a:highlight>
                <a:latin typeface="Liberation Sans Narrow" pitchFamily="34"/>
                <a:ea typeface="微軟正黑體" pitchFamily="34"/>
                <a:cs typeface="Mangal" pitchFamily="2"/>
              </a:rPr>
              <a:t>2016</a:t>
            </a:r>
            <a:r>
              <a:rPr lang="en-US" smtClean="0">
                <a:highlight>
                  <a:scrgbClr r="0" g="0" b="0">
                    <a:alpha val="0"/>
                  </a:scrgbClr>
                </a:highlight>
                <a:latin typeface="Liberation Sans Narrow" pitchFamily="34"/>
                <a:ea typeface="微軟正黑體" pitchFamily="34"/>
                <a:cs typeface="Mangal" pitchFamily="2"/>
              </a:rPr>
              <a:t>/ </a:t>
            </a:r>
            <a:r>
              <a:rPr lang="en-US" dirty="0">
                <a:highlight>
                  <a:scrgbClr r="0" g="0" b="0">
                    <a:alpha val="0"/>
                  </a:scrgbClr>
                </a:highlight>
                <a:latin typeface="Liberation Sans Narrow" pitchFamily="34"/>
                <a:ea typeface="微軟正黑體" pitchFamily="34"/>
                <a:cs typeface="Mangal" pitchFamily="2"/>
              </a:rPr>
              <a:t>09/</a:t>
            </a:r>
            <a:r>
              <a:rPr lang="zh-TW" altLang="en-US" dirty="0">
                <a:highlight>
                  <a:scrgbClr r="0" g="0" b="0">
                    <a:alpha val="0"/>
                  </a:scrgbClr>
                </a:highlight>
                <a:latin typeface="Liberation Sans Narrow" pitchFamily="34"/>
                <a:ea typeface="微軟正黑體" pitchFamily="34"/>
                <a:cs typeface="Mangal" pitchFamily="2"/>
              </a:rPr>
              <a:t> </a:t>
            </a:r>
            <a:r>
              <a:rPr lang="en-US" altLang="zh-TW" dirty="0">
                <a:highlight>
                  <a:scrgbClr r="0" g="0" b="0">
                    <a:alpha val="0"/>
                  </a:scrgbClr>
                </a:highlight>
                <a:latin typeface="Liberation Sans Narrow" pitchFamily="34"/>
                <a:ea typeface="微軟正黑體" pitchFamily="34"/>
                <a:cs typeface="Mangal" pitchFamily="2"/>
              </a:rPr>
              <a:t>06</a:t>
            </a:r>
            <a:endParaRPr lang="en-US" dirty="0">
              <a:highlight>
                <a:scrgbClr r="0" g="0" b="0">
                  <a:alpha val="0"/>
                </a:scrgbClr>
              </a:highlight>
              <a:latin typeface="Liberation Sans Narrow" pitchFamily="34"/>
              <a:ea typeface="微軟正黑體" pitchFamily="34"/>
              <a:cs typeface="Mangal" pitchFamily="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Abstract(1/2)</a:t>
            </a:r>
            <a:endParaRPr lang="zh-TW" altLang="en-US" dirty="0">
              <a:latin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p:txBody>
          <a:bodyPr/>
          <a:lstStyle/>
          <a:p>
            <a:r>
              <a:rPr lang="en-US" altLang="zh-TW" sz="3000" dirty="0">
                <a:latin typeface="Cambria Math" panose="02040503050406030204" pitchFamily="18" charset="0"/>
                <a:ea typeface="Cambria Math" panose="02040503050406030204" pitchFamily="18" charset="0"/>
                <a:cs typeface="Ebrima" panose="02000000000000000000" pitchFamily="2" charset="0"/>
              </a:rPr>
              <a:t>We investigate to what extent combinations of features can improve classification performance on a large dataset of similar classes. To this end we introduce a 103 class flower dataset. We compute four different features for the flowers, each describing different aspects, namely the local shape/texture, the shape of the boundary, the overall spatial distribution of petals, and the </a:t>
            </a:r>
            <a:r>
              <a:rPr lang="en-US" altLang="zh-TW" sz="3000" dirty="0" err="1">
                <a:latin typeface="Cambria Math" panose="02040503050406030204" pitchFamily="18" charset="0"/>
                <a:ea typeface="Cambria Math" panose="02040503050406030204" pitchFamily="18" charset="0"/>
                <a:cs typeface="Ebrima" panose="02000000000000000000" pitchFamily="2" charset="0"/>
              </a:rPr>
              <a:t>colour</a:t>
            </a:r>
            <a:r>
              <a:rPr lang="en-US" altLang="zh-TW" sz="3000" dirty="0">
                <a:latin typeface="Cambria Math" panose="02040503050406030204" pitchFamily="18" charset="0"/>
                <a:ea typeface="Cambria Math" panose="02040503050406030204" pitchFamily="18" charset="0"/>
                <a:cs typeface="Ebrima" panose="02000000000000000000" pitchFamily="2" charset="0"/>
              </a:rPr>
              <a:t>. We combine the features using a multiple kernel framework with a SVM classifier. </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a:t>
            </a:fld>
            <a:endParaRPr lang="zh-TW" altLang="en-US"/>
          </a:p>
        </p:txBody>
      </p:sp>
    </p:spTree>
    <p:extLst>
      <p:ext uri="{BB962C8B-B14F-4D97-AF65-F5344CB8AC3E}">
        <p14:creationId xmlns:p14="http://schemas.microsoft.com/office/powerpoint/2010/main" val="21282113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Abstract(2/2)</a:t>
            </a:r>
            <a:endParaRPr lang="zh-TW" altLang="en-US" dirty="0"/>
          </a:p>
        </p:txBody>
      </p:sp>
      <p:sp>
        <p:nvSpPr>
          <p:cNvPr id="3" name="內容版面配置區 2"/>
          <p:cNvSpPr>
            <a:spLocks noGrp="1"/>
          </p:cNvSpPr>
          <p:nvPr>
            <p:ph idx="1"/>
          </p:nvPr>
        </p:nvSpPr>
        <p:spPr/>
        <p:txBody>
          <a:bodyPr/>
          <a:lstStyle/>
          <a:p>
            <a:r>
              <a:rPr lang="en-US" altLang="zh-TW" sz="3000" dirty="0">
                <a:latin typeface="Cambria Math" panose="02040503050406030204" pitchFamily="18" charset="0"/>
                <a:ea typeface="Cambria Math" panose="02040503050406030204" pitchFamily="18" charset="0"/>
                <a:cs typeface="Ebrima" panose="02000000000000000000" pitchFamily="2" charset="0"/>
              </a:rPr>
              <a:t>The weights for each class are learnt using the method of Varma and Ray [16], which has achieved state of the art performance on other large dataset, such as Caltech 101/256. Our dataset has a similar challenge in the number of classes, but with the added difficulty of large between class similarity and small within class similarity. Results show that learning the optimum kernel combination of multiple features vastly improves the performance, from 55.1% for the best single feature to 72.8% for the combination of all features.</a:t>
            </a:r>
            <a:endParaRPr lang="zh-TW" altLang="en-US" sz="3000" dirty="0"/>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3</a:t>
            </a:fld>
            <a:endParaRPr lang="zh-TW" altLang="en-US"/>
          </a:p>
        </p:txBody>
      </p:sp>
    </p:spTree>
    <p:extLst>
      <p:ext uri="{BB962C8B-B14F-4D97-AF65-F5344CB8AC3E}">
        <p14:creationId xmlns:p14="http://schemas.microsoft.com/office/powerpoint/2010/main" val="364936962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Segmentation</a:t>
            </a:r>
            <a:endParaRPr lang="zh-TW" altLang="en-US" dirty="0"/>
          </a:p>
        </p:txBody>
      </p:sp>
      <p:pic>
        <p:nvPicPr>
          <p:cNvPr id="1036"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512" y="1288760"/>
            <a:ext cx="8497613" cy="63339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投影片編號版面配置區 2"/>
          <p:cNvSpPr>
            <a:spLocks noGrp="1"/>
          </p:cNvSpPr>
          <p:nvPr>
            <p:ph type="sldNum" sz="quarter" idx="8"/>
          </p:nvPr>
        </p:nvSpPr>
        <p:spPr/>
        <p:txBody>
          <a:bodyPr/>
          <a:lstStyle/>
          <a:p>
            <a:pPr lvl="0"/>
            <a:fld id="{68842836-F473-4F88-8FC5-E6506225DA8A}" type="slidenum">
              <a:rPr lang="en-US" altLang="zh-TW" smtClean="0"/>
              <a:t>4</a:t>
            </a:fld>
            <a:endParaRPr lang="zh-TW" altLang="en-US"/>
          </a:p>
        </p:txBody>
      </p:sp>
    </p:spTree>
    <p:extLst>
      <p:ext uri="{BB962C8B-B14F-4D97-AF65-F5344CB8AC3E}">
        <p14:creationId xmlns:p14="http://schemas.microsoft.com/office/powerpoint/2010/main" val="18856583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Features-</a:t>
            </a:r>
            <a:r>
              <a:rPr lang="en-US" altLang="zh-TW" dirty="0" err="1">
                <a:latin typeface="Ebrima" panose="02000000000000000000" pitchFamily="2" charset="0"/>
                <a:ea typeface="Ebrima" panose="02000000000000000000" pitchFamily="2" charset="0"/>
                <a:cs typeface="Ebrima" panose="02000000000000000000" pitchFamily="2" charset="0"/>
              </a:rPr>
              <a:t>Colour</a:t>
            </a:r>
            <a:endParaRPr lang="zh-TW" altLang="en-US" dirty="0"/>
          </a:p>
        </p:txBody>
      </p:sp>
      <p:sp>
        <p:nvSpPr>
          <p:cNvPr id="3" name="內容版面配置區 2"/>
          <p:cNvSpPr>
            <a:spLocks noGrp="1"/>
          </p:cNvSpPr>
          <p:nvPr>
            <p:ph idx="1"/>
          </p:nvPr>
        </p:nvSpPr>
        <p:spPr/>
        <p:txBody>
          <a:bodyPr/>
          <a:lstStyle/>
          <a:p>
            <a:r>
              <a:rPr lang="en-US" altLang="zh-TW" sz="3000" dirty="0">
                <a:latin typeface="Cambria Math" pitchFamily="18" charset="0"/>
                <a:ea typeface="Cambria Math" pitchFamily="18" charset="0"/>
              </a:rPr>
              <a:t>Using HSV space: because it is </a:t>
            </a:r>
            <a:r>
              <a:rPr lang="en-US" altLang="zh-TW" sz="3000" b="1" dirty="0">
                <a:solidFill>
                  <a:srgbClr val="FF0000"/>
                </a:solidFill>
                <a:latin typeface="Cambria Math" pitchFamily="18" charset="0"/>
                <a:ea typeface="Cambria Math" pitchFamily="18" charset="0"/>
              </a:rPr>
              <a:t>less sensitive to variations in illumination</a:t>
            </a:r>
            <a:r>
              <a:rPr lang="en-US" altLang="zh-TW" sz="3000" dirty="0">
                <a:latin typeface="Cambria Math" pitchFamily="18" charset="0"/>
                <a:ea typeface="Cambria Math" pitchFamily="18" charset="0"/>
              </a:rPr>
              <a:t> and should be able to cope better with pictures of flowers taken in different weather conditions and at different time of the day.</a:t>
            </a:r>
          </a:p>
          <a:p>
            <a:r>
              <a:rPr lang="en-US" altLang="zh-TW" sz="3000" dirty="0">
                <a:latin typeface="Cambria Math" pitchFamily="18" charset="0"/>
                <a:ea typeface="Cambria Math" pitchFamily="18" charset="0"/>
              </a:rPr>
              <a:t>The HSV values for each pixel in an image clustered using k-means.</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5</a:t>
            </a:fld>
            <a:endParaRPr lang="zh-TW" altLang="en-US"/>
          </a:p>
        </p:txBody>
      </p:sp>
    </p:spTree>
    <p:extLst>
      <p:ext uri="{BB962C8B-B14F-4D97-AF65-F5344CB8AC3E}">
        <p14:creationId xmlns:p14="http://schemas.microsoft.com/office/powerpoint/2010/main" val="27235886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Features-SIFT(1/2)</a:t>
            </a:r>
            <a:endParaRPr lang="zh-TW" altLang="en-US" dirty="0"/>
          </a:p>
        </p:txBody>
      </p:sp>
      <p:sp>
        <p:nvSpPr>
          <p:cNvPr id="3" name="內容版面配置區 2"/>
          <p:cNvSpPr>
            <a:spLocks noGrp="1"/>
          </p:cNvSpPr>
          <p:nvPr>
            <p:ph idx="1"/>
          </p:nvPr>
        </p:nvSpPr>
        <p:spPr/>
        <p:txBody>
          <a:bodyPr/>
          <a:lstStyle/>
          <a:p>
            <a:r>
              <a:rPr lang="zh-TW" altLang="en-US" sz="3000" dirty="0">
                <a:latin typeface="Cambria Math" pitchFamily="18" charset="0"/>
              </a:rPr>
              <a:t>目的：偵測與描述</a:t>
            </a:r>
            <a:r>
              <a:rPr lang="zh-TW" altLang="en-US" sz="2800" dirty="0"/>
              <a:t>影像中的局部性特徵，它在空間尺度中尋找極值點，並提取出其位置、尺度、旋轉不變數。</a:t>
            </a:r>
            <a:endParaRPr lang="en-US" altLang="zh-TW" sz="2800" dirty="0"/>
          </a:p>
          <a:p>
            <a:r>
              <a:rPr lang="zh-TW" altLang="en-US" sz="3000" dirty="0">
                <a:latin typeface="Cambria Math" pitchFamily="18" charset="0"/>
              </a:rPr>
              <a:t>特點：</a:t>
            </a:r>
            <a:endParaRPr lang="en-US" altLang="zh-TW" sz="3000" dirty="0">
              <a:latin typeface="Cambria Math" pitchFamily="18" charset="0"/>
            </a:endParaRPr>
          </a:p>
          <a:p>
            <a:pPr marL="457200" indent="-457200">
              <a:buFont typeface="Arial" panose="020B0604020202020204" pitchFamily="34" charset="0"/>
              <a:buChar char="•"/>
            </a:pPr>
            <a:r>
              <a:rPr lang="zh-TW" altLang="en-US" sz="3000" dirty="0">
                <a:latin typeface="Cambria Math" pitchFamily="18" charset="0"/>
              </a:rPr>
              <a:t>與影像的大小和旋轉無關。</a:t>
            </a:r>
            <a:endParaRPr lang="en-US" altLang="zh-TW" sz="3000" dirty="0">
              <a:latin typeface="Cambria Math" pitchFamily="18" charset="0"/>
            </a:endParaRPr>
          </a:p>
          <a:p>
            <a:pPr marL="457200" indent="-457200">
              <a:buFont typeface="Arial" panose="020B0604020202020204" pitchFamily="34" charset="0"/>
              <a:buChar char="•"/>
            </a:pPr>
            <a:r>
              <a:rPr lang="zh-TW" altLang="en-US" sz="3000" dirty="0">
                <a:latin typeface="Cambria Math" pitchFamily="18" charset="0"/>
              </a:rPr>
              <a:t>對於光線、雜訊及些微視角的改變容忍度高。</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6</a:t>
            </a:fld>
            <a:endParaRPr lang="zh-TW" altLang="en-US"/>
          </a:p>
        </p:txBody>
      </p:sp>
      <p:grpSp>
        <p:nvGrpSpPr>
          <p:cNvPr id="8" name="群組 7"/>
          <p:cNvGrpSpPr/>
          <p:nvPr/>
        </p:nvGrpSpPr>
        <p:grpSpPr>
          <a:xfrm>
            <a:off x="1789879" y="4802041"/>
            <a:ext cx="6499880" cy="2606400"/>
            <a:chOff x="1827190" y="4801732"/>
            <a:chExt cx="6499880" cy="2606400"/>
          </a:xfrm>
        </p:grpSpPr>
        <p:pic>
          <p:nvPicPr>
            <p:cNvPr id="6" name="圖片 5"/>
            <p:cNvPicPr>
              <a:picLocks/>
            </p:cNvPicPr>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827190" y="4801732"/>
              <a:ext cx="3074400" cy="2606400"/>
            </a:xfrm>
            <a:prstGeom prst="rect">
              <a:avLst/>
            </a:prstGeom>
          </p:spPr>
        </p:pic>
        <p:pic>
          <p:nvPicPr>
            <p:cNvPr id="7" name="圖片 6"/>
            <p:cNvPicPr>
              <a:picLocks/>
            </p:cNvPicPr>
            <p:nvPr/>
          </p:nvPicPr>
          <p:blipFill>
            <a:blip r:embed="rId4"/>
            <a:stretch>
              <a:fillRect/>
            </a:stretch>
          </p:blipFill>
          <p:spPr>
            <a:xfrm>
              <a:off x="5252670" y="4801732"/>
              <a:ext cx="3074400" cy="2606400"/>
            </a:xfrm>
            <a:prstGeom prst="rect">
              <a:avLst/>
            </a:prstGeom>
          </p:spPr>
        </p:pic>
      </p:grpSp>
    </p:spTree>
    <p:extLst>
      <p:ext uri="{BB962C8B-B14F-4D97-AF65-F5344CB8AC3E}">
        <p14:creationId xmlns:p14="http://schemas.microsoft.com/office/powerpoint/2010/main" val="6320610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Features-SIFT(2/2)</a:t>
            </a:r>
            <a:endParaRPr lang="zh-TW" altLang="en-US" dirty="0"/>
          </a:p>
        </p:txBody>
      </p:sp>
      <p:sp>
        <p:nvSpPr>
          <p:cNvPr id="3" name="內容版面配置區 2"/>
          <p:cNvSpPr>
            <a:spLocks noGrp="1"/>
          </p:cNvSpPr>
          <p:nvPr>
            <p:ph idx="1"/>
          </p:nvPr>
        </p:nvSpPr>
        <p:spPr/>
        <p:txBody>
          <a:bodyPr/>
          <a:lstStyle/>
          <a:p>
            <a:r>
              <a:rPr lang="en-US" altLang="zh-TW" sz="3000" dirty="0">
                <a:latin typeface="Cambria Math" pitchFamily="18" charset="0"/>
                <a:ea typeface="Cambria Math" pitchFamily="18" charset="0"/>
              </a:rPr>
              <a:t>SIFT on the foreground region:</a:t>
            </a:r>
          </a:p>
          <a:p>
            <a:r>
              <a:rPr lang="en-US" altLang="zh-TW" sz="3000" dirty="0">
                <a:latin typeface="Cambria Math" pitchFamily="18" charset="0"/>
                <a:ea typeface="Cambria Math" pitchFamily="18" charset="0"/>
              </a:rPr>
              <a:t>The SIFT features describe both the texture and the local shape of the flower.</a:t>
            </a:r>
          </a:p>
          <a:p>
            <a:r>
              <a:rPr lang="en-US" altLang="zh-TW" sz="3000" dirty="0">
                <a:latin typeface="Cambria Math" pitchFamily="18" charset="0"/>
                <a:ea typeface="Cambria Math" pitchFamily="18" charset="0"/>
              </a:rPr>
              <a:t>SIFT on the foreground boundary:</a:t>
            </a:r>
          </a:p>
          <a:p>
            <a:r>
              <a:rPr lang="en-US" altLang="zh-TW" sz="3000" dirty="0">
                <a:latin typeface="Cambria Math" pitchFamily="18" charset="0"/>
                <a:ea typeface="Cambria Math" pitchFamily="18" charset="0"/>
              </a:rPr>
              <a:t>Give greater emphasis to the local shape of the boundary.</a:t>
            </a:r>
            <a:endParaRPr lang="zh-TW" altLang="en-US" sz="3000" dirty="0">
              <a:latin typeface="Cambria Math"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7</a:t>
            </a:fld>
            <a:endParaRPr lang="zh-TW" altLang="en-US"/>
          </a:p>
        </p:txBody>
      </p:sp>
    </p:spTree>
    <p:extLst>
      <p:ext uri="{BB962C8B-B14F-4D97-AF65-F5344CB8AC3E}">
        <p14:creationId xmlns:p14="http://schemas.microsoft.com/office/powerpoint/2010/main" val="35145240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Features-HOG(1/2)</a:t>
            </a:r>
            <a:endParaRPr lang="zh-TW" altLang="en-US" dirty="0"/>
          </a:p>
        </p:txBody>
      </p:sp>
      <p:sp>
        <p:nvSpPr>
          <p:cNvPr id="3" name="內容版面配置區 2"/>
          <p:cNvSpPr>
            <a:spLocks noGrp="1"/>
          </p:cNvSpPr>
          <p:nvPr>
            <p:ph idx="1"/>
          </p:nvPr>
        </p:nvSpPr>
        <p:spPr/>
        <p:txBody>
          <a:bodyPr/>
          <a:lstStyle/>
          <a:p>
            <a:r>
              <a:rPr lang="zh-TW" altLang="en-US" sz="3000" dirty="0">
                <a:latin typeface="Cambria Math" pitchFamily="18" charset="0"/>
              </a:rPr>
              <a:t>目的：計算局部圖像梯度方向訊息的統計值。</a:t>
            </a:r>
            <a:endParaRPr lang="en-US" altLang="zh-TW" sz="3000" dirty="0">
              <a:latin typeface="Cambria Math" pitchFamily="18" charset="0"/>
            </a:endParaRPr>
          </a:p>
          <a:p>
            <a:r>
              <a:rPr lang="zh-TW" altLang="en-US" sz="3000" dirty="0">
                <a:latin typeface="Cambria Math" pitchFamily="18" charset="0"/>
              </a:rPr>
              <a:t>特點：</a:t>
            </a:r>
            <a:endParaRPr lang="en-US" altLang="zh-TW" sz="3000" dirty="0">
              <a:latin typeface="Cambria Math" pitchFamily="18" charset="0"/>
            </a:endParaRPr>
          </a:p>
          <a:p>
            <a:pPr marL="457200" indent="-457200">
              <a:buFont typeface="Arial" panose="020B0604020202020204" pitchFamily="34" charset="0"/>
              <a:buChar char="•"/>
            </a:pPr>
            <a:r>
              <a:rPr lang="zh-TW" altLang="en-US" sz="3000" dirty="0">
                <a:latin typeface="Cambria Math" pitchFamily="18" charset="0"/>
              </a:rPr>
              <a:t>對於圖像幾何和光學的形變都能保持良好的不變性。</a:t>
            </a:r>
            <a:endParaRPr lang="en-US" altLang="zh-TW" sz="3000" dirty="0">
              <a:latin typeface="Cambria Math" pitchFamily="18" charset="0"/>
            </a:endParaRPr>
          </a:p>
          <a:p>
            <a:pPr marL="457200" indent="-457200">
              <a:buFont typeface="Arial" panose="020B0604020202020204" pitchFamily="34" charset="0"/>
              <a:buChar char="•"/>
            </a:pPr>
            <a:r>
              <a:rPr lang="zh-TW" altLang="en-US" sz="3000" dirty="0">
                <a:latin typeface="Cambria Math" pitchFamily="18" charset="0"/>
              </a:rPr>
              <a:t>允許細微的動作。（例如：人保持站立時，手腳可以稍微伸展、彎曲，並不會影響到檢測的效果。）</a:t>
            </a:r>
          </a:p>
        </p:txBody>
      </p:sp>
      <p:grpSp>
        <p:nvGrpSpPr>
          <p:cNvPr id="5" name="群組 4"/>
          <p:cNvGrpSpPr/>
          <p:nvPr/>
        </p:nvGrpSpPr>
        <p:grpSpPr>
          <a:xfrm>
            <a:off x="2119266" y="5299838"/>
            <a:ext cx="5841106" cy="2095200"/>
            <a:chOff x="2165994" y="5311605"/>
            <a:chExt cx="5841106" cy="209520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5994" y="5311605"/>
              <a:ext cx="2793178" cy="20948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3500" y="5311605"/>
              <a:ext cx="2793600" cy="209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8</a:t>
            </a:fld>
            <a:endParaRPr lang="zh-TW" altLang="en-US"/>
          </a:p>
        </p:txBody>
      </p:sp>
    </p:spTree>
    <p:extLst>
      <p:ext uri="{BB962C8B-B14F-4D97-AF65-F5344CB8AC3E}">
        <p14:creationId xmlns:p14="http://schemas.microsoft.com/office/powerpoint/2010/main" val="6591301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Features-HOG(2/2)</a:t>
            </a:r>
            <a:endParaRPr lang="zh-TW" altLang="en-US" dirty="0"/>
          </a:p>
        </p:txBody>
      </p:sp>
      <p:sp>
        <p:nvSpPr>
          <p:cNvPr id="3" name="內容版面配置區 2"/>
          <p:cNvSpPr>
            <a:spLocks noGrp="1"/>
          </p:cNvSpPr>
          <p:nvPr>
            <p:ph idx="1"/>
          </p:nvPr>
        </p:nvSpPr>
        <p:spPr/>
        <p:txBody>
          <a:bodyPr/>
          <a:lstStyle/>
          <a:p>
            <a:r>
              <a:rPr lang="en-US" altLang="zh-TW" sz="3000" dirty="0">
                <a:latin typeface="Cambria Math" pitchFamily="18" charset="0"/>
                <a:ea typeface="Cambria Math" pitchFamily="18" charset="0"/>
              </a:rPr>
              <a:t>It captures the more global spatial distribution of the flower, such as the overall arrangement of petals.</a:t>
            </a:r>
            <a:endParaRPr lang="zh-TW" altLang="en-US" sz="3000" dirty="0">
              <a:latin typeface="Cambria Math"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9</a:t>
            </a:fld>
            <a:endParaRPr lang="zh-TW" altLang="en-US"/>
          </a:p>
        </p:txBody>
      </p:sp>
    </p:spTree>
    <p:extLst>
      <p:ext uri="{BB962C8B-B14F-4D97-AF65-F5344CB8AC3E}">
        <p14:creationId xmlns:p14="http://schemas.microsoft.com/office/powerpoint/2010/main" val="28432584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Classification</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sz="3000" dirty="0">
                    <a:latin typeface="Cambria Math" pitchFamily="18" charset="0"/>
                    <a:ea typeface="Cambria Math" pitchFamily="18" charset="0"/>
                  </a:rPr>
                  <a:t>Multiple kernels SVM:</a:t>
                </a:r>
              </a:p>
              <a:p>
                <a:r>
                  <a:rPr lang="en-US" altLang="zh-TW" sz="3000" dirty="0">
                    <a:latin typeface="Cambria Math" pitchFamily="18" charset="0"/>
                    <a:ea typeface="Cambria Math" pitchFamily="18" charset="0"/>
                  </a:rPr>
                  <a:t>A weighted linear combination of kernels is used, one kernel corresponding to each feature.</a:t>
                </a:r>
              </a:p>
              <a:p>
                <a:r>
                  <a:rPr lang="en-US" altLang="zh-TW" sz="3000" dirty="0">
                    <a:latin typeface="Cambria Math" pitchFamily="18" charset="0"/>
                    <a:ea typeface="Cambria Math" pitchFamily="18" charset="0"/>
                  </a:rPr>
                  <a:t>Final kernel:</a:t>
                </a:r>
              </a:p>
              <a:p>
                <a:pPr/>
                <a14:m>
                  <m:oMathPara xmlns:m="http://schemas.openxmlformats.org/officeDocument/2006/math">
                    <m:oMathParaPr>
                      <m:jc m:val="centerGroup"/>
                    </m:oMathParaPr>
                    <m:oMath xmlns:m="http://schemas.openxmlformats.org/officeDocument/2006/math">
                      <m:r>
                        <a:rPr lang="en-US" altLang="zh-TW" sz="3000" b="0" i="1" smtClean="0">
                          <a:latin typeface="Cambria Math"/>
                        </a:rPr>
                        <m:t>𝐾</m:t>
                      </m:r>
                      <m:d>
                        <m:dPr>
                          <m:ctrlPr>
                            <a:rPr lang="en-US" altLang="zh-TW" sz="3000" b="0" i="1" smtClean="0">
                              <a:latin typeface="Cambria Math" panose="02040503050406030204" pitchFamily="18" charset="0"/>
                            </a:rPr>
                          </m:ctrlPr>
                        </m:dPr>
                        <m:e>
                          <m:r>
                            <a:rPr lang="en-US" altLang="zh-TW" sz="3000" b="0" i="1" smtClean="0">
                              <a:latin typeface="Cambria Math"/>
                            </a:rPr>
                            <m:t>𝑖</m:t>
                          </m:r>
                          <m:r>
                            <a:rPr lang="en-US" altLang="zh-TW" sz="3000" b="0" i="1" smtClean="0">
                              <a:latin typeface="Cambria Math"/>
                            </a:rPr>
                            <m:t>, </m:t>
                          </m:r>
                          <m:r>
                            <a:rPr lang="en-US" altLang="zh-TW" sz="3000" b="0" i="1" smtClean="0">
                              <a:latin typeface="Cambria Math"/>
                            </a:rPr>
                            <m:t>𝑗</m:t>
                          </m:r>
                        </m:e>
                      </m:d>
                      <m:r>
                        <a:rPr lang="en-US" altLang="zh-TW" sz="3000" b="0" i="1" smtClean="0">
                          <a:latin typeface="Cambria Math"/>
                        </a:rPr>
                        <m:t>=</m:t>
                      </m:r>
                      <m:nary>
                        <m:naryPr>
                          <m:chr m:val="∑"/>
                          <m:supHide m:val="on"/>
                          <m:ctrlPr>
                            <a:rPr lang="en-US" altLang="zh-TW" sz="3000" b="0" i="1" smtClean="0">
                              <a:latin typeface="Cambria Math" panose="02040503050406030204" pitchFamily="18" charset="0"/>
                            </a:rPr>
                          </m:ctrlPr>
                        </m:naryPr>
                        <m:sub>
                          <m:r>
                            <m:rPr>
                              <m:brk m:alnAt="7"/>
                            </m:rPr>
                            <a:rPr lang="en-US" altLang="zh-TW" sz="3000" b="0" i="1" smtClean="0">
                              <a:latin typeface="Cambria Math"/>
                            </a:rPr>
                            <m:t>𝑓</m:t>
                          </m:r>
                          <m:r>
                            <a:rPr lang="en-US" altLang="zh-TW" sz="3000" b="0" i="1" smtClean="0">
                              <a:latin typeface="Cambria Math"/>
                              <a:ea typeface="Cambria Math"/>
                            </a:rPr>
                            <m:t>∈</m:t>
                          </m:r>
                          <m:r>
                            <a:rPr lang="en-US" altLang="zh-TW" sz="3000" b="0" i="1" smtClean="0">
                              <a:latin typeface="Cambria Math"/>
                              <a:ea typeface="Cambria Math"/>
                            </a:rPr>
                            <m:t>𝐹</m:t>
                          </m:r>
                        </m:sub>
                        <m:sup/>
                        <m:e>
                          <m:sSub>
                            <m:sSubPr>
                              <m:ctrlPr>
                                <a:rPr lang="en-US" altLang="zh-TW" sz="3000" b="0" i="1" smtClean="0">
                                  <a:latin typeface="Cambria Math" panose="02040503050406030204" pitchFamily="18" charset="0"/>
                                </a:rPr>
                              </m:ctrlPr>
                            </m:sSubPr>
                            <m:e>
                              <m:r>
                                <a:rPr lang="en-US" altLang="zh-TW" sz="3000" b="0" i="1" smtClean="0">
                                  <a:latin typeface="Cambria Math"/>
                                </a:rPr>
                                <m:t>𝐵</m:t>
                              </m:r>
                            </m:e>
                            <m:sub>
                              <m:r>
                                <a:rPr lang="en-US" altLang="zh-TW" sz="3000" b="0" i="1" smtClean="0">
                                  <a:latin typeface="Cambria Math"/>
                                </a:rPr>
                                <m:t>𝑓</m:t>
                              </m:r>
                            </m:sub>
                          </m:sSub>
                          <m:r>
                            <m:rPr>
                              <m:sty m:val="p"/>
                            </m:rPr>
                            <a:rPr lang="en-US" altLang="zh-TW" sz="3000" b="0" i="0" smtClean="0">
                              <a:latin typeface="Cambria Math"/>
                            </a:rPr>
                            <m:t>exp</m:t>
                          </m:r>
                          <m:r>
                            <a:rPr lang="en-US" altLang="zh-TW" sz="3000" b="0" i="1" smtClean="0">
                              <a:latin typeface="Cambria Math"/>
                            </a:rPr>
                            <m:t>⁡(−</m:t>
                          </m:r>
                          <m:sSub>
                            <m:sSubPr>
                              <m:ctrlPr>
                                <a:rPr lang="en-US" altLang="zh-TW" sz="3000" b="0" i="1" smtClean="0">
                                  <a:latin typeface="Cambria Math" panose="02040503050406030204" pitchFamily="18" charset="0"/>
                                </a:rPr>
                              </m:ctrlPr>
                            </m:sSubPr>
                            <m:e>
                              <m:r>
                                <a:rPr lang="en-US" altLang="zh-TW" sz="3000" b="0" i="1" smtClean="0">
                                  <a:latin typeface="Cambria Math"/>
                                </a:rPr>
                                <m:t>𝑢</m:t>
                              </m:r>
                            </m:e>
                            <m:sub>
                              <m:r>
                                <a:rPr lang="en-US" altLang="zh-TW" sz="3000" b="0" i="1" smtClean="0">
                                  <a:latin typeface="Cambria Math"/>
                                </a:rPr>
                                <m:t>𝑓</m:t>
                              </m:r>
                            </m:sub>
                          </m:sSub>
                          <m:sSubSup>
                            <m:sSubSupPr>
                              <m:ctrlPr>
                                <a:rPr lang="en-US" altLang="zh-TW" sz="3000" b="0" i="1" smtClean="0">
                                  <a:latin typeface="Cambria Math" panose="02040503050406030204" pitchFamily="18" charset="0"/>
                                </a:rPr>
                              </m:ctrlPr>
                            </m:sSubSupPr>
                            <m:e>
                              <m:r>
                                <a:rPr lang="en-US" altLang="zh-TW" sz="3000" b="0" i="1" smtClean="0">
                                  <a:latin typeface="Cambria Math"/>
                                </a:rPr>
                                <m:t>𝑋</m:t>
                              </m:r>
                            </m:e>
                            <m:sub>
                              <m:r>
                                <a:rPr lang="en-US" altLang="zh-TW" sz="3000" b="0" i="1" smtClean="0">
                                  <a:latin typeface="Cambria Math"/>
                                </a:rPr>
                                <m:t>𝑓</m:t>
                              </m:r>
                            </m:sub>
                            <m:sup>
                              <m:r>
                                <a:rPr lang="en-US" altLang="zh-TW" sz="3000" b="0" i="1" smtClean="0">
                                  <a:latin typeface="Cambria Math"/>
                                </a:rPr>
                                <m:t>2</m:t>
                              </m:r>
                            </m:sup>
                          </m:sSubSup>
                          <m:d>
                            <m:dPr>
                              <m:ctrlPr>
                                <a:rPr lang="en-US" altLang="zh-TW" sz="3000" b="0" i="1" smtClean="0">
                                  <a:latin typeface="Cambria Math" panose="02040503050406030204" pitchFamily="18" charset="0"/>
                                </a:rPr>
                              </m:ctrlPr>
                            </m:dPr>
                            <m:e>
                              <m:sSub>
                                <m:sSubPr>
                                  <m:ctrlPr>
                                    <a:rPr lang="en-US" altLang="zh-TW" sz="3000" b="0" i="1" smtClean="0">
                                      <a:latin typeface="Cambria Math" panose="02040503050406030204" pitchFamily="18" charset="0"/>
                                    </a:rPr>
                                  </m:ctrlPr>
                                </m:sSubPr>
                                <m:e>
                                  <m:r>
                                    <a:rPr lang="en-US" altLang="zh-TW" sz="3000" b="0" i="1" smtClean="0">
                                      <a:latin typeface="Cambria Math"/>
                                    </a:rPr>
                                    <m:t>𝑥</m:t>
                                  </m:r>
                                </m:e>
                                <m:sub>
                                  <m:r>
                                    <a:rPr lang="en-US" altLang="zh-TW" sz="3000" b="0" i="1" smtClean="0">
                                      <a:latin typeface="Cambria Math"/>
                                    </a:rPr>
                                    <m:t>𝑓</m:t>
                                  </m:r>
                                </m:sub>
                              </m:sSub>
                              <m:d>
                                <m:dPr>
                                  <m:ctrlPr>
                                    <a:rPr lang="en-US" altLang="zh-TW" sz="3000" b="0" i="1" smtClean="0">
                                      <a:latin typeface="Cambria Math" panose="02040503050406030204" pitchFamily="18" charset="0"/>
                                    </a:rPr>
                                  </m:ctrlPr>
                                </m:dPr>
                                <m:e>
                                  <m:r>
                                    <a:rPr lang="en-US" altLang="zh-TW" sz="3000" b="0" i="1" smtClean="0">
                                      <a:latin typeface="Cambria Math"/>
                                    </a:rPr>
                                    <m:t>𝑖</m:t>
                                  </m:r>
                                </m:e>
                              </m:d>
                              <m:r>
                                <a:rPr lang="en-US" altLang="zh-TW" sz="3000" b="0" i="1" smtClean="0">
                                  <a:latin typeface="Cambria Math"/>
                                </a:rPr>
                                <m:t>, </m:t>
                              </m:r>
                              <m:sSub>
                                <m:sSubPr>
                                  <m:ctrlPr>
                                    <a:rPr lang="en-US" altLang="zh-TW" sz="3000" b="0" i="1" smtClean="0">
                                      <a:latin typeface="Cambria Math" panose="02040503050406030204" pitchFamily="18" charset="0"/>
                                    </a:rPr>
                                  </m:ctrlPr>
                                </m:sSubPr>
                                <m:e>
                                  <m:r>
                                    <a:rPr lang="en-US" altLang="zh-TW" sz="3000" b="0" i="1" smtClean="0">
                                      <a:latin typeface="Cambria Math"/>
                                    </a:rPr>
                                    <m:t>𝑥</m:t>
                                  </m:r>
                                </m:e>
                                <m:sub>
                                  <m:r>
                                    <a:rPr lang="en-US" altLang="zh-TW" sz="3000" b="0" i="1" smtClean="0">
                                      <a:latin typeface="Cambria Math"/>
                                    </a:rPr>
                                    <m:t>𝑓</m:t>
                                  </m:r>
                                </m:sub>
                              </m:sSub>
                              <m:d>
                                <m:dPr>
                                  <m:ctrlPr>
                                    <a:rPr lang="en-US" altLang="zh-TW" sz="3000" b="0" i="1" smtClean="0">
                                      <a:latin typeface="Cambria Math" panose="02040503050406030204" pitchFamily="18" charset="0"/>
                                    </a:rPr>
                                  </m:ctrlPr>
                                </m:dPr>
                                <m:e>
                                  <m:r>
                                    <a:rPr lang="en-US" altLang="zh-TW" sz="3000" b="0" i="1" smtClean="0">
                                      <a:latin typeface="Cambria Math"/>
                                    </a:rPr>
                                    <m:t>𝑗</m:t>
                                  </m:r>
                                </m:e>
                              </m:d>
                            </m:e>
                          </m:d>
                          <m:r>
                            <a:rPr lang="en-US" altLang="zh-TW" sz="3000" b="0" i="1" smtClean="0">
                              <a:latin typeface="Cambria Math"/>
                            </a:rPr>
                            <m:t>)</m:t>
                          </m:r>
                        </m:e>
                      </m:nary>
                    </m:oMath>
                  </m:oMathPara>
                </a14:m>
                <a:endParaRPr lang="en-US" altLang="zh-TW" sz="3000" dirty="0">
                  <a:latin typeface="Cambria Math"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2"/>
                <a:stretch>
                  <a:fillRect l="-2621" t="-2782"/>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10</a:t>
            </a:fld>
            <a:endParaRPr lang="zh-TW" altLang="en-US"/>
          </a:p>
        </p:txBody>
      </p:sp>
    </p:spTree>
    <p:extLst>
      <p:ext uri="{BB962C8B-B14F-4D97-AF65-F5344CB8AC3E}">
        <p14:creationId xmlns:p14="http://schemas.microsoft.com/office/powerpoint/2010/main" val="9740836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320" y="1390102"/>
            <a:ext cx="8895287" cy="60375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r>
              <a:rPr lang="en-US" altLang="zh-TW" dirty="0">
                <a:latin typeface="Ebrima" panose="02000000000000000000" pitchFamily="2" charset="0"/>
                <a:ea typeface="Ebrima" panose="02000000000000000000" pitchFamily="2" charset="0"/>
                <a:cs typeface="Ebrima" panose="02000000000000000000" pitchFamily="2" charset="0"/>
              </a:rPr>
              <a:t>Result</a:t>
            </a:r>
            <a:endParaRPr lang="zh-TW" altLang="en-US" dirty="0"/>
          </a:p>
        </p:txBody>
      </p:sp>
      <p:sp>
        <p:nvSpPr>
          <p:cNvPr id="4" name="矩形 3"/>
          <p:cNvSpPr/>
          <p:nvPr/>
        </p:nvSpPr>
        <p:spPr>
          <a:xfrm>
            <a:off x="756744" y="6921064"/>
            <a:ext cx="7756634" cy="378373"/>
          </a:xfrm>
          <a:prstGeom prst="rect">
            <a:avLst/>
          </a:prstGeom>
          <a:noFill/>
          <a:ln w="635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sz="quarter" idx="8"/>
          </p:nvPr>
        </p:nvSpPr>
        <p:spPr/>
        <p:txBody>
          <a:bodyPr/>
          <a:lstStyle/>
          <a:p>
            <a:pPr lvl="0"/>
            <a:fld id="{68842836-F473-4F88-8FC5-E6506225DA8A}" type="slidenum">
              <a:rPr lang="en-US" altLang="zh-TW" smtClean="0"/>
              <a:t>11</a:t>
            </a:fld>
            <a:endParaRPr lang="zh-TW" altLang="en-US"/>
          </a:p>
        </p:txBody>
      </p:sp>
    </p:spTree>
    <p:extLst>
      <p:ext uri="{BB962C8B-B14F-4D97-AF65-F5344CB8AC3E}">
        <p14:creationId xmlns:p14="http://schemas.microsoft.com/office/powerpoint/2010/main" val="2182606030"/>
      </p:ext>
    </p:extLst>
  </p:cSld>
  <p:clrMapOvr>
    <a:masterClrMapping/>
  </p:clrMapOvr>
  <p:timing>
    <p:tnLst>
      <p:par>
        <p:cTn id="1" dur="indefinite" restart="never" nodeType="tmRoot"/>
      </p:par>
    </p:tnLst>
  </p:timing>
</p:sld>
</file>

<file path=ppt/theme/theme1.xml><?xml version="1.0" encoding="utf-8"?>
<a:theme xmlns:a="http://schemas.openxmlformats.org/drawingml/2006/main" name="預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9806</TotalTime>
  <Words>476</Words>
  <Application>Microsoft Office PowerPoint</Application>
  <PresentationFormat>自訂</PresentationFormat>
  <Paragraphs>46</Paragraphs>
  <Slides>11</Slides>
  <Notes>1</Notes>
  <HiddenSlides>0</HiddenSlides>
  <MMClips>0</MMClips>
  <ScaleCrop>false</ScaleCrop>
  <HeadingPairs>
    <vt:vector size="6" baseType="variant">
      <vt:variant>
        <vt:lpstr>使用字型</vt:lpstr>
      </vt:variant>
      <vt:variant>
        <vt:i4>12</vt:i4>
      </vt:variant>
      <vt:variant>
        <vt:lpstr>佈景主題</vt:lpstr>
      </vt:variant>
      <vt:variant>
        <vt:i4>1</vt:i4>
      </vt:variant>
      <vt:variant>
        <vt:lpstr>投影片標題</vt:lpstr>
      </vt:variant>
      <vt:variant>
        <vt:i4>11</vt:i4>
      </vt:variant>
    </vt:vector>
  </HeadingPairs>
  <TitlesOfParts>
    <vt:vector size="24" baseType="lpstr">
      <vt:lpstr>Liberation Sans</vt:lpstr>
      <vt:lpstr>Liberation Sans Narrow</vt:lpstr>
      <vt:lpstr>Liberation Serif</vt:lpstr>
      <vt:lpstr>Sitka Subheading</vt:lpstr>
      <vt:lpstr>微軟正黑體</vt:lpstr>
      <vt:lpstr>新細明體</vt:lpstr>
      <vt:lpstr>Arial</vt:lpstr>
      <vt:lpstr>Calibri</vt:lpstr>
      <vt:lpstr>Cambria Math</vt:lpstr>
      <vt:lpstr>Ebrima</vt:lpstr>
      <vt:lpstr>Mangal</vt:lpstr>
      <vt:lpstr>Tahoma</vt:lpstr>
      <vt:lpstr>預設</vt:lpstr>
      <vt:lpstr>Maria-Elena Nilsback and Andrew Zisserman Proceedings of the IEEE Conference on Computer Vision and Pattern Recognition, 2006</vt:lpstr>
      <vt:lpstr>Abstract(1/2)</vt:lpstr>
      <vt:lpstr>Abstract(2/2)</vt:lpstr>
      <vt:lpstr>Segmentation</vt:lpstr>
      <vt:lpstr>Features-Colour</vt:lpstr>
      <vt:lpstr>Features-SIFT(1/2)</vt:lpstr>
      <vt:lpstr>Features-SIFT(2/2)</vt:lpstr>
      <vt:lpstr>Features-HOG(1/2)</vt:lpstr>
      <vt:lpstr>Features-HOG(2/2)</vt:lpstr>
      <vt:lpstr>Classification</vt:lpstr>
      <vt:lpstr>Result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Communications of the ACM June 1975 Volume 18 Number 6 D.S. Hirschberg Princeton University</dc:title>
  <dc:creator>Shecil</dc:creator>
  <cp:lastModifiedBy>pplab-class</cp:lastModifiedBy>
  <cp:revision>147</cp:revision>
  <dcterms:created xsi:type="dcterms:W3CDTF">2015-10-08T13:19:19Z</dcterms:created>
  <dcterms:modified xsi:type="dcterms:W3CDTF">2016-09-06T08:46:58Z</dcterms:modified>
</cp:coreProperties>
</file>