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7" r:id="rId2"/>
    <p:sldId id="258" r:id="rId3"/>
    <p:sldId id="276" r:id="rId4"/>
    <p:sldId id="260" r:id="rId5"/>
    <p:sldId id="273" r:id="rId6"/>
    <p:sldId id="274" r:id="rId7"/>
    <p:sldId id="275" r:id="rId8"/>
    <p:sldId id="261" r:id="rId9"/>
    <p:sldId id="262" r:id="rId10"/>
    <p:sldId id="264" r:id="rId11"/>
    <p:sldId id="269" r:id="rId12"/>
    <p:sldId id="259" r:id="rId13"/>
    <p:sldId id="263" r:id="rId14"/>
    <p:sldId id="271" r:id="rId15"/>
    <p:sldId id="272" r:id="rId16"/>
    <p:sldId id="265" r:id="rId17"/>
    <p:sldId id="266" r:id="rId18"/>
    <p:sldId id="267" r:id="rId19"/>
    <p:sldId id="268" r:id="rId20"/>
    <p:sldId id="270" r:id="rId2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中等深淺樣式 3 - 輔色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中等深淺樣式 3 - 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69" autoAdjust="0"/>
    <p:restoredTop sz="94660"/>
  </p:normalViewPr>
  <p:slideViewPr>
    <p:cSldViewPr snapToGrid="0">
      <p:cViewPr varScale="1">
        <p:scale>
          <a:sx n="79" d="100"/>
          <a:sy n="79" d="100"/>
        </p:scale>
        <p:origin x="126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2716F5-4889-444D-A115-324C6BA44605}" type="datetimeFigureOut">
              <a:rPr lang="zh-TW" altLang="en-US" smtClean="0"/>
              <a:t>2016/11/8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3AA4CC-4197-4A4E-8190-C63859CFF0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0526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algn="r" hangingPunct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44E8A48-0BB3-4429-A23E-981E055DBE4D}" type="slidenum">
              <a:rPr kern="0">
                <a:solidFill>
                  <a:srgbClr val="000000"/>
                </a:solidFill>
              </a:rPr>
              <a:pPr algn="r" hangingPunct="0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</a:t>
            </a:fld>
            <a:endParaRPr lang="en-US" sz="1400">
              <a:solidFill>
                <a:srgbClr val="000000"/>
              </a:solidFill>
              <a:latin typeface="Liberation Serif" pitchFamily="18"/>
              <a:ea typeface="新細明體" pitchFamily="2"/>
              <a:cs typeface="Tahoma" pitchFamily="2"/>
            </a:endParaRPr>
          </a:p>
        </p:txBody>
      </p:sp>
      <p:sp>
        <p:nvSpPr>
          <p:cNvPr id="3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3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備忘稿版面配置區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3625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08494-D09C-4163-A279-DEAA5259EAB0}" type="datetimeFigureOut">
              <a:rPr lang="zh-TW" altLang="en-US" smtClean="0"/>
              <a:t>2016/11/8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8FCA5-C013-469D-96FD-8C7519FAE6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5697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08494-D09C-4163-A279-DEAA5259EAB0}" type="datetimeFigureOut">
              <a:rPr lang="zh-TW" altLang="en-US" smtClean="0"/>
              <a:t>2016/11/8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8FCA5-C013-469D-96FD-8C7519FAE6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0952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08494-D09C-4163-A279-DEAA5259EAB0}" type="datetimeFigureOut">
              <a:rPr lang="zh-TW" altLang="en-US" smtClean="0"/>
              <a:t>2016/11/8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8FCA5-C013-469D-96FD-8C7519FAE6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3079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08494-D09C-4163-A279-DEAA5259EAB0}" type="datetimeFigureOut">
              <a:rPr lang="zh-TW" altLang="en-US" smtClean="0"/>
              <a:t>2016/11/8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8FCA5-C013-469D-96FD-8C7519FAE6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2347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08494-D09C-4163-A279-DEAA5259EAB0}" type="datetimeFigureOut">
              <a:rPr lang="zh-TW" altLang="en-US" smtClean="0"/>
              <a:t>2016/11/8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8FCA5-C013-469D-96FD-8C7519FAE6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1711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08494-D09C-4163-A279-DEAA5259EAB0}" type="datetimeFigureOut">
              <a:rPr lang="zh-TW" altLang="en-US" smtClean="0"/>
              <a:t>2016/11/8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8FCA5-C013-469D-96FD-8C7519FAE6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8068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08494-D09C-4163-A279-DEAA5259EAB0}" type="datetimeFigureOut">
              <a:rPr lang="zh-TW" altLang="en-US" smtClean="0"/>
              <a:t>2016/11/8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8FCA5-C013-469D-96FD-8C7519FAE6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5028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08494-D09C-4163-A279-DEAA5259EAB0}" type="datetimeFigureOut">
              <a:rPr lang="zh-TW" altLang="en-US" smtClean="0"/>
              <a:t>2016/11/8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8FCA5-C013-469D-96FD-8C7519FAE6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557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08494-D09C-4163-A279-DEAA5259EAB0}" type="datetimeFigureOut">
              <a:rPr lang="zh-TW" altLang="en-US" smtClean="0"/>
              <a:t>2016/11/8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8FCA5-C013-469D-96FD-8C7519FAE6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8242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08494-D09C-4163-A279-DEAA5259EAB0}" type="datetimeFigureOut">
              <a:rPr lang="zh-TW" altLang="en-US" smtClean="0"/>
              <a:t>2016/11/8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8FCA5-C013-469D-96FD-8C7519FAE6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9339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08494-D09C-4163-A279-DEAA5259EAB0}" type="datetimeFigureOut">
              <a:rPr lang="zh-TW" altLang="en-US" smtClean="0"/>
              <a:t>2016/11/8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8FCA5-C013-469D-96FD-8C7519FAE6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1063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308494-D09C-4163-A279-DEAA5259EAB0}" type="datetimeFigureOut">
              <a:rPr lang="zh-TW" altLang="en-US" smtClean="0"/>
              <a:t>2016/11/8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8FCA5-C013-469D-96FD-8C7519FAE6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5630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0.png"/><Relationship Id="rId7" Type="http://schemas.openxmlformats.org/officeDocument/2006/relationships/image" Target="../media/image12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0.png"/><Relationship Id="rId4" Type="http://schemas.openxmlformats.org/officeDocument/2006/relationships/image" Target="../media/image90.png"/><Relationship Id="rId9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80.png"/><Relationship Id="rId7" Type="http://schemas.openxmlformats.org/officeDocument/2006/relationships/image" Target="../media/image39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 idx="4294967295"/>
          </p:nvPr>
        </p:nvSpPr>
        <p:spPr>
          <a:xfrm>
            <a:off x="813731" y="3504673"/>
            <a:ext cx="10407644" cy="1109919"/>
          </a:xfrm>
        </p:spPr>
        <p:txBody>
          <a:bodyPr wrap="square">
            <a:spAutoFit/>
          </a:bodyPr>
          <a:lstStyle/>
          <a:p>
            <a:pPr lvl="0" algn="ctr"/>
            <a:r>
              <a:rPr lang="en-US" altLang="zh-TW" sz="2449" b="1" dirty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新細明體" pitchFamily="2"/>
                <a:cs typeface="Mangal" pitchFamily="2"/>
              </a:rPr>
              <a:t>In AAAI-98 Workshop on Learning for Text Categorization, pp. 41–48,</a:t>
            </a:r>
            <a:r>
              <a:rPr lang="en-US" sz="2449" b="1" dirty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新細明體" pitchFamily="2"/>
                <a:cs typeface="Mangal" pitchFamily="2"/>
              </a:rPr>
              <a:t/>
            </a:r>
            <a:br>
              <a:rPr lang="en-US" sz="2449" b="1" dirty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新細明體" pitchFamily="2"/>
                <a:cs typeface="Mangal" pitchFamily="2"/>
              </a:rPr>
            </a:br>
            <a:r>
              <a:rPr lang="en-US" altLang="zh-TW" sz="2449" b="1" dirty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新細明體" pitchFamily="2"/>
                <a:cs typeface="Mangal" pitchFamily="2"/>
              </a:rPr>
              <a:t>A. McCallum and K. Nigam.(1998) </a:t>
            </a:r>
            <a:r>
              <a:rPr lang="en-US" altLang="zh-TW" sz="2449" b="1" dirty="0">
                <a:solidFill>
                  <a:srgbClr val="898989"/>
                </a:solidFill>
                <a:latin typeface="Liberation Sans Narrow" pitchFamily="34"/>
                <a:ea typeface="新細明體" pitchFamily="2"/>
              </a:rPr>
              <a:t/>
            </a:r>
            <a:br>
              <a:rPr lang="en-US" altLang="zh-TW" sz="2449" b="1" dirty="0">
                <a:solidFill>
                  <a:srgbClr val="898989"/>
                </a:solidFill>
                <a:latin typeface="Liberation Sans Narrow" pitchFamily="34"/>
                <a:ea typeface="新細明體" pitchFamily="2"/>
              </a:rPr>
            </a:br>
            <a:endParaRPr lang="en-US" sz="2449" b="1" dirty="0">
              <a:solidFill>
                <a:srgbClr val="898989"/>
              </a:solidFill>
              <a:latin typeface="Liberation Sans Narrow" pitchFamily="34"/>
              <a:ea typeface="新細明體" pitchFamily="2"/>
            </a:endParaRPr>
          </a:p>
        </p:txBody>
      </p:sp>
      <p:sp>
        <p:nvSpPr>
          <p:cNvPr id="3" name="文字版面配置區 2"/>
          <p:cNvSpPr txBox="1">
            <a:spLocks noGrp="1"/>
          </p:cNvSpPr>
          <p:nvPr>
            <p:ph type="body" idx="4294967295"/>
          </p:nvPr>
        </p:nvSpPr>
        <p:spPr>
          <a:xfrm>
            <a:off x="395416" y="849121"/>
            <a:ext cx="11582399" cy="1897136"/>
          </a:xfrm>
        </p:spPr>
        <p:txBody>
          <a:bodyPr anchorCtr="1">
            <a:normAutofit/>
          </a:bodyPr>
          <a:lstStyle/>
          <a:p>
            <a:pPr marL="0" lvl="0" indent="0" algn="ctr">
              <a:buNone/>
            </a:pPr>
            <a:r>
              <a:rPr lang="en-US" sz="4800" dirty="0"/>
              <a:t>A Comparison of Event Models for Naïve Bayes Text Classification</a:t>
            </a:r>
            <a:endParaRPr lang="en-US" sz="4800" b="1" dirty="0"/>
          </a:p>
        </p:txBody>
      </p:sp>
      <p:sp>
        <p:nvSpPr>
          <p:cNvPr id="4" name="文字版面配置區 3"/>
          <p:cNvSpPr txBox="1">
            <a:spLocks noGrp="1"/>
          </p:cNvSpPr>
          <p:nvPr>
            <p:ph type="body" idx="4294967295"/>
          </p:nvPr>
        </p:nvSpPr>
        <p:spPr>
          <a:xfrm>
            <a:off x="2162522" y="4515041"/>
            <a:ext cx="8229630" cy="1897136"/>
          </a:xfrm>
        </p:spPr>
        <p:txBody>
          <a:bodyPr>
            <a:normAutofit lnSpcReduction="10000"/>
          </a:bodyPr>
          <a:lstStyle/>
          <a:p>
            <a:pPr lvl="1" algn="r" hangingPunct="0">
              <a:spcBef>
                <a:spcPts val="1284"/>
              </a:spcBef>
              <a:buNone/>
            </a:pPr>
            <a:endParaRPr lang="en-US" sz="2903" dirty="0">
              <a:highlight>
                <a:scrgbClr r="0" g="0" b="0">
                  <a:alpha val="0"/>
                </a:scrgbClr>
              </a:highlight>
              <a:latin typeface="Liberation Sans" pitchFamily="18"/>
              <a:ea typeface="微軟正黑體" pitchFamily="2"/>
              <a:cs typeface="Mangal" pitchFamily="2"/>
            </a:endParaRPr>
          </a:p>
          <a:p>
            <a:pPr lvl="1" algn="r" hangingPunct="0">
              <a:spcBef>
                <a:spcPts val="1284"/>
              </a:spcBef>
              <a:buNone/>
            </a:pPr>
            <a:endParaRPr lang="en-US" sz="2903" dirty="0">
              <a:highlight>
                <a:scrgbClr r="0" g="0" b="0">
                  <a:alpha val="0"/>
                </a:scrgbClr>
              </a:highlight>
              <a:latin typeface="Liberation Sans" pitchFamily="18"/>
              <a:ea typeface="微軟正黑體" pitchFamily="2"/>
              <a:cs typeface="Mangal" pitchFamily="2"/>
            </a:endParaRPr>
          </a:p>
          <a:p>
            <a:pPr lvl="1" algn="r" hangingPunct="0">
              <a:spcBef>
                <a:spcPts val="1284"/>
              </a:spcBef>
              <a:buNone/>
            </a:pP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Presenter</a:t>
            </a:r>
            <a:r>
              <a:rPr lang="zh-TW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：</a:t>
            </a:r>
            <a:r>
              <a:rPr lang="en-US" dirty="0" err="1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Jyun-Hao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 Lai</a:t>
            </a:r>
          </a:p>
          <a:p>
            <a:pPr lvl="1" algn="r" hangingPunct="0">
              <a:spcBef>
                <a:spcPts val="1284"/>
              </a:spcBef>
              <a:buNone/>
            </a:pP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Date</a:t>
            </a:r>
            <a:r>
              <a:rPr lang="zh-TW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：</a:t>
            </a:r>
            <a:r>
              <a:rPr lang="en-US" altLang="zh-TW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2016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 / </a:t>
            </a:r>
            <a:r>
              <a:rPr lang="en-US" altLang="zh-TW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11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 / </a:t>
            </a:r>
            <a:r>
              <a:rPr lang="en-US" altLang="zh-TW" dirty="0" smtClean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0</a:t>
            </a:r>
            <a:r>
              <a:rPr lang="en-US" altLang="zh-TW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8</a:t>
            </a:r>
            <a:endParaRPr lang="en-US" dirty="0">
              <a:highlight>
                <a:scrgbClr r="0" g="0" b="0">
                  <a:alpha val="0"/>
                </a:scrgbClr>
              </a:highlight>
              <a:latin typeface="Liberation Sans Narrow" pitchFamily="34"/>
              <a:ea typeface="微軟正黑體" pitchFamily="34"/>
              <a:cs typeface="Mang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77494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6719" y="9519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sz="4600" b="1" dirty="0"/>
              <a:t>Abstract</a:t>
            </a:r>
            <a:endParaRPr lang="zh-TW" altLang="en-US" sz="4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84085" y="1228166"/>
            <a:ext cx="11620869" cy="535906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TW" sz="3200" dirty="0"/>
              <a:t>Recent approaches to text classification have used two different first-order probabilistic models for classification, both of which make the naive Bayes assumption. Some use a multi-variate Bernoulli model, that is, a Bayesian Network with no dependencies between words and binary word features.</a:t>
            </a:r>
            <a:r>
              <a:rPr lang="zh-TW" altLang="en-US" sz="3200" dirty="0"/>
              <a:t> </a:t>
            </a:r>
            <a:r>
              <a:rPr lang="en-US" altLang="zh-TW" sz="3200" dirty="0"/>
              <a:t>Others use a multinomial model, that is, a </a:t>
            </a:r>
            <a:r>
              <a:rPr lang="en-US" altLang="zh-TW" sz="3200" dirty="0" err="1"/>
              <a:t>uni</a:t>
            </a:r>
            <a:r>
              <a:rPr lang="en-US" altLang="zh-TW" sz="3200" dirty="0"/>
              <a:t>-gram language model with integer word counts.</a:t>
            </a:r>
            <a:r>
              <a:rPr lang="zh-TW" altLang="en-US" sz="3200" dirty="0"/>
              <a:t> </a:t>
            </a:r>
            <a:r>
              <a:rPr lang="en-US" altLang="zh-TW" sz="3200" dirty="0"/>
              <a:t>This paper aims to clarify the confusion by describing the differences and details of these two models, and by empirically comparing their classification</a:t>
            </a:r>
            <a:r>
              <a:rPr lang="zh-TW" altLang="en-US" sz="3200" dirty="0"/>
              <a:t> </a:t>
            </a:r>
            <a:r>
              <a:rPr lang="en-US" altLang="zh-TW" sz="3200" dirty="0"/>
              <a:t>performance on five text corpora. We find that the multi-variate Bernoulli performs well with small vocabulary sizes, but that the multinomial performs usually performs even better at larger vocabulary sizes—providing on average a 27% reduction in error over the multi-variate Bernoulli model at any vocabulary size.</a:t>
            </a:r>
            <a:endParaRPr lang="zh-TW" altLang="en-US" sz="3200" dirty="0"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911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48575" y="329615"/>
            <a:ext cx="10515600" cy="1234010"/>
          </a:xfrm>
        </p:spPr>
        <p:txBody>
          <a:bodyPr/>
          <a:lstStyle/>
          <a:p>
            <a:r>
              <a:rPr lang="en-US" altLang="zh-TW" b="1" dirty="0"/>
              <a:t>Vector space model, VSM</a:t>
            </a:r>
            <a:endParaRPr lang="zh-TW" altLang="en-US" b="1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641" y="1369445"/>
            <a:ext cx="8340571" cy="5380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189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48575" y="329615"/>
            <a:ext cx="10515600" cy="1234010"/>
          </a:xfrm>
        </p:spPr>
        <p:txBody>
          <a:bodyPr/>
          <a:lstStyle/>
          <a:p>
            <a:r>
              <a:rPr lang="en-US" altLang="zh-TW" b="1" dirty="0"/>
              <a:t>Vector space model, VSM</a:t>
            </a:r>
            <a:endParaRPr lang="zh-TW" altLang="en-US" b="1" dirty="0"/>
          </a:p>
        </p:txBody>
      </p:sp>
      <p:sp>
        <p:nvSpPr>
          <p:cNvPr id="5" name="文字方塊 4"/>
          <p:cNvSpPr txBox="1"/>
          <p:nvPr/>
        </p:nvSpPr>
        <p:spPr>
          <a:xfrm>
            <a:off x="1246627" y="3127189"/>
            <a:ext cx="100800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例如，如果詞表是：</a:t>
            </a:r>
            <a:r>
              <a:rPr lang="en-US" altLang="zh-CN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{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提升，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CPE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，大學，程式，能力，檢定</a:t>
            </a:r>
            <a:r>
              <a:rPr lang="en-US" altLang="zh-CN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}</a:t>
            </a:r>
            <a:endParaRPr lang="zh-TW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2862363" y="5608414"/>
                <a:ext cx="11995101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28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該文章的特徵向量是 </a:t>
                </a:r>
                <a:r>
                  <a:rPr lang="en-US" altLang="zh-CN" sz="28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: </a:t>
                </a:r>
                <a14:m>
                  <m:oMath xmlns:m="http://schemas.openxmlformats.org/officeDocument/2006/math">
                    <m:r>
                      <a:rPr lang="zh-TW" altLang="en-US" sz="2800" i="1">
                        <a:latin typeface="Cambria Math" panose="02040503050406030204" pitchFamily="18" charset="0"/>
                        <a:ea typeface="微軟正黑體" panose="020B0604030504040204" pitchFamily="34" charset="-120"/>
                      </a:rPr>
                      <m:t>𝜐</m:t>
                    </m:r>
                    <m:r>
                      <a:rPr lang="en-US" altLang="zh-TW" sz="2800" i="1">
                        <a:latin typeface="Cambria Math" panose="02040503050406030204" pitchFamily="18" charset="0"/>
                        <a:ea typeface="微軟正黑體" panose="020B0604030504040204" pitchFamily="34" charset="-120"/>
                      </a:rPr>
                      <m:t>=(0,1,0,1,1,1)</m:t>
                    </m:r>
                  </m:oMath>
                </a14:m>
                <a:endParaRPr lang="zh-TW" altLang="en-US" sz="28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endParaRPr lang="zh-TW" altLang="en-US" sz="2800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2363" y="5608414"/>
                <a:ext cx="11995101" cy="954107"/>
              </a:xfrm>
              <a:prstGeom prst="rect">
                <a:avLst/>
              </a:prstGeom>
              <a:blipFill>
                <a:blip r:embed="rId2"/>
                <a:stretch>
                  <a:fillRect l="-1068" t="-57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字方塊 7"/>
          <p:cNvSpPr txBox="1"/>
          <p:nvPr/>
        </p:nvSpPr>
        <p:spPr>
          <a:xfrm>
            <a:off x="4873843" y="4496114"/>
            <a:ext cx="3860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「</a:t>
            </a:r>
            <a:r>
              <a:rPr lang="zh-TW" altLang="en-US" sz="20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是敵是友</a:t>
            </a:r>
            <a:r>
              <a:rPr lang="en-US" altLang="zh-TW" sz="20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?CPE</a:t>
            </a:r>
            <a:r>
              <a:rPr lang="zh-TW" altLang="en-US" sz="20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程式能力檢定</a:t>
            </a:r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」</a:t>
            </a:r>
            <a:endParaRPr lang="zh-TW" altLang="en-US" sz="2000" dirty="0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280" y="3938130"/>
            <a:ext cx="1382563" cy="1382563"/>
          </a:xfrm>
          <a:prstGeom prst="rect">
            <a:avLst/>
          </a:prstGeom>
        </p:spPr>
      </p:pic>
      <p:sp>
        <p:nvSpPr>
          <p:cNvPr id="11" name="文字方塊 10"/>
          <p:cNvSpPr txBox="1"/>
          <p:nvPr/>
        </p:nvSpPr>
        <p:spPr>
          <a:xfrm>
            <a:off x="294692" y="1563625"/>
            <a:ext cx="52116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向量模式將文件表達成一組向量</a:t>
            </a:r>
          </a:p>
        </p:txBody>
      </p:sp>
    </p:spTree>
    <p:extLst>
      <p:ext uri="{BB962C8B-B14F-4D97-AF65-F5344CB8AC3E}">
        <p14:creationId xmlns:p14="http://schemas.microsoft.com/office/powerpoint/2010/main" val="2291156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70030" y="196633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b="1" dirty="0"/>
              <a:t>Bayes' theorem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70030" y="1522196"/>
            <a:ext cx="10515600" cy="606857"/>
          </a:xfrm>
        </p:spPr>
        <p:txBody>
          <a:bodyPr/>
          <a:lstStyle/>
          <a:p>
            <a:pPr marL="0" indent="0">
              <a:buNone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一切都從條件機率開始</a:t>
            </a:r>
            <a:r>
              <a:rPr lang="zh-TW" altLang="en-US" b="1" dirty="0">
                <a:latin typeface="PMingLiU" panose="02020500000000000000" pitchFamily="18" charset="-120"/>
                <a:ea typeface="PMingLiU" panose="02020500000000000000" pitchFamily="18" charset="-120"/>
              </a:rPr>
              <a:t>：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5179381" y="3134208"/>
                <a:ext cx="2939779" cy="6408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…(2)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9381" y="3134208"/>
                <a:ext cx="2939779" cy="64081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5179381" y="2206943"/>
                <a:ext cx="2939779" cy="6408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…(1)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9381" y="2206943"/>
                <a:ext cx="2939779" cy="6408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3994951" y="4394446"/>
                <a:ext cx="60220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)×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)×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4951" y="4394446"/>
                <a:ext cx="6022098" cy="276999"/>
              </a:xfrm>
              <a:prstGeom prst="rect">
                <a:avLst/>
              </a:prstGeom>
              <a:blipFill>
                <a:blip r:embed="rId4"/>
                <a:stretch>
                  <a:fillRect t="-2222" b="-355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5179381" y="5113152"/>
                <a:ext cx="2939715" cy="6690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)×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num>
                        <m:den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9381" y="5113152"/>
                <a:ext cx="2939715" cy="66909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箭號: 向右 7"/>
          <p:cNvSpPr/>
          <p:nvPr/>
        </p:nvSpPr>
        <p:spPr>
          <a:xfrm>
            <a:off x="3613211" y="4394446"/>
            <a:ext cx="381740" cy="3551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箭號: 向右 8"/>
          <p:cNvSpPr/>
          <p:nvPr/>
        </p:nvSpPr>
        <p:spPr>
          <a:xfrm>
            <a:off x="3595455" y="5270145"/>
            <a:ext cx="381740" cy="3551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9942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90130" y="192133"/>
            <a:ext cx="10515600" cy="14768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回到文件分類，我們的目標是：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給定一些</a:t>
            </a:r>
            <a:r>
              <a:rPr lang="zh-TW" altLang="en-US" sz="2400" b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特徵關鍵字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，我們能計算這篇新聞是屬於某個</a:t>
            </a:r>
            <a:r>
              <a:rPr lang="zh-TW" altLang="en-US" sz="2400" b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分類的機率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</p:txBody>
      </p:sp>
      <p:sp>
        <p:nvSpPr>
          <p:cNvPr id="5" name="文字方塊 4"/>
          <p:cNvSpPr txBox="1"/>
          <p:nvPr/>
        </p:nvSpPr>
        <p:spPr>
          <a:xfrm>
            <a:off x="190130" y="1562470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寫成貝氏定理的公式就是：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2512379" y="2312646"/>
                <a:ext cx="7536615" cy="5915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類別</m:t>
                      </m:r>
                      <m:r>
                        <a:rPr lang="zh-TW" altLang="en-US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zh-TW" altLang="en-US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特徵關鍵字頻率向量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特徵關鍵字頻率向量</m:t>
                          </m:r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類別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(類別)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特徵關鍵字頻率向量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2379" y="2312646"/>
                <a:ext cx="7536615" cy="59150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545335" y="4018827"/>
                <a:ext cx="11492056" cy="68473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汽車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賓士，</m:t>
                      </m:r>
                      <m:r>
                        <m:rPr>
                          <m:sty m:val="p"/>
                        </m:rPr>
                        <a:rPr lang="en-US" altLang="zh-TW" i="1">
                          <a:latin typeface="Cambria Math" panose="02040503050406030204" pitchFamily="18" charset="0"/>
                        </a:rPr>
                        <m:t>BMW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，板金，棒球，奧運，</m:t>
                      </m:r>
                      <m:r>
                        <m:rPr>
                          <m:sty m:val="p"/>
                        </m:rPr>
                        <a:rPr lang="en-US" altLang="zh-TW" i="1">
                          <a:latin typeface="Cambria Math" panose="02040503050406030204" pitchFamily="18" charset="0"/>
                        </a:rPr>
                        <m:t>APP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賓士，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BMW</m:t>
                              </m:r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，板金，棒球，奧運，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APP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汽車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汽車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賓士，</m:t>
                          </m:r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</a:rPr>
                            <m:t>BMW</m:t>
                          </m:r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，板金，棒球，奧運，</m:t>
                          </m:r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</a:rPr>
                            <m:t>APP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TW" alt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335" y="4018827"/>
                <a:ext cx="11492056" cy="6847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字方塊 9"/>
          <p:cNvSpPr txBox="1"/>
          <p:nvPr/>
        </p:nvSpPr>
        <p:spPr>
          <a:xfrm>
            <a:off x="206367" y="3192666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換成實際的例子就是：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2876365" y="566395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 dirty="0"/>
          </a:p>
        </p:txBody>
      </p:sp>
      <p:grpSp>
        <p:nvGrpSpPr>
          <p:cNvPr id="6" name="群組 5"/>
          <p:cNvGrpSpPr/>
          <p:nvPr/>
        </p:nvGrpSpPr>
        <p:grpSpPr>
          <a:xfrm>
            <a:off x="206367" y="5048707"/>
            <a:ext cx="11680833" cy="704028"/>
            <a:chOff x="206367" y="5048707"/>
            <a:chExt cx="11680833" cy="704028"/>
          </a:xfrm>
        </p:grpSpPr>
        <p:sp>
          <p:nvSpPr>
            <p:cNvPr id="11" name="文字方塊 10"/>
            <p:cNvSpPr txBox="1"/>
            <p:nvPr/>
          </p:nvSpPr>
          <p:spPr>
            <a:xfrm>
              <a:off x="206367" y="5048707"/>
              <a:ext cx="23391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白話解釋就是：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 3"/>
                <p:cNvSpPr/>
                <p:nvPr/>
              </p:nvSpPr>
              <p:spPr>
                <a:xfrm>
                  <a:off x="2344801" y="5106404"/>
                  <a:ext cx="9542399" cy="64633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zh-TW" altLang="en-US" b="1" dirty="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在出現「賓士，</a:t>
                  </a:r>
                  <a:r>
                    <a:rPr lang="en-US" altLang="zh-TW" b="1" dirty="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BMW</a:t>
                  </a:r>
                  <a:r>
                    <a:rPr lang="zh-TW" altLang="en-US" b="1" dirty="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，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zh-TW" altLang="en-US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m:t>板金</m:t>
                      </m:r>
                    </m:oMath>
                  </a14:m>
                  <a:r>
                    <a:rPr lang="zh-TW" altLang="en-US" b="1" dirty="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，棒球，奧運，</a:t>
                  </a:r>
                  <a:r>
                    <a:rPr lang="en-US" altLang="zh-TW" b="1" dirty="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APP</a:t>
                  </a:r>
                  <a:r>
                    <a:rPr lang="zh-TW" altLang="en-US" b="1" dirty="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」這些特徵關鍵字的情況下，該篇新聞是屬於「汽車」的機率是多少？</a:t>
                  </a:r>
                </a:p>
              </p:txBody>
            </p:sp>
          </mc:Choice>
          <mc:Fallback xmlns="">
            <p:sp>
              <p:nvSpPr>
                <p:cNvPr id="4" name="矩形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4801" y="5106404"/>
                  <a:ext cx="9542399" cy="646331"/>
                </a:xfrm>
                <a:prstGeom prst="rect">
                  <a:avLst/>
                </a:prstGeom>
                <a:blipFill>
                  <a:blip r:embed="rId4"/>
                  <a:stretch>
                    <a:fillRect l="-575" t="-5660" b="-1415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群組 7"/>
          <p:cNvGrpSpPr/>
          <p:nvPr/>
        </p:nvGrpSpPr>
        <p:grpSpPr>
          <a:xfrm>
            <a:off x="206367" y="5987118"/>
            <a:ext cx="12180257" cy="646331"/>
            <a:chOff x="206367" y="5987118"/>
            <a:chExt cx="12180257" cy="6463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字方塊 1"/>
                <p:cNvSpPr txBox="1"/>
                <p:nvPr/>
              </p:nvSpPr>
              <p:spPr>
                <a:xfrm>
                  <a:off x="1622139" y="5987118"/>
                  <a:ext cx="10764485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TW" altLang="en-US" b="1" dirty="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在「汽車」新聞當中出現「賓士，</a:t>
                  </a:r>
                  <a:r>
                    <a:rPr lang="en-US" altLang="zh-TW" b="1" dirty="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BMW</a:t>
                  </a:r>
                  <a:r>
                    <a:rPr lang="zh-TW" altLang="en-US" b="1" dirty="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，板金，棒球，奧運，</a:t>
                  </a:r>
                  <a:r>
                    <a:rPr lang="en-US" altLang="zh-TW" b="1" dirty="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APP</a:t>
                  </a:r>
                  <a:r>
                    <a:rPr lang="zh-TW" altLang="en-US" b="1" dirty="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」字詞的機率</a:t>
                  </a:r>
                  <a14:m>
                    <m:oMath xmlns:m="http://schemas.openxmlformats.org/officeDocument/2006/math">
                      <m:r>
                        <a:rPr lang="en-US" altLang="zh-TW" b="1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 ×</m:t>
                      </m:r>
                    </m:oMath>
                  </a14:m>
                  <a:r>
                    <a:rPr lang="zh-TW" altLang="en-US" b="1" dirty="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「汽車」新聞的機率 </a:t>
                  </a:r>
                  <a:endParaRPr lang="en-US" altLang="zh-TW" b="1" dirty="0">
                    <a:latin typeface="微軟正黑體" panose="020B0604030504040204" pitchFamily="34" charset="-120"/>
                    <a:ea typeface="微軟正黑體" panose="020B0604030504040204" pitchFamily="34" charset="-120"/>
                  </a:endParaRPr>
                </a:p>
                <a:p>
                  <a:r>
                    <a:rPr lang="en-US" altLang="zh-TW" b="1" dirty="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/ </a:t>
                  </a:r>
                  <a:r>
                    <a:rPr lang="zh-TW" altLang="en-US" b="1" dirty="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「賓士，</a:t>
                  </a:r>
                  <a:r>
                    <a:rPr lang="en-US" altLang="zh-TW" b="1" dirty="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BMW</a:t>
                  </a:r>
                  <a:r>
                    <a:rPr lang="zh-TW" altLang="en-US" b="1" dirty="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，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zh-TW" altLang="en-US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m:t>板金</m:t>
                      </m:r>
                    </m:oMath>
                  </a14:m>
                  <a:r>
                    <a:rPr lang="zh-TW" altLang="en-US" b="1" dirty="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，棒球，奧運，</a:t>
                  </a:r>
                  <a:r>
                    <a:rPr lang="en-US" altLang="zh-TW" b="1" dirty="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APP </a:t>
                  </a:r>
                  <a:r>
                    <a:rPr lang="zh-TW" altLang="en-US" b="1" dirty="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」字詞的機率。</a:t>
                  </a:r>
                </a:p>
              </p:txBody>
            </p:sp>
          </mc:Choice>
          <mc:Fallback xmlns="">
            <p:sp>
              <p:nvSpPr>
                <p:cNvPr id="2" name="文字方塊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2139" y="5987118"/>
                  <a:ext cx="10764485" cy="646331"/>
                </a:xfrm>
                <a:prstGeom prst="rect">
                  <a:avLst/>
                </a:prstGeom>
                <a:blipFill>
                  <a:blip r:embed="rId5"/>
                  <a:stretch>
                    <a:fillRect l="-453" t="-4717" b="-1415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文字方塊 12"/>
            <p:cNvSpPr txBox="1"/>
            <p:nvPr/>
          </p:nvSpPr>
          <p:spPr>
            <a:xfrm>
              <a:off x="206367" y="6004157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會等於：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89728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38492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b="1" dirty="0"/>
              <a:t>Bernoulli Model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521839"/>
            <a:ext cx="10515600" cy="112176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不考慮詞頻的情況下，只看某個詞在文章中是否有出現，出現就是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，沒有出現就是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/>
            </a:r>
            <a:b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endParaRPr lang="en-US" altLang="zh-CN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38200" y="2947386"/>
            <a:ext cx="1098685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例如，如果詞表是：</a:t>
            </a:r>
            <a:r>
              <a:rPr lang="en-US" altLang="zh-CN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{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國家，日本，東京，奧運，舉辦，是</a:t>
            </a:r>
            <a:r>
              <a:rPr lang="en-US" altLang="zh-CN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}</a:t>
            </a:r>
          </a:p>
          <a:p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某文章是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「</a:t>
            </a:r>
            <a:r>
              <a:rPr lang="en-US" altLang="zh-TW" sz="2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2020</a:t>
            </a:r>
            <a:r>
              <a:rPr lang="zh-TW" altLang="en-US" sz="2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年，奧運是在日本東京舉行，這是日本第二次舉辦奧運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」 ，那麼特徵空間維度是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，該文章的特徵向量是</a:t>
            </a:r>
            <a:r>
              <a:rPr lang="en-US" altLang="zh-CN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4276861" y="4636167"/>
                <a:ext cx="410953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3600" i="1" smtClean="0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𝜐</m:t>
                      </m:r>
                      <m:r>
                        <a:rPr lang="en-US" altLang="zh-TW" sz="3600" i="1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=(0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, </m:t>
                      </m:r>
                      <m:r>
                        <a:rPr lang="en-US" altLang="zh-TW" sz="3600" i="1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1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, 1, </m:t>
                      </m:r>
                      <m:r>
                        <a:rPr lang="en-US" altLang="zh-TW" sz="3600" i="1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1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, 1, </m:t>
                      </m:r>
                      <m:r>
                        <a:rPr lang="en-US" altLang="zh-TW" sz="3600" i="1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1)</m:t>
                      </m:r>
                    </m:oMath>
                  </m:oMathPara>
                </a14:m>
                <a:endParaRPr lang="zh-TW" altLang="en-US" sz="36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endParaRPr lang="zh-TW" altLang="en-US" sz="3600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6861" y="4636167"/>
                <a:ext cx="4109533" cy="12003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9786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Bernoulli Model</a:t>
            </a:r>
            <a:endParaRPr lang="zh-TW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6"/>
                <a:ext cx="10729405" cy="1601156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b="1">
                        <a:latin typeface="Cambria Math" panose="02040503050406030204" pitchFamily="18" charset="0"/>
                        <a:ea typeface="微軟正黑體" panose="020B0604030504040204" pitchFamily="34" charset="-120"/>
                      </a:rPr>
                      <m:t>𝑃</m:t>
                    </m:r>
                    <m:r>
                      <a:rPr lang="en-US" altLang="zh-TW" b="1">
                        <a:latin typeface="Cambria Math" panose="02040503050406030204" pitchFamily="18" charset="0"/>
                        <a:ea typeface="微軟正黑體" panose="020B0604030504040204" pitchFamily="34" charset="-120"/>
                      </a:rPr>
                      <m:t>(</m:t>
                    </m:r>
                    <m:sSub>
                      <m:sSubPr>
                        <m:ctrlPr>
                          <a:rPr lang="en-US" altLang="zh-TW" b="1" i="1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</m:ctrlPr>
                      </m:sSubPr>
                      <m:e>
                        <m:r>
                          <a:rPr lang="en-US" altLang="zh-TW" b="1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  <m:t>𝑤</m:t>
                        </m:r>
                      </m:e>
                      <m:sub>
                        <m:r>
                          <a:rPr lang="en-US" altLang="zh-TW" b="1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  <m:t>𝑖</m:t>
                        </m:r>
                      </m:sub>
                    </m:sSub>
                    <m:r>
                      <a:rPr lang="zh-TW" altLang="en-US" b="1">
                        <a:latin typeface="Cambria Math" panose="02040503050406030204" pitchFamily="18" charset="0"/>
                        <a:ea typeface="微軟正黑體" panose="020B0604030504040204" pitchFamily="34" charset="-120"/>
                      </a:rPr>
                      <m:t> </m:t>
                    </m:r>
                    <m:r>
                      <a:rPr lang="en-US" altLang="zh-TW" b="1">
                        <a:latin typeface="Cambria Math" panose="02040503050406030204" pitchFamily="18" charset="0"/>
                        <a:ea typeface="微軟正黑體" panose="020B0604030504040204" pitchFamily="34" charset="-120"/>
                      </a:rPr>
                      <m:t>|</m:t>
                    </m:r>
                    <m:r>
                      <a:rPr lang="zh-TW" altLang="en-US" b="1">
                        <a:latin typeface="Cambria Math" panose="02040503050406030204" pitchFamily="18" charset="0"/>
                        <a:ea typeface="微軟正黑體" panose="020B0604030504040204" pitchFamily="34" charset="-120"/>
                      </a:rPr>
                      <m:t> </m:t>
                    </m:r>
                    <m:r>
                      <a:rPr lang="en-US" altLang="zh-TW" b="1">
                        <a:latin typeface="Cambria Math" panose="02040503050406030204" pitchFamily="18" charset="0"/>
                        <a:ea typeface="微軟正黑體" panose="020B0604030504040204" pitchFamily="34" charset="-120"/>
                      </a:rPr>
                      <m:t>𝐶</m:t>
                    </m:r>
                    <m:r>
                      <a:rPr lang="en-US" altLang="zh-TW" b="1">
                        <a:latin typeface="Cambria Math" panose="02040503050406030204" pitchFamily="18" charset="0"/>
                        <a:ea typeface="微軟正黑體" panose="020B0604030504040204" pitchFamily="34" charset="-120"/>
                      </a:rPr>
                      <m:t>)</m:t>
                    </m:r>
                  </m:oMath>
                </a14:m>
                <a:r>
                  <a:rPr lang="zh-TW" altLang="en-US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可以看做是在</a:t>
                </a:r>
                <a14:m>
                  <m:oMath xmlns:m="http://schemas.openxmlformats.org/officeDocument/2006/math">
                    <m:r>
                      <a:rPr lang="en-US" altLang="zh-TW" b="1">
                        <a:latin typeface="Cambria Math" panose="02040503050406030204" pitchFamily="18" charset="0"/>
                        <a:ea typeface="微軟正黑體" panose="020B0604030504040204" pitchFamily="34" charset="-120"/>
                      </a:rPr>
                      <m:t>𝐶</m:t>
                    </m:r>
                  </m:oMath>
                </a14:m>
                <a:r>
                  <a:rPr lang="zh-TW" altLang="en-US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類別下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1" i="1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</m:ctrlPr>
                      </m:sSubPr>
                      <m:e>
                        <m:r>
                          <a:rPr lang="en-US" altLang="zh-TW" b="1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  <m:t>𝑤</m:t>
                        </m:r>
                      </m:e>
                      <m:sub>
                        <m:r>
                          <a:rPr lang="en-US" altLang="zh-TW" b="1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特徵出現或不出現的機率：</a:t>
                </a:r>
                <a:endParaRPr lang="en-US" altLang="zh-TW" b="1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marL="0" indent="0">
                  <a:buNone/>
                </a:pPr>
                <a:endParaRPr lang="en-US" altLang="zh-TW" b="1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1" i="1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𝑷</m:t>
                      </m:r>
                      <m:r>
                        <a:rPr lang="en-US" altLang="zh-TW" b="1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(</m:t>
                      </m:r>
                      <m:sSub>
                        <m:sSubPr>
                          <m:ctrlPr>
                            <a:rPr lang="en-US" altLang="zh-TW" b="1" i="1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</m:ctrlPr>
                        </m:sSub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𝒘</m:t>
                          </m:r>
                        </m:e>
                        <m:sub>
                          <m:r>
                            <a:rPr lang="en-US" altLang="zh-TW" b="1" i="1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𝒊</m:t>
                          </m:r>
                        </m:sub>
                      </m:sSub>
                      <m:r>
                        <a:rPr lang="en-US" altLang="zh-TW" b="1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=</m:t>
                      </m:r>
                      <m:r>
                        <a:rPr lang="en-US" altLang="zh-TW" b="1" i="1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𝟎</m:t>
                      </m:r>
                      <m:r>
                        <a:rPr lang="zh-TW" altLang="en-US" b="1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 </m:t>
                      </m:r>
                      <m:r>
                        <a:rPr lang="en-US" altLang="zh-TW" b="1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|</m:t>
                      </m:r>
                      <m:r>
                        <a:rPr lang="zh-TW" altLang="en-US" b="1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 </m:t>
                      </m:r>
                      <m:r>
                        <a:rPr lang="en-US" altLang="zh-TW" b="1" i="1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𝑪</m:t>
                      </m:r>
                      <m:r>
                        <a:rPr lang="en-US" altLang="zh-TW" b="1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)=</m:t>
                      </m:r>
                      <m:r>
                        <a:rPr lang="en-US" altLang="zh-TW" b="1" i="1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𝟏</m:t>
                      </m:r>
                      <m:r>
                        <a:rPr lang="en-US" altLang="zh-TW" b="1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 −</m:t>
                      </m:r>
                      <m:r>
                        <a:rPr lang="zh-TW" altLang="en-US" b="1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 </m:t>
                      </m:r>
                      <m:r>
                        <a:rPr lang="en-US" altLang="zh-TW" b="1" i="1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𝑷</m:t>
                      </m:r>
                      <m:r>
                        <a:rPr lang="en-US" altLang="zh-TW" b="1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(</m:t>
                      </m:r>
                      <m:sSub>
                        <m:sSubPr>
                          <m:ctrlPr>
                            <a:rPr lang="en-US" altLang="zh-TW" b="1" i="1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</m:ctrlPr>
                        </m:sSub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𝒘</m:t>
                          </m:r>
                        </m:e>
                        <m:sub>
                          <m:r>
                            <a:rPr lang="en-US" altLang="zh-TW" b="1" i="1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𝒊</m:t>
                          </m:r>
                        </m:sub>
                      </m:sSub>
                      <m:r>
                        <a:rPr lang="en-US" altLang="zh-TW" b="1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=</m:t>
                      </m:r>
                      <m:r>
                        <a:rPr lang="en-US" altLang="zh-TW" b="1" i="1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𝟏</m:t>
                      </m:r>
                      <m:r>
                        <a:rPr lang="zh-TW" altLang="en-US" b="1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 </m:t>
                      </m:r>
                      <m:r>
                        <a:rPr lang="en-US" altLang="zh-TW" b="1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|</m:t>
                      </m:r>
                      <m:r>
                        <a:rPr lang="zh-TW" altLang="en-US" b="1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 </m:t>
                      </m:r>
                      <m:r>
                        <a:rPr lang="en-US" altLang="zh-TW" b="1" i="1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𝑪</m:t>
                      </m:r>
                      <m:r>
                        <a:rPr lang="en-US" altLang="zh-TW" b="1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)</m:t>
                      </m:r>
                    </m:oMath>
                  </m:oMathPara>
                </a14:m>
                <a:endParaRPr lang="zh-TW" altLang="en-US" b="1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6"/>
                <a:ext cx="10729405" cy="1601156"/>
              </a:xfrm>
              <a:blipFill>
                <a:blip r:embed="rId2"/>
                <a:stretch>
                  <a:fillRect t="-608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字方塊 3"/>
          <p:cNvSpPr txBox="1"/>
          <p:nvPr/>
        </p:nvSpPr>
        <p:spPr>
          <a:xfrm>
            <a:off x="838199" y="3426782"/>
            <a:ext cx="62737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因此，整個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Bernoulli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Model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表示為：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1810739" y="4080788"/>
                <a:ext cx="8784324" cy="105317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endChr m:val="|"/>
                          <m:ctrlPr>
                            <a:rPr lang="en-US" altLang="zh-TW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en-US" altLang="zh-TW" sz="24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TW" sz="2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400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altLang="zh-TW" sz="2400" b="1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TW" sz="24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TW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400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altLang="zh-TW" sz="2400" b="1" i="1" smtClean="0">
                          <a:latin typeface="Cambria Math" panose="02040503050406030204" pitchFamily="18" charset="0"/>
                        </a:rPr>
                        <m:t>)×</m:t>
                      </m:r>
                      <m:nary>
                        <m:naryPr>
                          <m:chr m:val="∏"/>
                          <m:ctrlPr>
                            <a:rPr lang="en-US" altLang="zh-TW" sz="24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24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TW" sz="24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TW" sz="2400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400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  <m:r>
                            <a:rPr lang="en-US" altLang="zh-TW" sz="2400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sup>
                        <m:e>
                          <m:r>
                            <a:rPr lang="zh-TW" altLang="en-US" sz="2400" b="1" i="1" smtClean="0">
                              <a:latin typeface="Cambria Math" panose="02040503050406030204" pitchFamily="18" charset="0"/>
                            </a:rPr>
                            <m:t>𝜶</m:t>
                          </m:r>
                          <m:r>
                            <a:rPr lang="en-US" altLang="zh-TW" sz="24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TW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 smtClean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US" altLang="zh-TW" sz="24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TW" sz="2400" b="1" i="1" smtClean="0">
                                  <a:latin typeface="Cambria Math" panose="02040503050406030204" pitchFamily="18" charset="0"/>
                                </a:rPr>
                                <m:t> | </m:t>
                              </m:r>
                              <m:r>
                                <a:rPr lang="en-US" altLang="zh-TW" sz="2400" b="1" i="1" smtClean="0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</m:d>
                          <m:r>
                            <a:rPr lang="en-US" altLang="zh-TW" sz="2400" b="1" i="1" smtClean="0">
                              <a:latin typeface="Cambria Math" panose="02040503050406030204" pitchFamily="18" charset="0"/>
                            </a:rPr>
                            <m:t>+(</m:t>
                          </m:r>
                          <m:r>
                            <a:rPr lang="en-US" altLang="zh-TW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TW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400" b="1" i="1">
                              <a:latin typeface="Cambria Math" panose="02040503050406030204" pitchFamily="18" charset="0"/>
                            </a:rPr>
                            <m:t>𝜶</m:t>
                          </m:r>
                          <m:r>
                            <a:rPr lang="en-US" altLang="zh-TW" sz="2400" b="1" i="1" smtClean="0"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en-US" altLang="zh-TW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TW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TW" sz="2400" b="1" i="1" smtClean="0">
                                  <a:latin typeface="Cambria Math" panose="02040503050406030204" pitchFamily="18" charset="0"/>
                                </a:rPr>
                                <m:t> | </m:t>
                              </m:r>
                              <m:r>
                                <a:rPr lang="en-US" altLang="zh-TW" sz="2400" b="1" i="1" smtClean="0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</m:d>
                          <m:r>
                            <a:rPr lang="en-US" altLang="zh-TW" sz="24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TW" altLang="en-US" sz="2400" b="1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0739" y="4080788"/>
                <a:ext cx="8784324" cy="10531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/>
              <p:cNvSpPr txBox="1"/>
              <p:nvPr/>
            </p:nvSpPr>
            <p:spPr>
              <a:xfrm>
                <a:off x="838199" y="5787967"/>
                <a:ext cx="94680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代表</m:t>
                    </m:r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資料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集</m:t>
                    </m:r>
                    <m:r>
                      <a:rPr lang="en-US" altLang="zh-TW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𝑉𝑜𝑐𝑎𝑏𝑢𝑙𝑎𝑟𝑦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𝑠𝑒𝑡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的大小</m:t>
                    </m:r>
                  </m:oMath>
                </a14:m>
                <a:r>
                  <a:rPr lang="zh-TW" altLang="en-US" dirty="0"/>
                  <a:t>，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TW" altLang="en-US" dirty="0"/>
                  <a:t>代表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dirty="0"/>
                  <a:t>在文章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zh-TW" altLang="en-US" dirty="0"/>
                  <a:t>是否有出現，出現</a:t>
                </a:r>
                <a:r>
                  <a:rPr lang="en-US" altLang="zh-TW" dirty="0"/>
                  <a:t>=1</a:t>
                </a:r>
                <a:r>
                  <a:rPr lang="zh-TW" altLang="en-US" dirty="0"/>
                  <a:t>，沒有出現</a:t>
                </a:r>
                <a:r>
                  <a:rPr lang="en-US" altLang="zh-TW" dirty="0"/>
                  <a:t>=0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5787967"/>
                <a:ext cx="9468041" cy="369332"/>
              </a:xfrm>
              <a:prstGeom prst="rect">
                <a:avLst/>
              </a:prstGeom>
              <a:blipFill>
                <a:blip r:embed="rId4"/>
                <a:stretch>
                  <a:fillRect l="-129" t="-8197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5868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Bernoulli Model</a:t>
            </a:r>
            <a:endParaRPr lang="zh-TW" altLang="en-US" b="1" dirty="0"/>
          </a:p>
        </p:txBody>
      </p:sp>
      <p:sp>
        <p:nvSpPr>
          <p:cNvPr id="5" name="文字方塊 4"/>
          <p:cNvSpPr txBox="1"/>
          <p:nvPr/>
        </p:nvSpPr>
        <p:spPr>
          <a:xfrm>
            <a:off x="5362113" y="61255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2267505" y="4071463"/>
                <a:ext cx="8731928" cy="8609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1" smtClean="0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𝑃</m:t>
                      </m:r>
                      <m:r>
                        <a:rPr lang="en-US" altLang="zh-TW" sz="2400" b="1" smtClean="0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(</m:t>
                      </m:r>
                      <m:sSub>
                        <m:sSubPr>
                          <m:ctrlPr>
                            <a:rPr lang="en-US" altLang="zh-TW" sz="2400" b="1" i="1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</m:ctrlPr>
                        </m:sSubPr>
                        <m:e>
                          <m:r>
                            <a:rPr lang="en-US" altLang="zh-TW" sz="2400" b="1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b="1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𝑖</m:t>
                          </m:r>
                        </m:sub>
                      </m:sSub>
                      <m:r>
                        <a:rPr lang="zh-TW" altLang="en-US" sz="2400" b="1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 </m:t>
                      </m:r>
                      <m:r>
                        <a:rPr lang="en-US" altLang="zh-TW" sz="2400" b="1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|</m:t>
                      </m:r>
                      <m:r>
                        <a:rPr lang="zh-TW" altLang="en-US" sz="2400" b="1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 </m:t>
                      </m:r>
                      <m:r>
                        <a:rPr lang="en-US" altLang="zh-TW" sz="2400" b="1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𝐶</m:t>
                      </m:r>
                      <m:r>
                        <a:rPr lang="en-US" altLang="zh-TW" sz="2400" b="1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)</m:t>
                      </m:r>
                      <m:r>
                        <a:rPr lang="en-US" altLang="zh-TW" sz="2400" b="1" i="1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=</m:t>
                      </m:r>
                      <m:f>
                        <m:fPr>
                          <m:ctrlPr>
                            <a:rPr lang="en-US" altLang="zh-TW" sz="2400" b="1" i="1" smtClean="0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</m:ctrlPr>
                        </m:fPr>
                        <m:num>
                          <m:r>
                            <a:rPr lang="zh-TW" altLang="en-US" sz="2400" b="1" i="1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類別</m:t>
                          </m:r>
                          <m:r>
                            <m:rPr>
                              <m:sty m:val="p"/>
                            </m:rPr>
                            <a:rPr lang="en-US" altLang="zh-TW" sz="2400" b="1" i="1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C</m:t>
                          </m:r>
                          <m:r>
                            <a:rPr lang="zh-TW" altLang="en-US" sz="2400" b="1" i="1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中出現</m:t>
                          </m:r>
                          <m:sSub>
                            <m:sSubPr>
                              <m:ctrlPr>
                                <a:rPr lang="en-US" altLang="zh-TW" sz="2400" b="1" i="1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400" b="1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TW" altLang="en-US" sz="2400" b="1" i="1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的文章數量</m:t>
                          </m:r>
                          <m:r>
                            <a:rPr lang="en-US" altLang="zh-TW" sz="2400" b="1" i="1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+1</m:t>
                          </m:r>
                        </m:num>
                        <m:den>
                          <m:r>
                            <a:rPr lang="zh-TW" altLang="en-US" sz="2400" b="1" i="1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類別</m:t>
                          </m:r>
                          <m:r>
                            <m:rPr>
                              <m:sty m:val="p"/>
                            </m:rPr>
                            <a:rPr lang="en-US" altLang="zh-TW" sz="2400" b="1" i="1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C</m:t>
                          </m:r>
                          <m:r>
                            <a:rPr lang="zh-TW" altLang="en-US" sz="2400" b="1" i="1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的文章數量</m:t>
                          </m:r>
                          <m:r>
                            <a:rPr lang="en-US" altLang="zh-TW" sz="2400" b="1" i="1" smtClean="0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+</m:t>
                          </m:r>
                          <m:r>
                            <a:rPr lang="en-US" altLang="zh-TW" sz="2400" b="1" i="1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2</m:t>
                          </m:r>
                        </m:den>
                      </m:f>
                      <m:r>
                        <a:rPr lang="en-US" altLang="zh-TW" sz="2400" b="0" i="0" smtClean="0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 (</m:t>
                      </m:r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Laplace</m:t>
                      </m:r>
                      <m:r>
                        <a:rPr lang="en-US" altLang="zh-TW" sz="2400" b="0" i="0" smtClean="0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Smoothing</m:t>
                      </m:r>
                      <m:r>
                        <a:rPr lang="en-US" altLang="zh-TW" sz="2400" b="0" i="0" smtClean="0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)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7505" y="4071463"/>
                <a:ext cx="8731928" cy="8609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3563644" y="2018595"/>
                <a:ext cx="4690323" cy="8624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1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𝑃</m:t>
                      </m:r>
                      <m:r>
                        <a:rPr lang="en-US" altLang="zh-TW" sz="2400" b="1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(</m:t>
                      </m:r>
                      <m:r>
                        <a:rPr lang="en-US" altLang="zh-TW" sz="2400" b="1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𝐶</m:t>
                      </m:r>
                      <m:r>
                        <a:rPr lang="en-US" altLang="zh-TW" sz="2400" b="1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)=</m:t>
                      </m:r>
                      <m:f>
                        <m:fPr>
                          <m:ctrlPr>
                            <a:rPr lang="en-US" altLang="zh-TW" sz="2400" b="1" i="1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</m:ctrlPr>
                        </m:fPr>
                        <m:num>
                          <m:r>
                            <a:rPr lang="zh-TW" altLang="en-US" sz="2400" b="1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類別</m:t>
                          </m:r>
                          <m:r>
                            <m:rPr>
                              <m:sty m:val="p"/>
                            </m:rPr>
                            <a:rPr lang="en-US" altLang="zh-TW" sz="2400" b="1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C</m:t>
                          </m:r>
                          <m:r>
                            <a:rPr lang="zh-TW" altLang="en-US" sz="2400" b="1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文章個數</m:t>
                          </m:r>
                        </m:num>
                        <m:den>
                          <m:r>
                            <a:rPr lang="zh-TW" altLang="en-US" sz="2400" b="1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整個訓練樣本中文章總數</m:t>
                          </m:r>
                        </m:den>
                      </m:f>
                    </m:oMath>
                  </m:oMathPara>
                </a14:m>
                <a:endParaRPr lang="zh-TW" altLang="en-US" sz="2400" b="1" dirty="0">
                  <a:latin typeface="Cambria Math" panose="02040503050406030204" pitchFamily="18" charset="0"/>
                  <a:ea typeface="微軟正黑體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3644" y="2018595"/>
                <a:ext cx="4690323" cy="8624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6319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5680847"/>
              </p:ext>
            </p:extLst>
          </p:nvPr>
        </p:nvGraphicFramePr>
        <p:xfrm>
          <a:off x="802690" y="387443"/>
          <a:ext cx="10515600" cy="222504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1168400">
                  <a:extLst>
                    <a:ext uri="{9D8B030D-6E8A-4147-A177-3AD203B41FA5}">
                      <a16:colId xmlns:a16="http://schemas.microsoft.com/office/drawing/2014/main" xmlns="" val="81420742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xmlns="" val="1650724617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xmlns="" val="1420202239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xmlns="" val="64654434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xmlns="" val="3632335428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xmlns="" val="1559123626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xmlns="" val="2266928441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xmlns="" val="2898028466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xmlns="" val="2310927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Doc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台灣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台北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台中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高雄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東京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日本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類別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16035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Training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1.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Taiwan</a:t>
                      </a:r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574515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2.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Taiwan</a:t>
                      </a:r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92228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3.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Taiwan</a:t>
                      </a:r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342122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4.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Japan</a:t>
                      </a:r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90590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Test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59578794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802690" y="3036163"/>
            <a:ext cx="7032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測試樣本中有</a:t>
            </a:r>
            <a:r>
              <a:rPr lang="en-US" altLang="zh-TW" dirty="0"/>
              <a:t>3</a:t>
            </a:r>
            <a:r>
              <a:rPr lang="zh-TW" altLang="en-US" dirty="0"/>
              <a:t>個是標記</a:t>
            </a:r>
            <a:r>
              <a:rPr lang="en-US" altLang="zh-TW" dirty="0"/>
              <a:t>Taiwan</a:t>
            </a:r>
            <a:r>
              <a:rPr lang="zh-TW" altLang="en-US" dirty="0"/>
              <a:t>的文章，有一個是標記</a:t>
            </a:r>
            <a:r>
              <a:rPr lang="en-US" altLang="zh-TW" dirty="0"/>
              <a:t>Japan</a:t>
            </a:r>
            <a:r>
              <a:rPr lang="zh-TW" altLang="en-US" dirty="0"/>
              <a:t>的文章</a:t>
            </a:r>
            <a:r>
              <a:rPr lang="zh-TW" altLang="en-US" dirty="0">
                <a:latin typeface="PMingLiU" panose="02020500000000000000" pitchFamily="18" charset="-120"/>
                <a:ea typeface="PMingLiU" panose="02020500000000000000" pitchFamily="18" charset="-120"/>
              </a:rPr>
              <a:t>：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7808141" y="2898640"/>
                <a:ext cx="1599862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altLang="zh-TW" dirty="0"/>
                            <m:t>Taiwan</m:t>
                          </m:r>
                          <m:r>
                            <m:rPr>
                              <m:nor/>
                            </m:rPr>
                            <a:rPr lang="zh-TW" altLang="en-US" dirty="0"/>
                            <m:t> 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8141" y="2898640"/>
                <a:ext cx="1599862" cy="5186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9534603" y="2861352"/>
                <a:ext cx="1668277" cy="6109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𝐽𝑎𝑝𝑎𝑛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4603" y="2861352"/>
                <a:ext cx="1668277" cy="6109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673034" y="3473063"/>
                <a:ext cx="3590342" cy="6756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台灣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zh-TW" altLang="en-US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𝑇𝑎𝑖𝑤𝑎𝑛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034" y="3473063"/>
                <a:ext cx="3590342" cy="6756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4232979" y="3464186"/>
                <a:ext cx="5951822" cy="6756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日本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𝑇𝑎𝑖𝑤𝑎𝑛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  <m:t>東京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𝑇𝑎𝑖𝑤𝑎𝑛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2979" y="3464186"/>
                <a:ext cx="5951822" cy="6756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334267" y="4079038"/>
                <a:ext cx="8752181" cy="7022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台北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𝑇𝑎𝑖𝑤𝑎𝑛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台中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𝑇𝑎𝑖𝑤𝑎𝑛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高雄</m:t>
                          </m:r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𝑇𝑎𝑖𝑤𝑎𝑛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3+2</m:t>
                          </m:r>
                        </m:den>
                      </m:f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zh-TW" altLang="en-US" sz="2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267" y="4079038"/>
                <a:ext cx="8752181" cy="70224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690789" y="5080363"/>
                <a:ext cx="3500574" cy="7022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台灣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zh-TW" altLang="en-US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𝐽𝑎𝑝𝑎𝑛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89" y="5080363"/>
                <a:ext cx="3500574" cy="70224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14669" y="5794996"/>
                <a:ext cx="8752181" cy="6756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台北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𝐽𝑎𝑝𝑎𝑛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台中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𝐽𝑎𝑝𝑎𝑛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高雄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𝐽𝑎𝑝𝑎𝑛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+2</m:t>
                          </m:r>
                        </m:den>
                      </m:f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zh-TW" altLang="en-US" sz="2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69" y="5794996"/>
                <a:ext cx="8752181" cy="67569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/>
              <p:cNvSpPr txBox="1"/>
              <p:nvPr/>
            </p:nvSpPr>
            <p:spPr>
              <a:xfrm>
                <a:off x="4259611" y="5074304"/>
                <a:ext cx="5503622" cy="6756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日本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𝐽𝑎𝑝𝑎𝑛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  <m:t>東京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𝐽𝑎𝑝𝑎𝑛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9611" y="5074304"/>
                <a:ext cx="5503622" cy="6756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154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6161987"/>
              </p:ext>
            </p:extLst>
          </p:nvPr>
        </p:nvGraphicFramePr>
        <p:xfrm>
          <a:off x="802690" y="387443"/>
          <a:ext cx="10515600" cy="222504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1168400">
                  <a:extLst>
                    <a:ext uri="{9D8B030D-6E8A-4147-A177-3AD203B41FA5}">
                      <a16:colId xmlns:a16="http://schemas.microsoft.com/office/drawing/2014/main" xmlns="" val="81420742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xmlns="" val="1650724617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xmlns="" val="1420202239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xmlns="" val="64654434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xmlns="" val="3632335428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xmlns="" val="1559123626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xmlns="" val="2266928441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xmlns="" val="2898028466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xmlns="" val="2310927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Doc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台灣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台北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台中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高雄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東京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日本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類別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16035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Training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1.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Taiwan</a:t>
                      </a:r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574515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2.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Taiwan</a:t>
                      </a:r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92228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3.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Taiwan</a:t>
                      </a:r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342122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4.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Japan</a:t>
                      </a:r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90590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Test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5957879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/>
              <p:cNvSpPr txBox="1"/>
              <p:nvPr/>
            </p:nvSpPr>
            <p:spPr>
              <a:xfrm>
                <a:off x="233779" y="3187084"/>
                <a:ext cx="11671175" cy="84600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𝑇𝑎𝑖𝑤𝑎𝑛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TW" dirty="0"/>
                        <m:t>Taiwan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i="1" smtClean="0">
                              <a:latin typeface="Cambria Math" panose="02040503050406030204" pitchFamily="18" charset="0"/>
                            </a:rPr>
                            <m:t>台灣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zh-TW" alt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𝐶h𝑖𝑛𝑒𝑠𝑒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)×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i="1" smtClean="0">
                              <a:latin typeface="Cambria Math" panose="02040503050406030204" pitchFamily="18" charset="0"/>
                            </a:rPr>
                            <m:t>東京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zh-TW" alt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𝐶h𝑖𝑛𝑒𝑠𝑒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)×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日本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zh-TW" alt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𝐶h𝑖𝑛𝑒𝑠𝑒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)×</m:t>
                      </m:r>
                    </m:oMath>
                  </m:oMathPara>
                </a14:m>
                <a:endParaRPr lang="en-US" altLang="zh-TW" dirty="0">
                  <a:ea typeface="Cambria Math" panose="02040503050406030204" pitchFamily="18" charset="0"/>
                </a:endParaRPr>
              </a:p>
              <a:p>
                <a:r>
                  <a:rPr lang="en-US" altLang="zh-TW" dirty="0"/>
                  <a:t>                                 (1 -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台北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zh-TW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𝐶h𝑖𝑛𝑒𝑠𝑒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))×</m:t>
                    </m:r>
                  </m:oMath>
                </a14:m>
                <a:r>
                  <a:rPr lang="en-US" altLang="zh-TW" dirty="0"/>
                  <a:t>(1 -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台中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zh-TW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𝐶h𝑖𝑛𝑒𝑠𝑒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))×</m:t>
                    </m:r>
                  </m:oMath>
                </a14:m>
                <a:r>
                  <a:rPr lang="en-US" altLang="zh-TW" dirty="0"/>
                  <a:t>(1 -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高雄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zh-TW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𝐶h𝑖𝑛𝑒𝑠𝑒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altLang="zh-TW" i="1" dirty="0">
                  <a:latin typeface="Cambria Math" panose="02040503050406030204" pitchFamily="18" charset="0"/>
                </a:endParaRPr>
              </a:p>
              <a:p>
                <a:r>
                  <a:rPr lang="en-US" altLang="zh-TW" dirty="0">
                    <a:ea typeface="Cambria Math" panose="02040503050406030204" pitchFamily="18" charset="0"/>
                  </a:rPr>
                  <a:t>                            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type m:val="skw"/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type m:val="skw"/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type m:val="skw"/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type m:val="skw"/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type m:val="skw"/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type m:val="skw"/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type m:val="skw"/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type m:val="skw"/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972</m:t>
                        </m:r>
                      </m:num>
                      <m:den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  <m: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m:rPr>
                        <m:nor/>
                      </m:rPr>
                      <a:rPr lang="en-US" altLang="zh-TW"/>
                      <m:t>0.005184</m:t>
                    </m:r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779" y="3187084"/>
                <a:ext cx="11671175" cy="846001"/>
              </a:xfrm>
              <a:prstGeom prst="rect">
                <a:avLst/>
              </a:prstGeom>
              <a:blipFill rotWithShape="0">
                <a:blip r:embed="rId2"/>
                <a:stretch>
                  <a:fillRect l="-679" t="-3597" b="-80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233779" y="4315683"/>
                <a:ext cx="11671175" cy="8435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𝐽𝑎𝑝𝑎𝑛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Japan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台灣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zh-TW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𝐽𝑎𝑝𝑎𝑛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東京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𝐽𝑎𝑝𝑎𝑛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)×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日本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𝐽𝑎𝑝𝑎𝑛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)×</m:t>
                    </m:r>
                  </m:oMath>
                </a14:m>
                <a:r>
                  <a:rPr lang="en-US" altLang="zh-TW" dirty="0"/>
                  <a:t>(1 -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台北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𝐽𝑎𝑝𝑎𝑛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))×</m:t>
                    </m:r>
                  </m:oMath>
                </a14:m>
                <a:endParaRPr lang="en-US" altLang="zh-TW" dirty="0"/>
              </a:p>
              <a:p>
                <a:r>
                  <a:rPr lang="en-US" altLang="zh-TW" dirty="0"/>
                  <a:t>                                 (1 -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台中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𝐽𝑎𝑝𝑎𝑛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))×</m:t>
                    </m:r>
                  </m:oMath>
                </a14:m>
                <a:r>
                  <a:rPr lang="en-US" altLang="zh-TW" dirty="0"/>
                  <a:t>(1 -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高雄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𝐽𝑎𝑝𝑎𝑛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altLang="zh-TW" i="1" dirty="0">
                  <a:latin typeface="Cambria Math" panose="02040503050406030204" pitchFamily="18" charset="0"/>
                </a:endParaRPr>
              </a:p>
              <a:p>
                <a:r>
                  <a:rPr lang="en-US" altLang="zh-TW" dirty="0">
                    <a:ea typeface="Cambria Math" panose="02040503050406030204" pitchFamily="18" charset="0"/>
                  </a:rPr>
                  <a:t>                            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type m:val="skw"/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type m:val="skw"/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type m:val="skw"/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type m:val="skw"/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type m:val="skw"/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type m:val="skw"/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type m:val="skw"/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type m:val="skw"/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729</m:t>
                        </m:r>
                      </m:den>
                    </m:f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0.021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779" y="4315683"/>
                <a:ext cx="11671175" cy="843564"/>
              </a:xfrm>
              <a:prstGeom prst="rect">
                <a:avLst/>
              </a:prstGeom>
              <a:blipFill>
                <a:blip r:embed="rId3"/>
                <a:stretch>
                  <a:fillRect l="-679" t="-9420" b="-8115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/>
              <p:cNvSpPr txBox="1"/>
              <p:nvPr/>
            </p:nvSpPr>
            <p:spPr>
              <a:xfrm>
                <a:off x="5243017" y="5610521"/>
                <a:ext cx="143308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TW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altLang="zh-TW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𝐽𝑎𝑝𝑎𝑛</m:t>
                      </m:r>
                    </m:oMath>
                  </m:oMathPara>
                </a14:m>
                <a:endParaRPr lang="zh-TW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3017" y="5610521"/>
                <a:ext cx="1433085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4681" r="-6809" b="-327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2890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38492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b="1" dirty="0"/>
              <a:t>Multinomial Model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217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當我們考慮詞在文章中出現的個數，而不再是</a:t>
            </a:r>
            <a:r>
              <a:rPr lang="en-US" altLang="zh-TW" b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0, 1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38200" y="2947386"/>
            <a:ext cx="1098685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例如，如果詞表是：</a:t>
            </a:r>
            <a:r>
              <a:rPr lang="en-US" altLang="zh-CN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{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國家，日本，東京，奧運，舉辦，是</a:t>
            </a:r>
            <a:r>
              <a:rPr lang="en-US" altLang="zh-CN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}</a:t>
            </a:r>
          </a:p>
          <a:p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某文章是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「</a:t>
            </a:r>
            <a:r>
              <a:rPr lang="en-US" altLang="zh-TW" sz="2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2020</a:t>
            </a:r>
            <a:r>
              <a:rPr lang="zh-TW" altLang="en-US" sz="2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年，奧運是在日本東京舉行，這是日本第二次舉辦奧運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」 ，那麼特徵空間維度是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，該文章的特徵向量是</a:t>
            </a:r>
            <a:r>
              <a:rPr lang="en-US" altLang="zh-CN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4276861" y="4636167"/>
                <a:ext cx="410953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3600" i="1" smtClean="0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𝜐</m:t>
                      </m:r>
                      <m:r>
                        <a:rPr lang="en-US" altLang="zh-TW" sz="3600" i="1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=(0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, </m:t>
                      </m:r>
                      <m:r>
                        <a:rPr lang="en-US" altLang="zh-TW" sz="3600" i="1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2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, 1, 2, 1, 2</m:t>
                      </m:r>
                      <m:r>
                        <a:rPr lang="en-US" altLang="zh-TW" sz="3600" i="1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)</m:t>
                      </m:r>
                    </m:oMath>
                  </m:oMathPara>
                </a14:m>
                <a:endParaRPr lang="zh-TW" altLang="en-US" sz="36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endParaRPr lang="zh-TW" altLang="en-US" sz="3600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6861" y="4636167"/>
                <a:ext cx="4109533" cy="12003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3991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Multinomial Model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60123"/>
          </a:xfrm>
        </p:spPr>
        <p:txBody>
          <a:bodyPr/>
          <a:lstStyle/>
          <a:p>
            <a:pPr marL="0" indent="0">
              <a:buNone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因此，整個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Multinomial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Model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表示為：</a:t>
            </a:r>
          </a:p>
          <a:p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3818100" y="2712774"/>
                <a:ext cx="4555799" cy="11452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endChr m:val="|"/>
                          <m:ctrlPr>
                            <a:rPr lang="en-US" altLang="zh-TW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TW" sz="24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400" b="1" i="1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altLang="zh-TW" sz="2400" b="1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TW" sz="24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TW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400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altLang="zh-TW" sz="2400" b="1" i="1" smtClean="0">
                          <a:latin typeface="Cambria Math" panose="02040503050406030204" pitchFamily="18" charset="0"/>
                        </a:rPr>
                        <m:t>)</m:t>
                      </m:r>
                      <m:nary>
                        <m:naryPr>
                          <m:chr m:val="∏"/>
                          <m:ctrlPr>
                            <a:rPr lang="en-US" altLang="zh-TW" sz="24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𝑽</m:t>
                          </m:r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|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TW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400" b="1" i="1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  <m:d>
                                <m:dPr>
                                  <m:ctrlP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b="1" i="1">
                                          <a:latin typeface="Cambria Math" panose="02040503050406030204" pitchFamily="18" charset="0"/>
                                        </a:rPr>
                                        <m:t>𝒘</m:t>
                                      </m:r>
                                    </m:e>
                                    <m:sub>
                                      <m:r>
                                        <a:rPr lang="en-US" altLang="zh-TW" sz="2400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 | </m:t>
                                  </m:r>
                                  <m:r>
                                    <a:rPr lang="en-US" altLang="zh-TW" sz="2400" b="1" i="1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</m:d>
                            </m:e>
                            <m:sup>
                              <m:sSub>
                                <m:sSubPr>
                                  <m:ctrlPr>
                                    <a:rPr lang="en-US" altLang="zh-TW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1" i="1" smtClean="0">
                                      <a:latin typeface="Cambria Math" panose="02040503050406030204" pitchFamily="18" charset="0"/>
                                    </a:rPr>
                                    <m:t>𝑵</m:t>
                                  </m:r>
                                </m:e>
                                <m:sub>
                                  <m:r>
                                    <a:rPr lang="en-US" altLang="zh-TW" sz="24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sup>
                          </m:sSup>
                        </m:e>
                      </m:nary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8100" y="2712774"/>
                <a:ext cx="4555799" cy="11452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3818100" y="4328598"/>
                <a:ext cx="4382545" cy="8611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1" smtClean="0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𝑃</m:t>
                      </m:r>
                      <m:r>
                        <a:rPr lang="en-US" altLang="zh-TW" sz="2400" b="1" smtClean="0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(</m:t>
                      </m:r>
                      <m:r>
                        <a:rPr lang="en-US" altLang="zh-TW" sz="2400" b="1" smtClean="0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𝐶</m:t>
                      </m:r>
                      <m:r>
                        <a:rPr lang="en-US" altLang="zh-TW" sz="2400" b="1" smtClean="0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)=</m:t>
                      </m:r>
                      <m:f>
                        <m:fPr>
                          <m:ctrlPr>
                            <a:rPr lang="en-US" altLang="zh-TW" sz="2400" b="1" i="1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</m:ctrlPr>
                        </m:fPr>
                        <m:num>
                          <m:r>
                            <a:rPr lang="zh-TW" altLang="en-US" sz="2400" b="1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類別</m:t>
                          </m:r>
                          <m:r>
                            <m:rPr>
                              <m:sty m:val="p"/>
                            </m:rPr>
                            <a:rPr lang="en-US" altLang="zh-TW" sz="2400" b="1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C</m:t>
                          </m:r>
                          <m:r>
                            <a:rPr lang="zh-TW" altLang="en-US" sz="2400" b="1" i="1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的詞彙總數</m:t>
                          </m:r>
                        </m:num>
                        <m:den>
                          <m:r>
                            <a:rPr lang="zh-TW" altLang="en-US" sz="2400" b="1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整個訓練樣本</m:t>
                          </m:r>
                          <m:r>
                            <a:rPr lang="zh-TW" altLang="en-US" sz="2400" b="1" i="1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詞彙</m:t>
                          </m:r>
                          <m:r>
                            <a:rPr lang="zh-TW" altLang="en-US" sz="2400" b="1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總數</m:t>
                          </m:r>
                        </m:den>
                      </m:f>
                    </m:oMath>
                  </m:oMathPara>
                </a14:m>
                <a:endParaRPr lang="zh-TW" altLang="en-US" sz="2400" b="1" dirty="0">
                  <a:latin typeface="Cambria Math" panose="02040503050406030204" pitchFamily="18" charset="0"/>
                  <a:ea typeface="微軟正黑體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8100" y="4328598"/>
                <a:ext cx="4382545" cy="8611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1500326" y="5660370"/>
                <a:ext cx="10252969" cy="9076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1" smtClean="0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𝑃</m:t>
                      </m:r>
                      <m:r>
                        <a:rPr lang="en-US" altLang="zh-TW" sz="2400" b="1" smtClean="0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(</m:t>
                      </m:r>
                      <m:sSub>
                        <m:sSubPr>
                          <m:ctrlPr>
                            <a:rPr lang="en-US" altLang="zh-TW" sz="2400" b="1" i="1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</m:ctrlPr>
                        </m:sSubPr>
                        <m:e>
                          <m:r>
                            <a:rPr lang="en-US" altLang="zh-TW" sz="2400" b="1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b="1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𝑖</m:t>
                          </m:r>
                        </m:sub>
                      </m:sSub>
                      <m:r>
                        <a:rPr lang="zh-TW" altLang="en-US" sz="2400" b="1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 </m:t>
                      </m:r>
                      <m:r>
                        <a:rPr lang="en-US" altLang="zh-TW" sz="2400" b="1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|</m:t>
                      </m:r>
                      <m:r>
                        <a:rPr lang="zh-TW" altLang="en-US" sz="2400" b="1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 </m:t>
                      </m:r>
                      <m:r>
                        <a:rPr lang="en-US" altLang="zh-TW" sz="2400" b="1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𝐶</m:t>
                      </m:r>
                      <m:r>
                        <a:rPr lang="en-US" altLang="zh-TW" sz="2400" b="1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)</m:t>
                      </m:r>
                      <m:r>
                        <a:rPr lang="en-US" altLang="zh-TW" sz="2400" b="1" i="1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=</m:t>
                      </m:r>
                      <m:f>
                        <m:fPr>
                          <m:ctrlPr>
                            <a:rPr lang="en-US" altLang="zh-TW" sz="2400" b="1" i="1" smtClean="0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</m:ctrlPr>
                        </m:fPr>
                        <m:num>
                          <m:r>
                            <a:rPr lang="zh-TW" altLang="en-US" sz="2400" b="1" i="1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類別</m:t>
                          </m:r>
                          <m:r>
                            <m:rPr>
                              <m:sty m:val="p"/>
                            </m:rPr>
                            <a:rPr lang="en-US" altLang="zh-TW" sz="2400" b="1" i="1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C</m:t>
                          </m:r>
                          <m:r>
                            <a:rPr lang="zh-TW" altLang="en-US" sz="2400" b="1" i="1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中</m:t>
                          </m:r>
                          <m:r>
                            <a:rPr lang="zh-TW" altLang="en-US" sz="2400" b="1" i="1" smtClean="0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有</m:t>
                          </m:r>
                          <m:r>
                            <a:rPr lang="zh-TW" altLang="en-US" sz="2400" b="1" i="1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出現</m:t>
                          </m:r>
                          <m:sSub>
                            <m:sSubPr>
                              <m:ctrlPr>
                                <a:rPr lang="en-US" altLang="zh-TW" sz="2400" b="1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altLang="zh-TW" sz="2400" b="1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400" b="1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TW" altLang="en-US" sz="2400" b="1" i="1" smtClean="0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的</m:t>
                          </m:r>
                          <m:r>
                            <a:rPr lang="zh-TW" altLang="en-US" sz="2400" b="1" i="1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出現的總次數</m:t>
                          </m:r>
                          <m:r>
                            <a:rPr lang="en-US" altLang="zh-TW" sz="2400" b="1" i="1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+1</m:t>
                          </m:r>
                        </m:num>
                        <m:den>
                          <m:r>
                            <a:rPr lang="zh-TW" altLang="en-US" sz="2400" b="1" i="1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類別</m:t>
                          </m:r>
                          <m:r>
                            <m:rPr>
                              <m:sty m:val="p"/>
                            </m:rPr>
                            <a:rPr lang="en-US" altLang="zh-TW" sz="2400" b="1" i="1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C</m:t>
                          </m:r>
                          <m:r>
                            <a:rPr lang="zh-TW" altLang="en-US" sz="2400" b="1" i="1" smtClean="0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下的詞彙總數</m:t>
                          </m:r>
                          <m:r>
                            <a:rPr lang="en-US" altLang="zh-TW" sz="2400" b="1" i="1" smtClean="0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+|</m:t>
                          </m:r>
                          <m:r>
                            <a:rPr lang="en-US" altLang="zh-TW" sz="2400" b="1" i="1" smtClean="0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𝑽</m:t>
                          </m:r>
                          <m:r>
                            <a:rPr lang="en-US" altLang="zh-TW" sz="2400" b="1" i="1" smtClean="0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|</m:t>
                          </m:r>
                        </m:den>
                      </m:f>
                      <m:r>
                        <a:rPr lang="en-US" altLang="zh-TW" sz="2400" b="0" i="0" smtClean="0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 (</m:t>
                      </m:r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Laplace</m:t>
                      </m:r>
                      <m:r>
                        <a:rPr lang="en-US" altLang="zh-TW" sz="2400" b="0" i="0" smtClean="0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Smoothing</m:t>
                      </m:r>
                      <m:r>
                        <a:rPr lang="en-US" altLang="zh-TW" sz="2400" b="0" i="0" smtClean="0">
                          <a:latin typeface="Cambria Math" panose="02040503050406030204" pitchFamily="18" charset="0"/>
                          <a:ea typeface="微軟正黑體" panose="020B0604030504040204" pitchFamily="34" charset="-120"/>
                        </a:rPr>
                        <m:t>)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0326" y="5660370"/>
                <a:ext cx="10252969" cy="9076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597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</p:nvPr>
        </p:nvGraphicFramePr>
        <p:xfrm>
          <a:off x="802690" y="387443"/>
          <a:ext cx="10515600" cy="222504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1168400">
                  <a:extLst>
                    <a:ext uri="{9D8B030D-6E8A-4147-A177-3AD203B41FA5}">
                      <a16:colId xmlns:a16="http://schemas.microsoft.com/office/drawing/2014/main" xmlns="" val="81420742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xmlns="" val="1650724617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xmlns="" val="1420202239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xmlns="" val="64654434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xmlns="" val="3632335428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xmlns="" val="1559123626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xmlns="" val="2266928441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xmlns="" val="2898028466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xmlns="" val="2310927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Doc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台灣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台北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台中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高雄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東京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日本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類別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16035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Training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1.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Taiwan</a:t>
                      </a:r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574515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2.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Taiwan</a:t>
                      </a:r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92228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3.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Taiwan</a:t>
                      </a:r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342122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4.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Japan</a:t>
                      </a:r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90590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Test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59578794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802690" y="3036163"/>
            <a:ext cx="7032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測試樣本中有</a:t>
            </a:r>
            <a:r>
              <a:rPr lang="en-US" altLang="zh-TW" dirty="0"/>
              <a:t>3</a:t>
            </a:r>
            <a:r>
              <a:rPr lang="zh-TW" altLang="en-US" dirty="0"/>
              <a:t>個是標記</a:t>
            </a:r>
            <a:r>
              <a:rPr lang="en-US" altLang="zh-TW" dirty="0"/>
              <a:t>Taiwan</a:t>
            </a:r>
            <a:r>
              <a:rPr lang="zh-TW" altLang="en-US" dirty="0"/>
              <a:t>的文章，有一個是標記</a:t>
            </a:r>
            <a:r>
              <a:rPr lang="en-US" altLang="zh-TW" dirty="0"/>
              <a:t>Japan</a:t>
            </a:r>
            <a:r>
              <a:rPr lang="zh-TW" altLang="en-US" dirty="0"/>
              <a:t>的文章</a:t>
            </a:r>
            <a:r>
              <a:rPr lang="zh-TW" altLang="en-US" dirty="0">
                <a:latin typeface="PMingLiU" panose="02020500000000000000" pitchFamily="18" charset="-120"/>
                <a:ea typeface="PMingLiU" panose="02020500000000000000" pitchFamily="18" charset="-120"/>
              </a:rPr>
              <a:t>：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7808141" y="2898640"/>
                <a:ext cx="1728102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altLang="zh-TW" dirty="0"/>
                            <m:t>Taiwan</m:t>
                          </m:r>
                          <m:r>
                            <m:rPr>
                              <m:nor/>
                            </m:rPr>
                            <a:rPr lang="zh-TW" altLang="en-US" dirty="0"/>
                            <m:t> 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8141" y="2898640"/>
                <a:ext cx="1728102" cy="5186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9534603" y="2861352"/>
                <a:ext cx="1796517" cy="63478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𝐽𝑎𝑝𝑎𝑛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4603" y="2861352"/>
                <a:ext cx="1796517" cy="6347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673034" y="3473063"/>
                <a:ext cx="3733010" cy="6819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台灣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zh-TW" altLang="en-US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𝑇𝑎𝑖𝑤𝑎𝑛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034" y="3473063"/>
                <a:ext cx="3733010" cy="6819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4232979" y="3464186"/>
                <a:ext cx="6011774" cy="6756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日本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𝑇𝑎𝑖𝑤𝑎𝑛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  <m:t>東京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𝑇𝑎𝑖𝑤𝑎𝑛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2979" y="3464186"/>
                <a:ext cx="6011774" cy="6756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334267" y="4079038"/>
                <a:ext cx="8752181" cy="7022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台北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𝑇𝑎𝑖𝑤𝑎𝑛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台中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𝑇𝑎𝑖𝑤𝑎𝑛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高雄</m:t>
                          </m:r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𝑇𝑎𝑖𝑤𝑎𝑛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</m:oMath>
                  </m:oMathPara>
                </a14:m>
                <a:endParaRPr lang="zh-TW" altLang="en-US" sz="2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267" y="4079038"/>
                <a:ext cx="8752181" cy="70224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690789" y="5080363"/>
                <a:ext cx="3500574" cy="7022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台灣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zh-TW" altLang="en-US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𝐽𝑎𝑝𝑎𝑛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89" y="5080363"/>
                <a:ext cx="3500574" cy="70224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14669" y="5794996"/>
                <a:ext cx="8752181" cy="6756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台北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𝐽𝑎𝑝𝑎𝑛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台中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𝐽𝑎𝑝𝑎𝑛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高雄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𝐽𝑎𝑝𝑎𝑛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zh-TW" altLang="en-US" sz="2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69" y="5794996"/>
                <a:ext cx="8752181" cy="67569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/>
              <p:cNvSpPr txBox="1"/>
              <p:nvPr/>
            </p:nvSpPr>
            <p:spPr>
              <a:xfrm>
                <a:off x="4259611" y="5074304"/>
                <a:ext cx="5503622" cy="6756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日本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𝐽𝑎𝑝𝑎𝑛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  <m:t>東京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𝐽𝑎𝑝𝑎𝑛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9611" y="5074304"/>
                <a:ext cx="5503622" cy="6756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50716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5"/>
          <p:cNvGraphicFramePr>
            <a:graphicFrameLocks noGrp="1"/>
          </p:cNvGraphicFramePr>
          <p:nvPr>
            <p:ph idx="1"/>
          </p:nvPr>
        </p:nvGraphicFramePr>
        <p:xfrm>
          <a:off x="802690" y="387443"/>
          <a:ext cx="10515600" cy="222504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1168400">
                  <a:extLst>
                    <a:ext uri="{9D8B030D-6E8A-4147-A177-3AD203B41FA5}">
                      <a16:colId xmlns:a16="http://schemas.microsoft.com/office/drawing/2014/main" xmlns="" val="81420742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xmlns="" val="1650724617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xmlns="" val="1420202239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xmlns="" val="64654434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xmlns="" val="3632335428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xmlns="" val="1559123626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xmlns="" val="2266928441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xmlns="" val="2898028466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xmlns="" val="2310927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Doc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台灣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台北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台中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高雄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東京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日本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類別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16035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Training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1.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Taiwan</a:t>
                      </a:r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574515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2.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Taiwan</a:t>
                      </a:r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92228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3.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Taiwan</a:t>
                      </a:r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342122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4.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Japan</a:t>
                      </a:r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90590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Test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5957879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233779" y="3187084"/>
                <a:ext cx="11671175" cy="63895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𝑇𝑎𝑖𝑤𝑎𝑛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altLang="zh-TW" dirty="0"/>
                            <m:t>Taiwan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台灣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𝑇𝑎𝑖𝑤𝑎𝑛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i="1" smtClean="0">
                              <a:latin typeface="Cambria Math" panose="02040503050406030204" pitchFamily="18" charset="0"/>
                            </a:rPr>
                            <m:t>東京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𝑇𝑎𝑖𝑤𝑎𝑛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)×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日本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𝑇𝑎𝑖𝑤𝑎𝑛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               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skw"/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type m:val="skw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14</m:t>
                              </m:r>
                            </m:den>
                          </m:f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type m:val="skw"/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type m:val="skw"/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altLang="zh-TW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0.00029208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779" y="3187084"/>
                <a:ext cx="11671175" cy="638957"/>
              </a:xfrm>
              <a:prstGeom prst="rect">
                <a:avLst/>
              </a:prstGeom>
              <a:blipFill>
                <a:blip r:embed="rId2"/>
                <a:stretch>
                  <a:fillRect l="-679" t="-49524" b="-1380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233779" y="4315683"/>
                <a:ext cx="11671175" cy="66101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𝐽𝑎𝑝𝑎𝑛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altLang="zh-TW" dirty="0"/>
                            <m:t>Taiwan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台灣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𝐽𝑎𝑝𝑎𝑛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東京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𝐽𝑎𝑝𝑎𝑛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)×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日本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𝐽𝑎𝑝𝑎𝑛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            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skw"/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type m:val="skw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9</m:t>
                              </m:r>
                            </m:den>
                          </m:f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type m:val="skw"/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type m:val="skw"/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0.00014779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779" y="4315683"/>
                <a:ext cx="11671175" cy="661015"/>
              </a:xfrm>
              <a:prstGeom prst="rect">
                <a:avLst/>
              </a:prstGeom>
              <a:blipFill>
                <a:blip r:embed="rId3"/>
                <a:stretch>
                  <a:fillRect l="-679" t="-48148" b="-1314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5243017" y="5610521"/>
                <a:ext cx="165269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TW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altLang="zh-TW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𝑇𝑎𝑖𝑤𝑎𝑛</m:t>
                      </m:r>
                    </m:oMath>
                  </m:oMathPara>
                </a14:m>
                <a:endParaRPr lang="zh-TW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3017" y="5610521"/>
                <a:ext cx="1652697" cy="369332"/>
              </a:xfrm>
              <a:prstGeom prst="rect">
                <a:avLst/>
              </a:prstGeom>
              <a:blipFill>
                <a:blip r:embed="rId4"/>
                <a:stretch>
                  <a:fillRect l="-4059" r="-4059"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43150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Data Set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951346" cy="4351338"/>
          </a:xfrm>
        </p:spPr>
        <p:txBody>
          <a:bodyPr/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20NewsGroups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：包含約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20000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篇新聞文章，共有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個類別。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Yahoo Science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：作者自己在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1997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年在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yahoo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上蒐集的科學文章，約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14000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篇，包含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95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個類別。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WebKB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：包含從各大學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computer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science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收集的網頁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包含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student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faculty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staff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course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project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department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等各類別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，有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8282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pages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，斷詞後約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23830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個字。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19050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6026" y="205327"/>
            <a:ext cx="10515600" cy="1325563"/>
          </a:xfrm>
        </p:spPr>
        <p:txBody>
          <a:bodyPr/>
          <a:lstStyle/>
          <a:p>
            <a:r>
              <a:rPr lang="en-US" altLang="zh-TW" b="1" dirty="0"/>
              <a:t>Results</a:t>
            </a:r>
            <a:endParaRPr lang="zh-TW" altLang="en-US" b="1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0473" y="868108"/>
            <a:ext cx="6186766" cy="4351338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506026" y="5379244"/>
            <a:ext cx="114965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A comparison of event models for different vocabulary sizes on the Yahoo data set. Note that the multi-variate Bernoulli performs best with a small vocabulary and that the multinomial performs best with a larger vocabulary. The multinomial achieves higher accuracy overall.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020303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Results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8278" y="1027906"/>
            <a:ext cx="5964826" cy="4351338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838200" y="5645574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/>
              <a:t>A comparison of event models for different vocabulary sizes on the Newsgroups data set. Here, both data sets perform best at the full vocabulary, but multinomial achieves higher accuracy.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98208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53568" y="295133"/>
            <a:ext cx="10515600" cy="1325563"/>
          </a:xfrm>
        </p:spPr>
        <p:txBody>
          <a:bodyPr/>
          <a:lstStyle/>
          <a:p>
            <a:r>
              <a:rPr lang="en-US" altLang="zh-TW" b="1" dirty="0"/>
              <a:t>Results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925" y="1228807"/>
            <a:ext cx="5772150" cy="4133767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745561" y="5649917"/>
            <a:ext cx="107008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 comparison of event models for different vocabulary sizes on the </a:t>
            </a:r>
            <a:r>
              <a:rPr lang="en-US" altLang="zh-TW" dirty="0" err="1"/>
              <a:t>WebKB</a:t>
            </a:r>
            <a:r>
              <a:rPr lang="en-US" altLang="zh-TW" dirty="0"/>
              <a:t> data set. Here the two event models </a:t>
            </a:r>
          </a:p>
          <a:p>
            <a:r>
              <a:rPr lang="en-US" altLang="zh-TW" dirty="0"/>
              <a:t>achieve nearly equivalent accuracies, but the multi-variate Bernoulli achieves this with a smaller vocabulary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921172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</p:nvPr>
        </p:nvGraphicFramePr>
        <p:xfrm>
          <a:off x="802690" y="387443"/>
          <a:ext cx="10515600" cy="222504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1168400">
                  <a:extLst>
                    <a:ext uri="{9D8B030D-6E8A-4147-A177-3AD203B41FA5}">
                      <a16:colId xmlns:a16="http://schemas.microsoft.com/office/drawing/2014/main" xmlns="" val="81420742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xmlns="" val="1650724617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xmlns="" val="1420202239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xmlns="" val="64654434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xmlns="" val="3632335428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xmlns="" val="1559123626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xmlns="" val="2266928441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xmlns="" val="2898028466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xmlns="" val="2310927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Doc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台灣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北京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上海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澳門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東京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日本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類別</a:t>
                      </a:r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16035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Training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/>
                        <a:t>1.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Chinese</a:t>
                      </a:r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574515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2.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Chinese</a:t>
                      </a:r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92228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3.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Chinese</a:t>
                      </a:r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342122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4.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Japan</a:t>
                      </a:r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90590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Test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5.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?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59578794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802690" y="3036163"/>
            <a:ext cx="7120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測試樣本中有</a:t>
            </a:r>
            <a:r>
              <a:rPr lang="en-US" altLang="zh-TW" dirty="0"/>
              <a:t>3</a:t>
            </a:r>
            <a:r>
              <a:rPr lang="zh-TW" altLang="en-US" dirty="0"/>
              <a:t>個是標記</a:t>
            </a:r>
            <a:r>
              <a:rPr lang="en-US" altLang="zh-TW" dirty="0"/>
              <a:t>Chinese</a:t>
            </a:r>
            <a:r>
              <a:rPr lang="zh-TW" altLang="en-US" dirty="0"/>
              <a:t>的文章，有一個是標記</a:t>
            </a:r>
            <a:r>
              <a:rPr lang="en-US" altLang="zh-TW" dirty="0"/>
              <a:t>Japan</a:t>
            </a:r>
            <a:r>
              <a:rPr lang="zh-TW" altLang="en-US" dirty="0"/>
              <a:t>的文章</a:t>
            </a:r>
            <a:r>
              <a:rPr lang="zh-TW" altLang="en-US" dirty="0">
                <a:latin typeface="PMingLiU" panose="02020500000000000000" pitchFamily="18" charset="-120"/>
                <a:ea typeface="PMingLiU" panose="02020500000000000000" pitchFamily="18" charset="-120"/>
              </a:rPr>
              <a:t>：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7808141" y="2898640"/>
                <a:ext cx="1686679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𝐶h𝑖𝑛𝑒𝑠𝑒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8141" y="2898640"/>
                <a:ext cx="1686679" cy="5186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9534603" y="2861352"/>
                <a:ext cx="1668277" cy="6109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𝐽𝑎𝑝𝑎𝑛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4603" y="2861352"/>
                <a:ext cx="1668277" cy="6109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690789" y="3508574"/>
                <a:ext cx="3631700" cy="6756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中國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zh-TW" altLang="en-US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𝐶h𝑖𝑛𝑒𝑠𝑒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89" y="3508574"/>
                <a:ext cx="3631700" cy="6756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4446043" y="3508574"/>
                <a:ext cx="5951822" cy="6756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日本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zh-TW" altLang="en-US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𝐶h𝑖𝑛𝑒𝑠𝑒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  <m:t>東京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zh-TW" altLang="en-US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𝐶h𝑖𝑛𝑒𝑠𝑒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043" y="3508574"/>
                <a:ext cx="5951822" cy="6756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423043" y="4092311"/>
                <a:ext cx="8752181" cy="6756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北京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zh-TW" altLang="en-US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𝐶h𝑖𝑛𝑒𝑠𝑒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上海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zh-TW" altLang="en-US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𝐶h𝑖𝑛𝑒𝑠𝑒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澳門</m:t>
                          </m:r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zh-TW" altLang="en-US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𝐶h𝑖𝑛𝑒𝑠𝑒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3+2</m:t>
                          </m:r>
                        </m:den>
                      </m:f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zh-TW" altLang="en-US" sz="2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43" y="4092311"/>
                <a:ext cx="8752181" cy="6756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690789" y="5113326"/>
                <a:ext cx="3500574" cy="7022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中國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zh-TW" altLang="en-US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𝐽𝑎𝑝𝑎𝑛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89" y="5113326"/>
                <a:ext cx="3500574" cy="70224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138957" y="5830507"/>
                <a:ext cx="8752181" cy="6756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北京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𝐽𝑎𝑝𝑎𝑛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上海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𝐽𝑎𝑝𝑎𝑛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澳門</m:t>
                          </m:r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𝐽𝑎𝑝𝑎𝑛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+2</m:t>
                          </m:r>
                        </m:den>
                      </m:f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zh-TW" altLang="en-US" sz="2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957" y="5830507"/>
                <a:ext cx="8752181" cy="67569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/>
              <p:cNvSpPr txBox="1"/>
              <p:nvPr/>
            </p:nvSpPr>
            <p:spPr>
              <a:xfrm>
                <a:off x="4446043" y="5065426"/>
                <a:ext cx="5503622" cy="6756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日本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𝐽𝑎𝑝𝑎𝑛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 smtClean="0">
                              <a:latin typeface="Cambria Math" panose="02040503050406030204" pitchFamily="18" charset="0"/>
                            </a:rPr>
                            <m:t>東京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𝐽𝑎𝑝𝑎𝑛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043" y="5065426"/>
                <a:ext cx="5503622" cy="6756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1922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1628</TotalTime>
  <Words>1283</Words>
  <Application>Microsoft Office PowerPoint</Application>
  <PresentationFormat>寬螢幕</PresentationFormat>
  <Paragraphs>361</Paragraphs>
  <Slides>20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12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33" baseType="lpstr">
      <vt:lpstr>Liberation Sans</vt:lpstr>
      <vt:lpstr>Liberation Sans Narrow</vt:lpstr>
      <vt:lpstr>Liberation Serif</vt:lpstr>
      <vt:lpstr>微軟正黑體</vt:lpstr>
      <vt:lpstr>新細明體</vt:lpstr>
      <vt:lpstr>新細明體</vt:lpstr>
      <vt:lpstr>Arial</vt:lpstr>
      <vt:lpstr>Calibri</vt:lpstr>
      <vt:lpstr>Calibri Light</vt:lpstr>
      <vt:lpstr>Cambria Math</vt:lpstr>
      <vt:lpstr>Mangal</vt:lpstr>
      <vt:lpstr>Tahoma</vt:lpstr>
      <vt:lpstr>Office 佈景主題</vt:lpstr>
      <vt:lpstr>In AAAI-98 Workshop on Learning for Text Categorization, pp. 41–48, A. McCallum and K. Nigam.(1998)  </vt:lpstr>
      <vt:lpstr>Abstract</vt:lpstr>
      <vt:lpstr>Vector space model, VSM</vt:lpstr>
      <vt:lpstr>Vector space model, VSM</vt:lpstr>
      <vt:lpstr>Bayes' theorem</vt:lpstr>
      <vt:lpstr>PowerPoint 簡報</vt:lpstr>
      <vt:lpstr>Bernoulli Model</vt:lpstr>
      <vt:lpstr>Bernoulli Model</vt:lpstr>
      <vt:lpstr>Bernoulli Model</vt:lpstr>
      <vt:lpstr>PowerPoint 簡報</vt:lpstr>
      <vt:lpstr>PowerPoint 簡報</vt:lpstr>
      <vt:lpstr>Multinomial Model</vt:lpstr>
      <vt:lpstr>Multinomial Model</vt:lpstr>
      <vt:lpstr>PowerPoint 簡報</vt:lpstr>
      <vt:lpstr>PowerPoint 簡報</vt:lpstr>
      <vt:lpstr>Data Set</vt:lpstr>
      <vt:lpstr>Results</vt:lpstr>
      <vt:lpstr>Results</vt:lpstr>
      <vt:lpstr>Results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Expert Systems with Applications, Vol. 38 2758–2765 Wen Zhang , Taketoshi Yoshida , Xijin Tang (2011)  </dc:title>
  <dc:creator>Jyun-Hao Lai</dc:creator>
  <cp:lastModifiedBy>pplab-class</cp:lastModifiedBy>
  <cp:revision>177</cp:revision>
  <dcterms:created xsi:type="dcterms:W3CDTF">2016-09-20T07:36:42Z</dcterms:created>
  <dcterms:modified xsi:type="dcterms:W3CDTF">2016-11-08T11:27:46Z</dcterms:modified>
</cp:coreProperties>
</file>