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0" r:id="rId17"/>
    <p:sldId id="276" r:id="rId18"/>
    <p:sldId id="291" r:id="rId19"/>
    <p:sldId id="292" r:id="rId20"/>
    <p:sldId id="293" r:id="rId21"/>
    <p:sldId id="277" r:id="rId22"/>
    <p:sldId id="280" r:id="rId23"/>
    <p:sldId id="281" r:id="rId24"/>
    <p:sldId id="282" r:id="rId25"/>
    <p:sldId id="283" r:id="rId26"/>
    <p:sldId id="284" r:id="rId27"/>
    <p:sldId id="285" r:id="rId28"/>
    <p:sldId id="286" r:id="rId29"/>
    <p:sldId id="287" r:id="rId30"/>
    <p:sldId id="288" r:id="rId31"/>
    <p:sldId id="289" r:id="rId32"/>
    <p:sldId id="290" r:id="rId33"/>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p:scale>
          <a:sx n="66" d="100"/>
          <a:sy n="66" d="100"/>
        </p:scale>
        <p:origin x="2214" y="11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endParaRPr lang="en-US" dirty="0"/>
          </a:p>
        </p:txBody>
      </p:sp>
      <p:sp>
        <p:nvSpPr>
          <p:cNvPr id="4" name="Date Placeholder 3"/>
          <p:cNvSpPr>
            <a:spLocks noGrp="1"/>
          </p:cNvSpPr>
          <p:nvPr>
            <p:ph type="dt" sz="half" idx="10"/>
          </p:nvPr>
        </p:nvSpPr>
        <p:spPr/>
        <p:txBody>
          <a:bodyPr/>
          <a:lstStyle/>
          <a:p>
            <a:fld id="{4F75F0AE-DBB8-464C-8E93-282F3DDA85A6}" type="datetimeFigureOut">
              <a:rPr lang="zh-TW" altLang="en-US" smtClean="0"/>
              <a:t>2016/11/8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2D4E131C-E417-472F-977E-F3A125E26C3F}" type="slidenum">
              <a:rPr lang="zh-TW" altLang="en-US" smtClean="0"/>
              <a:t>‹#›</a:t>
            </a:fld>
            <a:endParaRPr lang="zh-TW" altLang="en-US"/>
          </a:p>
        </p:txBody>
      </p:sp>
    </p:spTree>
    <p:extLst>
      <p:ext uri="{BB962C8B-B14F-4D97-AF65-F5344CB8AC3E}">
        <p14:creationId xmlns:p14="http://schemas.microsoft.com/office/powerpoint/2010/main" val="17114619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4F75F0AE-DBB8-464C-8E93-282F3DDA85A6}" type="datetimeFigureOut">
              <a:rPr lang="zh-TW" altLang="en-US" smtClean="0"/>
              <a:t>2016/11/8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2D4E131C-E417-472F-977E-F3A125E26C3F}" type="slidenum">
              <a:rPr lang="zh-TW" altLang="en-US" smtClean="0"/>
              <a:t>‹#›</a:t>
            </a:fld>
            <a:endParaRPr lang="zh-TW" altLang="en-US"/>
          </a:p>
        </p:txBody>
      </p:sp>
    </p:spTree>
    <p:extLst>
      <p:ext uri="{BB962C8B-B14F-4D97-AF65-F5344CB8AC3E}">
        <p14:creationId xmlns:p14="http://schemas.microsoft.com/office/powerpoint/2010/main" val="3407375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4F75F0AE-DBB8-464C-8E93-282F3DDA85A6}" type="datetimeFigureOut">
              <a:rPr lang="zh-TW" altLang="en-US" smtClean="0"/>
              <a:t>2016/11/8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2D4E131C-E417-472F-977E-F3A125E26C3F}" type="slidenum">
              <a:rPr lang="zh-TW" altLang="en-US" smtClean="0"/>
              <a:t>‹#›</a:t>
            </a:fld>
            <a:endParaRPr lang="zh-TW" altLang="en-US"/>
          </a:p>
        </p:txBody>
      </p:sp>
    </p:spTree>
    <p:extLst>
      <p:ext uri="{BB962C8B-B14F-4D97-AF65-F5344CB8AC3E}">
        <p14:creationId xmlns:p14="http://schemas.microsoft.com/office/powerpoint/2010/main" val="18810754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4F75F0AE-DBB8-464C-8E93-282F3DDA85A6}" type="datetimeFigureOut">
              <a:rPr lang="zh-TW" altLang="en-US" smtClean="0"/>
              <a:t>2016/11/8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2D4E131C-E417-472F-977E-F3A125E26C3F}" type="slidenum">
              <a:rPr lang="zh-TW" altLang="en-US" smtClean="0"/>
              <a:t>‹#›</a:t>
            </a:fld>
            <a:endParaRPr lang="zh-TW" altLang="en-US"/>
          </a:p>
        </p:txBody>
      </p:sp>
    </p:spTree>
    <p:extLst>
      <p:ext uri="{BB962C8B-B14F-4D97-AF65-F5344CB8AC3E}">
        <p14:creationId xmlns:p14="http://schemas.microsoft.com/office/powerpoint/2010/main" val="300467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4F75F0AE-DBB8-464C-8E93-282F3DDA85A6}" type="datetimeFigureOut">
              <a:rPr lang="zh-TW" altLang="en-US" smtClean="0"/>
              <a:t>2016/11/8</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2D4E131C-E417-472F-977E-F3A125E26C3F}" type="slidenum">
              <a:rPr lang="zh-TW" altLang="en-US" smtClean="0"/>
              <a:t>‹#›</a:t>
            </a:fld>
            <a:endParaRPr lang="zh-TW" altLang="en-US"/>
          </a:p>
        </p:txBody>
      </p:sp>
    </p:spTree>
    <p:extLst>
      <p:ext uri="{BB962C8B-B14F-4D97-AF65-F5344CB8AC3E}">
        <p14:creationId xmlns:p14="http://schemas.microsoft.com/office/powerpoint/2010/main" val="18605866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4F75F0AE-DBB8-464C-8E93-282F3DDA85A6}" type="datetimeFigureOut">
              <a:rPr lang="zh-TW" altLang="en-US" smtClean="0"/>
              <a:t>2016/11/8</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2D4E131C-E417-472F-977E-F3A125E26C3F}" type="slidenum">
              <a:rPr lang="zh-TW" altLang="en-US" smtClean="0"/>
              <a:t>‹#›</a:t>
            </a:fld>
            <a:endParaRPr lang="zh-TW" altLang="en-US"/>
          </a:p>
        </p:txBody>
      </p:sp>
    </p:spTree>
    <p:extLst>
      <p:ext uri="{BB962C8B-B14F-4D97-AF65-F5344CB8AC3E}">
        <p14:creationId xmlns:p14="http://schemas.microsoft.com/office/powerpoint/2010/main" val="596799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75F0AE-DBB8-464C-8E93-282F3DDA85A6}" type="datetimeFigureOut">
              <a:rPr lang="zh-TW" altLang="en-US" smtClean="0"/>
              <a:t>2016/11/8</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2D4E131C-E417-472F-977E-F3A125E26C3F}" type="slidenum">
              <a:rPr lang="zh-TW" altLang="en-US" smtClean="0"/>
              <a:t>‹#›</a:t>
            </a:fld>
            <a:endParaRPr lang="zh-TW" altLang="en-US"/>
          </a:p>
        </p:txBody>
      </p:sp>
    </p:spTree>
    <p:extLst>
      <p:ext uri="{BB962C8B-B14F-4D97-AF65-F5344CB8AC3E}">
        <p14:creationId xmlns:p14="http://schemas.microsoft.com/office/powerpoint/2010/main" val="1356242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4F75F0AE-DBB8-464C-8E93-282F3DDA85A6}" type="datetimeFigureOut">
              <a:rPr lang="zh-TW" altLang="en-US" smtClean="0"/>
              <a:t>2016/11/8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2D4E131C-E417-472F-977E-F3A125E26C3F}" type="slidenum">
              <a:rPr lang="zh-TW" altLang="en-US" smtClean="0"/>
              <a:t>‹#›</a:t>
            </a:fld>
            <a:endParaRPr lang="zh-TW" altLang="en-US"/>
          </a:p>
        </p:txBody>
      </p:sp>
    </p:spTree>
    <p:extLst>
      <p:ext uri="{BB962C8B-B14F-4D97-AF65-F5344CB8AC3E}">
        <p14:creationId xmlns:p14="http://schemas.microsoft.com/office/powerpoint/2010/main" val="15646156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4F75F0AE-DBB8-464C-8E93-282F3DDA85A6}" type="datetimeFigureOut">
              <a:rPr lang="zh-TW" altLang="en-US" smtClean="0"/>
              <a:t>2016/11/8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2D4E131C-E417-472F-977E-F3A125E26C3F}" type="slidenum">
              <a:rPr lang="zh-TW" altLang="en-US" smtClean="0"/>
              <a:t>‹#›</a:t>
            </a:fld>
            <a:endParaRPr lang="zh-TW" altLang="en-US"/>
          </a:p>
        </p:txBody>
      </p:sp>
    </p:spTree>
    <p:extLst>
      <p:ext uri="{BB962C8B-B14F-4D97-AF65-F5344CB8AC3E}">
        <p14:creationId xmlns:p14="http://schemas.microsoft.com/office/powerpoint/2010/main" val="1474604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4F75F0AE-DBB8-464C-8E93-282F3DDA85A6}" type="datetimeFigureOut">
              <a:rPr lang="zh-TW" altLang="en-US" smtClean="0"/>
              <a:t>2016/11/8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2D4E131C-E417-472F-977E-F3A125E26C3F}" type="slidenum">
              <a:rPr lang="zh-TW" altLang="en-US" smtClean="0"/>
              <a:t>‹#›</a:t>
            </a:fld>
            <a:endParaRPr lang="zh-TW" altLang="en-US"/>
          </a:p>
        </p:txBody>
      </p:sp>
    </p:spTree>
    <p:extLst>
      <p:ext uri="{BB962C8B-B14F-4D97-AF65-F5344CB8AC3E}">
        <p14:creationId xmlns:p14="http://schemas.microsoft.com/office/powerpoint/2010/main" val="3969936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4F75F0AE-DBB8-464C-8E93-282F3DDA85A6}" type="datetimeFigureOut">
              <a:rPr lang="zh-TW" altLang="en-US" smtClean="0"/>
              <a:t>2016/11/8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2D4E131C-E417-472F-977E-F3A125E26C3F}" type="slidenum">
              <a:rPr lang="zh-TW" altLang="en-US" smtClean="0"/>
              <a:t>‹#›</a:t>
            </a:fld>
            <a:endParaRPr lang="zh-TW" altLang="en-US"/>
          </a:p>
        </p:txBody>
      </p:sp>
    </p:spTree>
    <p:extLst>
      <p:ext uri="{BB962C8B-B14F-4D97-AF65-F5344CB8AC3E}">
        <p14:creationId xmlns:p14="http://schemas.microsoft.com/office/powerpoint/2010/main" val="2871815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75F0AE-DBB8-464C-8E93-282F3DDA85A6}" type="datetimeFigureOut">
              <a:rPr lang="zh-TW" altLang="en-US" smtClean="0"/>
              <a:t>2016/11/8</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4E131C-E417-472F-977E-F3A125E26C3F}" type="slidenum">
              <a:rPr lang="zh-TW" altLang="en-US" smtClean="0"/>
              <a:t>‹#›</a:t>
            </a:fld>
            <a:endParaRPr lang="zh-TW" altLang="en-US"/>
          </a:p>
        </p:txBody>
      </p:sp>
    </p:spTree>
    <p:extLst>
      <p:ext uri="{BB962C8B-B14F-4D97-AF65-F5344CB8AC3E}">
        <p14:creationId xmlns:p14="http://schemas.microsoft.com/office/powerpoint/2010/main" val="14419319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0.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8.png"/><Relationship Id="rId7" Type="http://schemas.openxmlformats.org/officeDocument/2006/relationships/image" Target="../media/image29.png"/><Relationship Id="rId2" Type="http://schemas.openxmlformats.org/officeDocument/2006/relationships/image" Target="../media/image27.jpg"/><Relationship Id="rId1" Type="http://schemas.openxmlformats.org/officeDocument/2006/relationships/slideLayout" Target="../slideLayouts/slideLayout4.xml"/><Relationship Id="rId6" Type="http://schemas.openxmlformats.org/officeDocument/2006/relationships/image" Target="../media/image280.png"/><Relationship Id="rId5" Type="http://schemas.openxmlformats.org/officeDocument/2006/relationships/image" Target="../media/image27.png"/><Relationship Id="rId4" Type="http://schemas.openxmlformats.org/officeDocument/2006/relationships/image" Target="../media/image250.png"/></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27.jp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9"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751703" y="378940"/>
            <a:ext cx="7772400" cy="2387600"/>
          </a:xfrm>
        </p:spPr>
        <p:txBody>
          <a:bodyPr>
            <a:normAutofit fontScale="90000"/>
          </a:bodyPr>
          <a:lstStyle/>
          <a:p>
            <a:r>
              <a:rPr lang="en-US" altLang="zh-TW" dirty="0"/>
              <a:t>Approximation Algorithms for Combinatorial Problems</a:t>
            </a:r>
            <a:endParaRPr lang="zh-TW" altLang="en-US" dirty="0"/>
          </a:p>
        </p:txBody>
      </p:sp>
      <p:sp>
        <p:nvSpPr>
          <p:cNvPr id="3" name="副標題 2"/>
          <p:cNvSpPr>
            <a:spLocks noGrp="1"/>
          </p:cNvSpPr>
          <p:nvPr>
            <p:ph type="subTitle" idx="1"/>
          </p:nvPr>
        </p:nvSpPr>
        <p:spPr>
          <a:xfrm>
            <a:off x="1143000" y="3271843"/>
            <a:ext cx="6858000" cy="1655762"/>
          </a:xfrm>
        </p:spPr>
        <p:txBody>
          <a:bodyPr>
            <a:normAutofit/>
          </a:bodyPr>
          <a:lstStyle/>
          <a:p>
            <a:r>
              <a:rPr lang="it-IT" altLang="zh-TW" dirty="0"/>
              <a:t>David S. Johnson</a:t>
            </a:r>
          </a:p>
          <a:p>
            <a:r>
              <a:rPr lang="en-US" altLang="zh-TW" sz="2000" dirty="0"/>
              <a:t>Journal of Computer and System Sciences, Vol.9, pp.256-278 (1974)</a:t>
            </a:r>
            <a:endParaRPr lang="zh-TW" altLang="en-US" sz="2000" dirty="0"/>
          </a:p>
          <a:p>
            <a:endParaRPr lang="zh-TW" altLang="en-US" dirty="0"/>
          </a:p>
        </p:txBody>
      </p:sp>
      <p:sp>
        <p:nvSpPr>
          <p:cNvPr id="5" name="文字方塊 4"/>
          <p:cNvSpPr txBox="1"/>
          <p:nvPr/>
        </p:nvSpPr>
        <p:spPr>
          <a:xfrm>
            <a:off x="2998973" y="4927605"/>
            <a:ext cx="3146054" cy="707886"/>
          </a:xfrm>
          <a:prstGeom prst="rect">
            <a:avLst/>
          </a:prstGeom>
          <a:noFill/>
        </p:spPr>
        <p:txBody>
          <a:bodyPr wrap="non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TW" sz="2000" dirty="0"/>
              <a:t>Presenter: </a:t>
            </a:r>
            <a:r>
              <a:rPr lang="en-US" altLang="zh-TW" sz="2000" dirty="0" err="1"/>
              <a:t>Shiou-Zong</a:t>
            </a:r>
            <a:r>
              <a:rPr lang="en-US" altLang="zh-TW" sz="2000" dirty="0"/>
              <a:t> </a:t>
            </a:r>
            <a:r>
              <a:rPr lang="en-US" altLang="zh-TW" sz="2000" dirty="0" err="1"/>
              <a:t>Chiou</a:t>
            </a:r>
            <a:endParaRPr lang="en-US" altLang="zh-TW" sz="2000" dirty="0"/>
          </a:p>
          <a:p>
            <a:r>
              <a:rPr lang="en-US" altLang="zh-TW" sz="2000" dirty="0"/>
              <a:t>Date:2016/11/08</a:t>
            </a:r>
            <a:endParaRPr lang="zh-TW" altLang="en-US" sz="2000" dirty="0"/>
          </a:p>
        </p:txBody>
      </p:sp>
    </p:spTree>
    <p:extLst>
      <p:ext uri="{BB962C8B-B14F-4D97-AF65-F5344CB8AC3E}">
        <p14:creationId xmlns:p14="http://schemas.microsoft.com/office/powerpoint/2010/main" val="40973231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Abstract</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fontScale="85000" lnSpcReduction="20000"/>
              </a:bodyPr>
              <a:lstStyle/>
              <a:p>
                <a:pPr marL="0" indent="0">
                  <a:buNone/>
                </a:pPr>
                <a:r>
                  <a:rPr lang="en-US" altLang="zh-TW" dirty="0"/>
                  <a:t>Simple, polynomial-time, heuristic algorithms for finding approximate solutions to various polynomial complete optimization problems are analyzed with respect to their worst case behavior, measured by the ratio of the worst solution value that can be chosen by the algorithm to the optimal value. For certain problems, such as a simple form of the knapsack problem and an optimization problem based on </a:t>
                </a:r>
                <a:r>
                  <a:rPr lang="en-US" altLang="zh-TW" dirty="0" err="1"/>
                  <a:t>satisfiability</a:t>
                </a:r>
                <a:r>
                  <a:rPr lang="en-US" altLang="zh-TW" dirty="0"/>
                  <a:t> testing, there are algorithms for which this ratio is bounded by a constant, independent of the problem size, For a number of set covering problems, simple algorithms yield worst case ratios which can grow with the log of the problem size. And for the problem of finding the maximum clique in a graph, no algorithm has been found for which the ratio does not grow at least as fast as </a:t>
                </a:r>
                <a14:m>
                  <m:oMath xmlns:m="http://schemas.openxmlformats.org/officeDocument/2006/math">
                    <m:sSup>
                      <m:sSupPr>
                        <m:ctrlPr>
                          <a:rPr lang="en-US" altLang="zh-TW" i="1" smtClean="0">
                            <a:latin typeface="Cambria Math" panose="02040503050406030204" pitchFamily="18" charset="0"/>
                          </a:rPr>
                        </m:ctrlPr>
                      </m:sSupPr>
                      <m:e>
                        <m:r>
                          <a:rPr lang="en-US" altLang="zh-TW" b="0" i="1" smtClean="0">
                            <a:latin typeface="Cambria Math" panose="02040503050406030204" pitchFamily="18" charset="0"/>
                          </a:rPr>
                          <m:t>𝑛</m:t>
                        </m:r>
                      </m:e>
                      <m:sup>
                        <m:r>
                          <a:rPr lang="zh-TW" altLang="en-US" i="1" smtClean="0">
                            <a:latin typeface="Cambria Math" panose="02040503050406030204" pitchFamily="18" charset="0"/>
                          </a:rPr>
                          <m:t>𝜀</m:t>
                        </m:r>
                      </m:sup>
                    </m:sSup>
                  </m:oMath>
                </a14:m>
                <a:r>
                  <a:rPr lang="en-US" altLang="zh-TW" dirty="0"/>
                  <a:t>, where </a:t>
                </a:r>
                <a14:m>
                  <m:oMath xmlns:m="http://schemas.openxmlformats.org/officeDocument/2006/math">
                    <m:r>
                      <a:rPr lang="en-US" altLang="zh-TW" b="0" i="1" smtClean="0">
                        <a:latin typeface="Cambria Math" panose="02040503050406030204" pitchFamily="18" charset="0"/>
                      </a:rPr>
                      <m:t>𝑛</m:t>
                    </m:r>
                  </m:oMath>
                </a14:m>
                <a:r>
                  <a:rPr lang="zh-TW" altLang="en-US" dirty="0"/>
                  <a:t> </a:t>
                </a:r>
                <a:r>
                  <a:rPr lang="en-US" altLang="zh-TW" dirty="0"/>
                  <a:t>is the problem size and </a:t>
                </a:r>
                <a14:m>
                  <m:oMath xmlns:m="http://schemas.openxmlformats.org/officeDocument/2006/math">
                    <m:r>
                      <a:rPr lang="zh-TW" altLang="en-US" i="1" smtClean="0">
                        <a:latin typeface="Cambria Math" panose="02040503050406030204" pitchFamily="18" charset="0"/>
                      </a:rPr>
                      <m:t>𝜀</m:t>
                    </m:r>
                    <m:r>
                      <a:rPr lang="en-US" altLang="zh-TW" i="1" smtClean="0">
                        <a:latin typeface="Cambria Math" panose="02040503050406030204" pitchFamily="18" charset="0"/>
                        <a:ea typeface="Cambria Math" panose="02040503050406030204" pitchFamily="18" charset="0"/>
                      </a:rPr>
                      <m:t>&gt;</m:t>
                    </m:r>
                    <m:r>
                      <a:rPr lang="en-US" altLang="zh-TW" b="0" i="1" smtClean="0">
                        <a:latin typeface="Cambria Math" panose="02040503050406030204" pitchFamily="18" charset="0"/>
                        <a:ea typeface="Cambria Math" panose="02040503050406030204" pitchFamily="18" charset="0"/>
                      </a:rPr>
                      <m:t>0</m:t>
                    </m:r>
                  </m:oMath>
                </a14:m>
                <a:r>
                  <a:rPr lang="zh-TW" altLang="en-US" dirty="0"/>
                  <a:t> </a:t>
                </a:r>
                <a:r>
                  <a:rPr lang="en-US" altLang="zh-TW" dirty="0"/>
                  <a:t>depends on the algorithm.</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159" t="-3221" r="-200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577331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Subset-Sum</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𝐼𝑁𝑃𝑈𝑇</m:t>
                        </m:r>
                      </m:e>
                      <m:sub>
                        <m:r>
                          <a:rPr lang="en-US" altLang="zh-TW" b="0" i="1" smtClean="0">
                            <a:latin typeface="Cambria Math" panose="02040503050406030204" pitchFamily="18" charset="0"/>
                          </a:rPr>
                          <m:t>𝑆𝑆</m:t>
                        </m:r>
                      </m:sub>
                    </m:sSub>
                    <m:r>
                      <a:rPr lang="en-US" altLang="zh-TW" b="0" i="1" smtClean="0">
                        <a:latin typeface="Cambria Math" panose="02040503050406030204" pitchFamily="18" charset="0"/>
                      </a:rPr>
                      <m:t>={&lt;</m:t>
                    </m:r>
                    <m:r>
                      <a:rPr lang="en-US" altLang="zh-TW" b="0" i="1" smtClean="0">
                        <a:latin typeface="Cambria Math" panose="02040503050406030204" pitchFamily="18" charset="0"/>
                      </a:rPr>
                      <m:t>𝑇</m:t>
                    </m:r>
                    <m:r>
                      <a:rPr lang="en-US" altLang="zh-TW" b="0" i="1" smtClean="0">
                        <a:latin typeface="Cambria Math" panose="02040503050406030204" pitchFamily="18" charset="0"/>
                      </a:rPr>
                      <m:t>,</m:t>
                    </m:r>
                    <m:r>
                      <a:rPr lang="en-US" altLang="zh-TW" b="0" i="1" smtClean="0">
                        <a:latin typeface="Cambria Math" panose="02040503050406030204" pitchFamily="18" charset="0"/>
                      </a:rPr>
                      <m:t>𝑠</m:t>
                    </m:r>
                    <m:r>
                      <a:rPr lang="en-US" altLang="zh-TW" b="0" i="1" smtClean="0">
                        <a:latin typeface="Cambria Math" panose="02040503050406030204" pitchFamily="18" charset="0"/>
                      </a:rPr>
                      <m:t>,</m:t>
                    </m:r>
                    <m:r>
                      <a:rPr lang="en-US" altLang="zh-TW" b="0" i="1" smtClean="0">
                        <a:latin typeface="Cambria Math" panose="02040503050406030204" pitchFamily="18" charset="0"/>
                      </a:rPr>
                      <m:t>𝑏</m:t>
                    </m:r>
                    <m:r>
                      <a:rPr lang="en-US" altLang="zh-TW" b="0" i="1" smtClean="0">
                        <a:latin typeface="Cambria Math" panose="02040503050406030204" pitchFamily="18" charset="0"/>
                      </a:rPr>
                      <m:t>&gt;}</m:t>
                    </m:r>
                  </m:oMath>
                </a14:m>
                <a:r>
                  <a:rPr lang="zh-TW" altLang="en-US" dirty="0"/>
                  <a:t> </a:t>
                </a:r>
                <a:endParaRPr lang="en-US" altLang="zh-TW" dirty="0"/>
              </a:p>
              <a:p>
                <a:pPr marL="0" indent="0">
                  <a:buNone/>
                </a:pP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𝑆𝑂𝐿</m:t>
                        </m:r>
                      </m:e>
                      <m:sub>
                        <m:r>
                          <a:rPr lang="en-US" altLang="zh-TW" b="0" i="1" smtClean="0">
                            <a:latin typeface="Cambria Math" panose="02040503050406030204" pitchFamily="18" charset="0"/>
                          </a:rPr>
                          <m:t>𝑆𝑆</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&lt;</m:t>
                        </m:r>
                        <m:r>
                          <a:rPr lang="en-US" altLang="zh-TW" b="0" i="1" smtClean="0">
                            <a:latin typeface="Cambria Math" panose="02040503050406030204" pitchFamily="18" charset="0"/>
                          </a:rPr>
                          <m:t>𝑇</m:t>
                        </m:r>
                        <m:r>
                          <a:rPr lang="en-US" altLang="zh-TW" b="0" i="1" smtClean="0">
                            <a:latin typeface="Cambria Math" panose="02040503050406030204" pitchFamily="18" charset="0"/>
                          </a:rPr>
                          <m:t>,</m:t>
                        </m:r>
                        <m:r>
                          <a:rPr lang="en-US" altLang="zh-TW" b="0" i="1" smtClean="0">
                            <a:latin typeface="Cambria Math" panose="02040503050406030204" pitchFamily="18" charset="0"/>
                          </a:rPr>
                          <m:t>𝑠</m:t>
                        </m:r>
                        <m:r>
                          <a:rPr lang="en-US" altLang="zh-TW" b="0" i="1" smtClean="0">
                            <a:latin typeface="Cambria Math" panose="02040503050406030204" pitchFamily="18" charset="0"/>
                          </a:rPr>
                          <m:t>,</m:t>
                        </m:r>
                        <m:r>
                          <a:rPr lang="en-US" altLang="zh-TW" b="0" i="1" smtClean="0">
                            <a:latin typeface="Cambria Math" panose="02040503050406030204" pitchFamily="18" charset="0"/>
                          </a:rPr>
                          <m:t>𝑏</m:t>
                        </m:r>
                        <m:r>
                          <a:rPr lang="en-US" altLang="zh-TW" b="0" i="1" smtClean="0">
                            <a:latin typeface="Cambria Math" panose="02040503050406030204" pitchFamily="18" charset="0"/>
                          </a:rPr>
                          <m:t>&gt;</m:t>
                        </m:r>
                      </m:e>
                    </m:d>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𝑇</m:t>
                        </m:r>
                      </m:e>
                      <m:sup>
                        <m:r>
                          <a:rPr lang="en-US" altLang="zh-TW" b="0" i="1" smtClean="0">
                            <a:latin typeface="Cambria Math" panose="02040503050406030204" pitchFamily="18" charset="0"/>
                          </a:rPr>
                          <m:t>′</m:t>
                        </m:r>
                      </m:sup>
                    </m:sSup>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𝑇</m:t>
                    </m:r>
                    <m:r>
                      <a:rPr lang="en-US" altLang="zh-TW" b="0" i="1" smtClean="0">
                        <a:latin typeface="Cambria Math" panose="02040503050406030204" pitchFamily="18" charset="0"/>
                        <a:ea typeface="Cambria Math" panose="02040503050406030204" pitchFamily="18" charset="0"/>
                      </a:rPr>
                      <m:t>:</m:t>
                    </m:r>
                    <m:nary>
                      <m:naryPr>
                        <m:chr m:val="∑"/>
                        <m:supHide m:val="on"/>
                        <m:ctrlPr>
                          <a:rPr lang="en-US" altLang="zh-TW" b="0" i="1" smtClean="0">
                            <a:latin typeface="Cambria Math" panose="02040503050406030204" pitchFamily="18" charset="0"/>
                            <a:ea typeface="Cambria Math" panose="02040503050406030204" pitchFamily="18" charset="0"/>
                          </a:rPr>
                        </m:ctrlPr>
                      </m:naryPr>
                      <m:sub>
                        <m:r>
                          <m:rPr>
                            <m:brk m:alnAt="7"/>
                          </m:rPr>
                          <a:rPr lang="en-US" altLang="zh-TW" b="0" i="1" smtClean="0">
                            <a:latin typeface="Cambria Math" panose="02040503050406030204" pitchFamily="18" charset="0"/>
                            <a:ea typeface="Cambria Math" panose="02040503050406030204" pitchFamily="18" charset="0"/>
                          </a:rPr>
                          <m:t>𝑥</m:t>
                        </m:r>
                        <m:r>
                          <a:rPr lang="en-US" altLang="zh-TW" b="0" i="1" smtClean="0">
                            <a:latin typeface="Cambria Math" panose="02040503050406030204" pitchFamily="18" charset="0"/>
                            <a:ea typeface="Cambria Math" panose="02040503050406030204" pitchFamily="18" charset="0"/>
                          </a:rPr>
                          <m:t>∈</m:t>
                        </m:r>
                        <m:sSup>
                          <m:sSupPr>
                            <m:ctrlPr>
                              <a:rPr lang="en-US" altLang="zh-TW" b="0" i="1" smtClean="0">
                                <a:latin typeface="Cambria Math" panose="02040503050406030204" pitchFamily="18" charset="0"/>
                                <a:ea typeface="Cambria Math" panose="02040503050406030204" pitchFamily="18" charset="0"/>
                              </a:rPr>
                            </m:ctrlPr>
                          </m:sSupPr>
                          <m:e>
                            <m:r>
                              <a:rPr lang="en-US" altLang="zh-TW" b="0" i="1" smtClean="0">
                                <a:latin typeface="Cambria Math" panose="02040503050406030204" pitchFamily="18" charset="0"/>
                                <a:ea typeface="Cambria Math" panose="02040503050406030204" pitchFamily="18" charset="0"/>
                              </a:rPr>
                              <m:t>𝑇</m:t>
                            </m:r>
                          </m:e>
                          <m:sup>
                            <m:r>
                              <a:rPr lang="en-US" altLang="zh-TW" b="0" i="1" smtClean="0">
                                <a:latin typeface="Cambria Math" panose="02040503050406030204" pitchFamily="18" charset="0"/>
                                <a:ea typeface="Cambria Math" panose="02040503050406030204" pitchFamily="18" charset="0"/>
                              </a:rPr>
                              <m:t>′</m:t>
                            </m:r>
                          </m:sup>
                        </m:sSup>
                      </m:sub>
                      <m:sup/>
                      <m:e>
                        <m:r>
                          <a:rPr lang="en-US" altLang="zh-TW" b="0" i="1" smtClean="0">
                            <a:latin typeface="Cambria Math" panose="02040503050406030204" pitchFamily="18" charset="0"/>
                            <a:ea typeface="Cambria Math" panose="02040503050406030204" pitchFamily="18" charset="0"/>
                          </a:rPr>
                          <m:t>𝑠</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𝑥</m:t>
                        </m:r>
                        <m:r>
                          <a:rPr lang="en-US" altLang="zh-TW" b="0" i="1" smtClean="0">
                            <a:latin typeface="Cambria Math" panose="02040503050406030204" pitchFamily="18" charset="0"/>
                            <a:ea typeface="Cambria Math" panose="02040503050406030204" pitchFamily="18" charset="0"/>
                          </a:rPr>
                          <m:t>)</m:t>
                        </m:r>
                      </m:e>
                    </m:nary>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𝑏</m:t>
                    </m:r>
                    <m:r>
                      <a:rPr lang="en-US" altLang="zh-TW" b="0" i="1" smtClean="0">
                        <a:latin typeface="Cambria Math" panose="02040503050406030204" pitchFamily="18" charset="0"/>
                      </a:rPr>
                      <m:t>}</m:t>
                    </m:r>
                  </m:oMath>
                </a14:m>
                <a:r>
                  <a:rPr lang="zh-TW" altLang="en-US" dirty="0"/>
                  <a:t> </a:t>
                </a:r>
                <a:endParaRPr lang="en-US" altLang="zh-TW" dirty="0"/>
              </a:p>
              <a:p>
                <a:pPr marL="0" indent="0">
                  <a:buNone/>
                </a:pPr>
                <a14:m>
                  <m:oMath xmlns:m="http://schemas.openxmlformats.org/officeDocument/2006/math">
                    <m:sSup>
                      <m:sSupPr>
                        <m:ctrlPr>
                          <a:rPr lang="en-US" altLang="zh-TW" b="0" i="1" smtClean="0">
                            <a:latin typeface="Cambria Math" panose="02040503050406030204" pitchFamily="18" charset="0"/>
                          </a:rPr>
                        </m:ctrlPr>
                      </m:sSupPr>
                      <m:e>
                        <m:r>
                          <a:rPr lang="en-US" altLang="zh-TW" i="1">
                            <a:latin typeface="Cambria Math" panose="02040503050406030204" pitchFamily="18" charset="0"/>
                          </a:rPr>
                          <m:t>&lt;</m:t>
                        </m:r>
                        <m:r>
                          <a:rPr lang="en-US" altLang="zh-TW" i="1">
                            <a:latin typeface="Cambria Math" panose="02040503050406030204" pitchFamily="18" charset="0"/>
                          </a:rPr>
                          <m:t>𝑇</m:t>
                        </m:r>
                        <m:r>
                          <a:rPr lang="en-US" altLang="zh-TW" i="1">
                            <a:latin typeface="Cambria Math" panose="02040503050406030204" pitchFamily="18" charset="0"/>
                          </a:rPr>
                          <m:t>,</m:t>
                        </m:r>
                        <m:r>
                          <a:rPr lang="en-US" altLang="zh-TW" i="1">
                            <a:latin typeface="Cambria Math" panose="02040503050406030204" pitchFamily="18" charset="0"/>
                          </a:rPr>
                          <m:t>𝑠</m:t>
                        </m:r>
                        <m:r>
                          <a:rPr lang="en-US" altLang="zh-TW" i="1">
                            <a:latin typeface="Cambria Math" panose="02040503050406030204" pitchFamily="18" charset="0"/>
                          </a:rPr>
                          <m:t>,</m:t>
                        </m:r>
                        <m:r>
                          <a:rPr lang="en-US" altLang="zh-TW" i="1">
                            <a:latin typeface="Cambria Math" panose="02040503050406030204" pitchFamily="18" charset="0"/>
                          </a:rPr>
                          <m:t>𝑏</m:t>
                        </m:r>
                        <m:r>
                          <a:rPr lang="en-US" altLang="zh-TW" i="1">
                            <a:latin typeface="Cambria Math" panose="02040503050406030204" pitchFamily="18" charset="0"/>
                          </a:rPr>
                          <m:t>&gt;</m:t>
                        </m:r>
                      </m:e>
                      <m:sup>
                        <m:r>
                          <a:rPr lang="en-US" altLang="zh-TW" b="0" i="1" smtClean="0">
                            <a:latin typeface="Cambria Math" panose="02040503050406030204" pitchFamily="18" charset="0"/>
                          </a:rPr>
                          <m:t>∗</m:t>
                        </m:r>
                      </m:sup>
                    </m:sSup>
                    <m:r>
                      <a:rPr lang="en-US" altLang="zh-TW" b="0" i="1" smtClean="0">
                        <a:latin typeface="Cambria Math" panose="02040503050406030204" pitchFamily="18" charset="0"/>
                      </a:rPr>
                      <m:t>=</m:t>
                    </m:r>
                    <m:r>
                      <a:rPr lang="en-US" altLang="zh-TW" b="0" i="1" smtClean="0">
                        <a:latin typeface="Cambria Math" panose="02040503050406030204" pitchFamily="18" charset="0"/>
                      </a:rPr>
                      <m:t>𝑀𝐴𝑋</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𝑚</m:t>
                        </m:r>
                        <m:d>
                          <m:dPr>
                            <m:ctrlPr>
                              <a:rPr lang="en-US" altLang="zh-TW" b="0" i="1" smtClean="0">
                                <a:latin typeface="Cambria Math" panose="02040503050406030204" pitchFamily="18" charset="0"/>
                              </a:rPr>
                            </m:ctrlPr>
                          </m:dPr>
                          <m:e>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𝑇</m:t>
                                </m:r>
                              </m:e>
                              <m:sup>
                                <m:r>
                                  <a:rPr lang="en-US" altLang="zh-TW" b="0" i="1" smtClean="0">
                                    <a:latin typeface="Cambria Math" panose="02040503050406030204" pitchFamily="18" charset="0"/>
                                  </a:rPr>
                                  <m:t>′</m:t>
                                </m:r>
                              </m:sup>
                            </m:sSup>
                          </m:e>
                        </m:d>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𝑇</m:t>
                            </m:r>
                          </m:e>
                          <m:sup>
                            <m:r>
                              <a:rPr lang="en-US" altLang="zh-TW" b="0" i="1" smtClean="0">
                                <a:latin typeface="Cambria Math" panose="02040503050406030204" pitchFamily="18" charset="0"/>
                              </a:rPr>
                              <m:t>′</m:t>
                            </m:r>
                          </m:sup>
                        </m:sSup>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𝑇</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𝑎𝑛𝑑</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𝑚</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𝑇</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𝑏</m:t>
                        </m:r>
                      </m:e>
                    </m:d>
                  </m:oMath>
                </a14:m>
                <a:r>
                  <a:rPr lang="en-US" altLang="zh-TW" dirty="0"/>
                  <a:t> </a:t>
                </a:r>
              </a:p>
              <a:p>
                <a:pPr marL="0" indent="0">
                  <a:buNone/>
                </a:pPr>
                <a:r>
                  <a:rPr lang="zh-TW" altLang="en-US" dirty="0"/>
                  <a: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𝑚</m:t>
                        </m:r>
                      </m:e>
                      <m:sub>
                        <m:r>
                          <a:rPr lang="en-US" altLang="zh-TW" b="0" i="1" smtClean="0">
                            <a:latin typeface="Cambria Math" panose="02040503050406030204" pitchFamily="18" charset="0"/>
                          </a:rPr>
                          <m:t>𝑆𝑆</m:t>
                        </m:r>
                      </m:sub>
                    </m:sSub>
                    <m:d>
                      <m:dPr>
                        <m:ctrlPr>
                          <a:rPr lang="en-US" altLang="zh-TW" b="0" i="1" smtClean="0">
                            <a:latin typeface="Cambria Math" panose="02040503050406030204" pitchFamily="18" charset="0"/>
                          </a:rPr>
                        </m:ctrlPr>
                      </m:dPr>
                      <m:e>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𝑇</m:t>
                            </m:r>
                          </m:e>
                          <m:sup>
                            <m:r>
                              <a:rPr lang="en-US" altLang="zh-TW" b="0" i="1" smtClean="0">
                                <a:latin typeface="Cambria Math" panose="02040503050406030204" pitchFamily="18" charset="0"/>
                              </a:rPr>
                              <m:t>′</m:t>
                            </m:r>
                          </m:sup>
                        </m:sSup>
                      </m:e>
                    </m:d>
                    <m:r>
                      <a:rPr lang="en-US" altLang="zh-TW" b="0" i="1" smtClean="0">
                        <a:latin typeface="Cambria Math" panose="02040503050406030204" pitchFamily="18" charset="0"/>
                      </a:rPr>
                      <m:t>=</m:t>
                    </m:r>
                    <m:nary>
                      <m:naryPr>
                        <m:chr m:val="∑"/>
                        <m:supHide m:val="on"/>
                        <m:ctrlPr>
                          <a:rPr lang="en-US" altLang="zh-TW" i="1">
                            <a:latin typeface="Cambria Math" panose="02040503050406030204" pitchFamily="18" charset="0"/>
                            <a:ea typeface="Cambria Math" panose="02040503050406030204" pitchFamily="18" charset="0"/>
                          </a:rPr>
                        </m:ctrlPr>
                      </m:naryPr>
                      <m:sub>
                        <m:r>
                          <m:rPr>
                            <m:brk m:alnAt="7"/>
                          </m:rPr>
                          <a:rPr lang="en-US" altLang="zh-TW" i="1">
                            <a:latin typeface="Cambria Math" panose="02040503050406030204" pitchFamily="18" charset="0"/>
                            <a:ea typeface="Cambria Math" panose="02040503050406030204" pitchFamily="18" charset="0"/>
                          </a:rPr>
                          <m:t>𝑥</m:t>
                        </m:r>
                        <m:r>
                          <a:rPr lang="en-US" altLang="zh-TW" i="1">
                            <a:latin typeface="Cambria Math" panose="02040503050406030204" pitchFamily="18" charset="0"/>
                            <a:ea typeface="Cambria Math" panose="02040503050406030204" pitchFamily="18" charset="0"/>
                          </a:rPr>
                          <m:t>∈</m:t>
                        </m:r>
                        <m:sSup>
                          <m:sSupPr>
                            <m:ctrlPr>
                              <a:rPr lang="en-US" altLang="zh-TW" i="1">
                                <a:latin typeface="Cambria Math" panose="02040503050406030204" pitchFamily="18" charset="0"/>
                                <a:ea typeface="Cambria Math" panose="02040503050406030204" pitchFamily="18" charset="0"/>
                              </a:rPr>
                            </m:ctrlPr>
                          </m:sSupPr>
                          <m:e>
                            <m:r>
                              <a:rPr lang="en-US" altLang="zh-TW" i="1">
                                <a:latin typeface="Cambria Math" panose="02040503050406030204" pitchFamily="18" charset="0"/>
                                <a:ea typeface="Cambria Math" panose="02040503050406030204" pitchFamily="18" charset="0"/>
                              </a:rPr>
                              <m:t>𝑇</m:t>
                            </m:r>
                          </m:e>
                          <m:sup>
                            <m:r>
                              <a:rPr lang="en-US" altLang="zh-TW" i="1">
                                <a:latin typeface="Cambria Math" panose="02040503050406030204" pitchFamily="18" charset="0"/>
                                <a:ea typeface="Cambria Math" panose="02040503050406030204" pitchFamily="18" charset="0"/>
                              </a:rPr>
                              <m:t>′</m:t>
                            </m:r>
                          </m:sup>
                        </m:sSup>
                      </m:sub>
                      <m:sup/>
                      <m:e>
                        <m:r>
                          <a:rPr lang="en-US" altLang="zh-TW" i="1">
                            <a:latin typeface="Cambria Math" panose="02040503050406030204" pitchFamily="18" charset="0"/>
                            <a:ea typeface="Cambria Math" panose="02040503050406030204" pitchFamily="18" charset="0"/>
                          </a:rPr>
                          <m:t>𝑠</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𝑥</m:t>
                        </m:r>
                        <m:r>
                          <a:rPr lang="en-US" altLang="zh-TW" i="1">
                            <a:latin typeface="Cambria Math" panose="02040503050406030204" pitchFamily="18" charset="0"/>
                            <a:ea typeface="Cambria Math" panose="02040503050406030204" pitchFamily="18" charset="0"/>
                          </a:rPr>
                          <m:t>)</m:t>
                        </m:r>
                      </m:e>
                    </m:nary>
                  </m:oMath>
                </a14:m>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6" name="表格 5"/>
              <p:cNvGraphicFramePr>
                <a:graphicFrameLocks noGrp="1"/>
              </p:cNvGraphicFramePr>
              <p:nvPr>
                <p:extLst>
                  <p:ext uri="{D42A27DB-BD31-4B8C-83A1-F6EECF244321}">
                    <p14:modId xmlns:p14="http://schemas.microsoft.com/office/powerpoint/2010/main" val="2214707931"/>
                  </p:ext>
                </p:extLst>
              </p:nvPr>
            </p:nvGraphicFramePr>
            <p:xfrm>
              <a:off x="628650" y="4007993"/>
              <a:ext cx="6096000" cy="1483360"/>
            </p:xfrm>
            <a:graphic>
              <a:graphicData uri="http://schemas.openxmlformats.org/drawingml/2006/table">
                <a:tbl>
                  <a:tblPr firstRow="1" bandRow="1">
                    <a:tableStyleId>{2D5ABB26-0587-4C30-8999-92F81FD0307C}</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370840">
                    <a:tc>
                      <a:txBody>
                        <a:bodyPr/>
                        <a:lstStyle/>
                        <a:p>
                          <a:pPr algn="ctr"/>
                          <a:r>
                            <a:rPr lang="en-US" altLang="zh-TW" dirty="0"/>
                            <a:t>T</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𝟏</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𝟐</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𝟑</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𝟒</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𝟓</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𝟔</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𝟕</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𝟖</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𝟗</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r>
                            <a:rPr lang="en-US" altLang="zh-TW" dirty="0"/>
                            <a:t>s</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5</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9</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48</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7</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24</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5</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10</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19</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76</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gridSpan="10">
                      <a:txBody>
                        <a:bodyPr/>
                        <a:lstStyle/>
                        <a:p>
                          <a:pPr algn="l"/>
                          <a14:m>
                            <m:oMath xmlns:m="http://schemas.openxmlformats.org/officeDocument/2006/math">
                              <m:r>
                                <a:rPr lang="en-US" altLang="zh-TW" i="1" dirty="0" smtClean="0">
                                  <a:latin typeface="Cambria Math" panose="02040503050406030204" pitchFamily="18" charset="0"/>
                                </a:rPr>
                                <m:t>𝑏</m:t>
                              </m:r>
                              <m:r>
                                <a:rPr lang="en-US" altLang="zh-TW" i="1" dirty="0" smtClean="0">
                                  <a:latin typeface="Cambria Math" panose="02040503050406030204" pitchFamily="18" charset="0"/>
                                </a:rPr>
                                <m:t>=44</m:t>
                              </m:r>
                            </m:oMath>
                          </a14:m>
                          <a:r>
                            <a:rPr lang="zh-TW" altLang="en-US" dirty="0"/>
                            <a:t>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70840">
                    <a:tc gridSpan="10">
                      <a:txBody>
                        <a:bodyPr/>
                        <a:lstStyle/>
                        <a:p>
                          <a:pPr algn="l"/>
                          <a14:m>
                            <m:oMath xmlns:m="http://schemas.openxmlformats.org/officeDocument/2006/math">
                              <m:sSup>
                                <m:sSupPr>
                                  <m:ctrlPr>
                                    <a:rPr lang="en-US" altLang="zh-TW" i="1" smtClean="0">
                                      <a:latin typeface="Cambria Math" panose="02040503050406030204" pitchFamily="18" charset="0"/>
                                    </a:rPr>
                                  </m:ctrlPr>
                                </m:sSupPr>
                                <m:e>
                                  <m:r>
                                    <a:rPr lang="en-US" altLang="zh-TW" b="0" i="1" smtClean="0">
                                      <a:latin typeface="Cambria Math" panose="02040503050406030204" pitchFamily="18" charset="0"/>
                                    </a:rPr>
                                    <m:t>&lt;</m:t>
                                  </m:r>
                                  <m:r>
                                    <a:rPr lang="en-US" altLang="zh-TW" b="0" i="1" smtClean="0">
                                      <a:latin typeface="Cambria Math" panose="02040503050406030204" pitchFamily="18" charset="0"/>
                                    </a:rPr>
                                    <m:t>𝑇</m:t>
                                  </m:r>
                                  <m:r>
                                    <a:rPr lang="en-US" altLang="zh-TW" b="0" i="1" smtClean="0">
                                      <a:latin typeface="Cambria Math" panose="02040503050406030204" pitchFamily="18" charset="0"/>
                                    </a:rPr>
                                    <m:t>,</m:t>
                                  </m:r>
                                  <m:r>
                                    <a:rPr lang="en-US" altLang="zh-TW" b="0" i="1" smtClean="0">
                                      <a:latin typeface="Cambria Math" panose="02040503050406030204" pitchFamily="18" charset="0"/>
                                    </a:rPr>
                                    <m:t>𝑠</m:t>
                                  </m:r>
                                  <m:r>
                                    <a:rPr lang="en-US" altLang="zh-TW" b="0" i="1" smtClean="0">
                                      <a:latin typeface="Cambria Math" panose="02040503050406030204" pitchFamily="18" charset="0"/>
                                    </a:rPr>
                                    <m:t>,</m:t>
                                  </m:r>
                                  <m:r>
                                    <a:rPr lang="en-US" altLang="zh-TW" b="0" i="1" smtClean="0">
                                      <a:latin typeface="Cambria Math" panose="02040503050406030204" pitchFamily="18" charset="0"/>
                                    </a:rPr>
                                    <m:t>𝑏</m:t>
                                  </m:r>
                                  <m:r>
                                    <a:rPr lang="en-US" altLang="zh-TW" b="0" i="1" smtClean="0">
                                      <a:latin typeface="Cambria Math" panose="02040503050406030204" pitchFamily="18" charset="0"/>
                                    </a:rPr>
                                    <m:t>&gt;</m:t>
                                  </m:r>
                                </m:e>
                                <m:sup>
                                  <m:r>
                                    <a:rPr lang="en-US" altLang="zh-TW" b="0" i="1" smtClean="0">
                                      <a:latin typeface="Cambria Math" panose="02040503050406030204" pitchFamily="18" charset="0"/>
                                    </a:rPr>
                                    <m:t>∗</m:t>
                                  </m:r>
                                </m:sup>
                              </m:sSup>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5</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6</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7</m:t>
                                  </m:r>
                                </m:sub>
                              </m:sSub>
                              <m:r>
                                <a:rPr lang="en-US" altLang="zh-TW" b="0" i="1" smtClean="0">
                                  <a:latin typeface="Cambria Math" panose="02040503050406030204" pitchFamily="18" charset="0"/>
                                </a:rPr>
                                <m:t>}</m:t>
                              </m:r>
                            </m:oMath>
                          </a14:m>
                          <a:r>
                            <a:rPr lang="zh-TW" altLang="en-US" dirty="0"/>
                            <a:t>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0003"/>
                      </a:ext>
                    </a:extLst>
                  </a:tr>
                </a:tbl>
              </a:graphicData>
            </a:graphic>
          </p:graphicFrame>
        </mc:Choice>
        <mc:Fallback xmlns="">
          <p:graphicFrame>
            <p:nvGraphicFramePr>
              <p:cNvPr id="6" name="表格 5"/>
              <p:cNvGraphicFramePr>
                <a:graphicFrameLocks noGrp="1"/>
              </p:cNvGraphicFramePr>
              <p:nvPr>
                <p:extLst>
                  <p:ext uri="{D42A27DB-BD31-4B8C-83A1-F6EECF244321}">
                    <p14:modId xmlns:p14="http://schemas.microsoft.com/office/powerpoint/2010/main" val="2214707931"/>
                  </p:ext>
                </p:extLst>
              </p:nvPr>
            </p:nvGraphicFramePr>
            <p:xfrm>
              <a:off x="628650" y="4007993"/>
              <a:ext cx="6096000" cy="1483360"/>
            </p:xfrm>
            <a:graphic>
              <a:graphicData uri="http://schemas.openxmlformats.org/drawingml/2006/table">
                <a:tbl>
                  <a:tblPr firstRow="1" bandRow="1">
                    <a:tableStyleId>{2D5ABB26-0587-4C30-8999-92F81FD0307C}</a:tableStyleId>
                  </a:tblPr>
                  <a:tblGrid>
                    <a:gridCol w="609600"/>
                    <a:gridCol w="609600"/>
                    <a:gridCol w="609600"/>
                    <a:gridCol w="609600"/>
                    <a:gridCol w="609600"/>
                    <a:gridCol w="609600"/>
                    <a:gridCol w="609600"/>
                    <a:gridCol w="609600"/>
                    <a:gridCol w="609600"/>
                    <a:gridCol w="609600"/>
                  </a:tblGrid>
                  <a:tr h="370840">
                    <a:tc>
                      <a:txBody>
                        <a:bodyPr/>
                        <a:lstStyle/>
                        <a:p>
                          <a:pPr algn="ctr"/>
                          <a:r>
                            <a:rPr lang="en-US" altLang="zh-TW" dirty="0" smtClean="0"/>
                            <a:t>T</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101000" t="-8197" r="-803000" b="-314754"/>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201000" t="-8197" r="-703000" b="-314754"/>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301000" t="-8197" r="-603000" b="-314754"/>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397030" t="-8197" r="-497030" b="-314754"/>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502000" t="-8197" r="-402000" b="-314754"/>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602000" t="-8197" r="-302000" b="-314754"/>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702000" t="-8197" r="-202000" b="-314754"/>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802000" t="-8197" r="-102000" b="-314754"/>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902000" t="-8197" r="-2000" b="-314754"/>
                          </a:stretch>
                        </a:blipFill>
                      </a:tcPr>
                    </a:tc>
                  </a:tr>
                  <a:tr h="370840">
                    <a:tc>
                      <a:txBody>
                        <a:bodyPr/>
                        <a:lstStyle/>
                        <a:p>
                          <a:pPr algn="ctr"/>
                          <a:r>
                            <a:rPr lang="en-US" altLang="zh-TW" dirty="0" smtClean="0"/>
                            <a:t>s</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5</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9</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48</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7</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24</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5</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10</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19</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76</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gridSpan="10">
                      <a:txBody>
                        <a:bodyPr/>
                        <a:lstStyle/>
                        <a:p>
                          <a:endParaRPr lang="zh-TW"/>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100" t="-208197" r="-200" b="-114754"/>
                          </a:stretch>
                        </a:blipFill>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70840">
                    <a:tc gridSpan="10">
                      <a:txBody>
                        <a:bodyPr/>
                        <a:lstStyle/>
                        <a:p>
                          <a:endParaRPr lang="zh-TW"/>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100" t="-308197" r="-200" b="-14754"/>
                          </a:stretch>
                        </a:blip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r>
                </a:tbl>
              </a:graphicData>
            </a:graphic>
          </p:graphicFrame>
        </mc:Fallback>
      </mc:AlternateContent>
    </p:spTree>
    <p:extLst>
      <p:ext uri="{BB962C8B-B14F-4D97-AF65-F5344CB8AC3E}">
        <p14:creationId xmlns:p14="http://schemas.microsoft.com/office/powerpoint/2010/main" val="2017194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Subset-Sum</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fontScale="92500"/>
              </a:bodyPr>
              <a:lstStyle/>
              <a:p>
                <a:pPr marL="514350" indent="-514350">
                  <a:buFont typeface="+mj-lt"/>
                  <a:buAutoNum type="arabicPeriod"/>
                </a:pPr>
                <a:r>
                  <a:rPr lang="en-US" altLang="zh-TW" dirty="0"/>
                  <a:t>Let </a:t>
                </a:r>
                <a14:m>
                  <m:oMath xmlns:m="http://schemas.openxmlformats.org/officeDocument/2006/math">
                    <m:r>
                      <a:rPr lang="en-US" altLang="zh-TW" i="1" dirty="0" smtClean="0">
                        <a:latin typeface="Cambria Math" panose="02040503050406030204" pitchFamily="18" charset="0"/>
                      </a:rPr>
                      <m:t>𝑆𝑈𝐵</m:t>
                    </m:r>
                  </m:oMath>
                </a14:m>
                <a:r>
                  <a:rPr lang="en-US" altLang="zh-TW" dirty="0"/>
                  <a:t> be that subset of </a:t>
                </a:r>
                <a14:m>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𝑥</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𝑇</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𝑠</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𝑥</m:t>
                        </m:r>
                      </m:e>
                    </m:d>
                    <m:r>
                      <a:rPr lang="en-US" altLang="zh-TW" b="0" i="1" smtClean="0">
                        <a:latin typeface="Cambria Math" panose="02040503050406030204" pitchFamily="18" charset="0"/>
                        <a:ea typeface="Cambria Math" panose="02040503050406030204" pitchFamily="18" charset="0"/>
                      </a:rPr>
                      <m:t>&gt;</m:t>
                    </m:r>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𝑏</m:t>
                        </m:r>
                      </m:num>
                      <m:den>
                        <m:r>
                          <a:rPr lang="en-US" altLang="zh-TW" b="0" i="1" smtClean="0">
                            <a:latin typeface="Cambria Math" panose="02040503050406030204" pitchFamily="18" charset="0"/>
                            <a:ea typeface="Cambria Math" panose="02040503050406030204" pitchFamily="18" charset="0"/>
                          </a:rPr>
                          <m:t>𝑘</m:t>
                        </m:r>
                        <m:r>
                          <a:rPr lang="en-US" altLang="zh-TW" b="0" i="1" smtClean="0">
                            <a:latin typeface="Cambria Math" panose="02040503050406030204" pitchFamily="18" charset="0"/>
                            <a:ea typeface="Cambria Math" panose="02040503050406030204" pitchFamily="18" charset="0"/>
                          </a:rPr>
                          <m:t>+1</m:t>
                        </m:r>
                      </m:den>
                    </m:f>
                    <m:r>
                      <a:rPr lang="en-US" altLang="zh-TW" b="0" i="1" smtClean="0">
                        <a:latin typeface="Cambria Math" panose="02040503050406030204" pitchFamily="18" charset="0"/>
                      </a:rPr>
                      <m:t>}</m:t>
                    </m:r>
                  </m:oMath>
                </a14:m>
                <a:r>
                  <a:rPr lang="en-US" altLang="zh-TW" dirty="0"/>
                  <a:t> whose measure is closest to, without exceeding </a:t>
                </a:r>
                <a14:m>
                  <m:oMath xmlns:m="http://schemas.openxmlformats.org/officeDocument/2006/math">
                    <m:r>
                      <a:rPr lang="en-US" altLang="zh-TW" b="0" i="1" smtClean="0">
                        <a:latin typeface="Cambria Math" panose="02040503050406030204" pitchFamily="18" charset="0"/>
                      </a:rPr>
                      <m:t>𝑏</m:t>
                    </m:r>
                  </m:oMath>
                </a14:m>
                <a:r>
                  <a:rPr lang="en-US" altLang="zh-TW" dirty="0"/>
                  <a:t>. Let </a:t>
                </a:r>
                <a14:m>
                  <m:oMath xmlns:m="http://schemas.openxmlformats.org/officeDocument/2006/math">
                    <m:r>
                      <a:rPr lang="en-US" altLang="zh-TW" i="1" dirty="0" smtClean="0">
                        <a:latin typeface="Cambria Math" panose="02040503050406030204" pitchFamily="18" charset="0"/>
                      </a:rPr>
                      <m:t>𝑆𝑈𝑀</m:t>
                    </m:r>
                  </m:oMath>
                </a14:m>
                <a:r>
                  <a:rPr lang="en-US" altLang="zh-TW" dirty="0"/>
                  <a:t> be this measure, and set </a:t>
                </a:r>
                <a14:m>
                  <m:oMath xmlns:m="http://schemas.openxmlformats.org/officeDocument/2006/math">
                    <m:r>
                      <a:rPr lang="en-US" altLang="zh-TW" i="1" dirty="0" smtClean="0">
                        <a:latin typeface="Cambria Math" panose="02040503050406030204" pitchFamily="18" charset="0"/>
                      </a:rPr>
                      <m:t>𝐿𝐸𝐹𝑇</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𝑇</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𝑆𝑈𝐵</m:t>
                    </m:r>
                  </m:oMath>
                </a14:m>
                <a:r>
                  <a:rPr lang="en-US" altLang="zh-TW" dirty="0"/>
                  <a:t>.</a:t>
                </a:r>
              </a:p>
              <a:p>
                <a:pPr marL="514350" indent="-514350">
                  <a:buFont typeface="+mj-lt"/>
                  <a:buAutoNum type="arabicPeriod"/>
                </a:pPr>
                <a:r>
                  <a:rPr lang="en-US" altLang="zh-TW" dirty="0"/>
                  <a:t>If </a:t>
                </a:r>
                <a14:m>
                  <m:oMath xmlns:m="http://schemas.openxmlformats.org/officeDocument/2006/math">
                    <m:r>
                      <a:rPr lang="en-US" altLang="zh-TW"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𝑥</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𝐿𝐸𝐹𝑇</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𝑠</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𝑥</m:t>
                        </m:r>
                      </m:e>
                    </m:d>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𝑆𝑈𝑀</m:t>
                    </m:r>
                    <m:r>
                      <a:rPr lang="en-US" altLang="zh-TW" b="0" i="1" smtClean="0">
                        <a:latin typeface="Cambria Math" panose="02040503050406030204" pitchFamily="18" charset="0"/>
                        <a:ea typeface="Cambria Math" panose="02040503050406030204" pitchFamily="18" charset="0"/>
                      </a:rPr>
                      <m:t>&gt;</m:t>
                    </m:r>
                    <m:r>
                      <a:rPr lang="en-US" altLang="zh-TW" b="0" i="1" smtClean="0">
                        <a:latin typeface="Cambria Math" panose="02040503050406030204" pitchFamily="18" charset="0"/>
                        <a:ea typeface="Cambria Math" panose="02040503050406030204" pitchFamily="18" charset="0"/>
                      </a:rPr>
                      <m:t>𝑏</m:t>
                    </m:r>
                  </m:oMath>
                </a14:m>
                <a:r>
                  <a:rPr lang="en-US" altLang="zh-TW" dirty="0"/>
                  <a:t>, halt and return </a:t>
                </a:r>
                <a14:m>
                  <m:oMath xmlns:m="http://schemas.openxmlformats.org/officeDocument/2006/math">
                    <m:r>
                      <a:rPr lang="en-US" altLang="zh-TW" i="1" dirty="0" smtClean="0">
                        <a:latin typeface="Cambria Math" panose="02040503050406030204" pitchFamily="18" charset="0"/>
                      </a:rPr>
                      <m:t>𝑆𝑈𝐵</m:t>
                    </m:r>
                  </m:oMath>
                </a14:m>
                <a:r>
                  <a:rPr lang="en-US" altLang="zh-TW" dirty="0"/>
                  <a:t>.</a:t>
                </a:r>
              </a:p>
              <a:p>
                <a:pPr marL="514350" indent="-514350">
                  <a:buFont typeface="+mj-lt"/>
                  <a:buAutoNum type="arabicPeriod"/>
                </a:pPr>
                <a:r>
                  <a:rPr lang="en-US" altLang="zh-TW" dirty="0"/>
                  <a:t>Let </a:t>
                </a:r>
                <a14:m>
                  <m:oMath xmlns:m="http://schemas.openxmlformats.org/officeDocument/2006/math">
                    <m:r>
                      <a:rPr lang="en-US" altLang="zh-TW" b="0" i="1" smtClean="0">
                        <a:latin typeface="Cambria Math" panose="02040503050406030204" pitchFamily="18" charset="0"/>
                      </a:rPr>
                      <m:t>𝑦</m:t>
                    </m:r>
                  </m:oMath>
                </a14:m>
                <a:r>
                  <a:rPr lang="en-US" altLang="zh-TW" dirty="0"/>
                  <a:t> be an element of </a:t>
                </a:r>
                <a14:m>
                  <m:oMath xmlns:m="http://schemas.openxmlformats.org/officeDocument/2006/math">
                    <m:r>
                      <a:rPr lang="en-US" altLang="zh-TW" i="1" dirty="0" smtClean="0">
                        <a:latin typeface="Cambria Math" panose="02040503050406030204" pitchFamily="18" charset="0"/>
                      </a:rPr>
                      <m:t>𝐿𝐸𝐹𝑇</m:t>
                    </m:r>
                  </m:oMath>
                </a14:m>
                <a:r>
                  <a:rPr lang="en-US" altLang="zh-TW" dirty="0"/>
                  <a:t> for which </a:t>
                </a:r>
                <a14:m>
                  <m:oMath xmlns:m="http://schemas.openxmlformats.org/officeDocument/2006/math">
                    <m:r>
                      <a:rPr lang="en-US" altLang="zh-TW" b="0" i="1" smtClean="0">
                        <a:latin typeface="Cambria Math" panose="02040503050406030204" pitchFamily="18" charset="0"/>
                      </a:rPr>
                      <m:t>𝑠</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𝑦</m:t>
                        </m:r>
                      </m:e>
                    </m:d>
                    <m:r>
                      <a:rPr lang="en-US" altLang="zh-TW" b="0" i="1" smtClean="0">
                        <a:latin typeface="Cambria Math" panose="02040503050406030204" pitchFamily="18" charset="0"/>
                      </a:rPr>
                      <m:t>+</m:t>
                    </m:r>
                    <m:r>
                      <a:rPr lang="en-US" altLang="zh-TW" b="0" i="1" smtClean="0">
                        <a:latin typeface="Cambria Math" panose="02040503050406030204" pitchFamily="18" charset="0"/>
                      </a:rPr>
                      <m:t>𝑆𝑈𝑀</m:t>
                    </m:r>
                  </m:oMath>
                </a14:m>
                <a:r>
                  <a:rPr lang="en-US" altLang="zh-TW" dirty="0"/>
                  <a:t> is closest to, without exceeding, </a:t>
                </a:r>
                <a14:m>
                  <m:oMath xmlns:m="http://schemas.openxmlformats.org/officeDocument/2006/math">
                    <m:r>
                      <a:rPr lang="en-US" altLang="zh-TW" b="0" i="1" smtClean="0">
                        <a:latin typeface="Cambria Math" panose="02040503050406030204" pitchFamily="18" charset="0"/>
                      </a:rPr>
                      <m:t>𝑏</m:t>
                    </m:r>
                  </m:oMath>
                </a14:m>
                <a:r>
                  <a:rPr lang="en-US" altLang="zh-TW" dirty="0"/>
                  <a:t>.</a:t>
                </a:r>
              </a:p>
              <a:p>
                <a:pPr marL="514350" indent="-514350">
                  <a:buFont typeface="+mj-lt"/>
                  <a:buAutoNum type="arabicPeriod"/>
                </a:pPr>
                <a:r>
                  <a:rPr lang="en-US" altLang="zh-TW" dirty="0"/>
                  <a:t>Set </a:t>
                </a:r>
                <a14:m>
                  <m:oMath xmlns:m="http://schemas.openxmlformats.org/officeDocument/2006/math">
                    <m:r>
                      <a:rPr lang="en-US" altLang="zh-TW" b="0" i="1" smtClean="0">
                        <a:latin typeface="Cambria Math" panose="02040503050406030204" pitchFamily="18" charset="0"/>
                      </a:rPr>
                      <m:t>𝐿𝐸𝐹𝑇</m:t>
                    </m:r>
                    <m:r>
                      <a:rPr lang="en-US" altLang="zh-TW" b="0" i="1" smtClean="0">
                        <a:latin typeface="Cambria Math" panose="02040503050406030204" pitchFamily="18" charset="0"/>
                      </a:rPr>
                      <m:t>=</m:t>
                    </m:r>
                    <m:r>
                      <a:rPr lang="en-US" altLang="zh-TW" b="0" i="1" smtClean="0">
                        <a:latin typeface="Cambria Math" panose="02040503050406030204" pitchFamily="18" charset="0"/>
                      </a:rPr>
                      <m:t>𝐿𝐸𝐹𝑇</m:t>
                    </m:r>
                    <m:r>
                      <a:rPr lang="en-US" altLang="zh-TW" b="0" i="1" smtClean="0">
                        <a:latin typeface="Cambria Math" panose="02040503050406030204" pitchFamily="18" charset="0"/>
                      </a:rPr>
                      <m:t>−{</m:t>
                    </m:r>
                    <m:r>
                      <a:rPr lang="en-US" altLang="zh-TW" b="0" i="1" smtClean="0">
                        <a:latin typeface="Cambria Math" panose="02040503050406030204" pitchFamily="18" charset="0"/>
                      </a:rPr>
                      <m:t>𝑦</m:t>
                    </m:r>
                    <m:r>
                      <a:rPr lang="en-US" altLang="zh-TW" b="0" i="1" smtClean="0">
                        <a:latin typeface="Cambria Math" panose="02040503050406030204" pitchFamily="18" charset="0"/>
                      </a:rPr>
                      <m:t>}</m:t>
                    </m:r>
                  </m:oMath>
                </a14:m>
                <a:r>
                  <a:rPr lang="en-US" altLang="zh-TW" dirty="0"/>
                  <a:t>. </a:t>
                </a:r>
                <a14:m>
                  <m:oMath xmlns:m="http://schemas.openxmlformats.org/officeDocument/2006/math">
                    <m:r>
                      <a:rPr lang="en-US" altLang="zh-TW" b="0" i="1" dirty="0" smtClean="0">
                        <a:latin typeface="Cambria Math" panose="02040503050406030204" pitchFamily="18" charset="0"/>
                      </a:rPr>
                      <m:t>𝑆𝑈𝐵</m:t>
                    </m:r>
                    <m:r>
                      <a:rPr lang="en-US" altLang="zh-TW" b="0" i="1" dirty="0" smtClean="0">
                        <a:latin typeface="Cambria Math" panose="02040503050406030204" pitchFamily="18" charset="0"/>
                      </a:rPr>
                      <m:t>=</m:t>
                    </m:r>
                    <m:r>
                      <a:rPr lang="en-US" altLang="zh-TW" b="0" i="1" dirty="0" smtClean="0">
                        <a:latin typeface="Cambria Math" panose="02040503050406030204" pitchFamily="18" charset="0"/>
                      </a:rPr>
                      <m:t>𝑆𝑈𝐵</m:t>
                    </m:r>
                    <m:r>
                      <a:rPr lang="en-US" altLang="zh-TW" b="0" i="1" dirty="0" smtClean="0">
                        <a:latin typeface="Cambria Math" panose="02040503050406030204" pitchFamily="18" charset="0"/>
                        <a:ea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𝑦</m:t>
                    </m:r>
                    <m:r>
                      <a:rPr lang="en-US" altLang="zh-TW" b="0" i="1" dirty="0" smtClean="0">
                        <a:latin typeface="Cambria Math" panose="02040503050406030204" pitchFamily="18" charset="0"/>
                        <a:ea typeface="Cambria Math" panose="02040503050406030204" pitchFamily="18" charset="0"/>
                      </a:rPr>
                      <m:t>}</m:t>
                    </m:r>
                  </m:oMath>
                </a14:m>
                <a:r>
                  <a:rPr lang="en-US" altLang="zh-TW" dirty="0"/>
                  <a:t>, </a:t>
                </a:r>
                <a14:m>
                  <m:oMath xmlns:m="http://schemas.openxmlformats.org/officeDocument/2006/math">
                    <m:r>
                      <a:rPr lang="en-US" altLang="zh-TW" b="0" i="1" dirty="0" smtClean="0">
                        <a:latin typeface="Cambria Math" panose="02040503050406030204" pitchFamily="18" charset="0"/>
                      </a:rPr>
                      <m:t>𝑆𝑈𝑀</m:t>
                    </m:r>
                    <m:r>
                      <a:rPr lang="en-US" altLang="zh-TW" b="0" i="1" dirty="0" smtClean="0">
                        <a:latin typeface="Cambria Math" panose="02040503050406030204" pitchFamily="18" charset="0"/>
                      </a:rPr>
                      <m:t>=</m:t>
                    </m:r>
                    <m:r>
                      <a:rPr lang="en-US" altLang="zh-TW" b="0" i="1" dirty="0" smtClean="0">
                        <a:latin typeface="Cambria Math" panose="02040503050406030204" pitchFamily="18" charset="0"/>
                      </a:rPr>
                      <m:t>𝑆𝑈𝑀</m:t>
                    </m:r>
                    <m:r>
                      <a:rPr lang="en-US" altLang="zh-TW" b="0" i="1" dirty="0" smtClean="0">
                        <a:latin typeface="Cambria Math" panose="02040503050406030204" pitchFamily="18" charset="0"/>
                      </a:rPr>
                      <m:t>+</m:t>
                    </m:r>
                    <m:r>
                      <a:rPr lang="en-US" altLang="zh-TW" b="0" i="1" dirty="0" smtClean="0">
                        <a:latin typeface="Cambria Math" panose="02040503050406030204" pitchFamily="18" charset="0"/>
                      </a:rPr>
                      <m:t>𝑠</m:t>
                    </m:r>
                    <m:r>
                      <a:rPr lang="en-US" altLang="zh-TW" b="0" i="1" dirty="0" smtClean="0">
                        <a:latin typeface="Cambria Math" panose="02040503050406030204" pitchFamily="18" charset="0"/>
                      </a:rPr>
                      <m:t>(</m:t>
                    </m:r>
                    <m:r>
                      <a:rPr lang="en-US" altLang="zh-TW" b="0" i="1" dirty="0" smtClean="0">
                        <a:latin typeface="Cambria Math" panose="02040503050406030204" pitchFamily="18" charset="0"/>
                      </a:rPr>
                      <m:t>𝑦</m:t>
                    </m:r>
                    <m:r>
                      <a:rPr lang="en-US" altLang="zh-TW" b="0" i="1" dirty="0" smtClean="0">
                        <a:latin typeface="Cambria Math" panose="02040503050406030204" pitchFamily="18" charset="0"/>
                      </a:rPr>
                      <m:t>)</m:t>
                    </m:r>
                  </m:oMath>
                </a14:m>
                <a:r>
                  <a:rPr lang="en-US" altLang="zh-TW" dirty="0"/>
                  <a:t>.</a:t>
                </a:r>
              </a:p>
              <a:p>
                <a:pPr marL="514350" indent="-514350">
                  <a:buFont typeface="+mj-lt"/>
                  <a:buAutoNum type="arabicPeriod"/>
                </a:pPr>
                <a:r>
                  <a:rPr lang="en-US" altLang="zh-TW" dirty="0"/>
                  <a:t>Go to 2.</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391" t="-140" r="-2087" b="-308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410840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Subset-Sum</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endParaRPr lang="en-US" altLang="zh-TW" dirty="0"/>
              </a:p>
              <a:p>
                <a:pPr marL="0" indent="0">
                  <a:buNone/>
                </a:pPr>
                <a:endParaRPr lang="en-US" altLang="zh-TW" dirty="0"/>
              </a:p>
              <a:p>
                <a:pPr marL="0" indent="0">
                  <a:buNone/>
                </a:pPr>
                <a:endParaRPr lang="en-US" altLang="zh-TW" dirty="0"/>
              </a:p>
              <a:p>
                <a:pPr marL="0" indent="0">
                  <a:buNone/>
                </a:pP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𝐴</m:t>
                        </m:r>
                      </m:e>
                      <m:sub>
                        <m:r>
                          <a:rPr lang="en-US" altLang="zh-TW" b="0" i="1" smtClean="0">
                            <a:latin typeface="Cambria Math" panose="02040503050406030204" pitchFamily="18" charset="0"/>
                          </a:rPr>
                          <m:t>1</m:t>
                        </m:r>
                      </m:sub>
                    </m:sSub>
                  </m:oMath>
                </a14:m>
                <a:r>
                  <a:rPr lang="zh-TW" altLang="en-US" dirty="0"/>
                  <a:t>：</a:t>
                </a:r>
                <a:endParaRPr lang="en-US" altLang="zh-TW" dirty="0"/>
              </a:p>
              <a:p>
                <a:pPr marL="514350" indent="-514350">
                  <a:buFont typeface="+mj-lt"/>
                  <a:buAutoNum type="arabicPeriod"/>
                </a:pPr>
                <a14:m>
                  <m:oMath xmlns:m="http://schemas.openxmlformats.org/officeDocument/2006/math">
                    <m:r>
                      <a:rPr lang="en-US" altLang="zh-TW" i="1" dirty="0" smtClean="0">
                        <a:latin typeface="Cambria Math" panose="02040503050406030204" pitchFamily="18" charset="0"/>
                      </a:rPr>
                      <m:t>𝑆𝑈𝐵</m:t>
                    </m:r>
                    <m:r>
                      <a:rPr lang="en-US" altLang="zh-TW" i="1" dirty="0" smtClean="0">
                        <a:latin typeface="Cambria Math" panose="02040503050406030204" pitchFamily="18" charset="0"/>
                      </a:rPr>
                      <m:t>={</m:t>
                    </m:r>
                    <m:sSub>
                      <m:sSubPr>
                        <m:ctrlPr>
                          <a:rPr lang="en-US" altLang="zh-TW" i="1" dirty="0" smtClean="0">
                            <a:latin typeface="Cambria Math" panose="02040503050406030204" pitchFamily="18" charset="0"/>
                          </a:rPr>
                        </m:ctrlPr>
                      </m:sSubPr>
                      <m:e>
                        <m:r>
                          <a:rPr lang="en-US" altLang="zh-TW" b="0" i="1" dirty="0" smtClean="0">
                            <a:latin typeface="Cambria Math" panose="02040503050406030204" pitchFamily="18" charset="0"/>
                          </a:rPr>
                          <m:t>𝑥</m:t>
                        </m:r>
                      </m:e>
                      <m:sub>
                        <m:r>
                          <a:rPr lang="en-US" altLang="zh-TW" b="0" i="1" dirty="0" smtClean="0">
                            <a:latin typeface="Cambria Math" panose="02040503050406030204" pitchFamily="18" charset="0"/>
                          </a:rPr>
                          <m:t>5</m:t>
                        </m:r>
                      </m:sub>
                    </m:sSub>
                    <m:r>
                      <a:rPr lang="en-US" altLang="zh-TW" i="1" dirty="0" smtClean="0">
                        <a:latin typeface="Cambria Math" panose="02040503050406030204" pitchFamily="18" charset="0"/>
                      </a:rPr>
                      <m:t>}</m:t>
                    </m:r>
                  </m:oMath>
                </a14:m>
                <a:r>
                  <a:rPr lang="en-US" altLang="zh-TW" dirty="0"/>
                  <a:t>, </a:t>
                </a:r>
                <a14:m>
                  <m:oMath xmlns:m="http://schemas.openxmlformats.org/officeDocument/2006/math">
                    <m:r>
                      <a:rPr lang="en-US" altLang="zh-TW" i="1" dirty="0" smtClean="0">
                        <a:latin typeface="Cambria Math" panose="02040503050406030204" pitchFamily="18" charset="0"/>
                      </a:rPr>
                      <m:t>𝑆𝑈𝑀</m:t>
                    </m:r>
                    <m:r>
                      <a:rPr lang="en-US" altLang="zh-TW" i="1" dirty="0" smtClean="0">
                        <a:latin typeface="Cambria Math" panose="02040503050406030204" pitchFamily="18" charset="0"/>
                      </a:rPr>
                      <m:t>=24</m:t>
                    </m:r>
                  </m:oMath>
                </a14:m>
                <a:endParaRPr lang="en-US" altLang="zh-TW" dirty="0"/>
              </a:p>
              <a:p>
                <a:pPr marL="514350" indent="-514350">
                  <a:buFont typeface="+mj-lt"/>
                  <a:buAutoNum type="arabicPeriod"/>
                </a:pPr>
                <a14:m>
                  <m:oMath xmlns:m="http://schemas.openxmlformats.org/officeDocument/2006/math">
                    <m:r>
                      <a:rPr lang="en-US" altLang="zh-TW" i="1" dirty="0">
                        <a:latin typeface="Cambria Math" panose="02040503050406030204" pitchFamily="18" charset="0"/>
                      </a:rPr>
                      <m:t>𝑆𝑈𝐵</m:t>
                    </m:r>
                    <m:r>
                      <a:rPr lang="en-US" altLang="zh-TW" i="1" dirty="0">
                        <a:latin typeface="Cambria Math" panose="02040503050406030204" pitchFamily="18" charset="0"/>
                      </a:rPr>
                      <m:t>={</m:t>
                    </m:r>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𝑥</m:t>
                        </m:r>
                      </m:e>
                      <m:sub>
                        <m:r>
                          <a:rPr lang="en-US" altLang="zh-TW" i="1" dirty="0">
                            <a:latin typeface="Cambria Math" panose="02040503050406030204" pitchFamily="18" charset="0"/>
                          </a:rPr>
                          <m:t>5</m:t>
                        </m:r>
                      </m:sub>
                    </m:sSub>
                    <m:r>
                      <a:rPr lang="en-US" altLang="zh-TW" b="0" i="1" dirty="0" smtClean="0">
                        <a:latin typeface="Cambria Math" panose="02040503050406030204" pitchFamily="18" charset="0"/>
                      </a:rPr>
                      <m:t>,</m:t>
                    </m:r>
                    <m:sSub>
                      <m:sSubPr>
                        <m:ctrlPr>
                          <a:rPr lang="en-US" altLang="zh-TW" b="0" i="1" dirty="0" smtClean="0">
                            <a:latin typeface="Cambria Math" panose="02040503050406030204" pitchFamily="18" charset="0"/>
                          </a:rPr>
                        </m:ctrlPr>
                      </m:sSubPr>
                      <m:e>
                        <m:r>
                          <a:rPr lang="en-US" altLang="zh-TW" b="0" i="1" dirty="0" smtClean="0">
                            <a:latin typeface="Cambria Math" panose="02040503050406030204" pitchFamily="18" charset="0"/>
                          </a:rPr>
                          <m:t>𝑥</m:t>
                        </m:r>
                      </m:e>
                      <m:sub>
                        <m:r>
                          <a:rPr lang="en-US" altLang="zh-TW" b="0" i="1" dirty="0" smtClean="0">
                            <a:latin typeface="Cambria Math" panose="02040503050406030204" pitchFamily="18" charset="0"/>
                          </a:rPr>
                          <m:t>8</m:t>
                        </m:r>
                      </m:sub>
                    </m:sSub>
                    <m:r>
                      <a:rPr lang="en-US" altLang="zh-TW" i="1" dirty="0">
                        <a:latin typeface="Cambria Math" panose="02040503050406030204" pitchFamily="18" charset="0"/>
                      </a:rPr>
                      <m:t>}</m:t>
                    </m:r>
                  </m:oMath>
                </a14:m>
                <a:r>
                  <a:rPr lang="en-US" altLang="zh-TW" dirty="0"/>
                  <a:t>, </a:t>
                </a:r>
                <a14:m>
                  <m:oMath xmlns:m="http://schemas.openxmlformats.org/officeDocument/2006/math">
                    <m:r>
                      <a:rPr lang="en-US" altLang="zh-TW" i="1" dirty="0">
                        <a:latin typeface="Cambria Math" panose="02040503050406030204" pitchFamily="18" charset="0"/>
                      </a:rPr>
                      <m:t>𝑆𝑈𝑀</m:t>
                    </m:r>
                    <m:r>
                      <a:rPr lang="en-US" altLang="zh-TW" i="1" dirty="0">
                        <a:latin typeface="Cambria Math" panose="02040503050406030204" pitchFamily="18" charset="0"/>
                      </a:rPr>
                      <m:t>=43</m:t>
                    </m:r>
                  </m:oMath>
                </a14:m>
                <a:endParaRPr lang="en-US" altLang="zh-TW" dirty="0"/>
              </a:p>
              <a:p>
                <a:pPr marL="0" indent="0">
                  <a:buNone/>
                </a:pPr>
                <a:endParaRPr lang="en-US" altLang="zh-TW"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5" name="表格 4"/>
              <p:cNvGraphicFramePr>
                <a:graphicFrameLocks noGrp="1"/>
              </p:cNvGraphicFramePr>
              <p:nvPr>
                <p:extLst>
                  <p:ext uri="{D42A27DB-BD31-4B8C-83A1-F6EECF244321}">
                    <p14:modId xmlns:p14="http://schemas.microsoft.com/office/powerpoint/2010/main" val="792879717"/>
                  </p:ext>
                </p:extLst>
              </p:nvPr>
            </p:nvGraphicFramePr>
            <p:xfrm>
              <a:off x="628650" y="1825625"/>
              <a:ext cx="6096000" cy="1112520"/>
            </p:xfrm>
            <a:graphic>
              <a:graphicData uri="http://schemas.openxmlformats.org/drawingml/2006/table">
                <a:tbl>
                  <a:tblPr firstRow="1" bandRow="1">
                    <a:tableStyleId>{2D5ABB26-0587-4C30-8999-92F81FD0307C}</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370840">
                    <a:tc>
                      <a:txBody>
                        <a:bodyPr/>
                        <a:lstStyle/>
                        <a:p>
                          <a:pPr algn="ctr"/>
                          <a:r>
                            <a:rPr lang="en-US" altLang="zh-TW" dirty="0"/>
                            <a:t>T</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𝟏</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𝟐</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𝟑</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𝟒</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𝟓</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𝟔</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𝟕</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𝟖</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𝟗</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r>
                            <a:rPr lang="en-US" altLang="zh-TW" dirty="0"/>
                            <a:t>s</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5</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9</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48</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7</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24</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5</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10</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19</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76</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gridSpan="10">
                      <a:txBody>
                        <a:bodyPr/>
                        <a:lstStyle/>
                        <a:p>
                          <a:pPr algn="l"/>
                          <a14:m>
                            <m:oMath xmlns:m="http://schemas.openxmlformats.org/officeDocument/2006/math">
                              <m:r>
                                <a:rPr lang="en-US" altLang="zh-TW" i="1" dirty="0" smtClean="0">
                                  <a:latin typeface="Cambria Math" panose="02040503050406030204" pitchFamily="18" charset="0"/>
                                </a:rPr>
                                <m:t>𝑏</m:t>
                              </m:r>
                              <m:r>
                                <a:rPr lang="en-US" altLang="zh-TW" i="1" dirty="0" smtClean="0">
                                  <a:latin typeface="Cambria Math" panose="02040503050406030204" pitchFamily="18" charset="0"/>
                                </a:rPr>
                                <m:t>=44</m:t>
                              </m:r>
                            </m:oMath>
                          </a14:m>
                          <a:r>
                            <a:rPr lang="zh-TW" altLang="en-US" dirty="0"/>
                            <a:t>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mc:Choice>
        <mc:Fallback xmlns="">
          <p:graphicFrame>
            <p:nvGraphicFramePr>
              <p:cNvPr id="5" name="表格 4"/>
              <p:cNvGraphicFramePr>
                <a:graphicFrameLocks noGrp="1"/>
              </p:cNvGraphicFramePr>
              <p:nvPr>
                <p:extLst>
                  <p:ext uri="{D42A27DB-BD31-4B8C-83A1-F6EECF244321}">
                    <p14:modId xmlns:p14="http://schemas.microsoft.com/office/powerpoint/2010/main" val="792879717"/>
                  </p:ext>
                </p:extLst>
              </p:nvPr>
            </p:nvGraphicFramePr>
            <p:xfrm>
              <a:off x="628650" y="1825625"/>
              <a:ext cx="6096000" cy="1112520"/>
            </p:xfrm>
            <a:graphic>
              <a:graphicData uri="http://schemas.openxmlformats.org/drawingml/2006/table">
                <a:tbl>
                  <a:tblPr firstRow="1" bandRow="1">
                    <a:tableStyleId>{2D5ABB26-0587-4C30-8999-92F81FD0307C}</a:tableStyleId>
                  </a:tblPr>
                  <a:tblGrid>
                    <a:gridCol w="609600"/>
                    <a:gridCol w="609600"/>
                    <a:gridCol w="609600"/>
                    <a:gridCol w="609600"/>
                    <a:gridCol w="609600"/>
                    <a:gridCol w="609600"/>
                    <a:gridCol w="609600"/>
                    <a:gridCol w="609600"/>
                    <a:gridCol w="609600"/>
                    <a:gridCol w="609600"/>
                  </a:tblGrid>
                  <a:tr h="370840">
                    <a:tc>
                      <a:txBody>
                        <a:bodyPr/>
                        <a:lstStyle/>
                        <a:p>
                          <a:pPr algn="ctr"/>
                          <a:r>
                            <a:rPr lang="en-US" altLang="zh-TW" dirty="0" smtClean="0"/>
                            <a:t>T</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101000" t="-8197" r="-803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201000" t="-8197" r="-703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301000" t="-8197" r="-603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397030" t="-8197" r="-49703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502000" t="-8197" r="-402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602000" t="-8197" r="-302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702000" t="-8197" r="-202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802000" t="-8197" r="-102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902000" t="-8197" r="-2000" b="-200000"/>
                          </a:stretch>
                        </a:blipFill>
                      </a:tcPr>
                    </a:tc>
                  </a:tr>
                  <a:tr h="370840">
                    <a:tc>
                      <a:txBody>
                        <a:bodyPr/>
                        <a:lstStyle/>
                        <a:p>
                          <a:pPr algn="ctr"/>
                          <a:r>
                            <a:rPr lang="en-US" altLang="zh-TW" dirty="0" smtClean="0"/>
                            <a:t>s</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5</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9</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48</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7</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24</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5</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10</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19</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76</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gridSpan="10">
                      <a:txBody>
                        <a:bodyPr/>
                        <a:lstStyle/>
                        <a:p>
                          <a:endParaRPr lang="zh-TW"/>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100" t="-208197" r="-200"/>
                          </a:stretch>
                        </a:blipFill>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mc:Fallback>
      </mc:AlternateContent>
      <mc:AlternateContent xmlns:mc="http://schemas.openxmlformats.org/markup-compatibility/2006">
        <mc:Choice xmlns:a14="http://schemas.microsoft.com/office/drawing/2010/main" Requires="a14">
          <p:graphicFrame>
            <p:nvGraphicFramePr>
              <p:cNvPr id="6" name="表格 5"/>
              <p:cNvGraphicFramePr>
                <a:graphicFrameLocks noGrp="1"/>
              </p:cNvGraphicFramePr>
              <p:nvPr>
                <p:extLst>
                  <p:ext uri="{D42A27DB-BD31-4B8C-83A1-F6EECF244321}">
                    <p14:modId xmlns:p14="http://schemas.microsoft.com/office/powerpoint/2010/main" val="706355726"/>
                  </p:ext>
                </p:extLst>
              </p:nvPr>
            </p:nvGraphicFramePr>
            <p:xfrm>
              <a:off x="628650" y="1825625"/>
              <a:ext cx="6096000" cy="1112520"/>
            </p:xfrm>
            <a:graphic>
              <a:graphicData uri="http://schemas.openxmlformats.org/drawingml/2006/table">
                <a:tbl>
                  <a:tblPr firstRow="1" bandRow="1">
                    <a:tableStyleId>{2D5ABB26-0587-4C30-8999-92F81FD0307C}</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370840">
                    <a:tc>
                      <a:txBody>
                        <a:bodyPr/>
                        <a:lstStyle/>
                        <a:p>
                          <a:pPr algn="ctr"/>
                          <a:r>
                            <a:rPr lang="en-US" altLang="zh-TW" dirty="0"/>
                            <a:t>T</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𝟏</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𝟐</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𝟑</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𝟒</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𝟓</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𝟔</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𝟕</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𝟖</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𝟗</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r>
                            <a:rPr lang="en-US" altLang="zh-TW" dirty="0"/>
                            <a:t>s</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5</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9</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48</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7</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24</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altLang="zh-TW" dirty="0"/>
                            <a:t>5</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t>10</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19</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76</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gridSpan="10">
                      <a:txBody>
                        <a:bodyPr/>
                        <a:lstStyle/>
                        <a:p>
                          <a:pPr algn="l"/>
                          <a14:m>
                            <m:oMath xmlns:m="http://schemas.openxmlformats.org/officeDocument/2006/math">
                              <m:r>
                                <a:rPr lang="en-US" altLang="zh-TW" i="1" dirty="0" smtClean="0">
                                  <a:latin typeface="Cambria Math" panose="02040503050406030204" pitchFamily="18" charset="0"/>
                                </a:rPr>
                                <m:t>𝑏</m:t>
                              </m:r>
                              <m:r>
                                <a:rPr lang="en-US" altLang="zh-TW" i="1" dirty="0" smtClean="0">
                                  <a:latin typeface="Cambria Math" panose="02040503050406030204" pitchFamily="18" charset="0"/>
                                </a:rPr>
                                <m:t>=44</m:t>
                              </m:r>
                            </m:oMath>
                          </a14:m>
                          <a:r>
                            <a:rPr lang="zh-TW" altLang="en-US" dirty="0"/>
                            <a:t>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mc:Choice>
        <mc:Fallback>
          <p:graphicFrame>
            <p:nvGraphicFramePr>
              <p:cNvPr id="6" name="表格 5"/>
              <p:cNvGraphicFramePr>
                <a:graphicFrameLocks noGrp="1"/>
              </p:cNvGraphicFramePr>
              <p:nvPr>
                <p:extLst>
                  <p:ext uri="{D42A27DB-BD31-4B8C-83A1-F6EECF244321}">
                    <p14:modId xmlns:p14="http://schemas.microsoft.com/office/powerpoint/2010/main" val="706355726"/>
                  </p:ext>
                </p:extLst>
              </p:nvPr>
            </p:nvGraphicFramePr>
            <p:xfrm>
              <a:off x="628650" y="1825625"/>
              <a:ext cx="6096000" cy="1112520"/>
            </p:xfrm>
            <a:graphic>
              <a:graphicData uri="http://schemas.openxmlformats.org/drawingml/2006/table">
                <a:tbl>
                  <a:tblPr firstRow="1" bandRow="1">
                    <a:tableStyleId>{2D5ABB26-0587-4C30-8999-92F81FD0307C}</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370840">
                    <a:tc>
                      <a:txBody>
                        <a:bodyPr/>
                        <a:lstStyle/>
                        <a:p>
                          <a:pPr algn="ctr"/>
                          <a:r>
                            <a:rPr lang="en-US" altLang="zh-TW" dirty="0"/>
                            <a:t>T</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000" t="-8197" r="-803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1000" t="-8197" r="-703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1000" t="-8197" r="-603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97030" t="-8197" r="-49703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02000" t="-8197" r="-402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02000" t="-8197" r="-302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02000" t="-8197" r="-202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02000" t="-8197" r="-102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02000" t="-8197" r="-2000" b="-200000"/>
                          </a:stretch>
                        </a:blipFill>
                      </a:tcPr>
                    </a:tc>
                    <a:extLst>
                      <a:ext uri="{0D108BD9-81ED-4DB2-BD59-A6C34878D82A}">
                        <a16:rowId xmlns:a16="http://schemas.microsoft.com/office/drawing/2014/main" val="10000"/>
                      </a:ext>
                    </a:extLst>
                  </a:tr>
                  <a:tr h="370840">
                    <a:tc>
                      <a:txBody>
                        <a:bodyPr/>
                        <a:lstStyle/>
                        <a:p>
                          <a:pPr algn="ctr"/>
                          <a:r>
                            <a:rPr lang="en-US" altLang="zh-TW" dirty="0"/>
                            <a:t>s</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5</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9</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48</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7</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24</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altLang="zh-TW" dirty="0"/>
                            <a:t>5</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t>10</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19</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76</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gridSpan="10">
                      <a:txBody>
                        <a:bodyPr/>
                        <a:lstStyle/>
                        <a:p>
                          <a:endParaRPr lang="zh-TW"/>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0" t="-208197" r="-200"/>
                          </a:stretch>
                        </a:blipFill>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7" name="表格 6"/>
              <p:cNvGraphicFramePr>
                <a:graphicFrameLocks noGrp="1"/>
              </p:cNvGraphicFramePr>
              <p:nvPr>
                <p:extLst>
                  <p:ext uri="{D42A27DB-BD31-4B8C-83A1-F6EECF244321}">
                    <p14:modId xmlns:p14="http://schemas.microsoft.com/office/powerpoint/2010/main" val="239442227"/>
                  </p:ext>
                </p:extLst>
              </p:nvPr>
            </p:nvGraphicFramePr>
            <p:xfrm>
              <a:off x="628650" y="1825625"/>
              <a:ext cx="6096000" cy="1112520"/>
            </p:xfrm>
            <a:graphic>
              <a:graphicData uri="http://schemas.openxmlformats.org/drawingml/2006/table">
                <a:tbl>
                  <a:tblPr firstRow="1" bandRow="1">
                    <a:tableStyleId>{2D5ABB26-0587-4C30-8999-92F81FD0307C}</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370840">
                    <a:tc>
                      <a:txBody>
                        <a:bodyPr/>
                        <a:lstStyle/>
                        <a:p>
                          <a:pPr algn="ctr"/>
                          <a:r>
                            <a:rPr lang="en-US" altLang="zh-TW" dirty="0"/>
                            <a:t>T</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𝟏</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𝟐</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𝟑</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𝟒</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𝟓</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𝟔</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𝟕</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𝟖</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𝟗</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r>
                            <a:rPr lang="en-US" altLang="zh-TW" dirty="0"/>
                            <a:t>s</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5</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9</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48</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7</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24</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5</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t>10</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19</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altLang="zh-TW" dirty="0"/>
                            <a:t>76</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gridSpan="10">
                      <a:txBody>
                        <a:bodyPr/>
                        <a:lstStyle/>
                        <a:p>
                          <a:pPr algn="l"/>
                          <a14:m>
                            <m:oMath xmlns:m="http://schemas.openxmlformats.org/officeDocument/2006/math">
                              <m:r>
                                <a:rPr lang="en-US" altLang="zh-TW" i="1" dirty="0" smtClean="0">
                                  <a:latin typeface="Cambria Math" panose="02040503050406030204" pitchFamily="18" charset="0"/>
                                </a:rPr>
                                <m:t>𝑏</m:t>
                              </m:r>
                              <m:r>
                                <a:rPr lang="en-US" altLang="zh-TW" i="1" dirty="0" smtClean="0">
                                  <a:latin typeface="Cambria Math" panose="02040503050406030204" pitchFamily="18" charset="0"/>
                                </a:rPr>
                                <m:t>=44</m:t>
                              </m:r>
                            </m:oMath>
                          </a14:m>
                          <a:r>
                            <a:rPr lang="zh-TW" altLang="en-US" dirty="0"/>
                            <a:t>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mc:Choice>
        <mc:Fallback>
          <p:graphicFrame>
            <p:nvGraphicFramePr>
              <p:cNvPr id="7" name="表格 6"/>
              <p:cNvGraphicFramePr>
                <a:graphicFrameLocks noGrp="1"/>
              </p:cNvGraphicFramePr>
              <p:nvPr>
                <p:extLst>
                  <p:ext uri="{D42A27DB-BD31-4B8C-83A1-F6EECF244321}">
                    <p14:modId xmlns:p14="http://schemas.microsoft.com/office/powerpoint/2010/main" val="239442227"/>
                  </p:ext>
                </p:extLst>
              </p:nvPr>
            </p:nvGraphicFramePr>
            <p:xfrm>
              <a:off x="628650" y="1825625"/>
              <a:ext cx="6096000" cy="1112520"/>
            </p:xfrm>
            <a:graphic>
              <a:graphicData uri="http://schemas.openxmlformats.org/drawingml/2006/table">
                <a:tbl>
                  <a:tblPr firstRow="1" bandRow="1">
                    <a:tableStyleId>{2D5ABB26-0587-4C30-8999-92F81FD0307C}</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370840">
                    <a:tc>
                      <a:txBody>
                        <a:bodyPr/>
                        <a:lstStyle/>
                        <a:p>
                          <a:pPr algn="ctr"/>
                          <a:r>
                            <a:rPr lang="en-US" altLang="zh-TW" dirty="0"/>
                            <a:t>T</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1000" t="-8197" r="-803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1000" t="-8197" r="-703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01000" t="-8197" r="-603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97030" t="-8197" r="-49703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02000" t="-8197" r="-402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02000" t="-8197" r="-302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702000" t="-8197" r="-202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02000" t="-8197" r="-102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02000" t="-8197" r="-2000" b="-200000"/>
                          </a:stretch>
                        </a:blipFill>
                      </a:tcPr>
                    </a:tc>
                    <a:extLst>
                      <a:ext uri="{0D108BD9-81ED-4DB2-BD59-A6C34878D82A}">
                        <a16:rowId xmlns:a16="http://schemas.microsoft.com/office/drawing/2014/main" val="10000"/>
                      </a:ext>
                    </a:extLst>
                  </a:tr>
                  <a:tr h="370840">
                    <a:tc>
                      <a:txBody>
                        <a:bodyPr/>
                        <a:lstStyle/>
                        <a:p>
                          <a:pPr algn="ctr"/>
                          <a:r>
                            <a:rPr lang="en-US" altLang="zh-TW" dirty="0"/>
                            <a:t>s</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5</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9</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48</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7</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24</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5</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t>10</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19</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altLang="zh-TW" dirty="0"/>
                            <a:t>76</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gridSpan="10">
                      <a:txBody>
                        <a:bodyPr/>
                        <a:lstStyle/>
                        <a:p>
                          <a:endParaRPr lang="zh-TW"/>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100" t="-208197" r="-200"/>
                          </a:stretch>
                        </a:blipFill>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mc:Fallback>
      </mc:AlternateContent>
    </p:spTree>
    <p:extLst>
      <p:ext uri="{BB962C8B-B14F-4D97-AF65-F5344CB8AC3E}">
        <p14:creationId xmlns:p14="http://schemas.microsoft.com/office/powerpoint/2010/main" val="1295453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Subset-Sum</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628650" y="1825624"/>
                <a:ext cx="8515350" cy="5032375"/>
              </a:xfrm>
            </p:spPr>
            <p:txBody>
              <a:bodyPr>
                <a:normAutofit/>
              </a:bodyPr>
              <a:lstStyle/>
              <a:p>
                <a:pPr marL="0" indent="0">
                  <a:buNone/>
                </a:pPr>
                <a:endParaRPr lang="en-US" altLang="zh-TW" i="1" dirty="0">
                  <a:latin typeface="Cambria Math" panose="02040503050406030204" pitchFamily="18" charset="0"/>
                </a:endParaRPr>
              </a:p>
              <a:p>
                <a:pPr marL="0" indent="0">
                  <a:buNone/>
                </a:pP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𝑇</m:t>
                        </m:r>
                      </m:e>
                      <m:sub>
                        <m:r>
                          <a:rPr lang="en-US" altLang="zh-TW" i="1">
                            <a:latin typeface="Cambria Math" panose="02040503050406030204" pitchFamily="18" charset="0"/>
                          </a:rPr>
                          <m:t>0</m:t>
                        </m:r>
                      </m:sub>
                    </m:sSub>
                    <m:r>
                      <a:rPr lang="en-US" altLang="zh-TW" i="1">
                        <a:latin typeface="Cambria Math" panose="02040503050406030204" pitchFamily="18" charset="0"/>
                      </a:rPr>
                      <m:t>=</m:t>
                    </m:r>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𝑇</m:t>
                        </m:r>
                      </m:e>
                      <m:sub>
                        <m:r>
                          <a:rPr lang="en-US" altLang="zh-TW" i="1">
                            <a:latin typeface="Cambria Math" panose="02040503050406030204" pitchFamily="18" charset="0"/>
                          </a:rPr>
                          <m:t>0</m:t>
                        </m:r>
                      </m:sub>
                      <m:sup>
                        <m:r>
                          <a:rPr lang="en-US" altLang="zh-TW" i="1">
                            <a:latin typeface="Cambria Math" panose="02040503050406030204" pitchFamily="18" charset="0"/>
                          </a:rPr>
                          <m:t>𝐵𝐼𝐺</m:t>
                        </m:r>
                      </m:sup>
                    </m:sSubSup>
                    <m:r>
                      <a:rPr lang="en-US" altLang="zh-TW" i="1">
                        <a:latin typeface="Cambria Math" panose="02040503050406030204" pitchFamily="18" charset="0"/>
                        <a:ea typeface="Cambria Math" panose="02040503050406030204" pitchFamily="18" charset="0"/>
                      </a:rPr>
                      <m:t>∪</m:t>
                    </m:r>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𝑇</m:t>
                        </m:r>
                      </m:e>
                      <m:sub>
                        <m:r>
                          <a:rPr lang="en-US" altLang="zh-TW" i="1">
                            <a:latin typeface="Cambria Math" panose="02040503050406030204" pitchFamily="18" charset="0"/>
                          </a:rPr>
                          <m:t>0</m:t>
                        </m:r>
                      </m:sub>
                      <m:sup>
                        <m:r>
                          <a:rPr lang="en-US" altLang="zh-TW" i="1">
                            <a:latin typeface="Cambria Math" panose="02040503050406030204" pitchFamily="18" charset="0"/>
                          </a:rPr>
                          <m:t>𝑆𝑀𝐴𝐿𝐿</m:t>
                        </m:r>
                      </m:sup>
                    </m:sSubSup>
                  </m:oMath>
                </a14:m>
                <a:r>
                  <a:rPr lang="zh-TW" altLang="en-US" dirty="0"/>
                  <a:t> </a:t>
                </a:r>
                <a:endParaRPr lang="en-US" altLang="zh-TW" i="1" dirty="0">
                  <a:latin typeface="Cambria Math" panose="02040503050406030204" pitchFamily="18" charset="0"/>
                </a:endParaRPr>
              </a:p>
              <a:p>
                <a:pPr marL="0" indent="0">
                  <a:buNone/>
                </a:pP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𝑇</m:t>
                        </m:r>
                      </m:e>
                      <m:sub>
                        <m:r>
                          <a:rPr lang="en-US" altLang="zh-TW" b="0" i="1" smtClean="0">
                            <a:latin typeface="Cambria Math" panose="02040503050406030204" pitchFamily="18" charset="0"/>
                          </a:rPr>
                          <m:t>1</m:t>
                        </m:r>
                      </m:sub>
                    </m:sSub>
                    <m:r>
                      <a:rPr lang="en-US" altLang="zh-TW" i="1">
                        <a:latin typeface="Cambria Math" panose="02040503050406030204" pitchFamily="18" charset="0"/>
                      </a:rPr>
                      <m:t>=</m:t>
                    </m:r>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𝑇</m:t>
                        </m:r>
                      </m:e>
                      <m:sub>
                        <m:r>
                          <a:rPr lang="en-US" altLang="zh-TW" b="0" i="1" smtClean="0">
                            <a:latin typeface="Cambria Math" panose="02040503050406030204" pitchFamily="18" charset="0"/>
                          </a:rPr>
                          <m:t>1</m:t>
                        </m:r>
                      </m:sub>
                      <m:sup>
                        <m:r>
                          <a:rPr lang="en-US" altLang="zh-TW" i="1">
                            <a:latin typeface="Cambria Math" panose="02040503050406030204" pitchFamily="18" charset="0"/>
                          </a:rPr>
                          <m:t>𝐵𝐼𝐺</m:t>
                        </m:r>
                      </m:sup>
                    </m:sSubSup>
                    <m:r>
                      <a:rPr lang="en-US" altLang="zh-TW" i="1">
                        <a:latin typeface="Cambria Math" panose="02040503050406030204" pitchFamily="18" charset="0"/>
                        <a:ea typeface="Cambria Math" panose="02040503050406030204" pitchFamily="18" charset="0"/>
                      </a:rPr>
                      <m:t>∪</m:t>
                    </m:r>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𝑇</m:t>
                        </m:r>
                      </m:e>
                      <m:sub>
                        <m:r>
                          <a:rPr lang="en-US" altLang="zh-TW" b="0" i="1" smtClean="0">
                            <a:latin typeface="Cambria Math" panose="02040503050406030204" pitchFamily="18" charset="0"/>
                          </a:rPr>
                          <m:t>1</m:t>
                        </m:r>
                      </m:sub>
                      <m:sup>
                        <m:r>
                          <a:rPr lang="en-US" altLang="zh-TW" i="1">
                            <a:latin typeface="Cambria Math" panose="02040503050406030204" pitchFamily="18" charset="0"/>
                          </a:rPr>
                          <m:t>𝑆𝑀𝐴𝐿𝐿</m:t>
                        </m:r>
                      </m:sup>
                    </m:sSubSup>
                  </m:oMath>
                </a14:m>
                <a:r>
                  <a:rPr lang="en-US" altLang="zh-TW" dirty="0"/>
                  <a:t> </a:t>
                </a:r>
              </a:p>
              <a:p>
                <a:pPr marL="0" indent="0">
                  <a:buNone/>
                </a:pPr>
                <a14:m>
                  <m:oMath xmlns:m="http://schemas.openxmlformats.org/officeDocument/2006/math">
                    <m:r>
                      <a:rPr lang="en-US" altLang="zh-TW" b="0" i="1" smtClean="0">
                        <a:latin typeface="Cambria Math" panose="02040503050406030204" pitchFamily="18" charset="0"/>
                      </a:rPr>
                      <m:t>𝑚</m:t>
                    </m:r>
                    <m:r>
                      <a:rPr lang="en-US" altLang="zh-TW" b="0" i="1" smtClean="0">
                        <a:latin typeface="Cambria Math" panose="02040503050406030204" pitchFamily="18" charset="0"/>
                      </a:rPr>
                      <m:t>(</m:t>
                    </m:r>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𝑇</m:t>
                        </m:r>
                      </m:e>
                      <m:sub>
                        <m:r>
                          <a:rPr lang="en-US" altLang="zh-TW" i="1">
                            <a:latin typeface="Cambria Math" panose="02040503050406030204" pitchFamily="18" charset="0"/>
                          </a:rPr>
                          <m:t>1</m:t>
                        </m:r>
                      </m:sub>
                      <m:sup>
                        <m:r>
                          <a:rPr lang="en-US" altLang="zh-TW" i="1">
                            <a:latin typeface="Cambria Math" panose="02040503050406030204" pitchFamily="18" charset="0"/>
                          </a:rPr>
                          <m:t>𝐵𝐼𝐺</m:t>
                        </m:r>
                      </m:sup>
                    </m:sSubSup>
                    <m:r>
                      <a:rPr lang="en-US" altLang="zh-TW" b="0" i="1" smtClean="0">
                        <a:latin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𝑚</m:t>
                    </m:r>
                    <m:r>
                      <a:rPr lang="en-US" altLang="zh-TW" b="0" i="1" smtClean="0">
                        <a:latin typeface="Cambria Math" panose="02040503050406030204" pitchFamily="18" charset="0"/>
                        <a:ea typeface="Cambria Math" panose="02040503050406030204" pitchFamily="18" charset="0"/>
                      </a:rPr>
                      <m:t>(</m:t>
                    </m:r>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𝑇</m:t>
                        </m:r>
                      </m:e>
                      <m:sub>
                        <m:r>
                          <a:rPr lang="en-US" altLang="zh-TW" i="1">
                            <a:latin typeface="Cambria Math" panose="02040503050406030204" pitchFamily="18" charset="0"/>
                          </a:rPr>
                          <m:t>0</m:t>
                        </m:r>
                      </m:sub>
                      <m:sup>
                        <m:r>
                          <a:rPr lang="en-US" altLang="zh-TW" i="1">
                            <a:latin typeface="Cambria Math" panose="02040503050406030204" pitchFamily="18" charset="0"/>
                          </a:rPr>
                          <m:t>𝐵𝐼𝐺</m:t>
                        </m:r>
                      </m:sup>
                    </m:sSubSup>
                    <m:r>
                      <a:rPr lang="en-US" altLang="zh-TW" b="0" i="1" smtClean="0">
                        <a:latin typeface="Cambria Math" panose="02040503050406030204" pitchFamily="18" charset="0"/>
                        <a:ea typeface="Cambria Math" panose="02040503050406030204" pitchFamily="18" charset="0"/>
                      </a:rPr>
                      <m:t>)</m:t>
                    </m:r>
                  </m:oMath>
                </a14:m>
                <a:r>
                  <a:rPr lang="zh-TW" altLang="en-US" dirty="0"/>
                  <a:t> </a:t>
                </a:r>
                <a:endParaRPr lang="en-US" altLang="zh-TW" dirty="0"/>
              </a:p>
              <a:p>
                <a:pPr marL="0" indent="0">
                  <a:buNone/>
                </a:pPr>
                <a:r>
                  <a:rPr lang="en-US" altLang="zh-TW" dirty="0"/>
                  <a:t>If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𝑇</m:t>
                        </m:r>
                      </m:e>
                      <m:sub>
                        <m:r>
                          <a:rPr lang="en-US" altLang="zh-TW" i="1">
                            <a:latin typeface="Cambria Math" panose="02040503050406030204" pitchFamily="18" charset="0"/>
                          </a:rPr>
                          <m:t>1</m:t>
                        </m:r>
                      </m:sub>
                      <m:sup>
                        <m:r>
                          <a:rPr lang="en-US" altLang="zh-TW" i="1">
                            <a:latin typeface="Cambria Math" panose="02040503050406030204" pitchFamily="18" charset="0"/>
                          </a:rPr>
                          <m:t>𝑆𝑀𝐴𝐿𝐿</m:t>
                        </m:r>
                      </m:sup>
                    </m:sSubSup>
                    <m:r>
                      <a:rPr lang="en-US" altLang="zh-TW" i="1" smtClean="0">
                        <a:latin typeface="Cambria Math" panose="02040503050406030204" pitchFamily="18" charset="0"/>
                        <a:ea typeface="Cambria Math" panose="02040503050406030204" pitchFamily="18" charset="0"/>
                      </a:rPr>
                      <m:t>⊇</m:t>
                    </m:r>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𝑇</m:t>
                        </m:r>
                      </m:e>
                      <m:sub>
                        <m:r>
                          <a:rPr lang="en-US" altLang="zh-TW" i="1">
                            <a:latin typeface="Cambria Math" panose="02040503050406030204" pitchFamily="18" charset="0"/>
                          </a:rPr>
                          <m:t>0</m:t>
                        </m:r>
                      </m:sub>
                      <m:sup>
                        <m:r>
                          <a:rPr lang="en-US" altLang="zh-TW" i="1">
                            <a:latin typeface="Cambria Math" panose="02040503050406030204" pitchFamily="18" charset="0"/>
                          </a:rPr>
                          <m:t>𝑆𝑀𝐴𝐿𝐿</m:t>
                        </m:r>
                      </m:sup>
                    </m:sSubSup>
                  </m:oMath>
                </a14:m>
                <a:r>
                  <a:rPr lang="en-US" altLang="zh-TW" dirty="0"/>
                  <a: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𝑇</m:t>
                        </m:r>
                      </m:e>
                      <m:sub>
                        <m:r>
                          <a:rPr lang="en-US" altLang="zh-TW" b="0" i="1" smtClean="0">
                            <a:latin typeface="Cambria Math" panose="02040503050406030204" pitchFamily="18" charset="0"/>
                          </a:rPr>
                          <m:t>1</m:t>
                        </m:r>
                      </m:sub>
                    </m:sSub>
                  </m:oMath>
                </a14:m>
                <a:r>
                  <a:rPr lang="zh-TW" altLang="en-US" dirty="0"/>
                  <a:t> </a:t>
                </a:r>
                <a:r>
                  <a:rPr lang="en-US" altLang="zh-TW" dirty="0"/>
                  <a:t>would be optimal.</a:t>
                </a:r>
              </a:p>
              <a:p>
                <a:pPr marL="0" indent="0">
                  <a:buNone/>
                </a:pPr>
                <a:r>
                  <a:rPr lang="en-US" altLang="zh-TW" dirty="0"/>
                  <a:t>If some </a:t>
                </a:r>
                <a14:m>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ea typeface="Cambria Math" panose="02040503050406030204" pitchFamily="18" charset="0"/>
                      </a:rPr>
                      <m:t>∈</m:t>
                    </m:r>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𝑇</m:t>
                        </m:r>
                      </m:e>
                      <m:sub>
                        <m:r>
                          <a:rPr lang="en-US" altLang="zh-TW" i="1">
                            <a:latin typeface="Cambria Math" panose="02040503050406030204" pitchFamily="18" charset="0"/>
                          </a:rPr>
                          <m:t>0</m:t>
                        </m:r>
                      </m:sub>
                      <m:sup>
                        <m:r>
                          <a:rPr lang="en-US" altLang="zh-TW" i="1">
                            <a:latin typeface="Cambria Math" panose="02040503050406030204" pitchFamily="18" charset="0"/>
                          </a:rPr>
                          <m:t>𝑆𝑀𝐴𝐿𝐿</m:t>
                        </m:r>
                      </m:sup>
                    </m:sSubSup>
                  </m:oMath>
                </a14:m>
                <a:r>
                  <a:rPr lang="en-US" altLang="zh-TW" dirty="0"/>
                  <a:t>, and </a:t>
                </a:r>
                <a14:m>
                  <m:oMath xmlns:m="http://schemas.openxmlformats.org/officeDocument/2006/math">
                    <m:r>
                      <a:rPr lang="en-US" altLang="zh-TW" i="1">
                        <a:latin typeface="Cambria Math" panose="02040503050406030204" pitchFamily="18" charset="0"/>
                      </a:rPr>
                      <m:t>𝑥</m:t>
                    </m:r>
                    <m:r>
                      <a:rPr lang="en-US" altLang="zh-TW" i="1" smtClean="0">
                        <a:latin typeface="Cambria Math" panose="02040503050406030204" pitchFamily="18" charset="0"/>
                        <a:ea typeface="Cambria Math" panose="02040503050406030204" pitchFamily="18" charset="0"/>
                      </a:rPr>
                      <m:t>∉</m:t>
                    </m:r>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𝑇</m:t>
                        </m:r>
                      </m:e>
                      <m:sub>
                        <m:r>
                          <a:rPr lang="en-US" altLang="zh-TW" b="0" i="1" smtClean="0">
                            <a:latin typeface="Cambria Math" panose="02040503050406030204" pitchFamily="18" charset="0"/>
                          </a:rPr>
                          <m:t>1</m:t>
                        </m:r>
                      </m:sub>
                      <m:sup>
                        <m:r>
                          <a:rPr lang="en-US" altLang="zh-TW" i="1">
                            <a:latin typeface="Cambria Math" panose="02040503050406030204" pitchFamily="18" charset="0"/>
                          </a:rPr>
                          <m:t>𝑆𝑀𝐴𝐿𝐿</m:t>
                        </m:r>
                      </m:sup>
                    </m:sSubSup>
                  </m:oMath>
                </a14:m>
                <a:r>
                  <a:rPr lang="en-US" altLang="zh-TW" dirty="0"/>
                  <a:t>, </a:t>
                </a:r>
                <a14:m>
                  <m:oMath xmlns:m="http://schemas.openxmlformats.org/officeDocument/2006/math">
                    <m:r>
                      <a:rPr lang="en-US" altLang="zh-TW" b="0" i="1" smtClean="0">
                        <a:latin typeface="Cambria Math" panose="02040503050406030204" pitchFamily="18" charset="0"/>
                      </a:rPr>
                      <m:t>𝑠</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e>
                    </m:d>
                    <m:r>
                      <a:rPr lang="en-US" altLang="zh-TW" b="0" i="1" smtClean="0">
                        <a:latin typeface="Cambria Math" panose="02040503050406030204" pitchFamily="18" charset="0"/>
                      </a:rPr>
                      <m:t>+</m:t>
                    </m:r>
                    <m:r>
                      <a:rPr lang="en-US" altLang="zh-TW" b="0" i="1" smtClean="0">
                        <a:latin typeface="Cambria Math" panose="02040503050406030204" pitchFamily="18" charset="0"/>
                      </a:rPr>
                      <m:t>𝑚</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𝑇</m:t>
                            </m:r>
                          </m:e>
                          <m:sub>
                            <m:r>
                              <a:rPr lang="en-US" altLang="zh-TW" b="0" i="1" smtClean="0">
                                <a:latin typeface="Cambria Math" panose="02040503050406030204" pitchFamily="18" charset="0"/>
                              </a:rPr>
                              <m:t>1</m:t>
                            </m:r>
                          </m:sub>
                        </m:sSub>
                      </m:e>
                    </m:d>
                    <m:r>
                      <a:rPr lang="en-US" altLang="zh-TW" b="0" i="1" smtClean="0">
                        <a:latin typeface="Cambria Math" panose="02040503050406030204" pitchFamily="18" charset="0"/>
                      </a:rPr>
                      <m:t>&gt;</m:t>
                    </m:r>
                    <m:r>
                      <a:rPr lang="en-US" altLang="zh-TW" b="0" i="1" smtClean="0">
                        <a:latin typeface="Cambria Math" panose="02040503050406030204" pitchFamily="18" charset="0"/>
                      </a:rPr>
                      <m:t>𝑏</m:t>
                    </m:r>
                  </m:oMath>
                </a14:m>
                <a:endParaRPr lang="en-US" altLang="zh-TW" dirty="0"/>
              </a:p>
              <a:p>
                <a:pPr marL="0" indent="0">
                  <a:buNone/>
                </a:pPr>
                <a14:m>
                  <m:oMath xmlns:m="http://schemas.openxmlformats.org/officeDocument/2006/math">
                    <m:r>
                      <a:rPr lang="en-US" altLang="zh-TW" b="0" i="1" smtClean="0">
                        <a:latin typeface="Cambria Math" panose="02040503050406030204" pitchFamily="18" charset="0"/>
                      </a:rPr>
                      <m:t>𝑚</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𝑇</m:t>
                            </m:r>
                          </m:e>
                          <m:sub>
                            <m:r>
                              <a:rPr lang="en-US" altLang="zh-TW" b="0" i="1" smtClean="0">
                                <a:latin typeface="Cambria Math" panose="02040503050406030204" pitchFamily="18" charset="0"/>
                              </a:rPr>
                              <m:t>1</m:t>
                            </m:r>
                          </m:sub>
                        </m:sSub>
                      </m:e>
                    </m:d>
                    <m:r>
                      <a:rPr lang="en-US" altLang="zh-TW" b="0" i="1" smtClean="0">
                        <a:latin typeface="Cambria Math" panose="02040503050406030204" pitchFamily="18" charset="0"/>
                      </a:rPr>
                      <m:t>&gt;</m:t>
                    </m:r>
                    <m:r>
                      <a:rPr lang="en-US" altLang="zh-TW" b="0" i="1" smtClean="0">
                        <a:latin typeface="Cambria Math" panose="02040503050406030204" pitchFamily="18" charset="0"/>
                      </a:rPr>
                      <m:t>𝑏</m:t>
                    </m:r>
                    <m:r>
                      <a:rPr lang="en-US" altLang="zh-TW" b="0" i="1" smtClean="0">
                        <a:latin typeface="Cambria Math" panose="02040503050406030204" pitchFamily="18" charset="0"/>
                      </a:rPr>
                      <m:t>−</m:t>
                    </m:r>
                    <m:r>
                      <a:rPr lang="en-US" altLang="zh-TW" b="0" i="1" smtClean="0">
                        <a:latin typeface="Cambria Math" panose="02040503050406030204" pitchFamily="18" charset="0"/>
                      </a:rPr>
                      <m:t>𝑠</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e>
                    </m:d>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𝑏</m:t>
                    </m:r>
                    <m:r>
                      <a:rPr lang="en-US" altLang="zh-TW" b="0" i="1" smtClean="0">
                        <a:latin typeface="Cambria Math" panose="02040503050406030204" pitchFamily="18" charset="0"/>
                        <a:ea typeface="Cambria Math" panose="02040503050406030204" pitchFamily="18" charset="0"/>
                      </a:rPr>
                      <m:t>−</m:t>
                    </m:r>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𝑏</m:t>
                        </m:r>
                      </m:num>
                      <m:den>
                        <m:r>
                          <a:rPr lang="en-US" altLang="zh-TW" b="0" i="1" smtClean="0">
                            <a:latin typeface="Cambria Math" panose="02040503050406030204" pitchFamily="18" charset="0"/>
                            <a:ea typeface="Cambria Math" panose="02040503050406030204" pitchFamily="18" charset="0"/>
                          </a:rPr>
                          <m:t>𝑘</m:t>
                        </m:r>
                        <m:r>
                          <a:rPr lang="en-US" altLang="zh-TW" b="0" i="1" smtClean="0">
                            <a:latin typeface="Cambria Math" panose="02040503050406030204" pitchFamily="18" charset="0"/>
                            <a:ea typeface="Cambria Math" panose="02040503050406030204" pitchFamily="18" charset="0"/>
                          </a:rPr>
                          <m:t>+1</m:t>
                        </m:r>
                      </m:den>
                    </m:f>
                    <m:r>
                      <a:rPr lang="en-US" altLang="zh-TW" b="0" i="1" smtClean="0">
                        <a:latin typeface="Cambria Math" panose="02040503050406030204" pitchFamily="18" charset="0"/>
                        <a:ea typeface="Cambria Math" panose="02040503050406030204" pitchFamily="18" charset="0"/>
                      </a:rPr>
                      <m:t>=</m:t>
                    </m:r>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𝑘𝑏</m:t>
                        </m:r>
                      </m:num>
                      <m:den>
                        <m:r>
                          <a:rPr lang="en-US" altLang="zh-TW" b="0" i="1" smtClean="0">
                            <a:latin typeface="Cambria Math" panose="02040503050406030204" pitchFamily="18" charset="0"/>
                            <a:ea typeface="Cambria Math" panose="02040503050406030204" pitchFamily="18" charset="0"/>
                          </a:rPr>
                          <m:t>𝑘</m:t>
                        </m:r>
                        <m:r>
                          <a:rPr lang="en-US" altLang="zh-TW" b="0" i="1" smtClean="0">
                            <a:latin typeface="Cambria Math" panose="02040503050406030204" pitchFamily="18" charset="0"/>
                            <a:ea typeface="Cambria Math" panose="02040503050406030204" pitchFamily="18" charset="0"/>
                          </a:rPr>
                          <m:t>+1</m:t>
                        </m:r>
                      </m:den>
                    </m:f>
                    <m:r>
                      <a:rPr lang="en-US" altLang="zh-TW" b="0" i="1" smtClean="0">
                        <a:latin typeface="Cambria Math" panose="02040503050406030204" pitchFamily="18" charset="0"/>
                        <a:ea typeface="Cambria Math" panose="02040503050406030204" pitchFamily="18" charset="0"/>
                      </a:rPr>
                      <m:t>≥</m:t>
                    </m:r>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𝑘</m:t>
                        </m:r>
                      </m:num>
                      <m:den>
                        <m:r>
                          <a:rPr lang="en-US" altLang="zh-TW" b="0" i="1" smtClean="0">
                            <a:latin typeface="Cambria Math" panose="02040503050406030204" pitchFamily="18" charset="0"/>
                            <a:ea typeface="Cambria Math" panose="02040503050406030204" pitchFamily="18" charset="0"/>
                          </a:rPr>
                          <m:t>𝑘</m:t>
                        </m:r>
                        <m:r>
                          <a:rPr lang="en-US" altLang="zh-TW" b="0" i="1" smtClean="0">
                            <a:latin typeface="Cambria Math" panose="02040503050406030204" pitchFamily="18" charset="0"/>
                            <a:ea typeface="Cambria Math" panose="02040503050406030204" pitchFamily="18" charset="0"/>
                          </a:rPr>
                          <m:t>+1</m:t>
                        </m:r>
                      </m:den>
                    </m:f>
                    <m:sSup>
                      <m:sSupPr>
                        <m:ctrlPr>
                          <a:rPr lang="en-US" altLang="zh-TW" b="0" i="1" smtClean="0">
                            <a:latin typeface="Cambria Math" panose="02040503050406030204" pitchFamily="18" charset="0"/>
                            <a:ea typeface="Cambria Math" panose="02040503050406030204" pitchFamily="18" charset="0"/>
                          </a:rPr>
                        </m:ctrlPr>
                      </m:sSupPr>
                      <m:e>
                        <m:r>
                          <a:rPr lang="en-US" altLang="zh-TW" b="0" i="1" smtClean="0">
                            <a:latin typeface="Cambria Math" panose="02040503050406030204" pitchFamily="18" charset="0"/>
                            <a:ea typeface="Cambria Math" panose="02040503050406030204" pitchFamily="18" charset="0"/>
                          </a:rPr>
                          <m:t>&lt;</m:t>
                        </m:r>
                        <m:r>
                          <a:rPr lang="en-US" altLang="zh-TW" b="0" i="1" smtClean="0">
                            <a:latin typeface="Cambria Math" panose="02040503050406030204" pitchFamily="18" charset="0"/>
                            <a:ea typeface="Cambria Math" panose="02040503050406030204" pitchFamily="18" charset="0"/>
                          </a:rPr>
                          <m:t>𝑇</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𝑠</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𝑏</m:t>
                        </m:r>
                        <m:r>
                          <a:rPr lang="en-US" altLang="zh-TW" b="0" i="1" smtClean="0">
                            <a:latin typeface="Cambria Math" panose="02040503050406030204" pitchFamily="18" charset="0"/>
                            <a:ea typeface="Cambria Math" panose="02040503050406030204" pitchFamily="18" charset="0"/>
                          </a:rPr>
                          <m:t>&gt;</m:t>
                        </m:r>
                      </m:e>
                      <m:sup>
                        <m:r>
                          <a:rPr lang="en-US" altLang="zh-TW" b="0" i="1" smtClean="0">
                            <a:latin typeface="Cambria Math" panose="02040503050406030204" pitchFamily="18" charset="0"/>
                            <a:ea typeface="Cambria Math" panose="02040503050406030204" pitchFamily="18" charset="0"/>
                          </a:rPr>
                          <m:t>∗</m:t>
                        </m:r>
                      </m:sup>
                    </m:sSup>
                  </m:oMath>
                </a14:m>
                <a:r>
                  <a:rPr lang="zh-TW" altLang="en-US" dirty="0"/>
                  <a:t> </a:t>
                </a:r>
                <a14:m>
                  <m:oMath xmlns:m="http://schemas.openxmlformats.org/officeDocument/2006/math">
                    <m:f>
                      <m:fPr>
                        <m:ctrlPr>
                          <a:rPr lang="en-US" altLang="zh-TW" i="1" dirty="0" smtClean="0">
                            <a:latin typeface="Cambria Math" panose="02040503050406030204" pitchFamily="18" charset="0"/>
                          </a:rPr>
                        </m:ctrlPr>
                      </m:fPr>
                      <m:num>
                        <m:sSup>
                          <m:sSupPr>
                            <m:ctrlPr>
                              <a:rPr lang="en-US" altLang="zh-TW" i="1">
                                <a:latin typeface="Cambria Math" panose="02040503050406030204" pitchFamily="18" charset="0"/>
                                <a:ea typeface="Cambria Math" panose="02040503050406030204" pitchFamily="18" charset="0"/>
                              </a:rPr>
                            </m:ctrlPr>
                          </m:sSupPr>
                          <m:e>
                            <m:r>
                              <a:rPr lang="en-US" altLang="zh-TW" i="1">
                                <a:latin typeface="Cambria Math" panose="02040503050406030204" pitchFamily="18" charset="0"/>
                                <a:ea typeface="Cambria Math" panose="02040503050406030204" pitchFamily="18" charset="0"/>
                              </a:rPr>
                              <m:t>&lt;</m:t>
                            </m:r>
                            <m:r>
                              <a:rPr lang="en-US" altLang="zh-TW" i="1">
                                <a:latin typeface="Cambria Math" panose="02040503050406030204" pitchFamily="18" charset="0"/>
                                <a:ea typeface="Cambria Math" panose="02040503050406030204" pitchFamily="18" charset="0"/>
                              </a:rPr>
                              <m:t>𝑇</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𝑠</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𝑏</m:t>
                            </m:r>
                            <m:r>
                              <a:rPr lang="en-US" altLang="zh-TW" i="1">
                                <a:latin typeface="Cambria Math" panose="02040503050406030204" pitchFamily="18" charset="0"/>
                                <a:ea typeface="Cambria Math" panose="02040503050406030204" pitchFamily="18" charset="0"/>
                              </a:rPr>
                              <m:t>&gt;</m:t>
                            </m:r>
                          </m:e>
                          <m:sup>
                            <m:r>
                              <a:rPr lang="en-US" altLang="zh-TW" i="1">
                                <a:latin typeface="Cambria Math" panose="02040503050406030204" pitchFamily="18" charset="0"/>
                                <a:ea typeface="Cambria Math" panose="02040503050406030204" pitchFamily="18" charset="0"/>
                              </a:rPr>
                              <m:t>∗</m:t>
                            </m:r>
                          </m:sup>
                        </m:sSup>
                      </m:num>
                      <m:den>
                        <m:r>
                          <a:rPr lang="en-US" altLang="zh-TW" i="1">
                            <a:latin typeface="Cambria Math" panose="02040503050406030204" pitchFamily="18" charset="0"/>
                          </a:rPr>
                          <m:t>𝑚</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𝑇</m:t>
                                </m:r>
                              </m:e>
                              <m:sub>
                                <m:r>
                                  <a:rPr lang="en-US" altLang="zh-TW" i="1">
                                    <a:latin typeface="Cambria Math" panose="02040503050406030204" pitchFamily="18" charset="0"/>
                                  </a:rPr>
                                  <m:t>1</m:t>
                                </m:r>
                              </m:sub>
                            </m:sSub>
                          </m:e>
                        </m:d>
                      </m:den>
                    </m:f>
                    <m:r>
                      <a:rPr lang="en-US" altLang="zh-TW" i="1" dirty="0" smtClean="0">
                        <a:latin typeface="Cambria Math" panose="02040503050406030204" pitchFamily="18" charset="0"/>
                        <a:ea typeface="Cambria Math" panose="02040503050406030204" pitchFamily="18" charset="0"/>
                      </a:rPr>
                      <m:t>≤</m:t>
                    </m:r>
                    <m:f>
                      <m:fPr>
                        <m:ctrlPr>
                          <a:rPr lang="en-US" altLang="zh-TW" i="1">
                            <a:latin typeface="Cambria Math" panose="02040503050406030204" pitchFamily="18" charset="0"/>
                            <a:ea typeface="Cambria Math" panose="02040503050406030204" pitchFamily="18" charset="0"/>
                          </a:rPr>
                        </m:ctrlPr>
                      </m:fPr>
                      <m:num>
                        <m:r>
                          <a:rPr lang="en-US" altLang="zh-TW" i="1">
                            <a:latin typeface="Cambria Math" panose="02040503050406030204" pitchFamily="18" charset="0"/>
                            <a:ea typeface="Cambria Math" panose="02040503050406030204" pitchFamily="18" charset="0"/>
                          </a:rPr>
                          <m:t>𝑘</m:t>
                        </m:r>
                      </m:num>
                      <m:den>
                        <m:r>
                          <a:rPr lang="en-US" altLang="zh-TW" i="1">
                            <a:latin typeface="Cambria Math" panose="02040503050406030204" pitchFamily="18" charset="0"/>
                            <a:ea typeface="Cambria Math" panose="02040503050406030204" pitchFamily="18" charset="0"/>
                          </a:rPr>
                          <m:t>𝑘</m:t>
                        </m:r>
                        <m:r>
                          <a:rPr lang="en-US" altLang="zh-TW" i="1">
                            <a:latin typeface="Cambria Math" panose="02040503050406030204" pitchFamily="18" charset="0"/>
                            <a:ea typeface="Cambria Math" panose="02040503050406030204" pitchFamily="18" charset="0"/>
                          </a:rPr>
                          <m:t>+1</m:t>
                        </m:r>
                      </m:den>
                    </m:f>
                  </m:oMath>
                </a14:m>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628650" y="1825624"/>
                <a:ext cx="8515350" cy="5032375"/>
              </a:xfrm>
              <a:blipFill rotWithShape="0">
                <a:blip r:embed="rId2"/>
                <a:stretch>
                  <a:fillRect l="-143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5" name="表格 4"/>
              <p:cNvGraphicFramePr>
                <a:graphicFrameLocks noGrp="1"/>
              </p:cNvGraphicFramePr>
              <p:nvPr>
                <p:extLst>
                  <p:ext uri="{D42A27DB-BD31-4B8C-83A1-F6EECF244321}">
                    <p14:modId xmlns:p14="http://schemas.microsoft.com/office/powerpoint/2010/main" val="1678519478"/>
                  </p:ext>
                </p:extLst>
              </p:nvPr>
            </p:nvGraphicFramePr>
            <p:xfrm>
              <a:off x="628650" y="1269365"/>
              <a:ext cx="6096000" cy="1112520"/>
            </p:xfrm>
            <a:graphic>
              <a:graphicData uri="http://schemas.openxmlformats.org/drawingml/2006/table">
                <a:tbl>
                  <a:tblPr firstRow="1" bandRow="1">
                    <a:tableStyleId>{2D5ABB26-0587-4C30-8999-92F81FD0307C}</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370840">
                    <a:tc>
                      <a:txBody>
                        <a:bodyPr/>
                        <a:lstStyle/>
                        <a:p>
                          <a:pPr algn="ctr"/>
                          <a:r>
                            <a:rPr lang="en-US" altLang="zh-TW" dirty="0"/>
                            <a:t>T</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𝟏</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𝟐</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𝟑</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𝟒</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𝟓</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𝟔</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𝟕</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𝟖</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𝟗</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r>
                            <a:rPr lang="en-US" altLang="zh-TW" dirty="0"/>
                            <a:t>s</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5</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9</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48</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7</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24</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5</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10</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19</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76</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gridSpan="10">
                      <a:txBody>
                        <a:bodyPr/>
                        <a:lstStyle/>
                        <a:p>
                          <a:pPr algn="l"/>
                          <a14:m>
                            <m:oMath xmlns:m="http://schemas.openxmlformats.org/officeDocument/2006/math">
                              <m:r>
                                <a:rPr lang="en-US" altLang="zh-TW" i="1" dirty="0" smtClean="0">
                                  <a:latin typeface="Cambria Math" panose="02040503050406030204" pitchFamily="18" charset="0"/>
                                </a:rPr>
                                <m:t>𝑏</m:t>
                              </m:r>
                              <m:r>
                                <a:rPr lang="en-US" altLang="zh-TW" i="1" dirty="0" smtClean="0">
                                  <a:latin typeface="Cambria Math" panose="02040503050406030204" pitchFamily="18" charset="0"/>
                                </a:rPr>
                                <m:t>=44</m:t>
                              </m:r>
                            </m:oMath>
                          </a14:m>
                          <a:r>
                            <a:rPr lang="zh-TW" altLang="en-US" dirty="0"/>
                            <a:t>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mc:Choice>
        <mc:Fallback xmlns="">
          <p:graphicFrame>
            <p:nvGraphicFramePr>
              <p:cNvPr id="5" name="表格 4"/>
              <p:cNvGraphicFramePr>
                <a:graphicFrameLocks noGrp="1"/>
              </p:cNvGraphicFramePr>
              <p:nvPr>
                <p:extLst>
                  <p:ext uri="{D42A27DB-BD31-4B8C-83A1-F6EECF244321}">
                    <p14:modId xmlns:p14="http://schemas.microsoft.com/office/powerpoint/2010/main" val="1678519478"/>
                  </p:ext>
                </p:extLst>
              </p:nvPr>
            </p:nvGraphicFramePr>
            <p:xfrm>
              <a:off x="628650" y="1269365"/>
              <a:ext cx="6096000" cy="1112520"/>
            </p:xfrm>
            <a:graphic>
              <a:graphicData uri="http://schemas.openxmlformats.org/drawingml/2006/table">
                <a:tbl>
                  <a:tblPr firstRow="1" bandRow="1">
                    <a:tableStyleId>{2D5ABB26-0587-4C30-8999-92F81FD0307C}</a:tableStyleId>
                  </a:tblPr>
                  <a:tblGrid>
                    <a:gridCol w="609600"/>
                    <a:gridCol w="609600"/>
                    <a:gridCol w="609600"/>
                    <a:gridCol w="609600"/>
                    <a:gridCol w="609600"/>
                    <a:gridCol w="609600"/>
                    <a:gridCol w="609600"/>
                    <a:gridCol w="609600"/>
                    <a:gridCol w="609600"/>
                    <a:gridCol w="609600"/>
                  </a:tblGrid>
                  <a:tr h="370840">
                    <a:tc>
                      <a:txBody>
                        <a:bodyPr/>
                        <a:lstStyle/>
                        <a:p>
                          <a:pPr algn="ctr"/>
                          <a:r>
                            <a:rPr lang="en-US" altLang="zh-TW" dirty="0" smtClean="0"/>
                            <a:t>T</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101000" t="-8197" r="-803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201000" t="-8197" r="-703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301000" t="-8197" r="-603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397030" t="-8197" r="-49703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502000" t="-8197" r="-402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602000" t="-8197" r="-302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702000" t="-8197" r="-202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802000" t="-8197" r="-102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902000" t="-8197" r="-2000" b="-200000"/>
                          </a:stretch>
                        </a:blipFill>
                      </a:tcPr>
                    </a:tc>
                  </a:tr>
                  <a:tr h="370840">
                    <a:tc>
                      <a:txBody>
                        <a:bodyPr/>
                        <a:lstStyle/>
                        <a:p>
                          <a:pPr algn="ctr"/>
                          <a:r>
                            <a:rPr lang="en-US" altLang="zh-TW" dirty="0" smtClean="0"/>
                            <a:t>s</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5</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9</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48</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7</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24</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5</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10</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19</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76</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gridSpan="10">
                      <a:txBody>
                        <a:bodyPr/>
                        <a:lstStyle/>
                        <a:p>
                          <a:endParaRPr lang="zh-TW"/>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100" t="-208197" r="-200"/>
                          </a:stretch>
                        </a:blipFill>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mc:Fallback>
      </mc:AlternateContent>
      <mc:AlternateContent xmlns:mc="http://schemas.openxmlformats.org/markup-compatibility/2006" xmlns:a14="http://schemas.microsoft.com/office/drawing/2010/main">
        <mc:Choice Requires="a14">
          <p:graphicFrame>
            <p:nvGraphicFramePr>
              <p:cNvPr id="6" name="表格 5"/>
              <p:cNvGraphicFramePr>
                <a:graphicFrameLocks noGrp="1"/>
              </p:cNvGraphicFramePr>
              <p:nvPr>
                <p:extLst>
                  <p:ext uri="{D42A27DB-BD31-4B8C-83A1-F6EECF244321}">
                    <p14:modId xmlns:p14="http://schemas.microsoft.com/office/powerpoint/2010/main" val="1710698605"/>
                  </p:ext>
                </p:extLst>
              </p:nvPr>
            </p:nvGraphicFramePr>
            <p:xfrm>
              <a:off x="628650" y="1269365"/>
              <a:ext cx="6096000" cy="1112520"/>
            </p:xfrm>
            <a:graphic>
              <a:graphicData uri="http://schemas.openxmlformats.org/drawingml/2006/table">
                <a:tbl>
                  <a:tblPr firstRow="1" bandRow="1">
                    <a:tableStyleId>{2D5ABB26-0587-4C30-8999-92F81FD0307C}</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370840">
                    <a:tc>
                      <a:txBody>
                        <a:bodyPr/>
                        <a:lstStyle/>
                        <a:p>
                          <a:pPr algn="ctr"/>
                          <a:r>
                            <a:rPr lang="en-US" altLang="zh-TW" dirty="0"/>
                            <a:t>T</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𝟏</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𝟐</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𝟑</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𝟒</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𝟓</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𝟔</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𝟕</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𝟖</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𝟗</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r>
                            <a:rPr lang="en-US" altLang="zh-TW" dirty="0"/>
                            <a:t>s</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5</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dirty="0"/>
                            <a:t>9</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48</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dirty="0"/>
                            <a:t>7</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24</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dirty="0"/>
                            <a:t>5</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10</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19</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76</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10001"/>
                      </a:ext>
                    </a:extLst>
                  </a:tr>
                  <a:tr h="370840">
                    <a:tc gridSpan="10">
                      <a:txBody>
                        <a:bodyPr/>
                        <a:lstStyle/>
                        <a:p>
                          <a:pPr algn="l"/>
                          <a14:m>
                            <m:oMath xmlns:m="http://schemas.openxmlformats.org/officeDocument/2006/math">
                              <m:r>
                                <a:rPr lang="en-US" altLang="zh-TW" i="1" dirty="0" smtClean="0">
                                  <a:latin typeface="Cambria Math" panose="02040503050406030204" pitchFamily="18" charset="0"/>
                                </a:rPr>
                                <m:t>𝑏</m:t>
                              </m:r>
                              <m:r>
                                <a:rPr lang="en-US" altLang="zh-TW" i="1" dirty="0" smtClean="0">
                                  <a:latin typeface="Cambria Math" panose="02040503050406030204" pitchFamily="18" charset="0"/>
                                </a:rPr>
                                <m:t>=77</m:t>
                              </m:r>
                            </m:oMath>
                          </a14:m>
                          <a:r>
                            <a:rPr lang="zh-TW" altLang="en-US" dirty="0"/>
                            <a:t>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mc:Choice>
        <mc:Fallback xmlns="">
          <p:graphicFrame>
            <p:nvGraphicFramePr>
              <p:cNvPr id="6" name="表格 5"/>
              <p:cNvGraphicFramePr>
                <a:graphicFrameLocks noGrp="1"/>
              </p:cNvGraphicFramePr>
              <p:nvPr>
                <p:extLst>
                  <p:ext uri="{D42A27DB-BD31-4B8C-83A1-F6EECF244321}">
                    <p14:modId xmlns:p14="http://schemas.microsoft.com/office/powerpoint/2010/main" val="1710698605"/>
                  </p:ext>
                </p:extLst>
              </p:nvPr>
            </p:nvGraphicFramePr>
            <p:xfrm>
              <a:off x="628650" y="1269365"/>
              <a:ext cx="6096000" cy="1112520"/>
            </p:xfrm>
            <a:graphic>
              <a:graphicData uri="http://schemas.openxmlformats.org/drawingml/2006/table">
                <a:tbl>
                  <a:tblPr firstRow="1" bandRow="1">
                    <a:tableStyleId>{2D5ABB26-0587-4C30-8999-92F81FD0307C}</a:tableStyleId>
                  </a:tblPr>
                  <a:tblGrid>
                    <a:gridCol w="609600"/>
                    <a:gridCol w="609600"/>
                    <a:gridCol w="609600"/>
                    <a:gridCol w="609600"/>
                    <a:gridCol w="609600"/>
                    <a:gridCol w="609600"/>
                    <a:gridCol w="609600"/>
                    <a:gridCol w="609600"/>
                    <a:gridCol w="609600"/>
                    <a:gridCol w="609600"/>
                  </a:tblGrid>
                  <a:tr h="370840">
                    <a:tc>
                      <a:txBody>
                        <a:bodyPr/>
                        <a:lstStyle/>
                        <a:p>
                          <a:pPr algn="ctr"/>
                          <a:r>
                            <a:rPr lang="en-US" altLang="zh-TW" dirty="0" smtClean="0"/>
                            <a:t>T</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4"/>
                          <a:stretch>
                            <a:fillRect l="-101000" t="-8197" r="-803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4"/>
                          <a:stretch>
                            <a:fillRect l="-201000" t="-8197" r="-703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4"/>
                          <a:stretch>
                            <a:fillRect l="-301000" t="-8197" r="-603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4"/>
                          <a:stretch>
                            <a:fillRect l="-397030" t="-8197" r="-49703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4"/>
                          <a:stretch>
                            <a:fillRect l="-502000" t="-8197" r="-402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4"/>
                          <a:stretch>
                            <a:fillRect l="-602000" t="-8197" r="-302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4"/>
                          <a:stretch>
                            <a:fillRect l="-702000" t="-8197" r="-202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4"/>
                          <a:stretch>
                            <a:fillRect l="-802000" t="-8197" r="-102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4"/>
                          <a:stretch>
                            <a:fillRect l="-902000" t="-8197" r="-2000" b="-200000"/>
                          </a:stretch>
                        </a:blipFill>
                      </a:tcPr>
                    </a:tc>
                  </a:tr>
                  <a:tr h="370840">
                    <a:tc>
                      <a:txBody>
                        <a:bodyPr/>
                        <a:lstStyle/>
                        <a:p>
                          <a:pPr algn="ctr"/>
                          <a:r>
                            <a:rPr lang="en-US" altLang="zh-TW" dirty="0" smtClean="0"/>
                            <a:t>s</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5</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dirty="0" smtClean="0"/>
                            <a:t>9</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48</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dirty="0" smtClean="0"/>
                            <a:t>7</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24</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dirty="0" smtClean="0"/>
                            <a:t>5</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10</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19</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76</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r>
                  <a:tr h="370840">
                    <a:tc gridSpan="10">
                      <a:txBody>
                        <a:bodyPr/>
                        <a:lstStyle/>
                        <a:p>
                          <a:endParaRPr lang="zh-TW"/>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100" t="-208197" r="-200"/>
                          </a:stretch>
                        </a:blipFill>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mc:Fallback>
      </mc:AlternateContent>
      <mc:AlternateContent xmlns:mc="http://schemas.openxmlformats.org/markup-compatibility/2006">
        <mc:Choice xmlns:a14="http://schemas.microsoft.com/office/drawing/2010/main" Requires="a14">
          <p:graphicFrame>
            <p:nvGraphicFramePr>
              <p:cNvPr id="7" name="表格 6"/>
              <p:cNvGraphicFramePr>
                <a:graphicFrameLocks noGrp="1"/>
              </p:cNvGraphicFramePr>
              <p:nvPr>
                <p:extLst>
                  <p:ext uri="{D42A27DB-BD31-4B8C-83A1-F6EECF244321}">
                    <p14:modId xmlns:p14="http://schemas.microsoft.com/office/powerpoint/2010/main" val="1067808614"/>
                  </p:ext>
                </p:extLst>
              </p:nvPr>
            </p:nvGraphicFramePr>
            <p:xfrm>
              <a:off x="628650" y="1269365"/>
              <a:ext cx="6096000" cy="1112520"/>
            </p:xfrm>
            <a:graphic>
              <a:graphicData uri="http://schemas.openxmlformats.org/drawingml/2006/table">
                <a:tbl>
                  <a:tblPr firstRow="1" bandRow="1">
                    <a:tableStyleId>{2D5ABB26-0587-4C30-8999-92F81FD0307C}</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370840">
                    <a:tc>
                      <a:txBody>
                        <a:bodyPr/>
                        <a:lstStyle/>
                        <a:p>
                          <a:pPr algn="ctr"/>
                          <a:r>
                            <a:rPr lang="en-US" altLang="zh-TW" dirty="0"/>
                            <a:t>T</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𝟏</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𝟐</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𝟑</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𝟒</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𝟓</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𝟔</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𝟕</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𝟖</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𝒙</m:t>
                                    </m:r>
                                  </m:e>
                                  <m:sub>
                                    <m:r>
                                      <a:rPr lang="en-US" altLang="zh-TW" smtClean="0">
                                        <a:latin typeface="Cambria Math" panose="02040503050406030204" pitchFamily="18" charset="0"/>
                                      </a:rPr>
                                      <m:t>𝟗</m:t>
                                    </m:r>
                                  </m:sub>
                                </m:sSub>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r>
                            <a:rPr lang="en-US" altLang="zh-TW" dirty="0"/>
                            <a:t>s</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5</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dirty="0"/>
                            <a:t>9</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48</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7</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24</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5</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dirty="0"/>
                            <a:t>10</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dirty="0"/>
                            <a:t>19</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altLang="zh-TW" dirty="0"/>
                            <a:t>76</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gridSpan="10">
                      <a:txBody>
                        <a:bodyPr/>
                        <a:lstStyle/>
                        <a:p>
                          <a:pPr algn="l"/>
                          <a14:m>
                            <m:oMath xmlns:m="http://schemas.openxmlformats.org/officeDocument/2006/math">
                              <m:r>
                                <a:rPr lang="en-US" altLang="zh-TW" i="1" dirty="0" smtClean="0">
                                  <a:latin typeface="Cambria Math" panose="02040503050406030204" pitchFamily="18" charset="0"/>
                                </a:rPr>
                                <m:t>𝑏</m:t>
                              </m:r>
                              <m:r>
                                <a:rPr lang="en-US" altLang="zh-TW" i="1" dirty="0" smtClean="0">
                                  <a:latin typeface="Cambria Math" panose="02040503050406030204" pitchFamily="18" charset="0"/>
                                </a:rPr>
                                <m:t>=44</m:t>
                              </m:r>
                            </m:oMath>
                          </a14:m>
                          <a:r>
                            <a:rPr lang="zh-TW" altLang="en-US" dirty="0"/>
                            <a:t>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mc:Choice>
        <mc:Fallback>
          <p:graphicFrame>
            <p:nvGraphicFramePr>
              <p:cNvPr id="7" name="表格 6"/>
              <p:cNvGraphicFramePr>
                <a:graphicFrameLocks noGrp="1"/>
              </p:cNvGraphicFramePr>
              <p:nvPr>
                <p:extLst>
                  <p:ext uri="{D42A27DB-BD31-4B8C-83A1-F6EECF244321}">
                    <p14:modId xmlns:p14="http://schemas.microsoft.com/office/powerpoint/2010/main" val="1067808614"/>
                  </p:ext>
                </p:extLst>
              </p:nvPr>
            </p:nvGraphicFramePr>
            <p:xfrm>
              <a:off x="628650" y="1269365"/>
              <a:ext cx="6096000" cy="1112520"/>
            </p:xfrm>
            <a:graphic>
              <a:graphicData uri="http://schemas.openxmlformats.org/drawingml/2006/table">
                <a:tbl>
                  <a:tblPr firstRow="1" bandRow="1">
                    <a:tableStyleId>{2D5ABB26-0587-4C30-8999-92F81FD0307C}</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370840">
                    <a:tc>
                      <a:txBody>
                        <a:bodyPr/>
                        <a:lstStyle/>
                        <a:p>
                          <a:pPr algn="ctr"/>
                          <a:r>
                            <a:rPr lang="en-US" altLang="zh-TW" dirty="0"/>
                            <a:t>T</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1000" t="-8197" r="-803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1000" t="-8197" r="-703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01000" t="-8197" r="-603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97030" t="-8197" r="-49703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02000" t="-8197" r="-402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02000" t="-8197" r="-302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702000" t="-8197" r="-202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02000" t="-8197" r="-102000" b="-20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02000" t="-8197" r="-2000" b="-200000"/>
                          </a:stretch>
                        </a:blipFill>
                      </a:tcPr>
                    </a:tc>
                    <a:extLst>
                      <a:ext uri="{0D108BD9-81ED-4DB2-BD59-A6C34878D82A}">
                        <a16:rowId xmlns:a16="http://schemas.microsoft.com/office/drawing/2014/main" val="10000"/>
                      </a:ext>
                    </a:extLst>
                  </a:tr>
                  <a:tr h="370840">
                    <a:tc>
                      <a:txBody>
                        <a:bodyPr/>
                        <a:lstStyle/>
                        <a:p>
                          <a:pPr algn="ctr"/>
                          <a:r>
                            <a:rPr lang="en-US" altLang="zh-TW" dirty="0"/>
                            <a:t>s</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5</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dirty="0"/>
                            <a:t>9</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48</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7</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24</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5</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dirty="0"/>
                            <a:t>10</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altLang="zh-TW" dirty="0"/>
                            <a:t>19</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altLang="zh-TW" dirty="0"/>
                            <a:t>76</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gridSpan="10">
                      <a:txBody>
                        <a:bodyPr/>
                        <a:lstStyle/>
                        <a:p>
                          <a:endParaRPr lang="zh-TW"/>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100" t="-208197" r="-200"/>
                          </a:stretch>
                        </a:blipFill>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mc:Fallback>
      </mc:AlternateContent>
    </p:spTree>
    <p:extLst>
      <p:ext uri="{BB962C8B-B14F-4D97-AF65-F5344CB8AC3E}">
        <p14:creationId xmlns:p14="http://schemas.microsoft.com/office/powerpoint/2010/main" val="1320853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6"/>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Maximum Satisfiability</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normAutofit/>
              </a:bodyPr>
              <a:lstStyle/>
              <a:p>
                <a:pPr marL="0" indent="0">
                  <a:buNone/>
                </a:pP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𝐼𝑁𝑃𝑈𝑇</m:t>
                        </m:r>
                      </m:e>
                      <m:sub>
                        <m:r>
                          <a:rPr lang="en-US" altLang="zh-TW" b="0" i="1" smtClean="0">
                            <a:latin typeface="Cambria Math" panose="02040503050406030204" pitchFamily="18" charset="0"/>
                          </a:rPr>
                          <m:t>𝑀</m:t>
                        </m:r>
                        <m:r>
                          <a:rPr lang="en-US" altLang="zh-TW" i="1">
                            <a:latin typeface="Cambria Math" panose="02040503050406030204" pitchFamily="18" charset="0"/>
                          </a:rPr>
                          <m:t>𝑆</m:t>
                        </m:r>
                      </m:sub>
                    </m:sSub>
                    <m:r>
                      <a:rPr lang="en-US" altLang="zh-TW" i="1">
                        <a:latin typeface="Cambria Math" panose="02040503050406030204" pitchFamily="18" charset="0"/>
                      </a:rPr>
                      <m:t>={</m:t>
                    </m:r>
                    <m:r>
                      <a:rPr lang="en-US" altLang="zh-TW" b="0" i="1" smtClean="0">
                        <a:latin typeface="Cambria Math" panose="02040503050406030204" pitchFamily="18" charset="0"/>
                      </a:rPr>
                      <m:t>𝑆</m:t>
                    </m:r>
                    <m:r>
                      <a:rPr lang="en-US" altLang="zh-TW" b="0" i="1" smtClean="0">
                        <a:latin typeface="Cambria Math" panose="02040503050406030204" pitchFamily="18" charset="0"/>
                      </a:rPr>
                      <m:t>:</m:t>
                    </m:r>
                    <m:r>
                      <a:rPr lang="en-US" altLang="zh-TW" b="0" i="1" smtClean="0">
                        <a:latin typeface="Cambria Math" panose="02040503050406030204" pitchFamily="18" charset="0"/>
                      </a:rPr>
                      <m:t>𝑆</m:t>
                    </m:r>
                  </m:oMath>
                </a14:m>
                <a:r>
                  <a:rPr lang="en-US" altLang="zh-TW" dirty="0"/>
                  <a:t> is a finite set </a:t>
                </a:r>
                <a14:m>
                  <m:oMath xmlns:m="http://schemas.openxmlformats.org/officeDocument/2006/math">
                    <m:d>
                      <m:dPr>
                        <m:begChr m:val="{"/>
                        <m:endChr m:val="}"/>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𝐶</m:t>
                            </m:r>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𝐶</m:t>
                            </m:r>
                          </m:e>
                          <m:sub>
                            <m:r>
                              <a:rPr lang="en-US" altLang="zh-TW" i="1">
                                <a:latin typeface="Cambria Math" panose="02040503050406030204" pitchFamily="18" charset="0"/>
                              </a:rPr>
                              <m:t>2</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𝐶</m:t>
                            </m:r>
                          </m:e>
                          <m:sub>
                            <m:r>
                              <a:rPr lang="en-US" altLang="zh-TW" i="1">
                                <a:latin typeface="Cambria Math" panose="02040503050406030204" pitchFamily="18" charset="0"/>
                              </a:rPr>
                              <m:t>𝑝</m:t>
                            </m:r>
                          </m:sub>
                        </m:sSub>
                      </m:e>
                    </m:d>
                  </m:oMath>
                </a14:m>
                <a:r>
                  <a:rPr lang="en-US" altLang="zh-TW" dirty="0"/>
                  <a:t> of clauses </a:t>
                </a:r>
                <a14:m>
                  <m:oMath xmlns:m="http://schemas.openxmlformats.org/officeDocument/2006/math">
                    <m:r>
                      <a:rPr lang="en-US" altLang="zh-TW" i="1">
                        <a:latin typeface="Cambria Math" panose="02040503050406030204" pitchFamily="18" charset="0"/>
                      </a:rPr>
                      <m:t>}</m:t>
                    </m:r>
                  </m:oMath>
                </a14:m>
                <a:endParaRPr lang="en-US" altLang="zh-TW" dirty="0"/>
              </a:p>
              <a:p>
                <a:pPr marL="0" indent="0">
                  <a:buNone/>
                </a:pP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𝑆𝑂𝐿</m:t>
                        </m:r>
                      </m:e>
                      <m:sub>
                        <m:r>
                          <a:rPr lang="en-US" altLang="zh-TW" b="0" i="1" smtClean="0">
                            <a:latin typeface="Cambria Math" panose="02040503050406030204" pitchFamily="18" charset="0"/>
                          </a:rPr>
                          <m:t>𝑀</m:t>
                        </m:r>
                        <m:r>
                          <a:rPr lang="en-US" altLang="zh-TW" i="1">
                            <a:latin typeface="Cambria Math" panose="02040503050406030204" pitchFamily="18" charset="0"/>
                          </a:rPr>
                          <m:t>𝑆</m:t>
                        </m:r>
                      </m:sub>
                    </m:sSub>
                    <m:d>
                      <m:dPr>
                        <m:ctrlPr>
                          <a:rPr lang="en-US" altLang="zh-TW" i="1">
                            <a:latin typeface="Cambria Math" panose="02040503050406030204" pitchFamily="18" charset="0"/>
                          </a:rPr>
                        </m:ctrlPr>
                      </m:dPr>
                      <m:e>
                        <m:r>
                          <a:rPr lang="en-US" altLang="zh-TW" b="0" i="1" smtClean="0">
                            <a:latin typeface="Cambria Math" panose="02040503050406030204" pitchFamily="18" charset="0"/>
                          </a:rPr>
                          <m:t>𝑇</m:t>
                        </m:r>
                      </m:e>
                    </m:d>
                    <m:r>
                      <a:rPr lang="en-US" altLang="zh-TW" i="1">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𝑆</m:t>
                        </m:r>
                      </m:e>
                      <m:sup>
                        <m:r>
                          <a:rPr lang="en-US" altLang="zh-TW" b="0" i="1" smtClean="0">
                            <a:latin typeface="Cambria Math" panose="02040503050406030204" pitchFamily="18" charset="0"/>
                          </a:rPr>
                          <m:t>′</m:t>
                        </m:r>
                      </m:sup>
                    </m:sSup>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𝑆</m:t>
                    </m:r>
                    <m:r>
                      <a:rPr lang="en-US" altLang="zh-TW" b="0" i="1" smtClean="0">
                        <a:latin typeface="Cambria Math" panose="02040503050406030204" pitchFamily="18" charset="0"/>
                        <a:ea typeface="Cambria Math" panose="02040503050406030204" pitchFamily="18" charset="0"/>
                      </a:rPr>
                      <m:t>:</m:t>
                    </m:r>
                  </m:oMath>
                </a14:m>
                <a:r>
                  <a:rPr lang="en-US" altLang="zh-TW" dirty="0"/>
                  <a:t>there exists a truth assignment </a:t>
                </a:r>
                <a14:m>
                  <m:oMath xmlns:m="http://schemas.openxmlformats.org/officeDocument/2006/math">
                    <m:r>
                      <a:rPr lang="en-US" altLang="zh-TW" i="1" dirty="0" smtClean="0">
                        <a:latin typeface="Cambria Math" panose="02040503050406030204" pitchFamily="18" charset="0"/>
                      </a:rPr>
                      <m:t>𝑇</m:t>
                    </m:r>
                  </m:oMath>
                </a14:m>
                <a:r>
                  <a:rPr lang="zh-TW" altLang="en-US" dirty="0"/>
                  <a:t> </a:t>
                </a:r>
                <a:r>
                  <a:rPr lang="en-US" altLang="zh-TW" dirty="0"/>
                  <a:t>which satisfies every clause </a:t>
                </a:r>
                <a14:m>
                  <m:oMath xmlns:m="http://schemas.openxmlformats.org/officeDocument/2006/math">
                    <m:r>
                      <a:rPr lang="en-US" altLang="zh-TW" b="0" i="1" smtClean="0">
                        <a:latin typeface="Cambria Math" panose="02040503050406030204" pitchFamily="18" charset="0"/>
                      </a:rPr>
                      <m:t>𝐶</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𝑆</m:t>
                    </m:r>
                    <m:r>
                      <a:rPr lang="en-US" altLang="zh-TW" b="0" i="1" smtClean="0">
                        <a:latin typeface="Cambria Math" panose="02040503050406030204" pitchFamily="18" charset="0"/>
                        <a:ea typeface="Cambria Math" panose="02040503050406030204" pitchFamily="18" charset="0"/>
                      </a:rPr>
                      <m:t>′}</m:t>
                    </m:r>
                  </m:oMath>
                </a14:m>
                <a:endParaRPr lang="en-US" altLang="zh-TW" dirty="0"/>
              </a:p>
              <a:p>
                <a:pPr marL="0" indent="0">
                  <a:buNone/>
                </a:pP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𝑚</m:t>
                        </m:r>
                      </m:e>
                      <m:sub>
                        <m:r>
                          <a:rPr lang="en-US" altLang="zh-TW" b="0" i="1" smtClean="0">
                            <a:latin typeface="Cambria Math" panose="02040503050406030204" pitchFamily="18" charset="0"/>
                          </a:rPr>
                          <m:t>𝑀𝑆</m:t>
                        </m:r>
                      </m:sub>
                    </m:sSub>
                    <m:d>
                      <m:dPr>
                        <m:ctrlPr>
                          <a:rPr lang="en-US" altLang="zh-TW" b="0" i="1" smtClean="0">
                            <a:latin typeface="Cambria Math" panose="02040503050406030204" pitchFamily="18" charset="0"/>
                          </a:rPr>
                        </m:ctrlPr>
                      </m:dPr>
                      <m:e>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𝑆</m:t>
                            </m:r>
                          </m:e>
                          <m:sup>
                            <m:r>
                              <a:rPr lang="en-US" altLang="zh-TW" b="0" i="1" smtClean="0">
                                <a:latin typeface="Cambria Math" panose="02040503050406030204" pitchFamily="18" charset="0"/>
                              </a:rPr>
                              <m:t>′</m:t>
                            </m:r>
                          </m:sup>
                        </m:sSup>
                      </m:e>
                    </m:d>
                    <m:r>
                      <a:rPr lang="en-US" altLang="zh-TW" b="0" i="1" smtClean="0">
                        <a:latin typeface="Cambria Math" panose="02040503050406030204" pitchFamily="18" charset="0"/>
                      </a:rPr>
                      <m:t>=|</m:t>
                    </m:r>
                    <m:r>
                      <a:rPr lang="en-US" altLang="zh-TW" b="0" i="1" smtClean="0">
                        <a:latin typeface="Cambria Math" panose="02040503050406030204" pitchFamily="18" charset="0"/>
                      </a:rPr>
                      <m:t>𝑆</m:t>
                    </m:r>
                    <m:r>
                      <a:rPr lang="en-US" altLang="zh-TW" b="0" i="1" smtClean="0">
                        <a:latin typeface="Cambria Math" panose="02040503050406030204" pitchFamily="18" charset="0"/>
                      </a:rPr>
                      <m:t>′|</m:t>
                    </m:r>
                  </m:oMath>
                </a14:m>
                <a:r>
                  <a:rPr lang="zh-TW" altLang="en-US" dirty="0"/>
                  <a:t> </a:t>
                </a: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a:blip r:embed="rId2"/>
                <a:stretch>
                  <a:fillRect l="-1546" t="-1401" r="-185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 name="內容版面配置區 2"/>
              <p:cNvSpPr txBox="1">
                <a:spLocks/>
              </p:cNvSpPr>
              <p:nvPr/>
            </p:nvSpPr>
            <p:spPr>
              <a:xfrm>
                <a:off x="4858099" y="4104634"/>
                <a:ext cx="4218789" cy="275336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 xmlns:m="http://schemas.openxmlformats.org/officeDocument/2006/math">
                    <m:r>
                      <a:rPr lang="en-US" altLang="zh-TW" i="1" smtClean="0">
                        <a:latin typeface="Cambria Math" panose="02040503050406030204" pitchFamily="18" charset="0"/>
                      </a:rPr>
                      <m:t>𝑆</m:t>
                    </m:r>
                    <m:r>
                      <a:rPr lang="en-US" altLang="zh-TW" i="1" smtClean="0">
                        <a:latin typeface="Cambria Math" panose="02040503050406030204" pitchFamily="18" charset="0"/>
                      </a:rPr>
                      <m:t>=</m:t>
                    </m:r>
                    <m:d>
                      <m:dPr>
                        <m:begChr m:val="{"/>
                        <m:endChr m:val="}"/>
                        <m:ctrlPr>
                          <a:rPr lang="en-US" altLang="zh-TW" i="1" smtClean="0">
                            <a:latin typeface="Cambria Math" panose="02040503050406030204" pitchFamily="18" charset="0"/>
                          </a:rPr>
                        </m:ctrlPr>
                      </m:dPr>
                      <m:e>
                        <m:eqArr>
                          <m:eqArrPr>
                            <m:ctrlPr>
                              <a:rPr lang="en-US" altLang="zh-TW" i="1" smtClean="0">
                                <a:latin typeface="Cambria Math" panose="02040503050406030204" pitchFamily="18" charset="0"/>
                              </a:rPr>
                            </m:ctrlPr>
                          </m:eqArrPr>
                          <m:e>
                            <m:d>
                              <m:dPr>
                                <m:begChr m:val="{"/>
                                <m:endChr m:val="}"/>
                                <m:ctrlPr>
                                  <a:rPr lang="en-US" altLang="zh-TW"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1</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2</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3</m:t>
                                    </m:r>
                                  </m:sub>
                                </m:sSub>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1</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3</m:t>
                                    </m:r>
                                  </m:sub>
                                </m:sSub>
                                <m:sSub>
                                  <m:sSubPr>
                                    <m:ctrlPr>
                                      <a:rPr lang="en-US" altLang="zh-TW" i="1">
                                        <a:latin typeface="Cambria Math" panose="02040503050406030204" pitchFamily="18" charset="0"/>
                                      </a:rPr>
                                    </m:ctrlPr>
                                  </m:sSubPr>
                                  <m:e>
                                    <m:r>
                                      <a:rPr lang="en-US" altLang="zh-TW" i="1" smtClean="0">
                                        <a:latin typeface="Cambria Math" panose="02040503050406030204" pitchFamily="18" charset="0"/>
                                      </a:rPr>
                                      <m:t>,</m:t>
                                    </m:r>
                                    <m:r>
                                      <a:rPr lang="en-US" altLang="zh-TW" i="1">
                                        <a:latin typeface="Cambria Math" panose="02040503050406030204" pitchFamily="18" charset="0"/>
                                      </a:rPr>
                                      <m:t>𝑥</m:t>
                                    </m:r>
                                  </m:e>
                                  <m:sub>
                                    <m:r>
                                      <a:rPr lang="en-US" altLang="zh-TW" i="1" smtClean="0">
                                        <a:latin typeface="Cambria Math" panose="02040503050406030204" pitchFamily="18" charset="0"/>
                                      </a:rPr>
                                      <m:t>4</m:t>
                                    </m:r>
                                  </m:sub>
                                </m:sSub>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5</m:t>
                                        </m:r>
                                      </m:sub>
                                    </m:sSub>
                                  </m:e>
                                </m:bar>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1</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5</m:t>
                                    </m:r>
                                  </m:sub>
                                </m:sSub>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2</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3</m:t>
                                    </m:r>
                                  </m:sub>
                                </m:sSub>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6</m:t>
                                        </m:r>
                                      </m:sub>
                                    </m:sSub>
                                  </m:e>
                                </m:bar>
                                <m:r>
                                  <a:rPr lang="en-US" altLang="zh-TW" i="1" smtClean="0">
                                    <a:latin typeface="Cambria Math" panose="02040503050406030204" pitchFamily="18" charset="0"/>
                                  </a:rPr>
                                  <m:t> </m:t>
                                </m:r>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2</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4</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5</m:t>
                                    </m:r>
                                  </m:sub>
                                </m:sSub>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7</m:t>
                                        </m:r>
                                      </m:sub>
                                    </m:sSub>
                                  </m:e>
                                </m:bar>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8</m:t>
                                        </m:r>
                                      </m:sub>
                                    </m:sSub>
                                  </m:e>
                                </m:bar>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1</m:t>
                                        </m:r>
                                      </m:sub>
                                    </m:sSub>
                                  </m:e>
                                </m:bar>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2</m:t>
                                        </m:r>
                                      </m:sub>
                                    </m:sSub>
                                  </m:e>
                                </m:bar>
                              </m:e>
                            </m:d>
                          </m:e>
                        </m:eqArr>
                      </m:e>
                    </m:d>
                  </m:oMath>
                </a14:m>
                <a:r>
                  <a:rPr lang="zh-TW" altLang="en-US" dirty="0"/>
                  <a:t> </a:t>
                </a:r>
              </a:p>
            </p:txBody>
          </p:sp>
        </mc:Choice>
        <mc:Fallback>
          <p:sp>
            <p:nvSpPr>
              <p:cNvPr id="4" name="內容版面配置區 2"/>
              <p:cNvSpPr txBox="1">
                <a:spLocks noRot="1" noChangeAspect="1" noMove="1" noResize="1" noEditPoints="1" noAdjustHandles="1" noChangeArrowheads="1" noChangeShapeType="1" noTextEdit="1"/>
              </p:cNvSpPr>
              <p:nvPr/>
            </p:nvSpPr>
            <p:spPr>
              <a:xfrm>
                <a:off x="4858099" y="4104634"/>
                <a:ext cx="4218789" cy="2753366"/>
              </a:xfrm>
              <a:prstGeom prst="rect">
                <a:avLst/>
              </a:prstGeom>
              <a:blipFill>
                <a:blip r:embed="rId3"/>
                <a:stretch>
                  <a:fillRect t="-398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963552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Maximum Satisfiability</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514350" indent="-514350">
                  <a:buFont typeface="+mj-lt"/>
                  <a:buAutoNum type="arabicPeriod"/>
                </a:pPr>
                <a:r>
                  <a:rPr lang="en-US" altLang="zh-TW" dirty="0"/>
                  <a:t>Set </a:t>
                </a:r>
                <a14:m>
                  <m:oMath xmlns:m="http://schemas.openxmlformats.org/officeDocument/2006/math">
                    <m:r>
                      <a:rPr lang="en-US" altLang="zh-TW" b="0" i="1" smtClean="0">
                        <a:latin typeface="Cambria Math" panose="02040503050406030204" pitchFamily="18" charset="0"/>
                      </a:rPr>
                      <m:t>𝑆𝑈𝐵</m:t>
                    </m:r>
                    <m:r>
                      <a:rPr lang="en-US" altLang="zh-TW" b="0" i="1" smtClean="0">
                        <a:latin typeface="Cambria Math" panose="02040503050406030204" pitchFamily="18" charset="0"/>
                      </a:rPr>
                      <m:t>=∅</m:t>
                    </m:r>
                  </m:oMath>
                </a14:m>
                <a:r>
                  <a:rPr lang="en-US" altLang="zh-TW" dirty="0"/>
                  <a:t>, </a:t>
                </a:r>
                <a14:m>
                  <m:oMath xmlns:m="http://schemas.openxmlformats.org/officeDocument/2006/math">
                    <m:r>
                      <a:rPr lang="en-US" altLang="zh-TW" b="0" i="1" smtClean="0">
                        <a:latin typeface="Cambria Math" panose="02040503050406030204" pitchFamily="18" charset="0"/>
                      </a:rPr>
                      <m:t>𝑇𝑅𝑈𝐸</m:t>
                    </m:r>
                    <m:r>
                      <a:rPr lang="en-US" altLang="zh-TW" i="1">
                        <a:latin typeface="Cambria Math" panose="02040503050406030204" pitchFamily="18" charset="0"/>
                      </a:rPr>
                      <m:t>=</m:t>
                    </m:r>
                    <m:r>
                      <a:rPr lang="en-US" altLang="zh-TW" i="1">
                        <a:latin typeface="Cambria Math" panose="02040503050406030204" pitchFamily="18" charset="0"/>
                        <a:ea typeface="Cambria Math" panose="02040503050406030204" pitchFamily="18" charset="0"/>
                      </a:rPr>
                      <m:t>∅</m:t>
                    </m:r>
                  </m:oMath>
                </a14:m>
                <a:r>
                  <a:rPr lang="en-US" altLang="zh-TW" dirty="0"/>
                  <a:t>, </a:t>
                </a:r>
                <a14:m>
                  <m:oMath xmlns:m="http://schemas.openxmlformats.org/officeDocument/2006/math">
                    <m:r>
                      <a:rPr lang="en-US" altLang="zh-TW" b="0" i="1" smtClean="0">
                        <a:latin typeface="Cambria Math" panose="02040503050406030204" pitchFamily="18" charset="0"/>
                      </a:rPr>
                      <m:t>𝐿𝐸𝐹𝑇</m:t>
                    </m:r>
                    <m:r>
                      <a:rPr lang="en-US" altLang="zh-TW" i="1">
                        <a:latin typeface="Cambria Math" panose="02040503050406030204" pitchFamily="18" charset="0"/>
                      </a:rPr>
                      <m:t>=</m:t>
                    </m:r>
                    <m:r>
                      <a:rPr lang="en-US" altLang="zh-TW" b="0" i="1" smtClean="0">
                        <a:latin typeface="Cambria Math" panose="02040503050406030204" pitchFamily="18" charset="0"/>
                      </a:rPr>
                      <m:t>𝑆</m:t>
                    </m:r>
                  </m:oMath>
                </a14:m>
                <a:r>
                  <a:rPr lang="en-US" altLang="zh-TW" dirty="0"/>
                  <a:t>, </a:t>
                </a:r>
                <a14:m>
                  <m:oMath xmlns:m="http://schemas.openxmlformats.org/officeDocument/2006/math">
                    <m:r>
                      <a:rPr lang="en-US" altLang="zh-TW" b="0" i="1" smtClean="0">
                        <a:latin typeface="Cambria Math" panose="02040503050406030204" pitchFamily="18" charset="0"/>
                      </a:rPr>
                      <m:t>𝐿𝐼𝑇</m:t>
                    </m:r>
                    <m:r>
                      <a:rPr lang="en-US" altLang="zh-TW" i="1">
                        <a:latin typeface="Cambria Math" panose="02040503050406030204" pitchFamily="18" charset="0"/>
                      </a:rPr>
                      <m:t>=</m:t>
                    </m:r>
                    <m:r>
                      <a:rPr lang="en-US" altLang="zh-TW" b="0" i="1" smtClean="0">
                        <a:latin typeface="Cambria Math" panose="02040503050406030204" pitchFamily="18" charset="0"/>
                      </a:rPr>
                      <m:t>𝐿</m:t>
                    </m:r>
                  </m:oMath>
                </a14:m>
                <a:r>
                  <a:rPr lang="en-US" altLang="zh-TW" dirty="0"/>
                  <a:t> </a:t>
                </a:r>
              </a:p>
              <a:p>
                <a:pPr marL="514350" indent="-514350">
                  <a:buFont typeface="+mj-lt"/>
                  <a:buAutoNum type="arabicPeriod"/>
                </a:pPr>
                <a:r>
                  <a:rPr lang="en-US" altLang="zh-TW" dirty="0"/>
                  <a:t>If no literal in </a:t>
                </a:r>
                <a14:m>
                  <m:oMath xmlns:m="http://schemas.openxmlformats.org/officeDocument/2006/math">
                    <m:r>
                      <a:rPr lang="en-US" altLang="zh-TW" i="1" dirty="0" smtClean="0">
                        <a:latin typeface="Cambria Math" panose="02040503050406030204" pitchFamily="18" charset="0"/>
                      </a:rPr>
                      <m:t>𝐿𝐼𝑇</m:t>
                    </m:r>
                  </m:oMath>
                </a14:m>
                <a:r>
                  <a:rPr lang="en-US" altLang="zh-TW" dirty="0"/>
                  <a:t> is contained in any clause of </a:t>
                </a:r>
                <a14:m>
                  <m:oMath xmlns:m="http://schemas.openxmlformats.org/officeDocument/2006/math">
                    <m:r>
                      <a:rPr lang="en-US" altLang="zh-TW" i="1" dirty="0" smtClean="0">
                        <a:latin typeface="Cambria Math" panose="02040503050406030204" pitchFamily="18" charset="0"/>
                      </a:rPr>
                      <m:t>𝐿𝐸𝐹𝑇</m:t>
                    </m:r>
                  </m:oMath>
                </a14:m>
                <a:r>
                  <a:rPr lang="en-US" altLang="zh-TW" dirty="0"/>
                  <a:t>, halt and return </a:t>
                </a:r>
                <a14:m>
                  <m:oMath xmlns:m="http://schemas.openxmlformats.org/officeDocument/2006/math">
                    <m:r>
                      <a:rPr lang="en-US" altLang="zh-TW" i="1" dirty="0" smtClean="0">
                        <a:latin typeface="Cambria Math" panose="02040503050406030204" pitchFamily="18" charset="0"/>
                      </a:rPr>
                      <m:t>𝑆𝑈𝐵</m:t>
                    </m:r>
                  </m:oMath>
                </a14:m>
                <a:r>
                  <a:rPr lang="en-US" altLang="zh-TW" dirty="0"/>
                  <a:t>.</a:t>
                </a:r>
              </a:p>
              <a:p>
                <a:pPr marL="514350" indent="-514350">
                  <a:buFont typeface="+mj-lt"/>
                  <a:buAutoNum type="arabicPeriod"/>
                </a:pPr>
                <a:r>
                  <a:rPr lang="en-US" altLang="zh-TW" dirty="0"/>
                  <a:t>Let </a:t>
                </a:r>
                <a14:m>
                  <m:oMath xmlns:m="http://schemas.openxmlformats.org/officeDocument/2006/math">
                    <m:r>
                      <a:rPr lang="en-US" altLang="zh-TW" i="1" dirty="0" smtClean="0">
                        <a:latin typeface="Cambria Math" panose="02040503050406030204" pitchFamily="18" charset="0"/>
                      </a:rPr>
                      <m:t>𝑦</m:t>
                    </m:r>
                  </m:oMath>
                </a14:m>
                <a:r>
                  <a:rPr lang="en-US" altLang="zh-TW" dirty="0"/>
                  <a:t> be the literal in </a:t>
                </a:r>
                <a14:m>
                  <m:oMath xmlns:m="http://schemas.openxmlformats.org/officeDocument/2006/math">
                    <m:r>
                      <a:rPr lang="en-US" altLang="zh-TW" i="1" dirty="0" smtClean="0">
                        <a:latin typeface="Cambria Math" panose="02040503050406030204" pitchFamily="18" charset="0"/>
                      </a:rPr>
                      <m:t>𝐿𝐼𝑇</m:t>
                    </m:r>
                  </m:oMath>
                </a14:m>
                <a:r>
                  <a:rPr lang="en-US" altLang="zh-TW" dirty="0"/>
                  <a:t> which is contained in the most clauses of </a:t>
                </a:r>
                <a14:m>
                  <m:oMath xmlns:m="http://schemas.openxmlformats.org/officeDocument/2006/math">
                    <m:r>
                      <a:rPr lang="en-US" altLang="zh-TW" i="1" dirty="0" smtClean="0">
                        <a:latin typeface="Cambria Math" panose="02040503050406030204" pitchFamily="18" charset="0"/>
                      </a:rPr>
                      <m:t>𝐿𝐸𝐹𝑇</m:t>
                    </m:r>
                  </m:oMath>
                </a14:m>
                <a:r>
                  <a:rPr lang="en-US" altLang="zh-TW" dirty="0"/>
                  <a:t>, and </a:t>
                </a:r>
                <a14:m>
                  <m:oMath xmlns:m="http://schemas.openxmlformats.org/officeDocument/2006/math">
                    <m:r>
                      <a:rPr lang="en-US" altLang="zh-TW" i="1" dirty="0" smtClean="0">
                        <a:latin typeface="Cambria Math" panose="02040503050406030204" pitchFamily="18" charset="0"/>
                      </a:rPr>
                      <m:t>𝑌𝑇</m:t>
                    </m:r>
                  </m:oMath>
                </a14:m>
                <a:r>
                  <a:rPr lang="en-US" altLang="zh-TW" dirty="0"/>
                  <a:t> be the set of clauses in </a:t>
                </a:r>
                <a14:m>
                  <m:oMath xmlns:m="http://schemas.openxmlformats.org/officeDocument/2006/math">
                    <m:r>
                      <a:rPr lang="en-US" altLang="zh-TW" i="1" dirty="0" smtClean="0">
                        <a:latin typeface="Cambria Math" panose="02040503050406030204" pitchFamily="18" charset="0"/>
                      </a:rPr>
                      <m:t>𝐿𝐸𝐹𝑇</m:t>
                    </m:r>
                  </m:oMath>
                </a14:m>
                <a:r>
                  <a:rPr lang="en-US" altLang="zh-TW" dirty="0"/>
                  <a:t> which contain </a:t>
                </a:r>
                <a14:m>
                  <m:oMath xmlns:m="http://schemas.openxmlformats.org/officeDocument/2006/math">
                    <m:r>
                      <a:rPr lang="en-US" altLang="zh-TW" i="1" dirty="0" smtClean="0">
                        <a:latin typeface="Cambria Math" panose="02040503050406030204" pitchFamily="18" charset="0"/>
                      </a:rPr>
                      <m:t>𝑦</m:t>
                    </m:r>
                  </m:oMath>
                </a14:m>
                <a:r>
                  <a:rPr lang="en-US" altLang="zh-TW" dirty="0"/>
                  <a:t>.</a:t>
                </a:r>
              </a:p>
              <a:p>
                <a:pPr marL="514350" indent="-514350">
                  <a:buFont typeface="+mj-lt"/>
                  <a:buAutoNum type="arabicPeriod"/>
                </a:pPr>
                <a:r>
                  <a:rPr lang="en-US" altLang="zh-TW" dirty="0"/>
                  <a:t>Set </a:t>
                </a:r>
                <a14:m>
                  <m:oMath xmlns:m="http://schemas.openxmlformats.org/officeDocument/2006/math">
                    <m:r>
                      <a:rPr lang="en-US" altLang="zh-TW" i="1" dirty="0" smtClean="0">
                        <a:latin typeface="Cambria Math" panose="02040503050406030204" pitchFamily="18" charset="0"/>
                      </a:rPr>
                      <m:t>𝑆𝑈𝐵</m:t>
                    </m:r>
                    <m:r>
                      <a:rPr lang="en-US" altLang="zh-TW" b="0" i="1" dirty="0" smtClean="0">
                        <a:latin typeface="Cambria Math" panose="02040503050406030204" pitchFamily="18" charset="0"/>
                      </a:rPr>
                      <m:t>=</m:t>
                    </m:r>
                    <m:r>
                      <a:rPr lang="en-US" altLang="zh-TW" b="0" i="1" dirty="0" smtClean="0">
                        <a:latin typeface="Cambria Math" panose="02040503050406030204" pitchFamily="18" charset="0"/>
                      </a:rPr>
                      <m:t>𝑆𝑈𝐵</m:t>
                    </m:r>
                    <m:r>
                      <a:rPr lang="en-US" altLang="zh-TW" b="0" i="1" dirty="0" smtClean="0">
                        <a:latin typeface="Cambria Math" panose="02040503050406030204" pitchFamily="18" charset="0"/>
                        <a:ea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𝑌𝑇</m:t>
                    </m:r>
                    <m:r>
                      <a:rPr lang="en-US" altLang="zh-TW" b="0" i="1" dirty="0" smtClean="0">
                        <a:latin typeface="Cambria Math" panose="02040503050406030204" pitchFamily="18" charset="0"/>
                        <a:ea typeface="Cambria Math" panose="02040503050406030204" pitchFamily="18" charset="0"/>
                      </a:rPr>
                      <m:t>, </m:t>
                    </m:r>
                    <m:r>
                      <a:rPr lang="en-US" altLang="zh-TW" b="0" i="1" dirty="0" smtClean="0">
                        <a:latin typeface="Cambria Math" panose="02040503050406030204" pitchFamily="18" charset="0"/>
                        <a:ea typeface="Cambria Math" panose="02040503050406030204" pitchFamily="18" charset="0"/>
                      </a:rPr>
                      <m:t>𝐿𝐸𝐹𝑇</m:t>
                    </m:r>
                    <m:r>
                      <a:rPr lang="en-US" altLang="zh-TW" b="0" i="1" dirty="0" smtClean="0">
                        <a:latin typeface="Cambria Math" panose="02040503050406030204" pitchFamily="18" charset="0"/>
                        <a:ea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𝐿𝐸𝐹𝑇</m:t>
                    </m:r>
                    <m:r>
                      <a:rPr lang="en-US" altLang="zh-TW" b="0" i="1" dirty="0" smtClean="0">
                        <a:latin typeface="Cambria Math" panose="02040503050406030204" pitchFamily="18" charset="0"/>
                        <a:ea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𝑌𝑇</m:t>
                    </m:r>
                    <m:r>
                      <a:rPr lang="en-US" altLang="zh-TW" b="0" i="1" dirty="0" smtClean="0">
                        <a:latin typeface="Cambria Math" panose="02040503050406030204" pitchFamily="18" charset="0"/>
                        <a:ea typeface="Cambria Math" panose="02040503050406030204" pitchFamily="18" charset="0"/>
                      </a:rPr>
                      <m:t>, </m:t>
                    </m:r>
                    <m:r>
                      <a:rPr lang="en-US" altLang="zh-TW" b="0" i="1" dirty="0" smtClean="0">
                        <a:latin typeface="Cambria Math" panose="02040503050406030204" pitchFamily="18" charset="0"/>
                        <a:ea typeface="Cambria Math" panose="02040503050406030204" pitchFamily="18" charset="0"/>
                      </a:rPr>
                      <m:t>𝑇𝑅𝑈𝐸</m:t>
                    </m:r>
                    <m:r>
                      <a:rPr lang="en-US" altLang="zh-TW" b="0" i="1" dirty="0" smtClean="0">
                        <a:latin typeface="Cambria Math" panose="02040503050406030204" pitchFamily="18" charset="0"/>
                        <a:ea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𝑇𝑅𝑈𝐸</m:t>
                    </m:r>
                    <m:r>
                      <a:rPr lang="en-US" altLang="zh-TW" b="0" i="1" dirty="0" smtClean="0">
                        <a:latin typeface="Cambria Math" panose="02040503050406030204" pitchFamily="18" charset="0"/>
                        <a:ea typeface="Cambria Math" panose="02040503050406030204" pitchFamily="18" charset="0"/>
                      </a:rPr>
                      <m:t>∪</m:t>
                    </m:r>
                    <m:d>
                      <m:dPr>
                        <m:begChr m:val="{"/>
                        <m:endChr m:val="}"/>
                        <m:ctrlPr>
                          <a:rPr lang="en-US" altLang="zh-TW" b="0" i="1" dirty="0" smtClean="0">
                            <a:latin typeface="Cambria Math" panose="02040503050406030204" pitchFamily="18" charset="0"/>
                            <a:ea typeface="Cambria Math" panose="02040503050406030204" pitchFamily="18" charset="0"/>
                          </a:rPr>
                        </m:ctrlPr>
                      </m:dPr>
                      <m:e>
                        <m:r>
                          <a:rPr lang="en-US" altLang="zh-TW" b="0" i="1" dirty="0" smtClean="0">
                            <a:latin typeface="Cambria Math" panose="02040503050406030204" pitchFamily="18" charset="0"/>
                            <a:ea typeface="Cambria Math" panose="02040503050406030204" pitchFamily="18" charset="0"/>
                          </a:rPr>
                          <m:t>𝑦</m:t>
                        </m:r>
                      </m:e>
                    </m:d>
                    <m:r>
                      <a:rPr lang="en-US" altLang="zh-TW" b="0" i="1" dirty="0" smtClean="0">
                        <a:latin typeface="Cambria Math" panose="02040503050406030204" pitchFamily="18" charset="0"/>
                        <a:ea typeface="Cambria Math" panose="02040503050406030204" pitchFamily="18" charset="0"/>
                      </a:rPr>
                      <m:t>, </m:t>
                    </m:r>
                    <m:r>
                      <a:rPr lang="en-US" altLang="zh-TW" b="0" i="1" dirty="0" smtClean="0">
                        <a:latin typeface="Cambria Math" panose="02040503050406030204" pitchFamily="18" charset="0"/>
                        <a:ea typeface="Cambria Math" panose="02040503050406030204" pitchFamily="18" charset="0"/>
                      </a:rPr>
                      <m:t>𝐿𝐼𝑇</m:t>
                    </m:r>
                    <m:r>
                      <a:rPr lang="en-US" altLang="zh-TW" b="0" i="1" dirty="0" smtClean="0">
                        <a:latin typeface="Cambria Math" panose="02040503050406030204" pitchFamily="18" charset="0"/>
                        <a:ea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𝐿𝐼𝑇</m:t>
                    </m:r>
                    <m:r>
                      <a:rPr lang="en-US" altLang="zh-TW" b="0" i="1" dirty="0" smtClean="0">
                        <a:latin typeface="Cambria Math" panose="02040503050406030204" pitchFamily="18" charset="0"/>
                        <a:ea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𝑦</m:t>
                    </m:r>
                    <m:r>
                      <a:rPr lang="en-US" altLang="zh-TW" b="0" i="1" dirty="0" smtClean="0">
                        <a:latin typeface="Cambria Math" panose="02040503050406030204" pitchFamily="18" charset="0"/>
                        <a:ea typeface="Cambria Math" panose="02040503050406030204" pitchFamily="18" charset="0"/>
                      </a:rPr>
                      <m:t>,</m:t>
                    </m:r>
                    <m:bar>
                      <m:barPr>
                        <m:pos m:val="top"/>
                        <m:ctrlPr>
                          <a:rPr lang="en-US" altLang="zh-TW" b="0" i="1" dirty="0" smtClean="0">
                            <a:latin typeface="Cambria Math" panose="02040503050406030204" pitchFamily="18" charset="0"/>
                            <a:ea typeface="Cambria Math" panose="02040503050406030204" pitchFamily="18" charset="0"/>
                          </a:rPr>
                        </m:ctrlPr>
                      </m:barPr>
                      <m:e>
                        <m:r>
                          <a:rPr lang="en-US" altLang="zh-TW" b="0" i="1" dirty="0" smtClean="0">
                            <a:latin typeface="Cambria Math" panose="02040503050406030204" pitchFamily="18" charset="0"/>
                            <a:ea typeface="Cambria Math" panose="02040503050406030204" pitchFamily="18" charset="0"/>
                          </a:rPr>
                          <m:t>𝑦</m:t>
                        </m:r>
                      </m:e>
                    </m:bar>
                    <m:r>
                      <a:rPr lang="en-US" altLang="zh-TW" b="0" i="1" dirty="0" smtClean="0">
                        <a:latin typeface="Cambria Math" panose="02040503050406030204" pitchFamily="18" charset="0"/>
                        <a:ea typeface="Cambria Math" panose="02040503050406030204" pitchFamily="18" charset="0"/>
                      </a:rPr>
                      <m:t>}</m:t>
                    </m:r>
                  </m:oMath>
                </a14:m>
                <a:endParaRPr lang="en-US" altLang="zh-TW" dirty="0"/>
              </a:p>
              <a:p>
                <a:pPr marL="514350" indent="-514350">
                  <a:buFont typeface="+mj-lt"/>
                  <a:buAutoNum type="arabicPeriod"/>
                </a:pPr>
                <a:r>
                  <a:rPr lang="en-US" altLang="zh-TW" dirty="0"/>
                  <a:t>Go to 2.</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a:blip r:embed="rId2"/>
                <a:stretch>
                  <a:fillRect l="-1623" t="-238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276636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Maximum Satisfiability</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chor="t"/>
              <a:lstStyle/>
              <a:p>
                <a:pPr marL="0" indent="0">
                  <a:buNone/>
                </a:pPr>
                <a14:m>
                  <m:oMath xmlns:m="http://schemas.openxmlformats.org/officeDocument/2006/math">
                    <m:r>
                      <a:rPr lang="en-US" altLang="zh-TW" b="0" i="1" smtClean="0">
                        <a:latin typeface="Cambria Math" panose="02040503050406030204" pitchFamily="18" charset="0"/>
                      </a:rPr>
                      <m:t>𝑆</m:t>
                    </m:r>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eqArr>
                          <m:eqArrPr>
                            <m:ctrlPr>
                              <a:rPr lang="en-US" altLang="zh-TW" b="0" i="1" smtClean="0">
                                <a:latin typeface="Cambria Math" panose="02040503050406030204" pitchFamily="18" charset="0"/>
                              </a:rPr>
                            </m:ctrlPr>
                          </m:eqArrPr>
                          <m:e>
                            <m:d>
                              <m:dPr>
                                <m:begChr m:val="{"/>
                                <m:endChr m:val="}"/>
                                <m:ctrlPr>
                                  <a:rPr lang="en-US" altLang="zh-TW" b="0"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3</m:t>
                                    </m:r>
                                  </m:sub>
                                </m:sSub>
                              </m:e>
                            </m:d>
                            <m:r>
                              <a:rPr lang="en-US" altLang="zh-TW" b="0" i="1" smtClean="0">
                                <a:latin typeface="Cambria Math" panose="02040503050406030204" pitchFamily="18" charset="0"/>
                              </a:rPr>
                              <m:t>,</m:t>
                            </m:r>
                          </m:e>
                          <m:e>
                            <m:d>
                              <m:dPr>
                                <m:begChr m:val="{"/>
                                <m:endChr m:val="}"/>
                                <m:ctrlPr>
                                  <a:rPr lang="en-US" altLang="zh-TW" b="0"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3</m:t>
                                    </m:r>
                                  </m:sub>
                                </m:sSub>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m:t>
                                    </m:r>
                                    <m:r>
                                      <a:rPr lang="en-US" altLang="zh-TW" i="1">
                                        <a:latin typeface="Cambria Math" panose="02040503050406030204" pitchFamily="18" charset="0"/>
                                      </a:rPr>
                                      <m:t>𝑥</m:t>
                                    </m:r>
                                  </m:e>
                                  <m:sub>
                                    <m:r>
                                      <a:rPr lang="en-US" altLang="zh-TW" b="0" i="1" smtClean="0">
                                        <a:latin typeface="Cambria Math" panose="02040503050406030204" pitchFamily="18" charset="0"/>
                                      </a:rPr>
                                      <m:t>4</m:t>
                                    </m:r>
                                  </m:sub>
                                </m:sSub>
                                <m:r>
                                  <a:rPr lang="en-US" altLang="zh-TW" b="0" i="1" smtClean="0">
                                    <a:latin typeface="Cambria Math" panose="02040503050406030204" pitchFamily="18" charset="0"/>
                                  </a:rPr>
                                  <m:t>,</m:t>
                                </m:r>
                                <m:bar>
                                  <m:barPr>
                                    <m:pos m:val="top"/>
                                    <m:ctrlPr>
                                      <a:rPr lang="en-US" altLang="zh-TW" b="0"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5</m:t>
                                        </m:r>
                                      </m:sub>
                                    </m:sSub>
                                  </m:e>
                                </m:bar>
                              </m:e>
                            </m:d>
                            <m:r>
                              <a:rPr lang="en-US" altLang="zh-TW" b="0" i="1" smtClean="0">
                                <a:latin typeface="Cambria Math" panose="02040503050406030204" pitchFamily="18" charset="0"/>
                              </a:rPr>
                              <m:t>,</m:t>
                            </m:r>
                          </m:e>
                          <m:e>
                            <m:d>
                              <m:dPr>
                                <m:begChr m:val="{"/>
                                <m:endChr m:val="}"/>
                                <m:ctrlPr>
                                  <a:rPr lang="en-US" altLang="zh-TW" b="0"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5</m:t>
                                    </m:r>
                                  </m:sub>
                                </m:sSub>
                              </m:e>
                            </m:d>
                            <m:r>
                              <a:rPr lang="en-US" altLang="zh-TW" b="0" i="1" smtClean="0">
                                <a:latin typeface="Cambria Math" panose="02040503050406030204" pitchFamily="18" charset="0"/>
                              </a:rPr>
                              <m:t>,</m:t>
                            </m:r>
                          </m:e>
                          <m:e>
                            <m:d>
                              <m:dPr>
                                <m:begChr m:val="{"/>
                                <m:endChr m:val="}"/>
                                <m:ctrlPr>
                                  <a:rPr lang="en-US" altLang="zh-TW" b="0"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m:t>
                                </m:r>
                                <m:bar>
                                  <m:barPr>
                                    <m:pos m:val="top"/>
                                    <m:ctrlPr>
                                      <a:rPr lang="en-US" altLang="zh-TW" b="0"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6</m:t>
                                        </m:r>
                                      </m:sub>
                                    </m:sSub>
                                  </m:e>
                                </m:bar>
                                <m:r>
                                  <a:rPr lang="en-US" altLang="zh-TW" i="1" smtClean="0">
                                    <a:latin typeface="Cambria Math" panose="02040503050406030204" pitchFamily="18" charset="0"/>
                                  </a:rPr>
                                  <m:t> </m:t>
                                </m:r>
                              </m:e>
                            </m:d>
                            <m:r>
                              <a:rPr lang="en-US" altLang="zh-TW" b="0" i="1" smtClean="0">
                                <a:latin typeface="Cambria Math" panose="02040503050406030204" pitchFamily="18" charset="0"/>
                              </a:rPr>
                              <m:t>,</m:t>
                            </m:r>
                          </m:e>
                          <m:e>
                            <m:d>
                              <m:dPr>
                                <m:begChr m:val="{"/>
                                <m:endChr m:val="}"/>
                                <m:ctrlPr>
                                  <a:rPr lang="en-US" altLang="zh-TW" b="0"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4</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5</m:t>
                                    </m:r>
                                  </m:sub>
                                </m:sSub>
                                <m:r>
                                  <a:rPr lang="en-US" altLang="zh-TW" b="0" i="1" smtClean="0">
                                    <a:latin typeface="Cambria Math" panose="02040503050406030204" pitchFamily="18" charset="0"/>
                                  </a:rPr>
                                  <m:t>,</m:t>
                                </m:r>
                                <m:bar>
                                  <m:barPr>
                                    <m:pos m:val="top"/>
                                    <m:ctrlPr>
                                      <a:rPr lang="en-US" altLang="zh-TW" b="0"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7</m:t>
                                        </m:r>
                                      </m:sub>
                                    </m:sSub>
                                  </m:e>
                                </m:bar>
                                <m:r>
                                  <a:rPr lang="en-US" altLang="zh-TW" b="0" i="1" smtClean="0">
                                    <a:latin typeface="Cambria Math" panose="02040503050406030204" pitchFamily="18" charset="0"/>
                                  </a:rPr>
                                  <m:t>,</m:t>
                                </m:r>
                                <m:bar>
                                  <m:barPr>
                                    <m:pos m:val="top"/>
                                    <m:ctrlPr>
                                      <a:rPr lang="en-US" altLang="zh-TW" b="0"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8</m:t>
                                        </m:r>
                                      </m:sub>
                                    </m:sSub>
                                  </m:e>
                                </m:bar>
                              </m:e>
                            </m:d>
                            <m:r>
                              <a:rPr lang="en-US" altLang="zh-TW" b="0" i="1" smtClean="0">
                                <a:latin typeface="Cambria Math" panose="02040503050406030204" pitchFamily="18" charset="0"/>
                              </a:rPr>
                              <m:t>,</m:t>
                            </m:r>
                          </m:e>
                          <m:e>
                            <m:d>
                              <m:dPr>
                                <m:begChr m:val="{"/>
                                <m:endChr m:val="}"/>
                                <m:ctrlPr>
                                  <a:rPr lang="en-US" altLang="zh-TW" b="0" i="1" smtClean="0">
                                    <a:latin typeface="Cambria Math" panose="02040503050406030204" pitchFamily="18" charset="0"/>
                                  </a:rPr>
                                </m:ctrlPr>
                              </m:dPr>
                              <m:e>
                                <m:bar>
                                  <m:barPr>
                                    <m:pos m:val="top"/>
                                    <m:ctrlPr>
                                      <a:rPr lang="en-US" altLang="zh-TW" b="0"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1</m:t>
                                        </m:r>
                                      </m:sub>
                                    </m:sSub>
                                  </m:e>
                                </m:bar>
                                <m:r>
                                  <a:rPr lang="en-US" altLang="zh-TW" b="0" i="1" smtClean="0">
                                    <a:latin typeface="Cambria Math" panose="02040503050406030204" pitchFamily="18" charset="0"/>
                                  </a:rPr>
                                  <m:t>,</m:t>
                                </m:r>
                                <m:bar>
                                  <m:barPr>
                                    <m:pos m:val="top"/>
                                    <m:ctrlPr>
                                      <a:rPr lang="en-US" altLang="zh-TW" b="0"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2</m:t>
                                        </m:r>
                                      </m:sub>
                                    </m:sSub>
                                  </m:e>
                                </m:bar>
                              </m:e>
                            </m:d>
                          </m:e>
                        </m:eqArr>
                      </m:e>
                    </m:d>
                  </m:oMath>
                </a14:m>
                <a:r>
                  <a:rPr lang="zh-TW" altLang="en-US" dirty="0"/>
                  <a:t> </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t="-2521"/>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 name="內容版面配置區 2"/>
              <p:cNvSpPr txBox="1">
                <a:spLocks/>
              </p:cNvSpPr>
              <p:nvPr/>
            </p:nvSpPr>
            <p:spPr>
              <a:xfrm>
                <a:off x="628650" y="1825625"/>
                <a:ext cx="7886700"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 xmlns:m="http://schemas.openxmlformats.org/officeDocument/2006/math">
                    <m:r>
                      <a:rPr lang="en-US" altLang="zh-TW" i="1" smtClean="0">
                        <a:latin typeface="Cambria Math" panose="02040503050406030204" pitchFamily="18" charset="0"/>
                      </a:rPr>
                      <m:t>𝑆</m:t>
                    </m:r>
                    <m:r>
                      <a:rPr lang="en-US" altLang="zh-TW" i="1" smtClean="0">
                        <a:latin typeface="Cambria Math" panose="02040503050406030204" pitchFamily="18" charset="0"/>
                      </a:rPr>
                      <m:t>=</m:t>
                    </m:r>
                    <m:d>
                      <m:dPr>
                        <m:begChr m:val="{"/>
                        <m:endChr m:val="}"/>
                        <m:ctrlPr>
                          <a:rPr lang="en-US" altLang="zh-TW" i="1" smtClean="0">
                            <a:latin typeface="Cambria Math" panose="02040503050406030204" pitchFamily="18" charset="0"/>
                          </a:rPr>
                        </m:ctrlPr>
                      </m:dPr>
                      <m:e>
                        <m:eqArr>
                          <m:eqArrPr>
                            <m:ctrlPr>
                              <a:rPr lang="en-US" altLang="zh-TW" i="1" smtClean="0">
                                <a:latin typeface="Cambria Math" panose="02040503050406030204" pitchFamily="18" charset="0"/>
                              </a:rPr>
                            </m:ctrlPr>
                          </m:eqArrPr>
                          <m:e>
                            <m:d>
                              <m:dPr>
                                <m:begChr m:val="{"/>
                                <m:endChr m:val="}"/>
                                <m:ctrlPr>
                                  <a:rPr lang="en-US" altLang="zh-TW" i="1" strike="sngStrike" smtClean="0">
                                    <a:latin typeface="Cambria Math" panose="02040503050406030204" pitchFamily="18" charset="0"/>
                                  </a:rPr>
                                </m:ctrlPr>
                              </m:d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1</m:t>
                                    </m:r>
                                  </m:sub>
                                </m:sSub>
                                <m:r>
                                  <a:rPr lang="en-US" altLang="zh-TW" i="1" strike="sngStrike" smtClean="0">
                                    <a:latin typeface="Cambria Math" panose="02040503050406030204" pitchFamily="18" charset="0"/>
                                  </a:rPr>
                                  <m:t>,</m:t>
                                </m:r>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2</m:t>
                                    </m:r>
                                  </m:sub>
                                </m:sSub>
                                <m:r>
                                  <a:rPr lang="en-US" altLang="zh-TW" i="1" strike="sngStrike" smtClean="0">
                                    <a:latin typeface="Cambria Math" panose="02040503050406030204" pitchFamily="18" charset="0"/>
                                  </a:rPr>
                                  <m:t>,</m:t>
                                </m:r>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3</m:t>
                                    </m:r>
                                  </m:sub>
                                </m:sSub>
                              </m:e>
                            </m:d>
                            <m:r>
                              <a:rPr lang="en-US" altLang="zh-TW" i="1" strike="sngStrike" smtClean="0">
                                <a:latin typeface="Cambria Math" panose="02040503050406030204" pitchFamily="18" charset="0"/>
                              </a:rPr>
                              <m:t>,</m:t>
                            </m:r>
                          </m:e>
                          <m:e>
                            <m:d>
                              <m:dPr>
                                <m:begChr m:val="{"/>
                                <m:endChr m:val="}"/>
                                <m:ctrlPr>
                                  <a:rPr lang="en-US" altLang="zh-TW" i="1" strike="sngStrike" smtClean="0">
                                    <a:latin typeface="Cambria Math" panose="02040503050406030204" pitchFamily="18" charset="0"/>
                                  </a:rPr>
                                </m:ctrlPr>
                              </m:d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1</m:t>
                                    </m:r>
                                  </m:sub>
                                </m:sSub>
                                <m:r>
                                  <a:rPr lang="en-US" altLang="zh-TW" i="1" strike="sngStrike" smtClean="0">
                                    <a:latin typeface="Cambria Math" panose="02040503050406030204" pitchFamily="18" charset="0"/>
                                  </a:rPr>
                                  <m:t>,</m:t>
                                </m:r>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3</m:t>
                                    </m:r>
                                  </m:sub>
                                </m:sSub>
                                <m:sSub>
                                  <m:sSubPr>
                                    <m:ctrlPr>
                                      <a:rPr lang="en-US" altLang="zh-TW" i="1" strike="sngStrike">
                                        <a:latin typeface="Cambria Math" panose="02040503050406030204" pitchFamily="18" charset="0"/>
                                      </a:rPr>
                                    </m:ctrlPr>
                                  </m:sSubPr>
                                  <m:e>
                                    <m:r>
                                      <a:rPr lang="en-US" altLang="zh-TW" i="1" strike="sngStrike" smtClean="0">
                                        <a:latin typeface="Cambria Math" panose="02040503050406030204" pitchFamily="18" charset="0"/>
                                      </a:rPr>
                                      <m:t>,</m:t>
                                    </m:r>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4</m:t>
                                    </m:r>
                                  </m:sub>
                                </m:sSub>
                                <m:r>
                                  <a:rPr lang="en-US" altLang="zh-TW" i="1" strike="sngStrike" smtClean="0">
                                    <a:latin typeface="Cambria Math" panose="02040503050406030204" pitchFamily="18" charset="0"/>
                                  </a:rPr>
                                  <m:t>,</m:t>
                                </m:r>
                                <m:bar>
                                  <m:barPr>
                                    <m:pos m:val="top"/>
                                    <m:ctrlPr>
                                      <a:rPr lang="en-US" altLang="zh-TW" i="1" strike="sngStrike" smtClean="0">
                                        <a:latin typeface="Cambria Math" panose="02040503050406030204" pitchFamily="18" charset="0"/>
                                      </a:rPr>
                                    </m:ctrlPr>
                                  </m:bar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5</m:t>
                                        </m:r>
                                      </m:sub>
                                    </m:sSub>
                                  </m:e>
                                </m:bar>
                              </m:e>
                            </m:d>
                            <m:r>
                              <a:rPr lang="en-US" altLang="zh-TW" i="1" strike="sngStrike" smtClean="0">
                                <a:latin typeface="Cambria Math" panose="02040503050406030204" pitchFamily="18" charset="0"/>
                              </a:rPr>
                              <m:t>,</m:t>
                            </m:r>
                          </m:e>
                          <m:e>
                            <m:d>
                              <m:dPr>
                                <m:begChr m:val="{"/>
                                <m:endChr m:val="}"/>
                                <m:ctrlPr>
                                  <a:rPr lang="en-US" altLang="zh-TW" i="1" strike="sngStrike" smtClean="0">
                                    <a:latin typeface="Cambria Math" panose="02040503050406030204" pitchFamily="18" charset="0"/>
                                  </a:rPr>
                                </m:ctrlPr>
                              </m:d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1</m:t>
                                    </m:r>
                                  </m:sub>
                                </m:sSub>
                                <m:r>
                                  <a:rPr lang="en-US" altLang="zh-TW" i="1" strike="sngStrike" smtClean="0">
                                    <a:latin typeface="Cambria Math" panose="02040503050406030204" pitchFamily="18" charset="0"/>
                                  </a:rPr>
                                  <m:t>,</m:t>
                                </m:r>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5</m:t>
                                    </m:r>
                                  </m:sub>
                                </m:sSub>
                              </m:e>
                            </m:d>
                            <m:r>
                              <a:rPr lang="en-US" altLang="zh-TW" i="1" strike="sngStrike"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2</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3</m:t>
                                    </m:r>
                                  </m:sub>
                                </m:sSub>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6</m:t>
                                        </m:r>
                                      </m:sub>
                                    </m:sSub>
                                  </m:e>
                                </m:bar>
                                <m:r>
                                  <a:rPr lang="en-US" altLang="zh-TW" i="1" smtClean="0">
                                    <a:latin typeface="Cambria Math" panose="02040503050406030204" pitchFamily="18" charset="0"/>
                                  </a:rPr>
                                  <m:t> </m:t>
                                </m:r>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2</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4</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5</m:t>
                                    </m:r>
                                  </m:sub>
                                </m:sSub>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7</m:t>
                                        </m:r>
                                      </m:sub>
                                    </m:sSub>
                                  </m:e>
                                </m:bar>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8</m:t>
                                        </m:r>
                                      </m:sub>
                                    </m:sSub>
                                  </m:e>
                                </m:bar>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1</m:t>
                                        </m:r>
                                      </m:sub>
                                    </m:sSub>
                                  </m:e>
                                </m:bar>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2</m:t>
                                        </m:r>
                                      </m:sub>
                                    </m:sSub>
                                  </m:e>
                                </m:bar>
                              </m:e>
                            </m:d>
                          </m:e>
                        </m:eqArr>
                      </m:e>
                    </m:d>
                  </m:oMath>
                </a14:m>
                <a:r>
                  <a:rPr lang="zh-TW" altLang="en-US" dirty="0"/>
                  <a:t> </a:t>
                </a:r>
              </a:p>
            </p:txBody>
          </p:sp>
        </mc:Choice>
        <mc:Fallback>
          <p:sp>
            <p:nvSpPr>
              <p:cNvPr id="4" name="內容版面配置區 2"/>
              <p:cNvSpPr txBox="1">
                <a:spLocks noRot="1" noChangeAspect="1" noMove="1" noResize="1" noEditPoints="1" noAdjustHandles="1" noChangeArrowheads="1" noChangeShapeType="1" noTextEdit="1"/>
              </p:cNvSpPr>
              <p:nvPr/>
            </p:nvSpPr>
            <p:spPr>
              <a:xfrm>
                <a:off x="628650" y="1825625"/>
                <a:ext cx="7886700" cy="4351338"/>
              </a:xfrm>
              <a:prstGeom prst="rect">
                <a:avLst/>
              </a:prstGeom>
              <a:blipFill>
                <a:blip r:embed="rId3"/>
                <a:stretch>
                  <a:fillRect t="-2521"/>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 name="內容版面配置區 2"/>
              <p:cNvSpPr txBox="1">
                <a:spLocks/>
              </p:cNvSpPr>
              <p:nvPr/>
            </p:nvSpPr>
            <p:spPr>
              <a:xfrm>
                <a:off x="628650" y="1825625"/>
                <a:ext cx="7886700"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 xmlns:m="http://schemas.openxmlformats.org/officeDocument/2006/math">
                    <m:r>
                      <a:rPr lang="en-US" altLang="zh-TW" i="1" smtClean="0">
                        <a:latin typeface="Cambria Math" panose="02040503050406030204" pitchFamily="18" charset="0"/>
                      </a:rPr>
                      <m:t>𝑆</m:t>
                    </m:r>
                    <m:r>
                      <a:rPr lang="en-US" altLang="zh-TW" i="1" smtClean="0">
                        <a:latin typeface="Cambria Math" panose="02040503050406030204" pitchFamily="18" charset="0"/>
                      </a:rPr>
                      <m:t>=</m:t>
                    </m:r>
                    <m:d>
                      <m:dPr>
                        <m:begChr m:val="{"/>
                        <m:endChr m:val="}"/>
                        <m:ctrlPr>
                          <a:rPr lang="en-US" altLang="zh-TW" i="1" smtClean="0">
                            <a:latin typeface="Cambria Math" panose="02040503050406030204" pitchFamily="18" charset="0"/>
                          </a:rPr>
                        </m:ctrlPr>
                      </m:dPr>
                      <m:e>
                        <m:eqArr>
                          <m:eqArrPr>
                            <m:ctrlPr>
                              <a:rPr lang="en-US" altLang="zh-TW" i="1" smtClean="0">
                                <a:latin typeface="Cambria Math" panose="02040503050406030204" pitchFamily="18" charset="0"/>
                              </a:rPr>
                            </m:ctrlPr>
                          </m:eqArrPr>
                          <m:e>
                            <m:d>
                              <m:dPr>
                                <m:begChr m:val="{"/>
                                <m:endChr m:val="}"/>
                                <m:ctrlPr>
                                  <a:rPr lang="en-US" altLang="zh-TW" i="1" strike="sngStrike" smtClean="0">
                                    <a:latin typeface="Cambria Math" panose="02040503050406030204" pitchFamily="18" charset="0"/>
                                  </a:rPr>
                                </m:ctrlPr>
                              </m:d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1</m:t>
                                    </m:r>
                                  </m:sub>
                                </m:sSub>
                                <m:r>
                                  <a:rPr lang="en-US" altLang="zh-TW" i="1" strike="sngStrike" smtClean="0">
                                    <a:latin typeface="Cambria Math" panose="02040503050406030204" pitchFamily="18" charset="0"/>
                                  </a:rPr>
                                  <m:t>,</m:t>
                                </m:r>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2</m:t>
                                    </m:r>
                                  </m:sub>
                                </m:sSub>
                                <m:r>
                                  <a:rPr lang="en-US" altLang="zh-TW" i="1" strike="sngStrike" smtClean="0">
                                    <a:latin typeface="Cambria Math" panose="02040503050406030204" pitchFamily="18" charset="0"/>
                                  </a:rPr>
                                  <m:t>,</m:t>
                                </m:r>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3</m:t>
                                    </m:r>
                                  </m:sub>
                                </m:sSub>
                              </m:e>
                            </m:d>
                            <m:r>
                              <a:rPr lang="en-US" altLang="zh-TW" i="1" strike="sngStrike" smtClean="0">
                                <a:latin typeface="Cambria Math" panose="02040503050406030204" pitchFamily="18" charset="0"/>
                              </a:rPr>
                              <m:t>,</m:t>
                            </m:r>
                          </m:e>
                          <m:e>
                            <m:d>
                              <m:dPr>
                                <m:begChr m:val="{"/>
                                <m:endChr m:val="}"/>
                                <m:ctrlPr>
                                  <a:rPr lang="en-US" altLang="zh-TW" i="1" strike="sngStrike" smtClean="0">
                                    <a:latin typeface="Cambria Math" panose="02040503050406030204" pitchFamily="18" charset="0"/>
                                  </a:rPr>
                                </m:ctrlPr>
                              </m:d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1</m:t>
                                    </m:r>
                                  </m:sub>
                                </m:sSub>
                                <m:r>
                                  <a:rPr lang="en-US" altLang="zh-TW" i="1" strike="sngStrike" smtClean="0">
                                    <a:latin typeface="Cambria Math" panose="02040503050406030204" pitchFamily="18" charset="0"/>
                                  </a:rPr>
                                  <m:t>,</m:t>
                                </m:r>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3</m:t>
                                    </m:r>
                                  </m:sub>
                                </m:sSub>
                                <m:sSub>
                                  <m:sSubPr>
                                    <m:ctrlPr>
                                      <a:rPr lang="en-US" altLang="zh-TW" i="1" strike="sngStrike">
                                        <a:latin typeface="Cambria Math" panose="02040503050406030204" pitchFamily="18" charset="0"/>
                                      </a:rPr>
                                    </m:ctrlPr>
                                  </m:sSubPr>
                                  <m:e>
                                    <m:r>
                                      <a:rPr lang="en-US" altLang="zh-TW" i="1" strike="sngStrike" smtClean="0">
                                        <a:latin typeface="Cambria Math" panose="02040503050406030204" pitchFamily="18" charset="0"/>
                                      </a:rPr>
                                      <m:t>,</m:t>
                                    </m:r>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4</m:t>
                                    </m:r>
                                  </m:sub>
                                </m:sSub>
                                <m:r>
                                  <a:rPr lang="en-US" altLang="zh-TW" i="1" strike="sngStrike" smtClean="0">
                                    <a:latin typeface="Cambria Math" panose="02040503050406030204" pitchFamily="18" charset="0"/>
                                  </a:rPr>
                                  <m:t>,</m:t>
                                </m:r>
                                <m:bar>
                                  <m:barPr>
                                    <m:pos m:val="top"/>
                                    <m:ctrlPr>
                                      <a:rPr lang="en-US" altLang="zh-TW" i="1" strike="sngStrike" smtClean="0">
                                        <a:latin typeface="Cambria Math" panose="02040503050406030204" pitchFamily="18" charset="0"/>
                                      </a:rPr>
                                    </m:ctrlPr>
                                  </m:bar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5</m:t>
                                        </m:r>
                                      </m:sub>
                                    </m:sSub>
                                  </m:e>
                                </m:bar>
                              </m:e>
                            </m:d>
                            <m:r>
                              <a:rPr lang="en-US" altLang="zh-TW" i="1" strike="sngStrike" smtClean="0">
                                <a:latin typeface="Cambria Math" panose="02040503050406030204" pitchFamily="18" charset="0"/>
                              </a:rPr>
                              <m:t>,</m:t>
                            </m:r>
                          </m:e>
                          <m:e>
                            <m:d>
                              <m:dPr>
                                <m:begChr m:val="{"/>
                                <m:endChr m:val="}"/>
                                <m:ctrlPr>
                                  <a:rPr lang="en-US" altLang="zh-TW" i="1" strike="sngStrike" smtClean="0">
                                    <a:latin typeface="Cambria Math" panose="02040503050406030204" pitchFamily="18" charset="0"/>
                                  </a:rPr>
                                </m:ctrlPr>
                              </m:d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1</m:t>
                                    </m:r>
                                  </m:sub>
                                </m:sSub>
                                <m:r>
                                  <a:rPr lang="en-US" altLang="zh-TW" i="1" strike="sngStrike" smtClean="0">
                                    <a:latin typeface="Cambria Math" panose="02040503050406030204" pitchFamily="18" charset="0"/>
                                  </a:rPr>
                                  <m:t>,</m:t>
                                </m:r>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5</m:t>
                                    </m:r>
                                  </m:sub>
                                </m:sSub>
                              </m:e>
                            </m:d>
                            <m:r>
                              <a:rPr lang="en-US" altLang="zh-TW" i="1" strike="sngStrike" smtClean="0">
                                <a:latin typeface="Cambria Math" panose="02040503050406030204" pitchFamily="18" charset="0"/>
                              </a:rPr>
                              <m:t>,</m:t>
                            </m:r>
                          </m:e>
                          <m:e>
                            <m:d>
                              <m:dPr>
                                <m:begChr m:val="{"/>
                                <m:endChr m:val="}"/>
                                <m:ctrlPr>
                                  <a:rPr lang="en-US" altLang="zh-TW" i="1" strike="sngStrike" smtClean="0">
                                    <a:latin typeface="Cambria Math" panose="02040503050406030204" pitchFamily="18" charset="0"/>
                                  </a:rPr>
                                </m:ctrlPr>
                              </m:d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2</m:t>
                                    </m:r>
                                  </m:sub>
                                </m:sSub>
                                <m:r>
                                  <a:rPr lang="en-US" altLang="zh-TW" i="1" strike="sngStrike" smtClean="0">
                                    <a:latin typeface="Cambria Math" panose="02040503050406030204" pitchFamily="18" charset="0"/>
                                  </a:rPr>
                                  <m:t>,</m:t>
                                </m:r>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3</m:t>
                                    </m:r>
                                  </m:sub>
                                </m:sSub>
                                <m:r>
                                  <a:rPr lang="en-US" altLang="zh-TW" i="1" strike="sngStrike" smtClean="0">
                                    <a:latin typeface="Cambria Math" panose="02040503050406030204" pitchFamily="18" charset="0"/>
                                  </a:rPr>
                                  <m:t>,</m:t>
                                </m:r>
                                <m:bar>
                                  <m:barPr>
                                    <m:pos m:val="top"/>
                                    <m:ctrlPr>
                                      <a:rPr lang="en-US" altLang="zh-TW" i="1" strike="sngStrike" smtClean="0">
                                        <a:latin typeface="Cambria Math" panose="02040503050406030204" pitchFamily="18" charset="0"/>
                                      </a:rPr>
                                    </m:ctrlPr>
                                  </m:bar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6</m:t>
                                        </m:r>
                                      </m:sub>
                                    </m:sSub>
                                  </m:e>
                                </m:bar>
                                <m:r>
                                  <a:rPr lang="en-US" altLang="zh-TW" i="1" strike="sngStrike" smtClean="0">
                                    <a:latin typeface="Cambria Math" panose="02040503050406030204" pitchFamily="18" charset="0"/>
                                  </a:rPr>
                                  <m:t> </m:t>
                                </m:r>
                              </m:e>
                            </m:d>
                            <m:r>
                              <a:rPr lang="en-US" altLang="zh-TW" i="1" strike="sngStrike" smtClean="0">
                                <a:latin typeface="Cambria Math" panose="02040503050406030204" pitchFamily="18" charset="0"/>
                              </a:rPr>
                              <m:t>,</m:t>
                            </m:r>
                          </m:e>
                          <m:e>
                            <m:d>
                              <m:dPr>
                                <m:begChr m:val="{"/>
                                <m:endChr m:val="}"/>
                                <m:ctrlPr>
                                  <a:rPr lang="en-US" altLang="zh-TW" i="1" strike="sngStrike" smtClean="0">
                                    <a:latin typeface="Cambria Math" panose="02040503050406030204" pitchFamily="18" charset="0"/>
                                  </a:rPr>
                                </m:ctrlPr>
                              </m:d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2</m:t>
                                    </m:r>
                                  </m:sub>
                                </m:sSub>
                                <m:r>
                                  <a:rPr lang="en-US" altLang="zh-TW" i="1" strike="sngStrike" smtClean="0">
                                    <a:latin typeface="Cambria Math" panose="02040503050406030204" pitchFamily="18" charset="0"/>
                                  </a:rPr>
                                  <m:t>,</m:t>
                                </m:r>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4</m:t>
                                    </m:r>
                                  </m:sub>
                                </m:sSub>
                                <m:r>
                                  <a:rPr lang="en-US" altLang="zh-TW" i="1" strike="sngStrike" smtClean="0">
                                    <a:latin typeface="Cambria Math" panose="02040503050406030204" pitchFamily="18" charset="0"/>
                                  </a:rPr>
                                  <m:t>,</m:t>
                                </m:r>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5</m:t>
                                    </m:r>
                                  </m:sub>
                                </m:sSub>
                                <m:r>
                                  <a:rPr lang="en-US" altLang="zh-TW" i="1" strike="sngStrike" smtClean="0">
                                    <a:latin typeface="Cambria Math" panose="02040503050406030204" pitchFamily="18" charset="0"/>
                                  </a:rPr>
                                  <m:t>,</m:t>
                                </m:r>
                                <m:bar>
                                  <m:barPr>
                                    <m:pos m:val="top"/>
                                    <m:ctrlPr>
                                      <a:rPr lang="en-US" altLang="zh-TW" i="1" strike="sngStrike" smtClean="0">
                                        <a:latin typeface="Cambria Math" panose="02040503050406030204" pitchFamily="18" charset="0"/>
                                      </a:rPr>
                                    </m:ctrlPr>
                                  </m:bar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7</m:t>
                                        </m:r>
                                      </m:sub>
                                    </m:sSub>
                                  </m:e>
                                </m:bar>
                                <m:r>
                                  <a:rPr lang="en-US" altLang="zh-TW" i="1" strike="sngStrike" smtClean="0">
                                    <a:latin typeface="Cambria Math" panose="02040503050406030204" pitchFamily="18" charset="0"/>
                                  </a:rPr>
                                  <m:t>,</m:t>
                                </m:r>
                                <m:bar>
                                  <m:barPr>
                                    <m:pos m:val="top"/>
                                    <m:ctrlPr>
                                      <a:rPr lang="en-US" altLang="zh-TW" i="1" strike="sngStrike" smtClean="0">
                                        <a:latin typeface="Cambria Math" panose="02040503050406030204" pitchFamily="18" charset="0"/>
                                      </a:rPr>
                                    </m:ctrlPr>
                                  </m:bar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8</m:t>
                                        </m:r>
                                      </m:sub>
                                    </m:sSub>
                                  </m:e>
                                </m:bar>
                              </m:e>
                            </m:d>
                            <m:r>
                              <a:rPr lang="en-US" altLang="zh-TW" i="1" strike="sngStrike"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1</m:t>
                                        </m:r>
                                      </m:sub>
                                    </m:sSub>
                                  </m:e>
                                </m:bar>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2</m:t>
                                        </m:r>
                                      </m:sub>
                                    </m:sSub>
                                  </m:e>
                                </m:bar>
                              </m:e>
                            </m:d>
                          </m:e>
                        </m:eqArr>
                      </m:e>
                    </m:d>
                  </m:oMath>
                </a14:m>
                <a:r>
                  <a:rPr lang="zh-TW" altLang="en-US" dirty="0"/>
                  <a:t> </a:t>
                </a:r>
              </a:p>
            </p:txBody>
          </p:sp>
        </mc:Choice>
        <mc:Fallback>
          <p:sp>
            <p:nvSpPr>
              <p:cNvPr id="5" name="內容版面配置區 2"/>
              <p:cNvSpPr txBox="1">
                <a:spLocks noRot="1" noChangeAspect="1" noMove="1" noResize="1" noEditPoints="1" noAdjustHandles="1" noChangeArrowheads="1" noChangeShapeType="1" noTextEdit="1"/>
              </p:cNvSpPr>
              <p:nvPr/>
            </p:nvSpPr>
            <p:spPr>
              <a:xfrm>
                <a:off x="628650" y="1825625"/>
                <a:ext cx="7886700" cy="4351338"/>
              </a:xfrm>
              <a:prstGeom prst="rect">
                <a:avLst/>
              </a:prstGeom>
              <a:blipFill>
                <a:blip r:embed="rId4"/>
                <a:stretch>
                  <a:fillRect t="-252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54532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grpId="1" nodeType="clickEffect">
                                  <p:stCondLst>
                                    <p:cond delay="0"/>
                                  </p:stCondLst>
                                  <p:childTnLst>
                                    <p:set>
                                      <p:cBhvr>
                                        <p:cTn id="13" dur="1" fill="hold">
                                          <p:stCondLst>
                                            <p:cond delay="0"/>
                                          </p:stCondLst>
                                        </p:cTn>
                                        <p:tgtEl>
                                          <p:spTgt spid="4"/>
                                        </p:tgtEl>
                                        <p:attrNameLst>
                                          <p:attrName>style.visibility</p:attrName>
                                        </p:attrNameLst>
                                      </p:cBhvr>
                                      <p:to>
                                        <p:strVal val="hidden"/>
                                      </p:to>
                                    </p:set>
                                  </p:childTnLst>
                                </p:cTn>
                              </p:par>
                              <p:par>
                                <p:cTn id="14" presetID="1"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4" grpId="1"/>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Maximum Satisfiability</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14:m>
                  <m:oMath xmlns:m="http://schemas.openxmlformats.org/officeDocument/2006/math">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𝑆𝑈𝐵</m:t>
                        </m:r>
                      </m:e>
                    </m:d>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𝑘</m:t>
                    </m:r>
                    <m:r>
                      <a:rPr lang="en-US" altLang="zh-TW" b="0" i="1" smtClean="0">
                        <a:latin typeface="Cambria Math" panose="02040503050406030204" pitchFamily="18" charset="0"/>
                        <a:ea typeface="Cambria Math" panose="02040503050406030204" pitchFamily="18" charset="0"/>
                      </a:rPr>
                      <m:t>∙</m:t>
                    </m:r>
                    <m:d>
                      <m:dPr>
                        <m:begChr m:val="|"/>
                        <m:endChr m:val="|"/>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𝐿𝐸𝐹𝑇</m:t>
                        </m:r>
                      </m:e>
                    </m:d>
                  </m:oMath>
                </a14:m>
                <a:r>
                  <a:rPr lang="zh-TW" altLang="en-US" dirty="0"/>
                  <a:t> </a:t>
                </a:r>
                <a:endParaRPr lang="en-US" altLang="zh-TW" dirty="0"/>
              </a:p>
              <a:p>
                <a:pPr marL="0" indent="0">
                  <a:buNone/>
                </a:pPr>
                <a14:m>
                  <m:oMath xmlns:m="http://schemas.openxmlformats.org/officeDocument/2006/math">
                    <m:sSup>
                      <m:sSupPr>
                        <m:ctrlPr>
                          <a:rPr lang="en-US" altLang="zh-TW" i="1" smtClean="0">
                            <a:latin typeface="Cambria Math" panose="02040503050406030204" pitchFamily="18" charset="0"/>
                          </a:rPr>
                        </m:ctrlPr>
                      </m:sSupPr>
                      <m:e>
                        <m:r>
                          <a:rPr lang="en-US" altLang="zh-TW" b="0" i="1" smtClean="0">
                            <a:latin typeface="Cambria Math" panose="02040503050406030204" pitchFamily="18" charset="0"/>
                          </a:rPr>
                          <m:t>𝑆</m:t>
                        </m:r>
                      </m:e>
                      <m:sup>
                        <m:r>
                          <a:rPr lang="en-US" altLang="zh-TW" b="0" i="1" smtClean="0">
                            <a:latin typeface="Cambria Math" panose="02040503050406030204" pitchFamily="18" charset="0"/>
                          </a:rPr>
                          <m:t>∗</m:t>
                        </m:r>
                      </m:sup>
                    </m:sSup>
                    <m:r>
                      <a:rPr lang="en-US" altLang="zh-TW" i="1" smtClean="0">
                        <a:latin typeface="Cambria Math" panose="02040503050406030204" pitchFamily="18" charset="0"/>
                        <a:ea typeface="Cambria Math" panose="02040503050406030204" pitchFamily="18" charset="0"/>
                      </a:rPr>
                      <m:t>≤</m:t>
                    </m:r>
                    <m:d>
                      <m:dPr>
                        <m:begChr m:val="|"/>
                        <m:endChr m:val="|"/>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𝑆</m:t>
                        </m:r>
                      </m:e>
                    </m:d>
                    <m:r>
                      <a:rPr lang="en-US" altLang="zh-TW" b="0" i="1" smtClean="0">
                        <a:latin typeface="Cambria Math" panose="02040503050406030204" pitchFamily="18" charset="0"/>
                        <a:ea typeface="Cambria Math" panose="02040503050406030204" pitchFamily="18" charset="0"/>
                      </a:rPr>
                      <m:t>=</m:t>
                    </m:r>
                    <m:d>
                      <m:dPr>
                        <m:begChr m:val="|"/>
                        <m:endChr m:val="|"/>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𝑆𝑈𝐵</m:t>
                        </m:r>
                      </m:e>
                    </m:d>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𝐿𝐸𝐹𝑇</m:t>
                    </m:r>
                    <m:r>
                      <a:rPr lang="en-US" altLang="zh-TW" b="0" i="1" smtClean="0">
                        <a:latin typeface="Cambria Math" panose="02040503050406030204" pitchFamily="18" charset="0"/>
                        <a:ea typeface="Cambria Math" panose="02040503050406030204" pitchFamily="18" charset="0"/>
                      </a:rPr>
                      <m:t>|≤</m:t>
                    </m:r>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𝑘</m:t>
                        </m:r>
                        <m:r>
                          <a:rPr lang="en-US" altLang="zh-TW" b="0" i="1" smtClean="0">
                            <a:latin typeface="Cambria Math" panose="02040503050406030204" pitchFamily="18" charset="0"/>
                            <a:ea typeface="Cambria Math" panose="02040503050406030204" pitchFamily="18" charset="0"/>
                          </a:rPr>
                          <m:t>+1</m:t>
                        </m:r>
                      </m:num>
                      <m:den>
                        <m:r>
                          <a:rPr lang="en-US" altLang="zh-TW" b="0" i="1" smtClean="0">
                            <a:latin typeface="Cambria Math" panose="02040503050406030204" pitchFamily="18" charset="0"/>
                            <a:ea typeface="Cambria Math" panose="02040503050406030204" pitchFamily="18" charset="0"/>
                          </a:rPr>
                          <m:t>𝑘</m:t>
                        </m:r>
                      </m:den>
                    </m:f>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𝑆𝑈𝐵</m:t>
                    </m:r>
                    <m:r>
                      <a:rPr lang="en-US" altLang="zh-TW" b="0" i="1" smtClean="0">
                        <a:latin typeface="Cambria Math" panose="02040503050406030204" pitchFamily="18" charset="0"/>
                        <a:ea typeface="Cambria Math" panose="02040503050406030204" pitchFamily="18" charset="0"/>
                      </a:rPr>
                      <m:t>|</m:t>
                    </m:r>
                  </m:oMath>
                </a14:m>
                <a:r>
                  <a:rPr lang="zh-TW" altLang="en-US" dirty="0"/>
                  <a:t> </a:t>
                </a:r>
                <a:endParaRPr lang="en-US" altLang="zh-TW" dirty="0"/>
              </a:p>
              <a:p>
                <a:pPr marL="0" indent="0">
                  <a:buNone/>
                </a:pPr>
                <a14:m>
                  <m:oMath xmlns:m="http://schemas.openxmlformats.org/officeDocument/2006/math">
                    <m:f>
                      <m:fPr>
                        <m:ctrlPr>
                          <a:rPr lang="en-US" altLang="zh-TW" i="1" smtClean="0">
                            <a:latin typeface="Cambria Math" panose="02040503050406030204" pitchFamily="18" charset="0"/>
                          </a:rPr>
                        </m:ctrlPr>
                      </m:fPr>
                      <m:num>
                        <m:sSup>
                          <m:sSupPr>
                            <m:ctrlPr>
                              <a:rPr lang="en-US" altLang="zh-TW" i="1">
                                <a:latin typeface="Cambria Math" panose="02040503050406030204" pitchFamily="18" charset="0"/>
                              </a:rPr>
                            </m:ctrlPr>
                          </m:sSupPr>
                          <m:e>
                            <m:r>
                              <a:rPr lang="en-US" altLang="zh-TW" i="1">
                                <a:latin typeface="Cambria Math" panose="02040503050406030204" pitchFamily="18" charset="0"/>
                              </a:rPr>
                              <m:t>𝑆</m:t>
                            </m:r>
                          </m:e>
                          <m:sup>
                            <m:r>
                              <a:rPr lang="en-US" altLang="zh-TW" i="1">
                                <a:latin typeface="Cambria Math" panose="02040503050406030204" pitchFamily="18" charset="0"/>
                              </a:rPr>
                              <m:t>∗</m:t>
                            </m:r>
                          </m:sup>
                        </m:sSup>
                      </m:num>
                      <m:den>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𝑆𝑈𝐵</m:t>
                        </m:r>
                        <m:r>
                          <a:rPr lang="en-US" altLang="zh-TW" i="1">
                            <a:latin typeface="Cambria Math" panose="02040503050406030204" pitchFamily="18" charset="0"/>
                            <a:ea typeface="Cambria Math" panose="02040503050406030204" pitchFamily="18" charset="0"/>
                          </a:rPr>
                          <m:t>|</m:t>
                        </m:r>
                      </m:den>
                    </m:f>
                    <m:r>
                      <a:rPr lang="en-US" altLang="zh-TW" i="1" smtClean="0">
                        <a:latin typeface="Cambria Math" panose="02040503050406030204" pitchFamily="18" charset="0"/>
                        <a:ea typeface="Cambria Math" panose="02040503050406030204" pitchFamily="18" charset="0"/>
                      </a:rPr>
                      <m:t>≤</m:t>
                    </m:r>
                    <m:f>
                      <m:fPr>
                        <m:ctrlPr>
                          <a:rPr lang="en-US" altLang="zh-TW" i="1">
                            <a:latin typeface="Cambria Math" panose="02040503050406030204" pitchFamily="18" charset="0"/>
                            <a:ea typeface="Cambria Math" panose="02040503050406030204" pitchFamily="18" charset="0"/>
                          </a:rPr>
                        </m:ctrlPr>
                      </m:fPr>
                      <m:num>
                        <m:r>
                          <a:rPr lang="en-US" altLang="zh-TW" i="1">
                            <a:latin typeface="Cambria Math" panose="02040503050406030204" pitchFamily="18" charset="0"/>
                            <a:ea typeface="Cambria Math" panose="02040503050406030204" pitchFamily="18" charset="0"/>
                          </a:rPr>
                          <m:t>𝑘</m:t>
                        </m:r>
                        <m:r>
                          <a:rPr lang="en-US" altLang="zh-TW" i="1">
                            <a:latin typeface="Cambria Math" panose="02040503050406030204" pitchFamily="18" charset="0"/>
                            <a:ea typeface="Cambria Math" panose="02040503050406030204" pitchFamily="18" charset="0"/>
                          </a:rPr>
                          <m:t>+1</m:t>
                        </m:r>
                      </m:num>
                      <m:den>
                        <m:r>
                          <a:rPr lang="en-US" altLang="zh-TW" i="1">
                            <a:latin typeface="Cambria Math" panose="02040503050406030204" pitchFamily="18" charset="0"/>
                            <a:ea typeface="Cambria Math" panose="02040503050406030204" pitchFamily="18" charset="0"/>
                          </a:rPr>
                          <m:t>𝑘</m:t>
                        </m:r>
                      </m:den>
                    </m:f>
                  </m:oMath>
                </a14:m>
                <a:r>
                  <a:rPr lang="zh-TW" altLang="en-US" dirty="0"/>
                  <a:t> </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 name="內容版面配置區 2"/>
              <p:cNvSpPr txBox="1">
                <a:spLocks/>
              </p:cNvSpPr>
              <p:nvPr/>
            </p:nvSpPr>
            <p:spPr>
              <a:xfrm>
                <a:off x="4137171" y="3624933"/>
                <a:ext cx="4378179" cy="255203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 xmlns:m="http://schemas.openxmlformats.org/officeDocument/2006/math">
                    <m:r>
                      <a:rPr lang="en-US" altLang="zh-TW" i="1" smtClean="0">
                        <a:latin typeface="Cambria Math" panose="02040503050406030204" pitchFamily="18" charset="0"/>
                      </a:rPr>
                      <m:t>𝑆</m:t>
                    </m:r>
                    <m:r>
                      <a:rPr lang="en-US" altLang="zh-TW" i="1" smtClean="0">
                        <a:latin typeface="Cambria Math" panose="02040503050406030204" pitchFamily="18" charset="0"/>
                      </a:rPr>
                      <m:t>=</m:t>
                    </m:r>
                    <m:d>
                      <m:dPr>
                        <m:begChr m:val="{"/>
                        <m:endChr m:val="}"/>
                        <m:ctrlPr>
                          <a:rPr lang="en-US" altLang="zh-TW" i="1" smtClean="0">
                            <a:latin typeface="Cambria Math" panose="02040503050406030204" pitchFamily="18" charset="0"/>
                          </a:rPr>
                        </m:ctrlPr>
                      </m:dPr>
                      <m:e>
                        <m:eqArr>
                          <m:eqArrPr>
                            <m:ctrlPr>
                              <a:rPr lang="en-US" altLang="zh-TW" i="1" smtClean="0">
                                <a:latin typeface="Cambria Math" panose="02040503050406030204" pitchFamily="18" charset="0"/>
                              </a:rPr>
                            </m:ctrlPr>
                          </m:eqArrPr>
                          <m:e>
                            <m:d>
                              <m:dPr>
                                <m:begChr m:val="{"/>
                                <m:endChr m:val="}"/>
                                <m:ctrlPr>
                                  <a:rPr lang="en-US" altLang="zh-TW"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1</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2</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3</m:t>
                                    </m:r>
                                  </m:sub>
                                </m:sSub>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1</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3</m:t>
                                    </m:r>
                                  </m:sub>
                                </m:sSub>
                                <m:sSub>
                                  <m:sSubPr>
                                    <m:ctrlPr>
                                      <a:rPr lang="en-US" altLang="zh-TW" i="1">
                                        <a:latin typeface="Cambria Math" panose="02040503050406030204" pitchFamily="18" charset="0"/>
                                      </a:rPr>
                                    </m:ctrlPr>
                                  </m:sSubPr>
                                  <m:e>
                                    <m:r>
                                      <a:rPr lang="en-US" altLang="zh-TW" i="1" smtClean="0">
                                        <a:latin typeface="Cambria Math" panose="02040503050406030204" pitchFamily="18" charset="0"/>
                                      </a:rPr>
                                      <m:t>,</m:t>
                                    </m:r>
                                    <m:r>
                                      <a:rPr lang="en-US" altLang="zh-TW" i="1">
                                        <a:latin typeface="Cambria Math" panose="02040503050406030204" pitchFamily="18" charset="0"/>
                                      </a:rPr>
                                      <m:t>𝑥</m:t>
                                    </m:r>
                                  </m:e>
                                  <m:sub>
                                    <m:r>
                                      <a:rPr lang="en-US" altLang="zh-TW" i="1" smtClean="0">
                                        <a:latin typeface="Cambria Math" panose="02040503050406030204" pitchFamily="18" charset="0"/>
                                      </a:rPr>
                                      <m:t>4</m:t>
                                    </m:r>
                                  </m:sub>
                                </m:sSub>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5</m:t>
                                        </m:r>
                                      </m:sub>
                                    </m:sSub>
                                  </m:e>
                                </m:bar>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1</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5</m:t>
                                    </m:r>
                                  </m:sub>
                                </m:sSub>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2</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3</m:t>
                                    </m:r>
                                  </m:sub>
                                </m:sSub>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6</m:t>
                                        </m:r>
                                      </m:sub>
                                    </m:sSub>
                                  </m:e>
                                </m:bar>
                                <m:r>
                                  <a:rPr lang="en-US" altLang="zh-TW" i="1" smtClean="0">
                                    <a:latin typeface="Cambria Math" panose="02040503050406030204" pitchFamily="18" charset="0"/>
                                  </a:rPr>
                                  <m:t> </m:t>
                                </m:r>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2</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4</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5</m:t>
                                    </m:r>
                                  </m:sub>
                                </m:sSub>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7</m:t>
                                        </m:r>
                                      </m:sub>
                                    </m:sSub>
                                  </m:e>
                                </m:bar>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8</m:t>
                                        </m:r>
                                      </m:sub>
                                    </m:sSub>
                                  </m:e>
                                </m:bar>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1</m:t>
                                        </m:r>
                                      </m:sub>
                                    </m:sSub>
                                  </m:e>
                                </m:bar>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2</m:t>
                                        </m:r>
                                      </m:sub>
                                    </m:sSub>
                                  </m:e>
                                </m:bar>
                              </m:e>
                            </m:d>
                          </m:e>
                        </m:eqArr>
                      </m:e>
                    </m:d>
                  </m:oMath>
                </a14:m>
                <a:r>
                  <a:rPr lang="zh-TW" altLang="en-US" dirty="0"/>
                  <a:t> </a:t>
                </a:r>
              </a:p>
            </p:txBody>
          </p:sp>
        </mc:Choice>
        <mc:Fallback>
          <p:sp>
            <p:nvSpPr>
              <p:cNvPr id="4" name="內容版面配置區 2"/>
              <p:cNvSpPr txBox="1">
                <a:spLocks noRot="1" noChangeAspect="1" noMove="1" noResize="1" noEditPoints="1" noAdjustHandles="1" noChangeArrowheads="1" noChangeShapeType="1" noTextEdit="1"/>
              </p:cNvSpPr>
              <p:nvPr/>
            </p:nvSpPr>
            <p:spPr>
              <a:xfrm>
                <a:off x="4137171" y="3624933"/>
                <a:ext cx="4378179" cy="2552030"/>
              </a:xfrm>
              <a:prstGeom prst="rect">
                <a:avLst/>
              </a:prstGeom>
              <a:blipFill>
                <a:blip r:embed="rId3"/>
                <a:stretch>
                  <a:fillRect t="-430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538024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Maximum Satisfiability</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fontScale="92500" lnSpcReduction="20000"/>
              </a:bodyPr>
              <a:lstStyle/>
              <a:p>
                <a:pPr marL="514350" indent="-514350">
                  <a:buFont typeface="+mj-lt"/>
                  <a:buAutoNum type="arabicPeriod"/>
                </a:pPr>
                <a:r>
                  <a:rPr lang="en-US" altLang="zh-TW" dirty="0"/>
                  <a:t>Assign to each clause</a:t>
                </a:r>
                <a14:m>
                  <m:oMath xmlns:m="http://schemas.openxmlformats.org/officeDocument/2006/math">
                    <m:r>
                      <a:rPr lang="en-US" altLang="zh-TW" b="0" i="1" smtClean="0">
                        <a:latin typeface="Cambria Math" panose="02040503050406030204" pitchFamily="18" charset="0"/>
                      </a:rPr>
                      <m:t>𝐶</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𝑆</m:t>
                    </m:r>
                  </m:oMath>
                </a14:m>
                <a:r>
                  <a:rPr lang="en-US" altLang="zh-TW" dirty="0"/>
                  <a:t> a weight </a:t>
                </a:r>
                <a14:m>
                  <m:oMath xmlns:m="http://schemas.openxmlformats.org/officeDocument/2006/math">
                    <m:r>
                      <a:rPr lang="en-US" altLang="zh-TW" b="0" i="1" smtClean="0">
                        <a:latin typeface="Cambria Math" panose="02040503050406030204" pitchFamily="18" charset="0"/>
                      </a:rPr>
                      <m:t>𝑤</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𝐶</m:t>
                        </m:r>
                      </m:e>
                    </m:d>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2</m:t>
                        </m:r>
                      </m:e>
                      <m:sup>
                        <m:r>
                          <a:rPr lang="en-US" altLang="zh-TW" b="0" i="1" smtClean="0">
                            <a:latin typeface="Cambria Math" panose="02040503050406030204" pitchFamily="18" charset="0"/>
                          </a:rPr>
                          <m:t>−|</m:t>
                        </m:r>
                        <m:r>
                          <a:rPr lang="en-US" altLang="zh-TW" b="0" i="1" smtClean="0">
                            <a:latin typeface="Cambria Math" panose="02040503050406030204" pitchFamily="18" charset="0"/>
                          </a:rPr>
                          <m:t>𝐶</m:t>
                        </m:r>
                        <m:r>
                          <a:rPr lang="en-US" altLang="zh-TW" b="0" i="1" smtClean="0">
                            <a:latin typeface="Cambria Math" panose="02040503050406030204" pitchFamily="18" charset="0"/>
                          </a:rPr>
                          <m:t>|</m:t>
                        </m:r>
                      </m:sup>
                    </m:sSup>
                  </m:oMath>
                </a14:m>
                <a:r>
                  <a:rPr lang="en-US" altLang="zh-TW" dirty="0"/>
                  <a:t>. Set </a:t>
                </a:r>
                <a14:m>
                  <m:oMath xmlns:m="http://schemas.openxmlformats.org/officeDocument/2006/math">
                    <m:r>
                      <a:rPr lang="en-US" altLang="zh-TW" i="1">
                        <a:latin typeface="Cambria Math" panose="02040503050406030204" pitchFamily="18" charset="0"/>
                      </a:rPr>
                      <m:t>𝑆𝑈𝐵</m:t>
                    </m:r>
                    <m:r>
                      <a:rPr lang="en-US" altLang="zh-TW" i="1">
                        <a:latin typeface="Cambria Math" panose="02040503050406030204" pitchFamily="18" charset="0"/>
                      </a:rPr>
                      <m:t>=∅</m:t>
                    </m:r>
                  </m:oMath>
                </a14:m>
                <a:r>
                  <a:rPr lang="en-US" altLang="zh-TW" dirty="0"/>
                  <a:t>, </a:t>
                </a:r>
                <a14:m>
                  <m:oMath xmlns:m="http://schemas.openxmlformats.org/officeDocument/2006/math">
                    <m:r>
                      <a:rPr lang="en-US" altLang="zh-TW" i="1">
                        <a:latin typeface="Cambria Math" panose="02040503050406030204" pitchFamily="18" charset="0"/>
                      </a:rPr>
                      <m:t>𝑇𝑅𝑈𝐸</m:t>
                    </m:r>
                    <m:r>
                      <a:rPr lang="en-US" altLang="zh-TW" i="1">
                        <a:latin typeface="Cambria Math" panose="02040503050406030204" pitchFamily="18" charset="0"/>
                      </a:rPr>
                      <m:t>=∅</m:t>
                    </m:r>
                  </m:oMath>
                </a14:m>
                <a:r>
                  <a:rPr lang="en-US" altLang="zh-TW" dirty="0"/>
                  <a:t>, </a:t>
                </a:r>
                <a14:m>
                  <m:oMath xmlns:m="http://schemas.openxmlformats.org/officeDocument/2006/math">
                    <m:r>
                      <a:rPr lang="en-US" altLang="zh-TW" i="1">
                        <a:latin typeface="Cambria Math" panose="02040503050406030204" pitchFamily="18" charset="0"/>
                      </a:rPr>
                      <m:t>𝐿𝐸𝐹𝑇</m:t>
                    </m:r>
                    <m:r>
                      <a:rPr lang="en-US" altLang="zh-TW" i="1">
                        <a:latin typeface="Cambria Math" panose="02040503050406030204" pitchFamily="18" charset="0"/>
                      </a:rPr>
                      <m:t>=</m:t>
                    </m:r>
                    <m:r>
                      <a:rPr lang="en-US" altLang="zh-TW" b="0" i="1" smtClean="0">
                        <a:latin typeface="Cambria Math" panose="02040503050406030204" pitchFamily="18" charset="0"/>
                      </a:rPr>
                      <m:t>𝑆</m:t>
                    </m:r>
                  </m:oMath>
                </a14:m>
                <a:r>
                  <a:rPr lang="en-US" altLang="zh-TW" dirty="0"/>
                  <a:t>, </a:t>
                </a:r>
                <a14:m>
                  <m:oMath xmlns:m="http://schemas.openxmlformats.org/officeDocument/2006/math">
                    <m:r>
                      <a:rPr lang="en-US" altLang="zh-TW" i="1">
                        <a:latin typeface="Cambria Math" panose="02040503050406030204" pitchFamily="18" charset="0"/>
                      </a:rPr>
                      <m:t>𝐿𝐼𝑇</m:t>
                    </m:r>
                    <m:r>
                      <a:rPr lang="en-US" altLang="zh-TW" i="1">
                        <a:latin typeface="Cambria Math" panose="02040503050406030204" pitchFamily="18" charset="0"/>
                      </a:rPr>
                      <m:t>=</m:t>
                    </m:r>
                    <m:r>
                      <a:rPr lang="en-US" altLang="zh-TW" b="0" i="1" smtClean="0">
                        <a:latin typeface="Cambria Math" panose="02040503050406030204" pitchFamily="18" charset="0"/>
                      </a:rPr>
                      <m:t>𝐿</m:t>
                    </m:r>
                  </m:oMath>
                </a14:m>
                <a:r>
                  <a:rPr lang="en-US" altLang="zh-TW" dirty="0"/>
                  <a:t>.</a:t>
                </a:r>
                <a:endParaRPr lang="zh-TW" altLang="en-US" dirty="0"/>
              </a:p>
              <a:p>
                <a:pPr marL="514350" indent="-514350">
                  <a:buFont typeface="+mj-lt"/>
                  <a:buAutoNum type="arabicPeriod"/>
                </a:pPr>
                <a:r>
                  <a:rPr lang="en-US" altLang="zh-TW" dirty="0"/>
                  <a:t>If no literal in </a:t>
                </a:r>
                <a14:m>
                  <m:oMath xmlns:m="http://schemas.openxmlformats.org/officeDocument/2006/math">
                    <m:r>
                      <a:rPr lang="en-US" altLang="zh-TW" i="1" dirty="0">
                        <a:latin typeface="Cambria Math" panose="02040503050406030204" pitchFamily="18" charset="0"/>
                      </a:rPr>
                      <m:t>𝐿𝐼𝑇</m:t>
                    </m:r>
                  </m:oMath>
                </a14:m>
                <a:r>
                  <a:rPr lang="en-US" altLang="zh-TW" dirty="0"/>
                  <a:t> is contained in any clause of </a:t>
                </a:r>
                <a14:m>
                  <m:oMath xmlns:m="http://schemas.openxmlformats.org/officeDocument/2006/math">
                    <m:r>
                      <a:rPr lang="en-US" altLang="zh-TW" i="1" dirty="0">
                        <a:latin typeface="Cambria Math" panose="02040503050406030204" pitchFamily="18" charset="0"/>
                      </a:rPr>
                      <m:t>𝐿𝐸𝐹𝑇</m:t>
                    </m:r>
                  </m:oMath>
                </a14:m>
                <a:r>
                  <a:rPr lang="en-US" altLang="zh-TW" dirty="0"/>
                  <a:t>, halt and return </a:t>
                </a:r>
                <a14:m>
                  <m:oMath xmlns:m="http://schemas.openxmlformats.org/officeDocument/2006/math">
                    <m:r>
                      <a:rPr lang="en-US" altLang="zh-TW" i="1" dirty="0">
                        <a:latin typeface="Cambria Math" panose="02040503050406030204" pitchFamily="18" charset="0"/>
                      </a:rPr>
                      <m:t>𝑆𝑈𝐵</m:t>
                    </m:r>
                  </m:oMath>
                </a14:m>
                <a:r>
                  <a:rPr lang="en-US" altLang="zh-TW" dirty="0"/>
                  <a:t>.</a:t>
                </a:r>
              </a:p>
              <a:p>
                <a:pPr marL="514350" indent="-514350">
                  <a:buFont typeface="+mj-lt"/>
                  <a:buAutoNum type="arabicPeriod"/>
                </a:pPr>
                <a:r>
                  <a:rPr lang="en-US" altLang="zh-TW" dirty="0"/>
                  <a:t>Let </a:t>
                </a:r>
                <a14:m>
                  <m:oMath xmlns:m="http://schemas.openxmlformats.org/officeDocument/2006/math">
                    <m:r>
                      <a:rPr lang="en-US" altLang="zh-TW" i="1" dirty="0">
                        <a:latin typeface="Cambria Math" panose="02040503050406030204" pitchFamily="18" charset="0"/>
                      </a:rPr>
                      <m:t>𝑦</m:t>
                    </m:r>
                  </m:oMath>
                </a14:m>
                <a:r>
                  <a:rPr lang="en-US" altLang="zh-TW" dirty="0"/>
                  <a:t> be any literal occurring in both </a:t>
                </a:r>
                <a14:m>
                  <m:oMath xmlns:m="http://schemas.openxmlformats.org/officeDocument/2006/math">
                    <m:r>
                      <a:rPr lang="en-US" altLang="zh-TW" i="1" dirty="0">
                        <a:latin typeface="Cambria Math" panose="02040503050406030204" pitchFamily="18" charset="0"/>
                      </a:rPr>
                      <m:t>𝐿𝐼𝑇</m:t>
                    </m:r>
                  </m:oMath>
                </a14:m>
                <a:r>
                  <a:rPr lang="en-US" altLang="zh-TW" dirty="0"/>
                  <a:t> and a clause of </a:t>
                </a:r>
                <a14:m>
                  <m:oMath xmlns:m="http://schemas.openxmlformats.org/officeDocument/2006/math">
                    <m:r>
                      <a:rPr lang="en-US" altLang="zh-TW" i="1" dirty="0" smtClean="0">
                        <a:latin typeface="Cambria Math" panose="02040503050406030204" pitchFamily="18" charset="0"/>
                      </a:rPr>
                      <m:t>𝐿𝐸𝐹𝑇</m:t>
                    </m:r>
                  </m:oMath>
                </a14:m>
                <a:r>
                  <a:rPr lang="en-US" altLang="zh-TW" dirty="0"/>
                  <a:t>. </a:t>
                </a:r>
                <a14:m>
                  <m:oMath xmlns:m="http://schemas.openxmlformats.org/officeDocument/2006/math">
                    <m:r>
                      <a:rPr lang="en-US" altLang="zh-TW" i="1" dirty="0">
                        <a:latin typeface="Cambria Math" panose="02040503050406030204" pitchFamily="18" charset="0"/>
                      </a:rPr>
                      <m:t>𝑌𝑇</m:t>
                    </m:r>
                  </m:oMath>
                </a14:m>
                <a:r>
                  <a:rPr lang="en-US" altLang="zh-TW" dirty="0"/>
                  <a:t> be the set of clauses in </a:t>
                </a:r>
                <a14:m>
                  <m:oMath xmlns:m="http://schemas.openxmlformats.org/officeDocument/2006/math">
                    <m:r>
                      <a:rPr lang="en-US" altLang="zh-TW" i="1" dirty="0">
                        <a:latin typeface="Cambria Math" panose="02040503050406030204" pitchFamily="18" charset="0"/>
                      </a:rPr>
                      <m:t>𝐿𝐸𝐹𝑇</m:t>
                    </m:r>
                  </m:oMath>
                </a14:m>
                <a:r>
                  <a:rPr lang="en-US" altLang="zh-TW" dirty="0"/>
                  <a:t> which contain </a:t>
                </a:r>
                <a14:m>
                  <m:oMath xmlns:m="http://schemas.openxmlformats.org/officeDocument/2006/math">
                    <m:r>
                      <a:rPr lang="en-US" altLang="zh-TW" i="1" dirty="0">
                        <a:latin typeface="Cambria Math" panose="02040503050406030204" pitchFamily="18" charset="0"/>
                      </a:rPr>
                      <m:t>𝑦</m:t>
                    </m:r>
                  </m:oMath>
                </a14:m>
                <a:r>
                  <a:rPr lang="en-US" altLang="zh-TW" dirty="0"/>
                  <a:t>, </a:t>
                </a:r>
                <a14:m>
                  <m:oMath xmlns:m="http://schemas.openxmlformats.org/officeDocument/2006/math">
                    <m:r>
                      <a:rPr lang="en-US" altLang="zh-TW" i="1" dirty="0">
                        <a:latin typeface="Cambria Math" panose="02040503050406030204" pitchFamily="18" charset="0"/>
                      </a:rPr>
                      <m:t>𝑌</m:t>
                    </m:r>
                    <m:r>
                      <a:rPr lang="en-US" altLang="zh-TW" b="0" i="1" dirty="0" smtClean="0">
                        <a:latin typeface="Cambria Math" panose="02040503050406030204" pitchFamily="18" charset="0"/>
                      </a:rPr>
                      <m:t>𝐹</m:t>
                    </m:r>
                  </m:oMath>
                </a14:m>
                <a:r>
                  <a:rPr lang="en-US" altLang="zh-TW" dirty="0"/>
                  <a:t> be the set of clauses in </a:t>
                </a:r>
                <a14:m>
                  <m:oMath xmlns:m="http://schemas.openxmlformats.org/officeDocument/2006/math">
                    <m:r>
                      <a:rPr lang="en-US" altLang="zh-TW" i="1" dirty="0">
                        <a:latin typeface="Cambria Math" panose="02040503050406030204" pitchFamily="18" charset="0"/>
                      </a:rPr>
                      <m:t>𝐿𝐸𝐹𝑇</m:t>
                    </m:r>
                  </m:oMath>
                </a14:m>
                <a:r>
                  <a:rPr lang="en-US" altLang="zh-TW" dirty="0"/>
                  <a:t> which contain </a:t>
                </a:r>
                <a14:m>
                  <m:oMath xmlns:m="http://schemas.openxmlformats.org/officeDocument/2006/math">
                    <m:bar>
                      <m:barPr>
                        <m:pos m:val="top"/>
                        <m:ctrlPr>
                          <a:rPr lang="en-US" altLang="zh-TW" i="1" dirty="0" smtClean="0">
                            <a:latin typeface="Cambria Math" panose="02040503050406030204" pitchFamily="18" charset="0"/>
                          </a:rPr>
                        </m:ctrlPr>
                      </m:barPr>
                      <m:e>
                        <m:r>
                          <a:rPr lang="en-US" altLang="zh-TW" i="1" dirty="0">
                            <a:latin typeface="Cambria Math" panose="02040503050406030204" pitchFamily="18" charset="0"/>
                          </a:rPr>
                          <m:t>𝑦</m:t>
                        </m:r>
                      </m:e>
                    </m:bar>
                  </m:oMath>
                </a14:m>
                <a:r>
                  <a:rPr lang="en-US" altLang="zh-TW" dirty="0"/>
                  <a:t>.</a:t>
                </a:r>
              </a:p>
              <a:p>
                <a:pPr marL="514350" indent="-514350">
                  <a:buFont typeface="+mj-lt"/>
                  <a:buAutoNum type="arabicPeriod"/>
                </a:pPr>
                <a:r>
                  <a:rPr lang="en-US" altLang="zh-TW" dirty="0"/>
                  <a:t>If </a:t>
                </a:r>
                <a14:m>
                  <m:oMath xmlns:m="http://schemas.openxmlformats.org/officeDocument/2006/math">
                    <m:nary>
                      <m:naryPr>
                        <m:chr m:val="∑"/>
                        <m:supHide m:val="on"/>
                        <m:ctrlPr>
                          <a:rPr lang="en-US" altLang="zh-TW" i="1">
                            <a:latin typeface="Cambria Math" panose="02040503050406030204" pitchFamily="18" charset="0"/>
                          </a:rPr>
                        </m:ctrlPr>
                      </m:naryPr>
                      <m:sub>
                        <m:r>
                          <m:rPr>
                            <m:brk m:alnAt="7"/>
                          </m:rPr>
                          <a:rPr lang="en-US" altLang="zh-TW" i="1">
                            <a:latin typeface="Cambria Math" panose="02040503050406030204" pitchFamily="18" charset="0"/>
                          </a:rPr>
                          <m:t>𝑐</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𝑌𝑇</m:t>
                        </m:r>
                      </m:sub>
                      <m:sup/>
                      <m:e>
                        <m:r>
                          <a:rPr lang="en-US" altLang="zh-TW" i="1">
                            <a:latin typeface="Cambria Math" panose="02040503050406030204" pitchFamily="18" charset="0"/>
                          </a:rPr>
                          <m:t>𝑤</m:t>
                        </m:r>
                        <m:r>
                          <a:rPr lang="en-US" altLang="zh-TW" i="1">
                            <a:latin typeface="Cambria Math" panose="02040503050406030204" pitchFamily="18" charset="0"/>
                          </a:rPr>
                          <m:t>(</m:t>
                        </m:r>
                        <m:r>
                          <a:rPr lang="en-US" altLang="zh-TW" i="1">
                            <a:latin typeface="Cambria Math" panose="02040503050406030204" pitchFamily="18" charset="0"/>
                          </a:rPr>
                          <m:t>𝐶</m:t>
                        </m:r>
                        <m:r>
                          <a:rPr lang="en-US" altLang="zh-TW" i="1">
                            <a:latin typeface="Cambria Math" panose="02040503050406030204" pitchFamily="18" charset="0"/>
                          </a:rPr>
                          <m:t>)</m:t>
                        </m:r>
                      </m:e>
                    </m:nary>
                    <m:r>
                      <a:rPr lang="en-US" altLang="zh-TW" i="1" smtClean="0">
                        <a:latin typeface="Cambria Math" panose="02040503050406030204" pitchFamily="18" charset="0"/>
                        <a:ea typeface="Cambria Math" panose="02040503050406030204" pitchFamily="18" charset="0"/>
                      </a:rPr>
                      <m:t>≥</m:t>
                    </m:r>
                    <m:nary>
                      <m:naryPr>
                        <m:chr m:val="∑"/>
                        <m:supHide m:val="on"/>
                        <m:ctrlPr>
                          <a:rPr lang="en-US" altLang="zh-TW" i="1">
                            <a:latin typeface="Cambria Math" panose="02040503050406030204" pitchFamily="18" charset="0"/>
                          </a:rPr>
                        </m:ctrlPr>
                      </m:naryPr>
                      <m:sub>
                        <m:r>
                          <m:rPr>
                            <m:brk m:alnAt="7"/>
                          </m:rPr>
                          <a:rPr lang="en-US" altLang="zh-TW" i="1">
                            <a:latin typeface="Cambria Math" panose="02040503050406030204" pitchFamily="18" charset="0"/>
                          </a:rPr>
                          <m:t>𝑐</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𝑌𝐹</m:t>
                        </m:r>
                      </m:sub>
                      <m:sup/>
                      <m:e>
                        <m:r>
                          <a:rPr lang="en-US" altLang="zh-TW" i="1">
                            <a:latin typeface="Cambria Math" panose="02040503050406030204" pitchFamily="18" charset="0"/>
                          </a:rPr>
                          <m:t>𝑤</m:t>
                        </m:r>
                        <m:r>
                          <a:rPr lang="en-US" altLang="zh-TW" i="1">
                            <a:latin typeface="Cambria Math" panose="02040503050406030204" pitchFamily="18" charset="0"/>
                          </a:rPr>
                          <m:t>(</m:t>
                        </m:r>
                        <m:r>
                          <a:rPr lang="en-US" altLang="zh-TW" i="1">
                            <a:latin typeface="Cambria Math" panose="02040503050406030204" pitchFamily="18" charset="0"/>
                          </a:rPr>
                          <m:t>𝐶</m:t>
                        </m:r>
                        <m:r>
                          <a:rPr lang="en-US" altLang="zh-TW" i="1">
                            <a:latin typeface="Cambria Math" panose="02040503050406030204" pitchFamily="18" charset="0"/>
                          </a:rPr>
                          <m:t>)</m:t>
                        </m:r>
                      </m:e>
                    </m:nary>
                  </m:oMath>
                </a14:m>
                <a:r>
                  <a:rPr lang="en-US" altLang="zh-TW" dirty="0"/>
                  <a:t>, set</a:t>
                </a:r>
                <a14:m>
                  <m:oMath xmlns:m="http://schemas.openxmlformats.org/officeDocument/2006/math">
                    <m:r>
                      <a:rPr lang="en-US" altLang="zh-TW" i="1" dirty="0">
                        <a:latin typeface="Cambria Math" panose="02040503050406030204" pitchFamily="18" charset="0"/>
                      </a:rPr>
                      <m:t>𝑆𝑈𝐵</m:t>
                    </m:r>
                    <m:r>
                      <a:rPr lang="en-US" altLang="zh-TW" i="1" dirty="0">
                        <a:latin typeface="Cambria Math" panose="02040503050406030204" pitchFamily="18" charset="0"/>
                      </a:rPr>
                      <m:t>=</m:t>
                    </m:r>
                    <m:r>
                      <a:rPr lang="en-US" altLang="zh-TW" i="1" dirty="0">
                        <a:latin typeface="Cambria Math" panose="02040503050406030204" pitchFamily="18" charset="0"/>
                      </a:rPr>
                      <m:t>𝑆𝑈𝐵</m:t>
                    </m:r>
                    <m:r>
                      <a:rPr lang="en-US" altLang="zh-TW" i="1" dirty="0">
                        <a:latin typeface="Cambria Math" panose="02040503050406030204" pitchFamily="18" charset="0"/>
                        <a:ea typeface="Cambria Math" panose="02040503050406030204" pitchFamily="18" charset="0"/>
                      </a:rPr>
                      <m:t>∪</m:t>
                    </m:r>
                    <m:r>
                      <a:rPr lang="en-US" altLang="zh-TW" i="1" dirty="0">
                        <a:latin typeface="Cambria Math" panose="02040503050406030204" pitchFamily="18" charset="0"/>
                        <a:ea typeface="Cambria Math" panose="02040503050406030204" pitchFamily="18" charset="0"/>
                      </a:rPr>
                      <m:t>𝑌𝑇</m:t>
                    </m:r>
                    <m:r>
                      <a:rPr lang="en-US" altLang="zh-TW" i="1" dirty="0">
                        <a:latin typeface="Cambria Math" panose="02040503050406030204" pitchFamily="18" charset="0"/>
                        <a:ea typeface="Cambria Math" panose="02040503050406030204" pitchFamily="18" charset="0"/>
                      </a:rPr>
                      <m:t>, </m:t>
                    </m:r>
                    <m:r>
                      <a:rPr lang="en-US" altLang="zh-TW" i="1" dirty="0">
                        <a:latin typeface="Cambria Math" panose="02040503050406030204" pitchFamily="18" charset="0"/>
                        <a:ea typeface="Cambria Math" panose="02040503050406030204" pitchFamily="18" charset="0"/>
                      </a:rPr>
                      <m:t>𝐿𝐸𝐹𝑇</m:t>
                    </m:r>
                    <m:r>
                      <a:rPr lang="en-US" altLang="zh-TW" i="1" dirty="0">
                        <a:latin typeface="Cambria Math" panose="02040503050406030204" pitchFamily="18" charset="0"/>
                        <a:ea typeface="Cambria Math" panose="02040503050406030204" pitchFamily="18" charset="0"/>
                      </a:rPr>
                      <m:t>=</m:t>
                    </m:r>
                    <m:r>
                      <a:rPr lang="en-US" altLang="zh-TW" i="1" dirty="0">
                        <a:latin typeface="Cambria Math" panose="02040503050406030204" pitchFamily="18" charset="0"/>
                        <a:ea typeface="Cambria Math" panose="02040503050406030204" pitchFamily="18" charset="0"/>
                      </a:rPr>
                      <m:t>𝐿𝐸𝐹𝑇</m:t>
                    </m:r>
                    <m:r>
                      <a:rPr lang="en-US" altLang="zh-TW" i="1" dirty="0">
                        <a:latin typeface="Cambria Math" panose="02040503050406030204" pitchFamily="18" charset="0"/>
                        <a:ea typeface="Cambria Math" panose="02040503050406030204" pitchFamily="18" charset="0"/>
                      </a:rPr>
                      <m:t>−</m:t>
                    </m:r>
                    <m:r>
                      <a:rPr lang="en-US" altLang="zh-TW" i="1" dirty="0">
                        <a:latin typeface="Cambria Math" panose="02040503050406030204" pitchFamily="18" charset="0"/>
                        <a:ea typeface="Cambria Math" panose="02040503050406030204" pitchFamily="18" charset="0"/>
                      </a:rPr>
                      <m:t>𝑌𝑇</m:t>
                    </m:r>
                    <m:r>
                      <a:rPr lang="en-US" altLang="zh-TW" i="1" dirty="0">
                        <a:latin typeface="Cambria Math" panose="02040503050406030204" pitchFamily="18" charset="0"/>
                        <a:ea typeface="Cambria Math" panose="02040503050406030204" pitchFamily="18" charset="0"/>
                      </a:rPr>
                      <m:t>, </m:t>
                    </m:r>
                    <m:r>
                      <a:rPr lang="en-US" altLang="zh-TW" i="1" dirty="0">
                        <a:latin typeface="Cambria Math" panose="02040503050406030204" pitchFamily="18" charset="0"/>
                        <a:ea typeface="Cambria Math" panose="02040503050406030204" pitchFamily="18" charset="0"/>
                      </a:rPr>
                      <m:t>𝑇𝑅𝑈𝐸</m:t>
                    </m:r>
                    <m:r>
                      <a:rPr lang="en-US" altLang="zh-TW" i="1" dirty="0">
                        <a:latin typeface="Cambria Math" panose="02040503050406030204" pitchFamily="18" charset="0"/>
                        <a:ea typeface="Cambria Math" panose="02040503050406030204" pitchFamily="18" charset="0"/>
                      </a:rPr>
                      <m:t>=</m:t>
                    </m:r>
                    <m:r>
                      <a:rPr lang="en-US" altLang="zh-TW" i="1" dirty="0">
                        <a:latin typeface="Cambria Math" panose="02040503050406030204" pitchFamily="18" charset="0"/>
                        <a:ea typeface="Cambria Math" panose="02040503050406030204" pitchFamily="18" charset="0"/>
                      </a:rPr>
                      <m:t>𝑇𝑅𝑈𝐸</m:t>
                    </m:r>
                    <m:r>
                      <a:rPr lang="en-US" altLang="zh-TW" i="1" dirty="0">
                        <a:latin typeface="Cambria Math" panose="02040503050406030204" pitchFamily="18" charset="0"/>
                        <a:ea typeface="Cambria Math" panose="02040503050406030204" pitchFamily="18" charset="0"/>
                      </a:rPr>
                      <m:t>∪</m:t>
                    </m:r>
                    <m:d>
                      <m:dPr>
                        <m:begChr m:val="{"/>
                        <m:endChr m:val="}"/>
                        <m:ctrlPr>
                          <a:rPr lang="en-US" altLang="zh-TW" i="1" dirty="0">
                            <a:latin typeface="Cambria Math" panose="02040503050406030204" pitchFamily="18" charset="0"/>
                            <a:ea typeface="Cambria Math" panose="02040503050406030204" pitchFamily="18" charset="0"/>
                          </a:rPr>
                        </m:ctrlPr>
                      </m:dPr>
                      <m:e>
                        <m:r>
                          <a:rPr lang="en-US" altLang="zh-TW" i="1" dirty="0">
                            <a:latin typeface="Cambria Math" panose="02040503050406030204" pitchFamily="18" charset="0"/>
                            <a:ea typeface="Cambria Math" panose="02040503050406030204" pitchFamily="18" charset="0"/>
                          </a:rPr>
                          <m:t>𝑦</m:t>
                        </m:r>
                      </m:e>
                    </m:d>
                    <m:r>
                      <a:rPr lang="en-US" altLang="zh-TW" i="1" dirty="0">
                        <a:latin typeface="Cambria Math" panose="02040503050406030204" pitchFamily="18" charset="0"/>
                        <a:ea typeface="Cambria Math" panose="02040503050406030204" pitchFamily="18" charset="0"/>
                      </a:rPr>
                      <m:t>,</m:t>
                    </m:r>
                  </m:oMath>
                </a14:m>
                <a:r>
                  <a:rPr lang="en-US" altLang="zh-TW" dirty="0"/>
                  <a:t> and for each </a:t>
                </a:r>
                <a14:m>
                  <m:oMath xmlns:m="http://schemas.openxmlformats.org/officeDocument/2006/math">
                    <m:r>
                      <a:rPr lang="en-US" altLang="zh-TW" b="0" i="1" smtClean="0">
                        <a:latin typeface="Cambria Math" panose="02040503050406030204" pitchFamily="18" charset="0"/>
                      </a:rPr>
                      <m:t>𝐶</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𝑌𝐹</m:t>
                    </m:r>
                  </m:oMath>
                </a14:m>
                <a:r>
                  <a:rPr lang="en-US" altLang="zh-TW" dirty="0"/>
                  <a:t>, set </a:t>
                </a:r>
                <a14:m>
                  <m:oMath xmlns:m="http://schemas.openxmlformats.org/officeDocument/2006/math">
                    <m:r>
                      <a:rPr lang="en-US" altLang="zh-TW" b="0" i="1" smtClean="0">
                        <a:latin typeface="Cambria Math" panose="02040503050406030204" pitchFamily="18" charset="0"/>
                      </a:rPr>
                      <m:t>𝑤</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𝐶</m:t>
                        </m:r>
                      </m:e>
                    </m:d>
                    <m:r>
                      <a:rPr lang="en-US" altLang="zh-TW" b="0" i="1" smtClean="0">
                        <a:latin typeface="Cambria Math" panose="02040503050406030204" pitchFamily="18" charset="0"/>
                      </a:rPr>
                      <m:t>=2</m:t>
                    </m:r>
                    <m:r>
                      <a:rPr lang="en-US" altLang="zh-TW" b="0" i="1" smtClean="0">
                        <a:latin typeface="Cambria Math" panose="02040503050406030204" pitchFamily="18" charset="0"/>
                      </a:rPr>
                      <m:t>𝑤</m:t>
                    </m:r>
                    <m:r>
                      <a:rPr lang="en-US" altLang="zh-TW" b="0" i="1" smtClean="0">
                        <a:latin typeface="Cambria Math" panose="02040503050406030204" pitchFamily="18" charset="0"/>
                      </a:rPr>
                      <m:t>(</m:t>
                    </m:r>
                    <m:r>
                      <a:rPr lang="en-US" altLang="zh-TW" b="0" i="1" smtClean="0">
                        <a:latin typeface="Cambria Math" panose="02040503050406030204" pitchFamily="18" charset="0"/>
                      </a:rPr>
                      <m:t>𝐶</m:t>
                    </m:r>
                    <m:r>
                      <a:rPr lang="en-US" altLang="zh-TW" b="0" i="1" smtClean="0">
                        <a:latin typeface="Cambria Math" panose="02040503050406030204" pitchFamily="18" charset="0"/>
                      </a:rPr>
                      <m:t>)</m:t>
                    </m:r>
                  </m:oMath>
                </a14:m>
                <a:r>
                  <a:rPr lang="en-US" altLang="zh-TW" dirty="0"/>
                  <a:t>. </a:t>
                </a:r>
                <a:r>
                  <a:rPr lang="zh-TW" altLang="en-US" dirty="0"/>
                  <a:t>反之亦然</a:t>
                </a:r>
                <a:r>
                  <a:rPr lang="en-US" altLang="zh-TW" dirty="0"/>
                  <a:t>.</a:t>
                </a:r>
              </a:p>
              <a:p>
                <a:pPr marL="514350" indent="-514350">
                  <a:buFont typeface="+mj-lt"/>
                  <a:buAutoNum type="arabicPeriod"/>
                </a:pPr>
                <a14:m>
                  <m:oMath xmlns:m="http://schemas.openxmlformats.org/officeDocument/2006/math">
                    <m:r>
                      <a:rPr lang="en-US" altLang="zh-TW" i="1" dirty="0">
                        <a:latin typeface="Cambria Math" panose="02040503050406030204" pitchFamily="18" charset="0"/>
                        <a:ea typeface="Cambria Math" panose="02040503050406030204" pitchFamily="18" charset="0"/>
                      </a:rPr>
                      <m:t>𝐿𝐼𝑇</m:t>
                    </m:r>
                    <m:r>
                      <a:rPr lang="en-US" altLang="zh-TW" i="1" dirty="0">
                        <a:latin typeface="Cambria Math" panose="02040503050406030204" pitchFamily="18" charset="0"/>
                        <a:ea typeface="Cambria Math" panose="02040503050406030204" pitchFamily="18" charset="0"/>
                      </a:rPr>
                      <m:t>=</m:t>
                    </m:r>
                    <m:r>
                      <a:rPr lang="en-US" altLang="zh-TW" i="1" dirty="0">
                        <a:latin typeface="Cambria Math" panose="02040503050406030204" pitchFamily="18" charset="0"/>
                        <a:ea typeface="Cambria Math" panose="02040503050406030204" pitchFamily="18" charset="0"/>
                      </a:rPr>
                      <m:t>𝐿𝐼𝑇</m:t>
                    </m:r>
                    <m:r>
                      <a:rPr lang="en-US" altLang="zh-TW" i="1" dirty="0">
                        <a:latin typeface="Cambria Math" panose="02040503050406030204" pitchFamily="18" charset="0"/>
                        <a:ea typeface="Cambria Math" panose="02040503050406030204" pitchFamily="18" charset="0"/>
                      </a:rPr>
                      <m:t>−{</m:t>
                    </m:r>
                    <m:r>
                      <a:rPr lang="en-US" altLang="zh-TW" i="1" dirty="0">
                        <a:latin typeface="Cambria Math" panose="02040503050406030204" pitchFamily="18" charset="0"/>
                        <a:ea typeface="Cambria Math" panose="02040503050406030204" pitchFamily="18" charset="0"/>
                      </a:rPr>
                      <m:t>𝑦</m:t>
                    </m:r>
                    <m:r>
                      <a:rPr lang="en-US" altLang="zh-TW" i="1" dirty="0">
                        <a:latin typeface="Cambria Math" panose="02040503050406030204" pitchFamily="18" charset="0"/>
                        <a:ea typeface="Cambria Math" panose="02040503050406030204" pitchFamily="18" charset="0"/>
                      </a:rPr>
                      <m:t>,</m:t>
                    </m:r>
                    <m:bar>
                      <m:barPr>
                        <m:pos m:val="top"/>
                        <m:ctrlPr>
                          <a:rPr lang="en-US" altLang="zh-TW" i="1" dirty="0">
                            <a:latin typeface="Cambria Math" panose="02040503050406030204" pitchFamily="18" charset="0"/>
                            <a:ea typeface="Cambria Math" panose="02040503050406030204" pitchFamily="18" charset="0"/>
                          </a:rPr>
                        </m:ctrlPr>
                      </m:barPr>
                      <m:e>
                        <m:r>
                          <a:rPr lang="en-US" altLang="zh-TW" i="1" dirty="0">
                            <a:latin typeface="Cambria Math" panose="02040503050406030204" pitchFamily="18" charset="0"/>
                            <a:ea typeface="Cambria Math" panose="02040503050406030204" pitchFamily="18" charset="0"/>
                          </a:rPr>
                          <m:t>𝑦</m:t>
                        </m:r>
                      </m:e>
                    </m:bar>
                    <m:r>
                      <a:rPr lang="en-US" altLang="zh-TW" i="1" dirty="0">
                        <a:latin typeface="Cambria Math" panose="02040503050406030204" pitchFamily="18" charset="0"/>
                        <a:ea typeface="Cambria Math" panose="02040503050406030204" pitchFamily="18" charset="0"/>
                      </a:rPr>
                      <m:t>}</m:t>
                    </m:r>
                  </m:oMath>
                </a14:m>
                <a:r>
                  <a:rPr lang="en-US" altLang="zh-TW" dirty="0"/>
                  <a:t>, and Go to 2.</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a:blip r:embed="rId2"/>
                <a:stretch>
                  <a:fillRect l="-1391" t="-3501" r="-185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874601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Maximum Satisfiability</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lstStyle/>
              <a:p>
                <a:pPr marL="0" indent="0">
                  <a:buNone/>
                </a:pPr>
                <a:r>
                  <a:rPr lang="en-US" altLang="zh-TW" dirty="0"/>
                  <a:t>Each </a:t>
                </a:r>
                <a14:m>
                  <m:oMath xmlns:m="http://schemas.openxmlformats.org/officeDocument/2006/math">
                    <m:r>
                      <a:rPr lang="en-US" altLang="zh-TW" b="0" i="1" smtClean="0">
                        <a:latin typeface="Cambria Math" panose="02040503050406030204" pitchFamily="18" charset="0"/>
                      </a:rPr>
                      <m:t>𝑤</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𝐶</m:t>
                        </m:r>
                      </m:e>
                    </m:d>
                    <m:r>
                      <a:rPr lang="en-US" altLang="zh-TW" b="0" i="1" smtClean="0">
                        <a:latin typeface="Cambria Math" panose="02040503050406030204" pitchFamily="18" charset="0"/>
                        <a:ea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2</m:t>
                        </m:r>
                      </m:e>
                      <m:sup>
                        <m:r>
                          <a:rPr lang="en-US" altLang="zh-TW" b="0" i="1" smtClean="0">
                            <a:latin typeface="Cambria Math" panose="02040503050406030204" pitchFamily="18" charset="0"/>
                          </a:rPr>
                          <m:t>−</m:t>
                        </m:r>
                        <m:r>
                          <a:rPr lang="en-US" altLang="zh-TW" b="0" i="1" smtClean="0">
                            <a:latin typeface="Cambria Math" panose="02040503050406030204" pitchFamily="18" charset="0"/>
                          </a:rPr>
                          <m:t>𝑘</m:t>
                        </m:r>
                      </m:sup>
                    </m:sSup>
                  </m:oMath>
                </a14:m>
                <a:r>
                  <a:rPr lang="en-US" altLang="zh-TW" dirty="0"/>
                  <a:t>.</a:t>
                </a:r>
              </a:p>
              <a:p>
                <a:pPr marL="0" indent="0">
                  <a:buNone/>
                </a:pPr>
                <a:r>
                  <a:rPr lang="en-US" altLang="zh-TW" dirty="0"/>
                  <a:t>Initially, the total weight of all the clauses in </a:t>
                </a:r>
                <a14:m>
                  <m:oMath xmlns:m="http://schemas.openxmlformats.org/officeDocument/2006/math">
                    <m:r>
                      <a:rPr lang="en-US" altLang="zh-TW" i="1" dirty="0" smtClean="0">
                        <a:latin typeface="Cambria Math" panose="02040503050406030204" pitchFamily="18" charset="0"/>
                      </a:rPr>
                      <m:t>𝐿𝐸𝐹𝑇</m:t>
                    </m:r>
                  </m:oMath>
                </a14:m>
                <a:r>
                  <a:rPr lang="en-US" altLang="zh-TW" dirty="0"/>
                  <a:t> cannot exceed </a:t>
                </a:r>
                <a14:m>
                  <m:oMath xmlns:m="http://schemas.openxmlformats.org/officeDocument/2006/math">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m:t>
                        </m:r>
                        <m:r>
                          <a:rPr lang="en-US" altLang="zh-TW" b="0" i="1" smtClean="0">
                            <a:latin typeface="Cambria Math" panose="02040503050406030204" pitchFamily="18" charset="0"/>
                          </a:rPr>
                          <m:t>𝑆</m:t>
                        </m:r>
                        <m:r>
                          <a:rPr lang="en-US" altLang="zh-TW" b="0" i="1" smtClean="0">
                            <a:latin typeface="Cambria Math" panose="02040503050406030204" pitchFamily="18" charset="0"/>
                          </a:rPr>
                          <m:t>|</m:t>
                        </m:r>
                      </m:num>
                      <m:den>
                        <m:sSup>
                          <m:sSupPr>
                            <m:ctrlPr>
                              <a:rPr lang="en-US" altLang="zh-TW" i="1" smtClean="0">
                                <a:latin typeface="Cambria Math" panose="02040503050406030204" pitchFamily="18" charset="0"/>
                              </a:rPr>
                            </m:ctrlPr>
                          </m:sSupPr>
                          <m:e>
                            <m:r>
                              <a:rPr lang="en-US" altLang="zh-TW" b="0" i="1" smtClean="0">
                                <a:latin typeface="Cambria Math" panose="02040503050406030204" pitchFamily="18" charset="0"/>
                              </a:rPr>
                              <m:t>2</m:t>
                            </m:r>
                          </m:e>
                          <m:sup>
                            <m:r>
                              <a:rPr lang="en-US" altLang="zh-TW" b="0" i="1" smtClean="0">
                                <a:latin typeface="Cambria Math" panose="02040503050406030204" pitchFamily="18" charset="0"/>
                              </a:rPr>
                              <m:t>𝑘</m:t>
                            </m:r>
                          </m:sup>
                        </m:sSup>
                      </m:den>
                    </m:f>
                  </m:oMath>
                </a14:m>
                <a:r>
                  <a:rPr lang="en-US" altLang="zh-TW" dirty="0"/>
                  <a:t>.</a:t>
                </a:r>
              </a:p>
              <a:p>
                <a:pPr marL="0" indent="0">
                  <a:buNone/>
                </a:pPr>
                <a14:m>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𝐿𝐸𝐹𝑇</m:t>
                    </m:r>
                    <m:r>
                      <a:rPr lang="en-US" altLang="zh-TW" b="0" i="1" smtClean="0">
                        <a:latin typeface="Cambria Math" panose="02040503050406030204" pitchFamily="18" charset="0"/>
                      </a:rPr>
                      <m:t>|≤</m:t>
                    </m:r>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𝑆</m:t>
                        </m:r>
                        <m:r>
                          <a:rPr lang="en-US" altLang="zh-TW" b="0" i="1" smtClean="0">
                            <a:latin typeface="Cambria Math" panose="02040503050406030204" pitchFamily="18" charset="0"/>
                            <a:ea typeface="Cambria Math" panose="02040503050406030204" pitchFamily="18" charset="0"/>
                          </a:rPr>
                          <m:t>|</m:t>
                        </m:r>
                      </m:num>
                      <m:den>
                        <m:sSup>
                          <m:sSupPr>
                            <m:ctrlPr>
                              <a:rPr lang="en-US" altLang="zh-TW" i="1">
                                <a:latin typeface="Cambria Math" panose="02040503050406030204" pitchFamily="18" charset="0"/>
                                <a:ea typeface="Cambria Math" panose="02040503050406030204" pitchFamily="18" charset="0"/>
                              </a:rPr>
                            </m:ctrlPr>
                          </m:sSupPr>
                          <m:e>
                            <m:r>
                              <a:rPr lang="en-US" altLang="zh-TW" i="1">
                                <a:latin typeface="Cambria Math" panose="02040503050406030204" pitchFamily="18" charset="0"/>
                                <a:ea typeface="Cambria Math" panose="02040503050406030204" pitchFamily="18" charset="0"/>
                              </a:rPr>
                              <m:t>2</m:t>
                            </m:r>
                          </m:e>
                          <m:sup>
                            <m:r>
                              <a:rPr lang="en-US" altLang="zh-TW" i="1">
                                <a:latin typeface="Cambria Math" panose="02040503050406030204" pitchFamily="18" charset="0"/>
                                <a:ea typeface="Cambria Math" panose="02040503050406030204" pitchFamily="18" charset="0"/>
                              </a:rPr>
                              <m:t>𝑘</m:t>
                            </m:r>
                          </m:sup>
                        </m:sSup>
                      </m:den>
                    </m:f>
                  </m:oMath>
                </a14:m>
                <a:r>
                  <a:rPr lang="zh-TW" altLang="en-US" dirty="0"/>
                  <a:t> </a:t>
                </a:r>
                <a:endParaRPr lang="en-US" altLang="zh-TW" dirty="0"/>
              </a:p>
              <a:p>
                <a:pPr marL="0" indent="0">
                  <a:buNone/>
                </a:pPr>
                <a14:m>
                  <m:oMath xmlns:m="http://schemas.openxmlformats.org/officeDocument/2006/math">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𝑆𝑈𝐵</m:t>
                        </m:r>
                      </m:e>
                    </m:d>
                    <m:r>
                      <a:rPr lang="en-US" altLang="zh-TW" b="0" i="1" smtClean="0">
                        <a:latin typeface="Cambria Math" panose="02040503050406030204" pitchFamily="18" charset="0"/>
                        <a:ea typeface="Cambria Math" panose="02040503050406030204" pitchFamily="18" charset="0"/>
                      </a:rPr>
                      <m:t>≥</m:t>
                    </m:r>
                    <m:d>
                      <m:dPr>
                        <m:begChr m:val="|"/>
                        <m:endChr m:val="|"/>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𝑆</m:t>
                        </m:r>
                      </m:e>
                    </m:d>
                    <m:r>
                      <a:rPr lang="en-US" altLang="zh-TW" b="0" i="1" smtClean="0">
                        <a:latin typeface="Cambria Math" panose="02040503050406030204" pitchFamily="18" charset="0"/>
                        <a:ea typeface="Cambria Math" panose="02040503050406030204" pitchFamily="18" charset="0"/>
                      </a:rPr>
                      <m:t>(1−</m:t>
                    </m:r>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1</m:t>
                        </m:r>
                      </m:num>
                      <m:den>
                        <m:sSup>
                          <m:sSupPr>
                            <m:ctrlPr>
                              <a:rPr lang="en-US" altLang="zh-TW" i="1">
                                <a:latin typeface="Cambria Math" panose="02040503050406030204" pitchFamily="18" charset="0"/>
                                <a:ea typeface="Cambria Math" panose="02040503050406030204" pitchFamily="18" charset="0"/>
                              </a:rPr>
                            </m:ctrlPr>
                          </m:sSupPr>
                          <m:e>
                            <m:r>
                              <a:rPr lang="en-US" altLang="zh-TW" i="1">
                                <a:latin typeface="Cambria Math" panose="02040503050406030204" pitchFamily="18" charset="0"/>
                                <a:ea typeface="Cambria Math" panose="02040503050406030204" pitchFamily="18" charset="0"/>
                              </a:rPr>
                              <m:t>2</m:t>
                            </m:r>
                          </m:e>
                          <m:sup>
                            <m:r>
                              <a:rPr lang="en-US" altLang="zh-TW" i="1">
                                <a:latin typeface="Cambria Math" panose="02040503050406030204" pitchFamily="18" charset="0"/>
                                <a:ea typeface="Cambria Math" panose="02040503050406030204" pitchFamily="18" charset="0"/>
                              </a:rPr>
                              <m:t>𝑘</m:t>
                            </m:r>
                          </m:sup>
                        </m:sSup>
                      </m:den>
                    </m:f>
                    <m:r>
                      <a:rPr lang="en-US" altLang="zh-TW" b="0" i="1" smtClean="0">
                        <a:latin typeface="Cambria Math" panose="02040503050406030204" pitchFamily="18" charset="0"/>
                        <a:ea typeface="Cambria Math" panose="02040503050406030204" pitchFamily="18" charset="0"/>
                      </a:rPr>
                      <m:t>)</m:t>
                    </m:r>
                  </m:oMath>
                </a14:m>
                <a:r>
                  <a:rPr lang="zh-TW" altLang="en-US" dirty="0"/>
                  <a:t> </a:t>
                </a:r>
                <a:endParaRPr lang="en-US" altLang="zh-TW" dirty="0"/>
              </a:p>
              <a:p>
                <a:pPr marL="0" indent="0">
                  <a:buNone/>
                </a:pPr>
                <a14:m>
                  <m:oMath xmlns:m="http://schemas.openxmlformats.org/officeDocument/2006/math">
                    <m:f>
                      <m:fPr>
                        <m:ctrlPr>
                          <a:rPr lang="en-US" altLang="zh-TW" i="1">
                            <a:latin typeface="Cambria Math" panose="02040503050406030204" pitchFamily="18" charset="0"/>
                          </a:rPr>
                        </m:ctrlPr>
                      </m:fPr>
                      <m:num>
                        <m:sSup>
                          <m:sSupPr>
                            <m:ctrlPr>
                              <a:rPr lang="en-US" altLang="zh-TW" i="1" smtClean="0">
                                <a:latin typeface="Cambria Math" panose="02040503050406030204" pitchFamily="18" charset="0"/>
                              </a:rPr>
                            </m:ctrlPr>
                          </m:sSupPr>
                          <m:e>
                            <m:r>
                              <a:rPr lang="en-US" altLang="zh-TW" b="0" i="1" smtClean="0">
                                <a:latin typeface="Cambria Math" panose="02040503050406030204" pitchFamily="18" charset="0"/>
                              </a:rPr>
                              <m:t>𝑆</m:t>
                            </m:r>
                          </m:e>
                          <m:sup>
                            <m:r>
                              <a:rPr lang="en-US" altLang="zh-TW" b="0" i="1" smtClean="0">
                                <a:latin typeface="Cambria Math" panose="02040503050406030204" pitchFamily="18" charset="0"/>
                              </a:rPr>
                              <m:t>∗</m:t>
                            </m:r>
                          </m:sup>
                        </m:sSup>
                      </m:num>
                      <m:den>
                        <m:r>
                          <a:rPr lang="en-US" altLang="zh-TW" i="1">
                            <a:latin typeface="Cambria Math" panose="02040503050406030204" pitchFamily="18" charset="0"/>
                          </a:rPr>
                          <m:t>|</m:t>
                        </m:r>
                        <m:r>
                          <a:rPr lang="en-US" altLang="zh-TW" i="1">
                            <a:latin typeface="Cambria Math" panose="02040503050406030204" pitchFamily="18" charset="0"/>
                          </a:rPr>
                          <m:t>𝑆𝑈𝐵</m:t>
                        </m:r>
                        <m:r>
                          <a:rPr lang="en-US" altLang="zh-TW" i="1">
                            <a:latin typeface="Cambria Math" panose="02040503050406030204" pitchFamily="18" charset="0"/>
                          </a:rPr>
                          <m:t>|</m:t>
                        </m:r>
                      </m:den>
                    </m:f>
                    <m:r>
                      <a:rPr lang="en-US" altLang="zh-TW" i="1" smtClean="0">
                        <a:latin typeface="Cambria Math" panose="02040503050406030204" pitchFamily="18" charset="0"/>
                        <a:ea typeface="Cambria Math" panose="02040503050406030204" pitchFamily="18" charset="0"/>
                      </a:rPr>
                      <m:t>≤</m:t>
                    </m:r>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m:t>
                        </m:r>
                        <m:r>
                          <a:rPr lang="en-US" altLang="zh-TW" b="0" i="1" smtClean="0">
                            <a:latin typeface="Cambria Math" panose="02040503050406030204" pitchFamily="18" charset="0"/>
                          </a:rPr>
                          <m:t>𝑆</m:t>
                        </m:r>
                        <m:r>
                          <a:rPr lang="en-US" altLang="zh-TW" b="0" i="1" smtClean="0">
                            <a:latin typeface="Cambria Math" panose="02040503050406030204" pitchFamily="18" charset="0"/>
                          </a:rPr>
                          <m:t>|</m:t>
                        </m:r>
                      </m:num>
                      <m:den>
                        <m:r>
                          <a:rPr lang="en-US" altLang="zh-TW" b="0" i="1" smtClean="0">
                            <a:latin typeface="Cambria Math" panose="02040503050406030204" pitchFamily="18" charset="0"/>
                          </a:rPr>
                          <m:t>|</m:t>
                        </m:r>
                        <m:r>
                          <a:rPr lang="en-US" altLang="zh-TW" b="0" i="1" smtClean="0">
                            <a:latin typeface="Cambria Math" panose="02040503050406030204" pitchFamily="18" charset="0"/>
                          </a:rPr>
                          <m:t>𝑆𝑈𝐵</m:t>
                        </m:r>
                        <m:r>
                          <a:rPr lang="en-US" altLang="zh-TW" b="0" i="1" smtClean="0">
                            <a:latin typeface="Cambria Math" panose="02040503050406030204" pitchFamily="18" charset="0"/>
                          </a:rPr>
                          <m:t>|</m:t>
                        </m:r>
                      </m:den>
                    </m:f>
                    <m:r>
                      <a:rPr lang="en-US" altLang="zh-TW" i="1" smtClean="0">
                        <a:latin typeface="Cambria Math" panose="02040503050406030204" pitchFamily="18" charset="0"/>
                        <a:ea typeface="Cambria Math" panose="02040503050406030204" pitchFamily="18" charset="0"/>
                      </a:rPr>
                      <m:t>≤</m:t>
                    </m:r>
                    <m:f>
                      <m:fPr>
                        <m:ctrlPr>
                          <a:rPr lang="en-US" altLang="zh-TW" i="1" smtClean="0">
                            <a:latin typeface="Cambria Math" panose="02040503050406030204" pitchFamily="18" charset="0"/>
                            <a:ea typeface="Cambria Math" panose="02040503050406030204" pitchFamily="18" charset="0"/>
                          </a:rPr>
                        </m:ctrlPr>
                      </m:fPr>
                      <m:num>
                        <m:sSup>
                          <m:sSupPr>
                            <m:ctrlPr>
                              <a:rPr lang="en-US" altLang="zh-TW" i="1">
                                <a:latin typeface="Cambria Math" panose="02040503050406030204" pitchFamily="18" charset="0"/>
                                <a:ea typeface="Cambria Math" panose="02040503050406030204" pitchFamily="18" charset="0"/>
                              </a:rPr>
                            </m:ctrlPr>
                          </m:sSupPr>
                          <m:e>
                            <m:r>
                              <a:rPr lang="en-US" altLang="zh-TW" i="1">
                                <a:latin typeface="Cambria Math" panose="02040503050406030204" pitchFamily="18" charset="0"/>
                                <a:ea typeface="Cambria Math" panose="02040503050406030204" pitchFamily="18" charset="0"/>
                              </a:rPr>
                              <m:t>2</m:t>
                            </m:r>
                          </m:e>
                          <m:sup>
                            <m:r>
                              <a:rPr lang="en-US" altLang="zh-TW" i="1">
                                <a:latin typeface="Cambria Math" panose="02040503050406030204" pitchFamily="18" charset="0"/>
                                <a:ea typeface="Cambria Math" panose="02040503050406030204" pitchFamily="18" charset="0"/>
                              </a:rPr>
                              <m:t>𝑘</m:t>
                            </m:r>
                          </m:sup>
                        </m:sSup>
                      </m:num>
                      <m:den>
                        <m:sSup>
                          <m:sSupPr>
                            <m:ctrlPr>
                              <a:rPr lang="en-US" altLang="zh-TW" i="1">
                                <a:latin typeface="Cambria Math" panose="02040503050406030204" pitchFamily="18" charset="0"/>
                                <a:ea typeface="Cambria Math" panose="02040503050406030204" pitchFamily="18" charset="0"/>
                              </a:rPr>
                            </m:ctrlPr>
                          </m:sSupPr>
                          <m:e>
                            <m:r>
                              <a:rPr lang="en-US" altLang="zh-TW" i="1">
                                <a:latin typeface="Cambria Math" panose="02040503050406030204" pitchFamily="18" charset="0"/>
                                <a:ea typeface="Cambria Math" panose="02040503050406030204" pitchFamily="18" charset="0"/>
                              </a:rPr>
                              <m:t>2</m:t>
                            </m:r>
                          </m:e>
                          <m:sup>
                            <m:r>
                              <a:rPr lang="en-US" altLang="zh-TW" i="1">
                                <a:latin typeface="Cambria Math" panose="02040503050406030204" pitchFamily="18" charset="0"/>
                                <a:ea typeface="Cambria Math" panose="02040503050406030204" pitchFamily="18" charset="0"/>
                              </a:rPr>
                              <m:t>𝑘</m:t>
                            </m:r>
                          </m:sup>
                        </m:sSup>
                        <m:r>
                          <a:rPr lang="en-US" altLang="zh-TW" b="0" i="1" smtClean="0">
                            <a:latin typeface="Cambria Math" panose="02040503050406030204" pitchFamily="18" charset="0"/>
                            <a:ea typeface="Cambria Math" panose="02040503050406030204" pitchFamily="18" charset="0"/>
                          </a:rPr>
                          <m:t>−1</m:t>
                        </m:r>
                      </m:den>
                    </m:f>
                    <m:r>
                      <a:rPr lang="en-US" altLang="zh-TW" b="0" i="0" smtClean="0">
                        <a:latin typeface="Cambria Math" panose="02040503050406030204" pitchFamily="18" charset="0"/>
                        <a:ea typeface="Cambria Math" panose="02040503050406030204" pitchFamily="18" charset="0"/>
                      </a:rPr>
                      <m:t> </m:t>
                    </m:r>
                  </m:oMath>
                </a14:m>
                <a:r>
                  <a:rPr lang="zh-TW" altLang="en-US" dirty="0"/>
                  <a:t> </a:t>
                </a: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a:blip r:embed="rId2"/>
                <a:stretch>
                  <a:fillRect l="-1546" t="-2101"/>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 name="內容版面配置區 2"/>
              <p:cNvSpPr txBox="1">
                <a:spLocks/>
              </p:cNvSpPr>
              <p:nvPr/>
            </p:nvSpPr>
            <p:spPr>
              <a:xfrm>
                <a:off x="3960000" y="3240000"/>
                <a:ext cx="5062789" cy="359295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r>
                      <a:rPr lang="en-US" altLang="zh-TW" i="1" smtClean="0">
                        <a:latin typeface="Cambria Math" panose="02040503050406030204" pitchFamily="18" charset="0"/>
                      </a:rPr>
                      <m:t>𝑆</m:t>
                    </m:r>
                    <m:r>
                      <a:rPr lang="en-US" altLang="zh-TW" i="1" smtClean="0">
                        <a:latin typeface="Cambria Math" panose="02040503050406030204" pitchFamily="18" charset="0"/>
                      </a:rPr>
                      <m:t>=</m:t>
                    </m:r>
                    <m:d>
                      <m:dPr>
                        <m:begChr m:val="{"/>
                        <m:endChr m:val="}"/>
                        <m:ctrlPr>
                          <a:rPr lang="en-US" altLang="zh-TW" i="1" smtClean="0">
                            <a:latin typeface="Cambria Math" panose="02040503050406030204" pitchFamily="18" charset="0"/>
                          </a:rPr>
                        </m:ctrlPr>
                      </m:dPr>
                      <m:e>
                        <m:eqArr>
                          <m:eqArrPr>
                            <m:ctrlPr>
                              <a:rPr lang="en-US" altLang="zh-TW" i="1" smtClean="0">
                                <a:latin typeface="Cambria Math" panose="02040503050406030204" pitchFamily="18" charset="0"/>
                              </a:rPr>
                            </m:ctrlPr>
                          </m:eqArrPr>
                          <m:e>
                            <m:d>
                              <m:dPr>
                                <m:begChr m:val="{"/>
                                <m:endChr m:val="}"/>
                                <m:ctrlPr>
                                  <a:rPr lang="en-US" altLang="zh-TW"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1</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2</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3</m:t>
                                    </m:r>
                                  </m:sub>
                                </m:sSub>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1</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3</m:t>
                                    </m:r>
                                  </m:sub>
                                </m:sSub>
                                <m:sSub>
                                  <m:sSubPr>
                                    <m:ctrlPr>
                                      <a:rPr lang="en-US" altLang="zh-TW" i="1">
                                        <a:latin typeface="Cambria Math" panose="02040503050406030204" pitchFamily="18" charset="0"/>
                                      </a:rPr>
                                    </m:ctrlPr>
                                  </m:sSubPr>
                                  <m:e>
                                    <m:r>
                                      <a:rPr lang="en-US" altLang="zh-TW" i="1" smtClean="0">
                                        <a:latin typeface="Cambria Math" panose="02040503050406030204" pitchFamily="18" charset="0"/>
                                      </a:rPr>
                                      <m:t>,</m:t>
                                    </m:r>
                                    <m:r>
                                      <a:rPr lang="en-US" altLang="zh-TW" i="1">
                                        <a:latin typeface="Cambria Math" panose="02040503050406030204" pitchFamily="18" charset="0"/>
                                      </a:rPr>
                                      <m:t>𝑥</m:t>
                                    </m:r>
                                  </m:e>
                                  <m:sub>
                                    <m:r>
                                      <a:rPr lang="en-US" altLang="zh-TW" i="1" smtClean="0">
                                        <a:latin typeface="Cambria Math" panose="02040503050406030204" pitchFamily="18" charset="0"/>
                                      </a:rPr>
                                      <m:t>4</m:t>
                                    </m:r>
                                  </m:sub>
                                </m:sSub>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5</m:t>
                                        </m:r>
                                      </m:sub>
                                    </m:sSub>
                                  </m:e>
                                </m:bar>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1</m:t>
                                        </m:r>
                                      </m:sub>
                                    </m:sSub>
                                  </m:e>
                                </m:bar>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5</m:t>
                                    </m:r>
                                  </m:sub>
                                </m:sSub>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2</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3</m:t>
                                    </m:r>
                                  </m:sub>
                                </m:sSub>
                                <m:r>
                                  <a:rPr lang="en-US" altLang="zh-TW" i="1" smtClean="0">
                                    <a:latin typeface="Cambria Math" panose="02040503050406030204" pitchFamily="18" charset="0"/>
                                  </a:rPr>
                                  <m:t> </m:t>
                                </m:r>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2</m:t>
                                    </m:r>
                                  </m:sub>
                                </m:sSub>
                                <m:r>
                                  <a:rPr lang="en-US" altLang="zh-TW"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4</m:t>
                                    </m:r>
                                  </m:sub>
                                </m:sSub>
                                <m:r>
                                  <a:rPr lang="en-US" altLang="zh-TW"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5</m:t>
                                    </m:r>
                                  </m:sub>
                                </m:sSub>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7</m:t>
                                        </m:r>
                                      </m:sub>
                                    </m:sSub>
                                  </m:e>
                                </m:bar>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8</m:t>
                                        </m:r>
                                      </m:sub>
                                    </m:sSub>
                                  </m:e>
                                </m:bar>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2</m:t>
                                        </m:r>
                                      </m:sub>
                                    </m:sSub>
                                  </m:e>
                                </m:bar>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3</m:t>
                                        </m:r>
                                      </m:sub>
                                    </m:sSub>
                                  </m:e>
                                </m:bar>
                              </m:e>
                            </m:d>
                            <m:r>
                              <a:rPr lang="en-US" altLang="zh-TW" b="0" i="1" smtClean="0">
                                <a:latin typeface="Cambria Math" panose="02040503050406030204" pitchFamily="18" charset="0"/>
                              </a:rPr>
                              <m:t>,</m:t>
                            </m:r>
                          </m:e>
                          <m:e>
                            <m:d>
                              <m:dPr>
                                <m:begChr m:val="{"/>
                                <m:endChr m:val="}"/>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2</m:t>
                                    </m:r>
                                  </m:sub>
                                </m:sSub>
                                <m:r>
                                  <a:rPr lang="en-US" altLang="zh-TW" i="1">
                                    <a:latin typeface="Cambria Math" panose="02040503050406030204" pitchFamily="18" charset="0"/>
                                  </a:rPr>
                                  <m:t>,</m:t>
                                </m:r>
                                <m:bar>
                                  <m:barPr>
                                    <m:pos m:val="top"/>
                                    <m:ctrlPr>
                                      <a:rPr lang="en-US" altLang="zh-TW" i="1">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3</m:t>
                                        </m:r>
                                      </m:sub>
                                    </m:sSub>
                                  </m:e>
                                </m:bar>
                              </m:e>
                            </m:d>
                            <m:r>
                              <a:rPr lang="en-US" altLang="zh-TW" i="1">
                                <a:latin typeface="Cambria Math" panose="02040503050406030204" pitchFamily="18" charset="0"/>
                              </a:rPr>
                              <m:t>,</m:t>
                            </m:r>
                          </m:e>
                          <m:e>
                            <m:d>
                              <m:dPr>
                                <m:begChr m:val="{"/>
                                <m:endChr m:val="}"/>
                                <m:ctrlPr>
                                  <a:rPr lang="en-US" altLang="zh-TW" i="1">
                                    <a:latin typeface="Cambria Math" panose="02040503050406030204" pitchFamily="18" charset="0"/>
                                  </a:rPr>
                                </m:ctrlPr>
                              </m:dPr>
                              <m:e>
                                <m:bar>
                                  <m:barPr>
                                    <m:pos m:val="top"/>
                                    <m:ctrlPr>
                                      <a:rPr lang="en-US" altLang="zh-TW" i="1">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2</m:t>
                                        </m:r>
                                      </m:sub>
                                    </m:sSub>
                                  </m:e>
                                </m:bar>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3</m:t>
                                    </m:r>
                                  </m:sub>
                                </m:sSub>
                              </m:e>
                            </m:d>
                          </m:e>
                        </m:eqArr>
                      </m:e>
                    </m:d>
                    <m:m>
                      <m:mPr>
                        <m:mcs>
                          <m:mc>
                            <m:mcPr>
                              <m:count m:val="1"/>
                              <m:mcJc m:val="center"/>
                            </m:mcPr>
                          </m:mc>
                        </m:mcs>
                        <m:ctrlPr>
                          <a:rPr lang="en-US" altLang="zh-TW" i="1" smtClean="0">
                            <a:latin typeface="Cambria Math" panose="02040503050406030204" pitchFamily="18" charset="0"/>
                          </a:rPr>
                        </m:ctrlPr>
                      </m:mPr>
                      <m:mr>
                        <m:e>
                          <m:f>
                            <m:fPr>
                              <m:type m:val="lin"/>
                              <m:ctrlPr>
                                <a:rPr lang="en-US" altLang="zh-TW" i="1" smtClean="0">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8</m:t>
                              </m:r>
                            </m:den>
                          </m:f>
                        </m:e>
                      </m:mr>
                      <m:mr>
                        <m:e>
                          <m:f>
                            <m:fPr>
                              <m:type m:val="lin"/>
                              <m:ctrlPr>
                                <a:rPr lang="en-US" altLang="zh-TW" i="1">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16</m:t>
                              </m:r>
                            </m:den>
                          </m:f>
                        </m:e>
                      </m:mr>
                      <m:mr>
                        <m:e>
                          <m:eqArr>
                            <m:eqArrPr>
                              <m:ctrlPr>
                                <a:rPr lang="en-US" altLang="zh-TW" i="1" smtClean="0">
                                  <a:latin typeface="Cambria Math" panose="02040503050406030204" pitchFamily="18" charset="0"/>
                                </a:rPr>
                              </m:ctrlPr>
                            </m:eqArrPr>
                            <m:e>
                              <m:f>
                                <m:fPr>
                                  <m:type m:val="lin"/>
                                  <m:ctrlPr>
                                    <a:rPr lang="en-US" altLang="zh-TW" i="1">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4</m:t>
                                  </m:r>
                                </m:den>
                              </m:f>
                            </m:e>
                            <m:e>
                              <m:f>
                                <m:fPr>
                                  <m:type m:val="lin"/>
                                  <m:ctrlPr>
                                    <a:rPr lang="en-US" altLang="zh-TW" i="1">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4</m:t>
                                  </m:r>
                                </m:den>
                              </m:f>
                            </m:e>
                            <m:e>
                              <m:f>
                                <m:fPr>
                                  <m:type m:val="lin"/>
                                  <m:ctrlPr>
                                    <a:rPr lang="en-US" altLang="zh-TW" i="1">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32</m:t>
                                  </m:r>
                                </m:den>
                              </m:f>
                            </m:e>
                            <m:e>
                              <m:f>
                                <m:fPr>
                                  <m:type m:val="lin"/>
                                  <m:ctrlPr>
                                    <a:rPr lang="en-US" altLang="zh-TW" i="1" smtClean="0">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4</m:t>
                                  </m:r>
                                </m:den>
                              </m:f>
                            </m:e>
                            <m:e>
                              <m:f>
                                <m:fPr>
                                  <m:type m:val="lin"/>
                                  <m:ctrlPr>
                                    <a:rPr lang="en-US" altLang="zh-TW" i="1">
                                      <a:latin typeface="Cambria Math" panose="02040503050406030204" pitchFamily="18" charset="0"/>
                                    </a:rPr>
                                  </m:ctrlPr>
                                </m:fPr>
                                <m:num>
                                  <m:r>
                                    <a:rPr lang="en-US" altLang="zh-TW" i="1">
                                      <a:latin typeface="Cambria Math" panose="02040503050406030204" pitchFamily="18" charset="0"/>
                                    </a:rPr>
                                    <m:t>1</m:t>
                                  </m:r>
                                </m:num>
                                <m:den>
                                  <m:r>
                                    <a:rPr lang="en-US" altLang="zh-TW" i="1">
                                      <a:latin typeface="Cambria Math" panose="02040503050406030204" pitchFamily="18" charset="0"/>
                                    </a:rPr>
                                    <m:t>4</m:t>
                                  </m:r>
                                </m:den>
                              </m:f>
                            </m:e>
                            <m:e>
                              <m:f>
                                <m:fPr>
                                  <m:type m:val="lin"/>
                                  <m:ctrlPr>
                                    <a:rPr lang="en-US" altLang="zh-TW" i="1">
                                      <a:latin typeface="Cambria Math" panose="02040503050406030204" pitchFamily="18" charset="0"/>
                                    </a:rPr>
                                  </m:ctrlPr>
                                </m:fPr>
                                <m:num>
                                  <m:r>
                                    <a:rPr lang="en-US" altLang="zh-TW" i="1">
                                      <a:latin typeface="Cambria Math" panose="02040503050406030204" pitchFamily="18" charset="0"/>
                                    </a:rPr>
                                    <m:t>1</m:t>
                                  </m:r>
                                </m:num>
                                <m:den>
                                  <m:r>
                                    <a:rPr lang="en-US" altLang="zh-TW" i="1">
                                      <a:latin typeface="Cambria Math" panose="02040503050406030204" pitchFamily="18" charset="0"/>
                                    </a:rPr>
                                    <m:t>4</m:t>
                                  </m:r>
                                </m:den>
                              </m:f>
                            </m:e>
                          </m:eqArr>
                        </m:e>
                      </m:mr>
                    </m:m>
                  </m:oMath>
                </a14:m>
                <a:r>
                  <a:rPr lang="zh-TW" altLang="en-US" dirty="0"/>
                  <a:t> </a:t>
                </a:r>
              </a:p>
            </p:txBody>
          </p:sp>
        </mc:Choice>
        <mc:Fallback>
          <p:sp>
            <p:nvSpPr>
              <p:cNvPr id="4" name="內容版面配置區 2"/>
              <p:cNvSpPr txBox="1">
                <a:spLocks noRot="1" noChangeAspect="1" noMove="1" noResize="1" noEditPoints="1" noAdjustHandles="1" noChangeArrowheads="1" noChangeShapeType="1" noTextEdit="1"/>
              </p:cNvSpPr>
              <p:nvPr/>
            </p:nvSpPr>
            <p:spPr>
              <a:xfrm>
                <a:off x="3960000" y="3240000"/>
                <a:ext cx="5062789" cy="3592951"/>
              </a:xfrm>
              <a:prstGeom prst="rect">
                <a:avLst/>
              </a:prstGeom>
              <a:blipFill>
                <a:blip r:embed="rId3"/>
                <a:stretch>
                  <a:fillRect t="-491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4" name="內容版面配置區 2"/>
              <p:cNvSpPr txBox="1">
                <a:spLocks/>
              </p:cNvSpPr>
              <p:nvPr/>
            </p:nvSpPr>
            <p:spPr>
              <a:xfrm>
                <a:off x="3960000" y="3240000"/>
                <a:ext cx="5062789" cy="359295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r>
                      <a:rPr lang="en-US" altLang="zh-TW" i="1" smtClean="0">
                        <a:latin typeface="Cambria Math" panose="02040503050406030204" pitchFamily="18" charset="0"/>
                      </a:rPr>
                      <m:t>𝑆</m:t>
                    </m:r>
                    <m:r>
                      <a:rPr lang="en-US" altLang="zh-TW" i="1" smtClean="0">
                        <a:latin typeface="Cambria Math" panose="02040503050406030204" pitchFamily="18" charset="0"/>
                      </a:rPr>
                      <m:t>=</m:t>
                    </m:r>
                    <m:d>
                      <m:dPr>
                        <m:begChr m:val="{"/>
                        <m:endChr m:val="}"/>
                        <m:ctrlPr>
                          <a:rPr lang="en-US" altLang="zh-TW" i="1" smtClean="0">
                            <a:latin typeface="Cambria Math" panose="02040503050406030204" pitchFamily="18" charset="0"/>
                          </a:rPr>
                        </m:ctrlPr>
                      </m:dPr>
                      <m:e>
                        <m:eqArr>
                          <m:eqArrPr>
                            <m:ctrlPr>
                              <a:rPr lang="en-US" altLang="zh-TW" i="1" smtClean="0">
                                <a:latin typeface="Cambria Math" panose="02040503050406030204" pitchFamily="18" charset="0"/>
                              </a:rPr>
                            </m:ctrlPr>
                          </m:eqArrPr>
                          <m:e>
                            <m:d>
                              <m:dPr>
                                <m:begChr m:val="{"/>
                                <m:endChr m:val="}"/>
                                <m:ctrlPr>
                                  <a:rPr lang="en-US" altLang="zh-TW"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1</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2</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3</m:t>
                                    </m:r>
                                  </m:sub>
                                </m:sSub>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1</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3</m:t>
                                    </m:r>
                                  </m:sub>
                                </m:sSub>
                                <m:sSub>
                                  <m:sSubPr>
                                    <m:ctrlPr>
                                      <a:rPr lang="en-US" altLang="zh-TW" i="1">
                                        <a:latin typeface="Cambria Math" panose="02040503050406030204" pitchFamily="18" charset="0"/>
                                      </a:rPr>
                                    </m:ctrlPr>
                                  </m:sSubPr>
                                  <m:e>
                                    <m:r>
                                      <a:rPr lang="en-US" altLang="zh-TW" i="1" smtClean="0">
                                        <a:latin typeface="Cambria Math" panose="02040503050406030204" pitchFamily="18" charset="0"/>
                                      </a:rPr>
                                      <m:t>,</m:t>
                                    </m:r>
                                    <m:r>
                                      <a:rPr lang="en-US" altLang="zh-TW" i="1">
                                        <a:latin typeface="Cambria Math" panose="02040503050406030204" pitchFamily="18" charset="0"/>
                                      </a:rPr>
                                      <m:t>𝑥</m:t>
                                    </m:r>
                                  </m:e>
                                  <m:sub>
                                    <m:r>
                                      <a:rPr lang="en-US" altLang="zh-TW" i="1" smtClean="0">
                                        <a:latin typeface="Cambria Math" panose="02040503050406030204" pitchFamily="18" charset="0"/>
                                      </a:rPr>
                                      <m:t>4</m:t>
                                    </m:r>
                                  </m:sub>
                                </m:sSub>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5</m:t>
                                        </m:r>
                                      </m:sub>
                                    </m:sSub>
                                  </m:e>
                                </m:bar>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bar>
                                  <m:barPr>
                                    <m:pos m:val="top"/>
                                    <m:ctrlPr>
                                      <a:rPr lang="en-US" altLang="zh-TW" i="1">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1</m:t>
                                        </m:r>
                                      </m:sub>
                                    </m:sSub>
                                  </m:e>
                                </m:bar>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5</m:t>
                                    </m:r>
                                  </m:sub>
                                </m:sSub>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2</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3</m:t>
                                    </m:r>
                                  </m:sub>
                                </m:sSub>
                                <m:r>
                                  <a:rPr lang="en-US" altLang="zh-TW" i="1" smtClean="0">
                                    <a:latin typeface="Cambria Math" panose="02040503050406030204" pitchFamily="18" charset="0"/>
                                  </a:rPr>
                                  <m:t> </m:t>
                                </m:r>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2</m:t>
                                    </m:r>
                                  </m:sub>
                                </m:sSub>
                                <m:r>
                                  <a:rPr lang="en-US" altLang="zh-TW"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4</m:t>
                                    </m:r>
                                  </m:sub>
                                </m:sSub>
                                <m:r>
                                  <a:rPr lang="en-US" altLang="zh-TW"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5</m:t>
                                    </m:r>
                                  </m:sub>
                                </m:sSub>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7</m:t>
                                        </m:r>
                                      </m:sub>
                                    </m:sSub>
                                  </m:e>
                                </m:bar>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8</m:t>
                                        </m:r>
                                      </m:sub>
                                    </m:sSub>
                                  </m:e>
                                </m:bar>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2</m:t>
                                        </m:r>
                                      </m:sub>
                                    </m:sSub>
                                  </m:e>
                                </m:bar>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3</m:t>
                                        </m:r>
                                      </m:sub>
                                    </m:sSub>
                                  </m:e>
                                </m:bar>
                              </m:e>
                            </m:d>
                            <m:r>
                              <a:rPr lang="en-US" altLang="zh-TW" b="0" i="1" smtClean="0">
                                <a:latin typeface="Cambria Math" panose="02040503050406030204" pitchFamily="18" charset="0"/>
                              </a:rPr>
                              <m:t>,</m:t>
                            </m:r>
                          </m:e>
                          <m:e>
                            <m:d>
                              <m:dPr>
                                <m:begChr m:val="{"/>
                                <m:endChr m:val="}"/>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2</m:t>
                                    </m:r>
                                  </m:sub>
                                </m:sSub>
                                <m:r>
                                  <a:rPr lang="en-US" altLang="zh-TW" i="1">
                                    <a:latin typeface="Cambria Math" panose="02040503050406030204" pitchFamily="18" charset="0"/>
                                  </a:rPr>
                                  <m:t>,</m:t>
                                </m:r>
                                <m:bar>
                                  <m:barPr>
                                    <m:pos m:val="top"/>
                                    <m:ctrlPr>
                                      <a:rPr lang="en-US" altLang="zh-TW" i="1">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3</m:t>
                                        </m:r>
                                      </m:sub>
                                    </m:sSub>
                                  </m:e>
                                </m:bar>
                              </m:e>
                            </m:d>
                            <m:r>
                              <a:rPr lang="en-US" altLang="zh-TW" i="1">
                                <a:latin typeface="Cambria Math" panose="02040503050406030204" pitchFamily="18" charset="0"/>
                              </a:rPr>
                              <m:t>,</m:t>
                            </m:r>
                          </m:e>
                          <m:e>
                            <m:d>
                              <m:dPr>
                                <m:begChr m:val="{"/>
                                <m:endChr m:val="}"/>
                                <m:ctrlPr>
                                  <a:rPr lang="en-US" altLang="zh-TW" i="1">
                                    <a:latin typeface="Cambria Math" panose="02040503050406030204" pitchFamily="18" charset="0"/>
                                  </a:rPr>
                                </m:ctrlPr>
                              </m:dPr>
                              <m:e>
                                <m:bar>
                                  <m:barPr>
                                    <m:pos m:val="top"/>
                                    <m:ctrlPr>
                                      <a:rPr lang="en-US" altLang="zh-TW" i="1">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2</m:t>
                                        </m:r>
                                      </m:sub>
                                    </m:sSub>
                                  </m:e>
                                </m:bar>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3</m:t>
                                    </m:r>
                                  </m:sub>
                                </m:sSub>
                              </m:e>
                            </m:d>
                          </m:e>
                        </m:eqArr>
                      </m:e>
                    </m:d>
                    <m:m>
                      <m:mPr>
                        <m:mcs>
                          <m:mc>
                            <m:mcPr>
                              <m:count m:val="1"/>
                              <m:mcJc m:val="center"/>
                            </m:mcPr>
                          </m:mc>
                        </m:mcs>
                        <m:ctrlPr>
                          <a:rPr lang="en-US" altLang="zh-TW" i="1" smtClean="0">
                            <a:latin typeface="Cambria Math" panose="02040503050406030204" pitchFamily="18" charset="0"/>
                          </a:rPr>
                        </m:ctrlPr>
                      </m:mPr>
                      <m:mr>
                        <m:e>
                          <m:f>
                            <m:fPr>
                              <m:type m:val="lin"/>
                              <m:ctrlPr>
                                <a:rPr lang="en-US" altLang="zh-TW" i="1" smtClean="0">
                                  <a:solidFill>
                                    <a:srgbClr val="FF0000"/>
                                  </a:solidFill>
                                  <a:latin typeface="Cambria Math" panose="02040503050406030204" pitchFamily="18" charset="0"/>
                                </a:rPr>
                              </m:ctrlPr>
                            </m:fPr>
                            <m:num>
                              <m:r>
                                <a:rPr lang="en-US" altLang="zh-TW" b="0" i="1" smtClean="0">
                                  <a:solidFill>
                                    <a:srgbClr val="FF0000"/>
                                  </a:solidFill>
                                  <a:latin typeface="Cambria Math" panose="02040503050406030204" pitchFamily="18" charset="0"/>
                                </a:rPr>
                                <m:t>1</m:t>
                              </m:r>
                            </m:num>
                            <m:den>
                              <m:r>
                                <a:rPr lang="en-US" altLang="zh-TW" b="0" i="1" smtClean="0">
                                  <a:solidFill>
                                    <a:srgbClr val="FF0000"/>
                                  </a:solidFill>
                                  <a:latin typeface="Cambria Math" panose="02040503050406030204" pitchFamily="18" charset="0"/>
                                </a:rPr>
                                <m:t>8</m:t>
                              </m:r>
                            </m:den>
                          </m:f>
                        </m:e>
                      </m:mr>
                      <m:mr>
                        <m:e>
                          <m:f>
                            <m:fPr>
                              <m:type m:val="lin"/>
                              <m:ctrlPr>
                                <a:rPr lang="en-US" altLang="zh-TW" i="1" smtClean="0">
                                  <a:solidFill>
                                    <a:srgbClr val="FF0000"/>
                                  </a:solidFill>
                                  <a:latin typeface="Cambria Math" panose="02040503050406030204" pitchFamily="18" charset="0"/>
                                </a:rPr>
                              </m:ctrlPr>
                            </m:fPr>
                            <m:num>
                              <m:r>
                                <a:rPr lang="en-US" altLang="zh-TW" b="0" i="1" smtClean="0">
                                  <a:solidFill>
                                    <a:srgbClr val="FF0000"/>
                                  </a:solidFill>
                                  <a:latin typeface="Cambria Math" panose="02040503050406030204" pitchFamily="18" charset="0"/>
                                </a:rPr>
                                <m:t>1</m:t>
                              </m:r>
                            </m:num>
                            <m:den>
                              <m:r>
                                <a:rPr lang="en-US" altLang="zh-TW" b="0" i="1" smtClean="0">
                                  <a:solidFill>
                                    <a:srgbClr val="FF0000"/>
                                  </a:solidFill>
                                  <a:latin typeface="Cambria Math" panose="02040503050406030204" pitchFamily="18" charset="0"/>
                                </a:rPr>
                                <m:t>16</m:t>
                              </m:r>
                            </m:den>
                          </m:f>
                        </m:e>
                      </m:mr>
                      <m:mr>
                        <m:e>
                          <m:eqArr>
                            <m:eqArrPr>
                              <m:ctrlPr>
                                <a:rPr lang="en-US" altLang="zh-TW" i="1" smtClean="0">
                                  <a:latin typeface="Cambria Math" panose="02040503050406030204" pitchFamily="18" charset="0"/>
                                </a:rPr>
                              </m:ctrlPr>
                            </m:eqArrPr>
                            <m:e>
                              <m:f>
                                <m:fPr>
                                  <m:type m:val="lin"/>
                                  <m:ctrlPr>
                                    <a:rPr lang="en-US" altLang="zh-TW" i="1" smtClean="0">
                                      <a:solidFill>
                                        <a:srgbClr val="0000FF"/>
                                      </a:solidFill>
                                      <a:latin typeface="Cambria Math" panose="02040503050406030204" pitchFamily="18" charset="0"/>
                                    </a:rPr>
                                  </m:ctrlPr>
                                </m:fPr>
                                <m:num>
                                  <m:r>
                                    <a:rPr lang="en-US" altLang="zh-TW" b="0" i="1" smtClean="0">
                                      <a:solidFill>
                                        <a:srgbClr val="0000FF"/>
                                      </a:solidFill>
                                      <a:latin typeface="Cambria Math" panose="02040503050406030204" pitchFamily="18" charset="0"/>
                                    </a:rPr>
                                    <m:t>1</m:t>
                                  </m:r>
                                </m:num>
                                <m:den>
                                  <m:r>
                                    <a:rPr lang="en-US" altLang="zh-TW" b="0" i="1" smtClean="0">
                                      <a:solidFill>
                                        <a:srgbClr val="0000FF"/>
                                      </a:solidFill>
                                      <a:latin typeface="Cambria Math" panose="02040503050406030204" pitchFamily="18" charset="0"/>
                                    </a:rPr>
                                    <m:t>4</m:t>
                                  </m:r>
                                </m:den>
                              </m:f>
                            </m:e>
                            <m:e>
                              <m:f>
                                <m:fPr>
                                  <m:type m:val="lin"/>
                                  <m:ctrlPr>
                                    <a:rPr lang="en-US" altLang="zh-TW" i="1">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4</m:t>
                                  </m:r>
                                </m:den>
                              </m:f>
                            </m:e>
                            <m:e>
                              <m:f>
                                <m:fPr>
                                  <m:type m:val="lin"/>
                                  <m:ctrlPr>
                                    <a:rPr lang="en-US" altLang="zh-TW" i="1">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32</m:t>
                                  </m:r>
                                </m:den>
                              </m:f>
                            </m:e>
                            <m:e>
                              <m:f>
                                <m:fPr>
                                  <m:type m:val="lin"/>
                                  <m:ctrlPr>
                                    <a:rPr lang="en-US" altLang="zh-TW" i="1" smtClean="0">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4</m:t>
                                  </m:r>
                                </m:den>
                              </m:f>
                            </m:e>
                            <m:e>
                              <m:f>
                                <m:fPr>
                                  <m:type m:val="lin"/>
                                  <m:ctrlPr>
                                    <a:rPr lang="en-US" altLang="zh-TW" i="1">
                                      <a:latin typeface="Cambria Math" panose="02040503050406030204" pitchFamily="18" charset="0"/>
                                    </a:rPr>
                                  </m:ctrlPr>
                                </m:fPr>
                                <m:num>
                                  <m:r>
                                    <a:rPr lang="en-US" altLang="zh-TW" i="1">
                                      <a:latin typeface="Cambria Math" panose="02040503050406030204" pitchFamily="18" charset="0"/>
                                    </a:rPr>
                                    <m:t>1</m:t>
                                  </m:r>
                                </m:num>
                                <m:den>
                                  <m:r>
                                    <a:rPr lang="en-US" altLang="zh-TW" i="1">
                                      <a:latin typeface="Cambria Math" panose="02040503050406030204" pitchFamily="18" charset="0"/>
                                    </a:rPr>
                                    <m:t>4</m:t>
                                  </m:r>
                                </m:den>
                              </m:f>
                            </m:e>
                            <m:e>
                              <m:f>
                                <m:fPr>
                                  <m:type m:val="lin"/>
                                  <m:ctrlPr>
                                    <a:rPr lang="en-US" altLang="zh-TW" i="1">
                                      <a:latin typeface="Cambria Math" panose="02040503050406030204" pitchFamily="18" charset="0"/>
                                    </a:rPr>
                                  </m:ctrlPr>
                                </m:fPr>
                                <m:num>
                                  <m:r>
                                    <a:rPr lang="en-US" altLang="zh-TW" i="1">
                                      <a:latin typeface="Cambria Math" panose="02040503050406030204" pitchFamily="18" charset="0"/>
                                    </a:rPr>
                                    <m:t>1</m:t>
                                  </m:r>
                                </m:num>
                                <m:den>
                                  <m:r>
                                    <a:rPr lang="en-US" altLang="zh-TW" i="1">
                                      <a:latin typeface="Cambria Math" panose="02040503050406030204" pitchFamily="18" charset="0"/>
                                    </a:rPr>
                                    <m:t>4</m:t>
                                  </m:r>
                                </m:den>
                              </m:f>
                            </m:e>
                          </m:eqArr>
                        </m:e>
                      </m:mr>
                    </m:m>
                  </m:oMath>
                </a14:m>
                <a:r>
                  <a:rPr lang="zh-TW" altLang="en-US" dirty="0"/>
                  <a:t> </a:t>
                </a:r>
              </a:p>
            </p:txBody>
          </p:sp>
        </mc:Choice>
        <mc:Fallback>
          <p:sp>
            <p:nvSpPr>
              <p:cNvPr id="14" name="內容版面配置區 2"/>
              <p:cNvSpPr txBox="1">
                <a:spLocks noRot="1" noChangeAspect="1" noMove="1" noResize="1" noEditPoints="1" noAdjustHandles="1" noChangeArrowheads="1" noChangeShapeType="1" noTextEdit="1"/>
              </p:cNvSpPr>
              <p:nvPr/>
            </p:nvSpPr>
            <p:spPr>
              <a:xfrm>
                <a:off x="3960000" y="3240000"/>
                <a:ext cx="5062789" cy="3592951"/>
              </a:xfrm>
              <a:prstGeom prst="rect">
                <a:avLst/>
              </a:prstGeom>
              <a:blipFill>
                <a:blip r:embed="rId4"/>
                <a:stretch>
                  <a:fillRect t="-491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5" name="內容版面配置區 2"/>
              <p:cNvSpPr txBox="1">
                <a:spLocks/>
              </p:cNvSpPr>
              <p:nvPr/>
            </p:nvSpPr>
            <p:spPr>
              <a:xfrm>
                <a:off x="3960000" y="3240000"/>
                <a:ext cx="5062789" cy="359295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r>
                      <a:rPr lang="en-US" altLang="zh-TW" i="1" smtClean="0">
                        <a:latin typeface="Cambria Math" panose="02040503050406030204" pitchFamily="18" charset="0"/>
                      </a:rPr>
                      <m:t>𝑆</m:t>
                    </m:r>
                    <m:r>
                      <a:rPr lang="en-US" altLang="zh-TW" i="1" smtClean="0">
                        <a:latin typeface="Cambria Math" panose="02040503050406030204" pitchFamily="18" charset="0"/>
                      </a:rPr>
                      <m:t>=</m:t>
                    </m:r>
                    <m:d>
                      <m:dPr>
                        <m:begChr m:val="{"/>
                        <m:endChr m:val="}"/>
                        <m:ctrlPr>
                          <a:rPr lang="en-US" altLang="zh-TW" i="1" smtClean="0">
                            <a:latin typeface="Cambria Math" panose="02040503050406030204" pitchFamily="18" charset="0"/>
                          </a:rPr>
                        </m:ctrlPr>
                      </m:dPr>
                      <m:e>
                        <m:eqArr>
                          <m:eqArrPr>
                            <m:ctrlPr>
                              <a:rPr lang="en-US" altLang="zh-TW" i="1" smtClean="0">
                                <a:latin typeface="Cambria Math" panose="02040503050406030204" pitchFamily="18" charset="0"/>
                              </a:rPr>
                            </m:ctrlPr>
                          </m:eqArrPr>
                          <m:e>
                            <m:d>
                              <m:dPr>
                                <m:begChr m:val="{"/>
                                <m:endChr m:val="}"/>
                                <m:ctrlPr>
                                  <a:rPr lang="en-US" altLang="zh-TW"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1</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2</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3</m:t>
                                    </m:r>
                                  </m:sub>
                                </m:sSub>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1</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3</m:t>
                                    </m:r>
                                  </m:sub>
                                </m:sSub>
                                <m:sSub>
                                  <m:sSubPr>
                                    <m:ctrlPr>
                                      <a:rPr lang="en-US" altLang="zh-TW" i="1">
                                        <a:latin typeface="Cambria Math" panose="02040503050406030204" pitchFamily="18" charset="0"/>
                                      </a:rPr>
                                    </m:ctrlPr>
                                  </m:sSubPr>
                                  <m:e>
                                    <m:r>
                                      <a:rPr lang="en-US" altLang="zh-TW" i="1" smtClean="0">
                                        <a:latin typeface="Cambria Math" panose="02040503050406030204" pitchFamily="18" charset="0"/>
                                      </a:rPr>
                                      <m:t>,</m:t>
                                    </m:r>
                                    <m:r>
                                      <a:rPr lang="en-US" altLang="zh-TW" i="1">
                                        <a:latin typeface="Cambria Math" panose="02040503050406030204" pitchFamily="18" charset="0"/>
                                      </a:rPr>
                                      <m:t>𝑥</m:t>
                                    </m:r>
                                  </m:e>
                                  <m:sub>
                                    <m:r>
                                      <a:rPr lang="en-US" altLang="zh-TW" i="1" smtClean="0">
                                        <a:latin typeface="Cambria Math" panose="02040503050406030204" pitchFamily="18" charset="0"/>
                                      </a:rPr>
                                      <m:t>4</m:t>
                                    </m:r>
                                  </m:sub>
                                </m:sSub>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5</m:t>
                                        </m:r>
                                      </m:sub>
                                    </m:sSub>
                                  </m:e>
                                </m:bar>
                              </m:e>
                            </m:d>
                            <m:r>
                              <a:rPr lang="en-US" altLang="zh-TW" i="1" smtClean="0">
                                <a:latin typeface="Cambria Math" panose="02040503050406030204" pitchFamily="18" charset="0"/>
                              </a:rPr>
                              <m:t>,</m:t>
                            </m:r>
                          </m:e>
                          <m:e>
                            <m:d>
                              <m:dPr>
                                <m:begChr m:val="{"/>
                                <m:endChr m:val="}"/>
                                <m:ctrlPr>
                                  <a:rPr lang="en-US" altLang="zh-TW" i="1" strike="sngStrike" smtClean="0">
                                    <a:latin typeface="Cambria Math" panose="02040503050406030204" pitchFamily="18" charset="0"/>
                                  </a:rPr>
                                </m:ctrlPr>
                              </m:dPr>
                              <m:e>
                                <m:bar>
                                  <m:barPr>
                                    <m:pos m:val="top"/>
                                    <m:ctrlPr>
                                      <a:rPr lang="en-US" altLang="zh-TW" i="1" strike="sngStrike">
                                        <a:latin typeface="Cambria Math" panose="02040503050406030204" pitchFamily="18" charset="0"/>
                                      </a:rPr>
                                    </m:ctrlPr>
                                  </m:bar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a:latin typeface="Cambria Math" panose="02040503050406030204" pitchFamily="18" charset="0"/>
                                          </a:rPr>
                                          <m:t>1</m:t>
                                        </m:r>
                                      </m:sub>
                                    </m:sSub>
                                  </m:e>
                                </m:bar>
                                <m:r>
                                  <a:rPr lang="en-US" altLang="zh-TW" i="1" strike="sngStrike" smtClean="0">
                                    <a:latin typeface="Cambria Math" panose="02040503050406030204" pitchFamily="18" charset="0"/>
                                  </a:rPr>
                                  <m:t>,</m:t>
                                </m:r>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5</m:t>
                                    </m:r>
                                  </m:sub>
                                </m:sSub>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2</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3</m:t>
                                    </m:r>
                                  </m:sub>
                                </m:sSub>
                                <m:r>
                                  <a:rPr lang="en-US" altLang="zh-TW" i="1" smtClean="0">
                                    <a:latin typeface="Cambria Math" panose="02040503050406030204" pitchFamily="18" charset="0"/>
                                  </a:rPr>
                                  <m:t> </m:t>
                                </m:r>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2</m:t>
                                    </m:r>
                                  </m:sub>
                                </m:sSub>
                                <m:r>
                                  <a:rPr lang="en-US" altLang="zh-TW"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4</m:t>
                                    </m:r>
                                  </m:sub>
                                </m:sSub>
                                <m:r>
                                  <a:rPr lang="en-US" altLang="zh-TW"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5</m:t>
                                    </m:r>
                                  </m:sub>
                                </m:sSub>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7</m:t>
                                        </m:r>
                                      </m:sub>
                                    </m:sSub>
                                  </m:e>
                                </m:bar>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8</m:t>
                                        </m:r>
                                      </m:sub>
                                    </m:sSub>
                                  </m:e>
                                </m:bar>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2</m:t>
                                        </m:r>
                                      </m:sub>
                                    </m:sSub>
                                  </m:e>
                                </m:bar>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3</m:t>
                                        </m:r>
                                      </m:sub>
                                    </m:sSub>
                                  </m:e>
                                </m:bar>
                              </m:e>
                            </m:d>
                            <m:r>
                              <a:rPr lang="en-US" altLang="zh-TW" b="0" i="1" smtClean="0">
                                <a:latin typeface="Cambria Math" panose="02040503050406030204" pitchFamily="18" charset="0"/>
                              </a:rPr>
                              <m:t>,</m:t>
                            </m:r>
                          </m:e>
                          <m:e>
                            <m:d>
                              <m:dPr>
                                <m:begChr m:val="{"/>
                                <m:endChr m:val="}"/>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2</m:t>
                                    </m:r>
                                  </m:sub>
                                </m:sSub>
                                <m:r>
                                  <a:rPr lang="en-US" altLang="zh-TW" i="1">
                                    <a:latin typeface="Cambria Math" panose="02040503050406030204" pitchFamily="18" charset="0"/>
                                  </a:rPr>
                                  <m:t>,</m:t>
                                </m:r>
                                <m:bar>
                                  <m:barPr>
                                    <m:pos m:val="top"/>
                                    <m:ctrlPr>
                                      <a:rPr lang="en-US" altLang="zh-TW" i="1">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3</m:t>
                                        </m:r>
                                      </m:sub>
                                    </m:sSub>
                                  </m:e>
                                </m:bar>
                              </m:e>
                            </m:d>
                            <m:r>
                              <a:rPr lang="en-US" altLang="zh-TW" i="1">
                                <a:latin typeface="Cambria Math" panose="02040503050406030204" pitchFamily="18" charset="0"/>
                              </a:rPr>
                              <m:t>,</m:t>
                            </m:r>
                          </m:e>
                          <m:e>
                            <m:d>
                              <m:dPr>
                                <m:begChr m:val="{"/>
                                <m:endChr m:val="}"/>
                                <m:ctrlPr>
                                  <a:rPr lang="en-US" altLang="zh-TW" i="1">
                                    <a:latin typeface="Cambria Math" panose="02040503050406030204" pitchFamily="18" charset="0"/>
                                  </a:rPr>
                                </m:ctrlPr>
                              </m:dPr>
                              <m:e>
                                <m:bar>
                                  <m:barPr>
                                    <m:pos m:val="top"/>
                                    <m:ctrlPr>
                                      <a:rPr lang="en-US" altLang="zh-TW" i="1">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2</m:t>
                                        </m:r>
                                      </m:sub>
                                    </m:sSub>
                                  </m:e>
                                </m:bar>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3</m:t>
                                    </m:r>
                                  </m:sub>
                                </m:sSub>
                              </m:e>
                            </m:d>
                          </m:e>
                        </m:eqArr>
                      </m:e>
                    </m:d>
                    <m:m>
                      <m:mPr>
                        <m:mcs>
                          <m:mc>
                            <m:mcPr>
                              <m:count m:val="1"/>
                              <m:mcJc m:val="center"/>
                            </m:mcPr>
                          </m:mc>
                        </m:mcs>
                        <m:ctrlPr>
                          <a:rPr lang="en-US" altLang="zh-TW" i="1" smtClean="0">
                            <a:solidFill>
                              <a:schemeClr val="tx1"/>
                            </a:solidFill>
                            <a:latin typeface="Cambria Math" panose="02040503050406030204" pitchFamily="18" charset="0"/>
                          </a:rPr>
                        </m:ctrlPr>
                      </m:mPr>
                      <m:mr>
                        <m:e>
                          <m:f>
                            <m:fPr>
                              <m:type m:val="lin"/>
                              <m:ctrlPr>
                                <a:rPr lang="en-US" altLang="zh-TW" i="1" smtClean="0">
                                  <a:solidFill>
                                    <a:srgbClr val="FF0000"/>
                                  </a:solidFill>
                                  <a:latin typeface="Cambria Math" panose="02040503050406030204" pitchFamily="18" charset="0"/>
                                </a:rPr>
                              </m:ctrlPr>
                            </m:fPr>
                            <m:num>
                              <m:r>
                                <a:rPr lang="en-US" altLang="zh-TW" b="0" i="1" smtClean="0">
                                  <a:solidFill>
                                    <a:srgbClr val="FF0000"/>
                                  </a:solidFill>
                                  <a:latin typeface="Cambria Math" panose="02040503050406030204" pitchFamily="18" charset="0"/>
                                </a:rPr>
                                <m:t>2</m:t>
                              </m:r>
                            </m:num>
                            <m:den>
                              <m:r>
                                <a:rPr lang="en-US" altLang="zh-TW" b="0" i="1" smtClean="0">
                                  <a:solidFill>
                                    <a:srgbClr val="FF0000"/>
                                  </a:solidFill>
                                  <a:latin typeface="Cambria Math" panose="02040503050406030204" pitchFamily="18" charset="0"/>
                                </a:rPr>
                                <m:t>8</m:t>
                              </m:r>
                            </m:den>
                          </m:f>
                        </m:e>
                      </m:mr>
                      <m:mr>
                        <m:e>
                          <m:f>
                            <m:fPr>
                              <m:type m:val="lin"/>
                              <m:ctrlPr>
                                <a:rPr lang="en-US" altLang="zh-TW" i="1" smtClean="0">
                                  <a:solidFill>
                                    <a:srgbClr val="FF0000"/>
                                  </a:solidFill>
                                  <a:latin typeface="Cambria Math" panose="02040503050406030204" pitchFamily="18" charset="0"/>
                                </a:rPr>
                              </m:ctrlPr>
                            </m:fPr>
                            <m:num>
                              <m:r>
                                <a:rPr lang="en-US" altLang="zh-TW" b="0" i="1" smtClean="0">
                                  <a:solidFill>
                                    <a:srgbClr val="FF0000"/>
                                  </a:solidFill>
                                  <a:latin typeface="Cambria Math" panose="02040503050406030204" pitchFamily="18" charset="0"/>
                                </a:rPr>
                                <m:t>2</m:t>
                              </m:r>
                            </m:num>
                            <m:den>
                              <m:r>
                                <a:rPr lang="en-US" altLang="zh-TW" b="0" i="1" smtClean="0">
                                  <a:solidFill>
                                    <a:srgbClr val="FF0000"/>
                                  </a:solidFill>
                                  <a:latin typeface="Cambria Math" panose="02040503050406030204" pitchFamily="18" charset="0"/>
                                </a:rPr>
                                <m:t>16</m:t>
                              </m:r>
                            </m:den>
                          </m:f>
                        </m:e>
                      </m:mr>
                      <m:mr>
                        <m:e>
                          <m:eqArr>
                            <m:eqArrPr>
                              <m:ctrlPr>
                                <a:rPr lang="en-US" altLang="zh-TW" i="1" smtClean="0">
                                  <a:solidFill>
                                    <a:schemeClr val="tx1"/>
                                  </a:solidFill>
                                  <a:latin typeface="Cambria Math" panose="02040503050406030204" pitchFamily="18" charset="0"/>
                                </a:rPr>
                              </m:ctrlPr>
                            </m:eqArrPr>
                            <m:e>
                              <m:f>
                                <m:fPr>
                                  <m:type m:val="lin"/>
                                  <m:ctrlPr>
                                    <a:rPr lang="en-US" altLang="zh-TW" i="1" strike="sngStrike" smtClean="0">
                                      <a:solidFill>
                                        <a:schemeClr val="tx1"/>
                                      </a:solidFill>
                                      <a:latin typeface="Cambria Math" panose="02040503050406030204" pitchFamily="18" charset="0"/>
                                    </a:rPr>
                                  </m:ctrlPr>
                                </m:fPr>
                                <m:num>
                                  <m:r>
                                    <a:rPr lang="en-US" altLang="zh-TW" b="0" i="1" strike="sngStrike" smtClean="0">
                                      <a:solidFill>
                                        <a:schemeClr val="tx1"/>
                                      </a:solidFill>
                                      <a:latin typeface="Cambria Math" panose="02040503050406030204" pitchFamily="18" charset="0"/>
                                    </a:rPr>
                                    <m:t>1</m:t>
                                  </m:r>
                                </m:num>
                                <m:den>
                                  <m:r>
                                    <a:rPr lang="en-US" altLang="zh-TW" b="0" i="1" strike="sngStrike" smtClean="0">
                                      <a:solidFill>
                                        <a:schemeClr val="tx1"/>
                                      </a:solidFill>
                                      <a:latin typeface="Cambria Math" panose="02040503050406030204" pitchFamily="18" charset="0"/>
                                    </a:rPr>
                                    <m:t>4</m:t>
                                  </m:r>
                                </m:den>
                              </m:f>
                            </m:e>
                            <m:e>
                              <m:f>
                                <m:fPr>
                                  <m:type m:val="lin"/>
                                  <m:ctrlPr>
                                    <a:rPr lang="en-US" altLang="zh-TW" i="1">
                                      <a:solidFill>
                                        <a:schemeClr val="tx1"/>
                                      </a:solidFill>
                                      <a:latin typeface="Cambria Math" panose="02040503050406030204" pitchFamily="18" charset="0"/>
                                    </a:rPr>
                                  </m:ctrlPr>
                                </m:fPr>
                                <m:num>
                                  <m:r>
                                    <a:rPr lang="en-US" altLang="zh-TW" b="0" i="1" smtClean="0">
                                      <a:solidFill>
                                        <a:schemeClr val="tx1"/>
                                      </a:solidFill>
                                      <a:latin typeface="Cambria Math" panose="02040503050406030204" pitchFamily="18" charset="0"/>
                                    </a:rPr>
                                    <m:t>1</m:t>
                                  </m:r>
                                </m:num>
                                <m:den>
                                  <m:r>
                                    <a:rPr lang="en-US" altLang="zh-TW" b="0" i="1" smtClean="0">
                                      <a:solidFill>
                                        <a:schemeClr val="tx1"/>
                                      </a:solidFill>
                                      <a:latin typeface="Cambria Math" panose="02040503050406030204" pitchFamily="18" charset="0"/>
                                    </a:rPr>
                                    <m:t>4</m:t>
                                  </m:r>
                                </m:den>
                              </m:f>
                            </m:e>
                            <m:e>
                              <m:f>
                                <m:fPr>
                                  <m:type m:val="lin"/>
                                  <m:ctrlPr>
                                    <a:rPr lang="en-US" altLang="zh-TW" i="1">
                                      <a:solidFill>
                                        <a:schemeClr val="tx1"/>
                                      </a:solidFill>
                                      <a:latin typeface="Cambria Math" panose="02040503050406030204" pitchFamily="18" charset="0"/>
                                    </a:rPr>
                                  </m:ctrlPr>
                                </m:fPr>
                                <m:num>
                                  <m:r>
                                    <a:rPr lang="en-US" altLang="zh-TW" b="0" i="1" smtClean="0">
                                      <a:solidFill>
                                        <a:schemeClr val="tx1"/>
                                      </a:solidFill>
                                      <a:latin typeface="Cambria Math" panose="02040503050406030204" pitchFamily="18" charset="0"/>
                                    </a:rPr>
                                    <m:t>1</m:t>
                                  </m:r>
                                </m:num>
                                <m:den>
                                  <m:r>
                                    <a:rPr lang="en-US" altLang="zh-TW" b="0" i="1" smtClean="0">
                                      <a:solidFill>
                                        <a:schemeClr val="tx1"/>
                                      </a:solidFill>
                                      <a:latin typeface="Cambria Math" panose="02040503050406030204" pitchFamily="18" charset="0"/>
                                    </a:rPr>
                                    <m:t>32</m:t>
                                  </m:r>
                                </m:den>
                              </m:f>
                            </m:e>
                            <m:e>
                              <m:f>
                                <m:fPr>
                                  <m:type m:val="lin"/>
                                  <m:ctrlPr>
                                    <a:rPr lang="en-US" altLang="zh-TW" i="1" smtClean="0">
                                      <a:solidFill>
                                        <a:schemeClr val="tx1"/>
                                      </a:solidFill>
                                      <a:latin typeface="Cambria Math" panose="02040503050406030204" pitchFamily="18" charset="0"/>
                                    </a:rPr>
                                  </m:ctrlPr>
                                </m:fPr>
                                <m:num>
                                  <m:r>
                                    <a:rPr lang="en-US" altLang="zh-TW" b="0" i="1" smtClean="0">
                                      <a:solidFill>
                                        <a:schemeClr val="tx1"/>
                                      </a:solidFill>
                                      <a:latin typeface="Cambria Math" panose="02040503050406030204" pitchFamily="18" charset="0"/>
                                    </a:rPr>
                                    <m:t>1</m:t>
                                  </m:r>
                                </m:num>
                                <m:den>
                                  <m:r>
                                    <a:rPr lang="en-US" altLang="zh-TW" b="0" i="1" smtClean="0">
                                      <a:solidFill>
                                        <a:schemeClr val="tx1"/>
                                      </a:solidFill>
                                      <a:latin typeface="Cambria Math" panose="02040503050406030204" pitchFamily="18" charset="0"/>
                                    </a:rPr>
                                    <m:t>4</m:t>
                                  </m:r>
                                </m:den>
                              </m:f>
                            </m:e>
                            <m:e>
                              <m:f>
                                <m:fPr>
                                  <m:type m:val="lin"/>
                                  <m:ctrlPr>
                                    <a:rPr lang="en-US" altLang="zh-TW" i="1">
                                      <a:solidFill>
                                        <a:schemeClr val="tx1"/>
                                      </a:solidFill>
                                      <a:latin typeface="Cambria Math" panose="02040503050406030204" pitchFamily="18" charset="0"/>
                                    </a:rPr>
                                  </m:ctrlPr>
                                </m:fPr>
                                <m:num>
                                  <m:r>
                                    <a:rPr lang="en-US" altLang="zh-TW" i="1">
                                      <a:solidFill>
                                        <a:schemeClr val="tx1"/>
                                      </a:solidFill>
                                      <a:latin typeface="Cambria Math" panose="02040503050406030204" pitchFamily="18" charset="0"/>
                                    </a:rPr>
                                    <m:t>1</m:t>
                                  </m:r>
                                </m:num>
                                <m:den>
                                  <m:r>
                                    <a:rPr lang="en-US" altLang="zh-TW" i="1">
                                      <a:solidFill>
                                        <a:schemeClr val="tx1"/>
                                      </a:solidFill>
                                      <a:latin typeface="Cambria Math" panose="02040503050406030204" pitchFamily="18" charset="0"/>
                                    </a:rPr>
                                    <m:t>4</m:t>
                                  </m:r>
                                </m:den>
                              </m:f>
                            </m:e>
                            <m:e>
                              <m:f>
                                <m:fPr>
                                  <m:type m:val="lin"/>
                                  <m:ctrlPr>
                                    <a:rPr lang="en-US" altLang="zh-TW" i="1">
                                      <a:solidFill>
                                        <a:schemeClr val="tx1"/>
                                      </a:solidFill>
                                      <a:latin typeface="Cambria Math" panose="02040503050406030204" pitchFamily="18" charset="0"/>
                                    </a:rPr>
                                  </m:ctrlPr>
                                </m:fPr>
                                <m:num>
                                  <m:r>
                                    <a:rPr lang="en-US" altLang="zh-TW" i="1">
                                      <a:solidFill>
                                        <a:schemeClr val="tx1"/>
                                      </a:solidFill>
                                      <a:latin typeface="Cambria Math" panose="02040503050406030204" pitchFamily="18" charset="0"/>
                                    </a:rPr>
                                    <m:t>1</m:t>
                                  </m:r>
                                </m:num>
                                <m:den>
                                  <m:r>
                                    <a:rPr lang="en-US" altLang="zh-TW" i="1">
                                      <a:solidFill>
                                        <a:schemeClr val="tx1"/>
                                      </a:solidFill>
                                      <a:latin typeface="Cambria Math" panose="02040503050406030204" pitchFamily="18" charset="0"/>
                                    </a:rPr>
                                    <m:t>4</m:t>
                                  </m:r>
                                </m:den>
                              </m:f>
                            </m:e>
                          </m:eqArr>
                        </m:e>
                      </m:mr>
                    </m:m>
                  </m:oMath>
                </a14:m>
                <a:r>
                  <a:rPr lang="zh-TW" altLang="en-US" dirty="0"/>
                  <a:t> </a:t>
                </a:r>
              </a:p>
            </p:txBody>
          </p:sp>
        </mc:Choice>
        <mc:Fallback>
          <p:sp>
            <p:nvSpPr>
              <p:cNvPr id="15" name="內容版面配置區 2"/>
              <p:cNvSpPr txBox="1">
                <a:spLocks noRot="1" noChangeAspect="1" noMove="1" noResize="1" noEditPoints="1" noAdjustHandles="1" noChangeArrowheads="1" noChangeShapeType="1" noTextEdit="1"/>
              </p:cNvSpPr>
              <p:nvPr/>
            </p:nvSpPr>
            <p:spPr>
              <a:xfrm>
                <a:off x="3960000" y="3240000"/>
                <a:ext cx="5062789" cy="3592951"/>
              </a:xfrm>
              <a:prstGeom prst="rect">
                <a:avLst/>
              </a:prstGeom>
              <a:blipFill>
                <a:blip r:embed="rId5"/>
                <a:stretch>
                  <a:fillRect t="-491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0" name="內容版面配置區 2"/>
              <p:cNvSpPr txBox="1">
                <a:spLocks/>
              </p:cNvSpPr>
              <p:nvPr/>
            </p:nvSpPr>
            <p:spPr>
              <a:xfrm>
                <a:off x="3960000" y="3240000"/>
                <a:ext cx="5062789" cy="359295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r>
                      <a:rPr lang="en-US" altLang="zh-TW" i="1" smtClean="0">
                        <a:latin typeface="Cambria Math" panose="02040503050406030204" pitchFamily="18" charset="0"/>
                      </a:rPr>
                      <m:t>𝑆</m:t>
                    </m:r>
                    <m:r>
                      <a:rPr lang="en-US" altLang="zh-TW" i="1" smtClean="0">
                        <a:latin typeface="Cambria Math" panose="02040503050406030204" pitchFamily="18" charset="0"/>
                      </a:rPr>
                      <m:t>=</m:t>
                    </m:r>
                    <m:d>
                      <m:dPr>
                        <m:begChr m:val="{"/>
                        <m:endChr m:val="}"/>
                        <m:ctrlPr>
                          <a:rPr lang="en-US" altLang="zh-TW" i="1" smtClean="0">
                            <a:latin typeface="Cambria Math" panose="02040503050406030204" pitchFamily="18" charset="0"/>
                          </a:rPr>
                        </m:ctrlPr>
                      </m:dPr>
                      <m:e>
                        <m:eqArr>
                          <m:eqArrPr>
                            <m:ctrlPr>
                              <a:rPr lang="en-US" altLang="zh-TW" i="1" smtClean="0">
                                <a:latin typeface="Cambria Math" panose="02040503050406030204" pitchFamily="18" charset="0"/>
                              </a:rPr>
                            </m:ctrlPr>
                          </m:eqArrPr>
                          <m:e>
                            <m:d>
                              <m:dPr>
                                <m:begChr m:val="{"/>
                                <m:endChr m:val="}"/>
                                <m:ctrlPr>
                                  <a:rPr lang="en-US" altLang="zh-TW"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1</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2</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3</m:t>
                                    </m:r>
                                  </m:sub>
                                </m:sSub>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1</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3</m:t>
                                    </m:r>
                                  </m:sub>
                                </m:sSub>
                                <m:sSub>
                                  <m:sSubPr>
                                    <m:ctrlPr>
                                      <a:rPr lang="en-US" altLang="zh-TW" i="1">
                                        <a:latin typeface="Cambria Math" panose="02040503050406030204" pitchFamily="18" charset="0"/>
                                      </a:rPr>
                                    </m:ctrlPr>
                                  </m:sSubPr>
                                  <m:e>
                                    <m:r>
                                      <a:rPr lang="en-US" altLang="zh-TW" i="1" smtClean="0">
                                        <a:latin typeface="Cambria Math" panose="02040503050406030204" pitchFamily="18" charset="0"/>
                                      </a:rPr>
                                      <m:t>,</m:t>
                                    </m:r>
                                    <m:r>
                                      <a:rPr lang="en-US" altLang="zh-TW" i="1">
                                        <a:latin typeface="Cambria Math" panose="02040503050406030204" pitchFamily="18" charset="0"/>
                                      </a:rPr>
                                      <m:t>𝑥</m:t>
                                    </m:r>
                                  </m:e>
                                  <m:sub>
                                    <m:r>
                                      <a:rPr lang="en-US" altLang="zh-TW" i="1" smtClean="0">
                                        <a:latin typeface="Cambria Math" panose="02040503050406030204" pitchFamily="18" charset="0"/>
                                      </a:rPr>
                                      <m:t>4</m:t>
                                    </m:r>
                                  </m:sub>
                                </m:sSub>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5</m:t>
                                        </m:r>
                                      </m:sub>
                                    </m:sSub>
                                  </m:e>
                                </m:bar>
                              </m:e>
                            </m:d>
                            <m:r>
                              <a:rPr lang="en-US" altLang="zh-TW" i="1" smtClean="0">
                                <a:latin typeface="Cambria Math" panose="02040503050406030204" pitchFamily="18" charset="0"/>
                              </a:rPr>
                              <m:t>,</m:t>
                            </m:r>
                          </m:e>
                          <m:e>
                            <m:d>
                              <m:dPr>
                                <m:begChr m:val="{"/>
                                <m:endChr m:val="}"/>
                                <m:ctrlPr>
                                  <a:rPr lang="en-US" altLang="zh-TW" i="1" strike="sngStrike" smtClean="0">
                                    <a:latin typeface="Cambria Math" panose="02040503050406030204" pitchFamily="18" charset="0"/>
                                  </a:rPr>
                                </m:ctrlPr>
                              </m:dPr>
                              <m:e>
                                <m:bar>
                                  <m:barPr>
                                    <m:pos m:val="top"/>
                                    <m:ctrlPr>
                                      <a:rPr lang="en-US" altLang="zh-TW" i="1" strike="sngStrike">
                                        <a:latin typeface="Cambria Math" panose="02040503050406030204" pitchFamily="18" charset="0"/>
                                      </a:rPr>
                                    </m:ctrlPr>
                                  </m:bar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a:latin typeface="Cambria Math" panose="02040503050406030204" pitchFamily="18" charset="0"/>
                                          </a:rPr>
                                          <m:t>1</m:t>
                                        </m:r>
                                      </m:sub>
                                    </m:sSub>
                                  </m:e>
                                </m:bar>
                                <m:r>
                                  <a:rPr lang="en-US" altLang="zh-TW" i="1" strike="sngStrike" smtClean="0">
                                    <a:latin typeface="Cambria Math" panose="02040503050406030204" pitchFamily="18" charset="0"/>
                                  </a:rPr>
                                  <m:t>,</m:t>
                                </m:r>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5</m:t>
                                    </m:r>
                                  </m:sub>
                                </m:sSub>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2</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3</m:t>
                                    </m:r>
                                  </m:sub>
                                </m:sSub>
                                <m:r>
                                  <a:rPr lang="en-US" altLang="zh-TW" i="1" smtClean="0">
                                    <a:latin typeface="Cambria Math" panose="02040503050406030204" pitchFamily="18" charset="0"/>
                                  </a:rPr>
                                  <m:t> </m:t>
                                </m:r>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2</m:t>
                                    </m:r>
                                  </m:sub>
                                </m:sSub>
                                <m:r>
                                  <a:rPr lang="en-US" altLang="zh-TW"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4</m:t>
                                    </m:r>
                                  </m:sub>
                                </m:sSub>
                                <m:r>
                                  <a:rPr lang="en-US" altLang="zh-TW"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5</m:t>
                                    </m:r>
                                  </m:sub>
                                </m:sSub>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7</m:t>
                                        </m:r>
                                      </m:sub>
                                    </m:sSub>
                                  </m:e>
                                </m:bar>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8</m:t>
                                        </m:r>
                                      </m:sub>
                                    </m:sSub>
                                  </m:e>
                                </m:bar>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2</m:t>
                                        </m:r>
                                      </m:sub>
                                    </m:sSub>
                                  </m:e>
                                </m:bar>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3</m:t>
                                        </m:r>
                                      </m:sub>
                                    </m:sSub>
                                  </m:e>
                                </m:bar>
                              </m:e>
                            </m:d>
                            <m:r>
                              <a:rPr lang="en-US" altLang="zh-TW" b="0" i="1" smtClean="0">
                                <a:latin typeface="Cambria Math" panose="02040503050406030204" pitchFamily="18" charset="0"/>
                              </a:rPr>
                              <m:t>,</m:t>
                            </m:r>
                          </m:e>
                          <m:e>
                            <m:d>
                              <m:dPr>
                                <m:begChr m:val="{"/>
                                <m:endChr m:val="}"/>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2</m:t>
                                    </m:r>
                                  </m:sub>
                                </m:sSub>
                                <m:r>
                                  <a:rPr lang="en-US" altLang="zh-TW" i="1">
                                    <a:latin typeface="Cambria Math" panose="02040503050406030204" pitchFamily="18" charset="0"/>
                                  </a:rPr>
                                  <m:t>,</m:t>
                                </m:r>
                                <m:bar>
                                  <m:barPr>
                                    <m:pos m:val="top"/>
                                    <m:ctrlPr>
                                      <a:rPr lang="en-US" altLang="zh-TW" i="1">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3</m:t>
                                        </m:r>
                                      </m:sub>
                                    </m:sSub>
                                  </m:e>
                                </m:bar>
                              </m:e>
                            </m:d>
                            <m:r>
                              <a:rPr lang="en-US" altLang="zh-TW" i="1">
                                <a:latin typeface="Cambria Math" panose="02040503050406030204" pitchFamily="18" charset="0"/>
                              </a:rPr>
                              <m:t>,</m:t>
                            </m:r>
                          </m:e>
                          <m:e>
                            <m:d>
                              <m:dPr>
                                <m:begChr m:val="{"/>
                                <m:endChr m:val="}"/>
                                <m:ctrlPr>
                                  <a:rPr lang="en-US" altLang="zh-TW" i="1">
                                    <a:latin typeface="Cambria Math" panose="02040503050406030204" pitchFamily="18" charset="0"/>
                                  </a:rPr>
                                </m:ctrlPr>
                              </m:dPr>
                              <m:e>
                                <m:bar>
                                  <m:barPr>
                                    <m:pos m:val="top"/>
                                    <m:ctrlPr>
                                      <a:rPr lang="en-US" altLang="zh-TW" i="1">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2</m:t>
                                        </m:r>
                                      </m:sub>
                                    </m:sSub>
                                  </m:e>
                                </m:bar>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3</m:t>
                                    </m:r>
                                  </m:sub>
                                </m:sSub>
                              </m:e>
                            </m:d>
                          </m:e>
                        </m:eqArr>
                      </m:e>
                    </m:d>
                    <m:m>
                      <m:mPr>
                        <m:mcs>
                          <m:mc>
                            <m:mcPr>
                              <m:count m:val="1"/>
                              <m:mcJc m:val="center"/>
                            </m:mcPr>
                          </m:mc>
                        </m:mcs>
                        <m:ctrlPr>
                          <a:rPr lang="en-US" altLang="zh-TW" i="1" smtClean="0">
                            <a:solidFill>
                              <a:schemeClr val="tx1"/>
                            </a:solidFill>
                            <a:latin typeface="Cambria Math" panose="02040503050406030204" pitchFamily="18" charset="0"/>
                          </a:rPr>
                        </m:ctrlPr>
                      </m:mPr>
                      <m:mr>
                        <m:e>
                          <m:f>
                            <m:fPr>
                              <m:type m:val="lin"/>
                              <m:ctrlPr>
                                <a:rPr lang="en-US" altLang="zh-TW" i="1" smtClean="0">
                                  <a:solidFill>
                                    <a:srgbClr val="FF0000"/>
                                  </a:solidFill>
                                  <a:latin typeface="Cambria Math" panose="02040503050406030204" pitchFamily="18" charset="0"/>
                                </a:rPr>
                              </m:ctrlPr>
                            </m:fPr>
                            <m:num>
                              <m:r>
                                <a:rPr lang="en-US" altLang="zh-TW" b="0" i="1" smtClean="0">
                                  <a:solidFill>
                                    <a:srgbClr val="FF0000"/>
                                  </a:solidFill>
                                  <a:latin typeface="Cambria Math" panose="02040503050406030204" pitchFamily="18" charset="0"/>
                                </a:rPr>
                                <m:t>2</m:t>
                              </m:r>
                            </m:num>
                            <m:den>
                              <m:r>
                                <a:rPr lang="en-US" altLang="zh-TW" b="0" i="1" smtClean="0">
                                  <a:solidFill>
                                    <a:srgbClr val="FF0000"/>
                                  </a:solidFill>
                                  <a:latin typeface="Cambria Math" panose="02040503050406030204" pitchFamily="18" charset="0"/>
                                </a:rPr>
                                <m:t>8</m:t>
                              </m:r>
                            </m:den>
                          </m:f>
                        </m:e>
                      </m:mr>
                      <m:mr>
                        <m:e>
                          <m:f>
                            <m:fPr>
                              <m:type m:val="lin"/>
                              <m:ctrlPr>
                                <a:rPr lang="en-US" altLang="zh-TW" i="1" smtClean="0">
                                  <a:solidFill>
                                    <a:schemeClr val="tx1"/>
                                  </a:solidFill>
                                  <a:latin typeface="Cambria Math" panose="02040503050406030204" pitchFamily="18" charset="0"/>
                                </a:rPr>
                              </m:ctrlPr>
                            </m:fPr>
                            <m:num>
                              <m:r>
                                <a:rPr lang="en-US" altLang="zh-TW" b="0" i="1" smtClean="0">
                                  <a:solidFill>
                                    <a:schemeClr val="tx1"/>
                                  </a:solidFill>
                                  <a:latin typeface="Cambria Math" panose="02040503050406030204" pitchFamily="18" charset="0"/>
                                </a:rPr>
                                <m:t>2</m:t>
                              </m:r>
                            </m:num>
                            <m:den>
                              <m:r>
                                <a:rPr lang="en-US" altLang="zh-TW" b="0" i="1" smtClean="0">
                                  <a:solidFill>
                                    <a:schemeClr val="tx1"/>
                                  </a:solidFill>
                                  <a:latin typeface="Cambria Math" panose="02040503050406030204" pitchFamily="18" charset="0"/>
                                </a:rPr>
                                <m:t>16</m:t>
                              </m:r>
                            </m:den>
                          </m:f>
                        </m:e>
                      </m:mr>
                      <m:mr>
                        <m:e>
                          <m:eqArr>
                            <m:eqArrPr>
                              <m:ctrlPr>
                                <a:rPr lang="en-US" altLang="zh-TW" i="1" smtClean="0">
                                  <a:solidFill>
                                    <a:schemeClr val="tx1"/>
                                  </a:solidFill>
                                  <a:latin typeface="Cambria Math" panose="02040503050406030204" pitchFamily="18" charset="0"/>
                                </a:rPr>
                              </m:ctrlPr>
                            </m:eqArrPr>
                            <m:e>
                              <m:f>
                                <m:fPr>
                                  <m:type m:val="lin"/>
                                  <m:ctrlPr>
                                    <a:rPr lang="en-US" altLang="zh-TW" i="1" strike="sngStrike" smtClean="0">
                                      <a:solidFill>
                                        <a:schemeClr val="tx1"/>
                                      </a:solidFill>
                                      <a:latin typeface="Cambria Math" panose="02040503050406030204" pitchFamily="18" charset="0"/>
                                    </a:rPr>
                                  </m:ctrlPr>
                                </m:fPr>
                                <m:num>
                                  <m:r>
                                    <a:rPr lang="en-US" altLang="zh-TW" b="0" i="1" strike="sngStrike" smtClean="0">
                                      <a:solidFill>
                                        <a:schemeClr val="tx1"/>
                                      </a:solidFill>
                                      <a:latin typeface="Cambria Math" panose="02040503050406030204" pitchFamily="18" charset="0"/>
                                    </a:rPr>
                                    <m:t>1</m:t>
                                  </m:r>
                                </m:num>
                                <m:den>
                                  <m:r>
                                    <a:rPr lang="en-US" altLang="zh-TW" b="0" i="1" strike="sngStrike" smtClean="0">
                                      <a:solidFill>
                                        <a:schemeClr val="tx1"/>
                                      </a:solidFill>
                                      <a:latin typeface="Cambria Math" panose="02040503050406030204" pitchFamily="18" charset="0"/>
                                    </a:rPr>
                                    <m:t>4</m:t>
                                  </m:r>
                                </m:den>
                              </m:f>
                            </m:e>
                            <m:e>
                              <m:f>
                                <m:fPr>
                                  <m:type m:val="lin"/>
                                  <m:ctrlPr>
                                    <a:rPr lang="en-US" altLang="zh-TW" i="1" smtClean="0">
                                      <a:solidFill>
                                        <a:srgbClr val="FF0000"/>
                                      </a:solidFill>
                                      <a:latin typeface="Cambria Math" panose="02040503050406030204" pitchFamily="18" charset="0"/>
                                    </a:rPr>
                                  </m:ctrlPr>
                                </m:fPr>
                                <m:num>
                                  <m:r>
                                    <a:rPr lang="en-US" altLang="zh-TW" b="0" i="1" smtClean="0">
                                      <a:solidFill>
                                        <a:srgbClr val="FF0000"/>
                                      </a:solidFill>
                                      <a:latin typeface="Cambria Math" panose="02040503050406030204" pitchFamily="18" charset="0"/>
                                    </a:rPr>
                                    <m:t>1</m:t>
                                  </m:r>
                                </m:num>
                                <m:den>
                                  <m:r>
                                    <a:rPr lang="en-US" altLang="zh-TW" b="0" i="1" smtClean="0">
                                      <a:solidFill>
                                        <a:srgbClr val="FF0000"/>
                                      </a:solidFill>
                                      <a:latin typeface="Cambria Math" panose="02040503050406030204" pitchFamily="18" charset="0"/>
                                    </a:rPr>
                                    <m:t>4</m:t>
                                  </m:r>
                                </m:den>
                              </m:f>
                            </m:e>
                            <m:e>
                              <m:f>
                                <m:fPr>
                                  <m:type m:val="lin"/>
                                  <m:ctrlPr>
                                    <a:rPr lang="en-US" altLang="zh-TW" i="1" smtClean="0">
                                      <a:solidFill>
                                        <a:srgbClr val="FF0000"/>
                                      </a:solidFill>
                                      <a:latin typeface="Cambria Math" panose="02040503050406030204" pitchFamily="18" charset="0"/>
                                    </a:rPr>
                                  </m:ctrlPr>
                                </m:fPr>
                                <m:num>
                                  <m:r>
                                    <a:rPr lang="en-US" altLang="zh-TW" b="0" i="1" smtClean="0">
                                      <a:solidFill>
                                        <a:srgbClr val="FF0000"/>
                                      </a:solidFill>
                                      <a:latin typeface="Cambria Math" panose="02040503050406030204" pitchFamily="18" charset="0"/>
                                    </a:rPr>
                                    <m:t>1</m:t>
                                  </m:r>
                                </m:num>
                                <m:den>
                                  <m:r>
                                    <a:rPr lang="en-US" altLang="zh-TW" b="0" i="1" smtClean="0">
                                      <a:solidFill>
                                        <a:srgbClr val="FF0000"/>
                                      </a:solidFill>
                                      <a:latin typeface="Cambria Math" panose="02040503050406030204" pitchFamily="18" charset="0"/>
                                    </a:rPr>
                                    <m:t>32</m:t>
                                  </m:r>
                                </m:den>
                              </m:f>
                            </m:e>
                            <m:e>
                              <m:f>
                                <m:fPr>
                                  <m:type m:val="lin"/>
                                  <m:ctrlPr>
                                    <a:rPr lang="en-US" altLang="zh-TW" i="1" smtClean="0">
                                      <a:solidFill>
                                        <a:srgbClr val="0000FF"/>
                                      </a:solidFill>
                                      <a:latin typeface="Cambria Math" panose="02040503050406030204" pitchFamily="18" charset="0"/>
                                    </a:rPr>
                                  </m:ctrlPr>
                                </m:fPr>
                                <m:num>
                                  <m:r>
                                    <a:rPr lang="en-US" altLang="zh-TW" b="0" i="1" smtClean="0">
                                      <a:solidFill>
                                        <a:srgbClr val="0000FF"/>
                                      </a:solidFill>
                                      <a:latin typeface="Cambria Math" panose="02040503050406030204" pitchFamily="18" charset="0"/>
                                    </a:rPr>
                                    <m:t>1</m:t>
                                  </m:r>
                                </m:num>
                                <m:den>
                                  <m:r>
                                    <a:rPr lang="en-US" altLang="zh-TW" b="0" i="1" smtClean="0">
                                      <a:solidFill>
                                        <a:srgbClr val="0000FF"/>
                                      </a:solidFill>
                                      <a:latin typeface="Cambria Math" panose="02040503050406030204" pitchFamily="18" charset="0"/>
                                    </a:rPr>
                                    <m:t>4</m:t>
                                  </m:r>
                                </m:den>
                              </m:f>
                            </m:e>
                            <m:e>
                              <m:f>
                                <m:fPr>
                                  <m:type m:val="lin"/>
                                  <m:ctrlPr>
                                    <a:rPr lang="en-US" altLang="zh-TW" i="1" smtClean="0">
                                      <a:solidFill>
                                        <a:srgbClr val="FF0000"/>
                                      </a:solidFill>
                                      <a:latin typeface="Cambria Math" panose="02040503050406030204" pitchFamily="18" charset="0"/>
                                    </a:rPr>
                                  </m:ctrlPr>
                                </m:fPr>
                                <m:num>
                                  <m:r>
                                    <a:rPr lang="en-US" altLang="zh-TW" i="1">
                                      <a:solidFill>
                                        <a:srgbClr val="FF0000"/>
                                      </a:solidFill>
                                      <a:latin typeface="Cambria Math" panose="02040503050406030204" pitchFamily="18" charset="0"/>
                                    </a:rPr>
                                    <m:t>1</m:t>
                                  </m:r>
                                </m:num>
                                <m:den>
                                  <m:r>
                                    <a:rPr lang="en-US" altLang="zh-TW" i="1">
                                      <a:solidFill>
                                        <a:srgbClr val="FF0000"/>
                                      </a:solidFill>
                                      <a:latin typeface="Cambria Math" panose="02040503050406030204" pitchFamily="18" charset="0"/>
                                    </a:rPr>
                                    <m:t>4</m:t>
                                  </m:r>
                                </m:den>
                              </m:f>
                            </m:e>
                            <m:e>
                              <m:f>
                                <m:fPr>
                                  <m:type m:val="lin"/>
                                  <m:ctrlPr>
                                    <a:rPr lang="en-US" altLang="zh-TW" i="1" smtClean="0">
                                      <a:solidFill>
                                        <a:srgbClr val="0000FF"/>
                                      </a:solidFill>
                                      <a:latin typeface="Cambria Math" panose="02040503050406030204" pitchFamily="18" charset="0"/>
                                    </a:rPr>
                                  </m:ctrlPr>
                                </m:fPr>
                                <m:num>
                                  <m:r>
                                    <a:rPr lang="en-US" altLang="zh-TW" i="1">
                                      <a:solidFill>
                                        <a:srgbClr val="0000FF"/>
                                      </a:solidFill>
                                      <a:latin typeface="Cambria Math" panose="02040503050406030204" pitchFamily="18" charset="0"/>
                                    </a:rPr>
                                    <m:t>1</m:t>
                                  </m:r>
                                </m:num>
                                <m:den>
                                  <m:r>
                                    <a:rPr lang="en-US" altLang="zh-TW" i="1">
                                      <a:solidFill>
                                        <a:srgbClr val="0000FF"/>
                                      </a:solidFill>
                                      <a:latin typeface="Cambria Math" panose="02040503050406030204" pitchFamily="18" charset="0"/>
                                    </a:rPr>
                                    <m:t>4</m:t>
                                  </m:r>
                                </m:den>
                              </m:f>
                            </m:e>
                          </m:eqArr>
                        </m:e>
                      </m:mr>
                    </m:m>
                  </m:oMath>
                </a14:m>
                <a:r>
                  <a:rPr lang="zh-TW" altLang="en-US" dirty="0">
                    <a:solidFill>
                      <a:schemeClr val="tx1"/>
                    </a:solidFill>
                  </a:rPr>
                  <a:t> </a:t>
                </a:r>
                <a:endParaRPr lang="zh-TW" altLang="en-US" dirty="0"/>
              </a:p>
            </p:txBody>
          </p:sp>
        </mc:Choice>
        <mc:Fallback>
          <p:sp>
            <p:nvSpPr>
              <p:cNvPr id="20" name="內容版面配置區 2"/>
              <p:cNvSpPr txBox="1">
                <a:spLocks noRot="1" noChangeAspect="1" noMove="1" noResize="1" noEditPoints="1" noAdjustHandles="1" noChangeArrowheads="1" noChangeShapeType="1" noTextEdit="1"/>
              </p:cNvSpPr>
              <p:nvPr/>
            </p:nvSpPr>
            <p:spPr>
              <a:xfrm>
                <a:off x="3960000" y="3240000"/>
                <a:ext cx="5062789" cy="3592951"/>
              </a:xfrm>
              <a:prstGeom prst="rect">
                <a:avLst/>
              </a:prstGeom>
              <a:blipFill>
                <a:blip r:embed="rId6"/>
                <a:stretch>
                  <a:fillRect t="-491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1" name="內容版面配置區 2"/>
              <p:cNvSpPr txBox="1">
                <a:spLocks/>
              </p:cNvSpPr>
              <p:nvPr/>
            </p:nvSpPr>
            <p:spPr>
              <a:xfrm>
                <a:off x="3960000" y="3239999"/>
                <a:ext cx="5062789" cy="359295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r>
                      <a:rPr lang="en-US" altLang="zh-TW" i="1" smtClean="0">
                        <a:latin typeface="Cambria Math" panose="02040503050406030204" pitchFamily="18" charset="0"/>
                      </a:rPr>
                      <m:t>𝑆</m:t>
                    </m:r>
                    <m:r>
                      <a:rPr lang="en-US" altLang="zh-TW" i="1" smtClean="0">
                        <a:latin typeface="Cambria Math" panose="02040503050406030204" pitchFamily="18" charset="0"/>
                      </a:rPr>
                      <m:t>=</m:t>
                    </m:r>
                    <m:d>
                      <m:dPr>
                        <m:begChr m:val="{"/>
                        <m:endChr m:val="}"/>
                        <m:ctrlPr>
                          <a:rPr lang="en-US" altLang="zh-TW" i="1" smtClean="0">
                            <a:latin typeface="Cambria Math" panose="02040503050406030204" pitchFamily="18" charset="0"/>
                          </a:rPr>
                        </m:ctrlPr>
                      </m:dPr>
                      <m:e>
                        <m:eqArr>
                          <m:eqArrPr>
                            <m:ctrlPr>
                              <a:rPr lang="en-US" altLang="zh-TW" i="1" smtClean="0">
                                <a:latin typeface="Cambria Math" panose="02040503050406030204" pitchFamily="18" charset="0"/>
                              </a:rPr>
                            </m:ctrlPr>
                          </m:eqArrPr>
                          <m:e>
                            <m:d>
                              <m:dPr>
                                <m:begChr m:val="{"/>
                                <m:endChr m:val="}"/>
                                <m:ctrlPr>
                                  <a:rPr lang="en-US" altLang="zh-TW" i="1" strike="sngStrike" smtClean="0">
                                    <a:latin typeface="Cambria Math" panose="02040503050406030204" pitchFamily="18" charset="0"/>
                                  </a:rPr>
                                </m:ctrlPr>
                              </m:d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1</m:t>
                                    </m:r>
                                  </m:sub>
                                </m:sSub>
                                <m:r>
                                  <a:rPr lang="en-US" altLang="zh-TW" i="1" strike="sngStrike" smtClean="0">
                                    <a:latin typeface="Cambria Math" panose="02040503050406030204" pitchFamily="18" charset="0"/>
                                  </a:rPr>
                                  <m:t>,</m:t>
                                </m:r>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2</m:t>
                                    </m:r>
                                  </m:sub>
                                </m:sSub>
                                <m:r>
                                  <a:rPr lang="en-US" altLang="zh-TW" i="1" strike="sngStrike" smtClean="0">
                                    <a:latin typeface="Cambria Math" panose="02040503050406030204" pitchFamily="18" charset="0"/>
                                  </a:rPr>
                                  <m:t>,</m:t>
                                </m:r>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3</m:t>
                                    </m:r>
                                  </m:sub>
                                </m:sSub>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1</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3</m:t>
                                    </m:r>
                                  </m:sub>
                                </m:sSub>
                                <m:sSub>
                                  <m:sSubPr>
                                    <m:ctrlPr>
                                      <a:rPr lang="en-US" altLang="zh-TW" i="1">
                                        <a:latin typeface="Cambria Math" panose="02040503050406030204" pitchFamily="18" charset="0"/>
                                      </a:rPr>
                                    </m:ctrlPr>
                                  </m:sSubPr>
                                  <m:e>
                                    <m:r>
                                      <a:rPr lang="en-US" altLang="zh-TW" i="1" smtClean="0">
                                        <a:latin typeface="Cambria Math" panose="02040503050406030204" pitchFamily="18" charset="0"/>
                                      </a:rPr>
                                      <m:t>,</m:t>
                                    </m:r>
                                    <m:r>
                                      <a:rPr lang="en-US" altLang="zh-TW" i="1">
                                        <a:latin typeface="Cambria Math" panose="02040503050406030204" pitchFamily="18" charset="0"/>
                                      </a:rPr>
                                      <m:t>𝑥</m:t>
                                    </m:r>
                                  </m:e>
                                  <m:sub>
                                    <m:r>
                                      <a:rPr lang="en-US" altLang="zh-TW" i="1" smtClean="0">
                                        <a:latin typeface="Cambria Math" panose="02040503050406030204" pitchFamily="18" charset="0"/>
                                      </a:rPr>
                                      <m:t>4</m:t>
                                    </m:r>
                                  </m:sub>
                                </m:sSub>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5</m:t>
                                        </m:r>
                                      </m:sub>
                                    </m:sSub>
                                  </m:e>
                                </m:bar>
                              </m:e>
                            </m:d>
                            <m:r>
                              <a:rPr lang="en-US" altLang="zh-TW" i="1" smtClean="0">
                                <a:latin typeface="Cambria Math" panose="02040503050406030204" pitchFamily="18" charset="0"/>
                              </a:rPr>
                              <m:t>,</m:t>
                            </m:r>
                          </m:e>
                          <m:e>
                            <m:d>
                              <m:dPr>
                                <m:begChr m:val="{"/>
                                <m:endChr m:val="}"/>
                                <m:ctrlPr>
                                  <a:rPr lang="en-US" altLang="zh-TW" i="1" strike="sngStrike" smtClean="0">
                                    <a:latin typeface="Cambria Math" panose="02040503050406030204" pitchFamily="18" charset="0"/>
                                  </a:rPr>
                                </m:ctrlPr>
                              </m:dPr>
                              <m:e>
                                <m:bar>
                                  <m:barPr>
                                    <m:pos m:val="top"/>
                                    <m:ctrlPr>
                                      <a:rPr lang="en-US" altLang="zh-TW" i="1" strike="sngStrike">
                                        <a:latin typeface="Cambria Math" panose="02040503050406030204" pitchFamily="18" charset="0"/>
                                      </a:rPr>
                                    </m:ctrlPr>
                                  </m:bar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a:latin typeface="Cambria Math" panose="02040503050406030204" pitchFamily="18" charset="0"/>
                                          </a:rPr>
                                          <m:t>1</m:t>
                                        </m:r>
                                      </m:sub>
                                    </m:sSub>
                                  </m:e>
                                </m:bar>
                                <m:r>
                                  <a:rPr lang="en-US" altLang="zh-TW" i="1" strike="sngStrike" smtClean="0">
                                    <a:latin typeface="Cambria Math" panose="02040503050406030204" pitchFamily="18" charset="0"/>
                                  </a:rPr>
                                  <m:t>,</m:t>
                                </m:r>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5</m:t>
                                    </m:r>
                                  </m:sub>
                                </m:sSub>
                              </m:e>
                            </m:d>
                            <m:r>
                              <a:rPr lang="en-US" altLang="zh-TW" i="1" smtClean="0">
                                <a:latin typeface="Cambria Math" panose="02040503050406030204" pitchFamily="18" charset="0"/>
                              </a:rPr>
                              <m:t>,</m:t>
                            </m:r>
                          </m:e>
                          <m:e>
                            <m:d>
                              <m:dPr>
                                <m:begChr m:val="{"/>
                                <m:endChr m:val="}"/>
                                <m:ctrlPr>
                                  <a:rPr lang="en-US" altLang="zh-TW" i="1" strike="sngStrike" smtClean="0">
                                    <a:latin typeface="Cambria Math" panose="02040503050406030204" pitchFamily="18" charset="0"/>
                                  </a:rPr>
                                </m:ctrlPr>
                              </m:d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2</m:t>
                                    </m:r>
                                  </m:sub>
                                </m:sSub>
                                <m:r>
                                  <a:rPr lang="en-US" altLang="zh-TW" i="1" strike="sngStrike" smtClean="0">
                                    <a:latin typeface="Cambria Math" panose="02040503050406030204" pitchFamily="18" charset="0"/>
                                  </a:rPr>
                                  <m:t>,</m:t>
                                </m:r>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3</m:t>
                                    </m:r>
                                  </m:sub>
                                </m:sSub>
                                <m:r>
                                  <a:rPr lang="en-US" altLang="zh-TW" i="1" strike="sngStrike" smtClean="0">
                                    <a:latin typeface="Cambria Math" panose="02040503050406030204" pitchFamily="18" charset="0"/>
                                  </a:rPr>
                                  <m:t> </m:t>
                                </m:r>
                              </m:e>
                            </m:d>
                            <m:r>
                              <a:rPr lang="en-US" altLang="zh-TW" i="1" smtClean="0">
                                <a:latin typeface="Cambria Math" panose="02040503050406030204" pitchFamily="18" charset="0"/>
                              </a:rPr>
                              <m:t>,</m:t>
                            </m:r>
                          </m:e>
                          <m:e>
                            <m:d>
                              <m:dPr>
                                <m:begChr m:val="{"/>
                                <m:endChr m:val="}"/>
                                <m:ctrlPr>
                                  <a:rPr lang="en-US" altLang="zh-TW" i="1" strike="sngStrike" smtClean="0">
                                    <a:latin typeface="Cambria Math" panose="02040503050406030204" pitchFamily="18" charset="0"/>
                                  </a:rPr>
                                </m:ctrlPr>
                              </m:d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2</m:t>
                                    </m:r>
                                  </m:sub>
                                </m:sSub>
                                <m:r>
                                  <a:rPr lang="en-US" altLang="zh-TW" i="1" strike="sngStrike" smtClean="0">
                                    <a:latin typeface="Cambria Math" panose="02040503050406030204" pitchFamily="18" charset="0"/>
                                  </a:rPr>
                                  <m:t>,</m:t>
                                </m:r>
                                <m:sSub>
                                  <m:sSubPr>
                                    <m:ctrlPr>
                                      <a:rPr lang="en-US" altLang="zh-TW" i="1" strike="sngStrike" smtClean="0">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4</m:t>
                                    </m:r>
                                  </m:sub>
                                </m:sSub>
                                <m:r>
                                  <a:rPr lang="en-US" altLang="zh-TW" i="1" strike="sngStrike" smtClean="0">
                                    <a:latin typeface="Cambria Math" panose="02040503050406030204" pitchFamily="18" charset="0"/>
                                  </a:rPr>
                                  <m:t>,</m:t>
                                </m:r>
                                <m:sSub>
                                  <m:sSubPr>
                                    <m:ctrlPr>
                                      <a:rPr lang="en-US" altLang="zh-TW" i="1" strike="sngStrike" smtClean="0">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5</m:t>
                                    </m:r>
                                  </m:sub>
                                </m:sSub>
                                <m:r>
                                  <a:rPr lang="en-US" altLang="zh-TW" i="1" strike="sngStrike" smtClean="0">
                                    <a:latin typeface="Cambria Math" panose="02040503050406030204" pitchFamily="18" charset="0"/>
                                  </a:rPr>
                                  <m:t>,</m:t>
                                </m:r>
                                <m:bar>
                                  <m:barPr>
                                    <m:pos m:val="top"/>
                                    <m:ctrlPr>
                                      <a:rPr lang="en-US" altLang="zh-TW" i="1" strike="sngStrike" smtClean="0">
                                        <a:latin typeface="Cambria Math" panose="02040503050406030204" pitchFamily="18" charset="0"/>
                                      </a:rPr>
                                    </m:ctrlPr>
                                  </m:bar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7</m:t>
                                        </m:r>
                                      </m:sub>
                                    </m:sSub>
                                  </m:e>
                                </m:bar>
                                <m:r>
                                  <a:rPr lang="en-US" altLang="zh-TW" i="1" strike="sngStrike" smtClean="0">
                                    <a:latin typeface="Cambria Math" panose="02040503050406030204" pitchFamily="18" charset="0"/>
                                  </a:rPr>
                                  <m:t>,</m:t>
                                </m:r>
                                <m:bar>
                                  <m:barPr>
                                    <m:pos m:val="top"/>
                                    <m:ctrlPr>
                                      <a:rPr lang="en-US" altLang="zh-TW" i="1" strike="sngStrike" smtClean="0">
                                        <a:latin typeface="Cambria Math" panose="02040503050406030204" pitchFamily="18" charset="0"/>
                                      </a:rPr>
                                    </m:ctrlPr>
                                  </m:bar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8</m:t>
                                        </m:r>
                                      </m:sub>
                                    </m:sSub>
                                  </m:e>
                                </m:bar>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2</m:t>
                                        </m:r>
                                      </m:sub>
                                    </m:sSub>
                                  </m:e>
                                </m:bar>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3</m:t>
                                        </m:r>
                                      </m:sub>
                                    </m:sSub>
                                  </m:e>
                                </m:bar>
                              </m:e>
                            </m:d>
                            <m:r>
                              <a:rPr lang="en-US" altLang="zh-TW" b="0" i="1" smtClean="0">
                                <a:latin typeface="Cambria Math" panose="02040503050406030204" pitchFamily="18" charset="0"/>
                              </a:rPr>
                              <m:t>,</m:t>
                            </m:r>
                          </m:e>
                          <m:e>
                            <m:d>
                              <m:dPr>
                                <m:begChr m:val="{"/>
                                <m:endChr m:val="}"/>
                                <m:ctrlPr>
                                  <a:rPr lang="en-US" altLang="zh-TW" i="1" strike="sngStrike">
                                    <a:latin typeface="Cambria Math" panose="02040503050406030204" pitchFamily="18" charset="0"/>
                                  </a:rPr>
                                </m:ctrlPr>
                              </m:d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a:latin typeface="Cambria Math" panose="02040503050406030204" pitchFamily="18" charset="0"/>
                                      </a:rPr>
                                      <m:t>2</m:t>
                                    </m:r>
                                  </m:sub>
                                </m:sSub>
                                <m:r>
                                  <a:rPr lang="en-US" altLang="zh-TW" i="1" strike="sngStrike">
                                    <a:latin typeface="Cambria Math" panose="02040503050406030204" pitchFamily="18" charset="0"/>
                                  </a:rPr>
                                  <m:t>,</m:t>
                                </m:r>
                                <m:bar>
                                  <m:barPr>
                                    <m:pos m:val="top"/>
                                    <m:ctrlPr>
                                      <a:rPr lang="en-US" altLang="zh-TW" i="1" strike="sngStrike">
                                        <a:latin typeface="Cambria Math" panose="02040503050406030204" pitchFamily="18" charset="0"/>
                                      </a:rPr>
                                    </m:ctrlPr>
                                  </m:bar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a:latin typeface="Cambria Math" panose="02040503050406030204" pitchFamily="18" charset="0"/>
                                          </a:rPr>
                                          <m:t>3</m:t>
                                        </m:r>
                                      </m:sub>
                                    </m:sSub>
                                  </m:e>
                                </m:bar>
                              </m:e>
                            </m:d>
                            <m:r>
                              <a:rPr lang="en-US" altLang="zh-TW" i="1">
                                <a:latin typeface="Cambria Math" panose="02040503050406030204" pitchFamily="18" charset="0"/>
                              </a:rPr>
                              <m:t>,</m:t>
                            </m:r>
                          </m:e>
                          <m:e>
                            <m:d>
                              <m:dPr>
                                <m:begChr m:val="{"/>
                                <m:endChr m:val="}"/>
                                <m:ctrlPr>
                                  <a:rPr lang="en-US" altLang="zh-TW" i="1">
                                    <a:latin typeface="Cambria Math" panose="02040503050406030204" pitchFamily="18" charset="0"/>
                                  </a:rPr>
                                </m:ctrlPr>
                              </m:dPr>
                              <m:e>
                                <m:bar>
                                  <m:barPr>
                                    <m:pos m:val="top"/>
                                    <m:ctrlPr>
                                      <a:rPr lang="en-US" altLang="zh-TW" i="1">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2</m:t>
                                        </m:r>
                                      </m:sub>
                                    </m:sSub>
                                  </m:e>
                                </m:bar>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3</m:t>
                                    </m:r>
                                  </m:sub>
                                </m:sSub>
                              </m:e>
                            </m:d>
                          </m:e>
                        </m:eqArr>
                      </m:e>
                    </m:d>
                    <m:m>
                      <m:mPr>
                        <m:mcs>
                          <m:mc>
                            <m:mcPr>
                              <m:count m:val="1"/>
                              <m:mcJc m:val="center"/>
                            </m:mcPr>
                          </m:mc>
                        </m:mcs>
                        <m:ctrlPr>
                          <a:rPr lang="en-US" altLang="zh-TW" i="1" smtClean="0">
                            <a:solidFill>
                              <a:schemeClr val="tx1"/>
                            </a:solidFill>
                            <a:latin typeface="Cambria Math" panose="02040503050406030204" pitchFamily="18" charset="0"/>
                          </a:rPr>
                        </m:ctrlPr>
                      </m:mPr>
                      <m:mr>
                        <m:e>
                          <m:f>
                            <m:fPr>
                              <m:type m:val="lin"/>
                              <m:ctrlPr>
                                <a:rPr lang="en-US" altLang="zh-TW" i="1" strike="sngStrike" smtClean="0">
                                  <a:solidFill>
                                    <a:schemeClr val="tx1"/>
                                  </a:solidFill>
                                  <a:latin typeface="Cambria Math" panose="02040503050406030204" pitchFamily="18" charset="0"/>
                                </a:rPr>
                              </m:ctrlPr>
                            </m:fPr>
                            <m:num>
                              <m:r>
                                <a:rPr lang="en-US" altLang="zh-TW" b="0" i="1" strike="sngStrike" smtClean="0">
                                  <a:solidFill>
                                    <a:schemeClr val="tx1"/>
                                  </a:solidFill>
                                  <a:latin typeface="Cambria Math" panose="02040503050406030204" pitchFamily="18" charset="0"/>
                                </a:rPr>
                                <m:t>2</m:t>
                              </m:r>
                            </m:num>
                            <m:den>
                              <m:r>
                                <a:rPr lang="en-US" altLang="zh-TW" b="0" i="1" strike="sngStrike" smtClean="0">
                                  <a:solidFill>
                                    <a:schemeClr val="tx1"/>
                                  </a:solidFill>
                                  <a:latin typeface="Cambria Math" panose="02040503050406030204" pitchFamily="18" charset="0"/>
                                </a:rPr>
                                <m:t>8</m:t>
                              </m:r>
                            </m:den>
                          </m:f>
                        </m:e>
                      </m:mr>
                      <m:mr>
                        <m:e>
                          <m:f>
                            <m:fPr>
                              <m:type m:val="lin"/>
                              <m:ctrlPr>
                                <a:rPr lang="en-US" altLang="zh-TW" i="1" smtClean="0">
                                  <a:solidFill>
                                    <a:schemeClr val="tx1"/>
                                  </a:solidFill>
                                  <a:latin typeface="Cambria Math" panose="02040503050406030204" pitchFamily="18" charset="0"/>
                                </a:rPr>
                              </m:ctrlPr>
                            </m:fPr>
                            <m:num>
                              <m:r>
                                <a:rPr lang="en-US" altLang="zh-TW" b="0" i="1" smtClean="0">
                                  <a:solidFill>
                                    <a:schemeClr val="tx1"/>
                                  </a:solidFill>
                                  <a:latin typeface="Cambria Math" panose="02040503050406030204" pitchFamily="18" charset="0"/>
                                </a:rPr>
                                <m:t>2</m:t>
                              </m:r>
                            </m:num>
                            <m:den>
                              <m:r>
                                <a:rPr lang="en-US" altLang="zh-TW" b="0" i="1" smtClean="0">
                                  <a:solidFill>
                                    <a:schemeClr val="tx1"/>
                                  </a:solidFill>
                                  <a:latin typeface="Cambria Math" panose="02040503050406030204" pitchFamily="18" charset="0"/>
                                </a:rPr>
                                <m:t>16</m:t>
                              </m:r>
                            </m:den>
                          </m:f>
                        </m:e>
                      </m:mr>
                      <m:mr>
                        <m:e>
                          <m:eqArr>
                            <m:eqArrPr>
                              <m:ctrlPr>
                                <a:rPr lang="en-US" altLang="zh-TW" i="1" smtClean="0">
                                  <a:solidFill>
                                    <a:schemeClr val="tx1"/>
                                  </a:solidFill>
                                  <a:latin typeface="Cambria Math" panose="02040503050406030204" pitchFamily="18" charset="0"/>
                                </a:rPr>
                              </m:ctrlPr>
                            </m:eqArrPr>
                            <m:e>
                              <m:f>
                                <m:fPr>
                                  <m:type m:val="lin"/>
                                  <m:ctrlPr>
                                    <a:rPr lang="en-US" altLang="zh-TW" i="1" strike="sngStrike" smtClean="0">
                                      <a:solidFill>
                                        <a:schemeClr val="tx1"/>
                                      </a:solidFill>
                                      <a:latin typeface="Cambria Math" panose="02040503050406030204" pitchFamily="18" charset="0"/>
                                    </a:rPr>
                                  </m:ctrlPr>
                                </m:fPr>
                                <m:num>
                                  <m:r>
                                    <a:rPr lang="en-US" altLang="zh-TW" b="0" i="1" strike="sngStrike" smtClean="0">
                                      <a:solidFill>
                                        <a:schemeClr val="tx1"/>
                                      </a:solidFill>
                                      <a:latin typeface="Cambria Math" panose="02040503050406030204" pitchFamily="18" charset="0"/>
                                    </a:rPr>
                                    <m:t>1</m:t>
                                  </m:r>
                                </m:num>
                                <m:den>
                                  <m:r>
                                    <a:rPr lang="en-US" altLang="zh-TW" b="0" i="1" strike="sngStrike" smtClean="0">
                                      <a:solidFill>
                                        <a:schemeClr val="tx1"/>
                                      </a:solidFill>
                                      <a:latin typeface="Cambria Math" panose="02040503050406030204" pitchFamily="18" charset="0"/>
                                    </a:rPr>
                                    <m:t>4</m:t>
                                  </m:r>
                                </m:den>
                              </m:f>
                            </m:e>
                            <m:e>
                              <m:f>
                                <m:fPr>
                                  <m:type m:val="lin"/>
                                  <m:ctrlPr>
                                    <a:rPr lang="en-US" altLang="zh-TW" i="1" strike="sngStrike" smtClean="0">
                                      <a:solidFill>
                                        <a:schemeClr val="tx1"/>
                                      </a:solidFill>
                                      <a:latin typeface="Cambria Math" panose="02040503050406030204" pitchFamily="18" charset="0"/>
                                    </a:rPr>
                                  </m:ctrlPr>
                                </m:fPr>
                                <m:num>
                                  <m:r>
                                    <a:rPr lang="en-US" altLang="zh-TW" b="0" i="1" strike="sngStrike" smtClean="0">
                                      <a:solidFill>
                                        <a:schemeClr val="tx1"/>
                                      </a:solidFill>
                                      <a:latin typeface="Cambria Math" panose="02040503050406030204" pitchFamily="18" charset="0"/>
                                    </a:rPr>
                                    <m:t>1</m:t>
                                  </m:r>
                                </m:num>
                                <m:den>
                                  <m:r>
                                    <a:rPr lang="en-US" altLang="zh-TW" b="0" i="1" strike="sngStrike" smtClean="0">
                                      <a:solidFill>
                                        <a:schemeClr val="tx1"/>
                                      </a:solidFill>
                                      <a:latin typeface="Cambria Math" panose="02040503050406030204" pitchFamily="18" charset="0"/>
                                    </a:rPr>
                                    <m:t>4</m:t>
                                  </m:r>
                                </m:den>
                              </m:f>
                            </m:e>
                            <m:e>
                              <m:f>
                                <m:fPr>
                                  <m:type m:val="lin"/>
                                  <m:ctrlPr>
                                    <a:rPr lang="en-US" altLang="zh-TW" i="1" strike="sngStrike" smtClean="0">
                                      <a:solidFill>
                                        <a:schemeClr val="tx1"/>
                                      </a:solidFill>
                                      <a:latin typeface="Cambria Math" panose="02040503050406030204" pitchFamily="18" charset="0"/>
                                    </a:rPr>
                                  </m:ctrlPr>
                                </m:fPr>
                                <m:num>
                                  <m:r>
                                    <a:rPr lang="en-US" altLang="zh-TW" b="0" i="1" strike="sngStrike" smtClean="0">
                                      <a:solidFill>
                                        <a:schemeClr val="tx1"/>
                                      </a:solidFill>
                                      <a:latin typeface="Cambria Math" panose="02040503050406030204" pitchFamily="18" charset="0"/>
                                    </a:rPr>
                                    <m:t>1</m:t>
                                  </m:r>
                                </m:num>
                                <m:den>
                                  <m:r>
                                    <a:rPr lang="en-US" altLang="zh-TW" b="0" i="1" strike="sngStrike" smtClean="0">
                                      <a:solidFill>
                                        <a:schemeClr val="tx1"/>
                                      </a:solidFill>
                                      <a:latin typeface="Cambria Math" panose="02040503050406030204" pitchFamily="18" charset="0"/>
                                    </a:rPr>
                                    <m:t>32</m:t>
                                  </m:r>
                                </m:den>
                              </m:f>
                            </m:e>
                            <m:e>
                              <m:f>
                                <m:fPr>
                                  <m:type m:val="lin"/>
                                  <m:ctrlPr>
                                    <a:rPr lang="en-US" altLang="zh-TW" i="1" smtClean="0">
                                      <a:solidFill>
                                        <a:schemeClr val="tx1"/>
                                      </a:solidFill>
                                      <a:latin typeface="Cambria Math" panose="02040503050406030204" pitchFamily="18" charset="0"/>
                                    </a:rPr>
                                  </m:ctrlPr>
                                </m:fPr>
                                <m:num>
                                  <m:r>
                                    <a:rPr lang="en-US" altLang="zh-TW" b="0" i="1" smtClean="0">
                                      <a:solidFill>
                                        <a:schemeClr val="tx1"/>
                                      </a:solidFill>
                                      <a:latin typeface="Cambria Math" panose="02040503050406030204" pitchFamily="18" charset="0"/>
                                    </a:rPr>
                                    <m:t>2</m:t>
                                  </m:r>
                                </m:num>
                                <m:den>
                                  <m:r>
                                    <a:rPr lang="en-US" altLang="zh-TW" b="0" i="1" smtClean="0">
                                      <a:solidFill>
                                        <a:schemeClr val="tx1"/>
                                      </a:solidFill>
                                      <a:latin typeface="Cambria Math" panose="02040503050406030204" pitchFamily="18" charset="0"/>
                                    </a:rPr>
                                    <m:t>4</m:t>
                                  </m:r>
                                </m:den>
                              </m:f>
                            </m:e>
                            <m:e>
                              <m:f>
                                <m:fPr>
                                  <m:type m:val="lin"/>
                                  <m:ctrlPr>
                                    <a:rPr lang="en-US" altLang="zh-TW" i="1" strike="sngStrike" smtClean="0">
                                      <a:solidFill>
                                        <a:schemeClr val="tx1"/>
                                      </a:solidFill>
                                      <a:latin typeface="Cambria Math" panose="02040503050406030204" pitchFamily="18" charset="0"/>
                                    </a:rPr>
                                  </m:ctrlPr>
                                </m:fPr>
                                <m:num>
                                  <m:r>
                                    <a:rPr lang="en-US" altLang="zh-TW" i="1" strike="sngStrike">
                                      <a:solidFill>
                                        <a:schemeClr val="tx1"/>
                                      </a:solidFill>
                                      <a:latin typeface="Cambria Math" panose="02040503050406030204" pitchFamily="18" charset="0"/>
                                    </a:rPr>
                                    <m:t>1</m:t>
                                  </m:r>
                                </m:num>
                                <m:den>
                                  <m:r>
                                    <a:rPr lang="en-US" altLang="zh-TW" i="1" strike="sngStrike">
                                      <a:solidFill>
                                        <a:schemeClr val="tx1"/>
                                      </a:solidFill>
                                      <a:latin typeface="Cambria Math" panose="02040503050406030204" pitchFamily="18" charset="0"/>
                                    </a:rPr>
                                    <m:t>4</m:t>
                                  </m:r>
                                </m:den>
                              </m:f>
                            </m:e>
                            <m:e>
                              <m:f>
                                <m:fPr>
                                  <m:type m:val="lin"/>
                                  <m:ctrlPr>
                                    <a:rPr lang="en-US" altLang="zh-TW" i="1" smtClean="0">
                                      <a:solidFill>
                                        <a:schemeClr val="tx1"/>
                                      </a:solidFill>
                                      <a:latin typeface="Cambria Math" panose="02040503050406030204" pitchFamily="18" charset="0"/>
                                    </a:rPr>
                                  </m:ctrlPr>
                                </m:fPr>
                                <m:num>
                                  <m:r>
                                    <a:rPr lang="en-US" altLang="zh-TW" b="0" i="1" smtClean="0">
                                      <a:solidFill>
                                        <a:schemeClr val="tx1"/>
                                      </a:solidFill>
                                      <a:latin typeface="Cambria Math" panose="02040503050406030204" pitchFamily="18" charset="0"/>
                                    </a:rPr>
                                    <m:t>2</m:t>
                                  </m:r>
                                </m:num>
                                <m:den>
                                  <m:r>
                                    <a:rPr lang="en-US" altLang="zh-TW" i="1">
                                      <a:solidFill>
                                        <a:schemeClr val="tx1"/>
                                      </a:solidFill>
                                      <a:latin typeface="Cambria Math" panose="02040503050406030204" pitchFamily="18" charset="0"/>
                                    </a:rPr>
                                    <m:t>4</m:t>
                                  </m:r>
                                </m:den>
                              </m:f>
                            </m:e>
                          </m:eqArr>
                        </m:e>
                      </m:mr>
                    </m:m>
                  </m:oMath>
                </a14:m>
                <a:r>
                  <a:rPr lang="zh-TW" altLang="en-US" dirty="0">
                    <a:solidFill>
                      <a:schemeClr val="tx1"/>
                    </a:solidFill>
                  </a:rPr>
                  <a:t> </a:t>
                </a:r>
                <a:endParaRPr lang="zh-TW" altLang="en-US" dirty="0"/>
              </a:p>
            </p:txBody>
          </p:sp>
        </mc:Choice>
        <mc:Fallback>
          <p:sp>
            <p:nvSpPr>
              <p:cNvPr id="21" name="內容版面配置區 2"/>
              <p:cNvSpPr txBox="1">
                <a:spLocks noRot="1" noChangeAspect="1" noMove="1" noResize="1" noEditPoints="1" noAdjustHandles="1" noChangeArrowheads="1" noChangeShapeType="1" noTextEdit="1"/>
              </p:cNvSpPr>
              <p:nvPr/>
            </p:nvSpPr>
            <p:spPr>
              <a:xfrm>
                <a:off x="3960000" y="3239999"/>
                <a:ext cx="5062789" cy="3592951"/>
              </a:xfrm>
              <a:prstGeom prst="rect">
                <a:avLst/>
              </a:prstGeom>
              <a:blipFill>
                <a:blip r:embed="rId7"/>
                <a:stretch>
                  <a:fillRect t="-491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2" name="內容版面配置區 2"/>
              <p:cNvSpPr txBox="1">
                <a:spLocks/>
              </p:cNvSpPr>
              <p:nvPr/>
            </p:nvSpPr>
            <p:spPr>
              <a:xfrm>
                <a:off x="3960000" y="3240000"/>
                <a:ext cx="5062789" cy="359295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r>
                      <a:rPr lang="en-US" altLang="zh-TW" i="1" smtClean="0">
                        <a:latin typeface="Cambria Math" panose="02040503050406030204" pitchFamily="18" charset="0"/>
                      </a:rPr>
                      <m:t>𝑆</m:t>
                    </m:r>
                    <m:r>
                      <a:rPr lang="en-US" altLang="zh-TW" i="1" smtClean="0">
                        <a:latin typeface="Cambria Math" panose="02040503050406030204" pitchFamily="18" charset="0"/>
                      </a:rPr>
                      <m:t>=</m:t>
                    </m:r>
                    <m:d>
                      <m:dPr>
                        <m:begChr m:val="{"/>
                        <m:endChr m:val="}"/>
                        <m:ctrlPr>
                          <a:rPr lang="en-US" altLang="zh-TW" i="1" smtClean="0">
                            <a:latin typeface="Cambria Math" panose="02040503050406030204" pitchFamily="18" charset="0"/>
                          </a:rPr>
                        </m:ctrlPr>
                      </m:dPr>
                      <m:e>
                        <m:eqArr>
                          <m:eqArrPr>
                            <m:ctrlPr>
                              <a:rPr lang="en-US" altLang="zh-TW" i="1" smtClean="0">
                                <a:latin typeface="Cambria Math" panose="02040503050406030204" pitchFamily="18" charset="0"/>
                              </a:rPr>
                            </m:ctrlPr>
                          </m:eqArrPr>
                          <m:e>
                            <m:d>
                              <m:dPr>
                                <m:begChr m:val="{"/>
                                <m:endChr m:val="}"/>
                                <m:ctrlPr>
                                  <a:rPr lang="en-US" altLang="zh-TW" i="1" strike="sngStrike" smtClean="0">
                                    <a:latin typeface="Cambria Math" panose="02040503050406030204" pitchFamily="18" charset="0"/>
                                  </a:rPr>
                                </m:ctrlPr>
                              </m:d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1</m:t>
                                    </m:r>
                                  </m:sub>
                                </m:sSub>
                                <m:r>
                                  <a:rPr lang="en-US" altLang="zh-TW" i="1" strike="sngStrike" smtClean="0">
                                    <a:latin typeface="Cambria Math" panose="02040503050406030204" pitchFamily="18" charset="0"/>
                                  </a:rPr>
                                  <m:t>,</m:t>
                                </m:r>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2</m:t>
                                    </m:r>
                                  </m:sub>
                                </m:sSub>
                                <m:r>
                                  <a:rPr lang="en-US" altLang="zh-TW" i="1" strike="sngStrike" smtClean="0">
                                    <a:latin typeface="Cambria Math" panose="02040503050406030204" pitchFamily="18" charset="0"/>
                                  </a:rPr>
                                  <m:t>,</m:t>
                                </m:r>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3</m:t>
                                    </m:r>
                                  </m:sub>
                                </m:sSub>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1</m:t>
                                    </m:r>
                                  </m:sub>
                                </m:sSub>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3</m:t>
                                    </m:r>
                                  </m:sub>
                                </m:sSub>
                                <m:sSub>
                                  <m:sSubPr>
                                    <m:ctrlPr>
                                      <a:rPr lang="en-US" altLang="zh-TW" i="1">
                                        <a:latin typeface="Cambria Math" panose="02040503050406030204" pitchFamily="18" charset="0"/>
                                      </a:rPr>
                                    </m:ctrlPr>
                                  </m:sSubPr>
                                  <m:e>
                                    <m:r>
                                      <a:rPr lang="en-US" altLang="zh-TW" i="1" smtClean="0">
                                        <a:latin typeface="Cambria Math" panose="02040503050406030204" pitchFamily="18" charset="0"/>
                                      </a:rPr>
                                      <m:t>,</m:t>
                                    </m:r>
                                    <m:r>
                                      <a:rPr lang="en-US" altLang="zh-TW" i="1">
                                        <a:latin typeface="Cambria Math" panose="02040503050406030204" pitchFamily="18" charset="0"/>
                                      </a:rPr>
                                      <m:t>𝑥</m:t>
                                    </m:r>
                                  </m:e>
                                  <m:sub>
                                    <m:r>
                                      <a:rPr lang="en-US" altLang="zh-TW" i="1" smtClean="0">
                                        <a:latin typeface="Cambria Math" panose="02040503050406030204" pitchFamily="18" charset="0"/>
                                      </a:rPr>
                                      <m:t>4</m:t>
                                    </m:r>
                                  </m:sub>
                                </m:sSub>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smtClean="0">
                                            <a:latin typeface="Cambria Math" panose="02040503050406030204" pitchFamily="18" charset="0"/>
                                          </a:rPr>
                                          <m:t>5</m:t>
                                        </m:r>
                                      </m:sub>
                                    </m:sSub>
                                  </m:e>
                                </m:bar>
                              </m:e>
                            </m:d>
                            <m:r>
                              <a:rPr lang="en-US" altLang="zh-TW" i="1" smtClean="0">
                                <a:latin typeface="Cambria Math" panose="02040503050406030204" pitchFamily="18" charset="0"/>
                              </a:rPr>
                              <m:t>,</m:t>
                            </m:r>
                          </m:e>
                          <m:e>
                            <m:d>
                              <m:dPr>
                                <m:begChr m:val="{"/>
                                <m:endChr m:val="}"/>
                                <m:ctrlPr>
                                  <a:rPr lang="en-US" altLang="zh-TW" i="1" strike="sngStrike" smtClean="0">
                                    <a:latin typeface="Cambria Math" panose="02040503050406030204" pitchFamily="18" charset="0"/>
                                  </a:rPr>
                                </m:ctrlPr>
                              </m:dPr>
                              <m:e>
                                <m:bar>
                                  <m:barPr>
                                    <m:pos m:val="top"/>
                                    <m:ctrlPr>
                                      <a:rPr lang="en-US" altLang="zh-TW" i="1" strike="sngStrike">
                                        <a:latin typeface="Cambria Math" panose="02040503050406030204" pitchFamily="18" charset="0"/>
                                      </a:rPr>
                                    </m:ctrlPr>
                                  </m:bar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a:latin typeface="Cambria Math" panose="02040503050406030204" pitchFamily="18" charset="0"/>
                                          </a:rPr>
                                          <m:t>1</m:t>
                                        </m:r>
                                      </m:sub>
                                    </m:sSub>
                                  </m:e>
                                </m:bar>
                                <m:r>
                                  <a:rPr lang="en-US" altLang="zh-TW" i="1" strike="sngStrike" smtClean="0">
                                    <a:latin typeface="Cambria Math" panose="02040503050406030204" pitchFamily="18" charset="0"/>
                                  </a:rPr>
                                  <m:t>,</m:t>
                                </m:r>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5</m:t>
                                    </m:r>
                                  </m:sub>
                                </m:sSub>
                              </m:e>
                            </m:d>
                            <m:r>
                              <a:rPr lang="en-US" altLang="zh-TW" i="1" smtClean="0">
                                <a:latin typeface="Cambria Math" panose="02040503050406030204" pitchFamily="18" charset="0"/>
                              </a:rPr>
                              <m:t>,</m:t>
                            </m:r>
                          </m:e>
                          <m:e>
                            <m:d>
                              <m:dPr>
                                <m:begChr m:val="{"/>
                                <m:endChr m:val="}"/>
                                <m:ctrlPr>
                                  <a:rPr lang="en-US" altLang="zh-TW" i="1" strike="sngStrike" smtClean="0">
                                    <a:latin typeface="Cambria Math" panose="02040503050406030204" pitchFamily="18" charset="0"/>
                                  </a:rPr>
                                </m:ctrlPr>
                              </m:d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2</m:t>
                                    </m:r>
                                  </m:sub>
                                </m:sSub>
                                <m:r>
                                  <a:rPr lang="en-US" altLang="zh-TW" i="1" strike="sngStrike" smtClean="0">
                                    <a:latin typeface="Cambria Math" panose="02040503050406030204" pitchFamily="18" charset="0"/>
                                  </a:rPr>
                                  <m:t>,</m:t>
                                </m:r>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3</m:t>
                                    </m:r>
                                  </m:sub>
                                </m:sSub>
                                <m:r>
                                  <a:rPr lang="en-US" altLang="zh-TW" i="1" strike="sngStrike" smtClean="0">
                                    <a:latin typeface="Cambria Math" panose="02040503050406030204" pitchFamily="18" charset="0"/>
                                  </a:rPr>
                                  <m:t> </m:t>
                                </m:r>
                              </m:e>
                            </m:d>
                            <m:r>
                              <a:rPr lang="en-US" altLang="zh-TW" i="1" smtClean="0">
                                <a:latin typeface="Cambria Math" panose="02040503050406030204" pitchFamily="18" charset="0"/>
                              </a:rPr>
                              <m:t>,</m:t>
                            </m:r>
                          </m:e>
                          <m:e>
                            <m:d>
                              <m:dPr>
                                <m:begChr m:val="{"/>
                                <m:endChr m:val="}"/>
                                <m:ctrlPr>
                                  <a:rPr lang="en-US" altLang="zh-TW" i="1" strike="sngStrike" smtClean="0">
                                    <a:latin typeface="Cambria Math" panose="02040503050406030204" pitchFamily="18" charset="0"/>
                                  </a:rPr>
                                </m:ctrlPr>
                              </m:d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2</m:t>
                                    </m:r>
                                  </m:sub>
                                </m:sSub>
                                <m:r>
                                  <a:rPr lang="en-US" altLang="zh-TW" i="1" strike="sngStrike" smtClean="0">
                                    <a:latin typeface="Cambria Math" panose="02040503050406030204" pitchFamily="18" charset="0"/>
                                  </a:rPr>
                                  <m:t>,</m:t>
                                </m:r>
                                <m:sSub>
                                  <m:sSubPr>
                                    <m:ctrlPr>
                                      <a:rPr lang="en-US" altLang="zh-TW" i="1" strike="sngStrike" smtClean="0">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4</m:t>
                                    </m:r>
                                  </m:sub>
                                </m:sSub>
                                <m:r>
                                  <a:rPr lang="en-US" altLang="zh-TW" i="1" strike="sngStrike" smtClean="0">
                                    <a:latin typeface="Cambria Math" panose="02040503050406030204" pitchFamily="18" charset="0"/>
                                  </a:rPr>
                                  <m:t>,</m:t>
                                </m:r>
                                <m:sSub>
                                  <m:sSubPr>
                                    <m:ctrlPr>
                                      <a:rPr lang="en-US" altLang="zh-TW" i="1" strike="sngStrike" smtClean="0">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5</m:t>
                                    </m:r>
                                  </m:sub>
                                </m:sSub>
                                <m:r>
                                  <a:rPr lang="en-US" altLang="zh-TW" i="1" strike="sngStrike" smtClean="0">
                                    <a:latin typeface="Cambria Math" panose="02040503050406030204" pitchFamily="18" charset="0"/>
                                  </a:rPr>
                                  <m:t>,</m:t>
                                </m:r>
                                <m:bar>
                                  <m:barPr>
                                    <m:pos m:val="top"/>
                                    <m:ctrlPr>
                                      <a:rPr lang="en-US" altLang="zh-TW" i="1" strike="sngStrike" smtClean="0">
                                        <a:latin typeface="Cambria Math" panose="02040503050406030204" pitchFamily="18" charset="0"/>
                                      </a:rPr>
                                    </m:ctrlPr>
                                  </m:bar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7</m:t>
                                        </m:r>
                                      </m:sub>
                                    </m:sSub>
                                  </m:e>
                                </m:bar>
                                <m:r>
                                  <a:rPr lang="en-US" altLang="zh-TW" i="1" strike="sngStrike" smtClean="0">
                                    <a:latin typeface="Cambria Math" panose="02040503050406030204" pitchFamily="18" charset="0"/>
                                  </a:rPr>
                                  <m:t>,</m:t>
                                </m:r>
                                <m:bar>
                                  <m:barPr>
                                    <m:pos m:val="top"/>
                                    <m:ctrlPr>
                                      <a:rPr lang="en-US" altLang="zh-TW" i="1" strike="sngStrike" smtClean="0">
                                        <a:latin typeface="Cambria Math" panose="02040503050406030204" pitchFamily="18" charset="0"/>
                                      </a:rPr>
                                    </m:ctrlPr>
                                  </m:bar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8</m:t>
                                        </m:r>
                                      </m:sub>
                                    </m:sSub>
                                  </m:e>
                                </m:bar>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2</m:t>
                                        </m:r>
                                      </m:sub>
                                    </m:sSub>
                                  </m:e>
                                </m:bar>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3</m:t>
                                        </m:r>
                                      </m:sub>
                                    </m:sSub>
                                  </m:e>
                                </m:bar>
                              </m:e>
                            </m:d>
                            <m:r>
                              <a:rPr lang="en-US" altLang="zh-TW" b="0" i="1" smtClean="0">
                                <a:latin typeface="Cambria Math" panose="02040503050406030204" pitchFamily="18" charset="0"/>
                              </a:rPr>
                              <m:t>,</m:t>
                            </m:r>
                          </m:e>
                          <m:e>
                            <m:d>
                              <m:dPr>
                                <m:begChr m:val="{"/>
                                <m:endChr m:val="}"/>
                                <m:ctrlPr>
                                  <a:rPr lang="en-US" altLang="zh-TW" i="1" strike="sngStrike">
                                    <a:latin typeface="Cambria Math" panose="02040503050406030204" pitchFamily="18" charset="0"/>
                                  </a:rPr>
                                </m:ctrlPr>
                              </m:d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a:latin typeface="Cambria Math" panose="02040503050406030204" pitchFamily="18" charset="0"/>
                                      </a:rPr>
                                      <m:t>2</m:t>
                                    </m:r>
                                  </m:sub>
                                </m:sSub>
                                <m:r>
                                  <a:rPr lang="en-US" altLang="zh-TW" i="1" strike="sngStrike">
                                    <a:latin typeface="Cambria Math" panose="02040503050406030204" pitchFamily="18" charset="0"/>
                                  </a:rPr>
                                  <m:t>,</m:t>
                                </m:r>
                                <m:bar>
                                  <m:barPr>
                                    <m:pos m:val="top"/>
                                    <m:ctrlPr>
                                      <a:rPr lang="en-US" altLang="zh-TW" i="1" strike="sngStrike">
                                        <a:latin typeface="Cambria Math" panose="02040503050406030204" pitchFamily="18" charset="0"/>
                                      </a:rPr>
                                    </m:ctrlPr>
                                  </m:bar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a:latin typeface="Cambria Math" panose="02040503050406030204" pitchFamily="18" charset="0"/>
                                          </a:rPr>
                                          <m:t>3</m:t>
                                        </m:r>
                                      </m:sub>
                                    </m:sSub>
                                  </m:e>
                                </m:bar>
                              </m:e>
                            </m:d>
                            <m:r>
                              <a:rPr lang="en-US" altLang="zh-TW" i="1">
                                <a:latin typeface="Cambria Math" panose="02040503050406030204" pitchFamily="18" charset="0"/>
                              </a:rPr>
                              <m:t>,</m:t>
                            </m:r>
                          </m:e>
                          <m:e>
                            <m:d>
                              <m:dPr>
                                <m:begChr m:val="{"/>
                                <m:endChr m:val="}"/>
                                <m:ctrlPr>
                                  <a:rPr lang="en-US" altLang="zh-TW" i="1">
                                    <a:latin typeface="Cambria Math" panose="02040503050406030204" pitchFamily="18" charset="0"/>
                                  </a:rPr>
                                </m:ctrlPr>
                              </m:dPr>
                              <m:e>
                                <m:bar>
                                  <m:barPr>
                                    <m:pos m:val="top"/>
                                    <m:ctrlPr>
                                      <a:rPr lang="en-US" altLang="zh-TW" i="1">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2</m:t>
                                        </m:r>
                                      </m:sub>
                                    </m:sSub>
                                  </m:e>
                                </m:bar>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3</m:t>
                                    </m:r>
                                  </m:sub>
                                </m:sSub>
                              </m:e>
                            </m:d>
                          </m:e>
                        </m:eqArr>
                      </m:e>
                    </m:d>
                    <m:m>
                      <m:mPr>
                        <m:mcs>
                          <m:mc>
                            <m:mcPr>
                              <m:count m:val="1"/>
                              <m:mcJc m:val="center"/>
                            </m:mcPr>
                          </m:mc>
                        </m:mcs>
                        <m:ctrlPr>
                          <a:rPr lang="en-US" altLang="zh-TW" i="1" smtClean="0">
                            <a:solidFill>
                              <a:schemeClr val="tx1"/>
                            </a:solidFill>
                            <a:latin typeface="Cambria Math" panose="02040503050406030204" pitchFamily="18" charset="0"/>
                          </a:rPr>
                        </m:ctrlPr>
                      </m:mPr>
                      <m:mr>
                        <m:e>
                          <m:f>
                            <m:fPr>
                              <m:type m:val="lin"/>
                              <m:ctrlPr>
                                <a:rPr lang="en-US" altLang="zh-TW" i="1" strike="sngStrike" smtClean="0">
                                  <a:solidFill>
                                    <a:schemeClr val="tx1"/>
                                  </a:solidFill>
                                  <a:latin typeface="Cambria Math" panose="02040503050406030204" pitchFamily="18" charset="0"/>
                                </a:rPr>
                              </m:ctrlPr>
                            </m:fPr>
                            <m:num>
                              <m:r>
                                <a:rPr lang="en-US" altLang="zh-TW" b="0" i="1" strike="sngStrike" smtClean="0">
                                  <a:solidFill>
                                    <a:schemeClr val="tx1"/>
                                  </a:solidFill>
                                  <a:latin typeface="Cambria Math" panose="02040503050406030204" pitchFamily="18" charset="0"/>
                                </a:rPr>
                                <m:t>2</m:t>
                              </m:r>
                            </m:num>
                            <m:den>
                              <m:r>
                                <a:rPr lang="en-US" altLang="zh-TW" b="0" i="1" strike="sngStrike" smtClean="0">
                                  <a:solidFill>
                                    <a:schemeClr val="tx1"/>
                                  </a:solidFill>
                                  <a:latin typeface="Cambria Math" panose="02040503050406030204" pitchFamily="18" charset="0"/>
                                </a:rPr>
                                <m:t>8</m:t>
                              </m:r>
                            </m:den>
                          </m:f>
                        </m:e>
                      </m:mr>
                      <m:mr>
                        <m:e>
                          <m:f>
                            <m:fPr>
                              <m:type m:val="lin"/>
                              <m:ctrlPr>
                                <a:rPr lang="en-US" altLang="zh-TW" i="1" smtClean="0">
                                  <a:solidFill>
                                    <a:srgbClr val="FF0000"/>
                                  </a:solidFill>
                                  <a:latin typeface="Cambria Math" panose="02040503050406030204" pitchFamily="18" charset="0"/>
                                </a:rPr>
                              </m:ctrlPr>
                            </m:fPr>
                            <m:num>
                              <m:r>
                                <a:rPr lang="en-US" altLang="zh-TW" b="0" i="1" smtClean="0">
                                  <a:solidFill>
                                    <a:srgbClr val="FF0000"/>
                                  </a:solidFill>
                                  <a:latin typeface="Cambria Math" panose="02040503050406030204" pitchFamily="18" charset="0"/>
                                </a:rPr>
                                <m:t>2</m:t>
                              </m:r>
                            </m:num>
                            <m:den>
                              <m:r>
                                <a:rPr lang="en-US" altLang="zh-TW" b="0" i="1" smtClean="0">
                                  <a:solidFill>
                                    <a:srgbClr val="FF0000"/>
                                  </a:solidFill>
                                  <a:latin typeface="Cambria Math" panose="02040503050406030204" pitchFamily="18" charset="0"/>
                                </a:rPr>
                                <m:t>16</m:t>
                              </m:r>
                            </m:den>
                          </m:f>
                        </m:e>
                      </m:mr>
                      <m:mr>
                        <m:e>
                          <m:eqArr>
                            <m:eqArrPr>
                              <m:ctrlPr>
                                <a:rPr lang="en-US" altLang="zh-TW" i="1" smtClean="0">
                                  <a:solidFill>
                                    <a:schemeClr val="tx1"/>
                                  </a:solidFill>
                                  <a:latin typeface="Cambria Math" panose="02040503050406030204" pitchFamily="18" charset="0"/>
                                </a:rPr>
                              </m:ctrlPr>
                            </m:eqArrPr>
                            <m:e>
                              <m:f>
                                <m:fPr>
                                  <m:type m:val="lin"/>
                                  <m:ctrlPr>
                                    <a:rPr lang="en-US" altLang="zh-TW" i="1" strike="sngStrike" smtClean="0">
                                      <a:solidFill>
                                        <a:schemeClr val="tx1"/>
                                      </a:solidFill>
                                      <a:latin typeface="Cambria Math" panose="02040503050406030204" pitchFamily="18" charset="0"/>
                                    </a:rPr>
                                  </m:ctrlPr>
                                </m:fPr>
                                <m:num>
                                  <m:r>
                                    <a:rPr lang="en-US" altLang="zh-TW" b="0" i="1" strike="sngStrike" smtClean="0">
                                      <a:solidFill>
                                        <a:schemeClr val="tx1"/>
                                      </a:solidFill>
                                      <a:latin typeface="Cambria Math" panose="02040503050406030204" pitchFamily="18" charset="0"/>
                                    </a:rPr>
                                    <m:t>1</m:t>
                                  </m:r>
                                </m:num>
                                <m:den>
                                  <m:r>
                                    <a:rPr lang="en-US" altLang="zh-TW" b="0" i="1" strike="sngStrike" smtClean="0">
                                      <a:solidFill>
                                        <a:schemeClr val="tx1"/>
                                      </a:solidFill>
                                      <a:latin typeface="Cambria Math" panose="02040503050406030204" pitchFamily="18" charset="0"/>
                                    </a:rPr>
                                    <m:t>4</m:t>
                                  </m:r>
                                </m:den>
                              </m:f>
                            </m:e>
                            <m:e>
                              <m:f>
                                <m:fPr>
                                  <m:type m:val="lin"/>
                                  <m:ctrlPr>
                                    <a:rPr lang="en-US" altLang="zh-TW" i="1" strike="sngStrike" smtClean="0">
                                      <a:solidFill>
                                        <a:schemeClr val="tx1"/>
                                      </a:solidFill>
                                      <a:latin typeface="Cambria Math" panose="02040503050406030204" pitchFamily="18" charset="0"/>
                                    </a:rPr>
                                  </m:ctrlPr>
                                </m:fPr>
                                <m:num>
                                  <m:r>
                                    <a:rPr lang="en-US" altLang="zh-TW" b="0" i="1" strike="sngStrike" smtClean="0">
                                      <a:solidFill>
                                        <a:schemeClr val="tx1"/>
                                      </a:solidFill>
                                      <a:latin typeface="Cambria Math" panose="02040503050406030204" pitchFamily="18" charset="0"/>
                                    </a:rPr>
                                    <m:t>1</m:t>
                                  </m:r>
                                </m:num>
                                <m:den>
                                  <m:r>
                                    <a:rPr lang="en-US" altLang="zh-TW" b="0" i="1" strike="sngStrike" smtClean="0">
                                      <a:solidFill>
                                        <a:schemeClr val="tx1"/>
                                      </a:solidFill>
                                      <a:latin typeface="Cambria Math" panose="02040503050406030204" pitchFamily="18" charset="0"/>
                                    </a:rPr>
                                    <m:t>4</m:t>
                                  </m:r>
                                </m:den>
                              </m:f>
                            </m:e>
                            <m:e>
                              <m:f>
                                <m:fPr>
                                  <m:type m:val="lin"/>
                                  <m:ctrlPr>
                                    <a:rPr lang="en-US" altLang="zh-TW" i="1" strike="sngStrike" smtClean="0">
                                      <a:solidFill>
                                        <a:schemeClr val="tx1"/>
                                      </a:solidFill>
                                      <a:latin typeface="Cambria Math" panose="02040503050406030204" pitchFamily="18" charset="0"/>
                                    </a:rPr>
                                  </m:ctrlPr>
                                </m:fPr>
                                <m:num>
                                  <m:r>
                                    <a:rPr lang="en-US" altLang="zh-TW" b="0" i="1" strike="sngStrike" smtClean="0">
                                      <a:solidFill>
                                        <a:schemeClr val="tx1"/>
                                      </a:solidFill>
                                      <a:latin typeface="Cambria Math" panose="02040503050406030204" pitchFamily="18" charset="0"/>
                                    </a:rPr>
                                    <m:t>1</m:t>
                                  </m:r>
                                </m:num>
                                <m:den>
                                  <m:r>
                                    <a:rPr lang="en-US" altLang="zh-TW" b="0" i="1" strike="sngStrike" smtClean="0">
                                      <a:solidFill>
                                        <a:schemeClr val="tx1"/>
                                      </a:solidFill>
                                      <a:latin typeface="Cambria Math" panose="02040503050406030204" pitchFamily="18" charset="0"/>
                                    </a:rPr>
                                    <m:t>32</m:t>
                                  </m:r>
                                </m:den>
                              </m:f>
                            </m:e>
                            <m:e>
                              <m:f>
                                <m:fPr>
                                  <m:type m:val="lin"/>
                                  <m:ctrlPr>
                                    <a:rPr lang="en-US" altLang="zh-TW" i="1" smtClean="0">
                                      <a:solidFill>
                                        <a:srgbClr val="0000FF"/>
                                      </a:solidFill>
                                      <a:latin typeface="Cambria Math" panose="02040503050406030204" pitchFamily="18" charset="0"/>
                                    </a:rPr>
                                  </m:ctrlPr>
                                </m:fPr>
                                <m:num>
                                  <m:r>
                                    <a:rPr lang="en-US" altLang="zh-TW" b="0" i="1" smtClean="0">
                                      <a:solidFill>
                                        <a:srgbClr val="0000FF"/>
                                      </a:solidFill>
                                      <a:latin typeface="Cambria Math" panose="02040503050406030204" pitchFamily="18" charset="0"/>
                                    </a:rPr>
                                    <m:t>2</m:t>
                                  </m:r>
                                </m:num>
                                <m:den>
                                  <m:r>
                                    <a:rPr lang="en-US" altLang="zh-TW" b="0" i="1" smtClean="0">
                                      <a:solidFill>
                                        <a:srgbClr val="0000FF"/>
                                      </a:solidFill>
                                      <a:latin typeface="Cambria Math" panose="02040503050406030204" pitchFamily="18" charset="0"/>
                                    </a:rPr>
                                    <m:t>4</m:t>
                                  </m:r>
                                </m:den>
                              </m:f>
                            </m:e>
                            <m:e>
                              <m:f>
                                <m:fPr>
                                  <m:type m:val="lin"/>
                                  <m:ctrlPr>
                                    <a:rPr lang="en-US" altLang="zh-TW" i="1" strike="sngStrike" smtClean="0">
                                      <a:solidFill>
                                        <a:schemeClr val="tx1"/>
                                      </a:solidFill>
                                      <a:latin typeface="Cambria Math" panose="02040503050406030204" pitchFamily="18" charset="0"/>
                                    </a:rPr>
                                  </m:ctrlPr>
                                </m:fPr>
                                <m:num>
                                  <m:r>
                                    <a:rPr lang="en-US" altLang="zh-TW" i="1" strike="sngStrike">
                                      <a:solidFill>
                                        <a:schemeClr val="tx1"/>
                                      </a:solidFill>
                                      <a:latin typeface="Cambria Math" panose="02040503050406030204" pitchFamily="18" charset="0"/>
                                    </a:rPr>
                                    <m:t>1</m:t>
                                  </m:r>
                                </m:num>
                                <m:den>
                                  <m:r>
                                    <a:rPr lang="en-US" altLang="zh-TW" i="1" strike="sngStrike">
                                      <a:solidFill>
                                        <a:schemeClr val="tx1"/>
                                      </a:solidFill>
                                      <a:latin typeface="Cambria Math" panose="02040503050406030204" pitchFamily="18" charset="0"/>
                                    </a:rPr>
                                    <m:t>4</m:t>
                                  </m:r>
                                </m:den>
                              </m:f>
                            </m:e>
                            <m:e>
                              <m:f>
                                <m:fPr>
                                  <m:type m:val="lin"/>
                                  <m:ctrlPr>
                                    <a:rPr lang="en-US" altLang="zh-TW" i="1" smtClean="0">
                                      <a:solidFill>
                                        <a:srgbClr val="FF0000"/>
                                      </a:solidFill>
                                      <a:latin typeface="Cambria Math" panose="02040503050406030204" pitchFamily="18" charset="0"/>
                                    </a:rPr>
                                  </m:ctrlPr>
                                </m:fPr>
                                <m:num>
                                  <m:r>
                                    <a:rPr lang="en-US" altLang="zh-TW" b="0" i="1" smtClean="0">
                                      <a:solidFill>
                                        <a:srgbClr val="FF0000"/>
                                      </a:solidFill>
                                      <a:latin typeface="Cambria Math" panose="02040503050406030204" pitchFamily="18" charset="0"/>
                                    </a:rPr>
                                    <m:t>2</m:t>
                                  </m:r>
                                </m:num>
                                <m:den>
                                  <m:r>
                                    <a:rPr lang="en-US" altLang="zh-TW" i="1">
                                      <a:solidFill>
                                        <a:srgbClr val="FF0000"/>
                                      </a:solidFill>
                                      <a:latin typeface="Cambria Math" panose="02040503050406030204" pitchFamily="18" charset="0"/>
                                    </a:rPr>
                                    <m:t>4</m:t>
                                  </m:r>
                                </m:den>
                              </m:f>
                            </m:e>
                          </m:eqArr>
                        </m:e>
                      </m:mr>
                    </m:m>
                  </m:oMath>
                </a14:m>
                <a:r>
                  <a:rPr lang="zh-TW" altLang="en-US" dirty="0">
                    <a:solidFill>
                      <a:schemeClr val="tx1"/>
                    </a:solidFill>
                  </a:rPr>
                  <a:t> </a:t>
                </a:r>
                <a:endParaRPr lang="zh-TW" altLang="en-US" dirty="0"/>
              </a:p>
            </p:txBody>
          </p:sp>
        </mc:Choice>
        <mc:Fallback>
          <p:sp>
            <p:nvSpPr>
              <p:cNvPr id="22" name="內容版面配置區 2"/>
              <p:cNvSpPr txBox="1">
                <a:spLocks noRot="1" noChangeAspect="1" noMove="1" noResize="1" noEditPoints="1" noAdjustHandles="1" noChangeArrowheads="1" noChangeShapeType="1" noTextEdit="1"/>
              </p:cNvSpPr>
              <p:nvPr/>
            </p:nvSpPr>
            <p:spPr>
              <a:xfrm>
                <a:off x="3960000" y="3240000"/>
                <a:ext cx="5062789" cy="3592951"/>
              </a:xfrm>
              <a:prstGeom prst="rect">
                <a:avLst/>
              </a:prstGeom>
              <a:blipFill>
                <a:blip r:embed="rId8"/>
                <a:stretch>
                  <a:fillRect t="-491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3" name="內容版面配置區 2"/>
              <p:cNvSpPr txBox="1">
                <a:spLocks/>
              </p:cNvSpPr>
              <p:nvPr/>
            </p:nvSpPr>
            <p:spPr>
              <a:xfrm>
                <a:off x="3960000" y="3240000"/>
                <a:ext cx="5062789" cy="359295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r>
                      <a:rPr lang="en-US" altLang="zh-TW" i="1" smtClean="0">
                        <a:latin typeface="Cambria Math" panose="02040503050406030204" pitchFamily="18" charset="0"/>
                      </a:rPr>
                      <m:t>𝑆</m:t>
                    </m:r>
                    <m:r>
                      <a:rPr lang="en-US" altLang="zh-TW" i="1" smtClean="0">
                        <a:latin typeface="Cambria Math" panose="02040503050406030204" pitchFamily="18" charset="0"/>
                      </a:rPr>
                      <m:t>=</m:t>
                    </m:r>
                    <m:d>
                      <m:dPr>
                        <m:begChr m:val="{"/>
                        <m:endChr m:val="}"/>
                        <m:ctrlPr>
                          <a:rPr lang="en-US" altLang="zh-TW" i="1" smtClean="0">
                            <a:latin typeface="Cambria Math" panose="02040503050406030204" pitchFamily="18" charset="0"/>
                          </a:rPr>
                        </m:ctrlPr>
                      </m:dPr>
                      <m:e>
                        <m:eqArr>
                          <m:eqArrPr>
                            <m:ctrlPr>
                              <a:rPr lang="en-US" altLang="zh-TW" i="1" smtClean="0">
                                <a:latin typeface="Cambria Math" panose="02040503050406030204" pitchFamily="18" charset="0"/>
                              </a:rPr>
                            </m:ctrlPr>
                          </m:eqArrPr>
                          <m:e>
                            <m:d>
                              <m:dPr>
                                <m:begChr m:val="{"/>
                                <m:endChr m:val="}"/>
                                <m:ctrlPr>
                                  <a:rPr lang="en-US" altLang="zh-TW" i="1" strike="sngStrike" smtClean="0">
                                    <a:latin typeface="Cambria Math" panose="02040503050406030204" pitchFamily="18" charset="0"/>
                                  </a:rPr>
                                </m:ctrlPr>
                              </m:d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1</m:t>
                                    </m:r>
                                  </m:sub>
                                </m:sSub>
                                <m:r>
                                  <a:rPr lang="en-US" altLang="zh-TW" i="1" strike="sngStrike" smtClean="0">
                                    <a:latin typeface="Cambria Math" panose="02040503050406030204" pitchFamily="18" charset="0"/>
                                  </a:rPr>
                                  <m:t>,</m:t>
                                </m:r>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2</m:t>
                                    </m:r>
                                  </m:sub>
                                </m:sSub>
                                <m:r>
                                  <a:rPr lang="en-US" altLang="zh-TW" i="1" strike="sngStrike" smtClean="0">
                                    <a:latin typeface="Cambria Math" panose="02040503050406030204" pitchFamily="18" charset="0"/>
                                  </a:rPr>
                                  <m:t>,</m:t>
                                </m:r>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3</m:t>
                                    </m:r>
                                  </m:sub>
                                </m:sSub>
                              </m:e>
                            </m:d>
                            <m:r>
                              <a:rPr lang="en-US" altLang="zh-TW" i="1" smtClean="0">
                                <a:latin typeface="Cambria Math" panose="02040503050406030204" pitchFamily="18" charset="0"/>
                              </a:rPr>
                              <m:t>,</m:t>
                            </m:r>
                          </m:e>
                          <m:e>
                            <m:d>
                              <m:dPr>
                                <m:begChr m:val="{"/>
                                <m:endChr m:val="}"/>
                                <m:ctrlPr>
                                  <a:rPr lang="en-US" altLang="zh-TW" i="1" strike="sngStrike" smtClean="0">
                                    <a:latin typeface="Cambria Math" panose="02040503050406030204" pitchFamily="18" charset="0"/>
                                  </a:rPr>
                                </m:ctrlPr>
                              </m:d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1</m:t>
                                    </m:r>
                                  </m:sub>
                                </m:sSub>
                                <m:r>
                                  <a:rPr lang="en-US" altLang="zh-TW" i="1" strike="sngStrike" smtClean="0">
                                    <a:latin typeface="Cambria Math" panose="02040503050406030204" pitchFamily="18" charset="0"/>
                                  </a:rPr>
                                  <m:t>,</m:t>
                                </m:r>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3</m:t>
                                    </m:r>
                                  </m:sub>
                                </m:sSub>
                                <m:sSub>
                                  <m:sSubPr>
                                    <m:ctrlPr>
                                      <a:rPr lang="en-US" altLang="zh-TW" i="1" strike="sngStrike">
                                        <a:latin typeface="Cambria Math" panose="02040503050406030204" pitchFamily="18" charset="0"/>
                                      </a:rPr>
                                    </m:ctrlPr>
                                  </m:sSubPr>
                                  <m:e>
                                    <m:r>
                                      <a:rPr lang="en-US" altLang="zh-TW" i="1" strike="sngStrike" smtClean="0">
                                        <a:latin typeface="Cambria Math" panose="02040503050406030204" pitchFamily="18" charset="0"/>
                                      </a:rPr>
                                      <m:t>,</m:t>
                                    </m:r>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4</m:t>
                                    </m:r>
                                  </m:sub>
                                </m:sSub>
                                <m:r>
                                  <a:rPr lang="en-US" altLang="zh-TW" i="1" strike="sngStrike" smtClean="0">
                                    <a:latin typeface="Cambria Math" panose="02040503050406030204" pitchFamily="18" charset="0"/>
                                  </a:rPr>
                                  <m:t>,</m:t>
                                </m:r>
                                <m:bar>
                                  <m:barPr>
                                    <m:pos m:val="top"/>
                                    <m:ctrlPr>
                                      <a:rPr lang="en-US" altLang="zh-TW" i="1" strike="sngStrike" smtClean="0">
                                        <a:latin typeface="Cambria Math" panose="02040503050406030204" pitchFamily="18" charset="0"/>
                                      </a:rPr>
                                    </m:ctrlPr>
                                  </m:bar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5</m:t>
                                        </m:r>
                                      </m:sub>
                                    </m:sSub>
                                  </m:e>
                                </m:bar>
                              </m:e>
                            </m:d>
                            <m:r>
                              <a:rPr lang="en-US" altLang="zh-TW" i="1" smtClean="0">
                                <a:latin typeface="Cambria Math" panose="02040503050406030204" pitchFamily="18" charset="0"/>
                              </a:rPr>
                              <m:t>,</m:t>
                            </m:r>
                          </m:e>
                          <m:e>
                            <m:d>
                              <m:dPr>
                                <m:begChr m:val="{"/>
                                <m:endChr m:val="}"/>
                                <m:ctrlPr>
                                  <a:rPr lang="en-US" altLang="zh-TW" i="1" strike="sngStrike" smtClean="0">
                                    <a:latin typeface="Cambria Math" panose="02040503050406030204" pitchFamily="18" charset="0"/>
                                  </a:rPr>
                                </m:ctrlPr>
                              </m:dPr>
                              <m:e>
                                <m:bar>
                                  <m:barPr>
                                    <m:pos m:val="top"/>
                                    <m:ctrlPr>
                                      <a:rPr lang="en-US" altLang="zh-TW" i="1" strike="sngStrike">
                                        <a:latin typeface="Cambria Math" panose="02040503050406030204" pitchFamily="18" charset="0"/>
                                      </a:rPr>
                                    </m:ctrlPr>
                                  </m:bar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a:latin typeface="Cambria Math" panose="02040503050406030204" pitchFamily="18" charset="0"/>
                                          </a:rPr>
                                          <m:t>1</m:t>
                                        </m:r>
                                      </m:sub>
                                    </m:sSub>
                                  </m:e>
                                </m:bar>
                                <m:r>
                                  <a:rPr lang="en-US" altLang="zh-TW" i="1" strike="sngStrike" smtClean="0">
                                    <a:latin typeface="Cambria Math" panose="02040503050406030204" pitchFamily="18" charset="0"/>
                                  </a:rPr>
                                  <m:t>,</m:t>
                                </m:r>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5</m:t>
                                    </m:r>
                                  </m:sub>
                                </m:sSub>
                              </m:e>
                            </m:d>
                            <m:r>
                              <a:rPr lang="en-US" altLang="zh-TW" i="1" smtClean="0">
                                <a:latin typeface="Cambria Math" panose="02040503050406030204" pitchFamily="18" charset="0"/>
                              </a:rPr>
                              <m:t>,</m:t>
                            </m:r>
                          </m:e>
                          <m:e>
                            <m:d>
                              <m:dPr>
                                <m:begChr m:val="{"/>
                                <m:endChr m:val="}"/>
                                <m:ctrlPr>
                                  <a:rPr lang="en-US" altLang="zh-TW" i="1" strike="sngStrike" smtClean="0">
                                    <a:latin typeface="Cambria Math" panose="02040503050406030204" pitchFamily="18" charset="0"/>
                                  </a:rPr>
                                </m:ctrlPr>
                              </m:d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2</m:t>
                                    </m:r>
                                  </m:sub>
                                </m:sSub>
                                <m:r>
                                  <a:rPr lang="en-US" altLang="zh-TW" i="1" strike="sngStrike" smtClean="0">
                                    <a:latin typeface="Cambria Math" panose="02040503050406030204" pitchFamily="18" charset="0"/>
                                  </a:rPr>
                                  <m:t>,</m:t>
                                </m:r>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3</m:t>
                                    </m:r>
                                  </m:sub>
                                </m:sSub>
                                <m:r>
                                  <a:rPr lang="en-US" altLang="zh-TW" i="1" strike="sngStrike" smtClean="0">
                                    <a:latin typeface="Cambria Math" panose="02040503050406030204" pitchFamily="18" charset="0"/>
                                  </a:rPr>
                                  <m:t> </m:t>
                                </m:r>
                              </m:e>
                            </m:d>
                            <m:r>
                              <a:rPr lang="en-US" altLang="zh-TW" i="1" smtClean="0">
                                <a:latin typeface="Cambria Math" panose="02040503050406030204" pitchFamily="18" charset="0"/>
                              </a:rPr>
                              <m:t>,</m:t>
                            </m:r>
                          </m:e>
                          <m:e>
                            <m:d>
                              <m:dPr>
                                <m:begChr m:val="{"/>
                                <m:endChr m:val="}"/>
                                <m:ctrlPr>
                                  <a:rPr lang="en-US" altLang="zh-TW" i="1" strike="sngStrike" smtClean="0">
                                    <a:latin typeface="Cambria Math" panose="02040503050406030204" pitchFamily="18" charset="0"/>
                                  </a:rPr>
                                </m:ctrlPr>
                              </m:d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2</m:t>
                                    </m:r>
                                  </m:sub>
                                </m:sSub>
                                <m:r>
                                  <a:rPr lang="en-US" altLang="zh-TW" i="1" strike="sngStrike" smtClean="0">
                                    <a:latin typeface="Cambria Math" panose="02040503050406030204" pitchFamily="18" charset="0"/>
                                  </a:rPr>
                                  <m:t>,</m:t>
                                </m:r>
                                <m:sSub>
                                  <m:sSubPr>
                                    <m:ctrlPr>
                                      <a:rPr lang="en-US" altLang="zh-TW" i="1" strike="sngStrike" smtClean="0">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4</m:t>
                                    </m:r>
                                  </m:sub>
                                </m:sSub>
                                <m:r>
                                  <a:rPr lang="en-US" altLang="zh-TW" i="1" strike="sngStrike" smtClean="0">
                                    <a:latin typeface="Cambria Math" panose="02040503050406030204" pitchFamily="18" charset="0"/>
                                  </a:rPr>
                                  <m:t>,</m:t>
                                </m:r>
                                <m:sSub>
                                  <m:sSubPr>
                                    <m:ctrlPr>
                                      <a:rPr lang="en-US" altLang="zh-TW" i="1" strike="sngStrike" smtClean="0">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5</m:t>
                                    </m:r>
                                  </m:sub>
                                </m:sSub>
                                <m:r>
                                  <a:rPr lang="en-US" altLang="zh-TW" i="1" strike="sngStrike" smtClean="0">
                                    <a:latin typeface="Cambria Math" panose="02040503050406030204" pitchFamily="18" charset="0"/>
                                  </a:rPr>
                                  <m:t>,</m:t>
                                </m:r>
                                <m:bar>
                                  <m:barPr>
                                    <m:pos m:val="top"/>
                                    <m:ctrlPr>
                                      <a:rPr lang="en-US" altLang="zh-TW" i="1" strike="sngStrike" smtClean="0">
                                        <a:latin typeface="Cambria Math" panose="02040503050406030204" pitchFamily="18" charset="0"/>
                                      </a:rPr>
                                    </m:ctrlPr>
                                  </m:bar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7</m:t>
                                        </m:r>
                                      </m:sub>
                                    </m:sSub>
                                  </m:e>
                                </m:bar>
                                <m:r>
                                  <a:rPr lang="en-US" altLang="zh-TW" i="1" strike="sngStrike" smtClean="0">
                                    <a:latin typeface="Cambria Math" panose="02040503050406030204" pitchFamily="18" charset="0"/>
                                  </a:rPr>
                                  <m:t>,</m:t>
                                </m:r>
                                <m:bar>
                                  <m:barPr>
                                    <m:pos m:val="top"/>
                                    <m:ctrlPr>
                                      <a:rPr lang="en-US" altLang="zh-TW" i="1" strike="sngStrike" smtClean="0">
                                        <a:latin typeface="Cambria Math" panose="02040503050406030204" pitchFamily="18" charset="0"/>
                                      </a:rPr>
                                    </m:ctrlPr>
                                  </m:bar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smtClean="0">
                                            <a:latin typeface="Cambria Math" panose="02040503050406030204" pitchFamily="18" charset="0"/>
                                          </a:rPr>
                                          <m:t>8</m:t>
                                        </m:r>
                                      </m:sub>
                                    </m:sSub>
                                  </m:e>
                                </m:bar>
                              </m:e>
                            </m:d>
                            <m:r>
                              <a:rPr lang="en-US" altLang="zh-TW" i="1" smtClean="0">
                                <a:latin typeface="Cambria Math" panose="02040503050406030204" pitchFamily="18" charset="0"/>
                              </a:rPr>
                              <m:t>,</m:t>
                            </m:r>
                          </m:e>
                          <m:e>
                            <m:d>
                              <m:dPr>
                                <m:begChr m:val="{"/>
                                <m:endChr m:val="}"/>
                                <m:ctrlPr>
                                  <a:rPr lang="en-US" altLang="zh-TW" i="1" smtClean="0">
                                    <a:latin typeface="Cambria Math" panose="02040503050406030204" pitchFamily="18" charset="0"/>
                                  </a:rPr>
                                </m:ctrlPr>
                              </m:dPr>
                              <m:e>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2</m:t>
                                        </m:r>
                                      </m:sub>
                                    </m:sSub>
                                  </m:e>
                                </m:bar>
                                <m:r>
                                  <a:rPr lang="en-US" altLang="zh-TW" i="1" smtClean="0">
                                    <a:latin typeface="Cambria Math" panose="02040503050406030204" pitchFamily="18" charset="0"/>
                                  </a:rPr>
                                  <m:t>,</m:t>
                                </m:r>
                                <m:bar>
                                  <m:barPr>
                                    <m:pos m:val="top"/>
                                    <m:ctrlPr>
                                      <a:rPr lang="en-US" altLang="zh-TW" i="1" smtClean="0">
                                        <a:latin typeface="Cambria Math" panose="02040503050406030204" pitchFamily="18" charset="0"/>
                                      </a:rPr>
                                    </m:ctrlPr>
                                  </m:bar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3</m:t>
                                        </m:r>
                                      </m:sub>
                                    </m:sSub>
                                  </m:e>
                                </m:bar>
                              </m:e>
                            </m:d>
                            <m:r>
                              <a:rPr lang="en-US" altLang="zh-TW" b="0" i="1" smtClean="0">
                                <a:latin typeface="Cambria Math" panose="02040503050406030204" pitchFamily="18" charset="0"/>
                              </a:rPr>
                              <m:t>,</m:t>
                            </m:r>
                          </m:e>
                          <m:e>
                            <m:d>
                              <m:dPr>
                                <m:begChr m:val="{"/>
                                <m:endChr m:val="}"/>
                                <m:ctrlPr>
                                  <a:rPr lang="en-US" altLang="zh-TW" i="1" strike="sngStrike">
                                    <a:latin typeface="Cambria Math" panose="02040503050406030204" pitchFamily="18" charset="0"/>
                                  </a:rPr>
                                </m:ctrlPr>
                              </m:d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a:latin typeface="Cambria Math" panose="02040503050406030204" pitchFamily="18" charset="0"/>
                                      </a:rPr>
                                      <m:t>2</m:t>
                                    </m:r>
                                  </m:sub>
                                </m:sSub>
                                <m:r>
                                  <a:rPr lang="en-US" altLang="zh-TW" i="1" strike="sngStrike">
                                    <a:latin typeface="Cambria Math" panose="02040503050406030204" pitchFamily="18" charset="0"/>
                                  </a:rPr>
                                  <m:t>,</m:t>
                                </m:r>
                                <m:bar>
                                  <m:barPr>
                                    <m:pos m:val="top"/>
                                    <m:ctrlPr>
                                      <a:rPr lang="en-US" altLang="zh-TW" i="1" strike="sngStrike">
                                        <a:latin typeface="Cambria Math" panose="02040503050406030204" pitchFamily="18" charset="0"/>
                                      </a:rPr>
                                    </m:ctrlPr>
                                  </m:bar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a:latin typeface="Cambria Math" panose="02040503050406030204" pitchFamily="18" charset="0"/>
                                          </a:rPr>
                                          <m:t>3</m:t>
                                        </m:r>
                                      </m:sub>
                                    </m:sSub>
                                  </m:e>
                                </m:bar>
                              </m:e>
                            </m:d>
                            <m:r>
                              <a:rPr lang="en-US" altLang="zh-TW" i="1">
                                <a:latin typeface="Cambria Math" panose="02040503050406030204" pitchFamily="18" charset="0"/>
                              </a:rPr>
                              <m:t>,</m:t>
                            </m:r>
                          </m:e>
                          <m:e>
                            <m:d>
                              <m:dPr>
                                <m:begChr m:val="{"/>
                                <m:endChr m:val="}"/>
                                <m:ctrlPr>
                                  <a:rPr lang="en-US" altLang="zh-TW" i="1" strike="sngStrike">
                                    <a:latin typeface="Cambria Math" panose="02040503050406030204" pitchFamily="18" charset="0"/>
                                  </a:rPr>
                                </m:ctrlPr>
                              </m:dPr>
                              <m:e>
                                <m:bar>
                                  <m:barPr>
                                    <m:pos m:val="top"/>
                                    <m:ctrlPr>
                                      <a:rPr lang="en-US" altLang="zh-TW" i="1" strike="sngStrike">
                                        <a:latin typeface="Cambria Math" panose="02040503050406030204" pitchFamily="18" charset="0"/>
                                      </a:rPr>
                                    </m:ctrlPr>
                                  </m:barPr>
                                  <m:e>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a:latin typeface="Cambria Math" panose="02040503050406030204" pitchFamily="18" charset="0"/>
                                          </a:rPr>
                                          <m:t>2</m:t>
                                        </m:r>
                                      </m:sub>
                                    </m:sSub>
                                  </m:e>
                                </m:bar>
                                <m:r>
                                  <a:rPr lang="en-US" altLang="zh-TW" i="1" strike="sngStrike">
                                    <a:latin typeface="Cambria Math" panose="02040503050406030204" pitchFamily="18" charset="0"/>
                                  </a:rPr>
                                  <m:t>,</m:t>
                                </m:r>
                                <m:sSub>
                                  <m:sSubPr>
                                    <m:ctrlPr>
                                      <a:rPr lang="en-US" altLang="zh-TW" i="1" strike="sngStrike">
                                        <a:latin typeface="Cambria Math" panose="02040503050406030204" pitchFamily="18" charset="0"/>
                                      </a:rPr>
                                    </m:ctrlPr>
                                  </m:sSubPr>
                                  <m:e>
                                    <m:r>
                                      <a:rPr lang="en-US" altLang="zh-TW" i="1" strike="sngStrike">
                                        <a:latin typeface="Cambria Math" panose="02040503050406030204" pitchFamily="18" charset="0"/>
                                      </a:rPr>
                                      <m:t>𝑥</m:t>
                                    </m:r>
                                  </m:e>
                                  <m:sub>
                                    <m:r>
                                      <a:rPr lang="en-US" altLang="zh-TW" i="1" strike="sngStrike">
                                        <a:latin typeface="Cambria Math" panose="02040503050406030204" pitchFamily="18" charset="0"/>
                                      </a:rPr>
                                      <m:t>3</m:t>
                                    </m:r>
                                  </m:sub>
                                </m:sSub>
                              </m:e>
                            </m:d>
                          </m:e>
                        </m:eqArr>
                      </m:e>
                    </m:d>
                    <m:m>
                      <m:mPr>
                        <m:mcs>
                          <m:mc>
                            <m:mcPr>
                              <m:count m:val="1"/>
                              <m:mcJc m:val="center"/>
                            </m:mcPr>
                          </m:mc>
                        </m:mcs>
                        <m:ctrlPr>
                          <a:rPr lang="en-US" altLang="zh-TW" i="1" smtClean="0">
                            <a:solidFill>
                              <a:schemeClr val="tx1"/>
                            </a:solidFill>
                            <a:latin typeface="Cambria Math" panose="02040503050406030204" pitchFamily="18" charset="0"/>
                          </a:rPr>
                        </m:ctrlPr>
                      </m:mPr>
                      <m:mr>
                        <m:e>
                          <m:f>
                            <m:fPr>
                              <m:type m:val="lin"/>
                              <m:ctrlPr>
                                <a:rPr lang="en-US" altLang="zh-TW" i="1" strike="sngStrike" smtClean="0">
                                  <a:solidFill>
                                    <a:schemeClr val="tx1"/>
                                  </a:solidFill>
                                  <a:latin typeface="Cambria Math" panose="02040503050406030204" pitchFamily="18" charset="0"/>
                                </a:rPr>
                              </m:ctrlPr>
                            </m:fPr>
                            <m:num>
                              <m:r>
                                <a:rPr lang="en-US" altLang="zh-TW" b="0" i="1" strike="sngStrike" smtClean="0">
                                  <a:solidFill>
                                    <a:schemeClr val="tx1"/>
                                  </a:solidFill>
                                  <a:latin typeface="Cambria Math" panose="02040503050406030204" pitchFamily="18" charset="0"/>
                                </a:rPr>
                                <m:t>2</m:t>
                              </m:r>
                            </m:num>
                            <m:den>
                              <m:r>
                                <a:rPr lang="en-US" altLang="zh-TW" b="0" i="1" strike="sngStrike" smtClean="0">
                                  <a:solidFill>
                                    <a:schemeClr val="tx1"/>
                                  </a:solidFill>
                                  <a:latin typeface="Cambria Math" panose="02040503050406030204" pitchFamily="18" charset="0"/>
                                </a:rPr>
                                <m:t>8</m:t>
                              </m:r>
                            </m:den>
                          </m:f>
                        </m:e>
                      </m:mr>
                      <m:mr>
                        <m:e>
                          <m:f>
                            <m:fPr>
                              <m:type m:val="lin"/>
                              <m:ctrlPr>
                                <a:rPr lang="en-US" altLang="zh-TW" i="1" strike="sngStrike" smtClean="0">
                                  <a:solidFill>
                                    <a:schemeClr val="tx1"/>
                                  </a:solidFill>
                                  <a:latin typeface="Cambria Math" panose="02040503050406030204" pitchFamily="18" charset="0"/>
                                </a:rPr>
                              </m:ctrlPr>
                            </m:fPr>
                            <m:num>
                              <m:r>
                                <a:rPr lang="en-US" altLang="zh-TW" b="0" i="1" strike="sngStrike" smtClean="0">
                                  <a:solidFill>
                                    <a:schemeClr val="tx1"/>
                                  </a:solidFill>
                                  <a:latin typeface="Cambria Math" panose="02040503050406030204" pitchFamily="18" charset="0"/>
                                </a:rPr>
                                <m:t>2</m:t>
                              </m:r>
                            </m:num>
                            <m:den>
                              <m:r>
                                <a:rPr lang="en-US" altLang="zh-TW" b="0" i="1" strike="sngStrike" smtClean="0">
                                  <a:solidFill>
                                    <a:schemeClr val="tx1"/>
                                  </a:solidFill>
                                  <a:latin typeface="Cambria Math" panose="02040503050406030204" pitchFamily="18" charset="0"/>
                                </a:rPr>
                                <m:t>16</m:t>
                              </m:r>
                            </m:den>
                          </m:f>
                        </m:e>
                      </m:mr>
                      <m:mr>
                        <m:e>
                          <m:eqArr>
                            <m:eqArrPr>
                              <m:ctrlPr>
                                <a:rPr lang="en-US" altLang="zh-TW" i="1" smtClean="0">
                                  <a:solidFill>
                                    <a:schemeClr val="tx1"/>
                                  </a:solidFill>
                                  <a:latin typeface="Cambria Math" panose="02040503050406030204" pitchFamily="18" charset="0"/>
                                </a:rPr>
                              </m:ctrlPr>
                            </m:eqArrPr>
                            <m:e>
                              <m:f>
                                <m:fPr>
                                  <m:type m:val="lin"/>
                                  <m:ctrlPr>
                                    <a:rPr lang="en-US" altLang="zh-TW" i="1" strike="sngStrike" smtClean="0">
                                      <a:solidFill>
                                        <a:schemeClr val="tx1"/>
                                      </a:solidFill>
                                      <a:latin typeface="Cambria Math" panose="02040503050406030204" pitchFamily="18" charset="0"/>
                                    </a:rPr>
                                  </m:ctrlPr>
                                </m:fPr>
                                <m:num>
                                  <m:r>
                                    <a:rPr lang="en-US" altLang="zh-TW" b="0" i="1" strike="sngStrike" smtClean="0">
                                      <a:solidFill>
                                        <a:schemeClr val="tx1"/>
                                      </a:solidFill>
                                      <a:latin typeface="Cambria Math" panose="02040503050406030204" pitchFamily="18" charset="0"/>
                                    </a:rPr>
                                    <m:t>1</m:t>
                                  </m:r>
                                </m:num>
                                <m:den>
                                  <m:r>
                                    <a:rPr lang="en-US" altLang="zh-TW" b="0" i="1" strike="sngStrike" smtClean="0">
                                      <a:solidFill>
                                        <a:schemeClr val="tx1"/>
                                      </a:solidFill>
                                      <a:latin typeface="Cambria Math" panose="02040503050406030204" pitchFamily="18" charset="0"/>
                                    </a:rPr>
                                    <m:t>4</m:t>
                                  </m:r>
                                </m:den>
                              </m:f>
                            </m:e>
                            <m:e>
                              <m:f>
                                <m:fPr>
                                  <m:type m:val="lin"/>
                                  <m:ctrlPr>
                                    <a:rPr lang="en-US" altLang="zh-TW" i="1" strike="sngStrike" smtClean="0">
                                      <a:solidFill>
                                        <a:schemeClr val="tx1"/>
                                      </a:solidFill>
                                      <a:latin typeface="Cambria Math" panose="02040503050406030204" pitchFamily="18" charset="0"/>
                                    </a:rPr>
                                  </m:ctrlPr>
                                </m:fPr>
                                <m:num>
                                  <m:r>
                                    <a:rPr lang="en-US" altLang="zh-TW" b="0" i="1" strike="sngStrike" smtClean="0">
                                      <a:solidFill>
                                        <a:schemeClr val="tx1"/>
                                      </a:solidFill>
                                      <a:latin typeface="Cambria Math" panose="02040503050406030204" pitchFamily="18" charset="0"/>
                                    </a:rPr>
                                    <m:t>1</m:t>
                                  </m:r>
                                </m:num>
                                <m:den>
                                  <m:r>
                                    <a:rPr lang="en-US" altLang="zh-TW" b="0" i="1" strike="sngStrike" smtClean="0">
                                      <a:solidFill>
                                        <a:schemeClr val="tx1"/>
                                      </a:solidFill>
                                      <a:latin typeface="Cambria Math" panose="02040503050406030204" pitchFamily="18" charset="0"/>
                                    </a:rPr>
                                    <m:t>4</m:t>
                                  </m:r>
                                </m:den>
                              </m:f>
                            </m:e>
                            <m:e>
                              <m:f>
                                <m:fPr>
                                  <m:type m:val="lin"/>
                                  <m:ctrlPr>
                                    <a:rPr lang="en-US" altLang="zh-TW" i="1" strike="sngStrike" smtClean="0">
                                      <a:solidFill>
                                        <a:schemeClr val="tx1"/>
                                      </a:solidFill>
                                      <a:latin typeface="Cambria Math" panose="02040503050406030204" pitchFamily="18" charset="0"/>
                                    </a:rPr>
                                  </m:ctrlPr>
                                </m:fPr>
                                <m:num>
                                  <m:r>
                                    <a:rPr lang="en-US" altLang="zh-TW" b="0" i="1" strike="sngStrike" smtClean="0">
                                      <a:solidFill>
                                        <a:schemeClr val="tx1"/>
                                      </a:solidFill>
                                      <a:latin typeface="Cambria Math" panose="02040503050406030204" pitchFamily="18" charset="0"/>
                                    </a:rPr>
                                    <m:t>1</m:t>
                                  </m:r>
                                </m:num>
                                <m:den>
                                  <m:r>
                                    <a:rPr lang="en-US" altLang="zh-TW" b="0" i="1" strike="sngStrike" smtClean="0">
                                      <a:solidFill>
                                        <a:schemeClr val="tx1"/>
                                      </a:solidFill>
                                      <a:latin typeface="Cambria Math" panose="02040503050406030204" pitchFamily="18" charset="0"/>
                                    </a:rPr>
                                    <m:t>32</m:t>
                                  </m:r>
                                </m:den>
                              </m:f>
                            </m:e>
                            <m:e>
                              <m:f>
                                <m:fPr>
                                  <m:type m:val="lin"/>
                                  <m:ctrlPr>
                                    <a:rPr lang="en-US" altLang="zh-TW" i="1" smtClean="0">
                                      <a:solidFill>
                                        <a:srgbClr val="FF0000"/>
                                      </a:solidFill>
                                      <a:latin typeface="Cambria Math" panose="02040503050406030204" pitchFamily="18" charset="0"/>
                                    </a:rPr>
                                  </m:ctrlPr>
                                </m:fPr>
                                <m:num>
                                  <m:r>
                                    <a:rPr lang="en-US" altLang="zh-TW" b="0" i="1" smtClean="0">
                                      <a:solidFill>
                                        <a:srgbClr val="FF0000"/>
                                      </a:solidFill>
                                      <a:latin typeface="Cambria Math" panose="02040503050406030204" pitchFamily="18" charset="0"/>
                                    </a:rPr>
                                    <m:t>4</m:t>
                                  </m:r>
                                </m:num>
                                <m:den>
                                  <m:r>
                                    <a:rPr lang="en-US" altLang="zh-TW" b="0" i="1" smtClean="0">
                                      <a:solidFill>
                                        <a:srgbClr val="FF0000"/>
                                      </a:solidFill>
                                      <a:latin typeface="Cambria Math" panose="02040503050406030204" pitchFamily="18" charset="0"/>
                                    </a:rPr>
                                    <m:t>4</m:t>
                                  </m:r>
                                </m:den>
                              </m:f>
                            </m:e>
                            <m:e>
                              <m:f>
                                <m:fPr>
                                  <m:type m:val="lin"/>
                                  <m:ctrlPr>
                                    <a:rPr lang="en-US" altLang="zh-TW" i="1" strike="sngStrike" smtClean="0">
                                      <a:solidFill>
                                        <a:schemeClr val="tx1"/>
                                      </a:solidFill>
                                      <a:latin typeface="Cambria Math" panose="02040503050406030204" pitchFamily="18" charset="0"/>
                                    </a:rPr>
                                  </m:ctrlPr>
                                </m:fPr>
                                <m:num>
                                  <m:r>
                                    <a:rPr lang="en-US" altLang="zh-TW" i="1" strike="sngStrike">
                                      <a:solidFill>
                                        <a:schemeClr val="tx1"/>
                                      </a:solidFill>
                                      <a:latin typeface="Cambria Math" panose="02040503050406030204" pitchFamily="18" charset="0"/>
                                    </a:rPr>
                                    <m:t>1</m:t>
                                  </m:r>
                                </m:num>
                                <m:den>
                                  <m:r>
                                    <a:rPr lang="en-US" altLang="zh-TW" i="1" strike="sngStrike">
                                      <a:solidFill>
                                        <a:schemeClr val="tx1"/>
                                      </a:solidFill>
                                      <a:latin typeface="Cambria Math" panose="02040503050406030204" pitchFamily="18" charset="0"/>
                                    </a:rPr>
                                    <m:t>4</m:t>
                                  </m:r>
                                </m:den>
                              </m:f>
                            </m:e>
                            <m:e>
                              <m:f>
                                <m:fPr>
                                  <m:type m:val="lin"/>
                                  <m:ctrlPr>
                                    <a:rPr lang="en-US" altLang="zh-TW" i="1" strike="sngStrike" smtClean="0">
                                      <a:solidFill>
                                        <a:schemeClr val="tx1"/>
                                      </a:solidFill>
                                      <a:latin typeface="Cambria Math" panose="02040503050406030204" pitchFamily="18" charset="0"/>
                                    </a:rPr>
                                  </m:ctrlPr>
                                </m:fPr>
                                <m:num>
                                  <m:r>
                                    <a:rPr lang="en-US" altLang="zh-TW" b="0" i="1" strike="sngStrike" smtClean="0">
                                      <a:solidFill>
                                        <a:schemeClr val="tx1"/>
                                      </a:solidFill>
                                      <a:latin typeface="Cambria Math" panose="02040503050406030204" pitchFamily="18" charset="0"/>
                                    </a:rPr>
                                    <m:t>2</m:t>
                                  </m:r>
                                </m:num>
                                <m:den>
                                  <m:r>
                                    <a:rPr lang="en-US" altLang="zh-TW" i="1" strike="sngStrike">
                                      <a:solidFill>
                                        <a:schemeClr val="tx1"/>
                                      </a:solidFill>
                                      <a:latin typeface="Cambria Math" panose="02040503050406030204" pitchFamily="18" charset="0"/>
                                    </a:rPr>
                                    <m:t>4</m:t>
                                  </m:r>
                                </m:den>
                              </m:f>
                            </m:e>
                          </m:eqArr>
                        </m:e>
                      </m:mr>
                    </m:m>
                  </m:oMath>
                </a14:m>
                <a:r>
                  <a:rPr lang="zh-TW" altLang="en-US" dirty="0">
                    <a:solidFill>
                      <a:schemeClr val="tx1"/>
                    </a:solidFill>
                  </a:rPr>
                  <a:t> </a:t>
                </a:r>
                <a:endParaRPr lang="zh-TW" altLang="en-US" dirty="0"/>
              </a:p>
            </p:txBody>
          </p:sp>
        </mc:Choice>
        <mc:Fallback>
          <p:sp>
            <p:nvSpPr>
              <p:cNvPr id="23" name="內容版面配置區 2"/>
              <p:cNvSpPr txBox="1">
                <a:spLocks noRot="1" noChangeAspect="1" noMove="1" noResize="1" noEditPoints="1" noAdjustHandles="1" noChangeArrowheads="1" noChangeShapeType="1" noTextEdit="1"/>
              </p:cNvSpPr>
              <p:nvPr/>
            </p:nvSpPr>
            <p:spPr>
              <a:xfrm>
                <a:off x="3960000" y="3240000"/>
                <a:ext cx="5062789" cy="3592951"/>
              </a:xfrm>
              <a:prstGeom prst="rect">
                <a:avLst/>
              </a:prstGeom>
              <a:blipFill>
                <a:blip r:embed="rId9"/>
                <a:stretch>
                  <a:fillRect t="-491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396537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grpId="1" nodeType="afterEffect">
                                  <p:stCondLst>
                                    <p:cond delay="0"/>
                                  </p:stCondLst>
                                  <p:childTnLst>
                                    <p:set>
                                      <p:cBhvr>
                                        <p:cTn id="9" dur="1" fill="hold">
                                          <p:stCondLst>
                                            <p:cond delay="0"/>
                                          </p:stCondLst>
                                        </p:cTn>
                                        <p:tgtEl>
                                          <p:spTgt spid="14"/>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grpId="0" nodeType="clickEffect">
                                  <p:stCondLst>
                                    <p:cond delay="0"/>
                                  </p:stCondLst>
                                  <p:childTnLst>
                                    <p:set>
                                      <p:cBhvr>
                                        <p:cTn id="13" dur="1" fill="hold">
                                          <p:stCondLst>
                                            <p:cond delay="0"/>
                                          </p:stCondLst>
                                        </p:cTn>
                                        <p:tgtEl>
                                          <p:spTgt spid="14"/>
                                        </p:tgtEl>
                                        <p:attrNameLst>
                                          <p:attrName>style.visibility</p:attrName>
                                        </p:attrNameLst>
                                      </p:cBhvr>
                                      <p:to>
                                        <p:strVal val="hidden"/>
                                      </p:to>
                                    </p:set>
                                  </p:childTnLst>
                                </p:cTn>
                              </p:par>
                            </p:childTnLst>
                          </p:cTn>
                        </p:par>
                        <p:par>
                          <p:cTn id="14" fill="hold">
                            <p:stCondLst>
                              <p:cond delay="0"/>
                            </p:stCondLst>
                            <p:childTnLst>
                              <p:par>
                                <p:cTn id="15" presetID="1" presetClass="entr" presetSubtype="0" fill="hold" grpId="1" nodeType="after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hidden"/>
                                      </p:to>
                                    </p:set>
                                  </p:childTnLst>
                                </p:cTn>
                              </p:par>
                            </p:childTnLst>
                          </p:cTn>
                        </p:par>
                        <p:par>
                          <p:cTn id="21" fill="hold">
                            <p:stCondLst>
                              <p:cond delay="0"/>
                            </p:stCondLst>
                            <p:childTnLst>
                              <p:par>
                                <p:cTn id="22" presetID="1" presetClass="entr" presetSubtype="0" fill="hold" grpId="1" nodeType="afterEffect">
                                  <p:stCondLst>
                                    <p:cond delay="0"/>
                                  </p:stCondLst>
                                  <p:childTnLst>
                                    <p:set>
                                      <p:cBhvr>
                                        <p:cTn id="23" dur="1" fill="hold">
                                          <p:stCondLst>
                                            <p:cond delay="0"/>
                                          </p:stCondLst>
                                        </p:cTn>
                                        <p:tgtEl>
                                          <p:spTgt spid="2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grpId="0" nodeType="clickEffect">
                                  <p:stCondLst>
                                    <p:cond delay="0"/>
                                  </p:stCondLst>
                                  <p:childTnLst>
                                    <p:set>
                                      <p:cBhvr>
                                        <p:cTn id="27" dur="1" fill="hold">
                                          <p:stCondLst>
                                            <p:cond delay="0"/>
                                          </p:stCondLst>
                                        </p:cTn>
                                        <p:tgtEl>
                                          <p:spTgt spid="20"/>
                                        </p:tgtEl>
                                        <p:attrNameLst>
                                          <p:attrName>style.visibility</p:attrName>
                                        </p:attrNameLst>
                                      </p:cBhvr>
                                      <p:to>
                                        <p:strVal val="hidden"/>
                                      </p:to>
                                    </p:set>
                                  </p:childTnLst>
                                </p:cTn>
                              </p:par>
                            </p:childTnLst>
                          </p:cTn>
                        </p:par>
                        <p:par>
                          <p:cTn id="28" fill="hold">
                            <p:stCondLst>
                              <p:cond delay="0"/>
                            </p:stCondLst>
                            <p:childTnLst>
                              <p:par>
                                <p:cTn id="29" presetID="1" presetClass="entr" presetSubtype="0" fill="hold" grpId="1" nodeType="after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hidden"/>
                                      </p:to>
                                    </p:set>
                                  </p:childTnLst>
                                </p:cTn>
                              </p:par>
                            </p:childTnLst>
                          </p:cTn>
                        </p:par>
                        <p:par>
                          <p:cTn id="35" fill="hold">
                            <p:stCondLst>
                              <p:cond delay="0"/>
                            </p:stCondLst>
                            <p:childTnLst>
                              <p:par>
                                <p:cTn id="36" presetID="1" presetClass="entr" presetSubtype="0" fill="hold" grpId="1" nodeType="afterEffect">
                                  <p:stCondLst>
                                    <p:cond delay="0"/>
                                  </p:stCondLst>
                                  <p:childTnLst>
                                    <p:set>
                                      <p:cBhvr>
                                        <p:cTn id="37" dur="1" fill="hold">
                                          <p:stCondLst>
                                            <p:cond delay="0"/>
                                          </p:stCondLst>
                                        </p:cTn>
                                        <p:tgtEl>
                                          <p:spTgt spid="22"/>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xit" presetSubtype="0" fill="hold" grpId="0" nodeType="clickEffect">
                                  <p:stCondLst>
                                    <p:cond delay="0"/>
                                  </p:stCondLst>
                                  <p:childTnLst>
                                    <p:set>
                                      <p:cBhvr>
                                        <p:cTn id="41" dur="1" fill="hold">
                                          <p:stCondLst>
                                            <p:cond delay="0"/>
                                          </p:stCondLst>
                                        </p:cTn>
                                        <p:tgtEl>
                                          <p:spTgt spid="22"/>
                                        </p:tgtEl>
                                        <p:attrNameLst>
                                          <p:attrName>style.visibility</p:attrName>
                                        </p:attrNameLst>
                                      </p:cBhvr>
                                      <p:to>
                                        <p:strVal val="hidden"/>
                                      </p:to>
                                    </p:set>
                                  </p:childTnLst>
                                </p:cTn>
                              </p:par>
                            </p:childTnLst>
                          </p:cTn>
                        </p:par>
                        <p:par>
                          <p:cTn id="42" fill="hold">
                            <p:stCondLst>
                              <p:cond delay="0"/>
                            </p:stCondLst>
                            <p:childTnLst>
                              <p:par>
                                <p:cTn id="43" presetID="1" presetClass="entr" presetSubtype="0" fill="hold" grpId="1" nodeType="after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grpId="0" nodeType="clickEffect">
                                  <p:stCondLst>
                                    <p:cond delay="0"/>
                                  </p:stCondLst>
                                  <p:childTnLst>
                                    <p:set>
                                      <p:cBhvr>
                                        <p:cTn id="48" dur="1" fill="hold">
                                          <p:stCondLst>
                                            <p:cond delay="0"/>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4" grpId="0"/>
      <p:bldP spid="14" grpId="1"/>
      <p:bldP spid="15" grpId="0"/>
      <p:bldP spid="15" grpId="1"/>
      <p:bldP spid="20" grpId="0"/>
      <p:bldP spid="20" grpId="1"/>
      <p:bldP spid="21" grpId="0"/>
      <p:bldP spid="21" grpId="1"/>
      <p:bldP spid="22" grpId="0"/>
      <p:bldP spid="22" grpId="1"/>
      <p:bldP spid="23" grpId="0"/>
      <p:bldP spid="23"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Set Covering I</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𝐼𝑁𝑃𝑈𝑇</m:t>
                        </m:r>
                      </m:e>
                      <m:sub>
                        <m:r>
                          <a:rPr lang="en-US" altLang="zh-TW" b="0" i="1" smtClean="0">
                            <a:latin typeface="Cambria Math" panose="02040503050406030204" pitchFamily="18" charset="0"/>
                          </a:rPr>
                          <m:t>𝑆𝐶</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𝐹</m:t>
                    </m:r>
                    <m:r>
                      <a:rPr lang="en-US" altLang="zh-TW" b="0" i="1" smtClean="0">
                        <a:latin typeface="Cambria Math" panose="02040503050406030204" pitchFamily="18" charset="0"/>
                      </a:rPr>
                      <m:t>:</m:t>
                    </m:r>
                    <m:r>
                      <a:rPr lang="en-US" altLang="zh-TW" b="0" i="1" smtClean="0">
                        <a:latin typeface="Cambria Math" panose="02040503050406030204" pitchFamily="18" charset="0"/>
                      </a:rPr>
                      <m:t>𝐹</m:t>
                    </m:r>
                  </m:oMath>
                </a14:m>
                <a:r>
                  <a:rPr lang="zh-TW" altLang="en-US" dirty="0"/>
                  <a:t> </a:t>
                </a:r>
                <a:r>
                  <a:rPr lang="en-US" altLang="zh-TW" dirty="0"/>
                  <a:t>is a finite family </a:t>
                </a:r>
                <a14:m>
                  <m:oMath xmlns:m="http://schemas.openxmlformats.org/officeDocument/2006/math">
                    <m:r>
                      <a:rPr lang="en-US" altLang="zh-TW" b="0" i="0"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2</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𝑝</m:t>
                        </m:r>
                      </m:sub>
                    </m:sSub>
                    <m:r>
                      <a:rPr lang="en-US" altLang="zh-TW" b="0" i="1" smtClean="0">
                        <a:latin typeface="Cambria Math" panose="02040503050406030204" pitchFamily="18" charset="0"/>
                      </a:rPr>
                      <m:t>}</m:t>
                    </m:r>
                  </m:oMath>
                </a14:m>
                <a:r>
                  <a:rPr lang="en-US" altLang="zh-TW" dirty="0"/>
                  <a:t> of finite sets</a:t>
                </a:r>
                <a14:m>
                  <m:oMath xmlns:m="http://schemas.openxmlformats.org/officeDocument/2006/math">
                    <m:r>
                      <a:rPr lang="en-US" altLang="zh-TW" b="0" i="1" smtClean="0">
                        <a:latin typeface="Cambria Math" panose="02040503050406030204" pitchFamily="18" charset="0"/>
                      </a:rPr>
                      <m:t>}</m:t>
                    </m:r>
                  </m:oMath>
                </a14:m>
                <a:endParaRPr lang="zh-TW" altLang="en-US" dirty="0"/>
              </a:p>
              <a:p>
                <a:pPr marL="0" indent="0">
                  <a:buNone/>
                </a:pP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𝑆𝑂𝐿</m:t>
                        </m:r>
                      </m:e>
                      <m:sub>
                        <m:r>
                          <a:rPr lang="en-US" altLang="zh-TW" b="0" i="1" smtClean="0">
                            <a:latin typeface="Cambria Math" panose="02040503050406030204" pitchFamily="18" charset="0"/>
                          </a:rPr>
                          <m:t>𝑆𝐶</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𝐹</m:t>
                        </m:r>
                      </m:e>
                    </m:d>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𝐹</m:t>
                        </m:r>
                      </m:e>
                      <m:sup>
                        <m:r>
                          <a:rPr lang="en-US" altLang="zh-TW" b="0" i="1" smtClean="0">
                            <a:latin typeface="Cambria Math" panose="02040503050406030204" pitchFamily="18" charset="0"/>
                          </a:rPr>
                          <m:t>′</m:t>
                        </m:r>
                      </m:sup>
                    </m:sSup>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𝐹</m:t>
                    </m:r>
                    <m:r>
                      <a:rPr lang="en-US" altLang="zh-TW" b="0" i="1" smtClean="0">
                        <a:latin typeface="Cambria Math" panose="02040503050406030204" pitchFamily="18" charset="0"/>
                        <a:ea typeface="Cambria Math" panose="02040503050406030204" pitchFamily="18" charset="0"/>
                      </a:rPr>
                      <m:t>:</m:t>
                    </m:r>
                    <m:nary>
                      <m:naryPr>
                        <m:chr m:val="⋃"/>
                        <m:supHide m:val="on"/>
                        <m:ctrlPr>
                          <a:rPr lang="en-US" altLang="zh-TW" b="0" i="1" smtClean="0">
                            <a:latin typeface="Cambria Math" panose="02040503050406030204" pitchFamily="18" charset="0"/>
                            <a:ea typeface="Cambria Math" panose="02040503050406030204" pitchFamily="18" charset="0"/>
                          </a:rPr>
                        </m:ctrlPr>
                      </m:naryPr>
                      <m:sub>
                        <m:r>
                          <m:rPr>
                            <m:brk m:alnAt="7"/>
                          </m:rPr>
                          <a:rPr lang="en-US" altLang="zh-TW" b="0" i="1" smtClean="0">
                            <a:latin typeface="Cambria Math" panose="02040503050406030204" pitchFamily="18" charset="0"/>
                            <a:ea typeface="Cambria Math" panose="02040503050406030204" pitchFamily="18" charset="0"/>
                          </a:rPr>
                          <m:t>𝑆</m:t>
                        </m:r>
                        <m:r>
                          <a:rPr lang="en-US" altLang="zh-TW" b="0" i="1" smtClean="0">
                            <a:latin typeface="Cambria Math" panose="02040503050406030204" pitchFamily="18" charset="0"/>
                            <a:ea typeface="Cambria Math" panose="02040503050406030204" pitchFamily="18" charset="0"/>
                          </a:rPr>
                          <m:t>∈</m:t>
                        </m:r>
                        <m:sSup>
                          <m:sSupPr>
                            <m:ctrlPr>
                              <a:rPr lang="en-US" altLang="zh-TW" b="0" i="1" smtClean="0">
                                <a:latin typeface="Cambria Math" panose="02040503050406030204" pitchFamily="18" charset="0"/>
                                <a:ea typeface="Cambria Math" panose="02040503050406030204" pitchFamily="18" charset="0"/>
                              </a:rPr>
                            </m:ctrlPr>
                          </m:sSupPr>
                          <m:e>
                            <m:r>
                              <a:rPr lang="en-US" altLang="zh-TW" b="0" i="1" smtClean="0">
                                <a:latin typeface="Cambria Math" panose="02040503050406030204" pitchFamily="18" charset="0"/>
                                <a:ea typeface="Cambria Math" panose="02040503050406030204" pitchFamily="18" charset="0"/>
                              </a:rPr>
                              <m:t>𝐹</m:t>
                            </m:r>
                          </m:e>
                          <m:sup>
                            <m:r>
                              <a:rPr lang="en-US" altLang="zh-TW" b="0" i="1" smtClean="0">
                                <a:latin typeface="Cambria Math" panose="02040503050406030204" pitchFamily="18" charset="0"/>
                                <a:ea typeface="Cambria Math" panose="02040503050406030204" pitchFamily="18" charset="0"/>
                              </a:rPr>
                              <m:t>′</m:t>
                            </m:r>
                          </m:sup>
                        </m:sSup>
                      </m:sub>
                      <m:sup/>
                      <m:e>
                        <m:r>
                          <a:rPr lang="en-US" altLang="zh-TW" b="0" i="1" smtClean="0">
                            <a:latin typeface="Cambria Math" panose="02040503050406030204" pitchFamily="18" charset="0"/>
                            <a:ea typeface="Cambria Math" panose="02040503050406030204" pitchFamily="18" charset="0"/>
                          </a:rPr>
                          <m:t>𝑆</m:t>
                        </m:r>
                      </m:e>
                    </m:nary>
                    <m:r>
                      <a:rPr lang="en-US" altLang="zh-TW" b="0" i="1" smtClean="0">
                        <a:latin typeface="Cambria Math" panose="02040503050406030204" pitchFamily="18" charset="0"/>
                        <a:ea typeface="Cambria Math" panose="02040503050406030204" pitchFamily="18" charset="0"/>
                      </a:rPr>
                      <m:t>=</m:t>
                    </m:r>
                    <m:nary>
                      <m:naryPr>
                        <m:chr m:val="⋃"/>
                        <m:supHide m:val="on"/>
                        <m:ctrlPr>
                          <a:rPr lang="en-US" altLang="zh-TW" i="1">
                            <a:latin typeface="Cambria Math" panose="02040503050406030204" pitchFamily="18" charset="0"/>
                            <a:ea typeface="Cambria Math" panose="02040503050406030204" pitchFamily="18" charset="0"/>
                          </a:rPr>
                        </m:ctrlPr>
                      </m:naryPr>
                      <m:sub>
                        <m:r>
                          <m:rPr>
                            <m:brk m:alnAt="7"/>
                          </m:rPr>
                          <a:rPr lang="en-US" altLang="zh-TW" i="1">
                            <a:latin typeface="Cambria Math" panose="02040503050406030204" pitchFamily="18" charset="0"/>
                            <a:ea typeface="Cambria Math" panose="02040503050406030204" pitchFamily="18" charset="0"/>
                          </a:rPr>
                          <m:t>𝑆</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𝐹</m:t>
                        </m:r>
                      </m:sub>
                      <m:sup/>
                      <m:e>
                        <m:r>
                          <a:rPr lang="en-US" altLang="zh-TW" i="1">
                            <a:latin typeface="Cambria Math" panose="02040503050406030204" pitchFamily="18" charset="0"/>
                            <a:ea typeface="Cambria Math" panose="02040503050406030204" pitchFamily="18" charset="0"/>
                          </a:rPr>
                          <m:t>𝑆</m:t>
                        </m:r>
                      </m:e>
                    </m:nary>
                    <m:r>
                      <a:rPr lang="en-US" altLang="zh-TW" b="0" i="1" smtClean="0">
                        <a:latin typeface="Cambria Math" panose="02040503050406030204" pitchFamily="18" charset="0"/>
                      </a:rPr>
                      <m:t>}</m:t>
                    </m:r>
                  </m:oMath>
                </a14:m>
                <a:r>
                  <a:rPr lang="zh-TW" altLang="en-US" dirty="0"/>
                  <a:t> </a:t>
                </a:r>
                <a:endParaRPr lang="en-US" altLang="zh-TW" dirty="0"/>
              </a:p>
              <a:p>
                <a:pPr marL="0" indent="0">
                  <a:buNone/>
                </a:pP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𝑚</m:t>
                        </m:r>
                      </m:e>
                      <m:sub>
                        <m:r>
                          <a:rPr lang="en-US" altLang="zh-TW" b="0" i="1" smtClean="0">
                            <a:latin typeface="Cambria Math" panose="02040503050406030204" pitchFamily="18" charset="0"/>
                          </a:rPr>
                          <m:t>𝑆𝐶</m:t>
                        </m:r>
                      </m:sub>
                    </m:sSub>
                    <m:d>
                      <m:dPr>
                        <m:ctrlPr>
                          <a:rPr lang="en-US" altLang="zh-TW" b="0" i="1" smtClean="0">
                            <a:latin typeface="Cambria Math" panose="02040503050406030204" pitchFamily="18" charset="0"/>
                          </a:rPr>
                        </m:ctrlPr>
                      </m:dPr>
                      <m:e>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𝐹</m:t>
                            </m:r>
                          </m:e>
                          <m:sup>
                            <m:r>
                              <a:rPr lang="en-US" altLang="zh-TW" b="0" i="1" smtClean="0">
                                <a:latin typeface="Cambria Math" panose="02040503050406030204" pitchFamily="18" charset="0"/>
                              </a:rPr>
                              <m:t>′</m:t>
                            </m:r>
                          </m:sup>
                        </m:sSup>
                      </m:e>
                    </m:d>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𝐹</m:t>
                        </m:r>
                      </m:e>
                      <m:sup>
                        <m:r>
                          <a:rPr lang="en-US" altLang="zh-TW" b="0" i="1" smtClean="0">
                            <a:latin typeface="Cambria Math" panose="02040503050406030204" pitchFamily="18" charset="0"/>
                          </a:rPr>
                          <m:t>′</m:t>
                        </m:r>
                      </m:sup>
                    </m:sSup>
                    <m:r>
                      <a:rPr lang="en-US" altLang="zh-TW" b="0" i="1" smtClean="0">
                        <a:latin typeface="Cambria Math" panose="02040503050406030204" pitchFamily="18" charset="0"/>
                      </a:rPr>
                      <m:t>|</m:t>
                    </m:r>
                  </m:oMath>
                </a14:m>
                <a:r>
                  <a:rPr lang="zh-TW" altLang="en-US" dirty="0"/>
                  <a:t> </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546" t="-1961"/>
                </a:stretch>
              </a:blipFill>
            </p:spPr>
            <p:txBody>
              <a:bodyPr/>
              <a:lstStyle/>
              <a:p>
                <a:r>
                  <a:rPr lang="zh-TW" altLang="en-US">
                    <a:noFill/>
                  </a:rPr>
                  <a:t> </a:t>
                </a:r>
              </a:p>
            </p:txBody>
          </p:sp>
        </mc:Fallback>
      </mc:AlternateContent>
      <p:pic>
        <p:nvPicPr>
          <p:cNvPr id="4" name="內容版面配置區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08833" y="3236976"/>
            <a:ext cx="3352800" cy="3621024"/>
          </a:xfrm>
          <a:prstGeom prst="rect">
            <a:avLst/>
          </a:prstGeom>
        </p:spPr>
      </p:pic>
    </p:spTree>
    <p:extLst>
      <p:ext uri="{BB962C8B-B14F-4D97-AF65-F5344CB8AC3E}">
        <p14:creationId xmlns:p14="http://schemas.microsoft.com/office/powerpoint/2010/main" val="3665228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Set Covering I</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514350" indent="-514350">
                  <a:buFont typeface="+mj-lt"/>
                  <a:buAutoNum type="arabicPeriod"/>
                </a:pPr>
                <a:r>
                  <a:rPr lang="en-US" altLang="zh-TW" dirty="0"/>
                  <a:t>Set </a:t>
                </a:r>
                <a14:m>
                  <m:oMath xmlns:m="http://schemas.openxmlformats.org/officeDocument/2006/math">
                    <m:r>
                      <a:rPr lang="en-US" altLang="zh-TW" b="0" i="1" smtClean="0">
                        <a:latin typeface="Cambria Math" panose="02040503050406030204" pitchFamily="18" charset="0"/>
                      </a:rPr>
                      <m:t>𝑆𝑈𝐵</m:t>
                    </m:r>
                    <m:r>
                      <a:rPr lang="en-US" altLang="zh-TW" b="0" i="1" smtClean="0">
                        <a:latin typeface="Cambria Math" panose="02040503050406030204" pitchFamily="18" charset="0"/>
                      </a:rPr>
                      <m:t>=∅, </m:t>
                    </m:r>
                    <m:r>
                      <a:rPr lang="en-US" altLang="zh-TW" b="0" i="1" smtClean="0">
                        <a:latin typeface="Cambria Math" panose="02040503050406030204" pitchFamily="18" charset="0"/>
                      </a:rPr>
                      <m:t>𝑈𝑁𝐶𝑂𝑉</m:t>
                    </m:r>
                    <m:r>
                      <a:rPr lang="en-US" altLang="zh-TW" b="0" i="1" smtClean="0">
                        <a:latin typeface="Cambria Math" panose="02040503050406030204" pitchFamily="18" charset="0"/>
                      </a:rPr>
                      <m:t>=</m:t>
                    </m:r>
                    <m:nary>
                      <m:naryPr>
                        <m:chr m:val="⋃"/>
                        <m:supHide m:val="on"/>
                        <m:ctrlPr>
                          <a:rPr lang="en-US" altLang="zh-TW" b="0" i="1" smtClean="0">
                            <a:latin typeface="Cambria Math" panose="02040503050406030204" pitchFamily="18" charset="0"/>
                          </a:rPr>
                        </m:ctrlPr>
                      </m:naryPr>
                      <m:sub>
                        <m:r>
                          <m:rPr>
                            <m:brk m:alnAt="7"/>
                          </m:rPr>
                          <a:rPr lang="en-US" altLang="zh-TW" b="0" i="1" smtClean="0">
                            <a:latin typeface="Cambria Math" panose="02040503050406030204" pitchFamily="18" charset="0"/>
                          </a:rPr>
                          <m:t>𝑆</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𝐹</m:t>
                        </m:r>
                      </m:sub>
                      <m:sup/>
                      <m:e>
                        <m:r>
                          <a:rPr lang="en-US" altLang="zh-TW" b="0" i="1" smtClean="0">
                            <a:latin typeface="Cambria Math" panose="02040503050406030204" pitchFamily="18" charset="0"/>
                          </a:rPr>
                          <m:t>𝑆</m:t>
                        </m:r>
                      </m:e>
                    </m:nary>
                    <m:r>
                      <a:rPr lang="en-US" altLang="zh-TW" b="0" i="1" smtClean="0">
                        <a:latin typeface="Cambria Math" panose="02040503050406030204" pitchFamily="18" charset="0"/>
                      </a:rPr>
                      <m:t>, </m:t>
                    </m:r>
                    <m:r>
                      <a:rPr lang="en-US" altLang="zh-TW" b="0" i="1" smtClean="0">
                        <a:latin typeface="Cambria Math" panose="02040503050406030204" pitchFamily="18" charset="0"/>
                      </a:rPr>
                      <m:t>𝑁</m:t>
                    </m:r>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𝐹</m:t>
                        </m:r>
                      </m:e>
                    </m:d>
                    <m:r>
                      <a:rPr lang="en-US" altLang="zh-TW" b="0" i="1" smtClean="0">
                        <a:latin typeface="Cambria Math" panose="02040503050406030204" pitchFamily="18" charset="0"/>
                      </a:rPr>
                      <m:t>, </m:t>
                    </m:r>
                    <m:r>
                      <a:rPr lang="en-US" altLang="zh-TW" b="0" i="1" smtClean="0">
                        <a:latin typeface="Cambria Math" panose="02040503050406030204" pitchFamily="18" charset="0"/>
                      </a:rPr>
                      <m:t>𝑆𝐸𝑇</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𝑖</m:t>
                        </m:r>
                      </m:e>
                    </m:d>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 1</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𝑁</m:t>
                    </m:r>
                    <m:r>
                      <a:rPr lang="en-US" altLang="zh-TW" b="0" i="1" smtClean="0">
                        <a:latin typeface="Cambria Math" panose="02040503050406030204" pitchFamily="18" charset="0"/>
                        <a:ea typeface="Cambria Math" panose="02040503050406030204" pitchFamily="18" charset="0"/>
                      </a:rPr>
                      <m:t>.</m:t>
                    </m:r>
                  </m:oMath>
                </a14:m>
                <a:endParaRPr lang="en-US" altLang="zh-TW" dirty="0"/>
              </a:p>
              <a:p>
                <a:pPr marL="514350" indent="-514350">
                  <a:buFont typeface="+mj-lt"/>
                  <a:buAutoNum type="arabicPeriod"/>
                </a:pPr>
                <a:r>
                  <a:rPr lang="en-US" altLang="zh-TW" dirty="0"/>
                  <a:t>If </a:t>
                </a:r>
                <a14:m>
                  <m:oMath xmlns:m="http://schemas.openxmlformats.org/officeDocument/2006/math">
                    <m:r>
                      <a:rPr lang="en-US" altLang="zh-TW" i="1">
                        <a:latin typeface="Cambria Math" panose="02040503050406030204" pitchFamily="18" charset="0"/>
                      </a:rPr>
                      <m:t>𝑈𝑁𝐶𝑂𝑉</m:t>
                    </m:r>
                    <m:r>
                      <a:rPr lang="en-US" altLang="zh-TW" i="1">
                        <a:latin typeface="Cambria Math" panose="02040503050406030204" pitchFamily="18" charset="0"/>
                      </a:rPr>
                      <m:t>=∅</m:t>
                    </m:r>
                  </m:oMath>
                </a14:m>
                <a:r>
                  <a:rPr lang="en-US" altLang="zh-TW" dirty="0"/>
                  <a:t>, halt and return </a:t>
                </a:r>
                <a14:m>
                  <m:oMath xmlns:m="http://schemas.openxmlformats.org/officeDocument/2006/math">
                    <m:r>
                      <a:rPr lang="en-US" altLang="zh-TW" i="1" dirty="0" smtClean="0">
                        <a:latin typeface="Cambria Math" panose="02040503050406030204" pitchFamily="18" charset="0"/>
                      </a:rPr>
                      <m:t>𝑆𝑈𝐵</m:t>
                    </m:r>
                  </m:oMath>
                </a14:m>
                <a:r>
                  <a:rPr lang="en-US" altLang="zh-TW" dirty="0"/>
                  <a:t>.</a:t>
                </a:r>
              </a:p>
              <a:p>
                <a:pPr marL="514350" indent="-514350">
                  <a:buFont typeface="+mj-lt"/>
                  <a:buAutoNum type="arabicPeriod"/>
                </a:pPr>
                <a:r>
                  <a:rPr lang="en-US" altLang="zh-TW" dirty="0"/>
                  <a:t>Choose </a:t>
                </a:r>
                <a14:m>
                  <m:oMath xmlns:m="http://schemas.openxmlformats.org/officeDocument/2006/math">
                    <m:r>
                      <a:rPr lang="en-US" altLang="zh-TW" b="0" i="1" smtClean="0">
                        <a:latin typeface="Cambria Math" panose="02040503050406030204" pitchFamily="18" charset="0"/>
                      </a:rPr>
                      <m:t>𝑗</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𝑁</m:t>
                    </m:r>
                  </m:oMath>
                </a14:m>
                <a:r>
                  <a:rPr lang="zh-TW" altLang="en-US" dirty="0"/>
                  <a:t> </a:t>
                </a:r>
                <a:r>
                  <a:rPr lang="en-US" altLang="zh-TW" dirty="0"/>
                  <a:t>such that </a:t>
                </a:r>
                <a14:m>
                  <m:oMath xmlns:m="http://schemas.openxmlformats.org/officeDocument/2006/math">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𝑆𝐸𝑇</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𝑗</m:t>
                            </m:r>
                          </m:e>
                        </m:d>
                      </m:e>
                    </m:d>
                  </m:oMath>
                </a14:m>
                <a:r>
                  <a:rPr lang="zh-TW" altLang="en-US" dirty="0"/>
                  <a:t> </a:t>
                </a:r>
                <a:r>
                  <a:rPr lang="en-US" altLang="zh-TW" dirty="0"/>
                  <a:t>is maximized.</a:t>
                </a:r>
              </a:p>
              <a:p>
                <a:pPr marL="514350" indent="-514350">
                  <a:buFont typeface="+mj-lt"/>
                  <a:buAutoNum type="arabicPeriod"/>
                </a:pPr>
                <a:r>
                  <a:rPr lang="en-US" altLang="zh-TW" dirty="0"/>
                  <a:t>Set </a:t>
                </a:r>
                <a14:m>
                  <m:oMath xmlns:m="http://schemas.openxmlformats.org/officeDocument/2006/math">
                    <m:r>
                      <a:rPr lang="en-US" altLang="zh-TW" b="0" i="1" smtClean="0">
                        <a:latin typeface="Cambria Math" panose="02040503050406030204" pitchFamily="18" charset="0"/>
                      </a:rPr>
                      <m:t>𝑆𝑈𝐵</m:t>
                    </m:r>
                    <m:r>
                      <a:rPr lang="en-US" altLang="zh-TW" b="0" i="1" smtClean="0">
                        <a:latin typeface="Cambria Math" panose="02040503050406030204" pitchFamily="18" charset="0"/>
                      </a:rPr>
                      <m:t>=</m:t>
                    </m:r>
                    <m:r>
                      <a:rPr lang="en-US" altLang="zh-TW" b="0" i="1" smtClean="0">
                        <a:latin typeface="Cambria Math" panose="02040503050406030204" pitchFamily="18" charset="0"/>
                      </a:rPr>
                      <m:t>𝑆𝑈𝐵</m:t>
                    </m:r>
                    <m:r>
                      <a:rPr lang="en-US" altLang="zh-TW" b="0" i="1" smtClean="0">
                        <a:latin typeface="Cambria Math" panose="02040503050406030204" pitchFamily="18" charset="0"/>
                        <a:ea typeface="Cambria Math" panose="02040503050406030204" pitchFamily="18" charset="0"/>
                      </a:rPr>
                      <m:t>∪</m:t>
                    </m:r>
                    <m:d>
                      <m:dPr>
                        <m:begChr m:val="{"/>
                        <m:endChr m:val="}"/>
                        <m:ctrlPr>
                          <a:rPr lang="en-US" altLang="zh-TW" b="0" i="1" smtClean="0">
                            <a:latin typeface="Cambria Math" panose="02040503050406030204" pitchFamily="18" charset="0"/>
                            <a:ea typeface="Cambria Math" panose="02040503050406030204" pitchFamily="18" charset="0"/>
                          </a:rPr>
                        </m:ctrlPr>
                      </m:dPr>
                      <m:e>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𝑗</m:t>
                            </m:r>
                          </m:sub>
                        </m:sSub>
                      </m:e>
                    </m:d>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𝑈𝑁𝐶𝑂𝑉</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𝑈𝑁𝐶𝑂𝑉</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𝑆𝐸𝑇</m:t>
                    </m:r>
                    <m:d>
                      <m:dPr>
                        <m:begChr m:val="["/>
                        <m:endChr m:val="]"/>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𝑗</m:t>
                        </m:r>
                      </m:e>
                    </m:d>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𝑆𝐸𝑇</m:t>
                    </m:r>
                    <m:d>
                      <m:dPr>
                        <m:begChr m:val="["/>
                        <m:endChr m:val="]"/>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𝑖</m:t>
                        </m:r>
                      </m:e>
                    </m:d>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𝑆𝐸𝑇</m:t>
                    </m:r>
                    <m:d>
                      <m:dPr>
                        <m:begChr m:val="["/>
                        <m:endChr m:val="]"/>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𝑖</m:t>
                        </m:r>
                      </m:e>
                    </m:d>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𝑆𝐸𝑇</m:t>
                    </m:r>
                    <m:d>
                      <m:dPr>
                        <m:begChr m:val="["/>
                        <m:endChr m:val="]"/>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𝑗</m:t>
                        </m:r>
                      </m:e>
                    </m:d>
                    <m:r>
                      <a:rPr lang="en-US" altLang="zh-TW" b="0" i="1" smtClean="0">
                        <a:latin typeface="Cambria Math" panose="02040503050406030204" pitchFamily="18" charset="0"/>
                        <a:ea typeface="Cambria Math" panose="02040503050406030204" pitchFamily="18" charset="0"/>
                      </a:rPr>
                      <m:t> </m:t>
                    </m:r>
                    <m:r>
                      <a:rPr lang="en-US" altLang="zh-TW" i="1">
                        <a:latin typeface="Cambria Math" panose="02040503050406030204" pitchFamily="18" charset="0"/>
                      </a:rPr>
                      <m:t>,1</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𝑖</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𝑁</m:t>
                    </m:r>
                  </m:oMath>
                </a14:m>
                <a:r>
                  <a:rPr lang="en-US" altLang="zh-TW" dirty="0"/>
                  <a:t>.</a:t>
                </a:r>
              </a:p>
              <a:p>
                <a:pPr marL="514350" indent="-514350">
                  <a:buFont typeface="+mj-lt"/>
                  <a:buAutoNum type="arabicPeriod"/>
                </a:pPr>
                <a:r>
                  <a:rPr lang="en-US" altLang="zh-TW" dirty="0"/>
                  <a:t>Go to 2.</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a:blip r:embed="rId2"/>
                <a:stretch>
                  <a:fillRect l="-1623" t="-22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7584882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Set Covering I</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4" name="內容版面配置區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8650" y="1825625"/>
            <a:ext cx="4029016" cy="4351338"/>
          </a:xfrm>
          <a:prstGeom prst="rect">
            <a:avLst/>
          </a:prstGeom>
        </p:spPr>
      </p:pic>
      <p:sp>
        <p:nvSpPr>
          <p:cNvPr id="10" name="矩形 9"/>
          <p:cNvSpPr/>
          <p:nvPr/>
        </p:nvSpPr>
        <p:spPr>
          <a:xfrm>
            <a:off x="1737219" y="2364982"/>
            <a:ext cx="1777767" cy="1200339"/>
          </a:xfrm>
          <a:prstGeom prst="rect">
            <a:avLst/>
          </a:prstGeom>
          <a:solidFill>
            <a:srgbClr val="92D05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p:cNvSpPr/>
          <p:nvPr/>
        </p:nvSpPr>
        <p:spPr>
          <a:xfrm>
            <a:off x="1862363" y="3651877"/>
            <a:ext cx="1357095" cy="2525086"/>
          </a:xfrm>
          <a:prstGeom prst="rect">
            <a:avLst/>
          </a:prstGeom>
          <a:solidFill>
            <a:srgbClr val="7030A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p:cNvSpPr/>
          <p:nvPr/>
        </p:nvSpPr>
        <p:spPr>
          <a:xfrm>
            <a:off x="3514987" y="2435668"/>
            <a:ext cx="923677" cy="3584765"/>
          </a:xfrm>
          <a:prstGeom prst="rect">
            <a:avLst/>
          </a:prstGeom>
          <a:solidFill>
            <a:schemeClr val="bg1">
              <a:lumMod val="5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p:cNvSpPr/>
          <p:nvPr/>
        </p:nvSpPr>
        <p:spPr>
          <a:xfrm>
            <a:off x="781574" y="1825625"/>
            <a:ext cx="3438088" cy="1269913"/>
          </a:xfrm>
          <a:prstGeom prst="rect">
            <a:avLst/>
          </a:prstGeom>
          <a:solidFill>
            <a:srgbClr val="00B0F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p:cNvSpPr/>
          <p:nvPr/>
        </p:nvSpPr>
        <p:spPr>
          <a:xfrm>
            <a:off x="897622" y="2491530"/>
            <a:ext cx="1526796" cy="3473042"/>
          </a:xfrm>
          <a:prstGeom prst="rect">
            <a:avLst/>
          </a:prstGeom>
          <a:solidFill>
            <a:srgbClr val="FF00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81300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9" grpId="0" animBg="1"/>
      <p:bldP spid="8" grpId="0" animBg="1"/>
      <p:bldP spid="7"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Set Covering I</a:t>
            </a:r>
            <a:endParaRPr lang="zh-TW" altLang="en-US" dirty="0"/>
          </a:p>
        </p:txBody>
      </p:sp>
      <p:pic>
        <p:nvPicPr>
          <p:cNvPr id="11" name="內容版面配置區 10"/>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628650" y="1902746"/>
            <a:ext cx="3886200" cy="4197096"/>
          </a:xfrm>
        </p:spPr>
      </p:pic>
      <mc:AlternateContent xmlns:mc="http://schemas.openxmlformats.org/markup-compatibility/2006">
        <mc:Choice xmlns:a14="http://schemas.microsoft.com/office/drawing/2010/main" Requires="a14">
          <p:sp>
            <p:nvSpPr>
              <p:cNvPr id="13" name="內容版面配置區 12"/>
              <p:cNvSpPr>
                <a:spLocks noGrp="1"/>
              </p:cNvSpPr>
              <p:nvPr>
                <p:ph sz="half" idx="2"/>
              </p:nvPr>
            </p:nvSpPr>
            <p:spPr/>
            <p:txBody>
              <a:bodyPr/>
              <a:lstStyle/>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𝐶</m:t>
                      </m:r>
                      <m:r>
                        <a:rPr lang="en-US" altLang="zh-TW" b="0" i="1" smtClean="0">
                          <a:latin typeface="Cambria Math" panose="02040503050406030204" pitchFamily="18" charset="0"/>
                        </a:rPr>
                        <m:t>|≤</m:t>
                      </m:r>
                      <m:nary>
                        <m:naryPr>
                          <m:chr m:val="∑"/>
                          <m:limLoc m:val="subSup"/>
                          <m:supHide m:val="on"/>
                          <m:ctrlPr>
                            <a:rPr lang="zh-TW" altLang="en-US" i="1" smtClean="0">
                              <a:latin typeface="Cambria Math" panose="02040503050406030204" pitchFamily="18" charset="0"/>
                            </a:rPr>
                          </m:ctrlPr>
                        </m:naryPr>
                        <m:sub>
                          <m:r>
                            <m:rPr>
                              <m:brk m:alnAt="9"/>
                            </m:rPr>
                            <a:rPr lang="en-US" altLang="zh-TW" b="0" i="1" smtClean="0">
                              <a:latin typeface="Cambria Math" panose="02040503050406030204" pitchFamily="18" charset="0"/>
                            </a:rPr>
                            <m:t>𝑆</m:t>
                          </m:r>
                          <m:r>
                            <a:rPr lang="en-US" altLang="zh-TW" b="0" i="1" smtClean="0">
                              <a:latin typeface="Cambria Math" panose="02040503050406030204" pitchFamily="18" charset="0"/>
                              <a:ea typeface="Cambria Math" panose="02040503050406030204" pitchFamily="18" charset="0"/>
                            </a:rPr>
                            <m:t>∈</m:t>
                          </m:r>
                          <m:sSup>
                            <m:sSupPr>
                              <m:ctrlPr>
                                <a:rPr lang="en-US" altLang="zh-TW" b="0" i="1" smtClean="0">
                                  <a:latin typeface="Cambria Math" panose="02040503050406030204" pitchFamily="18" charset="0"/>
                                  <a:ea typeface="Cambria Math" panose="02040503050406030204" pitchFamily="18" charset="0"/>
                                </a:rPr>
                              </m:ctrlPr>
                            </m:sSupPr>
                            <m:e>
                              <m:r>
                                <a:rPr lang="en-US" altLang="zh-TW" b="0" i="1" smtClean="0">
                                  <a:latin typeface="Cambria Math" panose="02040503050406030204" pitchFamily="18" charset="0"/>
                                  <a:ea typeface="Cambria Math" panose="02040503050406030204" pitchFamily="18" charset="0"/>
                                </a:rPr>
                                <m:t>𝐶</m:t>
                              </m:r>
                            </m:e>
                            <m:sup>
                              <m:r>
                                <a:rPr lang="en-US" altLang="zh-TW" b="0" i="1" smtClean="0">
                                  <a:latin typeface="Cambria Math" panose="02040503050406030204" pitchFamily="18" charset="0"/>
                                  <a:ea typeface="Cambria Math" panose="02040503050406030204" pitchFamily="18" charset="0"/>
                                </a:rPr>
                                <m:t>∗</m:t>
                              </m:r>
                            </m:sup>
                          </m:sSup>
                        </m:sub>
                        <m:sup/>
                        <m:e>
                          <m:nary>
                            <m:naryPr>
                              <m:chr m:val="∑"/>
                              <m:limLoc m:val="subSup"/>
                              <m:supHide m:val="on"/>
                              <m:ctrlPr>
                                <a:rPr lang="en-US" altLang="zh-TW" i="1" smtClean="0">
                                  <a:latin typeface="Cambria Math" panose="02040503050406030204" pitchFamily="18" charset="0"/>
                                </a:rPr>
                              </m:ctrlPr>
                            </m:naryPr>
                            <m:sub>
                              <m:r>
                                <m:rPr>
                                  <m:brk m:alnAt="9"/>
                                </m:rPr>
                                <a:rPr lang="en-US" altLang="zh-TW" b="0" i="1" smtClean="0">
                                  <a:latin typeface="Cambria Math" panose="02040503050406030204" pitchFamily="18" charset="0"/>
                                </a:rPr>
                                <m:t>𝑥</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𝑆</m:t>
                              </m:r>
                            </m:sub>
                            <m:sup/>
                            <m:e>
                              <m:r>
                                <a:rPr lang="en-US" altLang="zh-TW" b="0" i="1" smtClean="0">
                                  <a:latin typeface="Cambria Math" panose="02040503050406030204" pitchFamily="18" charset="0"/>
                                </a:rPr>
                                <m:t>𝑐</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e>
                              </m:d>
                            </m:e>
                          </m:nary>
                        </m:e>
                      </m:nary>
                      <m:r>
                        <a:rPr lang="zh-TW" altLang="en-US" dirty="0"/>
                        <m:t>≤</m:t>
                      </m:r>
                      <m:nary>
                        <m:naryPr>
                          <m:chr m:val="∑"/>
                          <m:limLoc m:val="subSup"/>
                          <m:supHide m:val="on"/>
                          <m:ctrlPr>
                            <a:rPr lang="zh-TW" altLang="en-US" i="1">
                              <a:latin typeface="Cambria Math" panose="02040503050406030204" pitchFamily="18" charset="0"/>
                            </a:rPr>
                          </m:ctrlPr>
                        </m:naryPr>
                        <m:sub>
                          <m:r>
                            <m:rPr>
                              <m:brk m:alnAt="9"/>
                            </m:rPr>
                            <a:rPr lang="en-US" altLang="zh-TW" i="1">
                              <a:latin typeface="Cambria Math" panose="02040503050406030204" pitchFamily="18" charset="0"/>
                            </a:rPr>
                            <m:t>𝑆</m:t>
                          </m:r>
                          <m:r>
                            <a:rPr lang="en-US" altLang="zh-TW" i="1">
                              <a:latin typeface="Cambria Math" panose="02040503050406030204" pitchFamily="18" charset="0"/>
                              <a:ea typeface="Cambria Math" panose="02040503050406030204" pitchFamily="18" charset="0"/>
                            </a:rPr>
                            <m:t>∈</m:t>
                          </m:r>
                          <m:sSup>
                            <m:sSupPr>
                              <m:ctrlPr>
                                <a:rPr lang="en-US" altLang="zh-TW" i="1">
                                  <a:latin typeface="Cambria Math" panose="02040503050406030204" pitchFamily="18" charset="0"/>
                                  <a:ea typeface="Cambria Math" panose="02040503050406030204" pitchFamily="18" charset="0"/>
                                </a:rPr>
                              </m:ctrlPr>
                            </m:sSupPr>
                            <m:e>
                              <m:r>
                                <a:rPr lang="en-US" altLang="zh-TW" i="1">
                                  <a:latin typeface="Cambria Math" panose="02040503050406030204" pitchFamily="18" charset="0"/>
                                  <a:ea typeface="Cambria Math" panose="02040503050406030204" pitchFamily="18" charset="0"/>
                                </a:rPr>
                                <m:t>𝐶</m:t>
                              </m:r>
                            </m:e>
                            <m:sup>
                              <m:r>
                                <a:rPr lang="en-US" altLang="zh-TW" i="1">
                                  <a:latin typeface="Cambria Math" panose="02040503050406030204" pitchFamily="18" charset="0"/>
                                  <a:ea typeface="Cambria Math" panose="02040503050406030204" pitchFamily="18" charset="0"/>
                                </a:rPr>
                                <m:t>∗</m:t>
                              </m:r>
                            </m:sup>
                          </m:sSup>
                        </m:sub>
                        <m:sup/>
                        <m:e>
                          <m:r>
                            <a:rPr lang="en-US" altLang="zh-TW" b="0" i="1" smtClean="0">
                              <a:latin typeface="Cambria Math" panose="02040503050406030204" pitchFamily="18" charset="0"/>
                              <a:ea typeface="Cambria Math" panose="02040503050406030204" pitchFamily="18" charset="0"/>
                            </a:rPr>
                            <m:t>𝐻</m:t>
                          </m:r>
                          <m:d>
                            <m:dPr>
                              <m:ctrlPr>
                                <a:rPr lang="en-US" altLang="zh-TW" b="0" i="1" smtClean="0">
                                  <a:latin typeface="Cambria Math" panose="02040503050406030204" pitchFamily="18" charset="0"/>
                                  <a:ea typeface="Cambria Math" panose="02040503050406030204" pitchFamily="18" charset="0"/>
                                </a:rPr>
                              </m:ctrlPr>
                            </m:dPr>
                            <m:e>
                              <m:d>
                                <m:dPr>
                                  <m:begChr m:val="|"/>
                                  <m:endChr m:val="|"/>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𝑆</m:t>
                                  </m:r>
                                </m:e>
                              </m:d>
                            </m:e>
                          </m:d>
                        </m:e>
                      </m:nary>
                      <m:r>
                        <a:rPr lang="en-US" altLang="zh-TW" i="1" smtClean="0">
                          <a:latin typeface="Cambria Math" panose="02040503050406030204" pitchFamily="18" charset="0"/>
                          <a:ea typeface="Cambria Math" panose="02040503050406030204" pitchFamily="18" charset="0"/>
                        </a:rPr>
                        <m:t>≤</m:t>
                      </m:r>
                      <m:d>
                        <m:dPr>
                          <m:begChr m:val="|"/>
                          <m:endChr m:val="|"/>
                          <m:ctrlPr>
                            <a:rPr lang="en-US" altLang="zh-TW" b="0" i="1" smtClean="0">
                              <a:latin typeface="Cambria Math" panose="02040503050406030204" pitchFamily="18" charset="0"/>
                              <a:ea typeface="Cambria Math" panose="02040503050406030204" pitchFamily="18" charset="0"/>
                            </a:rPr>
                          </m:ctrlPr>
                        </m:dPr>
                        <m:e>
                          <m:sSup>
                            <m:sSupPr>
                              <m:ctrlPr>
                                <a:rPr lang="en-US" altLang="zh-TW" b="0" i="1" smtClean="0">
                                  <a:latin typeface="Cambria Math" panose="02040503050406030204" pitchFamily="18" charset="0"/>
                                  <a:ea typeface="Cambria Math" panose="02040503050406030204" pitchFamily="18" charset="0"/>
                                </a:rPr>
                              </m:ctrlPr>
                            </m:sSupPr>
                            <m:e>
                              <m:r>
                                <a:rPr lang="en-US" altLang="zh-TW" b="0" i="1" smtClean="0">
                                  <a:latin typeface="Cambria Math" panose="02040503050406030204" pitchFamily="18" charset="0"/>
                                  <a:ea typeface="Cambria Math" panose="02040503050406030204" pitchFamily="18" charset="0"/>
                                </a:rPr>
                                <m:t>𝐶</m:t>
                              </m:r>
                            </m:e>
                            <m:sup>
                              <m:r>
                                <a:rPr lang="en-US" altLang="zh-TW" b="0" i="1" smtClean="0">
                                  <a:latin typeface="Cambria Math" panose="02040503050406030204" pitchFamily="18" charset="0"/>
                                  <a:ea typeface="Cambria Math" panose="02040503050406030204" pitchFamily="18" charset="0"/>
                                </a:rPr>
                                <m:t>∗</m:t>
                              </m:r>
                            </m:sup>
                          </m:sSup>
                        </m:e>
                      </m:d>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𝐻</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𝑘</m:t>
                      </m:r>
                      <m:r>
                        <a:rPr lang="en-US" altLang="zh-TW" b="0" i="1" smtClean="0">
                          <a:latin typeface="Cambria Math" panose="02040503050406030204" pitchFamily="18" charset="0"/>
                          <a:ea typeface="Cambria Math" panose="02040503050406030204" pitchFamily="18" charset="0"/>
                        </a:rPr>
                        <m:t>)</m:t>
                      </m:r>
                    </m:oMath>
                  </m:oMathPara>
                </a14:m>
                <a:endParaRPr lang="en-US" altLang="zh-TW" dirty="0"/>
              </a:p>
              <a:p>
                <a:pPr marL="0" indent="0">
                  <a:buNone/>
                </a:pPr>
                <a:endParaRPr lang="en-US" altLang="zh-TW"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altLang="zh-TW" i="1" smtClean="0">
                              <a:latin typeface="Cambria Math" panose="02040503050406030204" pitchFamily="18" charset="0"/>
                            </a:rPr>
                          </m:ctrlPr>
                        </m:fPr>
                        <m:num>
                          <m:d>
                            <m:dPr>
                              <m:begChr m:val="|"/>
                              <m:endChr m:val="|"/>
                              <m:ctrlPr>
                                <a:rPr lang="en-US" altLang="zh-TW" i="1">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𝐶</m:t>
                              </m:r>
                            </m:e>
                          </m:d>
                        </m:num>
                        <m:den>
                          <m:d>
                            <m:dPr>
                              <m:begChr m:val="|"/>
                              <m:endChr m:val="|"/>
                              <m:ctrlPr>
                                <a:rPr lang="en-US" altLang="zh-TW" i="1">
                                  <a:latin typeface="Cambria Math" panose="02040503050406030204" pitchFamily="18" charset="0"/>
                                  <a:ea typeface="Cambria Math" panose="02040503050406030204" pitchFamily="18" charset="0"/>
                                </a:rPr>
                              </m:ctrlPr>
                            </m:dPr>
                            <m:e>
                              <m:sSup>
                                <m:sSupPr>
                                  <m:ctrlPr>
                                    <a:rPr lang="en-US" altLang="zh-TW" i="1">
                                      <a:latin typeface="Cambria Math" panose="02040503050406030204" pitchFamily="18" charset="0"/>
                                      <a:ea typeface="Cambria Math" panose="02040503050406030204" pitchFamily="18" charset="0"/>
                                    </a:rPr>
                                  </m:ctrlPr>
                                </m:sSupPr>
                                <m:e>
                                  <m:r>
                                    <a:rPr lang="en-US" altLang="zh-TW" i="1">
                                      <a:latin typeface="Cambria Math" panose="02040503050406030204" pitchFamily="18" charset="0"/>
                                      <a:ea typeface="Cambria Math" panose="02040503050406030204" pitchFamily="18" charset="0"/>
                                    </a:rPr>
                                    <m:t>𝐶</m:t>
                                  </m:r>
                                </m:e>
                                <m:sup>
                                  <m:r>
                                    <a:rPr lang="en-US" altLang="zh-TW" i="1">
                                      <a:latin typeface="Cambria Math" panose="02040503050406030204" pitchFamily="18" charset="0"/>
                                      <a:ea typeface="Cambria Math" panose="02040503050406030204" pitchFamily="18" charset="0"/>
                                    </a:rPr>
                                    <m:t>∗</m:t>
                                  </m:r>
                                </m:sup>
                              </m:sSup>
                            </m:e>
                          </m:d>
                        </m:den>
                      </m:f>
                      <m:r>
                        <a:rPr lang="en-US" altLang="zh-TW" i="1" smtClean="0">
                          <a:latin typeface="Cambria Math" panose="02040503050406030204" pitchFamily="18" charset="0"/>
                          <a:ea typeface="Cambria Math" panose="02040503050406030204" pitchFamily="18" charset="0"/>
                        </a:rPr>
                        <m:t>≤</m:t>
                      </m:r>
                      <m:nary>
                        <m:naryPr>
                          <m:chr m:val="∑"/>
                          <m:ctrlPr>
                            <a:rPr lang="en-US" altLang="zh-TW" i="1">
                              <a:latin typeface="Cambria Math" panose="02040503050406030204" pitchFamily="18" charset="0"/>
                              <a:ea typeface="Cambria Math" panose="02040503050406030204" pitchFamily="18" charset="0"/>
                            </a:rPr>
                          </m:ctrlPr>
                        </m:naryPr>
                        <m:sub>
                          <m:r>
                            <m:rPr>
                              <m:brk m:alnAt="23"/>
                            </m:rPr>
                            <a:rPr lang="en-US" altLang="zh-TW" i="1">
                              <a:latin typeface="Cambria Math" panose="02040503050406030204" pitchFamily="18" charset="0"/>
                              <a:ea typeface="Cambria Math" panose="02040503050406030204" pitchFamily="18" charset="0"/>
                            </a:rPr>
                            <m:t>𝑗</m:t>
                          </m:r>
                          <m:r>
                            <a:rPr lang="en-US" altLang="zh-TW" i="1">
                              <a:latin typeface="Cambria Math" panose="02040503050406030204" pitchFamily="18" charset="0"/>
                              <a:ea typeface="Cambria Math" panose="02040503050406030204" pitchFamily="18" charset="0"/>
                            </a:rPr>
                            <m:t>=1</m:t>
                          </m:r>
                        </m:sub>
                        <m:sup>
                          <m:r>
                            <a:rPr lang="en-US" altLang="zh-TW" i="1">
                              <a:latin typeface="Cambria Math" panose="02040503050406030204" pitchFamily="18" charset="0"/>
                              <a:ea typeface="Cambria Math" panose="02040503050406030204" pitchFamily="18" charset="0"/>
                            </a:rPr>
                            <m:t>𝑘</m:t>
                          </m:r>
                        </m:sup>
                        <m:e>
                          <m:f>
                            <m:fPr>
                              <m:ctrlPr>
                                <a:rPr lang="en-US" altLang="zh-TW" i="1">
                                  <a:latin typeface="Cambria Math" panose="02040503050406030204" pitchFamily="18" charset="0"/>
                                  <a:ea typeface="Cambria Math" panose="02040503050406030204" pitchFamily="18" charset="0"/>
                                </a:rPr>
                              </m:ctrlPr>
                            </m:fPr>
                            <m:num>
                              <m:r>
                                <a:rPr lang="en-US" altLang="zh-TW" i="1">
                                  <a:latin typeface="Cambria Math" panose="02040503050406030204" pitchFamily="18" charset="0"/>
                                  <a:ea typeface="Cambria Math" panose="02040503050406030204" pitchFamily="18" charset="0"/>
                                </a:rPr>
                                <m:t>1</m:t>
                              </m:r>
                            </m:num>
                            <m:den>
                              <m:r>
                                <a:rPr lang="en-US" altLang="zh-TW" i="1">
                                  <a:latin typeface="Cambria Math" panose="02040503050406030204" pitchFamily="18" charset="0"/>
                                  <a:ea typeface="Cambria Math" panose="02040503050406030204" pitchFamily="18" charset="0"/>
                                </a:rPr>
                                <m:t>𝑗</m:t>
                              </m:r>
                            </m:den>
                          </m:f>
                        </m:e>
                      </m:nary>
                    </m:oMath>
                  </m:oMathPara>
                </a14:m>
                <a:endParaRPr lang="en-US" altLang="zh-TW" dirty="0"/>
              </a:p>
            </p:txBody>
          </p:sp>
        </mc:Choice>
        <mc:Fallback>
          <p:sp>
            <p:nvSpPr>
              <p:cNvPr id="13" name="內容版面配置區 12"/>
              <p:cNvSpPr>
                <a:spLocks noGrp="1" noRot="1" noChangeAspect="1" noMove="1" noResize="1" noEditPoints="1" noAdjustHandles="1" noChangeArrowheads="1" noChangeShapeType="1" noTextEdit="1"/>
              </p:cNvSpPr>
              <p:nvPr>
                <p:ph sz="half" idx="2"/>
              </p:nvPr>
            </p:nvSpPr>
            <p:spPr>
              <a:blipFill>
                <a:blip r:embed="rId3"/>
                <a:stretch>
                  <a:fillRect l="-31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文字方塊 2"/>
              <p:cNvSpPr txBox="1"/>
              <p:nvPr/>
            </p:nvSpPr>
            <p:spPr>
              <a:xfrm>
                <a:off x="1390947" y="3695351"/>
                <a:ext cx="309380"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solidFill>
                                <a:srgbClr val="FF0000"/>
                              </a:solidFill>
                              <a:latin typeface="Cambria Math" panose="02040503050406030204" pitchFamily="18" charset="0"/>
                            </a:rPr>
                          </m:ctrlPr>
                        </m:fPr>
                        <m:num>
                          <m:r>
                            <a:rPr lang="en-US" altLang="zh-TW" b="0" i="1" smtClean="0">
                              <a:solidFill>
                                <a:srgbClr val="FF0000"/>
                              </a:solidFill>
                              <a:latin typeface="Cambria Math" panose="02040503050406030204" pitchFamily="18" charset="0"/>
                            </a:rPr>
                            <m:t>1</m:t>
                          </m:r>
                        </m:num>
                        <m:den>
                          <m:r>
                            <a:rPr lang="en-US" altLang="zh-TW" b="0" i="1" smtClean="0">
                              <a:solidFill>
                                <a:srgbClr val="FF0000"/>
                              </a:solidFill>
                              <a:latin typeface="Cambria Math" panose="02040503050406030204" pitchFamily="18" charset="0"/>
                            </a:rPr>
                            <m:t>12</m:t>
                          </m:r>
                        </m:den>
                      </m:f>
                    </m:oMath>
                  </m:oMathPara>
                </a14:m>
                <a:endParaRPr lang="zh-TW" altLang="en-US" sz="2000" dirty="0">
                  <a:solidFill>
                    <a:srgbClr val="FF0000"/>
                  </a:solidFill>
                </a:endParaRPr>
              </a:p>
            </p:txBody>
          </p:sp>
        </mc:Choice>
        <mc:Fallback xmlns="">
          <p:sp>
            <p:nvSpPr>
              <p:cNvPr id="3" name="文字方塊 2"/>
              <p:cNvSpPr txBox="1">
                <a:spLocks noRot="1" noChangeAspect="1" noMove="1" noResize="1" noEditPoints="1" noAdjustHandles="1" noChangeArrowheads="1" noChangeShapeType="1" noTextEdit="1"/>
              </p:cNvSpPr>
              <p:nvPr/>
            </p:nvSpPr>
            <p:spPr>
              <a:xfrm>
                <a:off x="1390947" y="3695351"/>
                <a:ext cx="309380" cy="518604"/>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方塊 8"/>
              <p:cNvSpPr txBox="1"/>
              <p:nvPr/>
            </p:nvSpPr>
            <p:spPr>
              <a:xfrm>
                <a:off x="2417060" y="1902746"/>
                <a:ext cx="181139"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solidFill>
                                <a:srgbClr val="0000FF"/>
                              </a:solidFill>
                              <a:latin typeface="Cambria Math" panose="02040503050406030204" pitchFamily="18" charset="0"/>
                            </a:rPr>
                          </m:ctrlPr>
                        </m:fPr>
                        <m:num>
                          <m:r>
                            <a:rPr lang="en-US" altLang="zh-TW" b="0" i="1" smtClean="0">
                              <a:solidFill>
                                <a:srgbClr val="0000FF"/>
                              </a:solidFill>
                              <a:latin typeface="Cambria Math" panose="02040503050406030204" pitchFamily="18" charset="0"/>
                            </a:rPr>
                            <m:t>1</m:t>
                          </m:r>
                        </m:num>
                        <m:den>
                          <m:r>
                            <a:rPr lang="en-US" altLang="zh-TW" b="0" i="1" smtClean="0">
                              <a:solidFill>
                                <a:srgbClr val="0000FF"/>
                              </a:solidFill>
                              <a:latin typeface="Cambria Math" panose="02040503050406030204" pitchFamily="18" charset="0"/>
                            </a:rPr>
                            <m:t>6</m:t>
                          </m:r>
                        </m:den>
                      </m:f>
                    </m:oMath>
                  </m:oMathPara>
                </a14:m>
                <a:endParaRPr lang="zh-TW" altLang="en-US" sz="2000" dirty="0">
                  <a:solidFill>
                    <a:srgbClr val="0000FF"/>
                  </a:solidFill>
                </a:endParaRPr>
              </a:p>
            </p:txBody>
          </p:sp>
        </mc:Choice>
        <mc:Fallback xmlns="">
          <p:sp>
            <p:nvSpPr>
              <p:cNvPr id="9" name="文字方塊 8"/>
              <p:cNvSpPr txBox="1">
                <a:spLocks noRot="1" noChangeAspect="1" noMove="1" noResize="1" noEditPoints="1" noAdjustHandles="1" noChangeArrowheads="1" noChangeShapeType="1" noTextEdit="1"/>
              </p:cNvSpPr>
              <p:nvPr/>
            </p:nvSpPr>
            <p:spPr>
              <a:xfrm>
                <a:off x="2417060" y="1902746"/>
                <a:ext cx="181139" cy="520399"/>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p:cNvSpPr txBox="1"/>
              <p:nvPr/>
            </p:nvSpPr>
            <p:spPr>
              <a:xfrm>
                <a:off x="3851329" y="3693492"/>
                <a:ext cx="181139" cy="5204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solidFill>
                                <a:schemeClr val="bg1">
                                  <a:lumMod val="50000"/>
                                </a:schemeClr>
                              </a:solidFill>
                              <a:latin typeface="Cambria Math" panose="02040503050406030204" pitchFamily="18" charset="0"/>
                            </a:rPr>
                          </m:ctrlPr>
                        </m:fPr>
                        <m:num>
                          <m:r>
                            <a:rPr lang="en-US" altLang="zh-TW" b="0" i="1" smtClean="0">
                              <a:solidFill>
                                <a:schemeClr val="bg1">
                                  <a:lumMod val="50000"/>
                                </a:schemeClr>
                              </a:solidFill>
                              <a:latin typeface="Cambria Math" panose="02040503050406030204" pitchFamily="18" charset="0"/>
                            </a:rPr>
                            <m:t>1</m:t>
                          </m:r>
                        </m:num>
                        <m:den>
                          <m:r>
                            <a:rPr lang="en-US" altLang="zh-TW" b="0" i="1" smtClean="0">
                              <a:solidFill>
                                <a:schemeClr val="bg1">
                                  <a:lumMod val="50000"/>
                                </a:schemeClr>
                              </a:solidFill>
                              <a:latin typeface="Cambria Math" panose="02040503050406030204" pitchFamily="18" charset="0"/>
                            </a:rPr>
                            <m:t>5</m:t>
                          </m:r>
                        </m:den>
                      </m:f>
                    </m:oMath>
                  </m:oMathPara>
                </a14:m>
                <a:endParaRPr lang="zh-TW" altLang="en-US" sz="2000" dirty="0">
                  <a:solidFill>
                    <a:schemeClr val="bg1">
                      <a:lumMod val="50000"/>
                    </a:schemeClr>
                  </a:solidFill>
                </a:endParaRPr>
              </a:p>
            </p:txBody>
          </p:sp>
        </mc:Choice>
        <mc:Fallback xmlns="">
          <p:sp>
            <p:nvSpPr>
              <p:cNvPr id="12" name="文字方塊 11"/>
              <p:cNvSpPr txBox="1">
                <a:spLocks noRot="1" noChangeAspect="1" noMove="1" noResize="1" noEditPoints="1" noAdjustHandles="1" noChangeArrowheads="1" noChangeShapeType="1" noTextEdit="1"/>
              </p:cNvSpPr>
              <p:nvPr/>
            </p:nvSpPr>
            <p:spPr>
              <a:xfrm>
                <a:off x="3851329" y="3693492"/>
                <a:ext cx="181139" cy="520463"/>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p:cNvSpPr txBox="1"/>
              <p:nvPr/>
            </p:nvSpPr>
            <p:spPr>
              <a:xfrm>
                <a:off x="2571750" y="4213955"/>
                <a:ext cx="181139"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solidFill>
                                <a:srgbClr val="7030A0"/>
                              </a:solidFill>
                              <a:latin typeface="Cambria Math" panose="02040503050406030204" pitchFamily="18" charset="0"/>
                            </a:rPr>
                          </m:ctrlPr>
                        </m:fPr>
                        <m:num>
                          <m:r>
                            <a:rPr lang="en-US" altLang="zh-TW" b="0" i="1" smtClean="0">
                              <a:solidFill>
                                <a:srgbClr val="7030A0"/>
                              </a:solidFill>
                              <a:latin typeface="Cambria Math" panose="02040503050406030204" pitchFamily="18" charset="0"/>
                            </a:rPr>
                            <m:t>1</m:t>
                          </m:r>
                        </m:num>
                        <m:den>
                          <m:r>
                            <a:rPr lang="en-US" altLang="zh-TW" b="0" i="1" smtClean="0">
                              <a:solidFill>
                                <a:srgbClr val="7030A0"/>
                              </a:solidFill>
                              <a:latin typeface="Cambria Math" panose="02040503050406030204" pitchFamily="18" charset="0"/>
                            </a:rPr>
                            <m:t>4</m:t>
                          </m:r>
                        </m:den>
                      </m:f>
                    </m:oMath>
                  </m:oMathPara>
                </a14:m>
                <a:endParaRPr lang="zh-TW" altLang="en-US" sz="2000" dirty="0">
                  <a:solidFill>
                    <a:srgbClr val="7030A0"/>
                  </a:solidFill>
                </a:endParaRPr>
              </a:p>
            </p:txBody>
          </p:sp>
        </mc:Choice>
        <mc:Fallback xmlns="">
          <p:sp>
            <p:nvSpPr>
              <p:cNvPr id="14" name="文字方塊 13"/>
              <p:cNvSpPr txBox="1">
                <a:spLocks noRot="1" noChangeAspect="1" noMove="1" noResize="1" noEditPoints="1" noAdjustHandles="1" noChangeArrowheads="1" noChangeShapeType="1" noTextEdit="1"/>
              </p:cNvSpPr>
              <p:nvPr/>
            </p:nvSpPr>
            <p:spPr>
              <a:xfrm>
                <a:off x="2571750" y="4213955"/>
                <a:ext cx="181139" cy="518604"/>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p:cNvSpPr txBox="1"/>
              <p:nvPr/>
            </p:nvSpPr>
            <p:spPr>
              <a:xfrm>
                <a:off x="2557981" y="3059248"/>
                <a:ext cx="181139"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solidFill>
                                <a:srgbClr val="00B050"/>
                              </a:solidFill>
                              <a:latin typeface="Cambria Math" panose="02040503050406030204" pitchFamily="18" charset="0"/>
                            </a:rPr>
                          </m:ctrlPr>
                        </m:fPr>
                        <m:num>
                          <m:r>
                            <a:rPr lang="en-US" altLang="zh-TW" b="0" i="1" smtClean="0">
                              <a:solidFill>
                                <a:srgbClr val="00B050"/>
                              </a:solidFill>
                              <a:latin typeface="Cambria Math" panose="02040503050406030204" pitchFamily="18" charset="0"/>
                            </a:rPr>
                            <m:t>1</m:t>
                          </m:r>
                        </m:num>
                        <m:den>
                          <m:r>
                            <a:rPr lang="en-US" altLang="zh-TW" b="0" i="1" smtClean="0">
                              <a:solidFill>
                                <a:srgbClr val="00B050"/>
                              </a:solidFill>
                              <a:latin typeface="Cambria Math" panose="02040503050406030204" pitchFamily="18" charset="0"/>
                            </a:rPr>
                            <m:t>1</m:t>
                          </m:r>
                        </m:den>
                      </m:f>
                    </m:oMath>
                  </m:oMathPara>
                </a14:m>
                <a:endParaRPr lang="zh-TW" altLang="en-US" sz="2000" dirty="0">
                  <a:solidFill>
                    <a:srgbClr val="00B050"/>
                  </a:solidFill>
                </a:endParaRPr>
              </a:p>
            </p:txBody>
          </p:sp>
        </mc:Choice>
        <mc:Fallback xmlns="">
          <p:sp>
            <p:nvSpPr>
              <p:cNvPr id="15" name="文字方塊 14"/>
              <p:cNvSpPr txBox="1">
                <a:spLocks noRot="1" noChangeAspect="1" noMove="1" noResize="1" noEditPoints="1" noAdjustHandles="1" noChangeArrowheads="1" noChangeShapeType="1" noTextEdit="1"/>
              </p:cNvSpPr>
              <p:nvPr/>
            </p:nvSpPr>
            <p:spPr>
              <a:xfrm>
                <a:off x="2557981" y="3059248"/>
                <a:ext cx="181139" cy="518604"/>
              </a:xfrm>
              <a:prstGeom prst="rect">
                <a:avLst/>
              </a:prstGeom>
              <a:blipFill>
                <a:blip r:embed="rId8"/>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320434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2" grpId="0"/>
      <p:bldP spid="14" grpId="0"/>
      <p:bldP spid="1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Set Covering II</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𝐼𝑁𝑃𝑈𝑇</m:t>
                        </m:r>
                      </m:e>
                      <m:sub>
                        <m:r>
                          <a:rPr lang="en-US" altLang="zh-TW" b="0" i="1" smtClean="0">
                            <a:latin typeface="Cambria Math" panose="02040503050406030204" pitchFamily="18" charset="0"/>
                          </a:rPr>
                          <m:t>𝐸</m:t>
                        </m:r>
                        <m:r>
                          <a:rPr lang="en-US" altLang="zh-TW" i="1">
                            <a:latin typeface="Cambria Math" panose="02040503050406030204" pitchFamily="18" charset="0"/>
                          </a:rPr>
                          <m:t>𝐶</m:t>
                        </m:r>
                      </m:sub>
                    </m:sSub>
                    <m:r>
                      <a:rPr lang="en-US" altLang="zh-TW" i="1">
                        <a:latin typeface="Cambria Math" panose="02040503050406030204" pitchFamily="18" charset="0"/>
                      </a:rPr>
                      <m:t>={</m:t>
                    </m:r>
                    <m:r>
                      <a:rPr lang="en-US" altLang="zh-TW" i="1">
                        <a:latin typeface="Cambria Math" panose="02040503050406030204" pitchFamily="18" charset="0"/>
                      </a:rPr>
                      <m:t>𝐹</m:t>
                    </m:r>
                    <m:r>
                      <a:rPr lang="en-US" altLang="zh-TW" i="1">
                        <a:latin typeface="Cambria Math" panose="02040503050406030204" pitchFamily="18" charset="0"/>
                      </a:rPr>
                      <m:t>:</m:t>
                    </m:r>
                    <m:r>
                      <a:rPr lang="en-US" altLang="zh-TW" i="1">
                        <a:latin typeface="Cambria Math" panose="02040503050406030204" pitchFamily="18" charset="0"/>
                      </a:rPr>
                      <m:t>𝐹</m:t>
                    </m:r>
                  </m:oMath>
                </a14:m>
                <a:r>
                  <a:rPr lang="zh-TW" altLang="en-US" dirty="0"/>
                  <a:t> </a:t>
                </a:r>
                <a:r>
                  <a:rPr lang="en-US" altLang="zh-TW" dirty="0"/>
                  <a:t>is a finite family </a:t>
                </a:r>
                <a14:m>
                  <m:oMath xmlns:m="http://schemas.openxmlformats.org/officeDocument/2006/math">
                    <m:r>
                      <a:rPr lang="en-US" altLang="zh-TW">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2</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𝑝</m:t>
                        </m:r>
                      </m:sub>
                    </m:sSub>
                    <m:r>
                      <a:rPr lang="en-US" altLang="zh-TW" i="1">
                        <a:latin typeface="Cambria Math" panose="02040503050406030204" pitchFamily="18" charset="0"/>
                      </a:rPr>
                      <m:t>}</m:t>
                    </m:r>
                  </m:oMath>
                </a14:m>
                <a:r>
                  <a:rPr lang="en-US" altLang="zh-TW" dirty="0"/>
                  <a:t> of finite sets</a:t>
                </a:r>
                <a14:m>
                  <m:oMath xmlns:m="http://schemas.openxmlformats.org/officeDocument/2006/math">
                    <m:r>
                      <a:rPr lang="en-US" altLang="zh-TW" i="1">
                        <a:latin typeface="Cambria Math" panose="02040503050406030204" pitchFamily="18" charset="0"/>
                      </a:rPr>
                      <m:t>}</m:t>
                    </m:r>
                  </m:oMath>
                </a14:m>
                <a:endParaRPr lang="zh-TW" altLang="en-US" dirty="0"/>
              </a:p>
              <a:p>
                <a:pPr marL="0" indent="0">
                  <a:buNone/>
                </a:pP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𝑆𝑂𝐿</m:t>
                        </m:r>
                      </m:e>
                      <m:sub>
                        <m:r>
                          <a:rPr lang="en-US" altLang="zh-TW" b="0" i="1" smtClean="0">
                            <a:latin typeface="Cambria Math" panose="02040503050406030204" pitchFamily="18" charset="0"/>
                          </a:rPr>
                          <m:t>𝐸</m:t>
                        </m:r>
                        <m:r>
                          <a:rPr lang="en-US" altLang="zh-TW" i="1">
                            <a:latin typeface="Cambria Math" panose="02040503050406030204" pitchFamily="18" charset="0"/>
                          </a:rPr>
                          <m:t>𝐶</m:t>
                        </m:r>
                      </m:sub>
                    </m:sSub>
                    <m:d>
                      <m:dPr>
                        <m:ctrlPr>
                          <a:rPr lang="en-US" altLang="zh-TW" i="1">
                            <a:latin typeface="Cambria Math" panose="02040503050406030204" pitchFamily="18" charset="0"/>
                          </a:rPr>
                        </m:ctrlPr>
                      </m:dPr>
                      <m:e>
                        <m:r>
                          <a:rPr lang="en-US" altLang="zh-TW" i="1">
                            <a:latin typeface="Cambria Math" panose="02040503050406030204" pitchFamily="18" charset="0"/>
                          </a:rPr>
                          <m:t>𝐹</m:t>
                        </m:r>
                      </m:e>
                    </m:d>
                    <m:r>
                      <a:rPr lang="en-US" altLang="zh-TW" i="1">
                        <a:latin typeface="Cambria Math" panose="02040503050406030204" pitchFamily="18" charset="0"/>
                      </a:rPr>
                      <m:t>={</m:t>
                    </m:r>
                    <m:sSup>
                      <m:sSupPr>
                        <m:ctrlPr>
                          <a:rPr lang="en-US" altLang="zh-TW" i="1">
                            <a:latin typeface="Cambria Math" panose="02040503050406030204" pitchFamily="18" charset="0"/>
                          </a:rPr>
                        </m:ctrlPr>
                      </m:sSupPr>
                      <m:e>
                        <m:r>
                          <a:rPr lang="en-US" altLang="zh-TW" i="1">
                            <a:latin typeface="Cambria Math" panose="02040503050406030204" pitchFamily="18" charset="0"/>
                          </a:rPr>
                          <m:t>𝐹</m:t>
                        </m:r>
                      </m:e>
                      <m:sup>
                        <m:r>
                          <a:rPr lang="en-US" altLang="zh-TW" i="1">
                            <a:latin typeface="Cambria Math" panose="02040503050406030204" pitchFamily="18" charset="0"/>
                          </a:rPr>
                          <m:t>′</m:t>
                        </m:r>
                      </m:sup>
                    </m:sSup>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𝐹</m:t>
                    </m:r>
                    <m:r>
                      <a:rPr lang="en-US" altLang="zh-TW" i="1">
                        <a:latin typeface="Cambria Math" panose="02040503050406030204" pitchFamily="18" charset="0"/>
                        <a:ea typeface="Cambria Math" panose="02040503050406030204" pitchFamily="18" charset="0"/>
                      </a:rPr>
                      <m:t>:</m:t>
                    </m:r>
                    <m:nary>
                      <m:naryPr>
                        <m:chr m:val="⋃"/>
                        <m:supHide m:val="on"/>
                        <m:ctrlPr>
                          <a:rPr lang="en-US" altLang="zh-TW" i="1">
                            <a:latin typeface="Cambria Math" panose="02040503050406030204" pitchFamily="18" charset="0"/>
                            <a:ea typeface="Cambria Math" panose="02040503050406030204" pitchFamily="18" charset="0"/>
                          </a:rPr>
                        </m:ctrlPr>
                      </m:naryPr>
                      <m:sub>
                        <m:r>
                          <m:rPr>
                            <m:brk m:alnAt="7"/>
                          </m:rPr>
                          <a:rPr lang="en-US" altLang="zh-TW" i="1">
                            <a:latin typeface="Cambria Math" panose="02040503050406030204" pitchFamily="18" charset="0"/>
                            <a:ea typeface="Cambria Math" panose="02040503050406030204" pitchFamily="18" charset="0"/>
                          </a:rPr>
                          <m:t>𝑆</m:t>
                        </m:r>
                        <m:r>
                          <a:rPr lang="en-US" altLang="zh-TW" i="1">
                            <a:latin typeface="Cambria Math" panose="02040503050406030204" pitchFamily="18" charset="0"/>
                            <a:ea typeface="Cambria Math" panose="02040503050406030204" pitchFamily="18" charset="0"/>
                          </a:rPr>
                          <m:t>∈</m:t>
                        </m:r>
                        <m:sSup>
                          <m:sSupPr>
                            <m:ctrlPr>
                              <a:rPr lang="en-US" altLang="zh-TW" i="1">
                                <a:latin typeface="Cambria Math" panose="02040503050406030204" pitchFamily="18" charset="0"/>
                                <a:ea typeface="Cambria Math" panose="02040503050406030204" pitchFamily="18" charset="0"/>
                              </a:rPr>
                            </m:ctrlPr>
                          </m:sSupPr>
                          <m:e>
                            <m:r>
                              <a:rPr lang="en-US" altLang="zh-TW" i="1">
                                <a:latin typeface="Cambria Math" panose="02040503050406030204" pitchFamily="18" charset="0"/>
                                <a:ea typeface="Cambria Math" panose="02040503050406030204" pitchFamily="18" charset="0"/>
                              </a:rPr>
                              <m:t>𝐹</m:t>
                            </m:r>
                          </m:e>
                          <m:sup>
                            <m:r>
                              <a:rPr lang="en-US" altLang="zh-TW" i="1">
                                <a:latin typeface="Cambria Math" panose="02040503050406030204" pitchFamily="18" charset="0"/>
                                <a:ea typeface="Cambria Math" panose="02040503050406030204" pitchFamily="18" charset="0"/>
                              </a:rPr>
                              <m:t>′</m:t>
                            </m:r>
                          </m:sup>
                        </m:sSup>
                      </m:sub>
                      <m:sup/>
                      <m:e>
                        <m:r>
                          <a:rPr lang="en-US" altLang="zh-TW" i="1">
                            <a:latin typeface="Cambria Math" panose="02040503050406030204" pitchFamily="18" charset="0"/>
                            <a:ea typeface="Cambria Math" panose="02040503050406030204" pitchFamily="18" charset="0"/>
                          </a:rPr>
                          <m:t>𝑆</m:t>
                        </m:r>
                      </m:e>
                    </m:nary>
                    <m:r>
                      <a:rPr lang="en-US" altLang="zh-TW" i="1">
                        <a:latin typeface="Cambria Math" panose="02040503050406030204" pitchFamily="18" charset="0"/>
                        <a:ea typeface="Cambria Math" panose="02040503050406030204" pitchFamily="18" charset="0"/>
                      </a:rPr>
                      <m:t>=</m:t>
                    </m:r>
                    <m:nary>
                      <m:naryPr>
                        <m:chr m:val="⋃"/>
                        <m:supHide m:val="on"/>
                        <m:ctrlPr>
                          <a:rPr lang="en-US" altLang="zh-TW" i="1">
                            <a:latin typeface="Cambria Math" panose="02040503050406030204" pitchFamily="18" charset="0"/>
                            <a:ea typeface="Cambria Math" panose="02040503050406030204" pitchFamily="18" charset="0"/>
                          </a:rPr>
                        </m:ctrlPr>
                      </m:naryPr>
                      <m:sub>
                        <m:r>
                          <m:rPr>
                            <m:brk m:alnAt="7"/>
                          </m:rPr>
                          <a:rPr lang="en-US" altLang="zh-TW" i="1">
                            <a:latin typeface="Cambria Math" panose="02040503050406030204" pitchFamily="18" charset="0"/>
                            <a:ea typeface="Cambria Math" panose="02040503050406030204" pitchFamily="18" charset="0"/>
                          </a:rPr>
                          <m:t>𝑆</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𝐹</m:t>
                        </m:r>
                      </m:sub>
                      <m:sup/>
                      <m:e>
                        <m:r>
                          <a:rPr lang="en-US" altLang="zh-TW" i="1">
                            <a:latin typeface="Cambria Math" panose="02040503050406030204" pitchFamily="18" charset="0"/>
                            <a:ea typeface="Cambria Math" panose="02040503050406030204" pitchFamily="18" charset="0"/>
                          </a:rPr>
                          <m:t>𝑆</m:t>
                        </m:r>
                      </m:e>
                    </m:nary>
                    <m:r>
                      <a:rPr lang="en-US" altLang="zh-TW" i="1">
                        <a:latin typeface="Cambria Math" panose="02040503050406030204" pitchFamily="18" charset="0"/>
                      </a:rPr>
                      <m:t>}</m:t>
                    </m:r>
                  </m:oMath>
                </a14:m>
                <a:r>
                  <a:rPr lang="zh-TW" altLang="en-US" dirty="0"/>
                  <a:t> </a:t>
                </a:r>
                <a:endParaRPr lang="en-US" altLang="zh-TW" dirty="0"/>
              </a:p>
              <a:p>
                <a:pPr marL="0" indent="0">
                  <a:buNone/>
                </a:pP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e>
                      <m:sub>
                        <m:r>
                          <a:rPr lang="en-US" altLang="zh-TW" b="0" i="1" smtClean="0">
                            <a:latin typeface="Cambria Math" panose="02040503050406030204" pitchFamily="18" charset="0"/>
                          </a:rPr>
                          <m:t>𝐸</m:t>
                        </m:r>
                        <m:r>
                          <a:rPr lang="en-US" altLang="zh-TW" i="1">
                            <a:latin typeface="Cambria Math" panose="02040503050406030204" pitchFamily="18" charset="0"/>
                          </a:rPr>
                          <m:t>𝐶</m:t>
                        </m:r>
                      </m:sub>
                    </m:sSub>
                    <m:d>
                      <m:dPr>
                        <m:ctrlPr>
                          <a:rPr lang="en-US" altLang="zh-TW" i="1">
                            <a:latin typeface="Cambria Math" panose="02040503050406030204" pitchFamily="18" charset="0"/>
                          </a:rPr>
                        </m:ctrlPr>
                      </m:dPr>
                      <m:e>
                        <m:sSup>
                          <m:sSupPr>
                            <m:ctrlPr>
                              <a:rPr lang="en-US" altLang="zh-TW" i="1">
                                <a:latin typeface="Cambria Math" panose="02040503050406030204" pitchFamily="18" charset="0"/>
                              </a:rPr>
                            </m:ctrlPr>
                          </m:sSupPr>
                          <m:e>
                            <m:r>
                              <a:rPr lang="en-US" altLang="zh-TW" i="1">
                                <a:latin typeface="Cambria Math" panose="02040503050406030204" pitchFamily="18" charset="0"/>
                              </a:rPr>
                              <m:t>𝐹</m:t>
                            </m:r>
                          </m:e>
                          <m:sup>
                            <m:r>
                              <a:rPr lang="en-US" altLang="zh-TW" i="1">
                                <a:latin typeface="Cambria Math" panose="02040503050406030204" pitchFamily="18" charset="0"/>
                              </a:rPr>
                              <m:t>′</m:t>
                            </m:r>
                          </m:sup>
                        </m:sSup>
                      </m:e>
                    </m:d>
                    <m:r>
                      <a:rPr lang="en-US" altLang="zh-TW" i="1">
                        <a:latin typeface="Cambria Math" panose="02040503050406030204" pitchFamily="18" charset="0"/>
                      </a:rPr>
                      <m:t>=|</m:t>
                    </m:r>
                    <m:r>
                      <a:rPr lang="en-US" altLang="zh-TW" b="0" i="1" smtClean="0">
                        <a:latin typeface="Cambria Math" panose="02040503050406030204" pitchFamily="18" charset="0"/>
                      </a:rPr>
                      <m:t>𝑆</m:t>
                    </m:r>
                    <m:r>
                      <a:rPr lang="en-US" altLang="zh-TW" i="1">
                        <a:latin typeface="Cambria Math" panose="02040503050406030204" pitchFamily="18" charset="0"/>
                      </a:rPr>
                      <m:t>|</m:t>
                    </m:r>
                  </m:oMath>
                </a14:m>
                <a:r>
                  <a:rPr lang="zh-TW" altLang="en-US" dirty="0"/>
                  <a:t> </a:t>
                </a:r>
              </a:p>
              <a:p>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a:blip r:embed="rId2"/>
                <a:stretch>
                  <a:fillRect l="-1546" t="-196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723513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Set Covering II</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514350" indent="-514350">
                  <a:buFont typeface="+mj-lt"/>
                  <a:buAutoNum type="arabicPeriod"/>
                </a:pPr>
                <a:r>
                  <a:rPr lang="en-US" altLang="zh-TW" dirty="0"/>
                  <a:t>Set </a:t>
                </a:r>
                <a14:m>
                  <m:oMath xmlns:m="http://schemas.openxmlformats.org/officeDocument/2006/math">
                    <m:r>
                      <a:rPr lang="en-US" altLang="zh-TW" b="0" i="1" smtClean="0">
                        <a:latin typeface="Cambria Math" panose="02040503050406030204" pitchFamily="18" charset="0"/>
                      </a:rPr>
                      <m:t>𝑆𝑈𝐵</m:t>
                    </m:r>
                    <m:r>
                      <a:rPr lang="en-US" altLang="zh-TW" b="0" i="1" smtClean="0">
                        <a:latin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𝐿𝐸𝐹𝑇</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𝐹</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𝑈𝑁𝐶𝑂𝑉</m:t>
                    </m:r>
                    <m:r>
                      <a:rPr lang="en-US" altLang="zh-TW" b="0" i="1" smtClean="0">
                        <a:latin typeface="Cambria Math" panose="02040503050406030204" pitchFamily="18" charset="0"/>
                        <a:ea typeface="Cambria Math" panose="02040503050406030204" pitchFamily="18" charset="0"/>
                      </a:rPr>
                      <m:t>=</m:t>
                    </m:r>
                    <m:nary>
                      <m:naryPr>
                        <m:chr m:val="⋃"/>
                        <m:limLoc m:val="subSup"/>
                        <m:supHide m:val="on"/>
                        <m:ctrlPr>
                          <a:rPr lang="en-US" altLang="zh-TW" b="0" i="1" smtClean="0">
                            <a:latin typeface="Cambria Math" panose="02040503050406030204" pitchFamily="18" charset="0"/>
                            <a:ea typeface="Cambria Math" panose="02040503050406030204" pitchFamily="18" charset="0"/>
                          </a:rPr>
                        </m:ctrlPr>
                      </m:naryPr>
                      <m:sub>
                        <m:r>
                          <m:rPr>
                            <m:brk m:alnAt="9"/>
                          </m:rPr>
                          <a:rPr lang="en-US" altLang="zh-TW" b="0" i="1" smtClean="0">
                            <a:latin typeface="Cambria Math" panose="02040503050406030204" pitchFamily="18" charset="0"/>
                            <a:ea typeface="Cambria Math" panose="02040503050406030204" pitchFamily="18" charset="0"/>
                          </a:rPr>
                          <m:t>𝑆</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𝐹</m:t>
                        </m:r>
                      </m:sub>
                      <m:sup/>
                      <m:e>
                        <m:r>
                          <a:rPr lang="en-US" altLang="zh-TW" b="0" i="1" smtClean="0">
                            <a:latin typeface="Cambria Math" panose="02040503050406030204" pitchFamily="18" charset="0"/>
                            <a:ea typeface="Cambria Math" panose="02040503050406030204" pitchFamily="18" charset="0"/>
                          </a:rPr>
                          <m:t>𝑆</m:t>
                        </m:r>
                      </m:e>
                    </m:nary>
                  </m:oMath>
                </a14:m>
                <a:r>
                  <a:rPr lang="en-US" altLang="zh-TW" dirty="0"/>
                  <a:t>.</a:t>
                </a:r>
              </a:p>
              <a:p>
                <a:pPr marL="514350" indent="-514350">
                  <a:buFont typeface="+mj-lt"/>
                  <a:buAutoNum type="arabicPeriod"/>
                </a:pPr>
                <a:r>
                  <a:rPr lang="en-US" altLang="zh-TW" dirty="0"/>
                  <a:t>If </a:t>
                </a:r>
                <a14:m>
                  <m:oMath xmlns:m="http://schemas.openxmlformats.org/officeDocument/2006/math">
                    <m:r>
                      <a:rPr lang="en-US" altLang="zh-TW" i="1">
                        <a:latin typeface="Cambria Math" panose="02040503050406030204" pitchFamily="18" charset="0"/>
                        <a:ea typeface="Cambria Math" panose="02040503050406030204" pitchFamily="18" charset="0"/>
                      </a:rPr>
                      <m:t>𝑈𝑁𝐶𝑂𝑉</m:t>
                    </m:r>
                    <m:r>
                      <a:rPr lang="en-US" altLang="zh-TW" i="1">
                        <a:latin typeface="Cambria Math" panose="02040503050406030204" pitchFamily="18" charset="0"/>
                        <a:ea typeface="Cambria Math" panose="02040503050406030204" pitchFamily="18" charset="0"/>
                      </a:rPr>
                      <m:t>=</m:t>
                    </m:r>
                  </m:oMath>
                </a14:m>
                <a:r>
                  <a:rPr lang="en-US" altLang="zh-TW" dirty="0">
                    <a:ea typeface="Cambria Math" panose="02040503050406030204" pitchFamily="18" charset="0"/>
                  </a:rPr>
                  <a:t> </a:t>
                </a:r>
                <a14:m>
                  <m:oMath xmlns:m="http://schemas.openxmlformats.org/officeDocument/2006/math">
                    <m:r>
                      <a:rPr lang="en-US" altLang="zh-TW" i="1">
                        <a:latin typeface="Cambria Math" panose="02040503050406030204" pitchFamily="18" charset="0"/>
                        <a:ea typeface="Cambria Math" panose="02040503050406030204" pitchFamily="18" charset="0"/>
                      </a:rPr>
                      <m:t>∅</m:t>
                    </m:r>
                  </m:oMath>
                </a14:m>
                <a:r>
                  <a:rPr lang="en-US" altLang="zh-TW" dirty="0"/>
                  <a:t>, halt and return </a:t>
                </a:r>
                <a14:m>
                  <m:oMath xmlns:m="http://schemas.openxmlformats.org/officeDocument/2006/math">
                    <m:r>
                      <a:rPr lang="en-US" altLang="zh-TW" i="1" dirty="0" smtClean="0">
                        <a:latin typeface="Cambria Math" panose="02040503050406030204" pitchFamily="18" charset="0"/>
                      </a:rPr>
                      <m:t>𝑆𝑈𝐵</m:t>
                    </m:r>
                  </m:oMath>
                </a14:m>
                <a:r>
                  <a:rPr lang="en-US" altLang="zh-TW" dirty="0"/>
                  <a:t>.</a:t>
                </a:r>
              </a:p>
              <a:p>
                <a:pPr marL="514350" indent="-514350">
                  <a:buFont typeface="+mj-lt"/>
                  <a:buAutoNum type="arabicPeriod"/>
                </a:pPr>
                <a:r>
                  <a:rPr lang="en-US" altLang="zh-TW" dirty="0"/>
                  <a:t>Let </a:t>
                </a:r>
                <a14:m>
                  <m:oMath xmlns:m="http://schemas.openxmlformats.org/officeDocument/2006/math">
                    <m:r>
                      <a:rPr lang="en-US" altLang="zh-TW" b="0" i="1" smtClean="0">
                        <a:latin typeface="Cambria Math" panose="02040503050406030204" pitchFamily="18" charset="0"/>
                      </a:rPr>
                      <m:t>𝑆</m:t>
                    </m:r>
                    <m:r>
                      <a:rPr lang="en-US" altLang="zh-TW" b="0" i="1" smtClean="0">
                        <a:latin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𝐿𝐸𝐹𝑇</m:t>
                    </m:r>
                  </m:oMath>
                </a14:m>
                <a:r>
                  <a:rPr lang="zh-TW" altLang="en-US" dirty="0"/>
                  <a:t> </a:t>
                </a:r>
                <a:r>
                  <a:rPr lang="en-US" altLang="zh-TW" dirty="0"/>
                  <a:t>be that set </a:t>
                </a:r>
                <a14:m>
                  <m:oMath xmlns:m="http://schemas.openxmlformats.org/officeDocument/2006/math">
                    <m:r>
                      <a:rPr lang="en-US" altLang="zh-TW" b="0" i="1" smtClean="0">
                        <a:latin typeface="Cambria Math" panose="02040503050406030204" pitchFamily="18" charset="0"/>
                      </a:rPr>
                      <m:t>𝑆</m:t>
                    </m:r>
                  </m:oMath>
                </a14:m>
                <a:r>
                  <a:rPr lang="zh-TW" altLang="en-US" dirty="0"/>
                  <a:t> </a:t>
                </a:r>
                <a:r>
                  <a:rPr lang="en-US" altLang="zh-TW" dirty="0"/>
                  <a:t>which minimizes </a:t>
                </a:r>
                <a14:m>
                  <m:oMath xmlns:m="http://schemas.openxmlformats.org/officeDocument/2006/math">
                    <m:r>
                      <a:rPr lang="en-US" altLang="zh-TW" i="1" dirty="0" smtClean="0">
                        <a:latin typeface="Cambria Math" panose="02040503050406030204" pitchFamily="18" charset="0"/>
                      </a:rPr>
                      <m:t>𝑅𝑎𝑡𝑖𝑜</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𝑆</m:t>
                    </m:r>
                    <m:r>
                      <a:rPr lang="en-US" altLang="zh-TW" i="1" dirty="0" smtClean="0">
                        <a:latin typeface="Cambria Math" panose="02040503050406030204" pitchFamily="18" charset="0"/>
                      </a:rPr>
                      <m:t>)=</m:t>
                    </m:r>
                    <m:f>
                      <m:fPr>
                        <m:ctrlPr>
                          <a:rPr lang="en-US" altLang="zh-TW" b="0" i="1" dirty="0" smtClean="0">
                            <a:latin typeface="Cambria Math" panose="02040503050406030204" pitchFamily="18" charset="0"/>
                          </a:rPr>
                        </m:ctrlPr>
                      </m:fPr>
                      <m:num>
                        <m:r>
                          <a:rPr lang="en-US" altLang="zh-TW" i="1" dirty="0">
                            <a:latin typeface="Cambria Math" panose="02040503050406030204" pitchFamily="18" charset="0"/>
                          </a:rPr>
                          <m:t>|</m:t>
                        </m:r>
                        <m:r>
                          <a:rPr lang="en-US" altLang="zh-TW" i="1" dirty="0">
                            <a:latin typeface="Cambria Math" panose="02040503050406030204" pitchFamily="18" charset="0"/>
                          </a:rPr>
                          <m:t>𝑆</m:t>
                        </m:r>
                        <m:r>
                          <a:rPr lang="en-US" altLang="zh-TW" i="1" dirty="0">
                            <a:latin typeface="Cambria Math" panose="02040503050406030204" pitchFamily="18" charset="0"/>
                          </a:rPr>
                          <m:t>−</m:t>
                        </m:r>
                        <m:r>
                          <a:rPr lang="en-US" altLang="zh-TW" i="1" dirty="0">
                            <a:latin typeface="Cambria Math" panose="02040503050406030204" pitchFamily="18" charset="0"/>
                          </a:rPr>
                          <m:t>𝑈𝑁𝐶𝑂𝑉</m:t>
                        </m:r>
                        <m:r>
                          <a:rPr lang="en-US" altLang="zh-TW" i="1" dirty="0">
                            <a:latin typeface="Cambria Math" panose="02040503050406030204" pitchFamily="18" charset="0"/>
                          </a:rPr>
                          <m:t>|</m:t>
                        </m:r>
                      </m:num>
                      <m:den>
                        <m:r>
                          <a:rPr lang="en-US" altLang="zh-TW" i="1" dirty="0">
                            <a:latin typeface="Cambria Math" panose="02040503050406030204" pitchFamily="18" charset="0"/>
                          </a:rPr>
                          <m:t>|</m:t>
                        </m:r>
                        <m:r>
                          <a:rPr lang="en-US" altLang="zh-TW" i="1" dirty="0">
                            <a:latin typeface="Cambria Math" panose="02040503050406030204" pitchFamily="18" charset="0"/>
                          </a:rPr>
                          <m:t>𝑆</m:t>
                        </m:r>
                        <m:r>
                          <a:rPr lang="en-US" altLang="zh-TW" i="1" dirty="0" smtClean="0">
                            <a:latin typeface="Cambria Math" panose="02040503050406030204" pitchFamily="18" charset="0"/>
                            <a:ea typeface="Cambria Math" panose="02040503050406030204" pitchFamily="18" charset="0"/>
                          </a:rPr>
                          <m:t>∩</m:t>
                        </m:r>
                        <m:r>
                          <a:rPr lang="en-US" altLang="zh-TW" i="1" dirty="0">
                            <a:latin typeface="Cambria Math" panose="02040503050406030204" pitchFamily="18" charset="0"/>
                          </a:rPr>
                          <m:t>𝑈𝑁𝐶𝑂𝑉</m:t>
                        </m:r>
                        <m:r>
                          <a:rPr lang="en-US" altLang="zh-TW" i="1" dirty="0">
                            <a:latin typeface="Cambria Math" panose="02040503050406030204" pitchFamily="18" charset="0"/>
                          </a:rPr>
                          <m:t>|</m:t>
                        </m:r>
                      </m:den>
                    </m:f>
                  </m:oMath>
                </a14:m>
                <a:r>
                  <a:rPr lang="en-US" altLang="zh-TW" dirty="0"/>
                  <a:t>.</a:t>
                </a:r>
              </a:p>
              <a:p>
                <a:pPr marL="514350" indent="-514350">
                  <a:buFont typeface="+mj-lt"/>
                  <a:buAutoNum type="arabicPeriod"/>
                </a:pPr>
                <a:r>
                  <a:rPr lang="en-US" altLang="zh-TW" dirty="0"/>
                  <a:t>Set </a:t>
                </a:r>
                <a14:m>
                  <m:oMath xmlns:m="http://schemas.openxmlformats.org/officeDocument/2006/math">
                    <m:r>
                      <a:rPr lang="en-US" altLang="zh-TW" b="0" i="1" smtClean="0">
                        <a:latin typeface="Cambria Math" panose="02040503050406030204" pitchFamily="18" charset="0"/>
                      </a:rPr>
                      <m:t>𝑆𝑈𝐵</m:t>
                    </m:r>
                    <m:r>
                      <a:rPr lang="en-US" altLang="zh-TW" b="0" i="1" smtClean="0">
                        <a:latin typeface="Cambria Math" panose="02040503050406030204" pitchFamily="18" charset="0"/>
                      </a:rPr>
                      <m:t>=</m:t>
                    </m:r>
                    <m:r>
                      <a:rPr lang="en-US" altLang="zh-TW" b="0" i="1" smtClean="0">
                        <a:latin typeface="Cambria Math" panose="02040503050406030204" pitchFamily="18" charset="0"/>
                      </a:rPr>
                      <m:t>𝑆𝑈𝐵</m:t>
                    </m:r>
                    <m:r>
                      <a:rPr lang="en-US" altLang="zh-TW" b="0" i="1" smtClean="0">
                        <a:latin typeface="Cambria Math" panose="02040503050406030204" pitchFamily="18" charset="0"/>
                        <a:ea typeface="Cambria Math" panose="02040503050406030204" pitchFamily="18" charset="0"/>
                      </a:rPr>
                      <m:t>∪</m:t>
                    </m:r>
                    <m:d>
                      <m:dPr>
                        <m:begChr m:val="{"/>
                        <m:endChr m:val="}"/>
                        <m:ctrlPr>
                          <a:rPr lang="en-US" altLang="zh-TW" b="0" i="1" smtClean="0">
                            <a:latin typeface="Cambria Math" panose="02040503050406030204" pitchFamily="18" charset="0"/>
                            <a:ea typeface="Cambria Math" panose="02040503050406030204" pitchFamily="18" charset="0"/>
                          </a:rPr>
                        </m:ctrlPr>
                      </m:dPr>
                      <m:e>
                        <m:sSup>
                          <m:sSupPr>
                            <m:ctrlPr>
                              <a:rPr lang="en-US" altLang="zh-TW" b="0" i="1" smtClean="0">
                                <a:latin typeface="Cambria Math" panose="02040503050406030204" pitchFamily="18" charset="0"/>
                                <a:ea typeface="Cambria Math" panose="02040503050406030204" pitchFamily="18" charset="0"/>
                              </a:rPr>
                            </m:ctrlPr>
                          </m:sSupPr>
                          <m:e>
                            <m:r>
                              <a:rPr lang="en-US" altLang="zh-TW" b="0" i="1" smtClean="0">
                                <a:latin typeface="Cambria Math" panose="02040503050406030204" pitchFamily="18" charset="0"/>
                                <a:ea typeface="Cambria Math" panose="02040503050406030204" pitchFamily="18" charset="0"/>
                              </a:rPr>
                              <m:t>𝑆</m:t>
                            </m:r>
                          </m:e>
                          <m:sup>
                            <m:r>
                              <a:rPr lang="en-US" altLang="zh-TW" b="0" i="1" smtClean="0">
                                <a:latin typeface="Cambria Math" panose="02040503050406030204" pitchFamily="18" charset="0"/>
                                <a:ea typeface="Cambria Math" panose="02040503050406030204" pitchFamily="18" charset="0"/>
                              </a:rPr>
                              <m:t>′</m:t>
                            </m:r>
                          </m:sup>
                        </m:sSup>
                      </m:e>
                    </m:d>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𝑈𝑁𝐶𝑂𝑉</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𝑈𝑁𝐶𝑂𝑉</m:t>
                    </m:r>
                    <m:r>
                      <a:rPr lang="en-US" altLang="zh-TW" b="0" i="1" smtClean="0">
                        <a:latin typeface="Cambria Math" panose="02040503050406030204" pitchFamily="18" charset="0"/>
                        <a:ea typeface="Cambria Math" panose="02040503050406030204" pitchFamily="18" charset="0"/>
                      </a:rPr>
                      <m:t>−</m:t>
                    </m:r>
                    <m:sSup>
                      <m:sSupPr>
                        <m:ctrlPr>
                          <a:rPr lang="en-US" altLang="zh-TW" b="0" i="1" smtClean="0">
                            <a:latin typeface="Cambria Math" panose="02040503050406030204" pitchFamily="18" charset="0"/>
                            <a:ea typeface="Cambria Math" panose="02040503050406030204" pitchFamily="18" charset="0"/>
                          </a:rPr>
                        </m:ctrlPr>
                      </m:sSupPr>
                      <m:e>
                        <m:r>
                          <a:rPr lang="en-US" altLang="zh-TW" b="0" i="1" smtClean="0">
                            <a:latin typeface="Cambria Math" panose="02040503050406030204" pitchFamily="18" charset="0"/>
                            <a:ea typeface="Cambria Math" panose="02040503050406030204" pitchFamily="18" charset="0"/>
                          </a:rPr>
                          <m:t>𝑆</m:t>
                        </m:r>
                      </m:e>
                      <m:sup>
                        <m:r>
                          <a:rPr lang="en-US" altLang="zh-TW" b="0" i="1" smtClean="0">
                            <a:latin typeface="Cambria Math" panose="02040503050406030204" pitchFamily="18" charset="0"/>
                            <a:ea typeface="Cambria Math" panose="02040503050406030204" pitchFamily="18" charset="0"/>
                          </a:rPr>
                          <m:t>′</m:t>
                        </m:r>
                      </m:sup>
                    </m:sSup>
                    <m:r>
                      <a:rPr lang="en-US" altLang="zh-TW" b="0" i="1" smtClean="0">
                        <a:latin typeface="Cambria Math" panose="02040503050406030204" pitchFamily="18" charset="0"/>
                        <a:ea typeface="Cambria Math" panose="02040503050406030204" pitchFamily="18" charset="0"/>
                      </a:rPr>
                      <m:t>,</m:t>
                    </m:r>
                  </m:oMath>
                </a14:m>
                <a:r>
                  <a:rPr lang="zh-TW" altLang="en-US" dirty="0"/>
                  <a:t> </a:t>
                </a:r>
                <a14:m>
                  <m:oMath xmlns:m="http://schemas.openxmlformats.org/officeDocument/2006/math">
                    <m:r>
                      <a:rPr lang="en-US" altLang="zh-TW" b="0" i="1" dirty="0" smtClean="0">
                        <a:latin typeface="Cambria Math" panose="02040503050406030204" pitchFamily="18" charset="0"/>
                      </a:rPr>
                      <m:t>𝐿𝐸𝐹𝑇</m:t>
                    </m:r>
                    <m:r>
                      <a:rPr lang="en-US" altLang="zh-TW" b="0" i="1" dirty="0" smtClean="0">
                        <a:latin typeface="Cambria Math" panose="02040503050406030204" pitchFamily="18" charset="0"/>
                      </a:rPr>
                      <m:t>=</m:t>
                    </m:r>
                    <m:r>
                      <a:rPr lang="en-US" altLang="zh-TW" b="0" i="1" dirty="0" smtClean="0">
                        <a:latin typeface="Cambria Math" panose="02040503050406030204" pitchFamily="18" charset="0"/>
                      </a:rPr>
                      <m:t>𝐿𝐸𝐹𝑇</m:t>
                    </m:r>
                    <m:r>
                      <a:rPr lang="en-US" altLang="zh-TW" b="0" i="1" dirty="0" smtClean="0">
                        <a:latin typeface="Cambria Math" panose="02040503050406030204" pitchFamily="18" charset="0"/>
                      </a:rPr>
                      <m:t>−{</m:t>
                    </m:r>
                    <m:sSup>
                      <m:sSupPr>
                        <m:ctrlPr>
                          <a:rPr lang="en-US" altLang="zh-TW" b="0" i="1" dirty="0" smtClean="0">
                            <a:latin typeface="Cambria Math" panose="02040503050406030204" pitchFamily="18" charset="0"/>
                          </a:rPr>
                        </m:ctrlPr>
                      </m:sSupPr>
                      <m:e>
                        <m:r>
                          <a:rPr lang="en-US" altLang="zh-TW" b="0" i="1" dirty="0" smtClean="0">
                            <a:latin typeface="Cambria Math" panose="02040503050406030204" pitchFamily="18" charset="0"/>
                          </a:rPr>
                          <m:t>𝑆</m:t>
                        </m:r>
                      </m:e>
                      <m:sup>
                        <m:r>
                          <a:rPr lang="en-US" altLang="zh-TW" b="0" i="1" dirty="0" smtClean="0">
                            <a:latin typeface="Cambria Math" panose="02040503050406030204" pitchFamily="18" charset="0"/>
                          </a:rPr>
                          <m:t>′</m:t>
                        </m:r>
                      </m:sup>
                    </m:sSup>
                    <m:r>
                      <a:rPr lang="en-US" altLang="zh-TW" b="0" i="1" dirty="0" smtClean="0">
                        <a:latin typeface="Cambria Math" panose="02040503050406030204" pitchFamily="18" charset="0"/>
                      </a:rPr>
                      <m:t>}</m:t>
                    </m:r>
                  </m:oMath>
                </a14:m>
                <a:r>
                  <a:rPr lang="en-US" altLang="zh-TW" dirty="0"/>
                  <a:t>.</a:t>
                </a:r>
              </a:p>
              <a:p>
                <a:pPr marL="514350" indent="-514350">
                  <a:buFont typeface="+mj-lt"/>
                  <a:buAutoNum type="arabicPeriod"/>
                </a:pPr>
                <a:r>
                  <a:rPr lang="en-US" altLang="zh-TW" dirty="0"/>
                  <a:t>Go to 2.</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a:blip r:embed="rId2"/>
                <a:stretch>
                  <a:fillRect l="-1623" t="-238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3500817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Set Covering II</a:t>
            </a:r>
            <a:endParaRPr lang="zh-TW" altLang="en-US" dirty="0"/>
          </a:p>
        </p:txBody>
      </p:sp>
      <p:sp>
        <p:nvSpPr>
          <p:cNvPr id="3" name="內容版面配置區 2"/>
          <p:cNvSpPr>
            <a:spLocks noGrp="1"/>
          </p:cNvSpPr>
          <p:nvPr>
            <p:ph idx="1"/>
          </p:nvPr>
        </p:nvSpPr>
        <p:spPr/>
        <p:txBody>
          <a:bodyPr/>
          <a:lstStyle/>
          <a:p>
            <a:pPr marL="0" indent="0">
              <a:buNone/>
            </a:pPr>
            <a:endParaRPr lang="zh-TW" altLang="en-US" dirty="0"/>
          </a:p>
        </p:txBody>
      </p:sp>
      <p:pic>
        <p:nvPicPr>
          <p:cNvPr id="4" name="內容版面配置區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8650" y="1825625"/>
            <a:ext cx="4029016" cy="4351338"/>
          </a:xfrm>
          <a:prstGeom prst="rect">
            <a:avLst/>
          </a:prstGeom>
        </p:spPr>
      </p:pic>
      <p:sp>
        <p:nvSpPr>
          <p:cNvPr id="15" name="矩形 14"/>
          <p:cNvSpPr/>
          <p:nvPr/>
        </p:nvSpPr>
        <p:spPr>
          <a:xfrm>
            <a:off x="1737219" y="2364982"/>
            <a:ext cx="1777767" cy="1200339"/>
          </a:xfrm>
          <a:prstGeom prst="rect">
            <a:avLst/>
          </a:prstGeom>
          <a:solidFill>
            <a:srgbClr val="92D05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p:cNvSpPr/>
          <p:nvPr/>
        </p:nvSpPr>
        <p:spPr>
          <a:xfrm>
            <a:off x="781574" y="1825625"/>
            <a:ext cx="3438088" cy="1269913"/>
          </a:xfrm>
          <a:prstGeom prst="rect">
            <a:avLst/>
          </a:prstGeom>
          <a:solidFill>
            <a:srgbClr val="00B0F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p:cNvSpPr/>
          <p:nvPr/>
        </p:nvSpPr>
        <p:spPr>
          <a:xfrm>
            <a:off x="1862363" y="3651877"/>
            <a:ext cx="1357095" cy="2525086"/>
          </a:xfrm>
          <a:prstGeom prst="rect">
            <a:avLst/>
          </a:prstGeom>
          <a:solidFill>
            <a:srgbClr val="7030A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4"/>
          <p:cNvSpPr/>
          <p:nvPr/>
        </p:nvSpPr>
        <p:spPr>
          <a:xfrm>
            <a:off x="897622" y="2491530"/>
            <a:ext cx="1526796" cy="3473042"/>
          </a:xfrm>
          <a:prstGeom prst="rect">
            <a:avLst/>
          </a:prstGeom>
          <a:solidFill>
            <a:srgbClr val="FF00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p:cNvSpPr/>
          <p:nvPr/>
        </p:nvSpPr>
        <p:spPr>
          <a:xfrm>
            <a:off x="3514987" y="2435668"/>
            <a:ext cx="923677" cy="3584765"/>
          </a:xfrm>
          <a:prstGeom prst="rect">
            <a:avLst/>
          </a:prstGeom>
          <a:solidFill>
            <a:schemeClr val="bg1">
              <a:lumMod val="5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9" name="文字方塊 8"/>
              <p:cNvSpPr txBox="1"/>
              <p:nvPr/>
            </p:nvSpPr>
            <p:spPr>
              <a:xfrm>
                <a:off x="3149182" y="1812593"/>
                <a:ext cx="365805" cy="61279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solidFill>
                                <a:srgbClr val="0000FF"/>
                              </a:solidFill>
                              <a:latin typeface="Cambria Math" panose="02040503050406030204" pitchFamily="18" charset="0"/>
                            </a:rPr>
                          </m:ctrlPr>
                        </m:fPr>
                        <m:num>
                          <m:r>
                            <a:rPr lang="en-US" altLang="zh-TW" b="0" i="1" smtClean="0">
                              <a:solidFill>
                                <a:srgbClr val="0000FF"/>
                              </a:solidFill>
                              <a:latin typeface="Cambria Math" panose="02040503050406030204" pitchFamily="18" charset="0"/>
                            </a:rPr>
                            <m:t>3</m:t>
                          </m:r>
                        </m:num>
                        <m:den>
                          <m:r>
                            <a:rPr lang="en-US" altLang="zh-TW" b="0" i="1" smtClean="0">
                              <a:solidFill>
                                <a:srgbClr val="0000FF"/>
                              </a:solidFill>
                              <a:latin typeface="Cambria Math" panose="02040503050406030204" pitchFamily="18" charset="0"/>
                            </a:rPr>
                            <m:t>5</m:t>
                          </m:r>
                        </m:den>
                      </m:f>
                    </m:oMath>
                  </m:oMathPara>
                </a14:m>
                <a:endParaRPr lang="zh-TW" altLang="en-US" dirty="0">
                  <a:solidFill>
                    <a:srgbClr val="0000FF"/>
                  </a:solidFill>
                </a:endParaRPr>
              </a:p>
            </p:txBody>
          </p:sp>
        </mc:Choice>
        <mc:Fallback xmlns="">
          <p:sp>
            <p:nvSpPr>
              <p:cNvPr id="9" name="文字方塊 8"/>
              <p:cNvSpPr txBox="1">
                <a:spLocks noRot="1" noChangeAspect="1" noMove="1" noResize="1" noEditPoints="1" noAdjustHandles="1" noChangeArrowheads="1" noChangeShapeType="1" noTextEdit="1"/>
              </p:cNvSpPr>
              <p:nvPr/>
            </p:nvSpPr>
            <p:spPr>
              <a:xfrm>
                <a:off x="3149182" y="1812593"/>
                <a:ext cx="365805" cy="612796"/>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p:cNvSpPr txBox="1"/>
              <p:nvPr/>
            </p:nvSpPr>
            <p:spPr>
              <a:xfrm>
                <a:off x="2460517" y="2460581"/>
                <a:ext cx="365805" cy="61093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solidFill>
                                <a:srgbClr val="00B050"/>
                              </a:solidFill>
                              <a:latin typeface="Cambria Math" panose="02040503050406030204" pitchFamily="18" charset="0"/>
                            </a:rPr>
                          </m:ctrlPr>
                        </m:fPr>
                        <m:num>
                          <m:r>
                            <a:rPr lang="en-US" altLang="zh-TW" b="0" i="1" smtClean="0">
                              <a:solidFill>
                                <a:srgbClr val="00B050"/>
                              </a:solidFill>
                              <a:latin typeface="Cambria Math" panose="02040503050406030204" pitchFamily="18" charset="0"/>
                            </a:rPr>
                            <m:t>2</m:t>
                          </m:r>
                        </m:num>
                        <m:den>
                          <m:r>
                            <a:rPr lang="en-US" altLang="zh-TW" b="0" i="1" smtClean="0">
                              <a:solidFill>
                                <a:srgbClr val="00B050"/>
                              </a:solidFill>
                              <a:latin typeface="Cambria Math" panose="02040503050406030204" pitchFamily="18" charset="0"/>
                            </a:rPr>
                            <m:t>2</m:t>
                          </m:r>
                        </m:den>
                      </m:f>
                    </m:oMath>
                  </m:oMathPara>
                </a14:m>
                <a:endParaRPr lang="zh-TW" altLang="en-US" dirty="0">
                  <a:solidFill>
                    <a:srgbClr val="00B050"/>
                  </a:solidFill>
                </a:endParaRPr>
              </a:p>
            </p:txBody>
          </p:sp>
        </mc:Choice>
        <mc:Fallback xmlns="">
          <p:sp>
            <p:nvSpPr>
              <p:cNvPr id="10" name="文字方塊 9"/>
              <p:cNvSpPr txBox="1">
                <a:spLocks noRot="1" noChangeAspect="1" noMove="1" noResize="1" noEditPoints="1" noAdjustHandles="1" noChangeArrowheads="1" noChangeShapeType="1" noTextEdit="1"/>
              </p:cNvSpPr>
              <p:nvPr/>
            </p:nvSpPr>
            <p:spPr>
              <a:xfrm>
                <a:off x="2460517" y="2460581"/>
                <a:ext cx="365805" cy="610936"/>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p:cNvSpPr txBox="1"/>
              <p:nvPr/>
            </p:nvSpPr>
            <p:spPr>
              <a:xfrm>
                <a:off x="2460517" y="4251587"/>
                <a:ext cx="365805" cy="61279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solidFill>
                                <a:srgbClr val="7030A0"/>
                              </a:solidFill>
                              <a:latin typeface="Cambria Math" panose="02040503050406030204" pitchFamily="18" charset="0"/>
                            </a:rPr>
                          </m:ctrlPr>
                        </m:fPr>
                        <m:num>
                          <m:r>
                            <a:rPr lang="en-US" altLang="zh-TW" b="0" i="1" smtClean="0">
                              <a:solidFill>
                                <a:srgbClr val="7030A0"/>
                              </a:solidFill>
                              <a:latin typeface="Cambria Math" panose="02040503050406030204" pitchFamily="18" charset="0"/>
                            </a:rPr>
                            <m:t>4</m:t>
                          </m:r>
                        </m:num>
                        <m:den>
                          <m:r>
                            <a:rPr lang="en-US" altLang="zh-TW" b="0" i="1" smtClean="0">
                              <a:solidFill>
                                <a:srgbClr val="7030A0"/>
                              </a:solidFill>
                              <a:latin typeface="Cambria Math" panose="02040503050406030204" pitchFamily="18" charset="0"/>
                            </a:rPr>
                            <m:t>4</m:t>
                          </m:r>
                        </m:den>
                      </m:f>
                    </m:oMath>
                  </m:oMathPara>
                </a14:m>
                <a:endParaRPr lang="zh-TW" altLang="en-US" dirty="0">
                  <a:solidFill>
                    <a:srgbClr val="7030A0"/>
                  </a:solidFill>
                </a:endParaRPr>
              </a:p>
            </p:txBody>
          </p:sp>
        </mc:Choice>
        <mc:Fallback xmlns="">
          <p:sp>
            <p:nvSpPr>
              <p:cNvPr id="11" name="文字方塊 10"/>
              <p:cNvSpPr txBox="1">
                <a:spLocks noRot="1" noChangeAspect="1" noMove="1" noResize="1" noEditPoints="1" noAdjustHandles="1" noChangeArrowheads="1" noChangeShapeType="1" noTextEdit="1"/>
              </p:cNvSpPr>
              <p:nvPr/>
            </p:nvSpPr>
            <p:spPr>
              <a:xfrm>
                <a:off x="2460517" y="4251587"/>
                <a:ext cx="365805" cy="612796"/>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p:cNvSpPr txBox="1"/>
              <p:nvPr/>
            </p:nvSpPr>
            <p:spPr>
              <a:xfrm>
                <a:off x="2535532" y="2491530"/>
                <a:ext cx="181139"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solidFill>
                                <a:srgbClr val="00B050"/>
                              </a:solidFill>
                              <a:latin typeface="Cambria Math" panose="02040503050406030204" pitchFamily="18" charset="0"/>
                            </a:rPr>
                          </m:ctrlPr>
                        </m:fPr>
                        <m:num>
                          <m:r>
                            <a:rPr lang="en-US" altLang="zh-TW" b="0" i="1" smtClean="0">
                              <a:solidFill>
                                <a:srgbClr val="00B050"/>
                              </a:solidFill>
                              <a:latin typeface="Cambria Math" panose="02040503050406030204" pitchFamily="18" charset="0"/>
                            </a:rPr>
                            <m:t>3</m:t>
                          </m:r>
                        </m:num>
                        <m:den>
                          <m:r>
                            <a:rPr lang="en-US" altLang="zh-TW" b="0" i="1" smtClean="0">
                              <a:solidFill>
                                <a:srgbClr val="00B050"/>
                              </a:solidFill>
                              <a:latin typeface="Cambria Math" panose="02040503050406030204" pitchFamily="18" charset="0"/>
                            </a:rPr>
                            <m:t>1</m:t>
                          </m:r>
                        </m:den>
                      </m:f>
                    </m:oMath>
                  </m:oMathPara>
                </a14:m>
                <a:endParaRPr lang="zh-TW" altLang="en-US" dirty="0">
                  <a:solidFill>
                    <a:srgbClr val="00B050"/>
                  </a:solidFill>
                </a:endParaRPr>
              </a:p>
            </p:txBody>
          </p:sp>
        </mc:Choice>
        <mc:Fallback xmlns="">
          <p:sp>
            <p:nvSpPr>
              <p:cNvPr id="12" name="文字方塊 11"/>
              <p:cNvSpPr txBox="1">
                <a:spLocks noRot="1" noChangeAspect="1" noMove="1" noResize="1" noEditPoints="1" noAdjustHandles="1" noChangeArrowheads="1" noChangeShapeType="1" noTextEdit="1"/>
              </p:cNvSpPr>
              <p:nvPr/>
            </p:nvSpPr>
            <p:spPr>
              <a:xfrm>
                <a:off x="2535532" y="2491530"/>
                <a:ext cx="181139" cy="518604"/>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p:cNvSpPr txBox="1"/>
              <p:nvPr/>
            </p:nvSpPr>
            <p:spPr>
              <a:xfrm>
                <a:off x="2540466" y="4298683"/>
                <a:ext cx="181139"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solidFill>
                                <a:srgbClr val="7030A0"/>
                              </a:solidFill>
                              <a:latin typeface="Cambria Math" panose="02040503050406030204" pitchFamily="18" charset="0"/>
                            </a:rPr>
                          </m:ctrlPr>
                        </m:fPr>
                        <m:num>
                          <m:r>
                            <a:rPr lang="en-US" altLang="zh-TW" b="0" i="1" smtClean="0">
                              <a:solidFill>
                                <a:srgbClr val="7030A0"/>
                              </a:solidFill>
                              <a:latin typeface="Cambria Math" panose="02040503050406030204" pitchFamily="18" charset="0"/>
                            </a:rPr>
                            <m:t>4</m:t>
                          </m:r>
                        </m:num>
                        <m:den>
                          <m:r>
                            <a:rPr lang="en-US" altLang="zh-TW" b="0" i="1" smtClean="0">
                              <a:solidFill>
                                <a:srgbClr val="7030A0"/>
                              </a:solidFill>
                              <a:latin typeface="Cambria Math" panose="02040503050406030204" pitchFamily="18" charset="0"/>
                            </a:rPr>
                            <m:t>4</m:t>
                          </m:r>
                        </m:den>
                      </m:f>
                    </m:oMath>
                  </m:oMathPara>
                </a14:m>
                <a:endParaRPr lang="zh-TW" altLang="en-US" dirty="0">
                  <a:solidFill>
                    <a:srgbClr val="7030A0"/>
                  </a:solidFill>
                </a:endParaRPr>
              </a:p>
            </p:txBody>
          </p:sp>
        </mc:Choice>
        <mc:Fallback xmlns="">
          <p:sp>
            <p:nvSpPr>
              <p:cNvPr id="13" name="文字方塊 12"/>
              <p:cNvSpPr txBox="1">
                <a:spLocks noRot="1" noChangeAspect="1" noMove="1" noResize="1" noEditPoints="1" noAdjustHandles="1" noChangeArrowheads="1" noChangeShapeType="1" noTextEdit="1"/>
              </p:cNvSpPr>
              <p:nvPr/>
            </p:nvSpPr>
            <p:spPr>
              <a:xfrm>
                <a:off x="2540466" y="4298683"/>
                <a:ext cx="181139" cy="518604"/>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p:cNvSpPr txBox="1"/>
              <p:nvPr/>
            </p:nvSpPr>
            <p:spPr>
              <a:xfrm>
                <a:off x="3150068" y="4877697"/>
                <a:ext cx="365805" cy="61093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solidFill>
                                <a:srgbClr val="00B050"/>
                              </a:solidFill>
                              <a:latin typeface="Cambria Math" panose="02040503050406030204" pitchFamily="18" charset="0"/>
                            </a:rPr>
                          </m:ctrlPr>
                        </m:fPr>
                        <m:num>
                          <m:r>
                            <a:rPr lang="en-US" altLang="zh-TW" b="0" i="1" smtClean="0">
                              <a:solidFill>
                                <a:srgbClr val="00B050"/>
                              </a:solidFill>
                              <a:latin typeface="Cambria Math" panose="02040503050406030204" pitchFamily="18" charset="0"/>
                            </a:rPr>
                            <m:t>2</m:t>
                          </m:r>
                        </m:num>
                        <m:den>
                          <m:r>
                            <a:rPr lang="en-US" altLang="zh-TW" b="0" i="1" smtClean="0">
                              <a:solidFill>
                                <a:srgbClr val="00B050"/>
                              </a:solidFill>
                              <a:latin typeface="Cambria Math" panose="02040503050406030204" pitchFamily="18" charset="0"/>
                            </a:rPr>
                            <m:t>2</m:t>
                          </m:r>
                        </m:den>
                      </m:f>
                    </m:oMath>
                  </m:oMathPara>
                </a14:m>
                <a:endParaRPr lang="zh-TW" altLang="en-US" dirty="0">
                  <a:solidFill>
                    <a:srgbClr val="00B050"/>
                  </a:solidFill>
                </a:endParaRPr>
              </a:p>
            </p:txBody>
          </p:sp>
        </mc:Choice>
        <mc:Fallback xmlns="">
          <p:sp>
            <p:nvSpPr>
              <p:cNvPr id="17" name="文字方塊 16"/>
              <p:cNvSpPr txBox="1">
                <a:spLocks noRot="1" noChangeAspect="1" noMove="1" noResize="1" noEditPoints="1" noAdjustHandles="1" noChangeArrowheads="1" noChangeShapeType="1" noTextEdit="1"/>
              </p:cNvSpPr>
              <p:nvPr/>
            </p:nvSpPr>
            <p:spPr>
              <a:xfrm>
                <a:off x="3150068" y="4877697"/>
                <a:ext cx="365805" cy="610936"/>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文字方塊 17"/>
              <p:cNvSpPr txBox="1"/>
              <p:nvPr/>
            </p:nvSpPr>
            <p:spPr>
              <a:xfrm>
                <a:off x="3238389" y="4914420"/>
                <a:ext cx="181139"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solidFill>
                                <a:srgbClr val="00B050"/>
                              </a:solidFill>
                              <a:latin typeface="Cambria Math" panose="02040503050406030204" pitchFamily="18" charset="0"/>
                            </a:rPr>
                          </m:ctrlPr>
                        </m:fPr>
                        <m:num>
                          <m:r>
                            <a:rPr lang="en-US" altLang="zh-TW" b="0" i="1" smtClean="0">
                              <a:solidFill>
                                <a:srgbClr val="00B050"/>
                              </a:solidFill>
                              <a:latin typeface="Cambria Math" panose="02040503050406030204" pitchFamily="18" charset="0"/>
                            </a:rPr>
                            <m:t>3</m:t>
                          </m:r>
                        </m:num>
                        <m:den>
                          <m:r>
                            <a:rPr lang="en-US" altLang="zh-TW" b="0" i="1" smtClean="0">
                              <a:solidFill>
                                <a:srgbClr val="00B050"/>
                              </a:solidFill>
                              <a:latin typeface="Cambria Math" panose="02040503050406030204" pitchFamily="18" charset="0"/>
                            </a:rPr>
                            <m:t>1</m:t>
                          </m:r>
                        </m:den>
                      </m:f>
                    </m:oMath>
                  </m:oMathPara>
                </a14:m>
                <a:endParaRPr lang="zh-TW" altLang="en-US" dirty="0">
                  <a:solidFill>
                    <a:srgbClr val="00B050"/>
                  </a:solidFill>
                </a:endParaRPr>
              </a:p>
            </p:txBody>
          </p:sp>
        </mc:Choice>
        <mc:Fallback xmlns="">
          <p:sp>
            <p:nvSpPr>
              <p:cNvPr id="18" name="文字方塊 17"/>
              <p:cNvSpPr txBox="1">
                <a:spLocks noRot="1" noChangeAspect="1" noMove="1" noResize="1" noEditPoints="1" noAdjustHandles="1" noChangeArrowheads="1" noChangeShapeType="1" noTextEdit="1"/>
              </p:cNvSpPr>
              <p:nvPr/>
            </p:nvSpPr>
            <p:spPr>
              <a:xfrm>
                <a:off x="3238389" y="4914420"/>
                <a:ext cx="181139" cy="518604"/>
              </a:xfrm>
              <a:prstGeom prst="rect">
                <a:avLst/>
              </a:prstGeom>
              <a:blipFill>
                <a:blip r:embed="rId9"/>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076479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9"/>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10"/>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8"/>
                                        </p:tgtEl>
                                        <p:attrNameLst>
                                          <p:attrName>style.visibility</p:attrName>
                                        </p:attrNameLst>
                                      </p:cBhvr>
                                      <p:to>
                                        <p:strVal val="visible"/>
                                      </p:to>
                                    </p:set>
                                  </p:childTnLst>
                                </p:cTn>
                              </p:par>
                              <p:par>
                                <p:cTn id="32" presetID="1" presetClass="exit" presetSubtype="0" fill="hold" grpId="1" nodeType="withEffect">
                                  <p:stCondLst>
                                    <p:cond delay="0"/>
                                  </p:stCondLst>
                                  <p:childTnLst>
                                    <p:set>
                                      <p:cBhvr>
                                        <p:cTn id="33" dur="1" fill="hold">
                                          <p:stCondLst>
                                            <p:cond delay="0"/>
                                          </p:stCondLst>
                                        </p:cTn>
                                        <p:tgtEl>
                                          <p:spTgt spid="11"/>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grpId="0" nodeType="after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12"/>
                                        </p:tgtEl>
                                        <p:attrNameLst>
                                          <p:attrName>style.visibility</p:attrName>
                                        </p:attrNameLst>
                                      </p:cBhvr>
                                      <p:to>
                                        <p:strVal val="hidden"/>
                                      </p:to>
                                    </p:set>
                                  </p:childTnLst>
                                </p:cTn>
                              </p:par>
                            </p:childTnLst>
                          </p:cTn>
                        </p:par>
                        <p:par>
                          <p:cTn id="47" fill="hold">
                            <p:stCondLst>
                              <p:cond delay="0"/>
                            </p:stCondLst>
                            <p:childTnLst>
                              <p:par>
                                <p:cTn id="48" presetID="1" presetClass="exit" presetSubtype="0" fill="hold" grpId="1" nodeType="afterEffect">
                                  <p:stCondLst>
                                    <p:cond delay="0"/>
                                  </p:stCondLst>
                                  <p:childTnLst>
                                    <p:set>
                                      <p:cBhvr>
                                        <p:cTn id="49" dur="1" fill="hold">
                                          <p:stCondLst>
                                            <p:cond delay="0"/>
                                          </p:stCondLst>
                                        </p:cTn>
                                        <p:tgtEl>
                                          <p:spTgt spid="18"/>
                                        </p:tgtEl>
                                        <p:attrNameLst>
                                          <p:attrName>style.visibility</p:attrName>
                                        </p:attrNameLst>
                                      </p:cBhvr>
                                      <p:to>
                                        <p:strVal val="hidden"/>
                                      </p:to>
                                    </p:set>
                                  </p:childTnLst>
                                </p:cTn>
                              </p:par>
                              <p:par>
                                <p:cTn id="50" presetID="1" presetClass="exit" presetSubtype="0" fill="hold" grpId="1" nodeType="withEffect">
                                  <p:stCondLst>
                                    <p:cond delay="0"/>
                                  </p:stCondLst>
                                  <p:childTnLst>
                                    <p:set>
                                      <p:cBhvr>
                                        <p:cTn id="51" dur="1" fill="hold">
                                          <p:stCondLst>
                                            <p:cond delay="0"/>
                                          </p:stCondLst>
                                        </p:cTn>
                                        <p:tgtEl>
                                          <p:spTgt spid="13"/>
                                        </p:tgtEl>
                                        <p:attrNameLst>
                                          <p:attrName>style.visibility</p:attrName>
                                        </p:attrNameLst>
                                      </p:cBhvr>
                                      <p:to>
                                        <p:strVal val="hidden"/>
                                      </p:to>
                                    </p:set>
                                  </p:childTnLst>
                                </p:cTn>
                              </p:par>
                              <p:par>
                                <p:cTn id="52" presetID="1"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8" grpId="0" animBg="1"/>
      <p:bldP spid="14" grpId="0" animBg="1"/>
      <p:bldP spid="5" grpId="0" animBg="1"/>
      <p:bldP spid="6" grpId="0" animBg="1"/>
      <p:bldP spid="9" grpId="0"/>
      <p:bldP spid="9" grpId="1"/>
      <p:bldP spid="10" grpId="0"/>
      <p:bldP spid="10" grpId="1"/>
      <p:bldP spid="11" grpId="0"/>
      <p:bldP spid="11" grpId="1"/>
      <p:bldP spid="12" grpId="0"/>
      <p:bldP spid="12" grpId="1"/>
      <p:bldP spid="13" grpId="0"/>
      <p:bldP spid="13" grpId="1"/>
      <p:bldP spid="17" grpId="0"/>
      <p:bldP spid="17" grpId="1"/>
      <p:bldP spid="18" grpId="0"/>
      <p:bldP spid="18"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stretch>
            <a:fillRect/>
          </a:stretch>
        </p:blipFill>
        <p:spPr>
          <a:xfrm>
            <a:off x="5281292" y="2691469"/>
            <a:ext cx="3863232" cy="3485494"/>
          </a:xfrm>
          <a:prstGeom prst="rect">
            <a:avLst/>
          </a:prstGeom>
        </p:spPr>
      </p:pic>
      <p:sp>
        <p:nvSpPr>
          <p:cNvPr id="2" name="標題 1"/>
          <p:cNvSpPr>
            <a:spLocks noGrp="1"/>
          </p:cNvSpPr>
          <p:nvPr>
            <p:ph type="title"/>
          </p:nvPr>
        </p:nvSpPr>
        <p:spPr/>
        <p:txBody>
          <a:bodyPr/>
          <a:lstStyle/>
          <a:p>
            <a:r>
              <a:rPr lang="en-US" altLang="zh-TW" dirty="0"/>
              <a:t>Set Covering II</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14:m>
                  <m:oMath xmlns:m="http://schemas.openxmlformats.org/officeDocument/2006/math">
                    <m:r>
                      <a:rPr lang="en-US" altLang="zh-TW" b="0" i="1" smtClean="0">
                        <a:latin typeface="Cambria Math" panose="02040503050406030204" pitchFamily="18" charset="0"/>
                      </a:rPr>
                      <m:t>𝑚</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𝐹</m:t>
                            </m:r>
                          </m:e>
                          <m:sub>
                            <m:r>
                              <a:rPr lang="en-US" altLang="zh-TW" b="0" i="1" smtClean="0">
                                <a:latin typeface="Cambria Math" panose="02040503050406030204" pitchFamily="18" charset="0"/>
                              </a:rPr>
                              <m:t>0</m:t>
                            </m:r>
                          </m:sub>
                        </m:sSub>
                      </m:e>
                    </m:d>
                    <m:r>
                      <a:rPr lang="en-US" altLang="zh-TW" b="0" i="1" smtClean="0">
                        <a:latin typeface="Cambria Math" panose="02040503050406030204" pitchFamily="18" charset="0"/>
                      </a:rPr>
                      <m:t>=</m:t>
                    </m:r>
                    <m:r>
                      <a:rPr lang="en-US" altLang="zh-TW" b="0" i="1" smtClean="0">
                        <a:latin typeface="Cambria Math" panose="02040503050406030204" pitchFamily="18" charset="0"/>
                      </a:rPr>
                      <m:t>𝑎</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𝑇</m:t>
                        </m:r>
                      </m:e>
                    </m:d>
                    <m:r>
                      <a:rPr lang="en-US" altLang="zh-TW" b="0" i="1" smtClean="0">
                        <a:latin typeface="Cambria Math" panose="02040503050406030204" pitchFamily="18" charset="0"/>
                      </a:rPr>
                      <m:t>, 1</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𝑎</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𝑘</m:t>
                    </m:r>
                  </m:oMath>
                </a14:m>
                <a:r>
                  <a:rPr lang="zh-TW" altLang="en-US" dirty="0"/>
                  <a:t>  </a:t>
                </a:r>
                <a:endParaRPr lang="en-US" altLang="zh-TW" dirty="0"/>
              </a:p>
              <a:p>
                <a:pPr marL="0" indent="0">
                  <a:buNone/>
                </a:pPr>
                <a14:m>
                  <m:oMath xmlns:m="http://schemas.openxmlformats.org/officeDocument/2006/math">
                    <m:r>
                      <a:rPr lang="en-US" altLang="zh-TW" b="0" i="1" smtClean="0">
                        <a:latin typeface="Cambria Math" panose="02040503050406030204" pitchFamily="18" charset="0"/>
                      </a:rPr>
                      <m:t>𝑜𝑣</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𝑆</m:t>
                        </m:r>
                      </m:e>
                    </m:d>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𝑆</m:t>
                        </m:r>
                        <m:r>
                          <a:rPr lang="en-US" altLang="zh-TW" b="0" i="1" smtClean="0">
                            <a:latin typeface="Cambria Math" panose="02040503050406030204" pitchFamily="18" charset="0"/>
                          </a:rPr>
                          <m:t>−</m:t>
                        </m:r>
                        <m:r>
                          <a:rPr lang="en-US" altLang="zh-TW" b="0" i="1" smtClean="0">
                            <a:latin typeface="Cambria Math" panose="02040503050406030204" pitchFamily="18" charset="0"/>
                          </a:rPr>
                          <m:t>𝑈𝑁𝐶𝑂𝑉</m:t>
                        </m:r>
                      </m:e>
                    </m:d>
                    <m:r>
                      <a:rPr lang="en-US" altLang="zh-TW" b="0" i="1" smtClean="0">
                        <a:latin typeface="Cambria Math" panose="02040503050406030204" pitchFamily="18" charset="0"/>
                      </a:rPr>
                      <m:t>, </m:t>
                    </m:r>
                    <m:r>
                      <a:rPr lang="en-US" altLang="zh-TW" b="0" i="1" smtClean="0">
                        <a:latin typeface="Cambria Math" panose="02040503050406030204" pitchFamily="18" charset="0"/>
                      </a:rPr>
                      <m:t>𝑂𝑉</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𝐹</m:t>
                            </m:r>
                          </m:e>
                          <m:sub>
                            <m:r>
                              <a:rPr lang="en-US" altLang="zh-TW" b="0" i="1" smtClean="0">
                                <a:latin typeface="Cambria Math" panose="02040503050406030204" pitchFamily="18" charset="0"/>
                              </a:rPr>
                              <m:t>1</m:t>
                            </m:r>
                          </m:sub>
                        </m:sSub>
                      </m:e>
                    </m:d>
                    <m:r>
                      <a:rPr lang="en-US" altLang="zh-TW" b="0" i="1" smtClean="0">
                        <a:latin typeface="Cambria Math" panose="02040503050406030204" pitchFamily="18" charset="0"/>
                      </a:rPr>
                      <m:t>=</m:t>
                    </m:r>
                    <m:nary>
                      <m:naryPr>
                        <m:chr m:val="∑"/>
                        <m:supHide m:val="on"/>
                        <m:ctrlPr>
                          <a:rPr lang="en-US" altLang="zh-TW" b="0" i="1" smtClean="0">
                            <a:latin typeface="Cambria Math" panose="02040503050406030204" pitchFamily="18" charset="0"/>
                          </a:rPr>
                        </m:ctrlPr>
                      </m:naryPr>
                      <m:sub>
                        <m:r>
                          <m:rPr>
                            <m:brk m:alnAt="7"/>
                          </m:rPr>
                          <a:rPr lang="en-US" altLang="zh-TW" b="0" i="1" smtClean="0">
                            <a:latin typeface="Cambria Math" panose="02040503050406030204" pitchFamily="18" charset="0"/>
                          </a:rPr>
                          <m:t>𝑆</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𝐹</m:t>
                            </m:r>
                          </m:e>
                          <m:sub>
                            <m:r>
                              <a:rPr lang="en-US" altLang="zh-TW" b="0" i="1" smtClean="0">
                                <a:latin typeface="Cambria Math" panose="02040503050406030204" pitchFamily="18" charset="0"/>
                                <a:ea typeface="Cambria Math" panose="02040503050406030204" pitchFamily="18" charset="0"/>
                              </a:rPr>
                              <m:t>1</m:t>
                            </m:r>
                          </m:sub>
                        </m:sSub>
                      </m:sub>
                      <m:sup/>
                      <m:e>
                        <m:r>
                          <a:rPr lang="en-US" altLang="zh-TW" b="0" i="1" smtClean="0">
                            <a:latin typeface="Cambria Math" panose="02040503050406030204" pitchFamily="18" charset="0"/>
                          </a:rPr>
                          <m:t>𝑜𝑣</m:t>
                        </m:r>
                        <m:r>
                          <a:rPr lang="en-US" altLang="zh-TW" b="0" i="1" smtClean="0">
                            <a:latin typeface="Cambria Math" panose="02040503050406030204" pitchFamily="18" charset="0"/>
                          </a:rPr>
                          <m:t>(</m:t>
                        </m:r>
                        <m:r>
                          <a:rPr lang="en-US" altLang="zh-TW" b="0" i="1" smtClean="0">
                            <a:latin typeface="Cambria Math" panose="02040503050406030204" pitchFamily="18" charset="0"/>
                          </a:rPr>
                          <m:t>𝑆</m:t>
                        </m:r>
                        <m:r>
                          <a:rPr lang="en-US" altLang="zh-TW" b="0" i="1" smtClean="0">
                            <a:latin typeface="Cambria Math" panose="02040503050406030204" pitchFamily="18" charset="0"/>
                          </a:rPr>
                          <m:t>)</m:t>
                        </m:r>
                      </m:e>
                    </m:nary>
                  </m:oMath>
                </a14:m>
                <a:r>
                  <a:rPr lang="zh-TW" altLang="en-US" dirty="0"/>
                  <a:t> </a:t>
                </a:r>
                <a:endParaRPr lang="en-US" altLang="zh-TW" dirty="0"/>
              </a:p>
              <a:p>
                <a:pPr marL="0" indent="0">
                  <a:buNone/>
                </a:pPr>
                <a14:m>
                  <m:oMath xmlns:m="http://schemas.openxmlformats.org/officeDocument/2006/math">
                    <m:r>
                      <a:rPr lang="en-US" altLang="zh-TW" i="1">
                        <a:latin typeface="Cambria Math" panose="02040503050406030204" pitchFamily="18" charset="0"/>
                      </a:rPr>
                      <m:t>𝑚</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𝐹</m:t>
                            </m:r>
                          </m:e>
                          <m:sub>
                            <m:r>
                              <a:rPr lang="en-US" altLang="zh-TW" b="0" i="1" smtClean="0">
                                <a:latin typeface="Cambria Math" panose="02040503050406030204" pitchFamily="18" charset="0"/>
                              </a:rPr>
                              <m:t>1</m:t>
                            </m:r>
                          </m:sub>
                        </m:sSub>
                      </m:e>
                    </m:d>
                    <m:r>
                      <a:rPr lang="en-US" altLang="zh-TW" i="1">
                        <a:latin typeface="Cambria Math" panose="02040503050406030204" pitchFamily="18" charset="0"/>
                      </a:rPr>
                      <m:t>=</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𝑇</m:t>
                        </m:r>
                      </m:e>
                    </m:d>
                    <m:r>
                      <a:rPr lang="en-US" altLang="zh-TW" b="0" i="1" smtClean="0">
                        <a:latin typeface="Cambria Math" panose="02040503050406030204" pitchFamily="18" charset="0"/>
                      </a:rPr>
                      <m:t>+</m:t>
                    </m:r>
                    <m:r>
                      <a:rPr lang="en-US" altLang="zh-TW" i="1">
                        <a:latin typeface="Cambria Math" panose="02040503050406030204" pitchFamily="18" charset="0"/>
                      </a:rPr>
                      <m:t>𝑂𝑉</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𝐹</m:t>
                            </m:r>
                          </m:e>
                          <m:sub>
                            <m:r>
                              <a:rPr lang="en-US" altLang="zh-TW" i="1">
                                <a:latin typeface="Cambria Math" panose="02040503050406030204" pitchFamily="18" charset="0"/>
                              </a:rPr>
                              <m:t>1</m:t>
                            </m:r>
                          </m:sub>
                        </m:sSub>
                      </m:e>
                    </m:d>
                  </m:oMath>
                </a14:m>
                <a:r>
                  <a:rPr lang="zh-TW" altLang="en-US" dirty="0"/>
                  <a:t> </a:t>
                </a:r>
                <a:endParaRPr lang="en-US" altLang="zh-TW" dirty="0"/>
              </a:p>
              <a:p>
                <a:pPr marL="0" indent="0">
                  <a:buNone/>
                </a:pPr>
                <a:endParaRPr lang="en-US" altLang="zh-TW" dirty="0"/>
              </a:p>
              <a:p>
                <a:pPr marL="0" indent="0">
                  <a:buNone/>
                </a:pPr>
                <a14:m>
                  <m:oMath xmlns:m="http://schemas.openxmlformats.org/officeDocument/2006/math">
                    <m:r>
                      <a:rPr lang="en-US" altLang="zh-TW" b="0" i="1" smtClean="0">
                        <a:latin typeface="Cambria Math" panose="02040503050406030204" pitchFamily="18" charset="0"/>
                      </a:rPr>
                      <m:t>𝑂𝑉</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𝐹</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m:t>
                    </m:r>
                    <m:d>
                      <m:dPr>
                        <m:begChr m:val="|"/>
                        <m:endChr m:val="|"/>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𝑇</m:t>
                        </m:r>
                      </m:e>
                    </m:d>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𝑎</m:t>
                        </m:r>
                        <m:d>
                          <m:dPr>
                            <m:begChr m:val="["/>
                            <m:endChr m:val="]"/>
                            <m:ctrlPr>
                              <a:rPr lang="en-US" altLang="zh-TW" b="0" i="1" smtClean="0">
                                <a:latin typeface="Cambria Math" panose="02040503050406030204" pitchFamily="18" charset="0"/>
                                <a:ea typeface="Cambria Math" panose="02040503050406030204" pitchFamily="18" charset="0"/>
                              </a:rPr>
                            </m:ctrlPr>
                          </m:dPr>
                          <m:e>
                            <m:func>
                              <m:funcPr>
                                <m:ctrlPr>
                                  <a:rPr lang="en-US" altLang="zh-TW" b="0" i="1" smtClean="0">
                                    <a:latin typeface="Cambria Math" panose="02040503050406030204" pitchFamily="18" charset="0"/>
                                    <a:ea typeface="Cambria Math" panose="02040503050406030204" pitchFamily="18" charset="0"/>
                                  </a:rPr>
                                </m:ctrlPr>
                              </m:funcPr>
                              <m:fName>
                                <m:r>
                                  <m:rPr>
                                    <m:sty m:val="p"/>
                                  </m:rPr>
                                  <a:rPr lang="en-US" altLang="zh-TW" b="0" i="0" smtClean="0">
                                    <a:latin typeface="Cambria Math" panose="02040503050406030204" pitchFamily="18" charset="0"/>
                                    <a:ea typeface="Cambria Math" panose="02040503050406030204" pitchFamily="18" charset="0"/>
                                  </a:rPr>
                                  <m:t>ln</m:t>
                                </m:r>
                              </m:fName>
                              <m:e>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𝑘</m:t>
                                    </m:r>
                                  </m:e>
                                </m:d>
                              </m:e>
                            </m:func>
                            <m:r>
                              <a:rPr lang="en-US" altLang="zh-TW" b="0" i="1" smtClean="0">
                                <a:latin typeface="Cambria Math" panose="02040503050406030204" pitchFamily="18" charset="0"/>
                                <a:ea typeface="Cambria Math" panose="02040503050406030204" pitchFamily="18" charset="0"/>
                              </a:rPr>
                              <m:t>+1</m:t>
                            </m:r>
                          </m:e>
                        </m:d>
                        <m:r>
                          <a:rPr lang="en-US" altLang="zh-TW" b="0" i="1" smtClean="0">
                            <a:latin typeface="Cambria Math" panose="02040503050406030204" pitchFamily="18" charset="0"/>
                            <a:ea typeface="Cambria Math" panose="02040503050406030204" pitchFamily="18" charset="0"/>
                          </a:rPr>
                          <m:t>−1</m:t>
                        </m:r>
                      </m:e>
                    </m:d>
                  </m:oMath>
                </a14:m>
                <a:r>
                  <a:rPr lang="zh-TW" altLang="en-US" dirty="0"/>
                  <a:t> </a:t>
                </a:r>
                <a:endParaRPr lang="en-US" altLang="zh-TW" dirty="0"/>
              </a:p>
              <a:p>
                <a:pPr marL="0" indent="0">
                  <a:buNone/>
                </a:pPr>
                <a14:m>
                  <m:oMath xmlns:m="http://schemas.openxmlformats.org/officeDocument/2006/math">
                    <m:r>
                      <a:rPr lang="en-US" altLang="zh-TW" i="1">
                        <a:latin typeface="Cambria Math" panose="02040503050406030204" pitchFamily="18" charset="0"/>
                      </a:rPr>
                      <m:t>𝑚</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𝐹</m:t>
                            </m:r>
                          </m:e>
                          <m:sub>
                            <m:r>
                              <a:rPr lang="en-US" altLang="zh-TW" i="1">
                                <a:latin typeface="Cambria Math" panose="02040503050406030204" pitchFamily="18" charset="0"/>
                              </a:rPr>
                              <m:t>1</m:t>
                            </m:r>
                          </m:sub>
                        </m:sSub>
                      </m:e>
                    </m:d>
                    <m:r>
                      <a:rPr lang="en-US" altLang="zh-TW" i="1" smtClean="0">
                        <a:latin typeface="Cambria Math" panose="02040503050406030204" pitchFamily="18" charset="0"/>
                        <a:ea typeface="Cambria Math" panose="02040503050406030204" pitchFamily="18" charset="0"/>
                      </a:rPr>
                      <m:t>≤</m:t>
                    </m:r>
                    <m:r>
                      <a:rPr lang="en-US" altLang="zh-TW" i="1">
                        <a:latin typeface="Cambria Math" panose="02040503050406030204" pitchFamily="18" charset="0"/>
                      </a:rPr>
                      <m:t>𝑚</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𝐹</m:t>
                            </m:r>
                          </m:e>
                          <m:sub>
                            <m:r>
                              <a:rPr lang="en-US" altLang="zh-TW" i="1">
                                <a:latin typeface="Cambria Math" panose="02040503050406030204" pitchFamily="18" charset="0"/>
                              </a:rPr>
                              <m:t>0</m:t>
                            </m:r>
                          </m:sub>
                        </m:sSub>
                      </m:e>
                    </m:d>
                    <m:r>
                      <a:rPr lang="en-US" altLang="zh-TW" b="0" i="1" smtClean="0">
                        <a:latin typeface="Cambria Math" panose="02040503050406030204" pitchFamily="18" charset="0"/>
                      </a:rPr>
                      <m:t>[</m:t>
                    </m:r>
                    <m:func>
                      <m:funcPr>
                        <m:ctrlPr>
                          <a:rPr lang="en-US" altLang="zh-TW" b="0" i="1" smtClean="0">
                            <a:latin typeface="Cambria Math" panose="02040503050406030204" pitchFamily="18" charset="0"/>
                          </a:rPr>
                        </m:ctrlPr>
                      </m:funcPr>
                      <m:fName>
                        <m:r>
                          <m:rPr>
                            <m:sty m:val="p"/>
                          </m:rPr>
                          <a:rPr lang="en-US" altLang="zh-TW" b="0" i="0" smtClean="0">
                            <a:latin typeface="Cambria Math" panose="02040503050406030204" pitchFamily="18" charset="0"/>
                          </a:rPr>
                          <m:t>ln</m:t>
                        </m:r>
                      </m:fName>
                      <m:e>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𝑘</m:t>
                            </m:r>
                          </m:e>
                        </m:d>
                      </m:e>
                    </m:func>
                    <m:r>
                      <a:rPr lang="en-US" altLang="zh-TW" b="0" i="1" smtClean="0">
                        <a:latin typeface="Cambria Math" panose="02040503050406030204" pitchFamily="18" charset="0"/>
                      </a:rPr>
                      <m:t>+1]</m:t>
                    </m:r>
                  </m:oMath>
                </a14:m>
                <a:r>
                  <a:rPr lang="zh-TW" altLang="en-US" dirty="0"/>
                  <a:t> </a:t>
                </a:r>
                <a:endParaRPr lang="en-US" altLang="zh-TW" dirty="0"/>
              </a:p>
              <a:p>
                <a:pPr marL="0" indent="0">
                  <a:buNone/>
                </a:pPr>
                <a14:m>
                  <m:oMath xmlns:m="http://schemas.openxmlformats.org/officeDocument/2006/math">
                    <m:f>
                      <m:fPr>
                        <m:ctrlPr>
                          <a:rPr lang="en-US" altLang="zh-TW" i="1" smtClean="0">
                            <a:latin typeface="Cambria Math" panose="02040503050406030204" pitchFamily="18" charset="0"/>
                          </a:rPr>
                        </m:ctrlPr>
                      </m:fPr>
                      <m:num>
                        <m:r>
                          <a:rPr lang="en-US" altLang="zh-TW" i="1">
                            <a:latin typeface="Cambria Math" panose="02040503050406030204" pitchFamily="18" charset="0"/>
                          </a:rPr>
                          <m:t>𝑚</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𝐹</m:t>
                                </m:r>
                              </m:e>
                              <m:sub>
                                <m:r>
                                  <a:rPr lang="en-US" altLang="zh-TW" i="1">
                                    <a:latin typeface="Cambria Math" panose="02040503050406030204" pitchFamily="18" charset="0"/>
                                  </a:rPr>
                                  <m:t>1</m:t>
                                </m:r>
                              </m:sub>
                            </m:sSub>
                          </m:e>
                        </m:d>
                      </m:num>
                      <m:den>
                        <m:r>
                          <a:rPr lang="en-US" altLang="zh-TW" i="1">
                            <a:latin typeface="Cambria Math" panose="02040503050406030204" pitchFamily="18" charset="0"/>
                          </a:rPr>
                          <m:t>𝑚</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𝐹</m:t>
                                </m:r>
                              </m:e>
                              <m:sub>
                                <m:r>
                                  <a:rPr lang="en-US" altLang="zh-TW" b="0" i="1" smtClean="0">
                                    <a:latin typeface="Cambria Math" panose="02040503050406030204" pitchFamily="18" charset="0"/>
                                  </a:rPr>
                                  <m:t>0</m:t>
                                </m:r>
                              </m:sub>
                            </m:sSub>
                          </m:e>
                        </m:d>
                      </m:den>
                    </m:f>
                    <m:r>
                      <a:rPr lang="en-US" altLang="zh-TW" b="0" i="1" smtClean="0">
                        <a:latin typeface="Cambria Math" panose="02040503050406030204" pitchFamily="18" charset="0"/>
                      </a:rPr>
                      <m:t>=</m:t>
                    </m:r>
                    <m:func>
                      <m:funcPr>
                        <m:ctrlPr>
                          <a:rPr lang="en-US" altLang="zh-TW" b="0" i="1" smtClean="0">
                            <a:latin typeface="Cambria Math" panose="02040503050406030204" pitchFamily="18" charset="0"/>
                          </a:rPr>
                        </m:ctrlPr>
                      </m:funcPr>
                      <m:fName>
                        <m:r>
                          <m:rPr>
                            <m:sty m:val="p"/>
                          </m:rPr>
                          <a:rPr lang="en-US" altLang="zh-TW" b="0" i="0" smtClean="0">
                            <a:latin typeface="Cambria Math" panose="02040503050406030204" pitchFamily="18" charset="0"/>
                          </a:rPr>
                          <m:t>ln</m:t>
                        </m:r>
                      </m:fName>
                      <m:e>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𝑘</m:t>
                            </m:r>
                          </m:e>
                        </m:d>
                      </m:e>
                    </m:func>
                    <m:r>
                      <a:rPr lang="en-US" altLang="zh-TW" b="0" i="1" smtClean="0">
                        <a:latin typeface="Cambria Math" panose="02040503050406030204" pitchFamily="18" charset="0"/>
                      </a:rPr>
                      <m:t>+1</m:t>
                    </m:r>
                  </m:oMath>
                </a14:m>
                <a:r>
                  <a:rPr lang="zh-TW" altLang="en-US" dirty="0"/>
                  <a:t> </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zh-TW" altLang="en-US">
                    <a:noFill/>
                  </a:rPr>
                  <a:t> </a:t>
                </a:r>
              </a:p>
            </p:txBody>
          </p:sp>
        </mc:Fallback>
      </mc:AlternateContent>
      <p:sp>
        <p:nvSpPr>
          <p:cNvPr id="5" name="文字方塊 4"/>
          <p:cNvSpPr txBox="1"/>
          <p:nvPr/>
        </p:nvSpPr>
        <p:spPr>
          <a:xfrm>
            <a:off x="5261105" y="6176963"/>
            <a:ext cx="3021918" cy="646331"/>
          </a:xfrm>
          <a:prstGeom prst="rect">
            <a:avLst/>
          </a:prstGeom>
          <a:noFill/>
        </p:spPr>
        <p:txBody>
          <a:bodyPr wrap="none" rtlCol="0">
            <a:spAutoFit/>
          </a:bodyPr>
          <a:lstStyle/>
          <a:p>
            <a:r>
              <a:rPr lang="en-US" altLang="zh-TW" dirty="0"/>
              <a:t>X</a:t>
            </a:r>
            <a:r>
              <a:rPr lang="zh-TW" altLang="en-US" dirty="0"/>
              <a:t>軸為已經</a:t>
            </a:r>
            <a:r>
              <a:rPr lang="en-US" altLang="zh-TW" dirty="0"/>
              <a:t>COVER</a:t>
            </a:r>
            <a:r>
              <a:rPr lang="zh-TW" altLang="en-US" dirty="0"/>
              <a:t>的元素比例</a:t>
            </a:r>
            <a:endParaRPr lang="en-US" altLang="zh-TW" dirty="0"/>
          </a:p>
          <a:p>
            <a:r>
              <a:rPr lang="en-US" altLang="zh-TW" dirty="0"/>
              <a:t>Y</a:t>
            </a:r>
            <a:r>
              <a:rPr lang="zh-TW" altLang="en-US" dirty="0"/>
              <a:t>軸為當下選的</a:t>
            </a:r>
            <a:r>
              <a:rPr lang="en-US" altLang="zh-TW" dirty="0"/>
              <a:t>Ratio(S‘)</a:t>
            </a:r>
            <a:endParaRPr lang="zh-TW" altLang="en-US" dirty="0"/>
          </a:p>
        </p:txBody>
      </p:sp>
    </p:spTree>
    <p:extLst>
      <p:ext uri="{BB962C8B-B14F-4D97-AF65-F5344CB8AC3E}">
        <p14:creationId xmlns:p14="http://schemas.microsoft.com/office/powerpoint/2010/main" val="6506283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Graph Coloring</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𝐼𝑁𝑃𝑈𝑇</m:t>
                        </m:r>
                      </m:e>
                      <m:sub>
                        <m:r>
                          <a:rPr lang="en-US" altLang="zh-TW" b="0" i="1" smtClean="0">
                            <a:latin typeface="Cambria Math" panose="02040503050406030204" pitchFamily="18" charset="0"/>
                          </a:rPr>
                          <m:t>𝐺𝐶</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𝐺</m:t>
                    </m:r>
                    <m:r>
                      <a:rPr lang="en-US" altLang="zh-TW" b="0" i="1" smtClean="0">
                        <a:latin typeface="Cambria Math" panose="02040503050406030204" pitchFamily="18" charset="0"/>
                      </a:rPr>
                      <m:t>=</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𝑉</m:t>
                        </m:r>
                        <m:r>
                          <a:rPr lang="en-US" altLang="zh-TW" b="0" i="1" smtClean="0">
                            <a:latin typeface="Cambria Math" panose="02040503050406030204" pitchFamily="18" charset="0"/>
                          </a:rPr>
                          <m:t>,</m:t>
                        </m:r>
                        <m:r>
                          <a:rPr lang="en-US" altLang="zh-TW" b="0" i="1" smtClean="0">
                            <a:latin typeface="Cambria Math" panose="02040503050406030204" pitchFamily="18" charset="0"/>
                          </a:rPr>
                          <m:t>𝐸</m:t>
                        </m:r>
                      </m:e>
                    </m:d>
                    <m:r>
                      <a:rPr lang="en-US" altLang="zh-TW" b="0" i="1" smtClean="0">
                        <a:latin typeface="Cambria Math" panose="02040503050406030204" pitchFamily="18" charset="0"/>
                      </a:rPr>
                      <m:t>:</m:t>
                    </m:r>
                    <m:r>
                      <a:rPr lang="en-US" altLang="zh-TW" b="0" i="1" smtClean="0">
                        <a:latin typeface="Cambria Math" panose="02040503050406030204" pitchFamily="18" charset="0"/>
                      </a:rPr>
                      <m:t>𝐺</m:t>
                    </m:r>
                  </m:oMath>
                </a14:m>
                <a:r>
                  <a:rPr lang="zh-TW" altLang="en-US" dirty="0"/>
                  <a:t> </a:t>
                </a:r>
                <a:r>
                  <a:rPr lang="en-US" altLang="zh-TW" dirty="0"/>
                  <a:t>is a finite undirected graph with nodes </a:t>
                </a:r>
                <a14:m>
                  <m:oMath xmlns:m="http://schemas.openxmlformats.org/officeDocument/2006/math">
                    <m:r>
                      <a:rPr lang="en-US" altLang="zh-TW" i="1" dirty="0" smtClean="0">
                        <a:latin typeface="Cambria Math" panose="02040503050406030204" pitchFamily="18" charset="0"/>
                      </a:rPr>
                      <m:t>𝑉</m:t>
                    </m:r>
                  </m:oMath>
                </a14:m>
                <a:r>
                  <a:rPr lang="en-US" altLang="zh-TW" dirty="0"/>
                  <a:t> and edge </a:t>
                </a:r>
                <a14:m>
                  <m:oMath xmlns:m="http://schemas.openxmlformats.org/officeDocument/2006/math">
                    <m:r>
                      <a:rPr lang="en-US" altLang="zh-TW" i="1" dirty="0" smtClean="0">
                        <a:latin typeface="Cambria Math" panose="02040503050406030204" pitchFamily="18" charset="0"/>
                      </a:rPr>
                      <m:t>𝐸</m:t>
                    </m:r>
                    <m:r>
                      <a:rPr lang="en-US" altLang="zh-TW" b="0" i="1" dirty="0" smtClean="0">
                        <a:latin typeface="Cambria Math" panose="02040503050406030204" pitchFamily="18" charset="0"/>
                      </a:rPr>
                      <m:t>}</m:t>
                    </m:r>
                  </m:oMath>
                </a14:m>
                <a:r>
                  <a:rPr lang="en-US" altLang="zh-TW" dirty="0"/>
                  <a:t>.</a:t>
                </a:r>
              </a:p>
              <a:p>
                <a:pPr marL="0" indent="0">
                  <a:buNone/>
                </a:pP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𝑆𝑂𝐿</m:t>
                        </m:r>
                      </m:e>
                      <m:sub>
                        <m:r>
                          <a:rPr lang="en-US" altLang="zh-TW" b="0" i="1" smtClean="0">
                            <a:latin typeface="Cambria Math" panose="02040503050406030204" pitchFamily="18" charset="0"/>
                          </a:rPr>
                          <m:t>𝐺𝐶</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𝑐</m:t>
                    </m:r>
                    <m:r>
                      <a:rPr lang="en-US" altLang="zh-TW" b="0" i="1" smtClean="0">
                        <a:latin typeface="Cambria Math" panose="02040503050406030204" pitchFamily="18" charset="0"/>
                      </a:rPr>
                      <m:t>:</m:t>
                    </m:r>
                    <m:r>
                      <a:rPr lang="en-US" altLang="zh-TW" b="0" i="1" smtClean="0">
                        <a:latin typeface="Cambria Math" panose="02040503050406030204" pitchFamily="18" charset="0"/>
                      </a:rPr>
                      <m:t>𝑉</m:t>
                    </m:r>
                    <m:r>
                      <a:rPr lang="en-US" altLang="zh-TW" b="0" i="1" smtClean="0">
                        <a:latin typeface="Cambria Math" panose="02040503050406030204" pitchFamily="18" charset="0"/>
                        <a:ea typeface="Cambria Math" panose="02040503050406030204" pitchFamily="18" charset="0"/>
                      </a:rPr>
                      <m:t>→</m:t>
                    </m:r>
                    <m:d>
                      <m:dPr>
                        <m:begChr m:val="{"/>
                        <m:endChr m:val="}"/>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1,2,…,</m:t>
                        </m:r>
                        <m:d>
                          <m:dPr>
                            <m:begChr m:val="|"/>
                            <m:endChr m:val="|"/>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𝑉</m:t>
                            </m:r>
                          </m:e>
                        </m:d>
                      </m:e>
                    </m:d>
                    <m:r>
                      <a:rPr lang="en-US" altLang="zh-TW" b="0" i="1" smtClean="0">
                        <a:latin typeface="Cambria Math" panose="02040503050406030204" pitchFamily="18" charset="0"/>
                        <a:ea typeface="Cambria Math" panose="02040503050406030204" pitchFamily="18" charset="0"/>
                      </a:rPr>
                      <m:t>:</m:t>
                    </m:r>
                  </m:oMath>
                </a14:m>
                <a:r>
                  <a:rPr lang="zh-TW" altLang="en-US" dirty="0"/>
                  <a:t>  </a:t>
                </a:r>
                <a:r>
                  <a:rPr lang="en-US" altLang="zh-TW" dirty="0"/>
                  <a:t>if there is an edge between nodes </a:t>
                </a:r>
                <a14:m>
                  <m:oMath xmlns:m="http://schemas.openxmlformats.org/officeDocument/2006/math">
                    <m:r>
                      <a:rPr lang="en-US" altLang="zh-TW" i="1" dirty="0" smtClean="0">
                        <a:latin typeface="Cambria Math" panose="02040503050406030204" pitchFamily="18" charset="0"/>
                      </a:rPr>
                      <m:t>𝑥</m:t>
                    </m:r>
                  </m:oMath>
                </a14:m>
                <a:r>
                  <a:rPr lang="en-US" altLang="zh-TW" dirty="0"/>
                  <a:t> and </a:t>
                </a:r>
                <a14:m>
                  <m:oMath xmlns:m="http://schemas.openxmlformats.org/officeDocument/2006/math">
                    <m:r>
                      <a:rPr lang="en-US" altLang="zh-TW" i="1" dirty="0" smtClean="0">
                        <a:latin typeface="Cambria Math" panose="02040503050406030204" pitchFamily="18" charset="0"/>
                      </a:rPr>
                      <m:t>𝑦</m:t>
                    </m:r>
                  </m:oMath>
                </a14:m>
                <a:r>
                  <a:rPr lang="en-US" altLang="zh-TW" dirty="0"/>
                  <a:t>, </a:t>
                </a:r>
                <a14:m>
                  <m:oMath xmlns:m="http://schemas.openxmlformats.org/officeDocument/2006/math">
                    <m:r>
                      <a:rPr lang="en-US" altLang="zh-TW" b="0" i="1" smtClean="0">
                        <a:latin typeface="Cambria Math" panose="02040503050406030204" pitchFamily="18" charset="0"/>
                      </a:rPr>
                      <m:t>𝑐</m:t>
                    </m:r>
                    <m:r>
                      <a:rPr lang="en-US" altLang="zh-TW" b="0" i="1" smtClean="0">
                        <a:latin typeface="Cambria Math" panose="02040503050406030204" pitchFamily="18" charset="0"/>
                      </a:rPr>
                      <m:t>(</m:t>
                    </m:r>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𝑐</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𝑦</m:t>
                    </m:r>
                    <m:r>
                      <a:rPr lang="en-US" altLang="zh-TW" b="0" i="1" smtClean="0">
                        <a:latin typeface="Cambria Math" panose="02040503050406030204" pitchFamily="18" charset="0"/>
                        <a:ea typeface="Cambria Math" panose="02040503050406030204" pitchFamily="18" charset="0"/>
                      </a:rPr>
                      <m:t>)}</m:t>
                    </m:r>
                  </m:oMath>
                </a14:m>
                <a:r>
                  <a:rPr lang="en-US" altLang="zh-TW" dirty="0"/>
                  <a:t>.</a:t>
                </a:r>
              </a:p>
              <a:p>
                <a:pPr marL="0" indent="0">
                  <a:buNone/>
                </a:pP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𝑚</m:t>
                        </m:r>
                      </m:e>
                      <m:sub>
                        <m:r>
                          <a:rPr lang="en-US" altLang="zh-TW" b="0" i="1" smtClean="0">
                            <a:latin typeface="Cambria Math" panose="02040503050406030204" pitchFamily="18" charset="0"/>
                          </a:rPr>
                          <m:t>𝐺𝐶</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𝑐</m:t>
                        </m:r>
                      </m:e>
                    </m:d>
                    <m:r>
                      <a:rPr lang="en-US" altLang="zh-TW" b="0" i="1" smtClean="0">
                        <a:latin typeface="Cambria Math" panose="02040503050406030204" pitchFamily="18" charset="0"/>
                      </a:rPr>
                      <m:t>=|</m:t>
                    </m:r>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a:rPr lang="en-US" altLang="zh-TW" b="0" i="1" smtClean="0">
                        <a:latin typeface="Cambria Math" panose="02040503050406030204" pitchFamily="18" charset="0"/>
                      </a:rPr>
                      <m:t>𝑐</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e>
                    </m:d>
                    <m:r>
                      <a:rPr lang="en-US" altLang="zh-TW" b="0" i="1" smtClean="0">
                        <a:latin typeface="Cambria Math" panose="02040503050406030204" pitchFamily="18" charset="0"/>
                      </a:rPr>
                      <m:t>,</m:t>
                    </m:r>
                  </m:oMath>
                </a14:m>
                <a:r>
                  <a:rPr lang="zh-TW" altLang="en-US" dirty="0"/>
                  <a:t> </a:t>
                </a:r>
                <a:r>
                  <a:rPr lang="en-US" altLang="zh-TW" dirty="0"/>
                  <a:t>for some </a:t>
                </a:r>
                <a14:m>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𝑉</m:t>
                    </m:r>
                    <m:r>
                      <a:rPr lang="en-US" altLang="zh-TW" b="0" i="1" smtClean="0">
                        <a:latin typeface="Cambria Math" panose="02040503050406030204" pitchFamily="18" charset="0"/>
                        <a:ea typeface="Cambria Math" panose="02040503050406030204" pitchFamily="18" charset="0"/>
                      </a:rPr>
                      <m:t>}|</m:t>
                    </m:r>
                  </m:oMath>
                </a14:m>
                <a:r>
                  <a:rPr lang="en-US" altLang="zh-TW" dirty="0"/>
                  <a:t>.</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a:blip r:embed="rId2"/>
                <a:stretch>
                  <a:fillRect l="-1546" t="-2241"/>
                </a:stretch>
              </a:blipFill>
            </p:spPr>
            <p:txBody>
              <a:bodyPr/>
              <a:lstStyle/>
              <a:p>
                <a:r>
                  <a:rPr lang="zh-TW" altLang="en-US">
                    <a:noFill/>
                  </a:rPr>
                  <a:t> </a:t>
                </a:r>
              </a:p>
            </p:txBody>
          </p:sp>
        </mc:Fallback>
      </mc:AlternateContent>
      <p:sp>
        <p:nvSpPr>
          <p:cNvPr id="4" name="橢圓 3"/>
          <p:cNvSpPr/>
          <p:nvPr/>
        </p:nvSpPr>
        <p:spPr>
          <a:xfrm>
            <a:off x="628650" y="4198587"/>
            <a:ext cx="268446" cy="26844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橢圓 4"/>
          <p:cNvSpPr/>
          <p:nvPr/>
        </p:nvSpPr>
        <p:spPr>
          <a:xfrm>
            <a:off x="1718172" y="4198586"/>
            <a:ext cx="268446" cy="26844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橢圓 5"/>
          <p:cNvSpPr/>
          <p:nvPr/>
        </p:nvSpPr>
        <p:spPr>
          <a:xfrm>
            <a:off x="2807695" y="4198586"/>
            <a:ext cx="268446" cy="26844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6"/>
          <p:cNvSpPr/>
          <p:nvPr/>
        </p:nvSpPr>
        <p:spPr>
          <a:xfrm>
            <a:off x="628650" y="5908517"/>
            <a:ext cx="268446" cy="26844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p:cNvSpPr/>
          <p:nvPr/>
        </p:nvSpPr>
        <p:spPr>
          <a:xfrm>
            <a:off x="1718172" y="5908516"/>
            <a:ext cx="268446" cy="26844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p:cNvSpPr/>
          <p:nvPr/>
        </p:nvSpPr>
        <p:spPr>
          <a:xfrm>
            <a:off x="2807695" y="5908516"/>
            <a:ext cx="268446" cy="26844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3" name="直線接點 12"/>
          <p:cNvCxnSpPr>
            <a:stCxn id="4" idx="4"/>
            <a:endCxn id="8" idx="0"/>
          </p:cNvCxnSpPr>
          <p:nvPr/>
        </p:nvCxnSpPr>
        <p:spPr>
          <a:xfrm>
            <a:off x="762873" y="4467033"/>
            <a:ext cx="1089522" cy="1441483"/>
          </a:xfrm>
          <a:prstGeom prst="line">
            <a:avLst/>
          </a:prstGeom>
          <a:ln w="28575">
            <a:solidFill>
              <a:schemeClr val="bg1">
                <a:lumMod val="50000"/>
              </a:schemeClr>
            </a:solidFill>
          </a:ln>
        </p:spPr>
        <p:style>
          <a:lnRef idx="1">
            <a:schemeClr val="dk1"/>
          </a:lnRef>
          <a:fillRef idx="0">
            <a:schemeClr val="dk1"/>
          </a:fillRef>
          <a:effectRef idx="0">
            <a:schemeClr val="dk1"/>
          </a:effectRef>
          <a:fontRef idx="minor">
            <a:schemeClr val="tx1"/>
          </a:fontRef>
        </p:style>
      </p:cxnSp>
      <p:cxnSp>
        <p:nvCxnSpPr>
          <p:cNvPr id="14" name="直線接點 13"/>
          <p:cNvCxnSpPr>
            <a:stCxn id="4" idx="4"/>
            <a:endCxn id="9" idx="0"/>
          </p:cNvCxnSpPr>
          <p:nvPr/>
        </p:nvCxnSpPr>
        <p:spPr>
          <a:xfrm>
            <a:off x="762873" y="4467033"/>
            <a:ext cx="2179045" cy="1441483"/>
          </a:xfrm>
          <a:prstGeom prst="line">
            <a:avLst/>
          </a:prstGeom>
          <a:ln w="28575">
            <a:solidFill>
              <a:schemeClr val="bg1">
                <a:lumMod val="50000"/>
              </a:schemeClr>
            </a:solidFill>
          </a:ln>
        </p:spPr>
        <p:style>
          <a:lnRef idx="1">
            <a:schemeClr val="dk1"/>
          </a:lnRef>
          <a:fillRef idx="0">
            <a:schemeClr val="dk1"/>
          </a:fillRef>
          <a:effectRef idx="0">
            <a:schemeClr val="dk1"/>
          </a:effectRef>
          <a:fontRef idx="minor">
            <a:schemeClr val="tx1"/>
          </a:fontRef>
        </p:style>
      </p:cxnSp>
      <p:cxnSp>
        <p:nvCxnSpPr>
          <p:cNvPr id="15" name="直線接點 14"/>
          <p:cNvCxnSpPr>
            <a:stCxn id="5" idx="4"/>
            <a:endCxn id="7" idx="0"/>
          </p:cNvCxnSpPr>
          <p:nvPr/>
        </p:nvCxnSpPr>
        <p:spPr>
          <a:xfrm flipH="1">
            <a:off x="762873" y="4467032"/>
            <a:ext cx="1089522" cy="1441485"/>
          </a:xfrm>
          <a:prstGeom prst="line">
            <a:avLst/>
          </a:prstGeom>
          <a:ln w="28575">
            <a:solidFill>
              <a:schemeClr val="bg1">
                <a:lumMod val="50000"/>
              </a:schemeClr>
            </a:solidFill>
          </a:ln>
        </p:spPr>
        <p:style>
          <a:lnRef idx="1">
            <a:schemeClr val="dk1"/>
          </a:lnRef>
          <a:fillRef idx="0">
            <a:schemeClr val="dk1"/>
          </a:fillRef>
          <a:effectRef idx="0">
            <a:schemeClr val="dk1"/>
          </a:effectRef>
          <a:fontRef idx="minor">
            <a:schemeClr val="tx1"/>
          </a:fontRef>
        </p:style>
      </p:cxnSp>
      <p:cxnSp>
        <p:nvCxnSpPr>
          <p:cNvPr id="16" name="直線接點 15"/>
          <p:cNvCxnSpPr>
            <a:stCxn id="5" idx="4"/>
            <a:endCxn id="9" idx="0"/>
          </p:cNvCxnSpPr>
          <p:nvPr/>
        </p:nvCxnSpPr>
        <p:spPr>
          <a:xfrm>
            <a:off x="1852395" y="4467032"/>
            <a:ext cx="1089523" cy="1441484"/>
          </a:xfrm>
          <a:prstGeom prst="line">
            <a:avLst/>
          </a:prstGeom>
          <a:ln w="28575">
            <a:solidFill>
              <a:schemeClr val="bg1">
                <a:lumMod val="50000"/>
              </a:schemeClr>
            </a:solidFill>
          </a:ln>
        </p:spPr>
        <p:style>
          <a:lnRef idx="1">
            <a:schemeClr val="dk1"/>
          </a:lnRef>
          <a:fillRef idx="0">
            <a:schemeClr val="dk1"/>
          </a:fillRef>
          <a:effectRef idx="0">
            <a:schemeClr val="dk1"/>
          </a:effectRef>
          <a:fontRef idx="minor">
            <a:schemeClr val="tx1"/>
          </a:fontRef>
        </p:style>
      </p:cxnSp>
      <p:cxnSp>
        <p:nvCxnSpPr>
          <p:cNvPr id="17" name="直線接點 16"/>
          <p:cNvCxnSpPr>
            <a:stCxn id="6" idx="4"/>
            <a:endCxn id="8" idx="0"/>
          </p:cNvCxnSpPr>
          <p:nvPr/>
        </p:nvCxnSpPr>
        <p:spPr>
          <a:xfrm flipH="1">
            <a:off x="1852395" y="4467032"/>
            <a:ext cx="1089523" cy="1441484"/>
          </a:xfrm>
          <a:prstGeom prst="line">
            <a:avLst/>
          </a:prstGeom>
          <a:ln w="28575">
            <a:solidFill>
              <a:schemeClr val="bg1">
                <a:lumMod val="50000"/>
              </a:schemeClr>
            </a:solidFill>
          </a:ln>
        </p:spPr>
        <p:style>
          <a:lnRef idx="1">
            <a:schemeClr val="dk1"/>
          </a:lnRef>
          <a:fillRef idx="0">
            <a:schemeClr val="dk1"/>
          </a:fillRef>
          <a:effectRef idx="0">
            <a:schemeClr val="dk1"/>
          </a:effectRef>
          <a:fontRef idx="minor">
            <a:schemeClr val="tx1"/>
          </a:fontRef>
        </p:style>
      </p:cxnSp>
      <p:cxnSp>
        <p:nvCxnSpPr>
          <p:cNvPr id="18" name="直線接點 17"/>
          <p:cNvCxnSpPr>
            <a:stCxn id="6" idx="4"/>
            <a:endCxn id="7" idx="0"/>
          </p:cNvCxnSpPr>
          <p:nvPr/>
        </p:nvCxnSpPr>
        <p:spPr>
          <a:xfrm flipH="1">
            <a:off x="762873" y="4467032"/>
            <a:ext cx="2179045" cy="1441485"/>
          </a:xfrm>
          <a:prstGeom prst="line">
            <a:avLst/>
          </a:prstGeom>
          <a:ln w="28575">
            <a:solidFill>
              <a:schemeClr val="bg1">
                <a:lumMod val="50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807950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Graph Coloring</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fontScale="92500" lnSpcReduction="10000"/>
              </a:bodyPr>
              <a:lstStyle/>
              <a:p>
                <a:pPr marL="514350" indent="-514350">
                  <a:buFont typeface="+mj-lt"/>
                  <a:buAutoNum type="arabicPeriod"/>
                </a:pPr>
                <a:r>
                  <a:rPr lang="en-US" altLang="zh-TW" dirty="0"/>
                  <a:t>Set </a:t>
                </a:r>
                <a14:m>
                  <m:oMath xmlns:m="http://schemas.openxmlformats.org/officeDocument/2006/math">
                    <m:r>
                      <a:rPr lang="en-US" altLang="zh-TW" b="0" i="1" smtClean="0">
                        <a:latin typeface="Cambria Math" panose="02040503050406030204" pitchFamily="18" charset="0"/>
                      </a:rPr>
                      <m:t>𝑈𝑁𝐶𝑂𝐿𝑂𝑅𝐸𝐷</m:t>
                    </m:r>
                    <m:r>
                      <a:rPr lang="en-US" altLang="zh-TW" b="0" i="1" smtClean="0">
                        <a:latin typeface="Cambria Math" panose="02040503050406030204" pitchFamily="18" charset="0"/>
                      </a:rPr>
                      <m:t>=</m:t>
                    </m:r>
                    <m:r>
                      <a:rPr lang="en-US" altLang="zh-TW" b="0" i="1" smtClean="0">
                        <a:latin typeface="Cambria Math" panose="02040503050406030204" pitchFamily="18" charset="0"/>
                      </a:rPr>
                      <m:t>𝑁</m:t>
                    </m:r>
                    <m:r>
                      <a:rPr lang="en-US" altLang="zh-TW" b="0" i="1" smtClean="0">
                        <a:latin typeface="Cambria Math" panose="02040503050406030204" pitchFamily="18" charset="0"/>
                      </a:rPr>
                      <m:t>, </m:t>
                    </m:r>
                    <m:r>
                      <a:rPr lang="en-US" altLang="zh-TW" b="0" i="1" smtClean="0">
                        <a:latin typeface="Cambria Math" panose="02040503050406030204" pitchFamily="18" charset="0"/>
                      </a:rPr>
                      <m:t>𝐶𝑂𝐿𝑂𝑅𝐸𝐷</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𝑖</m:t>
                        </m:r>
                      </m:e>
                    </m:d>
                    <m:r>
                      <a:rPr lang="en-US" altLang="zh-TW" b="0" i="1" smtClean="0">
                        <a:latin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 1≤</m:t>
                    </m:r>
                    <m:r>
                      <a:rPr lang="en-US" altLang="zh-TW" b="0" i="1" smtClean="0">
                        <a:latin typeface="Cambria Math" panose="02040503050406030204" pitchFamily="18" charset="0"/>
                        <a:ea typeface="Cambria Math" panose="02040503050406030204" pitchFamily="18" charset="0"/>
                      </a:rPr>
                      <m:t>𝑖</m:t>
                    </m:r>
                    <m:r>
                      <a:rPr lang="en-US" altLang="zh-TW" b="0" i="1" smtClean="0">
                        <a:latin typeface="Cambria Math" panose="02040503050406030204" pitchFamily="18" charset="0"/>
                        <a:ea typeface="Cambria Math" panose="02040503050406030204" pitchFamily="18" charset="0"/>
                      </a:rPr>
                      <m:t>≤</m:t>
                    </m:r>
                    <m:d>
                      <m:dPr>
                        <m:begChr m:val="|"/>
                        <m:endChr m:val="|"/>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𝑁</m:t>
                        </m:r>
                      </m:e>
                    </m:d>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𝐼</m:t>
                    </m:r>
                    <m:r>
                      <a:rPr lang="en-US" altLang="zh-TW" b="0" i="1" smtClean="0">
                        <a:latin typeface="Cambria Math" panose="02040503050406030204" pitchFamily="18" charset="0"/>
                        <a:ea typeface="Cambria Math" panose="02040503050406030204" pitchFamily="18" charset="0"/>
                      </a:rPr>
                      <m:t>=1</m:t>
                    </m:r>
                  </m:oMath>
                </a14:m>
                <a:r>
                  <a:rPr lang="en-US" altLang="zh-TW" dirty="0"/>
                  <a:t>.</a:t>
                </a:r>
              </a:p>
              <a:p>
                <a:pPr marL="514350" indent="-514350">
                  <a:buFont typeface="+mj-lt"/>
                  <a:buAutoNum type="arabicPeriod"/>
                </a:pPr>
                <a:r>
                  <a:rPr lang="en-US" altLang="zh-TW" dirty="0"/>
                  <a:t>If </a:t>
                </a:r>
                <a14:m>
                  <m:oMath xmlns:m="http://schemas.openxmlformats.org/officeDocument/2006/math">
                    <m:r>
                      <a:rPr lang="en-US" altLang="zh-TW" i="1">
                        <a:latin typeface="Cambria Math" panose="02040503050406030204" pitchFamily="18" charset="0"/>
                      </a:rPr>
                      <m:t>𝑈𝑁𝐶𝑂𝐿𝑂𝑅𝐸𝐷</m:t>
                    </m:r>
                    <m:r>
                      <a:rPr lang="en-US" altLang="zh-TW" b="0" i="1" smtClean="0">
                        <a:latin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m:t>
                    </m:r>
                  </m:oMath>
                </a14:m>
                <a:r>
                  <a:rPr lang="en-US" altLang="zh-TW" dirty="0"/>
                  <a:t>,</a:t>
                </a:r>
                <a:r>
                  <a:rPr lang="zh-TW" altLang="en-US" dirty="0"/>
                  <a:t> </a:t>
                </a:r>
                <a:r>
                  <a:rPr lang="en-US" altLang="zh-TW" dirty="0"/>
                  <a:t>halt and return </a:t>
                </a:r>
                <a14:m>
                  <m:oMath xmlns:m="http://schemas.openxmlformats.org/officeDocument/2006/math">
                    <m:r>
                      <a:rPr lang="en-US" altLang="zh-TW" b="0" i="1" smtClean="0">
                        <a:latin typeface="Cambria Math" panose="02040503050406030204" pitchFamily="18" charset="0"/>
                      </a:rPr>
                      <m:t>𝐶𝑂𝐿𝑂𝑅𝐸𝐷</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𝑖</m:t>
                        </m:r>
                      </m:e>
                    </m:d>
                    <m:r>
                      <a:rPr lang="en-US" altLang="zh-TW" b="0" i="1" smtClean="0">
                        <a:latin typeface="Cambria Math" panose="02040503050406030204" pitchFamily="18" charset="0"/>
                      </a:rPr>
                      <m:t>, </m:t>
                    </m:r>
                    <m:r>
                      <a:rPr lang="en-US" altLang="zh-TW" i="1">
                        <a:latin typeface="Cambria Math" panose="02040503050406030204" pitchFamily="18" charset="0"/>
                        <a:ea typeface="Cambria Math" panose="02040503050406030204" pitchFamily="18" charset="0"/>
                      </a:rPr>
                      <m:t>1≤</m:t>
                    </m:r>
                    <m:r>
                      <a:rPr lang="en-US" altLang="zh-TW" i="1">
                        <a:latin typeface="Cambria Math" panose="02040503050406030204" pitchFamily="18" charset="0"/>
                        <a:ea typeface="Cambria Math" panose="02040503050406030204" pitchFamily="18" charset="0"/>
                      </a:rPr>
                      <m:t>𝑖</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𝐼</m:t>
                    </m:r>
                  </m:oMath>
                </a14:m>
                <a:r>
                  <a:rPr lang="en-US" altLang="zh-TW" dirty="0"/>
                  <a:t>.</a:t>
                </a:r>
              </a:p>
              <a:p>
                <a:pPr marL="514350" indent="-514350">
                  <a:buFont typeface="+mj-lt"/>
                  <a:buAutoNum type="arabicPeriod"/>
                </a:pPr>
                <a:r>
                  <a:rPr lang="en-US" altLang="zh-TW" dirty="0"/>
                  <a:t>If each node in </a:t>
                </a:r>
                <a14:m>
                  <m:oMath xmlns:m="http://schemas.openxmlformats.org/officeDocument/2006/math">
                    <m:r>
                      <a:rPr lang="en-US" altLang="zh-TW" i="1" dirty="0" smtClean="0">
                        <a:latin typeface="Cambria Math" panose="02040503050406030204" pitchFamily="18" charset="0"/>
                      </a:rPr>
                      <m:t>𝑈𝑁𝐶𝑂𝐿𝑂𝑅𝐸𝐷</m:t>
                    </m:r>
                  </m:oMath>
                </a14:m>
                <a:r>
                  <a:rPr lang="en-US" altLang="zh-TW" dirty="0"/>
                  <a:t> is connected to some node in </a:t>
                </a:r>
                <a14:m>
                  <m:oMath xmlns:m="http://schemas.openxmlformats.org/officeDocument/2006/math">
                    <m:r>
                      <a:rPr lang="en-US" altLang="zh-TW" i="1" dirty="0" smtClean="0">
                        <a:latin typeface="Cambria Math" panose="02040503050406030204" pitchFamily="18" charset="0"/>
                      </a:rPr>
                      <m:t>𝐶𝑂𝐿𝑂𝑅𝐸𝐷</m:t>
                    </m:r>
                    <m:r>
                      <a:rPr lang="en-US" altLang="zh-TW" i="1" dirty="0" smtClean="0">
                        <a:latin typeface="Cambria Math" panose="02040503050406030204" pitchFamily="18" charset="0"/>
                      </a:rPr>
                      <m:t>[</m:t>
                    </m:r>
                    <m:r>
                      <a:rPr lang="en-US" altLang="zh-TW" i="1" dirty="0">
                        <a:latin typeface="Cambria Math" panose="02040503050406030204" pitchFamily="18" charset="0"/>
                      </a:rPr>
                      <m:t>𝐼</m:t>
                    </m:r>
                    <m:r>
                      <a:rPr lang="en-US" altLang="zh-TW" i="1" dirty="0" smtClean="0">
                        <a:latin typeface="Cambria Math" panose="02040503050406030204" pitchFamily="18" charset="0"/>
                      </a:rPr>
                      <m:t>]</m:t>
                    </m:r>
                  </m:oMath>
                </a14:m>
                <a:r>
                  <a:rPr lang="en-US" altLang="zh-TW" dirty="0"/>
                  <a:t>, set </a:t>
                </a:r>
                <a14:m>
                  <m:oMath xmlns:m="http://schemas.openxmlformats.org/officeDocument/2006/math">
                    <m:r>
                      <a:rPr lang="en-US" altLang="zh-TW" i="1" dirty="0" smtClean="0">
                        <a:latin typeface="Cambria Math" panose="02040503050406030204" pitchFamily="18" charset="0"/>
                      </a:rPr>
                      <m:t>𝐼</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𝐼</m:t>
                    </m:r>
                    <m:r>
                      <a:rPr lang="en-US" altLang="zh-TW" i="1" dirty="0" smtClean="0">
                        <a:latin typeface="Cambria Math" panose="02040503050406030204" pitchFamily="18" charset="0"/>
                      </a:rPr>
                      <m:t>+1</m:t>
                    </m:r>
                  </m:oMath>
                </a14:m>
                <a:r>
                  <a:rPr lang="en-US" altLang="zh-TW" dirty="0"/>
                  <a:t>.</a:t>
                </a:r>
              </a:p>
              <a:p>
                <a:pPr marL="514350" indent="-514350">
                  <a:buFont typeface="+mj-lt"/>
                  <a:buAutoNum type="arabicPeriod"/>
                </a:pPr>
                <a:r>
                  <a:rPr lang="en-US" altLang="zh-TW" dirty="0"/>
                  <a:t>Let </a:t>
                </a:r>
                <a14:m>
                  <m:oMath xmlns:m="http://schemas.openxmlformats.org/officeDocument/2006/math">
                    <m:r>
                      <a:rPr lang="en-US" altLang="zh-TW" i="1" dirty="0" smtClean="0">
                        <a:latin typeface="Cambria Math" panose="02040503050406030204" pitchFamily="18" charset="0"/>
                      </a:rPr>
                      <m:t>𝑥</m:t>
                    </m:r>
                  </m:oMath>
                </a14:m>
                <a:r>
                  <a:rPr lang="en-US" altLang="zh-TW" dirty="0"/>
                  <a:t> be a node in </a:t>
                </a:r>
                <a14:m>
                  <m:oMath xmlns:m="http://schemas.openxmlformats.org/officeDocument/2006/math">
                    <m:r>
                      <a:rPr lang="en-US" altLang="zh-TW" i="1" dirty="0" smtClean="0">
                        <a:latin typeface="Cambria Math" panose="02040503050406030204" pitchFamily="18" charset="0"/>
                      </a:rPr>
                      <m:t>𝑈𝑁𝐶𝑂𝐿𝑂𝑅𝐸𝐷</m:t>
                    </m:r>
                  </m:oMath>
                </a14:m>
                <a:r>
                  <a:rPr lang="en-US" altLang="zh-TW" dirty="0"/>
                  <a:t> with maximum degree among those not connected to any node in </a:t>
                </a:r>
                <a14:m>
                  <m:oMath xmlns:m="http://schemas.openxmlformats.org/officeDocument/2006/math">
                    <m:r>
                      <a:rPr lang="en-US" altLang="zh-TW" i="1" dirty="0" smtClean="0">
                        <a:latin typeface="Cambria Math" panose="02040503050406030204" pitchFamily="18" charset="0"/>
                      </a:rPr>
                      <m:t>𝐶𝐿𝑂𝐿𝑇𝐸𝐷</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𝐼</m:t>
                    </m:r>
                    <m:r>
                      <a:rPr lang="en-US" altLang="zh-TW" i="1" dirty="0" smtClean="0">
                        <a:latin typeface="Cambria Math" panose="02040503050406030204" pitchFamily="18" charset="0"/>
                      </a:rPr>
                      <m:t>]</m:t>
                    </m:r>
                  </m:oMath>
                </a14:m>
                <a:r>
                  <a:rPr lang="en-US" altLang="zh-TW" dirty="0"/>
                  <a:t>.</a:t>
                </a:r>
              </a:p>
              <a:p>
                <a:pPr marL="514350" indent="-514350">
                  <a:buFont typeface="+mj-lt"/>
                  <a:buAutoNum type="arabicPeriod"/>
                </a:pPr>
                <a:r>
                  <a:rPr lang="en-US" altLang="zh-TW" dirty="0"/>
                  <a:t>Set </a:t>
                </a:r>
                <a14:m>
                  <m:oMath xmlns:m="http://schemas.openxmlformats.org/officeDocument/2006/math">
                    <m:r>
                      <a:rPr lang="en-US" altLang="zh-TW" i="1" dirty="0" smtClean="0">
                        <a:latin typeface="Cambria Math" panose="02040503050406030204" pitchFamily="18" charset="0"/>
                      </a:rPr>
                      <m:t>𝐶𝑂𝐿𝑂𝑅𝐸𝐷</m:t>
                    </m:r>
                    <m:d>
                      <m:dPr>
                        <m:begChr m:val="["/>
                        <m:endChr m:val="]"/>
                        <m:ctrlPr>
                          <a:rPr lang="en-US" altLang="zh-TW" i="1" dirty="0" smtClean="0">
                            <a:latin typeface="Cambria Math" panose="02040503050406030204" pitchFamily="18" charset="0"/>
                          </a:rPr>
                        </m:ctrlPr>
                      </m:dPr>
                      <m:e>
                        <m:r>
                          <a:rPr lang="en-US" altLang="zh-TW" i="1" dirty="0" smtClean="0">
                            <a:latin typeface="Cambria Math" panose="02040503050406030204" pitchFamily="18" charset="0"/>
                          </a:rPr>
                          <m:t>𝐼</m:t>
                        </m:r>
                      </m:e>
                    </m:d>
                    <m:r>
                      <a:rPr lang="en-US" altLang="zh-TW" i="1" dirty="0" smtClean="0">
                        <a:latin typeface="Cambria Math" panose="02040503050406030204" pitchFamily="18" charset="0"/>
                      </a:rPr>
                      <m:t>=</m:t>
                    </m:r>
                    <m:r>
                      <a:rPr lang="en-US" altLang="zh-TW" i="1" dirty="0" smtClean="0">
                        <a:latin typeface="Cambria Math" panose="02040503050406030204" pitchFamily="18" charset="0"/>
                      </a:rPr>
                      <m:t>𝐶𝑂𝐿𝑂𝑅𝐸𝐷</m:t>
                    </m:r>
                    <m:d>
                      <m:dPr>
                        <m:begChr m:val="["/>
                        <m:endChr m:val="]"/>
                        <m:ctrlPr>
                          <a:rPr lang="en-US" altLang="zh-TW" i="1" dirty="0" smtClean="0">
                            <a:latin typeface="Cambria Math" panose="02040503050406030204" pitchFamily="18" charset="0"/>
                          </a:rPr>
                        </m:ctrlPr>
                      </m:dPr>
                      <m:e>
                        <m:r>
                          <a:rPr lang="en-US" altLang="zh-TW" i="1" dirty="0" smtClean="0">
                            <a:latin typeface="Cambria Math" panose="02040503050406030204" pitchFamily="18" charset="0"/>
                          </a:rPr>
                          <m:t>𝐼</m:t>
                        </m:r>
                      </m:e>
                    </m:d>
                    <m:r>
                      <a:rPr lang="en-US" altLang="zh-TW" i="1" dirty="0" smtClean="0">
                        <a:latin typeface="Cambria Math" panose="02040503050406030204" pitchFamily="18" charset="0"/>
                        <a:ea typeface="Cambria Math" panose="02040503050406030204" pitchFamily="18" charset="0"/>
                      </a:rPr>
                      <m:t>∪</m:t>
                    </m:r>
                    <m:d>
                      <m:dPr>
                        <m:begChr m:val="{"/>
                        <m:endChr m:val="}"/>
                        <m:ctrlPr>
                          <a:rPr lang="en-US" altLang="zh-TW" b="0" i="1" dirty="0" smtClean="0">
                            <a:latin typeface="Cambria Math" panose="02040503050406030204" pitchFamily="18" charset="0"/>
                            <a:ea typeface="Cambria Math" panose="02040503050406030204" pitchFamily="18" charset="0"/>
                          </a:rPr>
                        </m:ctrlPr>
                      </m:dPr>
                      <m:e>
                        <m:r>
                          <a:rPr lang="en-US" altLang="zh-TW" b="0" i="1" dirty="0" smtClean="0">
                            <a:latin typeface="Cambria Math" panose="02040503050406030204" pitchFamily="18" charset="0"/>
                            <a:ea typeface="Cambria Math" panose="02040503050406030204" pitchFamily="18" charset="0"/>
                          </a:rPr>
                          <m:t>𝑥</m:t>
                        </m:r>
                      </m:e>
                    </m:d>
                  </m:oMath>
                </a14:m>
                <a:r>
                  <a:rPr lang="en-US" altLang="zh-TW" dirty="0"/>
                  <a:t>. </a:t>
                </a:r>
                <a14:m>
                  <m:oMath xmlns:m="http://schemas.openxmlformats.org/officeDocument/2006/math">
                    <m:r>
                      <a:rPr lang="en-US" altLang="zh-TW" i="1" dirty="0">
                        <a:latin typeface="Cambria Math" panose="02040503050406030204" pitchFamily="18" charset="0"/>
                        <a:ea typeface="Cambria Math" panose="02040503050406030204" pitchFamily="18" charset="0"/>
                      </a:rPr>
                      <m:t>𝑈𝑁𝐶𝑂𝐿𝑂𝑅𝐸𝐷</m:t>
                    </m:r>
                    <m:r>
                      <a:rPr lang="en-US" altLang="zh-TW" i="1" dirty="0">
                        <a:latin typeface="Cambria Math" panose="02040503050406030204" pitchFamily="18" charset="0"/>
                        <a:ea typeface="Cambria Math" panose="02040503050406030204" pitchFamily="18" charset="0"/>
                      </a:rPr>
                      <m:t>=</m:t>
                    </m:r>
                    <m:r>
                      <a:rPr lang="en-US" altLang="zh-TW" i="1" dirty="0">
                        <a:latin typeface="Cambria Math" panose="02040503050406030204" pitchFamily="18" charset="0"/>
                        <a:ea typeface="Cambria Math" panose="02040503050406030204" pitchFamily="18" charset="0"/>
                      </a:rPr>
                      <m:t>𝑈𝑁𝐶𝑂𝐿𝑂𝑅𝐸𝐷</m:t>
                    </m:r>
                    <m:r>
                      <a:rPr lang="en-US" altLang="zh-TW" i="1" dirty="0">
                        <a:latin typeface="Cambria Math" panose="02040503050406030204" pitchFamily="18" charset="0"/>
                        <a:ea typeface="Cambria Math" panose="02040503050406030204" pitchFamily="18" charset="0"/>
                      </a:rPr>
                      <m:t>−</m:t>
                    </m:r>
                    <m:d>
                      <m:dPr>
                        <m:begChr m:val="{"/>
                        <m:endChr m:val="}"/>
                        <m:ctrlPr>
                          <a:rPr lang="en-US" altLang="zh-TW" i="1" dirty="0">
                            <a:latin typeface="Cambria Math" panose="02040503050406030204" pitchFamily="18" charset="0"/>
                            <a:ea typeface="Cambria Math" panose="02040503050406030204" pitchFamily="18" charset="0"/>
                          </a:rPr>
                        </m:ctrlPr>
                      </m:dPr>
                      <m:e>
                        <m:r>
                          <a:rPr lang="en-US" altLang="zh-TW" i="1" dirty="0">
                            <a:latin typeface="Cambria Math" panose="02040503050406030204" pitchFamily="18" charset="0"/>
                            <a:ea typeface="Cambria Math" panose="02040503050406030204" pitchFamily="18" charset="0"/>
                          </a:rPr>
                          <m:t>𝑥</m:t>
                        </m:r>
                      </m:e>
                    </m:d>
                  </m:oMath>
                </a14:m>
                <a:r>
                  <a:rPr lang="en-US" altLang="zh-TW" dirty="0"/>
                  <a:t>, and go to 2.</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a:blip r:embed="rId2"/>
                <a:stretch>
                  <a:fillRect l="-1391" t="-280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627809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Graph Coloring</a:t>
            </a:r>
            <a:endParaRPr lang="zh-TW" altLang="en-US" dirty="0"/>
          </a:p>
        </p:txBody>
      </p:sp>
      <p:sp>
        <p:nvSpPr>
          <p:cNvPr id="4" name="橢圓 3"/>
          <p:cNvSpPr/>
          <p:nvPr/>
        </p:nvSpPr>
        <p:spPr>
          <a:xfrm>
            <a:off x="2239336" y="2412855"/>
            <a:ext cx="268446" cy="26844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橢圓 4"/>
          <p:cNvSpPr/>
          <p:nvPr/>
        </p:nvSpPr>
        <p:spPr>
          <a:xfrm>
            <a:off x="4448787" y="2412855"/>
            <a:ext cx="268446" cy="26844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橢圓 5"/>
          <p:cNvSpPr/>
          <p:nvPr/>
        </p:nvSpPr>
        <p:spPr>
          <a:xfrm>
            <a:off x="6658242" y="2409676"/>
            <a:ext cx="268446" cy="26844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6"/>
          <p:cNvSpPr/>
          <p:nvPr/>
        </p:nvSpPr>
        <p:spPr>
          <a:xfrm>
            <a:off x="2239336" y="5079130"/>
            <a:ext cx="268446" cy="26844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p:cNvSpPr/>
          <p:nvPr/>
        </p:nvSpPr>
        <p:spPr>
          <a:xfrm>
            <a:off x="4448787" y="5079130"/>
            <a:ext cx="268446" cy="26844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p:cNvSpPr/>
          <p:nvPr/>
        </p:nvSpPr>
        <p:spPr>
          <a:xfrm>
            <a:off x="6658242" y="5075951"/>
            <a:ext cx="268446" cy="26844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3" name="直線接點 12"/>
          <p:cNvCxnSpPr>
            <a:stCxn id="4" idx="4"/>
            <a:endCxn id="8" idx="0"/>
          </p:cNvCxnSpPr>
          <p:nvPr/>
        </p:nvCxnSpPr>
        <p:spPr>
          <a:xfrm>
            <a:off x="2373559" y="2681301"/>
            <a:ext cx="2209451" cy="2397829"/>
          </a:xfrm>
          <a:prstGeom prst="line">
            <a:avLst/>
          </a:prstGeom>
          <a:ln w="28575">
            <a:solidFill>
              <a:schemeClr val="bg1">
                <a:lumMod val="50000"/>
              </a:schemeClr>
            </a:solidFill>
          </a:ln>
        </p:spPr>
        <p:style>
          <a:lnRef idx="1">
            <a:schemeClr val="dk1"/>
          </a:lnRef>
          <a:fillRef idx="0">
            <a:schemeClr val="dk1"/>
          </a:fillRef>
          <a:effectRef idx="0">
            <a:schemeClr val="dk1"/>
          </a:effectRef>
          <a:fontRef idx="minor">
            <a:schemeClr val="tx1"/>
          </a:fontRef>
        </p:style>
      </p:cxnSp>
      <p:cxnSp>
        <p:nvCxnSpPr>
          <p:cNvPr id="14" name="直線接點 13"/>
          <p:cNvCxnSpPr>
            <a:stCxn id="4" idx="4"/>
            <a:endCxn id="9" idx="0"/>
          </p:cNvCxnSpPr>
          <p:nvPr/>
        </p:nvCxnSpPr>
        <p:spPr>
          <a:xfrm>
            <a:off x="2373559" y="2681301"/>
            <a:ext cx="4418906" cy="2394650"/>
          </a:xfrm>
          <a:prstGeom prst="line">
            <a:avLst/>
          </a:prstGeom>
          <a:ln w="28575">
            <a:solidFill>
              <a:schemeClr val="bg1">
                <a:lumMod val="50000"/>
              </a:schemeClr>
            </a:solidFill>
          </a:ln>
        </p:spPr>
        <p:style>
          <a:lnRef idx="1">
            <a:schemeClr val="dk1"/>
          </a:lnRef>
          <a:fillRef idx="0">
            <a:schemeClr val="dk1"/>
          </a:fillRef>
          <a:effectRef idx="0">
            <a:schemeClr val="dk1"/>
          </a:effectRef>
          <a:fontRef idx="minor">
            <a:schemeClr val="tx1"/>
          </a:fontRef>
        </p:style>
      </p:cxnSp>
      <p:cxnSp>
        <p:nvCxnSpPr>
          <p:cNvPr id="15" name="直線接點 14"/>
          <p:cNvCxnSpPr>
            <a:stCxn id="5" idx="4"/>
            <a:endCxn id="7" idx="0"/>
          </p:cNvCxnSpPr>
          <p:nvPr/>
        </p:nvCxnSpPr>
        <p:spPr>
          <a:xfrm flipH="1">
            <a:off x="2373559" y="2681301"/>
            <a:ext cx="2209451" cy="2397829"/>
          </a:xfrm>
          <a:prstGeom prst="line">
            <a:avLst/>
          </a:prstGeom>
          <a:ln w="28575">
            <a:solidFill>
              <a:schemeClr val="bg1">
                <a:lumMod val="50000"/>
              </a:schemeClr>
            </a:solidFill>
          </a:ln>
        </p:spPr>
        <p:style>
          <a:lnRef idx="1">
            <a:schemeClr val="dk1"/>
          </a:lnRef>
          <a:fillRef idx="0">
            <a:schemeClr val="dk1"/>
          </a:fillRef>
          <a:effectRef idx="0">
            <a:schemeClr val="dk1"/>
          </a:effectRef>
          <a:fontRef idx="minor">
            <a:schemeClr val="tx1"/>
          </a:fontRef>
        </p:style>
      </p:cxnSp>
      <p:cxnSp>
        <p:nvCxnSpPr>
          <p:cNvPr id="16" name="直線接點 15"/>
          <p:cNvCxnSpPr>
            <a:stCxn id="5" idx="4"/>
            <a:endCxn id="9" idx="0"/>
          </p:cNvCxnSpPr>
          <p:nvPr/>
        </p:nvCxnSpPr>
        <p:spPr>
          <a:xfrm>
            <a:off x="4583010" y="2681301"/>
            <a:ext cx="2209455" cy="2394650"/>
          </a:xfrm>
          <a:prstGeom prst="line">
            <a:avLst/>
          </a:prstGeom>
          <a:ln w="28575">
            <a:solidFill>
              <a:schemeClr val="bg1">
                <a:lumMod val="50000"/>
              </a:schemeClr>
            </a:solidFill>
          </a:ln>
        </p:spPr>
        <p:style>
          <a:lnRef idx="1">
            <a:schemeClr val="dk1"/>
          </a:lnRef>
          <a:fillRef idx="0">
            <a:schemeClr val="dk1"/>
          </a:fillRef>
          <a:effectRef idx="0">
            <a:schemeClr val="dk1"/>
          </a:effectRef>
          <a:fontRef idx="minor">
            <a:schemeClr val="tx1"/>
          </a:fontRef>
        </p:style>
      </p:cxnSp>
      <p:cxnSp>
        <p:nvCxnSpPr>
          <p:cNvPr id="17" name="直線接點 16"/>
          <p:cNvCxnSpPr>
            <a:stCxn id="6" idx="4"/>
            <a:endCxn id="8" idx="0"/>
          </p:cNvCxnSpPr>
          <p:nvPr/>
        </p:nvCxnSpPr>
        <p:spPr>
          <a:xfrm flipH="1">
            <a:off x="4583010" y="2678122"/>
            <a:ext cx="2209455" cy="2401008"/>
          </a:xfrm>
          <a:prstGeom prst="line">
            <a:avLst/>
          </a:prstGeom>
          <a:ln w="28575">
            <a:solidFill>
              <a:schemeClr val="bg1">
                <a:lumMod val="50000"/>
              </a:schemeClr>
            </a:solidFill>
          </a:ln>
        </p:spPr>
        <p:style>
          <a:lnRef idx="1">
            <a:schemeClr val="dk1"/>
          </a:lnRef>
          <a:fillRef idx="0">
            <a:schemeClr val="dk1"/>
          </a:fillRef>
          <a:effectRef idx="0">
            <a:schemeClr val="dk1"/>
          </a:effectRef>
          <a:fontRef idx="minor">
            <a:schemeClr val="tx1"/>
          </a:fontRef>
        </p:style>
      </p:cxnSp>
      <p:cxnSp>
        <p:nvCxnSpPr>
          <p:cNvPr id="18" name="直線接點 17"/>
          <p:cNvCxnSpPr>
            <a:stCxn id="6" idx="4"/>
            <a:endCxn id="7" idx="0"/>
          </p:cNvCxnSpPr>
          <p:nvPr/>
        </p:nvCxnSpPr>
        <p:spPr>
          <a:xfrm flipH="1">
            <a:off x="2373559" y="2678122"/>
            <a:ext cx="4418906" cy="2401008"/>
          </a:xfrm>
          <a:prstGeom prst="line">
            <a:avLst/>
          </a:prstGeom>
          <a:ln w="28575">
            <a:solidFill>
              <a:schemeClr val="bg1">
                <a:lumMod val="50000"/>
              </a:schemeClr>
            </a:solidFill>
          </a:ln>
        </p:spPr>
        <p:style>
          <a:lnRef idx="1">
            <a:schemeClr val="dk1"/>
          </a:lnRef>
          <a:fillRef idx="0">
            <a:schemeClr val="dk1"/>
          </a:fillRef>
          <a:effectRef idx="0">
            <a:schemeClr val="dk1"/>
          </a:effectRef>
          <a:fontRef idx="minor">
            <a:schemeClr val="tx1"/>
          </a:fontRef>
        </p:style>
      </p:cxnSp>
      <p:sp>
        <p:nvSpPr>
          <p:cNvPr id="19" name="橢圓 18"/>
          <p:cNvSpPr/>
          <p:nvPr/>
        </p:nvSpPr>
        <p:spPr>
          <a:xfrm>
            <a:off x="2239335" y="2412854"/>
            <a:ext cx="268446" cy="26844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橢圓 19"/>
          <p:cNvSpPr/>
          <p:nvPr/>
        </p:nvSpPr>
        <p:spPr>
          <a:xfrm>
            <a:off x="2239335" y="5075951"/>
            <a:ext cx="268446" cy="26844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橢圓 20"/>
          <p:cNvSpPr/>
          <p:nvPr/>
        </p:nvSpPr>
        <p:spPr>
          <a:xfrm>
            <a:off x="6658240" y="5072773"/>
            <a:ext cx="268446" cy="26844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橢圓 21"/>
          <p:cNvSpPr/>
          <p:nvPr/>
        </p:nvSpPr>
        <p:spPr>
          <a:xfrm>
            <a:off x="4448786" y="5075952"/>
            <a:ext cx="268446" cy="26844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橢圓 22"/>
          <p:cNvSpPr/>
          <p:nvPr/>
        </p:nvSpPr>
        <p:spPr>
          <a:xfrm>
            <a:off x="6658242" y="2412854"/>
            <a:ext cx="268446" cy="268446"/>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橢圓 23"/>
          <p:cNvSpPr/>
          <p:nvPr/>
        </p:nvSpPr>
        <p:spPr>
          <a:xfrm>
            <a:off x="4448788" y="2416033"/>
            <a:ext cx="268446" cy="268446"/>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211114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Graph Coloring</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514350" indent="-514350">
                  <a:buFont typeface="+mj-lt"/>
                  <a:buAutoNum type="arabicPeriod" startAt="4"/>
                </a:pPr>
                <a:r>
                  <a:rPr lang="en-US" altLang="zh-TW" dirty="0"/>
                  <a:t>Let </a:t>
                </a:r>
                <a14:m>
                  <m:oMath xmlns:m="http://schemas.openxmlformats.org/officeDocument/2006/math">
                    <m:r>
                      <a:rPr lang="en-US" altLang="zh-TW" i="1" dirty="0" smtClean="0">
                        <a:latin typeface="Cambria Math" panose="02040503050406030204" pitchFamily="18" charset="0"/>
                      </a:rPr>
                      <m:t>𝑃𝑂𝑆𝑆</m:t>
                    </m:r>
                  </m:oMath>
                </a14:m>
                <a:r>
                  <a:rPr lang="en-US" altLang="zh-TW" dirty="0"/>
                  <a:t> be that subset of </a:t>
                </a:r>
                <a14:m>
                  <m:oMath xmlns:m="http://schemas.openxmlformats.org/officeDocument/2006/math">
                    <m:r>
                      <a:rPr lang="en-US" altLang="zh-TW" i="1" dirty="0" smtClean="0">
                        <a:latin typeface="Cambria Math" panose="02040503050406030204" pitchFamily="18" charset="0"/>
                      </a:rPr>
                      <m:t>𝑈𝑁𝐶𝑂𝐿𝑂𝑅𝐸𝐷</m:t>
                    </m:r>
                  </m:oMath>
                </a14:m>
                <a:r>
                  <a:rPr lang="en-US" altLang="zh-TW" dirty="0"/>
                  <a:t> made up of all the points not connected to any member of </a:t>
                </a:r>
                <a14:m>
                  <m:oMath xmlns:m="http://schemas.openxmlformats.org/officeDocument/2006/math">
                    <m:r>
                      <a:rPr lang="en-US" altLang="zh-TW" i="1" dirty="0" smtClean="0">
                        <a:latin typeface="Cambria Math" panose="02040503050406030204" pitchFamily="18" charset="0"/>
                      </a:rPr>
                      <m:t>𝐶𝑂𝐿𝑂𝑅𝐸𝐷</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𝐼</m:t>
                    </m:r>
                    <m:r>
                      <a:rPr lang="en-US" altLang="zh-TW" i="1" dirty="0" smtClean="0">
                        <a:latin typeface="Cambria Math" panose="02040503050406030204" pitchFamily="18" charset="0"/>
                      </a:rPr>
                      <m:t>]</m:t>
                    </m:r>
                  </m:oMath>
                </a14:m>
                <a:r>
                  <a:rPr lang="en-US" altLang="zh-TW" dirty="0"/>
                  <a:t>. Let </a:t>
                </a:r>
                <a14:m>
                  <m:oMath xmlns:m="http://schemas.openxmlformats.org/officeDocument/2006/math">
                    <m:r>
                      <a:rPr lang="en-US" altLang="zh-TW" i="1" dirty="0" smtClean="0">
                        <a:latin typeface="Cambria Math" panose="02040503050406030204" pitchFamily="18" charset="0"/>
                      </a:rPr>
                      <m:t>𝑥</m:t>
                    </m:r>
                  </m:oMath>
                </a14:m>
                <a:r>
                  <a:rPr lang="en-US" altLang="zh-TW" dirty="0"/>
                  <a:t> be the node in </a:t>
                </a:r>
                <a14:m>
                  <m:oMath xmlns:m="http://schemas.openxmlformats.org/officeDocument/2006/math">
                    <m:r>
                      <a:rPr lang="en-US" altLang="zh-TW" i="1" dirty="0" smtClean="0">
                        <a:latin typeface="Cambria Math" panose="02040503050406030204" pitchFamily="18" charset="0"/>
                      </a:rPr>
                      <m:t>𝑃𝑂𝑆𝑆</m:t>
                    </m:r>
                  </m:oMath>
                </a14:m>
                <a:r>
                  <a:rPr lang="en-US" altLang="zh-TW" dirty="0"/>
                  <a:t> connected to the fewest other nodes in </a:t>
                </a:r>
                <a14:m>
                  <m:oMath xmlns:m="http://schemas.openxmlformats.org/officeDocument/2006/math">
                    <m:r>
                      <a:rPr lang="en-US" altLang="zh-TW" i="1" dirty="0" smtClean="0">
                        <a:latin typeface="Cambria Math" panose="02040503050406030204" pitchFamily="18" charset="0"/>
                      </a:rPr>
                      <m:t>𝑃𝑂𝑆𝑆</m:t>
                    </m:r>
                  </m:oMath>
                </a14:m>
                <a:r>
                  <a:rPr lang="en-US" altLang="zh-TW" dirty="0"/>
                  <a:t>.</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a:blip r:embed="rId2"/>
                <a:stretch>
                  <a:fillRect l="-1623" t="-2381" r="-231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3392854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Graph Coloring</a:t>
            </a:r>
            <a:endParaRPr lang="zh-TW" altLang="en-US" dirty="0"/>
          </a:p>
        </p:txBody>
      </p:sp>
      <p:sp>
        <p:nvSpPr>
          <p:cNvPr id="4" name="橢圓 3"/>
          <p:cNvSpPr/>
          <p:nvPr/>
        </p:nvSpPr>
        <p:spPr>
          <a:xfrm>
            <a:off x="2239336" y="2412855"/>
            <a:ext cx="268446" cy="26844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橢圓 4"/>
          <p:cNvSpPr/>
          <p:nvPr/>
        </p:nvSpPr>
        <p:spPr>
          <a:xfrm>
            <a:off x="4448787" y="2412855"/>
            <a:ext cx="268446" cy="26844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橢圓 5"/>
          <p:cNvSpPr/>
          <p:nvPr/>
        </p:nvSpPr>
        <p:spPr>
          <a:xfrm>
            <a:off x="6658242" y="2409676"/>
            <a:ext cx="268446" cy="26844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6"/>
          <p:cNvSpPr/>
          <p:nvPr/>
        </p:nvSpPr>
        <p:spPr>
          <a:xfrm>
            <a:off x="2239336" y="5079130"/>
            <a:ext cx="268446" cy="26844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p:cNvSpPr/>
          <p:nvPr/>
        </p:nvSpPr>
        <p:spPr>
          <a:xfrm>
            <a:off x="4448787" y="5079130"/>
            <a:ext cx="268446" cy="26844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p:cNvSpPr/>
          <p:nvPr/>
        </p:nvSpPr>
        <p:spPr>
          <a:xfrm>
            <a:off x="6658242" y="5075951"/>
            <a:ext cx="268446" cy="26844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3" name="直線接點 12"/>
          <p:cNvCxnSpPr>
            <a:stCxn id="4" idx="4"/>
            <a:endCxn id="8" idx="0"/>
          </p:cNvCxnSpPr>
          <p:nvPr/>
        </p:nvCxnSpPr>
        <p:spPr>
          <a:xfrm>
            <a:off x="2373559" y="2681301"/>
            <a:ext cx="2209451" cy="2397829"/>
          </a:xfrm>
          <a:prstGeom prst="line">
            <a:avLst/>
          </a:prstGeom>
          <a:ln w="28575">
            <a:solidFill>
              <a:schemeClr val="bg1">
                <a:lumMod val="50000"/>
              </a:schemeClr>
            </a:solidFill>
          </a:ln>
        </p:spPr>
        <p:style>
          <a:lnRef idx="1">
            <a:schemeClr val="dk1"/>
          </a:lnRef>
          <a:fillRef idx="0">
            <a:schemeClr val="dk1"/>
          </a:fillRef>
          <a:effectRef idx="0">
            <a:schemeClr val="dk1"/>
          </a:effectRef>
          <a:fontRef idx="minor">
            <a:schemeClr val="tx1"/>
          </a:fontRef>
        </p:style>
      </p:cxnSp>
      <p:cxnSp>
        <p:nvCxnSpPr>
          <p:cNvPr id="14" name="直線接點 13"/>
          <p:cNvCxnSpPr>
            <a:stCxn id="4" idx="4"/>
            <a:endCxn id="9" idx="0"/>
          </p:cNvCxnSpPr>
          <p:nvPr/>
        </p:nvCxnSpPr>
        <p:spPr>
          <a:xfrm>
            <a:off x="2373559" y="2681301"/>
            <a:ext cx="4418906" cy="2394650"/>
          </a:xfrm>
          <a:prstGeom prst="line">
            <a:avLst/>
          </a:prstGeom>
          <a:ln w="28575">
            <a:solidFill>
              <a:schemeClr val="bg1">
                <a:lumMod val="50000"/>
              </a:schemeClr>
            </a:solidFill>
          </a:ln>
        </p:spPr>
        <p:style>
          <a:lnRef idx="1">
            <a:schemeClr val="dk1"/>
          </a:lnRef>
          <a:fillRef idx="0">
            <a:schemeClr val="dk1"/>
          </a:fillRef>
          <a:effectRef idx="0">
            <a:schemeClr val="dk1"/>
          </a:effectRef>
          <a:fontRef idx="minor">
            <a:schemeClr val="tx1"/>
          </a:fontRef>
        </p:style>
      </p:cxnSp>
      <p:cxnSp>
        <p:nvCxnSpPr>
          <p:cNvPr id="15" name="直線接點 14"/>
          <p:cNvCxnSpPr>
            <a:stCxn id="5" idx="4"/>
            <a:endCxn id="7" idx="0"/>
          </p:cNvCxnSpPr>
          <p:nvPr/>
        </p:nvCxnSpPr>
        <p:spPr>
          <a:xfrm flipH="1">
            <a:off x="2373559" y="2681301"/>
            <a:ext cx="2209451" cy="2397829"/>
          </a:xfrm>
          <a:prstGeom prst="line">
            <a:avLst/>
          </a:prstGeom>
          <a:ln w="28575">
            <a:solidFill>
              <a:schemeClr val="bg1">
                <a:lumMod val="50000"/>
              </a:schemeClr>
            </a:solidFill>
          </a:ln>
        </p:spPr>
        <p:style>
          <a:lnRef idx="1">
            <a:schemeClr val="dk1"/>
          </a:lnRef>
          <a:fillRef idx="0">
            <a:schemeClr val="dk1"/>
          </a:fillRef>
          <a:effectRef idx="0">
            <a:schemeClr val="dk1"/>
          </a:effectRef>
          <a:fontRef idx="minor">
            <a:schemeClr val="tx1"/>
          </a:fontRef>
        </p:style>
      </p:cxnSp>
      <p:cxnSp>
        <p:nvCxnSpPr>
          <p:cNvPr id="16" name="直線接點 15"/>
          <p:cNvCxnSpPr>
            <a:stCxn id="5" idx="4"/>
            <a:endCxn id="9" idx="0"/>
          </p:cNvCxnSpPr>
          <p:nvPr/>
        </p:nvCxnSpPr>
        <p:spPr>
          <a:xfrm>
            <a:off x="4583010" y="2681301"/>
            <a:ext cx="2209455" cy="2394650"/>
          </a:xfrm>
          <a:prstGeom prst="line">
            <a:avLst/>
          </a:prstGeom>
          <a:ln w="28575">
            <a:solidFill>
              <a:schemeClr val="bg1">
                <a:lumMod val="50000"/>
              </a:schemeClr>
            </a:solidFill>
          </a:ln>
        </p:spPr>
        <p:style>
          <a:lnRef idx="1">
            <a:schemeClr val="dk1"/>
          </a:lnRef>
          <a:fillRef idx="0">
            <a:schemeClr val="dk1"/>
          </a:fillRef>
          <a:effectRef idx="0">
            <a:schemeClr val="dk1"/>
          </a:effectRef>
          <a:fontRef idx="minor">
            <a:schemeClr val="tx1"/>
          </a:fontRef>
        </p:style>
      </p:cxnSp>
      <p:cxnSp>
        <p:nvCxnSpPr>
          <p:cNvPr id="17" name="直線接點 16"/>
          <p:cNvCxnSpPr>
            <a:stCxn id="6" idx="4"/>
            <a:endCxn id="8" idx="0"/>
          </p:cNvCxnSpPr>
          <p:nvPr/>
        </p:nvCxnSpPr>
        <p:spPr>
          <a:xfrm flipH="1">
            <a:off x="4583010" y="2678122"/>
            <a:ext cx="2209455" cy="2401008"/>
          </a:xfrm>
          <a:prstGeom prst="line">
            <a:avLst/>
          </a:prstGeom>
          <a:ln w="28575">
            <a:solidFill>
              <a:schemeClr val="bg1">
                <a:lumMod val="50000"/>
              </a:schemeClr>
            </a:solidFill>
          </a:ln>
        </p:spPr>
        <p:style>
          <a:lnRef idx="1">
            <a:schemeClr val="dk1"/>
          </a:lnRef>
          <a:fillRef idx="0">
            <a:schemeClr val="dk1"/>
          </a:fillRef>
          <a:effectRef idx="0">
            <a:schemeClr val="dk1"/>
          </a:effectRef>
          <a:fontRef idx="minor">
            <a:schemeClr val="tx1"/>
          </a:fontRef>
        </p:style>
      </p:cxnSp>
      <p:cxnSp>
        <p:nvCxnSpPr>
          <p:cNvPr id="18" name="直線接點 17"/>
          <p:cNvCxnSpPr>
            <a:stCxn id="6" idx="4"/>
            <a:endCxn id="7" idx="0"/>
          </p:cNvCxnSpPr>
          <p:nvPr/>
        </p:nvCxnSpPr>
        <p:spPr>
          <a:xfrm flipH="1">
            <a:off x="2373559" y="2678122"/>
            <a:ext cx="4418906" cy="2401008"/>
          </a:xfrm>
          <a:prstGeom prst="line">
            <a:avLst/>
          </a:prstGeom>
          <a:ln w="28575">
            <a:solidFill>
              <a:schemeClr val="bg1">
                <a:lumMod val="50000"/>
              </a:schemeClr>
            </a:solidFill>
          </a:ln>
        </p:spPr>
        <p:style>
          <a:lnRef idx="1">
            <a:schemeClr val="dk1"/>
          </a:lnRef>
          <a:fillRef idx="0">
            <a:schemeClr val="dk1"/>
          </a:fillRef>
          <a:effectRef idx="0">
            <a:schemeClr val="dk1"/>
          </a:effectRef>
          <a:fontRef idx="minor">
            <a:schemeClr val="tx1"/>
          </a:fontRef>
        </p:style>
      </p:cxnSp>
      <p:sp>
        <p:nvSpPr>
          <p:cNvPr id="26" name="橢圓 25"/>
          <p:cNvSpPr/>
          <p:nvPr/>
        </p:nvSpPr>
        <p:spPr>
          <a:xfrm>
            <a:off x="2239332" y="2416034"/>
            <a:ext cx="268446" cy="26844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橢圓 26"/>
          <p:cNvSpPr/>
          <p:nvPr/>
        </p:nvSpPr>
        <p:spPr>
          <a:xfrm>
            <a:off x="4448783" y="2416034"/>
            <a:ext cx="268446" cy="26844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27"/>
          <p:cNvSpPr/>
          <p:nvPr/>
        </p:nvSpPr>
        <p:spPr>
          <a:xfrm>
            <a:off x="6658234" y="2416038"/>
            <a:ext cx="268446" cy="26844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橢圓 28"/>
          <p:cNvSpPr/>
          <p:nvPr/>
        </p:nvSpPr>
        <p:spPr>
          <a:xfrm>
            <a:off x="2239332" y="5075951"/>
            <a:ext cx="268446" cy="26844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橢圓 29"/>
          <p:cNvSpPr/>
          <p:nvPr/>
        </p:nvSpPr>
        <p:spPr>
          <a:xfrm>
            <a:off x="4448783" y="5075951"/>
            <a:ext cx="268446" cy="26844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橢圓 30"/>
          <p:cNvSpPr/>
          <p:nvPr/>
        </p:nvSpPr>
        <p:spPr>
          <a:xfrm>
            <a:off x="6658234" y="5082309"/>
            <a:ext cx="268446" cy="26844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630640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Graph Coloring</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pPr marL="514350" indent="-514350">
                  <a:buFont typeface="+mj-lt"/>
                  <a:buAutoNum type="arabicPeriod"/>
                </a:pPr>
                <a:r>
                  <a:rPr lang="en-US" altLang="zh-TW" dirty="0"/>
                  <a:t>Set </a:t>
                </a:r>
                <a14:m>
                  <m:oMath xmlns:m="http://schemas.openxmlformats.org/officeDocument/2006/math">
                    <m:r>
                      <a:rPr lang="en-US" altLang="zh-TW" i="1">
                        <a:latin typeface="Cambria Math" panose="02040503050406030204" pitchFamily="18" charset="0"/>
                      </a:rPr>
                      <m:t>𝑈𝑁𝐶𝑂𝐿𝑂𝑅𝐸𝐷</m:t>
                    </m:r>
                    <m:r>
                      <a:rPr lang="en-US" altLang="zh-TW" i="1">
                        <a:latin typeface="Cambria Math" panose="02040503050406030204" pitchFamily="18" charset="0"/>
                      </a:rPr>
                      <m:t>=</m:t>
                    </m:r>
                    <m:r>
                      <a:rPr lang="en-US" altLang="zh-TW" i="1">
                        <a:latin typeface="Cambria Math" panose="02040503050406030204" pitchFamily="18" charset="0"/>
                      </a:rPr>
                      <m:t>𝑁</m:t>
                    </m:r>
                    <m:r>
                      <a:rPr lang="en-US" altLang="zh-TW" i="1">
                        <a:latin typeface="Cambria Math" panose="02040503050406030204" pitchFamily="18" charset="0"/>
                      </a:rPr>
                      <m:t>, </m:t>
                    </m:r>
                    <m:r>
                      <a:rPr lang="en-US" altLang="zh-TW" i="1">
                        <a:latin typeface="Cambria Math" panose="02040503050406030204" pitchFamily="18" charset="0"/>
                      </a:rPr>
                      <m:t>𝐶𝑂𝐿𝑂𝑅𝐸𝐷</m:t>
                    </m:r>
                    <m:d>
                      <m:dPr>
                        <m:begChr m:val="["/>
                        <m:endChr m:val="]"/>
                        <m:ctrlPr>
                          <a:rPr lang="en-US" altLang="zh-TW" i="1">
                            <a:latin typeface="Cambria Math" panose="02040503050406030204" pitchFamily="18" charset="0"/>
                          </a:rPr>
                        </m:ctrlPr>
                      </m:dPr>
                      <m:e>
                        <m:r>
                          <a:rPr lang="en-US" altLang="zh-TW" i="1">
                            <a:latin typeface="Cambria Math" panose="02040503050406030204" pitchFamily="18" charset="0"/>
                          </a:rPr>
                          <m:t>𝑖</m:t>
                        </m:r>
                      </m:e>
                    </m:d>
                    <m:r>
                      <a:rPr lang="en-US" altLang="zh-TW" i="1">
                        <a:latin typeface="Cambria Math" panose="02040503050406030204" pitchFamily="18" charset="0"/>
                      </a:rPr>
                      <m:t>=</m:t>
                    </m:r>
                    <m:r>
                      <a:rPr lang="en-US" altLang="zh-TW" i="1">
                        <a:latin typeface="Cambria Math" panose="02040503050406030204" pitchFamily="18" charset="0"/>
                        <a:ea typeface="Cambria Math" panose="02040503050406030204" pitchFamily="18" charset="0"/>
                      </a:rPr>
                      <m:t>∅, 1≤</m:t>
                    </m:r>
                    <m:r>
                      <a:rPr lang="en-US" altLang="zh-TW" i="1">
                        <a:latin typeface="Cambria Math" panose="02040503050406030204" pitchFamily="18" charset="0"/>
                        <a:ea typeface="Cambria Math" panose="02040503050406030204" pitchFamily="18" charset="0"/>
                      </a:rPr>
                      <m:t>𝑖</m:t>
                    </m:r>
                    <m:r>
                      <a:rPr lang="en-US" altLang="zh-TW" i="1">
                        <a:latin typeface="Cambria Math" panose="02040503050406030204" pitchFamily="18" charset="0"/>
                        <a:ea typeface="Cambria Math" panose="02040503050406030204" pitchFamily="18" charset="0"/>
                      </a:rPr>
                      <m:t>≤</m:t>
                    </m:r>
                    <m:d>
                      <m:dPr>
                        <m:begChr m:val="|"/>
                        <m:endChr m:val="|"/>
                        <m:ctrlPr>
                          <a:rPr lang="en-US" altLang="zh-TW" i="1">
                            <a:latin typeface="Cambria Math" panose="02040503050406030204" pitchFamily="18" charset="0"/>
                            <a:ea typeface="Cambria Math" panose="02040503050406030204" pitchFamily="18" charset="0"/>
                          </a:rPr>
                        </m:ctrlPr>
                      </m:dPr>
                      <m:e>
                        <m:r>
                          <a:rPr lang="en-US" altLang="zh-TW" i="1">
                            <a:latin typeface="Cambria Math" panose="02040503050406030204" pitchFamily="18" charset="0"/>
                            <a:ea typeface="Cambria Math" panose="02040503050406030204" pitchFamily="18" charset="0"/>
                          </a:rPr>
                          <m:t>𝑁</m:t>
                        </m:r>
                      </m:e>
                    </m:d>
                    <m:r>
                      <a:rPr lang="en-US" altLang="zh-TW" i="1">
                        <a:latin typeface="Cambria Math" panose="02040503050406030204" pitchFamily="18" charset="0"/>
                        <a:ea typeface="Cambria Math" panose="02040503050406030204" pitchFamily="18" charset="0"/>
                      </a:rPr>
                      <m:t>, </m:t>
                    </m:r>
                    <m:r>
                      <a:rPr lang="en-US" altLang="zh-TW" i="1">
                        <a:latin typeface="Cambria Math" panose="02040503050406030204" pitchFamily="18" charset="0"/>
                        <a:ea typeface="Cambria Math" panose="02040503050406030204" pitchFamily="18" charset="0"/>
                      </a:rPr>
                      <m:t>𝐼</m:t>
                    </m:r>
                    <m:r>
                      <a:rPr lang="en-US" altLang="zh-TW" i="1">
                        <a:latin typeface="Cambria Math" panose="02040503050406030204" pitchFamily="18" charset="0"/>
                        <a:ea typeface="Cambria Math" panose="02040503050406030204" pitchFamily="18" charset="0"/>
                      </a:rPr>
                      <m:t>=1</m:t>
                    </m:r>
                  </m:oMath>
                </a14:m>
                <a:r>
                  <a:rPr lang="en-US" altLang="zh-TW" dirty="0"/>
                  <a:t>.</a:t>
                </a:r>
              </a:p>
              <a:p>
                <a:pPr marL="514350" indent="-514350">
                  <a:buFont typeface="+mj-lt"/>
                  <a:buAutoNum type="arabicPeriod"/>
                </a:pPr>
                <a:r>
                  <a:rPr lang="en-US" altLang="zh-TW" dirty="0"/>
                  <a:t>If </a:t>
                </a:r>
                <a14:m>
                  <m:oMath xmlns:m="http://schemas.openxmlformats.org/officeDocument/2006/math">
                    <m:r>
                      <a:rPr lang="en-US" altLang="zh-TW" i="1">
                        <a:latin typeface="Cambria Math" panose="02040503050406030204" pitchFamily="18" charset="0"/>
                      </a:rPr>
                      <m:t>𝑈𝑁𝐶𝑂𝐿𝑂𝑅𝐸𝐷</m:t>
                    </m:r>
                    <m:r>
                      <a:rPr lang="en-US" altLang="zh-TW" i="1">
                        <a:latin typeface="Cambria Math" panose="02040503050406030204" pitchFamily="18" charset="0"/>
                      </a:rPr>
                      <m:t>=∅</m:t>
                    </m:r>
                  </m:oMath>
                </a14:m>
                <a:r>
                  <a:rPr lang="en-US" altLang="zh-TW" dirty="0"/>
                  <a:t>,</a:t>
                </a:r>
                <a:r>
                  <a:rPr lang="zh-TW" altLang="en-US" dirty="0"/>
                  <a:t> </a:t>
                </a:r>
                <a:r>
                  <a:rPr lang="en-US" altLang="zh-TW" dirty="0"/>
                  <a:t>halt and return </a:t>
                </a:r>
                <a14:m>
                  <m:oMath xmlns:m="http://schemas.openxmlformats.org/officeDocument/2006/math">
                    <m:r>
                      <a:rPr lang="en-US" altLang="zh-TW" i="1">
                        <a:latin typeface="Cambria Math" panose="02040503050406030204" pitchFamily="18" charset="0"/>
                      </a:rPr>
                      <m:t>𝐶𝑂𝐿𝑂𝑅𝐸𝐷</m:t>
                    </m:r>
                    <m:d>
                      <m:dPr>
                        <m:begChr m:val="["/>
                        <m:endChr m:val="]"/>
                        <m:ctrlPr>
                          <a:rPr lang="en-US" altLang="zh-TW" i="1">
                            <a:latin typeface="Cambria Math" panose="02040503050406030204" pitchFamily="18" charset="0"/>
                          </a:rPr>
                        </m:ctrlPr>
                      </m:dPr>
                      <m:e>
                        <m:r>
                          <a:rPr lang="en-US" altLang="zh-TW" i="1">
                            <a:latin typeface="Cambria Math" panose="02040503050406030204" pitchFamily="18" charset="0"/>
                          </a:rPr>
                          <m:t>𝑖</m:t>
                        </m:r>
                      </m:e>
                    </m:d>
                    <m:r>
                      <a:rPr lang="en-US" altLang="zh-TW" i="1">
                        <a:latin typeface="Cambria Math" panose="02040503050406030204" pitchFamily="18" charset="0"/>
                      </a:rPr>
                      <m:t>, </m:t>
                    </m:r>
                    <m:r>
                      <a:rPr lang="en-US" altLang="zh-TW" i="1">
                        <a:latin typeface="Cambria Math" panose="02040503050406030204" pitchFamily="18" charset="0"/>
                        <a:ea typeface="Cambria Math" panose="02040503050406030204" pitchFamily="18" charset="0"/>
                      </a:rPr>
                      <m:t>1≤</m:t>
                    </m:r>
                    <m:r>
                      <a:rPr lang="en-US" altLang="zh-TW" i="1">
                        <a:latin typeface="Cambria Math" panose="02040503050406030204" pitchFamily="18" charset="0"/>
                        <a:ea typeface="Cambria Math" panose="02040503050406030204" pitchFamily="18" charset="0"/>
                      </a:rPr>
                      <m:t>𝑖</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𝐼</m:t>
                    </m:r>
                  </m:oMath>
                </a14:m>
                <a:r>
                  <a:rPr lang="en-US" altLang="zh-TW" dirty="0"/>
                  <a:t>.</a:t>
                </a:r>
              </a:p>
              <a:p>
                <a:pPr marL="514350" indent="-514350">
                  <a:buFont typeface="+mj-lt"/>
                  <a:buAutoNum type="arabicPeriod"/>
                </a:pPr>
                <a:r>
                  <a:rPr lang="en-US" altLang="zh-TW" dirty="0"/>
                  <a:t>Let </a:t>
                </a:r>
                <a14:m>
                  <m:oMath xmlns:m="http://schemas.openxmlformats.org/officeDocument/2006/math">
                    <m:r>
                      <a:rPr lang="en-US" altLang="zh-TW" i="1" dirty="0" smtClean="0">
                        <a:latin typeface="Cambria Math" panose="02040503050406030204" pitchFamily="18" charset="0"/>
                      </a:rPr>
                      <m:t>𝐼𝑁𝐷</m:t>
                    </m:r>
                  </m:oMath>
                </a14:m>
                <a:r>
                  <a:rPr lang="en-US" altLang="zh-TW" dirty="0"/>
                  <a:t> be the maximum sized independent subset of </a:t>
                </a:r>
                <a14:m>
                  <m:oMath xmlns:m="http://schemas.openxmlformats.org/officeDocument/2006/math">
                    <m:r>
                      <a:rPr lang="en-US" altLang="zh-TW" i="1" dirty="0" smtClean="0">
                        <a:latin typeface="Cambria Math" panose="02040503050406030204" pitchFamily="18" charset="0"/>
                      </a:rPr>
                      <m:t>𝑈𝑁𝐶𝑂𝐿𝑂𝑅𝐸𝐷</m:t>
                    </m:r>
                  </m:oMath>
                </a14:m>
                <a:r>
                  <a:rPr lang="en-US" altLang="zh-TW" dirty="0"/>
                  <a:t>.</a:t>
                </a:r>
              </a:p>
              <a:p>
                <a:pPr marL="514350" indent="-514350">
                  <a:buFont typeface="+mj-lt"/>
                  <a:buAutoNum type="arabicPeriod"/>
                </a:pPr>
                <a:r>
                  <a:rPr lang="en-US" altLang="zh-TW" dirty="0"/>
                  <a:t>Set </a:t>
                </a:r>
                <a14:m>
                  <m:oMath xmlns:m="http://schemas.openxmlformats.org/officeDocument/2006/math">
                    <m:r>
                      <a:rPr lang="en-US" altLang="zh-TW" i="1" dirty="0">
                        <a:latin typeface="Cambria Math" panose="02040503050406030204" pitchFamily="18" charset="0"/>
                      </a:rPr>
                      <m:t>𝐶𝑂𝐿𝑂𝑅𝐸𝐷</m:t>
                    </m:r>
                    <m:d>
                      <m:dPr>
                        <m:begChr m:val="["/>
                        <m:endChr m:val="]"/>
                        <m:ctrlPr>
                          <a:rPr lang="en-US" altLang="zh-TW" i="1" dirty="0">
                            <a:latin typeface="Cambria Math" panose="02040503050406030204" pitchFamily="18" charset="0"/>
                          </a:rPr>
                        </m:ctrlPr>
                      </m:dPr>
                      <m:e>
                        <m:r>
                          <a:rPr lang="en-US" altLang="zh-TW" i="1" dirty="0">
                            <a:latin typeface="Cambria Math" panose="02040503050406030204" pitchFamily="18" charset="0"/>
                          </a:rPr>
                          <m:t>𝐼</m:t>
                        </m:r>
                      </m:e>
                    </m:d>
                    <m:r>
                      <a:rPr lang="en-US" altLang="zh-TW" i="1" dirty="0">
                        <a:latin typeface="Cambria Math" panose="02040503050406030204" pitchFamily="18" charset="0"/>
                      </a:rPr>
                      <m:t>=</m:t>
                    </m:r>
                    <m:r>
                      <a:rPr lang="en-US" altLang="zh-TW" b="0" i="1" dirty="0" smtClean="0">
                        <a:latin typeface="Cambria Math" panose="02040503050406030204" pitchFamily="18" charset="0"/>
                      </a:rPr>
                      <m:t>𝐼𝑁𝐷</m:t>
                    </m:r>
                  </m:oMath>
                </a14:m>
                <a:r>
                  <a:rPr lang="en-US" altLang="zh-TW" dirty="0"/>
                  <a:t>. </a:t>
                </a:r>
                <a14:m>
                  <m:oMath xmlns:m="http://schemas.openxmlformats.org/officeDocument/2006/math">
                    <m:r>
                      <a:rPr lang="en-US" altLang="zh-TW" i="1" dirty="0">
                        <a:latin typeface="Cambria Math" panose="02040503050406030204" pitchFamily="18" charset="0"/>
                        <a:ea typeface="Cambria Math" panose="02040503050406030204" pitchFamily="18" charset="0"/>
                      </a:rPr>
                      <m:t>𝑈𝑁𝐶𝑂𝐿𝑂𝑅𝐸𝐷</m:t>
                    </m:r>
                    <m:r>
                      <a:rPr lang="en-US" altLang="zh-TW" i="1" dirty="0">
                        <a:latin typeface="Cambria Math" panose="02040503050406030204" pitchFamily="18" charset="0"/>
                        <a:ea typeface="Cambria Math" panose="02040503050406030204" pitchFamily="18" charset="0"/>
                      </a:rPr>
                      <m:t>=</m:t>
                    </m:r>
                    <m:r>
                      <a:rPr lang="en-US" altLang="zh-TW" i="1" dirty="0">
                        <a:latin typeface="Cambria Math" panose="02040503050406030204" pitchFamily="18" charset="0"/>
                        <a:ea typeface="Cambria Math" panose="02040503050406030204" pitchFamily="18" charset="0"/>
                      </a:rPr>
                      <m:t>𝑈𝑁𝐶𝑂𝐿𝑂𝑅𝐸𝐷</m:t>
                    </m:r>
                    <m:r>
                      <a:rPr lang="en-US" altLang="zh-TW" i="1" dirty="0">
                        <a:latin typeface="Cambria Math" panose="02040503050406030204" pitchFamily="18" charset="0"/>
                        <a:ea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𝐼𝑁𝐷</m:t>
                    </m:r>
                  </m:oMath>
                </a14:m>
                <a:r>
                  <a:rPr lang="en-US" altLang="zh-TW" dirty="0"/>
                  <a:t>, </a:t>
                </a:r>
                <a14:m>
                  <m:oMath xmlns:m="http://schemas.openxmlformats.org/officeDocument/2006/math">
                    <m:r>
                      <a:rPr lang="en-US" altLang="zh-TW" b="0" i="1" smtClean="0">
                        <a:latin typeface="Cambria Math" panose="02040503050406030204" pitchFamily="18" charset="0"/>
                      </a:rPr>
                      <m:t>𝐼</m:t>
                    </m:r>
                    <m:r>
                      <a:rPr lang="en-US" altLang="zh-TW" b="0" i="1" smtClean="0">
                        <a:latin typeface="Cambria Math" panose="02040503050406030204" pitchFamily="18" charset="0"/>
                      </a:rPr>
                      <m:t>=</m:t>
                    </m:r>
                    <m:r>
                      <a:rPr lang="en-US" altLang="zh-TW" b="0" i="1" smtClean="0">
                        <a:latin typeface="Cambria Math" panose="02040503050406030204" pitchFamily="18" charset="0"/>
                      </a:rPr>
                      <m:t>𝐼</m:t>
                    </m:r>
                    <m:r>
                      <a:rPr lang="en-US" altLang="zh-TW" b="0" i="1" smtClean="0">
                        <a:latin typeface="Cambria Math" panose="02040503050406030204" pitchFamily="18" charset="0"/>
                      </a:rPr>
                      <m:t>+1</m:t>
                    </m:r>
                  </m:oMath>
                </a14:m>
                <a:r>
                  <a:rPr lang="en-US" altLang="zh-TW" dirty="0"/>
                  <a:t>, and go to 2.</a:t>
                </a:r>
                <a:endParaRPr lang="zh-TW" altLang="en-US" dirty="0"/>
              </a:p>
              <a:p>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a:blip r:embed="rId2"/>
                <a:stretch>
                  <a:fillRect l="-1623" t="-22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9498493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Maximum Clique</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𝐼𝑁𝑃𝑈𝑇</m:t>
                        </m:r>
                      </m:e>
                      <m:sub>
                        <m:r>
                          <a:rPr lang="en-US" altLang="zh-TW" b="0" i="1" smtClean="0">
                            <a:latin typeface="Cambria Math" panose="02040503050406030204" pitchFamily="18" charset="0"/>
                          </a:rPr>
                          <m:t>𝑀</m:t>
                        </m:r>
                        <m:r>
                          <a:rPr lang="en-US" altLang="zh-TW" i="1">
                            <a:latin typeface="Cambria Math" panose="02040503050406030204" pitchFamily="18" charset="0"/>
                          </a:rPr>
                          <m:t>𝐶</m:t>
                        </m:r>
                      </m:sub>
                    </m:sSub>
                    <m:r>
                      <a:rPr lang="en-US" altLang="zh-TW" i="1">
                        <a:latin typeface="Cambria Math" panose="02040503050406030204" pitchFamily="18" charset="0"/>
                      </a:rPr>
                      <m:t>={</m:t>
                    </m:r>
                    <m:r>
                      <a:rPr lang="en-US" altLang="zh-TW" i="1" smtClean="0">
                        <a:latin typeface="Cambria Math" panose="02040503050406030204" pitchFamily="18" charset="0"/>
                      </a:rPr>
                      <m:t>𝐺</m:t>
                    </m:r>
                    <m:r>
                      <a:rPr lang="en-US" altLang="zh-TW" i="1" smtClean="0">
                        <a:latin typeface="Cambria Math" panose="02040503050406030204" pitchFamily="18" charset="0"/>
                      </a:rPr>
                      <m:t>=</m:t>
                    </m:r>
                    <m:d>
                      <m:dPr>
                        <m:ctrlPr>
                          <a:rPr lang="en-US" altLang="zh-TW" i="1">
                            <a:latin typeface="Cambria Math" panose="02040503050406030204" pitchFamily="18" charset="0"/>
                          </a:rPr>
                        </m:ctrlPr>
                      </m:dPr>
                      <m:e>
                        <m:r>
                          <a:rPr lang="en-US" altLang="zh-TW" i="1">
                            <a:latin typeface="Cambria Math" panose="02040503050406030204" pitchFamily="18" charset="0"/>
                          </a:rPr>
                          <m:t>𝑉</m:t>
                        </m:r>
                        <m:r>
                          <a:rPr lang="en-US" altLang="zh-TW" i="1">
                            <a:latin typeface="Cambria Math" panose="02040503050406030204" pitchFamily="18" charset="0"/>
                          </a:rPr>
                          <m:t>,</m:t>
                        </m:r>
                        <m:r>
                          <a:rPr lang="en-US" altLang="zh-TW" i="1">
                            <a:latin typeface="Cambria Math" panose="02040503050406030204" pitchFamily="18" charset="0"/>
                          </a:rPr>
                          <m:t>𝐸</m:t>
                        </m:r>
                      </m:e>
                    </m:d>
                    <m:r>
                      <a:rPr lang="en-US" altLang="zh-TW" i="1">
                        <a:latin typeface="Cambria Math" panose="02040503050406030204" pitchFamily="18" charset="0"/>
                      </a:rPr>
                      <m:t>:</m:t>
                    </m:r>
                    <m:r>
                      <a:rPr lang="en-US" altLang="zh-TW" i="1">
                        <a:latin typeface="Cambria Math" panose="02040503050406030204" pitchFamily="18" charset="0"/>
                      </a:rPr>
                      <m:t>𝐺</m:t>
                    </m:r>
                  </m:oMath>
                </a14:m>
                <a:r>
                  <a:rPr lang="zh-TW" altLang="en-US" dirty="0"/>
                  <a:t> </a:t>
                </a:r>
                <a:r>
                  <a:rPr lang="en-US" altLang="zh-TW" dirty="0"/>
                  <a:t>is a finite undirected graph with nodes </a:t>
                </a:r>
                <a14:m>
                  <m:oMath xmlns:m="http://schemas.openxmlformats.org/officeDocument/2006/math">
                    <m:r>
                      <a:rPr lang="en-US" altLang="zh-TW" i="1" dirty="0">
                        <a:latin typeface="Cambria Math" panose="02040503050406030204" pitchFamily="18" charset="0"/>
                      </a:rPr>
                      <m:t>𝑉</m:t>
                    </m:r>
                  </m:oMath>
                </a14:m>
                <a:r>
                  <a:rPr lang="en-US" altLang="zh-TW" dirty="0"/>
                  <a:t> and edge </a:t>
                </a:r>
                <a14:m>
                  <m:oMath xmlns:m="http://schemas.openxmlformats.org/officeDocument/2006/math">
                    <m:r>
                      <a:rPr lang="en-US" altLang="zh-TW" i="1" dirty="0">
                        <a:latin typeface="Cambria Math" panose="02040503050406030204" pitchFamily="18" charset="0"/>
                      </a:rPr>
                      <m:t>𝐸</m:t>
                    </m:r>
                    <m:r>
                      <a:rPr lang="en-US" altLang="zh-TW" i="1" dirty="0">
                        <a:latin typeface="Cambria Math" panose="02040503050406030204" pitchFamily="18" charset="0"/>
                      </a:rPr>
                      <m:t>}</m:t>
                    </m:r>
                  </m:oMath>
                </a14:m>
                <a:r>
                  <a:rPr lang="en-US" altLang="zh-TW" dirty="0"/>
                  <a:t>.</a:t>
                </a:r>
              </a:p>
              <a:p>
                <a:pPr marL="0" indent="0">
                  <a:buNone/>
                </a:pP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𝑆𝑂𝐿</m:t>
                        </m:r>
                      </m:e>
                      <m:sub>
                        <m:r>
                          <a:rPr lang="en-US" altLang="zh-TW" b="0" i="1" smtClean="0">
                            <a:latin typeface="Cambria Math" panose="02040503050406030204" pitchFamily="18" charset="0"/>
                          </a:rPr>
                          <m:t>𝑀</m:t>
                        </m:r>
                        <m:r>
                          <a:rPr lang="en-US" altLang="zh-TW" i="1">
                            <a:latin typeface="Cambria Math" panose="02040503050406030204" pitchFamily="18" charset="0"/>
                          </a:rPr>
                          <m:t>𝐶</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𝐺</m:t>
                        </m:r>
                      </m:e>
                    </m:d>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𝑉</m:t>
                        </m:r>
                      </m:e>
                      <m:sup>
                        <m:r>
                          <a:rPr lang="en-US" altLang="zh-TW" b="0" i="1" smtClean="0">
                            <a:latin typeface="Cambria Math" panose="02040503050406030204" pitchFamily="18" charset="0"/>
                          </a:rPr>
                          <m:t>′</m:t>
                        </m:r>
                      </m:sup>
                    </m:sSup>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𝑉</m:t>
                    </m:r>
                  </m:oMath>
                </a14:m>
                <a:r>
                  <a:rPr lang="en-US" altLang="zh-TW" dirty="0"/>
                  <a:t>: there is an edge in </a:t>
                </a:r>
                <a14:m>
                  <m:oMath xmlns:m="http://schemas.openxmlformats.org/officeDocument/2006/math">
                    <m:r>
                      <a:rPr lang="en-US" altLang="zh-TW" i="1" dirty="0" smtClean="0">
                        <a:latin typeface="Cambria Math" panose="02040503050406030204" pitchFamily="18" charset="0"/>
                      </a:rPr>
                      <m:t>𝐸</m:t>
                    </m:r>
                  </m:oMath>
                </a14:m>
                <a:r>
                  <a:rPr lang="en-US" altLang="zh-TW" dirty="0"/>
                  <a:t> between each pair of nodes in </a:t>
                </a:r>
                <a14:m>
                  <m:oMath xmlns:m="http://schemas.openxmlformats.org/officeDocument/2006/math">
                    <m:r>
                      <a:rPr lang="en-US" altLang="zh-TW" i="1" dirty="0" smtClean="0">
                        <a:latin typeface="Cambria Math" panose="02040503050406030204" pitchFamily="18" charset="0"/>
                      </a:rPr>
                      <m:t>𝑉</m:t>
                    </m:r>
                    <m:r>
                      <a:rPr lang="en-US" altLang="zh-TW" i="1" dirty="0" smtClean="0">
                        <a:latin typeface="Cambria Math" panose="02040503050406030204" pitchFamily="18" charset="0"/>
                      </a:rPr>
                      <m:t>}</m:t>
                    </m:r>
                  </m:oMath>
                </a14:m>
                <a:r>
                  <a:rPr lang="en-US" altLang="zh-TW" dirty="0"/>
                  <a:t>.</a:t>
                </a:r>
              </a:p>
              <a:p>
                <a:pPr marL="0" indent="0">
                  <a:buNone/>
                </a:pP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e>
                      <m:sub>
                        <m:r>
                          <a:rPr lang="en-US" altLang="zh-TW" b="0" i="1" smtClean="0">
                            <a:latin typeface="Cambria Math" panose="02040503050406030204" pitchFamily="18" charset="0"/>
                          </a:rPr>
                          <m:t>𝑀</m:t>
                        </m:r>
                        <m:r>
                          <a:rPr lang="en-US" altLang="zh-TW" i="1">
                            <a:latin typeface="Cambria Math" panose="02040503050406030204" pitchFamily="18" charset="0"/>
                          </a:rPr>
                          <m:t>𝐶</m:t>
                        </m:r>
                      </m:sub>
                    </m:sSub>
                    <m:d>
                      <m:dPr>
                        <m:ctrlPr>
                          <a:rPr lang="en-US" altLang="zh-TW" i="1">
                            <a:latin typeface="Cambria Math" panose="02040503050406030204" pitchFamily="18" charset="0"/>
                          </a:rPr>
                        </m:ctrlPr>
                      </m:dPr>
                      <m:e>
                        <m:r>
                          <a:rPr lang="en-US" altLang="zh-TW" b="0" i="1" smtClean="0">
                            <a:latin typeface="Cambria Math" panose="02040503050406030204" pitchFamily="18" charset="0"/>
                          </a:rPr>
                          <m:t>𝑁</m:t>
                        </m:r>
                        <m:r>
                          <a:rPr lang="en-US" altLang="zh-TW" b="0" i="1" smtClean="0">
                            <a:latin typeface="Cambria Math" panose="02040503050406030204" pitchFamily="18" charset="0"/>
                          </a:rPr>
                          <m:t>′</m:t>
                        </m:r>
                      </m:e>
                    </m:d>
                    <m:r>
                      <a:rPr lang="en-US" altLang="zh-TW" i="1">
                        <a:latin typeface="Cambria Math" panose="02040503050406030204" pitchFamily="18" charset="0"/>
                      </a:rPr>
                      <m:t>=|</m:t>
                    </m:r>
                    <m:r>
                      <a:rPr lang="en-US" altLang="zh-TW" b="0" i="1" smtClean="0">
                        <a:latin typeface="Cambria Math" panose="02040503050406030204" pitchFamily="18" charset="0"/>
                      </a:rPr>
                      <m:t>𝑁</m:t>
                    </m:r>
                    <m:r>
                      <a:rPr lang="en-US" altLang="zh-TW" b="0" i="1" smtClean="0">
                        <a:latin typeface="Cambria Math" panose="02040503050406030204" pitchFamily="18" charset="0"/>
                      </a:rPr>
                      <m:t>′|</m:t>
                    </m:r>
                  </m:oMath>
                </a14:m>
                <a:r>
                  <a:rPr lang="en-US" altLang="zh-TW" dirty="0"/>
                  <a:t>.</a:t>
                </a:r>
                <a:endParaRPr lang="zh-TW" altLang="en-US" dirty="0"/>
              </a:p>
              <a:p>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a:blip r:embed="rId2"/>
                <a:stretch>
                  <a:fillRect l="-1546" t="-22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794274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Maximum Clique</a:t>
            </a:r>
            <a:endParaRPr lang="zh-TW" altLang="en-US" dirty="0"/>
          </a:p>
        </p:txBody>
      </p:sp>
      <p:sp>
        <p:nvSpPr>
          <p:cNvPr id="4" name="橢圓 3"/>
          <p:cNvSpPr/>
          <p:nvPr/>
        </p:nvSpPr>
        <p:spPr>
          <a:xfrm>
            <a:off x="1751900" y="2867636"/>
            <a:ext cx="329966" cy="32996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橢圓 4"/>
          <p:cNvSpPr/>
          <p:nvPr/>
        </p:nvSpPr>
        <p:spPr>
          <a:xfrm>
            <a:off x="4393034" y="2867636"/>
            <a:ext cx="329966" cy="32996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橢圓 5"/>
          <p:cNvSpPr/>
          <p:nvPr/>
        </p:nvSpPr>
        <p:spPr>
          <a:xfrm>
            <a:off x="1791047" y="5396609"/>
            <a:ext cx="329966" cy="32996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6"/>
          <p:cNvSpPr/>
          <p:nvPr/>
        </p:nvSpPr>
        <p:spPr>
          <a:xfrm>
            <a:off x="4432181" y="5396609"/>
            <a:ext cx="329966" cy="32996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p:cNvSpPr/>
          <p:nvPr/>
        </p:nvSpPr>
        <p:spPr>
          <a:xfrm>
            <a:off x="2975994" y="2004982"/>
            <a:ext cx="329966" cy="32996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p:cNvSpPr/>
          <p:nvPr/>
        </p:nvSpPr>
        <p:spPr>
          <a:xfrm>
            <a:off x="6937696" y="2964109"/>
            <a:ext cx="329966" cy="32996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p:cNvSpPr/>
          <p:nvPr/>
        </p:nvSpPr>
        <p:spPr>
          <a:xfrm>
            <a:off x="6557393" y="5066950"/>
            <a:ext cx="329966" cy="32996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2" name="直線接點 11"/>
          <p:cNvCxnSpPr>
            <a:stCxn id="4" idx="4"/>
            <a:endCxn id="6" idx="0"/>
          </p:cNvCxnSpPr>
          <p:nvPr/>
        </p:nvCxnSpPr>
        <p:spPr>
          <a:xfrm>
            <a:off x="1916883" y="3197602"/>
            <a:ext cx="39147" cy="2199007"/>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線接點 12"/>
          <p:cNvCxnSpPr>
            <a:stCxn id="4" idx="6"/>
            <a:endCxn id="5" idx="2"/>
          </p:cNvCxnSpPr>
          <p:nvPr/>
        </p:nvCxnSpPr>
        <p:spPr>
          <a:xfrm>
            <a:off x="2081866" y="3032619"/>
            <a:ext cx="2311168" cy="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直線接點 15"/>
          <p:cNvCxnSpPr>
            <a:stCxn id="5" idx="4"/>
            <a:endCxn id="7" idx="0"/>
          </p:cNvCxnSpPr>
          <p:nvPr/>
        </p:nvCxnSpPr>
        <p:spPr>
          <a:xfrm>
            <a:off x="4558017" y="3197602"/>
            <a:ext cx="39147" cy="2199007"/>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線接點 18"/>
          <p:cNvCxnSpPr>
            <a:stCxn id="7" idx="2"/>
            <a:endCxn id="6" idx="6"/>
          </p:cNvCxnSpPr>
          <p:nvPr/>
        </p:nvCxnSpPr>
        <p:spPr>
          <a:xfrm flipH="1">
            <a:off x="2121013" y="5561592"/>
            <a:ext cx="2311168" cy="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直線接點 21"/>
          <p:cNvCxnSpPr>
            <a:stCxn id="4" idx="5"/>
            <a:endCxn id="7" idx="1"/>
          </p:cNvCxnSpPr>
          <p:nvPr/>
        </p:nvCxnSpPr>
        <p:spPr>
          <a:xfrm>
            <a:off x="2033544" y="3149280"/>
            <a:ext cx="2446959" cy="22956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直線接點 24"/>
          <p:cNvCxnSpPr>
            <a:stCxn id="5" idx="3"/>
            <a:endCxn id="6" idx="7"/>
          </p:cNvCxnSpPr>
          <p:nvPr/>
        </p:nvCxnSpPr>
        <p:spPr>
          <a:xfrm flipH="1">
            <a:off x="2072691" y="3149280"/>
            <a:ext cx="2368665" cy="22956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直線接點 27"/>
          <p:cNvCxnSpPr>
            <a:stCxn id="8" idx="3"/>
            <a:endCxn id="4" idx="0"/>
          </p:cNvCxnSpPr>
          <p:nvPr/>
        </p:nvCxnSpPr>
        <p:spPr>
          <a:xfrm flipH="1">
            <a:off x="1916883" y="2286626"/>
            <a:ext cx="1107433" cy="58101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線接點 30"/>
          <p:cNvCxnSpPr>
            <a:stCxn id="8" idx="5"/>
            <a:endCxn id="5" idx="0"/>
          </p:cNvCxnSpPr>
          <p:nvPr/>
        </p:nvCxnSpPr>
        <p:spPr>
          <a:xfrm>
            <a:off x="3257638" y="2286626"/>
            <a:ext cx="1300379" cy="58101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4" name="直線接點 33"/>
          <p:cNvCxnSpPr>
            <a:stCxn id="9" idx="1"/>
            <a:endCxn id="5" idx="6"/>
          </p:cNvCxnSpPr>
          <p:nvPr/>
        </p:nvCxnSpPr>
        <p:spPr>
          <a:xfrm flipH="1">
            <a:off x="4723000" y="3012431"/>
            <a:ext cx="2263018" cy="20188"/>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直線接點 36"/>
          <p:cNvCxnSpPr>
            <a:stCxn id="10" idx="2"/>
            <a:endCxn id="7" idx="6"/>
          </p:cNvCxnSpPr>
          <p:nvPr/>
        </p:nvCxnSpPr>
        <p:spPr>
          <a:xfrm flipH="1">
            <a:off x="4762147" y="5231933"/>
            <a:ext cx="1795246" cy="32965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1" name="直線接點 40"/>
          <p:cNvCxnSpPr>
            <a:stCxn id="9" idx="4"/>
            <a:endCxn id="10" idx="7"/>
          </p:cNvCxnSpPr>
          <p:nvPr/>
        </p:nvCxnSpPr>
        <p:spPr>
          <a:xfrm flipH="1">
            <a:off x="6839037" y="3294075"/>
            <a:ext cx="263642" cy="1821197"/>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4" name="橢圓 43"/>
          <p:cNvSpPr/>
          <p:nvPr/>
        </p:nvSpPr>
        <p:spPr>
          <a:xfrm>
            <a:off x="1751900" y="2867636"/>
            <a:ext cx="329966" cy="32996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5" name="橢圓 44"/>
          <p:cNvSpPr/>
          <p:nvPr/>
        </p:nvSpPr>
        <p:spPr>
          <a:xfrm>
            <a:off x="4393034" y="2867636"/>
            <a:ext cx="329966" cy="32996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橢圓 45"/>
          <p:cNvSpPr/>
          <p:nvPr/>
        </p:nvSpPr>
        <p:spPr>
          <a:xfrm>
            <a:off x="2975994" y="2004982"/>
            <a:ext cx="329966" cy="32996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橢圓 46"/>
          <p:cNvSpPr/>
          <p:nvPr/>
        </p:nvSpPr>
        <p:spPr>
          <a:xfrm>
            <a:off x="1751900" y="2867636"/>
            <a:ext cx="329966" cy="32996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8" name="橢圓 47"/>
          <p:cNvSpPr/>
          <p:nvPr/>
        </p:nvSpPr>
        <p:spPr>
          <a:xfrm>
            <a:off x="4393034" y="2867636"/>
            <a:ext cx="329966" cy="32996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橢圓 48"/>
          <p:cNvSpPr/>
          <p:nvPr/>
        </p:nvSpPr>
        <p:spPr>
          <a:xfrm>
            <a:off x="1791047" y="5396609"/>
            <a:ext cx="329966" cy="32996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橢圓 49"/>
          <p:cNvSpPr/>
          <p:nvPr/>
        </p:nvSpPr>
        <p:spPr>
          <a:xfrm>
            <a:off x="4432181" y="5396609"/>
            <a:ext cx="329966" cy="32996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19700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5" grpId="0" animBg="1"/>
      <p:bldP spid="46" grpId="0" animBg="1"/>
      <p:bldP spid="47" grpId="0" animBg="1"/>
      <p:bldP spid="48" grpId="0" animBg="1"/>
      <p:bldP spid="49" grpId="0" animBg="1"/>
      <p:bldP spid="5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Maximum Clique</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514350" indent="-514350">
                  <a:buFont typeface="+mj-lt"/>
                  <a:buAutoNum type="arabicPeriod"/>
                </a:pPr>
                <a:r>
                  <a:rPr lang="en-US" altLang="zh-TW" dirty="0"/>
                  <a:t>Set </a:t>
                </a:r>
                <a14:m>
                  <m:oMath xmlns:m="http://schemas.openxmlformats.org/officeDocument/2006/math">
                    <m:r>
                      <a:rPr lang="en-US" altLang="zh-TW" i="1" dirty="0" smtClean="0">
                        <a:latin typeface="Cambria Math" panose="02040503050406030204" pitchFamily="18" charset="0"/>
                      </a:rPr>
                      <m:t>𝑆𝑈𝐵</m:t>
                    </m:r>
                    <m:r>
                      <a:rPr lang="en-US" altLang="zh-TW" b="0" i="1" dirty="0" smtClean="0">
                        <a:latin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 </m:t>
                    </m:r>
                    <m:r>
                      <a:rPr lang="en-US" altLang="zh-TW" b="0" i="1" dirty="0" smtClean="0">
                        <a:latin typeface="Cambria Math" panose="02040503050406030204" pitchFamily="18" charset="0"/>
                        <a:ea typeface="Cambria Math" panose="02040503050406030204" pitchFamily="18" charset="0"/>
                      </a:rPr>
                      <m:t>𝑅𝐸𝑆𝑇</m:t>
                    </m:r>
                    <m:r>
                      <a:rPr lang="en-US" altLang="zh-TW" b="0" i="1" dirty="0" smtClean="0">
                        <a:latin typeface="Cambria Math" panose="02040503050406030204" pitchFamily="18" charset="0"/>
                        <a:ea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𝑉</m:t>
                    </m:r>
                  </m:oMath>
                </a14:m>
                <a:r>
                  <a:rPr lang="en-US" altLang="zh-TW" dirty="0"/>
                  <a:t>.</a:t>
                </a:r>
              </a:p>
              <a:p>
                <a:pPr marL="514350" indent="-514350">
                  <a:buFont typeface="+mj-lt"/>
                  <a:buAutoNum type="arabicPeriod"/>
                </a:pPr>
                <a:r>
                  <a:rPr lang="en-US" altLang="zh-TW" dirty="0"/>
                  <a:t>If </a:t>
                </a:r>
                <a14:m>
                  <m:oMath xmlns:m="http://schemas.openxmlformats.org/officeDocument/2006/math">
                    <m:r>
                      <m:rPr>
                        <m:sty m:val="p"/>
                      </m:rPr>
                      <a:rPr lang="en-US" altLang="zh-TW" b="0" i="0" dirty="0" smtClean="0">
                        <a:latin typeface="Cambria Math" panose="02040503050406030204" pitchFamily="18" charset="0"/>
                      </a:rPr>
                      <m:t>REST</m:t>
                    </m:r>
                    <m:r>
                      <a:rPr lang="en-US" altLang="zh-TW" i="1" dirty="0">
                        <a:latin typeface="Cambria Math" panose="02040503050406030204" pitchFamily="18" charset="0"/>
                      </a:rPr>
                      <m:t>=</m:t>
                    </m:r>
                    <m:r>
                      <a:rPr lang="en-US" altLang="zh-TW" i="1" dirty="0">
                        <a:latin typeface="Cambria Math" panose="02040503050406030204" pitchFamily="18" charset="0"/>
                        <a:ea typeface="Cambria Math" panose="02040503050406030204" pitchFamily="18" charset="0"/>
                      </a:rPr>
                      <m:t>∅</m:t>
                    </m:r>
                  </m:oMath>
                </a14:m>
                <a:r>
                  <a:rPr lang="en-US" altLang="zh-TW" dirty="0"/>
                  <a:t>, halt and return </a:t>
                </a:r>
                <a14:m>
                  <m:oMath xmlns:m="http://schemas.openxmlformats.org/officeDocument/2006/math">
                    <m:r>
                      <a:rPr lang="en-US" altLang="zh-TW" i="1" dirty="0" smtClean="0">
                        <a:latin typeface="Cambria Math" panose="02040503050406030204" pitchFamily="18" charset="0"/>
                      </a:rPr>
                      <m:t>𝑆𝑈𝐵</m:t>
                    </m:r>
                  </m:oMath>
                </a14:m>
                <a:r>
                  <a:rPr lang="en-US" altLang="zh-TW" dirty="0"/>
                  <a:t>.</a:t>
                </a:r>
              </a:p>
              <a:p>
                <a:pPr marL="514350" indent="-514350">
                  <a:buFont typeface="+mj-lt"/>
                  <a:buAutoNum type="arabicPeriod"/>
                </a:pPr>
                <a:r>
                  <a:rPr lang="en-US" altLang="zh-TW" dirty="0"/>
                  <a:t>Let </a:t>
                </a:r>
                <a14:m>
                  <m:oMath xmlns:m="http://schemas.openxmlformats.org/officeDocument/2006/math">
                    <m:r>
                      <a:rPr lang="en-US" altLang="zh-TW" b="0" i="1" smtClean="0">
                        <a:latin typeface="Cambria Math" panose="02040503050406030204" pitchFamily="18" charset="0"/>
                      </a:rPr>
                      <m:t>𝑦</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𝑅𝐸𝑆𝑇</m:t>
                    </m:r>
                  </m:oMath>
                </a14:m>
                <a:r>
                  <a:rPr lang="zh-TW" altLang="en-US" dirty="0"/>
                  <a:t> </a:t>
                </a:r>
                <a:r>
                  <a:rPr lang="en-US" altLang="zh-TW" dirty="0"/>
                  <a:t>be that element connected to the most other elements of </a:t>
                </a:r>
                <a14:m>
                  <m:oMath xmlns:m="http://schemas.openxmlformats.org/officeDocument/2006/math">
                    <m:r>
                      <a:rPr lang="en-US" altLang="zh-TW" i="1" dirty="0" smtClean="0">
                        <a:latin typeface="Cambria Math" panose="02040503050406030204" pitchFamily="18" charset="0"/>
                      </a:rPr>
                      <m:t>𝑅𝐸𝑆𝑇</m:t>
                    </m:r>
                  </m:oMath>
                </a14:m>
                <a:r>
                  <a:rPr lang="en-US" altLang="zh-TW" dirty="0"/>
                  <a:t>.</a:t>
                </a:r>
              </a:p>
              <a:p>
                <a:pPr marL="514350" indent="-514350">
                  <a:buFont typeface="+mj-lt"/>
                  <a:buAutoNum type="arabicPeriod"/>
                </a:pPr>
                <a:r>
                  <a:rPr lang="en-US" altLang="zh-TW" dirty="0"/>
                  <a:t>Set </a:t>
                </a:r>
                <a14:m>
                  <m:oMath xmlns:m="http://schemas.openxmlformats.org/officeDocument/2006/math">
                    <m:r>
                      <a:rPr lang="en-US" altLang="zh-TW" i="1" dirty="0" smtClean="0">
                        <a:latin typeface="Cambria Math" panose="02040503050406030204" pitchFamily="18" charset="0"/>
                      </a:rPr>
                      <m:t>𝑆𝑈𝐵</m:t>
                    </m:r>
                    <m:r>
                      <a:rPr lang="en-US" altLang="zh-TW" b="0" i="1" dirty="0" smtClean="0">
                        <a:latin typeface="Cambria Math" panose="02040503050406030204" pitchFamily="18" charset="0"/>
                      </a:rPr>
                      <m:t>=</m:t>
                    </m:r>
                    <m:r>
                      <a:rPr lang="en-US" altLang="zh-TW" b="0" i="1" dirty="0" smtClean="0">
                        <a:latin typeface="Cambria Math" panose="02040503050406030204" pitchFamily="18" charset="0"/>
                      </a:rPr>
                      <m:t>𝑆𝑈𝐵</m:t>
                    </m:r>
                    <m:r>
                      <a:rPr lang="en-US" altLang="zh-TW" b="0" i="1" dirty="0" smtClean="0">
                        <a:latin typeface="Cambria Math" panose="02040503050406030204" pitchFamily="18" charset="0"/>
                        <a:ea typeface="Cambria Math" panose="02040503050406030204" pitchFamily="18" charset="0"/>
                      </a:rPr>
                      <m:t>∪</m:t>
                    </m:r>
                    <m:d>
                      <m:dPr>
                        <m:begChr m:val="{"/>
                        <m:endChr m:val="}"/>
                        <m:ctrlPr>
                          <a:rPr lang="en-US" altLang="zh-TW" b="0" i="1" dirty="0" smtClean="0">
                            <a:latin typeface="Cambria Math" panose="02040503050406030204" pitchFamily="18" charset="0"/>
                            <a:ea typeface="Cambria Math" panose="02040503050406030204" pitchFamily="18" charset="0"/>
                          </a:rPr>
                        </m:ctrlPr>
                      </m:dPr>
                      <m:e>
                        <m:r>
                          <a:rPr lang="en-US" altLang="zh-TW" b="0" i="1" dirty="0" smtClean="0">
                            <a:latin typeface="Cambria Math" panose="02040503050406030204" pitchFamily="18" charset="0"/>
                            <a:ea typeface="Cambria Math" panose="02040503050406030204" pitchFamily="18" charset="0"/>
                          </a:rPr>
                          <m:t>𝑦</m:t>
                        </m:r>
                      </m:e>
                    </m:d>
                    <m:r>
                      <a:rPr lang="en-US" altLang="zh-TW" b="0" i="1" dirty="0" smtClean="0">
                        <a:latin typeface="Cambria Math" panose="02040503050406030204" pitchFamily="18" charset="0"/>
                        <a:ea typeface="Cambria Math" panose="02040503050406030204" pitchFamily="18" charset="0"/>
                      </a:rPr>
                      <m:t>. </m:t>
                    </m:r>
                    <m:r>
                      <a:rPr lang="en-US" altLang="zh-TW" b="0" i="1" dirty="0" smtClean="0">
                        <a:latin typeface="Cambria Math" panose="02040503050406030204" pitchFamily="18" charset="0"/>
                        <a:ea typeface="Cambria Math" panose="02040503050406030204" pitchFamily="18" charset="0"/>
                      </a:rPr>
                      <m:t>𝑅𝐸𝑆𝑇</m:t>
                    </m:r>
                    <m:r>
                      <a:rPr lang="en-US" altLang="zh-TW" b="0" i="1" dirty="0" smtClean="0">
                        <a:latin typeface="Cambria Math" panose="02040503050406030204" pitchFamily="18" charset="0"/>
                        <a:ea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𝑅𝐸𝑆𝑇</m:t>
                    </m:r>
                    <m:r>
                      <a:rPr lang="en-US" altLang="zh-TW" b="0" i="1" dirty="0" smtClean="0">
                        <a:latin typeface="Cambria Math" panose="02040503050406030204" pitchFamily="18" charset="0"/>
                        <a:ea typeface="Cambria Math" panose="02040503050406030204" pitchFamily="18" charset="0"/>
                      </a:rPr>
                      <m:t>−{</m:t>
                    </m:r>
                  </m:oMath>
                </a14:m>
                <a:r>
                  <a:rPr lang="en-US" altLang="zh-TW" dirty="0"/>
                  <a:t>points not connected to </a:t>
                </a:r>
                <a14:m>
                  <m:oMath xmlns:m="http://schemas.openxmlformats.org/officeDocument/2006/math">
                    <m:r>
                      <a:rPr lang="en-US" altLang="zh-TW" b="0" i="1" smtClean="0">
                        <a:latin typeface="Cambria Math" panose="02040503050406030204" pitchFamily="18" charset="0"/>
                      </a:rPr>
                      <m:t>𝑦</m:t>
                    </m:r>
                    <m:r>
                      <a:rPr lang="en-US" altLang="zh-TW" b="0" i="1" smtClean="0">
                        <a:latin typeface="Cambria Math" panose="02040503050406030204" pitchFamily="18" charset="0"/>
                      </a:rPr>
                      <m:t>}</m:t>
                    </m:r>
                  </m:oMath>
                </a14:m>
                <a:r>
                  <a:rPr lang="en-US" altLang="zh-TW" dirty="0"/>
                  <a:t>.</a:t>
                </a:r>
              </a:p>
              <a:p>
                <a:pPr marL="514350" indent="-514350">
                  <a:buFont typeface="+mj-lt"/>
                  <a:buAutoNum type="arabicPeriod"/>
                </a:pPr>
                <a:r>
                  <a:rPr lang="en-US" altLang="zh-TW" dirty="0"/>
                  <a:t>Go to 2.</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a:blip r:embed="rId2"/>
                <a:stretch>
                  <a:fillRect l="-1623" t="-2381" r="-23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0536007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Maximum Clique</a:t>
            </a:r>
            <a:endParaRPr lang="zh-TW" altLang="en-US" dirty="0"/>
          </a:p>
        </p:txBody>
      </p:sp>
      <p:sp>
        <p:nvSpPr>
          <p:cNvPr id="4" name="橢圓 3"/>
          <p:cNvSpPr/>
          <p:nvPr/>
        </p:nvSpPr>
        <p:spPr>
          <a:xfrm>
            <a:off x="1751900" y="2867636"/>
            <a:ext cx="329966" cy="32996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橢圓 4"/>
          <p:cNvSpPr/>
          <p:nvPr/>
        </p:nvSpPr>
        <p:spPr>
          <a:xfrm>
            <a:off x="4393034" y="2867636"/>
            <a:ext cx="329966" cy="32996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橢圓 5"/>
          <p:cNvSpPr/>
          <p:nvPr/>
        </p:nvSpPr>
        <p:spPr>
          <a:xfrm>
            <a:off x="1791047" y="5396609"/>
            <a:ext cx="329966" cy="32996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6"/>
          <p:cNvSpPr/>
          <p:nvPr/>
        </p:nvSpPr>
        <p:spPr>
          <a:xfrm>
            <a:off x="4432181" y="5396609"/>
            <a:ext cx="329966" cy="32996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p:cNvSpPr/>
          <p:nvPr/>
        </p:nvSpPr>
        <p:spPr>
          <a:xfrm>
            <a:off x="2975994" y="2004982"/>
            <a:ext cx="329966" cy="32996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p:cNvSpPr/>
          <p:nvPr/>
        </p:nvSpPr>
        <p:spPr>
          <a:xfrm>
            <a:off x="6937696" y="2964109"/>
            <a:ext cx="329966" cy="32996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p:cNvSpPr/>
          <p:nvPr/>
        </p:nvSpPr>
        <p:spPr>
          <a:xfrm>
            <a:off x="6557393" y="5066950"/>
            <a:ext cx="329966" cy="32996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1" name="直線接點 10"/>
          <p:cNvCxnSpPr>
            <a:stCxn id="4" idx="4"/>
            <a:endCxn id="6" idx="0"/>
          </p:cNvCxnSpPr>
          <p:nvPr/>
        </p:nvCxnSpPr>
        <p:spPr>
          <a:xfrm>
            <a:off x="1916883" y="3197602"/>
            <a:ext cx="39147" cy="2199007"/>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直線接點 11"/>
          <p:cNvCxnSpPr>
            <a:stCxn id="4" idx="6"/>
            <a:endCxn id="5" idx="2"/>
          </p:cNvCxnSpPr>
          <p:nvPr/>
        </p:nvCxnSpPr>
        <p:spPr>
          <a:xfrm>
            <a:off x="2081866" y="3032619"/>
            <a:ext cx="2311168" cy="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線接點 12"/>
          <p:cNvCxnSpPr>
            <a:stCxn id="5" idx="4"/>
            <a:endCxn id="7" idx="0"/>
          </p:cNvCxnSpPr>
          <p:nvPr/>
        </p:nvCxnSpPr>
        <p:spPr>
          <a:xfrm>
            <a:off x="4558017" y="3197602"/>
            <a:ext cx="39147" cy="2199007"/>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線接點 13"/>
          <p:cNvCxnSpPr>
            <a:stCxn id="7" idx="2"/>
            <a:endCxn id="6" idx="6"/>
          </p:cNvCxnSpPr>
          <p:nvPr/>
        </p:nvCxnSpPr>
        <p:spPr>
          <a:xfrm flipH="1">
            <a:off x="2121013" y="5561592"/>
            <a:ext cx="2311168" cy="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線接點 14"/>
          <p:cNvCxnSpPr>
            <a:stCxn id="4" idx="5"/>
            <a:endCxn id="7" idx="1"/>
          </p:cNvCxnSpPr>
          <p:nvPr/>
        </p:nvCxnSpPr>
        <p:spPr>
          <a:xfrm>
            <a:off x="2033544" y="3149280"/>
            <a:ext cx="2446959" cy="22956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直線接點 15"/>
          <p:cNvCxnSpPr>
            <a:stCxn id="5" idx="3"/>
            <a:endCxn id="6" idx="7"/>
          </p:cNvCxnSpPr>
          <p:nvPr/>
        </p:nvCxnSpPr>
        <p:spPr>
          <a:xfrm flipH="1">
            <a:off x="2072691" y="3149280"/>
            <a:ext cx="2368665" cy="22956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直線接點 16"/>
          <p:cNvCxnSpPr>
            <a:stCxn id="8" idx="3"/>
            <a:endCxn id="4" idx="0"/>
          </p:cNvCxnSpPr>
          <p:nvPr/>
        </p:nvCxnSpPr>
        <p:spPr>
          <a:xfrm flipH="1">
            <a:off x="1916883" y="2286626"/>
            <a:ext cx="1107433" cy="58101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a:stCxn id="8" idx="5"/>
            <a:endCxn id="5" idx="0"/>
          </p:cNvCxnSpPr>
          <p:nvPr/>
        </p:nvCxnSpPr>
        <p:spPr>
          <a:xfrm>
            <a:off x="3257638" y="2286626"/>
            <a:ext cx="1300379" cy="58101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線接點 18"/>
          <p:cNvCxnSpPr>
            <a:stCxn id="9" idx="1"/>
            <a:endCxn id="5" idx="6"/>
          </p:cNvCxnSpPr>
          <p:nvPr/>
        </p:nvCxnSpPr>
        <p:spPr>
          <a:xfrm flipH="1">
            <a:off x="4723000" y="3012431"/>
            <a:ext cx="2263018" cy="20188"/>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直線接點 19"/>
          <p:cNvCxnSpPr>
            <a:stCxn id="10" idx="2"/>
            <a:endCxn id="7" idx="6"/>
          </p:cNvCxnSpPr>
          <p:nvPr/>
        </p:nvCxnSpPr>
        <p:spPr>
          <a:xfrm flipH="1">
            <a:off x="4762147" y="5231933"/>
            <a:ext cx="1795246" cy="32965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直線接點 20"/>
          <p:cNvCxnSpPr>
            <a:stCxn id="9" idx="4"/>
            <a:endCxn id="10" idx="7"/>
          </p:cNvCxnSpPr>
          <p:nvPr/>
        </p:nvCxnSpPr>
        <p:spPr>
          <a:xfrm flipH="1">
            <a:off x="6839037" y="3294075"/>
            <a:ext cx="263642" cy="1821197"/>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9" name="橢圓 28"/>
          <p:cNvSpPr/>
          <p:nvPr/>
        </p:nvSpPr>
        <p:spPr>
          <a:xfrm>
            <a:off x="4393034" y="2867329"/>
            <a:ext cx="329966" cy="32996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1" name="直線接點 30"/>
          <p:cNvCxnSpPr/>
          <p:nvPr/>
        </p:nvCxnSpPr>
        <p:spPr>
          <a:xfrm flipV="1">
            <a:off x="6362376" y="4871933"/>
            <a:ext cx="720000" cy="7200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橢圓 32"/>
          <p:cNvSpPr/>
          <p:nvPr/>
        </p:nvSpPr>
        <p:spPr>
          <a:xfrm>
            <a:off x="1751900" y="2867719"/>
            <a:ext cx="329966" cy="32996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4" name="直線接點 33"/>
          <p:cNvCxnSpPr/>
          <p:nvPr/>
        </p:nvCxnSpPr>
        <p:spPr>
          <a:xfrm flipV="1">
            <a:off x="6742679" y="2769092"/>
            <a:ext cx="720000" cy="7200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6" name="橢圓 35"/>
          <p:cNvSpPr/>
          <p:nvPr/>
        </p:nvSpPr>
        <p:spPr>
          <a:xfrm>
            <a:off x="1795635" y="5391545"/>
            <a:ext cx="329966" cy="32996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7" name="直線接點 36"/>
          <p:cNvCxnSpPr/>
          <p:nvPr/>
        </p:nvCxnSpPr>
        <p:spPr>
          <a:xfrm flipV="1">
            <a:off x="2780977" y="1811797"/>
            <a:ext cx="720000" cy="7200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8" name="橢圓 37"/>
          <p:cNvSpPr/>
          <p:nvPr/>
        </p:nvSpPr>
        <p:spPr>
          <a:xfrm>
            <a:off x="4441356" y="5391545"/>
            <a:ext cx="329966" cy="32996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452591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3" grpId="0" animBg="1"/>
      <p:bldP spid="36" grpId="0" animBg="1"/>
      <p:bldP spid="3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Maximum Clique</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514350" indent="-514350">
                  <a:buFont typeface="+mj-lt"/>
                  <a:buAutoNum type="arabicPeriod"/>
                </a:pPr>
                <a:r>
                  <a:rPr lang="en-US" altLang="zh-TW" dirty="0"/>
                  <a:t>Set </a:t>
                </a:r>
                <a14:m>
                  <m:oMath xmlns:m="http://schemas.openxmlformats.org/officeDocument/2006/math">
                    <m:r>
                      <a:rPr lang="en-US" altLang="zh-TW" i="1" dirty="0" smtClean="0">
                        <a:latin typeface="Cambria Math" panose="02040503050406030204" pitchFamily="18" charset="0"/>
                      </a:rPr>
                      <m:t>𝑆𝑈𝐵</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𝑁</m:t>
                    </m:r>
                  </m:oMath>
                </a14:m>
                <a:r>
                  <a:rPr lang="en-US" altLang="zh-TW" dirty="0"/>
                  <a:t>.</a:t>
                </a:r>
              </a:p>
              <a:p>
                <a:pPr marL="514350" indent="-514350">
                  <a:buFont typeface="+mj-lt"/>
                  <a:buAutoNum type="arabicPeriod"/>
                </a:pPr>
                <a:r>
                  <a:rPr lang="en-US" altLang="zh-TW" dirty="0"/>
                  <a:t>If </a:t>
                </a:r>
                <a14:m>
                  <m:oMath xmlns:m="http://schemas.openxmlformats.org/officeDocument/2006/math">
                    <m:r>
                      <a:rPr lang="en-US" altLang="zh-TW" i="1" dirty="0" smtClean="0">
                        <a:latin typeface="Cambria Math" panose="02040503050406030204" pitchFamily="18" charset="0"/>
                      </a:rPr>
                      <m:t>𝑆𝑈𝐵</m:t>
                    </m:r>
                  </m:oMath>
                </a14:m>
                <a:r>
                  <a:rPr lang="en-US" altLang="zh-TW" dirty="0"/>
                  <a:t> is a clique, halt and return </a:t>
                </a:r>
                <a14:m>
                  <m:oMath xmlns:m="http://schemas.openxmlformats.org/officeDocument/2006/math">
                    <m:r>
                      <a:rPr lang="en-US" altLang="zh-TW" i="1" dirty="0" smtClean="0">
                        <a:latin typeface="Cambria Math" panose="02040503050406030204" pitchFamily="18" charset="0"/>
                      </a:rPr>
                      <m:t>𝑆𝑈𝐵</m:t>
                    </m:r>
                  </m:oMath>
                </a14:m>
                <a:r>
                  <a:rPr lang="en-US" altLang="zh-TW" dirty="0"/>
                  <a:t>.</a:t>
                </a:r>
              </a:p>
              <a:p>
                <a:pPr marL="514350" indent="-514350">
                  <a:buFont typeface="+mj-lt"/>
                  <a:buAutoNum type="arabicPeriod"/>
                </a:pPr>
                <a:r>
                  <a:rPr lang="en-US" altLang="zh-TW" dirty="0"/>
                  <a:t>Let </a:t>
                </a:r>
                <a14:m>
                  <m:oMath xmlns:m="http://schemas.openxmlformats.org/officeDocument/2006/math">
                    <m:r>
                      <a:rPr lang="en-US" altLang="zh-TW" b="0" i="1" smtClean="0">
                        <a:latin typeface="Cambria Math" panose="02040503050406030204" pitchFamily="18" charset="0"/>
                      </a:rPr>
                      <m:t>𝑦</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𝑆𝑈𝐵</m:t>
                    </m:r>
                  </m:oMath>
                </a14:m>
                <a:r>
                  <a:rPr lang="zh-TW" altLang="en-US" dirty="0"/>
                  <a:t> </a:t>
                </a:r>
                <a:r>
                  <a:rPr lang="en-US" altLang="zh-TW" dirty="0"/>
                  <a:t>be the node connected to the fewest other nodes in </a:t>
                </a:r>
                <a14:m>
                  <m:oMath xmlns:m="http://schemas.openxmlformats.org/officeDocument/2006/math">
                    <m:r>
                      <a:rPr lang="en-US" altLang="zh-TW" i="1" dirty="0" smtClean="0">
                        <a:latin typeface="Cambria Math" panose="02040503050406030204" pitchFamily="18" charset="0"/>
                      </a:rPr>
                      <m:t>𝑆𝑈𝐵</m:t>
                    </m:r>
                  </m:oMath>
                </a14:m>
                <a:r>
                  <a:rPr lang="en-US" altLang="zh-TW" dirty="0"/>
                  <a:t>.</a:t>
                </a:r>
              </a:p>
              <a:p>
                <a:pPr marL="514350" indent="-514350">
                  <a:buFont typeface="+mj-lt"/>
                  <a:buAutoNum type="arabicPeriod"/>
                </a:pPr>
                <a:r>
                  <a:rPr lang="en-US" altLang="zh-TW" dirty="0"/>
                  <a:t>Set </a:t>
                </a:r>
                <a14:m>
                  <m:oMath xmlns:m="http://schemas.openxmlformats.org/officeDocument/2006/math">
                    <m:r>
                      <a:rPr lang="en-US" altLang="zh-TW" b="0" i="1" smtClean="0">
                        <a:latin typeface="Cambria Math" panose="02040503050406030204" pitchFamily="18" charset="0"/>
                      </a:rPr>
                      <m:t>𝑆𝑈𝐵</m:t>
                    </m:r>
                    <m:r>
                      <a:rPr lang="en-US" altLang="zh-TW" b="0" i="1" smtClean="0">
                        <a:latin typeface="Cambria Math" panose="02040503050406030204" pitchFamily="18" charset="0"/>
                      </a:rPr>
                      <m:t>=</m:t>
                    </m:r>
                    <m:r>
                      <a:rPr lang="en-US" altLang="zh-TW" b="0" i="1" smtClean="0">
                        <a:latin typeface="Cambria Math" panose="02040503050406030204" pitchFamily="18" charset="0"/>
                      </a:rPr>
                      <m:t>𝑆𝑈𝐵</m:t>
                    </m:r>
                    <m:r>
                      <a:rPr lang="en-US" altLang="zh-TW" b="0" i="1" smtClean="0">
                        <a:latin typeface="Cambria Math" panose="02040503050406030204" pitchFamily="18" charset="0"/>
                      </a:rPr>
                      <m:t>−{</m:t>
                    </m:r>
                    <m:r>
                      <a:rPr lang="en-US" altLang="zh-TW" b="0" i="1" smtClean="0">
                        <a:latin typeface="Cambria Math" panose="02040503050406030204" pitchFamily="18" charset="0"/>
                      </a:rPr>
                      <m:t>𝑦</m:t>
                    </m:r>
                    <m:r>
                      <a:rPr lang="en-US" altLang="zh-TW" b="0" i="1" smtClean="0">
                        <a:latin typeface="Cambria Math" panose="02040503050406030204" pitchFamily="18" charset="0"/>
                      </a:rPr>
                      <m:t>}</m:t>
                    </m:r>
                  </m:oMath>
                </a14:m>
                <a:r>
                  <a:rPr lang="zh-TW" altLang="en-US" dirty="0"/>
                  <a:t> </a:t>
                </a:r>
                <a:r>
                  <a:rPr lang="en-US" altLang="zh-TW" dirty="0"/>
                  <a:t>and go to 2.</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a:blip r:embed="rId2"/>
                <a:stretch>
                  <a:fillRect l="-1623" t="-238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7202398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Maximum Clique</a:t>
            </a:r>
            <a:endParaRPr lang="zh-TW" altLang="en-US" dirty="0"/>
          </a:p>
        </p:txBody>
      </p:sp>
      <p:sp>
        <p:nvSpPr>
          <p:cNvPr id="4" name="橢圓 3"/>
          <p:cNvSpPr/>
          <p:nvPr/>
        </p:nvSpPr>
        <p:spPr>
          <a:xfrm>
            <a:off x="1751900" y="2867636"/>
            <a:ext cx="329966" cy="32996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橢圓 4"/>
          <p:cNvSpPr/>
          <p:nvPr/>
        </p:nvSpPr>
        <p:spPr>
          <a:xfrm>
            <a:off x="4393034" y="2867636"/>
            <a:ext cx="329966" cy="32996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橢圓 5"/>
          <p:cNvSpPr/>
          <p:nvPr/>
        </p:nvSpPr>
        <p:spPr>
          <a:xfrm>
            <a:off x="1791047" y="5396609"/>
            <a:ext cx="329966" cy="32996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6"/>
          <p:cNvSpPr/>
          <p:nvPr/>
        </p:nvSpPr>
        <p:spPr>
          <a:xfrm>
            <a:off x="4432181" y="5396609"/>
            <a:ext cx="329966" cy="32996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p:cNvSpPr/>
          <p:nvPr/>
        </p:nvSpPr>
        <p:spPr>
          <a:xfrm>
            <a:off x="2975994" y="2004982"/>
            <a:ext cx="329966" cy="32996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p:cNvSpPr/>
          <p:nvPr/>
        </p:nvSpPr>
        <p:spPr>
          <a:xfrm>
            <a:off x="6937696" y="2964109"/>
            <a:ext cx="329966" cy="32996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p:cNvSpPr/>
          <p:nvPr/>
        </p:nvSpPr>
        <p:spPr>
          <a:xfrm>
            <a:off x="6557393" y="5066950"/>
            <a:ext cx="329966" cy="32996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1" name="直線接點 10"/>
          <p:cNvCxnSpPr>
            <a:stCxn id="4" idx="4"/>
            <a:endCxn id="6" idx="0"/>
          </p:cNvCxnSpPr>
          <p:nvPr/>
        </p:nvCxnSpPr>
        <p:spPr>
          <a:xfrm>
            <a:off x="1916883" y="3197602"/>
            <a:ext cx="39147" cy="2199007"/>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直線接點 11"/>
          <p:cNvCxnSpPr>
            <a:stCxn id="4" idx="6"/>
            <a:endCxn id="5" idx="2"/>
          </p:cNvCxnSpPr>
          <p:nvPr/>
        </p:nvCxnSpPr>
        <p:spPr>
          <a:xfrm>
            <a:off x="2081866" y="3032619"/>
            <a:ext cx="2311168" cy="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線接點 12"/>
          <p:cNvCxnSpPr>
            <a:stCxn id="5" idx="4"/>
            <a:endCxn id="7" idx="0"/>
          </p:cNvCxnSpPr>
          <p:nvPr/>
        </p:nvCxnSpPr>
        <p:spPr>
          <a:xfrm>
            <a:off x="4558017" y="3197602"/>
            <a:ext cx="39147" cy="2199007"/>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線接點 13"/>
          <p:cNvCxnSpPr>
            <a:stCxn id="7" idx="2"/>
            <a:endCxn id="6" idx="6"/>
          </p:cNvCxnSpPr>
          <p:nvPr/>
        </p:nvCxnSpPr>
        <p:spPr>
          <a:xfrm flipH="1">
            <a:off x="2121013" y="5561592"/>
            <a:ext cx="2311168" cy="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線接點 14"/>
          <p:cNvCxnSpPr>
            <a:stCxn id="4" idx="5"/>
            <a:endCxn id="7" idx="1"/>
          </p:cNvCxnSpPr>
          <p:nvPr/>
        </p:nvCxnSpPr>
        <p:spPr>
          <a:xfrm>
            <a:off x="2033544" y="3149280"/>
            <a:ext cx="2446959" cy="22956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直線接點 15"/>
          <p:cNvCxnSpPr>
            <a:stCxn id="5" idx="3"/>
            <a:endCxn id="6" idx="7"/>
          </p:cNvCxnSpPr>
          <p:nvPr/>
        </p:nvCxnSpPr>
        <p:spPr>
          <a:xfrm flipH="1">
            <a:off x="2072691" y="3149280"/>
            <a:ext cx="2368665" cy="22956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直線接點 16"/>
          <p:cNvCxnSpPr>
            <a:stCxn id="8" idx="3"/>
            <a:endCxn id="4" idx="0"/>
          </p:cNvCxnSpPr>
          <p:nvPr/>
        </p:nvCxnSpPr>
        <p:spPr>
          <a:xfrm flipH="1">
            <a:off x="1916883" y="2286626"/>
            <a:ext cx="1107433" cy="58101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a:stCxn id="8" idx="5"/>
            <a:endCxn id="5" idx="0"/>
          </p:cNvCxnSpPr>
          <p:nvPr/>
        </p:nvCxnSpPr>
        <p:spPr>
          <a:xfrm>
            <a:off x="3257638" y="2286626"/>
            <a:ext cx="1300379" cy="58101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線接點 18"/>
          <p:cNvCxnSpPr>
            <a:stCxn id="9" idx="1"/>
            <a:endCxn id="5" idx="6"/>
          </p:cNvCxnSpPr>
          <p:nvPr/>
        </p:nvCxnSpPr>
        <p:spPr>
          <a:xfrm flipH="1">
            <a:off x="4723000" y="3012431"/>
            <a:ext cx="2263018" cy="20188"/>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直線接點 19"/>
          <p:cNvCxnSpPr>
            <a:stCxn id="10" idx="2"/>
            <a:endCxn id="7" idx="6"/>
          </p:cNvCxnSpPr>
          <p:nvPr/>
        </p:nvCxnSpPr>
        <p:spPr>
          <a:xfrm flipH="1">
            <a:off x="4762147" y="5231933"/>
            <a:ext cx="1795246" cy="32965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直線接點 20"/>
          <p:cNvCxnSpPr>
            <a:stCxn id="9" idx="4"/>
            <a:endCxn id="10" idx="7"/>
          </p:cNvCxnSpPr>
          <p:nvPr/>
        </p:nvCxnSpPr>
        <p:spPr>
          <a:xfrm flipH="1">
            <a:off x="6839037" y="3294075"/>
            <a:ext cx="263642" cy="1821197"/>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8" name="橢圓 27"/>
          <p:cNvSpPr/>
          <p:nvPr/>
        </p:nvSpPr>
        <p:spPr>
          <a:xfrm>
            <a:off x="2975994" y="2004982"/>
            <a:ext cx="329966" cy="32996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橢圓 29"/>
          <p:cNvSpPr/>
          <p:nvPr/>
        </p:nvSpPr>
        <p:spPr>
          <a:xfrm>
            <a:off x="6937696" y="2964109"/>
            <a:ext cx="329966" cy="32996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2" name="橢圓 31"/>
          <p:cNvSpPr/>
          <p:nvPr/>
        </p:nvSpPr>
        <p:spPr>
          <a:xfrm>
            <a:off x="6557393" y="5066643"/>
            <a:ext cx="329966" cy="32996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904509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0" grpId="0" animBg="1"/>
      <p:bldP spid="32" grpId="0" animBg="1"/>
    </p:bld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1079</TotalTime>
  <Words>660</Words>
  <Application>Microsoft Office PowerPoint</Application>
  <PresentationFormat>如螢幕大小 (4:3)</PresentationFormat>
  <Paragraphs>305</Paragraphs>
  <Slides>32</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32</vt:i4>
      </vt:variant>
    </vt:vector>
  </HeadingPairs>
  <TitlesOfParts>
    <vt:vector size="38" baseType="lpstr">
      <vt:lpstr>新細明體</vt:lpstr>
      <vt:lpstr>Arial</vt:lpstr>
      <vt:lpstr>Calibri</vt:lpstr>
      <vt:lpstr>Calibri Light</vt:lpstr>
      <vt:lpstr>Cambria Math</vt:lpstr>
      <vt:lpstr>Office 佈景主題</vt:lpstr>
      <vt:lpstr>Approximation Algorithms for Combinatorial Problems</vt:lpstr>
      <vt:lpstr>Abstract</vt:lpstr>
      <vt:lpstr>Subset-Sum</vt:lpstr>
      <vt:lpstr>Subset-Sum</vt:lpstr>
      <vt:lpstr>Subset-Sum</vt:lpstr>
      <vt:lpstr>Subset-Sum</vt:lpstr>
      <vt:lpstr>Maximum Satisfiability</vt:lpstr>
      <vt:lpstr>Maximum Satisfiability</vt:lpstr>
      <vt:lpstr>Maximum Satisfiability</vt:lpstr>
      <vt:lpstr>Maximum Satisfiability</vt:lpstr>
      <vt:lpstr>Maximum Satisfiability</vt:lpstr>
      <vt:lpstr>Maximum Satisfiability</vt:lpstr>
      <vt:lpstr>Set Covering I</vt:lpstr>
      <vt:lpstr>Set Covering I</vt:lpstr>
      <vt:lpstr>Set Covering I</vt:lpstr>
      <vt:lpstr>Set Covering I</vt:lpstr>
      <vt:lpstr>Set Covering II</vt:lpstr>
      <vt:lpstr>Set Covering II</vt:lpstr>
      <vt:lpstr>Set Covering II</vt:lpstr>
      <vt:lpstr>Set Covering II</vt:lpstr>
      <vt:lpstr>Graph Coloring</vt:lpstr>
      <vt:lpstr>Graph Coloring</vt:lpstr>
      <vt:lpstr>Graph Coloring</vt:lpstr>
      <vt:lpstr>Graph Coloring</vt:lpstr>
      <vt:lpstr>Graph Coloring</vt:lpstr>
      <vt:lpstr>Graph Coloring</vt:lpstr>
      <vt:lpstr>Maximum Clique</vt:lpstr>
      <vt:lpstr>Maximum Clique</vt:lpstr>
      <vt:lpstr>Maximum Clique</vt:lpstr>
      <vt:lpstr>Maximum Clique</vt:lpstr>
      <vt:lpstr>Maximum Clique</vt:lpstr>
      <vt:lpstr>Maximum Clique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Some APX-completeness results for cubic graphs</dc:title>
  <dc:creator>sizuka</dc:creator>
  <cp:lastModifiedBy>sizuka</cp:lastModifiedBy>
  <cp:revision>78</cp:revision>
  <dcterms:created xsi:type="dcterms:W3CDTF">2016-06-06T14:33:25Z</dcterms:created>
  <dcterms:modified xsi:type="dcterms:W3CDTF">2016-11-08T07:00:57Z</dcterms:modified>
</cp:coreProperties>
</file>