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02"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96678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235216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2543292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450344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367571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226994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533934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3262387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80727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118745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82956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243959-0D29-4C2C-94AF-53CCBB9B5C53}" type="datetimeFigureOut">
              <a:rPr lang="zh-TW" altLang="en-US" smtClean="0"/>
              <a:t>2016/8/23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208A5A-63C8-4FEE-85E0-2F7578FFB1B2}" type="slidenum">
              <a:rPr lang="zh-TW" altLang="en-US" smtClean="0"/>
              <a:t>‹#›</a:t>
            </a:fld>
            <a:endParaRPr lang="zh-TW" altLang="en-US"/>
          </a:p>
        </p:txBody>
      </p:sp>
    </p:spTree>
    <p:extLst>
      <p:ext uri="{BB962C8B-B14F-4D97-AF65-F5344CB8AC3E}">
        <p14:creationId xmlns:p14="http://schemas.microsoft.com/office/powerpoint/2010/main" val="232142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296740"/>
            <a:ext cx="9144000" cy="2387600"/>
          </a:xfrm>
        </p:spPr>
        <p:txBody>
          <a:bodyPr>
            <a:normAutofit fontScale="90000"/>
          </a:bodyPr>
          <a:lstStyle/>
          <a:p>
            <a:r>
              <a:rPr lang="en-US" altLang="zh-TW" dirty="0"/>
              <a:t>Classification of Time Series Data by One Class Classifier using DTW-D</a:t>
            </a:r>
            <a:endParaRPr lang="zh-TW" altLang="en-US" dirty="0"/>
          </a:p>
        </p:txBody>
      </p:sp>
      <p:sp>
        <p:nvSpPr>
          <p:cNvPr id="3" name="副標題 2"/>
          <p:cNvSpPr>
            <a:spLocks noGrp="1"/>
          </p:cNvSpPr>
          <p:nvPr>
            <p:ph type="subTitle" idx="1"/>
          </p:nvPr>
        </p:nvSpPr>
        <p:spPr>
          <a:xfrm>
            <a:off x="1494408" y="2971723"/>
            <a:ext cx="9144000" cy="1655762"/>
          </a:xfrm>
        </p:spPr>
        <p:txBody>
          <a:bodyPr>
            <a:normAutofit fontScale="77500" lnSpcReduction="20000"/>
          </a:bodyPr>
          <a:lstStyle/>
          <a:p>
            <a:r>
              <a:rPr lang="en-US" altLang="zh-TW" dirty="0"/>
              <a:t>Kumar </a:t>
            </a:r>
            <a:r>
              <a:rPr lang="en-US" altLang="zh-TW" dirty="0" err="1"/>
              <a:t>Vasimalla</a:t>
            </a:r>
            <a:r>
              <a:rPr lang="en-US" altLang="zh-TW" dirty="0"/>
              <a:t> </a:t>
            </a:r>
            <a:r>
              <a:rPr lang="en-US" altLang="zh-TW" i="1" dirty="0"/>
              <a:t>,</a:t>
            </a:r>
            <a:r>
              <a:rPr lang="en-US" altLang="zh-TW" dirty="0"/>
              <a:t> </a:t>
            </a:r>
          </a:p>
          <a:p>
            <a:r>
              <a:rPr lang="en-US" altLang="zh-TW" dirty="0"/>
              <a:t>C. </a:t>
            </a:r>
            <a:r>
              <a:rPr lang="en-US" altLang="zh-TW" dirty="0" err="1"/>
              <a:t>Narasimham</a:t>
            </a:r>
            <a:r>
              <a:rPr lang="en-US" altLang="zh-TW" dirty="0"/>
              <a:t> ,</a:t>
            </a:r>
            <a:endParaRPr lang="en-US" altLang="zh-TW" i="1" dirty="0"/>
          </a:p>
          <a:p>
            <a:r>
              <a:rPr lang="en-US" altLang="zh-TW" dirty="0"/>
              <a:t> B. </a:t>
            </a:r>
            <a:r>
              <a:rPr lang="en-US" altLang="zh-TW" dirty="0" err="1"/>
              <a:t>Sujith</a:t>
            </a:r>
            <a:endParaRPr lang="en-US" altLang="zh-TW" dirty="0"/>
          </a:p>
          <a:p>
            <a:endParaRPr lang="en-US" altLang="zh-TW" dirty="0"/>
          </a:p>
          <a:p>
            <a:r>
              <a:rPr lang="en-US" altLang="zh-TW" dirty="0"/>
              <a:t>Procedia Computer Science 54 (2015)343-352</a:t>
            </a:r>
            <a:endParaRPr lang="zh-TW" altLang="en-US" dirty="0"/>
          </a:p>
        </p:txBody>
      </p:sp>
      <p:sp>
        <p:nvSpPr>
          <p:cNvPr id="4" name="副標題 2"/>
          <p:cNvSpPr txBox="1">
            <a:spLocks/>
          </p:cNvSpPr>
          <p:nvPr/>
        </p:nvSpPr>
        <p:spPr>
          <a:xfrm>
            <a:off x="1524000" y="4914868"/>
            <a:ext cx="9144000" cy="1453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t>Presenter : Shu-Kai, Hung</a:t>
            </a:r>
          </a:p>
          <a:p>
            <a:r>
              <a:rPr lang="en-US" altLang="zh-TW" dirty="0"/>
              <a:t>Date </a:t>
            </a:r>
            <a:r>
              <a:rPr lang="en-US" altLang="zh-TW"/>
              <a:t>: </a:t>
            </a:r>
            <a:r>
              <a:rPr lang="en-US" altLang="zh-TW" smtClean="0"/>
              <a:t>2016/8/23</a:t>
            </a:r>
            <a:endParaRPr lang="zh-TW" altLang="en-US" dirty="0"/>
          </a:p>
        </p:txBody>
      </p:sp>
    </p:spTree>
    <p:extLst>
      <p:ext uri="{BB962C8B-B14F-4D97-AF65-F5344CB8AC3E}">
        <p14:creationId xmlns:p14="http://schemas.microsoft.com/office/powerpoint/2010/main" val="2205515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59993"/>
          </a:xfrm>
        </p:spPr>
        <p:txBody>
          <a:bodyPr/>
          <a:lstStyle/>
          <a:p>
            <a:r>
              <a:rPr lang="en-US" altLang="zh-TW" dirty="0"/>
              <a:t>Abstract</a:t>
            </a:r>
            <a:endParaRPr lang="zh-TW" altLang="en-US" dirty="0"/>
          </a:p>
        </p:txBody>
      </p:sp>
      <p:sp>
        <p:nvSpPr>
          <p:cNvPr id="3" name="內容版面配置區 2"/>
          <p:cNvSpPr>
            <a:spLocks noGrp="1"/>
          </p:cNvSpPr>
          <p:nvPr>
            <p:ph idx="1"/>
          </p:nvPr>
        </p:nvSpPr>
        <p:spPr>
          <a:xfrm>
            <a:off x="838200" y="1305017"/>
            <a:ext cx="10515600" cy="4871946"/>
          </a:xfrm>
        </p:spPr>
        <p:txBody>
          <a:bodyPr>
            <a:normAutofit fontScale="92500" lnSpcReduction="10000"/>
          </a:bodyPr>
          <a:lstStyle/>
          <a:p>
            <a:pPr marL="0" indent="0">
              <a:buNone/>
            </a:pPr>
            <a:r>
              <a:rPr lang="en-US" altLang="zh-TW" dirty="0"/>
              <a:t>Time series data classification is an important problem and it have number of applications in scientific environment, activity and gesture recognition, anthropology, entomology, sports etc. The most of the research community working on time series classification typically testing their algorithms using datasets available in UCR and other data repositories, which contain labeled training data and test data. But in reality getting labeled time series data is often very difficult and requires some expert help on that domain. But it is possible to get real time series data with one class label. The possible approach to solve this problem is semi-supervised learning algorithm with a special distance measure DTW-D, and compared this approach with semi-supervised learning with Euclidean Distance, semi-supervised learning with Dynamic Time Warping. We showed that our approach is better one compared to other two approaches, and also explained why other approaches have less accuracy. We demonstrate our ideas on diverse real world problems.</a:t>
            </a:r>
            <a:endParaRPr lang="zh-TW" altLang="en-US" dirty="0"/>
          </a:p>
        </p:txBody>
      </p:sp>
    </p:spTree>
    <p:extLst>
      <p:ext uri="{BB962C8B-B14F-4D97-AF65-F5344CB8AC3E}">
        <p14:creationId xmlns:p14="http://schemas.microsoft.com/office/powerpoint/2010/main" val="140544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50919"/>
            <a:ext cx="10515600" cy="823595"/>
          </a:xfrm>
        </p:spPr>
        <p:txBody>
          <a:bodyPr>
            <a:normAutofit/>
          </a:bodyPr>
          <a:lstStyle/>
          <a:p>
            <a:r>
              <a:rPr lang="en-US" altLang="zh-TW" dirty="0"/>
              <a:t>dynamic time warping(DTW)</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3292890" y="1285816"/>
            <a:ext cx="5919729" cy="3901778"/>
          </a:xfrm>
          <a:prstGeom prst="rect">
            <a:avLst/>
          </a:prstGeom>
        </p:spPr>
      </p:pic>
      <p:sp>
        <p:nvSpPr>
          <p:cNvPr id="5" name="矩形 4"/>
          <p:cNvSpPr/>
          <p:nvPr/>
        </p:nvSpPr>
        <p:spPr>
          <a:xfrm>
            <a:off x="966620" y="1285816"/>
            <a:ext cx="9165771" cy="923330"/>
          </a:xfrm>
          <a:prstGeom prst="rect">
            <a:avLst/>
          </a:prstGeom>
        </p:spPr>
        <p:txBody>
          <a:bodyPr wrap="square">
            <a:spAutoFit/>
          </a:bodyPr>
          <a:lstStyle/>
          <a:p>
            <a:r>
              <a:rPr lang="en-US" altLang="zh-TW" dirty="0"/>
              <a:t>Two times series:</a:t>
            </a:r>
          </a:p>
          <a:p>
            <a:r>
              <a:rPr lang="en-US" altLang="zh-TW" dirty="0"/>
              <a:t>X = (1,1,2,3,2,0)</a:t>
            </a:r>
          </a:p>
          <a:p>
            <a:r>
              <a:rPr lang="en-US" altLang="zh-TW" dirty="0"/>
              <a:t>Y = (0,1,1,2,3,2,1)</a:t>
            </a:r>
            <a:endParaRPr lang="zh-TW" altLang="en-US" dirty="0"/>
          </a:p>
        </p:txBody>
      </p:sp>
      <p:pic>
        <p:nvPicPr>
          <p:cNvPr id="6" name="圖片 5"/>
          <p:cNvPicPr>
            <a:picLocks noChangeAspect="1"/>
          </p:cNvPicPr>
          <p:nvPr/>
        </p:nvPicPr>
        <p:blipFill>
          <a:blip r:embed="rId3"/>
          <a:stretch>
            <a:fillRect/>
          </a:stretch>
        </p:blipFill>
        <p:spPr>
          <a:xfrm>
            <a:off x="601027" y="5187594"/>
            <a:ext cx="9896959" cy="847446"/>
          </a:xfrm>
          <a:prstGeom prst="rect">
            <a:avLst/>
          </a:prstGeom>
        </p:spPr>
      </p:pic>
      <p:sp>
        <p:nvSpPr>
          <p:cNvPr id="3" name="投影片編號版面配置區 2"/>
          <p:cNvSpPr>
            <a:spLocks noGrp="1"/>
          </p:cNvSpPr>
          <p:nvPr>
            <p:ph type="sldNum" sz="quarter" idx="12"/>
          </p:nvPr>
        </p:nvSpPr>
        <p:spPr/>
        <p:txBody>
          <a:bodyPr/>
          <a:lstStyle/>
          <a:p>
            <a:fld id="{57F364F3-CC44-48AC-94D7-200597D30565}" type="slidenum">
              <a:rPr lang="zh-TW" altLang="en-US" smtClean="0"/>
              <a:t>3</a:t>
            </a:fld>
            <a:endParaRPr lang="zh-TW" altLang="en-US"/>
          </a:p>
        </p:txBody>
      </p:sp>
      <mc:AlternateContent xmlns:mc="http://schemas.openxmlformats.org/markup-compatibility/2006" xmlns:a14="http://schemas.microsoft.com/office/drawing/2010/main">
        <mc:Choice Requires="a14">
          <p:sp>
            <p:nvSpPr>
              <p:cNvPr id="7" name="文字方塊 6"/>
              <p:cNvSpPr txBox="1"/>
              <p:nvPr/>
            </p:nvSpPr>
            <p:spPr>
              <a:xfrm>
                <a:off x="923401" y="3103207"/>
                <a:ext cx="2130968" cy="396775"/>
              </a:xfrm>
              <a:prstGeom prst="rect">
                <a:avLst/>
              </a:prstGeom>
              <a:noFill/>
            </p:spPr>
            <p:txBody>
              <a:bodyPr wrap="none" rtlCol="0">
                <a:spAutoFit/>
              </a:bodyPr>
              <a:lstStyle/>
              <a:p>
                <a14:m>
                  <m:oMath xmlns:m="http://schemas.openxmlformats.org/officeDocument/2006/math">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e>
                    </m:d>
                    <m:r>
                      <a:rPr lang="en-US" altLang="zh-TW" b="0" i="1" smtClean="0">
                        <a:latin typeface="Cambria Math" panose="02040503050406030204" pitchFamily="18" charset="0"/>
                      </a:rPr>
                      <m:t>=</m:t>
                    </m:r>
                  </m:oMath>
                </a14:m>
                <a:r>
                  <a:rPr lang="zh-TW" altLang="en-US" dirty="0"/>
                  <a:t> </a:t>
                </a:r>
                <a14:m>
                  <m:oMath xmlns:m="http://schemas.openxmlformats.org/officeDocument/2006/math">
                    <m:sSup>
                      <m:sSupPr>
                        <m:ctrlPr>
                          <a:rPr lang="en-US" altLang="zh-TW" i="1" dirty="0" smtClean="0">
                            <a:latin typeface="Cambria Math" panose="02040503050406030204" pitchFamily="18" charset="0"/>
                          </a:rPr>
                        </m:ctrlPr>
                      </m:sSup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𝑥</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𝑦</m:t>
                            </m:r>
                          </m:sub>
                        </m:sSub>
                        <m:r>
                          <a:rPr lang="en-US" altLang="zh-TW" b="0" i="1" smtClean="0">
                            <a:latin typeface="Cambria Math" panose="02040503050406030204" pitchFamily="18" charset="0"/>
                          </a:rPr>
                          <m:t>)</m:t>
                        </m:r>
                      </m:e>
                      <m:sup>
                        <m:r>
                          <a:rPr lang="en-US" altLang="zh-TW" b="0" i="1" dirty="0" smtClean="0">
                            <a:latin typeface="Cambria Math" panose="02040503050406030204" pitchFamily="18" charset="0"/>
                          </a:rPr>
                          <m:t>2</m:t>
                        </m:r>
                      </m:sup>
                    </m:sSup>
                  </m:oMath>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923401" y="3103207"/>
                <a:ext cx="2130968" cy="396775"/>
              </a:xfrm>
              <a:prstGeom prst="rect">
                <a:avLst/>
              </a:prstGeom>
              <a:blipFill>
                <a:blip r:embed="rId4"/>
                <a:stretch>
                  <a:fillRect b="-923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7308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602540"/>
          </a:xfrm>
        </p:spPr>
        <p:txBody>
          <a:bodyPr>
            <a:normAutofit fontScale="90000"/>
          </a:bodyPr>
          <a:lstStyle/>
          <a:p>
            <a:r>
              <a:rPr lang="zh-TW" altLang="en-US" dirty="0"/>
              <a:t>機器學習</a:t>
            </a:r>
          </a:p>
        </p:txBody>
      </p:sp>
      <p:sp>
        <p:nvSpPr>
          <p:cNvPr id="3" name="內容版面配置區 2"/>
          <p:cNvSpPr>
            <a:spLocks noGrp="1"/>
          </p:cNvSpPr>
          <p:nvPr>
            <p:ph idx="1"/>
          </p:nvPr>
        </p:nvSpPr>
        <p:spPr>
          <a:xfrm>
            <a:off x="838200" y="1171852"/>
            <a:ext cx="10515600" cy="5005111"/>
          </a:xfrm>
        </p:spPr>
        <p:txBody>
          <a:bodyPr/>
          <a:lstStyle/>
          <a:p>
            <a:r>
              <a:rPr lang="zh-TW" altLang="en-US" b="1" dirty="0"/>
              <a:t>監督式學習 </a:t>
            </a:r>
            <a:r>
              <a:rPr lang="en-US" altLang="zh-TW" b="1" dirty="0"/>
              <a:t>:</a:t>
            </a:r>
            <a:r>
              <a:rPr lang="zh-TW" altLang="en-US" sz="2400" dirty="0"/>
              <a:t>輸入數據被稱為「訓練數據」</a:t>
            </a:r>
            <a:r>
              <a:rPr lang="en-US" altLang="zh-TW" sz="2400" dirty="0"/>
              <a:t>(training data) </a:t>
            </a:r>
            <a:r>
              <a:rPr lang="zh-TW" altLang="en-US" sz="2400" dirty="0"/>
              <a:t>，每組數據有一明確標示，學習過程不段跟預測結果做調整，直到達到所要預測的準確率</a:t>
            </a:r>
            <a:endParaRPr lang="en-US" altLang="zh-TW" sz="2400" dirty="0"/>
          </a:p>
          <a:p>
            <a:endParaRPr lang="en-US" altLang="zh-TW" b="1" dirty="0"/>
          </a:p>
          <a:p>
            <a:r>
              <a:rPr lang="zh-TW" altLang="en-US" b="1" dirty="0"/>
              <a:t>非監督式學習：</a:t>
            </a:r>
            <a:r>
              <a:rPr lang="zh-TW" altLang="en-US" sz="2400" dirty="0"/>
              <a:t>數據並不被特別標識，學習模型是為了推斷出數據的一些內在結構。</a:t>
            </a:r>
            <a:r>
              <a:rPr lang="en-US" altLang="zh-TW" sz="2400" dirty="0"/>
              <a:t>Ex: K-means</a:t>
            </a:r>
          </a:p>
          <a:p>
            <a:endParaRPr lang="en-US" altLang="zh-TW" sz="2400" dirty="0"/>
          </a:p>
          <a:p>
            <a:r>
              <a:rPr lang="zh-TW" altLang="en-US" b="1" dirty="0">
                <a:solidFill>
                  <a:srgbClr val="FF0000"/>
                </a:solidFill>
              </a:rPr>
              <a:t>半監督式學習</a:t>
            </a:r>
            <a:r>
              <a:rPr lang="en-US" altLang="zh-TW" b="1" dirty="0">
                <a:solidFill>
                  <a:srgbClr val="FF0000"/>
                </a:solidFill>
              </a:rPr>
              <a:t> </a:t>
            </a:r>
            <a:r>
              <a:rPr lang="en-US" altLang="zh-TW" b="1" dirty="0"/>
              <a:t>semi-supervised learning(SSL)</a:t>
            </a:r>
            <a:r>
              <a:rPr lang="zh-TW" altLang="en-US" b="1" dirty="0"/>
              <a:t>：</a:t>
            </a:r>
            <a:r>
              <a:rPr lang="zh-TW" altLang="en-US" sz="2400" dirty="0"/>
              <a:t>輸入數據部分被標識，部分沒有被標識，這種學習模型可以用來進行預測，但是模型首先需要學習數據的內在結構以便合理的組織數據來進行預測。</a:t>
            </a:r>
            <a:endParaRPr lang="en-US" altLang="zh-TW" sz="2400" dirty="0"/>
          </a:p>
          <a:p>
            <a:endParaRPr lang="en-US" altLang="zh-TW" sz="2400" dirty="0"/>
          </a:p>
        </p:txBody>
      </p:sp>
    </p:spTree>
    <p:extLst>
      <p:ext uri="{BB962C8B-B14F-4D97-AF65-F5344CB8AC3E}">
        <p14:creationId xmlns:p14="http://schemas.microsoft.com/office/powerpoint/2010/main" val="141347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6977" y="223083"/>
            <a:ext cx="10515600" cy="726828"/>
          </a:xfrm>
        </p:spPr>
        <p:txBody>
          <a:bodyPr/>
          <a:lstStyle/>
          <a:p>
            <a:r>
              <a:rPr lang="en-US" altLang="zh-TW" dirty="0"/>
              <a:t>Positive Unlabeled learning (PU Learning)</a:t>
            </a:r>
            <a:endParaRPr lang="zh-TW" altLang="en-US" dirty="0"/>
          </a:p>
        </p:txBody>
      </p:sp>
      <p:sp>
        <p:nvSpPr>
          <p:cNvPr id="3" name="內容版面配置區 2"/>
          <p:cNvSpPr>
            <a:spLocks noGrp="1"/>
          </p:cNvSpPr>
          <p:nvPr>
            <p:ph idx="1"/>
          </p:nvPr>
        </p:nvSpPr>
        <p:spPr>
          <a:xfrm>
            <a:off x="838200" y="1091954"/>
            <a:ext cx="10515600" cy="5085009"/>
          </a:xfrm>
        </p:spPr>
        <p:txBody>
          <a:bodyPr/>
          <a:lstStyle/>
          <a:p>
            <a:r>
              <a:rPr lang="en-US" altLang="zh-TW" b="1" dirty="0"/>
              <a:t>Definition 1.  </a:t>
            </a:r>
            <a:r>
              <a:rPr lang="en-US" altLang="zh-TW" i="1" dirty="0"/>
              <a:t>P is a set of training data including all positive labelled objects.</a:t>
            </a:r>
          </a:p>
          <a:p>
            <a:pPr marL="0" indent="0">
              <a:buNone/>
            </a:pPr>
            <a:r>
              <a:rPr lang="en-US" altLang="zh-TW" i="1" dirty="0"/>
              <a:t>   P </a:t>
            </a:r>
            <a:r>
              <a:rPr lang="zh-TW" altLang="en-US" dirty="0"/>
              <a:t>為被分類過且訓練過的一群</a:t>
            </a:r>
            <a:r>
              <a:rPr lang="en-US" altLang="zh-TW" dirty="0"/>
              <a:t>object</a:t>
            </a:r>
          </a:p>
          <a:p>
            <a:endParaRPr lang="en-US" altLang="zh-TW" b="1" dirty="0"/>
          </a:p>
          <a:p>
            <a:r>
              <a:rPr lang="en-US" altLang="zh-TW" b="1" dirty="0"/>
              <a:t>Definition 2. </a:t>
            </a:r>
            <a:r>
              <a:rPr lang="en-US" altLang="zh-TW" i="1" dirty="0"/>
              <a:t>U is the set of unlabeled data.</a:t>
            </a:r>
          </a:p>
          <a:p>
            <a:pPr marL="0" indent="0">
              <a:buNone/>
            </a:pPr>
            <a:r>
              <a:rPr lang="en-US" altLang="zh-TW" i="1" dirty="0"/>
              <a:t>U </a:t>
            </a:r>
            <a:r>
              <a:rPr lang="zh-TW" altLang="en-US" dirty="0"/>
              <a:t>為未被分類且未被訓練過或已被訓練過的一群</a:t>
            </a:r>
            <a:r>
              <a:rPr lang="en-US" altLang="zh-TW" dirty="0"/>
              <a:t>object</a:t>
            </a:r>
            <a:r>
              <a:rPr lang="zh-TW" altLang="en-US" dirty="0"/>
              <a:t>，大部分為未被訓練的</a:t>
            </a:r>
            <a:endParaRPr lang="en-US" altLang="zh-TW" dirty="0"/>
          </a:p>
          <a:p>
            <a:pPr marL="0" indent="0">
              <a:buNone/>
            </a:pPr>
            <a:endParaRPr lang="en-US" altLang="zh-TW" dirty="0"/>
          </a:p>
          <a:p>
            <a:pPr marL="0" indent="0">
              <a:buNone/>
            </a:pPr>
            <a:r>
              <a:rPr lang="zh-TW" altLang="en-US" dirty="0"/>
              <a:t>其中</a:t>
            </a:r>
            <a:r>
              <a:rPr lang="en-US" altLang="zh-TW" dirty="0"/>
              <a:t>object</a:t>
            </a:r>
            <a:r>
              <a:rPr lang="zh-TW" altLang="en-US" dirty="0"/>
              <a:t>即為一組</a:t>
            </a:r>
            <a:r>
              <a:rPr lang="en-US" altLang="zh-TW" dirty="0"/>
              <a:t>time series</a:t>
            </a:r>
            <a:endParaRPr lang="zh-TW" altLang="en-US" dirty="0"/>
          </a:p>
        </p:txBody>
      </p:sp>
    </p:spTree>
    <p:extLst>
      <p:ext uri="{BB962C8B-B14F-4D97-AF65-F5344CB8AC3E}">
        <p14:creationId xmlns:p14="http://schemas.microsoft.com/office/powerpoint/2010/main" val="287431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內容版面配置區 22"/>
          <p:cNvPicPr>
            <a:picLocks noGrp="1" noChangeAspect="1"/>
          </p:cNvPicPr>
          <p:nvPr>
            <p:ph idx="1"/>
          </p:nvPr>
        </p:nvPicPr>
        <p:blipFill>
          <a:blip r:embed="rId2"/>
          <a:stretch>
            <a:fillRect/>
          </a:stretch>
        </p:blipFill>
        <p:spPr>
          <a:xfrm>
            <a:off x="1397593" y="291731"/>
            <a:ext cx="5558061" cy="5892800"/>
          </a:xfrm>
          <a:prstGeom prst="rect">
            <a:avLst/>
          </a:prstGeom>
        </p:spPr>
      </p:pic>
      <p:sp>
        <p:nvSpPr>
          <p:cNvPr id="4" name="橢圓 3"/>
          <p:cNvSpPr/>
          <p:nvPr/>
        </p:nvSpPr>
        <p:spPr>
          <a:xfrm>
            <a:off x="7772399" y="181992"/>
            <a:ext cx="2059619" cy="9055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data</a:t>
            </a:r>
            <a:endParaRPr lang="zh-TW" altLang="en-US" dirty="0"/>
          </a:p>
        </p:txBody>
      </p:sp>
      <p:cxnSp>
        <p:nvCxnSpPr>
          <p:cNvPr id="6" name="直線單箭頭接點 5"/>
          <p:cNvCxnSpPr/>
          <p:nvPr/>
        </p:nvCxnSpPr>
        <p:spPr>
          <a:xfrm>
            <a:off x="8815527" y="1091953"/>
            <a:ext cx="8877" cy="230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菱形 6"/>
          <p:cNvSpPr/>
          <p:nvPr/>
        </p:nvSpPr>
        <p:spPr>
          <a:xfrm>
            <a:off x="7732451" y="1322773"/>
            <a:ext cx="2183906" cy="67470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dirty="0"/>
              <a:t>training</a:t>
            </a:r>
            <a:endParaRPr lang="zh-TW" altLang="en-US" dirty="0"/>
          </a:p>
        </p:txBody>
      </p:sp>
      <p:cxnSp>
        <p:nvCxnSpPr>
          <p:cNvPr id="9" name="直線單箭頭接點 8"/>
          <p:cNvCxnSpPr/>
          <p:nvPr/>
        </p:nvCxnSpPr>
        <p:spPr>
          <a:xfrm flipH="1">
            <a:off x="7528264" y="2050742"/>
            <a:ext cx="1287262" cy="15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8824404" y="2050742"/>
            <a:ext cx="1251752" cy="230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橢圓 11"/>
          <p:cNvSpPr/>
          <p:nvPr/>
        </p:nvSpPr>
        <p:spPr>
          <a:xfrm>
            <a:off x="5983550" y="2166152"/>
            <a:ext cx="2015231" cy="736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P set(one single object)</a:t>
            </a:r>
            <a:endParaRPr lang="zh-TW" altLang="en-US" dirty="0"/>
          </a:p>
        </p:txBody>
      </p:sp>
      <p:sp>
        <p:nvSpPr>
          <p:cNvPr id="13" name="橢圓 12"/>
          <p:cNvSpPr/>
          <p:nvPr/>
        </p:nvSpPr>
        <p:spPr>
          <a:xfrm>
            <a:off x="9576047" y="2259369"/>
            <a:ext cx="2015231" cy="7368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U set</a:t>
            </a:r>
            <a:endParaRPr lang="zh-TW" altLang="en-US" dirty="0"/>
          </a:p>
        </p:txBody>
      </p:sp>
      <p:sp>
        <p:nvSpPr>
          <p:cNvPr id="14" name="矩形 13"/>
          <p:cNvSpPr/>
          <p:nvPr/>
        </p:nvSpPr>
        <p:spPr>
          <a:xfrm>
            <a:off x="10076156" y="3497802"/>
            <a:ext cx="1337569" cy="6125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a:t>algorithm</a:t>
            </a:r>
            <a:endParaRPr lang="zh-TW" altLang="en-US" dirty="0"/>
          </a:p>
        </p:txBody>
      </p:sp>
      <p:cxnSp>
        <p:nvCxnSpPr>
          <p:cNvPr id="16" name="直線單箭頭接點 15"/>
          <p:cNvCxnSpPr/>
          <p:nvPr/>
        </p:nvCxnSpPr>
        <p:spPr>
          <a:xfrm>
            <a:off x="10653204" y="2996215"/>
            <a:ext cx="17756" cy="483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弧形接點 17"/>
          <p:cNvCxnSpPr/>
          <p:nvPr/>
        </p:nvCxnSpPr>
        <p:spPr>
          <a:xfrm rot="10800000">
            <a:off x="7528264" y="2902999"/>
            <a:ext cx="2547892" cy="1056443"/>
          </a:xfrm>
          <a:prstGeom prst="curvedConnector3">
            <a:avLst>
              <a:gd name="adj1" fmla="val 6115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9426277" y="4144016"/>
            <a:ext cx="2637325" cy="369332"/>
          </a:xfrm>
          <a:prstGeom prst="rect">
            <a:avLst/>
          </a:prstGeom>
          <a:noFill/>
        </p:spPr>
        <p:txBody>
          <a:bodyPr wrap="none" rtlCol="0">
            <a:spAutoFit/>
          </a:bodyPr>
          <a:lstStyle/>
          <a:p>
            <a:r>
              <a:rPr lang="en-US" altLang="zh-TW" dirty="0"/>
              <a:t>Distance function(DTW-D)</a:t>
            </a:r>
            <a:endParaRPr lang="zh-TW" altLang="en-US" dirty="0"/>
          </a:p>
        </p:txBody>
      </p:sp>
    </p:spTree>
    <p:extLst>
      <p:ext uri="{BB962C8B-B14F-4D97-AF65-F5344CB8AC3E}">
        <p14:creationId xmlns:p14="http://schemas.microsoft.com/office/powerpoint/2010/main" val="3729306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753461"/>
          </a:xfrm>
        </p:spPr>
        <p:txBody>
          <a:bodyPr/>
          <a:lstStyle/>
          <a:p>
            <a:r>
              <a:rPr lang="en-US" altLang="zh-TW" dirty="0"/>
              <a:t>DTW-D(ratio of distance)</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8132731" y="3492415"/>
            <a:ext cx="3575391" cy="2445312"/>
          </a:xfrm>
          <a:prstGeom prst="rect">
            <a:avLst/>
          </a:prstGeom>
        </p:spPr>
      </p:pic>
      <p:sp>
        <p:nvSpPr>
          <p:cNvPr id="5" name="內容版面配置區 2"/>
          <p:cNvSpPr txBox="1">
            <a:spLocks/>
          </p:cNvSpPr>
          <p:nvPr/>
        </p:nvSpPr>
        <p:spPr>
          <a:xfrm>
            <a:off x="838200" y="1091954"/>
            <a:ext cx="10515600" cy="5085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i="1" dirty="0"/>
              <a:t>P</a:t>
            </a:r>
            <a:r>
              <a:rPr lang="en-US" altLang="zh-TW" dirty="0"/>
              <a:t>1 = 5</a:t>
            </a:r>
            <a:r>
              <a:rPr lang="en-US" altLang="zh-TW" i="1" dirty="0"/>
              <a:t>, </a:t>
            </a:r>
            <a:r>
              <a:rPr lang="en-US" altLang="zh-TW" dirty="0"/>
              <a:t>5</a:t>
            </a:r>
            <a:r>
              <a:rPr lang="en-US" altLang="zh-TW" i="1" dirty="0"/>
              <a:t>, </a:t>
            </a:r>
            <a:r>
              <a:rPr lang="en-US" altLang="zh-TW" dirty="0"/>
              <a:t>6</a:t>
            </a:r>
            <a:r>
              <a:rPr lang="en-US" altLang="zh-TW" i="1" dirty="0"/>
              <a:t>, </a:t>
            </a:r>
            <a:r>
              <a:rPr lang="en-US" altLang="zh-TW" dirty="0"/>
              <a:t>7</a:t>
            </a:r>
            <a:r>
              <a:rPr lang="en-US" altLang="zh-TW" i="1" dirty="0"/>
              <a:t>, </a:t>
            </a:r>
            <a:r>
              <a:rPr lang="en-US" altLang="zh-TW" dirty="0"/>
              <a:t>8</a:t>
            </a:r>
            <a:r>
              <a:rPr lang="en-US" altLang="zh-TW" i="1" dirty="0"/>
              <a:t>, </a:t>
            </a:r>
            <a:r>
              <a:rPr lang="en-US" altLang="zh-TW" dirty="0"/>
              <a:t>9</a:t>
            </a:r>
            <a:r>
              <a:rPr lang="en-US" altLang="zh-TW" i="1" dirty="0"/>
              <a:t>, </a:t>
            </a:r>
            <a:r>
              <a:rPr lang="en-US" altLang="zh-TW" dirty="0"/>
              <a:t>8</a:t>
            </a:r>
            <a:r>
              <a:rPr lang="en-US" altLang="zh-TW" i="1" dirty="0"/>
              <a:t>, </a:t>
            </a:r>
            <a:r>
              <a:rPr lang="en-US" altLang="zh-TW" dirty="0"/>
              <a:t>7</a:t>
            </a:r>
            <a:r>
              <a:rPr lang="en-US" altLang="zh-TW" i="1" dirty="0"/>
              <a:t>, </a:t>
            </a:r>
            <a:r>
              <a:rPr lang="en-US" altLang="zh-TW" dirty="0"/>
              <a:t>6</a:t>
            </a:r>
            <a:r>
              <a:rPr lang="en-US" altLang="zh-TW" i="1" dirty="0"/>
              <a:t>, </a:t>
            </a:r>
            <a:r>
              <a:rPr lang="en-US" altLang="zh-TW" dirty="0"/>
              <a:t>5</a:t>
            </a:r>
            <a:r>
              <a:rPr lang="en-US" altLang="zh-TW" i="1" dirty="0"/>
              <a:t>, </a:t>
            </a:r>
            <a:r>
              <a:rPr lang="en-US" altLang="zh-TW" dirty="0"/>
              <a:t>6</a:t>
            </a:r>
            <a:r>
              <a:rPr lang="en-US" altLang="zh-TW" i="1" dirty="0"/>
              <a:t>, </a:t>
            </a:r>
            <a:r>
              <a:rPr lang="en-US" altLang="zh-TW" dirty="0"/>
              <a:t>7</a:t>
            </a:r>
            <a:r>
              <a:rPr lang="en-US" altLang="zh-TW" i="1" dirty="0"/>
              <a:t>, </a:t>
            </a:r>
            <a:r>
              <a:rPr lang="en-US" altLang="zh-TW" dirty="0"/>
              <a:t>8</a:t>
            </a:r>
            <a:r>
              <a:rPr lang="en-US" altLang="zh-TW" i="1" dirty="0"/>
              <a:t>, </a:t>
            </a:r>
            <a:r>
              <a:rPr lang="en-US" altLang="zh-TW" dirty="0"/>
              <a:t>9</a:t>
            </a:r>
            <a:r>
              <a:rPr lang="en-US" altLang="zh-TW" i="1" dirty="0"/>
              <a:t>, </a:t>
            </a:r>
            <a:r>
              <a:rPr lang="en-US" altLang="zh-TW" dirty="0"/>
              <a:t>8</a:t>
            </a:r>
            <a:r>
              <a:rPr lang="en-US" altLang="zh-TW" i="1" dirty="0"/>
              <a:t>, </a:t>
            </a:r>
            <a:r>
              <a:rPr lang="en-US" altLang="zh-TW" dirty="0"/>
              <a:t>7</a:t>
            </a:r>
            <a:r>
              <a:rPr lang="en-US" altLang="zh-TW" i="1" dirty="0"/>
              <a:t>, </a:t>
            </a:r>
            <a:r>
              <a:rPr lang="en-US" altLang="zh-TW" dirty="0"/>
              <a:t>6</a:t>
            </a:r>
            <a:r>
              <a:rPr lang="en-US" altLang="zh-TW" i="1" dirty="0"/>
              <a:t>, </a:t>
            </a:r>
            <a:r>
              <a:rPr lang="en-US" altLang="zh-TW" dirty="0"/>
              <a:t>5</a:t>
            </a:r>
            <a:r>
              <a:rPr lang="en-US" altLang="zh-TW" i="1" dirty="0"/>
              <a:t>, </a:t>
            </a:r>
            <a:r>
              <a:rPr lang="en-US" altLang="zh-TW" dirty="0"/>
              <a:t>6</a:t>
            </a:r>
            <a:r>
              <a:rPr lang="en-US" altLang="zh-TW" i="1" dirty="0"/>
              <a:t>, </a:t>
            </a:r>
            <a:r>
              <a:rPr lang="en-US" altLang="zh-TW" dirty="0"/>
              <a:t>7</a:t>
            </a:r>
            <a:r>
              <a:rPr lang="en-US" altLang="zh-TW" i="1" dirty="0"/>
              <a:t>, </a:t>
            </a:r>
            <a:r>
              <a:rPr lang="en-US" altLang="zh-TW" dirty="0"/>
              <a:t>8</a:t>
            </a:r>
            <a:r>
              <a:rPr lang="en-US" altLang="zh-TW" i="1" dirty="0"/>
              <a:t>, </a:t>
            </a:r>
            <a:r>
              <a:rPr lang="en-US" altLang="zh-TW" dirty="0"/>
              <a:t>9</a:t>
            </a:r>
            <a:r>
              <a:rPr lang="en-US" altLang="zh-TW" i="1" dirty="0"/>
              <a:t>, </a:t>
            </a:r>
            <a:r>
              <a:rPr lang="en-US" altLang="zh-TW" dirty="0"/>
              <a:t>8</a:t>
            </a:r>
            <a:r>
              <a:rPr lang="en-US" altLang="zh-TW" i="1" dirty="0"/>
              <a:t>, </a:t>
            </a:r>
            <a:r>
              <a:rPr lang="en-US" altLang="zh-TW" dirty="0"/>
              <a:t>7</a:t>
            </a:r>
            <a:r>
              <a:rPr lang="en-US" altLang="zh-TW" i="1" dirty="0"/>
              <a:t>, </a:t>
            </a:r>
            <a:r>
              <a:rPr lang="en-US" altLang="zh-TW" dirty="0"/>
              <a:t>6</a:t>
            </a:r>
            <a:r>
              <a:rPr lang="en-US" altLang="zh-TW" i="1" dirty="0"/>
              <a:t>, </a:t>
            </a:r>
            <a:r>
              <a:rPr lang="en-US" altLang="zh-TW" dirty="0"/>
              <a:t>5</a:t>
            </a:r>
            <a:r>
              <a:rPr lang="en-US" altLang="zh-TW" i="1" dirty="0"/>
              <a:t>.</a:t>
            </a:r>
          </a:p>
          <a:p>
            <a:pPr marL="0" indent="0">
              <a:buNone/>
            </a:pPr>
            <a:r>
              <a:rPr lang="pl-PL" altLang="zh-TW" i="1" dirty="0"/>
              <a:t>U</a:t>
            </a:r>
            <a:r>
              <a:rPr lang="pl-PL" altLang="zh-TW" dirty="0"/>
              <a:t>1 = 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 </a:t>
            </a:r>
            <a:r>
              <a:rPr lang="pl-PL" altLang="zh-TW" dirty="0"/>
              <a:t>5</a:t>
            </a:r>
            <a:r>
              <a:rPr lang="pl-PL" altLang="zh-TW" i="1" dirty="0"/>
              <a:t>.</a:t>
            </a:r>
          </a:p>
          <a:p>
            <a:pPr marL="0" indent="0">
              <a:buNone/>
            </a:pPr>
            <a:r>
              <a:rPr lang="pl-PL" altLang="zh-TW" i="1" dirty="0"/>
              <a:t>U</a:t>
            </a:r>
            <a:r>
              <a:rPr lang="pl-PL" altLang="zh-TW" dirty="0"/>
              <a:t>2 = 5</a:t>
            </a:r>
            <a:r>
              <a:rPr lang="pl-PL" altLang="zh-TW" i="1" dirty="0"/>
              <a:t>, </a:t>
            </a:r>
            <a:r>
              <a:rPr lang="pl-PL" altLang="zh-TW" dirty="0"/>
              <a:t>5</a:t>
            </a:r>
            <a:r>
              <a:rPr lang="pl-PL" altLang="zh-TW" i="1" dirty="0"/>
              <a:t>, </a:t>
            </a:r>
            <a:r>
              <a:rPr lang="pl-PL" altLang="zh-TW" dirty="0"/>
              <a:t>4</a:t>
            </a:r>
            <a:r>
              <a:rPr lang="pl-PL" altLang="zh-TW" i="1" dirty="0"/>
              <a:t>, </a:t>
            </a:r>
            <a:r>
              <a:rPr lang="pl-PL" altLang="zh-TW" dirty="0"/>
              <a:t>3</a:t>
            </a:r>
            <a:r>
              <a:rPr lang="pl-PL" altLang="zh-TW" i="1" dirty="0"/>
              <a:t>, </a:t>
            </a:r>
            <a:r>
              <a:rPr lang="pl-PL" altLang="zh-TW" dirty="0"/>
              <a:t>2</a:t>
            </a:r>
            <a:r>
              <a:rPr lang="pl-PL" altLang="zh-TW" i="1" dirty="0"/>
              <a:t>, </a:t>
            </a:r>
            <a:r>
              <a:rPr lang="pl-PL" altLang="zh-TW" dirty="0"/>
              <a:t>1</a:t>
            </a:r>
            <a:r>
              <a:rPr lang="pl-PL" altLang="zh-TW" i="1" dirty="0"/>
              <a:t>, </a:t>
            </a:r>
            <a:r>
              <a:rPr lang="pl-PL" altLang="zh-TW" dirty="0"/>
              <a:t>2</a:t>
            </a:r>
            <a:r>
              <a:rPr lang="pl-PL" altLang="zh-TW" i="1" dirty="0"/>
              <a:t>, </a:t>
            </a:r>
            <a:r>
              <a:rPr lang="pl-PL" altLang="zh-TW" dirty="0"/>
              <a:t>3</a:t>
            </a:r>
            <a:r>
              <a:rPr lang="pl-PL" altLang="zh-TW" i="1" dirty="0"/>
              <a:t>, </a:t>
            </a:r>
            <a:r>
              <a:rPr lang="pl-PL" altLang="zh-TW" dirty="0"/>
              <a:t>4</a:t>
            </a:r>
            <a:r>
              <a:rPr lang="pl-PL" altLang="zh-TW" i="1" dirty="0"/>
              <a:t>, </a:t>
            </a:r>
            <a:r>
              <a:rPr lang="pl-PL" altLang="zh-TW" dirty="0"/>
              <a:t>5</a:t>
            </a:r>
            <a:r>
              <a:rPr lang="pl-PL" altLang="zh-TW" i="1" dirty="0"/>
              <a:t>, </a:t>
            </a:r>
            <a:r>
              <a:rPr lang="pl-PL" altLang="zh-TW" dirty="0"/>
              <a:t>4</a:t>
            </a:r>
            <a:r>
              <a:rPr lang="pl-PL" altLang="zh-TW" i="1" dirty="0"/>
              <a:t>, </a:t>
            </a:r>
            <a:r>
              <a:rPr lang="pl-PL" altLang="zh-TW" dirty="0"/>
              <a:t>3</a:t>
            </a:r>
            <a:r>
              <a:rPr lang="pl-PL" altLang="zh-TW" i="1" dirty="0"/>
              <a:t>, </a:t>
            </a:r>
            <a:r>
              <a:rPr lang="pl-PL" altLang="zh-TW" dirty="0"/>
              <a:t>2</a:t>
            </a:r>
            <a:r>
              <a:rPr lang="pl-PL" altLang="zh-TW" i="1" dirty="0"/>
              <a:t>, </a:t>
            </a:r>
            <a:r>
              <a:rPr lang="pl-PL" altLang="zh-TW" dirty="0"/>
              <a:t>1</a:t>
            </a:r>
            <a:r>
              <a:rPr lang="pl-PL" altLang="zh-TW" i="1" dirty="0"/>
              <a:t>, </a:t>
            </a:r>
            <a:r>
              <a:rPr lang="pl-PL" altLang="zh-TW" dirty="0"/>
              <a:t>2</a:t>
            </a:r>
            <a:r>
              <a:rPr lang="pl-PL" altLang="zh-TW" i="1" dirty="0"/>
              <a:t>, </a:t>
            </a:r>
            <a:r>
              <a:rPr lang="pl-PL" altLang="zh-TW" dirty="0"/>
              <a:t>3</a:t>
            </a:r>
            <a:r>
              <a:rPr lang="pl-PL" altLang="zh-TW" i="1" dirty="0"/>
              <a:t>, </a:t>
            </a:r>
            <a:r>
              <a:rPr lang="pl-PL" altLang="zh-TW" dirty="0"/>
              <a:t>4</a:t>
            </a:r>
            <a:r>
              <a:rPr lang="pl-PL" altLang="zh-TW" i="1" dirty="0"/>
              <a:t>, </a:t>
            </a:r>
            <a:r>
              <a:rPr lang="pl-PL" altLang="zh-TW" dirty="0"/>
              <a:t>5</a:t>
            </a:r>
            <a:r>
              <a:rPr lang="pl-PL" altLang="zh-TW" i="1" dirty="0"/>
              <a:t>, </a:t>
            </a:r>
            <a:r>
              <a:rPr lang="pl-PL" altLang="zh-TW" dirty="0"/>
              <a:t>4</a:t>
            </a:r>
            <a:r>
              <a:rPr lang="pl-PL" altLang="zh-TW" i="1" dirty="0"/>
              <a:t>, </a:t>
            </a:r>
            <a:r>
              <a:rPr lang="pl-PL" altLang="zh-TW" dirty="0"/>
              <a:t>3</a:t>
            </a:r>
            <a:r>
              <a:rPr lang="pl-PL" altLang="zh-TW" i="1" dirty="0"/>
              <a:t>, </a:t>
            </a:r>
            <a:r>
              <a:rPr lang="pl-PL" altLang="zh-TW" dirty="0"/>
              <a:t>2</a:t>
            </a:r>
            <a:r>
              <a:rPr lang="pl-PL" altLang="zh-TW" i="1" dirty="0"/>
              <a:t>, </a:t>
            </a:r>
            <a:r>
              <a:rPr lang="pl-PL" altLang="zh-TW" dirty="0"/>
              <a:t>1</a:t>
            </a:r>
            <a:r>
              <a:rPr lang="pl-PL" altLang="zh-TW" i="1" dirty="0"/>
              <a:t>, </a:t>
            </a:r>
            <a:r>
              <a:rPr lang="pl-PL" altLang="zh-TW" dirty="0"/>
              <a:t>2</a:t>
            </a:r>
            <a:r>
              <a:rPr lang="pl-PL" altLang="zh-TW" i="1" dirty="0"/>
              <a:t>, </a:t>
            </a:r>
            <a:r>
              <a:rPr lang="pl-PL" altLang="zh-TW" dirty="0"/>
              <a:t>3</a:t>
            </a:r>
            <a:r>
              <a:rPr lang="pl-PL" altLang="zh-TW" i="1" dirty="0"/>
              <a:t>, </a:t>
            </a:r>
            <a:r>
              <a:rPr lang="pl-PL" altLang="zh-TW" dirty="0"/>
              <a:t>4</a:t>
            </a:r>
            <a:r>
              <a:rPr lang="pl-PL" altLang="zh-TW" i="1" dirty="0"/>
              <a:t>, </a:t>
            </a:r>
            <a:r>
              <a:rPr lang="pl-PL" altLang="zh-TW" dirty="0"/>
              <a:t>5</a:t>
            </a:r>
            <a:r>
              <a:rPr lang="pl-PL" altLang="zh-TW" i="1" dirty="0"/>
              <a:t>.</a:t>
            </a:r>
            <a:endParaRPr lang="en-US" altLang="zh-TW" i="1" dirty="0"/>
          </a:p>
          <a:p>
            <a:pPr marL="0" indent="0">
              <a:buNone/>
            </a:pPr>
            <a:r>
              <a:rPr lang="en-US" altLang="zh-TW" i="1" dirty="0"/>
              <a:t>P1-U1 = 0,0,1,2,3,4,3,2,1,0,1,2,3,4,3,2,1,0,1,2,3,4,3,2,1,0</a:t>
            </a:r>
          </a:p>
          <a:p>
            <a:pPr marL="0" indent="0">
              <a:buNone/>
            </a:pPr>
            <a:r>
              <a:rPr lang="en-US" altLang="zh-TW" i="1" dirty="0"/>
              <a:t>P1-U2 = 0,0,2,4,6,8,6,4,2,0,2,4,6,8,6,4,2,0,2,4,6,8,6,4,2,0</a:t>
            </a:r>
            <a:endParaRPr lang="zh-TW" altLang="en-US" dirty="0"/>
          </a:p>
        </p:txBody>
      </p:sp>
      <p:pic>
        <p:nvPicPr>
          <p:cNvPr id="6" name="圖片 5"/>
          <p:cNvPicPr>
            <a:picLocks noChangeAspect="1"/>
          </p:cNvPicPr>
          <p:nvPr/>
        </p:nvPicPr>
        <p:blipFill>
          <a:blip r:embed="rId3"/>
          <a:stretch>
            <a:fillRect/>
          </a:stretch>
        </p:blipFill>
        <p:spPr>
          <a:xfrm>
            <a:off x="178755" y="3767749"/>
            <a:ext cx="8308297" cy="1894643"/>
          </a:xfrm>
          <a:prstGeom prst="rect">
            <a:avLst/>
          </a:prstGeom>
        </p:spPr>
      </p:pic>
      <p:pic>
        <p:nvPicPr>
          <p:cNvPr id="7" name="圖片 6"/>
          <p:cNvPicPr>
            <a:picLocks noChangeAspect="1"/>
          </p:cNvPicPr>
          <p:nvPr/>
        </p:nvPicPr>
        <p:blipFill>
          <a:blip r:embed="rId4"/>
          <a:stretch>
            <a:fillRect/>
          </a:stretch>
        </p:blipFill>
        <p:spPr>
          <a:xfrm>
            <a:off x="1599229" y="5620467"/>
            <a:ext cx="5467350" cy="1028700"/>
          </a:xfrm>
          <a:prstGeom prst="rect">
            <a:avLst/>
          </a:prstGeom>
        </p:spPr>
      </p:pic>
    </p:spTree>
    <p:extLst>
      <p:ext uri="{BB962C8B-B14F-4D97-AF65-F5344CB8AC3E}">
        <p14:creationId xmlns:p14="http://schemas.microsoft.com/office/powerpoint/2010/main" val="24720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939892"/>
          </a:xfrm>
        </p:spPr>
        <p:txBody>
          <a:bodyPr/>
          <a:lstStyle/>
          <a:p>
            <a:r>
              <a:rPr lang="en-US" altLang="zh-TW" dirty="0"/>
              <a:t>Assumption of DTW-D</a:t>
            </a:r>
            <a:endParaRPr lang="zh-TW" altLang="en-US" dirty="0"/>
          </a:p>
        </p:txBody>
      </p:sp>
      <p:sp>
        <p:nvSpPr>
          <p:cNvPr id="3" name="內容版面配置區 2"/>
          <p:cNvSpPr>
            <a:spLocks noGrp="1"/>
          </p:cNvSpPr>
          <p:nvPr>
            <p:ph idx="1"/>
          </p:nvPr>
        </p:nvSpPr>
        <p:spPr>
          <a:xfrm>
            <a:off x="838200" y="1411550"/>
            <a:ext cx="10515600" cy="4765413"/>
          </a:xfrm>
        </p:spPr>
        <p:txBody>
          <a:bodyPr/>
          <a:lstStyle/>
          <a:p>
            <a:r>
              <a:rPr lang="en-US" altLang="zh-TW" b="1" dirty="0"/>
              <a:t>Assumption 1</a:t>
            </a:r>
            <a:r>
              <a:rPr lang="en-US" altLang="zh-TW" dirty="0"/>
              <a:t> : P contain time wrapped version of some platonic ideal (some proto typical shape) possibly with other type of noise.</a:t>
            </a:r>
          </a:p>
          <a:p>
            <a:endParaRPr lang="en-US" altLang="zh-TW" dirty="0"/>
          </a:p>
          <a:p>
            <a:r>
              <a:rPr lang="en-US" altLang="zh-TW" b="1" dirty="0"/>
              <a:t>Assumption 2. </a:t>
            </a:r>
            <a:r>
              <a:rPr lang="en-US" altLang="zh-TW" dirty="0"/>
              <a:t>The negative class may be very distinct, and occasionally by chance produces objects close to a member of the positive class, even under DTW.</a:t>
            </a:r>
            <a:endParaRPr lang="zh-TW" altLang="en-US" dirty="0"/>
          </a:p>
        </p:txBody>
      </p:sp>
    </p:spTree>
    <p:extLst>
      <p:ext uri="{BB962C8B-B14F-4D97-AF65-F5344CB8AC3E}">
        <p14:creationId xmlns:p14="http://schemas.microsoft.com/office/powerpoint/2010/main" val="240462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7" name="內容版面配置區 6"/>
          <p:cNvPicPr>
            <a:picLocks noGrp="1" noChangeAspect="1"/>
          </p:cNvPicPr>
          <p:nvPr>
            <p:ph idx="1"/>
          </p:nvPr>
        </p:nvPicPr>
        <p:blipFill>
          <a:blip r:embed="rId2"/>
          <a:stretch>
            <a:fillRect/>
          </a:stretch>
        </p:blipFill>
        <p:spPr>
          <a:xfrm>
            <a:off x="6407309" y="-114641"/>
            <a:ext cx="5571096" cy="4351338"/>
          </a:xfrm>
          <a:prstGeom prst="rect">
            <a:avLst/>
          </a:prstGeom>
        </p:spPr>
      </p:pic>
      <p:pic>
        <p:nvPicPr>
          <p:cNvPr id="8" name="圖片 7"/>
          <p:cNvPicPr>
            <a:picLocks noChangeAspect="1"/>
          </p:cNvPicPr>
          <p:nvPr/>
        </p:nvPicPr>
        <p:blipFill>
          <a:blip r:embed="rId3"/>
          <a:stretch>
            <a:fillRect/>
          </a:stretch>
        </p:blipFill>
        <p:spPr>
          <a:xfrm>
            <a:off x="408373" y="0"/>
            <a:ext cx="5162979" cy="4122056"/>
          </a:xfrm>
          <a:prstGeom prst="rect">
            <a:avLst/>
          </a:prstGeom>
        </p:spPr>
      </p:pic>
      <p:pic>
        <p:nvPicPr>
          <p:cNvPr id="9" name="圖片 8"/>
          <p:cNvPicPr>
            <a:picLocks noChangeAspect="1"/>
          </p:cNvPicPr>
          <p:nvPr/>
        </p:nvPicPr>
        <p:blipFill>
          <a:blip r:embed="rId4"/>
          <a:stretch>
            <a:fillRect/>
          </a:stretch>
        </p:blipFill>
        <p:spPr>
          <a:xfrm>
            <a:off x="2201662" y="4122056"/>
            <a:ext cx="6877871" cy="2507167"/>
          </a:xfrm>
          <a:prstGeom prst="rect">
            <a:avLst/>
          </a:prstGeom>
        </p:spPr>
      </p:pic>
    </p:spTree>
    <p:extLst>
      <p:ext uri="{BB962C8B-B14F-4D97-AF65-F5344CB8AC3E}">
        <p14:creationId xmlns:p14="http://schemas.microsoft.com/office/powerpoint/2010/main" val="156528367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893</TotalTime>
  <Words>663</Words>
  <Application>Microsoft Office PowerPoint</Application>
  <PresentationFormat>寬螢幕</PresentationFormat>
  <Paragraphs>46</Paragraphs>
  <Slides>9</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新細明體</vt:lpstr>
      <vt:lpstr>Arial</vt:lpstr>
      <vt:lpstr>Calibri</vt:lpstr>
      <vt:lpstr>Calibri Light</vt:lpstr>
      <vt:lpstr>Cambria Math</vt:lpstr>
      <vt:lpstr>Office 佈景主題</vt:lpstr>
      <vt:lpstr>Classification of Time Series Data by One Class Classifier using DTW-D</vt:lpstr>
      <vt:lpstr>Abstract</vt:lpstr>
      <vt:lpstr>dynamic time warping(DTW)</vt:lpstr>
      <vt:lpstr>機器學習</vt:lpstr>
      <vt:lpstr>Positive Unlabeled learning (PU Learning)</vt:lpstr>
      <vt:lpstr>PowerPoint 簡報</vt:lpstr>
      <vt:lpstr>DTW-D(ratio of distance)</vt:lpstr>
      <vt:lpstr>Assumption of DTW-D</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Time Series Data by One Class Classifier using DTW-D</dc:title>
  <dc:creator>andy</dc:creator>
  <cp:lastModifiedBy>pplab-class</cp:lastModifiedBy>
  <cp:revision>13</cp:revision>
  <dcterms:created xsi:type="dcterms:W3CDTF">2016-08-15T03:43:05Z</dcterms:created>
  <dcterms:modified xsi:type="dcterms:W3CDTF">2016-08-23T06:06:51Z</dcterms:modified>
</cp:coreProperties>
</file>