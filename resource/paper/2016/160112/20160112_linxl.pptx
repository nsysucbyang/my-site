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15"/>
  </p:notesMasterIdLst>
  <p:sldIdLst>
    <p:sldId id="257" r:id="rId2"/>
    <p:sldId id="296" r:id="rId3"/>
    <p:sldId id="271" r:id="rId4"/>
    <p:sldId id="327" r:id="rId5"/>
    <p:sldId id="326" r:id="rId6"/>
    <p:sldId id="325" r:id="rId7"/>
    <p:sldId id="331" r:id="rId8"/>
    <p:sldId id="329" r:id="rId9"/>
    <p:sldId id="328" r:id="rId10"/>
    <p:sldId id="330" r:id="rId11"/>
    <p:sldId id="333" r:id="rId12"/>
    <p:sldId id="334" r:id="rId13"/>
    <p:sldId id="335" r:id="rId1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893" autoAdjust="0"/>
  </p:normalViewPr>
  <p:slideViewPr>
    <p:cSldViewPr>
      <p:cViewPr varScale="1">
        <p:scale>
          <a:sx n="79" d="100"/>
          <a:sy n="79" d="100"/>
        </p:scale>
        <p:origin x="282" y="96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606E1A-967B-4702-9100-CA60161C68AD}" type="datetimeFigureOut">
              <a:rPr lang="zh-TW" altLang="en-US" smtClean="0"/>
              <a:t>2016/1/12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5817E-37FB-43A5-9E94-CE25939AB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8443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5817E-37FB-43A5-9E94-CE25939ABA57}" type="slidenum">
              <a:rPr lang="zh-TW" altLang="en-US" smtClean="0"/>
              <a:t>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4007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sz="5000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5817E-37FB-43A5-9E94-CE25939ABA5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3765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80EBB-2157-4ECF-9E55-0F204FEB3AF6}" type="datetime1">
              <a:rPr lang="zh-TW" altLang="en-US" smtClean="0"/>
              <a:t>2016/1/12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2564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2016/1/12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353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409F-200A-4567-8A6A-69B81E278CF2}" type="datetime1">
              <a:rPr lang="zh-TW" altLang="en-US" smtClean="0"/>
              <a:t>2016/1/12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225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BD9F-4146-4CF0-B43F-B959091F727C}" type="datetime1">
              <a:rPr lang="zh-TW" altLang="en-US" smtClean="0"/>
              <a:t>2016/1/12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7654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B3FD-4E5B-4337-A169-11EE3DAF81C2}" type="datetime1">
              <a:rPr lang="zh-TW" altLang="en-US" smtClean="0"/>
              <a:t>2016/1/12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9284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BD923-9E03-430A-83D9-031A06F4BCDC}" type="datetime1">
              <a:rPr lang="zh-TW" altLang="en-US" smtClean="0"/>
              <a:t>2016/1/12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5150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3FF37-7EE5-4C84-A7E5-89F2F466D2B7}" type="datetime1">
              <a:rPr lang="zh-TW" altLang="en-US" smtClean="0"/>
              <a:t>2016/1/12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3421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A73FA-8B46-4221-822F-7DC220028125}" type="datetime1">
              <a:rPr lang="zh-TW" altLang="en-US" smtClean="0"/>
              <a:t>2016/1/12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6560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1403C-021C-43BA-9A0E-0C636802EB5A}" type="datetime1">
              <a:rPr lang="zh-TW" altLang="en-US" smtClean="0"/>
              <a:t>2016/1/12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4717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AA09D-0B44-4B22-9B8F-C6BCEE4FEBC7}" type="datetime1">
              <a:rPr lang="zh-TW" altLang="en-US" smtClean="0"/>
              <a:t>2016/1/12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1037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BA9EF-1DEA-4A2D-B95C-02BFB910A63D}" type="datetime1">
              <a:rPr lang="zh-TW" altLang="en-US" smtClean="0"/>
              <a:t>2016/1/12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3118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87B4E-0407-4317-B90C-F9589BC85B00}" type="datetime1">
              <a:rPr lang="zh-TW" altLang="en-US" smtClean="0"/>
              <a:t>2016/1/12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1674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" y="2130425"/>
            <a:ext cx="9129558" cy="1470025"/>
          </a:xfrm>
        </p:spPr>
        <p:txBody>
          <a:bodyPr>
            <a:normAutofit fontScale="90000"/>
          </a:bodyPr>
          <a:lstStyle/>
          <a:p>
            <a:r>
              <a:rPr lang="zh-TW" alt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zh-TW" alt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/>
              <a:t>A New Approach for Approximating the Transposition Distance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39552" y="3429000"/>
            <a:ext cx="8424936" cy="1512168"/>
          </a:xfrm>
        </p:spPr>
        <p:txBody>
          <a:bodyPr>
            <a:normAutofit/>
          </a:bodyPr>
          <a:lstStyle/>
          <a:p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de-DE" altLang="zh-TW" sz="2800" dirty="0"/>
              <a:t>M. E. M. T. </a:t>
            </a:r>
            <a:r>
              <a:rPr lang="de-DE" altLang="zh-TW" sz="2800" dirty="0" smtClean="0"/>
              <a:t>Walter, </a:t>
            </a:r>
            <a:r>
              <a:rPr lang="en-US" altLang="zh-TW" sz="2800" dirty="0"/>
              <a:t>Z. </a:t>
            </a:r>
            <a:r>
              <a:rPr lang="en-US" altLang="zh-TW" sz="2800" dirty="0" smtClean="0"/>
              <a:t>Dias, </a:t>
            </a:r>
            <a:r>
              <a:rPr lang="en-US" altLang="zh-TW" sz="2800" dirty="0"/>
              <a:t>J. </a:t>
            </a:r>
            <a:r>
              <a:rPr lang="en-US" altLang="zh-TW" sz="2800" dirty="0" err="1"/>
              <a:t>Meidanis</a:t>
            </a:r>
            <a:endParaRPr lang="zh-TW" altLang="en-US" sz="2500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444208" y="6309320"/>
            <a:ext cx="2685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Presenter: </a:t>
            </a:r>
            <a:r>
              <a:rPr lang="en-US" altLang="zh-TW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Shian</a:t>
            </a:r>
            <a:r>
              <a:rPr lang="en-US" altLang="zh-TW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-Liang Lin</a:t>
            </a:r>
            <a:endParaRPr lang="zh-TW" alt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3568" y="4941168"/>
            <a:ext cx="79928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/>
              <a:t>Seventh International Symposium </a:t>
            </a:r>
            <a:r>
              <a:rPr lang="en-US" altLang="zh-TW" sz="2000" dirty="0" smtClean="0"/>
              <a:t>on </a:t>
            </a:r>
            <a:r>
              <a:rPr lang="en-US" altLang="zh-TW" sz="2000" dirty="0" smtClean="0"/>
              <a:t>String </a:t>
            </a:r>
            <a:r>
              <a:rPr lang="en-US" altLang="zh-TW" sz="2000" dirty="0"/>
              <a:t>Processing and Information Retrieval, pp. </a:t>
            </a:r>
            <a:r>
              <a:rPr lang="en-US" altLang="zh-TW" sz="2000" dirty="0" smtClean="0"/>
              <a:t>199-208(2000)</a:t>
            </a:r>
            <a:endParaRPr lang="en-US" altLang="zh-TW" sz="2000" dirty="0"/>
          </a:p>
        </p:txBody>
      </p:sp>
      <p:sp>
        <p:nvSpPr>
          <p:cNvPr id="6" name="日期版面配置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005C5-2A8E-44A6-8CFC-004FFAC5B1E9}" type="datetime1">
              <a:rPr lang="zh-TW" altLang="en-US" smtClean="0"/>
              <a:t>2016/1/12</a:t>
            </a:fld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AAE1-64D2-4F4C-B3D0-6D50C2516661}" type="slidenum">
              <a:rPr lang="zh-TW" altLang="en-US" smtClean="0">
                <a:latin typeface="Times New Roman" pitchFamily="18" charset="0"/>
                <a:cs typeface="Times New Roman" pitchFamily="18" charset="0"/>
              </a:rPr>
              <a:t>0</a:t>
            </a:fld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216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124744"/>
            <a:ext cx="9144000" cy="573325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dirty="0" smtClean="0"/>
              <a:t>	</a:t>
            </a:r>
            <a:r>
              <a:rPr lang="en-US" altLang="zh-TW" sz="2800" dirty="0"/>
              <a:t>One of the proposed ways to compare genomes or </a:t>
            </a:r>
            <a:r>
              <a:rPr lang="en-US" altLang="zh-TW" sz="2800" dirty="0" smtClean="0"/>
              <a:t>other large </a:t>
            </a:r>
            <a:r>
              <a:rPr lang="en-US" altLang="zh-TW" sz="2800" dirty="0"/>
              <a:t>DNA molecules is by computing a rearrangement </a:t>
            </a:r>
            <a:r>
              <a:rPr lang="en-US" altLang="zh-TW" sz="2800" dirty="0" smtClean="0"/>
              <a:t>distance, defined </a:t>
            </a:r>
            <a:r>
              <a:rPr lang="en-US" altLang="zh-TW" sz="2800" dirty="0"/>
              <a:t>as the minimum number of </a:t>
            </a:r>
            <a:r>
              <a:rPr lang="en-US" altLang="zh-TW" sz="2800" dirty="0" smtClean="0"/>
              <a:t>rearrangement events </a:t>
            </a:r>
            <a:r>
              <a:rPr lang="en-US" altLang="zh-TW" sz="2800" dirty="0"/>
              <a:t>necessary to transform one molecule into </a:t>
            </a:r>
            <a:r>
              <a:rPr lang="en-US" altLang="zh-TW" sz="2800" dirty="0" smtClean="0"/>
              <a:t>another, taking </a:t>
            </a:r>
            <a:r>
              <a:rPr lang="en-US" altLang="zh-TW" sz="2800" dirty="0"/>
              <a:t>into account only the relative order of similar genes.</a:t>
            </a:r>
          </a:p>
          <a:p>
            <a:pPr marL="0" indent="0">
              <a:buNone/>
            </a:pPr>
            <a:r>
              <a:rPr lang="en-US" altLang="zh-TW" sz="2800" dirty="0" smtClean="0"/>
              <a:t>	In </a:t>
            </a:r>
            <a:r>
              <a:rPr lang="en-US" altLang="zh-TW" sz="2800" dirty="0"/>
              <a:t>this work we study the problem of computing the </a:t>
            </a:r>
            <a:r>
              <a:rPr lang="en-US" altLang="zh-TW" sz="2800" dirty="0" smtClean="0"/>
              <a:t>transposition distance </a:t>
            </a:r>
            <a:r>
              <a:rPr lang="en-US" altLang="zh-TW" sz="2800" dirty="0"/>
              <a:t>between two linear gene orders, </a:t>
            </a:r>
            <a:r>
              <a:rPr lang="en-US" altLang="zh-TW" sz="2800" dirty="0" smtClean="0"/>
              <a:t>represented by </a:t>
            </a:r>
            <a:r>
              <a:rPr lang="en-US" altLang="zh-TW" sz="2800" dirty="0"/>
              <a:t>permutations. To help solve it, we present </a:t>
            </a:r>
            <a:r>
              <a:rPr lang="en-US" altLang="zh-TW" sz="2800" dirty="0" smtClean="0"/>
              <a:t>a very </a:t>
            </a:r>
            <a:r>
              <a:rPr lang="en-US" altLang="zh-TW" sz="2800" dirty="0"/>
              <a:t>simple structure, the breakpoint diagram, and a </a:t>
            </a:r>
            <a:r>
              <a:rPr lang="en-US" altLang="zh-TW" sz="2800" dirty="0" smtClean="0"/>
              <a:t>2.25-approximation </a:t>
            </a:r>
            <a:r>
              <a:rPr lang="en-US" altLang="zh-TW" sz="2800" dirty="0"/>
              <a:t>algorithm for the problem based on </a:t>
            </a:r>
            <a:r>
              <a:rPr lang="en-US" altLang="zh-TW" sz="2800" dirty="0" smtClean="0"/>
              <a:t>this structure</a:t>
            </a:r>
            <a:r>
              <a:rPr lang="en-US" altLang="zh-TW" sz="2800" dirty="0"/>
              <a:t>. While there are better approximation </a:t>
            </a:r>
            <a:r>
              <a:rPr lang="en-US" altLang="zh-TW" sz="2800" dirty="0" smtClean="0"/>
              <a:t>algorithms, they </a:t>
            </a:r>
            <a:r>
              <a:rPr lang="en-US" altLang="zh-TW" sz="2800" dirty="0"/>
              <a:t>are based on more complex data structures. Our </a:t>
            </a:r>
            <a:r>
              <a:rPr lang="en-US" altLang="zh-TW" sz="2800" dirty="0" smtClean="0"/>
              <a:t>algorithm was </a:t>
            </a:r>
            <a:r>
              <a:rPr lang="en-US" altLang="zh-TW" sz="2800" dirty="0"/>
              <a:t>implemented in the C programming </a:t>
            </a:r>
            <a:r>
              <a:rPr lang="en-US" altLang="zh-TW" sz="2800" dirty="0" smtClean="0"/>
              <a:t>language and </a:t>
            </a:r>
            <a:r>
              <a:rPr lang="en-US" altLang="zh-TW" sz="2800" dirty="0"/>
              <a:t>we show experimental results obtained with it on </a:t>
            </a:r>
            <a:r>
              <a:rPr lang="en-US" altLang="zh-TW" sz="2800" dirty="0" smtClean="0"/>
              <a:t>all permutations </a:t>
            </a:r>
            <a:r>
              <a:rPr lang="en-US" altLang="zh-TW" sz="2800" dirty="0"/>
              <a:t>of up to 11 genes, plus selected </a:t>
            </a:r>
            <a:r>
              <a:rPr lang="en-US" altLang="zh-TW" sz="2800" dirty="0" smtClean="0"/>
              <a:t>permutations of </a:t>
            </a:r>
            <a:r>
              <a:rPr lang="en-US" altLang="zh-TW" sz="2800" dirty="0"/>
              <a:t>higher size.</a:t>
            </a:r>
            <a:endParaRPr lang="en-US" altLang="zh-TW" sz="380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2016/1/12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560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Transposition over </a:t>
            </a:r>
            <a:r>
              <a:rPr lang="en-US" altLang="zh-TW" dirty="0" smtClean="0"/>
              <a:t>permutations</a:t>
            </a:r>
            <a:endParaRPr lang="zh-TW" altLang="en-US" dirty="0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400036"/>
              </p:ext>
            </p:extLst>
          </p:nvPr>
        </p:nvGraphicFramePr>
        <p:xfrm>
          <a:off x="2051720" y="2943984"/>
          <a:ext cx="604867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/>
                <a:gridCol w="864096"/>
                <a:gridCol w="864096"/>
                <a:gridCol w="864096"/>
                <a:gridCol w="864096"/>
                <a:gridCol w="864096"/>
                <a:gridCol w="864096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S’: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 smtClean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zh-TW" altLang="en-US" sz="20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 smtClean="0">
                          <a:solidFill>
                            <a:srgbClr val="00B050"/>
                          </a:solidFill>
                        </a:rPr>
                        <a:t>4</a:t>
                      </a:r>
                      <a:endParaRPr lang="zh-TW" altLang="en-US" sz="2000" u="sng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 smtClean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zh-TW" altLang="en-US" sz="2000" u="sng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2016/1/12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2</a:t>
            </a:fld>
            <a:endParaRPr lang="zh-TW" altLang="en-US" dirty="0"/>
          </a:p>
        </p:txBody>
      </p:sp>
      <p:graphicFrame>
        <p:nvGraphicFramePr>
          <p:cNvPr id="8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0914530"/>
              </p:ext>
            </p:extLst>
          </p:nvPr>
        </p:nvGraphicFramePr>
        <p:xfrm>
          <a:off x="2123727" y="4581128"/>
          <a:ext cx="6048672" cy="7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/>
                <a:gridCol w="864096"/>
                <a:gridCol w="864096"/>
                <a:gridCol w="864096"/>
                <a:gridCol w="864096"/>
                <a:gridCol w="864096"/>
                <a:gridCol w="864096"/>
              </a:tblGrid>
              <a:tr h="7200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T: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21" name="矩形 20"/>
          <p:cNvSpPr/>
          <p:nvPr/>
        </p:nvSpPr>
        <p:spPr>
          <a:xfrm>
            <a:off x="3203848" y="5634764"/>
            <a:ext cx="3995936" cy="8185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Transposition distance</a:t>
            </a:r>
          </a:p>
          <a:p>
            <a:pPr algn="ctr"/>
            <a:r>
              <a:rPr lang="en-US" altLang="zh-TW" dirty="0" smtClean="0"/>
              <a:t>(</a:t>
            </a:r>
            <a:r>
              <a:rPr lang="en-US" altLang="zh-TW" dirty="0"/>
              <a:t>t</a:t>
            </a:r>
            <a:r>
              <a:rPr lang="en-US" altLang="zh-TW" dirty="0" smtClean="0"/>
              <a:t>he </a:t>
            </a:r>
            <a:r>
              <a:rPr lang="en-US" altLang="zh-TW" dirty="0"/>
              <a:t>minimum number </a:t>
            </a:r>
            <a:r>
              <a:rPr lang="en-US" altLang="zh-TW" dirty="0" smtClean="0"/>
              <a:t>of transpositions) </a:t>
            </a:r>
          </a:p>
          <a:p>
            <a:pPr algn="ctr"/>
            <a:r>
              <a:rPr lang="en-US" altLang="zh-TW" dirty="0" smtClean="0"/>
              <a:t>=</a:t>
            </a:r>
            <a:r>
              <a:rPr lang="en-US" altLang="zh-TW" dirty="0">
                <a:solidFill>
                  <a:srgbClr val="FF0000"/>
                </a:solidFill>
              </a:rPr>
              <a:t>2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5" name="向下箭號 24"/>
          <p:cNvSpPr/>
          <p:nvPr/>
        </p:nvSpPr>
        <p:spPr>
          <a:xfrm>
            <a:off x="5436096" y="3789040"/>
            <a:ext cx="360040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3059832" y="3738043"/>
                <a:ext cx="3510136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 smtClean="0"/>
                        <m:t>Transposition</m:t>
                      </m:r>
                    </m:oMath>
                  </m:oMathPara>
                </a14:m>
                <a:endParaRPr lang="en-US" altLang="zh-TW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dirty="0">
                          <a:latin typeface="Cambria Math"/>
                        </a:rPr>
                        <m:t>[</m:t>
                      </m:r>
                      <m:r>
                        <a:rPr lang="en-US" altLang="zh-TW" b="1" i="1" dirty="0" smtClean="0">
                          <a:latin typeface="Cambria Math"/>
                        </a:rPr>
                        <m:t>𝟐</m:t>
                      </m:r>
                      <m:r>
                        <a:rPr lang="en-US" altLang="zh-TW" i="1" dirty="0">
                          <a:latin typeface="Cambria Math"/>
                        </a:rPr>
                        <m:t>,</m:t>
                      </m:r>
                      <m:r>
                        <a:rPr lang="en-US" altLang="zh-TW" b="1" i="1" dirty="0">
                          <a:latin typeface="Cambria Math"/>
                        </a:rPr>
                        <m:t>𝟑</m:t>
                      </m:r>
                      <m:r>
                        <a:rPr lang="en-US" altLang="zh-TW" b="1" i="1" dirty="0">
                          <a:latin typeface="Cambria Math"/>
                        </a:rPr>
                        <m:t>,</m:t>
                      </m:r>
                      <m:r>
                        <a:rPr lang="en-US" altLang="zh-TW" b="1" i="1" dirty="0">
                          <a:latin typeface="Cambria Math"/>
                        </a:rPr>
                        <m:t>𝟓</m:t>
                      </m:r>
                      <m:r>
                        <a:rPr lang="en-US" altLang="zh-TW" i="1" dirty="0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3738043"/>
                <a:ext cx="3510136" cy="646331"/>
              </a:xfrm>
              <a:prstGeom prst="rect">
                <a:avLst/>
              </a:prstGeom>
              <a:blipFill rotWithShape="1">
                <a:blip r:embed="rId2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7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1607780"/>
              </p:ext>
            </p:extLst>
          </p:nvPr>
        </p:nvGraphicFramePr>
        <p:xfrm>
          <a:off x="2051720" y="1196752"/>
          <a:ext cx="604867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/>
                <a:gridCol w="864096"/>
                <a:gridCol w="864096"/>
                <a:gridCol w="864096"/>
                <a:gridCol w="864096"/>
                <a:gridCol w="864096"/>
                <a:gridCol w="864096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S: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B05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70C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28" name="向下箭號 27"/>
          <p:cNvSpPr/>
          <p:nvPr/>
        </p:nvSpPr>
        <p:spPr>
          <a:xfrm>
            <a:off x="5364088" y="2111845"/>
            <a:ext cx="360040" cy="7200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2987824" y="2060848"/>
                <a:ext cx="3510136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dirty="0"/>
                        <m:t>Transposition</m:t>
                      </m:r>
                    </m:oMath>
                  </m:oMathPara>
                </a14:m>
                <a:endParaRPr lang="en-US" altLang="zh-TW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/>
                        </a:rPr>
                        <m:t>[</m:t>
                      </m:r>
                      <m:r>
                        <a:rPr lang="en-US" altLang="zh-TW" b="1" i="1" dirty="0">
                          <a:latin typeface="Cambria Math"/>
                        </a:rPr>
                        <m:t>𝟏</m:t>
                      </m:r>
                      <m:r>
                        <a:rPr lang="en-US" altLang="zh-TW" i="1" dirty="0">
                          <a:latin typeface="Cambria Math"/>
                        </a:rPr>
                        <m:t>,</m:t>
                      </m:r>
                      <m:r>
                        <a:rPr lang="en-US" altLang="zh-TW" b="1" i="1" dirty="0">
                          <a:latin typeface="Cambria Math"/>
                        </a:rPr>
                        <m:t>𝟑</m:t>
                      </m:r>
                      <m:r>
                        <a:rPr lang="en-US" altLang="zh-TW" b="1" i="1" dirty="0">
                          <a:latin typeface="Cambria Math"/>
                        </a:rPr>
                        <m:t>,</m:t>
                      </m:r>
                      <m:r>
                        <a:rPr lang="en-US" altLang="zh-TW" b="1" i="1" dirty="0">
                          <a:latin typeface="Cambria Math"/>
                        </a:rPr>
                        <m:t>𝟓</m:t>
                      </m:r>
                      <m:r>
                        <a:rPr lang="en-US" altLang="zh-TW" i="1" dirty="0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4" y="2060848"/>
                <a:ext cx="3510136" cy="646331"/>
              </a:xfrm>
              <a:prstGeom prst="rect">
                <a:avLst/>
              </a:prstGeom>
              <a:blipFill rotWithShape="1">
                <a:blip r:embed="rId3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541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Definition of breakpoint </a:t>
            </a:r>
            <a:br>
              <a:rPr lang="en-US" altLang="zh-TW" dirty="0" smtClean="0"/>
            </a:br>
            <a:r>
              <a:rPr lang="en-US" altLang="zh-TW" dirty="0" smtClean="0"/>
              <a:t>for transpositions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686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A </a:t>
                </a:r>
                <a:r>
                  <a:rPr lang="en-US" altLang="zh-TW" dirty="0"/>
                  <a:t>pair of </a:t>
                </a:r>
                <a:r>
                  <a:rPr lang="en-US" altLang="zh-TW" dirty="0" smtClean="0"/>
                  <a:t>adjacent elements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b="0" i="0" dirty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US" altLang="zh-TW" b="0" i="0" baseline="-25000" dirty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altLang="zh-TW" b="0" i="0" baseline="-25000" dirty="0" smtClean="0">
                        <a:latin typeface="Cambria Math" panose="02040503050406030204" pitchFamily="18" charset="0"/>
                      </a:rPr>
                      <m:t>+1−</m:t>
                    </m:r>
                    <m:r>
                      <m:rPr>
                        <m:sty m:val="p"/>
                      </m:rPr>
                      <a:rPr lang="zh-TW" altLang="en-US" b="0" i="0" dirty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US" altLang="zh-TW" b="0" i="0" baseline="-25000" dirty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altLang="zh-TW" b="0" i="0" dirty="0" smtClean="0">
                        <a:latin typeface="Cambria Math" panose="02040503050406030204" pitchFamily="18" charset="0"/>
                        <a:ea typeface="Cambria Math"/>
                      </a:rPr>
                      <m:t>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/>
                      </a:rPr>
                      <m:t>1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r>
                      <a:rPr lang="nn-NO" altLang="zh-TW" i="1" dirty="0" smtClean="0">
                        <a:latin typeface="Cambria Math"/>
                      </a:rPr>
                      <m:t>0</m:t>
                    </m:r>
                    <m:r>
                      <a:rPr lang="nn-NO" altLang="zh-TW" i="1" dirty="0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altLang="zh-TW" b="0" i="1" dirty="0" smtClean="0">
                        <a:latin typeface="Cambria Math"/>
                        <a:ea typeface="Cambria Math"/>
                      </a:rPr>
                      <m:t>𝑖</m:t>
                    </m:r>
                    <m:r>
                      <a:rPr lang="nn-NO" altLang="zh-TW" i="1" dirty="0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nn-NO" altLang="zh-TW" i="1" dirty="0" smtClean="0">
                        <a:latin typeface="Cambria Math"/>
                      </a:rPr>
                      <m:t> </m:t>
                    </m:r>
                    <m:r>
                      <a:rPr lang="nn-NO" altLang="zh-TW" i="1" dirty="0">
                        <a:latin typeface="Cambria Math"/>
                      </a:rPr>
                      <m:t>𝑛</m:t>
                    </m:r>
                    <m:r>
                      <a:rPr lang="en-US" altLang="zh-TW" b="0" i="1" dirty="0" smtClean="0">
                        <a:latin typeface="Cambria Math"/>
                      </a:rPr>
                      <m:t>)</m:t>
                    </m:r>
                    <m:r>
                      <a:rPr lang="nn-NO" altLang="zh-TW" i="1" dirty="0">
                        <a:latin typeface="Cambria Math"/>
                      </a:rPr>
                      <m:t>.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686800" cy="4525963"/>
              </a:xfrm>
              <a:blipFill rotWithShape="1">
                <a:blip r:embed="rId2"/>
                <a:stretch>
                  <a:fillRect l="-1754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2016/1/12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3</a:t>
            </a:fld>
            <a:endParaRPr lang="zh-TW" altLang="en-US"/>
          </a:p>
        </p:txBody>
      </p:sp>
      <p:graphicFrame>
        <p:nvGraphicFramePr>
          <p:cNvPr id="6" name="內容版面配置區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6383190"/>
              </p:ext>
            </p:extLst>
          </p:nvPr>
        </p:nvGraphicFramePr>
        <p:xfrm>
          <a:off x="1259632" y="3789040"/>
          <a:ext cx="604867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/>
                <a:gridCol w="864096"/>
                <a:gridCol w="864096"/>
                <a:gridCol w="864096"/>
                <a:gridCol w="864096"/>
                <a:gridCol w="864096"/>
                <a:gridCol w="864096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S: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2915816" y="3501008"/>
            <a:ext cx="144016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3795190" y="3501008"/>
            <a:ext cx="144016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508104" y="3501008"/>
            <a:ext cx="144016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6372200" y="3501008"/>
            <a:ext cx="144016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4680012" y="3501008"/>
            <a:ext cx="144016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單箭頭接點 12"/>
          <p:cNvCxnSpPr>
            <a:stCxn id="8" idx="2"/>
          </p:cNvCxnSpPr>
          <p:nvPr/>
        </p:nvCxnSpPr>
        <p:spPr>
          <a:xfrm>
            <a:off x="3867198" y="4869160"/>
            <a:ext cx="1280866" cy="10801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>
            <a:stCxn id="11" idx="2"/>
          </p:cNvCxnSpPr>
          <p:nvPr/>
        </p:nvCxnSpPr>
        <p:spPr>
          <a:xfrm>
            <a:off x="4752020" y="4869160"/>
            <a:ext cx="548444" cy="12325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9" idx="2"/>
          </p:cNvCxnSpPr>
          <p:nvPr/>
        </p:nvCxnSpPr>
        <p:spPr>
          <a:xfrm flipH="1">
            <a:off x="5452864" y="4869160"/>
            <a:ext cx="127248" cy="13849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stCxn id="10" idx="2"/>
          </p:cNvCxnSpPr>
          <p:nvPr/>
        </p:nvCxnSpPr>
        <p:spPr>
          <a:xfrm flipH="1">
            <a:off x="5605264" y="4869160"/>
            <a:ext cx="838944" cy="15373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7" idx="2"/>
          </p:cNvCxnSpPr>
          <p:nvPr/>
        </p:nvCxnSpPr>
        <p:spPr>
          <a:xfrm>
            <a:off x="2987824" y="4869160"/>
            <a:ext cx="2160240" cy="12325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4828786" y="5626576"/>
            <a:ext cx="3995936" cy="8185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Breakpoints</a:t>
            </a:r>
          </a:p>
        </p:txBody>
      </p:sp>
    </p:spTree>
    <p:extLst>
      <p:ext uri="{BB962C8B-B14F-4D97-AF65-F5344CB8AC3E}">
        <p14:creationId xmlns:p14="http://schemas.microsoft.com/office/powerpoint/2010/main" val="3060602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B</a:t>
            </a:r>
            <a:r>
              <a:rPr lang="en-US" altLang="zh-TW" dirty="0" smtClean="0"/>
              <a:t>reakpoints </a:t>
            </a:r>
            <a:r>
              <a:rPr lang="en-US" altLang="zh-TW" dirty="0"/>
              <a:t>diagram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0" y="6568204"/>
            <a:ext cx="2133600" cy="365125"/>
          </a:xfrm>
        </p:spPr>
        <p:txBody>
          <a:bodyPr/>
          <a:lstStyle/>
          <a:p>
            <a:fld id="{FDA6F2F8-4E5A-451C-B860-2FDE33397CD1}" type="datetime1">
              <a:rPr lang="zh-TW" altLang="en-US" smtClean="0"/>
              <a:t>2016/1/12</a:t>
            </a:fld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4</a:t>
            </a:fld>
            <a:endParaRPr lang="zh-TW" altLang="en-US" dirty="0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4155026"/>
              </p:ext>
            </p:extLst>
          </p:nvPr>
        </p:nvGraphicFramePr>
        <p:xfrm>
          <a:off x="1475656" y="1556792"/>
          <a:ext cx="604867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/>
                <a:gridCol w="864096"/>
                <a:gridCol w="864096"/>
                <a:gridCol w="864096"/>
                <a:gridCol w="864096"/>
                <a:gridCol w="864096"/>
                <a:gridCol w="864096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S: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B05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B05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70C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70C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3059832" y="1268760"/>
            <a:ext cx="144016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向下箭號 12"/>
          <p:cNvSpPr/>
          <p:nvPr/>
        </p:nvSpPr>
        <p:spPr>
          <a:xfrm>
            <a:off x="4211960" y="2996952"/>
            <a:ext cx="576064" cy="1152128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6" name="群組 35"/>
          <p:cNvGrpSpPr/>
          <p:nvPr/>
        </p:nvGrpSpPr>
        <p:grpSpPr>
          <a:xfrm>
            <a:off x="1229978" y="4502770"/>
            <a:ext cx="6552728" cy="876796"/>
            <a:chOff x="1698030" y="4502770"/>
            <a:chExt cx="6552728" cy="876796"/>
          </a:xfrm>
        </p:grpSpPr>
        <p:sp>
          <p:nvSpPr>
            <p:cNvPr id="14" name="橢圓 13"/>
            <p:cNvSpPr/>
            <p:nvPr/>
          </p:nvSpPr>
          <p:spPr>
            <a:xfrm>
              <a:off x="2663788" y="4509120"/>
              <a:ext cx="936104" cy="86409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000" dirty="0" smtClean="0">
                  <a:solidFill>
                    <a:schemeClr val="bg1"/>
                  </a:solidFill>
                </a:rPr>
                <a:t>4,</a:t>
              </a:r>
              <a:r>
                <a:rPr lang="en-US" altLang="zh-TW" sz="3000" dirty="0">
                  <a:solidFill>
                    <a:schemeClr val="bg1"/>
                  </a:solidFill>
                </a:rPr>
                <a:t>2</a:t>
              </a:r>
              <a:endParaRPr lang="zh-TW" altLang="en-US" sz="3000" dirty="0">
                <a:solidFill>
                  <a:schemeClr val="bg1"/>
                </a:solidFill>
              </a:endParaRPr>
            </a:p>
          </p:txBody>
        </p:sp>
        <p:sp>
          <p:nvSpPr>
            <p:cNvPr id="15" name="橢圓 14"/>
            <p:cNvSpPr/>
            <p:nvPr/>
          </p:nvSpPr>
          <p:spPr>
            <a:xfrm>
              <a:off x="4499992" y="4509120"/>
              <a:ext cx="936104" cy="86409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000" dirty="0">
                  <a:solidFill>
                    <a:schemeClr val="bg1"/>
                  </a:solidFill>
                </a:rPr>
                <a:t>2</a:t>
              </a:r>
              <a:r>
                <a:rPr lang="en-US" altLang="zh-TW" sz="3000" dirty="0" smtClean="0">
                  <a:solidFill>
                    <a:schemeClr val="bg1"/>
                  </a:solidFill>
                </a:rPr>
                <a:t>,</a:t>
              </a:r>
              <a:r>
                <a:rPr lang="en-US" altLang="zh-TW" sz="3000" dirty="0" smtClean="0">
                  <a:solidFill>
                    <a:schemeClr val="tx1"/>
                  </a:solidFill>
                </a:rPr>
                <a:t>1</a:t>
              </a:r>
              <a:endParaRPr lang="zh-TW" altLang="en-US" sz="3000" dirty="0">
                <a:solidFill>
                  <a:schemeClr val="tx1"/>
                </a:solidFill>
              </a:endParaRPr>
            </a:p>
          </p:txBody>
        </p:sp>
        <p:sp>
          <p:nvSpPr>
            <p:cNvPr id="16" name="橢圓 15"/>
            <p:cNvSpPr/>
            <p:nvPr/>
          </p:nvSpPr>
          <p:spPr>
            <a:xfrm>
              <a:off x="6300192" y="4509120"/>
              <a:ext cx="936104" cy="86409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000" dirty="0" smtClean="0">
                  <a:solidFill>
                    <a:schemeClr val="bg1"/>
                  </a:solidFill>
                </a:rPr>
                <a:t>1,</a:t>
              </a:r>
              <a:r>
                <a:rPr lang="en-US" altLang="zh-TW" sz="3000" dirty="0">
                  <a:solidFill>
                    <a:schemeClr val="bg1"/>
                  </a:solidFill>
                </a:rPr>
                <a:t>3</a:t>
              </a:r>
              <a:endParaRPr lang="zh-TW" altLang="en-US" sz="3000" dirty="0">
                <a:solidFill>
                  <a:schemeClr val="bg1"/>
                </a:solidFill>
              </a:endParaRPr>
            </a:p>
          </p:txBody>
        </p:sp>
        <p:cxnSp>
          <p:nvCxnSpPr>
            <p:cNvPr id="18" name="弧形接點 17"/>
            <p:cNvCxnSpPr>
              <a:stCxn id="21" idx="0"/>
              <a:endCxn id="15" idx="0"/>
            </p:cNvCxnSpPr>
            <p:nvPr/>
          </p:nvCxnSpPr>
          <p:spPr>
            <a:xfrm rot="5400000" flipH="1" flipV="1">
              <a:off x="3329862" y="2870938"/>
              <a:ext cx="12700" cy="3276364"/>
            </a:xfrm>
            <a:prstGeom prst="curvedConnector3">
              <a:avLst>
                <a:gd name="adj1" fmla="val 5446748"/>
              </a:avLst>
            </a:prstGeom>
            <a:ln w="57150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弧形接點 27"/>
            <p:cNvCxnSpPr>
              <a:stCxn id="21" idx="4"/>
              <a:endCxn id="22" idx="4"/>
            </p:cNvCxnSpPr>
            <p:nvPr/>
          </p:nvCxnSpPr>
          <p:spPr>
            <a:xfrm rot="16200000" flipH="1">
              <a:off x="4968044" y="2096852"/>
              <a:ext cx="12700" cy="6552728"/>
            </a:xfrm>
            <a:prstGeom prst="curvedConnector3">
              <a:avLst>
                <a:gd name="adj1" fmla="val 4979220"/>
              </a:avLst>
            </a:prstGeom>
            <a:ln w="57150">
              <a:prstDash val="sys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矩形 36"/>
          <p:cNvSpPr/>
          <p:nvPr/>
        </p:nvSpPr>
        <p:spPr>
          <a:xfrm>
            <a:off x="5052905" y="2996952"/>
            <a:ext cx="3995936" cy="8185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-2-transposition</a:t>
            </a:r>
          </a:p>
        </p:txBody>
      </p:sp>
      <p:sp>
        <p:nvSpPr>
          <p:cNvPr id="19" name="矩形 18"/>
          <p:cNvSpPr/>
          <p:nvPr/>
        </p:nvSpPr>
        <p:spPr>
          <a:xfrm>
            <a:off x="6588224" y="1268760"/>
            <a:ext cx="144016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4896036" y="1268760"/>
            <a:ext cx="144016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755576" y="4509120"/>
            <a:ext cx="936104" cy="864096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dirty="0" smtClean="0">
                <a:solidFill>
                  <a:schemeClr val="tx1"/>
                </a:solidFill>
              </a:rPr>
              <a:t>0</a:t>
            </a:r>
            <a:r>
              <a:rPr lang="en-US" altLang="zh-TW" sz="3000" dirty="0" smtClean="0">
                <a:solidFill>
                  <a:schemeClr val="bg1"/>
                </a:solidFill>
              </a:rPr>
              <a:t>,</a:t>
            </a:r>
            <a:r>
              <a:rPr lang="en-US" altLang="zh-TW" sz="3000" dirty="0">
                <a:solidFill>
                  <a:schemeClr val="accent1"/>
                </a:solidFill>
              </a:rPr>
              <a:t>4</a:t>
            </a:r>
            <a:endParaRPr lang="zh-TW" altLang="en-US" sz="3000" dirty="0">
              <a:solidFill>
                <a:schemeClr val="accent1"/>
              </a:solidFill>
            </a:endParaRPr>
          </a:p>
        </p:txBody>
      </p:sp>
      <p:sp>
        <p:nvSpPr>
          <p:cNvPr id="22" name="橢圓 21"/>
          <p:cNvSpPr/>
          <p:nvPr/>
        </p:nvSpPr>
        <p:spPr>
          <a:xfrm>
            <a:off x="7308304" y="4509120"/>
            <a:ext cx="936104" cy="864096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dirty="0">
                <a:solidFill>
                  <a:schemeClr val="accent1"/>
                </a:solidFill>
              </a:rPr>
              <a:t>3</a:t>
            </a:r>
            <a:r>
              <a:rPr lang="en-US" altLang="zh-TW" sz="3000" dirty="0" smtClean="0">
                <a:solidFill>
                  <a:schemeClr val="bg1"/>
                </a:solidFill>
              </a:rPr>
              <a:t>,5</a:t>
            </a:r>
            <a:endParaRPr lang="zh-TW" altLang="en-US" sz="3000" dirty="0">
              <a:solidFill>
                <a:schemeClr val="bg1"/>
              </a:solidFill>
            </a:endParaRPr>
          </a:p>
        </p:txBody>
      </p:sp>
      <p:grpSp>
        <p:nvGrpSpPr>
          <p:cNvPr id="34" name="群組 33"/>
          <p:cNvGrpSpPr/>
          <p:nvPr/>
        </p:nvGrpSpPr>
        <p:grpSpPr>
          <a:xfrm>
            <a:off x="179512" y="6021288"/>
            <a:ext cx="5785585" cy="720080"/>
            <a:chOff x="179512" y="6021288"/>
            <a:chExt cx="5785585" cy="72008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矩形 25"/>
                <p:cNvSpPr/>
                <p:nvPr/>
              </p:nvSpPr>
              <p:spPr>
                <a:xfrm>
                  <a:off x="185566" y="6021288"/>
                  <a:ext cx="577953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altLang="zh-TW" i="1" dirty="0" smtClean="0">
                            <a:latin typeface="Cambria Math"/>
                          </a:rPr>
                          <m:t>𝐴𝑛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𝑒𝑑𝑔𝑒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𝑝𝑖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        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 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𝑝𝑗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  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𝑤h𝑒𝑛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𝑠𝑖</m:t>
                        </m:r>
                        <m:r>
                          <a:rPr lang="pt-BR" altLang="zh-TW" i="1" baseline="-25000" dirty="0" smtClean="0">
                            <a:latin typeface="Cambria Math"/>
                          </a:rPr>
                          <m:t>−1−</m:t>
                        </m:r>
                        <m:r>
                          <a:rPr lang="pt-BR" altLang="zh-TW" i="1" dirty="0">
                            <a:latin typeface="Cambria Math"/>
                          </a:rPr>
                          <m:t>𝑠</m:t>
                        </m:r>
                        <m:r>
                          <a:rPr lang="pt-BR" altLang="zh-TW" i="1" baseline="-25000" dirty="0">
                            <a:latin typeface="Cambria Math"/>
                          </a:rPr>
                          <m:t>𝑗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=1 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𝑎𝑛𝑑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   </m:t>
                        </m:r>
                        <m:r>
                          <a:rPr lang="pt-BR" altLang="zh-TW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pt-BR" altLang="zh-TW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zh-TW" b="0" i="0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1 </m:t>
                        </m:r>
                        <m:r>
                          <m:rPr>
                            <m:nor/>
                          </m:rPr>
                          <a:rPr lang="zh-TW" altLang="en-US">
                            <a:solidFill>
                              <a:srgbClr val="FF0000"/>
                            </a:solidFill>
                          </a:rPr>
                          <m:t>∉</m:t>
                        </m:r>
                        <m:r>
                          <a:rPr lang="pt-BR" altLang="zh-TW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𝑠</m:t>
                        </m:r>
                        <m:r>
                          <a:rPr lang="pt-BR" altLang="zh-TW" i="1" baseline="-25000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𝑗</m:t>
                        </m:r>
                        <m:r>
                          <a:rPr lang="pt-BR" altLang="zh-TW" i="1" baseline="-25000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 .</m:t>
                        </m:r>
                      </m:oMath>
                    </m:oMathPara>
                  </a14:m>
                  <a:endParaRPr lang="zh-TW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6" name="矩形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566" y="6021288"/>
                  <a:ext cx="5779531" cy="369332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弧形接點 29"/>
            <p:cNvCxnSpPr/>
            <p:nvPr/>
          </p:nvCxnSpPr>
          <p:spPr>
            <a:xfrm>
              <a:off x="1440009" y="6220163"/>
              <a:ext cx="503342" cy="12700"/>
            </a:xfrm>
            <a:prstGeom prst="curvedConnector3">
              <a:avLst>
                <a:gd name="adj1" fmla="val 50000"/>
              </a:avLst>
            </a:prstGeom>
            <a:ln w="57150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矩形 31"/>
                <p:cNvSpPr/>
                <p:nvPr/>
              </p:nvSpPr>
              <p:spPr>
                <a:xfrm>
                  <a:off x="179512" y="6372036"/>
                  <a:ext cx="434958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altLang="zh-TW" i="1" dirty="0" smtClean="0">
                            <a:latin typeface="Cambria Math"/>
                          </a:rPr>
                          <m:t>𝐴𝑛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𝑒𝑑𝑔𝑒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𝑝𝑖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        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 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𝑝𝑗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  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𝑤h𝑒𝑛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𝑠𝑗</m:t>
                        </m:r>
                        <m:r>
                          <a:rPr lang="pt-BR" altLang="zh-TW" i="1" baseline="-25000" dirty="0" smtClean="0">
                            <a:latin typeface="Cambria Math"/>
                          </a:rPr>
                          <m:t>−1−</m:t>
                        </m:r>
                        <m:r>
                          <a:rPr lang="pt-BR" altLang="zh-TW" i="1" dirty="0">
                            <a:latin typeface="Cambria Math"/>
                          </a:rPr>
                          <m:t>𝑠</m:t>
                        </m:r>
                        <m:r>
                          <a:rPr lang="en-US" altLang="zh-TW" b="0" i="1" baseline="-25000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=1.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32" name="矩形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512" y="6372036"/>
                  <a:ext cx="4349588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弧形接點 32"/>
            <p:cNvCxnSpPr/>
            <p:nvPr/>
          </p:nvCxnSpPr>
          <p:spPr>
            <a:xfrm>
              <a:off x="1422398" y="6584652"/>
              <a:ext cx="520953" cy="12700"/>
            </a:xfrm>
            <a:prstGeom prst="curvedConnector3">
              <a:avLst>
                <a:gd name="adj1" fmla="val 50000"/>
              </a:avLst>
            </a:prstGeom>
            <a:ln w="57150">
              <a:prstDash val="sys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871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B</a:t>
            </a:r>
            <a:r>
              <a:rPr lang="en-US" altLang="zh-TW" dirty="0" smtClean="0"/>
              <a:t>reakpoints </a:t>
            </a:r>
            <a:r>
              <a:rPr lang="en-US" altLang="zh-TW" dirty="0"/>
              <a:t>diagram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20818" y="6585975"/>
            <a:ext cx="2133600" cy="365125"/>
          </a:xfrm>
        </p:spPr>
        <p:txBody>
          <a:bodyPr/>
          <a:lstStyle/>
          <a:p>
            <a:fld id="{FDA6F2F8-4E5A-451C-B860-2FDE33397CD1}" type="datetime1">
              <a:rPr lang="zh-TW" altLang="en-US" smtClean="0"/>
              <a:t>2016/1/12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5</a:t>
            </a:fld>
            <a:endParaRPr lang="zh-TW" altLang="en-US" dirty="0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6332561"/>
              </p:ext>
            </p:extLst>
          </p:nvPr>
        </p:nvGraphicFramePr>
        <p:xfrm>
          <a:off x="1475656" y="1556792"/>
          <a:ext cx="6048672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/>
                <a:gridCol w="864096"/>
                <a:gridCol w="864096"/>
                <a:gridCol w="864096"/>
                <a:gridCol w="864096"/>
                <a:gridCol w="864096"/>
                <a:gridCol w="864096"/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S: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B05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B05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70C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0070C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3995936" y="1243331"/>
            <a:ext cx="144016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5724128" y="1243331"/>
            <a:ext cx="144016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6588224" y="1268760"/>
            <a:ext cx="144016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向下箭號 12"/>
          <p:cNvSpPr/>
          <p:nvPr/>
        </p:nvSpPr>
        <p:spPr>
          <a:xfrm>
            <a:off x="4211960" y="2708920"/>
            <a:ext cx="576064" cy="1152128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6" name="群組 35"/>
          <p:cNvGrpSpPr/>
          <p:nvPr/>
        </p:nvGrpSpPr>
        <p:grpSpPr>
          <a:xfrm>
            <a:off x="2195736" y="4149080"/>
            <a:ext cx="4572508" cy="864096"/>
            <a:chOff x="2663788" y="4509120"/>
            <a:chExt cx="4572508" cy="864096"/>
          </a:xfrm>
        </p:grpSpPr>
        <p:sp>
          <p:nvSpPr>
            <p:cNvPr id="14" name="橢圓 13"/>
            <p:cNvSpPr/>
            <p:nvPr/>
          </p:nvSpPr>
          <p:spPr>
            <a:xfrm>
              <a:off x="2663788" y="4509120"/>
              <a:ext cx="936104" cy="86409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000" dirty="0" smtClean="0">
                  <a:solidFill>
                    <a:schemeClr val="tx1"/>
                  </a:solidFill>
                </a:rPr>
                <a:t>1</a:t>
              </a:r>
              <a:r>
                <a:rPr lang="en-US" altLang="zh-TW" sz="3000" dirty="0" smtClean="0"/>
                <a:t>,</a:t>
              </a:r>
              <a:r>
                <a:rPr lang="en-US" altLang="zh-TW" sz="3000" dirty="0">
                  <a:solidFill>
                    <a:schemeClr val="accent1"/>
                  </a:solidFill>
                </a:rPr>
                <a:t>3</a:t>
              </a:r>
              <a:endParaRPr lang="zh-TW" altLang="en-US" sz="3000" dirty="0">
                <a:solidFill>
                  <a:schemeClr val="accent1"/>
                </a:solidFill>
              </a:endParaRPr>
            </a:p>
          </p:txBody>
        </p:sp>
        <p:sp>
          <p:nvSpPr>
            <p:cNvPr id="15" name="橢圓 14"/>
            <p:cNvSpPr/>
            <p:nvPr/>
          </p:nvSpPr>
          <p:spPr>
            <a:xfrm>
              <a:off x="4499992" y="4509120"/>
              <a:ext cx="936104" cy="86409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000" dirty="0" smtClean="0">
                  <a:solidFill>
                    <a:schemeClr val="accent2"/>
                  </a:solidFill>
                </a:rPr>
                <a:t>4</a:t>
              </a:r>
              <a:r>
                <a:rPr lang="en-US" altLang="zh-TW" sz="3000" dirty="0" smtClean="0"/>
                <a:t>,</a:t>
              </a:r>
              <a:r>
                <a:rPr lang="en-US" altLang="zh-TW" sz="3000" dirty="0">
                  <a:solidFill>
                    <a:schemeClr val="tx1"/>
                  </a:solidFill>
                </a:rPr>
                <a:t>2</a:t>
              </a:r>
              <a:endParaRPr lang="zh-TW" altLang="en-US" sz="3000" dirty="0">
                <a:solidFill>
                  <a:schemeClr val="tx1"/>
                </a:solidFill>
              </a:endParaRPr>
            </a:p>
          </p:txBody>
        </p:sp>
        <p:sp>
          <p:nvSpPr>
            <p:cNvPr id="16" name="橢圓 15"/>
            <p:cNvSpPr/>
            <p:nvPr/>
          </p:nvSpPr>
          <p:spPr>
            <a:xfrm>
              <a:off x="6300192" y="4509120"/>
              <a:ext cx="936104" cy="86409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3000" dirty="0">
                  <a:solidFill>
                    <a:schemeClr val="accent1"/>
                  </a:solidFill>
                </a:rPr>
                <a:t>2</a:t>
              </a:r>
              <a:r>
                <a:rPr lang="en-US" altLang="zh-TW" sz="3000" dirty="0" smtClean="0"/>
                <a:t>,</a:t>
              </a:r>
              <a:r>
                <a:rPr lang="en-US" altLang="zh-TW" sz="3000" dirty="0" smtClean="0">
                  <a:solidFill>
                    <a:schemeClr val="accent2"/>
                  </a:solidFill>
                </a:rPr>
                <a:t>5</a:t>
              </a:r>
              <a:endParaRPr lang="zh-TW" altLang="en-US" sz="3000" dirty="0">
                <a:solidFill>
                  <a:schemeClr val="accent2"/>
                </a:solidFill>
              </a:endParaRPr>
            </a:p>
          </p:txBody>
        </p:sp>
        <p:cxnSp>
          <p:nvCxnSpPr>
            <p:cNvPr id="18" name="弧形接點 17"/>
            <p:cNvCxnSpPr>
              <a:stCxn id="14" idx="1"/>
              <a:endCxn id="15" idx="7"/>
            </p:cNvCxnSpPr>
            <p:nvPr/>
          </p:nvCxnSpPr>
          <p:spPr>
            <a:xfrm rot="5400000" flipH="1" flipV="1">
              <a:off x="4049942" y="3386599"/>
              <a:ext cx="12700" cy="2498130"/>
            </a:xfrm>
            <a:prstGeom prst="curvedConnector3">
              <a:avLst>
                <a:gd name="adj1" fmla="val 4292512"/>
              </a:avLst>
            </a:prstGeom>
            <a:ln w="57150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弧形接點 24"/>
            <p:cNvCxnSpPr>
              <a:stCxn id="15" idx="3"/>
              <a:endCxn id="16" idx="5"/>
            </p:cNvCxnSpPr>
            <p:nvPr/>
          </p:nvCxnSpPr>
          <p:spPr>
            <a:xfrm rot="16200000" flipH="1">
              <a:off x="5868144" y="4015609"/>
              <a:ext cx="12700" cy="2462126"/>
            </a:xfrm>
            <a:prstGeom prst="curvedConnector3">
              <a:avLst>
                <a:gd name="adj1" fmla="val 6256150"/>
              </a:avLst>
            </a:prstGeom>
            <a:ln w="63500" cmpd="dbl">
              <a:solidFill>
                <a:schemeClr val="accent2"/>
              </a:solidFill>
              <a:headEnd type="non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弧形接點 27"/>
            <p:cNvCxnSpPr>
              <a:stCxn id="14" idx="5"/>
              <a:endCxn id="16" idx="3"/>
            </p:cNvCxnSpPr>
            <p:nvPr/>
          </p:nvCxnSpPr>
          <p:spPr>
            <a:xfrm rot="16200000" flipH="1">
              <a:off x="4950042" y="3759433"/>
              <a:ext cx="12700" cy="2974478"/>
            </a:xfrm>
            <a:prstGeom prst="curvedConnector3">
              <a:avLst>
                <a:gd name="adj1" fmla="val 2796409"/>
              </a:avLst>
            </a:prstGeom>
            <a:ln w="57150">
              <a:prstDash val="sys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矩形 36"/>
          <p:cNvSpPr/>
          <p:nvPr/>
        </p:nvSpPr>
        <p:spPr>
          <a:xfrm>
            <a:off x="4968044" y="2708920"/>
            <a:ext cx="3995936" cy="81857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-3-transposition</a:t>
            </a:r>
          </a:p>
        </p:txBody>
      </p:sp>
      <p:grpSp>
        <p:nvGrpSpPr>
          <p:cNvPr id="55" name="群組 54"/>
          <p:cNvGrpSpPr/>
          <p:nvPr/>
        </p:nvGrpSpPr>
        <p:grpSpPr>
          <a:xfrm>
            <a:off x="-36512" y="5744633"/>
            <a:ext cx="5960077" cy="996735"/>
            <a:chOff x="-36512" y="5744633"/>
            <a:chExt cx="5960077" cy="99673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矩形 46"/>
                <p:cNvSpPr/>
                <p:nvPr/>
              </p:nvSpPr>
              <p:spPr>
                <a:xfrm>
                  <a:off x="15088" y="6021288"/>
                  <a:ext cx="590847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altLang="zh-TW" i="1" dirty="0" smtClean="0">
                            <a:latin typeface="Cambria Math"/>
                          </a:rPr>
                          <m:t>𝐴𝑛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𝑒𝑑𝑔𝑒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𝑝𝑖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        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 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𝑝𝑗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  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𝑤h𝑒𝑛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𝑠𝑖</m:t>
                        </m:r>
                        <m:r>
                          <a:rPr lang="en-US" altLang="zh-TW" b="0" i="1" baseline="-25000" dirty="0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𝑠𝑗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=1 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𝑎𝑛𝑑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   </m:t>
                        </m:r>
                        <m:r>
                          <a:rPr lang="pt-BR" altLang="zh-TW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pt-BR" altLang="zh-TW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zh-TW" b="0" i="0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1 </m:t>
                        </m:r>
                        <m:r>
                          <m:rPr>
                            <m:nor/>
                          </m:rPr>
                          <a:rPr lang="zh-TW" altLang="en-US">
                            <a:solidFill>
                              <a:srgbClr val="FF0000"/>
                            </a:solidFill>
                          </a:rPr>
                          <m:t>∉</m:t>
                        </m:r>
                        <m:r>
                          <a:rPr lang="pt-BR" altLang="zh-TW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𝑠</m:t>
                        </m:r>
                        <m:r>
                          <a:rPr lang="pt-BR" altLang="zh-TW" i="1" baseline="-25000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𝑗</m:t>
                        </m:r>
                        <m:r>
                          <a:rPr lang="pt-BR" altLang="zh-TW" i="1" baseline="-25000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 .</m:t>
                        </m:r>
                      </m:oMath>
                    </m:oMathPara>
                  </a14:m>
                  <a:endParaRPr lang="zh-TW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88" y="6021288"/>
                  <a:ext cx="5908477" cy="369332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弧形接點 47"/>
            <p:cNvCxnSpPr/>
            <p:nvPr/>
          </p:nvCxnSpPr>
          <p:spPr>
            <a:xfrm>
              <a:off x="1332354" y="6237312"/>
              <a:ext cx="503342" cy="12700"/>
            </a:xfrm>
            <a:prstGeom prst="curvedConnector3">
              <a:avLst>
                <a:gd name="adj1" fmla="val 50000"/>
              </a:avLst>
            </a:prstGeom>
            <a:ln w="57150"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矩形 48"/>
                <p:cNvSpPr/>
                <p:nvPr/>
              </p:nvSpPr>
              <p:spPr>
                <a:xfrm>
                  <a:off x="9034" y="6372036"/>
                  <a:ext cx="426462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altLang="zh-TW" i="1" dirty="0" smtClean="0">
                            <a:latin typeface="Cambria Math"/>
                          </a:rPr>
                          <m:t>𝐴𝑛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𝑒𝑑𝑔𝑒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𝑝𝑖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        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 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𝑝𝑗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  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𝑤h𝑒𝑛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𝑠𝑗</m:t>
                        </m:r>
                        <m:r>
                          <a:rPr lang="pt-BR" altLang="zh-TW" i="1" baseline="-25000" dirty="0" smtClean="0">
                            <a:latin typeface="Cambria Math"/>
                          </a:rPr>
                          <m:t>−1−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𝑠𝑖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=1.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>
            <p:sp>
              <p:nvSpPr>
                <p:cNvPr id="49" name="矩形 4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4" y="6372036"/>
                  <a:ext cx="4264629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弧形接點 49"/>
            <p:cNvCxnSpPr/>
            <p:nvPr/>
          </p:nvCxnSpPr>
          <p:spPr>
            <a:xfrm>
              <a:off x="1242735" y="6584652"/>
              <a:ext cx="520953" cy="12700"/>
            </a:xfrm>
            <a:prstGeom prst="curvedConnector3">
              <a:avLst>
                <a:gd name="adj1" fmla="val 50000"/>
              </a:avLst>
            </a:prstGeom>
            <a:ln w="57150">
              <a:prstDash val="sys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矩形 50"/>
                <p:cNvSpPr/>
                <p:nvPr/>
              </p:nvSpPr>
              <p:spPr>
                <a:xfrm>
                  <a:off x="-36512" y="5744633"/>
                  <a:ext cx="573477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altLang="zh-TW" i="1" dirty="0" smtClean="0">
                            <a:latin typeface="Cambria Math"/>
                          </a:rPr>
                          <m:t>𝐴𝑛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𝑒𝑑𝑔𝑒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𝑝𝑖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        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 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𝑝𝑗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  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𝑤h𝑒𝑛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 </m:t>
                        </m:r>
                        <m:r>
                          <a:rPr lang="pt-BR" altLang="zh-TW" i="1" dirty="0" smtClean="0">
                            <a:latin typeface="Cambria Math"/>
                          </a:rPr>
                          <m:t>𝑠𝑖</m:t>
                        </m:r>
                        <m:r>
                          <a:rPr lang="pt-BR" altLang="zh-TW" i="1" baseline="-25000" dirty="0" smtClean="0">
                            <a:latin typeface="Cambria Math"/>
                          </a:rPr>
                          <m:t>−1−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𝑠𝑗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=1 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𝑎𝑛𝑑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   </m:t>
                        </m:r>
                        <m:r>
                          <m:rPr>
                            <m:nor/>
                          </m:rPr>
                          <a:rPr lang="en-US" altLang="zh-TW" b="0" i="0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0 </m:t>
                        </m:r>
                        <m:r>
                          <m:rPr>
                            <m:nor/>
                          </m:rPr>
                          <a:rPr lang="zh-TW" altLang="en-US" smtClean="0">
                            <a:solidFill>
                              <a:srgbClr val="FF0000"/>
                            </a:solidFill>
                          </a:rPr>
                          <m:t>∉</m:t>
                        </m:r>
                        <m:r>
                          <a:rPr lang="pt-BR" altLang="zh-TW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𝑠</m:t>
                        </m:r>
                        <m:r>
                          <a:rPr lang="en-US" altLang="zh-TW" b="0" i="1" baseline="-25000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altLang="zh-TW" b="0" i="1" baseline="-25000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−1 .</m:t>
                        </m:r>
                      </m:oMath>
                    </m:oMathPara>
                  </a14:m>
                  <a:endParaRPr lang="zh-TW" altLang="en-US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51" name="矩形 5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6512" y="5744633"/>
                  <a:ext cx="5734775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弧形接點 51"/>
            <p:cNvCxnSpPr/>
            <p:nvPr/>
          </p:nvCxnSpPr>
          <p:spPr>
            <a:xfrm>
              <a:off x="1254162" y="5949280"/>
              <a:ext cx="509526" cy="12700"/>
            </a:xfrm>
            <a:prstGeom prst="curvedConnector3">
              <a:avLst>
                <a:gd name="adj1" fmla="val 50000"/>
              </a:avLst>
            </a:prstGeom>
            <a:ln w="63500" cmpd="dbl">
              <a:solidFill>
                <a:schemeClr val="accent2"/>
              </a:solidFill>
              <a:headEnd type="non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1058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2016/1/12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18703"/>
            <a:ext cx="8515350" cy="576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4450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113104"/>
            <a:ext cx="5456804" cy="5744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approximation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>algorithm with factor 2.25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2016/1/12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72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A approximation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>algorithm with factor 2.25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2016/1/12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856" y="2736155"/>
            <a:ext cx="9159121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107504" y="4774505"/>
                <a:ext cx="8784976" cy="2292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500" dirty="0" smtClean="0"/>
                  <a:t>For |V| = 3 =&gt; -3-transposition</a:t>
                </a:r>
              </a:p>
              <a:p>
                <a:r>
                  <a:rPr lang="en-US" altLang="zh-TW" sz="2500" dirty="0"/>
                  <a:t>For |V| = </a:t>
                </a:r>
                <a:r>
                  <a:rPr lang="en-US" altLang="zh-TW" sz="2500" dirty="0" smtClean="0"/>
                  <a:t>4 </a:t>
                </a:r>
                <a:r>
                  <a:rPr lang="en-US" altLang="zh-TW" sz="2500" dirty="0"/>
                  <a:t>=&gt; </a:t>
                </a:r>
                <a:r>
                  <a:rPr lang="en-US" altLang="zh-TW" sz="2500" dirty="0" smtClean="0"/>
                  <a:t>-1-transposition     + -3-transposition</a:t>
                </a:r>
              </a:p>
              <a:p>
                <a:r>
                  <a:rPr lang="en-US" altLang="zh-TW" sz="2500" dirty="0" smtClean="0"/>
                  <a:t>For |V| = 5  =&gt; -1-transposition*2 + -3-transposition or</a:t>
                </a:r>
              </a:p>
              <a:p>
                <a:r>
                  <a:rPr lang="en-US" altLang="zh-TW" sz="2500" dirty="0"/>
                  <a:t>	 </a:t>
                </a:r>
                <a:r>
                  <a:rPr lang="en-US" altLang="zh-TW" sz="2500" dirty="0" smtClean="0"/>
                  <a:t>       	  -2-transposition    +  -3-transposition</a:t>
                </a:r>
                <a:endParaRPr lang="en-US" altLang="zh-TW" sz="2500" dirty="0"/>
              </a:p>
              <a:p>
                <a:r>
                  <a:rPr lang="en-US" altLang="zh-TW" sz="2500" dirty="0" smtClean="0"/>
                  <a:t>For |V|</a:t>
                </a:r>
                <a14:m>
                  <m:oMath xmlns:m="http://schemas.openxmlformats.org/officeDocument/2006/math">
                    <m:r>
                      <a:rPr lang="en-US" altLang="zh-TW" sz="2500" i="1" smtClean="0">
                        <a:latin typeface="Cambria Math"/>
                        <a:ea typeface="Cambria Math"/>
                      </a:rPr>
                      <m:t>≥</m:t>
                    </m:r>
                  </m:oMath>
                </a14:m>
                <a:r>
                  <a:rPr lang="en-US" altLang="zh-TW" sz="2500" dirty="0" smtClean="0"/>
                  <a:t>6 =&gt;   ….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4774505"/>
                <a:ext cx="8784976" cy="2292935"/>
              </a:xfrm>
              <a:prstGeom prst="rect">
                <a:avLst/>
              </a:prstGeom>
              <a:blipFill rotWithShape="1">
                <a:blip r:embed="rId3"/>
                <a:stretch>
                  <a:fillRect l="-1180" t="-21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2673632" y="1484784"/>
                <a:ext cx="3781613" cy="1183850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altLang="zh-TW" dirty="0" smtClean="0">
                    <a:latin typeface="Cambria Math"/>
                    <a:ea typeface="Cambria Math"/>
                  </a:rPr>
                  <a:t>Given a permutation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i="1">
                        <a:latin typeface="Cambria Math"/>
                        <a:ea typeface="Cambria Math"/>
                      </a:rPr>
                      <m:t>π</m:t>
                    </m:r>
                  </m:oMath>
                </a14:m>
                <a:r>
                  <a:rPr lang="en-US" altLang="zh-TW" dirty="0" smtClean="0">
                    <a:latin typeface="Cambria Math"/>
                    <a:ea typeface="Cambria Math"/>
                  </a:rPr>
                  <a:t>, that we have </a:t>
                </a:r>
                <a:endParaRPr lang="en-US" altLang="zh-TW" b="0" i="0" dirty="0" smtClean="0"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/>
                              <a:ea typeface="Cambria Math"/>
                            </a:rPr>
                            <m:t>b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altLang="zh-TW" b="0" i="1" smtClean="0">
                                  <a:latin typeface="Cambria Math"/>
                                  <a:ea typeface="Cambria Math"/>
                                </a:rPr>
                                <m:t>π</m:t>
                              </m:r>
                            </m:e>
                          </m:d>
                        </m:num>
                        <m:den>
                          <m:r>
                            <a:rPr lang="en-US" altLang="zh-TW" b="0" i="0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den>
                      </m:f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a:rPr lang="en-US" altLang="zh-TW" b="0" i="1" smtClean="0">
                          <a:latin typeface="Cambria Math"/>
                        </a:rPr>
                        <m:t>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b="0" i="1" smtClean="0">
                              <a:latin typeface="Cambria Math"/>
                            </a:rPr>
                            <m:t>𝜋</m:t>
                          </m:r>
                        </m:e>
                      </m:d>
                      <m:r>
                        <a:rPr lang="en-US" altLang="zh-TW" b="0" i="1" smtClean="0">
                          <a:latin typeface="Cambria Math"/>
                          <a:ea typeface="Cambria Math"/>
                        </a:rPr>
                        <m:t>≤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  <m:r>
                            <a:rPr lang="en-US" altLang="zh-TW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zh-TW" altLang="en-US" b="0" i="1" smtClean="0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</m:e>
                          </m:d>
                        </m:num>
                        <m:den>
                          <m:r>
                            <a:rPr lang="en-US" altLang="zh-TW" b="0" i="1" smtClean="0">
                              <a:latin typeface="Cambria Math"/>
                              <a:ea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altLang="zh-TW" dirty="0" smtClean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632" y="1484784"/>
                <a:ext cx="3781613" cy="1183850"/>
              </a:xfrm>
              <a:prstGeom prst="rect">
                <a:avLst/>
              </a:prstGeom>
              <a:blipFill rotWithShape="1">
                <a:blip r:embed="rId4"/>
                <a:stretch>
                  <a:fillRect l="-1122" t="-2020" r="-1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2887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2016/1/12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76672"/>
            <a:ext cx="8618708" cy="5782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6140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</a:t>
            </a:r>
            <a:r>
              <a:rPr lang="en-US" altLang="zh-TW" dirty="0" smtClean="0"/>
              <a:t>xperiments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2016/1/12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19"/>
          <a:stretch/>
        </p:blipFill>
        <p:spPr bwMode="auto">
          <a:xfrm>
            <a:off x="1106230" y="1172494"/>
            <a:ext cx="6639296" cy="4056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1043608" y="5373216"/>
            <a:ext cx="734481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/>
              <a:t>Table 1 contains the results, listing the number </a:t>
            </a:r>
            <a:r>
              <a:rPr lang="en-US" altLang="zh-TW" sz="2000" dirty="0" smtClean="0"/>
              <a:t>of permutations </a:t>
            </a:r>
            <a:r>
              <a:rPr lang="en-US" altLang="zh-TW" sz="2000" dirty="0"/>
              <a:t>for which our algorithms did not get the </a:t>
            </a:r>
            <a:r>
              <a:rPr lang="en-US" altLang="zh-TW" sz="2000" dirty="0" smtClean="0"/>
              <a:t>exact distance</a:t>
            </a:r>
            <a:r>
              <a:rPr lang="en-US" altLang="zh-TW" sz="2000" dirty="0"/>
              <a:t>, which percent of the total this represents, </a:t>
            </a:r>
            <a:r>
              <a:rPr lang="en-US" altLang="zh-TW" sz="2000" dirty="0" smtClean="0"/>
              <a:t>and what </a:t>
            </a:r>
            <a:r>
              <a:rPr lang="en-US" altLang="zh-TW" sz="2000" dirty="0"/>
              <a:t>was the larger discrepancy in these cases.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58483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2016/1/12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54"/>
          <a:stretch/>
        </p:blipFill>
        <p:spPr bwMode="auto">
          <a:xfrm>
            <a:off x="1619672" y="53602"/>
            <a:ext cx="6257471" cy="6804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030155"/>
            <a:ext cx="3218730" cy="495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07"/>
          <a:stretch/>
        </p:blipFill>
        <p:spPr bwMode="auto">
          <a:xfrm>
            <a:off x="28500" y="5629677"/>
            <a:ext cx="6127676" cy="406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1111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altLang="zh-TW" dirty="0" smtClean="0"/>
          </a:p>
          <a:p>
            <a:pPr marL="0" indent="0" algn="ctr">
              <a:buNone/>
            </a:pPr>
            <a:endParaRPr lang="en-US" altLang="zh-TW" dirty="0"/>
          </a:p>
          <a:p>
            <a:pPr marL="0" indent="0" algn="ctr">
              <a:buNone/>
            </a:pPr>
            <a:r>
              <a:rPr lang="en-US" altLang="zh-TW" sz="5000" dirty="0" smtClean="0"/>
              <a:t>Thanks for listening.</a:t>
            </a:r>
            <a:endParaRPr lang="zh-TW" altLang="en-US" sz="500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2016/1/12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7275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owerpoint sample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4432</TotalTime>
  <Words>370</Words>
  <Application>Microsoft Office PowerPoint</Application>
  <PresentationFormat>如螢幕大小 (4:3)</PresentationFormat>
  <Paragraphs>121</Paragraphs>
  <Slides>13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新細明體</vt:lpstr>
      <vt:lpstr>標楷體</vt:lpstr>
      <vt:lpstr>Arial</vt:lpstr>
      <vt:lpstr>Calibri</vt:lpstr>
      <vt:lpstr>Cambria Math</vt:lpstr>
      <vt:lpstr>Times New Roman</vt:lpstr>
      <vt:lpstr>Office 佈景主題</vt:lpstr>
      <vt:lpstr> A New Approach for Approximating the Transposition Distance</vt:lpstr>
      <vt:lpstr>Abstract</vt:lpstr>
      <vt:lpstr>Transposition over permutations</vt:lpstr>
      <vt:lpstr>Definition of breakpoint  for transpositions</vt:lpstr>
      <vt:lpstr>Breakpoints diagram</vt:lpstr>
      <vt:lpstr>Breakpoints diagram</vt:lpstr>
      <vt:lpstr>PowerPoint 簡報</vt:lpstr>
      <vt:lpstr>A approximation algorithm with factor 2.25</vt:lpstr>
      <vt:lpstr>A approximation algorithm with factor 2.25</vt:lpstr>
      <vt:lpstr>PowerPoint 簡報</vt:lpstr>
      <vt:lpstr>Experiments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 for Two Versions of LCS Problem for Indeterminate Strings</dc:title>
  <dc:creator>Leo</dc:creator>
  <cp:lastModifiedBy>pplab-class</cp:lastModifiedBy>
  <cp:revision>161</cp:revision>
  <dcterms:created xsi:type="dcterms:W3CDTF">2015-08-08T16:18:04Z</dcterms:created>
  <dcterms:modified xsi:type="dcterms:W3CDTF">2016-01-12T10:50:44Z</dcterms:modified>
</cp:coreProperties>
</file>