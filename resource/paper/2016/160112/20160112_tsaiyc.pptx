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4"/>
  </p:notesMasterIdLst>
  <p:handoutMasterIdLst>
    <p:handoutMasterId r:id="rId45"/>
  </p:handoutMasterIdLst>
  <p:sldIdLst>
    <p:sldId id="256" r:id="rId2"/>
    <p:sldId id="260" r:id="rId3"/>
    <p:sldId id="261" r:id="rId4"/>
    <p:sldId id="301" r:id="rId5"/>
    <p:sldId id="262" r:id="rId6"/>
    <p:sldId id="264" r:id="rId7"/>
    <p:sldId id="265" r:id="rId8"/>
    <p:sldId id="266" r:id="rId9"/>
    <p:sldId id="268" r:id="rId10"/>
    <p:sldId id="274" r:id="rId11"/>
    <p:sldId id="273" r:id="rId12"/>
    <p:sldId id="269" r:id="rId13"/>
    <p:sldId id="275" r:id="rId14"/>
    <p:sldId id="276" r:id="rId15"/>
    <p:sldId id="277" r:id="rId16"/>
    <p:sldId id="278" r:id="rId17"/>
    <p:sldId id="279" r:id="rId18"/>
    <p:sldId id="302" r:id="rId19"/>
    <p:sldId id="289" r:id="rId20"/>
    <p:sldId id="270" r:id="rId21"/>
    <p:sldId id="291" r:id="rId22"/>
    <p:sldId id="285" r:id="rId23"/>
    <p:sldId id="271" r:id="rId24"/>
    <p:sldId id="272" r:id="rId25"/>
    <p:sldId id="280" r:id="rId26"/>
    <p:sldId id="281" r:id="rId27"/>
    <p:sldId id="282" r:id="rId28"/>
    <p:sldId id="283" r:id="rId29"/>
    <p:sldId id="284" r:id="rId30"/>
    <p:sldId id="287" r:id="rId31"/>
    <p:sldId id="294" r:id="rId32"/>
    <p:sldId id="295" r:id="rId33"/>
    <p:sldId id="296" r:id="rId34"/>
    <p:sldId id="297" r:id="rId35"/>
    <p:sldId id="293" r:id="rId36"/>
    <p:sldId id="299" r:id="rId37"/>
    <p:sldId id="298" r:id="rId38"/>
    <p:sldId id="290" r:id="rId39"/>
    <p:sldId id="292" r:id="rId40"/>
    <p:sldId id="288" r:id="rId41"/>
    <p:sldId id="286" r:id="rId42"/>
    <p:sldId id="300" r:id="rId43"/>
  </p:sldIdLst>
  <p:sldSz cx="9144000" cy="6858000" type="screen4x3"/>
  <p:notesSz cx="9947275" cy="6858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5" d="100"/>
          <a:sy n="85" d="100"/>
        </p:scale>
        <p:origin x="120" y="9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1"/>
            <a:ext cx="4310486" cy="344091"/>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5634487" y="1"/>
            <a:ext cx="4310486" cy="344091"/>
          </a:xfrm>
          <a:prstGeom prst="rect">
            <a:avLst/>
          </a:prstGeom>
        </p:spPr>
        <p:txBody>
          <a:bodyPr vert="horz" lIns="91440" tIns="45720" rIns="91440" bIns="45720" rtlCol="0"/>
          <a:lstStyle>
            <a:lvl1pPr algn="r">
              <a:defRPr sz="1200"/>
            </a:lvl1pPr>
          </a:lstStyle>
          <a:p>
            <a:fld id="{656B342C-D3E6-4343-B7E6-7344C4D3E48E}" type="datetimeFigureOut">
              <a:rPr lang="zh-TW" altLang="en-US" smtClean="0"/>
              <a:t>2016/1/12</a:t>
            </a:fld>
            <a:endParaRPr lang="zh-TW" altLang="en-US"/>
          </a:p>
        </p:txBody>
      </p:sp>
      <p:sp>
        <p:nvSpPr>
          <p:cNvPr id="4" name="頁尾版面配置區 3"/>
          <p:cNvSpPr>
            <a:spLocks noGrp="1"/>
          </p:cNvSpPr>
          <p:nvPr>
            <p:ph type="ftr" sz="quarter" idx="2"/>
          </p:nvPr>
        </p:nvSpPr>
        <p:spPr>
          <a:xfrm>
            <a:off x="0" y="6513910"/>
            <a:ext cx="4310486" cy="344090"/>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5634487" y="6513910"/>
            <a:ext cx="4310486" cy="344090"/>
          </a:xfrm>
          <a:prstGeom prst="rect">
            <a:avLst/>
          </a:prstGeom>
        </p:spPr>
        <p:txBody>
          <a:bodyPr vert="horz" lIns="91440" tIns="45720" rIns="91440" bIns="45720" rtlCol="0" anchor="b"/>
          <a:lstStyle>
            <a:lvl1pPr algn="r">
              <a:defRPr sz="1200"/>
            </a:lvl1pPr>
          </a:lstStyle>
          <a:p>
            <a:fld id="{641071B8-4507-4225-B265-9ABFCA3C6D5D}" type="slidenum">
              <a:rPr lang="zh-TW" altLang="en-US" smtClean="0"/>
              <a:t>‹#›</a:t>
            </a:fld>
            <a:endParaRPr lang="zh-TW" altLang="en-US"/>
          </a:p>
        </p:txBody>
      </p:sp>
    </p:spTree>
    <p:extLst>
      <p:ext uri="{BB962C8B-B14F-4D97-AF65-F5344CB8AC3E}">
        <p14:creationId xmlns:p14="http://schemas.microsoft.com/office/powerpoint/2010/main" val="337118400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4310486" cy="3444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5635063" y="0"/>
            <a:ext cx="4310486" cy="344488"/>
          </a:xfrm>
          <a:prstGeom prst="rect">
            <a:avLst/>
          </a:prstGeom>
        </p:spPr>
        <p:txBody>
          <a:bodyPr vert="horz" lIns="91440" tIns="45720" rIns="91440" bIns="45720" rtlCol="0"/>
          <a:lstStyle>
            <a:lvl1pPr algn="r">
              <a:defRPr sz="1200"/>
            </a:lvl1pPr>
          </a:lstStyle>
          <a:p>
            <a:fld id="{1051319D-5FEB-4BB2-8449-8B5AD3FD1565}" type="datetimeFigureOut">
              <a:rPr lang="zh-TW" altLang="en-US" smtClean="0"/>
              <a:t>2016/1/12</a:t>
            </a:fld>
            <a:endParaRPr lang="zh-TW" altLang="en-US"/>
          </a:p>
        </p:txBody>
      </p:sp>
      <p:sp>
        <p:nvSpPr>
          <p:cNvPr id="4" name="投影片圖像版面配置區 3"/>
          <p:cNvSpPr>
            <a:spLocks noGrp="1" noRot="1" noChangeAspect="1"/>
          </p:cNvSpPr>
          <p:nvPr>
            <p:ph type="sldImg" idx="2"/>
          </p:nvPr>
        </p:nvSpPr>
        <p:spPr>
          <a:xfrm>
            <a:off x="3430588" y="857250"/>
            <a:ext cx="3086100" cy="2314575"/>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994728" y="3300414"/>
            <a:ext cx="7957820" cy="2700337"/>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6513514"/>
            <a:ext cx="4310486" cy="3444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5635063" y="6513514"/>
            <a:ext cx="4310486" cy="344487"/>
          </a:xfrm>
          <a:prstGeom prst="rect">
            <a:avLst/>
          </a:prstGeom>
        </p:spPr>
        <p:txBody>
          <a:bodyPr vert="horz" lIns="91440" tIns="45720" rIns="91440" bIns="45720" rtlCol="0" anchor="b"/>
          <a:lstStyle>
            <a:lvl1pPr algn="r">
              <a:defRPr sz="1200"/>
            </a:lvl1pPr>
          </a:lstStyle>
          <a:p>
            <a:fld id="{9A8D4387-758A-48A1-B6FC-B6449276ED87}" type="slidenum">
              <a:rPr lang="zh-TW" altLang="en-US" smtClean="0"/>
              <a:t>‹#›</a:t>
            </a:fld>
            <a:endParaRPr lang="zh-TW" altLang="en-US"/>
          </a:p>
        </p:txBody>
      </p:sp>
    </p:spTree>
    <p:extLst>
      <p:ext uri="{BB962C8B-B14F-4D97-AF65-F5344CB8AC3E}">
        <p14:creationId xmlns:p14="http://schemas.microsoft.com/office/powerpoint/2010/main" val="112412503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1</a:t>
            </a:fld>
            <a:endParaRPr lang="zh-TW" altLang="en-US"/>
          </a:p>
        </p:txBody>
      </p:sp>
    </p:spTree>
    <p:extLst>
      <p:ext uri="{BB962C8B-B14F-4D97-AF65-F5344CB8AC3E}">
        <p14:creationId xmlns:p14="http://schemas.microsoft.com/office/powerpoint/2010/main" val="407028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2</a:t>
            </a:fld>
            <a:endParaRPr lang="zh-TW" altLang="en-US"/>
          </a:p>
        </p:txBody>
      </p:sp>
    </p:spTree>
    <p:extLst>
      <p:ext uri="{BB962C8B-B14F-4D97-AF65-F5344CB8AC3E}">
        <p14:creationId xmlns:p14="http://schemas.microsoft.com/office/powerpoint/2010/main" val="36525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3</a:t>
            </a:fld>
            <a:endParaRPr lang="zh-TW" altLang="en-US"/>
          </a:p>
        </p:txBody>
      </p:sp>
    </p:spTree>
    <p:extLst>
      <p:ext uri="{BB962C8B-B14F-4D97-AF65-F5344CB8AC3E}">
        <p14:creationId xmlns:p14="http://schemas.microsoft.com/office/powerpoint/2010/main" val="37215305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4</a:t>
            </a:fld>
            <a:endParaRPr lang="zh-TW" altLang="en-US"/>
          </a:p>
        </p:txBody>
      </p:sp>
    </p:spTree>
    <p:extLst>
      <p:ext uri="{BB962C8B-B14F-4D97-AF65-F5344CB8AC3E}">
        <p14:creationId xmlns:p14="http://schemas.microsoft.com/office/powerpoint/2010/main" val="41797124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5</a:t>
            </a:fld>
            <a:endParaRPr lang="zh-TW" altLang="en-US"/>
          </a:p>
        </p:txBody>
      </p:sp>
    </p:spTree>
    <p:extLst>
      <p:ext uri="{BB962C8B-B14F-4D97-AF65-F5344CB8AC3E}">
        <p14:creationId xmlns:p14="http://schemas.microsoft.com/office/powerpoint/2010/main" val="3726045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6</a:t>
            </a:fld>
            <a:endParaRPr lang="zh-TW" altLang="en-US"/>
          </a:p>
        </p:txBody>
      </p:sp>
    </p:spTree>
    <p:extLst>
      <p:ext uri="{BB962C8B-B14F-4D97-AF65-F5344CB8AC3E}">
        <p14:creationId xmlns:p14="http://schemas.microsoft.com/office/powerpoint/2010/main" val="6740910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7</a:t>
            </a:fld>
            <a:endParaRPr lang="zh-TW" altLang="en-US"/>
          </a:p>
        </p:txBody>
      </p:sp>
    </p:spTree>
    <p:extLst>
      <p:ext uri="{BB962C8B-B14F-4D97-AF65-F5344CB8AC3E}">
        <p14:creationId xmlns:p14="http://schemas.microsoft.com/office/powerpoint/2010/main" val="22770251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8</a:t>
            </a:fld>
            <a:endParaRPr lang="zh-TW" altLang="en-US"/>
          </a:p>
        </p:txBody>
      </p:sp>
    </p:spTree>
    <p:extLst>
      <p:ext uri="{BB962C8B-B14F-4D97-AF65-F5344CB8AC3E}">
        <p14:creationId xmlns:p14="http://schemas.microsoft.com/office/powerpoint/2010/main" val="39632191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9</a:t>
            </a:fld>
            <a:endParaRPr lang="zh-TW" altLang="en-US"/>
          </a:p>
        </p:txBody>
      </p:sp>
    </p:spTree>
    <p:extLst>
      <p:ext uri="{BB962C8B-B14F-4D97-AF65-F5344CB8AC3E}">
        <p14:creationId xmlns:p14="http://schemas.microsoft.com/office/powerpoint/2010/main" val="24098259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10</a:t>
            </a:fld>
            <a:endParaRPr lang="zh-TW" altLang="en-US"/>
          </a:p>
        </p:txBody>
      </p:sp>
    </p:spTree>
    <p:extLst>
      <p:ext uri="{BB962C8B-B14F-4D97-AF65-F5344CB8AC3E}">
        <p14:creationId xmlns:p14="http://schemas.microsoft.com/office/powerpoint/2010/main" val="4646469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11</a:t>
            </a:fld>
            <a:endParaRPr lang="zh-TW" altLang="en-US"/>
          </a:p>
        </p:txBody>
      </p:sp>
    </p:spTree>
    <p:extLst>
      <p:ext uri="{BB962C8B-B14F-4D97-AF65-F5344CB8AC3E}">
        <p14:creationId xmlns:p14="http://schemas.microsoft.com/office/powerpoint/2010/main" val="24542923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12</a:t>
            </a:fld>
            <a:endParaRPr lang="zh-TW" altLang="en-US"/>
          </a:p>
        </p:txBody>
      </p:sp>
    </p:spTree>
    <p:extLst>
      <p:ext uri="{BB962C8B-B14F-4D97-AF65-F5344CB8AC3E}">
        <p14:creationId xmlns:p14="http://schemas.microsoft.com/office/powerpoint/2010/main" val="37163473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13</a:t>
            </a:fld>
            <a:endParaRPr lang="zh-TW" altLang="en-US"/>
          </a:p>
        </p:txBody>
      </p:sp>
    </p:spTree>
    <p:extLst>
      <p:ext uri="{BB962C8B-B14F-4D97-AF65-F5344CB8AC3E}">
        <p14:creationId xmlns:p14="http://schemas.microsoft.com/office/powerpoint/2010/main" val="21388294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14</a:t>
            </a:fld>
            <a:endParaRPr lang="zh-TW" altLang="en-US"/>
          </a:p>
        </p:txBody>
      </p:sp>
    </p:spTree>
    <p:extLst>
      <p:ext uri="{BB962C8B-B14F-4D97-AF65-F5344CB8AC3E}">
        <p14:creationId xmlns:p14="http://schemas.microsoft.com/office/powerpoint/2010/main" val="22719090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15</a:t>
            </a:fld>
            <a:endParaRPr lang="zh-TW" altLang="en-US"/>
          </a:p>
        </p:txBody>
      </p:sp>
    </p:spTree>
    <p:extLst>
      <p:ext uri="{BB962C8B-B14F-4D97-AF65-F5344CB8AC3E}">
        <p14:creationId xmlns:p14="http://schemas.microsoft.com/office/powerpoint/2010/main" val="22907724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16</a:t>
            </a:fld>
            <a:endParaRPr lang="zh-TW" altLang="en-US"/>
          </a:p>
        </p:txBody>
      </p:sp>
    </p:spTree>
    <p:extLst>
      <p:ext uri="{BB962C8B-B14F-4D97-AF65-F5344CB8AC3E}">
        <p14:creationId xmlns:p14="http://schemas.microsoft.com/office/powerpoint/2010/main" val="21229356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17</a:t>
            </a:fld>
            <a:endParaRPr lang="zh-TW" altLang="en-US"/>
          </a:p>
        </p:txBody>
      </p:sp>
    </p:spTree>
    <p:extLst>
      <p:ext uri="{BB962C8B-B14F-4D97-AF65-F5344CB8AC3E}">
        <p14:creationId xmlns:p14="http://schemas.microsoft.com/office/powerpoint/2010/main" val="37524374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18</a:t>
            </a:fld>
            <a:endParaRPr lang="zh-TW" altLang="en-US"/>
          </a:p>
        </p:txBody>
      </p:sp>
    </p:spTree>
    <p:extLst>
      <p:ext uri="{BB962C8B-B14F-4D97-AF65-F5344CB8AC3E}">
        <p14:creationId xmlns:p14="http://schemas.microsoft.com/office/powerpoint/2010/main" val="8580180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19</a:t>
            </a:fld>
            <a:endParaRPr lang="zh-TW" altLang="en-US"/>
          </a:p>
        </p:txBody>
      </p:sp>
    </p:spTree>
    <p:extLst>
      <p:ext uri="{BB962C8B-B14F-4D97-AF65-F5344CB8AC3E}">
        <p14:creationId xmlns:p14="http://schemas.microsoft.com/office/powerpoint/2010/main" val="10970915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20</a:t>
            </a:fld>
            <a:endParaRPr lang="zh-TW" altLang="en-US"/>
          </a:p>
        </p:txBody>
      </p:sp>
    </p:spTree>
    <p:extLst>
      <p:ext uri="{BB962C8B-B14F-4D97-AF65-F5344CB8AC3E}">
        <p14:creationId xmlns:p14="http://schemas.microsoft.com/office/powerpoint/2010/main" val="5377133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21</a:t>
            </a:fld>
            <a:endParaRPr lang="zh-TW" altLang="en-US"/>
          </a:p>
        </p:txBody>
      </p:sp>
    </p:spTree>
    <p:extLst>
      <p:ext uri="{BB962C8B-B14F-4D97-AF65-F5344CB8AC3E}">
        <p14:creationId xmlns:p14="http://schemas.microsoft.com/office/powerpoint/2010/main" val="37770608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22</a:t>
            </a:fld>
            <a:endParaRPr lang="zh-TW" altLang="en-US"/>
          </a:p>
        </p:txBody>
      </p:sp>
    </p:spTree>
    <p:extLst>
      <p:ext uri="{BB962C8B-B14F-4D97-AF65-F5344CB8AC3E}">
        <p14:creationId xmlns:p14="http://schemas.microsoft.com/office/powerpoint/2010/main" val="5831614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23</a:t>
            </a:fld>
            <a:endParaRPr lang="zh-TW" altLang="en-US"/>
          </a:p>
        </p:txBody>
      </p:sp>
    </p:spTree>
    <p:extLst>
      <p:ext uri="{BB962C8B-B14F-4D97-AF65-F5344CB8AC3E}">
        <p14:creationId xmlns:p14="http://schemas.microsoft.com/office/powerpoint/2010/main" val="41537081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24</a:t>
            </a:fld>
            <a:endParaRPr lang="zh-TW" altLang="en-US"/>
          </a:p>
        </p:txBody>
      </p:sp>
    </p:spTree>
    <p:extLst>
      <p:ext uri="{BB962C8B-B14F-4D97-AF65-F5344CB8AC3E}">
        <p14:creationId xmlns:p14="http://schemas.microsoft.com/office/powerpoint/2010/main" val="20731179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25</a:t>
            </a:fld>
            <a:endParaRPr lang="zh-TW" altLang="en-US"/>
          </a:p>
        </p:txBody>
      </p:sp>
    </p:spTree>
    <p:extLst>
      <p:ext uri="{BB962C8B-B14F-4D97-AF65-F5344CB8AC3E}">
        <p14:creationId xmlns:p14="http://schemas.microsoft.com/office/powerpoint/2010/main" val="40180073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26</a:t>
            </a:fld>
            <a:endParaRPr lang="zh-TW" altLang="en-US"/>
          </a:p>
        </p:txBody>
      </p:sp>
    </p:spTree>
    <p:extLst>
      <p:ext uri="{BB962C8B-B14F-4D97-AF65-F5344CB8AC3E}">
        <p14:creationId xmlns:p14="http://schemas.microsoft.com/office/powerpoint/2010/main" val="40286099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27</a:t>
            </a:fld>
            <a:endParaRPr lang="zh-TW" altLang="en-US"/>
          </a:p>
        </p:txBody>
      </p:sp>
    </p:spTree>
    <p:extLst>
      <p:ext uri="{BB962C8B-B14F-4D97-AF65-F5344CB8AC3E}">
        <p14:creationId xmlns:p14="http://schemas.microsoft.com/office/powerpoint/2010/main" val="22187636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28</a:t>
            </a:fld>
            <a:endParaRPr lang="zh-TW" altLang="en-US"/>
          </a:p>
        </p:txBody>
      </p:sp>
    </p:spTree>
    <p:extLst>
      <p:ext uri="{BB962C8B-B14F-4D97-AF65-F5344CB8AC3E}">
        <p14:creationId xmlns:p14="http://schemas.microsoft.com/office/powerpoint/2010/main" val="8580740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29</a:t>
            </a:fld>
            <a:endParaRPr lang="zh-TW" altLang="en-US"/>
          </a:p>
        </p:txBody>
      </p:sp>
    </p:spTree>
    <p:extLst>
      <p:ext uri="{BB962C8B-B14F-4D97-AF65-F5344CB8AC3E}">
        <p14:creationId xmlns:p14="http://schemas.microsoft.com/office/powerpoint/2010/main" val="32641484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30</a:t>
            </a:fld>
            <a:endParaRPr lang="zh-TW" altLang="en-US"/>
          </a:p>
        </p:txBody>
      </p:sp>
    </p:spTree>
    <p:extLst>
      <p:ext uri="{BB962C8B-B14F-4D97-AF65-F5344CB8AC3E}">
        <p14:creationId xmlns:p14="http://schemas.microsoft.com/office/powerpoint/2010/main" val="36543424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31</a:t>
            </a:fld>
            <a:endParaRPr lang="zh-TW" altLang="en-US"/>
          </a:p>
        </p:txBody>
      </p:sp>
    </p:spTree>
    <p:extLst>
      <p:ext uri="{BB962C8B-B14F-4D97-AF65-F5344CB8AC3E}">
        <p14:creationId xmlns:p14="http://schemas.microsoft.com/office/powerpoint/2010/main" val="31366632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32</a:t>
            </a:fld>
            <a:endParaRPr lang="zh-TW" altLang="en-US"/>
          </a:p>
        </p:txBody>
      </p:sp>
    </p:spTree>
    <p:extLst>
      <p:ext uri="{BB962C8B-B14F-4D97-AF65-F5344CB8AC3E}">
        <p14:creationId xmlns:p14="http://schemas.microsoft.com/office/powerpoint/2010/main" val="19911367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33</a:t>
            </a:fld>
            <a:endParaRPr lang="zh-TW" altLang="en-US"/>
          </a:p>
        </p:txBody>
      </p:sp>
    </p:spTree>
    <p:extLst>
      <p:ext uri="{BB962C8B-B14F-4D97-AF65-F5344CB8AC3E}">
        <p14:creationId xmlns:p14="http://schemas.microsoft.com/office/powerpoint/2010/main" val="11909104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34</a:t>
            </a:fld>
            <a:endParaRPr lang="zh-TW" altLang="en-US"/>
          </a:p>
        </p:txBody>
      </p:sp>
    </p:spTree>
    <p:extLst>
      <p:ext uri="{BB962C8B-B14F-4D97-AF65-F5344CB8AC3E}">
        <p14:creationId xmlns:p14="http://schemas.microsoft.com/office/powerpoint/2010/main" val="37987815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35</a:t>
            </a:fld>
            <a:endParaRPr lang="zh-TW" altLang="en-US"/>
          </a:p>
        </p:txBody>
      </p:sp>
    </p:spTree>
    <p:extLst>
      <p:ext uri="{BB962C8B-B14F-4D97-AF65-F5344CB8AC3E}">
        <p14:creationId xmlns:p14="http://schemas.microsoft.com/office/powerpoint/2010/main" val="67045533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36</a:t>
            </a:fld>
            <a:endParaRPr lang="zh-TW" altLang="en-US"/>
          </a:p>
        </p:txBody>
      </p:sp>
    </p:spTree>
    <p:extLst>
      <p:ext uri="{BB962C8B-B14F-4D97-AF65-F5344CB8AC3E}">
        <p14:creationId xmlns:p14="http://schemas.microsoft.com/office/powerpoint/2010/main" val="37273578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37</a:t>
            </a:fld>
            <a:endParaRPr lang="zh-TW" altLang="en-US"/>
          </a:p>
        </p:txBody>
      </p:sp>
    </p:spTree>
    <p:extLst>
      <p:ext uri="{BB962C8B-B14F-4D97-AF65-F5344CB8AC3E}">
        <p14:creationId xmlns:p14="http://schemas.microsoft.com/office/powerpoint/2010/main" val="39475600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38</a:t>
            </a:fld>
            <a:endParaRPr lang="zh-TW" altLang="en-US"/>
          </a:p>
        </p:txBody>
      </p:sp>
    </p:spTree>
    <p:extLst>
      <p:ext uri="{BB962C8B-B14F-4D97-AF65-F5344CB8AC3E}">
        <p14:creationId xmlns:p14="http://schemas.microsoft.com/office/powerpoint/2010/main" val="40054611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39</a:t>
            </a:fld>
            <a:endParaRPr lang="zh-TW" altLang="en-US"/>
          </a:p>
        </p:txBody>
      </p:sp>
    </p:spTree>
    <p:extLst>
      <p:ext uri="{BB962C8B-B14F-4D97-AF65-F5344CB8AC3E}">
        <p14:creationId xmlns:p14="http://schemas.microsoft.com/office/powerpoint/2010/main" val="244193373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40</a:t>
            </a:fld>
            <a:endParaRPr lang="zh-TW" altLang="en-US"/>
          </a:p>
        </p:txBody>
      </p:sp>
    </p:spTree>
    <p:extLst>
      <p:ext uri="{BB962C8B-B14F-4D97-AF65-F5344CB8AC3E}">
        <p14:creationId xmlns:p14="http://schemas.microsoft.com/office/powerpoint/2010/main" val="98085355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41</a:t>
            </a:fld>
            <a:endParaRPr lang="zh-TW" altLang="en-US"/>
          </a:p>
        </p:txBody>
      </p:sp>
    </p:spTree>
    <p:extLst>
      <p:ext uri="{BB962C8B-B14F-4D97-AF65-F5344CB8AC3E}">
        <p14:creationId xmlns:p14="http://schemas.microsoft.com/office/powerpoint/2010/main" val="333923923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A8D4387-758A-48A1-B6FC-B6449276ED87}" type="slidenum">
              <a:rPr lang="zh-TW" altLang="en-US" smtClean="0"/>
              <a:t>42</a:t>
            </a:fld>
            <a:endParaRPr lang="zh-TW" altLang="en-US"/>
          </a:p>
        </p:txBody>
      </p:sp>
    </p:spTree>
    <p:extLst>
      <p:ext uri="{BB962C8B-B14F-4D97-AF65-F5344CB8AC3E}">
        <p14:creationId xmlns:p14="http://schemas.microsoft.com/office/powerpoint/2010/main" val="234261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143000" y="1122363"/>
            <a:ext cx="6858000" cy="2387600"/>
          </a:xfrm>
        </p:spPr>
        <p:txBody>
          <a:bodyPr anchor="b"/>
          <a:lstStyle>
            <a:lvl1pPr algn="ctr">
              <a:defRPr sz="45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FF813411-B8F4-4907-AA92-4552EEC98037}" type="datetime1">
              <a:rPr lang="zh-TW" altLang="en-US" smtClean="0"/>
              <a:t>2016/1/12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227706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2C467948-3BC4-474B-B2C5-B24B6278D5CC}" type="datetime1">
              <a:rPr lang="zh-TW" altLang="en-US" smtClean="0"/>
              <a:t>2016/1/12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628356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623888" y="1709739"/>
            <a:ext cx="7886700" cy="2852737"/>
          </a:xfrm>
        </p:spPr>
        <p:txBody>
          <a:bodyPr anchor="b"/>
          <a:lstStyle>
            <a:lvl1pPr>
              <a:defRPr sz="45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4B5E4401-0966-4BE9-949A-1941D46B255A}" type="datetime1">
              <a:rPr lang="zh-TW" altLang="en-US" smtClean="0"/>
              <a:t>2016/1/12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2216371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6286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291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02E5F7A8-39F7-47D3-84AF-7F86628B5FAB}" type="datetime1">
              <a:rPr lang="zh-TW" altLang="en-US" smtClean="0"/>
              <a:t>2016/1/12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3334492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629841" y="365126"/>
            <a:ext cx="78867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smtClean="0"/>
              <a:t>按一下以編輯母片文字樣式</a:t>
            </a:r>
          </a:p>
        </p:txBody>
      </p:sp>
      <p:sp>
        <p:nvSpPr>
          <p:cNvPr id="4" name="內容版面配置區 3"/>
          <p:cNvSpPr>
            <a:spLocks noGrp="1"/>
          </p:cNvSpPr>
          <p:nvPr>
            <p:ph sz="half" idx="2"/>
          </p:nvPr>
        </p:nvSpPr>
        <p:spPr>
          <a:xfrm>
            <a:off x="629842" y="2505075"/>
            <a:ext cx="3868340"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29150" y="2505075"/>
            <a:ext cx="3887391"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2EF84A1C-B702-477E-9BF4-97BB9A31376D}" type="datetime1">
              <a:rPr lang="zh-TW" altLang="en-US" smtClean="0"/>
              <a:t>2016/1/12</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129008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B9DAD37B-8EDA-44B1-B8D7-9E8653376522}" type="datetime1">
              <a:rPr lang="zh-TW" altLang="en-US" smtClean="0"/>
              <a:t>2016/1/12</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1071572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EF73D677-579F-4601-A0E0-98D0EF8FF300}" type="datetime1">
              <a:rPr lang="zh-TW" altLang="en-US" smtClean="0"/>
              <a:t>2016/1/12</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4031277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29841" y="457200"/>
            <a:ext cx="2949178" cy="1600200"/>
          </a:xfrm>
        </p:spPr>
        <p:txBody>
          <a:bodyPr anchor="b"/>
          <a:lstStyle>
            <a:lvl1pPr>
              <a:defRPr sz="24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63204F25-68B9-4B98-A00F-22886F6765A0}" type="datetime1">
              <a:rPr lang="zh-TW" altLang="en-US" smtClean="0"/>
              <a:t>2016/1/12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3472315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629841" y="457200"/>
            <a:ext cx="2949178" cy="1600200"/>
          </a:xfrm>
        </p:spPr>
        <p:txBody>
          <a:bodyPr anchor="b"/>
          <a:lstStyle>
            <a:lvl1pPr>
              <a:defRPr sz="24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TW" altLang="en-US"/>
          </a:p>
        </p:txBody>
      </p:sp>
      <p:sp>
        <p:nvSpPr>
          <p:cNvPr id="4" name="文字版面配置區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835A57DF-E3E8-4590-BCB8-918F6FA7A470}" type="datetime1">
              <a:rPr lang="zh-TW" altLang="en-US" smtClean="0"/>
              <a:t>2016/1/12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1578714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9183A9F8-67B4-415C-958B-B847634E21C6}" type="datetime1">
              <a:rPr lang="zh-TW" altLang="en-US" smtClean="0"/>
              <a:t>2016/1/12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1937675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543675" y="365125"/>
            <a:ext cx="1971675"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628650" y="365125"/>
            <a:ext cx="5800725"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9BD22B4F-FCBB-477E-B7D1-1CF98B64D8ED}" type="datetime1">
              <a:rPr lang="zh-TW" altLang="en-US" smtClean="0"/>
              <a:t>2016/1/12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1900387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451B09C-9434-434F-8521-A32D48F8D9B0}" type="datetime1">
              <a:rPr lang="zh-TW" altLang="en-US" smtClean="0"/>
              <a:t>2016/1/12</a:t>
            </a:fld>
            <a:endParaRPr lang="zh-TW" altLang="en-US"/>
          </a:p>
        </p:txBody>
      </p:sp>
      <p:sp>
        <p:nvSpPr>
          <p:cNvPr id="5" name="頁尾版面配置區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D6D0F78-E2D1-4ADE-B2ED-40AB43ACB23D}" type="slidenum">
              <a:rPr lang="zh-TW" altLang="en-US" smtClean="0"/>
              <a:t>‹#›</a:t>
            </a:fld>
            <a:endParaRPr lang="zh-TW" altLang="en-US"/>
          </a:p>
        </p:txBody>
      </p:sp>
    </p:spTree>
    <p:extLst>
      <p:ext uri="{BB962C8B-B14F-4D97-AF65-F5344CB8AC3E}">
        <p14:creationId xmlns:p14="http://schemas.microsoft.com/office/powerpoint/2010/main" val="38575259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0.png"/><Relationship Id="rId7"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35.png"/></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4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76201"/>
            <a:ext cx="9144000" cy="2936966"/>
          </a:xfrm>
        </p:spPr>
        <p:txBody>
          <a:bodyPr>
            <a:noAutofit/>
          </a:bodyPr>
          <a:lstStyle/>
          <a:p>
            <a:r>
              <a:rPr lang="en-US" altLang="zh-TW" sz="4400" dirty="0">
                <a:latin typeface="Times New Roman" panose="02020603050405020304" pitchFamily="18" charset="0"/>
                <a:cs typeface="Times New Roman" panose="02020603050405020304" pitchFamily="18" charset="0"/>
              </a:rPr>
              <a:t>Integrating a Piecewise Linear Representation Method and a Neural </a:t>
            </a:r>
            <a:r>
              <a:rPr lang="en-US" altLang="zh-TW" sz="4400" dirty="0" smtClean="0">
                <a:latin typeface="Times New Roman" panose="02020603050405020304" pitchFamily="18" charset="0"/>
                <a:cs typeface="Times New Roman" panose="02020603050405020304" pitchFamily="18" charset="0"/>
              </a:rPr>
              <a:t>Network</a:t>
            </a:r>
            <a:r>
              <a:rPr lang="zh-TW" altLang="en-US" sz="4400" dirty="0" smtClean="0">
                <a:latin typeface="Times New Roman" panose="02020603050405020304" pitchFamily="18" charset="0"/>
                <a:cs typeface="Times New Roman" panose="02020603050405020304" pitchFamily="18" charset="0"/>
              </a:rPr>
              <a:t> </a:t>
            </a:r>
            <a:r>
              <a:rPr lang="en-US" altLang="zh-TW" sz="4400" dirty="0" smtClean="0">
                <a:latin typeface="Times New Roman" panose="02020603050405020304" pitchFamily="18" charset="0"/>
                <a:cs typeface="Times New Roman" panose="02020603050405020304" pitchFamily="18" charset="0"/>
              </a:rPr>
              <a:t>Model </a:t>
            </a:r>
            <a:r>
              <a:rPr lang="en-US" altLang="zh-TW" sz="4400" dirty="0">
                <a:latin typeface="Times New Roman" panose="02020603050405020304" pitchFamily="18" charset="0"/>
                <a:cs typeface="Times New Roman" panose="02020603050405020304" pitchFamily="18" charset="0"/>
              </a:rPr>
              <a:t>for Stock Trading Points Prediction</a:t>
            </a:r>
            <a:endParaRPr lang="zh-TW" altLang="en-US" sz="4400"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0" y="3204518"/>
            <a:ext cx="9144000" cy="3482031"/>
          </a:xfrm>
        </p:spPr>
        <p:txBody>
          <a:bodyPr>
            <a:normAutofit/>
          </a:bodyPr>
          <a:lstStyle/>
          <a:p>
            <a:r>
              <a:rPr lang="en-US" altLang="zh-TW" sz="2000" dirty="0">
                <a:latin typeface="Times New Roman" panose="02020603050405020304" pitchFamily="18" charset="0"/>
                <a:cs typeface="Times New Roman" panose="02020603050405020304" pitchFamily="18" charset="0"/>
              </a:rPr>
              <a:t>Pei-</a:t>
            </a:r>
            <a:r>
              <a:rPr lang="en-US" altLang="zh-TW" sz="2000" dirty="0" err="1">
                <a:latin typeface="Times New Roman" panose="02020603050405020304" pitchFamily="18" charset="0"/>
                <a:cs typeface="Times New Roman" panose="02020603050405020304" pitchFamily="18" charset="0"/>
              </a:rPr>
              <a:t>Chann</a:t>
            </a:r>
            <a:r>
              <a:rPr lang="en-US" altLang="zh-TW" sz="2000" dirty="0">
                <a:latin typeface="Times New Roman" panose="02020603050405020304" pitchFamily="18" charset="0"/>
                <a:cs typeface="Times New Roman" panose="02020603050405020304" pitchFamily="18" charset="0"/>
              </a:rPr>
              <a:t> Chang, Chin-Yuan Fan, and Chen-</a:t>
            </a:r>
            <a:r>
              <a:rPr lang="en-US" altLang="zh-TW" sz="2000" dirty="0" err="1">
                <a:latin typeface="Times New Roman" panose="02020603050405020304" pitchFamily="18" charset="0"/>
                <a:cs typeface="Times New Roman" panose="02020603050405020304" pitchFamily="18" charset="0"/>
              </a:rPr>
              <a:t>Hao</a:t>
            </a:r>
            <a:r>
              <a:rPr lang="en-US" altLang="zh-TW" sz="2000" dirty="0">
                <a:latin typeface="Times New Roman" panose="02020603050405020304" pitchFamily="18" charset="0"/>
                <a:cs typeface="Times New Roman" panose="02020603050405020304" pitchFamily="18" charset="0"/>
              </a:rPr>
              <a:t> </a:t>
            </a:r>
            <a:r>
              <a:rPr lang="en-US" altLang="zh-TW" sz="2000" dirty="0" smtClean="0">
                <a:latin typeface="Times New Roman" panose="02020603050405020304" pitchFamily="18" charset="0"/>
                <a:cs typeface="Times New Roman" panose="02020603050405020304" pitchFamily="18" charset="0"/>
              </a:rPr>
              <a:t>Liu</a:t>
            </a:r>
          </a:p>
          <a:p>
            <a:r>
              <a:rPr lang="en-US" altLang="zh-TW" sz="2000" dirty="0" smtClean="0">
                <a:latin typeface="Times New Roman" panose="02020603050405020304" pitchFamily="18" charset="0"/>
                <a:cs typeface="Times New Roman" panose="02020603050405020304" pitchFamily="18" charset="0"/>
              </a:rPr>
              <a:t>Yuan </a:t>
            </a:r>
            <a:r>
              <a:rPr lang="en-US" altLang="zh-TW" sz="2000" dirty="0" err="1">
                <a:latin typeface="Times New Roman" panose="02020603050405020304" pitchFamily="18" charset="0"/>
                <a:cs typeface="Times New Roman" panose="02020603050405020304" pitchFamily="18" charset="0"/>
              </a:rPr>
              <a:t>Ze</a:t>
            </a:r>
            <a:r>
              <a:rPr lang="en-US" altLang="zh-TW" sz="2000" dirty="0">
                <a:latin typeface="Times New Roman" panose="02020603050405020304" pitchFamily="18" charset="0"/>
                <a:cs typeface="Times New Roman" panose="02020603050405020304" pitchFamily="18" charset="0"/>
              </a:rPr>
              <a:t> </a:t>
            </a:r>
            <a:r>
              <a:rPr lang="en-US" altLang="zh-TW" sz="2000" dirty="0" smtClean="0">
                <a:latin typeface="Times New Roman" panose="02020603050405020304" pitchFamily="18" charset="0"/>
                <a:cs typeface="Times New Roman" panose="02020603050405020304" pitchFamily="18" charset="0"/>
              </a:rPr>
              <a:t>University</a:t>
            </a:r>
            <a:endParaRPr lang="en-US" altLang="zh-TW" sz="2000" dirty="0" smtClean="0">
              <a:latin typeface="Times New Roman" panose="02020603050405020304" pitchFamily="18" charset="0"/>
              <a:cs typeface="Times New Roman" panose="02020603050405020304" pitchFamily="18" charset="0"/>
            </a:endParaRPr>
          </a:p>
          <a:p>
            <a:r>
              <a:rPr lang="en-US" altLang="zh-TW" sz="2000" dirty="0">
                <a:latin typeface="Times New Roman" panose="02020603050405020304" pitchFamily="18" charset="0"/>
                <a:cs typeface="Times New Roman" panose="02020603050405020304" pitchFamily="18" charset="0"/>
              </a:rPr>
              <a:t>IEEE TRANSACTIONS ON </a:t>
            </a:r>
            <a:r>
              <a:rPr lang="en-US" altLang="zh-TW" sz="2000" dirty="0" smtClean="0">
                <a:latin typeface="Times New Roman" panose="02020603050405020304" pitchFamily="18" charset="0"/>
                <a:cs typeface="Times New Roman" panose="02020603050405020304" pitchFamily="18" charset="0"/>
              </a:rPr>
              <a:t>SYSTEMS</a:t>
            </a:r>
            <a:r>
              <a:rPr lang="en-US" altLang="zh-TW" sz="2000" dirty="0">
                <a:latin typeface="Times New Roman" panose="02020603050405020304" pitchFamily="18" charset="0"/>
                <a:cs typeface="Times New Roman" panose="02020603050405020304" pitchFamily="18" charset="0"/>
              </a:rPr>
              <a:t>, MAN, AND CYBERNETICS—PART C: APPLICATIONS AND REVIEWS, </a:t>
            </a:r>
            <a:r>
              <a:rPr lang="en-US" altLang="zh-TW" sz="2000" dirty="0" smtClean="0">
                <a:latin typeface="Times New Roman" panose="02020603050405020304" pitchFamily="18" charset="0"/>
                <a:cs typeface="Times New Roman" panose="02020603050405020304" pitchFamily="18" charset="0"/>
              </a:rPr>
              <a:t>2009</a:t>
            </a:r>
          </a:p>
          <a:p>
            <a:r>
              <a:rPr lang="en-US" altLang="zh-TW" sz="2000" dirty="0" smtClean="0">
                <a:latin typeface="Times New Roman" panose="02020603050405020304" pitchFamily="18" charset="0"/>
                <a:cs typeface="Times New Roman" panose="02020603050405020304" pitchFamily="18" charset="0"/>
              </a:rPr>
              <a:t>pp. </a:t>
            </a:r>
            <a:r>
              <a:rPr lang="en-US" altLang="zh-TW" sz="2000" dirty="0">
                <a:latin typeface="Times New Roman" panose="02020603050405020304" pitchFamily="18" charset="0"/>
                <a:cs typeface="Times New Roman" panose="02020603050405020304" pitchFamily="18" charset="0"/>
              </a:rPr>
              <a:t>80 </a:t>
            </a:r>
            <a:r>
              <a:rPr lang="en-US" altLang="zh-TW" sz="2000" dirty="0">
                <a:latin typeface="Times New Roman" panose="02020603050405020304" pitchFamily="18" charset="0"/>
                <a:cs typeface="Times New Roman" panose="02020603050405020304" pitchFamily="18" charset="0"/>
              </a:rPr>
              <a:t>– 92</a:t>
            </a:r>
          </a:p>
          <a:p>
            <a:r>
              <a:rPr lang="en-US" altLang="zh-TW" sz="2000" dirty="0" smtClean="0">
                <a:latin typeface="Times New Roman" panose="02020603050405020304" pitchFamily="18" charset="0"/>
                <a:cs typeface="Times New Roman" panose="02020603050405020304" pitchFamily="18" charset="0"/>
              </a:rPr>
              <a:t>Presenter </a:t>
            </a:r>
            <a:r>
              <a:rPr lang="en-US" altLang="zh-TW" sz="2000" dirty="0" smtClean="0">
                <a:latin typeface="Times New Roman" panose="02020603050405020304" pitchFamily="18" charset="0"/>
                <a:cs typeface="Times New Roman" panose="02020603050405020304" pitchFamily="18" charset="0"/>
              </a:rPr>
              <a:t>: Yao-Chou </a:t>
            </a:r>
            <a:r>
              <a:rPr lang="en-US" altLang="zh-TW" sz="2000" dirty="0" smtClean="0">
                <a:latin typeface="Times New Roman" panose="02020603050405020304" pitchFamily="18" charset="0"/>
                <a:cs typeface="Times New Roman" panose="02020603050405020304" pitchFamily="18" charset="0"/>
              </a:rPr>
              <a:t>Tsai</a:t>
            </a:r>
          </a:p>
          <a:p>
            <a:pPr>
              <a:lnSpc>
                <a:spcPct val="150000"/>
              </a:lnSpc>
            </a:pPr>
            <a:r>
              <a:rPr lang="en-US" altLang="zh-TW" sz="2000" dirty="0" smtClean="0">
                <a:latin typeface="Times New Roman" panose="02020603050405020304" pitchFamily="18" charset="0"/>
                <a:cs typeface="Times New Roman" panose="02020603050405020304" pitchFamily="18" charset="0"/>
              </a:rPr>
              <a:t>Date: 2016/01/12</a:t>
            </a:r>
            <a:endParaRPr lang="zh-TW" altLang="en-US" sz="20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1</a:t>
            </a:fld>
            <a:endParaRPr lang="zh-TW" altLang="en-US"/>
          </a:p>
        </p:txBody>
      </p:sp>
    </p:spTree>
    <p:extLst>
      <p:ext uri="{BB962C8B-B14F-4D97-AF65-F5344CB8AC3E}">
        <p14:creationId xmlns:p14="http://schemas.microsoft.com/office/powerpoint/2010/main" val="27241994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smtClean="0">
                <a:latin typeface="Times New Roman" panose="02020603050405020304" pitchFamily="18" charset="0"/>
                <a:cs typeface="Times New Roman" panose="02020603050405020304" pitchFamily="18" charset="0"/>
              </a:rPr>
              <a:t>Abstract (1/2)</a:t>
            </a:r>
            <a:endParaRPr lang="zh-TW" altLang="en-US" sz="4000" b="1"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5249" y="809897"/>
            <a:ext cx="8924925" cy="5911580"/>
          </a:xfrm>
        </p:spPr>
        <p:txBody>
          <a:bodyPr vert="horz" lIns="91440" tIns="45720" rIns="91440" bIns="45720" rtlCol="0" anchor="t">
            <a:noAutofit/>
          </a:bodyPr>
          <a:lstStyle/>
          <a:p>
            <a:pPr marL="0" indent="0">
              <a:lnSpc>
                <a:spcPct val="150000"/>
              </a:lnSpc>
              <a:buNone/>
            </a:pPr>
            <a:r>
              <a:rPr lang="en-US" altLang="zh-TW" sz="2000" dirty="0" smtClean="0">
                <a:latin typeface="Times New Roman" panose="02020603050405020304" pitchFamily="18" charset="0"/>
                <a:cs typeface="Times New Roman" panose="02020603050405020304" pitchFamily="18" charset="0"/>
              </a:rPr>
              <a:t>Recently</a:t>
            </a:r>
            <a:r>
              <a:rPr lang="en-US" altLang="zh-TW" sz="2000" dirty="0">
                <a:latin typeface="Times New Roman" panose="02020603050405020304" pitchFamily="18" charset="0"/>
                <a:cs typeface="Times New Roman" panose="02020603050405020304" pitchFamily="18" charset="0"/>
              </a:rPr>
              <a:t>, the piecewise linear representation (PLR) method has been applied to the </a:t>
            </a:r>
            <a:r>
              <a:rPr lang="en-US" altLang="zh-TW" sz="2000" dirty="0" smtClean="0">
                <a:latin typeface="Times New Roman" panose="02020603050405020304" pitchFamily="18" charset="0"/>
                <a:cs typeface="Times New Roman" panose="02020603050405020304" pitchFamily="18" charset="0"/>
              </a:rPr>
              <a:t>stock</a:t>
            </a:r>
            <a:r>
              <a:rPr lang="zh-TW" altLang="en-US" sz="2000" dirty="0" smtClean="0">
                <a:latin typeface="Times New Roman" panose="02020603050405020304" pitchFamily="18" charset="0"/>
                <a:cs typeface="Times New Roman" panose="02020603050405020304" pitchFamily="18" charset="0"/>
              </a:rPr>
              <a:t> </a:t>
            </a:r>
            <a:r>
              <a:rPr lang="en-US" altLang="zh-TW" sz="2000" dirty="0" smtClean="0">
                <a:latin typeface="Times New Roman" panose="02020603050405020304" pitchFamily="18" charset="0"/>
                <a:cs typeface="Times New Roman" panose="02020603050405020304" pitchFamily="18" charset="0"/>
              </a:rPr>
              <a:t>market </a:t>
            </a:r>
            <a:r>
              <a:rPr lang="en-US" altLang="zh-TW" sz="2000" dirty="0">
                <a:latin typeface="Times New Roman" panose="02020603050405020304" pitchFamily="18" charset="0"/>
                <a:cs typeface="Times New Roman" panose="02020603050405020304" pitchFamily="18" charset="0"/>
              </a:rPr>
              <a:t>for pattern matching. As such, similar patterns can be retrieved </a:t>
            </a:r>
            <a:r>
              <a:rPr lang="en-US" altLang="zh-TW" sz="2000" dirty="0" smtClean="0">
                <a:latin typeface="Times New Roman" panose="02020603050405020304" pitchFamily="18" charset="0"/>
                <a:cs typeface="Times New Roman" panose="02020603050405020304" pitchFamily="18" charset="0"/>
              </a:rPr>
              <a:t>from</a:t>
            </a:r>
            <a:r>
              <a:rPr lang="zh-TW" altLang="en-US" sz="2000" dirty="0" smtClean="0">
                <a:latin typeface="Times New Roman" panose="02020603050405020304" pitchFamily="18" charset="0"/>
                <a:cs typeface="Times New Roman" panose="02020603050405020304" pitchFamily="18" charset="0"/>
              </a:rPr>
              <a:t> </a:t>
            </a:r>
            <a:r>
              <a:rPr lang="en-US" altLang="zh-TW" sz="2000" dirty="0" smtClean="0">
                <a:latin typeface="Times New Roman" panose="02020603050405020304" pitchFamily="18" charset="0"/>
                <a:cs typeface="Times New Roman" panose="02020603050405020304" pitchFamily="18" charset="0"/>
              </a:rPr>
              <a:t>historical </a:t>
            </a:r>
            <a:r>
              <a:rPr lang="en-US" altLang="zh-TW" sz="2000" dirty="0">
                <a:latin typeface="Times New Roman" panose="02020603050405020304" pitchFamily="18" charset="0"/>
                <a:cs typeface="Times New Roman" panose="02020603050405020304" pitchFamily="18" charset="0"/>
              </a:rPr>
              <a:t>data and future prices of the stock can be predicted according to the patterns retrieved. In this paper, a different approach is taken by applying PLR to </a:t>
            </a:r>
            <a:r>
              <a:rPr lang="en-US" altLang="zh-TW" sz="2000" dirty="0" smtClean="0">
                <a:latin typeface="Times New Roman" panose="02020603050405020304" pitchFamily="18" charset="0"/>
                <a:cs typeface="Times New Roman" panose="02020603050405020304" pitchFamily="18" charset="0"/>
              </a:rPr>
              <a:t>decompose historical </a:t>
            </a:r>
            <a:r>
              <a:rPr lang="en-US" altLang="zh-TW" sz="2000" dirty="0">
                <a:latin typeface="Times New Roman" panose="02020603050405020304" pitchFamily="18" charset="0"/>
                <a:cs typeface="Times New Roman" panose="02020603050405020304" pitchFamily="18" charset="0"/>
              </a:rPr>
              <a:t>data into different segments. As a result, temporary turning points (trough or peak) of the historical stock data can be detected and inputted to the backpropagation neural network (BPN) for supervised training of the model. After this, a new set of test data can trigger the model when a buy or sell point is detected by BPN. An intelligent PLR (IPLR) model is further developed by integrating the genetic algorithm with the PLR to iteratively improve the threshold value of the PLR. Thus, it further increases the profitability of the model. </a:t>
            </a:r>
            <a:endParaRPr lang="zh-TW" altLang="en-US" sz="20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2</a:t>
            </a:fld>
            <a:endParaRPr lang="zh-TW" altLang="en-US" dirty="0"/>
          </a:p>
        </p:txBody>
      </p:sp>
    </p:spTree>
    <p:extLst>
      <p:ext uri="{BB962C8B-B14F-4D97-AF65-F5344CB8AC3E}">
        <p14:creationId xmlns:p14="http://schemas.microsoft.com/office/powerpoint/2010/main" val="18842125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smtClean="0">
                <a:latin typeface="Times New Roman" panose="02020603050405020304" pitchFamily="18" charset="0"/>
                <a:cs typeface="Times New Roman" panose="02020603050405020304" pitchFamily="18" charset="0"/>
              </a:rPr>
              <a:t>Abstract (2/2)</a:t>
            </a:r>
            <a:endParaRPr lang="zh-TW" altLang="en-US" sz="4000" b="1"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5249" y="809897"/>
            <a:ext cx="8924925" cy="5911580"/>
          </a:xfrm>
        </p:spPr>
        <p:txBody>
          <a:bodyPr vert="horz" lIns="91440" tIns="45720" rIns="91440" bIns="45720" rtlCol="0" anchor="t">
            <a:noAutofit/>
          </a:bodyPr>
          <a:lstStyle/>
          <a:p>
            <a:pPr marL="0" indent="0">
              <a:lnSpc>
                <a:spcPct val="150000"/>
              </a:lnSpc>
              <a:buNone/>
            </a:pPr>
            <a:r>
              <a:rPr lang="en-US" altLang="zh-TW" sz="2000" dirty="0">
                <a:latin typeface="Times New Roman" panose="02020603050405020304" pitchFamily="18" charset="0"/>
                <a:cs typeface="Times New Roman" panose="02020603050405020304" pitchFamily="18" charset="0"/>
              </a:rPr>
              <a:t>The proposed system is tested on three different types of stocks, i.e., uptrend, steady, and downtrend. The experimental results show that the IPLR approach can make significant amounts of profit on stocks with different variations. In conclusion, the proposed system is very effective and encouraging in that it predicts the future trading points of a specific stock.</a:t>
            </a:r>
            <a:endParaRPr lang="zh-TW" altLang="en-US" sz="20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3</a:t>
            </a:fld>
            <a:endParaRPr lang="zh-TW" altLang="en-US" dirty="0"/>
          </a:p>
        </p:txBody>
      </p:sp>
    </p:spTree>
    <p:extLst>
      <p:ext uri="{BB962C8B-B14F-4D97-AF65-F5344CB8AC3E}">
        <p14:creationId xmlns:p14="http://schemas.microsoft.com/office/powerpoint/2010/main" val="16862947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a:latin typeface="Times New Roman" panose="02020603050405020304" pitchFamily="18" charset="0"/>
                <a:ea typeface="標楷體" panose="03000509000000000000" pitchFamily="65" charset="-120"/>
              </a:rPr>
              <a:t>Pei-</a:t>
            </a:r>
            <a:r>
              <a:rPr lang="en-US" altLang="zh-TW" sz="4000" b="1" dirty="0" err="1">
                <a:latin typeface="Times New Roman" panose="02020603050405020304" pitchFamily="18" charset="0"/>
                <a:ea typeface="標楷體" panose="03000509000000000000" pitchFamily="65" charset="-120"/>
              </a:rPr>
              <a:t>Chann</a:t>
            </a:r>
            <a:r>
              <a:rPr lang="en-US" altLang="zh-TW" sz="4000" b="1" dirty="0">
                <a:latin typeface="Times New Roman" panose="02020603050405020304" pitchFamily="18" charset="0"/>
                <a:ea typeface="標楷體" panose="03000509000000000000" pitchFamily="65" charset="-120"/>
              </a:rPr>
              <a:t> </a:t>
            </a:r>
            <a:r>
              <a:rPr lang="en-US" altLang="zh-TW" sz="4000" b="1" dirty="0" smtClean="0">
                <a:latin typeface="Times New Roman" panose="02020603050405020304" pitchFamily="18" charset="0"/>
                <a:ea typeface="標楷體" panose="03000509000000000000" pitchFamily="65" charset="-120"/>
              </a:rPr>
              <a:t>Chang</a:t>
            </a:r>
            <a:r>
              <a:rPr lang="zh-TW" altLang="en-US" sz="4000" b="1" dirty="0" smtClean="0">
                <a:latin typeface="Times New Roman" panose="02020603050405020304" pitchFamily="18" charset="0"/>
                <a:ea typeface="標楷體" panose="03000509000000000000" pitchFamily="65" charset="-120"/>
              </a:rPr>
              <a:t> </a:t>
            </a:r>
            <a:r>
              <a:rPr lang="en-US" altLang="zh-TW" sz="4000" b="1" dirty="0" smtClean="0">
                <a:latin typeface="Times New Roman" panose="02020603050405020304" pitchFamily="18" charset="0"/>
                <a:ea typeface="標楷體" panose="03000509000000000000" pitchFamily="65" charset="-120"/>
              </a:rPr>
              <a:t>(</a:t>
            </a:r>
            <a:r>
              <a:rPr lang="zh-TW" altLang="en-US" sz="4000" b="1" dirty="0">
                <a:latin typeface="Times New Roman" panose="02020603050405020304" pitchFamily="18" charset="0"/>
                <a:ea typeface="標楷體" panose="03000509000000000000" pitchFamily="65" charset="-120"/>
              </a:rPr>
              <a:t>張百</a:t>
            </a:r>
            <a:r>
              <a:rPr lang="zh-TW" altLang="en-US" sz="4000" b="1" dirty="0" smtClean="0">
                <a:latin typeface="Times New Roman" panose="02020603050405020304" pitchFamily="18" charset="0"/>
                <a:ea typeface="標楷體" panose="03000509000000000000" pitchFamily="65" charset="-120"/>
              </a:rPr>
              <a:t>棧</a:t>
            </a:r>
            <a:r>
              <a:rPr lang="en-US" altLang="zh-TW" sz="4000" b="1" dirty="0" smtClean="0">
                <a:latin typeface="Times New Roman" panose="02020603050405020304" pitchFamily="18" charset="0"/>
                <a:ea typeface="標楷體" panose="03000509000000000000" pitchFamily="65" charset="-120"/>
              </a:rPr>
              <a:t>)</a:t>
            </a:r>
            <a:endParaRPr lang="zh-TW" altLang="en-US" sz="40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內容版面配置區 2"/>
          <p:cNvSpPr>
            <a:spLocks noGrp="1"/>
          </p:cNvSpPr>
          <p:nvPr>
            <p:ph idx="1"/>
          </p:nvPr>
        </p:nvSpPr>
        <p:spPr>
          <a:xfrm>
            <a:off x="95249" y="809897"/>
            <a:ext cx="8924925" cy="5911580"/>
          </a:xfrm>
        </p:spPr>
        <p:txBody>
          <a:bodyPr vert="horz" lIns="91440" tIns="45720" rIns="91440" bIns="45720" rtlCol="0" anchor="t">
            <a:noAutofit/>
          </a:bodyPr>
          <a:lstStyle/>
          <a:p>
            <a:pPr marL="0" indent="0">
              <a:lnSpc>
                <a:spcPct val="150000"/>
              </a:lnSpc>
              <a:buNone/>
            </a:pPr>
            <a:r>
              <a:rPr lang="zh-TW" altLang="en-US" sz="2000" u="sng" dirty="0" smtClean="0">
                <a:latin typeface="Times New Roman" panose="02020603050405020304" pitchFamily="18" charset="0"/>
                <a:ea typeface="標楷體" panose="03000509000000000000" pitchFamily="65" charset="-120"/>
              </a:rPr>
              <a:t>學歷</a:t>
            </a:r>
            <a:r>
              <a:rPr lang="en-US" altLang="zh-TW" sz="2000" u="sng" dirty="0" smtClean="0">
                <a:latin typeface="Times New Roman" panose="02020603050405020304" pitchFamily="18" charset="0"/>
                <a:ea typeface="標楷體" panose="03000509000000000000" pitchFamily="65" charset="-120"/>
              </a:rPr>
              <a:t>:</a:t>
            </a:r>
          </a:p>
          <a:p>
            <a:pPr marL="0" indent="0">
              <a:lnSpc>
                <a:spcPct val="150000"/>
              </a:lnSpc>
              <a:buNone/>
            </a:pPr>
            <a:r>
              <a:rPr lang="zh-TW" altLang="en-US" sz="2000" dirty="0" smtClean="0">
                <a:latin typeface="Times New Roman" panose="02020603050405020304" pitchFamily="18" charset="0"/>
                <a:ea typeface="標楷體" panose="03000509000000000000" pitchFamily="65" charset="-120"/>
              </a:rPr>
              <a:t>美國</a:t>
            </a:r>
            <a:r>
              <a:rPr lang="zh-TW" altLang="en-US" sz="2000" dirty="0">
                <a:latin typeface="Times New Roman" panose="02020603050405020304" pitchFamily="18" charset="0"/>
                <a:ea typeface="標楷體" panose="03000509000000000000" pitchFamily="65" charset="-120"/>
              </a:rPr>
              <a:t>理海大學工業工程博士</a:t>
            </a:r>
            <a:r>
              <a:rPr lang="en-US" altLang="zh-TW" sz="2000" dirty="0">
                <a:latin typeface="Times New Roman" panose="02020603050405020304" pitchFamily="18" charset="0"/>
                <a:ea typeface="標楷體" panose="03000509000000000000" pitchFamily="65" charset="-120"/>
              </a:rPr>
              <a:t>, June 1989</a:t>
            </a:r>
            <a:br>
              <a:rPr lang="en-US" altLang="zh-TW" sz="2000" dirty="0">
                <a:latin typeface="Times New Roman" panose="02020603050405020304" pitchFamily="18" charset="0"/>
                <a:ea typeface="標楷體" panose="03000509000000000000" pitchFamily="65" charset="-120"/>
              </a:rPr>
            </a:br>
            <a:r>
              <a:rPr lang="zh-TW" altLang="en-US" sz="2000" dirty="0">
                <a:latin typeface="Times New Roman" panose="02020603050405020304" pitchFamily="18" charset="0"/>
                <a:ea typeface="標楷體" panose="03000509000000000000" pitchFamily="65" charset="-120"/>
              </a:rPr>
              <a:t>美國理海大學工業工程碩士</a:t>
            </a:r>
            <a:r>
              <a:rPr lang="en-US" altLang="zh-TW" sz="2000" dirty="0">
                <a:latin typeface="Times New Roman" panose="02020603050405020304" pitchFamily="18" charset="0"/>
                <a:ea typeface="標楷體" panose="03000509000000000000" pitchFamily="65" charset="-120"/>
              </a:rPr>
              <a:t>, October 1985</a:t>
            </a:r>
            <a:br>
              <a:rPr lang="en-US" altLang="zh-TW" sz="2000" dirty="0">
                <a:latin typeface="Times New Roman" panose="02020603050405020304" pitchFamily="18" charset="0"/>
                <a:ea typeface="標楷體" panose="03000509000000000000" pitchFamily="65" charset="-120"/>
              </a:rPr>
            </a:br>
            <a:r>
              <a:rPr lang="zh-TW" altLang="en-US" sz="2000" dirty="0">
                <a:latin typeface="Times New Roman" panose="02020603050405020304" pitchFamily="18" charset="0"/>
                <a:ea typeface="標楷體" panose="03000509000000000000" pitchFamily="65" charset="-120"/>
              </a:rPr>
              <a:t>國立清華大學工業工程學士</a:t>
            </a:r>
            <a:r>
              <a:rPr lang="en-US" altLang="zh-TW" sz="2000" dirty="0">
                <a:latin typeface="Times New Roman" panose="02020603050405020304" pitchFamily="18" charset="0"/>
                <a:ea typeface="標楷體" panose="03000509000000000000" pitchFamily="65" charset="-120"/>
              </a:rPr>
              <a:t>, June 1979</a:t>
            </a:r>
          </a:p>
          <a:p>
            <a:pPr marL="0" indent="0">
              <a:lnSpc>
                <a:spcPct val="150000"/>
              </a:lnSpc>
              <a:buNone/>
            </a:pPr>
            <a:r>
              <a:rPr lang="zh-TW" altLang="en-US" sz="2000" u="sng" dirty="0" smtClean="0">
                <a:latin typeface="Times New Roman" panose="02020603050405020304" pitchFamily="18" charset="0"/>
                <a:ea typeface="標楷體" panose="03000509000000000000" pitchFamily="65" charset="-120"/>
              </a:rPr>
              <a:t>經歷</a:t>
            </a:r>
            <a:r>
              <a:rPr lang="en-US" altLang="zh-TW" sz="2000" u="sng" dirty="0" smtClean="0">
                <a:latin typeface="Times New Roman" panose="02020603050405020304" pitchFamily="18" charset="0"/>
                <a:ea typeface="標楷體" panose="03000509000000000000" pitchFamily="65" charset="-120"/>
              </a:rPr>
              <a:t>:</a:t>
            </a:r>
          </a:p>
          <a:p>
            <a:pPr marL="457200" indent="-457200">
              <a:lnSpc>
                <a:spcPct val="150000"/>
              </a:lnSpc>
              <a:buAutoNum type="arabicPeriod"/>
            </a:pPr>
            <a:r>
              <a:rPr lang="zh-TW" altLang="en-US" sz="2000" dirty="0" smtClean="0">
                <a:latin typeface="Times New Roman" panose="02020603050405020304" pitchFamily="18" charset="0"/>
                <a:ea typeface="標楷體" panose="03000509000000000000" pitchFamily="65" charset="-120"/>
              </a:rPr>
              <a:t>元</a:t>
            </a:r>
            <a:r>
              <a:rPr lang="zh-TW" altLang="en-US" sz="2000" dirty="0">
                <a:latin typeface="Times New Roman" panose="02020603050405020304" pitchFamily="18" charset="0"/>
                <a:ea typeface="標楷體" panose="03000509000000000000" pitchFamily="65" charset="-120"/>
              </a:rPr>
              <a:t>智大學</a:t>
            </a:r>
            <a:r>
              <a:rPr lang="zh-TW" altLang="en-US" sz="2000" dirty="0" smtClean="0">
                <a:latin typeface="Times New Roman" panose="02020603050405020304" pitchFamily="18" charset="0"/>
                <a:ea typeface="標楷體" panose="03000509000000000000" pitchFamily="65" charset="-120"/>
              </a:rPr>
              <a:t>教務長</a:t>
            </a:r>
            <a:endParaRPr lang="en-US" altLang="zh-TW" sz="2000" dirty="0" smtClean="0">
              <a:latin typeface="Times New Roman" panose="02020603050405020304" pitchFamily="18" charset="0"/>
              <a:ea typeface="標楷體" panose="03000509000000000000" pitchFamily="65" charset="-120"/>
            </a:endParaRPr>
          </a:p>
          <a:p>
            <a:pPr marL="457200" indent="-457200">
              <a:lnSpc>
                <a:spcPct val="150000"/>
              </a:lnSpc>
              <a:buAutoNum type="arabicPeriod"/>
            </a:pPr>
            <a:r>
              <a:rPr lang="zh-TW" altLang="en-US" sz="2000" dirty="0">
                <a:latin typeface="Times New Roman" panose="02020603050405020304" pitchFamily="18" charset="0"/>
                <a:ea typeface="標楷體" panose="03000509000000000000" pitchFamily="65" charset="-120"/>
              </a:rPr>
              <a:t>國科會工業工程學門計劃複審委員及規劃</a:t>
            </a:r>
            <a:r>
              <a:rPr lang="zh-TW" altLang="en-US" sz="2000" dirty="0" smtClean="0">
                <a:latin typeface="Times New Roman" panose="02020603050405020304" pitchFamily="18" charset="0"/>
                <a:ea typeface="標楷體" panose="03000509000000000000" pitchFamily="65" charset="-120"/>
              </a:rPr>
              <a:t>委員</a:t>
            </a:r>
            <a:endParaRPr lang="en-US" altLang="zh-TW" sz="2000" dirty="0" smtClean="0">
              <a:latin typeface="Times New Roman" panose="02020603050405020304" pitchFamily="18" charset="0"/>
              <a:ea typeface="標楷體" panose="03000509000000000000" pitchFamily="65" charset="-120"/>
            </a:endParaRPr>
          </a:p>
          <a:p>
            <a:pPr marL="0" indent="0">
              <a:lnSpc>
                <a:spcPct val="150000"/>
              </a:lnSpc>
              <a:buNone/>
            </a:pPr>
            <a:r>
              <a:rPr lang="zh-TW" altLang="en-US" sz="2000" u="sng" dirty="0" smtClean="0">
                <a:latin typeface="Times New Roman" panose="02020603050405020304" pitchFamily="18" charset="0"/>
                <a:ea typeface="標楷體" panose="03000509000000000000" pitchFamily="65" charset="-120"/>
              </a:rPr>
              <a:t>專業領域</a:t>
            </a:r>
            <a:r>
              <a:rPr lang="en-US" altLang="zh-TW" sz="2000" u="sng" dirty="0" smtClean="0">
                <a:latin typeface="Times New Roman" panose="02020603050405020304" pitchFamily="18" charset="0"/>
                <a:ea typeface="標楷體" panose="03000509000000000000" pitchFamily="65" charset="-120"/>
              </a:rPr>
              <a:t>:</a:t>
            </a:r>
          </a:p>
          <a:p>
            <a:pPr marL="0" indent="0">
              <a:lnSpc>
                <a:spcPct val="150000"/>
              </a:lnSpc>
              <a:buNone/>
            </a:pPr>
            <a:r>
              <a:rPr lang="zh-TW" altLang="en-US" sz="2000" dirty="0">
                <a:latin typeface="Times New Roman" panose="02020603050405020304" pitchFamily="18" charset="0"/>
                <a:ea typeface="標楷體" panose="03000509000000000000" pitchFamily="65" charset="-120"/>
              </a:rPr>
              <a:t>生產排程、人工智慧應用、</a:t>
            </a:r>
            <a:r>
              <a:rPr lang="en-US" altLang="zh-TW" sz="2000" dirty="0">
                <a:latin typeface="Times New Roman" panose="02020603050405020304" pitchFamily="18" charset="0"/>
                <a:ea typeface="標楷體" panose="03000509000000000000" pitchFamily="65" charset="-120"/>
              </a:rPr>
              <a:t>ERP</a:t>
            </a:r>
            <a:r>
              <a:rPr lang="zh-TW" altLang="en-US" sz="2000" dirty="0">
                <a:latin typeface="Times New Roman" panose="02020603050405020304" pitchFamily="18" charset="0"/>
                <a:ea typeface="標楷體" panose="03000509000000000000" pitchFamily="65" charset="-120"/>
              </a:rPr>
              <a:t>、全球運籌、企業改造 </a:t>
            </a:r>
            <a:endParaRPr lang="en-US" altLang="zh-TW" sz="2000" dirty="0">
              <a:latin typeface="Times New Roman" panose="02020603050405020304" pitchFamily="18" charset="0"/>
              <a:ea typeface="標楷體" panose="03000509000000000000" pitchFamily="65" charset="-120"/>
            </a:endParaRPr>
          </a:p>
          <a:p>
            <a:pPr marL="0" indent="0">
              <a:lnSpc>
                <a:spcPct val="150000"/>
              </a:lnSpc>
              <a:buNone/>
            </a:pPr>
            <a:endParaRPr lang="zh-TW" altLang="en-US" sz="2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4</a:t>
            </a:fld>
            <a:endParaRPr lang="zh-TW" altLang="en-US" dirty="0"/>
          </a:p>
        </p:txBody>
      </p:sp>
      <p:pic>
        <p:nvPicPr>
          <p:cNvPr id="5" name="圖片 4"/>
          <p:cNvPicPr>
            <a:picLocks noChangeAspect="1"/>
          </p:cNvPicPr>
          <p:nvPr/>
        </p:nvPicPr>
        <p:blipFill>
          <a:blip r:embed="rId3"/>
          <a:stretch>
            <a:fillRect/>
          </a:stretch>
        </p:blipFill>
        <p:spPr>
          <a:xfrm>
            <a:off x="6829425" y="809896"/>
            <a:ext cx="1685925" cy="1933575"/>
          </a:xfrm>
          <a:prstGeom prst="rect">
            <a:avLst/>
          </a:prstGeom>
        </p:spPr>
      </p:pic>
    </p:spTree>
    <p:extLst>
      <p:ext uri="{BB962C8B-B14F-4D97-AF65-F5344CB8AC3E}">
        <p14:creationId xmlns:p14="http://schemas.microsoft.com/office/powerpoint/2010/main" val="415026527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a:latin typeface="Times New Roman" panose="02020603050405020304" pitchFamily="18" charset="0"/>
                <a:cs typeface="Times New Roman" panose="02020603050405020304" pitchFamily="18" charset="0"/>
              </a:rPr>
              <a:t>Piecewise </a:t>
            </a:r>
            <a:r>
              <a:rPr lang="en-US" altLang="zh-TW" sz="4000" b="1">
                <a:latin typeface="Times New Roman" panose="02020603050405020304" pitchFamily="18" charset="0"/>
                <a:cs typeface="Times New Roman" panose="02020603050405020304" pitchFamily="18" charset="0"/>
              </a:rPr>
              <a:t>Linear </a:t>
            </a:r>
            <a:r>
              <a:rPr lang="en-US" altLang="zh-TW" sz="4000" b="1" smtClean="0">
                <a:latin typeface="Times New Roman" panose="02020603050405020304" pitchFamily="18" charset="0"/>
                <a:cs typeface="Times New Roman" panose="02020603050405020304" pitchFamily="18" charset="0"/>
              </a:rPr>
              <a:t>Representation(1/8)</a:t>
            </a:r>
            <a:endParaRPr lang="zh-TW" altLang="en-US" sz="4000" b="1"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5</a:t>
            </a:fld>
            <a:endParaRPr lang="zh-TW" altLang="en-US" dirty="0"/>
          </a:p>
        </p:txBody>
      </p:sp>
      <p:pic>
        <p:nvPicPr>
          <p:cNvPr id="7" name="內容版面配置區 6"/>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488125" y="2376207"/>
            <a:ext cx="8139171" cy="3980144"/>
          </a:xfrm>
        </p:spPr>
      </p:pic>
      <p:graphicFrame>
        <p:nvGraphicFramePr>
          <p:cNvPr id="9" name="表格 8"/>
          <p:cNvGraphicFramePr>
            <a:graphicFrameLocks noGrp="1"/>
          </p:cNvGraphicFramePr>
          <p:nvPr>
            <p:extLst>
              <p:ext uri="{D42A27DB-BD31-4B8C-83A1-F6EECF244321}">
                <p14:modId xmlns:p14="http://schemas.microsoft.com/office/powerpoint/2010/main" val="3213731151"/>
              </p:ext>
            </p:extLst>
          </p:nvPr>
        </p:nvGraphicFramePr>
        <p:xfrm>
          <a:off x="1069926" y="1547441"/>
          <a:ext cx="6975567" cy="741680"/>
        </p:xfrm>
        <a:graphic>
          <a:graphicData uri="http://schemas.openxmlformats.org/drawingml/2006/table">
            <a:tbl>
              <a:tblPr firstRow="1" bandRow="1">
                <a:tableStyleId>{5940675A-B579-460E-94D1-54222C63F5DA}</a:tableStyleId>
              </a:tblPr>
              <a:tblGrid>
                <a:gridCol w="775063"/>
                <a:gridCol w="775063"/>
                <a:gridCol w="775063"/>
                <a:gridCol w="775063"/>
                <a:gridCol w="775063"/>
                <a:gridCol w="775063"/>
                <a:gridCol w="775063"/>
                <a:gridCol w="775063"/>
                <a:gridCol w="775063"/>
              </a:tblGrid>
              <a:tr h="370840">
                <a:tc>
                  <a:txBody>
                    <a:bodyPr/>
                    <a:lstStyle/>
                    <a:p>
                      <a:r>
                        <a:rPr lang="en-US" altLang="zh-TW" dirty="0" smtClean="0"/>
                        <a:t>Day</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4</a:t>
                      </a:r>
                      <a:endParaRPr lang="zh-TW" altLang="en-US" dirty="0"/>
                    </a:p>
                  </a:txBody>
                  <a:tcPr/>
                </a:tc>
                <a:tc>
                  <a:txBody>
                    <a:bodyPr/>
                    <a:lstStyle/>
                    <a:p>
                      <a:r>
                        <a:rPr lang="en-US" altLang="zh-TW" dirty="0" smtClean="0"/>
                        <a:t>5</a:t>
                      </a:r>
                      <a:endParaRPr lang="zh-TW" altLang="en-US" dirty="0"/>
                    </a:p>
                  </a:txBody>
                  <a:tcPr/>
                </a:tc>
                <a:tc>
                  <a:txBody>
                    <a:bodyPr/>
                    <a:lstStyle/>
                    <a:p>
                      <a:r>
                        <a:rPr lang="en-US" altLang="zh-TW" dirty="0" smtClean="0"/>
                        <a:t>6</a:t>
                      </a:r>
                      <a:endParaRPr lang="zh-TW" altLang="en-US" dirty="0"/>
                    </a:p>
                  </a:txBody>
                  <a:tcPr/>
                </a:tc>
                <a:tc>
                  <a:txBody>
                    <a:bodyPr/>
                    <a:lstStyle/>
                    <a:p>
                      <a:r>
                        <a:rPr lang="en-US" altLang="zh-TW" dirty="0" smtClean="0"/>
                        <a:t>7</a:t>
                      </a:r>
                      <a:endParaRPr lang="zh-TW" altLang="en-US" dirty="0"/>
                    </a:p>
                  </a:txBody>
                  <a:tcPr/>
                </a:tc>
                <a:tc>
                  <a:txBody>
                    <a:bodyPr/>
                    <a:lstStyle/>
                    <a:p>
                      <a:r>
                        <a:rPr lang="en-US" altLang="zh-TW" dirty="0" smtClean="0"/>
                        <a:t>8</a:t>
                      </a:r>
                      <a:endParaRPr lang="zh-TW" altLang="en-US" dirty="0"/>
                    </a:p>
                  </a:txBody>
                  <a:tcPr/>
                </a:tc>
              </a:tr>
              <a:tr h="370840">
                <a:tc>
                  <a:txBody>
                    <a:bodyPr/>
                    <a:lstStyle/>
                    <a:p>
                      <a:r>
                        <a:rPr lang="en-US" altLang="zh-TW" dirty="0" smtClean="0"/>
                        <a:t>Price</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10</a:t>
                      </a:r>
                      <a:endParaRPr lang="zh-TW" altLang="en-US" dirty="0"/>
                    </a:p>
                  </a:txBody>
                  <a:tcPr/>
                </a:tc>
                <a:tc>
                  <a:txBody>
                    <a:bodyPr/>
                    <a:lstStyle/>
                    <a:p>
                      <a:r>
                        <a:rPr lang="en-US" altLang="zh-TW" dirty="0" smtClean="0"/>
                        <a:t>50</a:t>
                      </a:r>
                      <a:endParaRPr lang="zh-TW" altLang="en-US" dirty="0"/>
                    </a:p>
                  </a:txBody>
                  <a:tcPr/>
                </a:tc>
                <a:tc>
                  <a:txBody>
                    <a:bodyPr/>
                    <a:lstStyle/>
                    <a:p>
                      <a:r>
                        <a:rPr lang="en-US" altLang="zh-TW" dirty="0" smtClean="0"/>
                        <a:t>15</a:t>
                      </a:r>
                      <a:endParaRPr lang="zh-TW" altLang="en-US" dirty="0"/>
                    </a:p>
                  </a:txBody>
                  <a:tcPr/>
                </a:tc>
                <a:tc>
                  <a:txBody>
                    <a:bodyPr/>
                    <a:lstStyle/>
                    <a:p>
                      <a:r>
                        <a:rPr lang="en-US" altLang="zh-TW" dirty="0" smtClean="0"/>
                        <a:t>50</a:t>
                      </a:r>
                      <a:endParaRPr lang="zh-TW" altLang="en-US" dirty="0"/>
                    </a:p>
                  </a:txBody>
                  <a:tcPr/>
                </a:tc>
                <a:tc>
                  <a:txBody>
                    <a:bodyPr/>
                    <a:lstStyle/>
                    <a:p>
                      <a:r>
                        <a:rPr lang="en-US" altLang="zh-TW" dirty="0" smtClean="0"/>
                        <a:t>-30</a:t>
                      </a:r>
                      <a:endParaRPr lang="zh-TW" altLang="en-US" dirty="0"/>
                    </a:p>
                  </a:txBody>
                  <a:tcPr/>
                </a:tc>
                <a:tc>
                  <a:txBody>
                    <a:bodyPr/>
                    <a:lstStyle/>
                    <a:p>
                      <a:r>
                        <a:rPr lang="en-US" altLang="zh-TW" dirty="0" smtClean="0"/>
                        <a:t>15</a:t>
                      </a:r>
                      <a:endParaRPr lang="zh-TW" altLang="en-US" dirty="0"/>
                    </a:p>
                  </a:txBody>
                  <a:tcPr/>
                </a:tc>
                <a:tc>
                  <a:txBody>
                    <a:bodyPr/>
                    <a:lstStyle/>
                    <a:p>
                      <a:r>
                        <a:rPr lang="en-US" altLang="zh-TW" dirty="0" smtClean="0"/>
                        <a:t>0</a:t>
                      </a:r>
                      <a:endParaRPr lang="zh-TW" altLang="en-US" dirty="0"/>
                    </a:p>
                  </a:txBody>
                  <a:tcPr/>
                </a:tc>
              </a:tr>
            </a:tbl>
          </a:graphicData>
        </a:graphic>
      </p:graphicFrame>
    </p:spTree>
    <p:extLst>
      <p:ext uri="{BB962C8B-B14F-4D97-AF65-F5344CB8AC3E}">
        <p14:creationId xmlns:p14="http://schemas.microsoft.com/office/powerpoint/2010/main" val="10155360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a:latin typeface="Times New Roman" panose="02020603050405020304" pitchFamily="18" charset="0"/>
                <a:cs typeface="Times New Roman" panose="02020603050405020304" pitchFamily="18" charset="0"/>
              </a:rPr>
              <a:t>Piecewise Linear </a:t>
            </a:r>
            <a:r>
              <a:rPr lang="en-US" altLang="zh-TW" sz="4000" b="1" dirty="0" smtClean="0">
                <a:latin typeface="Times New Roman" panose="02020603050405020304" pitchFamily="18" charset="0"/>
                <a:cs typeface="Times New Roman" panose="02020603050405020304" pitchFamily="18" charset="0"/>
              </a:rPr>
              <a:t>Representation</a:t>
            </a:r>
            <a:endParaRPr lang="zh-TW" altLang="en-US" sz="4000" b="1"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6</a:t>
            </a:fld>
            <a:endParaRPr lang="zh-TW" altLang="en-US" dirty="0"/>
          </a:p>
        </p:txBody>
      </p:sp>
      <p:graphicFrame>
        <p:nvGraphicFramePr>
          <p:cNvPr id="9" name="表格 8"/>
          <p:cNvGraphicFramePr>
            <a:graphicFrameLocks noGrp="1"/>
          </p:cNvGraphicFramePr>
          <p:nvPr>
            <p:extLst>
              <p:ext uri="{D42A27DB-BD31-4B8C-83A1-F6EECF244321}">
                <p14:modId xmlns:p14="http://schemas.microsoft.com/office/powerpoint/2010/main" val="1242187419"/>
              </p:ext>
            </p:extLst>
          </p:nvPr>
        </p:nvGraphicFramePr>
        <p:xfrm>
          <a:off x="2257166" y="1702639"/>
          <a:ext cx="6180624" cy="594360"/>
        </p:xfrm>
        <a:graphic>
          <a:graphicData uri="http://schemas.openxmlformats.org/drawingml/2006/table">
            <a:tbl>
              <a:tblPr firstRow="1" bandRow="1">
                <a:tableStyleId>{5940675A-B579-460E-94D1-54222C63F5DA}</a:tableStyleId>
              </a:tblPr>
              <a:tblGrid>
                <a:gridCol w="686736"/>
                <a:gridCol w="686736"/>
                <a:gridCol w="686736"/>
                <a:gridCol w="686736"/>
                <a:gridCol w="686736"/>
                <a:gridCol w="686736"/>
                <a:gridCol w="686736"/>
                <a:gridCol w="686736"/>
                <a:gridCol w="686736"/>
              </a:tblGrid>
              <a:tr h="218699">
                <a:tc>
                  <a:txBody>
                    <a:bodyPr/>
                    <a:lstStyle/>
                    <a:p>
                      <a:r>
                        <a:rPr lang="en-US" altLang="zh-TW" dirty="0" smtClean="0"/>
                        <a:t>Day(x)</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4</a:t>
                      </a:r>
                      <a:endParaRPr lang="zh-TW" altLang="en-US" dirty="0"/>
                    </a:p>
                  </a:txBody>
                  <a:tcPr/>
                </a:tc>
                <a:tc>
                  <a:txBody>
                    <a:bodyPr/>
                    <a:lstStyle/>
                    <a:p>
                      <a:r>
                        <a:rPr lang="en-US" altLang="zh-TW" dirty="0" smtClean="0"/>
                        <a:t>5</a:t>
                      </a:r>
                      <a:endParaRPr lang="zh-TW" altLang="en-US" dirty="0"/>
                    </a:p>
                  </a:txBody>
                  <a:tcPr/>
                </a:tc>
                <a:tc>
                  <a:txBody>
                    <a:bodyPr/>
                    <a:lstStyle/>
                    <a:p>
                      <a:r>
                        <a:rPr lang="en-US" altLang="zh-TW" dirty="0" smtClean="0"/>
                        <a:t>6</a:t>
                      </a:r>
                      <a:endParaRPr lang="zh-TW" altLang="en-US" dirty="0"/>
                    </a:p>
                  </a:txBody>
                  <a:tcPr/>
                </a:tc>
                <a:tc>
                  <a:txBody>
                    <a:bodyPr/>
                    <a:lstStyle/>
                    <a:p>
                      <a:r>
                        <a:rPr lang="en-US" altLang="zh-TW" dirty="0" smtClean="0"/>
                        <a:t>7</a:t>
                      </a:r>
                      <a:endParaRPr lang="zh-TW" altLang="en-US" dirty="0"/>
                    </a:p>
                  </a:txBody>
                  <a:tcPr/>
                </a:tc>
                <a:tc>
                  <a:txBody>
                    <a:bodyPr/>
                    <a:lstStyle/>
                    <a:p>
                      <a:r>
                        <a:rPr lang="en-US" altLang="zh-TW" dirty="0" smtClean="0"/>
                        <a:t>8</a:t>
                      </a:r>
                      <a:endParaRPr lang="zh-TW" altLang="en-US" dirty="0"/>
                    </a:p>
                  </a:txBody>
                  <a:tcPr/>
                </a:tc>
              </a:tr>
              <a:tr h="294640">
                <a:tc>
                  <a:txBody>
                    <a:bodyPr/>
                    <a:lstStyle/>
                    <a:p>
                      <a:r>
                        <a:rPr lang="en-US" altLang="zh-TW" dirty="0" smtClean="0"/>
                        <a:t>Price(Y)</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10</a:t>
                      </a:r>
                      <a:endParaRPr lang="zh-TW" altLang="en-US" dirty="0"/>
                    </a:p>
                  </a:txBody>
                  <a:tcPr/>
                </a:tc>
                <a:tc>
                  <a:txBody>
                    <a:bodyPr/>
                    <a:lstStyle/>
                    <a:p>
                      <a:r>
                        <a:rPr lang="en-US" altLang="zh-TW" dirty="0" smtClean="0"/>
                        <a:t>50</a:t>
                      </a:r>
                      <a:endParaRPr lang="zh-TW" altLang="en-US" dirty="0"/>
                    </a:p>
                  </a:txBody>
                  <a:tcPr/>
                </a:tc>
                <a:tc>
                  <a:txBody>
                    <a:bodyPr/>
                    <a:lstStyle/>
                    <a:p>
                      <a:r>
                        <a:rPr lang="en-US" altLang="zh-TW" dirty="0" smtClean="0"/>
                        <a:t>15</a:t>
                      </a:r>
                      <a:endParaRPr lang="zh-TW" altLang="en-US" dirty="0"/>
                    </a:p>
                  </a:txBody>
                  <a:tcPr/>
                </a:tc>
                <a:tc>
                  <a:txBody>
                    <a:bodyPr/>
                    <a:lstStyle/>
                    <a:p>
                      <a:r>
                        <a:rPr lang="en-US" altLang="zh-TW" dirty="0" smtClean="0"/>
                        <a:t>50</a:t>
                      </a:r>
                      <a:endParaRPr lang="zh-TW" altLang="en-US" dirty="0"/>
                    </a:p>
                  </a:txBody>
                  <a:tcPr/>
                </a:tc>
                <a:tc>
                  <a:txBody>
                    <a:bodyPr/>
                    <a:lstStyle/>
                    <a:p>
                      <a:r>
                        <a:rPr lang="en-US" altLang="zh-TW" dirty="0" smtClean="0"/>
                        <a:t>-30</a:t>
                      </a:r>
                      <a:endParaRPr lang="zh-TW" altLang="en-US" dirty="0"/>
                    </a:p>
                  </a:txBody>
                  <a:tcPr/>
                </a:tc>
                <a:tc>
                  <a:txBody>
                    <a:bodyPr/>
                    <a:lstStyle/>
                    <a:p>
                      <a:r>
                        <a:rPr lang="en-US" altLang="zh-TW" dirty="0" smtClean="0"/>
                        <a:t>15</a:t>
                      </a:r>
                      <a:endParaRPr lang="zh-TW" altLang="en-US" dirty="0"/>
                    </a:p>
                  </a:txBody>
                  <a:tcPr/>
                </a:tc>
                <a:tc>
                  <a:txBody>
                    <a:bodyPr/>
                    <a:lstStyle/>
                    <a:p>
                      <a:r>
                        <a:rPr lang="en-US" altLang="zh-TW" dirty="0" smtClean="0"/>
                        <a:t>0</a:t>
                      </a:r>
                      <a:endParaRPr lang="zh-TW" altLang="en-US" dirty="0"/>
                    </a:p>
                  </a:txBody>
                  <a:tcPr/>
                </a:tc>
              </a:tr>
            </a:tbl>
          </a:graphicData>
        </a:graphic>
      </p:graphicFrame>
      <p:pic>
        <p:nvPicPr>
          <p:cNvPr id="5" name="內容版面配置區 4"/>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614361" y="2499669"/>
            <a:ext cx="7886700" cy="3856682"/>
          </a:xfrm>
        </p:spPr>
      </p:pic>
      <p:sp>
        <p:nvSpPr>
          <p:cNvPr id="6" name="文字方塊 5"/>
          <p:cNvSpPr txBox="1"/>
          <p:nvPr/>
        </p:nvSpPr>
        <p:spPr>
          <a:xfrm>
            <a:off x="95249" y="886935"/>
            <a:ext cx="2673531" cy="984885"/>
          </a:xfrm>
          <a:prstGeom prst="rect">
            <a:avLst/>
          </a:prstGeom>
          <a:noFill/>
        </p:spPr>
        <p:txBody>
          <a:bodyPr wrap="square" rtlCol="0">
            <a:spAutoFit/>
          </a:bodyPr>
          <a:lstStyle/>
          <a:p>
            <a:r>
              <a:rPr lang="en-US" altLang="zh-TW" sz="2000" dirty="0" smtClean="0">
                <a:latin typeface="Times New Roman" panose="02020603050405020304" pitchFamily="18" charset="0"/>
                <a:cs typeface="Times New Roman" panose="02020603050405020304" pitchFamily="18" charset="0"/>
              </a:rPr>
              <a:t>Step1:</a:t>
            </a:r>
          </a:p>
          <a:p>
            <a:r>
              <a:rPr lang="en-US" altLang="zh-TW" sz="2000" dirty="0" smtClean="0">
                <a:latin typeface="Times New Roman" panose="02020603050405020304" pitchFamily="18" charset="0"/>
                <a:cs typeface="Times New Roman" panose="02020603050405020304" pitchFamily="18" charset="0"/>
              </a:rPr>
              <a:t>Threshold = 2</a:t>
            </a:r>
          </a:p>
          <a:p>
            <a:endParaRPr lang="zh-TW" altLang="en-US" dirty="0"/>
          </a:p>
        </p:txBody>
      </p:sp>
    </p:spTree>
    <p:extLst>
      <p:ext uri="{BB962C8B-B14F-4D97-AF65-F5344CB8AC3E}">
        <p14:creationId xmlns:p14="http://schemas.microsoft.com/office/powerpoint/2010/main" val="48791967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a:latin typeface="Times New Roman" panose="02020603050405020304" pitchFamily="18" charset="0"/>
                <a:cs typeface="Times New Roman" panose="02020603050405020304" pitchFamily="18" charset="0"/>
              </a:rPr>
              <a:t>Piecewise Linear </a:t>
            </a:r>
            <a:r>
              <a:rPr lang="en-US" altLang="zh-TW" sz="4000" b="1" dirty="0" smtClean="0">
                <a:latin typeface="Times New Roman" panose="02020603050405020304" pitchFamily="18" charset="0"/>
                <a:cs typeface="Times New Roman" panose="02020603050405020304" pitchFamily="18" charset="0"/>
              </a:rPr>
              <a:t>Representation</a:t>
            </a:r>
            <a:endParaRPr lang="zh-TW" altLang="en-US" sz="4000" b="1"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7</a:t>
            </a:fld>
            <a:endParaRPr lang="zh-TW" altLang="en-US" dirty="0"/>
          </a:p>
        </p:txBody>
      </p:sp>
      <p:pic>
        <p:nvPicPr>
          <p:cNvPr id="7" name="內容版面配置區 6"/>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614361" y="2499669"/>
            <a:ext cx="7886700" cy="3856682"/>
          </a:xfrm>
        </p:spPr>
      </p:pic>
      <p:sp>
        <p:nvSpPr>
          <p:cNvPr id="10" name="文字方塊 9"/>
          <p:cNvSpPr txBox="1"/>
          <p:nvPr/>
        </p:nvSpPr>
        <p:spPr>
          <a:xfrm>
            <a:off x="95249" y="888278"/>
            <a:ext cx="2673531" cy="984885"/>
          </a:xfrm>
          <a:prstGeom prst="rect">
            <a:avLst/>
          </a:prstGeom>
          <a:noFill/>
        </p:spPr>
        <p:txBody>
          <a:bodyPr wrap="square" rtlCol="0">
            <a:spAutoFit/>
          </a:bodyPr>
          <a:lstStyle/>
          <a:p>
            <a:r>
              <a:rPr lang="en-US" altLang="zh-TW" sz="2000" dirty="0" smtClean="0">
                <a:latin typeface="Times New Roman" panose="02020603050405020304" pitchFamily="18" charset="0"/>
                <a:cs typeface="Times New Roman" panose="02020603050405020304" pitchFamily="18" charset="0"/>
              </a:rPr>
              <a:t>Step2:</a:t>
            </a:r>
          </a:p>
          <a:p>
            <a:r>
              <a:rPr lang="en-US" altLang="zh-TW" sz="2000" dirty="0" smtClean="0">
                <a:latin typeface="Times New Roman" panose="02020603050405020304" pitchFamily="18" charset="0"/>
                <a:cs typeface="Times New Roman" panose="02020603050405020304" pitchFamily="18" charset="0"/>
              </a:rPr>
              <a:t>Threshold = 2</a:t>
            </a:r>
          </a:p>
          <a:p>
            <a:endParaRPr lang="zh-TW" altLang="en-US" dirty="0"/>
          </a:p>
        </p:txBody>
      </p:sp>
      <p:graphicFrame>
        <p:nvGraphicFramePr>
          <p:cNvPr id="11" name="表格 10"/>
          <p:cNvGraphicFramePr>
            <a:graphicFrameLocks noGrp="1"/>
          </p:cNvGraphicFramePr>
          <p:nvPr>
            <p:extLst>
              <p:ext uri="{D42A27DB-BD31-4B8C-83A1-F6EECF244321}">
                <p14:modId xmlns:p14="http://schemas.microsoft.com/office/powerpoint/2010/main" val="3524543385"/>
              </p:ext>
            </p:extLst>
          </p:nvPr>
        </p:nvGraphicFramePr>
        <p:xfrm>
          <a:off x="2257166" y="1702639"/>
          <a:ext cx="6180624" cy="594360"/>
        </p:xfrm>
        <a:graphic>
          <a:graphicData uri="http://schemas.openxmlformats.org/drawingml/2006/table">
            <a:tbl>
              <a:tblPr firstRow="1" bandRow="1">
                <a:tableStyleId>{5940675A-B579-460E-94D1-54222C63F5DA}</a:tableStyleId>
              </a:tblPr>
              <a:tblGrid>
                <a:gridCol w="686736"/>
                <a:gridCol w="686736"/>
                <a:gridCol w="686736"/>
                <a:gridCol w="686736"/>
                <a:gridCol w="686736"/>
                <a:gridCol w="686736"/>
                <a:gridCol w="686736"/>
                <a:gridCol w="686736"/>
                <a:gridCol w="686736"/>
              </a:tblGrid>
              <a:tr h="218699">
                <a:tc>
                  <a:txBody>
                    <a:bodyPr/>
                    <a:lstStyle/>
                    <a:p>
                      <a:r>
                        <a:rPr lang="en-US" altLang="zh-TW" dirty="0" smtClean="0"/>
                        <a:t>Day(x)</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4</a:t>
                      </a:r>
                      <a:endParaRPr lang="zh-TW" altLang="en-US" dirty="0"/>
                    </a:p>
                  </a:txBody>
                  <a:tcPr/>
                </a:tc>
                <a:tc>
                  <a:txBody>
                    <a:bodyPr/>
                    <a:lstStyle/>
                    <a:p>
                      <a:r>
                        <a:rPr lang="en-US" altLang="zh-TW" dirty="0" smtClean="0"/>
                        <a:t>5</a:t>
                      </a:r>
                      <a:endParaRPr lang="zh-TW" altLang="en-US" dirty="0"/>
                    </a:p>
                  </a:txBody>
                  <a:tcPr/>
                </a:tc>
                <a:tc>
                  <a:txBody>
                    <a:bodyPr/>
                    <a:lstStyle/>
                    <a:p>
                      <a:r>
                        <a:rPr lang="en-US" altLang="zh-TW" dirty="0" smtClean="0"/>
                        <a:t>6</a:t>
                      </a:r>
                      <a:endParaRPr lang="zh-TW" altLang="en-US" dirty="0"/>
                    </a:p>
                  </a:txBody>
                  <a:tcPr/>
                </a:tc>
                <a:tc>
                  <a:txBody>
                    <a:bodyPr/>
                    <a:lstStyle/>
                    <a:p>
                      <a:r>
                        <a:rPr lang="en-US" altLang="zh-TW" dirty="0" smtClean="0"/>
                        <a:t>7</a:t>
                      </a:r>
                      <a:endParaRPr lang="zh-TW" altLang="en-US" dirty="0"/>
                    </a:p>
                  </a:txBody>
                  <a:tcPr/>
                </a:tc>
                <a:tc>
                  <a:txBody>
                    <a:bodyPr/>
                    <a:lstStyle/>
                    <a:p>
                      <a:r>
                        <a:rPr lang="en-US" altLang="zh-TW" dirty="0" smtClean="0"/>
                        <a:t>8</a:t>
                      </a:r>
                      <a:endParaRPr lang="zh-TW" altLang="en-US" dirty="0"/>
                    </a:p>
                  </a:txBody>
                  <a:tcPr/>
                </a:tc>
              </a:tr>
              <a:tr h="294640">
                <a:tc>
                  <a:txBody>
                    <a:bodyPr/>
                    <a:lstStyle/>
                    <a:p>
                      <a:r>
                        <a:rPr lang="en-US" altLang="zh-TW" dirty="0" smtClean="0"/>
                        <a:t>Price(Y)</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10</a:t>
                      </a:r>
                      <a:endParaRPr lang="zh-TW" altLang="en-US" dirty="0"/>
                    </a:p>
                  </a:txBody>
                  <a:tcPr/>
                </a:tc>
                <a:tc>
                  <a:txBody>
                    <a:bodyPr/>
                    <a:lstStyle/>
                    <a:p>
                      <a:r>
                        <a:rPr lang="en-US" altLang="zh-TW" dirty="0" smtClean="0"/>
                        <a:t>50</a:t>
                      </a:r>
                      <a:endParaRPr lang="zh-TW" altLang="en-US" dirty="0"/>
                    </a:p>
                  </a:txBody>
                  <a:tcPr/>
                </a:tc>
                <a:tc>
                  <a:txBody>
                    <a:bodyPr/>
                    <a:lstStyle/>
                    <a:p>
                      <a:r>
                        <a:rPr lang="en-US" altLang="zh-TW" dirty="0" smtClean="0"/>
                        <a:t>15</a:t>
                      </a:r>
                      <a:endParaRPr lang="zh-TW" altLang="en-US" dirty="0"/>
                    </a:p>
                  </a:txBody>
                  <a:tcPr/>
                </a:tc>
                <a:tc>
                  <a:txBody>
                    <a:bodyPr/>
                    <a:lstStyle/>
                    <a:p>
                      <a:r>
                        <a:rPr lang="en-US" altLang="zh-TW" dirty="0" smtClean="0"/>
                        <a:t>50</a:t>
                      </a:r>
                      <a:endParaRPr lang="zh-TW" altLang="en-US" dirty="0"/>
                    </a:p>
                  </a:txBody>
                  <a:tcPr/>
                </a:tc>
                <a:tc>
                  <a:txBody>
                    <a:bodyPr/>
                    <a:lstStyle/>
                    <a:p>
                      <a:r>
                        <a:rPr lang="en-US" altLang="zh-TW" dirty="0" smtClean="0"/>
                        <a:t>-30</a:t>
                      </a:r>
                      <a:endParaRPr lang="zh-TW" altLang="en-US" dirty="0"/>
                    </a:p>
                  </a:txBody>
                  <a:tcPr/>
                </a:tc>
                <a:tc>
                  <a:txBody>
                    <a:bodyPr/>
                    <a:lstStyle/>
                    <a:p>
                      <a:r>
                        <a:rPr lang="en-US" altLang="zh-TW" dirty="0" smtClean="0"/>
                        <a:t>15</a:t>
                      </a:r>
                      <a:endParaRPr lang="zh-TW" altLang="en-US" dirty="0"/>
                    </a:p>
                  </a:txBody>
                  <a:tcPr/>
                </a:tc>
                <a:tc>
                  <a:txBody>
                    <a:bodyPr/>
                    <a:lstStyle/>
                    <a:p>
                      <a:r>
                        <a:rPr lang="en-US" altLang="zh-TW" dirty="0" smtClean="0"/>
                        <a:t>0</a:t>
                      </a:r>
                      <a:endParaRPr lang="zh-TW" altLang="en-US" dirty="0"/>
                    </a:p>
                  </a:txBody>
                  <a:tcPr/>
                </a:tc>
              </a:tr>
            </a:tbl>
          </a:graphicData>
        </a:graphic>
      </p:graphicFrame>
    </p:spTree>
    <p:extLst>
      <p:ext uri="{BB962C8B-B14F-4D97-AF65-F5344CB8AC3E}">
        <p14:creationId xmlns:p14="http://schemas.microsoft.com/office/powerpoint/2010/main" val="357134967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a:latin typeface="Times New Roman" panose="02020603050405020304" pitchFamily="18" charset="0"/>
                <a:cs typeface="Times New Roman" panose="02020603050405020304" pitchFamily="18" charset="0"/>
              </a:rPr>
              <a:t>Piecewise Linear </a:t>
            </a:r>
            <a:r>
              <a:rPr lang="en-US" altLang="zh-TW" sz="4000" b="1" dirty="0" smtClean="0">
                <a:latin typeface="Times New Roman" panose="02020603050405020304" pitchFamily="18" charset="0"/>
                <a:cs typeface="Times New Roman" panose="02020603050405020304" pitchFamily="18" charset="0"/>
              </a:rPr>
              <a:t>Representation</a:t>
            </a:r>
            <a:endParaRPr lang="zh-TW" altLang="en-US" sz="4000" b="1"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8</a:t>
            </a:fld>
            <a:endParaRPr lang="zh-TW" altLang="en-US" dirty="0"/>
          </a:p>
        </p:txBody>
      </p:sp>
      <p:sp>
        <p:nvSpPr>
          <p:cNvPr id="10" name="文字方塊 9"/>
          <p:cNvSpPr txBox="1"/>
          <p:nvPr/>
        </p:nvSpPr>
        <p:spPr>
          <a:xfrm>
            <a:off x="95249" y="886935"/>
            <a:ext cx="2673531" cy="984885"/>
          </a:xfrm>
          <a:prstGeom prst="rect">
            <a:avLst/>
          </a:prstGeom>
          <a:noFill/>
        </p:spPr>
        <p:txBody>
          <a:bodyPr wrap="square" rtlCol="0">
            <a:spAutoFit/>
          </a:bodyPr>
          <a:lstStyle/>
          <a:p>
            <a:r>
              <a:rPr lang="en-US" altLang="zh-TW" sz="2000" dirty="0" smtClean="0">
                <a:latin typeface="Times New Roman" panose="02020603050405020304" pitchFamily="18" charset="0"/>
                <a:cs typeface="Times New Roman" panose="02020603050405020304" pitchFamily="18" charset="0"/>
              </a:rPr>
              <a:t>Step3:</a:t>
            </a:r>
          </a:p>
          <a:p>
            <a:r>
              <a:rPr lang="en-US" altLang="zh-TW" sz="2000" dirty="0" smtClean="0">
                <a:latin typeface="Times New Roman" panose="02020603050405020304" pitchFamily="18" charset="0"/>
                <a:cs typeface="Times New Roman" panose="02020603050405020304" pitchFamily="18" charset="0"/>
              </a:rPr>
              <a:t>Threshold = 2</a:t>
            </a:r>
          </a:p>
          <a:p>
            <a:endParaRPr lang="zh-TW" altLang="en-US" dirty="0"/>
          </a:p>
        </p:txBody>
      </p:sp>
      <p:pic>
        <p:nvPicPr>
          <p:cNvPr id="5" name="內容版面配置區 4"/>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614361" y="2499669"/>
            <a:ext cx="7886700" cy="3856682"/>
          </a:xfrm>
        </p:spPr>
      </p:pic>
      <p:graphicFrame>
        <p:nvGraphicFramePr>
          <p:cNvPr id="7" name="表格 6"/>
          <p:cNvGraphicFramePr>
            <a:graphicFrameLocks noGrp="1"/>
          </p:cNvGraphicFramePr>
          <p:nvPr>
            <p:extLst>
              <p:ext uri="{D42A27DB-BD31-4B8C-83A1-F6EECF244321}">
                <p14:modId xmlns:p14="http://schemas.microsoft.com/office/powerpoint/2010/main" val="3524543385"/>
              </p:ext>
            </p:extLst>
          </p:nvPr>
        </p:nvGraphicFramePr>
        <p:xfrm>
          <a:off x="2257166" y="1702639"/>
          <a:ext cx="6180624" cy="594360"/>
        </p:xfrm>
        <a:graphic>
          <a:graphicData uri="http://schemas.openxmlformats.org/drawingml/2006/table">
            <a:tbl>
              <a:tblPr firstRow="1" bandRow="1">
                <a:tableStyleId>{5940675A-B579-460E-94D1-54222C63F5DA}</a:tableStyleId>
              </a:tblPr>
              <a:tblGrid>
                <a:gridCol w="686736"/>
                <a:gridCol w="686736"/>
                <a:gridCol w="686736"/>
                <a:gridCol w="686736"/>
                <a:gridCol w="686736"/>
                <a:gridCol w="686736"/>
                <a:gridCol w="686736"/>
                <a:gridCol w="686736"/>
                <a:gridCol w="686736"/>
              </a:tblGrid>
              <a:tr h="218699">
                <a:tc>
                  <a:txBody>
                    <a:bodyPr/>
                    <a:lstStyle/>
                    <a:p>
                      <a:r>
                        <a:rPr lang="en-US" altLang="zh-TW" dirty="0" smtClean="0"/>
                        <a:t>Day(x)</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4</a:t>
                      </a:r>
                      <a:endParaRPr lang="zh-TW" altLang="en-US" dirty="0"/>
                    </a:p>
                  </a:txBody>
                  <a:tcPr/>
                </a:tc>
                <a:tc>
                  <a:txBody>
                    <a:bodyPr/>
                    <a:lstStyle/>
                    <a:p>
                      <a:r>
                        <a:rPr lang="en-US" altLang="zh-TW" dirty="0" smtClean="0"/>
                        <a:t>5</a:t>
                      </a:r>
                      <a:endParaRPr lang="zh-TW" altLang="en-US" dirty="0"/>
                    </a:p>
                  </a:txBody>
                  <a:tcPr/>
                </a:tc>
                <a:tc>
                  <a:txBody>
                    <a:bodyPr/>
                    <a:lstStyle/>
                    <a:p>
                      <a:r>
                        <a:rPr lang="en-US" altLang="zh-TW" dirty="0" smtClean="0"/>
                        <a:t>6</a:t>
                      </a:r>
                      <a:endParaRPr lang="zh-TW" altLang="en-US" dirty="0"/>
                    </a:p>
                  </a:txBody>
                  <a:tcPr/>
                </a:tc>
                <a:tc>
                  <a:txBody>
                    <a:bodyPr/>
                    <a:lstStyle/>
                    <a:p>
                      <a:r>
                        <a:rPr lang="en-US" altLang="zh-TW" dirty="0" smtClean="0"/>
                        <a:t>7</a:t>
                      </a:r>
                      <a:endParaRPr lang="zh-TW" altLang="en-US" dirty="0"/>
                    </a:p>
                  </a:txBody>
                  <a:tcPr/>
                </a:tc>
                <a:tc>
                  <a:txBody>
                    <a:bodyPr/>
                    <a:lstStyle/>
                    <a:p>
                      <a:r>
                        <a:rPr lang="en-US" altLang="zh-TW" dirty="0" smtClean="0"/>
                        <a:t>8</a:t>
                      </a:r>
                      <a:endParaRPr lang="zh-TW" altLang="en-US" dirty="0"/>
                    </a:p>
                  </a:txBody>
                  <a:tcPr/>
                </a:tc>
              </a:tr>
              <a:tr h="294640">
                <a:tc>
                  <a:txBody>
                    <a:bodyPr/>
                    <a:lstStyle/>
                    <a:p>
                      <a:r>
                        <a:rPr lang="en-US" altLang="zh-TW" dirty="0" smtClean="0"/>
                        <a:t>Price(Y)</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10</a:t>
                      </a:r>
                      <a:endParaRPr lang="zh-TW" altLang="en-US" dirty="0"/>
                    </a:p>
                  </a:txBody>
                  <a:tcPr/>
                </a:tc>
                <a:tc>
                  <a:txBody>
                    <a:bodyPr/>
                    <a:lstStyle/>
                    <a:p>
                      <a:r>
                        <a:rPr lang="en-US" altLang="zh-TW" dirty="0" smtClean="0"/>
                        <a:t>50</a:t>
                      </a:r>
                      <a:endParaRPr lang="zh-TW" altLang="en-US" dirty="0"/>
                    </a:p>
                  </a:txBody>
                  <a:tcPr/>
                </a:tc>
                <a:tc>
                  <a:txBody>
                    <a:bodyPr/>
                    <a:lstStyle/>
                    <a:p>
                      <a:r>
                        <a:rPr lang="en-US" altLang="zh-TW" dirty="0" smtClean="0"/>
                        <a:t>15</a:t>
                      </a:r>
                      <a:endParaRPr lang="zh-TW" altLang="en-US" dirty="0"/>
                    </a:p>
                  </a:txBody>
                  <a:tcPr/>
                </a:tc>
                <a:tc>
                  <a:txBody>
                    <a:bodyPr/>
                    <a:lstStyle/>
                    <a:p>
                      <a:r>
                        <a:rPr lang="en-US" altLang="zh-TW" dirty="0" smtClean="0"/>
                        <a:t>50</a:t>
                      </a:r>
                      <a:endParaRPr lang="zh-TW" altLang="en-US" dirty="0"/>
                    </a:p>
                  </a:txBody>
                  <a:tcPr/>
                </a:tc>
                <a:tc>
                  <a:txBody>
                    <a:bodyPr/>
                    <a:lstStyle/>
                    <a:p>
                      <a:r>
                        <a:rPr lang="en-US" altLang="zh-TW" dirty="0" smtClean="0"/>
                        <a:t>-30</a:t>
                      </a:r>
                      <a:endParaRPr lang="zh-TW" altLang="en-US" dirty="0"/>
                    </a:p>
                  </a:txBody>
                  <a:tcPr/>
                </a:tc>
                <a:tc>
                  <a:txBody>
                    <a:bodyPr/>
                    <a:lstStyle/>
                    <a:p>
                      <a:r>
                        <a:rPr lang="en-US" altLang="zh-TW" dirty="0" smtClean="0"/>
                        <a:t>15</a:t>
                      </a:r>
                      <a:endParaRPr lang="zh-TW" altLang="en-US" dirty="0"/>
                    </a:p>
                  </a:txBody>
                  <a:tcPr/>
                </a:tc>
                <a:tc>
                  <a:txBody>
                    <a:bodyPr/>
                    <a:lstStyle/>
                    <a:p>
                      <a:r>
                        <a:rPr lang="en-US" altLang="zh-TW" dirty="0" smtClean="0"/>
                        <a:t>0</a:t>
                      </a:r>
                      <a:endParaRPr lang="zh-TW" altLang="en-US" dirty="0"/>
                    </a:p>
                  </a:txBody>
                  <a:tcPr/>
                </a:tc>
              </a:tr>
            </a:tbl>
          </a:graphicData>
        </a:graphic>
      </p:graphicFrame>
    </p:spTree>
    <p:extLst>
      <p:ext uri="{BB962C8B-B14F-4D97-AF65-F5344CB8AC3E}">
        <p14:creationId xmlns:p14="http://schemas.microsoft.com/office/powerpoint/2010/main" val="6863199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a:latin typeface="Times New Roman" panose="02020603050405020304" pitchFamily="18" charset="0"/>
                <a:cs typeface="Times New Roman" panose="02020603050405020304" pitchFamily="18" charset="0"/>
              </a:rPr>
              <a:t>Piecewise Linear </a:t>
            </a:r>
            <a:r>
              <a:rPr lang="en-US" altLang="zh-TW" sz="4000" b="1" dirty="0" smtClean="0">
                <a:latin typeface="Times New Roman" panose="02020603050405020304" pitchFamily="18" charset="0"/>
                <a:cs typeface="Times New Roman" panose="02020603050405020304" pitchFamily="18" charset="0"/>
              </a:rPr>
              <a:t>Representation</a:t>
            </a:r>
            <a:endParaRPr lang="zh-TW" altLang="en-US" sz="4000" b="1"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9</a:t>
            </a:fld>
            <a:endParaRPr lang="zh-TW" altLang="en-US" dirty="0"/>
          </a:p>
        </p:txBody>
      </p:sp>
      <p:sp>
        <p:nvSpPr>
          <p:cNvPr id="10" name="文字方塊 9"/>
          <p:cNvSpPr txBox="1"/>
          <p:nvPr/>
        </p:nvSpPr>
        <p:spPr>
          <a:xfrm>
            <a:off x="95249" y="886935"/>
            <a:ext cx="2673531" cy="984885"/>
          </a:xfrm>
          <a:prstGeom prst="rect">
            <a:avLst/>
          </a:prstGeom>
          <a:noFill/>
        </p:spPr>
        <p:txBody>
          <a:bodyPr wrap="square" rtlCol="0">
            <a:spAutoFit/>
          </a:bodyPr>
          <a:lstStyle/>
          <a:p>
            <a:r>
              <a:rPr lang="en-US" altLang="zh-TW" sz="2000" dirty="0" smtClean="0">
                <a:latin typeface="Times New Roman" panose="02020603050405020304" pitchFamily="18" charset="0"/>
                <a:cs typeface="Times New Roman" panose="02020603050405020304" pitchFamily="18" charset="0"/>
              </a:rPr>
              <a:t>Step4:</a:t>
            </a:r>
          </a:p>
          <a:p>
            <a:r>
              <a:rPr lang="en-US" altLang="zh-TW" sz="2000" dirty="0" smtClean="0">
                <a:latin typeface="Times New Roman" panose="02020603050405020304" pitchFamily="18" charset="0"/>
                <a:cs typeface="Times New Roman" panose="02020603050405020304" pitchFamily="18" charset="0"/>
              </a:rPr>
              <a:t>Threshold = 2</a:t>
            </a:r>
          </a:p>
          <a:p>
            <a:endParaRPr lang="zh-TW" altLang="en-US" dirty="0"/>
          </a:p>
        </p:txBody>
      </p:sp>
      <p:pic>
        <p:nvPicPr>
          <p:cNvPr id="6" name="內容版面配置區 5"/>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628650" y="2499669"/>
            <a:ext cx="7886700" cy="3856682"/>
          </a:xfrm>
        </p:spPr>
      </p:pic>
      <p:sp>
        <p:nvSpPr>
          <p:cNvPr id="3" name="向下箭號 2"/>
          <p:cNvSpPr/>
          <p:nvPr/>
        </p:nvSpPr>
        <p:spPr>
          <a:xfrm>
            <a:off x="4927620" y="2956083"/>
            <a:ext cx="174172" cy="27867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文字方塊 4"/>
          <p:cNvSpPr txBox="1"/>
          <p:nvPr/>
        </p:nvSpPr>
        <p:spPr>
          <a:xfrm>
            <a:off x="4267197" y="2612571"/>
            <a:ext cx="1550125" cy="369332"/>
          </a:xfrm>
          <a:prstGeom prst="rect">
            <a:avLst/>
          </a:prstGeom>
          <a:noFill/>
        </p:spPr>
        <p:txBody>
          <a:bodyPr wrap="square" rtlCol="0">
            <a:spAutoFit/>
          </a:bodyPr>
          <a:lstStyle/>
          <a:p>
            <a:r>
              <a:rPr lang="en-US" altLang="zh-TW" dirty="0" smtClean="0">
                <a:solidFill>
                  <a:srgbClr val="FF0000"/>
                </a:solidFill>
              </a:rPr>
              <a:t>Turning point</a:t>
            </a:r>
            <a:endParaRPr lang="zh-TW" altLang="en-US" dirty="0">
              <a:solidFill>
                <a:srgbClr val="FF0000"/>
              </a:solidFill>
            </a:endParaRPr>
          </a:p>
        </p:txBody>
      </p:sp>
      <p:graphicFrame>
        <p:nvGraphicFramePr>
          <p:cNvPr id="11" name="表格 10"/>
          <p:cNvGraphicFramePr>
            <a:graphicFrameLocks noGrp="1"/>
          </p:cNvGraphicFramePr>
          <p:nvPr>
            <p:extLst>
              <p:ext uri="{D42A27DB-BD31-4B8C-83A1-F6EECF244321}">
                <p14:modId xmlns:p14="http://schemas.microsoft.com/office/powerpoint/2010/main" val="3524543385"/>
              </p:ext>
            </p:extLst>
          </p:nvPr>
        </p:nvGraphicFramePr>
        <p:xfrm>
          <a:off x="2257166" y="1702639"/>
          <a:ext cx="6180624" cy="594360"/>
        </p:xfrm>
        <a:graphic>
          <a:graphicData uri="http://schemas.openxmlformats.org/drawingml/2006/table">
            <a:tbl>
              <a:tblPr firstRow="1" bandRow="1">
                <a:tableStyleId>{5940675A-B579-460E-94D1-54222C63F5DA}</a:tableStyleId>
              </a:tblPr>
              <a:tblGrid>
                <a:gridCol w="686736"/>
                <a:gridCol w="686736"/>
                <a:gridCol w="686736"/>
                <a:gridCol w="686736"/>
                <a:gridCol w="686736"/>
                <a:gridCol w="686736"/>
                <a:gridCol w="686736"/>
                <a:gridCol w="686736"/>
                <a:gridCol w="686736"/>
              </a:tblGrid>
              <a:tr h="218699">
                <a:tc>
                  <a:txBody>
                    <a:bodyPr/>
                    <a:lstStyle/>
                    <a:p>
                      <a:r>
                        <a:rPr lang="en-US" altLang="zh-TW" dirty="0" smtClean="0"/>
                        <a:t>Day(x)</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4</a:t>
                      </a:r>
                      <a:endParaRPr lang="zh-TW" altLang="en-US" dirty="0"/>
                    </a:p>
                  </a:txBody>
                  <a:tcPr/>
                </a:tc>
                <a:tc>
                  <a:txBody>
                    <a:bodyPr/>
                    <a:lstStyle/>
                    <a:p>
                      <a:r>
                        <a:rPr lang="en-US" altLang="zh-TW" dirty="0" smtClean="0"/>
                        <a:t>5</a:t>
                      </a:r>
                      <a:endParaRPr lang="zh-TW" altLang="en-US" dirty="0"/>
                    </a:p>
                  </a:txBody>
                  <a:tcPr/>
                </a:tc>
                <a:tc>
                  <a:txBody>
                    <a:bodyPr/>
                    <a:lstStyle/>
                    <a:p>
                      <a:r>
                        <a:rPr lang="en-US" altLang="zh-TW" dirty="0" smtClean="0"/>
                        <a:t>6</a:t>
                      </a:r>
                      <a:endParaRPr lang="zh-TW" altLang="en-US" dirty="0"/>
                    </a:p>
                  </a:txBody>
                  <a:tcPr/>
                </a:tc>
                <a:tc>
                  <a:txBody>
                    <a:bodyPr/>
                    <a:lstStyle/>
                    <a:p>
                      <a:r>
                        <a:rPr lang="en-US" altLang="zh-TW" dirty="0" smtClean="0"/>
                        <a:t>7</a:t>
                      </a:r>
                      <a:endParaRPr lang="zh-TW" altLang="en-US" dirty="0"/>
                    </a:p>
                  </a:txBody>
                  <a:tcPr/>
                </a:tc>
                <a:tc>
                  <a:txBody>
                    <a:bodyPr/>
                    <a:lstStyle/>
                    <a:p>
                      <a:r>
                        <a:rPr lang="en-US" altLang="zh-TW" dirty="0" smtClean="0"/>
                        <a:t>8</a:t>
                      </a:r>
                      <a:endParaRPr lang="zh-TW" altLang="en-US" dirty="0"/>
                    </a:p>
                  </a:txBody>
                  <a:tcPr/>
                </a:tc>
              </a:tr>
              <a:tr h="294640">
                <a:tc>
                  <a:txBody>
                    <a:bodyPr/>
                    <a:lstStyle/>
                    <a:p>
                      <a:r>
                        <a:rPr lang="en-US" altLang="zh-TW" dirty="0" smtClean="0"/>
                        <a:t>Price(Y)</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10</a:t>
                      </a:r>
                      <a:endParaRPr lang="zh-TW" altLang="en-US" dirty="0"/>
                    </a:p>
                  </a:txBody>
                  <a:tcPr/>
                </a:tc>
                <a:tc>
                  <a:txBody>
                    <a:bodyPr/>
                    <a:lstStyle/>
                    <a:p>
                      <a:r>
                        <a:rPr lang="en-US" altLang="zh-TW" dirty="0" smtClean="0"/>
                        <a:t>50</a:t>
                      </a:r>
                      <a:endParaRPr lang="zh-TW" altLang="en-US" dirty="0"/>
                    </a:p>
                  </a:txBody>
                  <a:tcPr/>
                </a:tc>
                <a:tc>
                  <a:txBody>
                    <a:bodyPr/>
                    <a:lstStyle/>
                    <a:p>
                      <a:r>
                        <a:rPr lang="en-US" altLang="zh-TW" dirty="0" smtClean="0"/>
                        <a:t>15</a:t>
                      </a:r>
                      <a:endParaRPr lang="zh-TW" altLang="en-US" dirty="0"/>
                    </a:p>
                  </a:txBody>
                  <a:tcPr/>
                </a:tc>
                <a:tc>
                  <a:txBody>
                    <a:bodyPr/>
                    <a:lstStyle/>
                    <a:p>
                      <a:r>
                        <a:rPr lang="en-US" altLang="zh-TW" dirty="0" smtClean="0"/>
                        <a:t>50</a:t>
                      </a:r>
                      <a:endParaRPr lang="zh-TW" altLang="en-US" dirty="0"/>
                    </a:p>
                  </a:txBody>
                  <a:tcPr/>
                </a:tc>
                <a:tc>
                  <a:txBody>
                    <a:bodyPr/>
                    <a:lstStyle/>
                    <a:p>
                      <a:r>
                        <a:rPr lang="en-US" altLang="zh-TW" dirty="0" smtClean="0"/>
                        <a:t>-30</a:t>
                      </a:r>
                      <a:endParaRPr lang="zh-TW" altLang="en-US" dirty="0"/>
                    </a:p>
                  </a:txBody>
                  <a:tcPr/>
                </a:tc>
                <a:tc>
                  <a:txBody>
                    <a:bodyPr/>
                    <a:lstStyle/>
                    <a:p>
                      <a:r>
                        <a:rPr lang="en-US" altLang="zh-TW" dirty="0" smtClean="0"/>
                        <a:t>15</a:t>
                      </a:r>
                      <a:endParaRPr lang="zh-TW" altLang="en-US" dirty="0"/>
                    </a:p>
                  </a:txBody>
                  <a:tcPr/>
                </a:tc>
                <a:tc>
                  <a:txBody>
                    <a:bodyPr/>
                    <a:lstStyle/>
                    <a:p>
                      <a:r>
                        <a:rPr lang="en-US" altLang="zh-TW" dirty="0" smtClean="0"/>
                        <a:t>0</a:t>
                      </a:r>
                      <a:endParaRPr lang="zh-TW" altLang="en-US" dirty="0"/>
                    </a:p>
                  </a:txBody>
                  <a:tcPr/>
                </a:tc>
              </a:tr>
            </a:tbl>
          </a:graphicData>
        </a:graphic>
      </p:graphicFrame>
    </p:spTree>
    <p:extLst>
      <p:ext uri="{BB962C8B-B14F-4D97-AF65-F5344CB8AC3E}">
        <p14:creationId xmlns:p14="http://schemas.microsoft.com/office/powerpoint/2010/main" val="393292537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a:latin typeface="Times New Roman" panose="02020603050405020304" pitchFamily="18" charset="0"/>
                <a:cs typeface="Times New Roman" panose="02020603050405020304" pitchFamily="18" charset="0"/>
              </a:rPr>
              <a:t>Piecewise Linear </a:t>
            </a:r>
            <a:r>
              <a:rPr lang="en-US" altLang="zh-TW" sz="4000" b="1" dirty="0" smtClean="0">
                <a:latin typeface="Times New Roman" panose="02020603050405020304" pitchFamily="18" charset="0"/>
                <a:cs typeface="Times New Roman" panose="02020603050405020304" pitchFamily="18" charset="0"/>
              </a:rPr>
              <a:t>Representation</a:t>
            </a:r>
            <a:endParaRPr lang="zh-TW" altLang="en-US" sz="4000" b="1"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10</a:t>
            </a:fld>
            <a:endParaRPr lang="zh-TW" altLang="en-US" dirty="0"/>
          </a:p>
        </p:txBody>
      </p:sp>
      <p:pic>
        <p:nvPicPr>
          <p:cNvPr id="12" name="圖片 11"/>
          <p:cNvPicPr>
            <a:picLocks noChangeAspect="1"/>
          </p:cNvPicPr>
          <p:nvPr/>
        </p:nvPicPr>
        <p:blipFill>
          <a:blip r:embed="rId3"/>
          <a:stretch>
            <a:fillRect/>
          </a:stretch>
        </p:blipFill>
        <p:spPr>
          <a:xfrm>
            <a:off x="95249" y="1885631"/>
            <a:ext cx="8939989" cy="3940404"/>
          </a:xfrm>
          <a:prstGeom prst="rect">
            <a:avLst/>
          </a:prstGeom>
        </p:spPr>
      </p:pic>
      <p:sp>
        <p:nvSpPr>
          <p:cNvPr id="5" name="文字方塊 4"/>
          <p:cNvSpPr txBox="1"/>
          <p:nvPr/>
        </p:nvSpPr>
        <p:spPr>
          <a:xfrm>
            <a:off x="95249" y="1325967"/>
            <a:ext cx="2787288" cy="369332"/>
          </a:xfrm>
          <a:prstGeom prst="rect">
            <a:avLst/>
          </a:prstGeom>
          <a:noFill/>
        </p:spPr>
        <p:txBody>
          <a:bodyPr wrap="square" rtlCol="0">
            <a:spAutoFit/>
          </a:bodyPr>
          <a:lstStyle/>
          <a:p>
            <a:r>
              <a:rPr lang="en-US" altLang="zh-TW" b="1" dirty="0" smtClean="0">
                <a:latin typeface="Times New Roman" panose="02020603050405020304" pitchFamily="18" charset="0"/>
                <a:cs typeface="Times New Roman" panose="02020603050405020304" pitchFamily="18" charset="0"/>
              </a:rPr>
              <a:t>PLR in real case</a:t>
            </a:r>
            <a:endParaRPr lang="zh-TW"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731435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a:latin typeface="Times New Roman" panose="02020603050405020304" pitchFamily="18" charset="0"/>
                <a:cs typeface="Times New Roman" panose="02020603050405020304" pitchFamily="18" charset="0"/>
              </a:rPr>
              <a:t>Piecewise Linear </a:t>
            </a:r>
            <a:r>
              <a:rPr lang="en-US" altLang="zh-TW" sz="4000" b="1" dirty="0" smtClean="0">
                <a:latin typeface="Times New Roman" panose="02020603050405020304" pitchFamily="18" charset="0"/>
                <a:cs typeface="Times New Roman" panose="02020603050405020304" pitchFamily="18" charset="0"/>
              </a:rPr>
              <a:t>Representation</a:t>
            </a:r>
            <a:endParaRPr lang="zh-TW" altLang="en-US" sz="4000" b="1"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11</a:t>
            </a:fld>
            <a:endParaRPr lang="zh-TW" altLang="en-US" dirty="0"/>
          </a:p>
        </p:txBody>
      </p:sp>
      <p:pic>
        <p:nvPicPr>
          <p:cNvPr id="3" name="圖片 2"/>
          <p:cNvPicPr>
            <a:picLocks noChangeAspect="1"/>
          </p:cNvPicPr>
          <p:nvPr/>
        </p:nvPicPr>
        <p:blipFill>
          <a:blip r:embed="rId3"/>
          <a:stretch>
            <a:fillRect/>
          </a:stretch>
        </p:blipFill>
        <p:spPr>
          <a:xfrm>
            <a:off x="61057" y="1908305"/>
            <a:ext cx="8993308" cy="3551462"/>
          </a:xfrm>
          <a:prstGeom prst="rect">
            <a:avLst/>
          </a:prstGeom>
        </p:spPr>
      </p:pic>
      <p:sp>
        <p:nvSpPr>
          <p:cNvPr id="7" name="文字方塊 6"/>
          <p:cNvSpPr txBox="1"/>
          <p:nvPr/>
        </p:nvSpPr>
        <p:spPr>
          <a:xfrm>
            <a:off x="1420426" y="1530096"/>
            <a:ext cx="1383734" cy="461665"/>
          </a:xfrm>
          <a:prstGeom prst="rect">
            <a:avLst/>
          </a:prstGeom>
          <a:noFill/>
        </p:spPr>
        <p:txBody>
          <a:bodyPr wrap="square" rtlCol="0">
            <a:spAutoFit/>
          </a:bodyPr>
          <a:lstStyle/>
          <a:p>
            <a:r>
              <a:rPr lang="en-US" altLang="zh-TW" sz="2400" dirty="0" smtClean="0">
                <a:latin typeface="Times New Roman" panose="02020603050405020304" pitchFamily="18" charset="0"/>
                <a:cs typeface="Times New Roman" panose="02020603050405020304" pitchFamily="18" charset="0"/>
              </a:rPr>
              <a:t>Original</a:t>
            </a:r>
            <a:endParaRPr lang="zh-TW" altLang="en-US" sz="2400" dirty="0">
              <a:latin typeface="Times New Roman" panose="02020603050405020304" pitchFamily="18" charset="0"/>
              <a:cs typeface="Times New Roman" panose="02020603050405020304" pitchFamily="18" charset="0"/>
            </a:endParaRPr>
          </a:p>
        </p:txBody>
      </p:sp>
      <p:sp>
        <p:nvSpPr>
          <p:cNvPr id="8" name="文字方塊 7"/>
          <p:cNvSpPr txBox="1"/>
          <p:nvPr/>
        </p:nvSpPr>
        <p:spPr>
          <a:xfrm>
            <a:off x="6182742" y="1530096"/>
            <a:ext cx="2057400" cy="461665"/>
          </a:xfrm>
          <a:prstGeom prst="rect">
            <a:avLst/>
          </a:prstGeom>
          <a:noFill/>
        </p:spPr>
        <p:txBody>
          <a:bodyPr wrap="square" rtlCol="0">
            <a:spAutoFit/>
          </a:bodyPr>
          <a:lstStyle/>
          <a:p>
            <a:r>
              <a:rPr lang="en-US" altLang="zh-TW" sz="2400" dirty="0" smtClean="0">
                <a:latin typeface="Times New Roman" panose="02020603050405020304" pitchFamily="18" charset="0"/>
                <a:cs typeface="Times New Roman" panose="02020603050405020304" pitchFamily="18" charset="0"/>
              </a:rPr>
              <a:t>Threshold=1.0</a:t>
            </a:r>
            <a:endParaRPr lang="zh-TW" altLang="en-US" sz="2400" dirty="0">
              <a:latin typeface="Times New Roman" panose="02020603050405020304" pitchFamily="18" charset="0"/>
              <a:cs typeface="Times New Roman" panose="02020603050405020304" pitchFamily="18" charset="0"/>
            </a:endParaRPr>
          </a:p>
        </p:txBody>
      </p:sp>
      <p:sp>
        <p:nvSpPr>
          <p:cNvPr id="9" name="文字方塊 8"/>
          <p:cNvSpPr txBox="1"/>
          <p:nvPr/>
        </p:nvSpPr>
        <p:spPr>
          <a:xfrm>
            <a:off x="1203848" y="5376311"/>
            <a:ext cx="2057400" cy="461665"/>
          </a:xfrm>
          <a:prstGeom prst="rect">
            <a:avLst/>
          </a:prstGeom>
          <a:noFill/>
        </p:spPr>
        <p:txBody>
          <a:bodyPr wrap="square" rtlCol="0">
            <a:spAutoFit/>
          </a:bodyPr>
          <a:lstStyle/>
          <a:p>
            <a:r>
              <a:rPr lang="en-US" altLang="zh-TW" sz="2400" dirty="0" smtClean="0">
                <a:latin typeface="Times New Roman" panose="02020603050405020304" pitchFamily="18" charset="0"/>
                <a:cs typeface="Times New Roman" panose="02020603050405020304" pitchFamily="18" charset="0"/>
              </a:rPr>
              <a:t>Threshold=2.0</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p:cNvSpPr txBox="1"/>
          <p:nvPr/>
        </p:nvSpPr>
        <p:spPr>
          <a:xfrm>
            <a:off x="6182742" y="5376310"/>
            <a:ext cx="2057400" cy="461665"/>
          </a:xfrm>
          <a:prstGeom prst="rect">
            <a:avLst/>
          </a:prstGeom>
          <a:noFill/>
        </p:spPr>
        <p:txBody>
          <a:bodyPr wrap="square" rtlCol="0">
            <a:spAutoFit/>
          </a:bodyPr>
          <a:lstStyle/>
          <a:p>
            <a:r>
              <a:rPr lang="en-US" altLang="zh-TW" sz="2400" dirty="0" smtClean="0">
                <a:latin typeface="Times New Roman" panose="02020603050405020304" pitchFamily="18" charset="0"/>
                <a:cs typeface="Times New Roman" panose="02020603050405020304" pitchFamily="18" charset="0"/>
              </a:rPr>
              <a:t>Threshold=3.0</a:t>
            </a:r>
            <a:endParaRPr lang="zh-TW" altLang="en-US" sz="2400" dirty="0">
              <a:latin typeface="Times New Roman" panose="02020603050405020304" pitchFamily="18" charset="0"/>
              <a:cs typeface="Times New Roman" panose="02020603050405020304" pitchFamily="18" charset="0"/>
            </a:endParaRPr>
          </a:p>
        </p:txBody>
      </p:sp>
      <p:sp>
        <p:nvSpPr>
          <p:cNvPr id="11" name="文字方塊 10"/>
          <p:cNvSpPr txBox="1"/>
          <p:nvPr/>
        </p:nvSpPr>
        <p:spPr>
          <a:xfrm>
            <a:off x="95249" y="5956917"/>
            <a:ext cx="4991656" cy="369332"/>
          </a:xfrm>
          <a:prstGeom prst="rect">
            <a:avLst/>
          </a:prstGeom>
          <a:noFill/>
        </p:spPr>
        <p:txBody>
          <a:bodyPr wrap="square" rtlCol="0">
            <a:spAutoFit/>
          </a:bodyPr>
          <a:lstStyle/>
          <a:p>
            <a:r>
              <a:rPr lang="en-US" altLang="zh-TW" dirty="0" smtClean="0">
                <a:latin typeface="Times New Roman" panose="02020603050405020304" pitchFamily="18" charset="0"/>
                <a:cs typeface="Times New Roman" panose="02020603050405020304" pitchFamily="18" charset="0"/>
              </a:rPr>
              <a:t>Threshold higher </a:t>
            </a:r>
            <a:r>
              <a:rPr lang="en-US" altLang="zh-TW" dirty="0" smtClean="0">
                <a:latin typeface="Times New Roman" panose="02020603050405020304" pitchFamily="18" charset="0"/>
                <a:cs typeface="Times New Roman" panose="02020603050405020304" pitchFamily="18" charset="0"/>
                <a:sym typeface="Wingdings" panose="05000000000000000000" pitchFamily="2" charset="2"/>
              </a:rPr>
              <a:t> Number of segments smaller</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473412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a:latin typeface="Times New Roman" panose="02020603050405020304" pitchFamily="18" charset="0"/>
                <a:cs typeface="Times New Roman" panose="02020603050405020304" pitchFamily="18" charset="0"/>
              </a:rPr>
              <a:t>Piecewise Linear </a:t>
            </a:r>
            <a:r>
              <a:rPr lang="en-US" altLang="zh-TW" sz="4000" b="1" dirty="0" smtClean="0">
                <a:latin typeface="Times New Roman" panose="02020603050405020304" pitchFamily="18" charset="0"/>
                <a:cs typeface="Times New Roman" panose="02020603050405020304" pitchFamily="18" charset="0"/>
              </a:rPr>
              <a:t>Representation</a:t>
            </a:r>
            <a:endParaRPr lang="zh-TW" altLang="en-US" sz="4000" b="1" dirty="0">
              <a:latin typeface="Times New Roman" panose="02020603050405020304" pitchFamily="18" charset="0"/>
              <a:cs typeface="Times New Roman" panose="02020603050405020304" pitchFamily="18" charset="0"/>
            </a:endParaRPr>
          </a:p>
        </p:txBody>
      </p:sp>
      <p:pic>
        <p:nvPicPr>
          <p:cNvPr id="5" name="內容版面配置區 4"/>
          <p:cNvPicPr>
            <a:picLocks noGrp="1" noChangeAspect="1"/>
          </p:cNvPicPr>
          <p:nvPr>
            <p:ph idx="1"/>
          </p:nvPr>
        </p:nvPicPr>
        <p:blipFill>
          <a:blip r:embed="rId3"/>
          <a:stretch>
            <a:fillRect/>
          </a:stretch>
        </p:blipFill>
        <p:spPr>
          <a:xfrm>
            <a:off x="1864387" y="809625"/>
            <a:ext cx="5386651" cy="5911850"/>
          </a:xfrm>
          <a:prstGeom prst="rect">
            <a:avLst/>
          </a:prstGeom>
        </p:spPr>
      </p:pic>
      <p:sp>
        <p:nvSpPr>
          <p:cNvPr id="4" name="投影片編號版面配置區 3"/>
          <p:cNvSpPr>
            <a:spLocks noGrp="1"/>
          </p:cNvSpPr>
          <p:nvPr>
            <p:ph type="sldNum" sz="quarter" idx="12"/>
          </p:nvPr>
        </p:nvSpPr>
        <p:spPr/>
        <p:txBody>
          <a:bodyPr/>
          <a:lstStyle/>
          <a:p>
            <a:fld id="{7D6D0F78-E2D1-4ADE-B2ED-40AB43ACB23D}" type="slidenum">
              <a:rPr lang="zh-TW" altLang="en-US" smtClean="0"/>
              <a:t>12</a:t>
            </a:fld>
            <a:endParaRPr lang="zh-TW" altLang="en-US" dirty="0"/>
          </a:p>
        </p:txBody>
      </p:sp>
      <p:sp>
        <p:nvSpPr>
          <p:cNvPr id="3" name="文字方塊 2"/>
          <p:cNvSpPr txBox="1"/>
          <p:nvPr/>
        </p:nvSpPr>
        <p:spPr>
          <a:xfrm>
            <a:off x="6948200" y="3937686"/>
            <a:ext cx="1869989" cy="646331"/>
          </a:xfrm>
          <a:prstGeom prst="rect">
            <a:avLst/>
          </a:prstGeom>
          <a:noFill/>
        </p:spPr>
        <p:txBody>
          <a:bodyPr wrap="square" rtlCol="0">
            <a:spAutoFit/>
          </a:bodyPr>
          <a:lstStyle/>
          <a:p>
            <a:r>
              <a:rPr lang="zh-TW" altLang="en-US" dirty="0" smtClean="0">
                <a:latin typeface="標楷體" panose="03000509000000000000" pitchFamily="65" charset="-120"/>
                <a:ea typeface="標楷體" panose="03000509000000000000" pitchFamily="65" charset="-120"/>
              </a:rPr>
              <a:t>比較各種技術指標</a:t>
            </a:r>
            <a:endParaRPr lang="zh-TW" altLang="en-US" dirty="0">
              <a:latin typeface="標楷體" panose="03000509000000000000" pitchFamily="65" charset="-120"/>
              <a:ea typeface="標楷體" panose="03000509000000000000" pitchFamily="65" charset="-120"/>
            </a:endParaRPr>
          </a:p>
        </p:txBody>
      </p:sp>
      <p:sp>
        <p:nvSpPr>
          <p:cNvPr id="6" name="文字方塊 5"/>
          <p:cNvSpPr txBox="1"/>
          <p:nvPr/>
        </p:nvSpPr>
        <p:spPr>
          <a:xfrm>
            <a:off x="6948200" y="4889758"/>
            <a:ext cx="1869989" cy="646331"/>
          </a:xfrm>
          <a:prstGeom prst="rect">
            <a:avLst/>
          </a:prstGeom>
          <a:noFill/>
        </p:spPr>
        <p:txBody>
          <a:bodyPr wrap="square" rtlCol="0">
            <a:spAutoFit/>
          </a:bodyPr>
          <a:lstStyle/>
          <a:p>
            <a:r>
              <a:rPr lang="zh-TW" altLang="en-US" dirty="0" smtClean="0">
                <a:latin typeface="標楷體" panose="03000509000000000000" pitchFamily="65" charset="-120"/>
                <a:ea typeface="標楷體" panose="03000509000000000000" pitchFamily="65" charset="-120"/>
              </a:rPr>
              <a:t>使用某種交易策略</a:t>
            </a:r>
            <a:endParaRPr lang="zh-TW" altLang="en-US" dirty="0">
              <a:latin typeface="標楷體" panose="03000509000000000000" pitchFamily="65" charset="-120"/>
              <a:ea typeface="標楷體" panose="03000509000000000000" pitchFamily="65" charset="-120"/>
            </a:endParaRPr>
          </a:p>
        </p:txBody>
      </p:sp>
      <p:sp>
        <p:nvSpPr>
          <p:cNvPr id="7" name="文字方塊 6"/>
          <p:cNvSpPr txBox="1"/>
          <p:nvPr/>
        </p:nvSpPr>
        <p:spPr>
          <a:xfrm>
            <a:off x="6948199" y="5841830"/>
            <a:ext cx="1869989" cy="646331"/>
          </a:xfrm>
          <a:prstGeom prst="rect">
            <a:avLst/>
          </a:prstGeom>
          <a:noFill/>
        </p:spPr>
        <p:txBody>
          <a:bodyPr wrap="square" rtlCol="0">
            <a:spAutoFit/>
          </a:bodyPr>
          <a:lstStyle/>
          <a:p>
            <a:r>
              <a:rPr lang="zh-TW" altLang="en-US" dirty="0" smtClean="0">
                <a:latin typeface="標楷體" panose="03000509000000000000" pitchFamily="65" charset="-120"/>
                <a:ea typeface="標楷體" panose="03000509000000000000" pitchFamily="65" charset="-120"/>
              </a:rPr>
              <a:t>討論出是何買賣時機</a:t>
            </a:r>
            <a:endParaRPr lang="zh-TW" altLang="en-US" dirty="0">
              <a:latin typeface="標楷體" panose="03000509000000000000" pitchFamily="65" charset="-120"/>
              <a:ea typeface="標楷體" panose="03000509000000000000" pitchFamily="65" charset="-120"/>
            </a:endParaRPr>
          </a:p>
        </p:txBody>
      </p:sp>
      <p:sp>
        <p:nvSpPr>
          <p:cNvPr id="8" name="文字方塊 7"/>
          <p:cNvSpPr txBox="1"/>
          <p:nvPr/>
        </p:nvSpPr>
        <p:spPr>
          <a:xfrm>
            <a:off x="939113" y="1521096"/>
            <a:ext cx="1532238" cy="369332"/>
          </a:xfrm>
          <a:prstGeom prst="rect">
            <a:avLst/>
          </a:prstGeom>
          <a:noFill/>
        </p:spPr>
        <p:txBody>
          <a:bodyPr wrap="square" rtlCol="0">
            <a:spAutoFit/>
          </a:bodyPr>
          <a:lstStyle/>
          <a:p>
            <a:r>
              <a:rPr lang="en-US" altLang="zh-TW" b="1" dirty="0" smtClean="0">
                <a:latin typeface="標楷體" panose="03000509000000000000" pitchFamily="65" charset="-120"/>
                <a:ea typeface="標楷體" panose="03000509000000000000" pitchFamily="65" charset="-120"/>
              </a:rPr>
              <a:t>PLR </a:t>
            </a:r>
            <a:r>
              <a:rPr lang="zh-TW" altLang="en-US" b="1" dirty="0" smtClean="0">
                <a:latin typeface="標楷體" panose="03000509000000000000" pitchFamily="65" charset="-120"/>
                <a:ea typeface="標楷體" panose="03000509000000000000" pitchFamily="65" charset="-120"/>
              </a:rPr>
              <a:t>方法</a:t>
            </a:r>
            <a:endParaRPr lang="zh-TW" altLang="en-US" b="1" dirty="0">
              <a:latin typeface="標楷體" panose="03000509000000000000" pitchFamily="65" charset="-120"/>
              <a:ea typeface="標楷體" panose="03000509000000000000" pitchFamily="65" charset="-120"/>
            </a:endParaRPr>
          </a:p>
        </p:txBody>
      </p:sp>
      <p:sp>
        <p:nvSpPr>
          <p:cNvPr id="9" name="文字方塊 8"/>
          <p:cNvSpPr txBox="1"/>
          <p:nvPr/>
        </p:nvSpPr>
        <p:spPr>
          <a:xfrm>
            <a:off x="6948199" y="1521096"/>
            <a:ext cx="1532238" cy="369332"/>
          </a:xfrm>
          <a:prstGeom prst="rect">
            <a:avLst/>
          </a:prstGeom>
          <a:noFill/>
        </p:spPr>
        <p:txBody>
          <a:bodyPr wrap="square" rtlCol="0">
            <a:spAutoFit/>
          </a:bodyPr>
          <a:lstStyle/>
          <a:p>
            <a:r>
              <a:rPr lang="zh-TW" altLang="en-US" b="1" dirty="0" smtClean="0">
                <a:latin typeface="標楷體" panose="03000509000000000000" pitchFamily="65" charset="-120"/>
                <a:ea typeface="標楷體" panose="03000509000000000000" pitchFamily="65" charset="-120"/>
              </a:rPr>
              <a:t>專家決策</a:t>
            </a:r>
            <a:endParaRPr lang="zh-TW" altLang="en-US" b="1"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011807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a:latin typeface="Times New Roman" panose="02020603050405020304" pitchFamily="18" charset="0"/>
                <a:cs typeface="Times New Roman" panose="02020603050405020304" pitchFamily="18" charset="0"/>
              </a:rPr>
              <a:t>Piecewise Linear Representation</a:t>
            </a:r>
            <a:endParaRPr lang="zh-TW" altLang="en-US" sz="4000" b="1"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13</a:t>
            </a:fld>
            <a:endParaRPr lang="zh-TW" altLang="en-US" dirty="0"/>
          </a:p>
        </p:txBody>
      </p:sp>
      <p:sp>
        <p:nvSpPr>
          <p:cNvPr id="17" name="文字方塊 16"/>
          <p:cNvSpPr txBox="1"/>
          <p:nvPr/>
        </p:nvSpPr>
        <p:spPr>
          <a:xfrm>
            <a:off x="95249" y="809897"/>
            <a:ext cx="2560320" cy="369332"/>
          </a:xfrm>
          <a:prstGeom prst="rect">
            <a:avLst/>
          </a:prstGeom>
          <a:noFill/>
        </p:spPr>
        <p:txBody>
          <a:bodyPr wrap="square" rtlCol="0">
            <a:spAutoFit/>
          </a:bodyPr>
          <a:lstStyle/>
          <a:p>
            <a:r>
              <a:rPr lang="en-US" altLang="zh-TW" u="sng" dirty="0" smtClean="0">
                <a:latin typeface="Times New Roman" panose="02020603050405020304" pitchFamily="18" charset="0"/>
                <a:cs typeface="Times New Roman" panose="02020603050405020304" pitchFamily="18" charset="0"/>
              </a:rPr>
              <a:t>Generate trading signal</a:t>
            </a:r>
            <a:endParaRPr lang="zh-TW" altLang="en-US" u="sng" dirty="0">
              <a:latin typeface="Times New Roman" panose="02020603050405020304" pitchFamily="18" charset="0"/>
              <a:cs typeface="Times New Roman" panose="02020603050405020304" pitchFamily="18" charset="0"/>
            </a:endParaRPr>
          </a:p>
        </p:txBody>
      </p:sp>
      <p:pic>
        <p:nvPicPr>
          <p:cNvPr id="19" name="圖片 18"/>
          <p:cNvPicPr>
            <a:picLocks noChangeAspect="1"/>
          </p:cNvPicPr>
          <p:nvPr/>
        </p:nvPicPr>
        <p:blipFill>
          <a:blip r:embed="rId3"/>
          <a:stretch>
            <a:fillRect/>
          </a:stretch>
        </p:blipFill>
        <p:spPr>
          <a:xfrm>
            <a:off x="5024845" y="1179229"/>
            <a:ext cx="3821430" cy="3909481"/>
          </a:xfrm>
          <a:prstGeom prst="rect">
            <a:avLst/>
          </a:prstGeom>
        </p:spPr>
      </p:pic>
      <p:pic>
        <p:nvPicPr>
          <p:cNvPr id="20" name="圖片 19"/>
          <p:cNvPicPr>
            <a:picLocks noChangeAspect="1"/>
          </p:cNvPicPr>
          <p:nvPr/>
        </p:nvPicPr>
        <p:blipFill>
          <a:blip r:embed="rId4"/>
          <a:stretch>
            <a:fillRect/>
          </a:stretch>
        </p:blipFill>
        <p:spPr>
          <a:xfrm>
            <a:off x="95249" y="1890700"/>
            <a:ext cx="4430337" cy="1244386"/>
          </a:xfrm>
          <a:prstGeom prst="rect">
            <a:avLst/>
          </a:prstGeom>
        </p:spPr>
      </p:pic>
      <p:sp>
        <p:nvSpPr>
          <p:cNvPr id="21" name="矩形 20"/>
          <p:cNvSpPr/>
          <p:nvPr/>
        </p:nvSpPr>
        <p:spPr>
          <a:xfrm>
            <a:off x="6305006" y="2124891"/>
            <a:ext cx="539931"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矩形 21"/>
          <p:cNvSpPr/>
          <p:nvPr/>
        </p:nvSpPr>
        <p:spPr>
          <a:xfrm>
            <a:off x="6305005" y="2735852"/>
            <a:ext cx="539931"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向右箭號 22"/>
          <p:cNvSpPr/>
          <p:nvPr/>
        </p:nvSpPr>
        <p:spPr>
          <a:xfrm rot="19932922">
            <a:off x="6892499" y="2295623"/>
            <a:ext cx="1415960" cy="1654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矩形 23"/>
          <p:cNvSpPr/>
          <p:nvPr/>
        </p:nvSpPr>
        <p:spPr>
          <a:xfrm>
            <a:off x="6305004" y="3369672"/>
            <a:ext cx="539931" cy="45719"/>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矩形 24"/>
          <p:cNvSpPr/>
          <p:nvPr/>
        </p:nvSpPr>
        <p:spPr>
          <a:xfrm>
            <a:off x="6305005" y="4620134"/>
            <a:ext cx="539931" cy="45719"/>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向右箭號 25"/>
          <p:cNvSpPr/>
          <p:nvPr/>
        </p:nvSpPr>
        <p:spPr>
          <a:xfrm rot="19010838">
            <a:off x="6777758" y="3841295"/>
            <a:ext cx="1641512" cy="187694"/>
          </a:xfrm>
          <a:prstGeom prst="rightArrow">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8" name="文字方塊 27"/>
              <p:cNvSpPr txBox="1"/>
              <p:nvPr/>
            </p:nvSpPr>
            <p:spPr>
              <a:xfrm>
                <a:off x="165463" y="3640183"/>
                <a:ext cx="4859382" cy="646331"/>
              </a:xfrm>
              <a:prstGeom prst="rect">
                <a:avLst/>
              </a:prstGeom>
              <a:noFill/>
            </p:spPr>
            <p:txBody>
              <a:bodyPr wrap="square" rtlCol="0">
                <a:spAutoFit/>
              </a:bodyPr>
              <a:lstStyle/>
              <a:p>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𝐶</m:t>
                        </m:r>
                      </m:e>
                      <m:sub>
                        <m:r>
                          <a:rPr lang="en-US" altLang="zh-TW" b="0" i="1" smtClean="0">
                            <a:latin typeface="Cambria Math" panose="02040503050406030204" pitchFamily="18" charset="0"/>
                          </a:rPr>
                          <m:t>𝑖</m:t>
                        </m:r>
                      </m:sub>
                    </m:sSub>
                  </m:oMath>
                </a14:m>
                <a:r>
                  <a:rPr lang="zh-TW" altLang="en-US" dirty="0" smtClean="0">
                    <a:latin typeface="Times New Roman" panose="02020603050405020304" pitchFamily="18" charset="0"/>
                    <a:ea typeface="標楷體" panose="03000509000000000000" pitchFamily="65" charset="-120"/>
                  </a:rPr>
                  <a:t> </a:t>
                </a:r>
                <a:r>
                  <a:rPr lang="en-US" altLang="zh-TW" dirty="0" smtClean="0">
                    <a:latin typeface="Times New Roman" panose="02020603050405020304" pitchFamily="18" charset="0"/>
                    <a:ea typeface="標楷體" panose="03000509000000000000" pitchFamily="65" charset="-120"/>
                  </a:rPr>
                  <a:t>is the stock price at </a:t>
                </a:r>
                <a:r>
                  <a:rPr lang="en-US" altLang="zh-TW" i="1" dirty="0" err="1" smtClean="0">
                    <a:latin typeface="Times New Roman" panose="02020603050405020304" pitchFamily="18" charset="0"/>
                    <a:ea typeface="標楷體" panose="03000509000000000000" pitchFamily="65" charset="-120"/>
                  </a:rPr>
                  <a:t>ith</a:t>
                </a:r>
                <a:r>
                  <a:rPr lang="en-US" altLang="zh-TW" dirty="0" smtClean="0">
                    <a:latin typeface="Times New Roman" panose="02020603050405020304" pitchFamily="18" charset="0"/>
                    <a:ea typeface="標楷體" panose="03000509000000000000" pitchFamily="65" charset="-120"/>
                  </a:rPr>
                  <a:t> turning point.</a:t>
                </a:r>
              </a:p>
              <a:p>
                <a14:m>
                  <m:oMath xmlns:m="http://schemas.openxmlformats.org/officeDocument/2006/math">
                    <m:r>
                      <a:rPr lang="en-US" altLang="zh-TW" b="0" i="1" smtClean="0">
                        <a:latin typeface="Cambria Math" panose="02040503050406030204" pitchFamily="18" charset="0"/>
                      </a:rPr>
                      <m:t>𝐶</m:t>
                    </m:r>
                  </m:oMath>
                </a14:m>
                <a:r>
                  <a:rPr lang="en-US" altLang="zh-TW" dirty="0" smtClean="0">
                    <a:latin typeface="Times New Roman" panose="02020603050405020304" pitchFamily="18" charset="0"/>
                    <a:ea typeface="標楷體" panose="03000509000000000000" pitchFamily="65" charset="-120"/>
                  </a:rPr>
                  <a:t>  is the stock price at current turning point.</a:t>
                </a:r>
                <a:endParaRPr lang="zh-TW" altLang="en-US" dirty="0">
                  <a:latin typeface="Times New Roman" panose="02020603050405020304" pitchFamily="18" charset="0"/>
                  <a:ea typeface="標楷體" panose="03000509000000000000" pitchFamily="65" charset="-120"/>
                </a:endParaRPr>
              </a:p>
            </p:txBody>
          </p:sp>
        </mc:Choice>
        <mc:Fallback xmlns="">
          <p:sp>
            <p:nvSpPr>
              <p:cNvPr id="28" name="文字方塊 27"/>
              <p:cNvSpPr txBox="1">
                <a:spLocks noRot="1" noChangeAspect="1" noMove="1" noResize="1" noEditPoints="1" noAdjustHandles="1" noChangeArrowheads="1" noChangeShapeType="1" noTextEdit="1"/>
              </p:cNvSpPr>
              <p:nvPr/>
            </p:nvSpPr>
            <p:spPr>
              <a:xfrm>
                <a:off x="165463" y="3640183"/>
                <a:ext cx="4859382" cy="646331"/>
              </a:xfrm>
              <a:prstGeom prst="rect">
                <a:avLst/>
              </a:prstGeom>
              <a:blipFill rotWithShape="0">
                <a:blip r:embed="rId5"/>
                <a:stretch>
                  <a:fillRect t="-4717" b="-14151"/>
                </a:stretch>
              </a:blipFill>
            </p:spPr>
            <p:txBody>
              <a:bodyPr/>
              <a:lstStyle/>
              <a:p>
                <a:r>
                  <a:rPr lang="zh-TW" altLang="en-US">
                    <a:noFill/>
                  </a:rPr>
                  <a:t> </a:t>
                </a:r>
              </a:p>
            </p:txBody>
          </p:sp>
        </mc:Fallback>
      </mc:AlternateContent>
      <p:sp>
        <p:nvSpPr>
          <p:cNvPr id="3" name="文字方塊 2"/>
          <p:cNvSpPr txBox="1"/>
          <p:nvPr/>
        </p:nvSpPr>
        <p:spPr>
          <a:xfrm>
            <a:off x="5024844" y="5153060"/>
            <a:ext cx="2512777" cy="369332"/>
          </a:xfrm>
          <a:prstGeom prst="rect">
            <a:avLst/>
          </a:prstGeom>
          <a:noFill/>
        </p:spPr>
        <p:txBody>
          <a:bodyPr wrap="square" rtlCol="0">
            <a:spAutoFit/>
          </a:bodyPr>
          <a:lstStyle/>
          <a:p>
            <a:r>
              <a:rPr lang="en-US" altLang="zh-TW" dirty="0" smtClean="0">
                <a:latin typeface="Times New Roman" panose="02020603050405020304" pitchFamily="18" charset="0"/>
                <a:cs typeface="Times New Roman" panose="02020603050405020304" pitchFamily="18" charset="0"/>
              </a:rPr>
              <a:t>Assume threshold = 1</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19623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a:latin typeface="Times New Roman" panose="02020603050405020304" pitchFamily="18" charset="0"/>
                <a:cs typeface="Times New Roman" panose="02020603050405020304" pitchFamily="18" charset="0"/>
              </a:rPr>
              <a:t>Piecewise Linear Representation</a:t>
            </a:r>
            <a:endParaRPr lang="zh-TW" altLang="en-US" sz="4000" b="1"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14</a:t>
            </a:fld>
            <a:endParaRPr lang="zh-TW" altLang="en-US" dirty="0"/>
          </a:p>
        </p:txBody>
      </p:sp>
      <p:sp>
        <p:nvSpPr>
          <p:cNvPr id="17" name="文字方塊 16"/>
          <p:cNvSpPr txBox="1"/>
          <p:nvPr/>
        </p:nvSpPr>
        <p:spPr>
          <a:xfrm>
            <a:off x="95249" y="809897"/>
            <a:ext cx="2560320" cy="369332"/>
          </a:xfrm>
          <a:prstGeom prst="rect">
            <a:avLst/>
          </a:prstGeom>
          <a:noFill/>
        </p:spPr>
        <p:txBody>
          <a:bodyPr wrap="square" rtlCol="0">
            <a:spAutoFit/>
          </a:bodyPr>
          <a:lstStyle/>
          <a:p>
            <a:r>
              <a:rPr lang="en-US" altLang="zh-TW" u="sng" dirty="0" smtClean="0">
                <a:latin typeface="Times New Roman" panose="02020603050405020304" pitchFamily="18" charset="0"/>
                <a:cs typeface="Times New Roman" panose="02020603050405020304" pitchFamily="18" charset="0"/>
              </a:rPr>
              <a:t>Generate trading signal</a:t>
            </a:r>
            <a:endParaRPr lang="zh-TW" altLang="en-US" u="sng" dirty="0">
              <a:latin typeface="Times New Roman" panose="02020603050405020304" pitchFamily="18" charset="0"/>
              <a:cs typeface="Times New Roman" panose="02020603050405020304" pitchFamily="18" charset="0"/>
            </a:endParaRPr>
          </a:p>
        </p:txBody>
      </p:sp>
      <p:pic>
        <p:nvPicPr>
          <p:cNvPr id="3" name="圖片 2"/>
          <p:cNvPicPr>
            <a:picLocks noChangeAspect="1"/>
          </p:cNvPicPr>
          <p:nvPr/>
        </p:nvPicPr>
        <p:blipFill>
          <a:blip r:embed="rId3"/>
          <a:stretch>
            <a:fillRect/>
          </a:stretch>
        </p:blipFill>
        <p:spPr>
          <a:xfrm>
            <a:off x="1682862" y="2493950"/>
            <a:ext cx="5749697" cy="3616745"/>
          </a:xfrm>
          <a:prstGeom prst="rect">
            <a:avLst/>
          </a:prstGeom>
        </p:spPr>
      </p:pic>
      <p:sp>
        <p:nvSpPr>
          <p:cNvPr id="5" name="文字方塊 4"/>
          <p:cNvSpPr txBox="1"/>
          <p:nvPr/>
        </p:nvSpPr>
        <p:spPr>
          <a:xfrm>
            <a:off x="2943497" y="1733006"/>
            <a:ext cx="3082835" cy="646331"/>
          </a:xfrm>
          <a:prstGeom prst="rect">
            <a:avLst/>
          </a:prstGeom>
          <a:noFill/>
        </p:spPr>
        <p:txBody>
          <a:bodyPr wrap="square" rtlCol="0">
            <a:spAutoFit/>
          </a:bodyPr>
          <a:lstStyle/>
          <a:p>
            <a:r>
              <a:rPr lang="en-US" altLang="zh-TW" dirty="0" smtClean="0">
                <a:latin typeface="Times New Roman" panose="02020603050405020304" pitchFamily="18" charset="0"/>
                <a:cs typeface="Times New Roman" panose="02020603050405020304" pitchFamily="18" charset="0"/>
              </a:rPr>
              <a:t>UP </a:t>
            </a:r>
            <a:r>
              <a:rPr lang="en-US" altLang="zh-TW" dirty="0" smtClean="0">
                <a:latin typeface="Times New Roman" panose="02020603050405020304" pitchFamily="18" charset="0"/>
                <a:cs typeface="Times New Roman" panose="02020603050405020304" pitchFamily="18" charset="0"/>
                <a:sym typeface="Wingdings" panose="05000000000000000000" pitchFamily="2" charset="2"/>
              </a:rPr>
              <a:t> DOWN = 1 (</a:t>
            </a:r>
            <a:r>
              <a:rPr lang="en-US" altLang="zh-TW" dirty="0"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Sell</a:t>
            </a:r>
            <a:r>
              <a:rPr lang="en-US" altLang="zh-TW" dirty="0" smtClean="0">
                <a:latin typeface="Times New Roman" panose="02020603050405020304" pitchFamily="18" charset="0"/>
                <a:cs typeface="Times New Roman" panose="02020603050405020304" pitchFamily="18" charset="0"/>
                <a:sym typeface="Wingdings" panose="05000000000000000000" pitchFamily="2" charset="2"/>
              </a:rPr>
              <a:t> signal)</a:t>
            </a:r>
          </a:p>
          <a:p>
            <a:r>
              <a:rPr lang="en-US" altLang="zh-TW" dirty="0" smtClean="0">
                <a:latin typeface="Times New Roman" panose="02020603050405020304" pitchFamily="18" charset="0"/>
                <a:cs typeface="Times New Roman" panose="02020603050405020304" pitchFamily="18" charset="0"/>
                <a:sym typeface="Wingdings" panose="05000000000000000000" pitchFamily="2" charset="2"/>
              </a:rPr>
              <a:t>DOWN</a:t>
            </a:r>
            <a:r>
              <a:rPr lang="zh-TW" altLang="en-US" dirty="0" smtClean="0">
                <a:latin typeface="Times New Roman" panose="02020603050405020304" pitchFamily="18" charset="0"/>
                <a:cs typeface="Times New Roman" panose="02020603050405020304" pitchFamily="18" charset="0"/>
                <a:sym typeface="Wingdings" panose="05000000000000000000" pitchFamily="2" charset="2"/>
              </a:rPr>
              <a:t> </a:t>
            </a:r>
            <a:r>
              <a:rPr lang="en-US" altLang="zh-TW" dirty="0" smtClean="0">
                <a:latin typeface="Times New Roman" panose="02020603050405020304" pitchFamily="18" charset="0"/>
                <a:cs typeface="Times New Roman" panose="02020603050405020304" pitchFamily="18" charset="0"/>
                <a:sym typeface="Wingdings" panose="05000000000000000000" pitchFamily="2" charset="2"/>
              </a:rPr>
              <a:t></a:t>
            </a:r>
            <a:r>
              <a:rPr lang="zh-TW" altLang="en-US" dirty="0" smtClean="0">
                <a:latin typeface="Times New Roman" panose="02020603050405020304" pitchFamily="18" charset="0"/>
                <a:cs typeface="Times New Roman" panose="02020603050405020304" pitchFamily="18" charset="0"/>
                <a:sym typeface="Wingdings" panose="05000000000000000000" pitchFamily="2" charset="2"/>
              </a:rPr>
              <a:t> </a:t>
            </a:r>
            <a:r>
              <a:rPr lang="en-US" altLang="zh-TW" dirty="0" smtClean="0">
                <a:latin typeface="Times New Roman" panose="02020603050405020304" pitchFamily="18" charset="0"/>
                <a:cs typeface="Times New Roman" panose="02020603050405020304" pitchFamily="18" charset="0"/>
                <a:sym typeface="Wingdings" panose="05000000000000000000" pitchFamily="2" charset="2"/>
              </a:rPr>
              <a:t>UP</a:t>
            </a:r>
            <a:r>
              <a:rPr lang="zh-TW" altLang="en-US" dirty="0" smtClean="0">
                <a:latin typeface="Times New Roman" panose="02020603050405020304" pitchFamily="18" charset="0"/>
                <a:cs typeface="Times New Roman" panose="02020603050405020304" pitchFamily="18" charset="0"/>
                <a:sym typeface="Wingdings" panose="05000000000000000000" pitchFamily="2" charset="2"/>
              </a:rPr>
              <a:t> </a:t>
            </a:r>
            <a:r>
              <a:rPr lang="en-US" altLang="zh-TW" dirty="0" smtClean="0">
                <a:latin typeface="Times New Roman" panose="02020603050405020304" pitchFamily="18" charset="0"/>
                <a:cs typeface="Times New Roman" panose="02020603050405020304" pitchFamily="18" charset="0"/>
                <a:sym typeface="Wingdings" panose="05000000000000000000" pitchFamily="2" charset="2"/>
              </a:rPr>
              <a:t>=</a:t>
            </a:r>
            <a:r>
              <a:rPr lang="zh-TW" altLang="en-US" dirty="0" smtClean="0">
                <a:latin typeface="Times New Roman" panose="02020603050405020304" pitchFamily="18" charset="0"/>
                <a:cs typeface="Times New Roman" panose="02020603050405020304" pitchFamily="18" charset="0"/>
                <a:sym typeface="Wingdings" panose="05000000000000000000" pitchFamily="2" charset="2"/>
              </a:rPr>
              <a:t> </a:t>
            </a:r>
            <a:r>
              <a:rPr lang="en-US" altLang="zh-TW" dirty="0" smtClean="0">
                <a:latin typeface="Times New Roman" panose="02020603050405020304" pitchFamily="18" charset="0"/>
                <a:cs typeface="Times New Roman" panose="02020603050405020304" pitchFamily="18" charset="0"/>
                <a:sym typeface="Wingdings" panose="05000000000000000000" pitchFamily="2" charset="2"/>
              </a:rPr>
              <a:t>0 (</a:t>
            </a:r>
            <a:r>
              <a:rPr lang="en-US" altLang="zh-TW" dirty="0"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Buy</a:t>
            </a:r>
            <a:r>
              <a:rPr lang="en-US" altLang="zh-TW" dirty="0" smtClean="0">
                <a:latin typeface="Times New Roman" panose="02020603050405020304" pitchFamily="18" charset="0"/>
                <a:cs typeface="Times New Roman" panose="02020603050405020304" pitchFamily="18" charset="0"/>
                <a:sym typeface="Wingdings" panose="05000000000000000000" pitchFamily="2" charset="2"/>
              </a:rPr>
              <a:t> signal)</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606414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a:latin typeface="Times New Roman" panose="02020603050405020304" pitchFamily="18" charset="0"/>
                <a:cs typeface="Times New Roman" panose="02020603050405020304" pitchFamily="18" charset="0"/>
              </a:rPr>
              <a:t>Piecewise Linear Representation</a:t>
            </a:r>
            <a:endParaRPr lang="zh-TW" altLang="en-US" sz="4000" b="1"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15</a:t>
            </a:fld>
            <a:endParaRPr lang="zh-TW" altLang="en-US" dirty="0"/>
          </a:p>
        </p:txBody>
      </p:sp>
      <p:sp>
        <p:nvSpPr>
          <p:cNvPr id="17" name="文字方塊 16"/>
          <p:cNvSpPr txBox="1"/>
          <p:nvPr/>
        </p:nvSpPr>
        <p:spPr>
          <a:xfrm>
            <a:off x="95249" y="809897"/>
            <a:ext cx="2560320" cy="369332"/>
          </a:xfrm>
          <a:prstGeom prst="rect">
            <a:avLst/>
          </a:prstGeom>
          <a:noFill/>
        </p:spPr>
        <p:txBody>
          <a:bodyPr wrap="square" rtlCol="0">
            <a:spAutoFit/>
          </a:bodyPr>
          <a:lstStyle/>
          <a:p>
            <a:r>
              <a:rPr lang="en-US" altLang="zh-TW" u="sng" dirty="0" smtClean="0">
                <a:latin typeface="Times New Roman" panose="02020603050405020304" pitchFamily="18" charset="0"/>
                <a:cs typeface="Times New Roman" panose="02020603050405020304" pitchFamily="18" charset="0"/>
              </a:rPr>
              <a:t>Generate trading signal</a:t>
            </a:r>
            <a:endParaRPr lang="zh-TW" altLang="en-US" u="sng" dirty="0">
              <a:latin typeface="Times New Roman" panose="02020603050405020304" pitchFamily="18" charset="0"/>
              <a:cs typeface="Times New Roman" panose="02020603050405020304" pitchFamily="18" charset="0"/>
            </a:endParaRPr>
          </a:p>
        </p:txBody>
      </p:sp>
      <p:pic>
        <p:nvPicPr>
          <p:cNvPr id="6" name="圖片 5"/>
          <p:cNvPicPr>
            <a:picLocks noChangeAspect="1"/>
          </p:cNvPicPr>
          <p:nvPr/>
        </p:nvPicPr>
        <p:blipFill>
          <a:blip r:embed="rId3"/>
          <a:stretch>
            <a:fillRect/>
          </a:stretch>
        </p:blipFill>
        <p:spPr>
          <a:xfrm>
            <a:off x="95249" y="2144183"/>
            <a:ext cx="4389665" cy="508523"/>
          </a:xfrm>
          <a:prstGeom prst="rect">
            <a:avLst/>
          </a:prstGeom>
        </p:spPr>
      </p:pic>
      <p:pic>
        <p:nvPicPr>
          <p:cNvPr id="7" name="圖片 6"/>
          <p:cNvPicPr>
            <a:picLocks noChangeAspect="1"/>
          </p:cNvPicPr>
          <p:nvPr/>
        </p:nvPicPr>
        <p:blipFill>
          <a:blip r:embed="rId4"/>
          <a:stretch>
            <a:fillRect/>
          </a:stretch>
        </p:blipFill>
        <p:spPr>
          <a:xfrm>
            <a:off x="95249" y="3617660"/>
            <a:ext cx="4442733" cy="528670"/>
          </a:xfrm>
          <a:prstGeom prst="rect">
            <a:avLst/>
          </a:prstGeom>
        </p:spPr>
      </p:pic>
      <p:pic>
        <p:nvPicPr>
          <p:cNvPr id="8" name="圖片 7"/>
          <p:cNvPicPr>
            <a:picLocks noChangeAspect="1"/>
          </p:cNvPicPr>
          <p:nvPr/>
        </p:nvPicPr>
        <p:blipFill>
          <a:blip r:embed="rId5"/>
          <a:stretch>
            <a:fillRect/>
          </a:stretch>
        </p:blipFill>
        <p:spPr>
          <a:xfrm>
            <a:off x="4557711" y="3617660"/>
            <a:ext cx="1163076" cy="528670"/>
          </a:xfrm>
          <a:prstGeom prst="rect">
            <a:avLst/>
          </a:prstGeom>
        </p:spPr>
      </p:pic>
      <p:sp>
        <p:nvSpPr>
          <p:cNvPr id="9" name="文字方塊 8"/>
          <p:cNvSpPr txBox="1"/>
          <p:nvPr/>
        </p:nvSpPr>
        <p:spPr>
          <a:xfrm>
            <a:off x="-550" y="1744073"/>
            <a:ext cx="2909208" cy="400110"/>
          </a:xfrm>
          <a:prstGeom prst="rect">
            <a:avLst/>
          </a:prstGeom>
          <a:noFill/>
        </p:spPr>
        <p:txBody>
          <a:bodyPr wrap="square" rtlCol="0">
            <a:spAutoFit/>
          </a:bodyPr>
          <a:lstStyle/>
          <a:p>
            <a:r>
              <a:rPr lang="en-US" altLang="zh-TW" sz="2000" dirty="0" smtClean="0">
                <a:latin typeface="Times New Roman" panose="02020603050405020304" pitchFamily="18" charset="0"/>
                <a:cs typeface="Times New Roman" panose="02020603050405020304" pitchFamily="18" charset="0"/>
              </a:rPr>
              <a:t>If stock in uptrend</a:t>
            </a:r>
            <a:endParaRPr lang="zh-TW" altLang="en-US" sz="2000" dirty="0">
              <a:latin typeface="Times New Roman" panose="02020603050405020304" pitchFamily="18" charset="0"/>
              <a:cs typeface="Times New Roman" panose="02020603050405020304" pitchFamily="18" charset="0"/>
            </a:endParaRPr>
          </a:p>
        </p:txBody>
      </p:sp>
      <p:sp>
        <p:nvSpPr>
          <p:cNvPr id="11" name="文字方塊 10"/>
          <p:cNvSpPr txBox="1"/>
          <p:nvPr/>
        </p:nvSpPr>
        <p:spPr>
          <a:xfrm>
            <a:off x="-18512" y="3217550"/>
            <a:ext cx="2909208" cy="400110"/>
          </a:xfrm>
          <a:prstGeom prst="rect">
            <a:avLst/>
          </a:prstGeom>
          <a:noFill/>
        </p:spPr>
        <p:txBody>
          <a:bodyPr wrap="square" rtlCol="0">
            <a:spAutoFit/>
          </a:bodyPr>
          <a:lstStyle/>
          <a:p>
            <a:r>
              <a:rPr lang="en-US" altLang="zh-TW" sz="2000" dirty="0" smtClean="0">
                <a:latin typeface="Times New Roman" panose="02020603050405020304" pitchFamily="18" charset="0"/>
                <a:cs typeface="Times New Roman" panose="02020603050405020304" pitchFamily="18" charset="0"/>
              </a:rPr>
              <a:t>If stock in downtrend</a:t>
            </a:r>
            <a:endParaRPr lang="zh-TW" altLang="en-US" sz="2000" dirty="0">
              <a:latin typeface="Times New Roman" panose="02020603050405020304" pitchFamily="18" charset="0"/>
              <a:cs typeface="Times New Roman" panose="02020603050405020304" pitchFamily="18" charset="0"/>
            </a:endParaRPr>
          </a:p>
        </p:txBody>
      </p:sp>
      <p:pic>
        <p:nvPicPr>
          <p:cNvPr id="10" name="圖片 9"/>
          <p:cNvPicPr>
            <a:picLocks noChangeAspect="1"/>
          </p:cNvPicPr>
          <p:nvPr/>
        </p:nvPicPr>
        <p:blipFill>
          <a:blip r:embed="rId6"/>
          <a:stretch>
            <a:fillRect/>
          </a:stretch>
        </p:blipFill>
        <p:spPr>
          <a:xfrm>
            <a:off x="5042258" y="909295"/>
            <a:ext cx="3977916" cy="2608967"/>
          </a:xfrm>
          <a:prstGeom prst="rect">
            <a:avLst/>
          </a:prstGeom>
        </p:spPr>
      </p:pic>
      <p:sp>
        <p:nvSpPr>
          <p:cNvPr id="12" name="矩形 11"/>
          <p:cNvSpPr/>
          <p:nvPr/>
        </p:nvSpPr>
        <p:spPr>
          <a:xfrm>
            <a:off x="8299269" y="1515291"/>
            <a:ext cx="513805" cy="22007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p:cNvSpPr/>
          <p:nvPr/>
        </p:nvSpPr>
        <p:spPr>
          <a:xfrm>
            <a:off x="8294915" y="2359781"/>
            <a:ext cx="513805" cy="220073"/>
          </a:xfrm>
          <a:prstGeom prst="rect">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6" name="文字方塊 15"/>
              <p:cNvSpPr txBox="1"/>
              <p:nvPr/>
            </p:nvSpPr>
            <p:spPr>
              <a:xfrm>
                <a:off x="-18512" y="4906956"/>
                <a:ext cx="6476462" cy="1298112"/>
              </a:xfrm>
              <a:prstGeom prst="rect">
                <a:avLst/>
              </a:prstGeom>
              <a:noFill/>
            </p:spPr>
            <p:txBody>
              <a:bodyPr wrap="square" rtlCol="0">
                <a:spAutoFit/>
              </a:bodyPr>
              <a:lstStyle/>
              <a:p>
                <a:r>
                  <a:rPr lang="en-US" altLang="zh-TW" sz="2000" dirty="0" smtClean="0">
                    <a:solidFill>
                      <a:srgbClr val="FF0000"/>
                    </a:solidFill>
                    <a:latin typeface="Times New Roman" panose="02020603050405020304" pitchFamily="18" charset="0"/>
                    <a:cs typeface="Times New Roman" panose="02020603050405020304" pitchFamily="18" charset="0"/>
                  </a:rPr>
                  <a:t>Red block</a:t>
                </a:r>
                <a:r>
                  <a:rPr lang="en-US" altLang="zh-TW" sz="2000" dirty="0" smtClean="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sz="2000" i="1" smtClean="0">
                            <a:latin typeface="Cambria Math" panose="02040503050406030204" pitchFamily="18" charset="0"/>
                            <a:cs typeface="Times New Roman" panose="02020603050405020304" pitchFamily="18" charset="0"/>
                          </a:rPr>
                        </m:ctrlPr>
                      </m:sSubPr>
                      <m:e>
                        <m:r>
                          <a:rPr lang="en-US" altLang="zh-TW" sz="2000" b="0" i="1" smtClean="0">
                            <a:latin typeface="Cambria Math" panose="02040503050406030204" pitchFamily="18" charset="0"/>
                            <a:cs typeface="Times New Roman" panose="02020603050405020304" pitchFamily="18" charset="0"/>
                          </a:rPr>
                          <m:t>𝑡</m:t>
                        </m:r>
                      </m:e>
                      <m:sub>
                        <m:r>
                          <a:rPr lang="en-US" altLang="zh-TW" sz="2000" b="0" i="1" smtClean="0">
                            <a:latin typeface="Cambria Math" panose="02040503050406030204" pitchFamily="18" charset="0"/>
                            <a:cs typeface="Times New Roman" panose="02020603050405020304" pitchFamily="18" charset="0"/>
                          </a:rPr>
                          <m:t>𝑖</m:t>
                        </m:r>
                      </m:sub>
                    </m:sSub>
                    <m:r>
                      <a:rPr lang="en-US" altLang="zh-TW" sz="2000" b="0" i="1" smtClean="0">
                        <a:latin typeface="Cambria Math" panose="02040503050406030204" pitchFamily="18" charset="0"/>
                        <a:cs typeface="Times New Roman" panose="02020603050405020304" pitchFamily="18" charset="0"/>
                      </a:rPr>
                      <m:t>=</m:t>
                    </m:r>
                    <m:f>
                      <m:fPr>
                        <m:ctrlPr>
                          <a:rPr lang="en-US" altLang="zh-TW" sz="2000" b="0" i="1" smtClean="0">
                            <a:latin typeface="Cambria Math" panose="02040503050406030204" pitchFamily="18" charset="0"/>
                            <a:cs typeface="Times New Roman" panose="02020603050405020304" pitchFamily="18" charset="0"/>
                          </a:rPr>
                        </m:ctrlPr>
                      </m:fPr>
                      <m:num>
                        <m:r>
                          <a:rPr lang="en-US" altLang="zh-TW" sz="2000" b="0" i="1" smtClean="0">
                            <a:latin typeface="Cambria Math" panose="02040503050406030204" pitchFamily="18" charset="0"/>
                            <a:cs typeface="Times New Roman" panose="02020603050405020304" pitchFamily="18" charset="0"/>
                          </a:rPr>
                          <m:t>49.1−48.2</m:t>
                        </m:r>
                      </m:num>
                      <m:den>
                        <m:r>
                          <a:rPr lang="en-US" altLang="zh-TW" sz="2000" b="0" i="1" smtClean="0">
                            <a:latin typeface="Cambria Math" panose="02040503050406030204" pitchFamily="18" charset="0"/>
                            <a:cs typeface="Times New Roman" panose="02020603050405020304" pitchFamily="18" charset="0"/>
                          </a:rPr>
                          <m:t>54.3−48.2</m:t>
                        </m:r>
                      </m:den>
                    </m:f>
                    <m:r>
                      <a:rPr lang="en-US" altLang="zh-TW" sz="2000" b="0" i="1" smtClean="0">
                        <a:latin typeface="Cambria Math" panose="02040503050406030204" pitchFamily="18" charset="0"/>
                        <a:cs typeface="Times New Roman" panose="02020603050405020304" pitchFamily="18" charset="0"/>
                      </a:rPr>
                      <m:t>∗0.5=0.07377</m:t>
                    </m:r>
                  </m:oMath>
                </a14:m>
                <a:endParaRPr lang="en-US" altLang="zh-TW" sz="2000" b="0" dirty="0" smtClean="0">
                  <a:latin typeface="Times New Roman" panose="02020603050405020304" pitchFamily="18" charset="0"/>
                  <a:cs typeface="Times New Roman" panose="02020603050405020304" pitchFamily="18" charset="0"/>
                </a:endParaRPr>
              </a:p>
              <a:p>
                <a:endParaRPr lang="en-US" altLang="zh-TW" sz="2000" dirty="0" smtClean="0">
                  <a:latin typeface="Times New Roman" panose="02020603050405020304" pitchFamily="18" charset="0"/>
                  <a:cs typeface="Times New Roman" panose="02020603050405020304" pitchFamily="18" charset="0"/>
                </a:endParaRPr>
              </a:p>
              <a:p>
                <a:r>
                  <a:rPr lang="en-US" altLang="zh-TW" sz="2000" dirty="0" smtClean="0">
                    <a:solidFill>
                      <a:srgbClr val="FFC000"/>
                    </a:solidFill>
                    <a:latin typeface="Times New Roman" panose="02020603050405020304" pitchFamily="18" charset="0"/>
                    <a:cs typeface="Times New Roman" panose="02020603050405020304" pitchFamily="18" charset="0"/>
                  </a:rPr>
                  <a:t>Yellow block</a:t>
                </a:r>
                <a:r>
                  <a:rPr lang="en-US" altLang="zh-TW" sz="20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sz="2000" i="1">
                            <a:latin typeface="Cambria Math" panose="02040503050406030204" pitchFamily="18" charset="0"/>
                            <a:cs typeface="Times New Roman" panose="02020603050405020304" pitchFamily="18" charset="0"/>
                          </a:rPr>
                        </m:ctrlPr>
                      </m:sSubPr>
                      <m:e>
                        <m:r>
                          <a:rPr lang="en-US" altLang="zh-TW" sz="2000" i="1">
                            <a:latin typeface="Cambria Math" panose="02040503050406030204" pitchFamily="18" charset="0"/>
                            <a:cs typeface="Times New Roman" panose="02020603050405020304" pitchFamily="18" charset="0"/>
                          </a:rPr>
                          <m:t>𝑡</m:t>
                        </m:r>
                      </m:e>
                      <m:sub>
                        <m:r>
                          <a:rPr lang="en-US" altLang="zh-TW" sz="2000" i="1">
                            <a:latin typeface="Cambria Math" panose="02040503050406030204" pitchFamily="18" charset="0"/>
                            <a:cs typeface="Times New Roman" panose="02020603050405020304" pitchFamily="18" charset="0"/>
                          </a:rPr>
                          <m:t>𝑖</m:t>
                        </m:r>
                      </m:sub>
                    </m:sSub>
                    <m:r>
                      <a:rPr lang="en-US" altLang="zh-TW" sz="2000" i="1">
                        <a:latin typeface="Cambria Math" panose="02040503050406030204" pitchFamily="18" charset="0"/>
                        <a:cs typeface="Times New Roman" panose="02020603050405020304" pitchFamily="18" charset="0"/>
                      </a:rPr>
                      <m:t>=</m:t>
                    </m:r>
                    <m:d>
                      <m:dPr>
                        <m:ctrlPr>
                          <a:rPr lang="en-US" altLang="zh-TW" sz="2000" b="0" i="1" smtClean="0">
                            <a:latin typeface="Cambria Math" panose="02040503050406030204" pitchFamily="18" charset="0"/>
                            <a:cs typeface="Times New Roman" panose="02020603050405020304" pitchFamily="18" charset="0"/>
                          </a:rPr>
                        </m:ctrlPr>
                      </m:dPr>
                      <m:e>
                        <m:f>
                          <m:fPr>
                            <m:ctrlPr>
                              <a:rPr lang="en-US" altLang="zh-TW" sz="2000" i="1">
                                <a:latin typeface="Cambria Math" panose="02040503050406030204" pitchFamily="18" charset="0"/>
                                <a:cs typeface="Times New Roman" panose="02020603050405020304" pitchFamily="18" charset="0"/>
                              </a:rPr>
                            </m:ctrlPr>
                          </m:fPr>
                          <m:num>
                            <m:r>
                              <a:rPr lang="en-US" altLang="zh-TW" sz="2000" b="0" i="1" smtClean="0">
                                <a:latin typeface="Cambria Math" panose="02040503050406030204" pitchFamily="18" charset="0"/>
                                <a:cs typeface="Times New Roman" panose="02020603050405020304" pitchFamily="18" charset="0"/>
                              </a:rPr>
                              <m:t>53.5</m:t>
                            </m:r>
                            <m:r>
                              <a:rPr lang="en-US" altLang="zh-TW" sz="2000" i="1">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50.2</m:t>
                            </m:r>
                          </m:num>
                          <m:den>
                            <m:r>
                              <a:rPr lang="en-US" altLang="zh-TW" sz="2000" b="0" i="1" smtClean="0">
                                <a:latin typeface="Cambria Math" panose="02040503050406030204" pitchFamily="18" charset="0"/>
                                <a:cs typeface="Times New Roman" panose="02020603050405020304" pitchFamily="18" charset="0"/>
                              </a:rPr>
                              <m:t>54.6</m:t>
                            </m:r>
                            <m:r>
                              <a:rPr lang="en-US" altLang="zh-TW" sz="2000" i="1">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50.2</m:t>
                            </m:r>
                          </m:den>
                        </m:f>
                        <m:r>
                          <a:rPr lang="en-US" altLang="zh-TW" sz="2000" i="1">
                            <a:latin typeface="Cambria Math" panose="02040503050406030204" pitchFamily="18" charset="0"/>
                            <a:cs typeface="Times New Roman" panose="02020603050405020304" pitchFamily="18" charset="0"/>
                          </a:rPr>
                          <m:t>∗0.5</m:t>
                        </m:r>
                      </m:e>
                    </m:d>
                    <m:r>
                      <a:rPr lang="en-US" altLang="zh-TW" sz="2000" b="0" i="1" smtClean="0">
                        <a:latin typeface="Cambria Math" panose="02040503050406030204" pitchFamily="18" charset="0"/>
                        <a:cs typeface="Times New Roman" panose="02020603050405020304" pitchFamily="18" charset="0"/>
                      </a:rPr>
                      <m:t>+0.5</m:t>
                    </m:r>
                    <m:r>
                      <a:rPr lang="en-US" altLang="zh-TW" sz="2000" i="1">
                        <a:latin typeface="Cambria Math" panose="02040503050406030204" pitchFamily="18" charset="0"/>
                        <a:cs typeface="Times New Roman" panose="02020603050405020304" pitchFamily="18" charset="0"/>
                      </a:rPr>
                      <m:t>=</m:t>
                    </m:r>
                    <m:r>
                      <a:rPr lang="en-US" altLang="zh-TW" sz="2000" b="0" i="1" smtClean="0">
                        <a:latin typeface="Cambria Math" panose="02040503050406030204" pitchFamily="18" charset="0"/>
                        <a:cs typeface="Times New Roman" panose="02020603050405020304" pitchFamily="18" charset="0"/>
                      </a:rPr>
                      <m:t>0.875</m:t>
                    </m:r>
                  </m:oMath>
                </a14:m>
                <a:endParaRPr lang="en-US" altLang="zh-TW" sz="2000" dirty="0">
                  <a:latin typeface="Times New Roman" panose="02020603050405020304" pitchFamily="18" charset="0"/>
                  <a:cs typeface="Times New Roman" panose="02020603050405020304" pitchFamily="18" charset="0"/>
                </a:endParaRPr>
              </a:p>
            </p:txBody>
          </p:sp>
        </mc:Choice>
        <mc:Fallback xmlns="">
          <p:sp>
            <p:nvSpPr>
              <p:cNvPr id="16" name="文字方塊 15"/>
              <p:cNvSpPr txBox="1">
                <a:spLocks noRot="1" noChangeAspect="1" noMove="1" noResize="1" noEditPoints="1" noAdjustHandles="1" noChangeArrowheads="1" noChangeShapeType="1" noTextEdit="1"/>
              </p:cNvSpPr>
              <p:nvPr/>
            </p:nvSpPr>
            <p:spPr>
              <a:xfrm>
                <a:off x="-18512" y="4906956"/>
                <a:ext cx="6476462" cy="1298112"/>
              </a:xfrm>
              <a:prstGeom prst="rect">
                <a:avLst/>
              </a:prstGeom>
              <a:blipFill rotWithShape="0">
                <a:blip r:embed="rId7"/>
                <a:stretch>
                  <a:fillRect l="-1036" b="-1408"/>
                </a:stretch>
              </a:blipFill>
            </p:spPr>
            <p:txBody>
              <a:bodyPr/>
              <a:lstStyle/>
              <a:p>
                <a:r>
                  <a:rPr lang="zh-TW" altLang="en-US">
                    <a:noFill/>
                  </a:rPr>
                  <a:t> </a:t>
                </a:r>
              </a:p>
            </p:txBody>
          </p:sp>
        </mc:Fallback>
      </mc:AlternateContent>
      <p:sp>
        <p:nvSpPr>
          <p:cNvPr id="3" name="矩形 2"/>
          <p:cNvSpPr/>
          <p:nvPr/>
        </p:nvSpPr>
        <p:spPr>
          <a:xfrm>
            <a:off x="7150444" y="1276865"/>
            <a:ext cx="1820562" cy="875556"/>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矩形 17"/>
          <p:cNvSpPr/>
          <p:nvPr/>
        </p:nvSpPr>
        <p:spPr>
          <a:xfrm>
            <a:off x="7150444" y="2214928"/>
            <a:ext cx="1820562" cy="758931"/>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圓角矩形 12"/>
          <p:cNvSpPr/>
          <p:nvPr/>
        </p:nvSpPr>
        <p:spPr>
          <a:xfrm>
            <a:off x="6301947" y="3611247"/>
            <a:ext cx="2669059" cy="357301"/>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dirty="0" smtClean="0"/>
              <a:t>Green block </a:t>
            </a:r>
            <a:r>
              <a:rPr lang="en-US" altLang="zh-TW" dirty="0" smtClean="0">
                <a:sym typeface="Wingdings" panose="05000000000000000000" pitchFamily="2" charset="2"/>
              </a:rPr>
              <a:t> Up Trend</a:t>
            </a:r>
            <a:endParaRPr lang="zh-TW" altLang="en-US" dirty="0"/>
          </a:p>
        </p:txBody>
      </p:sp>
      <p:sp>
        <p:nvSpPr>
          <p:cNvPr id="20" name="圓角矩形 19"/>
          <p:cNvSpPr/>
          <p:nvPr/>
        </p:nvSpPr>
        <p:spPr>
          <a:xfrm>
            <a:off x="6301947" y="4044893"/>
            <a:ext cx="2669060" cy="357301"/>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dirty="0" smtClean="0"/>
              <a:t>Blue block </a:t>
            </a:r>
            <a:r>
              <a:rPr lang="en-US" altLang="zh-TW" dirty="0" smtClean="0">
                <a:sym typeface="Wingdings" panose="05000000000000000000" pitchFamily="2" charset="2"/>
              </a:rPr>
              <a:t> Down Trend</a:t>
            </a:r>
            <a:endParaRPr lang="zh-TW" altLang="en-US" dirty="0"/>
          </a:p>
        </p:txBody>
      </p:sp>
      <p:sp>
        <p:nvSpPr>
          <p:cNvPr id="14" name="向下箭號 13"/>
          <p:cNvSpPr/>
          <p:nvPr/>
        </p:nvSpPr>
        <p:spPr>
          <a:xfrm rot="3315574">
            <a:off x="5798743" y="4273957"/>
            <a:ext cx="214185" cy="815546"/>
          </a:xfrm>
          <a:prstGeom prst="down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Tree>
    <p:extLst>
      <p:ext uri="{BB962C8B-B14F-4D97-AF65-F5344CB8AC3E}">
        <p14:creationId xmlns:p14="http://schemas.microsoft.com/office/powerpoint/2010/main" val="294074841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smtClean="0">
                <a:latin typeface="Times New Roman" panose="02020603050405020304" pitchFamily="18" charset="0"/>
                <a:cs typeface="Times New Roman" panose="02020603050405020304" pitchFamily="18" charset="0"/>
              </a:rPr>
              <a:t>Flow chart #1</a:t>
            </a:r>
            <a:endParaRPr lang="zh-TW" altLang="en-US" sz="4000" b="1"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16</a:t>
            </a:fld>
            <a:endParaRPr lang="zh-TW" altLang="en-US" dirty="0"/>
          </a:p>
        </p:txBody>
      </p:sp>
      <p:sp>
        <p:nvSpPr>
          <p:cNvPr id="14" name="圓角矩形 13"/>
          <p:cNvSpPr/>
          <p:nvPr/>
        </p:nvSpPr>
        <p:spPr>
          <a:xfrm>
            <a:off x="1101327" y="2389630"/>
            <a:ext cx="6912767" cy="440114"/>
          </a:xfrm>
          <a:prstGeom prst="roundRect">
            <a:avLst/>
          </a:prstGeom>
          <a:ln>
            <a:noFill/>
          </a:ln>
        </p:spPr>
        <p:style>
          <a:lnRef idx="1">
            <a:schemeClr val="dk1"/>
          </a:lnRef>
          <a:fillRef idx="2">
            <a:schemeClr val="dk1"/>
          </a:fillRef>
          <a:effectRef idx="1">
            <a:schemeClr val="dk1"/>
          </a:effectRef>
          <a:fontRef idx="minor">
            <a:schemeClr val="dk1"/>
          </a:fontRef>
        </p:style>
        <p:txBody>
          <a:bodyPr rtlCol="0" anchor="ctr"/>
          <a:lstStyle/>
          <a:p>
            <a:pPr algn="ctr"/>
            <a:r>
              <a:rPr lang="en-US" altLang="zh-TW" dirty="0" smtClean="0"/>
              <a:t>Candidate Stocks Screening</a:t>
            </a:r>
            <a:endParaRPr lang="zh-TW" altLang="en-US" dirty="0"/>
          </a:p>
        </p:txBody>
      </p:sp>
      <p:sp>
        <p:nvSpPr>
          <p:cNvPr id="18" name="圓角矩形 17"/>
          <p:cNvSpPr/>
          <p:nvPr/>
        </p:nvSpPr>
        <p:spPr>
          <a:xfrm>
            <a:off x="1101327" y="3231084"/>
            <a:ext cx="6912767" cy="452300"/>
          </a:xfrm>
          <a:prstGeom prst="roundRect">
            <a:avLst/>
          </a:prstGeom>
          <a:ln>
            <a:noFill/>
          </a:ln>
        </p:spPr>
        <p:style>
          <a:lnRef idx="1">
            <a:schemeClr val="dk1"/>
          </a:lnRef>
          <a:fillRef idx="2">
            <a:schemeClr val="dk1"/>
          </a:fillRef>
          <a:effectRef idx="1">
            <a:schemeClr val="dk1"/>
          </a:effectRef>
          <a:fontRef idx="minor">
            <a:schemeClr val="dk1"/>
          </a:fontRef>
        </p:style>
        <p:txBody>
          <a:bodyPr rtlCol="0" anchor="ctr"/>
          <a:lstStyle/>
          <a:p>
            <a:pPr algn="ctr"/>
            <a:r>
              <a:rPr lang="en-US" altLang="zh-TW" dirty="0" smtClean="0"/>
              <a:t>GA</a:t>
            </a:r>
            <a:endParaRPr lang="zh-TW" altLang="en-US" dirty="0"/>
          </a:p>
        </p:txBody>
      </p:sp>
      <p:sp>
        <p:nvSpPr>
          <p:cNvPr id="19" name="圓角矩形 18"/>
          <p:cNvSpPr/>
          <p:nvPr/>
        </p:nvSpPr>
        <p:spPr>
          <a:xfrm>
            <a:off x="1547298" y="4413920"/>
            <a:ext cx="1458463" cy="36004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TW" dirty="0" smtClean="0"/>
              <a:t>PLR</a:t>
            </a:r>
            <a:endParaRPr lang="zh-TW" altLang="en-US" dirty="0"/>
          </a:p>
        </p:txBody>
      </p:sp>
      <p:sp>
        <p:nvSpPr>
          <p:cNvPr id="20" name="圓角矩形 19"/>
          <p:cNvSpPr/>
          <p:nvPr/>
        </p:nvSpPr>
        <p:spPr>
          <a:xfrm>
            <a:off x="3843829" y="4416577"/>
            <a:ext cx="1458463" cy="360040"/>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TW" dirty="0"/>
              <a:t>Turning point</a:t>
            </a:r>
            <a:endParaRPr lang="zh-TW" altLang="en-US" dirty="0"/>
          </a:p>
        </p:txBody>
      </p:sp>
      <p:sp>
        <p:nvSpPr>
          <p:cNvPr id="21" name="圓角矩形 20"/>
          <p:cNvSpPr/>
          <p:nvPr/>
        </p:nvSpPr>
        <p:spPr>
          <a:xfrm>
            <a:off x="5823472" y="4413919"/>
            <a:ext cx="2477227" cy="362697"/>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TW" dirty="0" smtClean="0"/>
              <a:t>Trading signal</a:t>
            </a:r>
            <a:endParaRPr lang="zh-TW" altLang="en-US" dirty="0"/>
          </a:p>
        </p:txBody>
      </p:sp>
      <p:cxnSp>
        <p:nvCxnSpPr>
          <p:cNvPr id="22" name="直線單箭頭接點 21"/>
          <p:cNvCxnSpPr>
            <a:stCxn id="14" idx="2"/>
            <a:endCxn id="18" idx="0"/>
          </p:cNvCxnSpPr>
          <p:nvPr/>
        </p:nvCxnSpPr>
        <p:spPr>
          <a:xfrm>
            <a:off x="4557711" y="2829744"/>
            <a:ext cx="0" cy="40134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3" name="直線單箭頭接點 22"/>
          <p:cNvCxnSpPr>
            <a:stCxn id="19" idx="3"/>
            <a:endCxn id="20" idx="1"/>
          </p:cNvCxnSpPr>
          <p:nvPr/>
        </p:nvCxnSpPr>
        <p:spPr>
          <a:xfrm>
            <a:off x="3005761" y="4593940"/>
            <a:ext cx="838068" cy="2657"/>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直線單箭頭接點 23"/>
          <p:cNvCxnSpPr>
            <a:stCxn id="20" idx="3"/>
            <a:endCxn id="21" idx="1"/>
          </p:cNvCxnSpPr>
          <p:nvPr/>
        </p:nvCxnSpPr>
        <p:spPr>
          <a:xfrm flipV="1">
            <a:off x="5302292" y="4595268"/>
            <a:ext cx="521180" cy="1329"/>
          </a:xfrm>
          <a:prstGeom prst="straightConnector1">
            <a:avLst/>
          </a:prstGeom>
          <a:ln>
            <a:tailEnd type="arrow"/>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5" name="圓角矩形 24"/>
              <p:cNvSpPr/>
              <p:nvPr/>
            </p:nvSpPr>
            <p:spPr>
              <a:xfrm>
                <a:off x="995280" y="4138249"/>
                <a:ext cx="157030" cy="180020"/>
              </a:xfrm>
              <a:prstGeom prst="round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zh-TW" altLang="en-US" i="1" smtClean="0">
                          <a:latin typeface="Cambria Math"/>
                        </a:rPr>
                        <m:t>𝛿</m:t>
                      </m:r>
                    </m:oMath>
                  </m:oMathPara>
                </a14:m>
                <a:endParaRPr lang="zh-TW" altLang="en-US" dirty="0"/>
              </a:p>
            </p:txBody>
          </p:sp>
        </mc:Choice>
        <mc:Fallback xmlns="">
          <p:sp>
            <p:nvSpPr>
              <p:cNvPr id="25" name="圓角矩形 24"/>
              <p:cNvSpPr>
                <a:spLocks noRot="1" noChangeAspect="1" noMove="1" noResize="1" noEditPoints="1" noAdjustHandles="1" noChangeArrowheads="1" noChangeShapeType="1" noTextEdit="1"/>
              </p:cNvSpPr>
              <p:nvPr/>
            </p:nvSpPr>
            <p:spPr>
              <a:xfrm>
                <a:off x="995280" y="4138249"/>
                <a:ext cx="157030" cy="180020"/>
              </a:xfrm>
              <a:prstGeom prst="roundRect">
                <a:avLst/>
              </a:prstGeom>
              <a:blipFill rotWithShape="0">
                <a:blip r:embed="rId3"/>
                <a:stretch>
                  <a:fillRect l="-53571" t="-19355" r="-17857" b="-35484"/>
                </a:stretch>
              </a:blipFill>
              <a:ln>
                <a:solidFill>
                  <a:schemeClr val="bg1"/>
                </a:solidFill>
              </a:ln>
            </p:spPr>
            <p:txBody>
              <a:bodyPr/>
              <a:lstStyle/>
              <a:p>
                <a:r>
                  <a:rPr lang="zh-TW" altLang="en-US">
                    <a:noFill/>
                  </a:rPr>
                  <a:t> </a:t>
                </a:r>
              </a:p>
            </p:txBody>
          </p:sp>
        </mc:Fallback>
      </mc:AlternateContent>
      <p:sp>
        <p:nvSpPr>
          <p:cNvPr id="26" name="圓角矩形 25"/>
          <p:cNvSpPr/>
          <p:nvPr/>
        </p:nvSpPr>
        <p:spPr>
          <a:xfrm>
            <a:off x="4593099" y="2917339"/>
            <a:ext cx="1590413" cy="226150"/>
          </a:xfrm>
          <a:prstGeom prst="round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dirty="0" smtClean="0"/>
              <a:t>Selected stock</a:t>
            </a:r>
            <a:endParaRPr lang="zh-TW" altLang="en-US" dirty="0"/>
          </a:p>
        </p:txBody>
      </p:sp>
      <p:cxnSp>
        <p:nvCxnSpPr>
          <p:cNvPr id="27" name="直線接點 26"/>
          <p:cNvCxnSpPr/>
          <p:nvPr/>
        </p:nvCxnSpPr>
        <p:spPr>
          <a:xfrm>
            <a:off x="1243915" y="3683384"/>
            <a:ext cx="0" cy="913213"/>
          </a:xfrm>
          <a:prstGeom prst="line">
            <a:avLst/>
          </a:prstGeom>
        </p:spPr>
        <p:style>
          <a:lnRef idx="1">
            <a:schemeClr val="dk1"/>
          </a:lnRef>
          <a:fillRef idx="0">
            <a:schemeClr val="dk1"/>
          </a:fillRef>
          <a:effectRef idx="0">
            <a:schemeClr val="dk1"/>
          </a:effectRef>
          <a:fontRef idx="minor">
            <a:schemeClr val="tx1"/>
          </a:fontRef>
        </p:style>
      </p:cxnSp>
      <p:cxnSp>
        <p:nvCxnSpPr>
          <p:cNvPr id="28" name="直線單箭頭接點 27"/>
          <p:cNvCxnSpPr>
            <a:endCxn id="19" idx="1"/>
          </p:cNvCxnSpPr>
          <p:nvPr/>
        </p:nvCxnSpPr>
        <p:spPr>
          <a:xfrm>
            <a:off x="1243915" y="4593940"/>
            <a:ext cx="303383"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2093080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smtClean="0">
                <a:latin typeface="Times New Roman" panose="02020603050405020304" pitchFamily="18" charset="0"/>
                <a:cs typeface="Times New Roman" panose="02020603050405020304" pitchFamily="18" charset="0"/>
              </a:rPr>
              <a:t>Genetic Programming</a:t>
            </a:r>
            <a:endParaRPr lang="zh-TW" altLang="en-US" sz="4000" b="1"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17</a:t>
            </a:fld>
            <a:endParaRPr lang="zh-TW" altLang="en-US" dirty="0"/>
          </a:p>
        </p:txBody>
      </p:sp>
      <p:cxnSp>
        <p:nvCxnSpPr>
          <p:cNvPr id="17" name="直線單箭頭接點 16"/>
          <p:cNvCxnSpPr>
            <a:stCxn id="32" idx="2"/>
            <a:endCxn id="33" idx="0"/>
          </p:cNvCxnSpPr>
          <p:nvPr/>
        </p:nvCxnSpPr>
        <p:spPr>
          <a:xfrm>
            <a:off x="1371674" y="4379141"/>
            <a:ext cx="0" cy="129614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pic>
        <p:nvPicPr>
          <p:cNvPr id="2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7440" y="4388238"/>
            <a:ext cx="2017391" cy="1080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 name="圓角矩形 29"/>
          <p:cNvSpPr/>
          <p:nvPr/>
        </p:nvSpPr>
        <p:spPr>
          <a:xfrm>
            <a:off x="399566" y="1570829"/>
            <a:ext cx="1944216" cy="360040"/>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2200" dirty="0" smtClean="0"/>
              <a:t>Initialization</a:t>
            </a:r>
            <a:endParaRPr lang="zh-TW" altLang="en-US" sz="2200" dirty="0"/>
          </a:p>
        </p:txBody>
      </p:sp>
      <p:sp>
        <p:nvSpPr>
          <p:cNvPr id="31" name="圓角矩形 30"/>
          <p:cNvSpPr/>
          <p:nvPr/>
        </p:nvSpPr>
        <p:spPr>
          <a:xfrm>
            <a:off x="399566" y="2794965"/>
            <a:ext cx="1944216" cy="360040"/>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2200" dirty="0" smtClean="0"/>
              <a:t>Selection</a:t>
            </a:r>
          </a:p>
        </p:txBody>
      </p:sp>
      <p:sp>
        <p:nvSpPr>
          <p:cNvPr id="32" name="圓角矩形 31"/>
          <p:cNvSpPr/>
          <p:nvPr/>
        </p:nvSpPr>
        <p:spPr>
          <a:xfrm>
            <a:off x="399566" y="4019101"/>
            <a:ext cx="1944216" cy="360040"/>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2200" dirty="0" smtClean="0"/>
              <a:t>Reproduction</a:t>
            </a:r>
          </a:p>
        </p:txBody>
      </p:sp>
      <p:sp>
        <p:nvSpPr>
          <p:cNvPr id="33" name="圓角矩形 32"/>
          <p:cNvSpPr/>
          <p:nvPr/>
        </p:nvSpPr>
        <p:spPr>
          <a:xfrm>
            <a:off x="399566" y="5675285"/>
            <a:ext cx="1944216" cy="360040"/>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2200" dirty="0" smtClean="0"/>
              <a:t>Termination</a:t>
            </a:r>
          </a:p>
        </p:txBody>
      </p:sp>
      <p:graphicFrame>
        <p:nvGraphicFramePr>
          <p:cNvPr id="34" name="表格 33"/>
          <p:cNvGraphicFramePr>
            <a:graphicFrameLocks noGrp="1"/>
          </p:cNvGraphicFramePr>
          <p:nvPr>
            <p:extLst>
              <p:ext uri="{D42A27DB-BD31-4B8C-83A1-F6EECF244321}">
                <p14:modId xmlns:p14="http://schemas.microsoft.com/office/powerpoint/2010/main" val="4112277892"/>
              </p:ext>
            </p:extLst>
          </p:nvPr>
        </p:nvGraphicFramePr>
        <p:xfrm>
          <a:off x="3783942" y="2224395"/>
          <a:ext cx="1800200" cy="360040"/>
        </p:xfrm>
        <a:graphic>
          <a:graphicData uri="http://schemas.openxmlformats.org/drawingml/2006/table">
            <a:tbl>
              <a:tblPr firstRow="1" bandRow="1">
                <a:tableStyleId>{5940675A-B579-460E-94D1-54222C63F5DA}</a:tableStyleId>
              </a:tblPr>
              <a:tblGrid>
                <a:gridCol w="360040"/>
                <a:gridCol w="360040"/>
                <a:gridCol w="360040"/>
                <a:gridCol w="360040"/>
                <a:gridCol w="360040"/>
              </a:tblGrid>
              <a:tr h="360040">
                <a:tc>
                  <a:txBody>
                    <a:bodyPr/>
                    <a:lstStyle/>
                    <a:p>
                      <a:r>
                        <a:rPr lang="en-US" altLang="zh-TW" dirty="0" smtClean="0"/>
                        <a:t>1</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1</a:t>
                      </a:r>
                      <a:endParaRPr lang="zh-TW" altLang="en-US" dirty="0"/>
                    </a:p>
                  </a:txBody>
                  <a:tcPr/>
                </a:tc>
              </a:tr>
            </a:tbl>
          </a:graphicData>
        </a:graphic>
      </p:graphicFrame>
      <p:sp>
        <p:nvSpPr>
          <p:cNvPr id="35" name="圓角矩形 34"/>
          <p:cNvSpPr/>
          <p:nvPr/>
        </p:nvSpPr>
        <p:spPr>
          <a:xfrm>
            <a:off x="2703822" y="1606833"/>
            <a:ext cx="5544616" cy="288032"/>
          </a:xfrm>
          <a:prstGeom prst="roundRect">
            <a:avLst/>
          </a:prstGeom>
          <a:ln>
            <a:no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1400" dirty="0" smtClean="0"/>
              <a:t>Randomly generate initial population</a:t>
            </a:r>
            <a:endParaRPr lang="zh-TW" altLang="en-US" sz="1400" dirty="0"/>
          </a:p>
        </p:txBody>
      </p:sp>
      <p:sp>
        <p:nvSpPr>
          <p:cNvPr id="41" name="圓角矩形 40"/>
          <p:cNvSpPr/>
          <p:nvPr/>
        </p:nvSpPr>
        <p:spPr>
          <a:xfrm>
            <a:off x="2703822" y="2830969"/>
            <a:ext cx="2199614" cy="288032"/>
          </a:xfrm>
          <a:prstGeom prst="roundRect">
            <a:avLst/>
          </a:prstGeom>
          <a:ln>
            <a:no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1400" dirty="0" smtClean="0"/>
              <a:t>Fitness function</a:t>
            </a:r>
            <a:endParaRPr lang="zh-TW" altLang="en-US" sz="1400" dirty="0"/>
          </a:p>
        </p:txBody>
      </p:sp>
      <p:pic>
        <p:nvPicPr>
          <p:cNvPr id="42"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3782" y="3381077"/>
            <a:ext cx="2952328" cy="393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 name="圓角矩形 44"/>
          <p:cNvSpPr/>
          <p:nvPr/>
        </p:nvSpPr>
        <p:spPr>
          <a:xfrm>
            <a:off x="2703822" y="4033238"/>
            <a:ext cx="1800200" cy="288032"/>
          </a:xfrm>
          <a:prstGeom prst="roundRect">
            <a:avLst/>
          </a:prstGeom>
          <a:ln>
            <a:no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1400" dirty="0" smtClean="0"/>
              <a:t>Crossover</a:t>
            </a:r>
            <a:endParaRPr lang="zh-TW" altLang="en-US" sz="1400" dirty="0"/>
          </a:p>
        </p:txBody>
      </p:sp>
      <p:sp>
        <p:nvSpPr>
          <p:cNvPr id="47" name="圓角矩形 46"/>
          <p:cNvSpPr/>
          <p:nvPr/>
        </p:nvSpPr>
        <p:spPr>
          <a:xfrm>
            <a:off x="4612034" y="4033238"/>
            <a:ext cx="1845916" cy="288032"/>
          </a:xfrm>
          <a:prstGeom prst="roundRect">
            <a:avLst/>
          </a:prstGeom>
          <a:ln>
            <a:no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1400" dirty="0" smtClean="0"/>
              <a:t>Two-point Mutation</a:t>
            </a:r>
            <a:endParaRPr lang="zh-TW" altLang="en-US" sz="1400" dirty="0"/>
          </a:p>
        </p:txBody>
      </p:sp>
      <p:pic>
        <p:nvPicPr>
          <p:cNvPr id="48"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33714" y="4458721"/>
            <a:ext cx="2247900" cy="100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0" name="圓角矩形 49"/>
          <p:cNvSpPr/>
          <p:nvPr/>
        </p:nvSpPr>
        <p:spPr>
          <a:xfrm>
            <a:off x="2811834" y="5725330"/>
            <a:ext cx="4860540" cy="288032"/>
          </a:xfrm>
          <a:prstGeom prst="roundRect">
            <a:avLst/>
          </a:prstGeom>
          <a:ln>
            <a:no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TW" sz="1400" dirty="0" smtClean="0"/>
              <a:t># of generation , reach the best fitness value , …</a:t>
            </a:r>
            <a:endParaRPr lang="zh-TW" altLang="en-US" sz="1400" dirty="0"/>
          </a:p>
        </p:txBody>
      </p:sp>
      <p:cxnSp>
        <p:nvCxnSpPr>
          <p:cNvPr id="51" name="直線單箭頭接點 50"/>
          <p:cNvCxnSpPr>
            <a:stCxn id="30" idx="2"/>
            <a:endCxn id="31" idx="0"/>
          </p:cNvCxnSpPr>
          <p:nvPr/>
        </p:nvCxnSpPr>
        <p:spPr>
          <a:xfrm>
            <a:off x="1371674" y="1930869"/>
            <a:ext cx="0" cy="864096"/>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52" name="直線單箭頭接點 51"/>
          <p:cNvCxnSpPr>
            <a:stCxn id="31" idx="2"/>
            <a:endCxn id="32" idx="0"/>
          </p:cNvCxnSpPr>
          <p:nvPr/>
        </p:nvCxnSpPr>
        <p:spPr>
          <a:xfrm>
            <a:off x="1371674" y="3155005"/>
            <a:ext cx="0" cy="864096"/>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53" name="直線接點 52"/>
          <p:cNvCxnSpPr>
            <a:stCxn id="33" idx="1"/>
          </p:cNvCxnSpPr>
          <p:nvPr/>
        </p:nvCxnSpPr>
        <p:spPr>
          <a:xfrm flipH="1">
            <a:off x="255550" y="5855305"/>
            <a:ext cx="144016" cy="0"/>
          </a:xfrm>
          <a:prstGeom prst="line">
            <a:avLst/>
          </a:prstGeom>
        </p:spPr>
        <p:style>
          <a:lnRef idx="1">
            <a:schemeClr val="dk1"/>
          </a:lnRef>
          <a:fillRef idx="0">
            <a:schemeClr val="dk1"/>
          </a:fillRef>
          <a:effectRef idx="0">
            <a:schemeClr val="dk1"/>
          </a:effectRef>
          <a:fontRef idx="minor">
            <a:schemeClr val="tx1"/>
          </a:fontRef>
        </p:style>
      </p:cxnSp>
      <p:cxnSp>
        <p:nvCxnSpPr>
          <p:cNvPr id="54" name="直線接點 53"/>
          <p:cNvCxnSpPr/>
          <p:nvPr/>
        </p:nvCxnSpPr>
        <p:spPr>
          <a:xfrm flipV="1">
            <a:off x="255550" y="2969293"/>
            <a:ext cx="0" cy="2879958"/>
          </a:xfrm>
          <a:prstGeom prst="line">
            <a:avLst/>
          </a:prstGeom>
        </p:spPr>
        <p:style>
          <a:lnRef idx="1">
            <a:schemeClr val="dk1"/>
          </a:lnRef>
          <a:fillRef idx="0">
            <a:schemeClr val="dk1"/>
          </a:fillRef>
          <a:effectRef idx="0">
            <a:schemeClr val="dk1"/>
          </a:effectRef>
          <a:fontRef idx="minor">
            <a:schemeClr val="tx1"/>
          </a:fontRef>
        </p:style>
      </p:cxnSp>
      <p:cxnSp>
        <p:nvCxnSpPr>
          <p:cNvPr id="55" name="直線單箭頭接點 54"/>
          <p:cNvCxnSpPr>
            <a:endCxn id="31" idx="1"/>
          </p:cNvCxnSpPr>
          <p:nvPr/>
        </p:nvCxnSpPr>
        <p:spPr>
          <a:xfrm>
            <a:off x="255550" y="2974985"/>
            <a:ext cx="144016"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6936078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a:latin typeface="Times New Roman" panose="02020603050405020304" pitchFamily="18" charset="0"/>
                <a:cs typeface="Times New Roman" panose="02020603050405020304" pitchFamily="18" charset="0"/>
              </a:rPr>
              <a:t>Genetic Programming</a:t>
            </a:r>
            <a:endParaRPr lang="zh-TW" altLang="en-US" sz="4000" b="1"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18</a:t>
            </a:fld>
            <a:endParaRPr lang="zh-TW" altLang="en-US" dirty="0"/>
          </a:p>
        </p:txBody>
      </p:sp>
      <p:pic>
        <p:nvPicPr>
          <p:cNvPr id="3" name="圖片 2"/>
          <p:cNvPicPr>
            <a:picLocks noChangeAspect="1"/>
          </p:cNvPicPr>
          <p:nvPr/>
        </p:nvPicPr>
        <p:blipFill>
          <a:blip r:embed="rId3"/>
          <a:stretch>
            <a:fillRect/>
          </a:stretch>
        </p:blipFill>
        <p:spPr>
          <a:xfrm>
            <a:off x="311140" y="1577573"/>
            <a:ext cx="8493141" cy="4778778"/>
          </a:xfrm>
          <a:prstGeom prst="rect">
            <a:avLst/>
          </a:prstGeom>
        </p:spPr>
      </p:pic>
      <p:sp>
        <p:nvSpPr>
          <p:cNvPr id="5" name="文字方塊 4"/>
          <p:cNvSpPr txBox="1"/>
          <p:nvPr/>
        </p:nvSpPr>
        <p:spPr>
          <a:xfrm>
            <a:off x="95249" y="807794"/>
            <a:ext cx="2347700" cy="400110"/>
          </a:xfrm>
          <a:prstGeom prst="rect">
            <a:avLst/>
          </a:prstGeom>
          <a:noFill/>
        </p:spPr>
        <p:txBody>
          <a:bodyPr wrap="square" rtlCol="0">
            <a:spAutoFit/>
          </a:bodyPr>
          <a:lstStyle/>
          <a:p>
            <a:r>
              <a:rPr lang="en-US" altLang="zh-TW" sz="2000" dirty="0" smtClean="0">
                <a:latin typeface="Times New Roman" panose="02020603050405020304" pitchFamily="18" charset="0"/>
                <a:cs typeface="Times New Roman" panose="02020603050405020304" pitchFamily="18" charset="0"/>
              </a:rPr>
              <a:t>Crossover</a:t>
            </a:r>
            <a:endParaRPr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759114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a:latin typeface="Times New Roman" panose="02020603050405020304" pitchFamily="18" charset="0"/>
                <a:cs typeface="Times New Roman" panose="02020603050405020304" pitchFamily="18" charset="0"/>
              </a:rPr>
              <a:t>Genetic Programming</a:t>
            </a:r>
            <a:endParaRPr lang="zh-TW" altLang="en-US" sz="4000" b="1"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19</a:t>
            </a:fld>
            <a:endParaRPr lang="zh-TW" altLang="en-US" dirty="0"/>
          </a:p>
        </p:txBody>
      </p:sp>
      <p:sp>
        <p:nvSpPr>
          <p:cNvPr id="5" name="文字方塊 4"/>
          <p:cNvSpPr txBox="1"/>
          <p:nvPr/>
        </p:nvSpPr>
        <p:spPr>
          <a:xfrm>
            <a:off x="95249" y="807794"/>
            <a:ext cx="2347700" cy="400110"/>
          </a:xfrm>
          <a:prstGeom prst="rect">
            <a:avLst/>
          </a:prstGeom>
          <a:noFill/>
        </p:spPr>
        <p:txBody>
          <a:bodyPr wrap="square" rtlCol="0">
            <a:spAutoFit/>
          </a:bodyPr>
          <a:lstStyle/>
          <a:p>
            <a:r>
              <a:rPr lang="en-US" altLang="zh-TW" sz="2000" dirty="0" smtClean="0">
                <a:latin typeface="Times New Roman" panose="02020603050405020304" pitchFamily="18" charset="0"/>
                <a:cs typeface="Times New Roman" panose="02020603050405020304" pitchFamily="18" charset="0"/>
              </a:rPr>
              <a:t>Mutation</a:t>
            </a:r>
            <a:endParaRPr lang="zh-TW" altLang="en-US" sz="2000" dirty="0">
              <a:latin typeface="Times New Roman" panose="02020603050405020304" pitchFamily="18" charset="0"/>
              <a:cs typeface="Times New Roman" panose="02020603050405020304" pitchFamily="18" charset="0"/>
            </a:endParaRPr>
          </a:p>
        </p:txBody>
      </p:sp>
      <p:pic>
        <p:nvPicPr>
          <p:cNvPr id="7" name="圖片 6"/>
          <p:cNvPicPr>
            <a:picLocks noChangeAspect="1"/>
          </p:cNvPicPr>
          <p:nvPr/>
        </p:nvPicPr>
        <p:blipFill>
          <a:blip r:embed="rId3"/>
          <a:stretch>
            <a:fillRect/>
          </a:stretch>
        </p:blipFill>
        <p:spPr>
          <a:xfrm>
            <a:off x="738186" y="2124017"/>
            <a:ext cx="7639050" cy="4086225"/>
          </a:xfrm>
          <a:prstGeom prst="rect">
            <a:avLst/>
          </a:prstGeom>
        </p:spPr>
      </p:pic>
    </p:spTree>
    <p:extLst>
      <p:ext uri="{BB962C8B-B14F-4D97-AF65-F5344CB8AC3E}">
        <p14:creationId xmlns:p14="http://schemas.microsoft.com/office/powerpoint/2010/main" val="25020063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a:latin typeface="Times New Roman" panose="02020603050405020304" pitchFamily="18" charset="0"/>
                <a:cs typeface="Times New Roman" panose="02020603050405020304" pitchFamily="18" charset="0"/>
              </a:rPr>
              <a:t>Genetic Programming</a:t>
            </a:r>
            <a:endParaRPr lang="zh-TW" altLang="en-US" sz="4000" b="1"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20</a:t>
            </a:fld>
            <a:endParaRPr lang="zh-TW" altLang="en-US" dirty="0"/>
          </a:p>
        </p:txBody>
      </p:sp>
      <mc:AlternateContent xmlns:mc="http://schemas.openxmlformats.org/markup-compatibility/2006" xmlns:a14="http://schemas.microsoft.com/office/drawing/2010/main">
        <mc:Choice Requires="a14">
          <p:sp>
            <p:nvSpPr>
              <p:cNvPr id="7" name="文字方塊 6"/>
              <p:cNvSpPr txBox="1"/>
              <p:nvPr/>
            </p:nvSpPr>
            <p:spPr>
              <a:xfrm>
                <a:off x="91644" y="809897"/>
                <a:ext cx="8924925" cy="3701270"/>
              </a:xfrm>
              <a:prstGeom prst="rect">
                <a:avLst/>
              </a:prstGeom>
              <a:noFill/>
            </p:spPr>
            <p:txBody>
              <a:bodyPr wrap="square" rtlCol="0">
                <a:spAutoFit/>
              </a:bodyPr>
              <a:lstStyle/>
              <a:p>
                <a:r>
                  <a:rPr lang="en-US" altLang="zh-TW" dirty="0" smtClean="0">
                    <a:latin typeface="Times New Roman" panose="02020603050405020304" pitchFamily="18" charset="0"/>
                    <a:ea typeface="標楷體" panose="03000509000000000000" pitchFamily="65" charset="-120"/>
                  </a:rPr>
                  <a:t>Fitness function:</a:t>
                </a:r>
              </a:p>
              <a:p>
                <a:endParaRPr lang="en-US" altLang="zh-TW" dirty="0">
                  <a:latin typeface="Times New Roman" panose="02020603050405020304" pitchFamily="18" charset="0"/>
                  <a:ea typeface="標楷體" panose="03000509000000000000" pitchFamily="65" charset="-120"/>
                </a:endParaRPr>
              </a:p>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𝑃𝑟𝑜𝑓𝑖𝑡𝑠</m:t>
                      </m:r>
                      <m:r>
                        <a:rPr lang="en-US" altLang="zh-TW" b="0" i="1" smtClean="0">
                          <a:latin typeface="Cambria Math" panose="02040503050406030204" pitchFamily="18" charset="0"/>
                        </a:rPr>
                        <m:t>=</m:t>
                      </m:r>
                      <m:r>
                        <a:rPr lang="en-US" altLang="zh-TW" b="0" i="1" smtClean="0">
                          <a:latin typeface="Cambria Math" panose="02040503050406030204" pitchFamily="18" charset="0"/>
                        </a:rPr>
                        <m:t>𝐴</m:t>
                      </m:r>
                      <m:nary>
                        <m:naryPr>
                          <m:chr m:val="∏"/>
                          <m:ctrlPr>
                            <a:rPr lang="en-US" altLang="zh-TW" b="0"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𝑘</m:t>
                          </m:r>
                        </m:sup>
                        <m:e>
                          <m:d>
                            <m:dPr>
                              <m:begChr m:val="{"/>
                              <m:endChr m:val="}"/>
                              <m:ctrlPr>
                                <a:rPr lang="en-US" altLang="zh-TW" b="0" i="1" smtClean="0">
                                  <a:latin typeface="Cambria Math" panose="02040503050406030204" pitchFamily="18" charset="0"/>
                                </a:rPr>
                              </m:ctrlPr>
                            </m:dPr>
                            <m:e>
                              <m:d>
                                <m:dPr>
                                  <m:begChr m:val="["/>
                                  <m:endChr m:val="]"/>
                                  <m:ctrlPr>
                                    <a:rPr lang="en-US" altLang="zh-TW" b="0" i="1" smtClean="0">
                                      <a:latin typeface="Cambria Math" panose="02040503050406030204" pitchFamily="18" charset="0"/>
                                    </a:rPr>
                                  </m:ctrlPr>
                                </m:dPr>
                                <m:e>
                                  <m:f>
                                    <m:fPr>
                                      <m:ctrlPr>
                                        <a:rPr lang="en-US" altLang="zh-TW" b="0" i="1" smtClean="0">
                                          <a:latin typeface="Cambria Math" panose="02040503050406030204" pitchFamily="18" charset="0"/>
                                        </a:rPr>
                                      </m:ctrlPr>
                                    </m:fPr>
                                    <m:num>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1−</m:t>
                                          </m:r>
                                          <m:r>
                                            <a:rPr lang="en-US" altLang="zh-TW" b="0" i="1" smtClean="0">
                                              <a:latin typeface="Cambria Math" panose="02040503050406030204" pitchFamily="18" charset="0"/>
                                            </a:rPr>
                                            <m:t>𝑎</m:t>
                                          </m:r>
                                          <m:r>
                                            <a:rPr lang="en-US" altLang="zh-TW" b="0" i="1" smtClean="0">
                                              <a:latin typeface="Cambria Math" panose="02040503050406030204" pitchFamily="18" charset="0"/>
                                            </a:rPr>
                                            <m:t>−</m:t>
                                          </m:r>
                                          <m:r>
                                            <a:rPr lang="en-US" altLang="zh-TW" b="0" i="1" smtClean="0">
                                              <a:latin typeface="Cambria Math" panose="02040503050406030204" pitchFamily="18" charset="0"/>
                                            </a:rPr>
                                            <m:t>𝑏</m:t>
                                          </m:r>
                                        </m:e>
                                      </m:d>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𝐶</m:t>
                                          </m:r>
                                        </m:e>
                                        <m:sub>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ub>
                                      </m:sSub>
                                      <m:r>
                                        <a:rPr lang="en-US" altLang="zh-TW" b="0" i="1" smtClean="0">
                                          <a:latin typeface="Cambria Math" panose="02040503050406030204" pitchFamily="18" charset="0"/>
                                          <a:ea typeface="Cambria Math" panose="02040503050406030204" pitchFamily="18" charset="0"/>
                                        </a:rPr>
                                        <m:t>−(1+</m:t>
                                      </m:r>
                                      <m:r>
                                        <a:rPr lang="en-US" altLang="zh-TW" b="0" i="1" smtClean="0">
                                          <a:latin typeface="Cambria Math" panose="02040503050406030204" pitchFamily="18" charset="0"/>
                                          <a:ea typeface="Cambria Math" panose="02040503050406030204" pitchFamily="18" charset="0"/>
                                        </a:rPr>
                                        <m:t>𝑎</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𝐶</m:t>
                                          </m:r>
                                        </m:e>
                                        <m:sub>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𝐵</m:t>
                                              </m:r>
                                            </m:e>
                                            <m:sub>
                                              <m:r>
                                                <a:rPr lang="en-US" altLang="zh-TW" b="0" i="1" smtClean="0">
                                                  <a:latin typeface="Cambria Math" panose="02040503050406030204" pitchFamily="18" charset="0"/>
                                                  <a:ea typeface="Cambria Math" panose="02040503050406030204" pitchFamily="18" charset="0"/>
                                                </a:rPr>
                                                <m:t>𝑖</m:t>
                                              </m:r>
                                            </m:sub>
                                          </m:sSub>
                                        </m:sub>
                                      </m:sSub>
                                    </m:num>
                                    <m:den>
                                      <m:r>
                                        <a:rPr lang="en-US" altLang="zh-TW" b="0" i="1" smtClean="0">
                                          <a:latin typeface="Cambria Math" panose="02040503050406030204" pitchFamily="18" charset="0"/>
                                        </a:rPr>
                                        <m:t>(1+</m:t>
                                      </m:r>
                                      <m:r>
                                        <a:rPr lang="en-US" altLang="zh-TW" b="0" i="1" smtClean="0">
                                          <a:latin typeface="Cambria Math" panose="02040503050406030204" pitchFamily="18" charset="0"/>
                                        </a:rPr>
                                        <m:t>𝑎</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𝐶</m:t>
                                          </m:r>
                                        </m:e>
                                        <m:sub>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𝐵</m:t>
                                              </m:r>
                                            </m:e>
                                            <m:sub>
                                              <m:r>
                                                <a:rPr lang="en-US" altLang="zh-TW" b="0" i="1" smtClean="0">
                                                  <a:latin typeface="Cambria Math" panose="02040503050406030204" pitchFamily="18" charset="0"/>
                                                  <a:ea typeface="Cambria Math" panose="02040503050406030204" pitchFamily="18" charset="0"/>
                                                </a:rPr>
                                                <m:t>𝑖</m:t>
                                              </m:r>
                                            </m:sub>
                                          </m:sSub>
                                        </m:sub>
                                      </m:sSub>
                                    </m:den>
                                  </m:f>
                                </m:e>
                              </m:d>
                            </m:e>
                          </m:d>
                        </m:e>
                      </m:nary>
                    </m:oMath>
                  </m:oMathPara>
                </a14:m>
                <a:endParaRPr lang="en-US" altLang="zh-TW" dirty="0" smtClean="0">
                  <a:latin typeface="Times New Roman" panose="02020603050405020304" pitchFamily="18" charset="0"/>
                  <a:ea typeface="標楷體" panose="03000509000000000000" pitchFamily="65" charset="-120"/>
                </a:endParaRPr>
              </a:p>
              <a:p>
                <a:endParaRPr lang="en-US" altLang="zh-TW" dirty="0">
                  <a:latin typeface="Times New Roman" panose="02020603050405020304" pitchFamily="18" charset="0"/>
                  <a:ea typeface="標楷體" panose="03000509000000000000" pitchFamily="65" charset="-120"/>
                </a:endParaRPr>
              </a:p>
              <a:p>
                <a:r>
                  <a:rPr lang="en-US" altLang="zh-TW" dirty="0" smtClean="0">
                    <a:latin typeface="Times New Roman" panose="02020603050405020304" pitchFamily="18" charset="0"/>
                    <a:ea typeface="標楷體" panose="03000509000000000000" pitchFamily="65" charset="-120"/>
                  </a:rPr>
                  <a:t>Where</a:t>
                </a:r>
              </a:p>
              <a:p>
                <a14:m>
                  <m:oMath xmlns:m="http://schemas.openxmlformats.org/officeDocument/2006/math">
                    <m:r>
                      <a:rPr lang="en-US" altLang="zh-TW" i="1">
                        <a:latin typeface="Cambria Math" panose="02040503050406030204" pitchFamily="18" charset="0"/>
                      </a:rPr>
                      <m:t>𝑘</m:t>
                    </m:r>
                  </m:oMath>
                </a14:m>
                <a:r>
                  <a:rPr lang="en-US" altLang="zh-TW" dirty="0" smtClean="0">
                    <a:latin typeface="Times New Roman" panose="02020603050405020304" pitchFamily="18" charset="0"/>
                    <a:ea typeface="標楷體" panose="03000509000000000000" pitchFamily="65" charset="-120"/>
                  </a:rPr>
                  <a:t>:</a:t>
                </a:r>
                <a:r>
                  <a:rPr lang="zh-TW" altLang="en-US" dirty="0" smtClean="0">
                    <a:latin typeface="Times New Roman" panose="02020603050405020304" pitchFamily="18" charset="0"/>
                    <a:ea typeface="標楷體" panose="03000509000000000000" pitchFamily="65" charset="-120"/>
                  </a:rPr>
                  <a:t> 總共交易次數</a:t>
                </a:r>
                <a:endParaRPr lang="en-US" altLang="zh-TW" dirty="0" smtClean="0">
                  <a:latin typeface="Times New Roman" panose="02020603050405020304" pitchFamily="18" charset="0"/>
                  <a:ea typeface="標楷體" panose="03000509000000000000" pitchFamily="65" charset="-120"/>
                </a:endParaRPr>
              </a:p>
              <a:p>
                <a14:m>
                  <m:oMath xmlns:m="http://schemas.openxmlformats.org/officeDocument/2006/math">
                    <m:r>
                      <a:rPr lang="en-US" altLang="zh-TW" i="1">
                        <a:latin typeface="Cambria Math" panose="02040503050406030204" pitchFamily="18" charset="0"/>
                      </a:rPr>
                      <m:t>𝐴</m:t>
                    </m:r>
                    <m:r>
                      <a:rPr lang="en-US" altLang="zh-TW" i="1">
                        <a:latin typeface="Cambria Math" panose="02040503050406030204" pitchFamily="18" charset="0"/>
                      </a:rPr>
                      <m:t> </m:t>
                    </m:r>
                  </m:oMath>
                </a14:m>
                <a:r>
                  <a:rPr lang="en-US" altLang="zh-TW" dirty="0" smtClean="0">
                    <a:latin typeface="Times New Roman" panose="02020603050405020304" pitchFamily="18" charset="0"/>
                    <a:ea typeface="標楷體" panose="03000509000000000000" pitchFamily="65" charset="-120"/>
                  </a:rPr>
                  <a:t>: </a:t>
                </a:r>
                <a:r>
                  <a:rPr lang="zh-TW" altLang="en-US" dirty="0" smtClean="0">
                    <a:latin typeface="Times New Roman" panose="02020603050405020304" pitchFamily="18" charset="0"/>
                    <a:ea typeface="標楷體" panose="03000509000000000000" pitchFamily="65" charset="-120"/>
                  </a:rPr>
                  <a:t>投資金額</a:t>
                </a:r>
                <a:endParaRPr lang="en-US" altLang="zh-TW" dirty="0" smtClean="0">
                  <a:latin typeface="Times New Roman" panose="02020603050405020304" pitchFamily="18" charset="0"/>
                  <a:ea typeface="標楷體" panose="03000509000000000000" pitchFamily="65" charset="-120"/>
                </a:endParaRPr>
              </a:p>
              <a:p>
                <a14:m>
                  <m:oMath xmlns:m="http://schemas.openxmlformats.org/officeDocument/2006/math">
                    <m:r>
                      <a:rPr lang="en-US" altLang="zh-TW" i="1">
                        <a:latin typeface="Cambria Math" panose="02040503050406030204" pitchFamily="18" charset="0"/>
                      </a:rPr>
                      <m:t>𝑎</m:t>
                    </m:r>
                  </m:oMath>
                </a14:m>
                <a:r>
                  <a:rPr lang="en-US" altLang="zh-TW" dirty="0" smtClean="0">
                    <a:latin typeface="Times New Roman" panose="02020603050405020304" pitchFamily="18" charset="0"/>
                    <a:ea typeface="標楷體" panose="03000509000000000000" pitchFamily="65" charset="-120"/>
                  </a:rPr>
                  <a:t>: </a:t>
                </a:r>
                <a:r>
                  <a:rPr lang="zh-TW" altLang="en-US" dirty="0" smtClean="0">
                    <a:latin typeface="Times New Roman" panose="02020603050405020304" pitchFamily="18" charset="0"/>
                    <a:ea typeface="標楷體" panose="03000509000000000000" pitchFamily="65" charset="-120"/>
                  </a:rPr>
                  <a:t>稅金</a:t>
                </a:r>
                <a:endParaRPr lang="en-US" altLang="zh-TW" dirty="0" smtClean="0">
                  <a:latin typeface="Times New Roman" panose="02020603050405020304" pitchFamily="18" charset="0"/>
                  <a:ea typeface="標楷體" panose="03000509000000000000" pitchFamily="65" charset="-120"/>
                </a:endParaRPr>
              </a:p>
              <a:p>
                <a14:m>
                  <m:oMath xmlns:m="http://schemas.openxmlformats.org/officeDocument/2006/math">
                    <m:r>
                      <a:rPr lang="en-US" altLang="zh-TW" i="1">
                        <a:latin typeface="Cambria Math" panose="02040503050406030204" pitchFamily="18" charset="0"/>
                      </a:rPr>
                      <m:t>𝑏</m:t>
                    </m:r>
                  </m:oMath>
                </a14:m>
                <a:r>
                  <a:rPr lang="en-US" altLang="zh-TW" dirty="0" smtClean="0">
                    <a:latin typeface="Times New Roman" panose="02020603050405020304" pitchFamily="18" charset="0"/>
                    <a:ea typeface="標楷體" panose="03000509000000000000" pitchFamily="65" charset="-120"/>
                  </a:rPr>
                  <a:t>: </a:t>
                </a:r>
                <a:r>
                  <a:rPr lang="zh-TW" altLang="en-US" dirty="0" smtClean="0">
                    <a:latin typeface="Times New Roman" panose="02020603050405020304" pitchFamily="18" charset="0"/>
                    <a:ea typeface="標楷體" panose="03000509000000000000" pitchFamily="65" charset="-120"/>
                  </a:rPr>
                  <a:t>手續費</a:t>
                </a:r>
                <a:endParaRPr lang="en-US" altLang="zh-TW" dirty="0" smtClean="0">
                  <a:latin typeface="Times New Roman" panose="02020603050405020304" pitchFamily="18" charset="0"/>
                  <a:ea typeface="標楷體" panose="03000509000000000000" pitchFamily="65" charset="-120"/>
                </a:endParaRPr>
              </a:p>
              <a:p>
                <a14:m>
                  <m:oMath xmlns:m="http://schemas.openxmlformats.org/officeDocument/2006/math">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𝐶</m:t>
                        </m:r>
                      </m:e>
                      <m:sub>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𝑆</m:t>
                            </m:r>
                          </m:e>
                          <m:sub>
                            <m:r>
                              <a:rPr lang="en-US" altLang="zh-TW" i="1">
                                <a:latin typeface="Cambria Math" panose="02040503050406030204" pitchFamily="18" charset="0"/>
                                <a:ea typeface="Cambria Math" panose="02040503050406030204" pitchFamily="18" charset="0"/>
                              </a:rPr>
                              <m:t>𝑖</m:t>
                            </m:r>
                          </m:sub>
                        </m:sSub>
                      </m:sub>
                    </m:sSub>
                  </m:oMath>
                </a14:m>
                <a:r>
                  <a:rPr lang="en-US" altLang="zh-TW" dirty="0" smtClean="0">
                    <a:latin typeface="Times New Roman" panose="02020603050405020304" pitchFamily="18" charset="0"/>
                    <a:ea typeface="標楷體" panose="03000509000000000000" pitchFamily="65" charset="-120"/>
                  </a:rPr>
                  <a:t>:</a:t>
                </a:r>
                <a:r>
                  <a:rPr lang="zh-TW" altLang="en-US" dirty="0" smtClean="0">
                    <a:latin typeface="Times New Roman" panose="02020603050405020304" pitchFamily="18" charset="0"/>
                    <a:ea typeface="標楷體" panose="03000509000000000000" pitchFamily="65" charset="-120"/>
                  </a:rPr>
                  <a:t> 第 </a:t>
                </a:r>
                <a:r>
                  <a:rPr lang="en-US" altLang="zh-TW" dirty="0">
                    <a:latin typeface="Times New Roman" panose="02020603050405020304" pitchFamily="18" charset="0"/>
                    <a:ea typeface="標楷體" panose="03000509000000000000" pitchFamily="65" charset="-120"/>
                  </a:rPr>
                  <a:t>i</a:t>
                </a:r>
                <a:r>
                  <a:rPr lang="en-US" altLang="zh-TW" dirty="0" smtClean="0">
                    <a:latin typeface="Times New Roman" panose="02020603050405020304" pitchFamily="18" charset="0"/>
                    <a:ea typeface="標楷體" panose="03000509000000000000" pitchFamily="65" charset="-120"/>
                  </a:rPr>
                  <a:t> </a:t>
                </a:r>
                <a:r>
                  <a:rPr lang="zh-TW" altLang="en-US" dirty="0" smtClean="0">
                    <a:latin typeface="Times New Roman" panose="02020603050405020304" pitchFamily="18" charset="0"/>
                    <a:ea typeface="標楷體" panose="03000509000000000000" pitchFamily="65" charset="-120"/>
                  </a:rPr>
                  <a:t>次交易的賣出金額</a:t>
                </a:r>
                <a:endParaRPr lang="en-US" altLang="zh-TW" dirty="0" smtClean="0">
                  <a:latin typeface="Times New Roman" panose="02020603050405020304" pitchFamily="18" charset="0"/>
                  <a:ea typeface="標楷體" panose="03000509000000000000" pitchFamily="65" charset="-120"/>
                </a:endParaRPr>
              </a:p>
              <a:p>
                <a14:m>
                  <m:oMath xmlns:m="http://schemas.openxmlformats.org/officeDocument/2006/math">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𝐶</m:t>
                        </m:r>
                      </m:e>
                      <m:sub>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𝐵</m:t>
                            </m:r>
                          </m:e>
                          <m:sub>
                            <m:r>
                              <a:rPr lang="en-US" altLang="zh-TW" i="1">
                                <a:latin typeface="Cambria Math" panose="02040503050406030204" pitchFamily="18" charset="0"/>
                                <a:ea typeface="Cambria Math" panose="02040503050406030204" pitchFamily="18" charset="0"/>
                              </a:rPr>
                              <m:t>𝑖</m:t>
                            </m:r>
                          </m:sub>
                        </m:sSub>
                      </m:sub>
                    </m:sSub>
                  </m:oMath>
                </a14:m>
                <a:r>
                  <a:rPr lang="en-US" altLang="zh-TW" dirty="0" smtClean="0">
                    <a:latin typeface="Times New Roman" panose="02020603050405020304" pitchFamily="18" charset="0"/>
                    <a:ea typeface="標楷體" panose="03000509000000000000" pitchFamily="65" charset="-120"/>
                  </a:rPr>
                  <a:t>:</a:t>
                </a:r>
                <a:r>
                  <a:rPr lang="zh-TW" altLang="en-US" dirty="0" smtClean="0">
                    <a:latin typeface="Times New Roman" panose="02020603050405020304" pitchFamily="18" charset="0"/>
                    <a:ea typeface="標楷體" panose="03000509000000000000" pitchFamily="65" charset="-120"/>
                  </a:rPr>
                  <a:t> 第 </a:t>
                </a:r>
                <a:r>
                  <a:rPr lang="en-US" altLang="zh-TW" dirty="0" err="1">
                    <a:latin typeface="Times New Roman" panose="02020603050405020304" pitchFamily="18" charset="0"/>
                    <a:ea typeface="標楷體" panose="03000509000000000000" pitchFamily="65" charset="-120"/>
                  </a:rPr>
                  <a:t>i</a:t>
                </a:r>
                <a:r>
                  <a:rPr lang="en-US" altLang="zh-TW" dirty="0" smtClean="0">
                    <a:latin typeface="Times New Roman" panose="02020603050405020304" pitchFamily="18" charset="0"/>
                    <a:ea typeface="標楷體" panose="03000509000000000000" pitchFamily="65" charset="-120"/>
                  </a:rPr>
                  <a:t> </a:t>
                </a:r>
                <a:r>
                  <a:rPr lang="zh-TW" altLang="en-US" dirty="0">
                    <a:latin typeface="Times New Roman" panose="02020603050405020304" pitchFamily="18" charset="0"/>
                    <a:ea typeface="標楷體" panose="03000509000000000000" pitchFamily="65" charset="-120"/>
                  </a:rPr>
                  <a:t>次交易</a:t>
                </a:r>
                <a:r>
                  <a:rPr lang="zh-TW" altLang="en-US" dirty="0" smtClean="0">
                    <a:latin typeface="Times New Roman" panose="02020603050405020304" pitchFamily="18" charset="0"/>
                    <a:ea typeface="標楷體" panose="03000509000000000000" pitchFamily="65" charset="-120"/>
                  </a:rPr>
                  <a:t>的買</a:t>
                </a:r>
                <a:r>
                  <a:rPr lang="zh-TW" altLang="en-US" dirty="0">
                    <a:latin typeface="Times New Roman" panose="02020603050405020304" pitchFamily="18" charset="0"/>
                    <a:ea typeface="標楷體" panose="03000509000000000000" pitchFamily="65" charset="-120"/>
                  </a:rPr>
                  <a:t>進</a:t>
                </a:r>
                <a:r>
                  <a:rPr lang="zh-TW" altLang="en-US" dirty="0" smtClean="0">
                    <a:latin typeface="Times New Roman" panose="02020603050405020304" pitchFamily="18" charset="0"/>
                    <a:ea typeface="標楷體" panose="03000509000000000000" pitchFamily="65" charset="-120"/>
                  </a:rPr>
                  <a:t>金額</a:t>
                </a:r>
                <a:endParaRPr lang="en-US" altLang="zh-TW" dirty="0">
                  <a:latin typeface="Times New Roman" panose="02020603050405020304" pitchFamily="18" charset="0"/>
                  <a:ea typeface="標楷體" panose="03000509000000000000" pitchFamily="65" charset="-120"/>
                </a:endParaRPr>
              </a:p>
            </p:txBody>
          </p:sp>
        </mc:Choice>
        <mc:Fallback xmlns="">
          <p:sp>
            <p:nvSpPr>
              <p:cNvPr id="7" name="文字方塊 6"/>
              <p:cNvSpPr txBox="1">
                <a:spLocks noRot="1" noChangeAspect="1" noMove="1" noResize="1" noEditPoints="1" noAdjustHandles="1" noChangeArrowheads="1" noChangeShapeType="1" noTextEdit="1"/>
              </p:cNvSpPr>
              <p:nvPr/>
            </p:nvSpPr>
            <p:spPr>
              <a:xfrm>
                <a:off x="91644" y="809897"/>
                <a:ext cx="8924925" cy="3701270"/>
              </a:xfrm>
              <a:prstGeom prst="rect">
                <a:avLst/>
              </a:prstGeom>
              <a:blipFill rotWithShape="0">
                <a:blip r:embed="rId3"/>
                <a:stretch>
                  <a:fillRect l="-546" t="-988" b="-115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26888704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a:latin typeface="Times New Roman" panose="02020603050405020304" pitchFamily="18" charset="0"/>
                <a:cs typeface="Times New Roman" panose="02020603050405020304" pitchFamily="18" charset="0"/>
              </a:rPr>
              <a:t>Genetic Programming</a:t>
            </a:r>
            <a:endParaRPr lang="zh-TW" altLang="en-US" sz="4000" b="1"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21</a:t>
            </a:fld>
            <a:endParaRPr lang="zh-TW" altLang="en-US" dirty="0"/>
          </a:p>
        </p:txBody>
      </p:sp>
      <p:pic>
        <p:nvPicPr>
          <p:cNvPr id="3" name="圖片 2"/>
          <p:cNvPicPr>
            <a:picLocks noChangeAspect="1"/>
          </p:cNvPicPr>
          <p:nvPr/>
        </p:nvPicPr>
        <p:blipFill>
          <a:blip r:embed="rId3"/>
          <a:stretch>
            <a:fillRect/>
          </a:stretch>
        </p:blipFill>
        <p:spPr>
          <a:xfrm>
            <a:off x="657223" y="2344874"/>
            <a:ext cx="7800975" cy="2476500"/>
          </a:xfrm>
          <a:prstGeom prst="rect">
            <a:avLst/>
          </a:prstGeom>
        </p:spPr>
      </p:pic>
    </p:spTree>
    <p:extLst>
      <p:ext uri="{BB962C8B-B14F-4D97-AF65-F5344CB8AC3E}">
        <p14:creationId xmlns:p14="http://schemas.microsoft.com/office/powerpoint/2010/main" val="255261580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smtClean="0">
                <a:latin typeface="Times New Roman" panose="02020603050405020304" pitchFamily="18" charset="0"/>
                <a:cs typeface="Times New Roman" panose="02020603050405020304" pitchFamily="18" charset="0"/>
              </a:rPr>
              <a:t>Technical Indicators(1/2)</a:t>
            </a:r>
            <a:endParaRPr lang="zh-TW" altLang="en-US" sz="4000" b="1"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22</a:t>
            </a:fld>
            <a:endParaRPr lang="zh-TW" altLang="en-US" dirty="0"/>
          </a:p>
        </p:txBody>
      </p:sp>
      <p:pic>
        <p:nvPicPr>
          <p:cNvPr id="6" name="圖片 5"/>
          <p:cNvPicPr>
            <a:picLocks noChangeAspect="1"/>
          </p:cNvPicPr>
          <p:nvPr/>
        </p:nvPicPr>
        <p:blipFill>
          <a:blip r:embed="rId3"/>
          <a:stretch>
            <a:fillRect/>
          </a:stretch>
        </p:blipFill>
        <p:spPr>
          <a:xfrm>
            <a:off x="1164589" y="1107940"/>
            <a:ext cx="6814821" cy="5248411"/>
          </a:xfrm>
          <a:prstGeom prst="rect">
            <a:avLst/>
          </a:prstGeom>
        </p:spPr>
      </p:pic>
    </p:spTree>
    <p:extLst>
      <p:ext uri="{BB962C8B-B14F-4D97-AF65-F5344CB8AC3E}">
        <p14:creationId xmlns:p14="http://schemas.microsoft.com/office/powerpoint/2010/main" val="313862616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smtClean="0">
                <a:latin typeface="Times New Roman" panose="02020603050405020304" pitchFamily="18" charset="0"/>
                <a:cs typeface="Times New Roman" panose="02020603050405020304" pitchFamily="18" charset="0"/>
              </a:rPr>
              <a:t>Technical Indicators(2/2)</a:t>
            </a:r>
            <a:endParaRPr lang="zh-TW" altLang="en-US" sz="4000" b="1"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23</a:t>
            </a:fld>
            <a:endParaRPr lang="zh-TW" altLang="en-US" dirty="0"/>
          </a:p>
        </p:txBody>
      </p:sp>
      <p:pic>
        <p:nvPicPr>
          <p:cNvPr id="7" name="圖片 6"/>
          <p:cNvPicPr>
            <a:picLocks noChangeAspect="1"/>
          </p:cNvPicPr>
          <p:nvPr/>
        </p:nvPicPr>
        <p:blipFill>
          <a:blip r:embed="rId3"/>
          <a:stretch>
            <a:fillRect/>
          </a:stretch>
        </p:blipFill>
        <p:spPr>
          <a:xfrm>
            <a:off x="1275806" y="2454573"/>
            <a:ext cx="6592388" cy="3093441"/>
          </a:xfrm>
          <a:prstGeom prst="rect">
            <a:avLst/>
          </a:prstGeom>
        </p:spPr>
      </p:pic>
      <p:pic>
        <p:nvPicPr>
          <p:cNvPr id="8" name="圖片 7"/>
          <p:cNvPicPr>
            <a:picLocks noChangeAspect="1"/>
          </p:cNvPicPr>
          <p:nvPr/>
        </p:nvPicPr>
        <p:blipFill>
          <a:blip r:embed="rId4"/>
          <a:stretch>
            <a:fillRect/>
          </a:stretch>
        </p:blipFill>
        <p:spPr>
          <a:xfrm>
            <a:off x="1393235" y="1673871"/>
            <a:ext cx="6357530" cy="601314"/>
          </a:xfrm>
          <a:prstGeom prst="rect">
            <a:avLst/>
          </a:prstGeom>
        </p:spPr>
      </p:pic>
    </p:spTree>
    <p:extLst>
      <p:ext uri="{BB962C8B-B14F-4D97-AF65-F5344CB8AC3E}">
        <p14:creationId xmlns:p14="http://schemas.microsoft.com/office/powerpoint/2010/main" val="70671889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a:latin typeface="Times New Roman" panose="02020603050405020304" pitchFamily="18" charset="0"/>
                <a:cs typeface="Times New Roman" panose="02020603050405020304" pitchFamily="18" charset="0"/>
              </a:rPr>
              <a:t>Relative Strength </a:t>
            </a:r>
            <a:r>
              <a:rPr lang="en-US" altLang="zh-TW" sz="4000" b="1" dirty="0" smtClean="0">
                <a:latin typeface="Times New Roman" panose="02020603050405020304" pitchFamily="18" charset="0"/>
                <a:cs typeface="Times New Roman" panose="02020603050405020304" pitchFamily="18" charset="0"/>
              </a:rPr>
              <a:t>Index (1/2)</a:t>
            </a:r>
            <a:endParaRPr lang="zh-TW" altLang="en-US" sz="40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95249" y="809897"/>
                <a:ext cx="8924925" cy="5911580"/>
              </a:xfrm>
            </p:spPr>
            <p:txBody>
              <a:bodyPr vert="horz" lIns="91440" tIns="45720" rIns="91440" bIns="45720" rtlCol="0" anchor="t">
                <a:noAutofit/>
              </a:bodyPr>
              <a:lstStyle/>
              <a:p>
                <a:pPr marL="0" indent="0">
                  <a:lnSpc>
                    <a:spcPct val="150000"/>
                  </a:lnSpc>
                  <a:buNone/>
                </a:pPr>
                <a:r>
                  <a:rPr lang="en-US" altLang="zh-TW" sz="2000" dirty="0" smtClean="0">
                    <a:latin typeface="Times New Roman" panose="02020603050405020304" pitchFamily="18" charset="0"/>
                    <a:cs typeface="Times New Roman" panose="02020603050405020304" pitchFamily="18" charset="0"/>
                  </a:rPr>
                  <a:t>Definition:</a:t>
                </a:r>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TW" sz="1800" b="0" i="1" smtClean="0">
                          <a:latin typeface="Cambria Math" panose="02040503050406030204" pitchFamily="18" charset="0"/>
                          <a:cs typeface="Times New Roman" panose="02020603050405020304" pitchFamily="18" charset="0"/>
                        </a:rPr>
                        <m:t>𝑅𝑆𝐼</m:t>
                      </m:r>
                      <m:r>
                        <a:rPr lang="en-US" altLang="zh-TW" sz="1800" b="0" i="1" smtClean="0">
                          <a:latin typeface="Cambria Math" panose="02040503050406030204" pitchFamily="18" charset="0"/>
                          <a:cs typeface="Times New Roman" panose="02020603050405020304" pitchFamily="18" charset="0"/>
                        </a:rPr>
                        <m:t>=100−(</m:t>
                      </m:r>
                      <m:f>
                        <m:fPr>
                          <m:ctrlPr>
                            <a:rPr lang="en-US" altLang="zh-TW" sz="1800" b="0" i="1" smtClean="0">
                              <a:latin typeface="Cambria Math" panose="02040503050406030204" pitchFamily="18" charset="0"/>
                              <a:cs typeface="Times New Roman" panose="02020603050405020304" pitchFamily="18" charset="0"/>
                            </a:rPr>
                          </m:ctrlPr>
                        </m:fPr>
                        <m:num>
                          <m:r>
                            <a:rPr lang="en-US" altLang="zh-TW" sz="1800" b="0" i="1" smtClean="0">
                              <a:latin typeface="Cambria Math" panose="02040503050406030204" pitchFamily="18" charset="0"/>
                              <a:cs typeface="Times New Roman" panose="02020603050405020304" pitchFamily="18" charset="0"/>
                            </a:rPr>
                            <m:t>100</m:t>
                          </m:r>
                        </m:num>
                        <m:den>
                          <m:r>
                            <a:rPr lang="en-US" altLang="zh-TW" sz="1800" b="0" i="1" smtClean="0">
                              <a:latin typeface="Cambria Math" panose="02040503050406030204" pitchFamily="18" charset="0"/>
                              <a:cs typeface="Times New Roman" panose="02020603050405020304" pitchFamily="18" charset="0"/>
                            </a:rPr>
                            <m:t>1+</m:t>
                          </m:r>
                          <m:r>
                            <a:rPr lang="en-US" altLang="zh-TW" sz="1800" b="0" i="1" smtClean="0">
                              <a:latin typeface="Cambria Math" panose="02040503050406030204" pitchFamily="18" charset="0"/>
                              <a:cs typeface="Times New Roman" panose="02020603050405020304" pitchFamily="18" charset="0"/>
                            </a:rPr>
                            <m:t>𝑅𝑆</m:t>
                          </m:r>
                        </m:den>
                      </m:f>
                      <m:r>
                        <a:rPr lang="en-US" altLang="zh-TW" sz="1800" b="0" i="1" smtClean="0">
                          <a:latin typeface="Cambria Math" panose="02040503050406030204" pitchFamily="18" charset="0"/>
                          <a:cs typeface="Times New Roman" panose="02020603050405020304" pitchFamily="18" charset="0"/>
                        </a:rPr>
                        <m:t>)</m:t>
                      </m:r>
                    </m:oMath>
                  </m:oMathPara>
                </a14:m>
                <a:endParaRPr lang="en-US" altLang="zh-TW" sz="1800" dirty="0" smtClean="0">
                  <a:latin typeface="Times New Roman" panose="02020603050405020304" pitchFamily="18" charset="0"/>
                  <a:cs typeface="Times New Roman" panose="020206030504050203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TW" sz="1800" b="0" i="1" smtClean="0">
                          <a:latin typeface="Cambria Math" panose="02040503050406030204" pitchFamily="18" charset="0"/>
                          <a:cs typeface="Times New Roman" panose="02020603050405020304" pitchFamily="18" charset="0"/>
                        </a:rPr>
                        <m:t>𝑅𝑆</m:t>
                      </m:r>
                      <m:r>
                        <a:rPr lang="en-US" altLang="zh-TW" sz="1800" b="0" i="1" smtClean="0">
                          <a:latin typeface="Cambria Math" panose="02040503050406030204" pitchFamily="18" charset="0"/>
                          <a:cs typeface="Times New Roman" panose="02020603050405020304" pitchFamily="18" charset="0"/>
                        </a:rPr>
                        <m:t>=</m:t>
                      </m:r>
                      <m:f>
                        <m:fPr>
                          <m:ctrlPr>
                            <a:rPr lang="en-US" altLang="zh-TW" sz="1800" b="0" i="1" smtClean="0">
                              <a:latin typeface="Cambria Math" panose="02040503050406030204" pitchFamily="18" charset="0"/>
                              <a:cs typeface="Times New Roman" panose="02020603050405020304" pitchFamily="18" charset="0"/>
                            </a:rPr>
                          </m:ctrlPr>
                        </m:fPr>
                        <m:num>
                          <m:r>
                            <a:rPr lang="en-US" altLang="zh-TW" sz="1800" b="0" i="1" smtClean="0">
                              <a:latin typeface="Cambria Math" panose="02040503050406030204" pitchFamily="18" charset="0"/>
                              <a:cs typeface="Times New Roman" panose="02020603050405020304" pitchFamily="18" charset="0"/>
                            </a:rPr>
                            <m:t>𝑈𝑃</m:t>
                          </m:r>
                        </m:num>
                        <m:den>
                          <m:r>
                            <a:rPr lang="en-US" altLang="zh-TW" sz="1800" b="0" i="1" smtClean="0">
                              <a:latin typeface="Cambria Math" panose="02040503050406030204" pitchFamily="18" charset="0"/>
                              <a:cs typeface="Times New Roman" panose="02020603050405020304" pitchFamily="18" charset="0"/>
                            </a:rPr>
                            <m:t>𝐷𝑂𝑊𝑁</m:t>
                          </m:r>
                        </m:den>
                      </m:f>
                    </m:oMath>
                  </m:oMathPara>
                </a14:m>
                <a:endParaRPr lang="en-US" altLang="zh-TW" sz="1800" dirty="0" smtClean="0">
                  <a:latin typeface="Times New Roman" panose="02020603050405020304" pitchFamily="18" charset="0"/>
                  <a:cs typeface="Times New Roman" panose="02020603050405020304" pitchFamily="18" charset="0"/>
                </a:endParaRPr>
              </a:p>
              <a:p>
                <a:pPr marL="0" indent="0">
                  <a:lnSpc>
                    <a:spcPct val="150000"/>
                  </a:lnSpc>
                  <a:buNone/>
                </a:pPr>
                <a:r>
                  <a:rPr lang="en-US" altLang="zh-TW" sz="2000" dirty="0" smtClean="0">
                    <a:latin typeface="Times New Roman" panose="02020603050405020304" pitchFamily="18" charset="0"/>
                    <a:cs typeface="Times New Roman" panose="02020603050405020304" pitchFamily="18" charset="0"/>
                  </a:rPr>
                  <a:t>Example:</a:t>
                </a:r>
              </a:p>
              <a:p>
                <a:pPr marL="0" indent="0">
                  <a:lnSpc>
                    <a:spcPct val="150000"/>
                  </a:lnSpc>
                  <a:buNone/>
                </a:pPr>
                <a:endParaRPr lang="en-US" altLang="zh-TW" sz="2000" dirty="0" smtClean="0">
                  <a:latin typeface="Times New Roman" panose="02020603050405020304" pitchFamily="18" charset="0"/>
                  <a:cs typeface="Times New Roman" panose="02020603050405020304" pitchFamily="18" charset="0"/>
                </a:endParaRPr>
              </a:p>
              <a:p>
                <a:pPr marL="0" indent="0">
                  <a:lnSpc>
                    <a:spcPct val="150000"/>
                  </a:lnSpc>
                  <a:buNone/>
                </a:pPr>
                <a:endParaRPr lang="en-US" altLang="zh-TW" sz="2000" dirty="0" smtClean="0">
                  <a:latin typeface="Times New Roman" panose="02020603050405020304" pitchFamily="18" charset="0"/>
                  <a:cs typeface="Times New Roman" panose="02020603050405020304" pitchFamily="18" charset="0"/>
                </a:endParaRPr>
              </a:p>
              <a:p>
                <a:pPr marL="0" indent="0">
                  <a:lnSpc>
                    <a:spcPct val="100000"/>
                  </a:lnSpc>
                  <a:buNone/>
                </a:pPr>
                <a14:m>
                  <m:oMathPara xmlns:m="http://schemas.openxmlformats.org/officeDocument/2006/math">
                    <m:oMathParaPr>
                      <m:jc m:val="centerGroup"/>
                    </m:oMathParaPr>
                    <m:oMath xmlns:m="http://schemas.openxmlformats.org/officeDocument/2006/math">
                      <m:r>
                        <a:rPr lang="en-US" altLang="zh-TW" sz="1800" b="0" i="1" smtClean="0">
                          <a:latin typeface="Cambria Math" panose="02040503050406030204" pitchFamily="18" charset="0"/>
                          <a:cs typeface="Times New Roman" panose="02020603050405020304" pitchFamily="18" charset="0"/>
                        </a:rPr>
                        <m:t>𝑈𝑃</m:t>
                      </m:r>
                      <m:r>
                        <a:rPr lang="en-US" altLang="zh-TW" sz="1800" b="0" i="1" smtClean="0">
                          <a:latin typeface="Cambria Math" panose="02040503050406030204" pitchFamily="18" charset="0"/>
                          <a:cs typeface="Times New Roman" panose="02020603050405020304" pitchFamily="18" charset="0"/>
                        </a:rPr>
                        <m:t>=</m:t>
                      </m:r>
                      <m:f>
                        <m:fPr>
                          <m:ctrlPr>
                            <a:rPr lang="en-US" altLang="zh-TW" sz="1800" b="0" i="1" smtClean="0">
                              <a:latin typeface="Cambria Math" panose="02040503050406030204" pitchFamily="18" charset="0"/>
                              <a:cs typeface="Times New Roman" panose="02020603050405020304" pitchFamily="18" charset="0"/>
                            </a:rPr>
                          </m:ctrlPr>
                        </m:fPr>
                        <m:num>
                          <m:r>
                            <a:rPr lang="en-US" altLang="zh-TW" sz="1800" b="0" i="1" smtClean="0">
                              <a:latin typeface="Cambria Math" panose="02040503050406030204" pitchFamily="18" charset="0"/>
                              <a:cs typeface="Times New Roman" panose="02020603050405020304" pitchFamily="18" charset="0"/>
                            </a:rPr>
                            <m:t>2+2+2+4</m:t>
                          </m:r>
                        </m:num>
                        <m:den>
                          <m:r>
                            <a:rPr lang="en-US" altLang="zh-TW" sz="1800" b="0" i="1" smtClean="0">
                              <a:latin typeface="Cambria Math" panose="02040503050406030204" pitchFamily="18" charset="0"/>
                              <a:cs typeface="Times New Roman" panose="02020603050405020304" pitchFamily="18" charset="0"/>
                            </a:rPr>
                            <m:t>6</m:t>
                          </m:r>
                        </m:den>
                      </m:f>
                      <m:r>
                        <a:rPr lang="en-US" altLang="zh-TW" sz="1800" b="0" i="1" smtClean="0">
                          <a:latin typeface="Cambria Math" panose="02040503050406030204" pitchFamily="18" charset="0"/>
                          <a:cs typeface="Times New Roman" panose="02020603050405020304" pitchFamily="18" charset="0"/>
                        </a:rPr>
                        <m:t>=1.667</m:t>
                      </m:r>
                    </m:oMath>
                  </m:oMathPara>
                </a14:m>
                <a:endParaRPr lang="en-US" altLang="zh-TW" sz="1800" b="0" dirty="0" smtClean="0">
                  <a:latin typeface="Times New Roman" panose="02020603050405020304" pitchFamily="18" charset="0"/>
                  <a:cs typeface="Times New Roman" panose="02020603050405020304" pitchFamily="18" charset="0"/>
                </a:endParaRPr>
              </a:p>
              <a:p>
                <a:pPr marL="0" indent="0">
                  <a:lnSpc>
                    <a:spcPct val="100000"/>
                  </a:lnSpc>
                  <a:buNone/>
                </a:pPr>
                <a14:m>
                  <m:oMathPara xmlns:m="http://schemas.openxmlformats.org/officeDocument/2006/math">
                    <m:oMathParaPr>
                      <m:jc m:val="centerGroup"/>
                    </m:oMathParaPr>
                    <m:oMath xmlns:m="http://schemas.openxmlformats.org/officeDocument/2006/math">
                      <m:r>
                        <a:rPr lang="en-US" altLang="zh-TW" sz="1800" b="0" i="1" smtClean="0">
                          <a:latin typeface="Cambria Math" panose="02040503050406030204" pitchFamily="18" charset="0"/>
                          <a:cs typeface="Times New Roman" panose="02020603050405020304" pitchFamily="18" charset="0"/>
                        </a:rPr>
                        <m:t>𝐷𝑂𝑊𝑁</m:t>
                      </m:r>
                      <m:r>
                        <a:rPr lang="en-US" altLang="zh-TW" sz="1800" b="0" i="1" smtClean="0">
                          <a:latin typeface="Cambria Math" panose="02040503050406030204" pitchFamily="18" charset="0"/>
                          <a:cs typeface="Times New Roman" panose="02020603050405020304" pitchFamily="18" charset="0"/>
                        </a:rPr>
                        <m:t>=</m:t>
                      </m:r>
                      <m:f>
                        <m:fPr>
                          <m:ctrlPr>
                            <a:rPr lang="en-US" altLang="zh-TW" sz="1800" b="0" i="1" smtClean="0">
                              <a:latin typeface="Cambria Math" panose="02040503050406030204" pitchFamily="18" charset="0"/>
                              <a:cs typeface="Times New Roman" panose="02020603050405020304" pitchFamily="18" charset="0"/>
                            </a:rPr>
                          </m:ctrlPr>
                        </m:fPr>
                        <m:num>
                          <m:r>
                            <a:rPr lang="en-US" altLang="zh-TW" sz="1800" b="0" i="1" smtClean="0">
                              <a:latin typeface="Cambria Math" panose="02040503050406030204" pitchFamily="18" charset="0"/>
                              <a:cs typeface="Times New Roman" panose="02020603050405020304" pitchFamily="18" charset="0"/>
                            </a:rPr>
                            <m:t>2+2</m:t>
                          </m:r>
                        </m:num>
                        <m:den>
                          <m:r>
                            <a:rPr lang="en-US" altLang="zh-TW" sz="1800" b="0" i="1" smtClean="0">
                              <a:latin typeface="Cambria Math" panose="02040503050406030204" pitchFamily="18" charset="0"/>
                              <a:cs typeface="Times New Roman" panose="02020603050405020304" pitchFamily="18" charset="0"/>
                            </a:rPr>
                            <m:t>6</m:t>
                          </m:r>
                        </m:den>
                      </m:f>
                      <m:r>
                        <a:rPr lang="en-US" altLang="zh-TW" sz="1800" b="0" i="1" smtClean="0">
                          <a:latin typeface="Cambria Math" panose="02040503050406030204" pitchFamily="18" charset="0"/>
                          <a:cs typeface="Times New Roman" panose="02020603050405020304" pitchFamily="18" charset="0"/>
                        </a:rPr>
                        <m:t>=0.667</m:t>
                      </m:r>
                    </m:oMath>
                  </m:oMathPara>
                </a14:m>
                <a:endParaRPr lang="en-US" altLang="zh-TW" sz="1800" b="0" dirty="0" smtClean="0">
                  <a:latin typeface="Times New Roman" panose="02020603050405020304" pitchFamily="18" charset="0"/>
                  <a:cs typeface="Times New Roman" panose="02020603050405020304" pitchFamily="18" charset="0"/>
                </a:endParaRPr>
              </a:p>
              <a:p>
                <a:pPr marL="0" indent="0">
                  <a:lnSpc>
                    <a:spcPct val="100000"/>
                  </a:lnSpc>
                  <a:buNone/>
                </a:pPr>
                <a14:m>
                  <m:oMathPara xmlns:m="http://schemas.openxmlformats.org/officeDocument/2006/math">
                    <m:oMathParaPr>
                      <m:jc m:val="centerGroup"/>
                    </m:oMathParaPr>
                    <m:oMath xmlns:m="http://schemas.openxmlformats.org/officeDocument/2006/math">
                      <m:r>
                        <a:rPr lang="en-US" altLang="zh-TW" sz="1800" b="0" i="1" smtClean="0">
                          <a:latin typeface="Cambria Math" panose="02040503050406030204" pitchFamily="18" charset="0"/>
                          <a:cs typeface="Times New Roman" panose="02020603050405020304" pitchFamily="18" charset="0"/>
                        </a:rPr>
                        <m:t>𝑅𝑆𝐼</m:t>
                      </m:r>
                      <m:r>
                        <a:rPr lang="en-US" altLang="zh-TW" sz="1800" b="0" i="1" smtClean="0">
                          <a:latin typeface="Cambria Math" panose="02040503050406030204" pitchFamily="18" charset="0"/>
                          <a:cs typeface="Times New Roman" panose="02020603050405020304" pitchFamily="18" charset="0"/>
                        </a:rPr>
                        <m:t>=100−</m:t>
                      </m:r>
                      <m:d>
                        <m:dPr>
                          <m:ctrlPr>
                            <a:rPr lang="en-US" altLang="zh-TW" sz="1800" b="0" i="1" smtClean="0">
                              <a:latin typeface="Cambria Math" panose="02040503050406030204" pitchFamily="18" charset="0"/>
                              <a:cs typeface="Times New Roman" panose="02020603050405020304" pitchFamily="18" charset="0"/>
                            </a:rPr>
                          </m:ctrlPr>
                        </m:dPr>
                        <m:e>
                          <m:f>
                            <m:fPr>
                              <m:ctrlPr>
                                <a:rPr lang="en-US" altLang="zh-TW" sz="1800" b="0" i="1" smtClean="0">
                                  <a:latin typeface="Cambria Math" panose="02040503050406030204" pitchFamily="18" charset="0"/>
                                  <a:cs typeface="Times New Roman" panose="02020603050405020304" pitchFamily="18" charset="0"/>
                                </a:rPr>
                              </m:ctrlPr>
                            </m:fPr>
                            <m:num>
                              <m:r>
                                <a:rPr lang="en-US" altLang="zh-TW" sz="1800" b="0" i="1" smtClean="0">
                                  <a:latin typeface="Cambria Math" panose="02040503050406030204" pitchFamily="18" charset="0"/>
                                  <a:cs typeface="Times New Roman" panose="02020603050405020304" pitchFamily="18" charset="0"/>
                                </a:rPr>
                                <m:t>100</m:t>
                              </m:r>
                            </m:num>
                            <m:den>
                              <m:r>
                                <a:rPr lang="en-US" altLang="zh-TW" sz="1800" b="0" i="1" smtClean="0">
                                  <a:latin typeface="Cambria Math" panose="02040503050406030204" pitchFamily="18" charset="0"/>
                                  <a:cs typeface="Times New Roman" panose="02020603050405020304" pitchFamily="18" charset="0"/>
                                </a:rPr>
                                <m:t>1+</m:t>
                              </m:r>
                              <m:f>
                                <m:fPr>
                                  <m:ctrlPr>
                                    <a:rPr lang="en-US" altLang="zh-TW" sz="1800" b="0" i="1" smtClean="0">
                                      <a:latin typeface="Cambria Math" panose="02040503050406030204" pitchFamily="18" charset="0"/>
                                      <a:cs typeface="Times New Roman" panose="02020603050405020304" pitchFamily="18" charset="0"/>
                                    </a:rPr>
                                  </m:ctrlPr>
                                </m:fPr>
                                <m:num>
                                  <m:r>
                                    <a:rPr lang="en-US" altLang="zh-TW" sz="1800" b="0" i="1" smtClean="0">
                                      <a:latin typeface="Cambria Math" panose="02040503050406030204" pitchFamily="18" charset="0"/>
                                      <a:cs typeface="Times New Roman" panose="02020603050405020304" pitchFamily="18" charset="0"/>
                                    </a:rPr>
                                    <m:t>1.667</m:t>
                                  </m:r>
                                </m:num>
                                <m:den>
                                  <m:r>
                                    <a:rPr lang="en-US" altLang="zh-TW" sz="1800" b="0" i="1" smtClean="0">
                                      <a:latin typeface="Cambria Math" panose="02040503050406030204" pitchFamily="18" charset="0"/>
                                      <a:cs typeface="Times New Roman" panose="02020603050405020304" pitchFamily="18" charset="0"/>
                                    </a:rPr>
                                    <m:t>0.667</m:t>
                                  </m:r>
                                </m:den>
                              </m:f>
                            </m:den>
                          </m:f>
                        </m:e>
                      </m:d>
                      <m:r>
                        <a:rPr lang="en-US" altLang="zh-TW" sz="1800" b="0" i="1" smtClean="0">
                          <a:latin typeface="Cambria Math" panose="02040503050406030204" pitchFamily="18" charset="0"/>
                          <a:cs typeface="Times New Roman" panose="02020603050405020304" pitchFamily="18" charset="0"/>
                        </a:rPr>
                        <m:t>=71.42</m:t>
                      </m:r>
                    </m:oMath>
                  </m:oMathPara>
                </a14:m>
                <a:endParaRPr lang="en-US" altLang="zh-TW" sz="1800" b="0" dirty="0" smtClean="0">
                  <a:latin typeface="Times New Roman" panose="02020603050405020304" pitchFamily="18" charset="0"/>
                  <a:cs typeface="Times New Roman" panose="02020603050405020304" pitchFamily="18" charset="0"/>
                </a:endParaRPr>
              </a:p>
              <a:p>
                <a:pPr marL="0" indent="0">
                  <a:lnSpc>
                    <a:spcPct val="150000"/>
                  </a:lnSpc>
                  <a:buNone/>
                </a:pPr>
                <a:endParaRPr lang="en-US" altLang="zh-TW" sz="2000"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95249" y="809897"/>
                <a:ext cx="8924925" cy="5911580"/>
              </a:xfrm>
              <a:blipFill rotWithShape="0">
                <a:blip r:embed="rId3"/>
                <a:stretch>
                  <a:fillRect l="-75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t>24</a:t>
            </a:fld>
            <a:endParaRPr lang="zh-TW" altLang="en-US" dirty="0"/>
          </a:p>
        </p:txBody>
      </p:sp>
      <p:graphicFrame>
        <p:nvGraphicFramePr>
          <p:cNvPr id="5" name="表格 4"/>
          <p:cNvGraphicFramePr>
            <a:graphicFrameLocks noGrp="1"/>
          </p:cNvGraphicFramePr>
          <p:nvPr>
            <p:extLst>
              <p:ext uri="{D42A27DB-BD31-4B8C-83A1-F6EECF244321}">
                <p14:modId xmlns:p14="http://schemas.microsoft.com/office/powerpoint/2010/main" val="832305683"/>
              </p:ext>
            </p:extLst>
          </p:nvPr>
        </p:nvGraphicFramePr>
        <p:xfrm>
          <a:off x="1509711" y="3460872"/>
          <a:ext cx="6095999" cy="741680"/>
        </p:xfrm>
        <a:graphic>
          <a:graphicData uri="http://schemas.openxmlformats.org/drawingml/2006/table">
            <a:tbl>
              <a:tblPr firstRow="1" bandRow="1">
                <a:tableStyleId>{5940675A-B579-460E-94D1-54222C63F5DA}</a:tableStyleId>
              </a:tblPr>
              <a:tblGrid>
                <a:gridCol w="870857"/>
                <a:gridCol w="870857"/>
                <a:gridCol w="870857"/>
                <a:gridCol w="870857"/>
                <a:gridCol w="870857"/>
                <a:gridCol w="870857"/>
                <a:gridCol w="870857"/>
              </a:tblGrid>
              <a:tr h="370840">
                <a:tc>
                  <a:txBody>
                    <a:bodyPr/>
                    <a:lstStyle/>
                    <a:p>
                      <a:pPr algn="ctr"/>
                      <a:r>
                        <a:rPr lang="en-US" altLang="zh-TW" b="1" dirty="0" smtClean="0"/>
                        <a:t>Day1</a:t>
                      </a:r>
                      <a:endParaRPr lang="zh-TW" altLang="en-US" b="1" dirty="0"/>
                    </a:p>
                  </a:txBody>
                  <a:tcPr anchor="ctr">
                    <a:solidFill>
                      <a:schemeClr val="accent2">
                        <a:lumMod val="40000"/>
                        <a:lumOff val="60000"/>
                      </a:schemeClr>
                    </a:solidFill>
                  </a:tcPr>
                </a:tc>
                <a:tc>
                  <a:txBody>
                    <a:bodyPr/>
                    <a:lstStyle/>
                    <a:p>
                      <a:pPr algn="ctr"/>
                      <a:r>
                        <a:rPr lang="en-US" altLang="zh-TW" b="1" dirty="0" smtClean="0"/>
                        <a:t>Day2</a:t>
                      </a:r>
                      <a:endParaRPr lang="zh-TW" altLang="en-US" b="1" dirty="0"/>
                    </a:p>
                  </a:txBody>
                  <a:tcPr anchor="ctr">
                    <a:solidFill>
                      <a:schemeClr val="accent2">
                        <a:lumMod val="40000"/>
                        <a:lumOff val="60000"/>
                      </a:schemeClr>
                    </a:solidFill>
                  </a:tcPr>
                </a:tc>
                <a:tc>
                  <a:txBody>
                    <a:bodyPr/>
                    <a:lstStyle/>
                    <a:p>
                      <a:pPr algn="ctr"/>
                      <a:r>
                        <a:rPr lang="en-US" altLang="zh-TW" b="1" dirty="0" smtClean="0"/>
                        <a:t>Day3</a:t>
                      </a:r>
                      <a:endParaRPr lang="zh-TW" altLang="en-US" b="1" dirty="0"/>
                    </a:p>
                  </a:txBody>
                  <a:tcPr anchor="ctr">
                    <a:solidFill>
                      <a:schemeClr val="accent2">
                        <a:lumMod val="40000"/>
                        <a:lumOff val="60000"/>
                      </a:schemeClr>
                    </a:solidFill>
                  </a:tcPr>
                </a:tc>
                <a:tc>
                  <a:txBody>
                    <a:bodyPr/>
                    <a:lstStyle/>
                    <a:p>
                      <a:pPr algn="ctr"/>
                      <a:r>
                        <a:rPr lang="en-US" altLang="zh-TW" b="1" dirty="0" smtClean="0"/>
                        <a:t>Day4</a:t>
                      </a:r>
                      <a:endParaRPr lang="zh-TW" altLang="en-US" b="1" dirty="0"/>
                    </a:p>
                  </a:txBody>
                  <a:tcPr anchor="ctr">
                    <a:solidFill>
                      <a:schemeClr val="accent2">
                        <a:lumMod val="40000"/>
                        <a:lumOff val="60000"/>
                      </a:schemeClr>
                    </a:solidFill>
                  </a:tcPr>
                </a:tc>
                <a:tc>
                  <a:txBody>
                    <a:bodyPr/>
                    <a:lstStyle/>
                    <a:p>
                      <a:pPr algn="ctr"/>
                      <a:r>
                        <a:rPr lang="en-US" altLang="zh-TW" b="1" dirty="0" smtClean="0"/>
                        <a:t>Day5</a:t>
                      </a:r>
                      <a:endParaRPr lang="zh-TW" altLang="en-US" b="1" dirty="0"/>
                    </a:p>
                  </a:txBody>
                  <a:tcPr anchor="ctr">
                    <a:solidFill>
                      <a:schemeClr val="accent2">
                        <a:lumMod val="40000"/>
                        <a:lumOff val="60000"/>
                      </a:schemeClr>
                    </a:solidFill>
                  </a:tcPr>
                </a:tc>
                <a:tc>
                  <a:txBody>
                    <a:bodyPr/>
                    <a:lstStyle/>
                    <a:p>
                      <a:pPr algn="ctr"/>
                      <a:r>
                        <a:rPr lang="en-US" altLang="zh-TW" b="1" dirty="0" smtClean="0"/>
                        <a:t>Day6</a:t>
                      </a:r>
                      <a:endParaRPr lang="zh-TW" altLang="en-US" b="1" dirty="0"/>
                    </a:p>
                  </a:txBody>
                  <a:tcPr anchor="ctr">
                    <a:solidFill>
                      <a:schemeClr val="accent2">
                        <a:lumMod val="40000"/>
                        <a:lumOff val="60000"/>
                      </a:schemeClr>
                    </a:solidFill>
                  </a:tcPr>
                </a:tc>
                <a:tc>
                  <a:txBody>
                    <a:bodyPr/>
                    <a:lstStyle/>
                    <a:p>
                      <a:pPr algn="ctr"/>
                      <a:r>
                        <a:rPr lang="en-US" altLang="zh-TW" b="1" dirty="0" smtClean="0"/>
                        <a:t>Day7</a:t>
                      </a:r>
                      <a:endParaRPr lang="zh-TW" altLang="en-US" b="1" dirty="0"/>
                    </a:p>
                  </a:txBody>
                  <a:tcPr anchor="ctr">
                    <a:solidFill>
                      <a:schemeClr val="accent2">
                        <a:lumMod val="40000"/>
                        <a:lumOff val="60000"/>
                      </a:schemeClr>
                    </a:solidFill>
                  </a:tcPr>
                </a:tc>
              </a:tr>
              <a:tr h="370840">
                <a:tc>
                  <a:txBody>
                    <a:bodyPr/>
                    <a:lstStyle/>
                    <a:p>
                      <a:pPr algn="ctr"/>
                      <a:r>
                        <a:rPr lang="en-US" altLang="zh-TW" dirty="0" smtClean="0"/>
                        <a:t>10</a:t>
                      </a:r>
                      <a:endParaRPr lang="zh-TW" altLang="en-US" dirty="0"/>
                    </a:p>
                  </a:txBody>
                  <a:tcPr anchor="ctr"/>
                </a:tc>
                <a:tc>
                  <a:txBody>
                    <a:bodyPr/>
                    <a:lstStyle/>
                    <a:p>
                      <a:pPr algn="ctr"/>
                      <a:r>
                        <a:rPr lang="en-US" altLang="zh-TW" dirty="0" smtClean="0"/>
                        <a:t>12</a:t>
                      </a:r>
                      <a:endParaRPr lang="zh-TW" altLang="en-US" dirty="0"/>
                    </a:p>
                  </a:txBody>
                  <a:tcPr anchor="ctr"/>
                </a:tc>
                <a:tc>
                  <a:txBody>
                    <a:bodyPr/>
                    <a:lstStyle/>
                    <a:p>
                      <a:pPr algn="ctr"/>
                      <a:r>
                        <a:rPr lang="en-US" altLang="zh-TW" dirty="0" smtClean="0"/>
                        <a:t>14</a:t>
                      </a:r>
                      <a:endParaRPr lang="zh-TW" altLang="en-US" dirty="0"/>
                    </a:p>
                  </a:txBody>
                  <a:tcPr anchor="ctr"/>
                </a:tc>
                <a:tc>
                  <a:txBody>
                    <a:bodyPr/>
                    <a:lstStyle/>
                    <a:p>
                      <a:pPr algn="ctr"/>
                      <a:r>
                        <a:rPr lang="en-US" altLang="zh-TW" dirty="0" smtClean="0"/>
                        <a:t>12</a:t>
                      </a:r>
                      <a:endParaRPr lang="zh-TW" altLang="en-US" dirty="0"/>
                    </a:p>
                  </a:txBody>
                  <a:tcPr anchor="ctr"/>
                </a:tc>
                <a:tc>
                  <a:txBody>
                    <a:bodyPr/>
                    <a:lstStyle/>
                    <a:p>
                      <a:pPr algn="ctr"/>
                      <a:r>
                        <a:rPr lang="en-US" altLang="zh-TW" dirty="0" smtClean="0"/>
                        <a:t>14</a:t>
                      </a:r>
                      <a:endParaRPr lang="zh-TW" altLang="en-US" dirty="0"/>
                    </a:p>
                  </a:txBody>
                  <a:tcPr anchor="ctr"/>
                </a:tc>
                <a:tc>
                  <a:txBody>
                    <a:bodyPr/>
                    <a:lstStyle/>
                    <a:p>
                      <a:pPr algn="ctr"/>
                      <a:r>
                        <a:rPr lang="en-US" altLang="zh-TW" dirty="0" smtClean="0"/>
                        <a:t>18</a:t>
                      </a:r>
                      <a:endParaRPr lang="zh-TW" altLang="en-US" dirty="0"/>
                    </a:p>
                  </a:txBody>
                  <a:tcPr anchor="ctr"/>
                </a:tc>
                <a:tc>
                  <a:txBody>
                    <a:bodyPr/>
                    <a:lstStyle/>
                    <a:p>
                      <a:pPr algn="ctr"/>
                      <a:r>
                        <a:rPr lang="en-US" altLang="zh-TW" dirty="0" smtClean="0"/>
                        <a:t>16</a:t>
                      </a:r>
                      <a:endParaRPr lang="zh-TW" altLang="en-US" dirty="0"/>
                    </a:p>
                  </a:txBody>
                  <a:tcPr anchor="ctr"/>
                </a:tc>
              </a:tr>
            </a:tbl>
          </a:graphicData>
        </a:graphic>
      </p:graphicFrame>
      <p:sp>
        <p:nvSpPr>
          <p:cNvPr id="6" name="文字方塊 5"/>
          <p:cNvSpPr txBox="1"/>
          <p:nvPr/>
        </p:nvSpPr>
        <p:spPr>
          <a:xfrm>
            <a:off x="2220686" y="4167732"/>
            <a:ext cx="226423" cy="369332"/>
          </a:xfrm>
          <a:prstGeom prst="rect">
            <a:avLst/>
          </a:prstGeom>
          <a:noFill/>
        </p:spPr>
        <p:txBody>
          <a:bodyPr wrap="square" rtlCol="0">
            <a:spAutoFit/>
          </a:bodyPr>
          <a:lstStyle/>
          <a:p>
            <a:r>
              <a:rPr lang="en-US" altLang="zh-TW" dirty="0" smtClean="0">
                <a:solidFill>
                  <a:srgbClr val="FF0000"/>
                </a:solidFill>
                <a:latin typeface="Times New Roman" panose="02020603050405020304" pitchFamily="18" charset="0"/>
                <a:cs typeface="Times New Roman" panose="02020603050405020304" pitchFamily="18" charset="0"/>
              </a:rPr>
              <a:t>2</a:t>
            </a:r>
            <a:endParaRPr lang="zh-TW" altLang="en-US" dirty="0">
              <a:solidFill>
                <a:srgbClr val="FF0000"/>
              </a:solidFill>
              <a:latin typeface="Times New Roman" panose="02020603050405020304" pitchFamily="18" charset="0"/>
              <a:cs typeface="Times New Roman" panose="02020603050405020304" pitchFamily="18" charset="0"/>
            </a:endParaRPr>
          </a:p>
        </p:txBody>
      </p:sp>
      <p:sp>
        <p:nvSpPr>
          <p:cNvPr id="7" name="文字方塊 6"/>
          <p:cNvSpPr txBox="1"/>
          <p:nvPr/>
        </p:nvSpPr>
        <p:spPr>
          <a:xfrm>
            <a:off x="3114539" y="4167732"/>
            <a:ext cx="226423" cy="369332"/>
          </a:xfrm>
          <a:prstGeom prst="rect">
            <a:avLst/>
          </a:prstGeom>
          <a:noFill/>
        </p:spPr>
        <p:txBody>
          <a:bodyPr wrap="square" rtlCol="0">
            <a:spAutoFit/>
          </a:bodyPr>
          <a:lstStyle/>
          <a:p>
            <a:r>
              <a:rPr lang="en-US" altLang="zh-TW" dirty="0" smtClean="0">
                <a:solidFill>
                  <a:srgbClr val="FF0000"/>
                </a:solidFill>
                <a:latin typeface="Times New Roman" panose="02020603050405020304" pitchFamily="18" charset="0"/>
                <a:cs typeface="Times New Roman" panose="02020603050405020304" pitchFamily="18" charset="0"/>
              </a:rPr>
              <a:t>2</a:t>
            </a:r>
            <a:endParaRPr lang="zh-TW" altLang="en-US" dirty="0">
              <a:solidFill>
                <a:srgbClr val="FF0000"/>
              </a:solidFill>
              <a:latin typeface="Times New Roman" panose="02020603050405020304" pitchFamily="18" charset="0"/>
              <a:cs typeface="Times New Roman" panose="02020603050405020304" pitchFamily="18" charset="0"/>
            </a:endParaRPr>
          </a:p>
        </p:txBody>
      </p:sp>
      <p:sp>
        <p:nvSpPr>
          <p:cNvPr id="8" name="文字方塊 7"/>
          <p:cNvSpPr txBox="1"/>
          <p:nvPr/>
        </p:nvSpPr>
        <p:spPr>
          <a:xfrm>
            <a:off x="3973557" y="4167732"/>
            <a:ext cx="226423" cy="369332"/>
          </a:xfrm>
          <a:prstGeom prst="rect">
            <a:avLst/>
          </a:prstGeom>
          <a:noFill/>
        </p:spPr>
        <p:txBody>
          <a:bodyPr wrap="square" rtlCol="0">
            <a:spAutoFit/>
          </a:bodyPr>
          <a:lstStyle/>
          <a:p>
            <a:r>
              <a:rPr lang="en-US" altLang="zh-TW" dirty="0" smtClean="0">
                <a:solidFill>
                  <a:srgbClr val="00B050"/>
                </a:solidFill>
                <a:latin typeface="Times New Roman" panose="02020603050405020304" pitchFamily="18" charset="0"/>
                <a:cs typeface="Times New Roman" panose="02020603050405020304" pitchFamily="18" charset="0"/>
              </a:rPr>
              <a:t>2</a:t>
            </a:r>
            <a:endParaRPr lang="zh-TW" altLang="en-US" dirty="0">
              <a:solidFill>
                <a:srgbClr val="00B050"/>
              </a:solidFill>
              <a:latin typeface="Times New Roman" panose="02020603050405020304" pitchFamily="18" charset="0"/>
              <a:cs typeface="Times New Roman" panose="02020603050405020304" pitchFamily="18" charset="0"/>
            </a:endParaRPr>
          </a:p>
        </p:txBody>
      </p:sp>
      <p:sp>
        <p:nvSpPr>
          <p:cNvPr id="9" name="文字方塊 8"/>
          <p:cNvSpPr txBox="1"/>
          <p:nvPr/>
        </p:nvSpPr>
        <p:spPr>
          <a:xfrm>
            <a:off x="4863672" y="4167732"/>
            <a:ext cx="226423" cy="369332"/>
          </a:xfrm>
          <a:prstGeom prst="rect">
            <a:avLst/>
          </a:prstGeom>
          <a:noFill/>
        </p:spPr>
        <p:txBody>
          <a:bodyPr wrap="square" rtlCol="0">
            <a:spAutoFit/>
          </a:bodyPr>
          <a:lstStyle/>
          <a:p>
            <a:r>
              <a:rPr lang="en-US" altLang="zh-TW" dirty="0" smtClean="0">
                <a:solidFill>
                  <a:srgbClr val="FF0000"/>
                </a:solidFill>
                <a:latin typeface="Times New Roman" panose="02020603050405020304" pitchFamily="18" charset="0"/>
                <a:cs typeface="Times New Roman" panose="02020603050405020304" pitchFamily="18" charset="0"/>
              </a:rPr>
              <a:t>2</a:t>
            </a:r>
            <a:endParaRPr lang="zh-TW" altLang="en-US" dirty="0">
              <a:solidFill>
                <a:srgbClr val="FF0000"/>
              </a:solidFill>
              <a:latin typeface="Times New Roman" panose="02020603050405020304" pitchFamily="18" charset="0"/>
              <a:cs typeface="Times New Roman" panose="02020603050405020304" pitchFamily="18" charset="0"/>
            </a:endParaRPr>
          </a:p>
        </p:txBody>
      </p:sp>
      <p:sp>
        <p:nvSpPr>
          <p:cNvPr id="10" name="文字方塊 9"/>
          <p:cNvSpPr txBox="1"/>
          <p:nvPr/>
        </p:nvSpPr>
        <p:spPr>
          <a:xfrm>
            <a:off x="5736369" y="4167732"/>
            <a:ext cx="226423" cy="369332"/>
          </a:xfrm>
          <a:prstGeom prst="rect">
            <a:avLst/>
          </a:prstGeom>
          <a:noFill/>
        </p:spPr>
        <p:txBody>
          <a:bodyPr wrap="square" rtlCol="0">
            <a:spAutoFit/>
          </a:bodyPr>
          <a:lstStyle/>
          <a:p>
            <a:r>
              <a:rPr lang="en-US" altLang="zh-TW" dirty="0">
                <a:solidFill>
                  <a:srgbClr val="FF0000"/>
                </a:solidFill>
                <a:latin typeface="Times New Roman" panose="02020603050405020304" pitchFamily="18" charset="0"/>
                <a:cs typeface="Times New Roman" panose="02020603050405020304" pitchFamily="18" charset="0"/>
              </a:rPr>
              <a:t>4</a:t>
            </a:r>
            <a:endParaRPr lang="zh-TW" altLang="en-US" dirty="0">
              <a:solidFill>
                <a:srgbClr val="FF0000"/>
              </a:solidFill>
              <a:latin typeface="Times New Roman" panose="02020603050405020304" pitchFamily="18" charset="0"/>
              <a:cs typeface="Times New Roman" panose="02020603050405020304" pitchFamily="18" charset="0"/>
            </a:endParaRPr>
          </a:p>
        </p:txBody>
      </p:sp>
      <p:sp>
        <p:nvSpPr>
          <p:cNvPr id="11" name="文字方塊 10"/>
          <p:cNvSpPr txBox="1"/>
          <p:nvPr/>
        </p:nvSpPr>
        <p:spPr>
          <a:xfrm>
            <a:off x="6610079" y="4167732"/>
            <a:ext cx="226423" cy="369332"/>
          </a:xfrm>
          <a:prstGeom prst="rect">
            <a:avLst/>
          </a:prstGeom>
          <a:noFill/>
        </p:spPr>
        <p:txBody>
          <a:bodyPr wrap="square" rtlCol="0">
            <a:spAutoFit/>
          </a:bodyPr>
          <a:lstStyle/>
          <a:p>
            <a:r>
              <a:rPr lang="en-US" altLang="zh-TW" dirty="0" smtClean="0">
                <a:solidFill>
                  <a:srgbClr val="00B050"/>
                </a:solidFill>
                <a:latin typeface="Times New Roman" panose="02020603050405020304" pitchFamily="18" charset="0"/>
                <a:cs typeface="Times New Roman" panose="02020603050405020304" pitchFamily="18" charset="0"/>
              </a:rPr>
              <a:t>2</a:t>
            </a:r>
            <a:endParaRPr lang="zh-TW" altLang="en-US"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136048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a:latin typeface="Times New Roman" panose="02020603050405020304" pitchFamily="18" charset="0"/>
                <a:cs typeface="Times New Roman" panose="02020603050405020304" pitchFamily="18" charset="0"/>
              </a:rPr>
              <a:t>Relative Strength </a:t>
            </a:r>
            <a:r>
              <a:rPr lang="en-US" altLang="zh-TW" sz="4000" b="1" dirty="0" smtClean="0">
                <a:latin typeface="Times New Roman" panose="02020603050405020304" pitchFamily="18" charset="0"/>
                <a:cs typeface="Times New Roman" panose="02020603050405020304" pitchFamily="18" charset="0"/>
              </a:rPr>
              <a:t>Index (2/2)</a:t>
            </a:r>
            <a:endParaRPr lang="zh-TW" altLang="en-US" sz="4000" b="1"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5249" y="809897"/>
            <a:ext cx="8924925" cy="5911580"/>
          </a:xfrm>
        </p:spPr>
        <p:txBody>
          <a:bodyPr vert="horz" lIns="91440" tIns="45720" rIns="91440" bIns="45720" rtlCol="0" anchor="t">
            <a:noAutofit/>
          </a:bodyPr>
          <a:lstStyle/>
          <a:p>
            <a:pPr marL="0" indent="0">
              <a:lnSpc>
                <a:spcPct val="150000"/>
              </a:lnSpc>
              <a:buNone/>
            </a:pP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指標說明</a:t>
            </a: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a:t>
            </a:r>
          </a:p>
          <a:p>
            <a:pPr marL="457200" indent="-457200">
              <a:lnSpc>
                <a:spcPct val="150000"/>
              </a:lnSpc>
              <a:buAutoNum type="arabicPeriod"/>
            </a:pP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RSI</a:t>
            </a: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越大表示過去</a:t>
            </a: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n</a:t>
            </a: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天中的趨勢為上漲，可推測未來上漲機率較大。反之亦然</a:t>
            </a:r>
            <a:endPar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endParaRPr>
          </a:p>
          <a:p>
            <a:pPr marL="457200" indent="-457200">
              <a:lnSpc>
                <a:spcPct val="150000"/>
              </a:lnSpc>
              <a:buAutoNum type="arabicPeriod"/>
            </a:pP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RSI</a:t>
            </a: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超過</a:t>
            </a: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70</a:t>
            </a: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表示超買，低於</a:t>
            </a: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30</a:t>
            </a: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表示超賣</a:t>
            </a:r>
            <a:endPar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endParaRPr>
          </a:p>
          <a:p>
            <a:pPr marL="457200" indent="-457200">
              <a:lnSpc>
                <a:spcPct val="150000"/>
              </a:lnSpc>
              <a:buAutoNum type="arabicPeriod"/>
            </a:pP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通常以</a:t>
            </a: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50</a:t>
            </a: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為界線，高於</a:t>
            </a: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50</a:t>
            </a: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為平均收益高於平均損失，看漲信號，反之看跌信號。</a:t>
            </a:r>
            <a:endPar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endParaRPr>
          </a:p>
          <a:p>
            <a:pPr marL="457200" indent="-457200">
              <a:lnSpc>
                <a:spcPct val="150000"/>
              </a:lnSpc>
              <a:buAutoNum type="arabicPeriod"/>
            </a:pPr>
            <a:endPar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25</a:t>
            </a:fld>
            <a:endParaRPr lang="zh-TW" altLang="en-US" dirty="0"/>
          </a:p>
        </p:txBody>
      </p:sp>
    </p:spTree>
    <p:extLst>
      <p:ext uri="{BB962C8B-B14F-4D97-AF65-F5344CB8AC3E}">
        <p14:creationId xmlns:p14="http://schemas.microsoft.com/office/powerpoint/2010/main" val="52021186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a:latin typeface="Times New Roman" panose="02020603050405020304" pitchFamily="18" charset="0"/>
                <a:ea typeface="標楷體" panose="03000509000000000000" pitchFamily="65" charset="-120"/>
              </a:rPr>
              <a:t>William's % </a:t>
            </a:r>
            <a:r>
              <a:rPr lang="en-US" altLang="zh-TW" sz="4000" b="1" dirty="0" smtClean="0">
                <a:latin typeface="Times New Roman" panose="02020603050405020304" pitchFamily="18" charset="0"/>
                <a:ea typeface="標楷體" panose="03000509000000000000" pitchFamily="65" charset="-120"/>
              </a:rPr>
              <a:t>R </a:t>
            </a:r>
            <a:r>
              <a:rPr lang="zh-TW" altLang="en-US" sz="4000" b="1" dirty="0" smtClean="0">
                <a:latin typeface="Times New Roman" panose="02020603050405020304" pitchFamily="18" charset="0"/>
                <a:ea typeface="標楷體" panose="03000509000000000000" pitchFamily="65" charset="-120"/>
              </a:rPr>
              <a:t>威</a:t>
            </a:r>
            <a:r>
              <a:rPr lang="zh-TW" altLang="en-US" sz="4000" b="1" dirty="0">
                <a:latin typeface="Times New Roman" panose="02020603050405020304" pitchFamily="18" charset="0"/>
                <a:ea typeface="標楷體" panose="03000509000000000000" pitchFamily="65" charset="-120"/>
              </a:rPr>
              <a:t>廉</a:t>
            </a:r>
            <a:r>
              <a:rPr lang="en-US" altLang="zh-TW" sz="4000" b="1" dirty="0">
                <a:latin typeface="Times New Roman" panose="02020603050405020304" pitchFamily="18" charset="0"/>
                <a:ea typeface="標楷體" panose="03000509000000000000" pitchFamily="65" charset="-120"/>
              </a:rPr>
              <a:t>%</a:t>
            </a:r>
            <a:r>
              <a:rPr lang="en-US" altLang="zh-TW" sz="4000" b="1" dirty="0" smtClean="0">
                <a:latin typeface="Times New Roman" panose="02020603050405020304" pitchFamily="18" charset="0"/>
                <a:ea typeface="標楷體" panose="03000509000000000000" pitchFamily="65" charset="-120"/>
              </a:rPr>
              <a:t>R (1/2)</a:t>
            </a:r>
            <a:endParaRPr lang="zh-TW" altLang="en-US" sz="4000" b="1" dirty="0">
              <a:latin typeface="Times New Roman" panose="02020603050405020304" pitchFamily="18" charset="0"/>
              <a:ea typeface="標楷體" panose="03000509000000000000" pitchFamily="65"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95249" y="809897"/>
                <a:ext cx="8924925" cy="5911580"/>
              </a:xfrm>
            </p:spPr>
            <p:txBody>
              <a:bodyPr vert="horz" lIns="91440" tIns="45720" rIns="91440" bIns="45720" rtlCol="0" anchor="t">
                <a:noAutofit/>
              </a:bodyPr>
              <a:lstStyle/>
              <a:p>
                <a:pPr marL="0" indent="0">
                  <a:lnSpc>
                    <a:spcPct val="150000"/>
                  </a:lnSpc>
                  <a:buNone/>
                </a:pPr>
                <a:r>
                  <a:rPr lang="en-US" altLang="zh-TW" sz="2000" dirty="0" smtClean="0">
                    <a:latin typeface="Times New Roman" panose="02020603050405020304" pitchFamily="18" charset="0"/>
                    <a:cs typeface="Times New Roman" panose="02020603050405020304" pitchFamily="18" charset="0"/>
                  </a:rPr>
                  <a:t>Definition:</a:t>
                </a:r>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𝑅</m:t>
                      </m:r>
                      <m:r>
                        <a:rPr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m:t>
                      </m:r>
                      <m:f>
                        <m:fPr>
                          <m:ctrlPr>
                            <a:rPr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ctrlPr>
                        </m:fPr>
                        <m:num>
                          <m:r>
                            <a:rPr lang="zh-TW" altLang="en-US" sz="2000" i="1">
                              <a:latin typeface="Cambria Math" panose="02040503050406030204" pitchFamily="18" charset="0"/>
                              <a:ea typeface="標楷體" panose="03000509000000000000" pitchFamily="65" charset="-120"/>
                              <a:cs typeface="Times New Roman" panose="02020603050405020304" pitchFamily="18" charset="0"/>
                            </a:rPr>
                            <m:t>當天最低價</m:t>
                          </m:r>
                          <m:r>
                            <a:rPr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𝑛</m:t>
                          </m:r>
                          <m:r>
                            <a:rPr lang="zh-TW" altLang="en-US" sz="2000" i="1">
                              <a:latin typeface="Cambria Math" panose="02040503050406030204" pitchFamily="18" charset="0"/>
                              <a:ea typeface="標楷體" panose="03000509000000000000" pitchFamily="65" charset="-120"/>
                              <a:cs typeface="Times New Roman" panose="02020603050405020304" pitchFamily="18" charset="0"/>
                            </a:rPr>
                            <m:t>天內最低價</m:t>
                          </m:r>
                        </m:num>
                        <m:den>
                          <m:r>
                            <a:rPr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𝑛</m:t>
                          </m:r>
                          <m:r>
                            <a:rPr lang="zh-TW" altLang="en-US" sz="2000" i="1">
                              <a:latin typeface="Cambria Math" panose="02040503050406030204" pitchFamily="18" charset="0"/>
                              <a:ea typeface="標楷體" panose="03000509000000000000" pitchFamily="65" charset="-120"/>
                              <a:cs typeface="Times New Roman" panose="02020603050405020304" pitchFamily="18" charset="0"/>
                            </a:rPr>
                            <m:t>天內最高價</m:t>
                          </m:r>
                          <m:r>
                            <a:rPr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sz="2000" b="0" i="1" smtClean="0">
                              <a:latin typeface="Cambria Math" panose="02040503050406030204" pitchFamily="18" charset="0"/>
                              <a:ea typeface="標楷體" panose="03000509000000000000" pitchFamily="65" charset="-120"/>
                              <a:cs typeface="Times New Roman" panose="02020603050405020304" pitchFamily="18" charset="0"/>
                            </a:rPr>
                            <m:t>𝑛</m:t>
                          </m:r>
                          <m:r>
                            <a:rPr lang="zh-TW" altLang="en-US" sz="2000" i="1">
                              <a:latin typeface="Cambria Math" panose="02040503050406030204" pitchFamily="18" charset="0"/>
                              <a:ea typeface="標楷體" panose="03000509000000000000" pitchFamily="65" charset="-120"/>
                              <a:cs typeface="Times New Roman" panose="02020603050405020304" pitchFamily="18" charset="0"/>
                            </a:rPr>
                            <m:t>天內最低價</m:t>
                          </m:r>
                        </m:den>
                      </m:f>
                    </m:oMath>
                  </m:oMathPara>
                </a14:m>
                <a:endPar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indent="0">
                  <a:lnSpc>
                    <a:spcPct val="150000"/>
                  </a:lnSpc>
                  <a:buNone/>
                </a:pP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Example:</a:t>
                </a:r>
              </a:p>
              <a:p>
                <a:pPr marL="0" indent="0">
                  <a:lnSpc>
                    <a:spcPct val="150000"/>
                  </a:lnSpc>
                  <a:buNone/>
                </a:pPr>
                <a:endPar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endParaRPr>
              </a:p>
              <a:p>
                <a:pPr marL="0" indent="0">
                  <a:lnSpc>
                    <a:spcPct val="150000"/>
                  </a:lnSpc>
                  <a:buNone/>
                </a:pPr>
                <a:endPar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95249" y="809897"/>
                <a:ext cx="8924925" cy="5911580"/>
              </a:xfrm>
              <a:blipFill rotWithShape="0">
                <a:blip r:embed="rId3"/>
                <a:stretch>
                  <a:fillRect l="-75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D6D0F78-E2D1-4ADE-B2ED-40AB43ACB23D}" type="slidenum">
              <a:rPr lang="zh-TW" altLang="en-US" smtClean="0"/>
              <a:t>26</a:t>
            </a:fld>
            <a:endParaRPr lang="zh-TW" altLang="en-US" dirty="0"/>
          </a:p>
        </p:txBody>
      </p:sp>
      <p:pic>
        <p:nvPicPr>
          <p:cNvPr id="5" name="圖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1880" y="2670512"/>
            <a:ext cx="4858211" cy="4187488"/>
          </a:xfrm>
          <a:prstGeom prst="rect">
            <a:avLst/>
          </a:prstGeom>
        </p:spPr>
      </p:pic>
    </p:spTree>
    <p:extLst>
      <p:ext uri="{BB962C8B-B14F-4D97-AF65-F5344CB8AC3E}">
        <p14:creationId xmlns:p14="http://schemas.microsoft.com/office/powerpoint/2010/main" val="123905073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a:latin typeface="Times New Roman" panose="02020603050405020304" pitchFamily="18" charset="0"/>
                <a:ea typeface="標楷體" panose="03000509000000000000" pitchFamily="65" charset="-120"/>
              </a:rPr>
              <a:t>William's % </a:t>
            </a:r>
            <a:r>
              <a:rPr lang="en-US" altLang="zh-TW" sz="4000" b="1" dirty="0" smtClean="0">
                <a:latin typeface="Times New Roman" panose="02020603050405020304" pitchFamily="18" charset="0"/>
                <a:ea typeface="標楷體" panose="03000509000000000000" pitchFamily="65" charset="-120"/>
              </a:rPr>
              <a:t>R </a:t>
            </a:r>
            <a:r>
              <a:rPr lang="zh-TW" altLang="en-US" sz="4000" b="1" dirty="0" smtClean="0">
                <a:latin typeface="Times New Roman" panose="02020603050405020304" pitchFamily="18" charset="0"/>
                <a:ea typeface="標楷體" panose="03000509000000000000" pitchFamily="65" charset="-120"/>
              </a:rPr>
              <a:t>威</a:t>
            </a:r>
            <a:r>
              <a:rPr lang="zh-TW" altLang="en-US" sz="4000" b="1" dirty="0">
                <a:latin typeface="Times New Roman" panose="02020603050405020304" pitchFamily="18" charset="0"/>
                <a:ea typeface="標楷體" panose="03000509000000000000" pitchFamily="65" charset="-120"/>
              </a:rPr>
              <a:t>廉</a:t>
            </a:r>
            <a:r>
              <a:rPr lang="en-US" altLang="zh-TW" sz="4000" b="1" dirty="0">
                <a:latin typeface="Times New Roman" panose="02020603050405020304" pitchFamily="18" charset="0"/>
                <a:ea typeface="標楷體" panose="03000509000000000000" pitchFamily="65" charset="-120"/>
              </a:rPr>
              <a:t>%</a:t>
            </a:r>
            <a:r>
              <a:rPr lang="en-US" altLang="zh-TW" sz="4000" b="1" dirty="0" smtClean="0">
                <a:latin typeface="Times New Roman" panose="02020603050405020304" pitchFamily="18" charset="0"/>
                <a:ea typeface="標楷體" panose="03000509000000000000" pitchFamily="65" charset="-120"/>
              </a:rPr>
              <a:t>R (2/2)</a:t>
            </a:r>
            <a:endParaRPr lang="zh-TW" altLang="en-US" sz="40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內容版面配置區 2"/>
          <p:cNvSpPr>
            <a:spLocks noGrp="1"/>
          </p:cNvSpPr>
          <p:nvPr>
            <p:ph idx="1"/>
          </p:nvPr>
        </p:nvSpPr>
        <p:spPr>
          <a:xfrm>
            <a:off x="95249" y="809897"/>
            <a:ext cx="8924925" cy="5911580"/>
          </a:xfrm>
        </p:spPr>
        <p:txBody>
          <a:bodyPr vert="horz" lIns="91440" tIns="45720" rIns="91440" bIns="45720" rtlCol="0" anchor="t">
            <a:noAutofit/>
          </a:bodyPr>
          <a:lstStyle/>
          <a:p>
            <a:pPr marL="0" indent="0">
              <a:lnSpc>
                <a:spcPct val="150000"/>
              </a:lnSpc>
              <a:buNone/>
            </a:pP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指標說明</a:t>
            </a: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a:t>
            </a:r>
          </a:p>
          <a:p>
            <a:pPr marL="457200" indent="-457200">
              <a:lnSpc>
                <a:spcPct val="150000"/>
              </a:lnSpc>
              <a:buAutoNum type="arabicPeriod"/>
            </a:pP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當</a:t>
            </a: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%R</a:t>
            </a: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達</a:t>
            </a: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-80%</a:t>
            </a: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表示超賣，當</a:t>
            </a: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%R</a:t>
            </a: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達</a:t>
            </a: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-20%</a:t>
            </a: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表示超買</a:t>
            </a:r>
            <a:endPar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endParaRPr>
          </a:p>
          <a:p>
            <a:pPr marL="457200" indent="-457200">
              <a:lnSpc>
                <a:spcPct val="150000"/>
              </a:lnSpc>
              <a:buAutoNum type="arabicPeriod"/>
            </a:pP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當</a:t>
            </a: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%R</a:t>
            </a: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由下往上突破</a:t>
            </a:r>
            <a:r>
              <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rPr>
              <a:t>-50%</a:t>
            </a:r>
            <a:r>
              <a:rPr lang="zh-TW" altLang="en-US" sz="2000" dirty="0" smtClean="0">
                <a:latin typeface="Times New Roman" panose="02020603050405020304" pitchFamily="18" charset="0"/>
                <a:ea typeface="標楷體" panose="03000509000000000000" pitchFamily="65" charset="-120"/>
                <a:cs typeface="Times New Roman" panose="02020603050405020304" pitchFamily="18" charset="0"/>
              </a:rPr>
              <a:t>表示買進，反之賣出</a:t>
            </a:r>
            <a:endParaRPr lang="en-US" altLang="zh-TW" sz="2000" dirty="0" smtClean="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27</a:t>
            </a:fld>
            <a:endParaRPr lang="zh-TW" altLang="en-US" dirty="0"/>
          </a:p>
        </p:txBody>
      </p:sp>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8439" y="2533988"/>
            <a:ext cx="4858211" cy="4187488"/>
          </a:xfrm>
          <a:prstGeom prst="rect">
            <a:avLst/>
          </a:prstGeom>
        </p:spPr>
      </p:pic>
    </p:spTree>
    <p:extLst>
      <p:ext uri="{BB962C8B-B14F-4D97-AF65-F5344CB8AC3E}">
        <p14:creationId xmlns:p14="http://schemas.microsoft.com/office/powerpoint/2010/main" val="337159083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a:latin typeface="Times New Roman" panose="02020603050405020304" pitchFamily="18" charset="0"/>
                <a:cs typeface="Times New Roman" panose="02020603050405020304" pitchFamily="18" charset="0"/>
              </a:rPr>
              <a:t>Stepwise Regression Algorithm</a:t>
            </a:r>
            <a:endParaRPr lang="zh-TW" altLang="en-US" sz="4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28</a:t>
            </a:fld>
            <a:endParaRPr lang="zh-TW" altLang="en-US" dirty="0"/>
          </a:p>
        </p:txBody>
      </p:sp>
      <mc:AlternateContent xmlns:mc="http://schemas.openxmlformats.org/markup-compatibility/2006" xmlns:a14="http://schemas.microsoft.com/office/drawing/2010/main">
        <mc:Choice Requires="a14">
          <p:sp>
            <p:nvSpPr>
              <p:cNvPr id="6" name="內容版面配置區 2"/>
              <p:cNvSpPr txBox="1">
                <a:spLocks/>
              </p:cNvSpPr>
              <p:nvPr/>
            </p:nvSpPr>
            <p:spPr>
              <a:xfrm>
                <a:off x="179512" y="980728"/>
                <a:ext cx="8615218" cy="145539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TW" sz="2600" dirty="0" smtClean="0"/>
                  <a:t>X</a:t>
                </a:r>
                <a:r>
                  <a:rPr lang="zh-TW" altLang="en-US" sz="2600" dirty="0" smtClean="0"/>
                  <a:t>：</a:t>
                </a:r>
                <a:r>
                  <a:rPr lang="en-US" altLang="zh-TW" sz="2600" dirty="0" smtClean="0"/>
                  <a:t>technical indexes ,  Y</a:t>
                </a:r>
                <a:r>
                  <a:rPr lang="zh-TW" altLang="en-US" sz="2600" dirty="0" smtClean="0"/>
                  <a:t>：</a:t>
                </a:r>
                <a:r>
                  <a:rPr lang="en-US" altLang="zh-TW" sz="2600" dirty="0" smtClean="0"/>
                  <a:t>trading signal</a:t>
                </a:r>
                <a:endParaRPr lang="en-US" altLang="zh-TW" sz="2600" dirty="0"/>
              </a:p>
              <a:p>
                <a:r>
                  <a:rPr lang="en-US" altLang="zh-TW" sz="2600" dirty="0" smtClean="0"/>
                  <a:t>Input</a:t>
                </a:r>
                <a:r>
                  <a:rPr lang="zh-TW" altLang="en-US" sz="2600" dirty="0" smtClean="0"/>
                  <a:t>：</a:t>
                </a:r>
                <a:r>
                  <a:rPr lang="en-US" altLang="zh-TW" sz="2600" dirty="0" smtClean="0"/>
                  <a:t> correlation matrix (r) , </a:t>
                </a:r>
                <a:r>
                  <a:rPr lang="en-US" altLang="zh-TW" sz="2600" dirty="0"/>
                  <a:t>threshold value </a:t>
                </a:r>
                <a14:m>
                  <m:oMath xmlns:m="http://schemas.openxmlformats.org/officeDocument/2006/math">
                    <m:r>
                      <a:rPr lang="zh-TW" altLang="en-US" sz="2600" i="1">
                        <a:latin typeface="Cambria Math"/>
                      </a:rPr>
                      <m:t>𝛼</m:t>
                    </m:r>
                  </m:oMath>
                </a14:m>
                <a:r>
                  <a:rPr lang="zh-TW" altLang="en-US" sz="2600" dirty="0"/>
                  <a:t> </a:t>
                </a:r>
                <a:endParaRPr lang="en-US" altLang="zh-TW" sz="2600" dirty="0" smtClean="0"/>
              </a:p>
              <a:p>
                <a:r>
                  <a:rPr lang="en-US" altLang="zh-TW" sz="2600" dirty="0" smtClean="0"/>
                  <a:t>Output</a:t>
                </a:r>
                <a:r>
                  <a:rPr lang="zh-TW" altLang="en-US" sz="2600" dirty="0" smtClean="0"/>
                  <a:t>：</a:t>
                </a:r>
                <a:r>
                  <a:rPr lang="en-US" altLang="zh-TW" sz="2600" dirty="0" smtClean="0"/>
                  <a:t>variable X set</a:t>
                </a:r>
                <a:endParaRPr lang="en-US" altLang="zh-TW" dirty="0" smtClean="0"/>
              </a:p>
            </p:txBody>
          </p:sp>
        </mc:Choice>
        <mc:Fallback xmlns="">
          <p:sp>
            <p:nvSpPr>
              <p:cNvPr id="6" name="內容版面配置區 2"/>
              <p:cNvSpPr txBox="1">
                <a:spLocks noRot="1" noChangeAspect="1" noMove="1" noResize="1" noEditPoints="1" noAdjustHandles="1" noChangeArrowheads="1" noChangeShapeType="1" noTextEdit="1"/>
              </p:cNvSpPr>
              <p:nvPr/>
            </p:nvSpPr>
            <p:spPr>
              <a:xfrm>
                <a:off x="179512" y="980728"/>
                <a:ext cx="8615218" cy="1455390"/>
              </a:xfrm>
              <a:prstGeom prst="rect">
                <a:avLst/>
              </a:prstGeom>
              <a:blipFill rotWithShape="0">
                <a:blip r:embed="rId3"/>
                <a:stretch>
                  <a:fillRect l="-1061" t="-6695" b="-4603"/>
                </a:stretch>
              </a:blipFill>
            </p:spPr>
            <p:txBody>
              <a:bodyPr/>
              <a:lstStyle/>
              <a:p>
                <a:r>
                  <a:rPr lang="zh-TW" altLang="en-US">
                    <a:noFill/>
                  </a:rPr>
                  <a:t> </a:t>
                </a:r>
              </a:p>
            </p:txBody>
          </p:sp>
        </mc:Fallback>
      </mc:AlternateContent>
      <p:grpSp>
        <p:nvGrpSpPr>
          <p:cNvPr id="7" name="群組 6"/>
          <p:cNvGrpSpPr/>
          <p:nvPr/>
        </p:nvGrpSpPr>
        <p:grpSpPr>
          <a:xfrm>
            <a:off x="140481" y="4697834"/>
            <a:ext cx="1850405" cy="1876455"/>
            <a:chOff x="323528" y="2132856"/>
            <a:chExt cx="1892300" cy="2076510"/>
          </a:xfrm>
        </p:grpSpPr>
        <p:grpSp>
          <p:nvGrpSpPr>
            <p:cNvPr id="8" name="Group 4"/>
            <p:cNvGrpSpPr>
              <a:grpSpLocks/>
            </p:cNvGrpSpPr>
            <p:nvPr/>
          </p:nvGrpSpPr>
          <p:grpSpPr bwMode="auto">
            <a:xfrm>
              <a:off x="704528" y="2324944"/>
              <a:ext cx="1143000" cy="577850"/>
              <a:chOff x="432" y="864"/>
              <a:chExt cx="720" cy="432"/>
            </a:xfrm>
          </p:grpSpPr>
          <p:sp>
            <p:nvSpPr>
              <p:cNvPr id="20" name="Line 5"/>
              <p:cNvSpPr>
                <a:spLocks noChangeShapeType="1"/>
              </p:cNvSpPr>
              <p:nvPr/>
            </p:nvSpPr>
            <p:spPr bwMode="auto">
              <a:xfrm>
                <a:off x="432" y="864"/>
                <a:ext cx="72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1" name="Line 6"/>
              <p:cNvSpPr>
                <a:spLocks noChangeShapeType="1"/>
              </p:cNvSpPr>
              <p:nvPr/>
            </p:nvSpPr>
            <p:spPr bwMode="auto">
              <a:xfrm flipV="1">
                <a:off x="432" y="1104"/>
                <a:ext cx="72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sp>
          <p:nvSpPr>
            <p:cNvPr id="9" name="Line 7"/>
            <p:cNvSpPr>
              <a:spLocks noChangeShapeType="1"/>
            </p:cNvSpPr>
            <p:nvPr/>
          </p:nvSpPr>
          <p:spPr bwMode="auto">
            <a:xfrm>
              <a:off x="704528" y="2582119"/>
              <a:ext cx="1066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 name="Text Box 8"/>
            <p:cNvSpPr txBox="1">
              <a:spLocks noChangeArrowheads="1"/>
            </p:cNvSpPr>
            <p:nvPr/>
          </p:nvSpPr>
          <p:spPr bwMode="auto">
            <a:xfrm>
              <a:off x="329878" y="2437656"/>
              <a:ext cx="450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zh-TW" sz="2000">
                  <a:solidFill>
                    <a:srgbClr val="000099"/>
                  </a:solidFill>
                  <a:ea typeface="新細明體" charset="-120"/>
                </a:rPr>
                <a:t>X</a:t>
              </a:r>
              <a:r>
                <a:rPr lang="en-US" altLang="zh-TW" sz="2000" baseline="-25000">
                  <a:solidFill>
                    <a:srgbClr val="000099"/>
                  </a:solidFill>
                  <a:ea typeface="新細明體" charset="-120"/>
                </a:rPr>
                <a:t>2</a:t>
              </a:r>
              <a:endParaRPr lang="en-US" altLang="zh-TW">
                <a:solidFill>
                  <a:srgbClr val="000099"/>
                </a:solidFill>
                <a:ea typeface="新細明體" charset="-120"/>
              </a:endParaRPr>
            </a:p>
          </p:txBody>
        </p:sp>
        <p:sp>
          <p:nvSpPr>
            <p:cNvPr id="11" name="Text Box 9"/>
            <p:cNvSpPr txBox="1">
              <a:spLocks noChangeArrowheads="1"/>
            </p:cNvSpPr>
            <p:nvPr/>
          </p:nvSpPr>
          <p:spPr bwMode="auto">
            <a:xfrm>
              <a:off x="329878" y="2694831"/>
              <a:ext cx="450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zh-TW" sz="2000">
                  <a:solidFill>
                    <a:srgbClr val="000099"/>
                  </a:solidFill>
                  <a:ea typeface="新細明體" charset="-120"/>
                </a:rPr>
                <a:t>X</a:t>
              </a:r>
              <a:r>
                <a:rPr lang="en-US" altLang="zh-TW" sz="2000" baseline="-25000">
                  <a:solidFill>
                    <a:srgbClr val="000099"/>
                  </a:solidFill>
                  <a:ea typeface="新細明體" charset="-120"/>
                </a:rPr>
                <a:t>3</a:t>
              </a:r>
              <a:endParaRPr lang="en-US" altLang="zh-TW">
                <a:solidFill>
                  <a:srgbClr val="000099"/>
                </a:solidFill>
                <a:ea typeface="新細明體" charset="-120"/>
              </a:endParaRPr>
            </a:p>
          </p:txBody>
        </p:sp>
        <p:sp>
          <p:nvSpPr>
            <p:cNvPr id="12" name="Text Box 10"/>
            <p:cNvSpPr txBox="1">
              <a:spLocks noChangeArrowheads="1"/>
            </p:cNvSpPr>
            <p:nvPr/>
          </p:nvSpPr>
          <p:spPr bwMode="auto">
            <a:xfrm>
              <a:off x="552128" y="3199656"/>
              <a:ext cx="450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zh-TW" sz="2000">
                  <a:solidFill>
                    <a:srgbClr val="000099"/>
                  </a:solidFill>
                  <a:ea typeface="新細明體" charset="-120"/>
                </a:rPr>
                <a:t>X</a:t>
              </a:r>
              <a:r>
                <a:rPr lang="en-US" altLang="zh-TW" sz="2000" baseline="-25000">
                  <a:solidFill>
                    <a:srgbClr val="000099"/>
                  </a:solidFill>
                  <a:ea typeface="新細明體" charset="-120"/>
                </a:rPr>
                <a:t>4</a:t>
              </a:r>
              <a:endParaRPr lang="en-US" altLang="zh-TW">
                <a:solidFill>
                  <a:srgbClr val="000099"/>
                </a:solidFill>
                <a:ea typeface="新細明體" charset="-120"/>
              </a:endParaRPr>
            </a:p>
          </p:txBody>
        </p:sp>
        <p:sp>
          <p:nvSpPr>
            <p:cNvPr id="13" name="Text Box 11"/>
            <p:cNvSpPr txBox="1">
              <a:spLocks noChangeArrowheads="1"/>
            </p:cNvSpPr>
            <p:nvPr/>
          </p:nvSpPr>
          <p:spPr bwMode="auto">
            <a:xfrm>
              <a:off x="1847528" y="2384483"/>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zh-TW" sz="2000" dirty="0">
                  <a:solidFill>
                    <a:srgbClr val="000099"/>
                  </a:solidFill>
                  <a:ea typeface="新細明體" charset="-120"/>
                </a:rPr>
                <a:t>Y</a:t>
              </a:r>
              <a:endParaRPr lang="en-US" altLang="zh-TW" dirty="0">
                <a:solidFill>
                  <a:srgbClr val="000099"/>
                </a:solidFill>
                <a:ea typeface="新細明體" charset="-120"/>
              </a:endParaRPr>
            </a:p>
          </p:txBody>
        </p:sp>
        <p:sp>
          <p:nvSpPr>
            <p:cNvPr id="14" name="Line 14"/>
            <p:cNvSpPr>
              <a:spLocks noChangeShapeType="1"/>
            </p:cNvSpPr>
            <p:nvPr/>
          </p:nvSpPr>
          <p:spPr bwMode="auto">
            <a:xfrm rot="20479026" flipV="1">
              <a:off x="856928" y="2894856"/>
              <a:ext cx="1143000" cy="2571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5" name="Text Box 15"/>
            <p:cNvSpPr txBox="1">
              <a:spLocks noChangeArrowheads="1"/>
            </p:cNvSpPr>
            <p:nvPr/>
          </p:nvSpPr>
          <p:spPr bwMode="auto">
            <a:xfrm>
              <a:off x="323528" y="2132856"/>
              <a:ext cx="450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zh-TW" sz="2000">
                  <a:solidFill>
                    <a:srgbClr val="000099"/>
                  </a:solidFill>
                  <a:ea typeface="新細明體" charset="-120"/>
                </a:rPr>
                <a:t>X</a:t>
              </a:r>
              <a:r>
                <a:rPr lang="en-US" altLang="zh-TW" sz="2000" baseline="-25000">
                  <a:solidFill>
                    <a:srgbClr val="000099"/>
                  </a:solidFill>
                  <a:ea typeface="新細明體" charset="-120"/>
                </a:rPr>
                <a:t>1</a:t>
              </a:r>
              <a:endParaRPr lang="en-US" altLang="zh-TW">
                <a:solidFill>
                  <a:srgbClr val="000099"/>
                </a:solidFill>
                <a:ea typeface="新細明體" charset="-120"/>
              </a:endParaRPr>
            </a:p>
          </p:txBody>
        </p:sp>
        <p:sp>
          <p:nvSpPr>
            <p:cNvPr id="16" name="Text Box 16"/>
            <p:cNvSpPr txBox="1">
              <a:spLocks noChangeArrowheads="1"/>
            </p:cNvSpPr>
            <p:nvPr/>
          </p:nvSpPr>
          <p:spPr bwMode="auto">
            <a:xfrm>
              <a:off x="933128" y="3564781"/>
              <a:ext cx="450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zh-TW" sz="2000" dirty="0">
                  <a:solidFill>
                    <a:srgbClr val="000099"/>
                  </a:solidFill>
                  <a:ea typeface="新細明體" charset="-120"/>
                </a:rPr>
                <a:t>X</a:t>
              </a:r>
              <a:r>
                <a:rPr lang="en-US" altLang="zh-TW" sz="2000" baseline="-25000" dirty="0">
                  <a:solidFill>
                    <a:srgbClr val="000099"/>
                  </a:solidFill>
                  <a:ea typeface="新細明體" charset="-120"/>
                </a:rPr>
                <a:t>5</a:t>
              </a:r>
              <a:endParaRPr lang="en-US" altLang="zh-TW" dirty="0">
                <a:solidFill>
                  <a:srgbClr val="000099"/>
                </a:solidFill>
                <a:ea typeface="新細明體" charset="-120"/>
              </a:endParaRPr>
            </a:p>
          </p:txBody>
        </p:sp>
        <p:sp>
          <p:nvSpPr>
            <p:cNvPr id="17" name="Line 17"/>
            <p:cNvSpPr>
              <a:spLocks noChangeShapeType="1"/>
            </p:cNvSpPr>
            <p:nvPr/>
          </p:nvSpPr>
          <p:spPr bwMode="auto">
            <a:xfrm rot="20479026" flipV="1">
              <a:off x="1183953" y="2940894"/>
              <a:ext cx="914400" cy="622300"/>
            </a:xfrm>
            <a:prstGeom prst="line">
              <a:avLst/>
            </a:prstGeom>
            <a:noFill/>
            <a:ln w="9525" cap="rnd">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8" name="Text Box 18"/>
            <p:cNvSpPr txBox="1">
              <a:spLocks noChangeArrowheads="1"/>
            </p:cNvSpPr>
            <p:nvPr/>
          </p:nvSpPr>
          <p:spPr bwMode="auto">
            <a:xfrm>
              <a:off x="1390328" y="3809256"/>
              <a:ext cx="45557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zh-TW" sz="2000" dirty="0" err="1" smtClean="0">
                  <a:solidFill>
                    <a:srgbClr val="000099"/>
                  </a:solidFill>
                  <a:ea typeface="新細明體" charset="-120"/>
                </a:rPr>
                <a:t>X</a:t>
              </a:r>
              <a:r>
                <a:rPr lang="en-US" altLang="zh-TW" sz="2000" baseline="-25000" dirty="0" err="1" smtClean="0">
                  <a:solidFill>
                    <a:srgbClr val="000099"/>
                  </a:solidFill>
                  <a:ea typeface="新細明體" charset="-120"/>
                </a:rPr>
                <a:t>p</a:t>
              </a:r>
              <a:endParaRPr lang="en-US" altLang="zh-TW" dirty="0">
                <a:solidFill>
                  <a:srgbClr val="000099"/>
                </a:solidFill>
                <a:ea typeface="新細明體" charset="-120"/>
              </a:endParaRPr>
            </a:p>
          </p:txBody>
        </p:sp>
        <p:sp>
          <p:nvSpPr>
            <p:cNvPr id="19" name="Line 19"/>
            <p:cNvSpPr>
              <a:spLocks noChangeShapeType="1"/>
            </p:cNvSpPr>
            <p:nvPr/>
          </p:nvSpPr>
          <p:spPr bwMode="auto">
            <a:xfrm rot="20479026" flipV="1">
              <a:off x="1530028" y="3023444"/>
              <a:ext cx="604838" cy="742950"/>
            </a:xfrm>
            <a:prstGeom prst="line">
              <a:avLst/>
            </a:prstGeom>
            <a:noFill/>
            <a:ln w="9525" cap="rnd">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mc:AlternateContent xmlns:mc="http://schemas.openxmlformats.org/markup-compatibility/2006" xmlns:a14="http://schemas.microsoft.com/office/drawing/2010/main">
        <mc:Choice Requires="a14">
          <p:sp>
            <p:nvSpPr>
              <p:cNvPr id="22" name="文字方塊 21"/>
              <p:cNvSpPr txBox="1"/>
              <p:nvPr/>
            </p:nvSpPr>
            <p:spPr>
              <a:xfrm>
                <a:off x="630547" y="2632665"/>
                <a:ext cx="2232248" cy="1719830"/>
              </a:xfrm>
              <a:prstGeom prst="rect">
                <a:avLst/>
              </a:prstGeom>
              <a:noFill/>
            </p:spPr>
            <p:txBody>
              <a:bodyPr wrap="square" rtlCol="0">
                <a:spAutoFit/>
              </a:bodyPr>
              <a:lstStyle/>
              <a:p>
                <a:r>
                  <a:rPr lang="en-US" altLang="zh-TW" i="1" dirty="0" smtClean="0">
                    <a:latin typeface="Cambria Math"/>
                  </a:rPr>
                  <a:t>	   </a:t>
                </a:r>
                <a14:m>
                  <m:oMath xmlns:m="http://schemas.openxmlformats.org/officeDocument/2006/math">
                    <m:r>
                      <a:rPr lang="en-US" altLang="zh-TW" b="0" i="1" smtClean="0">
                        <a:latin typeface="Cambria Math"/>
                      </a:rPr>
                      <m:t>𝑌</m:t>
                    </m:r>
                  </m:oMath>
                </a14:m>
                <a:endParaRPr lang="en-US" altLang="zh-TW" i="1" dirty="0" smtClean="0">
                  <a:latin typeface="Cambria Math"/>
                </a:endParaRPr>
              </a:p>
              <a:p>
                <a:pPr/>
                <a14:m>
                  <m:oMathPara xmlns:m="http://schemas.openxmlformats.org/officeDocument/2006/math">
                    <m:oMathParaPr>
                      <m:jc m:val="centerGroup"/>
                    </m:oMathParaPr>
                    <m:oMath xmlns:m="http://schemas.openxmlformats.org/officeDocument/2006/math">
                      <m:m>
                        <m:mPr>
                          <m:mcs>
                            <m:mc>
                              <m:mcPr>
                                <m:count m:val="1"/>
                                <m:mcJc m:val="center"/>
                              </m:mcPr>
                            </m:mc>
                          </m:mcs>
                          <m:ctrlPr>
                            <a:rPr lang="en-US" altLang="zh-TW" i="1" smtClean="0">
                              <a:latin typeface="Cambria Math" panose="02040503050406030204" pitchFamily="18" charset="0"/>
                            </a:rPr>
                          </m:ctrlPr>
                        </m:mPr>
                        <m:mr>
                          <m:e>
                            <m:sSub>
                              <m:sSubPr>
                                <m:ctrlPr>
                                  <a:rPr lang="en-US" altLang="zh-TW" i="1" smtClean="0">
                                    <a:latin typeface="Cambria Math" panose="02040503050406030204" pitchFamily="18" charset="0"/>
                                  </a:rPr>
                                </m:ctrlPr>
                              </m:sSubPr>
                              <m:e>
                                <m:r>
                                  <a:rPr lang="en-US" altLang="zh-TW" b="0" i="1" smtClean="0">
                                    <a:latin typeface="Cambria Math"/>
                                  </a:rPr>
                                  <m:t>𝑋</m:t>
                                </m:r>
                              </m:e>
                              <m:sub>
                                <m:r>
                                  <a:rPr lang="en-US" altLang="zh-TW" b="0" i="1" smtClean="0">
                                    <a:latin typeface="Cambria Math"/>
                                  </a:rPr>
                                  <m:t>1</m:t>
                                </m:r>
                              </m:sub>
                            </m:sSub>
                          </m:e>
                        </m:mr>
                        <m:mr>
                          <m:e>
                            <m:sSub>
                              <m:sSubPr>
                                <m:ctrlPr>
                                  <a:rPr lang="en-US" altLang="zh-TW" i="1">
                                    <a:latin typeface="Cambria Math" panose="02040503050406030204" pitchFamily="18" charset="0"/>
                                  </a:rPr>
                                </m:ctrlPr>
                              </m:sSubPr>
                              <m:e>
                                <m:r>
                                  <a:rPr lang="en-US" altLang="zh-TW" i="1">
                                    <a:latin typeface="Cambria Math"/>
                                  </a:rPr>
                                  <m:t>𝑋</m:t>
                                </m:r>
                              </m:e>
                              <m:sub>
                                <m:r>
                                  <a:rPr lang="en-US" altLang="zh-TW" b="0" i="1" smtClean="0">
                                    <a:latin typeface="Cambria Math"/>
                                  </a:rPr>
                                  <m:t>2</m:t>
                                </m:r>
                              </m:sub>
                            </m:sSub>
                          </m:e>
                        </m:mr>
                        <m:mr>
                          <m:e>
                            <m:eqArr>
                              <m:eqArrPr>
                                <m:ctrlPr>
                                  <a:rPr lang="en-US" altLang="zh-TW" i="1" smtClean="0">
                                    <a:latin typeface="Cambria Math" panose="02040503050406030204" pitchFamily="18" charset="0"/>
                                  </a:rPr>
                                </m:ctrlPr>
                              </m:eqArrPr>
                              <m:e>
                                <m:r>
                                  <a:rPr lang="en-US" altLang="zh-TW" i="1" smtClean="0">
                                    <a:latin typeface="Cambria Math"/>
                                  </a:rPr>
                                  <m:t>⋮</m:t>
                                </m:r>
                              </m:e>
                              <m:e>
                                <m:r>
                                  <a:rPr lang="en-US" altLang="zh-TW" i="1" smtClean="0">
                                    <a:latin typeface="Cambria Math"/>
                                  </a:rPr>
                                  <m:t>⋮</m:t>
                                </m:r>
                              </m:e>
                              <m:e>
                                <m:sSub>
                                  <m:sSubPr>
                                    <m:ctrlPr>
                                      <a:rPr lang="en-US" altLang="zh-TW" i="1">
                                        <a:latin typeface="Cambria Math" panose="02040503050406030204" pitchFamily="18" charset="0"/>
                                      </a:rPr>
                                    </m:ctrlPr>
                                  </m:sSubPr>
                                  <m:e>
                                    <m:r>
                                      <a:rPr lang="en-US" altLang="zh-TW" i="1">
                                        <a:latin typeface="Cambria Math"/>
                                      </a:rPr>
                                      <m:t>𝑋</m:t>
                                    </m:r>
                                  </m:e>
                                  <m:sub>
                                    <m:r>
                                      <a:rPr lang="en-US" altLang="zh-TW" b="0" i="1" smtClean="0">
                                        <a:latin typeface="Cambria Math"/>
                                      </a:rPr>
                                      <m:t>𝑝</m:t>
                                    </m:r>
                                  </m:sub>
                                </m:sSub>
                              </m:e>
                            </m:eqArr>
                          </m:e>
                        </m:mr>
                      </m:m>
                      <m:d>
                        <m:dPr>
                          <m:begChr m:val="["/>
                          <m:endChr m:val="]"/>
                          <m:ctrlPr>
                            <a:rPr lang="en-US" altLang="zh-TW" i="1" smtClean="0">
                              <a:latin typeface="Cambria Math" panose="02040503050406030204" pitchFamily="18" charset="0"/>
                            </a:rPr>
                          </m:ctrlPr>
                        </m:dPr>
                        <m:e>
                          <m:eqArr>
                            <m:eqArrPr>
                              <m:ctrlPr>
                                <a:rPr lang="en-US" altLang="zh-TW" i="1" smtClean="0">
                                  <a:latin typeface="Cambria Math" panose="02040503050406030204" pitchFamily="18" charset="0"/>
                                </a:rPr>
                              </m:ctrlPr>
                            </m:eqArrPr>
                            <m:e>
                              <m:r>
                                <a:rPr lang="en-US" altLang="zh-TW" b="0" i="1" smtClean="0">
                                  <a:latin typeface="Cambria Math"/>
                                </a:rPr>
                                <m:t>0.3</m:t>
                              </m:r>
                            </m:e>
                            <m:e>
                              <m:r>
                                <a:rPr lang="en-US" altLang="zh-TW" b="0" i="1" smtClean="0">
                                  <a:latin typeface="Cambria Math"/>
                                </a:rPr>
                                <m:t>0.2</m:t>
                              </m:r>
                            </m:e>
                            <m:e>
                              <m:r>
                                <a:rPr lang="en-US" altLang="zh-TW" b="0" i="1" smtClean="0">
                                  <a:latin typeface="Cambria Math"/>
                                </a:rPr>
                                <m:t>0.8</m:t>
                              </m:r>
                            </m:e>
                            <m:e>
                              <m:r>
                                <a:rPr lang="en-US" altLang="zh-TW" b="0" i="1" smtClean="0">
                                  <a:latin typeface="Cambria Math"/>
                                </a:rPr>
                                <m:t>−0.5</m:t>
                              </m:r>
                            </m:e>
                            <m:e>
                              <m:r>
                                <a:rPr lang="zh-TW" altLang="en-US" i="1" smtClean="0">
                                  <a:latin typeface="Cambria Math"/>
                                </a:rPr>
                                <m:t>⋮</m:t>
                              </m:r>
                            </m:e>
                          </m:eqArr>
                        </m:e>
                      </m:d>
                    </m:oMath>
                  </m:oMathPara>
                </a14:m>
                <a:endParaRPr lang="zh-TW" altLang="en-US" dirty="0"/>
              </a:p>
            </p:txBody>
          </p:sp>
        </mc:Choice>
        <mc:Fallback xmlns="">
          <p:sp>
            <p:nvSpPr>
              <p:cNvPr id="22" name="文字方塊 21"/>
              <p:cNvSpPr txBox="1">
                <a:spLocks noRot="1" noChangeAspect="1" noMove="1" noResize="1" noEditPoints="1" noAdjustHandles="1" noChangeArrowheads="1" noChangeShapeType="1" noTextEdit="1"/>
              </p:cNvSpPr>
              <p:nvPr/>
            </p:nvSpPr>
            <p:spPr>
              <a:xfrm>
                <a:off x="630547" y="2632665"/>
                <a:ext cx="2232248" cy="1719830"/>
              </a:xfrm>
              <a:prstGeom prst="rect">
                <a:avLst/>
              </a:prstGeom>
              <a:blipFill rotWithShape="0">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圓角矩形 25"/>
              <p:cNvSpPr/>
              <p:nvPr/>
            </p:nvSpPr>
            <p:spPr>
              <a:xfrm>
                <a:off x="3026667" y="2571388"/>
                <a:ext cx="3096945" cy="360040"/>
              </a:xfrm>
              <a:prstGeom prst="roundRect">
                <a:avLst/>
              </a:prstGeom>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dirty="0" smtClean="0"/>
                  <a:t>Choose </a:t>
                </a:r>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a:rPr>
                          <m:t>𝑋</m:t>
                        </m:r>
                      </m:e>
                      <m:sub>
                        <m:r>
                          <a:rPr lang="en-US" altLang="zh-TW" b="0" i="1" smtClean="0">
                            <a:latin typeface="Cambria Math"/>
                          </a:rPr>
                          <m:t>𝑖</m:t>
                        </m:r>
                      </m:sub>
                    </m:sSub>
                    <m:r>
                      <a:rPr lang="en-US" altLang="zh-TW" b="0" i="1" smtClean="0">
                        <a:latin typeface="Cambria Math"/>
                      </a:rPr>
                      <m:t> </m:t>
                    </m:r>
                  </m:oMath>
                </a14:m>
                <a:r>
                  <a:rPr lang="en-US" altLang="zh-TW" dirty="0" smtClean="0"/>
                  <a:t>with largest </a:t>
                </a:r>
                <a14:m>
                  <m:oMath xmlns:m="http://schemas.openxmlformats.org/officeDocument/2006/math">
                    <m:sSup>
                      <m:sSupPr>
                        <m:ctrlPr>
                          <a:rPr lang="en-US" altLang="zh-TW" i="1" smtClean="0">
                            <a:latin typeface="Cambria Math" panose="02040503050406030204" pitchFamily="18" charset="0"/>
                          </a:rPr>
                        </m:ctrlPr>
                      </m:sSupPr>
                      <m:e>
                        <m:r>
                          <a:rPr lang="en-US" altLang="zh-TW" b="0" i="1" smtClean="0">
                            <a:latin typeface="Cambria Math"/>
                          </a:rPr>
                          <m:t>𝑟</m:t>
                        </m:r>
                      </m:e>
                      <m:sup>
                        <m:r>
                          <a:rPr lang="en-US" altLang="zh-TW" b="0" i="1" smtClean="0">
                            <a:latin typeface="Cambria Math"/>
                          </a:rPr>
                          <m:t>2</m:t>
                        </m:r>
                      </m:sup>
                    </m:sSup>
                  </m:oMath>
                </a14:m>
                <a:endParaRPr lang="zh-TW" altLang="en-US" dirty="0"/>
              </a:p>
            </p:txBody>
          </p:sp>
        </mc:Choice>
        <mc:Fallback xmlns="">
          <p:sp>
            <p:nvSpPr>
              <p:cNvPr id="26" name="圓角矩形 25"/>
              <p:cNvSpPr>
                <a:spLocks noRot="1" noChangeAspect="1" noMove="1" noResize="1" noEditPoints="1" noAdjustHandles="1" noChangeArrowheads="1" noChangeShapeType="1" noTextEdit="1"/>
              </p:cNvSpPr>
              <p:nvPr/>
            </p:nvSpPr>
            <p:spPr>
              <a:xfrm>
                <a:off x="3026667" y="2571388"/>
                <a:ext cx="3096945" cy="360040"/>
              </a:xfrm>
              <a:prstGeom prst="roundRect">
                <a:avLst/>
              </a:prstGeom>
              <a:blipFill rotWithShape="0">
                <a:blip r:embed="rId5"/>
                <a:stretch>
                  <a:fillRect t="-10169" b="-27119"/>
                </a:stretch>
              </a:blipFill>
              <a:ln>
                <a:no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圓角矩形 26"/>
              <p:cNvSpPr/>
              <p:nvPr/>
            </p:nvSpPr>
            <p:spPr>
              <a:xfrm>
                <a:off x="1979712" y="4980012"/>
                <a:ext cx="2232248" cy="268494"/>
              </a:xfrm>
              <a:prstGeom prst="roundRect">
                <a:avLst/>
              </a:prstGeom>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1600" dirty="0" smtClean="0"/>
                  <a:t>Accept the variable </a:t>
                </a:r>
                <a14:m>
                  <m:oMath xmlns:m="http://schemas.openxmlformats.org/officeDocument/2006/math">
                    <m:sSub>
                      <m:sSubPr>
                        <m:ctrlPr>
                          <a:rPr lang="en-US" altLang="zh-TW" sz="1600" i="1">
                            <a:latin typeface="Cambria Math" panose="02040503050406030204" pitchFamily="18" charset="0"/>
                          </a:rPr>
                        </m:ctrlPr>
                      </m:sSubPr>
                      <m:e>
                        <m:r>
                          <a:rPr lang="en-US" altLang="zh-TW" sz="1600" i="1">
                            <a:latin typeface="Cambria Math"/>
                          </a:rPr>
                          <m:t>𝑋</m:t>
                        </m:r>
                      </m:e>
                      <m:sub>
                        <m:r>
                          <a:rPr lang="en-US" altLang="zh-TW" sz="1600" i="1">
                            <a:latin typeface="Cambria Math"/>
                          </a:rPr>
                          <m:t>𝑖</m:t>
                        </m:r>
                      </m:sub>
                    </m:sSub>
                  </m:oMath>
                </a14:m>
                <a:endParaRPr lang="zh-TW" altLang="en-US" sz="1600" dirty="0"/>
              </a:p>
            </p:txBody>
          </p:sp>
        </mc:Choice>
        <mc:Fallback xmlns="">
          <p:sp>
            <p:nvSpPr>
              <p:cNvPr id="27" name="圓角矩形 26"/>
              <p:cNvSpPr>
                <a:spLocks noRot="1" noChangeAspect="1" noMove="1" noResize="1" noEditPoints="1" noAdjustHandles="1" noChangeArrowheads="1" noChangeShapeType="1" noTextEdit="1"/>
              </p:cNvSpPr>
              <p:nvPr/>
            </p:nvSpPr>
            <p:spPr>
              <a:xfrm>
                <a:off x="1979712" y="4980012"/>
                <a:ext cx="2232248" cy="268494"/>
              </a:xfrm>
              <a:prstGeom prst="roundRect">
                <a:avLst/>
              </a:prstGeom>
              <a:blipFill rotWithShape="0">
                <a:blip r:embed="rId6"/>
                <a:stretch>
                  <a:fillRect t="-20455" b="-40909"/>
                </a:stretch>
              </a:blipFill>
              <a:ln>
                <a:noFill/>
              </a:ln>
            </p:spPr>
            <p:txBody>
              <a:bodyPr/>
              <a:lstStyle/>
              <a:p>
                <a:r>
                  <a:rPr lang="zh-TW" altLang="en-US">
                    <a:noFill/>
                  </a:rPr>
                  <a:t> </a:t>
                </a:r>
              </a:p>
            </p:txBody>
          </p:sp>
        </mc:Fallback>
      </mc:AlternateContent>
      <p:cxnSp>
        <p:nvCxnSpPr>
          <p:cNvPr id="28" name="直線單箭頭接點 27"/>
          <p:cNvCxnSpPr>
            <a:stCxn id="26" idx="2"/>
            <a:endCxn id="29" idx="0"/>
          </p:cNvCxnSpPr>
          <p:nvPr/>
        </p:nvCxnSpPr>
        <p:spPr>
          <a:xfrm>
            <a:off x="4575140" y="2931428"/>
            <a:ext cx="0" cy="173517"/>
          </a:xfrm>
          <a:prstGeom prst="straightConnector1">
            <a:avLst/>
          </a:prstGeom>
          <a:ln>
            <a:tailEnd type="arrow"/>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9" name="圓角矩形 28"/>
              <p:cNvSpPr/>
              <p:nvPr/>
            </p:nvSpPr>
            <p:spPr>
              <a:xfrm>
                <a:off x="3026667" y="3104945"/>
                <a:ext cx="3096945" cy="615169"/>
              </a:xfrm>
              <a:prstGeom prst="roundRect">
                <a:avLst/>
              </a:prstGeom>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dirty="0" smtClean="0"/>
                  <a:t>Derive a regression model</a:t>
                </a:r>
              </a:p>
              <a:p>
                <a:pPr algn="ctr"/>
                <a14:m>
                  <m:oMath xmlns:m="http://schemas.openxmlformats.org/officeDocument/2006/math">
                    <m:acc>
                      <m:accPr>
                        <m:chr m:val="̂"/>
                        <m:ctrlPr>
                          <a:rPr lang="zh-TW" altLang="en-US" i="1" smtClean="0">
                            <a:latin typeface="Cambria Math" panose="02040503050406030204" pitchFamily="18" charset="0"/>
                          </a:rPr>
                        </m:ctrlPr>
                      </m:accPr>
                      <m:e>
                        <m:sSub>
                          <m:sSubPr>
                            <m:ctrlPr>
                              <a:rPr lang="en-US" altLang="zh-TW" i="1" smtClean="0">
                                <a:latin typeface="Cambria Math" panose="02040503050406030204" pitchFamily="18" charset="0"/>
                              </a:rPr>
                            </m:ctrlPr>
                          </m:sSubPr>
                          <m:e>
                            <m:r>
                              <a:rPr lang="en-US" altLang="zh-TW" b="0" i="1" smtClean="0">
                                <a:latin typeface="Cambria Math"/>
                              </a:rPr>
                              <m:t>𝑌</m:t>
                            </m:r>
                          </m:e>
                          <m:sub>
                            <m:r>
                              <a:rPr lang="en-US" altLang="zh-TW" b="0" i="1" smtClean="0">
                                <a:latin typeface="Cambria Math"/>
                              </a:rPr>
                              <m:t>𝑘</m:t>
                            </m:r>
                          </m:sub>
                        </m:sSub>
                      </m:e>
                    </m:acc>
                    <m:r>
                      <a:rPr lang="en-US" altLang="zh-TW" b="0" i="0" smtClean="0">
                        <a:latin typeface="Cambria Math"/>
                      </a:rPr>
                      <m:t>=</m:t>
                    </m:r>
                    <m:r>
                      <a:rPr lang="en-US" altLang="zh-TW" b="0" i="1" smtClean="0">
                        <a:latin typeface="Cambria Math"/>
                      </a:rPr>
                      <m:t>𝑓</m:t>
                    </m:r>
                  </m:oMath>
                </a14:m>
                <a:r>
                  <a:rPr lang="en-US" altLang="zh-TW" dirty="0" smtClean="0"/>
                  <a:t>(</a:t>
                </a:r>
                <a14:m>
                  <m:oMath xmlns:m="http://schemas.openxmlformats.org/officeDocument/2006/math">
                    <m:acc>
                      <m:accPr>
                        <m:chr m:val="̂"/>
                        <m:ctrlPr>
                          <a:rPr lang="zh-TW" altLang="en-US" i="1">
                            <a:latin typeface="Cambria Math" panose="02040503050406030204" pitchFamily="18" charset="0"/>
                          </a:rPr>
                        </m:ctrlPr>
                      </m:accPr>
                      <m:e>
                        <m:sSub>
                          <m:sSubPr>
                            <m:ctrlPr>
                              <a:rPr lang="en-US" altLang="zh-TW" i="1">
                                <a:latin typeface="Cambria Math" panose="02040503050406030204" pitchFamily="18" charset="0"/>
                              </a:rPr>
                            </m:ctrlPr>
                          </m:sSubPr>
                          <m:e>
                            <m:r>
                              <a:rPr lang="en-US" altLang="zh-TW" i="1">
                                <a:latin typeface="Cambria Math"/>
                              </a:rPr>
                              <m:t>𝑌</m:t>
                            </m:r>
                          </m:e>
                          <m:sub>
                            <m:r>
                              <a:rPr lang="en-US" altLang="zh-TW" i="1">
                                <a:latin typeface="Cambria Math"/>
                              </a:rPr>
                              <m:t>𝑘</m:t>
                            </m:r>
                            <m:r>
                              <a:rPr lang="en-US" altLang="zh-TW" b="0" i="1" smtClean="0">
                                <a:latin typeface="Cambria Math"/>
                              </a:rPr>
                              <m:t>−1</m:t>
                            </m:r>
                          </m:sub>
                        </m:sSub>
                      </m:e>
                    </m:acc>
                    <m:r>
                      <a:rPr lang="en-US" altLang="zh-TW" b="0" i="0" smtClean="0">
                        <a:latin typeface="Cambria Math"/>
                      </a:rPr>
                      <m:t> ,  </m:t>
                    </m:r>
                    <m:sSub>
                      <m:sSubPr>
                        <m:ctrlPr>
                          <a:rPr lang="en-US" altLang="zh-TW" i="1">
                            <a:latin typeface="Cambria Math" panose="02040503050406030204" pitchFamily="18" charset="0"/>
                          </a:rPr>
                        </m:ctrlPr>
                      </m:sSubPr>
                      <m:e>
                        <m:r>
                          <a:rPr lang="en-US" altLang="zh-TW" i="1">
                            <a:latin typeface="Cambria Math"/>
                          </a:rPr>
                          <m:t>𝑋</m:t>
                        </m:r>
                      </m:e>
                      <m:sub>
                        <m:r>
                          <a:rPr lang="en-US" altLang="zh-TW" i="1">
                            <a:latin typeface="Cambria Math"/>
                          </a:rPr>
                          <m:t>𝑖</m:t>
                        </m:r>
                      </m:sub>
                    </m:sSub>
                  </m:oMath>
                </a14:m>
                <a:r>
                  <a:rPr lang="en-US" altLang="zh-TW" dirty="0"/>
                  <a:t> </a:t>
                </a:r>
                <a:r>
                  <a:rPr lang="en-US" altLang="zh-TW" dirty="0" smtClean="0"/>
                  <a:t>)</a:t>
                </a:r>
                <a:endParaRPr lang="zh-TW" altLang="en-US" dirty="0"/>
              </a:p>
            </p:txBody>
          </p:sp>
        </mc:Choice>
        <mc:Fallback xmlns="">
          <p:sp>
            <p:nvSpPr>
              <p:cNvPr id="29" name="圓角矩形 28"/>
              <p:cNvSpPr>
                <a:spLocks noRot="1" noChangeAspect="1" noMove="1" noResize="1" noEditPoints="1" noAdjustHandles="1" noChangeArrowheads="1" noChangeShapeType="1" noTextEdit="1"/>
              </p:cNvSpPr>
              <p:nvPr/>
            </p:nvSpPr>
            <p:spPr>
              <a:xfrm>
                <a:off x="3026667" y="3104945"/>
                <a:ext cx="3096945" cy="615169"/>
              </a:xfrm>
              <a:prstGeom prst="roundRect">
                <a:avLst/>
              </a:prstGeom>
              <a:blipFill rotWithShape="0">
                <a:blip r:embed="rId7"/>
                <a:stretch>
                  <a:fillRect t="-7921" r="-2362" b="-19802"/>
                </a:stretch>
              </a:blipFill>
              <a:ln>
                <a:noFill/>
              </a:ln>
            </p:spPr>
            <p:txBody>
              <a:bodyPr/>
              <a:lstStyle/>
              <a:p>
                <a:r>
                  <a:rPr lang="zh-TW" altLang="en-US">
                    <a:noFill/>
                  </a:rPr>
                  <a:t> </a:t>
                </a:r>
              </a:p>
            </p:txBody>
          </p:sp>
        </mc:Fallback>
      </mc:AlternateContent>
      <p:cxnSp>
        <p:nvCxnSpPr>
          <p:cNvPr id="30" name="直線單箭頭接點 29"/>
          <p:cNvCxnSpPr>
            <a:stCxn id="31" idx="2"/>
            <a:endCxn id="33" idx="0"/>
          </p:cNvCxnSpPr>
          <p:nvPr/>
        </p:nvCxnSpPr>
        <p:spPr>
          <a:xfrm>
            <a:off x="4571089" y="4242180"/>
            <a:ext cx="2477" cy="16053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1" name="圓角矩形 30"/>
          <p:cNvSpPr/>
          <p:nvPr/>
        </p:nvSpPr>
        <p:spPr>
          <a:xfrm>
            <a:off x="3018565" y="3905673"/>
            <a:ext cx="3105047" cy="336507"/>
          </a:xfrm>
          <a:prstGeom prst="roundRect">
            <a:avLst/>
          </a:prstGeom>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1600" dirty="0" smtClean="0"/>
              <a:t>Calculate the significant value S</a:t>
            </a:r>
            <a:endParaRPr lang="zh-TW" altLang="en-US" sz="1600" dirty="0"/>
          </a:p>
        </p:txBody>
      </p:sp>
      <p:cxnSp>
        <p:nvCxnSpPr>
          <p:cNvPr id="32" name="直線單箭頭接點 31"/>
          <p:cNvCxnSpPr>
            <a:stCxn id="29" idx="2"/>
            <a:endCxn id="31" idx="0"/>
          </p:cNvCxnSpPr>
          <p:nvPr/>
        </p:nvCxnSpPr>
        <p:spPr>
          <a:xfrm flipH="1">
            <a:off x="4571089" y="3720114"/>
            <a:ext cx="4051" cy="185559"/>
          </a:xfrm>
          <a:prstGeom prst="straightConnector1">
            <a:avLst/>
          </a:prstGeom>
          <a:ln>
            <a:tailEnd type="arrow"/>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3" name="圓角矩形 32"/>
              <p:cNvSpPr/>
              <p:nvPr/>
            </p:nvSpPr>
            <p:spPr>
              <a:xfrm>
                <a:off x="3687914" y="4402715"/>
                <a:ext cx="1771304" cy="261180"/>
              </a:xfrm>
              <a:prstGeom prst="roundRect">
                <a:avLst/>
              </a:prstGeom>
              <a:ln>
                <a:no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1600" dirty="0" smtClean="0"/>
                  <a:t>S Larger than </a:t>
                </a:r>
                <a14:m>
                  <m:oMath xmlns:m="http://schemas.openxmlformats.org/officeDocument/2006/math">
                    <m:r>
                      <a:rPr lang="zh-TW" altLang="en-US" sz="1600" i="1">
                        <a:latin typeface="Cambria Math"/>
                      </a:rPr>
                      <m:t>𝛼</m:t>
                    </m:r>
                  </m:oMath>
                </a14:m>
                <a:r>
                  <a:rPr lang="en-US" altLang="zh-TW" sz="1600" dirty="0" smtClean="0"/>
                  <a:t> ? </a:t>
                </a:r>
                <a:endParaRPr lang="zh-TW" altLang="en-US" sz="1600" dirty="0"/>
              </a:p>
            </p:txBody>
          </p:sp>
        </mc:Choice>
        <mc:Fallback xmlns="">
          <p:sp>
            <p:nvSpPr>
              <p:cNvPr id="33" name="圓角矩形 32"/>
              <p:cNvSpPr>
                <a:spLocks noRot="1" noChangeAspect="1" noMove="1" noResize="1" noEditPoints="1" noAdjustHandles="1" noChangeArrowheads="1" noChangeShapeType="1" noTextEdit="1"/>
              </p:cNvSpPr>
              <p:nvPr/>
            </p:nvSpPr>
            <p:spPr>
              <a:xfrm>
                <a:off x="3687914" y="4402715"/>
                <a:ext cx="1771304" cy="261180"/>
              </a:xfrm>
              <a:prstGeom prst="roundRect">
                <a:avLst/>
              </a:prstGeom>
              <a:blipFill rotWithShape="0">
                <a:blip r:embed="rId8"/>
                <a:stretch>
                  <a:fillRect t="-20930" b="-44186"/>
                </a:stretch>
              </a:blipFill>
              <a:ln>
                <a:noFill/>
              </a:ln>
            </p:spPr>
            <p:txBody>
              <a:bodyPr/>
              <a:lstStyle/>
              <a:p>
                <a:r>
                  <a:rPr lang="zh-TW" altLang="en-US">
                    <a:noFill/>
                  </a:rPr>
                  <a:t> </a:t>
                </a:r>
              </a:p>
            </p:txBody>
          </p:sp>
        </mc:Fallback>
      </mc:AlternateContent>
      <p:cxnSp>
        <p:nvCxnSpPr>
          <p:cNvPr id="34" name="直線接點 33"/>
          <p:cNvCxnSpPr>
            <a:stCxn id="33" idx="2"/>
          </p:cNvCxnSpPr>
          <p:nvPr/>
        </p:nvCxnSpPr>
        <p:spPr>
          <a:xfrm>
            <a:off x="4573566" y="4663895"/>
            <a:ext cx="1574" cy="133492"/>
          </a:xfrm>
          <a:prstGeom prst="line">
            <a:avLst/>
          </a:prstGeom>
        </p:spPr>
        <p:style>
          <a:lnRef idx="1">
            <a:schemeClr val="dk1"/>
          </a:lnRef>
          <a:fillRef idx="0">
            <a:schemeClr val="dk1"/>
          </a:fillRef>
          <a:effectRef idx="0">
            <a:schemeClr val="dk1"/>
          </a:effectRef>
          <a:fontRef idx="minor">
            <a:schemeClr val="tx1"/>
          </a:fontRef>
        </p:style>
      </p:cxnSp>
      <p:cxnSp>
        <p:nvCxnSpPr>
          <p:cNvPr id="35" name="直線接點 34"/>
          <p:cNvCxnSpPr/>
          <p:nvPr/>
        </p:nvCxnSpPr>
        <p:spPr>
          <a:xfrm flipV="1">
            <a:off x="3095836" y="4795411"/>
            <a:ext cx="2938902" cy="1976"/>
          </a:xfrm>
          <a:prstGeom prst="line">
            <a:avLst/>
          </a:prstGeom>
        </p:spPr>
        <p:style>
          <a:lnRef idx="1">
            <a:schemeClr val="dk1"/>
          </a:lnRef>
          <a:fillRef idx="0">
            <a:schemeClr val="dk1"/>
          </a:fillRef>
          <a:effectRef idx="0">
            <a:schemeClr val="dk1"/>
          </a:effectRef>
          <a:fontRef idx="minor">
            <a:schemeClr val="tx1"/>
          </a:fontRef>
        </p:style>
      </p:cxnSp>
      <p:cxnSp>
        <p:nvCxnSpPr>
          <p:cNvPr id="36" name="直線單箭頭接點 35"/>
          <p:cNvCxnSpPr>
            <a:endCxn id="27" idx="0"/>
          </p:cNvCxnSpPr>
          <p:nvPr/>
        </p:nvCxnSpPr>
        <p:spPr>
          <a:xfrm>
            <a:off x="3095836" y="4795411"/>
            <a:ext cx="0" cy="18460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7" name="直線單箭頭接點 36"/>
          <p:cNvCxnSpPr>
            <a:endCxn id="38" idx="0"/>
          </p:cNvCxnSpPr>
          <p:nvPr/>
        </p:nvCxnSpPr>
        <p:spPr>
          <a:xfrm>
            <a:off x="6039616" y="4795411"/>
            <a:ext cx="0" cy="18460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8" name="圓角矩形 37"/>
              <p:cNvSpPr/>
              <p:nvPr/>
            </p:nvSpPr>
            <p:spPr>
              <a:xfrm>
                <a:off x="4923492" y="4980012"/>
                <a:ext cx="2232248" cy="268494"/>
              </a:xfrm>
              <a:prstGeom prst="roundRect">
                <a:avLst/>
              </a:prstGeom>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1600" dirty="0" smtClean="0"/>
                  <a:t>Remove the variable </a:t>
                </a:r>
                <a14:m>
                  <m:oMath xmlns:m="http://schemas.openxmlformats.org/officeDocument/2006/math">
                    <m:sSub>
                      <m:sSubPr>
                        <m:ctrlPr>
                          <a:rPr lang="en-US" altLang="zh-TW" sz="1600" i="1">
                            <a:latin typeface="Cambria Math" panose="02040503050406030204" pitchFamily="18" charset="0"/>
                          </a:rPr>
                        </m:ctrlPr>
                      </m:sSubPr>
                      <m:e>
                        <m:r>
                          <a:rPr lang="en-US" altLang="zh-TW" sz="1600" i="1">
                            <a:latin typeface="Cambria Math"/>
                          </a:rPr>
                          <m:t>𝑋</m:t>
                        </m:r>
                      </m:e>
                      <m:sub>
                        <m:r>
                          <a:rPr lang="en-US" altLang="zh-TW" sz="1600" i="1">
                            <a:latin typeface="Cambria Math"/>
                          </a:rPr>
                          <m:t>𝑖</m:t>
                        </m:r>
                      </m:sub>
                    </m:sSub>
                  </m:oMath>
                </a14:m>
                <a:r>
                  <a:rPr lang="en-US" altLang="zh-TW" sz="1600" dirty="0" smtClean="0"/>
                  <a:t> </a:t>
                </a:r>
                <a:endParaRPr lang="zh-TW" altLang="en-US" sz="1600" dirty="0"/>
              </a:p>
            </p:txBody>
          </p:sp>
        </mc:Choice>
        <mc:Fallback xmlns="">
          <p:sp>
            <p:nvSpPr>
              <p:cNvPr id="38" name="圓角矩形 37"/>
              <p:cNvSpPr>
                <a:spLocks noRot="1" noChangeAspect="1" noMove="1" noResize="1" noEditPoints="1" noAdjustHandles="1" noChangeArrowheads="1" noChangeShapeType="1" noTextEdit="1"/>
              </p:cNvSpPr>
              <p:nvPr/>
            </p:nvSpPr>
            <p:spPr>
              <a:xfrm>
                <a:off x="4923492" y="4980012"/>
                <a:ext cx="2232248" cy="268494"/>
              </a:xfrm>
              <a:prstGeom prst="roundRect">
                <a:avLst/>
              </a:prstGeom>
              <a:blipFill rotWithShape="0">
                <a:blip r:embed="rId9"/>
                <a:stretch>
                  <a:fillRect t="-20455" b="-40909"/>
                </a:stretch>
              </a:blipFill>
              <a:ln>
                <a:noFill/>
              </a:ln>
            </p:spPr>
            <p:txBody>
              <a:bodyPr/>
              <a:lstStyle/>
              <a:p>
                <a:r>
                  <a:rPr lang="zh-TW" altLang="en-US">
                    <a:noFill/>
                  </a:rPr>
                  <a:t> </a:t>
                </a:r>
              </a:p>
            </p:txBody>
          </p:sp>
        </mc:Fallback>
      </mc:AlternateContent>
      <p:cxnSp>
        <p:nvCxnSpPr>
          <p:cNvPr id="39" name="直線接點 38"/>
          <p:cNvCxnSpPr>
            <a:stCxn id="27" idx="2"/>
          </p:cNvCxnSpPr>
          <p:nvPr/>
        </p:nvCxnSpPr>
        <p:spPr>
          <a:xfrm>
            <a:off x="3095836" y="5248506"/>
            <a:ext cx="0" cy="152967"/>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直線接點 39"/>
          <p:cNvCxnSpPr>
            <a:stCxn id="38" idx="2"/>
          </p:cNvCxnSpPr>
          <p:nvPr/>
        </p:nvCxnSpPr>
        <p:spPr>
          <a:xfrm>
            <a:off x="6039616" y="5248506"/>
            <a:ext cx="0" cy="152967"/>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直線接點 40"/>
          <p:cNvCxnSpPr/>
          <p:nvPr/>
        </p:nvCxnSpPr>
        <p:spPr>
          <a:xfrm>
            <a:off x="3095836" y="5417841"/>
            <a:ext cx="2943780" cy="0"/>
          </a:xfrm>
          <a:prstGeom prst="line">
            <a:avLst/>
          </a:prstGeom>
        </p:spPr>
        <p:style>
          <a:lnRef idx="1">
            <a:schemeClr val="dk1"/>
          </a:lnRef>
          <a:fillRef idx="0">
            <a:schemeClr val="dk1"/>
          </a:fillRef>
          <a:effectRef idx="0">
            <a:schemeClr val="dk1"/>
          </a:effectRef>
          <a:fontRef idx="minor">
            <a:schemeClr val="tx1"/>
          </a:fontRef>
        </p:style>
      </p:cxnSp>
      <p:cxnSp>
        <p:nvCxnSpPr>
          <p:cNvPr id="42" name="直線單箭頭接點 41"/>
          <p:cNvCxnSpPr>
            <a:endCxn id="43" idx="0"/>
          </p:cNvCxnSpPr>
          <p:nvPr/>
        </p:nvCxnSpPr>
        <p:spPr>
          <a:xfrm>
            <a:off x="4575140" y="5417841"/>
            <a:ext cx="0" cy="25202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3" name="圓角矩形 42"/>
          <p:cNvSpPr/>
          <p:nvPr/>
        </p:nvSpPr>
        <p:spPr>
          <a:xfrm>
            <a:off x="4071084" y="5669869"/>
            <a:ext cx="1008112" cy="270771"/>
          </a:xfrm>
          <a:prstGeom prst="roundRect">
            <a:avLst/>
          </a:prstGeom>
          <a:ln>
            <a:no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1600" dirty="0" smtClean="0"/>
              <a:t>Last X ?</a:t>
            </a:r>
            <a:endParaRPr lang="zh-TW" altLang="en-US" sz="1600" dirty="0"/>
          </a:p>
        </p:txBody>
      </p:sp>
      <p:cxnSp>
        <p:nvCxnSpPr>
          <p:cNvPr id="44" name="直線單箭頭接點 43"/>
          <p:cNvCxnSpPr>
            <a:stCxn id="43" idx="2"/>
            <a:endCxn id="48" idx="0"/>
          </p:cNvCxnSpPr>
          <p:nvPr/>
        </p:nvCxnSpPr>
        <p:spPr>
          <a:xfrm>
            <a:off x="4575140" y="5940640"/>
            <a:ext cx="0" cy="457949"/>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45" name="直線接點 44"/>
          <p:cNvCxnSpPr>
            <a:stCxn id="43" idx="3"/>
          </p:cNvCxnSpPr>
          <p:nvPr/>
        </p:nvCxnSpPr>
        <p:spPr>
          <a:xfrm flipV="1">
            <a:off x="5079196" y="5805254"/>
            <a:ext cx="2195943" cy="1"/>
          </a:xfrm>
          <a:prstGeom prst="line">
            <a:avLst/>
          </a:prstGeom>
        </p:spPr>
        <p:style>
          <a:lnRef idx="1">
            <a:schemeClr val="dk1"/>
          </a:lnRef>
          <a:fillRef idx="0">
            <a:schemeClr val="dk1"/>
          </a:fillRef>
          <a:effectRef idx="0">
            <a:schemeClr val="dk1"/>
          </a:effectRef>
          <a:fontRef idx="minor">
            <a:schemeClr val="tx1"/>
          </a:fontRef>
        </p:style>
      </p:cxnSp>
      <p:cxnSp>
        <p:nvCxnSpPr>
          <p:cNvPr id="46" name="直線接點 45"/>
          <p:cNvCxnSpPr/>
          <p:nvPr/>
        </p:nvCxnSpPr>
        <p:spPr>
          <a:xfrm flipV="1">
            <a:off x="7275139" y="2751408"/>
            <a:ext cx="0" cy="3053846"/>
          </a:xfrm>
          <a:prstGeom prst="line">
            <a:avLst/>
          </a:prstGeom>
        </p:spPr>
        <p:style>
          <a:lnRef idx="1">
            <a:schemeClr val="dk1"/>
          </a:lnRef>
          <a:fillRef idx="0">
            <a:schemeClr val="dk1"/>
          </a:fillRef>
          <a:effectRef idx="0">
            <a:schemeClr val="dk1"/>
          </a:effectRef>
          <a:fontRef idx="minor">
            <a:schemeClr val="tx1"/>
          </a:fontRef>
        </p:style>
      </p:cxnSp>
      <p:cxnSp>
        <p:nvCxnSpPr>
          <p:cNvPr id="47" name="直線單箭頭接點 46"/>
          <p:cNvCxnSpPr>
            <a:endCxn id="26" idx="3"/>
          </p:cNvCxnSpPr>
          <p:nvPr/>
        </p:nvCxnSpPr>
        <p:spPr>
          <a:xfrm flipH="1">
            <a:off x="6123612" y="2751408"/>
            <a:ext cx="1151527"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8" name="圓角矩形 47"/>
          <p:cNvSpPr/>
          <p:nvPr/>
        </p:nvSpPr>
        <p:spPr>
          <a:xfrm>
            <a:off x="4071084" y="6398589"/>
            <a:ext cx="1008112" cy="270771"/>
          </a:xfrm>
          <a:prstGeom prst="round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1600" dirty="0" smtClean="0"/>
              <a:t>Output </a:t>
            </a:r>
            <a:endParaRPr lang="zh-TW" altLang="en-US" sz="1600" dirty="0"/>
          </a:p>
        </p:txBody>
      </p:sp>
      <p:sp>
        <p:nvSpPr>
          <p:cNvPr id="49" name="圓角矩形 48"/>
          <p:cNvSpPr/>
          <p:nvPr/>
        </p:nvSpPr>
        <p:spPr>
          <a:xfrm>
            <a:off x="2807804" y="4498553"/>
            <a:ext cx="576064" cy="270771"/>
          </a:xfrm>
          <a:prstGeom prst="roundRect">
            <a:avLst/>
          </a:prstGeom>
          <a:no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1600" dirty="0" smtClean="0"/>
              <a:t>yes</a:t>
            </a:r>
            <a:endParaRPr lang="zh-TW" altLang="en-US" sz="1600" dirty="0"/>
          </a:p>
        </p:txBody>
      </p:sp>
      <p:sp>
        <p:nvSpPr>
          <p:cNvPr id="50" name="圓角矩形 49"/>
          <p:cNvSpPr/>
          <p:nvPr/>
        </p:nvSpPr>
        <p:spPr>
          <a:xfrm>
            <a:off x="5818714" y="4483592"/>
            <a:ext cx="432048" cy="270771"/>
          </a:xfrm>
          <a:prstGeom prst="roundRect">
            <a:avLst/>
          </a:prstGeom>
          <a:no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1600" dirty="0" smtClean="0"/>
              <a:t>no</a:t>
            </a:r>
            <a:endParaRPr lang="zh-TW" altLang="en-US" sz="1600" dirty="0"/>
          </a:p>
        </p:txBody>
      </p:sp>
      <p:sp>
        <p:nvSpPr>
          <p:cNvPr id="51" name="圓角矩形 50"/>
          <p:cNvSpPr/>
          <p:nvPr/>
        </p:nvSpPr>
        <p:spPr>
          <a:xfrm>
            <a:off x="5607568" y="5534483"/>
            <a:ext cx="432048" cy="270771"/>
          </a:xfrm>
          <a:prstGeom prst="roundRect">
            <a:avLst/>
          </a:prstGeom>
          <a:no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1600" dirty="0" smtClean="0"/>
              <a:t>no</a:t>
            </a:r>
            <a:endParaRPr lang="zh-TW" altLang="en-US" sz="1600" dirty="0"/>
          </a:p>
        </p:txBody>
      </p:sp>
      <p:sp>
        <p:nvSpPr>
          <p:cNvPr id="52" name="圓角矩形 51"/>
          <p:cNvSpPr/>
          <p:nvPr/>
        </p:nvSpPr>
        <p:spPr>
          <a:xfrm>
            <a:off x="3991662" y="6034228"/>
            <a:ext cx="576064" cy="270771"/>
          </a:xfrm>
          <a:prstGeom prst="roundRect">
            <a:avLst/>
          </a:prstGeom>
          <a:no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1600" dirty="0" smtClean="0"/>
              <a:t>yes</a:t>
            </a:r>
            <a:endParaRPr lang="zh-TW" altLang="en-US" sz="1600" dirty="0"/>
          </a:p>
        </p:txBody>
      </p:sp>
    </p:spTree>
    <p:extLst>
      <p:ext uri="{BB962C8B-B14F-4D97-AF65-F5344CB8AC3E}">
        <p14:creationId xmlns:p14="http://schemas.microsoft.com/office/powerpoint/2010/main" val="5781561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smtClean="0">
                <a:latin typeface="Times New Roman" panose="02020603050405020304" pitchFamily="18" charset="0"/>
                <a:ea typeface="標楷體" panose="03000509000000000000" pitchFamily="65" charset="-120"/>
              </a:rPr>
              <a:t>Flow chart #2</a:t>
            </a:r>
            <a:endParaRPr lang="zh-TW" altLang="en-US" sz="40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29</a:t>
            </a:fld>
            <a:endParaRPr lang="zh-TW" altLang="en-US" dirty="0"/>
          </a:p>
        </p:txBody>
      </p:sp>
      <p:sp>
        <p:nvSpPr>
          <p:cNvPr id="5" name="圓角矩形 4"/>
          <p:cNvSpPr/>
          <p:nvPr/>
        </p:nvSpPr>
        <p:spPr>
          <a:xfrm>
            <a:off x="5394599" y="3824214"/>
            <a:ext cx="1220681" cy="160476"/>
          </a:xfrm>
          <a:prstGeom prst="round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smtClean="0"/>
              <a:t>Expect output</a:t>
            </a:r>
            <a:endParaRPr lang="zh-TW" altLang="en-US" sz="1400" dirty="0"/>
          </a:p>
        </p:txBody>
      </p:sp>
      <p:sp>
        <p:nvSpPr>
          <p:cNvPr id="6" name="圓角矩形 5"/>
          <p:cNvSpPr/>
          <p:nvPr/>
        </p:nvSpPr>
        <p:spPr>
          <a:xfrm>
            <a:off x="7634915" y="3750707"/>
            <a:ext cx="880435" cy="182695"/>
          </a:xfrm>
          <a:prstGeom prst="round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smtClean="0"/>
              <a:t>input</a:t>
            </a:r>
            <a:endParaRPr lang="zh-TW" altLang="en-US" sz="1400" dirty="0"/>
          </a:p>
        </p:txBody>
      </p:sp>
      <p:sp>
        <p:nvSpPr>
          <p:cNvPr id="7" name="圓角矩形 6"/>
          <p:cNvSpPr/>
          <p:nvPr/>
        </p:nvSpPr>
        <p:spPr>
          <a:xfrm>
            <a:off x="643499" y="1112908"/>
            <a:ext cx="6912767" cy="440114"/>
          </a:xfrm>
          <a:prstGeom prst="roundRect">
            <a:avLst/>
          </a:prstGeom>
          <a:ln>
            <a:noFill/>
          </a:ln>
        </p:spPr>
        <p:style>
          <a:lnRef idx="1">
            <a:schemeClr val="dk1"/>
          </a:lnRef>
          <a:fillRef idx="2">
            <a:schemeClr val="dk1"/>
          </a:fillRef>
          <a:effectRef idx="1">
            <a:schemeClr val="dk1"/>
          </a:effectRef>
          <a:fontRef idx="minor">
            <a:schemeClr val="dk1"/>
          </a:fontRef>
        </p:style>
        <p:txBody>
          <a:bodyPr rtlCol="0" anchor="ctr"/>
          <a:lstStyle/>
          <a:p>
            <a:pPr algn="ctr"/>
            <a:r>
              <a:rPr lang="en-US" altLang="zh-TW" dirty="0" smtClean="0"/>
              <a:t>Candidate Stocks Screening</a:t>
            </a:r>
            <a:endParaRPr lang="zh-TW" altLang="en-US" dirty="0"/>
          </a:p>
        </p:txBody>
      </p:sp>
      <p:sp>
        <p:nvSpPr>
          <p:cNvPr id="8" name="圓角矩形 7"/>
          <p:cNvSpPr/>
          <p:nvPr/>
        </p:nvSpPr>
        <p:spPr>
          <a:xfrm>
            <a:off x="643499" y="1954362"/>
            <a:ext cx="6912767" cy="452300"/>
          </a:xfrm>
          <a:prstGeom prst="roundRect">
            <a:avLst/>
          </a:prstGeom>
          <a:ln>
            <a:noFill/>
          </a:ln>
        </p:spPr>
        <p:style>
          <a:lnRef idx="1">
            <a:schemeClr val="dk1"/>
          </a:lnRef>
          <a:fillRef idx="2">
            <a:schemeClr val="dk1"/>
          </a:fillRef>
          <a:effectRef idx="1">
            <a:schemeClr val="dk1"/>
          </a:effectRef>
          <a:fontRef idx="minor">
            <a:schemeClr val="dk1"/>
          </a:fontRef>
        </p:style>
        <p:txBody>
          <a:bodyPr rtlCol="0" anchor="ctr"/>
          <a:lstStyle/>
          <a:p>
            <a:pPr algn="ctr"/>
            <a:r>
              <a:rPr lang="en-US" altLang="zh-TW" dirty="0" smtClean="0"/>
              <a:t>GA</a:t>
            </a:r>
            <a:endParaRPr lang="zh-TW" altLang="en-US" dirty="0"/>
          </a:p>
        </p:txBody>
      </p:sp>
      <p:sp>
        <p:nvSpPr>
          <p:cNvPr id="9" name="圓角矩形 8"/>
          <p:cNvSpPr/>
          <p:nvPr/>
        </p:nvSpPr>
        <p:spPr>
          <a:xfrm>
            <a:off x="3378374" y="2561134"/>
            <a:ext cx="1458463" cy="36004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TW" dirty="0" smtClean="0"/>
              <a:t>SRA</a:t>
            </a:r>
            <a:endParaRPr lang="zh-TW" altLang="en-US" dirty="0"/>
          </a:p>
        </p:txBody>
      </p:sp>
      <p:sp>
        <p:nvSpPr>
          <p:cNvPr id="10" name="圓角矩形 9"/>
          <p:cNvSpPr/>
          <p:nvPr/>
        </p:nvSpPr>
        <p:spPr>
          <a:xfrm>
            <a:off x="1089470" y="3137198"/>
            <a:ext cx="1458463" cy="36004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TW" dirty="0" smtClean="0"/>
              <a:t>PLR</a:t>
            </a:r>
            <a:endParaRPr lang="zh-TW" altLang="en-US" dirty="0"/>
          </a:p>
        </p:txBody>
      </p:sp>
      <p:sp>
        <p:nvSpPr>
          <p:cNvPr id="11" name="圓角矩形 10"/>
          <p:cNvSpPr/>
          <p:nvPr/>
        </p:nvSpPr>
        <p:spPr>
          <a:xfrm>
            <a:off x="5879004" y="4217318"/>
            <a:ext cx="1440160" cy="36004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TW" dirty="0" smtClean="0"/>
              <a:t>BP(train)</a:t>
            </a:r>
            <a:endParaRPr lang="zh-TW" altLang="en-US" dirty="0"/>
          </a:p>
        </p:txBody>
      </p:sp>
      <p:sp>
        <p:nvSpPr>
          <p:cNvPr id="12" name="圓角矩形 11"/>
          <p:cNvSpPr/>
          <p:nvPr/>
        </p:nvSpPr>
        <p:spPr>
          <a:xfrm>
            <a:off x="5250583" y="2562586"/>
            <a:ext cx="2376264" cy="36004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TW" dirty="0" smtClean="0"/>
              <a:t>Related input variable</a:t>
            </a:r>
            <a:endParaRPr lang="zh-TW" altLang="en-US" dirty="0"/>
          </a:p>
        </p:txBody>
      </p:sp>
      <p:sp>
        <p:nvSpPr>
          <p:cNvPr id="13" name="圓角矩形 12"/>
          <p:cNvSpPr/>
          <p:nvPr/>
        </p:nvSpPr>
        <p:spPr>
          <a:xfrm>
            <a:off x="3386001" y="3139855"/>
            <a:ext cx="1458463" cy="360040"/>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TW" dirty="0"/>
              <a:t>Turning point</a:t>
            </a:r>
            <a:endParaRPr lang="zh-TW" altLang="en-US" dirty="0"/>
          </a:p>
        </p:txBody>
      </p:sp>
      <p:sp>
        <p:nvSpPr>
          <p:cNvPr id="14" name="圓角矩形 13"/>
          <p:cNvSpPr/>
          <p:nvPr/>
        </p:nvSpPr>
        <p:spPr>
          <a:xfrm>
            <a:off x="5365644" y="3137197"/>
            <a:ext cx="2477227" cy="362697"/>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TW" dirty="0" smtClean="0"/>
              <a:t>Trading signal</a:t>
            </a:r>
            <a:endParaRPr lang="zh-TW" altLang="en-US" dirty="0"/>
          </a:p>
        </p:txBody>
      </p:sp>
      <p:cxnSp>
        <p:nvCxnSpPr>
          <p:cNvPr id="15" name="直線單箭頭接點 14"/>
          <p:cNvCxnSpPr>
            <a:stCxn id="7" idx="2"/>
            <a:endCxn id="8" idx="0"/>
          </p:cNvCxnSpPr>
          <p:nvPr/>
        </p:nvCxnSpPr>
        <p:spPr>
          <a:xfrm>
            <a:off x="4099883" y="1553022"/>
            <a:ext cx="0" cy="40134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6" name="直線單箭頭接點 15"/>
          <p:cNvCxnSpPr>
            <a:stCxn id="10" idx="3"/>
            <a:endCxn id="13" idx="1"/>
          </p:cNvCxnSpPr>
          <p:nvPr/>
        </p:nvCxnSpPr>
        <p:spPr>
          <a:xfrm>
            <a:off x="2547933" y="3317218"/>
            <a:ext cx="838068" cy="2657"/>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7" name="直線單箭頭接點 16"/>
          <p:cNvCxnSpPr>
            <a:stCxn id="13" idx="3"/>
            <a:endCxn id="14" idx="1"/>
          </p:cNvCxnSpPr>
          <p:nvPr/>
        </p:nvCxnSpPr>
        <p:spPr>
          <a:xfrm flipV="1">
            <a:off x="4844464" y="3318546"/>
            <a:ext cx="521180" cy="1329"/>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8" name="直線單箭頭接點 17"/>
          <p:cNvCxnSpPr>
            <a:stCxn id="9" idx="3"/>
            <a:endCxn id="12" idx="1"/>
          </p:cNvCxnSpPr>
          <p:nvPr/>
        </p:nvCxnSpPr>
        <p:spPr>
          <a:xfrm>
            <a:off x="4836837" y="2741154"/>
            <a:ext cx="413746" cy="145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9" name="圓角矩形 18"/>
              <p:cNvSpPr/>
              <p:nvPr/>
            </p:nvSpPr>
            <p:spPr>
              <a:xfrm>
                <a:off x="537452" y="2861527"/>
                <a:ext cx="157030" cy="180020"/>
              </a:xfrm>
              <a:prstGeom prst="round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zh-TW" altLang="en-US" i="1" smtClean="0">
                          <a:latin typeface="Cambria Math"/>
                        </a:rPr>
                        <m:t>𝛿</m:t>
                      </m:r>
                    </m:oMath>
                  </m:oMathPara>
                </a14:m>
                <a:endParaRPr lang="zh-TW" altLang="en-US" dirty="0"/>
              </a:p>
            </p:txBody>
          </p:sp>
        </mc:Choice>
        <mc:Fallback xmlns="">
          <p:sp>
            <p:nvSpPr>
              <p:cNvPr id="19" name="圓角矩形 18"/>
              <p:cNvSpPr>
                <a:spLocks noRot="1" noChangeAspect="1" noMove="1" noResize="1" noEditPoints="1" noAdjustHandles="1" noChangeArrowheads="1" noChangeShapeType="1" noTextEdit="1"/>
              </p:cNvSpPr>
              <p:nvPr/>
            </p:nvSpPr>
            <p:spPr>
              <a:xfrm>
                <a:off x="537452" y="2861527"/>
                <a:ext cx="157030" cy="180020"/>
              </a:xfrm>
              <a:prstGeom prst="roundRect">
                <a:avLst/>
              </a:prstGeom>
              <a:blipFill rotWithShape="0">
                <a:blip r:embed="rId3"/>
                <a:stretch>
                  <a:fillRect l="-53571" t="-18750" r="-17857" b="-34375"/>
                </a:stretch>
              </a:blipFill>
              <a:ln>
                <a:solidFill>
                  <a:schemeClr val="bg1"/>
                </a:solidFill>
              </a:ln>
            </p:spPr>
            <p:txBody>
              <a:bodyPr/>
              <a:lstStyle/>
              <a:p>
                <a:r>
                  <a:rPr lang="zh-TW" altLang="en-US">
                    <a:noFill/>
                  </a:rPr>
                  <a:t> </a:t>
                </a:r>
              </a:p>
            </p:txBody>
          </p:sp>
        </mc:Fallback>
      </mc:AlternateContent>
      <p:sp>
        <p:nvSpPr>
          <p:cNvPr id="20" name="圓角矩形 19"/>
          <p:cNvSpPr/>
          <p:nvPr/>
        </p:nvSpPr>
        <p:spPr>
          <a:xfrm>
            <a:off x="4135271" y="1640617"/>
            <a:ext cx="1590413" cy="226150"/>
          </a:xfrm>
          <a:prstGeom prst="round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dirty="0" smtClean="0"/>
              <a:t>Selected stock</a:t>
            </a:r>
            <a:endParaRPr lang="zh-TW" altLang="en-US" dirty="0"/>
          </a:p>
        </p:txBody>
      </p:sp>
      <p:cxnSp>
        <p:nvCxnSpPr>
          <p:cNvPr id="21" name="直線接點 20"/>
          <p:cNvCxnSpPr>
            <a:stCxn id="12" idx="3"/>
          </p:cNvCxnSpPr>
          <p:nvPr/>
        </p:nvCxnSpPr>
        <p:spPr>
          <a:xfrm>
            <a:off x="7626847" y="2742606"/>
            <a:ext cx="720080" cy="0"/>
          </a:xfrm>
          <a:prstGeom prst="line">
            <a:avLst/>
          </a:prstGeom>
        </p:spPr>
        <p:style>
          <a:lnRef idx="1">
            <a:schemeClr val="dk1"/>
          </a:lnRef>
          <a:fillRef idx="0">
            <a:schemeClr val="dk1"/>
          </a:fillRef>
          <a:effectRef idx="0">
            <a:schemeClr val="dk1"/>
          </a:effectRef>
          <a:fontRef idx="minor">
            <a:schemeClr val="tx1"/>
          </a:fontRef>
        </p:style>
      </p:cxnSp>
      <p:cxnSp>
        <p:nvCxnSpPr>
          <p:cNvPr id="22" name="直線單箭頭接點 21"/>
          <p:cNvCxnSpPr>
            <a:stCxn id="14" idx="2"/>
            <a:endCxn id="11" idx="0"/>
          </p:cNvCxnSpPr>
          <p:nvPr/>
        </p:nvCxnSpPr>
        <p:spPr>
          <a:xfrm flipH="1">
            <a:off x="6599084" y="3499894"/>
            <a:ext cx="5174" cy="71742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3" name="直線接點 22"/>
          <p:cNvCxnSpPr/>
          <p:nvPr/>
        </p:nvCxnSpPr>
        <p:spPr>
          <a:xfrm>
            <a:off x="786087" y="2406662"/>
            <a:ext cx="0" cy="913213"/>
          </a:xfrm>
          <a:prstGeom prst="line">
            <a:avLst/>
          </a:prstGeom>
        </p:spPr>
        <p:style>
          <a:lnRef idx="1">
            <a:schemeClr val="dk1"/>
          </a:lnRef>
          <a:fillRef idx="0">
            <a:schemeClr val="dk1"/>
          </a:fillRef>
          <a:effectRef idx="0">
            <a:schemeClr val="dk1"/>
          </a:effectRef>
          <a:fontRef idx="minor">
            <a:schemeClr val="tx1"/>
          </a:fontRef>
        </p:style>
      </p:cxnSp>
      <p:cxnSp>
        <p:nvCxnSpPr>
          <p:cNvPr id="24" name="直線單箭頭接點 23"/>
          <p:cNvCxnSpPr>
            <a:endCxn id="10" idx="1"/>
          </p:cNvCxnSpPr>
          <p:nvPr/>
        </p:nvCxnSpPr>
        <p:spPr>
          <a:xfrm>
            <a:off x="786087" y="3317218"/>
            <a:ext cx="303383"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5" name="直線接點 24"/>
          <p:cNvCxnSpPr/>
          <p:nvPr/>
        </p:nvCxnSpPr>
        <p:spPr>
          <a:xfrm>
            <a:off x="8346927" y="2742606"/>
            <a:ext cx="0" cy="1654732"/>
          </a:xfrm>
          <a:prstGeom prst="line">
            <a:avLst/>
          </a:prstGeom>
        </p:spPr>
        <p:style>
          <a:lnRef idx="1">
            <a:schemeClr val="dk1"/>
          </a:lnRef>
          <a:fillRef idx="0">
            <a:schemeClr val="dk1"/>
          </a:fillRef>
          <a:effectRef idx="0">
            <a:schemeClr val="dk1"/>
          </a:effectRef>
          <a:fontRef idx="minor">
            <a:schemeClr val="tx1"/>
          </a:fontRef>
        </p:style>
      </p:cxnSp>
      <p:cxnSp>
        <p:nvCxnSpPr>
          <p:cNvPr id="26" name="直線單箭頭接點 25"/>
          <p:cNvCxnSpPr>
            <a:endCxn id="11" idx="3"/>
          </p:cNvCxnSpPr>
          <p:nvPr/>
        </p:nvCxnSpPr>
        <p:spPr>
          <a:xfrm flipH="1">
            <a:off x="7319164" y="4397338"/>
            <a:ext cx="1027763"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7" name="直線接點 26"/>
          <p:cNvCxnSpPr>
            <a:stCxn id="14" idx="0"/>
          </p:cNvCxnSpPr>
          <p:nvPr/>
        </p:nvCxnSpPr>
        <p:spPr>
          <a:xfrm flipV="1">
            <a:off x="6604258" y="3041547"/>
            <a:ext cx="0" cy="95650"/>
          </a:xfrm>
          <a:prstGeom prst="line">
            <a:avLst/>
          </a:prstGeom>
        </p:spPr>
        <p:style>
          <a:lnRef idx="1">
            <a:schemeClr val="dk1"/>
          </a:lnRef>
          <a:fillRef idx="0">
            <a:schemeClr val="dk1"/>
          </a:fillRef>
          <a:effectRef idx="0">
            <a:schemeClr val="dk1"/>
          </a:effectRef>
          <a:fontRef idx="minor">
            <a:schemeClr val="tx1"/>
          </a:fontRef>
        </p:style>
      </p:cxnSp>
      <p:cxnSp>
        <p:nvCxnSpPr>
          <p:cNvPr id="28" name="直線接點 27"/>
          <p:cNvCxnSpPr/>
          <p:nvPr/>
        </p:nvCxnSpPr>
        <p:spPr>
          <a:xfrm flipH="1">
            <a:off x="4105184" y="3041547"/>
            <a:ext cx="2489027" cy="0"/>
          </a:xfrm>
          <a:prstGeom prst="line">
            <a:avLst/>
          </a:prstGeom>
        </p:spPr>
        <p:style>
          <a:lnRef idx="1">
            <a:schemeClr val="dk1"/>
          </a:lnRef>
          <a:fillRef idx="0">
            <a:schemeClr val="dk1"/>
          </a:fillRef>
          <a:effectRef idx="0">
            <a:schemeClr val="dk1"/>
          </a:effectRef>
          <a:fontRef idx="minor">
            <a:schemeClr val="tx1"/>
          </a:fontRef>
        </p:style>
      </p:cxnSp>
      <p:cxnSp>
        <p:nvCxnSpPr>
          <p:cNvPr id="29" name="直線單箭頭接點 28"/>
          <p:cNvCxnSpPr>
            <a:endCxn id="9" idx="2"/>
          </p:cNvCxnSpPr>
          <p:nvPr/>
        </p:nvCxnSpPr>
        <p:spPr>
          <a:xfrm flipV="1">
            <a:off x="4107605" y="2921174"/>
            <a:ext cx="1" cy="12037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0" name="圓角矩形 29"/>
          <p:cNvSpPr/>
          <p:nvPr/>
        </p:nvSpPr>
        <p:spPr>
          <a:xfrm>
            <a:off x="1106380" y="2562585"/>
            <a:ext cx="2040389" cy="358807"/>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altLang="zh-TW" dirty="0" smtClean="0"/>
              <a:t>Technical indexes</a:t>
            </a:r>
            <a:endParaRPr lang="zh-TW" altLang="en-US" dirty="0"/>
          </a:p>
        </p:txBody>
      </p:sp>
      <p:cxnSp>
        <p:nvCxnSpPr>
          <p:cNvPr id="31" name="直線單箭頭接點 30"/>
          <p:cNvCxnSpPr>
            <a:stCxn id="30" idx="3"/>
            <a:endCxn id="9" idx="1"/>
          </p:cNvCxnSpPr>
          <p:nvPr/>
        </p:nvCxnSpPr>
        <p:spPr>
          <a:xfrm flipV="1">
            <a:off x="3146769" y="2741154"/>
            <a:ext cx="231605" cy="83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7860853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smtClean="0">
                <a:latin typeface="Times New Roman" panose="02020603050405020304" pitchFamily="18" charset="0"/>
                <a:ea typeface="標楷體" panose="03000509000000000000" pitchFamily="65" charset="-120"/>
              </a:rPr>
              <a:t>BPN</a:t>
            </a:r>
            <a:endParaRPr lang="zh-TW" altLang="en-US" sz="40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30</a:t>
            </a:fld>
            <a:endParaRPr lang="zh-TW" altLang="en-US" dirty="0"/>
          </a:p>
        </p:txBody>
      </p:sp>
      <p:sp>
        <p:nvSpPr>
          <p:cNvPr id="5" name="文字方塊 4"/>
          <p:cNvSpPr txBox="1"/>
          <p:nvPr/>
        </p:nvSpPr>
        <p:spPr>
          <a:xfrm>
            <a:off x="95249" y="814576"/>
            <a:ext cx="8924925" cy="923330"/>
          </a:xfrm>
          <a:prstGeom prst="rect">
            <a:avLst/>
          </a:prstGeom>
          <a:noFill/>
        </p:spPr>
        <p:txBody>
          <a:bodyPr wrap="square" rtlCol="0">
            <a:spAutoFit/>
          </a:bodyPr>
          <a:lstStyle/>
          <a:p>
            <a:r>
              <a:rPr lang="en-US" altLang="zh-TW" dirty="0" smtClean="0">
                <a:latin typeface="Times New Roman" panose="02020603050405020304" pitchFamily="18" charset="0"/>
                <a:ea typeface="標楷體" panose="03000509000000000000" pitchFamily="65" charset="-120"/>
              </a:rPr>
              <a:t>Name:</a:t>
            </a:r>
            <a:r>
              <a:rPr lang="zh-TW" altLang="en-US" dirty="0" smtClean="0">
                <a:latin typeface="Times New Roman" panose="02020603050405020304" pitchFamily="18" charset="0"/>
                <a:ea typeface="標楷體" panose="03000509000000000000" pitchFamily="65" charset="-120"/>
              </a:rPr>
              <a:t> </a:t>
            </a:r>
            <a:r>
              <a:rPr lang="en-US" altLang="zh-TW" dirty="0" smtClean="0">
                <a:latin typeface="Times New Roman" panose="02020603050405020304" pitchFamily="18" charset="0"/>
                <a:ea typeface="標楷體" panose="03000509000000000000" pitchFamily="65" charset="-120"/>
              </a:rPr>
              <a:t>Backpropagation Neural Network (</a:t>
            </a:r>
            <a:r>
              <a:rPr lang="zh-TW" altLang="en-US" dirty="0" smtClean="0">
                <a:latin typeface="Times New Roman" panose="02020603050405020304" pitchFamily="18" charset="0"/>
                <a:ea typeface="標楷體" panose="03000509000000000000" pitchFamily="65" charset="-120"/>
              </a:rPr>
              <a:t>倒傳遞類神經網路</a:t>
            </a:r>
            <a:r>
              <a:rPr lang="en-US" altLang="zh-TW" dirty="0" smtClean="0">
                <a:latin typeface="Times New Roman" panose="02020603050405020304" pitchFamily="18" charset="0"/>
                <a:ea typeface="標楷體" panose="03000509000000000000" pitchFamily="65" charset="-120"/>
              </a:rPr>
              <a:t>)</a:t>
            </a:r>
          </a:p>
          <a:p>
            <a:endParaRPr lang="en-US" altLang="zh-TW" dirty="0">
              <a:latin typeface="Times New Roman" panose="02020603050405020304" pitchFamily="18" charset="0"/>
              <a:ea typeface="標楷體" panose="03000509000000000000" pitchFamily="65" charset="-120"/>
            </a:endParaRPr>
          </a:p>
          <a:p>
            <a:r>
              <a:rPr lang="en-US" altLang="zh-TW" dirty="0" smtClean="0">
                <a:latin typeface="Times New Roman" panose="02020603050405020304" pitchFamily="18" charset="0"/>
                <a:ea typeface="標楷體" panose="03000509000000000000" pitchFamily="65" charset="-120"/>
              </a:rPr>
              <a:t>Example:</a:t>
            </a:r>
          </a:p>
        </p:txBody>
      </p:sp>
      <p:pic>
        <p:nvPicPr>
          <p:cNvPr id="6" name="圖片 5"/>
          <p:cNvPicPr>
            <a:picLocks noChangeAspect="1"/>
          </p:cNvPicPr>
          <p:nvPr/>
        </p:nvPicPr>
        <p:blipFill>
          <a:blip r:embed="rId3"/>
          <a:stretch>
            <a:fillRect/>
          </a:stretch>
        </p:blipFill>
        <p:spPr>
          <a:xfrm>
            <a:off x="1471256" y="1796053"/>
            <a:ext cx="6172910" cy="4925423"/>
          </a:xfrm>
          <a:prstGeom prst="rect">
            <a:avLst/>
          </a:prstGeom>
        </p:spPr>
      </p:pic>
    </p:spTree>
    <p:extLst>
      <p:ext uri="{BB962C8B-B14F-4D97-AF65-F5344CB8AC3E}">
        <p14:creationId xmlns:p14="http://schemas.microsoft.com/office/powerpoint/2010/main" val="66335369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smtClean="0">
                <a:latin typeface="Times New Roman" panose="02020603050405020304" pitchFamily="18" charset="0"/>
                <a:ea typeface="標楷體" panose="03000509000000000000" pitchFamily="65" charset="-120"/>
              </a:rPr>
              <a:t>BPN</a:t>
            </a:r>
            <a:endParaRPr lang="zh-TW" altLang="en-US" sz="40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31</a:t>
            </a:fld>
            <a:endParaRPr lang="zh-TW" altLang="en-US" dirty="0"/>
          </a:p>
        </p:txBody>
      </p:sp>
      <p:sp>
        <p:nvSpPr>
          <p:cNvPr id="5" name="文字方塊 4"/>
          <p:cNvSpPr txBox="1"/>
          <p:nvPr/>
        </p:nvSpPr>
        <p:spPr>
          <a:xfrm>
            <a:off x="95249" y="814576"/>
            <a:ext cx="8924925" cy="369332"/>
          </a:xfrm>
          <a:prstGeom prst="rect">
            <a:avLst/>
          </a:prstGeom>
          <a:noFill/>
        </p:spPr>
        <p:txBody>
          <a:bodyPr wrap="square" rtlCol="0">
            <a:spAutoFit/>
          </a:bodyPr>
          <a:lstStyle/>
          <a:p>
            <a:r>
              <a:rPr lang="en-US" altLang="zh-TW" dirty="0" smtClean="0">
                <a:latin typeface="Times New Roman" panose="02020603050405020304" pitchFamily="18" charset="0"/>
                <a:ea typeface="標楷體" panose="03000509000000000000" pitchFamily="65" charset="-120"/>
              </a:rPr>
              <a:t>Example:</a:t>
            </a:r>
          </a:p>
        </p:txBody>
      </p:sp>
      <p:pic>
        <p:nvPicPr>
          <p:cNvPr id="6" name="圖片 5"/>
          <p:cNvPicPr>
            <a:picLocks noChangeAspect="1"/>
          </p:cNvPicPr>
          <p:nvPr/>
        </p:nvPicPr>
        <p:blipFill>
          <a:blip r:embed="rId3"/>
          <a:stretch>
            <a:fillRect/>
          </a:stretch>
        </p:blipFill>
        <p:spPr>
          <a:xfrm>
            <a:off x="95249" y="1362691"/>
            <a:ext cx="5241026" cy="4181864"/>
          </a:xfrm>
          <a:prstGeom prst="rect">
            <a:avLst/>
          </a:prstGeom>
        </p:spPr>
      </p:pic>
      <mc:AlternateContent xmlns:mc="http://schemas.openxmlformats.org/markup-compatibility/2006" xmlns:a14="http://schemas.microsoft.com/office/drawing/2010/main">
        <mc:Choice Requires="a14">
          <p:sp>
            <p:nvSpPr>
              <p:cNvPr id="3" name="文字方塊 2"/>
              <p:cNvSpPr txBox="1"/>
              <p:nvPr/>
            </p:nvSpPr>
            <p:spPr>
              <a:xfrm>
                <a:off x="5336275" y="999242"/>
                <a:ext cx="3683899" cy="5590633"/>
              </a:xfrm>
              <a:prstGeom prst="rect">
                <a:avLst/>
              </a:prstGeom>
              <a:noFill/>
            </p:spPr>
            <p:txBody>
              <a:bodyPr wrap="square" rtlCol="0">
                <a:spAutoFit/>
              </a:bodyPr>
              <a:lstStyle/>
              <a:p>
                <a:r>
                  <a:rPr lang="en-US" altLang="zh-TW" b="1" dirty="0" smtClean="0">
                    <a:latin typeface="Times New Roman" panose="02020603050405020304" pitchFamily="18" charset="0"/>
                    <a:cs typeface="Times New Roman" panose="02020603050405020304" pitchFamily="18" charset="0"/>
                  </a:rPr>
                  <a:t>Feed forward:</a:t>
                </a:r>
              </a:p>
              <a:p>
                <a:pPr/>
                <a14:m>
                  <m:oMathPara xmlns:m="http://schemas.openxmlformats.org/officeDocument/2006/math">
                    <m:oMathParaPr>
                      <m:jc m:val="left"/>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𝑛𝑒𝑡</m:t>
                          </m:r>
                        </m:e>
                        <m:sub>
                          <m:r>
                            <a:rPr lang="en-US" altLang="zh-TW" b="0" i="1" smtClean="0">
                              <a:latin typeface="Cambria Math" panose="02040503050406030204" pitchFamily="18" charset="0"/>
                            </a:rPr>
                            <m:t>h</m:t>
                          </m:r>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𝑤</m:t>
                      </m:r>
                      <m:r>
                        <a:rPr lang="en-US" altLang="zh-TW" b="0" i="1" smtClean="0">
                          <a:latin typeface="Cambria Math" panose="02040503050406030204" pitchFamily="18" charset="0"/>
                        </a:rPr>
                        <m:t>1×</m:t>
                      </m:r>
                      <m:r>
                        <a:rPr lang="en-US" altLang="zh-TW" b="0" i="1" smtClean="0">
                          <a:latin typeface="Cambria Math" panose="02040503050406030204" pitchFamily="18" charset="0"/>
                          <a:ea typeface="Cambria Math" panose="02040503050406030204" pitchFamily="18" charset="0"/>
                        </a:rPr>
                        <m:t>𝑖</m:t>
                      </m:r>
                      <m:r>
                        <a:rPr lang="en-US" altLang="zh-TW" b="0" i="1" smtClean="0">
                          <a:latin typeface="Cambria Math" panose="02040503050406030204" pitchFamily="18" charset="0"/>
                          <a:ea typeface="Cambria Math" panose="02040503050406030204" pitchFamily="18" charset="0"/>
                        </a:rPr>
                        <m:t>1+</m:t>
                      </m:r>
                      <m:r>
                        <a:rPr lang="en-US" altLang="zh-TW" b="0" i="1" smtClean="0">
                          <a:latin typeface="Cambria Math" panose="02040503050406030204" pitchFamily="18" charset="0"/>
                          <a:ea typeface="Cambria Math" panose="02040503050406030204" pitchFamily="18" charset="0"/>
                        </a:rPr>
                        <m:t>𝑤</m:t>
                      </m:r>
                      <m:r>
                        <a:rPr lang="en-US" altLang="zh-TW" b="0" i="1" smtClean="0">
                          <a:latin typeface="Cambria Math" panose="02040503050406030204" pitchFamily="18" charset="0"/>
                          <a:ea typeface="Cambria Math" panose="02040503050406030204" pitchFamily="18" charset="0"/>
                        </a:rPr>
                        <m:t>2×</m:t>
                      </m:r>
                      <m:r>
                        <a:rPr lang="en-US" altLang="zh-TW" b="0" i="1" smtClean="0">
                          <a:latin typeface="Cambria Math" panose="02040503050406030204" pitchFamily="18" charset="0"/>
                          <a:ea typeface="Cambria Math" panose="02040503050406030204" pitchFamily="18" charset="0"/>
                        </a:rPr>
                        <m:t>𝑖</m:t>
                      </m:r>
                      <m:r>
                        <a:rPr lang="en-US" altLang="zh-TW" b="0" i="1" smtClean="0">
                          <a:latin typeface="Cambria Math" panose="02040503050406030204" pitchFamily="18" charset="0"/>
                          <a:ea typeface="Cambria Math" panose="02040503050406030204" pitchFamily="18" charset="0"/>
                        </a:rPr>
                        <m:t>2+</m:t>
                      </m:r>
                      <m:r>
                        <a:rPr lang="en-US" altLang="zh-TW" b="0" i="1" smtClean="0">
                          <a:latin typeface="Cambria Math" panose="02040503050406030204" pitchFamily="18" charset="0"/>
                          <a:ea typeface="Cambria Math" panose="02040503050406030204" pitchFamily="18" charset="0"/>
                        </a:rPr>
                        <m:t>𝑏</m:t>
                      </m:r>
                      <m:r>
                        <a:rPr lang="en-US" altLang="zh-TW" b="0" i="1" smtClean="0">
                          <a:latin typeface="Cambria Math" panose="02040503050406030204" pitchFamily="18" charset="0"/>
                          <a:ea typeface="Cambria Math" panose="02040503050406030204" pitchFamily="18" charset="0"/>
                        </a:rPr>
                        <m:t>1∗1</m:t>
                      </m:r>
                    </m:oMath>
                  </m:oMathPara>
                </a14:m>
                <a:endParaRPr lang="en-US" altLang="zh-TW" b="0" dirty="0" smtClean="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𝑛𝑒𝑡</m:t>
                          </m:r>
                        </m:e>
                        <m:sub>
                          <m:r>
                            <a:rPr lang="en-US" altLang="zh-TW" b="0" i="1" smtClean="0">
                              <a:latin typeface="Cambria Math" panose="02040503050406030204" pitchFamily="18" charset="0"/>
                              <a:ea typeface="Cambria Math" panose="02040503050406030204" pitchFamily="18" charset="0"/>
                            </a:rPr>
                            <m:t>h</m:t>
                          </m:r>
                          <m:r>
                            <a:rPr lang="en-US" altLang="zh-TW" b="0" i="1" smtClean="0">
                              <a:latin typeface="Cambria Math" panose="02040503050406030204" pitchFamily="18" charset="0"/>
                              <a:ea typeface="Cambria Math" panose="02040503050406030204" pitchFamily="18" charset="0"/>
                            </a:rPr>
                            <m:t>1</m:t>
                          </m:r>
                        </m:sub>
                      </m:sSub>
                      <m:r>
                        <a:rPr lang="en-US" altLang="zh-TW" b="0" i="1" smtClean="0">
                          <a:latin typeface="Cambria Math" panose="02040503050406030204" pitchFamily="18" charset="0"/>
                          <a:ea typeface="Cambria Math" panose="02040503050406030204" pitchFamily="18" charset="0"/>
                        </a:rPr>
                        <m:t>=0.15∗0.05+0.2∗0.1+0.35+1=0.3775</m:t>
                      </m:r>
                    </m:oMath>
                  </m:oMathPara>
                </a14:m>
                <a:endParaRPr lang="en-US" altLang="zh-TW" b="0" dirty="0" smtClean="0">
                  <a:ea typeface="Cambria Math" panose="02040503050406030204" pitchFamily="18" charset="0"/>
                </a:endParaRPr>
              </a:p>
              <a:p>
                <a:endParaRPr lang="en-US" altLang="zh-TW" dirty="0">
                  <a:ea typeface="Cambria Math" panose="02040503050406030204" pitchFamily="18" charset="0"/>
                </a:endParaRPr>
              </a:p>
              <a:p>
                <a:r>
                  <a:rPr lang="en-US" altLang="zh-TW" i="1" dirty="0" smtClean="0">
                    <a:latin typeface="Times New Roman" panose="02020603050405020304" pitchFamily="18" charset="0"/>
                    <a:ea typeface="Cambria Math" panose="02040503050406030204" pitchFamily="18" charset="0"/>
                    <a:cs typeface="Times New Roman" panose="02020603050405020304" pitchFamily="18" charset="0"/>
                  </a:rPr>
                  <a:t>0.3775</a:t>
                </a:r>
                <a:r>
                  <a:rPr lang="en-US" altLang="zh-TW" dirty="0" smtClean="0">
                    <a:latin typeface="Times New Roman" panose="02020603050405020304" pitchFamily="18" charset="0"/>
                    <a:ea typeface="Cambria Math" panose="02040503050406030204" pitchFamily="18" charset="0"/>
                    <a:cs typeface="Times New Roman" panose="02020603050405020304" pitchFamily="18" charset="0"/>
                  </a:rPr>
                  <a:t> is not output yet, we need activation function(Sigmoid).</a:t>
                </a:r>
              </a:p>
              <a:p>
                <a:endParaRPr lang="en-US" altLang="zh-TW"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𝑜𝑢𝑡</m:t>
                          </m:r>
                        </m:e>
                        <m:sub>
                          <m:r>
                            <a:rPr lang="en-US" altLang="zh-TW" b="0" i="1" smtClean="0">
                              <a:latin typeface="Cambria Math" panose="02040503050406030204" pitchFamily="18" charset="0"/>
                              <a:ea typeface="Cambria Math" panose="02040503050406030204" pitchFamily="18" charset="0"/>
                            </a:rPr>
                            <m:t>h</m:t>
                          </m:r>
                          <m:r>
                            <a:rPr lang="en-US" altLang="zh-TW" b="0" i="1" smtClean="0">
                              <a:latin typeface="Cambria Math" panose="02040503050406030204" pitchFamily="18" charset="0"/>
                              <a:ea typeface="Cambria Math" panose="02040503050406030204" pitchFamily="18" charset="0"/>
                            </a:rPr>
                            <m:t>1</m:t>
                          </m:r>
                        </m:sub>
                      </m:sSub>
                      <m:r>
                        <a:rPr lang="en-US" altLang="zh-TW" b="0" i="1" smtClean="0">
                          <a:latin typeface="Cambria Math" panose="02040503050406030204" pitchFamily="18" charset="0"/>
                          <a:ea typeface="Cambria Math" panose="02040503050406030204" pitchFamily="18" charset="0"/>
                        </a:rPr>
                        <m:t>=</m:t>
                      </m:r>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1</m:t>
                          </m:r>
                        </m:num>
                        <m:den>
                          <m:r>
                            <a:rPr lang="en-US" altLang="zh-TW" b="0" i="1" smtClean="0">
                              <a:latin typeface="Cambria Math" panose="02040503050406030204" pitchFamily="18" charset="0"/>
                              <a:ea typeface="Cambria Math" panose="02040503050406030204" pitchFamily="18" charset="0"/>
                            </a:rPr>
                            <m:t>1+</m:t>
                          </m:r>
                          <m:sSup>
                            <m:sSupPr>
                              <m:ctrlPr>
                                <a:rPr lang="en-US" altLang="zh-TW" b="0" i="1" smtClean="0">
                                  <a:latin typeface="Cambria Math" panose="02040503050406030204" pitchFamily="18" charset="0"/>
                                  <a:ea typeface="Cambria Math" panose="02040503050406030204" pitchFamily="18" charset="0"/>
                                </a:rPr>
                              </m:ctrlPr>
                            </m:sSupPr>
                            <m:e>
                              <m:r>
                                <a:rPr lang="en-US" altLang="zh-TW" b="0" i="1" smtClean="0">
                                  <a:latin typeface="Cambria Math" panose="02040503050406030204" pitchFamily="18" charset="0"/>
                                  <a:ea typeface="Cambria Math" panose="02040503050406030204" pitchFamily="18" charset="0"/>
                                </a:rPr>
                                <m:t>𝑒</m:t>
                              </m:r>
                            </m:e>
                            <m:sup>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𝑛𝑒𝑡</m:t>
                                  </m:r>
                                </m:e>
                                <m:sub>
                                  <m:r>
                                    <a:rPr lang="en-US" altLang="zh-TW" b="0" i="1" smtClean="0">
                                      <a:latin typeface="Cambria Math" panose="02040503050406030204" pitchFamily="18" charset="0"/>
                                      <a:ea typeface="Cambria Math" panose="02040503050406030204" pitchFamily="18" charset="0"/>
                                    </a:rPr>
                                    <m:t>h</m:t>
                                  </m:r>
                                  <m:r>
                                    <a:rPr lang="en-US" altLang="zh-TW" b="0" i="1" smtClean="0">
                                      <a:latin typeface="Cambria Math" panose="02040503050406030204" pitchFamily="18" charset="0"/>
                                      <a:ea typeface="Cambria Math" panose="02040503050406030204" pitchFamily="18" charset="0"/>
                                    </a:rPr>
                                    <m:t>1</m:t>
                                  </m:r>
                                </m:sub>
                              </m:sSub>
                            </m:sup>
                          </m:sSup>
                        </m:den>
                      </m:f>
                      <m:r>
                        <a:rPr lang="en-US" altLang="zh-TW" b="0" i="1" smtClean="0">
                          <a:latin typeface="Cambria Math" panose="02040503050406030204" pitchFamily="18" charset="0"/>
                          <a:ea typeface="Cambria Math" panose="02040503050406030204" pitchFamily="18" charset="0"/>
                        </a:rPr>
                        <m:t>=</m:t>
                      </m:r>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1</m:t>
                          </m:r>
                        </m:num>
                        <m:den>
                          <m:r>
                            <a:rPr lang="en-US" altLang="zh-TW" b="0" i="1" smtClean="0">
                              <a:latin typeface="Cambria Math" panose="02040503050406030204" pitchFamily="18" charset="0"/>
                              <a:ea typeface="Cambria Math" panose="02040503050406030204" pitchFamily="18" charset="0"/>
                            </a:rPr>
                            <m:t>1+</m:t>
                          </m:r>
                          <m:sSup>
                            <m:sSupPr>
                              <m:ctrlPr>
                                <a:rPr lang="en-US" altLang="zh-TW" b="0" i="1" smtClean="0">
                                  <a:latin typeface="Cambria Math" panose="02040503050406030204" pitchFamily="18" charset="0"/>
                                  <a:ea typeface="Cambria Math" panose="02040503050406030204" pitchFamily="18" charset="0"/>
                                </a:rPr>
                              </m:ctrlPr>
                            </m:sSupPr>
                            <m:e>
                              <m:r>
                                <a:rPr lang="en-US" altLang="zh-TW" b="0" i="1" smtClean="0">
                                  <a:latin typeface="Cambria Math" panose="02040503050406030204" pitchFamily="18" charset="0"/>
                                  <a:ea typeface="Cambria Math" panose="02040503050406030204" pitchFamily="18" charset="0"/>
                                </a:rPr>
                                <m:t>𝑒</m:t>
                              </m:r>
                            </m:e>
                            <m:sup>
                              <m:r>
                                <a:rPr lang="en-US" altLang="zh-TW" b="0" i="1" smtClean="0">
                                  <a:latin typeface="Cambria Math" panose="02040503050406030204" pitchFamily="18" charset="0"/>
                                  <a:ea typeface="Cambria Math" panose="02040503050406030204" pitchFamily="18" charset="0"/>
                                </a:rPr>
                                <m:t>−0.3775</m:t>
                              </m:r>
                            </m:sup>
                          </m:sSup>
                        </m:den>
                      </m:f>
                      <m:r>
                        <a:rPr lang="en-US" altLang="zh-TW" b="0" i="1" smtClean="0">
                          <a:latin typeface="Cambria Math" panose="02040503050406030204" pitchFamily="18" charset="0"/>
                          <a:ea typeface="Cambria Math" panose="02040503050406030204" pitchFamily="18" charset="0"/>
                        </a:rPr>
                        <m:t>=0.593269992</m:t>
                      </m:r>
                    </m:oMath>
                  </m:oMathPara>
                </a14:m>
                <a:endParaRPr lang="en-US" altLang="zh-TW" b="0" dirty="0" smtClean="0">
                  <a:ea typeface="Cambria Math" panose="02040503050406030204" pitchFamily="18" charset="0"/>
                </a:endParaRPr>
              </a:p>
              <a:p>
                <a:endParaRPr lang="en-US" altLang="zh-TW" dirty="0" smtClean="0">
                  <a:ea typeface="Cambria Math" panose="02040503050406030204" pitchFamily="18" charset="0"/>
                </a:endParaRPr>
              </a:p>
              <a:p>
                <a:r>
                  <a:rPr lang="en-US" altLang="zh-TW" dirty="0" smtClean="0">
                    <a:latin typeface="Times New Roman" panose="02020603050405020304" pitchFamily="18" charset="0"/>
                    <a:ea typeface="Cambria Math" panose="02040503050406030204" pitchFamily="18" charset="0"/>
                    <a:cs typeface="Times New Roman" panose="02020603050405020304" pitchFamily="18" charset="0"/>
                  </a:rPr>
                  <a:t>Then </a:t>
                </a:r>
                <a14:m>
                  <m:oMath xmlns:m="http://schemas.openxmlformats.org/officeDocument/2006/math">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𝑜𝑢𝑡</m:t>
                        </m:r>
                      </m:e>
                      <m:sub>
                        <m:r>
                          <a:rPr lang="en-US" altLang="zh-TW" i="1">
                            <a:latin typeface="Cambria Math" panose="02040503050406030204" pitchFamily="18" charset="0"/>
                            <a:ea typeface="Cambria Math" panose="02040503050406030204" pitchFamily="18" charset="0"/>
                          </a:rPr>
                          <m:t>h</m:t>
                        </m:r>
                        <m:r>
                          <a:rPr lang="en-US" altLang="zh-TW" i="1">
                            <a:latin typeface="Cambria Math" panose="02040503050406030204" pitchFamily="18" charset="0"/>
                            <a:ea typeface="Cambria Math" panose="02040503050406030204" pitchFamily="18" charset="0"/>
                          </a:rPr>
                          <m:t>1</m:t>
                        </m:r>
                      </m:sub>
                    </m:sSub>
                  </m:oMath>
                </a14:m>
                <a:r>
                  <a:rPr lang="en-US" altLang="zh-TW" dirty="0" smtClean="0">
                    <a:latin typeface="Times New Roman" panose="02020603050405020304" pitchFamily="18" charset="0"/>
                    <a:ea typeface="Cambria Math" panose="02040503050406030204" pitchFamily="18" charset="0"/>
                    <a:cs typeface="Times New Roman" panose="02020603050405020304" pitchFamily="18" charset="0"/>
                  </a:rPr>
                  <a:t> will be the input value for </a:t>
                </a:r>
                <a:r>
                  <a:rPr lang="en-US" altLang="zh-TW" i="1" dirty="0" smtClean="0">
                    <a:latin typeface="Times New Roman" panose="02020603050405020304" pitchFamily="18" charset="0"/>
                    <a:ea typeface="Cambria Math" panose="02040503050406030204" pitchFamily="18" charset="0"/>
                    <a:cs typeface="Times New Roman" panose="02020603050405020304" pitchFamily="18" charset="0"/>
                  </a:rPr>
                  <a:t>o1</a:t>
                </a:r>
              </a:p>
              <a:p>
                <a:endParaRPr lang="en-US" altLang="zh-TW" i="1" dirty="0">
                  <a:latin typeface="Times New Roman" panose="02020603050405020304" pitchFamily="18" charset="0"/>
                  <a:ea typeface="Cambria Math" panose="02040503050406030204" pitchFamily="18" charset="0"/>
                  <a:cs typeface="Times New Roman" panose="02020603050405020304" pitchFamily="18" charset="0"/>
                </a:endParaRPr>
              </a:p>
              <a:p>
                <a:r>
                  <a:rPr lang="en-US" altLang="zh-TW" dirty="0" smtClean="0">
                    <a:latin typeface="Times New Roman" panose="02020603050405020304" pitchFamily="18" charset="0"/>
                    <a:ea typeface="Cambria Math" panose="02040503050406030204" pitchFamily="18" charset="0"/>
                    <a:cs typeface="Times New Roman" panose="02020603050405020304" pitchFamily="18" charset="0"/>
                  </a:rPr>
                  <a:t>Same operation for </a:t>
                </a:r>
                <a:r>
                  <a:rPr lang="en-US" altLang="zh-TW" i="1" dirty="0" smtClean="0">
                    <a:latin typeface="Times New Roman" panose="02020603050405020304" pitchFamily="18" charset="0"/>
                    <a:ea typeface="Cambria Math" panose="02040503050406030204" pitchFamily="18" charset="0"/>
                    <a:cs typeface="Times New Roman" panose="02020603050405020304" pitchFamily="18" charset="0"/>
                  </a:rPr>
                  <a:t>h2, o1, o2</a:t>
                </a:r>
              </a:p>
              <a:p>
                <a:endParaRPr lang="en-US" altLang="zh-TW" i="1" dirty="0">
                  <a:latin typeface="Times New Roman" panose="02020603050405020304" pitchFamily="18" charset="0"/>
                  <a:ea typeface="Cambria Math" panose="020405030504060302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𝑜𝑢𝑡</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𝑜</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1</m:t>
                          </m:r>
                        </m:sub>
                      </m:s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=0.75136507</m:t>
                      </m:r>
                    </m:oMath>
                  </m:oMathPara>
                </a14:m>
                <a:endParaRPr lang="en-US" altLang="zh-TW" b="0" i="1" dirty="0" smtClean="0">
                  <a:latin typeface="Times New Roman" panose="02020603050405020304" pitchFamily="18" charset="0"/>
                  <a:ea typeface="Cambria Math" panose="020405030504060302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𝑜𝑢𝑡</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𝑜</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2</m:t>
                          </m:r>
                        </m:sub>
                      </m:s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=0.772928465</m:t>
                      </m:r>
                    </m:oMath>
                  </m:oMathPara>
                </a14:m>
                <a:endParaRPr lang="en-US" altLang="zh-TW" i="1" dirty="0" smtClean="0">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3" name="文字方塊 2"/>
              <p:cNvSpPr txBox="1">
                <a:spLocks noRot="1" noChangeAspect="1" noMove="1" noResize="1" noEditPoints="1" noAdjustHandles="1" noChangeArrowheads="1" noChangeShapeType="1" noTextEdit="1"/>
              </p:cNvSpPr>
              <p:nvPr/>
            </p:nvSpPr>
            <p:spPr>
              <a:xfrm>
                <a:off x="5336275" y="999242"/>
                <a:ext cx="3683899" cy="5590633"/>
              </a:xfrm>
              <a:prstGeom prst="rect">
                <a:avLst/>
              </a:prstGeom>
              <a:blipFill rotWithShape="0">
                <a:blip r:embed="rId4"/>
                <a:stretch>
                  <a:fillRect l="-1322" t="-65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0122596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smtClean="0">
                <a:latin typeface="Times New Roman" panose="02020603050405020304" pitchFamily="18" charset="0"/>
                <a:ea typeface="標楷體" panose="03000509000000000000" pitchFamily="65" charset="-120"/>
              </a:rPr>
              <a:t>BPN</a:t>
            </a:r>
            <a:endParaRPr lang="zh-TW" altLang="en-US" sz="40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32</a:t>
            </a:fld>
            <a:endParaRPr lang="zh-TW" altLang="en-US" dirty="0"/>
          </a:p>
        </p:txBody>
      </p:sp>
      <mc:AlternateContent xmlns:mc="http://schemas.openxmlformats.org/markup-compatibility/2006" xmlns:a14="http://schemas.microsoft.com/office/drawing/2010/main">
        <mc:Choice Requires="a14">
          <p:sp>
            <p:nvSpPr>
              <p:cNvPr id="3" name="文字方塊 2"/>
              <p:cNvSpPr txBox="1"/>
              <p:nvPr/>
            </p:nvSpPr>
            <p:spPr>
              <a:xfrm>
                <a:off x="95249" y="809897"/>
                <a:ext cx="8924925" cy="3275833"/>
              </a:xfrm>
              <a:prstGeom prst="rect">
                <a:avLst/>
              </a:prstGeom>
              <a:noFill/>
            </p:spPr>
            <p:txBody>
              <a:bodyPr wrap="square" rtlCol="0">
                <a:spAutoFit/>
              </a:bodyPr>
              <a:lstStyle/>
              <a:p>
                <a:r>
                  <a:rPr lang="en-US" altLang="zh-TW" b="1" dirty="0" smtClean="0">
                    <a:latin typeface="Times New Roman" panose="02020603050405020304" pitchFamily="18" charset="0"/>
                    <a:cs typeface="Times New Roman" panose="02020603050405020304" pitchFamily="18" charset="0"/>
                  </a:rPr>
                  <a:t>Backward:</a:t>
                </a:r>
              </a:p>
              <a:p>
                <a:pPr/>
                <a14:m>
                  <m:oMathPara xmlns:m="http://schemas.openxmlformats.org/officeDocument/2006/math">
                    <m:oMathParaPr>
                      <m:jc m:val="left"/>
                    </m:oMathParaPr>
                    <m:oMath xmlns:m="http://schemas.openxmlformats.org/officeDocument/2006/math">
                      <m:sSub>
                        <m:sSubPr>
                          <m:ctrlPr>
                            <a:rPr lang="en-US" altLang="zh-TW"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𝐸</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𝑡𝑜𝑡𝑎𝑙</m:t>
                          </m:r>
                        </m:sub>
                      </m:s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nary>
                        <m:naryPr>
                          <m:chr m:val="∑"/>
                          <m:subHide m:val="on"/>
                          <m:supHide m:val="on"/>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naryPr>
                        <m:sub/>
                        <m:sup/>
                        <m:e>
                          <m:f>
                            <m:f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1</m:t>
                              </m:r>
                            </m:num>
                            <m:den>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2</m:t>
                              </m:r>
                            </m:den>
                          </m:f>
                          <m:sSup>
                            <m:sSup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en-US" altLang="zh-TW" i="1">
                                  <a:latin typeface="Cambria Math" panose="02040503050406030204" pitchFamily="18" charset="0"/>
                                  <a:ea typeface="Cambria Math" panose="02040503050406030204" pitchFamily="18" charset="0"/>
                                  <a:cs typeface="Times New Roman" panose="02020603050405020304" pitchFamily="18" charset="0"/>
                                </a:rPr>
                                <m:t>𝑡𝑎𝑟𝑔𝑒𝑡</m:t>
                              </m:r>
                              <m: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en-US" altLang="zh-TW" i="1">
                                  <a:latin typeface="Cambria Math" panose="02040503050406030204" pitchFamily="18" charset="0"/>
                                  <a:ea typeface="Cambria Math" panose="02040503050406030204" pitchFamily="18" charset="0"/>
                                  <a:cs typeface="Times New Roman" panose="02020603050405020304" pitchFamily="18" charset="0"/>
                                </a:rPr>
                                <m:t>𝑜𝑢𝑡𝑝𝑢𝑡</m:t>
                              </m:r>
                              <m:r>
                                <a:rPr lang="en-US" altLang="zh-TW" i="1">
                                  <a:latin typeface="Cambria Math" panose="02040503050406030204" pitchFamily="18" charset="0"/>
                                  <a:ea typeface="Cambria Math" panose="02040503050406030204" pitchFamily="18" charset="0"/>
                                  <a:cs typeface="Times New Roman" panose="02020603050405020304" pitchFamily="18" charset="0"/>
                                </a:rPr>
                                <m:t>)</m:t>
                              </m:r>
                            </m:e>
                            <m:sup>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2</m:t>
                              </m:r>
                            </m:sup>
                          </m:sSup>
                        </m:e>
                      </m:nary>
                    </m:oMath>
                  </m:oMathPara>
                </a14:m>
                <a:endParaRPr lang="en-US" altLang="zh-TW" b="0" i="1" dirty="0" smtClean="0">
                  <a:latin typeface="Times New Roman" panose="02020603050405020304" pitchFamily="18" charset="0"/>
                  <a:ea typeface="Cambria Math" panose="02040503050406030204" pitchFamily="18" charset="0"/>
                  <a:cs typeface="Times New Roman" panose="02020603050405020304" pitchFamily="18" charset="0"/>
                </a:endParaRPr>
              </a:p>
              <a:p>
                <a:pPr/>
                <a14:m>
                  <m:oMathPara xmlns:m="http://schemas.openxmlformats.org/officeDocument/2006/math">
                    <m:oMathParaPr>
                      <m:jc m:val="left"/>
                    </m:oMathParaPr>
                    <m:oMath xmlns:m="http://schemas.openxmlformats.org/officeDocument/2006/math">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𝐸</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𝑜</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1</m:t>
                          </m:r>
                        </m:sub>
                      </m:s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=0.274811083</m:t>
                      </m:r>
                    </m:oMath>
                  </m:oMathPara>
                </a14:m>
                <a:endParaRPr lang="en-US" altLang="zh-TW" b="0" i="1" dirty="0" smtClean="0">
                  <a:latin typeface="Times New Roman" panose="02020603050405020304" pitchFamily="18" charset="0"/>
                  <a:ea typeface="Cambria Math" panose="02040503050406030204" pitchFamily="18" charset="0"/>
                  <a:cs typeface="Times New Roman" panose="02020603050405020304" pitchFamily="18" charset="0"/>
                </a:endParaRPr>
              </a:p>
              <a:p>
                <a:pPr/>
                <a14:m>
                  <m:oMathPara xmlns:m="http://schemas.openxmlformats.org/officeDocument/2006/math">
                    <m:oMathParaPr>
                      <m:jc m:val="left"/>
                    </m:oMathParaPr>
                    <m:oMath xmlns:m="http://schemas.openxmlformats.org/officeDocument/2006/math">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𝐸</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𝑜</m:t>
                          </m:r>
                          <m:r>
                            <a:rPr lang="en-US" altLang="zh-TW" i="1">
                              <a:latin typeface="Cambria Math" panose="02040503050406030204" pitchFamily="18" charset="0"/>
                              <a:ea typeface="Cambria Math" panose="02040503050406030204" pitchFamily="18" charset="0"/>
                              <a:cs typeface="Times New Roman" panose="02020603050405020304" pitchFamily="18" charset="0"/>
                            </a:rPr>
                            <m:t>1</m:t>
                          </m:r>
                        </m:sub>
                      </m:sSub>
                      <m:r>
                        <a:rPr lang="en-US" altLang="zh-TW" i="1">
                          <a:latin typeface="Cambria Math" panose="02040503050406030204" pitchFamily="18" charset="0"/>
                          <a:ea typeface="Cambria Math" panose="02040503050406030204" pitchFamily="18" charset="0"/>
                          <a:cs typeface="Times New Roman" panose="02020603050405020304" pitchFamily="18" charset="0"/>
                        </a:rPr>
                        <m:t>=0</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.023560026</m:t>
                      </m:r>
                    </m:oMath>
                  </m:oMathPara>
                </a14:m>
                <a:endParaRPr lang="en-US" altLang="zh-TW" i="1" dirty="0">
                  <a:latin typeface="Times New Roman" panose="02020603050405020304" pitchFamily="18" charset="0"/>
                  <a:ea typeface="Cambria Math" panose="02040503050406030204" pitchFamily="18" charset="0"/>
                  <a:cs typeface="Times New Roman" panose="02020603050405020304" pitchFamily="18" charset="0"/>
                </a:endParaRPr>
              </a:p>
              <a:p>
                <a:pPr/>
                <a14:m>
                  <m:oMathPara xmlns:m="http://schemas.openxmlformats.org/officeDocument/2006/math">
                    <m:oMathParaPr>
                      <m:jc m:val="left"/>
                    </m:oMathParaPr>
                    <m:oMath xmlns:m="http://schemas.openxmlformats.org/officeDocument/2006/math">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𝐸</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𝑡𝑜𝑡𝑎𝑙</m:t>
                          </m:r>
                        </m:sub>
                      </m:s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=0.298371109</m:t>
                      </m:r>
                    </m:oMath>
                  </m:oMathPara>
                </a14:m>
                <a:endParaRPr lang="en-US" altLang="zh-TW" b="0" i="1" dirty="0" smtClean="0">
                  <a:latin typeface="Times New Roman" panose="02020603050405020304" pitchFamily="18" charset="0"/>
                  <a:ea typeface="Cambria Math" panose="02040503050406030204" pitchFamily="18" charset="0"/>
                  <a:cs typeface="Times New Roman" panose="02020603050405020304" pitchFamily="18" charset="0"/>
                </a:endParaRPr>
              </a:p>
              <a:p>
                <a:endParaRPr lang="en-US" altLang="zh-TW" i="1" dirty="0">
                  <a:latin typeface="Times New Roman" panose="02020603050405020304" pitchFamily="18" charset="0"/>
                  <a:ea typeface="Cambria Math" panose="02040503050406030204" pitchFamily="18" charset="0"/>
                  <a:cs typeface="Times New Roman" panose="02020603050405020304" pitchFamily="18" charset="0"/>
                </a:endParaRPr>
              </a:p>
              <a:p>
                <a:r>
                  <a:rPr lang="zh-TW" altLang="en-US" dirty="0" smtClean="0">
                    <a:latin typeface="Times New Roman" panose="02020603050405020304" pitchFamily="18" charset="0"/>
                    <a:ea typeface="Cambria Math" panose="02040503050406030204" pitchFamily="18" charset="0"/>
                    <a:cs typeface="Times New Roman" panose="02020603050405020304" pitchFamily="18" charset="0"/>
                  </a:rPr>
                  <a:t>修正</a:t>
                </a:r>
                <a:r>
                  <a:rPr lang="en-US" altLang="zh-TW" dirty="0" smtClean="0">
                    <a:latin typeface="Times New Roman" panose="02020603050405020304" pitchFamily="18" charset="0"/>
                    <a:ea typeface="Cambria Math" panose="02040503050406030204" pitchFamily="18" charset="0"/>
                    <a:cs typeface="Times New Roman" panose="02020603050405020304" pitchFamily="18" charset="0"/>
                  </a:rPr>
                  <a:t>weight</a:t>
                </a:r>
                <a:r>
                  <a:rPr lang="zh-TW" altLang="en-US" dirty="0" smtClean="0">
                    <a:latin typeface="Times New Roman" panose="02020603050405020304" pitchFamily="18" charset="0"/>
                    <a:ea typeface="Cambria Math" panose="02040503050406030204" pitchFamily="18" charset="0"/>
                    <a:cs typeface="Times New Roman" panose="02020603050405020304" pitchFamily="18" charset="0"/>
                  </a:rPr>
                  <a:t>來降低</a:t>
                </a:r>
                <a:r>
                  <a:rPr lang="en-US" altLang="zh-TW" dirty="0" smtClean="0">
                    <a:latin typeface="Times New Roman" panose="02020603050405020304" pitchFamily="18" charset="0"/>
                    <a:ea typeface="Cambria Math" panose="02040503050406030204" pitchFamily="18" charset="0"/>
                    <a:cs typeface="Times New Roman" panose="02020603050405020304" pitchFamily="18" charset="0"/>
                  </a:rPr>
                  <a:t>Error rate</a:t>
                </a:r>
              </a:p>
              <a:p>
                <a:endParaRPr lang="en-US" altLang="zh-TW" dirty="0" smtClean="0">
                  <a:latin typeface="Times New Roman" panose="02020603050405020304" pitchFamily="18" charset="0"/>
                  <a:ea typeface="Cambria Math" panose="020405030504060302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𝑤</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5</m:t>
                          </m:r>
                        </m:sub>
                      </m:s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zh-TW" altLang="en-US"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𝐸</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𝑡𝑜𝑡𝑎𝑙</m:t>
                              </m:r>
                            </m:sub>
                          </m:sSub>
                        </m:num>
                        <m:den>
                          <m:r>
                            <a:rPr lang="zh-TW" altLang="en-US"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𝑤</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5</m:t>
                              </m:r>
                            </m:sub>
                          </m:sSub>
                        </m:den>
                      </m:f>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fPr>
                        <m:num>
                          <m:r>
                            <a:rPr lang="zh-TW" alt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𝐸</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𝑡𝑜𝑡𝑎𝑙</m:t>
                              </m:r>
                            </m:sub>
                          </m:sSub>
                        </m:num>
                        <m:den>
                          <m:r>
                            <a:rPr lang="zh-TW" alt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𝑜𝑢𝑡</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𝑜</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1</m:t>
                              </m:r>
                            </m:sub>
                          </m:sSub>
                        </m:den>
                      </m:f>
                      <m:r>
                        <a:rPr lang="en-US" altLang="zh-TW"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fPr>
                        <m:num>
                          <m:r>
                            <a:rPr lang="zh-TW" alt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𝑜𝑢𝑡</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𝑜</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1</m:t>
                              </m:r>
                            </m:sub>
                          </m:sSub>
                        </m:num>
                        <m:den>
                          <m:r>
                            <a:rPr lang="zh-TW" alt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𝑛𝑒𝑡</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𝑜</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1</m:t>
                              </m:r>
                            </m:sub>
                          </m:sSub>
                        </m:den>
                      </m:f>
                      <m:r>
                        <a:rPr lang="en-US" altLang="zh-TW"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fPr>
                        <m:num>
                          <m:r>
                            <a:rPr lang="zh-TW" alt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𝑛𝑒𝑡</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𝑜</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1</m:t>
                              </m:r>
                            </m:sub>
                          </m:sSub>
                        </m:num>
                        <m:den>
                          <m:r>
                            <a:rPr lang="zh-TW" alt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𝑤</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5</m:t>
                              </m:r>
                            </m:sub>
                          </m:sSub>
                        </m:den>
                      </m:f>
                    </m:oMath>
                  </m:oMathPara>
                </a14:m>
                <a:endParaRPr lang="en-US" altLang="zh-TW" b="0" dirty="0" smtClean="0">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3" name="文字方塊 2"/>
              <p:cNvSpPr txBox="1">
                <a:spLocks noRot="1" noChangeAspect="1" noMove="1" noResize="1" noEditPoints="1" noAdjustHandles="1" noChangeArrowheads="1" noChangeShapeType="1" noTextEdit="1"/>
              </p:cNvSpPr>
              <p:nvPr/>
            </p:nvSpPr>
            <p:spPr>
              <a:xfrm>
                <a:off x="95249" y="809897"/>
                <a:ext cx="8924925" cy="3275833"/>
              </a:xfrm>
              <a:prstGeom prst="rect">
                <a:avLst/>
              </a:prstGeom>
              <a:blipFill rotWithShape="0">
                <a:blip r:embed="rId3"/>
                <a:stretch>
                  <a:fillRect l="-615" t="-1117"/>
                </a:stretch>
              </a:blipFill>
            </p:spPr>
            <p:txBody>
              <a:bodyPr/>
              <a:lstStyle/>
              <a:p>
                <a:r>
                  <a:rPr lang="zh-TW" altLang="en-US">
                    <a:noFill/>
                  </a:rPr>
                  <a:t> </a:t>
                </a:r>
              </a:p>
            </p:txBody>
          </p:sp>
        </mc:Fallback>
      </mc:AlternateContent>
      <p:pic>
        <p:nvPicPr>
          <p:cNvPr id="7" name="圖片 6"/>
          <p:cNvPicPr>
            <a:picLocks noChangeAspect="1"/>
          </p:cNvPicPr>
          <p:nvPr/>
        </p:nvPicPr>
        <p:blipFill>
          <a:blip r:embed="rId4"/>
          <a:stretch>
            <a:fillRect/>
          </a:stretch>
        </p:blipFill>
        <p:spPr>
          <a:xfrm>
            <a:off x="1982613" y="4252454"/>
            <a:ext cx="5138917" cy="2605546"/>
          </a:xfrm>
          <a:prstGeom prst="rect">
            <a:avLst/>
          </a:prstGeom>
        </p:spPr>
      </p:pic>
    </p:spTree>
    <p:extLst>
      <p:ext uri="{BB962C8B-B14F-4D97-AF65-F5344CB8AC3E}">
        <p14:creationId xmlns:p14="http://schemas.microsoft.com/office/powerpoint/2010/main" val="132148371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smtClean="0">
                <a:latin typeface="Times New Roman" panose="02020603050405020304" pitchFamily="18" charset="0"/>
                <a:ea typeface="標楷體" panose="03000509000000000000" pitchFamily="65" charset="-120"/>
              </a:rPr>
              <a:t>BPN</a:t>
            </a:r>
            <a:endParaRPr lang="zh-TW" altLang="en-US" sz="40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33</a:t>
            </a:fld>
            <a:endParaRPr lang="zh-TW" altLang="en-US" dirty="0"/>
          </a:p>
        </p:txBody>
      </p:sp>
      <mc:AlternateContent xmlns:mc="http://schemas.openxmlformats.org/markup-compatibility/2006" xmlns:a14="http://schemas.microsoft.com/office/drawing/2010/main">
        <mc:Choice Requires="a14">
          <p:sp>
            <p:nvSpPr>
              <p:cNvPr id="3" name="文字方塊 2"/>
              <p:cNvSpPr txBox="1"/>
              <p:nvPr/>
            </p:nvSpPr>
            <p:spPr>
              <a:xfrm>
                <a:off x="95249" y="809897"/>
                <a:ext cx="8924925" cy="3237553"/>
              </a:xfrm>
              <a:prstGeom prst="rect">
                <a:avLst/>
              </a:prstGeom>
              <a:noFill/>
            </p:spPr>
            <p:txBody>
              <a:bodyPr wrap="square" rtlCol="0">
                <a:spAutoFit/>
              </a:bodyPr>
              <a:lstStyle/>
              <a:p>
                <a:r>
                  <a:rPr lang="en-US" altLang="zh-TW" b="1" dirty="0" smtClean="0">
                    <a:latin typeface="Times New Roman" panose="02020603050405020304" pitchFamily="18" charset="0"/>
                    <a:cs typeface="Times New Roman" panose="02020603050405020304" pitchFamily="18" charset="0"/>
                  </a:rPr>
                  <a:t>Backward:</a:t>
                </a:r>
              </a:p>
              <a:p>
                <a:pPr/>
                <a14:m>
                  <m:oMathPara xmlns:m="http://schemas.openxmlformats.org/officeDocument/2006/math">
                    <m:oMathParaPr>
                      <m:jc m:val="left"/>
                    </m:oMathParaPr>
                    <m:oMath xmlns:m="http://schemas.openxmlformats.org/officeDocument/2006/math">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𝑤</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5</m:t>
                          </m:r>
                        </m:sub>
                      </m:s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zh-TW" altLang="en-US"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𝐸</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𝑡𝑜𝑡𝑎𝑙</m:t>
                              </m:r>
                            </m:sub>
                          </m:sSub>
                        </m:num>
                        <m:den>
                          <m:r>
                            <a:rPr lang="zh-TW" altLang="en-US"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𝑤</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5</m:t>
                              </m:r>
                            </m:sub>
                          </m:sSub>
                        </m:den>
                      </m:f>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fPr>
                        <m:num>
                          <m:r>
                            <a:rPr lang="zh-TW" alt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𝐸</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𝑡𝑜𝑡𝑎𝑙</m:t>
                              </m:r>
                            </m:sub>
                          </m:sSub>
                        </m:num>
                        <m:den>
                          <m:r>
                            <a:rPr lang="zh-TW" alt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𝑜𝑢𝑡</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𝑜</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1</m:t>
                              </m:r>
                            </m:sub>
                          </m:sSub>
                        </m:den>
                      </m:f>
                      <m:r>
                        <a:rPr lang="en-US" altLang="zh-TW"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fPr>
                        <m:num>
                          <m:r>
                            <a:rPr lang="zh-TW" alt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𝑜𝑢𝑡</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𝑜</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1</m:t>
                              </m:r>
                            </m:sub>
                          </m:sSub>
                        </m:num>
                        <m:den>
                          <m:r>
                            <a:rPr lang="zh-TW" alt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𝑛𝑒𝑡</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𝑜</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1</m:t>
                              </m:r>
                            </m:sub>
                          </m:sSub>
                        </m:den>
                      </m:f>
                      <m:r>
                        <a:rPr lang="en-US" altLang="zh-TW"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fPr>
                        <m:num>
                          <m:r>
                            <a:rPr lang="zh-TW" alt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𝑛𝑒𝑡</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𝑜</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1</m:t>
                              </m:r>
                            </m:sub>
                          </m:sSub>
                        </m:num>
                        <m:den>
                          <m:r>
                            <a:rPr lang="zh-TW" alt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𝑤</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5</m:t>
                              </m:r>
                            </m:sub>
                          </m:sSub>
                        </m:den>
                      </m:f>
                    </m:oMath>
                  </m:oMathPara>
                </a14:m>
                <a:endParaRPr lang="en-US" altLang="zh-TW" b="0" dirty="0" smtClean="0">
                  <a:latin typeface="Times New Roman" panose="02020603050405020304" pitchFamily="18" charset="0"/>
                  <a:ea typeface="Cambria Math" panose="02040503050406030204" pitchFamily="18" charset="0"/>
                  <a:cs typeface="Times New Roman" panose="02020603050405020304" pitchFamily="18" charset="0"/>
                </a:endParaRPr>
              </a:p>
              <a:p>
                <a:pPr/>
                <a14:m>
                  <m:oMathPara xmlns:m="http://schemas.openxmlformats.org/officeDocument/2006/math">
                    <m:oMathParaPr>
                      <m:jc m:val="left"/>
                    </m:oMathParaPr>
                    <m:oMath xmlns:m="http://schemas.openxmlformats.org/officeDocument/2006/math">
                      <m:f>
                        <m:f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fPr>
                        <m:num>
                          <m:r>
                            <a:rPr lang="zh-TW" alt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𝐸</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𝑡𝑜𝑡𝑎𝑙</m:t>
                              </m:r>
                            </m:sub>
                          </m:sSub>
                        </m:num>
                        <m:den>
                          <m:r>
                            <a:rPr lang="zh-TW" alt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𝑜𝑢𝑡</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𝑜</m:t>
                              </m:r>
                              <m:r>
                                <a:rPr lang="en-US" altLang="zh-TW" i="1">
                                  <a:latin typeface="Cambria Math" panose="02040503050406030204" pitchFamily="18" charset="0"/>
                                  <a:ea typeface="Cambria Math" panose="02040503050406030204" pitchFamily="18" charset="0"/>
                                  <a:cs typeface="Times New Roman" panose="02020603050405020304" pitchFamily="18" charset="0"/>
                                </a:rPr>
                                <m:t>1</m:t>
                              </m:r>
                            </m:sub>
                          </m:sSub>
                        </m:den>
                      </m:f>
                      <m:r>
                        <a:rPr lang="en-US" altLang="zh-TW"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𝑡𝑎𝑟𝑔𝑒𝑡</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𝑜</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1</m:t>
                              </m:r>
                            </m:sub>
                          </m:s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𝑜𝑢𝑡</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𝑜</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1</m:t>
                              </m:r>
                            </m:sub>
                          </m:sSub>
                        </m:e>
                      </m:d>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d>
                        <m:d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0.01−0.75136507</m:t>
                          </m:r>
                        </m:e>
                      </m:d>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=0.74136507</m:t>
                      </m:r>
                    </m:oMath>
                  </m:oMathPara>
                </a14:m>
                <a:endParaRPr lang="en-US" altLang="zh-TW" b="0" dirty="0" smtClean="0">
                  <a:latin typeface="Times New Roman" panose="02020603050405020304" pitchFamily="18" charset="0"/>
                  <a:ea typeface="Cambria Math" panose="02040503050406030204" pitchFamily="18" charset="0"/>
                  <a:cs typeface="Times New Roman" panose="02020603050405020304" pitchFamily="18" charset="0"/>
                </a:endParaRPr>
              </a:p>
              <a:p>
                <a:pPr/>
                <a14:m>
                  <m:oMathPara xmlns:m="http://schemas.openxmlformats.org/officeDocument/2006/math">
                    <m:oMathParaPr>
                      <m:jc m:val="left"/>
                    </m:oMathParaPr>
                    <m:oMath xmlns:m="http://schemas.openxmlformats.org/officeDocument/2006/math">
                      <m:f>
                        <m:f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fPr>
                        <m:num>
                          <m:r>
                            <a:rPr lang="zh-TW" alt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𝑜𝑢𝑡</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𝑜</m:t>
                              </m:r>
                              <m:r>
                                <a:rPr lang="en-US" altLang="zh-TW" i="1">
                                  <a:latin typeface="Cambria Math" panose="02040503050406030204" pitchFamily="18" charset="0"/>
                                  <a:ea typeface="Cambria Math" panose="02040503050406030204" pitchFamily="18" charset="0"/>
                                  <a:cs typeface="Times New Roman" panose="02020603050405020304" pitchFamily="18" charset="0"/>
                                </a:rPr>
                                <m:t>1</m:t>
                              </m:r>
                            </m:sub>
                          </m:sSub>
                        </m:num>
                        <m:den>
                          <m:r>
                            <a:rPr lang="zh-TW" alt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𝑛𝑒𝑡</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𝑜</m:t>
                              </m:r>
                              <m:r>
                                <a:rPr lang="en-US" altLang="zh-TW" i="1">
                                  <a:latin typeface="Cambria Math" panose="02040503050406030204" pitchFamily="18" charset="0"/>
                                  <a:ea typeface="Cambria Math" panose="02040503050406030204" pitchFamily="18" charset="0"/>
                                  <a:cs typeface="Times New Roman" panose="02020603050405020304" pitchFamily="18" charset="0"/>
                                </a:rPr>
                                <m:t>1</m:t>
                              </m:r>
                            </m:sub>
                          </m:sSub>
                        </m:den>
                      </m:f>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𝑜𝑢𝑡</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𝑜</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1</m:t>
                          </m:r>
                        </m:sub>
                      </m:sSub>
                      <m:d>
                        <m:d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1−</m:t>
                          </m:r>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𝑜𝑢𝑡</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𝑜</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1</m:t>
                              </m:r>
                            </m:sub>
                          </m:sSub>
                        </m:e>
                      </m:d>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=0.75136507</m:t>
                      </m:r>
                      <m:d>
                        <m:d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1−0.75136507</m:t>
                          </m:r>
                        </m:e>
                      </m:d>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=0.186815602</m:t>
                      </m:r>
                    </m:oMath>
                  </m:oMathPara>
                </a14:m>
                <a:endParaRPr lang="en-US" altLang="zh-TW" b="0" dirty="0" smtClean="0">
                  <a:latin typeface="Times New Roman" panose="02020603050405020304" pitchFamily="18" charset="0"/>
                  <a:ea typeface="Cambria Math" panose="02040503050406030204" pitchFamily="18" charset="0"/>
                  <a:cs typeface="Times New Roman" panose="02020603050405020304" pitchFamily="18" charset="0"/>
                </a:endParaRPr>
              </a:p>
              <a:p>
                <a:pPr/>
                <a14:m>
                  <m:oMathPara xmlns:m="http://schemas.openxmlformats.org/officeDocument/2006/math">
                    <m:oMathParaPr>
                      <m:jc m:val="left"/>
                    </m:oMathParaPr>
                    <m:oMath xmlns:m="http://schemas.openxmlformats.org/officeDocument/2006/math">
                      <m:f>
                        <m:f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fPr>
                        <m:num>
                          <m:r>
                            <a:rPr lang="zh-TW" alt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𝑛𝑒𝑡</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𝑜</m:t>
                              </m:r>
                              <m:r>
                                <a:rPr lang="en-US" altLang="zh-TW" i="1">
                                  <a:latin typeface="Cambria Math" panose="02040503050406030204" pitchFamily="18" charset="0"/>
                                  <a:ea typeface="Cambria Math" panose="02040503050406030204" pitchFamily="18" charset="0"/>
                                  <a:cs typeface="Times New Roman" panose="02020603050405020304" pitchFamily="18" charset="0"/>
                                </a:rPr>
                                <m:t>1</m:t>
                              </m:r>
                            </m:sub>
                          </m:sSub>
                        </m:num>
                        <m:den>
                          <m:r>
                            <a:rPr lang="zh-TW" alt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𝑤</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5</m:t>
                              </m:r>
                            </m:sub>
                          </m:sSub>
                        </m:den>
                      </m:f>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𝑜𝑢𝑡</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h</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1</m:t>
                          </m:r>
                        </m:sub>
                      </m:s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=0.693269992</m:t>
                      </m:r>
                    </m:oMath>
                  </m:oMathPara>
                </a14:m>
                <a:endParaRPr lang="en-US" altLang="zh-TW" b="0" dirty="0" smtClean="0">
                  <a:latin typeface="Times New Roman" panose="02020603050405020304" pitchFamily="18" charset="0"/>
                  <a:ea typeface="Cambria Math" panose="02040503050406030204" pitchFamily="18" charset="0"/>
                  <a:cs typeface="Times New Roman" panose="02020603050405020304" pitchFamily="18" charset="0"/>
                </a:endParaRPr>
              </a:p>
              <a:p>
                <a:pPr/>
                <a14:m>
                  <m:oMathPara xmlns:m="http://schemas.openxmlformats.org/officeDocument/2006/math">
                    <m:oMathParaPr>
                      <m:jc m:val="left"/>
                    </m:oMathParaPr>
                    <m:oMath xmlns:m="http://schemas.openxmlformats.org/officeDocument/2006/math">
                      <m:f>
                        <m:f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fPr>
                        <m:num>
                          <m:r>
                            <a:rPr lang="zh-TW" alt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𝐸</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𝑡𝑜𝑡𝑎𝑙</m:t>
                              </m:r>
                            </m:sub>
                          </m:sSub>
                        </m:num>
                        <m:den>
                          <m:r>
                            <a:rPr lang="zh-TW" alt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𝑤</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5</m:t>
                              </m:r>
                            </m:sub>
                          </m:sSub>
                        </m:den>
                      </m:f>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=0.082167041</m:t>
                      </m:r>
                    </m:oMath>
                  </m:oMathPara>
                </a14:m>
                <a:endParaRPr lang="en-US" altLang="zh-TW" b="0" dirty="0" smtClean="0">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3" name="文字方塊 2"/>
              <p:cNvSpPr txBox="1">
                <a:spLocks noRot="1" noChangeAspect="1" noMove="1" noResize="1" noEditPoints="1" noAdjustHandles="1" noChangeArrowheads="1" noChangeShapeType="1" noTextEdit="1"/>
              </p:cNvSpPr>
              <p:nvPr/>
            </p:nvSpPr>
            <p:spPr>
              <a:xfrm>
                <a:off x="95249" y="809897"/>
                <a:ext cx="8924925" cy="3237553"/>
              </a:xfrm>
              <a:prstGeom prst="rect">
                <a:avLst/>
              </a:prstGeom>
              <a:blipFill rotWithShape="0">
                <a:blip r:embed="rId3"/>
                <a:stretch>
                  <a:fillRect l="-615" t="-1130"/>
                </a:stretch>
              </a:blipFill>
            </p:spPr>
            <p:txBody>
              <a:bodyPr/>
              <a:lstStyle/>
              <a:p>
                <a:r>
                  <a:rPr lang="zh-TW" altLang="en-US">
                    <a:noFill/>
                  </a:rPr>
                  <a:t> </a:t>
                </a:r>
              </a:p>
            </p:txBody>
          </p:sp>
        </mc:Fallback>
      </mc:AlternateContent>
      <p:pic>
        <p:nvPicPr>
          <p:cNvPr id="7" name="圖片 6"/>
          <p:cNvPicPr>
            <a:picLocks noChangeAspect="1"/>
          </p:cNvPicPr>
          <p:nvPr/>
        </p:nvPicPr>
        <p:blipFill>
          <a:blip r:embed="rId4"/>
          <a:stretch>
            <a:fillRect/>
          </a:stretch>
        </p:blipFill>
        <p:spPr>
          <a:xfrm>
            <a:off x="1982613" y="4252454"/>
            <a:ext cx="5138917" cy="2605546"/>
          </a:xfrm>
          <a:prstGeom prst="rect">
            <a:avLst/>
          </a:prstGeom>
        </p:spPr>
      </p:pic>
    </p:spTree>
    <p:extLst>
      <p:ext uri="{BB962C8B-B14F-4D97-AF65-F5344CB8AC3E}">
        <p14:creationId xmlns:p14="http://schemas.microsoft.com/office/powerpoint/2010/main" val="352625943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smtClean="0">
                <a:latin typeface="Times New Roman" panose="02020603050405020304" pitchFamily="18" charset="0"/>
                <a:ea typeface="標楷體" panose="03000509000000000000" pitchFamily="65" charset="-120"/>
              </a:rPr>
              <a:t>BPN</a:t>
            </a:r>
            <a:endParaRPr lang="zh-TW" altLang="en-US" sz="40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34</a:t>
            </a:fld>
            <a:endParaRPr lang="zh-TW" altLang="en-US" dirty="0"/>
          </a:p>
        </p:txBody>
      </p:sp>
      <mc:AlternateContent xmlns:mc="http://schemas.openxmlformats.org/markup-compatibility/2006" xmlns:a14="http://schemas.microsoft.com/office/drawing/2010/main">
        <mc:Choice Requires="a14">
          <p:sp>
            <p:nvSpPr>
              <p:cNvPr id="3" name="文字方塊 2"/>
              <p:cNvSpPr txBox="1"/>
              <p:nvPr/>
            </p:nvSpPr>
            <p:spPr>
              <a:xfrm>
                <a:off x="95249" y="809897"/>
                <a:ext cx="8924925" cy="3457741"/>
              </a:xfrm>
              <a:prstGeom prst="rect">
                <a:avLst/>
              </a:prstGeom>
              <a:noFill/>
            </p:spPr>
            <p:txBody>
              <a:bodyPr wrap="square" rtlCol="0">
                <a:spAutoFit/>
              </a:bodyPr>
              <a:lstStyle/>
              <a:p>
                <a:r>
                  <a:rPr lang="en-US" altLang="zh-TW" b="1" dirty="0" smtClean="0">
                    <a:latin typeface="Times New Roman" panose="02020603050405020304" pitchFamily="18" charset="0"/>
                    <a:cs typeface="Times New Roman" panose="02020603050405020304" pitchFamily="18" charset="0"/>
                  </a:rPr>
                  <a:t>Backward:</a:t>
                </a:r>
              </a:p>
              <a:p>
                <a:pPr/>
                <a14:m>
                  <m:oMathPara xmlns:m="http://schemas.openxmlformats.org/officeDocument/2006/math">
                    <m:oMathParaPr>
                      <m:jc m:val="left"/>
                    </m:oMathParaPr>
                    <m:oMath xmlns:m="http://schemas.openxmlformats.org/officeDocument/2006/math">
                      <m:f>
                        <m:f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fPr>
                        <m:num>
                          <m:r>
                            <a:rPr lang="zh-TW" alt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𝐸</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𝑡𝑜𝑡𝑎𝑙</m:t>
                              </m:r>
                            </m:sub>
                          </m:sSub>
                        </m:num>
                        <m:den>
                          <m:r>
                            <a:rPr lang="zh-TW" alt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𝑤</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5</m:t>
                              </m:r>
                            </m:sub>
                          </m:sSub>
                        </m:den>
                      </m:f>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=0.082167041</m:t>
                      </m:r>
                    </m:oMath>
                  </m:oMathPara>
                </a14:m>
                <a:endParaRPr lang="en-US" altLang="zh-TW" b="0" dirty="0" smtClean="0">
                  <a:latin typeface="Times New Roman" panose="02020603050405020304" pitchFamily="18" charset="0"/>
                  <a:ea typeface="Cambria Math" panose="02040503050406030204" pitchFamily="18" charset="0"/>
                  <a:cs typeface="Times New Roman" panose="02020603050405020304" pitchFamily="18" charset="0"/>
                </a:endParaRPr>
              </a:p>
              <a:p>
                <a:pPr/>
                <a14:m>
                  <m:oMathPara xmlns:m="http://schemas.openxmlformats.org/officeDocument/2006/math">
                    <m:oMathParaPr>
                      <m:jc m:val="left"/>
                    </m:oMathParaPr>
                    <m:oMath xmlns:m="http://schemas.openxmlformats.org/officeDocument/2006/math">
                      <m:sSubSup>
                        <m:sSubSup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𝑤</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5</m:t>
                          </m:r>
                        </m:sub>
                        <m:sup>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up>
                      </m:sSubSup>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𝑤</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5</m:t>
                          </m:r>
                        </m:sub>
                      </m:s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zh-TW" altLang="en-US" b="0" i="1" smtClean="0">
                          <a:latin typeface="Cambria Math" panose="02040503050406030204" pitchFamily="18" charset="0"/>
                          <a:ea typeface="Cambria Math" panose="02040503050406030204" pitchFamily="18" charset="0"/>
                          <a:cs typeface="Times New Roman" panose="02020603050405020304" pitchFamily="18" charset="0"/>
                        </a:rPr>
                        <m:t>𝜂</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fPr>
                        <m:num>
                          <m:r>
                            <a:rPr lang="zh-TW" alt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𝐸</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𝑡𝑜𝑡𝑎𝑙</m:t>
                              </m:r>
                            </m:sub>
                          </m:sSub>
                        </m:num>
                        <m:den>
                          <m:r>
                            <a:rPr lang="zh-TW" altLang="en-US"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𝑤</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5</m:t>
                              </m:r>
                            </m:sub>
                          </m:sSub>
                        </m:den>
                      </m:f>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=0.4−0.5∗0.082167041</m:t>
                      </m:r>
                    </m:oMath>
                  </m:oMathPara>
                </a14:m>
                <a:endParaRPr lang="en-US" altLang="zh-TW" b="0" dirty="0" smtClean="0">
                  <a:latin typeface="Times New Roman" panose="02020603050405020304" pitchFamily="18" charset="0"/>
                  <a:ea typeface="Cambria Math" panose="02040503050406030204" pitchFamily="18" charset="0"/>
                  <a:cs typeface="Times New Roman" panose="02020603050405020304" pitchFamily="18" charset="0"/>
                </a:endParaRPr>
              </a:p>
              <a:p>
                <a14:m>
                  <m:oMath xmlns:m="http://schemas.openxmlformats.org/officeDocument/2006/math">
                    <m:r>
                      <a:rPr lang="zh-TW" altLang="en-US" i="1">
                        <a:latin typeface="Cambria Math" panose="02040503050406030204" pitchFamily="18" charset="0"/>
                        <a:ea typeface="Cambria Math" panose="02040503050406030204" pitchFamily="18" charset="0"/>
                        <a:cs typeface="Times New Roman" panose="02020603050405020304" pitchFamily="18" charset="0"/>
                      </a:rPr>
                      <m:t>𝜂</m:t>
                    </m:r>
                  </m:oMath>
                </a14:m>
                <a:r>
                  <a:rPr lang="en-US" altLang="zh-TW" b="0" dirty="0" smtClean="0">
                    <a:latin typeface="Times New Roman" panose="02020603050405020304" pitchFamily="18" charset="0"/>
                    <a:ea typeface="Cambria Math" panose="02040503050406030204" pitchFamily="18" charset="0"/>
                    <a:cs typeface="Times New Roman" panose="02020603050405020304" pitchFamily="18" charset="0"/>
                  </a:rPr>
                  <a:t> is learning rate, in this example which is set to 0.5 .</a:t>
                </a:r>
              </a:p>
              <a:p>
                <a:endParaRPr lang="en-US" altLang="zh-TW" b="0" dirty="0" smtClean="0">
                  <a:latin typeface="Times New Roman" panose="02020603050405020304" pitchFamily="18" charset="0"/>
                  <a:ea typeface="Cambria Math" panose="02040503050406030204" pitchFamily="18" charset="0"/>
                  <a:cs typeface="Times New Roman" panose="02020603050405020304" pitchFamily="18" charset="0"/>
                </a:endParaRPr>
              </a:p>
              <a:p>
                <a14:m>
                  <m:oMath xmlns:m="http://schemas.openxmlformats.org/officeDocument/2006/math">
                    <m:sSubSup>
                      <m:sSubSup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ea typeface="Cambria Math" panose="02040503050406030204" pitchFamily="18" charset="0"/>
                            <a:cs typeface="Times New Roman" panose="02020603050405020304" pitchFamily="18" charset="0"/>
                          </a:rPr>
                          <m:t>𝑤</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5</m:t>
                        </m:r>
                      </m:sub>
                      <m:sup>
                        <m:r>
                          <a:rPr lang="en-US" altLang="zh-TW" i="1">
                            <a:latin typeface="Cambria Math" panose="02040503050406030204" pitchFamily="18" charset="0"/>
                            <a:ea typeface="Cambria Math" panose="02040503050406030204" pitchFamily="18" charset="0"/>
                            <a:cs typeface="Times New Roman" panose="02020603050405020304" pitchFamily="18" charset="0"/>
                          </a:rPr>
                          <m:t>+</m:t>
                        </m:r>
                      </m:sup>
                    </m:sSubSup>
                  </m:oMath>
                </a14:m>
                <a:r>
                  <a:rPr lang="zh-TW" altLang="en-US" b="0" dirty="0" smtClean="0">
                    <a:latin typeface="Times New Roman" panose="02020603050405020304" pitchFamily="18" charset="0"/>
                    <a:ea typeface="Cambria Math" panose="02040503050406030204" pitchFamily="18" charset="0"/>
                    <a:cs typeface="Times New Roman" panose="02020603050405020304" pitchFamily="18" charset="0"/>
                  </a:rPr>
                  <a:t> </a:t>
                </a:r>
                <a:r>
                  <a:rPr lang="en-US" altLang="zh-TW" b="0" dirty="0" smtClean="0">
                    <a:latin typeface="Times New Roman" panose="02020603050405020304" pitchFamily="18" charset="0"/>
                    <a:ea typeface="Cambria Math" panose="02040503050406030204" pitchFamily="18" charset="0"/>
                    <a:cs typeface="Times New Roman" panose="02020603050405020304" pitchFamily="18" charset="0"/>
                  </a:rPr>
                  <a:t>is the new weight.</a:t>
                </a:r>
              </a:p>
              <a:p>
                <a:endParaRPr lang="en-US" altLang="zh-TW" dirty="0">
                  <a:latin typeface="Times New Roman" panose="02020603050405020304" pitchFamily="18" charset="0"/>
                  <a:ea typeface="Cambria Math" panose="02040503050406030204" pitchFamily="18" charset="0"/>
                  <a:cs typeface="Times New Roman" panose="02020603050405020304" pitchFamily="18" charset="0"/>
                </a:endParaRPr>
              </a:p>
              <a:p>
                <a:r>
                  <a:rPr lang="en-US" altLang="zh-TW" b="0" dirty="0" smtClean="0">
                    <a:latin typeface="Times New Roman" panose="02020603050405020304" pitchFamily="18" charset="0"/>
                    <a:ea typeface="Cambria Math" panose="02040503050406030204" pitchFamily="18" charset="0"/>
                    <a:cs typeface="Times New Roman" panose="02020603050405020304" pitchFamily="18" charset="0"/>
                  </a:rPr>
                  <a:t>Same operation for the rest of weight.</a:t>
                </a:r>
              </a:p>
              <a:p>
                <a:endParaRPr lang="en-US" altLang="zh-TW" dirty="0">
                  <a:latin typeface="Times New Roman" panose="02020603050405020304" pitchFamily="18" charset="0"/>
                  <a:ea typeface="Cambria Math" panose="02040503050406030204" pitchFamily="18" charset="0"/>
                  <a:cs typeface="Times New Roman" panose="02020603050405020304" pitchFamily="18" charset="0"/>
                </a:endParaRPr>
              </a:p>
              <a:p>
                <a:r>
                  <a:rPr lang="en-US" altLang="zh-TW" b="0" dirty="0" smtClean="0">
                    <a:latin typeface="Times New Roman" panose="02020603050405020304" pitchFamily="18" charset="0"/>
                    <a:ea typeface="Cambria Math" panose="02040503050406030204" pitchFamily="18" charset="0"/>
                    <a:cs typeface="Times New Roman" panose="02020603050405020304" pitchFamily="18" charset="0"/>
                  </a:rPr>
                  <a:t>Do the Forward and Backward few times, we will get better result(lower error rate).</a:t>
                </a:r>
              </a:p>
            </p:txBody>
          </p:sp>
        </mc:Choice>
        <mc:Fallback xmlns="">
          <p:sp>
            <p:nvSpPr>
              <p:cNvPr id="3" name="文字方塊 2"/>
              <p:cNvSpPr txBox="1">
                <a:spLocks noRot="1" noChangeAspect="1" noMove="1" noResize="1" noEditPoints="1" noAdjustHandles="1" noChangeArrowheads="1" noChangeShapeType="1" noTextEdit="1"/>
              </p:cNvSpPr>
              <p:nvPr/>
            </p:nvSpPr>
            <p:spPr>
              <a:xfrm>
                <a:off x="95249" y="809897"/>
                <a:ext cx="8924925" cy="3457741"/>
              </a:xfrm>
              <a:prstGeom prst="rect">
                <a:avLst/>
              </a:prstGeom>
              <a:blipFill rotWithShape="0">
                <a:blip r:embed="rId3"/>
                <a:stretch>
                  <a:fillRect l="-615" t="-1058" b="-1940"/>
                </a:stretch>
              </a:blipFill>
            </p:spPr>
            <p:txBody>
              <a:bodyPr/>
              <a:lstStyle/>
              <a:p>
                <a:r>
                  <a:rPr lang="zh-TW" altLang="en-US">
                    <a:noFill/>
                  </a:rPr>
                  <a:t> </a:t>
                </a:r>
              </a:p>
            </p:txBody>
          </p:sp>
        </mc:Fallback>
      </mc:AlternateContent>
      <p:pic>
        <p:nvPicPr>
          <p:cNvPr id="7" name="圖片 6"/>
          <p:cNvPicPr>
            <a:picLocks noChangeAspect="1"/>
          </p:cNvPicPr>
          <p:nvPr/>
        </p:nvPicPr>
        <p:blipFill>
          <a:blip r:embed="rId4"/>
          <a:stretch>
            <a:fillRect/>
          </a:stretch>
        </p:blipFill>
        <p:spPr>
          <a:xfrm>
            <a:off x="1982613" y="4252454"/>
            <a:ext cx="5138917" cy="2605546"/>
          </a:xfrm>
          <a:prstGeom prst="rect">
            <a:avLst/>
          </a:prstGeom>
        </p:spPr>
      </p:pic>
    </p:spTree>
    <p:extLst>
      <p:ext uri="{BB962C8B-B14F-4D97-AF65-F5344CB8AC3E}">
        <p14:creationId xmlns:p14="http://schemas.microsoft.com/office/powerpoint/2010/main" val="102214456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smtClean="0">
                <a:latin typeface="Times New Roman" panose="02020603050405020304" pitchFamily="18" charset="0"/>
                <a:ea typeface="標楷體" panose="03000509000000000000" pitchFamily="65" charset="-120"/>
              </a:rPr>
              <a:t>BPN</a:t>
            </a:r>
            <a:endParaRPr lang="zh-TW" altLang="en-US" sz="40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35</a:t>
            </a:fld>
            <a:endParaRPr lang="zh-TW" altLang="en-US" dirty="0"/>
          </a:p>
        </p:txBody>
      </p:sp>
      <p:pic>
        <p:nvPicPr>
          <p:cNvPr id="5" name="圖片 4"/>
          <p:cNvPicPr>
            <a:picLocks noChangeAspect="1"/>
          </p:cNvPicPr>
          <p:nvPr/>
        </p:nvPicPr>
        <p:blipFill>
          <a:blip r:embed="rId3"/>
          <a:stretch>
            <a:fillRect/>
          </a:stretch>
        </p:blipFill>
        <p:spPr>
          <a:xfrm>
            <a:off x="270523" y="1979710"/>
            <a:ext cx="8571299" cy="3030171"/>
          </a:xfrm>
          <a:prstGeom prst="rect">
            <a:avLst/>
          </a:prstGeom>
        </p:spPr>
      </p:pic>
    </p:spTree>
    <p:extLst>
      <p:ext uri="{BB962C8B-B14F-4D97-AF65-F5344CB8AC3E}">
        <p14:creationId xmlns:p14="http://schemas.microsoft.com/office/powerpoint/2010/main" val="71680476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smtClean="0">
                <a:latin typeface="Times New Roman" panose="02020603050405020304" pitchFamily="18" charset="0"/>
                <a:ea typeface="標楷體" panose="03000509000000000000" pitchFamily="65" charset="-120"/>
              </a:rPr>
              <a:t>BPN</a:t>
            </a:r>
            <a:endParaRPr lang="zh-TW" altLang="en-US" sz="40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36</a:t>
            </a:fld>
            <a:endParaRPr lang="zh-TW" altLang="en-US" dirty="0"/>
          </a:p>
        </p:txBody>
      </p:sp>
      <p:pic>
        <p:nvPicPr>
          <p:cNvPr id="9" name="圖片 8"/>
          <p:cNvPicPr>
            <a:picLocks noChangeAspect="1"/>
          </p:cNvPicPr>
          <p:nvPr/>
        </p:nvPicPr>
        <p:blipFill>
          <a:blip r:embed="rId3"/>
          <a:stretch>
            <a:fillRect/>
          </a:stretch>
        </p:blipFill>
        <p:spPr>
          <a:xfrm>
            <a:off x="1083524" y="949021"/>
            <a:ext cx="6948374" cy="5407330"/>
          </a:xfrm>
          <a:prstGeom prst="rect">
            <a:avLst/>
          </a:prstGeom>
        </p:spPr>
      </p:pic>
    </p:spTree>
    <p:extLst>
      <p:ext uri="{BB962C8B-B14F-4D97-AF65-F5344CB8AC3E}">
        <p14:creationId xmlns:p14="http://schemas.microsoft.com/office/powerpoint/2010/main" val="353759068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smtClean="0">
                <a:latin typeface="Times New Roman" panose="02020603050405020304" pitchFamily="18" charset="0"/>
                <a:ea typeface="標楷體" panose="03000509000000000000" pitchFamily="65" charset="-120"/>
              </a:rPr>
              <a:t>Flow chart #3</a:t>
            </a:r>
            <a:endParaRPr lang="zh-TW" altLang="en-US" sz="40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37</a:t>
            </a:fld>
            <a:endParaRPr lang="zh-TW" altLang="en-US" dirty="0"/>
          </a:p>
        </p:txBody>
      </p:sp>
      <p:sp>
        <p:nvSpPr>
          <p:cNvPr id="5" name="圓角矩形 4"/>
          <p:cNvSpPr/>
          <p:nvPr/>
        </p:nvSpPr>
        <p:spPr>
          <a:xfrm>
            <a:off x="5940152" y="3755976"/>
            <a:ext cx="1220681" cy="160476"/>
          </a:xfrm>
          <a:prstGeom prst="round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smtClean="0"/>
              <a:t>Expect output</a:t>
            </a:r>
            <a:endParaRPr lang="zh-TW" altLang="en-US" sz="1400" dirty="0"/>
          </a:p>
        </p:txBody>
      </p:sp>
      <p:sp>
        <p:nvSpPr>
          <p:cNvPr id="6" name="圓角矩形 5"/>
          <p:cNvSpPr/>
          <p:nvPr/>
        </p:nvSpPr>
        <p:spPr>
          <a:xfrm>
            <a:off x="8180468" y="3682469"/>
            <a:ext cx="880435" cy="182695"/>
          </a:xfrm>
          <a:prstGeom prst="round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1400" dirty="0" smtClean="0"/>
              <a:t>input</a:t>
            </a:r>
            <a:endParaRPr lang="zh-TW" altLang="en-US" sz="1400" dirty="0"/>
          </a:p>
        </p:txBody>
      </p:sp>
      <p:sp>
        <p:nvSpPr>
          <p:cNvPr id="7" name="圓角矩形 6"/>
          <p:cNvSpPr/>
          <p:nvPr/>
        </p:nvSpPr>
        <p:spPr>
          <a:xfrm>
            <a:off x="179512" y="3268525"/>
            <a:ext cx="497129" cy="160476"/>
          </a:xfrm>
          <a:prstGeom prst="round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dirty="0" smtClean="0"/>
              <a:t>no</a:t>
            </a:r>
            <a:endParaRPr lang="zh-TW" altLang="en-US" dirty="0"/>
          </a:p>
        </p:txBody>
      </p:sp>
      <p:sp>
        <p:nvSpPr>
          <p:cNvPr id="8" name="圓角矩形 7"/>
          <p:cNvSpPr/>
          <p:nvPr/>
        </p:nvSpPr>
        <p:spPr>
          <a:xfrm>
            <a:off x="1403648" y="4653136"/>
            <a:ext cx="640431" cy="163133"/>
          </a:xfrm>
          <a:prstGeom prst="round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dirty="0" smtClean="0"/>
              <a:t>yes</a:t>
            </a:r>
            <a:endParaRPr lang="zh-TW" altLang="en-US" dirty="0"/>
          </a:p>
        </p:txBody>
      </p:sp>
      <p:sp>
        <p:nvSpPr>
          <p:cNvPr id="10" name="圓角矩形 9"/>
          <p:cNvSpPr/>
          <p:nvPr/>
        </p:nvSpPr>
        <p:spPr>
          <a:xfrm>
            <a:off x="1189052" y="1044670"/>
            <a:ext cx="6912767" cy="440114"/>
          </a:xfrm>
          <a:prstGeom prst="roundRect">
            <a:avLst/>
          </a:prstGeom>
          <a:ln>
            <a:noFill/>
          </a:ln>
        </p:spPr>
        <p:style>
          <a:lnRef idx="1">
            <a:schemeClr val="dk1"/>
          </a:lnRef>
          <a:fillRef idx="2">
            <a:schemeClr val="dk1"/>
          </a:fillRef>
          <a:effectRef idx="1">
            <a:schemeClr val="dk1"/>
          </a:effectRef>
          <a:fontRef idx="minor">
            <a:schemeClr val="dk1"/>
          </a:fontRef>
        </p:style>
        <p:txBody>
          <a:bodyPr rtlCol="0" anchor="ctr"/>
          <a:lstStyle/>
          <a:p>
            <a:pPr algn="ctr"/>
            <a:r>
              <a:rPr lang="en-US" altLang="zh-TW" dirty="0" smtClean="0"/>
              <a:t>Candidate Stocks Screening</a:t>
            </a:r>
            <a:endParaRPr lang="zh-TW" altLang="en-US" dirty="0"/>
          </a:p>
        </p:txBody>
      </p:sp>
      <p:sp>
        <p:nvSpPr>
          <p:cNvPr id="11" name="圓角矩形 10"/>
          <p:cNvSpPr/>
          <p:nvPr/>
        </p:nvSpPr>
        <p:spPr>
          <a:xfrm>
            <a:off x="1189052" y="1886124"/>
            <a:ext cx="6912767" cy="452300"/>
          </a:xfrm>
          <a:prstGeom prst="roundRect">
            <a:avLst/>
          </a:prstGeom>
          <a:ln>
            <a:noFill/>
          </a:ln>
        </p:spPr>
        <p:style>
          <a:lnRef idx="1">
            <a:schemeClr val="dk1"/>
          </a:lnRef>
          <a:fillRef idx="2">
            <a:schemeClr val="dk1"/>
          </a:fillRef>
          <a:effectRef idx="1">
            <a:schemeClr val="dk1"/>
          </a:effectRef>
          <a:fontRef idx="minor">
            <a:schemeClr val="dk1"/>
          </a:fontRef>
        </p:style>
        <p:txBody>
          <a:bodyPr rtlCol="0" anchor="ctr"/>
          <a:lstStyle/>
          <a:p>
            <a:pPr algn="ctr"/>
            <a:r>
              <a:rPr lang="en-US" altLang="zh-TW" dirty="0" smtClean="0"/>
              <a:t>GA</a:t>
            </a:r>
            <a:endParaRPr lang="zh-TW" altLang="en-US" dirty="0"/>
          </a:p>
        </p:txBody>
      </p:sp>
      <p:sp>
        <p:nvSpPr>
          <p:cNvPr id="12" name="圓角矩形 11"/>
          <p:cNvSpPr/>
          <p:nvPr/>
        </p:nvSpPr>
        <p:spPr>
          <a:xfrm>
            <a:off x="3923927" y="2492896"/>
            <a:ext cx="1458463" cy="36004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TW" dirty="0" smtClean="0"/>
              <a:t>SRA</a:t>
            </a:r>
            <a:endParaRPr lang="zh-TW" altLang="en-US" dirty="0"/>
          </a:p>
        </p:txBody>
      </p:sp>
      <p:sp>
        <p:nvSpPr>
          <p:cNvPr id="13" name="圓角矩形 12"/>
          <p:cNvSpPr/>
          <p:nvPr/>
        </p:nvSpPr>
        <p:spPr>
          <a:xfrm>
            <a:off x="1635023" y="3068960"/>
            <a:ext cx="1458463" cy="36004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TW" dirty="0" smtClean="0"/>
              <a:t>PLR</a:t>
            </a:r>
            <a:endParaRPr lang="zh-TW" altLang="en-US" dirty="0"/>
          </a:p>
        </p:txBody>
      </p:sp>
      <p:sp>
        <p:nvSpPr>
          <p:cNvPr id="14" name="圓角矩形 13"/>
          <p:cNvSpPr/>
          <p:nvPr/>
        </p:nvSpPr>
        <p:spPr>
          <a:xfrm>
            <a:off x="6424557" y="4149080"/>
            <a:ext cx="1440160" cy="36004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TW" dirty="0" smtClean="0"/>
              <a:t>BP(train)</a:t>
            </a:r>
            <a:endParaRPr lang="zh-TW" altLang="en-US" dirty="0"/>
          </a:p>
        </p:txBody>
      </p:sp>
      <p:sp>
        <p:nvSpPr>
          <p:cNvPr id="15" name="圓角矩形 14"/>
          <p:cNvSpPr/>
          <p:nvPr/>
        </p:nvSpPr>
        <p:spPr>
          <a:xfrm>
            <a:off x="5796136" y="2494348"/>
            <a:ext cx="2376264" cy="36004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TW" dirty="0" smtClean="0"/>
              <a:t>Related input variable</a:t>
            </a:r>
            <a:endParaRPr lang="zh-TW" altLang="en-US" dirty="0"/>
          </a:p>
        </p:txBody>
      </p:sp>
      <p:sp>
        <p:nvSpPr>
          <p:cNvPr id="16" name="圓角矩形 15"/>
          <p:cNvSpPr/>
          <p:nvPr/>
        </p:nvSpPr>
        <p:spPr>
          <a:xfrm>
            <a:off x="3931554" y="3071617"/>
            <a:ext cx="1458463" cy="360040"/>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TW" dirty="0"/>
              <a:t>Turning point</a:t>
            </a:r>
            <a:endParaRPr lang="zh-TW" altLang="en-US" dirty="0"/>
          </a:p>
        </p:txBody>
      </p:sp>
      <p:sp>
        <p:nvSpPr>
          <p:cNvPr id="17" name="圓角矩形 16"/>
          <p:cNvSpPr/>
          <p:nvPr/>
        </p:nvSpPr>
        <p:spPr>
          <a:xfrm>
            <a:off x="5911197" y="3068959"/>
            <a:ext cx="2477227" cy="362697"/>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TW" dirty="0" smtClean="0"/>
              <a:t>Trading signal</a:t>
            </a:r>
            <a:endParaRPr lang="zh-TW" altLang="en-US" dirty="0"/>
          </a:p>
        </p:txBody>
      </p:sp>
      <p:cxnSp>
        <p:nvCxnSpPr>
          <p:cNvPr id="18" name="直線單箭頭接點 17"/>
          <p:cNvCxnSpPr>
            <a:stCxn id="10" idx="2"/>
            <a:endCxn id="11" idx="0"/>
          </p:cNvCxnSpPr>
          <p:nvPr/>
        </p:nvCxnSpPr>
        <p:spPr>
          <a:xfrm>
            <a:off x="4645436" y="1484784"/>
            <a:ext cx="0" cy="40134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直線單箭頭接點 18"/>
          <p:cNvCxnSpPr>
            <a:stCxn id="13" idx="3"/>
            <a:endCxn id="16" idx="1"/>
          </p:cNvCxnSpPr>
          <p:nvPr/>
        </p:nvCxnSpPr>
        <p:spPr>
          <a:xfrm>
            <a:off x="3093486" y="3248980"/>
            <a:ext cx="838068" cy="2657"/>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0" name="直線單箭頭接點 19"/>
          <p:cNvCxnSpPr>
            <a:stCxn id="16" idx="3"/>
            <a:endCxn id="17" idx="1"/>
          </p:cNvCxnSpPr>
          <p:nvPr/>
        </p:nvCxnSpPr>
        <p:spPr>
          <a:xfrm flipV="1">
            <a:off x="5390017" y="3250308"/>
            <a:ext cx="521180" cy="1329"/>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1" name="直線單箭頭接點 20"/>
          <p:cNvCxnSpPr>
            <a:stCxn id="12" idx="3"/>
            <a:endCxn id="15" idx="1"/>
          </p:cNvCxnSpPr>
          <p:nvPr/>
        </p:nvCxnSpPr>
        <p:spPr>
          <a:xfrm>
            <a:off x="5382390" y="2672916"/>
            <a:ext cx="413746" cy="145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3" name="圓角矩形 22"/>
              <p:cNvSpPr/>
              <p:nvPr/>
            </p:nvSpPr>
            <p:spPr>
              <a:xfrm>
                <a:off x="1083005" y="2793289"/>
                <a:ext cx="157030" cy="180020"/>
              </a:xfrm>
              <a:prstGeom prst="round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zh-TW" altLang="en-US" i="1" smtClean="0">
                          <a:latin typeface="Cambria Math"/>
                        </a:rPr>
                        <m:t>𝛿</m:t>
                      </m:r>
                    </m:oMath>
                  </m:oMathPara>
                </a14:m>
                <a:endParaRPr lang="zh-TW" altLang="en-US" dirty="0"/>
              </a:p>
            </p:txBody>
          </p:sp>
        </mc:Choice>
        <mc:Fallback xmlns="">
          <p:sp>
            <p:nvSpPr>
              <p:cNvPr id="23" name="圓角矩形 22"/>
              <p:cNvSpPr>
                <a:spLocks noRot="1" noChangeAspect="1" noMove="1" noResize="1" noEditPoints="1" noAdjustHandles="1" noChangeArrowheads="1" noChangeShapeType="1" noTextEdit="1"/>
              </p:cNvSpPr>
              <p:nvPr/>
            </p:nvSpPr>
            <p:spPr>
              <a:xfrm>
                <a:off x="1083005" y="2793289"/>
                <a:ext cx="157030" cy="180020"/>
              </a:xfrm>
              <a:prstGeom prst="roundRect">
                <a:avLst/>
              </a:prstGeom>
              <a:blipFill rotWithShape="0">
                <a:blip r:embed="rId3"/>
                <a:stretch>
                  <a:fillRect l="-59259" t="-18750" r="-18519" b="-31250"/>
                </a:stretch>
              </a:blipFill>
              <a:ln>
                <a:solidFill>
                  <a:schemeClr val="bg1"/>
                </a:solidFill>
              </a:ln>
            </p:spPr>
            <p:txBody>
              <a:bodyPr/>
              <a:lstStyle/>
              <a:p>
                <a:r>
                  <a:rPr lang="zh-TW" altLang="en-US">
                    <a:noFill/>
                  </a:rPr>
                  <a:t> </a:t>
                </a:r>
              </a:p>
            </p:txBody>
          </p:sp>
        </mc:Fallback>
      </mc:AlternateContent>
      <p:sp>
        <p:nvSpPr>
          <p:cNvPr id="24" name="圓角矩形 23"/>
          <p:cNvSpPr/>
          <p:nvPr/>
        </p:nvSpPr>
        <p:spPr>
          <a:xfrm>
            <a:off x="4680824" y="1572379"/>
            <a:ext cx="1590413" cy="226150"/>
          </a:xfrm>
          <a:prstGeom prst="round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dirty="0" smtClean="0"/>
              <a:t>Selected stock</a:t>
            </a:r>
            <a:endParaRPr lang="zh-TW" altLang="en-US" dirty="0"/>
          </a:p>
        </p:txBody>
      </p:sp>
      <p:sp>
        <p:nvSpPr>
          <p:cNvPr id="25" name="圓角矩形 24"/>
          <p:cNvSpPr/>
          <p:nvPr/>
        </p:nvSpPr>
        <p:spPr>
          <a:xfrm>
            <a:off x="907267" y="3622908"/>
            <a:ext cx="1152128" cy="897501"/>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altLang="zh-TW" sz="1400" dirty="0" smtClean="0"/>
              <a:t>Reach number of generation ?</a:t>
            </a:r>
            <a:endParaRPr lang="zh-TW" altLang="en-US" sz="1400" dirty="0"/>
          </a:p>
        </p:txBody>
      </p:sp>
      <p:cxnSp>
        <p:nvCxnSpPr>
          <p:cNvPr id="26" name="直線接點 25"/>
          <p:cNvCxnSpPr>
            <a:stCxn id="15" idx="3"/>
          </p:cNvCxnSpPr>
          <p:nvPr/>
        </p:nvCxnSpPr>
        <p:spPr>
          <a:xfrm>
            <a:off x="8172400" y="2674368"/>
            <a:ext cx="720080" cy="0"/>
          </a:xfrm>
          <a:prstGeom prst="line">
            <a:avLst/>
          </a:prstGeom>
        </p:spPr>
        <p:style>
          <a:lnRef idx="1">
            <a:schemeClr val="dk1"/>
          </a:lnRef>
          <a:fillRef idx="0">
            <a:schemeClr val="dk1"/>
          </a:fillRef>
          <a:effectRef idx="0">
            <a:schemeClr val="dk1"/>
          </a:effectRef>
          <a:fontRef idx="minor">
            <a:schemeClr val="tx1"/>
          </a:fontRef>
        </p:style>
      </p:cxnSp>
      <p:cxnSp>
        <p:nvCxnSpPr>
          <p:cNvPr id="27" name="直線單箭頭接點 26"/>
          <p:cNvCxnSpPr>
            <a:stCxn id="17" idx="2"/>
            <a:endCxn id="14" idx="0"/>
          </p:cNvCxnSpPr>
          <p:nvPr/>
        </p:nvCxnSpPr>
        <p:spPr>
          <a:xfrm flipH="1">
            <a:off x="7144637" y="3431656"/>
            <a:ext cx="5174" cy="71742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8" name="直線單箭頭接點 27"/>
          <p:cNvCxnSpPr>
            <a:stCxn id="14" idx="1"/>
            <a:endCxn id="29" idx="3"/>
          </p:cNvCxnSpPr>
          <p:nvPr/>
        </p:nvCxnSpPr>
        <p:spPr>
          <a:xfrm flipH="1">
            <a:off x="6213639" y="4329100"/>
            <a:ext cx="210918"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9" name="圓角矩形 28"/>
          <p:cNvSpPr/>
          <p:nvPr/>
        </p:nvSpPr>
        <p:spPr>
          <a:xfrm>
            <a:off x="5133519" y="4149080"/>
            <a:ext cx="1080120" cy="360040"/>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TW" dirty="0" smtClean="0"/>
              <a:t>Test </a:t>
            </a:r>
            <a:endParaRPr lang="zh-TW" altLang="en-US" dirty="0"/>
          </a:p>
        </p:txBody>
      </p:sp>
      <p:cxnSp>
        <p:nvCxnSpPr>
          <p:cNvPr id="30" name="直線接點 29"/>
          <p:cNvCxnSpPr/>
          <p:nvPr/>
        </p:nvCxnSpPr>
        <p:spPr>
          <a:xfrm>
            <a:off x="1331640" y="2338424"/>
            <a:ext cx="0" cy="913213"/>
          </a:xfrm>
          <a:prstGeom prst="line">
            <a:avLst/>
          </a:prstGeom>
        </p:spPr>
        <p:style>
          <a:lnRef idx="1">
            <a:schemeClr val="dk1"/>
          </a:lnRef>
          <a:fillRef idx="0">
            <a:schemeClr val="dk1"/>
          </a:fillRef>
          <a:effectRef idx="0">
            <a:schemeClr val="dk1"/>
          </a:effectRef>
          <a:fontRef idx="minor">
            <a:schemeClr val="tx1"/>
          </a:fontRef>
        </p:style>
      </p:cxnSp>
      <p:cxnSp>
        <p:nvCxnSpPr>
          <p:cNvPr id="31" name="直線單箭頭接點 30"/>
          <p:cNvCxnSpPr>
            <a:endCxn id="13" idx="1"/>
          </p:cNvCxnSpPr>
          <p:nvPr/>
        </p:nvCxnSpPr>
        <p:spPr>
          <a:xfrm>
            <a:off x="1331640" y="3248980"/>
            <a:ext cx="303383"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2" name="直線接點 31"/>
          <p:cNvCxnSpPr/>
          <p:nvPr/>
        </p:nvCxnSpPr>
        <p:spPr>
          <a:xfrm>
            <a:off x="8892480" y="2674368"/>
            <a:ext cx="0" cy="1654732"/>
          </a:xfrm>
          <a:prstGeom prst="line">
            <a:avLst/>
          </a:prstGeom>
        </p:spPr>
        <p:style>
          <a:lnRef idx="1">
            <a:schemeClr val="dk1"/>
          </a:lnRef>
          <a:fillRef idx="0">
            <a:schemeClr val="dk1"/>
          </a:fillRef>
          <a:effectRef idx="0">
            <a:schemeClr val="dk1"/>
          </a:effectRef>
          <a:fontRef idx="minor">
            <a:schemeClr val="tx1"/>
          </a:fontRef>
        </p:style>
      </p:cxnSp>
      <p:cxnSp>
        <p:nvCxnSpPr>
          <p:cNvPr id="33" name="直線單箭頭接點 32"/>
          <p:cNvCxnSpPr>
            <a:endCxn id="14" idx="3"/>
          </p:cNvCxnSpPr>
          <p:nvPr/>
        </p:nvCxnSpPr>
        <p:spPr>
          <a:xfrm flipH="1">
            <a:off x="7864717" y="4329100"/>
            <a:ext cx="1027763"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4" name="直線單箭頭接點 33"/>
          <p:cNvCxnSpPr>
            <a:stCxn id="29" idx="1"/>
            <a:endCxn id="35" idx="3"/>
          </p:cNvCxnSpPr>
          <p:nvPr/>
        </p:nvCxnSpPr>
        <p:spPr>
          <a:xfrm flipH="1">
            <a:off x="4920649" y="4329100"/>
            <a:ext cx="212870" cy="462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5" name="圓角矩形 34"/>
          <p:cNvSpPr/>
          <p:nvPr/>
        </p:nvSpPr>
        <p:spPr>
          <a:xfrm>
            <a:off x="3840529" y="4117328"/>
            <a:ext cx="1080120" cy="432792"/>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TW" sz="1400" dirty="0" smtClean="0"/>
              <a:t>Calculate profit </a:t>
            </a:r>
            <a:endParaRPr lang="zh-TW" altLang="en-US" sz="1400" dirty="0"/>
          </a:p>
        </p:txBody>
      </p:sp>
      <p:cxnSp>
        <p:nvCxnSpPr>
          <p:cNvPr id="36" name="直線單箭頭接點 35"/>
          <p:cNvCxnSpPr>
            <a:stCxn id="35" idx="1"/>
          </p:cNvCxnSpPr>
          <p:nvPr/>
        </p:nvCxnSpPr>
        <p:spPr>
          <a:xfrm flipH="1">
            <a:off x="3527169" y="4333724"/>
            <a:ext cx="313360" cy="176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7" name="圓角矩形 36"/>
              <p:cNvSpPr/>
              <p:nvPr/>
            </p:nvSpPr>
            <p:spPr>
              <a:xfrm>
                <a:off x="2447049" y="3573016"/>
                <a:ext cx="1080120" cy="982867"/>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TW" sz="1400" dirty="0" smtClean="0"/>
                  <a:t>Keep the </a:t>
                </a:r>
              </a:p>
              <a:p>
                <a:pPr algn="ctr"/>
                <a14:m>
                  <m:oMath xmlns:m="http://schemas.openxmlformats.org/officeDocument/2006/math">
                    <m:r>
                      <a:rPr lang="zh-TW" altLang="en-US" sz="1400" i="1">
                        <a:latin typeface="Cambria Math"/>
                      </a:rPr>
                      <m:t>𝛿</m:t>
                    </m:r>
                  </m:oMath>
                </a14:m>
                <a:r>
                  <a:rPr lang="en-US" altLang="zh-TW" sz="1400" dirty="0" smtClean="0"/>
                  <a:t> with best</a:t>
                </a:r>
              </a:p>
              <a:p>
                <a:pPr algn="ctr"/>
                <a:r>
                  <a:rPr lang="en-US" altLang="zh-TW" sz="1400" dirty="0" smtClean="0"/>
                  <a:t>profit</a:t>
                </a:r>
                <a:endParaRPr lang="zh-TW" altLang="en-US" sz="1400" dirty="0"/>
              </a:p>
            </p:txBody>
          </p:sp>
        </mc:Choice>
        <mc:Fallback xmlns="">
          <p:sp>
            <p:nvSpPr>
              <p:cNvPr id="37" name="圓角矩形 36"/>
              <p:cNvSpPr>
                <a:spLocks noRot="1" noChangeAspect="1" noMove="1" noResize="1" noEditPoints="1" noAdjustHandles="1" noChangeArrowheads="1" noChangeShapeType="1" noTextEdit="1"/>
              </p:cNvSpPr>
              <p:nvPr/>
            </p:nvSpPr>
            <p:spPr>
              <a:xfrm>
                <a:off x="2447049" y="3573016"/>
                <a:ext cx="1080120" cy="982867"/>
              </a:xfrm>
              <a:prstGeom prst="roundRect">
                <a:avLst/>
              </a:prstGeom>
              <a:blipFill rotWithShape="0">
                <a:blip r:embed="rId4"/>
                <a:stretch>
                  <a:fillRect b="-4321"/>
                </a:stretch>
              </a:blipFill>
            </p:spPr>
            <p:txBody>
              <a:bodyPr/>
              <a:lstStyle/>
              <a:p>
                <a:r>
                  <a:rPr lang="zh-TW" altLang="en-US">
                    <a:noFill/>
                  </a:rPr>
                  <a:t> </a:t>
                </a:r>
              </a:p>
            </p:txBody>
          </p:sp>
        </mc:Fallback>
      </mc:AlternateContent>
      <p:cxnSp>
        <p:nvCxnSpPr>
          <p:cNvPr id="38" name="直線單箭頭接點 37"/>
          <p:cNvCxnSpPr/>
          <p:nvPr/>
        </p:nvCxnSpPr>
        <p:spPr>
          <a:xfrm flipH="1" flipV="1">
            <a:off x="2059395" y="4333724"/>
            <a:ext cx="387654" cy="176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9" name="直線單箭頭接點 38"/>
          <p:cNvCxnSpPr>
            <a:stCxn id="25" idx="2"/>
          </p:cNvCxnSpPr>
          <p:nvPr/>
        </p:nvCxnSpPr>
        <p:spPr>
          <a:xfrm>
            <a:off x="1483331" y="4520409"/>
            <a:ext cx="0" cy="462407"/>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40" name="直線接點 39"/>
          <p:cNvCxnSpPr>
            <a:stCxn id="25" idx="1"/>
          </p:cNvCxnSpPr>
          <p:nvPr/>
        </p:nvCxnSpPr>
        <p:spPr>
          <a:xfrm flipH="1" flipV="1">
            <a:off x="611560" y="4071658"/>
            <a:ext cx="295707" cy="1"/>
          </a:xfrm>
          <a:prstGeom prst="line">
            <a:avLst/>
          </a:prstGeom>
        </p:spPr>
        <p:style>
          <a:lnRef idx="1">
            <a:schemeClr val="dk1"/>
          </a:lnRef>
          <a:fillRef idx="0">
            <a:schemeClr val="dk1"/>
          </a:fillRef>
          <a:effectRef idx="0">
            <a:schemeClr val="dk1"/>
          </a:effectRef>
          <a:fontRef idx="minor">
            <a:schemeClr val="tx1"/>
          </a:fontRef>
        </p:style>
      </p:cxnSp>
      <p:cxnSp>
        <p:nvCxnSpPr>
          <p:cNvPr id="41" name="直線接點 40"/>
          <p:cNvCxnSpPr/>
          <p:nvPr/>
        </p:nvCxnSpPr>
        <p:spPr>
          <a:xfrm flipV="1">
            <a:off x="611560" y="2112275"/>
            <a:ext cx="0" cy="1952174"/>
          </a:xfrm>
          <a:prstGeom prst="line">
            <a:avLst/>
          </a:prstGeom>
        </p:spPr>
        <p:style>
          <a:lnRef idx="1">
            <a:schemeClr val="dk1"/>
          </a:lnRef>
          <a:fillRef idx="0">
            <a:schemeClr val="dk1"/>
          </a:fillRef>
          <a:effectRef idx="0">
            <a:schemeClr val="dk1"/>
          </a:effectRef>
          <a:fontRef idx="minor">
            <a:schemeClr val="tx1"/>
          </a:fontRef>
        </p:style>
      </p:cxnSp>
      <p:cxnSp>
        <p:nvCxnSpPr>
          <p:cNvPr id="42" name="直線單箭頭接點 41"/>
          <p:cNvCxnSpPr>
            <a:endCxn id="11" idx="1"/>
          </p:cNvCxnSpPr>
          <p:nvPr/>
        </p:nvCxnSpPr>
        <p:spPr>
          <a:xfrm>
            <a:off x="611560" y="2112274"/>
            <a:ext cx="577492"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8" name="圓角矩形 47"/>
          <p:cNvSpPr/>
          <p:nvPr/>
        </p:nvSpPr>
        <p:spPr>
          <a:xfrm>
            <a:off x="217368" y="4982816"/>
            <a:ext cx="2531925" cy="462408"/>
          </a:xfrm>
          <a:prstGeom prst="roundRect">
            <a:avLst/>
          </a:prstGeom>
          <a:ln>
            <a:noFill/>
          </a:ln>
        </p:spPr>
        <p:style>
          <a:lnRef idx="1">
            <a:schemeClr val="dk1"/>
          </a:lnRef>
          <a:fillRef idx="2">
            <a:schemeClr val="dk1"/>
          </a:fillRef>
          <a:effectRef idx="1">
            <a:schemeClr val="dk1"/>
          </a:effectRef>
          <a:fontRef idx="minor">
            <a:schemeClr val="dk1"/>
          </a:fontRef>
        </p:style>
        <p:txBody>
          <a:bodyPr rtlCol="0" anchor="ctr"/>
          <a:lstStyle/>
          <a:p>
            <a:pPr algn="ctr"/>
            <a:r>
              <a:rPr lang="en-US" altLang="zh-TW" dirty="0" smtClean="0"/>
              <a:t>End</a:t>
            </a:r>
            <a:endParaRPr lang="zh-TW" altLang="en-US" dirty="0"/>
          </a:p>
        </p:txBody>
      </p:sp>
      <mc:AlternateContent xmlns:mc="http://schemas.openxmlformats.org/markup-compatibility/2006" xmlns:a14="http://schemas.microsoft.com/office/drawing/2010/main">
        <mc:Choice Requires="a14">
          <p:sp>
            <p:nvSpPr>
              <p:cNvPr id="49" name="圓角矩形 48"/>
              <p:cNvSpPr/>
              <p:nvPr/>
            </p:nvSpPr>
            <p:spPr>
              <a:xfrm>
                <a:off x="323528" y="5557379"/>
                <a:ext cx="2304256" cy="36004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zh-TW" altLang="en-US" sz="1400" i="1">
                          <a:latin typeface="Cambria Math"/>
                        </a:rPr>
                        <m:t>𝛿</m:t>
                      </m:r>
                    </m:oMath>
                  </m:oMathPara>
                </a14:m>
                <a:endParaRPr lang="zh-TW" altLang="en-US" sz="1400" dirty="0"/>
              </a:p>
            </p:txBody>
          </p:sp>
        </mc:Choice>
        <mc:Fallback xmlns="">
          <p:sp>
            <p:nvSpPr>
              <p:cNvPr id="49" name="圓角矩形 48"/>
              <p:cNvSpPr>
                <a:spLocks noRot="1" noChangeAspect="1" noMove="1" noResize="1" noEditPoints="1" noAdjustHandles="1" noChangeArrowheads="1" noChangeShapeType="1" noTextEdit="1"/>
              </p:cNvSpPr>
              <p:nvPr/>
            </p:nvSpPr>
            <p:spPr>
              <a:xfrm>
                <a:off x="323528" y="5557379"/>
                <a:ext cx="2304256" cy="360040"/>
              </a:xfrm>
              <a:prstGeom prst="roundRect">
                <a:avLst/>
              </a:prstGeom>
              <a:blipFill rotWithShape="0">
                <a:blip r:embed="rId5"/>
                <a:stretch>
                  <a:fillRect/>
                </a:stretch>
              </a:blipFill>
            </p:spPr>
            <p:txBody>
              <a:bodyPr/>
              <a:lstStyle/>
              <a:p>
                <a:r>
                  <a:rPr lang="zh-TW" altLang="en-US">
                    <a:noFill/>
                  </a:rPr>
                  <a:t> </a:t>
                </a:r>
              </a:p>
            </p:txBody>
          </p:sp>
        </mc:Fallback>
      </mc:AlternateContent>
      <p:sp>
        <p:nvSpPr>
          <p:cNvPr id="50" name="圓角矩形 49"/>
          <p:cNvSpPr/>
          <p:nvPr/>
        </p:nvSpPr>
        <p:spPr>
          <a:xfrm>
            <a:off x="323528" y="6021288"/>
            <a:ext cx="2304255" cy="36004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TW" sz="1400" dirty="0" smtClean="0"/>
              <a:t>Related input variables</a:t>
            </a:r>
            <a:endParaRPr lang="zh-TW" altLang="en-US" sz="1400" dirty="0"/>
          </a:p>
        </p:txBody>
      </p:sp>
      <p:cxnSp>
        <p:nvCxnSpPr>
          <p:cNvPr id="54" name="直線接點 53"/>
          <p:cNvCxnSpPr>
            <a:stCxn id="17" idx="0"/>
          </p:cNvCxnSpPr>
          <p:nvPr/>
        </p:nvCxnSpPr>
        <p:spPr>
          <a:xfrm flipV="1">
            <a:off x="7149811" y="2973309"/>
            <a:ext cx="0" cy="95650"/>
          </a:xfrm>
          <a:prstGeom prst="line">
            <a:avLst/>
          </a:prstGeom>
        </p:spPr>
        <p:style>
          <a:lnRef idx="1">
            <a:schemeClr val="dk1"/>
          </a:lnRef>
          <a:fillRef idx="0">
            <a:schemeClr val="dk1"/>
          </a:fillRef>
          <a:effectRef idx="0">
            <a:schemeClr val="dk1"/>
          </a:effectRef>
          <a:fontRef idx="minor">
            <a:schemeClr val="tx1"/>
          </a:fontRef>
        </p:style>
      </p:cxnSp>
      <p:cxnSp>
        <p:nvCxnSpPr>
          <p:cNvPr id="55" name="直線接點 54"/>
          <p:cNvCxnSpPr/>
          <p:nvPr/>
        </p:nvCxnSpPr>
        <p:spPr>
          <a:xfrm flipH="1">
            <a:off x="4650737" y="2973309"/>
            <a:ext cx="2489027" cy="0"/>
          </a:xfrm>
          <a:prstGeom prst="line">
            <a:avLst/>
          </a:prstGeom>
        </p:spPr>
        <p:style>
          <a:lnRef idx="1">
            <a:schemeClr val="dk1"/>
          </a:lnRef>
          <a:fillRef idx="0">
            <a:schemeClr val="dk1"/>
          </a:fillRef>
          <a:effectRef idx="0">
            <a:schemeClr val="dk1"/>
          </a:effectRef>
          <a:fontRef idx="minor">
            <a:schemeClr val="tx1"/>
          </a:fontRef>
        </p:style>
      </p:cxnSp>
      <p:cxnSp>
        <p:nvCxnSpPr>
          <p:cNvPr id="56" name="直線單箭頭接點 55"/>
          <p:cNvCxnSpPr>
            <a:endCxn id="12" idx="2"/>
          </p:cNvCxnSpPr>
          <p:nvPr/>
        </p:nvCxnSpPr>
        <p:spPr>
          <a:xfrm flipV="1">
            <a:off x="4653158" y="2852936"/>
            <a:ext cx="1" cy="12037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7" name="圓角矩形 56"/>
          <p:cNvSpPr/>
          <p:nvPr/>
        </p:nvSpPr>
        <p:spPr>
          <a:xfrm>
            <a:off x="1651933" y="2494347"/>
            <a:ext cx="2040389" cy="358807"/>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altLang="zh-TW" dirty="0" smtClean="0"/>
              <a:t>Technical indexes</a:t>
            </a:r>
            <a:endParaRPr lang="zh-TW" altLang="en-US" dirty="0"/>
          </a:p>
        </p:txBody>
      </p:sp>
      <p:cxnSp>
        <p:nvCxnSpPr>
          <p:cNvPr id="58" name="直線單箭頭接點 57"/>
          <p:cNvCxnSpPr>
            <a:stCxn id="57" idx="3"/>
            <a:endCxn id="12" idx="1"/>
          </p:cNvCxnSpPr>
          <p:nvPr/>
        </p:nvCxnSpPr>
        <p:spPr>
          <a:xfrm flipV="1">
            <a:off x="3692322" y="2672916"/>
            <a:ext cx="231605" cy="83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69006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smtClean="0">
                <a:latin typeface="Times New Roman" panose="02020603050405020304" pitchFamily="18" charset="0"/>
                <a:ea typeface="標楷體" panose="03000509000000000000" pitchFamily="65" charset="-120"/>
              </a:rPr>
              <a:t>Experiment</a:t>
            </a:r>
            <a:endParaRPr lang="zh-TW" altLang="en-US" sz="40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38</a:t>
            </a:fld>
            <a:endParaRPr lang="zh-TW" altLang="en-US" dirty="0"/>
          </a:p>
        </p:txBody>
      </p:sp>
      <p:sp>
        <p:nvSpPr>
          <p:cNvPr id="3" name="內容版面配置區 2"/>
          <p:cNvSpPr>
            <a:spLocks noGrp="1"/>
          </p:cNvSpPr>
          <p:nvPr>
            <p:ph idx="1"/>
          </p:nvPr>
        </p:nvSpPr>
        <p:spPr>
          <a:xfrm>
            <a:off x="95249" y="809897"/>
            <a:ext cx="8924925" cy="5546454"/>
          </a:xfrm>
        </p:spPr>
        <p:txBody>
          <a:bodyPr/>
          <a:lstStyle/>
          <a:p>
            <a:pPr marL="0" indent="0">
              <a:buNone/>
            </a:pPr>
            <a:r>
              <a:rPr lang="en-US" altLang="zh-TW" sz="2400" dirty="0" smtClean="0">
                <a:latin typeface="Times New Roman" panose="02020603050405020304" pitchFamily="18" charset="0"/>
                <a:ea typeface="標楷體" panose="03000509000000000000" pitchFamily="65" charset="-120"/>
              </a:rPr>
              <a:t>[Dataset]</a:t>
            </a:r>
          </a:p>
          <a:p>
            <a:pPr marL="0" indent="0">
              <a:buNone/>
            </a:pPr>
            <a:r>
              <a:rPr lang="en-US" altLang="zh-TW" dirty="0" smtClean="0">
                <a:latin typeface="Times New Roman" panose="02020603050405020304" pitchFamily="18" charset="0"/>
                <a:ea typeface="標楷體" panose="03000509000000000000" pitchFamily="65" charset="-120"/>
              </a:rPr>
              <a:t>Time period: 2004/01/02 ~ 2006/04/12</a:t>
            </a:r>
          </a:p>
          <a:p>
            <a:pPr marL="0" indent="0">
              <a:buNone/>
            </a:pPr>
            <a:r>
              <a:rPr lang="en-US" altLang="zh-TW" dirty="0" smtClean="0">
                <a:latin typeface="Times New Roman" panose="02020603050405020304" pitchFamily="18" charset="0"/>
                <a:ea typeface="標楷體" panose="03000509000000000000" pitchFamily="65" charset="-120"/>
              </a:rPr>
              <a:t>Training period: 2004/01/ ~ 2005/09/30</a:t>
            </a:r>
          </a:p>
          <a:p>
            <a:pPr marL="0" indent="0">
              <a:buNone/>
            </a:pPr>
            <a:r>
              <a:rPr lang="en-US" altLang="zh-TW" dirty="0" smtClean="0">
                <a:latin typeface="Times New Roman" panose="02020603050405020304" pitchFamily="18" charset="0"/>
                <a:ea typeface="標楷體" panose="03000509000000000000" pitchFamily="65" charset="-120"/>
              </a:rPr>
              <a:t>Testing period: 2005/10/01 ~ 2006/04/12</a:t>
            </a:r>
          </a:p>
          <a:p>
            <a:pPr marL="457200" indent="-457200">
              <a:buAutoNum type="arabicPeriod"/>
            </a:pPr>
            <a:r>
              <a:rPr lang="en-US" altLang="zh-TW" dirty="0" smtClean="0">
                <a:solidFill>
                  <a:schemeClr val="accent1">
                    <a:lumMod val="75000"/>
                  </a:schemeClr>
                </a:solidFill>
                <a:latin typeface="Times New Roman" panose="02020603050405020304" pitchFamily="18" charset="0"/>
                <a:ea typeface="標楷體" panose="03000509000000000000" pitchFamily="65" charset="-120"/>
              </a:rPr>
              <a:t>AUO	(</a:t>
            </a:r>
            <a:r>
              <a:rPr lang="zh-TW" altLang="en-US" dirty="0" smtClean="0">
                <a:solidFill>
                  <a:schemeClr val="accent1">
                    <a:lumMod val="75000"/>
                  </a:schemeClr>
                </a:solidFill>
                <a:latin typeface="Times New Roman" panose="02020603050405020304" pitchFamily="18" charset="0"/>
                <a:ea typeface="標楷體" panose="03000509000000000000" pitchFamily="65" charset="-120"/>
              </a:rPr>
              <a:t>友達光電</a:t>
            </a:r>
            <a:r>
              <a:rPr lang="en-US" altLang="zh-TW" dirty="0" smtClean="0">
                <a:solidFill>
                  <a:schemeClr val="accent1">
                    <a:lumMod val="75000"/>
                  </a:schemeClr>
                </a:solidFill>
                <a:latin typeface="Times New Roman" panose="02020603050405020304" pitchFamily="18" charset="0"/>
                <a:ea typeface="標楷體" panose="03000509000000000000" pitchFamily="65" charset="-120"/>
              </a:rPr>
              <a:t>, 2409)</a:t>
            </a:r>
          </a:p>
          <a:p>
            <a:pPr marL="457200" indent="-457200">
              <a:buAutoNum type="arabicPeriod"/>
            </a:pPr>
            <a:r>
              <a:rPr lang="en-US" altLang="zh-TW" dirty="0" err="1" smtClean="0">
                <a:solidFill>
                  <a:schemeClr val="accent1">
                    <a:lumMod val="75000"/>
                  </a:schemeClr>
                </a:solidFill>
                <a:latin typeface="Times New Roman" panose="02020603050405020304" pitchFamily="18" charset="0"/>
                <a:ea typeface="標楷體" panose="03000509000000000000" pitchFamily="65" charset="-120"/>
              </a:rPr>
              <a:t>Epistar</a:t>
            </a:r>
            <a:r>
              <a:rPr lang="en-US" altLang="zh-TW" dirty="0" smtClean="0">
                <a:solidFill>
                  <a:schemeClr val="accent1">
                    <a:lumMod val="75000"/>
                  </a:schemeClr>
                </a:solidFill>
                <a:latin typeface="Times New Roman" panose="02020603050405020304" pitchFamily="18" charset="0"/>
                <a:ea typeface="標楷體" panose="03000509000000000000" pitchFamily="65" charset="-120"/>
              </a:rPr>
              <a:t>	(</a:t>
            </a:r>
            <a:r>
              <a:rPr lang="zh-TW" altLang="en-US" dirty="0" smtClean="0">
                <a:solidFill>
                  <a:schemeClr val="accent1">
                    <a:lumMod val="75000"/>
                  </a:schemeClr>
                </a:solidFill>
                <a:latin typeface="Times New Roman" panose="02020603050405020304" pitchFamily="18" charset="0"/>
                <a:ea typeface="標楷體" panose="03000509000000000000" pitchFamily="65" charset="-120"/>
              </a:rPr>
              <a:t>晶圓光電</a:t>
            </a:r>
            <a:r>
              <a:rPr lang="en-US" altLang="zh-TW" dirty="0" smtClean="0">
                <a:solidFill>
                  <a:schemeClr val="accent1">
                    <a:lumMod val="75000"/>
                  </a:schemeClr>
                </a:solidFill>
                <a:latin typeface="Times New Roman" panose="02020603050405020304" pitchFamily="18" charset="0"/>
                <a:ea typeface="標楷體" panose="03000509000000000000" pitchFamily="65" charset="-120"/>
              </a:rPr>
              <a:t>, 2448)</a:t>
            </a:r>
          </a:p>
          <a:p>
            <a:pPr marL="457200" indent="-457200">
              <a:buAutoNum type="arabicPeriod"/>
            </a:pPr>
            <a:r>
              <a:rPr lang="en-US" altLang="zh-TW" dirty="0" smtClean="0">
                <a:solidFill>
                  <a:schemeClr val="accent1">
                    <a:lumMod val="75000"/>
                  </a:schemeClr>
                </a:solidFill>
                <a:latin typeface="Times New Roman" panose="02020603050405020304" pitchFamily="18" charset="0"/>
                <a:ea typeface="標楷體" panose="03000509000000000000" pitchFamily="65" charset="-120"/>
              </a:rPr>
              <a:t>GP	(</a:t>
            </a:r>
            <a:r>
              <a:rPr lang="zh-TW" altLang="en-US" dirty="0" smtClean="0">
                <a:solidFill>
                  <a:schemeClr val="accent1">
                    <a:lumMod val="75000"/>
                  </a:schemeClr>
                </a:solidFill>
                <a:latin typeface="Times New Roman" panose="02020603050405020304" pitchFamily="18" charset="0"/>
                <a:ea typeface="標楷體" panose="03000509000000000000" pitchFamily="65" charset="-120"/>
              </a:rPr>
              <a:t>金山工業</a:t>
            </a:r>
            <a:r>
              <a:rPr lang="en-US" altLang="zh-TW" dirty="0" smtClean="0">
                <a:solidFill>
                  <a:schemeClr val="accent1">
                    <a:lumMod val="75000"/>
                  </a:schemeClr>
                </a:solidFill>
                <a:latin typeface="Times New Roman" panose="02020603050405020304" pitchFamily="18" charset="0"/>
                <a:ea typeface="標楷體" panose="03000509000000000000" pitchFamily="65" charset="-120"/>
              </a:rPr>
              <a:t>, 0040) </a:t>
            </a:r>
            <a:r>
              <a:rPr lang="en-US" altLang="zh-TW" dirty="0" smtClean="0">
                <a:latin typeface="Times New Roman" panose="02020603050405020304" pitchFamily="18" charset="0"/>
                <a:ea typeface="標楷體" panose="03000509000000000000" pitchFamily="65" charset="-120"/>
                <a:sym typeface="Wingdings" panose="05000000000000000000" pitchFamily="2" charset="2"/>
              </a:rPr>
              <a:t></a:t>
            </a:r>
            <a:r>
              <a:rPr lang="zh-TW" altLang="en-US" dirty="0" smtClean="0">
                <a:latin typeface="Times New Roman" panose="02020603050405020304" pitchFamily="18" charset="0"/>
                <a:ea typeface="標楷體" panose="03000509000000000000" pitchFamily="65" charset="-120"/>
                <a:sym typeface="Wingdings" panose="05000000000000000000" pitchFamily="2" charset="2"/>
              </a:rPr>
              <a:t> </a:t>
            </a:r>
            <a:r>
              <a:rPr lang="zh-TW" altLang="en-US" dirty="0" smtClean="0">
                <a:solidFill>
                  <a:srgbClr val="FF0000"/>
                </a:solidFill>
                <a:latin typeface="Times New Roman" panose="02020603050405020304" pitchFamily="18" charset="0"/>
                <a:ea typeface="標楷體" panose="03000509000000000000" pitchFamily="65" charset="-120"/>
                <a:sym typeface="Wingdings" panose="05000000000000000000" pitchFamily="2" charset="2"/>
              </a:rPr>
              <a:t>不確定</a:t>
            </a:r>
            <a:endParaRPr lang="en-US" altLang="zh-TW" dirty="0" smtClean="0">
              <a:solidFill>
                <a:srgbClr val="FF0000"/>
              </a:solidFill>
              <a:latin typeface="Times New Roman" panose="02020603050405020304" pitchFamily="18" charset="0"/>
              <a:ea typeface="標楷體" panose="03000509000000000000" pitchFamily="65" charset="-120"/>
              <a:sym typeface="Wingdings" panose="05000000000000000000" pitchFamily="2" charset="2"/>
            </a:endParaRPr>
          </a:p>
          <a:p>
            <a:pPr marL="457200" indent="-457200">
              <a:buAutoNum type="arabicPeriod"/>
            </a:pPr>
            <a:r>
              <a:rPr lang="en-US" altLang="zh-TW" dirty="0" err="1" smtClean="0">
                <a:solidFill>
                  <a:schemeClr val="accent2">
                    <a:lumMod val="75000"/>
                  </a:schemeClr>
                </a:solidFill>
                <a:latin typeface="Times New Roman" panose="02020603050405020304" pitchFamily="18" charset="0"/>
                <a:ea typeface="標楷體" panose="03000509000000000000" pitchFamily="65" charset="-120"/>
                <a:sym typeface="Wingdings" panose="05000000000000000000" pitchFamily="2" charset="2"/>
              </a:rPr>
              <a:t>SiS</a:t>
            </a:r>
            <a:r>
              <a:rPr lang="en-US" altLang="zh-TW" dirty="0" smtClean="0">
                <a:solidFill>
                  <a:schemeClr val="accent2">
                    <a:lumMod val="75000"/>
                  </a:schemeClr>
                </a:solidFill>
                <a:latin typeface="Times New Roman" panose="02020603050405020304" pitchFamily="18" charset="0"/>
                <a:ea typeface="標楷體" panose="03000509000000000000" pitchFamily="65" charset="-120"/>
                <a:sym typeface="Wingdings" panose="05000000000000000000" pitchFamily="2" charset="2"/>
              </a:rPr>
              <a:t>	(</a:t>
            </a:r>
            <a:r>
              <a:rPr lang="zh-TW" altLang="en-US" dirty="0">
                <a:solidFill>
                  <a:schemeClr val="accent2">
                    <a:lumMod val="75000"/>
                  </a:schemeClr>
                </a:solidFill>
                <a:latin typeface="Times New Roman" panose="02020603050405020304" pitchFamily="18" charset="0"/>
                <a:ea typeface="標楷體" panose="03000509000000000000" pitchFamily="65" charset="-120"/>
                <a:sym typeface="Wingdings" panose="05000000000000000000" pitchFamily="2" charset="2"/>
              </a:rPr>
              <a:t>矽統</a:t>
            </a:r>
            <a:r>
              <a:rPr lang="zh-TW" altLang="en-US" dirty="0" smtClean="0">
                <a:solidFill>
                  <a:schemeClr val="accent2">
                    <a:lumMod val="75000"/>
                  </a:schemeClr>
                </a:solidFill>
                <a:latin typeface="Times New Roman" panose="02020603050405020304" pitchFamily="18" charset="0"/>
                <a:ea typeface="標楷體" panose="03000509000000000000" pitchFamily="65" charset="-120"/>
                <a:sym typeface="Wingdings" panose="05000000000000000000" pitchFamily="2" charset="2"/>
              </a:rPr>
              <a:t>科技</a:t>
            </a:r>
            <a:r>
              <a:rPr lang="en-US" altLang="zh-TW" dirty="0" smtClean="0">
                <a:solidFill>
                  <a:schemeClr val="accent2">
                    <a:lumMod val="75000"/>
                  </a:schemeClr>
                </a:solidFill>
                <a:latin typeface="Times New Roman" panose="02020603050405020304" pitchFamily="18" charset="0"/>
                <a:ea typeface="標楷體" panose="03000509000000000000" pitchFamily="65" charset="-120"/>
                <a:sym typeface="Wingdings" panose="05000000000000000000" pitchFamily="2" charset="2"/>
              </a:rPr>
              <a:t>, 2363)</a:t>
            </a:r>
          </a:p>
          <a:p>
            <a:pPr marL="457200" indent="-457200">
              <a:buAutoNum type="arabicPeriod"/>
            </a:pPr>
            <a:r>
              <a:rPr lang="en-US" altLang="zh-TW" dirty="0" smtClean="0">
                <a:solidFill>
                  <a:schemeClr val="accent2">
                    <a:lumMod val="75000"/>
                  </a:schemeClr>
                </a:solidFill>
                <a:latin typeface="Times New Roman" panose="02020603050405020304" pitchFamily="18" charset="0"/>
                <a:ea typeface="標楷體" panose="03000509000000000000" pitchFamily="65" charset="-120"/>
                <a:sym typeface="Wingdings" panose="05000000000000000000" pitchFamily="2" charset="2"/>
              </a:rPr>
              <a:t>SENAO	(</a:t>
            </a:r>
            <a:r>
              <a:rPr lang="zh-TW" altLang="en-US" dirty="0" smtClean="0">
                <a:solidFill>
                  <a:schemeClr val="accent2">
                    <a:lumMod val="75000"/>
                  </a:schemeClr>
                </a:solidFill>
                <a:latin typeface="Times New Roman" panose="02020603050405020304" pitchFamily="18" charset="0"/>
                <a:ea typeface="標楷體" panose="03000509000000000000" pitchFamily="65" charset="-120"/>
                <a:sym typeface="Wingdings" panose="05000000000000000000" pitchFamily="2" charset="2"/>
              </a:rPr>
              <a:t>神腦國際</a:t>
            </a:r>
            <a:r>
              <a:rPr lang="en-US" altLang="zh-TW" dirty="0" smtClean="0">
                <a:solidFill>
                  <a:schemeClr val="accent2">
                    <a:lumMod val="75000"/>
                  </a:schemeClr>
                </a:solidFill>
                <a:latin typeface="Times New Roman" panose="02020603050405020304" pitchFamily="18" charset="0"/>
                <a:ea typeface="標楷體" panose="03000509000000000000" pitchFamily="65" charset="-120"/>
                <a:sym typeface="Wingdings" panose="05000000000000000000" pitchFamily="2" charset="2"/>
              </a:rPr>
              <a:t>, 2450)</a:t>
            </a:r>
          </a:p>
          <a:p>
            <a:pPr marL="457200" indent="-457200">
              <a:buAutoNum type="arabicPeriod"/>
            </a:pPr>
            <a:r>
              <a:rPr lang="en-US" altLang="zh-TW" dirty="0" smtClean="0">
                <a:solidFill>
                  <a:schemeClr val="accent2">
                    <a:lumMod val="75000"/>
                  </a:schemeClr>
                </a:solidFill>
                <a:latin typeface="Times New Roman" panose="02020603050405020304" pitchFamily="18" charset="0"/>
                <a:ea typeface="標楷體" panose="03000509000000000000" pitchFamily="65" charset="-120"/>
                <a:sym typeface="Wingdings" panose="05000000000000000000" pitchFamily="2" charset="2"/>
              </a:rPr>
              <a:t>D-LINK(</a:t>
            </a:r>
            <a:r>
              <a:rPr lang="zh-TW" altLang="en-US" dirty="0">
                <a:solidFill>
                  <a:schemeClr val="accent2">
                    <a:lumMod val="75000"/>
                  </a:schemeClr>
                </a:solidFill>
                <a:latin typeface="Times New Roman" panose="02020603050405020304" pitchFamily="18" charset="0"/>
                <a:ea typeface="標楷體" panose="03000509000000000000" pitchFamily="65" charset="-120"/>
                <a:sym typeface="Wingdings" panose="05000000000000000000" pitchFamily="2" charset="2"/>
              </a:rPr>
              <a:t>友訊</a:t>
            </a:r>
            <a:r>
              <a:rPr lang="zh-TW" altLang="en-US" dirty="0" smtClean="0">
                <a:solidFill>
                  <a:schemeClr val="accent2">
                    <a:lumMod val="75000"/>
                  </a:schemeClr>
                </a:solidFill>
                <a:latin typeface="Times New Roman" panose="02020603050405020304" pitchFamily="18" charset="0"/>
                <a:ea typeface="標楷體" panose="03000509000000000000" pitchFamily="65" charset="-120"/>
                <a:sym typeface="Wingdings" panose="05000000000000000000" pitchFamily="2" charset="2"/>
              </a:rPr>
              <a:t>科技</a:t>
            </a:r>
            <a:r>
              <a:rPr lang="en-US" altLang="zh-TW" dirty="0" smtClean="0">
                <a:solidFill>
                  <a:schemeClr val="accent2">
                    <a:lumMod val="75000"/>
                  </a:schemeClr>
                </a:solidFill>
                <a:latin typeface="Times New Roman" panose="02020603050405020304" pitchFamily="18" charset="0"/>
                <a:ea typeface="標楷體" panose="03000509000000000000" pitchFamily="65" charset="-120"/>
                <a:sym typeface="Wingdings" panose="05000000000000000000" pitchFamily="2" charset="2"/>
              </a:rPr>
              <a:t>, 2332)</a:t>
            </a:r>
          </a:p>
          <a:p>
            <a:pPr marL="457200" indent="-457200">
              <a:buAutoNum type="arabicPeriod"/>
            </a:pPr>
            <a:r>
              <a:rPr lang="en-US" altLang="zh-TW" dirty="0" err="1" smtClean="0">
                <a:latin typeface="Times New Roman" panose="02020603050405020304" pitchFamily="18" charset="0"/>
                <a:ea typeface="標楷體" panose="03000509000000000000" pitchFamily="65" charset="-120"/>
                <a:sym typeface="Wingdings" panose="05000000000000000000" pitchFamily="2" charset="2"/>
              </a:rPr>
              <a:t>Foxlink</a:t>
            </a:r>
            <a:r>
              <a:rPr lang="en-US" altLang="zh-TW" dirty="0" smtClean="0">
                <a:latin typeface="Times New Roman" panose="02020603050405020304" pitchFamily="18" charset="0"/>
                <a:ea typeface="標楷體" panose="03000509000000000000" pitchFamily="65" charset="-120"/>
                <a:sym typeface="Wingdings" panose="05000000000000000000" pitchFamily="2" charset="2"/>
              </a:rPr>
              <a:t>	(</a:t>
            </a:r>
            <a:r>
              <a:rPr lang="zh-TW" altLang="en-US" dirty="0">
                <a:latin typeface="Times New Roman" panose="02020603050405020304" pitchFamily="18" charset="0"/>
                <a:ea typeface="標楷體" panose="03000509000000000000" pitchFamily="65" charset="-120"/>
                <a:sym typeface="Wingdings" panose="05000000000000000000" pitchFamily="2" charset="2"/>
              </a:rPr>
              <a:t>正崴精密</a:t>
            </a:r>
            <a:r>
              <a:rPr lang="zh-TW" altLang="en-US" dirty="0" smtClean="0">
                <a:latin typeface="Times New Roman" panose="02020603050405020304" pitchFamily="18" charset="0"/>
                <a:ea typeface="標楷體" panose="03000509000000000000" pitchFamily="65" charset="-120"/>
                <a:sym typeface="Wingdings" panose="05000000000000000000" pitchFamily="2" charset="2"/>
              </a:rPr>
              <a:t>工業</a:t>
            </a:r>
            <a:r>
              <a:rPr lang="en-US" altLang="zh-TW" dirty="0" smtClean="0">
                <a:latin typeface="Times New Roman" panose="02020603050405020304" pitchFamily="18" charset="0"/>
                <a:ea typeface="標楷體" panose="03000509000000000000" pitchFamily="65" charset="-120"/>
                <a:sym typeface="Wingdings" panose="05000000000000000000" pitchFamily="2" charset="2"/>
              </a:rPr>
              <a:t>, 2392)</a:t>
            </a:r>
          </a:p>
          <a:p>
            <a:pPr marL="457200" indent="-457200">
              <a:buAutoNum type="arabicPeriod"/>
            </a:pPr>
            <a:r>
              <a:rPr lang="en-US" altLang="zh-TW" dirty="0" err="1" smtClean="0">
                <a:latin typeface="Times New Roman" panose="02020603050405020304" pitchFamily="18" charset="0"/>
                <a:ea typeface="標楷體" panose="03000509000000000000" pitchFamily="65" charset="-120"/>
                <a:sym typeface="Wingdings" panose="05000000000000000000" pitchFamily="2" charset="2"/>
              </a:rPr>
              <a:t>Compal</a:t>
            </a:r>
            <a:r>
              <a:rPr lang="en-US" altLang="zh-TW" dirty="0" smtClean="0">
                <a:latin typeface="Times New Roman" panose="02020603050405020304" pitchFamily="18" charset="0"/>
                <a:ea typeface="標楷體" panose="03000509000000000000" pitchFamily="65" charset="-120"/>
                <a:sym typeface="Wingdings" panose="05000000000000000000" pitchFamily="2" charset="2"/>
              </a:rPr>
              <a:t>	(</a:t>
            </a:r>
            <a:r>
              <a:rPr lang="zh-TW" altLang="en-US" dirty="0">
                <a:latin typeface="Times New Roman" panose="02020603050405020304" pitchFamily="18" charset="0"/>
                <a:ea typeface="標楷體" panose="03000509000000000000" pitchFamily="65" charset="-120"/>
                <a:sym typeface="Wingdings" panose="05000000000000000000" pitchFamily="2" charset="2"/>
              </a:rPr>
              <a:t>仁寶</a:t>
            </a:r>
            <a:r>
              <a:rPr lang="zh-TW" altLang="en-US" dirty="0" smtClean="0">
                <a:latin typeface="Times New Roman" panose="02020603050405020304" pitchFamily="18" charset="0"/>
                <a:ea typeface="標楷體" panose="03000509000000000000" pitchFamily="65" charset="-120"/>
                <a:sym typeface="Wingdings" panose="05000000000000000000" pitchFamily="2" charset="2"/>
              </a:rPr>
              <a:t>電腦</a:t>
            </a:r>
            <a:r>
              <a:rPr lang="en-US" altLang="zh-TW" dirty="0" smtClean="0">
                <a:latin typeface="Times New Roman" panose="02020603050405020304" pitchFamily="18" charset="0"/>
                <a:ea typeface="標楷體" panose="03000509000000000000" pitchFamily="65" charset="-120"/>
                <a:sym typeface="Wingdings" panose="05000000000000000000" pitchFamily="2" charset="2"/>
              </a:rPr>
              <a:t>, 2324)</a:t>
            </a:r>
          </a:p>
          <a:p>
            <a:pPr marL="457200" indent="-457200">
              <a:buAutoNum type="arabicPeriod"/>
            </a:pPr>
            <a:r>
              <a:rPr lang="en-US" altLang="zh-TW" dirty="0" smtClean="0">
                <a:latin typeface="Times New Roman" panose="02020603050405020304" pitchFamily="18" charset="0"/>
                <a:ea typeface="標楷體" panose="03000509000000000000" pitchFamily="65" charset="-120"/>
                <a:sym typeface="Wingdings" panose="05000000000000000000" pitchFamily="2" charset="2"/>
              </a:rPr>
              <a:t>UMC	(</a:t>
            </a:r>
            <a:r>
              <a:rPr lang="zh-TW" altLang="en-US" dirty="0">
                <a:latin typeface="Times New Roman" panose="02020603050405020304" pitchFamily="18" charset="0"/>
                <a:ea typeface="標楷體" panose="03000509000000000000" pitchFamily="65" charset="-120"/>
                <a:sym typeface="Wingdings" panose="05000000000000000000" pitchFamily="2" charset="2"/>
              </a:rPr>
              <a:t>聯華</a:t>
            </a:r>
            <a:r>
              <a:rPr lang="zh-TW" altLang="en-US" dirty="0" smtClean="0">
                <a:latin typeface="Times New Roman" panose="02020603050405020304" pitchFamily="18" charset="0"/>
                <a:ea typeface="標楷體" panose="03000509000000000000" pitchFamily="65" charset="-120"/>
                <a:sym typeface="Wingdings" panose="05000000000000000000" pitchFamily="2" charset="2"/>
              </a:rPr>
              <a:t>電子</a:t>
            </a:r>
            <a:r>
              <a:rPr lang="en-US" altLang="zh-TW" dirty="0" smtClean="0">
                <a:latin typeface="Times New Roman" panose="02020603050405020304" pitchFamily="18" charset="0"/>
                <a:ea typeface="標楷體" panose="03000509000000000000" pitchFamily="65" charset="-120"/>
                <a:sym typeface="Wingdings" panose="05000000000000000000" pitchFamily="2" charset="2"/>
              </a:rPr>
              <a:t>, 2303)</a:t>
            </a:r>
          </a:p>
          <a:p>
            <a:pPr marL="457200" indent="-457200">
              <a:buAutoNum type="arabicPeriod"/>
            </a:pPr>
            <a:endParaRPr lang="en-US" altLang="zh-TW" dirty="0">
              <a:latin typeface="Times New Roman" panose="02020603050405020304" pitchFamily="18" charset="0"/>
              <a:ea typeface="標楷體" panose="03000509000000000000" pitchFamily="65" charset="-120"/>
              <a:sym typeface="Wingdings" panose="05000000000000000000" pitchFamily="2" charset="2"/>
            </a:endParaRPr>
          </a:p>
        </p:txBody>
      </p:sp>
    </p:spTree>
    <p:extLst>
      <p:ext uri="{BB962C8B-B14F-4D97-AF65-F5344CB8AC3E}">
        <p14:creationId xmlns:p14="http://schemas.microsoft.com/office/powerpoint/2010/main" val="354653275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smtClean="0">
                <a:latin typeface="Times New Roman" panose="02020603050405020304" pitchFamily="18" charset="0"/>
                <a:ea typeface="標楷體" panose="03000509000000000000" pitchFamily="65" charset="-120"/>
              </a:rPr>
              <a:t>Experiment</a:t>
            </a:r>
            <a:endParaRPr lang="zh-TW" altLang="en-US" sz="4000" b="1"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5" name="內容版面配置區 4"/>
          <p:cNvPicPr>
            <a:picLocks noGrp="1" noChangeAspect="1"/>
          </p:cNvPicPr>
          <p:nvPr>
            <p:ph idx="1"/>
          </p:nvPr>
        </p:nvPicPr>
        <p:blipFill>
          <a:blip r:embed="rId3"/>
          <a:stretch>
            <a:fillRect/>
          </a:stretch>
        </p:blipFill>
        <p:spPr>
          <a:xfrm>
            <a:off x="95249" y="1498071"/>
            <a:ext cx="4266133" cy="4629774"/>
          </a:xfrm>
          <a:prstGeom prst="rect">
            <a:avLst/>
          </a:prstGeom>
        </p:spPr>
      </p:pic>
      <p:sp>
        <p:nvSpPr>
          <p:cNvPr id="4" name="投影片編號版面配置區 3"/>
          <p:cNvSpPr>
            <a:spLocks noGrp="1"/>
          </p:cNvSpPr>
          <p:nvPr>
            <p:ph type="sldNum" sz="quarter" idx="12"/>
          </p:nvPr>
        </p:nvSpPr>
        <p:spPr/>
        <p:txBody>
          <a:bodyPr/>
          <a:lstStyle/>
          <a:p>
            <a:fld id="{7D6D0F78-E2D1-4ADE-B2ED-40AB43ACB23D}" type="slidenum">
              <a:rPr lang="zh-TW" altLang="en-US" smtClean="0"/>
              <a:t>39</a:t>
            </a:fld>
            <a:endParaRPr lang="zh-TW" altLang="en-US" dirty="0"/>
          </a:p>
        </p:txBody>
      </p:sp>
      <p:pic>
        <p:nvPicPr>
          <p:cNvPr id="6" name="圖片 5"/>
          <p:cNvPicPr>
            <a:picLocks noChangeAspect="1"/>
          </p:cNvPicPr>
          <p:nvPr/>
        </p:nvPicPr>
        <p:blipFill>
          <a:blip r:embed="rId4"/>
          <a:stretch>
            <a:fillRect/>
          </a:stretch>
        </p:blipFill>
        <p:spPr>
          <a:xfrm>
            <a:off x="4470638" y="1498071"/>
            <a:ext cx="4673362" cy="4623380"/>
          </a:xfrm>
          <a:prstGeom prst="rect">
            <a:avLst/>
          </a:prstGeom>
        </p:spPr>
      </p:pic>
      <p:sp>
        <p:nvSpPr>
          <p:cNvPr id="7" name="文字方塊 6"/>
          <p:cNvSpPr txBox="1"/>
          <p:nvPr/>
        </p:nvSpPr>
        <p:spPr>
          <a:xfrm>
            <a:off x="1816111" y="1128739"/>
            <a:ext cx="1131805" cy="369332"/>
          </a:xfrm>
          <a:prstGeom prst="rect">
            <a:avLst/>
          </a:prstGeom>
          <a:noFill/>
        </p:spPr>
        <p:txBody>
          <a:bodyPr wrap="square" rtlCol="0">
            <a:spAutoFit/>
          </a:bodyPr>
          <a:lstStyle/>
          <a:p>
            <a:r>
              <a:rPr lang="en-US" altLang="zh-TW" dirty="0" smtClean="0"/>
              <a:t>UP Trend</a:t>
            </a:r>
            <a:endParaRPr lang="zh-TW" altLang="en-US" dirty="0"/>
          </a:p>
        </p:txBody>
      </p:sp>
      <p:sp>
        <p:nvSpPr>
          <p:cNvPr id="8" name="文字方塊 7"/>
          <p:cNvSpPr txBox="1"/>
          <p:nvPr/>
        </p:nvSpPr>
        <p:spPr>
          <a:xfrm>
            <a:off x="6052063" y="1119449"/>
            <a:ext cx="1510512" cy="369332"/>
          </a:xfrm>
          <a:prstGeom prst="rect">
            <a:avLst/>
          </a:prstGeom>
          <a:noFill/>
        </p:spPr>
        <p:txBody>
          <a:bodyPr wrap="square" rtlCol="0">
            <a:spAutoFit/>
          </a:bodyPr>
          <a:lstStyle/>
          <a:p>
            <a:r>
              <a:rPr lang="en-US" altLang="zh-TW" dirty="0" smtClean="0"/>
              <a:t>DOWN Trend</a:t>
            </a:r>
            <a:endParaRPr lang="zh-TW" altLang="en-US" dirty="0"/>
          </a:p>
        </p:txBody>
      </p:sp>
    </p:spTree>
    <p:extLst>
      <p:ext uri="{BB962C8B-B14F-4D97-AF65-F5344CB8AC3E}">
        <p14:creationId xmlns:p14="http://schemas.microsoft.com/office/powerpoint/2010/main" val="261031528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smtClean="0">
                <a:latin typeface="Times New Roman" panose="02020603050405020304" pitchFamily="18" charset="0"/>
                <a:ea typeface="標楷體" panose="03000509000000000000" pitchFamily="65" charset="-120"/>
              </a:rPr>
              <a:t>Experiment</a:t>
            </a:r>
            <a:endParaRPr lang="zh-TW" altLang="en-US" sz="40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40</a:t>
            </a:fld>
            <a:endParaRPr lang="zh-TW" altLang="en-US" dirty="0"/>
          </a:p>
        </p:txBody>
      </p:sp>
      <p:pic>
        <p:nvPicPr>
          <p:cNvPr id="9" name="圖片 8"/>
          <p:cNvPicPr>
            <a:picLocks noChangeAspect="1"/>
          </p:cNvPicPr>
          <p:nvPr/>
        </p:nvPicPr>
        <p:blipFill>
          <a:blip r:embed="rId3"/>
          <a:stretch>
            <a:fillRect/>
          </a:stretch>
        </p:blipFill>
        <p:spPr>
          <a:xfrm>
            <a:off x="2041633" y="1163505"/>
            <a:ext cx="5032155" cy="5192846"/>
          </a:xfrm>
          <a:prstGeom prst="rect">
            <a:avLst/>
          </a:prstGeom>
        </p:spPr>
      </p:pic>
      <p:sp>
        <p:nvSpPr>
          <p:cNvPr id="10" name="文字方塊 9"/>
          <p:cNvSpPr txBox="1"/>
          <p:nvPr/>
        </p:nvSpPr>
        <p:spPr>
          <a:xfrm>
            <a:off x="3781020" y="807794"/>
            <a:ext cx="1553379" cy="369332"/>
          </a:xfrm>
          <a:prstGeom prst="rect">
            <a:avLst/>
          </a:prstGeom>
          <a:noFill/>
        </p:spPr>
        <p:txBody>
          <a:bodyPr wrap="square" rtlCol="0">
            <a:spAutoFit/>
          </a:bodyPr>
          <a:lstStyle/>
          <a:p>
            <a:r>
              <a:rPr lang="en-US" altLang="zh-TW" dirty="0" smtClean="0"/>
              <a:t>Steady Trend</a:t>
            </a:r>
            <a:endParaRPr lang="zh-TW" altLang="en-US" dirty="0"/>
          </a:p>
        </p:txBody>
      </p:sp>
    </p:spTree>
    <p:extLst>
      <p:ext uri="{BB962C8B-B14F-4D97-AF65-F5344CB8AC3E}">
        <p14:creationId xmlns:p14="http://schemas.microsoft.com/office/powerpoint/2010/main" val="209423009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smtClean="0">
                <a:latin typeface="Times New Roman" panose="02020603050405020304" pitchFamily="18" charset="0"/>
                <a:ea typeface="標楷體" panose="03000509000000000000" pitchFamily="65" charset="-120"/>
              </a:rPr>
              <a:t>Experiment</a:t>
            </a:r>
            <a:endParaRPr lang="zh-TW" altLang="en-US" sz="4000" b="1"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5" name="內容版面配置區 4"/>
          <p:cNvPicPr>
            <a:picLocks noGrp="1" noChangeAspect="1"/>
          </p:cNvPicPr>
          <p:nvPr>
            <p:ph idx="1"/>
          </p:nvPr>
        </p:nvPicPr>
        <p:blipFill>
          <a:blip r:embed="rId3"/>
          <a:stretch>
            <a:fillRect/>
          </a:stretch>
        </p:blipFill>
        <p:spPr>
          <a:xfrm>
            <a:off x="1160061" y="999757"/>
            <a:ext cx="7004390" cy="5721719"/>
          </a:xfrm>
          <a:prstGeom prst="rect">
            <a:avLst/>
          </a:prstGeom>
        </p:spPr>
      </p:pic>
      <p:sp>
        <p:nvSpPr>
          <p:cNvPr id="4" name="投影片編號版面配置區 3"/>
          <p:cNvSpPr>
            <a:spLocks noGrp="1"/>
          </p:cNvSpPr>
          <p:nvPr>
            <p:ph type="sldNum" sz="quarter" idx="12"/>
          </p:nvPr>
        </p:nvSpPr>
        <p:spPr/>
        <p:txBody>
          <a:bodyPr/>
          <a:lstStyle/>
          <a:p>
            <a:fld id="{7D6D0F78-E2D1-4ADE-B2ED-40AB43ACB23D}" type="slidenum">
              <a:rPr lang="zh-TW" altLang="en-US" smtClean="0"/>
              <a:t>41</a:t>
            </a:fld>
            <a:endParaRPr lang="zh-TW" altLang="en-US" dirty="0"/>
          </a:p>
        </p:txBody>
      </p:sp>
      <p:cxnSp>
        <p:nvCxnSpPr>
          <p:cNvPr id="15" name="直線接點 14"/>
          <p:cNvCxnSpPr/>
          <p:nvPr/>
        </p:nvCxnSpPr>
        <p:spPr>
          <a:xfrm>
            <a:off x="938463" y="2454442"/>
            <a:ext cx="31282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直線接點 16"/>
          <p:cNvCxnSpPr/>
          <p:nvPr/>
        </p:nvCxnSpPr>
        <p:spPr>
          <a:xfrm>
            <a:off x="938463" y="2442410"/>
            <a:ext cx="0" cy="117909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直線接點 18"/>
          <p:cNvCxnSpPr/>
          <p:nvPr/>
        </p:nvCxnSpPr>
        <p:spPr>
          <a:xfrm>
            <a:off x="938463" y="3621505"/>
            <a:ext cx="31282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2" name="直線接點 21"/>
          <p:cNvCxnSpPr/>
          <p:nvPr/>
        </p:nvCxnSpPr>
        <p:spPr>
          <a:xfrm>
            <a:off x="938463" y="3954379"/>
            <a:ext cx="31282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3" name="直線接點 22"/>
          <p:cNvCxnSpPr/>
          <p:nvPr/>
        </p:nvCxnSpPr>
        <p:spPr>
          <a:xfrm>
            <a:off x="938463" y="3942347"/>
            <a:ext cx="0" cy="117909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4" name="直線接點 23"/>
          <p:cNvCxnSpPr/>
          <p:nvPr/>
        </p:nvCxnSpPr>
        <p:spPr>
          <a:xfrm>
            <a:off x="938463" y="5121442"/>
            <a:ext cx="31282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5" name="直線接點 24"/>
          <p:cNvCxnSpPr/>
          <p:nvPr/>
        </p:nvCxnSpPr>
        <p:spPr>
          <a:xfrm>
            <a:off x="938463" y="5346032"/>
            <a:ext cx="31282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6" name="直線接點 25"/>
          <p:cNvCxnSpPr/>
          <p:nvPr/>
        </p:nvCxnSpPr>
        <p:spPr>
          <a:xfrm>
            <a:off x="938463" y="5334000"/>
            <a:ext cx="0" cy="117909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7" name="直線接點 26"/>
          <p:cNvCxnSpPr/>
          <p:nvPr/>
        </p:nvCxnSpPr>
        <p:spPr>
          <a:xfrm>
            <a:off x="938463" y="6513095"/>
            <a:ext cx="31282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8" name="文字方塊 27"/>
          <p:cNvSpPr txBox="1"/>
          <p:nvPr/>
        </p:nvSpPr>
        <p:spPr>
          <a:xfrm>
            <a:off x="144991" y="2847291"/>
            <a:ext cx="682673" cy="307777"/>
          </a:xfrm>
          <a:prstGeom prst="rect">
            <a:avLst/>
          </a:prstGeom>
          <a:noFill/>
        </p:spPr>
        <p:txBody>
          <a:bodyPr wrap="square" rtlCol="0">
            <a:spAutoFit/>
          </a:bodyPr>
          <a:lstStyle/>
          <a:p>
            <a:r>
              <a:rPr lang="en-US" altLang="zh-TW" sz="1400" dirty="0" smtClean="0"/>
              <a:t>UP</a:t>
            </a:r>
            <a:endParaRPr lang="zh-TW" altLang="en-US" sz="1400" dirty="0"/>
          </a:p>
        </p:txBody>
      </p:sp>
      <p:sp>
        <p:nvSpPr>
          <p:cNvPr id="29" name="文字方塊 28"/>
          <p:cNvSpPr txBox="1"/>
          <p:nvPr/>
        </p:nvSpPr>
        <p:spPr>
          <a:xfrm>
            <a:off x="126489" y="4347228"/>
            <a:ext cx="682673" cy="307777"/>
          </a:xfrm>
          <a:prstGeom prst="rect">
            <a:avLst/>
          </a:prstGeom>
          <a:noFill/>
        </p:spPr>
        <p:txBody>
          <a:bodyPr wrap="square" rtlCol="0">
            <a:spAutoFit/>
          </a:bodyPr>
          <a:lstStyle/>
          <a:p>
            <a:r>
              <a:rPr lang="en-US" altLang="zh-TW" sz="1400" dirty="0" smtClean="0"/>
              <a:t>Steady</a:t>
            </a:r>
            <a:endParaRPr lang="zh-TW" altLang="en-US" sz="1400" dirty="0"/>
          </a:p>
        </p:txBody>
      </p:sp>
      <p:sp>
        <p:nvSpPr>
          <p:cNvPr id="30" name="文字方塊 29"/>
          <p:cNvSpPr txBox="1"/>
          <p:nvPr/>
        </p:nvSpPr>
        <p:spPr>
          <a:xfrm>
            <a:off x="126489" y="5738881"/>
            <a:ext cx="682673" cy="307777"/>
          </a:xfrm>
          <a:prstGeom prst="rect">
            <a:avLst/>
          </a:prstGeom>
          <a:noFill/>
        </p:spPr>
        <p:txBody>
          <a:bodyPr wrap="square" rtlCol="0">
            <a:spAutoFit/>
          </a:bodyPr>
          <a:lstStyle/>
          <a:p>
            <a:r>
              <a:rPr lang="en-US" altLang="zh-TW" sz="1400" dirty="0" smtClean="0"/>
              <a:t>DOWN</a:t>
            </a:r>
            <a:endParaRPr lang="zh-TW" altLang="en-US" sz="1400" dirty="0"/>
          </a:p>
        </p:txBody>
      </p:sp>
    </p:spTree>
    <p:extLst>
      <p:ext uri="{BB962C8B-B14F-4D97-AF65-F5344CB8AC3E}">
        <p14:creationId xmlns:p14="http://schemas.microsoft.com/office/powerpoint/2010/main" val="348317327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5249" y="98426"/>
            <a:ext cx="8924925" cy="711471"/>
          </a:xfrm>
        </p:spPr>
        <p:txBody>
          <a:bodyPr>
            <a:normAutofit/>
          </a:bodyPr>
          <a:lstStyle/>
          <a:p>
            <a:r>
              <a:rPr lang="en-US" altLang="zh-TW" sz="4000" b="1" dirty="0" smtClean="0">
                <a:latin typeface="Times New Roman" panose="02020603050405020304" pitchFamily="18" charset="0"/>
                <a:ea typeface="標楷體" panose="03000509000000000000" pitchFamily="65" charset="-120"/>
              </a:rPr>
              <a:t>Experiment</a:t>
            </a:r>
            <a:endParaRPr lang="zh-TW" altLang="en-US" sz="40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7D6D0F78-E2D1-4ADE-B2ED-40AB43ACB23D}" type="slidenum">
              <a:rPr lang="zh-TW" altLang="en-US" smtClean="0"/>
              <a:t>42</a:t>
            </a:fld>
            <a:endParaRPr lang="zh-TW" altLang="en-US" dirty="0"/>
          </a:p>
        </p:txBody>
      </p:sp>
      <p:pic>
        <p:nvPicPr>
          <p:cNvPr id="6" name="圖片 5"/>
          <p:cNvPicPr>
            <a:picLocks noChangeAspect="1"/>
          </p:cNvPicPr>
          <p:nvPr/>
        </p:nvPicPr>
        <p:blipFill>
          <a:blip r:embed="rId3"/>
          <a:stretch>
            <a:fillRect/>
          </a:stretch>
        </p:blipFill>
        <p:spPr>
          <a:xfrm>
            <a:off x="723662" y="1089394"/>
            <a:ext cx="7668098" cy="5449519"/>
          </a:xfrm>
          <a:prstGeom prst="rect">
            <a:avLst/>
          </a:prstGeom>
        </p:spPr>
      </p:pic>
    </p:spTree>
    <p:extLst>
      <p:ext uri="{BB962C8B-B14F-4D97-AF65-F5344CB8AC3E}">
        <p14:creationId xmlns:p14="http://schemas.microsoft.com/office/powerpoint/2010/main" val="369678644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22502</TotalTime>
  <Words>1110</Words>
  <Application>Microsoft Office PowerPoint</Application>
  <PresentationFormat>如螢幕大小 (4:3)</PresentationFormat>
  <Paragraphs>463</Paragraphs>
  <Slides>42</Slides>
  <Notes>42</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42</vt:i4>
      </vt:variant>
    </vt:vector>
  </HeadingPairs>
  <TitlesOfParts>
    <vt:vector size="51" baseType="lpstr">
      <vt:lpstr>新細明體</vt:lpstr>
      <vt:lpstr>標楷體</vt:lpstr>
      <vt:lpstr>Arial</vt:lpstr>
      <vt:lpstr>Calibri</vt:lpstr>
      <vt:lpstr>Calibri Light</vt:lpstr>
      <vt:lpstr>Cambria Math</vt:lpstr>
      <vt:lpstr>Times New Roman</vt:lpstr>
      <vt:lpstr>Wingdings</vt:lpstr>
      <vt:lpstr>Office 佈景主題</vt:lpstr>
      <vt:lpstr>Integrating a Piecewise Linear Representation Method and a Neural Network Model for Stock Trading Points Prediction</vt:lpstr>
      <vt:lpstr>Abstract (1/2)</vt:lpstr>
      <vt:lpstr>Abstract (2/2)</vt:lpstr>
      <vt:lpstr>Pei-Chann Chang (張百棧)</vt:lpstr>
      <vt:lpstr>Piecewise Linear Representation(1/8)</vt:lpstr>
      <vt:lpstr>Piecewise Linear Representation</vt:lpstr>
      <vt:lpstr>Piecewise Linear Representation</vt:lpstr>
      <vt:lpstr>Piecewise Linear Representation</vt:lpstr>
      <vt:lpstr>Piecewise Linear Representation</vt:lpstr>
      <vt:lpstr>Piecewise Linear Representation</vt:lpstr>
      <vt:lpstr>Piecewise Linear Representation</vt:lpstr>
      <vt:lpstr>Piecewise Linear Representation</vt:lpstr>
      <vt:lpstr>Piecewise Linear Representation</vt:lpstr>
      <vt:lpstr>Piecewise Linear Representation</vt:lpstr>
      <vt:lpstr>Piecewise Linear Representation</vt:lpstr>
      <vt:lpstr>Flow chart #1</vt:lpstr>
      <vt:lpstr>Genetic Programming</vt:lpstr>
      <vt:lpstr>Genetic Programming</vt:lpstr>
      <vt:lpstr>Genetic Programming</vt:lpstr>
      <vt:lpstr>Genetic Programming</vt:lpstr>
      <vt:lpstr>Genetic Programming</vt:lpstr>
      <vt:lpstr>Technical Indicators(1/2)</vt:lpstr>
      <vt:lpstr>Technical Indicators(2/2)</vt:lpstr>
      <vt:lpstr>Relative Strength Index (1/2)</vt:lpstr>
      <vt:lpstr>Relative Strength Index (2/2)</vt:lpstr>
      <vt:lpstr>William's % R 威廉%R (1/2)</vt:lpstr>
      <vt:lpstr>William's % R 威廉%R (2/2)</vt:lpstr>
      <vt:lpstr>Stepwise Regression Algorithm</vt:lpstr>
      <vt:lpstr>Flow chart #2</vt:lpstr>
      <vt:lpstr>BPN</vt:lpstr>
      <vt:lpstr>BPN</vt:lpstr>
      <vt:lpstr>BPN</vt:lpstr>
      <vt:lpstr>BPN</vt:lpstr>
      <vt:lpstr>BPN</vt:lpstr>
      <vt:lpstr>BPN</vt:lpstr>
      <vt:lpstr>BPN</vt:lpstr>
      <vt:lpstr>Flow chart #3</vt:lpstr>
      <vt:lpstr>Experiment</vt:lpstr>
      <vt:lpstr>Experiment</vt:lpstr>
      <vt:lpstr>Experiment</vt:lpstr>
      <vt:lpstr>Experiment</vt:lpstr>
      <vt:lpstr>Experiment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Efficient Large Graph Pattern Mining for Big Data in the Cloud</dc:title>
  <dc:creator>MONSTER J</dc:creator>
  <cp:lastModifiedBy>pplab-class</cp:lastModifiedBy>
  <cp:revision>495</cp:revision>
  <cp:lastPrinted>2015-05-05T05:44:38Z</cp:lastPrinted>
  <dcterms:created xsi:type="dcterms:W3CDTF">2015-05-03T09:05:15Z</dcterms:created>
  <dcterms:modified xsi:type="dcterms:W3CDTF">2016-01-12T11:34:11Z</dcterms:modified>
</cp:coreProperties>
</file>