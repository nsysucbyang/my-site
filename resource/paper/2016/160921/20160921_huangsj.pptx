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3" r:id="rId9"/>
    <p:sldId id="283" r:id="rId10"/>
    <p:sldId id="264" r:id="rId11"/>
    <p:sldId id="267" r:id="rId12"/>
    <p:sldId id="268" r:id="rId13"/>
    <p:sldId id="265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0" r:id="rId23"/>
    <p:sldId id="282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ED29-D8A1-4476-9D50-2516C488B311}" type="datetimeFigureOut">
              <a:rPr lang="zh-TW" altLang="en-US" smtClean="0"/>
              <a:pPr/>
              <a:t>2016/10/14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C606-4F71-497F-A674-555CF611615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473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ED29-D8A1-4476-9D50-2516C488B311}" type="datetimeFigureOut">
              <a:rPr lang="zh-TW" altLang="en-US" smtClean="0"/>
              <a:pPr/>
              <a:t>2016/10/14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C606-4F71-497F-A674-555CF611615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270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ED29-D8A1-4476-9D50-2516C488B311}" type="datetimeFigureOut">
              <a:rPr lang="zh-TW" altLang="en-US" smtClean="0"/>
              <a:pPr/>
              <a:t>2016/10/14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C606-4F71-497F-A674-555CF611615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622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ED29-D8A1-4476-9D50-2516C488B311}" type="datetimeFigureOut">
              <a:rPr lang="zh-TW" altLang="en-US" smtClean="0"/>
              <a:pPr/>
              <a:t>2016/10/14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C606-4F71-497F-A674-555CF611615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224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ED29-D8A1-4476-9D50-2516C488B311}" type="datetimeFigureOut">
              <a:rPr lang="zh-TW" altLang="en-US" smtClean="0"/>
              <a:pPr/>
              <a:t>2016/10/14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C606-4F71-497F-A674-555CF611615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539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ED29-D8A1-4476-9D50-2516C488B311}" type="datetimeFigureOut">
              <a:rPr lang="zh-TW" altLang="en-US" smtClean="0"/>
              <a:pPr/>
              <a:t>2016/10/14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C606-4F71-497F-A674-555CF611615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2096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ED29-D8A1-4476-9D50-2516C488B311}" type="datetimeFigureOut">
              <a:rPr lang="zh-TW" altLang="en-US" smtClean="0"/>
              <a:pPr/>
              <a:t>2016/10/14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C606-4F71-497F-A674-555CF611615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5277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ED29-D8A1-4476-9D50-2516C488B311}" type="datetimeFigureOut">
              <a:rPr lang="zh-TW" altLang="en-US" smtClean="0"/>
              <a:pPr/>
              <a:t>2016/10/14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C606-4F71-497F-A674-555CF611615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199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ED29-D8A1-4476-9D50-2516C488B311}" type="datetimeFigureOut">
              <a:rPr lang="zh-TW" altLang="en-US" smtClean="0"/>
              <a:pPr/>
              <a:t>2016/10/14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C606-4F71-497F-A674-555CF611615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7068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ED29-D8A1-4476-9D50-2516C488B311}" type="datetimeFigureOut">
              <a:rPr lang="zh-TW" altLang="en-US" smtClean="0"/>
              <a:pPr/>
              <a:t>2016/10/14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C606-4F71-497F-A674-555CF611615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8020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DED29-D8A1-4476-9D50-2516C488B311}" type="datetimeFigureOut">
              <a:rPr lang="zh-TW" altLang="en-US" smtClean="0"/>
              <a:pPr/>
              <a:t>2016/10/14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1C606-4F71-497F-A674-555CF611615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2715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0DED29-D8A1-4476-9D50-2516C488B311}" type="datetimeFigureOut">
              <a:rPr lang="zh-TW" altLang="en-US" smtClean="0"/>
              <a:pPr/>
              <a:t>2016/10/14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1C606-4F71-497F-A674-555CF611615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301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473200" y="393700"/>
            <a:ext cx="9144000" cy="1731962"/>
          </a:xfrm>
        </p:spPr>
        <p:txBody>
          <a:bodyPr>
            <a:normAutofit/>
          </a:bodyPr>
          <a:lstStyle/>
          <a:p>
            <a:r>
              <a:rPr lang="en-US" altLang="zh-TW" sz="5100" dirty="0" smtClean="0"/>
              <a:t>Partial correlation analysis : application for financial markets</a:t>
            </a:r>
            <a:endParaRPr lang="zh-TW" altLang="en-US" sz="51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15900" y="2497138"/>
            <a:ext cx="11658600" cy="3040062"/>
          </a:xfrm>
        </p:spPr>
        <p:txBody>
          <a:bodyPr>
            <a:normAutofit/>
          </a:bodyPr>
          <a:lstStyle/>
          <a:p>
            <a:r>
              <a:rPr lang="en-US" altLang="zh-TW" sz="2300" dirty="0" smtClean="0"/>
              <a:t>DROR Y. KENETT</a:t>
            </a:r>
            <a:r>
              <a:rPr lang="en-US" altLang="zh-TW" sz="2300" baseline="30000" dirty="0" smtClean="0"/>
              <a:t>†</a:t>
            </a:r>
            <a:r>
              <a:rPr lang="en-US" altLang="zh-TW" sz="2300" dirty="0" smtClean="0"/>
              <a:t>, XUQING HUANG</a:t>
            </a:r>
            <a:r>
              <a:rPr lang="en-US" altLang="zh-TW" sz="2300" baseline="30000" dirty="0" smtClean="0"/>
              <a:t>†</a:t>
            </a:r>
            <a:r>
              <a:rPr lang="en-US" altLang="zh-TW" sz="2300" dirty="0" smtClean="0"/>
              <a:t>, IRENA VODENSKA</a:t>
            </a:r>
            <a:r>
              <a:rPr lang="en-US" altLang="zh-TW" sz="2300" baseline="30000" dirty="0" smtClean="0"/>
              <a:t>†‡</a:t>
            </a:r>
            <a:r>
              <a:rPr lang="en-US" altLang="zh-TW" sz="2300" dirty="0" smtClean="0"/>
              <a:t>,</a:t>
            </a:r>
          </a:p>
          <a:p>
            <a:r>
              <a:rPr lang="en-US" altLang="zh-TW" sz="2300" dirty="0" smtClean="0"/>
              <a:t>SHLOMO HAVLIN</a:t>
            </a:r>
            <a:r>
              <a:rPr lang="en-US" altLang="zh-TW" sz="2300" baseline="30000" dirty="0" smtClean="0"/>
              <a:t>†§</a:t>
            </a:r>
            <a:r>
              <a:rPr lang="en-US" altLang="zh-TW" sz="2300" dirty="0" smtClean="0"/>
              <a:t> and H. EUGENE STANLEY</a:t>
            </a:r>
            <a:r>
              <a:rPr lang="en-US" altLang="zh-TW" sz="2300" baseline="30000" dirty="0" smtClean="0"/>
              <a:t>†</a:t>
            </a:r>
          </a:p>
          <a:p>
            <a:r>
              <a:rPr lang="en-US" altLang="zh-TW" sz="1600" dirty="0" smtClean="0"/>
              <a:t>†</a:t>
            </a:r>
            <a:r>
              <a:rPr lang="en-US" altLang="zh-TW" sz="1600" dirty="0"/>
              <a:t>Center for Polymer Studies and Department of Physics, Boston University, </a:t>
            </a:r>
            <a:r>
              <a:rPr lang="en-US" altLang="zh-TW" sz="1600" dirty="0" smtClean="0"/>
              <a:t>Boston, </a:t>
            </a:r>
            <a:r>
              <a:rPr lang="en-US" altLang="zh-TW" sz="1600" dirty="0"/>
              <a:t>USA</a:t>
            </a:r>
          </a:p>
          <a:p>
            <a:r>
              <a:rPr lang="en-US" altLang="zh-TW" sz="1600" dirty="0"/>
              <a:t>‡Administrative Sciences Department, Metropolitan College, Boston University, </a:t>
            </a:r>
            <a:r>
              <a:rPr lang="en-US" altLang="zh-TW" sz="1600" dirty="0" smtClean="0"/>
              <a:t>Boston, </a:t>
            </a:r>
            <a:r>
              <a:rPr lang="en-US" altLang="zh-TW" sz="1600" dirty="0"/>
              <a:t>USA</a:t>
            </a:r>
          </a:p>
          <a:p>
            <a:r>
              <a:rPr lang="en-US" altLang="zh-TW" sz="1600" dirty="0"/>
              <a:t>§Department of Physics, Bar-</a:t>
            </a:r>
            <a:r>
              <a:rPr lang="en-US" altLang="zh-TW" sz="1600" dirty="0" err="1"/>
              <a:t>Ilan</a:t>
            </a:r>
            <a:r>
              <a:rPr lang="en-US" altLang="zh-TW" sz="1600" dirty="0"/>
              <a:t> University, Ramat-</a:t>
            </a:r>
            <a:r>
              <a:rPr lang="en-US" altLang="zh-TW" sz="1600" dirty="0" err="1"/>
              <a:t>Gan</a:t>
            </a:r>
            <a:r>
              <a:rPr lang="en-US" altLang="zh-TW" sz="1600" dirty="0"/>
              <a:t> 52900, </a:t>
            </a:r>
            <a:r>
              <a:rPr lang="en-US" altLang="zh-TW" sz="1600" dirty="0" smtClean="0"/>
              <a:t>Israel</a:t>
            </a:r>
          </a:p>
          <a:p>
            <a:r>
              <a:rPr lang="en-US" altLang="zh-TW" sz="2300" i="1" dirty="0"/>
              <a:t>Quantitative Finance</a:t>
            </a:r>
            <a:r>
              <a:rPr lang="en-US" altLang="zh-TW" sz="2300" dirty="0"/>
              <a:t>, 2015</a:t>
            </a:r>
          </a:p>
          <a:p>
            <a:r>
              <a:rPr lang="en-US" altLang="zh-TW" sz="2300" dirty="0"/>
              <a:t>Vol. 15, No. 4, </a:t>
            </a:r>
            <a:r>
              <a:rPr lang="en-US" altLang="zh-TW" sz="2300" dirty="0" smtClean="0"/>
              <a:t>pp. 569-578</a:t>
            </a:r>
            <a:endParaRPr lang="zh-TW" altLang="en-US" sz="2300" baseline="30000" dirty="0"/>
          </a:p>
        </p:txBody>
      </p:sp>
      <p:sp>
        <p:nvSpPr>
          <p:cNvPr id="4" name="文字方塊 3"/>
          <p:cNvSpPr txBox="1"/>
          <p:nvPr/>
        </p:nvSpPr>
        <p:spPr>
          <a:xfrm>
            <a:off x="8039100" y="5585510"/>
            <a:ext cx="368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Presenter : Shih-jhan Huang</a:t>
            </a:r>
          </a:p>
          <a:p>
            <a:r>
              <a:rPr lang="en-US" altLang="zh-TW" dirty="0" smtClean="0"/>
              <a:t>Date </a:t>
            </a:r>
            <a:r>
              <a:rPr lang="en-US" altLang="zh-TW" smtClean="0"/>
              <a:t>: </a:t>
            </a:r>
            <a:r>
              <a:rPr lang="en-US" altLang="zh-TW" smtClean="0"/>
              <a:t>2016/9/21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07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TW" sz="5100" dirty="0" smtClean="0"/>
              <a:t>Review of partial </a:t>
            </a:r>
            <a:r>
              <a:rPr lang="en-US" altLang="zh-TW" sz="5100" dirty="0"/>
              <a:t>correlation</a:t>
            </a:r>
            <a:endParaRPr lang="zh-TW" altLang="en-US" sz="5100" dirty="0"/>
          </a:p>
        </p:txBody>
      </p:sp>
      <p:sp>
        <p:nvSpPr>
          <p:cNvPr id="5123" name="內容版面配置區 2"/>
          <p:cNvSpPr>
            <a:spLocks noGrp="1"/>
          </p:cNvSpPr>
          <p:nvPr>
            <p:ph idx="1"/>
          </p:nvPr>
        </p:nvSpPr>
        <p:spPr>
          <a:xfrm>
            <a:off x="1027113" y="1944688"/>
            <a:ext cx="8229600" cy="4225924"/>
          </a:xfrm>
        </p:spPr>
        <p:txBody>
          <a:bodyPr/>
          <a:lstStyle/>
          <a:p>
            <a:pPr eaLnBrk="1" hangingPunct="1"/>
            <a: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淨相關，亦有譯為偏相關，是指在</a:t>
            </a:r>
            <a:r>
              <a:rPr lang="zh-TW" altLang="en-US" sz="25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控制第三個變項</a:t>
            </a:r>
            <a:r>
              <a:rPr lang="en-US" altLang="zh-TW" sz="25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(z</a:t>
            </a:r>
            <a:r>
              <a:rPr lang="zh-TW" altLang="en-US" sz="25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變項</a:t>
            </a:r>
            <a:r>
              <a:rPr lang="en-US" altLang="zh-TW" sz="25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5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的情況下，用來分析兩個變項</a:t>
            </a:r>
            <a:r>
              <a:rPr lang="en-US" altLang="zh-TW" sz="25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(x</a:t>
            </a:r>
            <a:r>
              <a:rPr lang="zh-TW" altLang="en-US" sz="25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變項和</a:t>
            </a:r>
            <a:r>
              <a:rPr lang="en-US" altLang="zh-TW" sz="25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y</a:t>
            </a:r>
            <a:r>
              <a:rPr lang="zh-TW" altLang="en-US" sz="25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變項</a:t>
            </a:r>
            <a:r>
              <a:rPr lang="en-US" altLang="zh-TW" sz="25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5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之間關係的方法。</a:t>
            </a:r>
            <a: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也就是兩個變項</a:t>
            </a:r>
            <a:r>
              <a:rPr lang="en-US" altLang="zh-TW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(x</a:t>
            </a:r>
            <a: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變項和</a:t>
            </a:r>
            <a:r>
              <a:rPr lang="en-US" altLang="zh-TW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y</a:t>
            </a:r>
            <a: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變項</a:t>
            </a:r>
            <a:r>
              <a:rPr lang="en-US" altLang="zh-TW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同時去除</a:t>
            </a:r>
            <a:r>
              <a:rPr lang="en-US" altLang="zh-TW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z</a:t>
            </a:r>
            <a: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變項的影響後，所得的相關程度稱為淨相關</a:t>
            </a:r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sz="2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/>
            <a: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當研究者想知道二個連續變項在第三個變項出現時，會對原先的二個變項產生什麼樣的變化，即可用淨相關分析。</a:t>
            </a:r>
          </a:p>
        </p:txBody>
      </p:sp>
    </p:spTree>
    <p:extLst>
      <p:ext uri="{BB962C8B-B14F-4D97-AF65-F5344CB8AC3E}">
        <p14:creationId xmlns:p14="http://schemas.microsoft.com/office/powerpoint/2010/main" val="312746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100" dirty="0" smtClean="0"/>
              <a:t>Data of experiment</a:t>
            </a:r>
            <a:endParaRPr lang="zh-TW" altLang="en-US" sz="51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316945"/>
            <a:ext cx="10515600" cy="2910148"/>
          </a:xfrm>
        </p:spPr>
        <p:txBody>
          <a:bodyPr/>
          <a:lstStyle/>
          <a:p>
            <a:r>
              <a:rPr lang="en-US" altLang="zh-TW" dirty="0" smtClean="0"/>
              <a:t>Use </a:t>
            </a:r>
            <a:r>
              <a:rPr lang="en-US" altLang="zh-TW" b="1" dirty="0">
                <a:solidFill>
                  <a:srgbClr val="0070C0"/>
                </a:solidFill>
              </a:rPr>
              <a:t>daily </a:t>
            </a:r>
            <a:r>
              <a:rPr lang="en-US" altLang="zh-TW" b="1" dirty="0" smtClean="0">
                <a:solidFill>
                  <a:srgbClr val="0070C0"/>
                </a:solidFill>
              </a:rPr>
              <a:t>adjusted closing </a:t>
            </a:r>
            <a:r>
              <a:rPr lang="en-US" altLang="zh-TW" b="1" dirty="0">
                <a:solidFill>
                  <a:srgbClr val="0070C0"/>
                </a:solidFill>
              </a:rPr>
              <a:t>stock price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time series from four different </a:t>
            </a:r>
            <a:r>
              <a:rPr lang="en-US" altLang="zh-TW" dirty="0" smtClean="0"/>
              <a:t>markets. (</a:t>
            </a:r>
            <a:r>
              <a:rPr lang="en-US" altLang="zh-TW" dirty="0"/>
              <a:t>US, </a:t>
            </a:r>
            <a:r>
              <a:rPr lang="en-US" altLang="zh-TW" dirty="0" smtClean="0"/>
              <a:t>the </a:t>
            </a:r>
            <a:r>
              <a:rPr lang="en-US" altLang="zh-TW" dirty="0"/>
              <a:t>UK, Japan and India</a:t>
            </a:r>
            <a:r>
              <a:rPr lang="en-US" altLang="zh-TW" dirty="0" smtClean="0"/>
              <a:t>)</a:t>
            </a:r>
          </a:p>
          <a:p>
            <a:endParaRPr lang="en-US" altLang="zh-TW" dirty="0"/>
          </a:p>
          <a:p>
            <a:r>
              <a:rPr lang="en-US" altLang="zh-TW" dirty="0" smtClean="0"/>
              <a:t>We only consider stocks that </a:t>
            </a:r>
            <a:r>
              <a:rPr lang="en-US" altLang="zh-TW" dirty="0"/>
              <a:t>are </a:t>
            </a:r>
            <a:r>
              <a:rPr lang="en-US" altLang="zh-TW" b="1" dirty="0">
                <a:solidFill>
                  <a:srgbClr val="0070C0"/>
                </a:solidFill>
              </a:rPr>
              <a:t>active from January 2000 until December 2010.</a:t>
            </a:r>
            <a:endParaRPr lang="zh-TW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06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25500" y="3794125"/>
            <a:ext cx="10515600" cy="1476375"/>
          </a:xfrm>
        </p:spPr>
        <p:txBody>
          <a:bodyPr/>
          <a:lstStyle/>
          <a:p>
            <a:r>
              <a:rPr lang="en-US" altLang="zh-TW" dirty="0"/>
              <a:t>Table </a:t>
            </a:r>
            <a:r>
              <a:rPr lang="en-US" altLang="zh-TW" dirty="0" smtClean="0"/>
              <a:t>1. Present </a:t>
            </a:r>
            <a:r>
              <a:rPr lang="en-US" altLang="zh-TW" dirty="0"/>
              <a:t>the number of stocks remaining </a:t>
            </a:r>
            <a:r>
              <a:rPr lang="en-US" altLang="zh-TW" dirty="0" smtClean="0"/>
              <a:t>after filtering </a:t>
            </a:r>
            <a:r>
              <a:rPr lang="en-US" altLang="zh-TW" dirty="0"/>
              <a:t>out the stocks that had no price movement for </a:t>
            </a:r>
            <a:r>
              <a:rPr lang="en-US" altLang="zh-TW" dirty="0" smtClean="0"/>
              <a:t>more than 6% of the 2700 trading days.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87" y="1433414"/>
            <a:ext cx="11027426" cy="167808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6627954" y="1947696"/>
            <a:ext cx="135172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300" b="1" dirty="0" smtClean="0">
                <a:solidFill>
                  <a:srgbClr val="0070C0"/>
                </a:solidFill>
                <a:latin typeface="+mn-ea"/>
              </a:rPr>
              <a:t>標準普爾</a:t>
            </a:r>
            <a:r>
              <a:rPr lang="en-US" altLang="zh-TW" sz="1300" b="1" dirty="0" smtClean="0">
                <a:solidFill>
                  <a:srgbClr val="0070C0"/>
                </a:solidFill>
                <a:latin typeface="+mn-ea"/>
              </a:rPr>
              <a:t>500</a:t>
            </a:r>
          </a:p>
          <a:p>
            <a:r>
              <a:rPr lang="zh-TW" altLang="en-US" sz="1300" b="1" dirty="0" smtClean="0">
                <a:solidFill>
                  <a:srgbClr val="0070C0"/>
                </a:solidFill>
                <a:latin typeface="+mn-ea"/>
              </a:rPr>
              <a:t>富時</a:t>
            </a:r>
            <a:r>
              <a:rPr lang="en-US" altLang="zh-TW" sz="1300" b="1" dirty="0" smtClean="0">
                <a:solidFill>
                  <a:srgbClr val="0070C0"/>
                </a:solidFill>
                <a:latin typeface="+mn-ea"/>
              </a:rPr>
              <a:t>350</a:t>
            </a:r>
          </a:p>
          <a:p>
            <a:r>
              <a:rPr lang="zh-TW" altLang="en-US" sz="1300" b="1" dirty="0" smtClean="0">
                <a:solidFill>
                  <a:srgbClr val="0070C0"/>
                </a:solidFill>
                <a:latin typeface="+mn-ea"/>
              </a:rPr>
              <a:t>日經</a:t>
            </a:r>
            <a:r>
              <a:rPr lang="en-US" altLang="zh-TW" sz="1300" b="1" dirty="0" smtClean="0">
                <a:solidFill>
                  <a:srgbClr val="0070C0"/>
                </a:solidFill>
                <a:latin typeface="+mn-ea"/>
              </a:rPr>
              <a:t>500</a:t>
            </a:r>
          </a:p>
          <a:p>
            <a:r>
              <a:rPr lang="zh-TW" altLang="en-US" sz="1300" b="1" dirty="0" smtClean="0">
                <a:solidFill>
                  <a:srgbClr val="0070C0"/>
                </a:solidFill>
                <a:latin typeface="+mn-ea"/>
              </a:rPr>
              <a:t>孟買</a:t>
            </a:r>
            <a:r>
              <a:rPr lang="en-US" altLang="zh-TW" sz="1300" b="1" dirty="0" smtClean="0">
                <a:solidFill>
                  <a:srgbClr val="0070C0"/>
                </a:solidFill>
                <a:latin typeface="+mn-ea"/>
              </a:rPr>
              <a:t>100</a:t>
            </a:r>
            <a:endParaRPr lang="zh-TW" altLang="en-US" sz="1300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7057622" y="294871"/>
            <a:ext cx="497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拿掉價格漲跌沒有超過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6%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的股票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交易日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:2700)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9" name="弧形箭號 (下彎) 28"/>
          <p:cNvSpPr/>
          <p:nvPr/>
        </p:nvSpPr>
        <p:spPr>
          <a:xfrm>
            <a:off x="8693240" y="750789"/>
            <a:ext cx="2356834" cy="682625"/>
          </a:xfrm>
          <a:prstGeom prst="curvedDownArrow">
            <a:avLst>
              <a:gd name="adj1" fmla="val 13857"/>
              <a:gd name="adj2" fmla="val 50000"/>
              <a:gd name="adj3" fmla="val 32546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468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120" y="961738"/>
            <a:ext cx="8130059" cy="449926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416300" y="1928668"/>
            <a:ext cx="3975100" cy="596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2578100" y="3808268"/>
            <a:ext cx="5816600" cy="865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/>
          <p:cNvCxnSpPr/>
          <p:nvPr/>
        </p:nvCxnSpPr>
        <p:spPr>
          <a:xfrm flipV="1">
            <a:off x="2451100" y="2908300"/>
            <a:ext cx="7112000" cy="1270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1544120" y="3327400"/>
            <a:ext cx="317500" cy="1732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 flipV="1">
            <a:off x="2451100" y="5060949"/>
            <a:ext cx="7112000" cy="1270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 flipV="1">
            <a:off x="1544120" y="5459264"/>
            <a:ext cx="2518810" cy="1732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9102436" y="3293728"/>
            <a:ext cx="308956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" panose="02040503050406030204" pitchFamily="18" charset="0"/>
              </a:rPr>
              <a:t>D</a:t>
            </a:r>
            <a:r>
              <a:rPr lang="zh-TW" altLang="en-US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" panose="02040503050406030204" pitchFamily="18" charset="0"/>
              </a:rPr>
              <a:t> </a:t>
            </a:r>
            <a:r>
              <a:rPr lang="en-US" altLang="zh-TW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" panose="02040503050406030204" pitchFamily="18" charset="0"/>
              </a:rPr>
              <a:t>days’ </a:t>
            </a:r>
            <a:r>
              <a:rPr lang="en-US" altLang="zh-TW" b="1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" panose="02040503050406030204" pitchFamily="18" charset="0"/>
              </a:rPr>
              <a:t>pearson</a:t>
            </a:r>
            <a:r>
              <a:rPr lang="en-US" altLang="zh-TW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" panose="02040503050406030204" pitchFamily="18" charset="0"/>
              </a:rPr>
              <a:t> correlation</a:t>
            </a:r>
            <a:endParaRPr lang="zh-TW" altLang="en-US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mbria" panose="02040503050406030204" pitchFamily="18" charset="0"/>
            </a:endParaRPr>
          </a:p>
        </p:txBody>
      </p:sp>
      <p:cxnSp>
        <p:nvCxnSpPr>
          <p:cNvPr id="11" name="弧形接點 10"/>
          <p:cNvCxnSpPr/>
          <p:nvPr/>
        </p:nvCxnSpPr>
        <p:spPr>
          <a:xfrm flipV="1">
            <a:off x="8557146" y="3478394"/>
            <a:ext cx="559558" cy="27476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62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0086" y="994051"/>
            <a:ext cx="10835309" cy="4803775"/>
          </a:xfrm>
        </p:spPr>
        <p:txBody>
          <a:bodyPr>
            <a:normAutofit/>
          </a:bodyPr>
          <a:lstStyle/>
          <a:p>
            <a:r>
              <a:rPr lang="en-US" altLang="zh-TW" dirty="0"/>
              <a:t>In some cases, </a:t>
            </a:r>
            <a:r>
              <a:rPr lang="en-US" altLang="zh-TW" b="1" dirty="0"/>
              <a:t>a strong correlation not necessarily </a:t>
            </a:r>
            <a:r>
              <a:rPr lang="en-US" altLang="zh-TW" b="1" dirty="0" smtClean="0"/>
              <a:t>means strong </a:t>
            </a:r>
            <a:r>
              <a:rPr lang="en-US" altLang="zh-TW" b="1" dirty="0"/>
              <a:t>direct relation between two variables</a:t>
            </a:r>
            <a:r>
              <a:rPr lang="en-US" altLang="zh-TW" b="1" dirty="0" smtClean="0"/>
              <a:t>.</a:t>
            </a:r>
            <a:endParaRPr lang="en-US" altLang="zh-TW" dirty="0"/>
          </a:p>
          <a:p>
            <a:r>
              <a:rPr lang="en-US" altLang="zh-TW" dirty="0"/>
              <a:t>For </a:t>
            </a:r>
            <a:r>
              <a:rPr lang="en-US" altLang="zh-TW" dirty="0" smtClean="0"/>
              <a:t>example, two </a:t>
            </a:r>
            <a:r>
              <a:rPr lang="en-US" altLang="zh-TW" dirty="0"/>
              <a:t>stocks in the same market can be influenced by </a:t>
            </a:r>
            <a:r>
              <a:rPr lang="en-US" altLang="zh-TW" dirty="0" smtClean="0"/>
              <a:t>common macroeconomic </a:t>
            </a:r>
            <a:r>
              <a:rPr lang="en-US" altLang="zh-TW" dirty="0"/>
              <a:t>factors or investor psychological factors</a:t>
            </a:r>
            <a:r>
              <a:rPr lang="en-US" altLang="zh-TW" dirty="0" smtClean="0"/>
              <a:t>.</a:t>
            </a:r>
            <a:endParaRPr lang="en-US" altLang="zh-TW" sz="1400" dirty="0" smtClean="0">
              <a:latin typeface="標楷體" pitchFamily="65" charset="-120"/>
              <a:ea typeface="標楷體" pitchFamily="65" charset="-120"/>
            </a:endParaRPr>
          </a:p>
          <a:p>
            <a:pPr marL="0" indent="0">
              <a:buNone/>
            </a:pPr>
            <a:r>
              <a:rPr lang="en-US" altLang="zh-TW" sz="13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   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(Pearson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correlation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高，並不代表兩者之間直接的相關性高，非僅自身相互影響，可能存在其它</a:t>
            </a:r>
            <a:r>
              <a:rPr lang="zh-TW" altLang="en-US" sz="1600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共同影響因子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)</a:t>
            </a:r>
          </a:p>
          <a:p>
            <a:pPr marL="0" indent="0">
              <a:buNone/>
            </a:pPr>
            <a:endParaRPr lang="en-US" altLang="zh-TW" sz="2500" dirty="0" smtClean="0"/>
          </a:p>
          <a:p>
            <a:r>
              <a:rPr lang="en-US" altLang="zh-TW" dirty="0" smtClean="0"/>
              <a:t>To study </a:t>
            </a:r>
            <a:r>
              <a:rPr lang="en-US" altLang="zh-TW" b="1" dirty="0">
                <a:solidFill>
                  <a:srgbClr val="0070C0"/>
                </a:solidFill>
              </a:rPr>
              <a:t>the direct correlation of the performance of these </a:t>
            </a:r>
            <a:r>
              <a:rPr lang="en-US" altLang="zh-TW" b="1" dirty="0" smtClean="0">
                <a:solidFill>
                  <a:srgbClr val="0070C0"/>
                </a:solidFill>
              </a:rPr>
              <a:t>two stocks</a:t>
            </a:r>
            <a:r>
              <a:rPr lang="en-US" altLang="zh-TW" dirty="0"/>
              <a:t>, we need to remove the common driving factors, </a:t>
            </a:r>
            <a:r>
              <a:rPr lang="en-US" altLang="zh-TW" dirty="0" smtClean="0"/>
              <a:t>which </a:t>
            </a:r>
            <a:r>
              <a:rPr lang="en-US" altLang="zh-TW" dirty="0"/>
              <a:t>are represented by the </a:t>
            </a:r>
            <a:r>
              <a:rPr lang="en-US" altLang="zh-TW" b="1" dirty="0"/>
              <a:t>market index</a:t>
            </a:r>
            <a:r>
              <a:rPr lang="en-US" altLang="zh-TW" dirty="0" smtClean="0"/>
              <a:t>.</a:t>
            </a:r>
          </a:p>
          <a:p>
            <a:pPr marL="0" indent="0">
              <a:buNone/>
            </a:pPr>
            <a:r>
              <a:rPr lang="zh-TW" altLang="en-US" b="1" dirty="0" smtClean="0">
                <a:solidFill>
                  <a:srgbClr val="FF0000"/>
                </a:solidFill>
              </a:rPr>
              <a:t>   </a:t>
            </a:r>
            <a:r>
              <a:rPr lang="zh-TW" altLang="en-US" b="1" dirty="0">
                <a:solidFill>
                  <a:srgbClr val="FF0000"/>
                </a:solidFill>
              </a:rPr>
              <a:t> </a:t>
            </a:r>
            <a:r>
              <a:rPr lang="zh-TW" altLang="en-US" b="1" dirty="0" smtClean="0">
                <a:solidFill>
                  <a:srgbClr val="FF0000"/>
                </a:solidFill>
              </a:rPr>
              <a:t>    </a:t>
            </a:r>
            <a:r>
              <a:rPr lang="en-US" altLang="zh-TW" b="1" dirty="0" smtClean="0">
                <a:solidFill>
                  <a:srgbClr val="FF0000"/>
                </a:solidFill>
              </a:rPr>
              <a:t>Use partial correlation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4" name="向右箭號 3"/>
          <p:cNvSpPr/>
          <p:nvPr/>
        </p:nvSpPr>
        <p:spPr>
          <a:xfrm>
            <a:off x="875763" y="4932608"/>
            <a:ext cx="309094" cy="19318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035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5100" dirty="0" smtClean="0"/>
              <a:t>Partial correlation</a:t>
            </a:r>
            <a:endParaRPr lang="zh-TW" altLang="en-US" sz="51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791" y="2108141"/>
            <a:ext cx="6273835" cy="1143059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1026791" y="4051300"/>
            <a:ext cx="96647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2300" dirty="0" smtClean="0"/>
              <a:t>Let </a:t>
            </a:r>
            <a:r>
              <a:rPr lang="en-US" altLang="zh-TW" sz="2300" i="1" dirty="0" smtClean="0">
                <a:solidFill>
                  <a:srgbClr val="0070C0"/>
                </a:solidFill>
              </a:rPr>
              <a:t>X, Y </a:t>
            </a:r>
            <a:r>
              <a:rPr lang="en-US" altLang="zh-TW" sz="2300" dirty="0">
                <a:solidFill>
                  <a:srgbClr val="0070C0"/>
                </a:solidFill>
              </a:rPr>
              <a:t>be two stock return </a:t>
            </a:r>
            <a:r>
              <a:rPr lang="en-US" altLang="zh-TW" sz="2300" dirty="0"/>
              <a:t>time series and </a:t>
            </a:r>
            <a:r>
              <a:rPr lang="en-US" altLang="zh-TW" sz="2300" i="1" dirty="0" smtClean="0">
                <a:solidFill>
                  <a:srgbClr val="0070C0"/>
                </a:solidFill>
              </a:rPr>
              <a:t>M </a:t>
            </a:r>
            <a:r>
              <a:rPr lang="en-US" altLang="zh-TW" sz="2300" dirty="0" smtClean="0">
                <a:solidFill>
                  <a:srgbClr val="0070C0"/>
                </a:solidFill>
              </a:rPr>
              <a:t>be </a:t>
            </a:r>
            <a:r>
              <a:rPr lang="en-US" altLang="zh-TW" sz="2300" dirty="0">
                <a:solidFill>
                  <a:srgbClr val="0070C0"/>
                </a:solidFill>
              </a:rPr>
              <a:t>the index</a:t>
            </a:r>
            <a:r>
              <a:rPr lang="en-US" altLang="zh-TW" sz="2300" dirty="0"/>
              <a:t>. The </a:t>
            </a:r>
            <a:r>
              <a:rPr lang="en-US" altLang="zh-TW" sz="2300" dirty="0" smtClean="0"/>
              <a:t>partial correlation</a:t>
            </a:r>
            <a:r>
              <a:rPr lang="en-US" altLang="zh-TW" sz="2300" dirty="0"/>
              <a:t>, </a:t>
            </a:r>
            <a:r>
              <a:rPr lang="en-US" altLang="zh-TW" sz="2300" i="1" dirty="0"/>
              <a:t>ρ(X, Y </a:t>
            </a:r>
            <a:r>
              <a:rPr lang="en-US" altLang="zh-TW" sz="2300" dirty="0"/>
              <a:t>: </a:t>
            </a:r>
            <a:r>
              <a:rPr lang="en-US" altLang="zh-TW" sz="2300" i="1" dirty="0"/>
              <a:t>M)</a:t>
            </a:r>
            <a:r>
              <a:rPr lang="en-US" altLang="zh-TW" sz="2300" dirty="0"/>
              <a:t>, </a:t>
            </a:r>
            <a:r>
              <a:rPr lang="en-US" altLang="zh-TW" sz="2300" dirty="0" smtClean="0"/>
              <a:t>between variables </a:t>
            </a:r>
            <a:r>
              <a:rPr lang="en-US" altLang="zh-TW" sz="2300" i="1" dirty="0"/>
              <a:t>X </a:t>
            </a:r>
            <a:r>
              <a:rPr lang="en-US" altLang="zh-TW" sz="2300" dirty="0"/>
              <a:t>and </a:t>
            </a:r>
            <a:r>
              <a:rPr lang="en-US" altLang="zh-TW" sz="2300" i="1" dirty="0"/>
              <a:t>Y </a:t>
            </a:r>
            <a:r>
              <a:rPr lang="en-US" altLang="zh-TW" sz="2300" dirty="0"/>
              <a:t>conditioned on variable </a:t>
            </a:r>
            <a:r>
              <a:rPr lang="en-US" altLang="zh-TW" sz="2300" i="1" dirty="0"/>
              <a:t>M </a:t>
            </a:r>
            <a:r>
              <a:rPr lang="en-US" altLang="zh-TW" sz="2300" dirty="0"/>
              <a:t>is the </a:t>
            </a:r>
            <a:r>
              <a:rPr lang="en-US" altLang="zh-TW" sz="2300" dirty="0" smtClean="0"/>
              <a:t>Pearson correlation </a:t>
            </a:r>
            <a:r>
              <a:rPr lang="en-US" altLang="zh-TW" sz="2300" dirty="0"/>
              <a:t>coefficient between </a:t>
            </a:r>
            <a:r>
              <a:rPr lang="en-US" altLang="zh-TW" sz="2300" b="1" dirty="0">
                <a:solidFill>
                  <a:srgbClr val="0070C0"/>
                </a:solidFill>
              </a:rPr>
              <a:t>the residuals of </a:t>
            </a:r>
            <a:r>
              <a:rPr lang="en-US" altLang="zh-TW" sz="2300" b="1" i="1" dirty="0">
                <a:solidFill>
                  <a:srgbClr val="0070C0"/>
                </a:solidFill>
              </a:rPr>
              <a:t>X </a:t>
            </a:r>
            <a:r>
              <a:rPr lang="en-US" altLang="zh-TW" sz="2300" b="1" dirty="0">
                <a:solidFill>
                  <a:srgbClr val="0070C0"/>
                </a:solidFill>
              </a:rPr>
              <a:t>and </a:t>
            </a:r>
            <a:r>
              <a:rPr lang="en-US" altLang="zh-TW" sz="2300" b="1" i="1" dirty="0">
                <a:solidFill>
                  <a:srgbClr val="0070C0"/>
                </a:solidFill>
              </a:rPr>
              <a:t>Y </a:t>
            </a:r>
            <a:r>
              <a:rPr lang="en-US" altLang="zh-TW" sz="2300" b="1" dirty="0">
                <a:solidFill>
                  <a:srgbClr val="0070C0"/>
                </a:solidFill>
              </a:rPr>
              <a:t>that </a:t>
            </a:r>
            <a:r>
              <a:rPr lang="en-US" altLang="zh-TW" sz="2300" b="1" dirty="0" smtClean="0">
                <a:solidFill>
                  <a:srgbClr val="0070C0"/>
                </a:solidFill>
              </a:rPr>
              <a:t>are uncorrelated </a:t>
            </a:r>
            <a:r>
              <a:rPr lang="en-US" altLang="zh-TW" sz="2300" b="1" dirty="0">
                <a:solidFill>
                  <a:srgbClr val="0070C0"/>
                </a:solidFill>
              </a:rPr>
              <a:t>with </a:t>
            </a:r>
            <a:r>
              <a:rPr lang="en-US" altLang="zh-TW" sz="2300" b="1" i="1" dirty="0">
                <a:solidFill>
                  <a:srgbClr val="0070C0"/>
                </a:solidFill>
              </a:rPr>
              <a:t>M</a:t>
            </a:r>
            <a:r>
              <a:rPr lang="en-US" altLang="zh-TW" sz="2300" b="1" dirty="0">
                <a:solidFill>
                  <a:srgbClr val="0070C0"/>
                </a:solidFill>
              </a:rPr>
              <a:t>.</a:t>
            </a:r>
            <a:endParaRPr lang="zh-TW" altLang="en-US" sz="2300" b="1" dirty="0">
              <a:solidFill>
                <a:srgbClr val="0070C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6791" y="3208569"/>
            <a:ext cx="3300904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(X</a:t>
            </a:r>
            <a:r>
              <a:rPr lang="zh-TW" altLang="en-US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en-US" altLang="zh-TW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Y</a:t>
            </a:r>
            <a:r>
              <a:rPr lang="zh-TW" altLang="en-US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排除</a:t>
            </a:r>
            <a:r>
              <a:rPr lang="en-US" altLang="zh-TW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M</a:t>
            </a:r>
            <a:r>
              <a:rPr lang="zh-TW" altLang="en-US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之影響的相關係數</a:t>
            </a:r>
            <a:r>
              <a:rPr lang="en-US" altLang="zh-TW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7735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8046720" y="258483"/>
            <a:ext cx="2049177" cy="72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美國標準普爾</a:t>
            </a:r>
            <a:r>
              <a:rPr lang="en-US" altLang="zh-TW" dirty="0" smtClean="0"/>
              <a:t>500</a:t>
            </a:r>
          </a:p>
          <a:p>
            <a:r>
              <a:rPr lang="en-US" altLang="zh-TW" dirty="0" smtClean="0"/>
              <a:t>(S&amp;P </a:t>
            </a:r>
            <a:r>
              <a:rPr lang="en-US" altLang="zh-TW" dirty="0"/>
              <a:t>500 </a:t>
            </a:r>
            <a:r>
              <a:rPr lang="en-US" altLang="zh-TW" dirty="0" smtClean="0"/>
              <a:t>index)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52076" y="4336221"/>
            <a:ext cx="1138162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2800" dirty="0"/>
              <a:t>In figure 1(a</a:t>
            </a:r>
            <a:r>
              <a:rPr lang="en-US" altLang="zh-TW" sz="2800" dirty="0" smtClean="0"/>
              <a:t>), </a:t>
            </a:r>
            <a:r>
              <a:rPr lang="en-US" altLang="zh-TW" sz="2800" dirty="0"/>
              <a:t>a</a:t>
            </a:r>
            <a:r>
              <a:rPr lang="en-US" altLang="zh-TW" sz="2800" dirty="0" smtClean="0"/>
              <a:t>ll points </a:t>
            </a:r>
            <a:r>
              <a:rPr lang="en-US" altLang="zh-TW" sz="2800" dirty="0"/>
              <a:t>are below the diagonal straight line, which means </a:t>
            </a:r>
            <a:r>
              <a:rPr lang="en-US" altLang="zh-TW" sz="2800" b="1" dirty="0" smtClean="0">
                <a:solidFill>
                  <a:srgbClr val="0070C0"/>
                </a:solidFill>
              </a:rPr>
              <a:t>the influence </a:t>
            </a:r>
            <a:r>
              <a:rPr lang="en-US" altLang="zh-TW" sz="2800" b="1" dirty="0">
                <a:solidFill>
                  <a:srgbClr val="0070C0"/>
                </a:solidFill>
              </a:rPr>
              <a:t>from the index to the correlation between any </a:t>
            </a:r>
            <a:r>
              <a:rPr lang="en-US" altLang="zh-TW" sz="2800" b="1" dirty="0" smtClean="0">
                <a:solidFill>
                  <a:srgbClr val="0070C0"/>
                </a:solidFill>
              </a:rPr>
              <a:t>pair of </a:t>
            </a:r>
            <a:r>
              <a:rPr lang="en-US" altLang="zh-TW" sz="2800" b="1" dirty="0">
                <a:solidFill>
                  <a:srgbClr val="0070C0"/>
                </a:solidFill>
              </a:rPr>
              <a:t>stocks is always positive</a:t>
            </a:r>
            <a:r>
              <a:rPr lang="en-US" altLang="zh-TW" sz="2800" b="1" dirty="0" smtClean="0">
                <a:solidFill>
                  <a:srgbClr val="0070C0"/>
                </a:solidFill>
              </a:rPr>
              <a:t>. </a:t>
            </a:r>
          </a:p>
          <a:p>
            <a:pPr marL="285750" indent="-285750" algn="just"/>
            <a:r>
              <a:rPr lang="en-US" altLang="zh-TW" sz="2800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  </a:t>
            </a:r>
            <a:r>
              <a:rPr lang="zh-TW" altLang="en-US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（</a:t>
            </a:r>
            <a:r>
              <a:rPr lang="en-US" altLang="zh-TW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X</a:t>
            </a:r>
            <a:r>
              <a:rPr lang="zh-TW" altLang="en-US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、</a:t>
            </a:r>
            <a:r>
              <a:rPr lang="en-US" altLang="zh-TW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Y</a:t>
            </a:r>
            <a:r>
              <a:rPr lang="zh-TW" altLang="en-US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與</a:t>
            </a:r>
            <a:r>
              <a:rPr lang="en-US" altLang="zh-TW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M(</a:t>
            </a:r>
            <a:r>
              <a:rPr lang="zh-TW" altLang="en-US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共同影響因子</a:t>
            </a:r>
            <a:r>
              <a:rPr lang="en-US" altLang="zh-TW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Index)</a:t>
            </a:r>
            <a:r>
              <a:rPr lang="zh-TW" altLang="en-US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為正相關，所以點分佈偏向對角線</a:t>
            </a:r>
            <a:r>
              <a:rPr lang="zh-TW" altLang="en-US" b="1" dirty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下</a:t>
            </a:r>
            <a:r>
              <a:rPr lang="zh-TW" altLang="en-US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方）</a:t>
            </a:r>
            <a:endParaRPr lang="en-US" altLang="zh-TW" b="1" dirty="0" smtClean="0">
              <a:solidFill>
                <a:srgbClr val="0070C0"/>
              </a:solidFill>
              <a:latin typeface="標楷體" pitchFamily="65" charset="-120"/>
              <a:ea typeface="標楷體" pitchFamily="65" charset="-120"/>
            </a:endParaRPr>
          </a:p>
          <a:p>
            <a:pPr marL="285750" indent="-285750" algn="just"/>
            <a:r>
              <a:rPr lang="zh-TW" altLang="en-US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    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換句話說：</a:t>
            </a:r>
            <a:r>
              <a:rPr lang="zh-TW" altLang="en-US" sz="1600" dirty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不論</a:t>
            </a:r>
            <a:r>
              <a:rPr lang="en-US" altLang="zh-TW" sz="1600" dirty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X</a:t>
            </a:r>
            <a:r>
              <a:rPr lang="zh-TW" altLang="en-US" sz="1600" dirty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、</a:t>
            </a:r>
            <a:r>
              <a:rPr lang="en-US" altLang="zh-TW" sz="1600" dirty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Y</a:t>
            </a:r>
            <a:r>
              <a:rPr lang="zh-TW" altLang="en-US" sz="1600" dirty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間相關性為正或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負</a:t>
            </a:r>
            <a:r>
              <a:rPr lang="zh-TW" altLang="en-US" sz="1600" dirty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，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M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對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X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與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Y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之影響皆為正相關，也就是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X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、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Y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及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M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會同漲或同跌。</a:t>
            </a:r>
            <a:endParaRPr lang="en-US" altLang="zh-TW" sz="1600" dirty="0" smtClean="0">
              <a:solidFill>
                <a:srgbClr val="0070C0"/>
              </a:solidFill>
              <a:latin typeface="標楷體" pitchFamily="65" charset="-120"/>
              <a:ea typeface="標楷體" pitchFamily="65" charset="-120"/>
            </a:endParaRPr>
          </a:p>
        </p:txBody>
      </p:sp>
      <p:grpSp>
        <p:nvGrpSpPr>
          <p:cNvPr id="3" name="群組 2"/>
          <p:cNvGrpSpPr/>
          <p:nvPr/>
        </p:nvGrpSpPr>
        <p:grpSpPr>
          <a:xfrm>
            <a:off x="1060704" y="258483"/>
            <a:ext cx="6899258" cy="3925824"/>
            <a:chOff x="0" y="0"/>
            <a:chExt cx="6899258" cy="3925824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896" r="11949" b="30709"/>
            <a:stretch/>
          </p:blipFill>
          <p:spPr>
            <a:xfrm>
              <a:off x="0" y="0"/>
              <a:ext cx="6899258" cy="3024275"/>
            </a:xfrm>
            <a:prstGeom prst="rect">
              <a:avLst/>
            </a:prstGeom>
          </p:spPr>
        </p:pic>
        <p:pic>
          <p:nvPicPr>
            <p:cNvPr id="8" name="圖片 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443"/>
            <a:stretch/>
          </p:blipFill>
          <p:spPr>
            <a:xfrm>
              <a:off x="157004" y="3024275"/>
              <a:ext cx="6331114" cy="9015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582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51078" y="2443811"/>
            <a:ext cx="10515600" cy="190924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zh-TW" dirty="0" smtClean="0"/>
              <a:t>When two stocks </a:t>
            </a:r>
            <a:r>
              <a:rPr lang="en-US" altLang="zh-TW" i="1" dirty="0" smtClean="0"/>
              <a:t>X </a:t>
            </a:r>
            <a:r>
              <a:rPr lang="en-US" altLang="zh-TW" dirty="0" smtClean="0"/>
              <a:t>and </a:t>
            </a:r>
            <a:r>
              <a:rPr lang="en-US" altLang="zh-TW" i="1" dirty="0" smtClean="0"/>
              <a:t>Y </a:t>
            </a:r>
            <a:r>
              <a:rPr lang="en-US" altLang="zh-TW" dirty="0" smtClean="0"/>
              <a:t>both have business relation with a third common stock </a:t>
            </a:r>
            <a:r>
              <a:rPr lang="en-US" altLang="zh-TW" i="1" dirty="0" smtClean="0"/>
              <a:t>Z</a:t>
            </a:r>
            <a:r>
              <a:rPr lang="en-US" altLang="zh-TW" dirty="0" smtClean="0"/>
              <a:t>, </a:t>
            </a:r>
            <a:r>
              <a:rPr lang="en-US" altLang="zh-TW" b="1" dirty="0" smtClean="0"/>
              <a:t>their prices can be both affected by the performance of the third stock, thus showing similar price movements even after removing the effect of the index.</a:t>
            </a:r>
          </a:p>
          <a:p>
            <a:pPr marL="0" indent="0" algn="just">
              <a:buNone/>
            </a:pPr>
            <a:r>
              <a:rPr lang="en-US" altLang="zh-TW" sz="19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9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去除</a:t>
            </a:r>
            <a:r>
              <a:rPr lang="en-US" altLang="zh-TW" sz="19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index</a:t>
            </a:r>
            <a:r>
              <a:rPr lang="zh-TW" altLang="en-US" sz="19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的影響之後，</a:t>
            </a:r>
            <a:r>
              <a:rPr lang="en-US" altLang="zh-TW" sz="19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9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19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Y</a:t>
            </a:r>
            <a:r>
              <a:rPr lang="zh-TW" altLang="en-US" sz="19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之間可能還有第三支股票</a:t>
            </a:r>
            <a:r>
              <a:rPr lang="en-US" altLang="zh-TW" sz="19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Z</a:t>
            </a:r>
            <a:r>
              <a:rPr lang="zh-TW" altLang="en-US" sz="19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對其產生影響。</a:t>
            </a:r>
            <a:r>
              <a:rPr lang="en-US" altLang="zh-TW" sz="19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24" y="595230"/>
            <a:ext cx="6413798" cy="176093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51" y="2845802"/>
            <a:ext cx="8995787" cy="1778101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260565" y="5321371"/>
            <a:ext cx="1173265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3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建議先去除市場共同影響因子</a:t>
            </a:r>
            <a:r>
              <a:rPr lang="en-US" altLang="zh-TW" sz="23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2300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ex:index</a:t>
            </a:r>
            <a:r>
              <a:rPr lang="en-US" altLang="zh-TW" sz="23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3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，然後再去除其餘股票</a:t>
            </a:r>
            <a:r>
              <a:rPr lang="en-US" altLang="zh-TW" sz="23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2300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ex:Z</a:t>
            </a:r>
            <a:r>
              <a:rPr lang="zh-TW" altLang="en-US" sz="23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股票</a:t>
            </a:r>
            <a:r>
              <a:rPr lang="en-US" altLang="zh-TW" sz="23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300" dirty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sz="23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影響會比較好，因為通常市場共同影響因子比較強勢</a:t>
            </a:r>
            <a:r>
              <a:rPr lang="en-US" altLang="zh-TW" sz="23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(dominant)</a:t>
            </a:r>
            <a:r>
              <a:rPr lang="zh-TW" altLang="en-US" sz="23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，整體趨勢容易受其影響。</a:t>
            </a:r>
            <a:endParaRPr lang="en-US" altLang="zh-TW" sz="23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(Z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股票可能同時也含有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index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的影響，所以此舉也可避免計算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Z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之影響程度時的誤差。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想法源自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Kenett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et al. 2010)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368209" y="463825"/>
            <a:ext cx="34629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zh-TW" altLang="en-US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此式是將前述已去除</a:t>
            </a:r>
            <a:r>
              <a:rPr lang="en-US" altLang="zh-TW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M</a:t>
            </a:r>
            <a:r>
              <a:rPr lang="zh-TW" altLang="en-US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之影</a:t>
            </a:r>
            <a:r>
              <a:rPr lang="zh-TW" altLang="en-US" dirty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響</a:t>
            </a:r>
            <a:r>
              <a:rPr lang="zh-TW" altLang="en-US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的相關係數，再拿來去除</a:t>
            </a:r>
            <a:r>
              <a:rPr lang="en-US" altLang="zh-TW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Z</a:t>
            </a:r>
            <a:r>
              <a:rPr lang="zh-TW" altLang="en-US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之影</a:t>
            </a:r>
            <a:r>
              <a:rPr lang="zh-TW" altLang="en-US" dirty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響</a:t>
            </a:r>
            <a:r>
              <a:rPr lang="zh-TW" altLang="en-US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所得結果。</a:t>
            </a:r>
            <a:endParaRPr lang="en-US" altLang="zh-TW" dirty="0" smtClean="0">
              <a:solidFill>
                <a:srgbClr val="0070C0"/>
              </a:solidFill>
              <a:latin typeface="標楷體" pitchFamily="65" charset="-120"/>
              <a:ea typeface="標楷體" pitchFamily="65" charset="-120"/>
            </a:endParaRPr>
          </a:p>
          <a:p>
            <a:pPr>
              <a:buFont typeface="Wingdings" pitchFamily="2" charset="2"/>
              <a:buChar char="Ø"/>
            </a:pPr>
            <a:endParaRPr lang="en-US" altLang="zh-TW" dirty="0" smtClean="0">
              <a:solidFill>
                <a:srgbClr val="0070C0"/>
              </a:solidFill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∴此為去除</a:t>
            </a:r>
            <a:r>
              <a:rPr lang="en-US" altLang="zh-TW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M</a:t>
            </a:r>
            <a:r>
              <a:rPr lang="zh-TW" altLang="en-US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、</a:t>
            </a:r>
            <a:r>
              <a:rPr lang="en-US" altLang="zh-TW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Z</a:t>
            </a:r>
            <a:r>
              <a:rPr lang="zh-TW" altLang="en-US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這兩個影響因子所得</a:t>
            </a:r>
            <a:r>
              <a:rPr lang="en-US" altLang="zh-TW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X</a:t>
            </a:r>
            <a:r>
              <a:rPr lang="zh-TW" altLang="en-US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、</a:t>
            </a:r>
            <a:r>
              <a:rPr lang="en-US" altLang="zh-TW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Y</a:t>
            </a:r>
            <a:r>
              <a:rPr lang="zh-TW" altLang="en-US" b="1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之間的相關性。</a:t>
            </a:r>
            <a:endParaRPr lang="en-US" altLang="zh-TW" b="1" dirty="0" smtClean="0">
              <a:solidFill>
                <a:srgbClr val="0070C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7089914" y="3432314"/>
            <a:ext cx="4903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將影響</a:t>
            </a:r>
            <a:r>
              <a:rPr lang="en-US" altLang="zh-TW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X</a:t>
            </a:r>
            <a:r>
              <a:rPr lang="zh-TW" altLang="en-US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、</a:t>
            </a:r>
            <a:r>
              <a:rPr lang="en-US" altLang="zh-TW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Y</a:t>
            </a:r>
            <a:r>
              <a:rPr lang="zh-TW" altLang="en-US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的第三支股票</a:t>
            </a:r>
            <a:r>
              <a:rPr lang="en-US" altLang="zh-TW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Z</a:t>
            </a:r>
            <a:r>
              <a:rPr lang="zh-TW" altLang="en-US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之影響程度做量化</a:t>
            </a:r>
            <a:r>
              <a:rPr lang="en-US" altLang="zh-TW" dirty="0" smtClean="0">
                <a:solidFill>
                  <a:srgbClr val="0070C0"/>
                </a:solidFill>
                <a:latin typeface="標楷體" pitchFamily="65" charset="-120"/>
                <a:ea typeface="標楷體" pitchFamily="65" charset="-120"/>
              </a:rPr>
              <a:t>)</a:t>
            </a:r>
            <a:endParaRPr lang="zh-TW" altLang="en-US" dirty="0">
              <a:solidFill>
                <a:srgbClr val="0070C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439478" y="4492488"/>
            <a:ext cx="157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含</a:t>
            </a:r>
            <a:r>
              <a:rPr lang="en-US" altLang="zh-TW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Z</a:t>
            </a:r>
            <a:r>
              <a:rPr lang="zh-TW" altLang="en-US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、不含</a:t>
            </a:r>
            <a:r>
              <a:rPr lang="en-US" altLang="zh-TW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M</a:t>
            </a:r>
            <a:endParaRPr lang="zh-TW" altLang="en-US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030278" y="4499114"/>
            <a:ext cx="1901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不含</a:t>
            </a:r>
            <a:r>
              <a:rPr lang="en-US" altLang="zh-TW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Z</a:t>
            </a:r>
            <a:r>
              <a:rPr lang="zh-TW" altLang="en-US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、不含</a:t>
            </a:r>
            <a:r>
              <a:rPr lang="en-US" altLang="zh-TW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M</a:t>
            </a:r>
            <a:endParaRPr lang="zh-TW" altLang="en-US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046920" y="4651513"/>
            <a:ext cx="318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Z</a:t>
            </a:r>
            <a:r>
              <a:rPr lang="zh-TW" altLang="en-US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對於</a:t>
            </a:r>
            <a:r>
              <a:rPr lang="en-US" altLang="zh-TW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X</a:t>
            </a:r>
            <a:r>
              <a:rPr lang="zh-TW" altLang="en-US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、</a:t>
            </a:r>
            <a:r>
              <a:rPr lang="en-US" altLang="zh-TW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Y</a:t>
            </a:r>
            <a:r>
              <a:rPr lang="zh-TW" altLang="en-US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的影響程度</a:t>
            </a:r>
            <a:r>
              <a:rPr lang="en-US" altLang="zh-TW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相關性</a:t>
            </a:r>
            <a:r>
              <a:rPr lang="en-US" altLang="zh-TW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4" name="弧形接點 13"/>
          <p:cNvCxnSpPr>
            <a:endCxn id="12" idx="1"/>
          </p:cNvCxnSpPr>
          <p:nvPr/>
        </p:nvCxnSpPr>
        <p:spPr>
          <a:xfrm rot="10800000" flipV="1">
            <a:off x="1046921" y="4280451"/>
            <a:ext cx="583101" cy="555728"/>
          </a:xfrm>
          <a:prstGeom prst="curvedConnector3">
            <a:avLst>
              <a:gd name="adj1" fmla="val 139204"/>
            </a:avLst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52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714" y="3943238"/>
            <a:ext cx="10515600" cy="2714178"/>
          </a:xfrm>
        </p:spPr>
        <p:txBody>
          <a:bodyPr>
            <a:normAutofit/>
          </a:bodyPr>
          <a:lstStyle/>
          <a:p>
            <a:pPr marL="342900" indent="-342900" algn="just"/>
            <a:r>
              <a:rPr lang="en-US" altLang="zh-TW" sz="2500" dirty="0" smtClean="0"/>
              <a:t>In figure 1(b), the points distribute at both sides of the diagonal line</a:t>
            </a:r>
          </a:p>
          <a:p>
            <a:pPr marL="342900" indent="-342900" algn="just"/>
            <a:endParaRPr lang="en-US" altLang="zh-TW" sz="2500" dirty="0"/>
          </a:p>
          <a:p>
            <a:pPr marL="342900" indent="-342900" algn="just"/>
            <a:r>
              <a:rPr lang="en-US" altLang="zh-TW" sz="2500" dirty="0" smtClean="0"/>
              <a:t>By removing the influence from the third company, we can see the importance of the role that the third stock acts in the correlation of two stocks.</a:t>
            </a:r>
          </a:p>
          <a:p>
            <a:pPr marL="0" indent="0" algn="just">
              <a:buNone/>
            </a:pPr>
            <a:r>
              <a:rPr lang="en-US" altLang="zh-TW" sz="18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可找尋出除了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Index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之外的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influence factor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對原本兩者之間的相關性意義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1600" dirty="0" smtClean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7870822" y="117540"/>
            <a:ext cx="2046351" cy="697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 smtClean="0"/>
              <a:t>美國標準普爾</a:t>
            </a:r>
            <a:r>
              <a:rPr lang="en-US" altLang="zh-TW" dirty="0" smtClean="0"/>
              <a:t>500</a:t>
            </a:r>
          </a:p>
          <a:p>
            <a:r>
              <a:rPr lang="en-US" altLang="zh-TW" dirty="0" smtClean="0"/>
              <a:t>(S&amp;P </a:t>
            </a:r>
            <a:r>
              <a:rPr lang="en-US" altLang="zh-TW" dirty="0"/>
              <a:t>500 </a:t>
            </a:r>
            <a:r>
              <a:rPr lang="en-US" altLang="zh-TW" dirty="0" smtClean="0"/>
              <a:t>index)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015641" y="4309171"/>
            <a:ext cx="870142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TW" altLang="en-US" sz="16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當</a:t>
            </a:r>
            <a:r>
              <a:rPr lang="en-US" altLang="zh-TW" sz="16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6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16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Y</a:t>
            </a:r>
            <a:r>
              <a:rPr lang="zh-TW" altLang="en-US" sz="16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相關係數</a:t>
            </a:r>
            <a:r>
              <a:rPr lang="en-US" altLang="zh-TW" sz="16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&gt;0</a:t>
            </a:r>
            <a:r>
              <a:rPr lang="zh-TW" altLang="en-US" sz="16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1600" i="1" dirty="0" smtClean="0">
                <a:solidFill>
                  <a:srgbClr val="0070C0"/>
                </a:solidFill>
                <a:latin typeface="Cambria" panose="02040503050406030204" pitchFamily="18" charset="0"/>
              </a:rPr>
              <a:t>d(X</a:t>
            </a:r>
            <a:r>
              <a:rPr lang="en-US" altLang="zh-TW" sz="1600" i="1" dirty="0">
                <a:solidFill>
                  <a:srgbClr val="0070C0"/>
                </a:solidFill>
                <a:latin typeface="Cambria" panose="02040503050406030204" pitchFamily="18" charset="0"/>
              </a:rPr>
              <a:t>, Y </a:t>
            </a:r>
            <a:r>
              <a:rPr lang="en-US" altLang="zh-TW" sz="1600" dirty="0">
                <a:solidFill>
                  <a:srgbClr val="0070C0"/>
                </a:solidFill>
                <a:latin typeface="Cambria" panose="02040503050406030204" pitchFamily="18" charset="0"/>
              </a:rPr>
              <a:t>: </a:t>
            </a:r>
            <a:r>
              <a:rPr lang="en-US" altLang="zh-TW" sz="1600" i="1" dirty="0">
                <a:solidFill>
                  <a:srgbClr val="0070C0"/>
                </a:solidFill>
                <a:latin typeface="Cambria" panose="02040503050406030204" pitchFamily="18" charset="0"/>
              </a:rPr>
              <a:t>Z</a:t>
            </a:r>
            <a:r>
              <a:rPr lang="en-US" altLang="zh-TW" sz="1600" i="1" dirty="0" smtClean="0">
                <a:solidFill>
                  <a:srgbClr val="0070C0"/>
                </a:solidFill>
                <a:latin typeface="Cambria" panose="02040503050406030204" pitchFamily="18" charset="0"/>
              </a:rPr>
              <a:t>)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為正，代表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Z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對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Y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之影響為正相關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同漲同跌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；</a:t>
            </a:r>
            <a:endParaRPr lang="en-US" altLang="zh-TW" sz="1600" dirty="0" smtClean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當</a:t>
            </a:r>
            <a:r>
              <a:rPr lang="en-US" altLang="zh-TW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Y</a:t>
            </a:r>
            <a:r>
              <a:rPr lang="zh-TW" altLang="en-US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相關係數</a:t>
            </a:r>
            <a:r>
              <a:rPr lang="en-US" altLang="zh-TW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&lt;0</a:t>
            </a:r>
            <a:r>
              <a:rPr lang="zh-TW" altLang="en-US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1600" i="1" dirty="0" smtClean="0">
                <a:solidFill>
                  <a:srgbClr val="0070C0"/>
                </a:solidFill>
                <a:latin typeface="Cambria" panose="02040503050406030204" pitchFamily="18" charset="0"/>
              </a:rPr>
              <a:t>d(X</a:t>
            </a:r>
            <a:r>
              <a:rPr lang="en-US" altLang="zh-TW" sz="1600" i="1" dirty="0">
                <a:solidFill>
                  <a:srgbClr val="0070C0"/>
                </a:solidFill>
                <a:latin typeface="Cambria" panose="02040503050406030204" pitchFamily="18" charset="0"/>
              </a:rPr>
              <a:t>, Y </a:t>
            </a:r>
            <a:r>
              <a:rPr lang="en-US" altLang="zh-TW" sz="1600" dirty="0">
                <a:solidFill>
                  <a:srgbClr val="0070C0"/>
                </a:solidFill>
                <a:latin typeface="Cambria" panose="02040503050406030204" pitchFamily="18" charset="0"/>
              </a:rPr>
              <a:t>: </a:t>
            </a:r>
            <a:r>
              <a:rPr lang="en-US" altLang="zh-TW" sz="1600" i="1" dirty="0">
                <a:solidFill>
                  <a:srgbClr val="0070C0"/>
                </a:solidFill>
                <a:latin typeface="Cambria" panose="02040503050406030204" pitchFamily="18" charset="0"/>
              </a:rPr>
              <a:t>Z</a:t>
            </a:r>
            <a:r>
              <a:rPr lang="en-US" altLang="zh-TW" sz="1600" i="1" dirty="0" smtClean="0">
                <a:solidFill>
                  <a:srgbClr val="0070C0"/>
                </a:solidFill>
                <a:latin typeface="Cambria" panose="02040503050406030204" pitchFamily="18" charset="0"/>
              </a:rPr>
              <a:t>)</a:t>
            </a:r>
            <a:r>
              <a:rPr lang="zh-TW" altLang="en-US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為負，代表</a:t>
            </a:r>
            <a:r>
              <a:rPr lang="en-US" altLang="zh-TW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Z</a:t>
            </a:r>
            <a:r>
              <a:rPr lang="zh-TW" altLang="en-US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對</a:t>
            </a:r>
            <a:r>
              <a:rPr lang="en-US" altLang="zh-TW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Y</a:t>
            </a:r>
            <a:r>
              <a:rPr lang="zh-TW" altLang="en-US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之影響為負相關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16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Z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漲或跌，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Y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一漲一跌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en-US" sz="160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en-US" sz="160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16" name="群組 15"/>
          <p:cNvGrpSpPr/>
          <p:nvPr/>
        </p:nvGrpSpPr>
        <p:grpSpPr>
          <a:xfrm>
            <a:off x="685714" y="0"/>
            <a:ext cx="7038690" cy="3943238"/>
            <a:chOff x="0" y="0"/>
            <a:chExt cx="7038690" cy="3943238"/>
          </a:xfrm>
        </p:grpSpPr>
        <p:pic>
          <p:nvPicPr>
            <p:cNvPr id="8" name="圖片 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896" r="11949" b="30709"/>
            <a:stretch/>
          </p:blipFill>
          <p:spPr>
            <a:xfrm>
              <a:off x="0" y="0"/>
              <a:ext cx="7038690" cy="3037685"/>
            </a:xfrm>
            <a:prstGeom prst="rect">
              <a:avLst/>
            </a:prstGeom>
          </p:spPr>
        </p:pic>
        <p:pic>
          <p:nvPicPr>
            <p:cNvPr id="9" name="圖片 8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443"/>
            <a:stretch/>
          </p:blipFill>
          <p:spPr>
            <a:xfrm>
              <a:off x="148957" y="3037685"/>
              <a:ext cx="6459107" cy="905553"/>
            </a:xfrm>
            <a:prstGeom prst="rect">
              <a:avLst/>
            </a:prstGeom>
          </p:spPr>
        </p:pic>
        <p:cxnSp>
          <p:nvCxnSpPr>
            <p:cNvPr id="12" name="直線接點 11"/>
            <p:cNvCxnSpPr/>
            <p:nvPr/>
          </p:nvCxnSpPr>
          <p:spPr>
            <a:xfrm>
              <a:off x="4699502" y="117540"/>
              <a:ext cx="0" cy="2394012"/>
            </a:xfrm>
            <a:prstGeom prst="line">
              <a:avLst/>
            </a:prstGeom>
            <a:ln w="19050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03375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1972" y="22066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5100" dirty="0" smtClean="0"/>
              <a:t>Stable </a:t>
            </a:r>
            <a:r>
              <a:rPr lang="en-US" altLang="zh-TW" sz="5100" dirty="0" err="1" smtClean="0"/>
              <a:t>v.s</a:t>
            </a:r>
            <a:r>
              <a:rPr lang="en-US" altLang="zh-TW" sz="5100" dirty="0"/>
              <a:t> </a:t>
            </a:r>
            <a:r>
              <a:rPr lang="en-US" altLang="zh-TW" sz="5100" dirty="0" smtClean="0"/>
              <a:t>Volatile</a:t>
            </a:r>
            <a:endParaRPr lang="zh-TW" altLang="en-US" sz="51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546224"/>
            <a:ext cx="11925837" cy="4841875"/>
          </a:xfrm>
        </p:spPr>
        <p:txBody>
          <a:bodyPr>
            <a:normAutofit/>
          </a:bodyPr>
          <a:lstStyle/>
          <a:p>
            <a:pPr algn="just"/>
            <a:r>
              <a:rPr lang="en-US" altLang="zh-TW" dirty="0" smtClean="0"/>
              <a:t>If the </a:t>
            </a:r>
            <a:r>
              <a:rPr lang="en-US" altLang="zh-TW" dirty="0">
                <a:solidFill>
                  <a:srgbClr val="0070C0"/>
                </a:solidFill>
              </a:rPr>
              <a:t>companies tend to keep their past strategies</a:t>
            </a:r>
            <a:r>
              <a:rPr lang="en-US" altLang="zh-TW" dirty="0"/>
              <a:t>, then the </a:t>
            </a:r>
            <a:r>
              <a:rPr lang="en-US" altLang="zh-TW" dirty="0" smtClean="0"/>
              <a:t>level of </a:t>
            </a:r>
            <a:r>
              <a:rPr lang="en-US" altLang="zh-TW" dirty="0"/>
              <a:t>partial correlation between two companies’ stocks tends </a:t>
            </a:r>
            <a:r>
              <a:rPr lang="en-US" altLang="zh-TW" dirty="0" smtClean="0"/>
              <a:t>to be </a:t>
            </a:r>
            <a:r>
              <a:rPr lang="en-US" altLang="zh-TW" b="1" dirty="0">
                <a:solidFill>
                  <a:srgbClr val="FF0000"/>
                </a:solidFill>
              </a:rPr>
              <a:t>stable</a:t>
            </a:r>
            <a:r>
              <a:rPr lang="en-US" altLang="zh-TW" dirty="0" smtClean="0"/>
              <a:t>.</a:t>
            </a:r>
          </a:p>
          <a:p>
            <a:pPr marL="0" indent="0" algn="just">
              <a:buNone/>
            </a:pPr>
            <a:r>
              <a:rPr lang="en-US" altLang="zh-TW" sz="18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(</a:t>
            </a:r>
            <a:r>
              <a:rPr lang="zh-TW" altLang="en-US" sz="18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公司</a:t>
            </a:r>
            <a:r>
              <a:rPr lang="zh-TW" altLang="en-US" sz="18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經營策略保持穩定，貫如以往，那麼公司與公司間的相關性會相對地穩定</a:t>
            </a:r>
            <a:r>
              <a:rPr lang="en-US" altLang="zh-TW" sz="18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 smtClean="0"/>
          </a:p>
          <a:p>
            <a:pPr algn="just"/>
            <a:endParaRPr lang="en-US" altLang="zh-TW" dirty="0" smtClean="0"/>
          </a:p>
          <a:p>
            <a:pPr algn="just"/>
            <a:r>
              <a:rPr lang="en-US" altLang="zh-TW" dirty="0">
                <a:solidFill>
                  <a:srgbClr val="0070C0"/>
                </a:solidFill>
              </a:rPr>
              <a:t>C</a:t>
            </a:r>
            <a:r>
              <a:rPr lang="en-US" altLang="zh-TW" dirty="0" smtClean="0">
                <a:solidFill>
                  <a:srgbClr val="0070C0"/>
                </a:solidFill>
              </a:rPr>
              <a:t>ompanies </a:t>
            </a:r>
            <a:r>
              <a:rPr lang="en-US" altLang="zh-TW" dirty="0">
                <a:solidFill>
                  <a:srgbClr val="0070C0"/>
                </a:solidFill>
              </a:rPr>
              <a:t>switch their </a:t>
            </a:r>
            <a:r>
              <a:rPr lang="en-US" altLang="zh-TW" dirty="0" smtClean="0">
                <a:solidFill>
                  <a:srgbClr val="0070C0"/>
                </a:solidFill>
              </a:rPr>
              <a:t>strategies more </a:t>
            </a:r>
            <a:r>
              <a:rPr lang="en-US" altLang="zh-TW" dirty="0">
                <a:solidFill>
                  <a:srgbClr val="0070C0"/>
                </a:solidFill>
              </a:rPr>
              <a:t>quickly</a:t>
            </a:r>
            <a:r>
              <a:rPr lang="en-US" altLang="zh-TW" dirty="0"/>
              <a:t>, two companies which had similar </a:t>
            </a:r>
            <a:r>
              <a:rPr lang="en-US" altLang="zh-TW" dirty="0" err="1"/>
              <a:t>behaviour</a:t>
            </a:r>
            <a:r>
              <a:rPr lang="en-US" altLang="zh-TW" dirty="0"/>
              <a:t> </a:t>
            </a:r>
            <a:r>
              <a:rPr lang="en-US" altLang="zh-TW" dirty="0" smtClean="0"/>
              <a:t>in the </a:t>
            </a:r>
            <a:r>
              <a:rPr lang="en-US" altLang="zh-TW" dirty="0"/>
              <a:t>previous year might have quite different </a:t>
            </a:r>
            <a:r>
              <a:rPr lang="en-US" altLang="zh-TW" dirty="0" err="1"/>
              <a:t>behaviour</a:t>
            </a:r>
            <a:r>
              <a:rPr lang="en-US" altLang="zh-TW" dirty="0"/>
              <a:t> in </a:t>
            </a:r>
            <a:r>
              <a:rPr lang="en-US" altLang="zh-TW" dirty="0" smtClean="0"/>
              <a:t>the next </a:t>
            </a:r>
            <a:r>
              <a:rPr lang="en-US" altLang="zh-TW" dirty="0"/>
              <a:t>year</a:t>
            </a:r>
            <a:r>
              <a:rPr lang="en-US" altLang="zh-TW" dirty="0" smtClean="0"/>
              <a:t>.</a:t>
            </a:r>
          </a:p>
          <a:p>
            <a:pPr marL="0" indent="0" algn="just">
              <a:buNone/>
            </a:pP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18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8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公司經營策略飄移不定、常更換，今年兩公司之間可能有高度相關性，明年相關性或許會有很大的變化</a:t>
            </a:r>
            <a:r>
              <a:rPr lang="en-US" altLang="zh-TW" sz="18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8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↓</a:t>
            </a:r>
            <a:r>
              <a:rPr lang="en-US" altLang="zh-TW" sz="18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?)</a:t>
            </a:r>
            <a:r>
              <a:rPr lang="zh-TW" altLang="en-US" sz="18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8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algn="just"/>
            <a:r>
              <a:rPr lang="en-US" altLang="zh-TW" dirty="0" smtClean="0"/>
              <a:t>In such markets, partial </a:t>
            </a:r>
            <a:r>
              <a:rPr lang="en-US" altLang="zh-TW" dirty="0"/>
              <a:t>correlation between </a:t>
            </a:r>
            <a:r>
              <a:rPr lang="en-US" altLang="zh-TW" dirty="0" smtClean="0"/>
              <a:t>stocks should </a:t>
            </a:r>
            <a:r>
              <a:rPr lang="en-US" altLang="zh-TW" dirty="0"/>
              <a:t>be more </a:t>
            </a:r>
            <a:r>
              <a:rPr lang="en-US" altLang="zh-TW" b="1" dirty="0">
                <a:solidFill>
                  <a:srgbClr val="FF0000"/>
                </a:solidFill>
              </a:rPr>
              <a:t>volatile</a:t>
            </a:r>
            <a:r>
              <a:rPr lang="en-US" altLang="zh-TW" dirty="0"/>
              <a:t>.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21972" y="5464769"/>
            <a:ext cx="7662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穩定性的意義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市場如果穩定，那麼股票之間的相關性才不會反覆無常、高低不定，這樣才能持續準確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利用相關性來找出股票市場中同漲跌的股票群體。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255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926" y="2014414"/>
            <a:ext cx="9522655" cy="2290886"/>
          </a:xfrm>
          <a:prstGeom prst="rect">
            <a:avLst/>
          </a:prstGeom>
        </p:spPr>
      </p:pic>
      <p:cxnSp>
        <p:nvCxnSpPr>
          <p:cNvPr id="6" name="直線接點 5"/>
          <p:cNvCxnSpPr/>
          <p:nvPr/>
        </p:nvCxnSpPr>
        <p:spPr>
          <a:xfrm>
            <a:off x="2413000" y="2387600"/>
            <a:ext cx="4368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4241067" y="4582440"/>
                <a:ext cx="646367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Z</a:t>
                </a:r>
                <a:r>
                  <a:rPr lang="zh-TW" altLang="en-US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股票對於</a:t>
                </a:r>
                <a:r>
                  <a:rPr lang="en-US" altLang="zh-TW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X</a:t>
                </a:r>
                <a:r>
                  <a:rPr lang="zh-TW" altLang="en-US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股票與其餘股票的平均影響程度</a:t>
                </a:r>
                <a:r>
                  <a:rPr lang="en-US" altLang="zh-TW" sz="15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(</a:t>
                </a:r>
                <a:r>
                  <a:rPr lang="zh-TW" altLang="en-US" sz="15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平均相關性</a:t>
                </a:r>
                <a:r>
                  <a:rPr lang="en-US" altLang="zh-TW" sz="15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</a:p>
              <a:p>
                <a:r>
                  <a:rPr lang="zh-TW" altLang="en-US" b="1" u="sng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說明</a:t>
                </a:r>
                <a:r>
                  <a:rPr lang="zh-TW" altLang="en-US" b="1" u="sng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</a:t>
                </a:r>
                <a:endParaRPr lang="en-US" altLang="zh-TW" b="1" u="sng" dirty="0" smtClean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en-US" altLang="zh-TW" i="1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d(</a:t>
                </a:r>
                <a:r>
                  <a:rPr lang="en-US" altLang="zh-TW" i="1" dirty="0" err="1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X,a:Z</a:t>
                </a:r>
                <a:r>
                  <a:rPr lang="en-US" altLang="zh-TW" i="1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</a:p>
              <a:p>
                <a:r>
                  <a:rPr lang="en-US" altLang="zh-TW" i="1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d</a:t>
                </a:r>
                <a:r>
                  <a:rPr lang="en-US" altLang="zh-TW" i="1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(</a:t>
                </a:r>
                <a:r>
                  <a:rPr lang="en-US" altLang="zh-TW" i="1" dirty="0" err="1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X,b:Z</a:t>
                </a:r>
                <a:r>
                  <a:rPr lang="en-US" altLang="zh-TW" i="1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</a:p>
              <a:p>
                <a:r>
                  <a:rPr lang="en-US" altLang="zh-TW" i="1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d(</a:t>
                </a:r>
                <a:r>
                  <a:rPr lang="en-US" altLang="zh-TW" i="1" dirty="0" err="1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X,c:Z</a:t>
                </a:r>
                <a:r>
                  <a:rPr lang="en-US" altLang="zh-TW" i="1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 </m:t>
                      </m:r>
                      <m:r>
                        <a:rPr lang="zh-TW" alt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⋮</m:t>
                      </m:r>
                    </m:oMath>
                  </m:oMathPara>
                </a14:m>
                <a:endParaRPr lang="en-US" altLang="zh-TW" dirty="0" smtClean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zh-TW" altLang="en-US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全部加總作平均得到</a:t>
                </a:r>
                <a:r>
                  <a:rPr lang="en-US" altLang="zh-TW" i="1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d(X:Z)     </a:t>
                </a:r>
                <a:r>
                  <a:rPr lang="en-US" altLang="zh-TW" sz="13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(</a:t>
                </a:r>
                <a:r>
                  <a:rPr lang="en-US" altLang="zh-TW" sz="1300" dirty="0" err="1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p.s</a:t>
                </a:r>
                <a:r>
                  <a:rPr lang="en-US" altLang="zh-TW" sz="13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:</a:t>
                </a:r>
                <a:r>
                  <a:rPr lang="zh-TW" altLang="en-US" sz="13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僅討論一個Ｚ的情況</a:t>
                </a:r>
                <a:r>
                  <a:rPr lang="en-US" altLang="zh-TW" sz="13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endParaRPr lang="zh-TW" altLang="en-US" sz="1300" dirty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067" y="4582440"/>
                <a:ext cx="6463671" cy="2031325"/>
              </a:xfrm>
              <a:prstGeom prst="rect">
                <a:avLst/>
              </a:prstGeom>
              <a:blipFill rotWithShape="0">
                <a:blip r:embed="rId3"/>
                <a:stretch>
                  <a:fillRect l="-849" t="-1502" b="-42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弧形接點 7"/>
          <p:cNvCxnSpPr/>
          <p:nvPr/>
        </p:nvCxnSpPr>
        <p:spPr>
          <a:xfrm rot="16200000" flipH="1">
            <a:off x="3492507" y="4197437"/>
            <a:ext cx="672925" cy="506511"/>
          </a:xfrm>
          <a:prstGeom prst="curvedConnector3">
            <a:avLst>
              <a:gd name="adj1" fmla="val 1007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49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02" y="418085"/>
            <a:ext cx="8903804" cy="1827317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425002" y="3265028"/>
            <a:ext cx="1121749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2000" b="1" dirty="0">
                <a:solidFill>
                  <a:srgbClr val="00B0F0"/>
                </a:solidFill>
              </a:rPr>
              <a:t>　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We </a:t>
            </a:r>
            <a:r>
              <a:rPr lang="en-US" altLang="zh-TW" sz="2000" b="1" dirty="0">
                <a:solidFill>
                  <a:srgbClr val="0070C0"/>
                </a:solidFill>
              </a:rPr>
              <a:t>rank the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stocks by </a:t>
            </a:r>
            <a:r>
              <a:rPr lang="en-US" altLang="zh-TW" sz="2000" b="1" dirty="0">
                <a:solidFill>
                  <a:srgbClr val="0070C0"/>
                </a:solidFill>
              </a:rPr>
              <a:t>their </a:t>
            </a:r>
            <a:r>
              <a:rPr lang="en-US" altLang="zh-TW" sz="2000" b="1" i="1" dirty="0">
                <a:solidFill>
                  <a:srgbClr val="0070C0"/>
                </a:solidFill>
              </a:rPr>
              <a:t>d(X) </a:t>
            </a:r>
            <a:r>
              <a:rPr lang="en-US" altLang="zh-TW" sz="2000" b="1" dirty="0">
                <a:solidFill>
                  <a:srgbClr val="0070C0"/>
                </a:solidFill>
              </a:rPr>
              <a:t>values</a:t>
            </a:r>
            <a:r>
              <a:rPr lang="en-US" altLang="zh-TW" sz="2000" dirty="0"/>
              <a:t>, which we consider as a </a:t>
            </a:r>
            <a:r>
              <a:rPr lang="en-US" altLang="zh-TW" sz="2000" dirty="0" smtClean="0"/>
              <a:t>representation of </a:t>
            </a:r>
            <a:r>
              <a:rPr lang="en-US" altLang="zh-TW" sz="2000" dirty="0"/>
              <a:t>the structure of the market. By </a:t>
            </a:r>
            <a:r>
              <a:rPr lang="en-US" altLang="zh-TW" sz="2000" dirty="0">
                <a:solidFill>
                  <a:srgbClr val="0070C0"/>
                </a:solidFill>
              </a:rPr>
              <a:t>dividing the 11-year </a:t>
            </a:r>
            <a:r>
              <a:rPr lang="en-US" altLang="zh-TW" sz="2000" dirty="0" smtClean="0">
                <a:solidFill>
                  <a:srgbClr val="0070C0"/>
                </a:solidFill>
              </a:rPr>
              <a:t>period into </a:t>
            </a:r>
            <a:r>
              <a:rPr lang="en-US" altLang="zh-TW" sz="2000" dirty="0">
                <a:solidFill>
                  <a:srgbClr val="0070C0"/>
                </a:solidFill>
              </a:rPr>
              <a:t>44 quarterly periods, </a:t>
            </a:r>
            <a:r>
              <a:rPr lang="en-US" altLang="zh-TW" sz="2000" b="1" dirty="0">
                <a:solidFill>
                  <a:srgbClr val="0070C0"/>
                </a:solidFill>
              </a:rPr>
              <a:t>we can compare similarity 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of the </a:t>
            </a:r>
            <a:r>
              <a:rPr lang="en-US" altLang="zh-TW" sz="2000" b="1" dirty="0">
                <a:solidFill>
                  <a:srgbClr val="0070C0"/>
                </a:solidFill>
              </a:rPr>
              <a:t>market structures (ranking of stocks) in different years</a:t>
            </a:r>
            <a:r>
              <a:rPr lang="en-US" altLang="zh-TW" sz="2000" b="1" dirty="0" smtClean="0">
                <a:solidFill>
                  <a:srgbClr val="0070C0"/>
                </a:solidFill>
              </a:rPr>
              <a:t>.</a:t>
            </a:r>
          </a:p>
          <a:p>
            <a:pPr algn="just"/>
            <a:endParaRPr lang="en-US" altLang="zh-TW" sz="2000" b="1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r>
              <a:rPr lang="en-US" altLang="zh-TW" sz="20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</a:t>
            </a:r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利用</a:t>
            </a:r>
            <a:r>
              <a:rPr lang="en-US" altLang="zh-TW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〝</a:t>
            </a:r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各股票對其餘股票之平均影響力</a:t>
            </a:r>
            <a:r>
              <a:rPr lang="en-US" altLang="zh-TW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〞</a:t>
            </a:r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來作排序，然後可利用此結果來比較不同年份市場結構的相似性</a:t>
            </a:r>
            <a:endParaRPr lang="en-US" altLang="zh-TW" b="1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endParaRPr lang="en-US" altLang="zh-TW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r>
              <a:rPr lang="zh-TW" altLang="en-US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接下來利用</a:t>
            </a:r>
            <a:r>
              <a:rPr lang="en-US" altLang="zh-TW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Kendall </a:t>
            </a:r>
            <a:r>
              <a:rPr lang="en-US" altLang="zh-TW" b="1" i="1" dirty="0" smtClean="0">
                <a:solidFill>
                  <a:srgbClr val="FF0000"/>
                </a:solidFill>
                <a:latin typeface="Cambria" panose="02040503050406030204" pitchFamily="18" charset="0"/>
                <a:ea typeface="Microsoft YaHei UI" panose="020B0503020204020204" pitchFamily="34" charset="-122"/>
              </a:rPr>
              <a:t>τ </a:t>
            </a:r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來計算經</a:t>
            </a:r>
            <a:r>
              <a:rPr lang="en-US" altLang="zh-TW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rank</a:t>
            </a:r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過的兩條序列相似性</a:t>
            </a:r>
            <a:r>
              <a:rPr lang="en-US" altLang="zh-TW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市場結構相似性</a:t>
            </a:r>
            <a:r>
              <a:rPr lang="en-US" altLang="zh-TW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/>
              <p:cNvSpPr txBox="1"/>
              <p:nvPr/>
            </p:nvSpPr>
            <p:spPr>
              <a:xfrm>
                <a:off x="6967468" y="956704"/>
                <a:ext cx="494702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股票</a:t>
                </a:r>
                <a:r>
                  <a:rPr lang="zh-TW" altLang="en-US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Ｘ</a:t>
                </a:r>
                <a:r>
                  <a:rPr lang="zh-TW" altLang="en-US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對於其餘股票的平均影響程度</a:t>
                </a:r>
                <a:endParaRPr lang="en-US" altLang="zh-TW" dirty="0" smtClean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en-US" altLang="zh-TW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(</a:t>
                </a:r>
                <a:r>
                  <a:rPr lang="zh-TW" altLang="en-US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股票Ｘ與其餘具有相關之股票的平均相關性</a:t>
                </a:r>
                <a:r>
                  <a:rPr lang="en-US" altLang="zh-TW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</a:p>
              <a:p>
                <a:r>
                  <a:rPr lang="zh-TW" altLang="en-US" b="1" u="sng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說明：</a:t>
                </a:r>
                <a:r>
                  <a:rPr lang="en-US" altLang="zh-TW" sz="13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(</a:t>
                </a:r>
                <a:r>
                  <a:rPr lang="en-US" altLang="zh-TW" sz="1300" dirty="0" err="1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p.s</a:t>
                </a:r>
                <a:r>
                  <a:rPr lang="en-US" altLang="zh-TW" sz="1300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:</a:t>
                </a:r>
                <a:r>
                  <a:rPr lang="zh-TW" altLang="en-US" sz="13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討論多個Ｚ的情況</a:t>
                </a:r>
                <a:r>
                  <a:rPr lang="en-US" altLang="zh-TW" sz="13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endParaRPr lang="en-US" altLang="zh-TW" sz="1300" b="1" u="sng" dirty="0" smtClean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en-US" altLang="zh-TW" i="1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d(</a:t>
                </a:r>
                <a:r>
                  <a:rPr lang="en-US" altLang="zh-TW" i="1" dirty="0" err="1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X:a</a:t>
                </a:r>
                <a:r>
                  <a:rPr lang="en-US" altLang="zh-TW" i="1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</a:p>
              <a:p>
                <a:r>
                  <a:rPr lang="en-US" altLang="zh-TW" i="1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d(</a:t>
                </a:r>
                <a:r>
                  <a:rPr lang="en-US" altLang="zh-TW" i="1" dirty="0" err="1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X:b</a:t>
                </a:r>
                <a:r>
                  <a:rPr lang="en-US" altLang="zh-TW" i="1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</a:p>
              <a:p>
                <a:r>
                  <a:rPr lang="en-US" altLang="zh-TW" i="1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d</a:t>
                </a:r>
                <a:r>
                  <a:rPr lang="en-US" altLang="zh-TW" i="1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(</a:t>
                </a:r>
                <a:r>
                  <a:rPr lang="en-US" altLang="zh-TW" i="1" dirty="0" err="1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X:c</a:t>
                </a:r>
                <a:r>
                  <a:rPr lang="en-US" altLang="zh-TW" i="1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 </m:t>
                      </m:r>
                      <m:r>
                        <a:rPr lang="zh-TW" alt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標楷體" panose="03000509000000000000" pitchFamily="65" charset="-120"/>
                        </a:rPr>
                        <m:t>⋮</m:t>
                      </m:r>
                    </m:oMath>
                  </m:oMathPara>
                </a14:m>
                <a:endParaRPr lang="en-US" altLang="zh-TW" dirty="0" smtClean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zh-TW" altLang="en-US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全部加總平均得到</a:t>
                </a:r>
                <a:r>
                  <a:rPr lang="en-US" altLang="zh-TW" i="1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d(X)</a:t>
                </a:r>
                <a:endParaRPr lang="en-US" altLang="zh-TW" dirty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7468" y="956704"/>
                <a:ext cx="4947027" cy="2308324"/>
              </a:xfrm>
              <a:prstGeom prst="rect">
                <a:avLst/>
              </a:prstGeom>
              <a:blipFill rotWithShape="0">
                <a:blip r:embed="rId3"/>
                <a:stretch>
                  <a:fillRect l="-1110" t="-1319" b="-34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向右箭號 2"/>
          <p:cNvSpPr/>
          <p:nvPr/>
        </p:nvSpPr>
        <p:spPr>
          <a:xfrm>
            <a:off x="519990" y="4597758"/>
            <a:ext cx="257577" cy="15454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767515"/>
              </p:ext>
            </p:extLst>
          </p:nvPr>
        </p:nvGraphicFramePr>
        <p:xfrm>
          <a:off x="8867103" y="5062751"/>
          <a:ext cx="244126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226"/>
                <a:gridCol w="418260"/>
                <a:gridCol w="418260"/>
                <a:gridCol w="418260"/>
                <a:gridCol w="41826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000" dirty="0" smtClean="0">
                          <a:latin typeface="Cambria" panose="02040503050406030204" pitchFamily="18" charset="0"/>
                        </a:rPr>
                        <a:t>y\stocks</a:t>
                      </a:r>
                      <a:endParaRPr lang="zh-TW" altLang="en-US" sz="1000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" panose="02040503050406030204" pitchFamily="18" charset="0"/>
                        </a:rPr>
                        <a:t>A</a:t>
                      </a:r>
                      <a:endParaRPr lang="zh-TW" alt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" panose="02040503050406030204" pitchFamily="18" charset="0"/>
                        </a:rPr>
                        <a:t>B</a:t>
                      </a:r>
                      <a:endParaRPr lang="zh-TW" alt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" panose="02040503050406030204" pitchFamily="18" charset="0"/>
                        </a:rPr>
                        <a:t>C</a:t>
                      </a:r>
                      <a:endParaRPr lang="zh-TW" alt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Cambria" panose="02040503050406030204" pitchFamily="18" charset="0"/>
                        </a:rPr>
                        <a:t>D</a:t>
                      </a:r>
                      <a:endParaRPr lang="zh-TW" altLang="en-US" dirty="0">
                        <a:latin typeface="Cambria" panose="02040503050406030204" pitchFamily="18" charset="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第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 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第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年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7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5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向右箭號 8"/>
          <p:cNvSpPr/>
          <p:nvPr/>
        </p:nvSpPr>
        <p:spPr>
          <a:xfrm>
            <a:off x="519990" y="5137640"/>
            <a:ext cx="257577" cy="15454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9646275" y="5808372"/>
            <a:ext cx="373488" cy="366899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8355918" y="6329030"/>
            <a:ext cx="346363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3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造成兩序列同質性降低</a:t>
            </a:r>
            <a:endParaRPr lang="en-US" altLang="zh-TW" sz="1300" dirty="0" smtClean="0">
              <a:solidFill>
                <a:srgbClr val="FFC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3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3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sz="13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13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年</a:t>
            </a:r>
            <a:r>
              <a:rPr lang="en-US" altLang="zh-TW" sz="13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</a:t>
            </a:r>
            <a:r>
              <a:rPr lang="zh-TW" altLang="en-US" sz="13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股票與其餘股票的平均影響程度</a:t>
            </a:r>
            <a:r>
              <a:rPr lang="en-US" altLang="zh-TW" sz="13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1300" dirty="0">
              <a:solidFill>
                <a:srgbClr val="FFC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7" name="弧形接點 16"/>
          <p:cNvCxnSpPr/>
          <p:nvPr/>
        </p:nvCxnSpPr>
        <p:spPr>
          <a:xfrm rot="10800000" flipV="1">
            <a:off x="9089623" y="6074748"/>
            <a:ext cx="553382" cy="25428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90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405" y="433153"/>
            <a:ext cx="10515600" cy="981075"/>
          </a:xfrm>
        </p:spPr>
        <p:txBody>
          <a:bodyPr/>
          <a:lstStyle/>
          <a:p>
            <a:r>
              <a:rPr lang="en-US" altLang="zh-TW" dirty="0">
                <a:latin typeface="Cambria" panose="02040503050406030204" pitchFamily="18" charset="0"/>
                <a:ea typeface="Microsoft YaHei UI" panose="020B0503020204020204" pitchFamily="34" charset="-122"/>
              </a:rPr>
              <a:t>The </a:t>
            </a:r>
            <a:r>
              <a:rPr lang="en-US" altLang="zh-TW" dirty="0" smtClean="0">
                <a:latin typeface="Cambria" panose="02040503050406030204" pitchFamily="18" charset="0"/>
                <a:ea typeface="Microsoft YaHei UI" panose="020B0503020204020204" pitchFamily="34" charset="-122"/>
              </a:rPr>
              <a:t>Kendall </a:t>
            </a:r>
            <a:r>
              <a:rPr lang="en-US" altLang="zh-TW" i="1" dirty="0" smtClean="0">
                <a:latin typeface="Cambria" panose="02040503050406030204" pitchFamily="18" charset="0"/>
                <a:ea typeface="Microsoft YaHei UI" panose="020B0503020204020204" pitchFamily="34" charset="-122"/>
              </a:rPr>
              <a:t>τ </a:t>
            </a:r>
            <a:r>
              <a:rPr lang="en-US" altLang="zh-TW" dirty="0">
                <a:latin typeface="Cambria" panose="02040503050406030204" pitchFamily="18" charset="0"/>
                <a:ea typeface="Microsoft YaHei UI" panose="020B0503020204020204" pitchFamily="34" charset="-122"/>
              </a:rPr>
              <a:t>coefficient is defined as</a:t>
            </a:r>
            <a:endParaRPr lang="zh-TW" altLang="en-US" dirty="0">
              <a:latin typeface="Cambria" panose="02040503050406030204" pitchFamily="18" charset="0"/>
              <a:ea typeface="Microsoft YaHei UI" panose="020B0503020204020204" pitchFamily="34" charset="-122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405" y="1380214"/>
            <a:ext cx="9376096" cy="2806700"/>
          </a:xfrm>
          <a:prstGeom prst="rect">
            <a:avLst/>
          </a:prstGeom>
        </p:spPr>
      </p:pic>
      <p:cxnSp>
        <p:nvCxnSpPr>
          <p:cNvPr id="6" name="直線接點 5"/>
          <p:cNvCxnSpPr/>
          <p:nvPr/>
        </p:nvCxnSpPr>
        <p:spPr>
          <a:xfrm>
            <a:off x="1648678" y="3232060"/>
            <a:ext cx="5672425" cy="1341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5215453" y="3695700"/>
            <a:ext cx="4443702" cy="53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521596" y="4135399"/>
            <a:ext cx="321327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群組 49"/>
          <p:cNvGrpSpPr/>
          <p:nvPr/>
        </p:nvGrpSpPr>
        <p:grpSpPr>
          <a:xfrm>
            <a:off x="3125814" y="1053813"/>
            <a:ext cx="2263283" cy="521571"/>
            <a:chOff x="3125814" y="1053813"/>
            <a:chExt cx="2263283" cy="521571"/>
          </a:xfrm>
        </p:grpSpPr>
        <p:sp>
          <p:nvSpPr>
            <p:cNvPr id="2" name="文字方塊 1"/>
            <p:cNvSpPr txBox="1"/>
            <p:nvPr/>
          </p:nvSpPr>
          <p:spPr>
            <a:xfrm>
              <a:off x="3280360" y="1053813"/>
              <a:ext cx="2108737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300" dirty="0" smtClean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同為遞增或遞減</a:t>
              </a:r>
              <a:endParaRPr lang="zh-TW" altLang="en-US" sz="13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7" name="弧形接點 6"/>
            <p:cNvCxnSpPr/>
            <p:nvPr/>
          </p:nvCxnSpPr>
          <p:spPr>
            <a:xfrm rot="5400000" flipH="1" flipV="1">
              <a:off x="3041929" y="1336954"/>
              <a:ext cx="322315" cy="154546"/>
            </a:xfrm>
            <a:prstGeom prst="curvedConnector3">
              <a:avLst>
                <a:gd name="adj1" fmla="val 85962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群組 50"/>
          <p:cNvGrpSpPr/>
          <p:nvPr/>
        </p:nvGrpSpPr>
        <p:grpSpPr>
          <a:xfrm>
            <a:off x="7257603" y="1058190"/>
            <a:ext cx="3099694" cy="453128"/>
            <a:chOff x="7257603" y="1058190"/>
            <a:chExt cx="3099694" cy="453128"/>
          </a:xfrm>
        </p:grpSpPr>
        <p:sp>
          <p:nvSpPr>
            <p:cNvPr id="9" name="文字方塊 8"/>
            <p:cNvSpPr txBox="1"/>
            <p:nvPr/>
          </p:nvSpPr>
          <p:spPr>
            <a:xfrm>
              <a:off x="7384603" y="1058190"/>
              <a:ext cx="2972694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300" dirty="0" smtClean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一者為遞增，則另為遞減。反之亦然</a:t>
              </a:r>
              <a:endParaRPr lang="zh-TW" altLang="en-US" sz="13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12" name="弧形接點 11"/>
            <p:cNvCxnSpPr/>
            <p:nvPr/>
          </p:nvCxnSpPr>
          <p:spPr>
            <a:xfrm rot="5400000" flipH="1" flipV="1">
              <a:off x="7215544" y="1342259"/>
              <a:ext cx="211118" cy="127000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矩形 18"/>
          <p:cNvSpPr/>
          <p:nvPr/>
        </p:nvSpPr>
        <p:spPr>
          <a:xfrm>
            <a:off x="114471" y="4287140"/>
            <a:ext cx="825867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500" b="0" cap="none" spc="0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範例</a:t>
            </a:r>
            <a:endParaRPr lang="zh-TW" altLang="en-US" sz="2500" b="0" cap="none" spc="0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371144"/>
              </p:ext>
            </p:extLst>
          </p:nvPr>
        </p:nvGraphicFramePr>
        <p:xfrm>
          <a:off x="114472" y="4973012"/>
          <a:ext cx="3594644" cy="1334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924"/>
                <a:gridCol w="526944"/>
                <a:gridCol w="526944"/>
                <a:gridCol w="526944"/>
                <a:gridCol w="526944"/>
                <a:gridCol w="526944"/>
              </a:tblGrid>
              <a:tr h="44473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 smtClean="0"/>
                        <a:t>季</a:t>
                      </a:r>
                      <a:r>
                        <a:rPr lang="en-US" altLang="zh-TW" sz="1600" dirty="0" smtClean="0"/>
                        <a:t>\</a:t>
                      </a:r>
                      <a:r>
                        <a:rPr lang="zh-TW" altLang="en-US" sz="1600" dirty="0" smtClean="0"/>
                        <a:t>股票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A</a:t>
                      </a:r>
                      <a:endParaRPr lang="zh-TW" altLang="en-US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B</a:t>
                      </a:r>
                      <a:endParaRPr lang="zh-TW" altLang="en-US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C</a:t>
                      </a:r>
                      <a:endParaRPr lang="zh-TW" altLang="en-US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D</a:t>
                      </a:r>
                      <a:endParaRPr lang="zh-TW" altLang="en-US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Microsoft YaHei UI" panose="020B0503020204020204" pitchFamily="34" charset="-122"/>
                          <a:ea typeface="Microsoft YaHei UI" panose="020B0503020204020204" pitchFamily="34" charset="-122"/>
                        </a:rPr>
                        <a:t>E</a:t>
                      </a:r>
                      <a:endParaRPr lang="zh-TW" altLang="en-US" dirty="0"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anchor="ctr"/>
                </a:tc>
              </a:tr>
              <a:tr h="44473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第一季</a:t>
                      </a:r>
                      <a:endParaRPr lang="zh-TW" altLang="en-US" sz="15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4473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5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第二季</a:t>
                      </a:r>
                      <a:endParaRPr lang="zh-TW" altLang="en-US" sz="15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1" name="矩形 20"/>
          <p:cNvSpPr/>
          <p:nvPr/>
        </p:nvSpPr>
        <p:spPr>
          <a:xfrm>
            <a:off x="4084640" y="4572325"/>
            <a:ext cx="5072060" cy="18620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TW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zh-TW" altLang="en-US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：</a:t>
            </a:r>
            <a:r>
              <a:rPr lang="en-US" altLang="zh-TW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-1-1+1+1 = 0</a:t>
            </a:r>
          </a:p>
          <a:p>
            <a:r>
              <a:rPr lang="en-US" altLang="zh-TW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zh-TW" altLang="en-US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：</a:t>
            </a:r>
            <a:r>
              <a:rPr lang="en-US" altLang="zh-TW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-1+1+1    = 1</a:t>
            </a:r>
          </a:p>
          <a:p>
            <a:r>
              <a:rPr lang="en-US" altLang="zh-TW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</a:t>
            </a:r>
            <a:r>
              <a:rPr lang="zh-TW" altLang="en-US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：</a:t>
            </a:r>
            <a:r>
              <a:rPr lang="en-US" altLang="zh-TW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+1-1        = 0</a:t>
            </a:r>
          </a:p>
          <a:p>
            <a:r>
              <a:rPr lang="en-US" altLang="zh-TW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lang="zh-TW" altLang="en-US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：</a:t>
            </a:r>
            <a:r>
              <a:rPr lang="en-US" altLang="zh-TW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+1           = 1</a:t>
            </a:r>
          </a:p>
          <a:p>
            <a:r>
              <a:rPr lang="en-US" altLang="zh-TW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r>
              <a:rPr lang="zh-TW" altLang="en-US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：</a:t>
            </a:r>
            <a:r>
              <a:rPr lang="en-US" altLang="zh-TW" sz="23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</a:t>
            </a:r>
            <a:endParaRPr lang="zh-TW" altLang="en-US" sz="23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向右箭號 25"/>
          <p:cNvSpPr/>
          <p:nvPr/>
        </p:nvSpPr>
        <p:spPr>
          <a:xfrm>
            <a:off x="7051459" y="5180355"/>
            <a:ext cx="499682" cy="239186"/>
          </a:xfrm>
          <a:prstGeom prst="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0" name="群組 29"/>
          <p:cNvGrpSpPr/>
          <p:nvPr/>
        </p:nvGrpSpPr>
        <p:grpSpPr>
          <a:xfrm>
            <a:off x="7731445" y="4371853"/>
            <a:ext cx="2172056" cy="1950767"/>
            <a:chOff x="8870950" y="4287140"/>
            <a:chExt cx="2172056" cy="19507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/>
                <p:cNvSpPr txBox="1"/>
                <p:nvPr/>
              </p:nvSpPr>
              <p:spPr>
                <a:xfrm>
                  <a:off x="9246039" y="4756698"/>
                  <a:ext cx="1796967" cy="7421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0+1+0+1+0</m:t>
                            </m:r>
                          </m:num>
                          <m:den>
                            <m:f>
                              <m:f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∗5(5−1)</m:t>
                            </m:r>
                          </m:den>
                        </m:f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2" name="文字方塊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6039" y="4756698"/>
                  <a:ext cx="1796967" cy="742126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字方塊 26"/>
            <p:cNvSpPr txBox="1"/>
            <p:nvPr/>
          </p:nvSpPr>
          <p:spPr>
            <a:xfrm>
              <a:off x="8870950" y="4287140"/>
              <a:ext cx="1354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>
                  <a:latin typeface="Cambria" panose="02040503050406030204" pitchFamily="18" charset="0"/>
                </a:rPr>
                <a:t>Kendall </a:t>
              </a:r>
              <a:r>
                <a:rPr lang="en-US" altLang="zh-TW" i="1" dirty="0" smtClean="0">
                  <a:latin typeface="Cambria" panose="02040503050406030204" pitchFamily="18" charset="0"/>
                  <a:ea typeface="Microsoft YaHei UI" panose="020B0503020204020204" pitchFamily="34" charset="-122"/>
                </a:rPr>
                <a:t>τ</a:t>
              </a:r>
              <a:r>
                <a:rPr lang="zh-TW" altLang="en-US" dirty="0" smtClean="0">
                  <a:latin typeface="Cambria" panose="02040503050406030204" pitchFamily="18" charset="0"/>
                  <a:ea typeface="Microsoft YaHei UI" panose="020B0503020204020204" pitchFamily="34" charset="-122"/>
                </a:rPr>
                <a:t>：</a:t>
              </a:r>
              <a:endParaRPr lang="zh-TW" altLang="en-US" dirty="0">
                <a:latin typeface="Cambria" panose="020405030504060302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/>
                <p:cNvSpPr txBox="1"/>
                <p:nvPr/>
              </p:nvSpPr>
              <p:spPr>
                <a:xfrm>
                  <a:off x="9246039" y="5839209"/>
                  <a:ext cx="22602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8" name="文字方塊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6039" y="5839209"/>
                  <a:ext cx="226024" cy="2769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3514" r="-810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/>
                <p:cNvSpPr txBox="1"/>
                <p:nvPr/>
              </p:nvSpPr>
              <p:spPr>
                <a:xfrm>
                  <a:off x="9700475" y="5717508"/>
                  <a:ext cx="309379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9" name="文字方塊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0475" y="5717508"/>
                  <a:ext cx="309379" cy="5203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橢圓 30"/>
          <p:cNvSpPr/>
          <p:nvPr/>
        </p:nvSpPr>
        <p:spPr>
          <a:xfrm>
            <a:off x="1141656" y="5436026"/>
            <a:ext cx="373307" cy="3566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1649785" y="5436026"/>
            <a:ext cx="373307" cy="3566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/>
          <p:cNvSpPr/>
          <p:nvPr/>
        </p:nvSpPr>
        <p:spPr>
          <a:xfrm>
            <a:off x="1141656" y="5895741"/>
            <a:ext cx="373307" cy="3566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649785" y="5897111"/>
            <a:ext cx="373307" cy="3566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2171543" y="5436026"/>
            <a:ext cx="373307" cy="3566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2171543" y="5897111"/>
            <a:ext cx="373307" cy="3566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/>
          <p:cNvSpPr/>
          <p:nvPr/>
        </p:nvSpPr>
        <p:spPr>
          <a:xfrm>
            <a:off x="2711207" y="5434109"/>
            <a:ext cx="373307" cy="3566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2711207" y="5895206"/>
            <a:ext cx="373307" cy="3566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/>
          <p:cNvSpPr/>
          <p:nvPr/>
        </p:nvSpPr>
        <p:spPr>
          <a:xfrm>
            <a:off x="3257930" y="5434109"/>
            <a:ext cx="373307" cy="3566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3257929" y="5895206"/>
            <a:ext cx="373307" cy="3566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5" name="群組 44"/>
          <p:cNvGrpSpPr/>
          <p:nvPr/>
        </p:nvGrpSpPr>
        <p:grpSpPr>
          <a:xfrm>
            <a:off x="8578815" y="80851"/>
            <a:ext cx="3508759" cy="923330"/>
            <a:chOff x="8578815" y="80851"/>
            <a:chExt cx="3508759" cy="923330"/>
          </a:xfrm>
        </p:grpSpPr>
        <p:sp>
          <p:nvSpPr>
            <p:cNvPr id="41" name="文字方塊 40"/>
            <p:cNvSpPr txBox="1"/>
            <p:nvPr/>
          </p:nvSpPr>
          <p:spPr>
            <a:xfrm>
              <a:off x="8578815" y="80851"/>
              <a:ext cx="350875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 smtClean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１：</a:t>
              </a:r>
              <a:r>
                <a:rPr lang="en-US" altLang="zh-TW" dirty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the same</a:t>
              </a:r>
            </a:p>
            <a:p>
              <a:r>
                <a:rPr lang="en-US" altLang="zh-TW" dirty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0</a:t>
              </a:r>
              <a:r>
                <a:rPr lang="zh-TW" altLang="en-US" dirty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：</a:t>
              </a:r>
              <a:r>
                <a:rPr lang="en-US" altLang="zh-TW" dirty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independent</a:t>
              </a:r>
            </a:p>
            <a:p>
              <a:r>
                <a:rPr lang="en-US" altLang="zh-TW" dirty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-1</a:t>
              </a:r>
              <a:r>
                <a:rPr lang="zh-TW" altLang="en-US" dirty="0" smtClean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：</a:t>
              </a:r>
              <a:r>
                <a:rPr lang="en-US" altLang="zh-TW" dirty="0" smtClean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two rankings are discordant.</a:t>
              </a:r>
              <a:endParaRPr lang="zh-TW" altLang="en-US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" panose="02040503050406030204" pitchFamily="18" charset="0"/>
                <a:ea typeface="標楷體" panose="03000509000000000000" pitchFamily="65" charset="-120"/>
                <a:cs typeface="Tahoma" panose="020B0604030504040204" pitchFamily="34" charset="0"/>
              </a:endParaRPr>
            </a:p>
          </p:txBody>
        </p:sp>
        <p:sp>
          <p:nvSpPr>
            <p:cNvPr id="44" name="左右括弧 43"/>
            <p:cNvSpPr/>
            <p:nvPr/>
          </p:nvSpPr>
          <p:spPr>
            <a:xfrm>
              <a:off x="8578815" y="92768"/>
              <a:ext cx="3461943" cy="865196"/>
            </a:xfrm>
            <a:prstGeom prst="bracketPair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6263014" y="2304490"/>
            <a:ext cx="2893686" cy="307777"/>
            <a:chOff x="6263014" y="2304490"/>
            <a:chExt cx="2893686" cy="307777"/>
          </a:xfrm>
        </p:grpSpPr>
        <p:sp>
          <p:nvSpPr>
            <p:cNvPr id="46" name="文字方塊 45"/>
            <p:cNvSpPr txBox="1"/>
            <p:nvPr/>
          </p:nvSpPr>
          <p:spPr>
            <a:xfrm>
              <a:off x="6906420" y="2304490"/>
              <a:ext cx="22502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300" dirty="0" smtClean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計算</a:t>
              </a:r>
              <a:r>
                <a:rPr lang="en-US" altLang="zh-TW" sz="1300" dirty="0" smtClean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Kendall </a:t>
              </a:r>
              <a:r>
                <a:rPr lang="en-US" altLang="zh-TW" sz="1400" i="1" dirty="0" smtClean="0">
                  <a:solidFill>
                    <a:srgbClr val="0070C0"/>
                  </a:solidFill>
                  <a:latin typeface="Cambria" panose="02040503050406030204" pitchFamily="18" charset="0"/>
                  <a:ea typeface="Microsoft YaHei UI" panose="020B0503020204020204" pitchFamily="34" charset="-122"/>
                </a:rPr>
                <a:t>τ</a:t>
              </a:r>
              <a:r>
                <a:rPr lang="zh-TW" altLang="en-US" sz="1400" dirty="0" smtClean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的所有次</a:t>
              </a:r>
              <a:r>
                <a:rPr lang="zh-TW" altLang="en-US" sz="1400" dirty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數</a:t>
              </a:r>
              <a:endParaRPr lang="zh-TW" altLang="en-US" sz="13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cxnSp>
          <p:nvCxnSpPr>
            <p:cNvPr id="48" name="弧形接點 47"/>
            <p:cNvCxnSpPr>
              <a:endCxn id="46" idx="1"/>
            </p:cNvCxnSpPr>
            <p:nvPr/>
          </p:nvCxnSpPr>
          <p:spPr>
            <a:xfrm>
              <a:off x="6263014" y="2318115"/>
              <a:ext cx="643406" cy="140264"/>
            </a:xfrm>
            <a:prstGeom prst="curvedConnector3">
              <a:avLst>
                <a:gd name="adj1" fmla="val 43636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矩形 60"/>
          <p:cNvSpPr/>
          <p:nvPr/>
        </p:nvSpPr>
        <p:spPr>
          <a:xfrm>
            <a:off x="21433" y="6307229"/>
            <a:ext cx="4019049" cy="2923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13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3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註：格子內數字代表某股票於某季的平均影響程度</a:t>
            </a:r>
            <a:r>
              <a:rPr lang="en-US" altLang="zh-TW" sz="1300" b="0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13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0227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2" grpId="0" animBg="1"/>
      <p:bldP spid="32" grpId="1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7" grpId="2" animBg="1"/>
      <p:bldP spid="37" grpId="3" animBg="1"/>
      <p:bldP spid="38" grpId="0" animBg="1"/>
      <p:bldP spid="38" grpId="1" animBg="1"/>
      <p:bldP spid="38" grpId="2" animBg="1"/>
      <p:bldP spid="38" grpId="3" animBg="1"/>
      <p:bldP spid="39" grpId="0" animBg="1"/>
      <p:bldP spid="39" grpId="1" animBg="1"/>
      <p:bldP spid="39" grpId="2" animBg="1"/>
      <p:bldP spid="39" grpId="3" animBg="1"/>
      <p:bldP spid="39" grpId="4" animBg="1"/>
      <p:bldP spid="39" grpId="5" animBg="1"/>
      <p:bldP spid="40" grpId="0" animBg="1"/>
      <p:bldP spid="40" grpId="1" animBg="1"/>
      <p:bldP spid="40" grpId="2" animBg="1"/>
      <p:bldP spid="40" grpId="3" animBg="1"/>
      <p:bldP spid="40" grpId="4" animBg="1"/>
      <p:bldP spid="40" grpId="5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18035" cy="4669974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96982" y="3948811"/>
            <a:ext cx="11776363" cy="27392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TW" sz="2000" dirty="0"/>
              <a:t>W</a:t>
            </a:r>
            <a:r>
              <a:rPr lang="en-US" altLang="zh-TW" sz="2000" dirty="0" smtClean="0"/>
              <a:t>e </a:t>
            </a:r>
            <a:r>
              <a:rPr lang="en-US" altLang="zh-TW" sz="2000" dirty="0"/>
              <a:t>find that </a:t>
            </a:r>
            <a:r>
              <a:rPr lang="en-US" altLang="zh-TW" sz="2000" b="1" dirty="0">
                <a:solidFill>
                  <a:srgbClr val="FF0000"/>
                </a:solidFill>
              </a:rPr>
              <a:t>S&amp;P 500</a:t>
            </a:r>
            <a:r>
              <a:rPr lang="en-US" altLang="zh-TW" sz="2000" dirty="0"/>
              <a:t>, </a:t>
            </a:r>
            <a:r>
              <a:rPr lang="en-US" altLang="zh-TW" sz="2000" b="1" dirty="0">
                <a:solidFill>
                  <a:srgbClr val="FF0000"/>
                </a:solidFill>
              </a:rPr>
              <a:t>FTSE 350</a:t>
            </a:r>
            <a:r>
              <a:rPr lang="en-US" altLang="zh-TW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 smtClean="0"/>
              <a:t>and 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Nikkei </a:t>
            </a:r>
            <a:r>
              <a:rPr lang="en-US" altLang="zh-TW" sz="2000" b="1" dirty="0">
                <a:solidFill>
                  <a:srgbClr val="FF0000"/>
                </a:solidFill>
              </a:rPr>
              <a:t>500</a:t>
            </a:r>
            <a:r>
              <a:rPr lang="en-US" altLang="zh-TW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/>
              <a:t>stocks show strong market </a:t>
            </a:r>
            <a:r>
              <a:rPr lang="en-US" altLang="zh-TW" sz="2000" b="1" dirty="0">
                <a:solidFill>
                  <a:srgbClr val="FF0000"/>
                </a:solidFill>
              </a:rPr>
              <a:t>stability patterns</a:t>
            </a:r>
            <a:r>
              <a:rPr lang="en-US" altLang="zh-TW" sz="2000" dirty="0"/>
              <a:t>, </a:t>
            </a:r>
            <a:r>
              <a:rPr lang="en-US" altLang="zh-TW" sz="2000" dirty="0" smtClean="0"/>
              <a:t>while Indian </a:t>
            </a:r>
            <a:r>
              <a:rPr lang="en-US" altLang="zh-TW" sz="2000" b="1" dirty="0">
                <a:solidFill>
                  <a:srgbClr val="FFC000"/>
                </a:solidFill>
              </a:rPr>
              <a:t>BES 200</a:t>
            </a:r>
            <a:r>
              <a:rPr lang="en-US" altLang="zh-TW" sz="2000" dirty="0">
                <a:solidFill>
                  <a:srgbClr val="FFC000"/>
                </a:solidFill>
              </a:rPr>
              <a:t> </a:t>
            </a:r>
            <a:r>
              <a:rPr lang="en-US" altLang="zh-TW" sz="2000" dirty="0"/>
              <a:t>stocks almost </a:t>
            </a:r>
            <a:r>
              <a:rPr lang="en-US" altLang="zh-TW" sz="2000" b="1" dirty="0">
                <a:solidFill>
                  <a:srgbClr val="FFC000"/>
                </a:solidFill>
              </a:rPr>
              <a:t>do not demonstrate any </a:t>
            </a:r>
            <a:r>
              <a:rPr lang="en-US" altLang="zh-TW" sz="2000" b="1" dirty="0" smtClean="0">
                <a:solidFill>
                  <a:srgbClr val="FFC000"/>
                </a:solidFill>
              </a:rPr>
              <a:t>stable patterns.</a:t>
            </a:r>
          </a:p>
          <a:p>
            <a:pPr algn="just"/>
            <a:endParaRPr lang="en-US" altLang="zh-TW" sz="2000" b="1" u="sng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TW" sz="2000" dirty="0"/>
              <a:t>‘dot com</a:t>
            </a:r>
            <a:r>
              <a:rPr lang="en-US" altLang="zh-TW" sz="2000" dirty="0" smtClean="0"/>
              <a:t>’ </a:t>
            </a:r>
            <a:r>
              <a:rPr lang="en-US" altLang="zh-TW" sz="2000" dirty="0"/>
              <a:t>crisis of 2000 (Q4 of 2000 till Q4 of 2001</a:t>
            </a:r>
            <a:r>
              <a:rPr lang="en-US" altLang="zh-TW" sz="2000" dirty="0" smtClean="0"/>
              <a:t>)   </a:t>
            </a:r>
            <a:r>
              <a:rPr lang="en-US" altLang="zh-TW" sz="20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網際網路泡沫化</a:t>
            </a:r>
            <a:r>
              <a:rPr lang="en-US" altLang="zh-TW" sz="20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en-US" altLang="zh-TW" sz="2000" dirty="0"/>
              <a:t> 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S&amp;P 500</a:t>
            </a:r>
            <a:endParaRPr lang="en-US" altLang="zh-TW" sz="2000" dirty="0">
              <a:solidFill>
                <a:schemeClr val="bg1">
                  <a:lumMod val="50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TW" sz="2000" dirty="0" smtClean="0"/>
              <a:t>‘’ </a:t>
            </a:r>
            <a:r>
              <a:rPr lang="en-US" altLang="zh-TW" sz="2000" dirty="0"/>
              <a:t>crisis of 2008 (Q4 of 2007 till Q4 of 2008</a:t>
            </a:r>
            <a:r>
              <a:rPr lang="en-US" altLang="zh-TW" sz="2000" dirty="0" smtClean="0"/>
              <a:t>)      </a:t>
            </a:r>
            <a:r>
              <a:rPr lang="en-US" altLang="zh-TW" sz="20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全球金融危機</a:t>
            </a:r>
            <a:r>
              <a:rPr lang="en-US" altLang="zh-TW" sz="20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</a:rPr>
              <a:t>S&amp;P 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500</a:t>
            </a:r>
            <a:r>
              <a:rPr lang="zh-TW" altLang="en-US" sz="2000" dirty="0" smtClean="0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lang="en-US" altLang="zh-TW" sz="2000" dirty="0" smtClean="0">
                <a:solidFill>
                  <a:schemeClr val="bg1">
                    <a:lumMod val="50000"/>
                  </a:schemeClr>
                </a:solidFill>
              </a:rPr>
              <a:t>FTSE350</a:t>
            </a:r>
            <a:endParaRPr lang="en-US" altLang="zh-TW" sz="20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zh-TW" sz="2000" b="1" dirty="0" smtClean="0">
                <a:solidFill>
                  <a:srgbClr val="FF0000"/>
                </a:solidFill>
              </a:rPr>
              <a:t>Red rectangles </a:t>
            </a:r>
            <a:r>
              <a:rPr lang="en-US" altLang="zh-TW" sz="2000" dirty="0" smtClean="0"/>
              <a:t>present </a:t>
            </a:r>
            <a:r>
              <a:rPr lang="en-US" altLang="zh-TW" sz="2000" dirty="0"/>
              <a:t>a </a:t>
            </a:r>
            <a:r>
              <a:rPr lang="en-US" altLang="zh-TW" sz="2000" dirty="0">
                <a:solidFill>
                  <a:srgbClr val="FF0000"/>
                </a:solidFill>
              </a:rPr>
              <a:t>strong similarity</a:t>
            </a:r>
            <a:r>
              <a:rPr lang="en-US" altLang="zh-TW" sz="2000" dirty="0"/>
              <a:t> in the structure during the two crises, followed by consecutive quarters with low values of three rank correlations, representing the change in structure</a:t>
            </a:r>
            <a:r>
              <a:rPr lang="en-US" altLang="zh-TW" sz="2000" dirty="0" smtClean="0"/>
              <a:t>.</a:t>
            </a:r>
          </a:p>
          <a:p>
            <a:pPr algn="just"/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紅色區塊代表發生突發危機時，兩季之間</a:t>
            </a:r>
            <a:r>
              <a:rPr lang="en-US" altLang="zh-TW" sz="1600" dirty="0">
                <a:solidFill>
                  <a:srgbClr val="0070C0"/>
                </a:solidFill>
                <a:latin typeface="Cambria" panose="02040503050406030204" pitchFamily="18" charset="0"/>
                <a:ea typeface="Microsoft YaHei UI" panose="020B0503020204020204" pitchFamily="34" charset="-122"/>
              </a:rPr>
              <a:t>Kendall </a:t>
            </a:r>
            <a:r>
              <a:rPr lang="en-US" altLang="zh-TW" sz="1600" i="1" dirty="0" smtClean="0">
                <a:solidFill>
                  <a:srgbClr val="0070C0"/>
                </a:solidFill>
                <a:latin typeface="Cambria" panose="02040503050406030204" pitchFamily="18" charset="0"/>
                <a:ea typeface="Microsoft YaHei UI" panose="020B0503020204020204" pitchFamily="34" charset="-122"/>
              </a:rPr>
              <a:t>τ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飆高，各股票對其餘股票之影響程度近乎不變，此後接續下去的兩季之間</a:t>
            </a:r>
            <a:r>
              <a:rPr lang="en-US" altLang="zh-TW" sz="1600" dirty="0" smtClean="0">
                <a:solidFill>
                  <a:srgbClr val="0070C0"/>
                </a:solidFill>
                <a:latin typeface="Cambria" panose="02040503050406030204" pitchFamily="18" charset="0"/>
                <a:ea typeface="Microsoft YaHei UI" panose="020B0503020204020204" pitchFamily="34" charset="-122"/>
              </a:rPr>
              <a:t>Kendall </a:t>
            </a:r>
            <a:r>
              <a:rPr lang="en-US" altLang="zh-TW" sz="1600" i="1" dirty="0" smtClean="0">
                <a:solidFill>
                  <a:srgbClr val="0070C0"/>
                </a:solidFill>
                <a:latin typeface="Cambria" panose="02040503050406030204" pitchFamily="18" charset="0"/>
                <a:ea typeface="Microsoft YaHei UI" panose="020B0503020204020204" pitchFamily="34" charset="-122"/>
              </a:rPr>
              <a:t>τ</a:t>
            </a:r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陡降，代表市場結構已改變，各股票對其餘股票之影響程度已完全改變，不同以往。</a:t>
            </a:r>
            <a:r>
              <a:rPr lang="en-US" altLang="zh-TW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16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818690" y="242590"/>
            <a:ext cx="424445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TW" altLang="en-US" b="1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兩季之間的</a:t>
            </a:r>
            <a:r>
              <a:rPr lang="en-US" altLang="zh-TW" b="1" dirty="0" smtClean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" panose="0204050305040603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Kendall </a:t>
            </a:r>
            <a:r>
              <a:rPr lang="en-US" altLang="zh-TW" b="1" i="1" dirty="0" smtClean="0">
                <a:solidFill>
                  <a:srgbClr val="0070C0"/>
                </a:solidFill>
                <a:latin typeface="Cambria" panose="0204050305040603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τ</a:t>
            </a:r>
            <a:r>
              <a:rPr lang="zh-TW" altLang="en-US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係數</a:t>
            </a:r>
            <a:r>
              <a:rPr lang="en-US" altLang="zh-TW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/>
            </a:r>
            <a:br>
              <a:rPr lang="en-US" altLang="zh-TW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</a:br>
            <a:r>
              <a:rPr lang="en-US" altLang="zh-TW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(</a:t>
            </a:r>
            <a:r>
              <a:rPr lang="zh-TW" altLang="en-US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兩季中全部股票依</a:t>
            </a:r>
            <a:r>
              <a:rPr lang="en-US" altLang="zh-TW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d(X)</a:t>
            </a:r>
            <a:r>
              <a:rPr lang="zh-TW" altLang="en-US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值</a:t>
            </a:r>
            <a:r>
              <a:rPr lang="en-US" altLang="zh-TW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rank</a:t>
            </a:r>
            <a:r>
              <a:rPr lang="zh-TW" altLang="en-US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後</a:t>
            </a:r>
            <a:r>
              <a:rPr lang="zh-TW" altLang="en-US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，然後計算</a:t>
            </a:r>
            <a:r>
              <a:rPr lang="en-US" altLang="zh-TW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Kendall </a:t>
            </a:r>
            <a:r>
              <a:rPr lang="en-US" altLang="zh-TW" i="1" dirty="0" smtClean="0">
                <a:solidFill>
                  <a:srgbClr val="0070C0"/>
                </a:solidFill>
                <a:latin typeface="Cambria" panose="0204050305040603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τ</a:t>
            </a:r>
            <a:r>
              <a:rPr lang="en-US" altLang="zh-TW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)</a:t>
            </a:r>
          </a:p>
        </p:txBody>
      </p:sp>
      <p:grpSp>
        <p:nvGrpSpPr>
          <p:cNvPr id="3" name="群組 2"/>
          <p:cNvGrpSpPr/>
          <p:nvPr/>
        </p:nvGrpSpPr>
        <p:grpSpPr>
          <a:xfrm>
            <a:off x="7504536" y="2877752"/>
            <a:ext cx="2636053" cy="692498"/>
            <a:chOff x="8849365" y="2161974"/>
            <a:chExt cx="2636053" cy="692498"/>
          </a:xfrm>
        </p:grpSpPr>
        <p:sp>
          <p:nvSpPr>
            <p:cNvPr id="7" name="文字方塊 6"/>
            <p:cNvSpPr txBox="1"/>
            <p:nvPr/>
          </p:nvSpPr>
          <p:spPr>
            <a:xfrm>
              <a:off x="8876102" y="2161975"/>
              <a:ext cx="2609316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300" dirty="0" smtClean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１：</a:t>
              </a:r>
              <a:r>
                <a:rPr lang="en-US" altLang="zh-TW" sz="1300" dirty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the same</a:t>
              </a:r>
            </a:p>
            <a:p>
              <a:r>
                <a:rPr lang="en-US" altLang="zh-TW" sz="1300" dirty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0</a:t>
              </a:r>
              <a:r>
                <a:rPr lang="zh-TW" altLang="en-US" sz="1300" dirty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：</a:t>
              </a:r>
              <a:r>
                <a:rPr lang="en-US" altLang="zh-TW" sz="1300" dirty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independent</a:t>
              </a:r>
            </a:p>
            <a:p>
              <a:r>
                <a:rPr lang="en-US" altLang="zh-TW" sz="1300" dirty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-1</a:t>
              </a:r>
              <a:r>
                <a:rPr lang="zh-TW" altLang="en-US" sz="1300" dirty="0" smtClean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：</a:t>
              </a:r>
              <a:r>
                <a:rPr lang="en-US" altLang="zh-TW" sz="1300" dirty="0" smtClean="0">
                  <a:ln w="0"/>
                  <a:solidFill>
                    <a:srgbClr val="0070C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ambria" panose="02040503050406030204" pitchFamily="18" charset="0"/>
                  <a:ea typeface="標楷體" panose="03000509000000000000" pitchFamily="65" charset="-120"/>
                  <a:cs typeface="Tahoma" panose="020B0604030504040204" pitchFamily="34" charset="0"/>
                </a:rPr>
                <a:t>two rankings are discordant.</a:t>
              </a:r>
              <a:endParaRPr lang="zh-TW" altLang="en-US" sz="13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" panose="02040503050406030204" pitchFamily="18" charset="0"/>
                <a:ea typeface="標楷體" panose="03000509000000000000" pitchFamily="65" charset="-120"/>
                <a:cs typeface="Tahoma" panose="020B0604030504040204" pitchFamily="34" charset="0"/>
              </a:endParaRPr>
            </a:p>
          </p:txBody>
        </p:sp>
        <p:sp>
          <p:nvSpPr>
            <p:cNvPr id="8" name="左右括弧 7"/>
            <p:cNvSpPr/>
            <p:nvPr/>
          </p:nvSpPr>
          <p:spPr>
            <a:xfrm>
              <a:off x="8849365" y="2161974"/>
              <a:ext cx="2511362" cy="692497"/>
            </a:xfrm>
            <a:prstGeom prst="bracketPair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9" name="向右箭號 8"/>
          <p:cNvSpPr/>
          <p:nvPr/>
        </p:nvSpPr>
        <p:spPr>
          <a:xfrm>
            <a:off x="7328848" y="341194"/>
            <a:ext cx="489842" cy="2183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9274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5049" y="68188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5100" dirty="0" smtClean="0"/>
              <a:t>Discussion of stability</a:t>
            </a:r>
            <a:endParaRPr lang="zh-TW" altLang="en-US" sz="51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823150"/>
            <a:ext cx="10515600" cy="2995758"/>
          </a:xfrm>
        </p:spPr>
        <p:txBody>
          <a:bodyPr>
            <a:normAutofit/>
          </a:bodyPr>
          <a:lstStyle/>
          <a:p>
            <a:pPr algn="just"/>
            <a:r>
              <a:rPr lang="en-US" altLang="zh-TW" sz="3000" dirty="0" smtClean="0"/>
              <a:t>Developed markets </a:t>
            </a:r>
            <a:r>
              <a:rPr lang="en-US" altLang="zh-TW" sz="3000" dirty="0"/>
              <a:t>tend to keep their market structure longer than </a:t>
            </a:r>
            <a:r>
              <a:rPr lang="en-US" altLang="zh-TW" sz="3000" dirty="0" smtClean="0"/>
              <a:t>fast developing </a:t>
            </a:r>
            <a:r>
              <a:rPr lang="en-US" altLang="zh-TW" sz="3000" dirty="0"/>
              <a:t>markets</a:t>
            </a:r>
            <a:r>
              <a:rPr lang="en-US" altLang="zh-TW" sz="3000" dirty="0" smtClean="0"/>
              <a:t>.</a:t>
            </a:r>
          </a:p>
          <a:p>
            <a:pPr marL="0" indent="0" algn="just">
              <a:buNone/>
            </a:pPr>
            <a:r>
              <a:rPr lang="en-US" altLang="zh-TW" sz="30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30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(</a:t>
            </a:r>
            <a:r>
              <a:rPr lang="zh-TW" altLang="en-US" sz="30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已開發國家 相對 開發中國家 穩定</a:t>
            </a:r>
            <a:r>
              <a:rPr lang="en-US" altLang="zh-TW" sz="30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marL="0" indent="0" algn="just">
              <a:buNone/>
            </a:pPr>
            <a:endParaRPr lang="en-US" altLang="zh-TW" dirty="0" smtClean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r>
              <a:rPr lang="zh-TW" altLang="en-US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市場穩定的話，利用相關性來作漲跌預測才有意義</a:t>
            </a:r>
            <a:endParaRPr lang="en-US" altLang="zh-TW" dirty="0" smtClean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5595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71" r="10372" b="19856"/>
          <a:stretch/>
        </p:blipFill>
        <p:spPr>
          <a:xfrm>
            <a:off x="-87359" y="402084"/>
            <a:ext cx="7394263" cy="5306266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7"/>
          <a:stretch/>
        </p:blipFill>
        <p:spPr>
          <a:xfrm>
            <a:off x="0" y="5674454"/>
            <a:ext cx="7080321" cy="1038986"/>
          </a:xfrm>
          <a:prstGeom prst="rect">
            <a:avLst/>
          </a:prstGeom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989456" y="2579874"/>
            <a:ext cx="5111679" cy="401432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zh-TW" altLang="en-US" sz="1800" b="1" u="sng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小圖說明：</a:t>
            </a:r>
            <a:r>
              <a:rPr lang="en-US" altLang="zh-TW" sz="1400" dirty="0" smtClean="0">
                <a:ln w="0"/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(</a:t>
            </a:r>
            <a:r>
              <a:rPr lang="zh-TW" altLang="en-US" sz="1400" dirty="0" smtClean="0">
                <a:ln w="0"/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小</a:t>
            </a:r>
            <a:r>
              <a:rPr lang="zh-TW" altLang="en-US" sz="1400" dirty="0">
                <a:ln w="0"/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圖的紅色曲線為每一季全部</a:t>
            </a:r>
            <a:r>
              <a:rPr lang="en-US" altLang="zh-TW" sz="1400" i="1" dirty="0">
                <a:solidFill>
                  <a:srgbClr val="FF0000"/>
                </a:solidFill>
                <a:latin typeface="Cambria" panose="0204050305040603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τ</a:t>
            </a:r>
            <a:r>
              <a:rPr lang="zh-TW" altLang="en-US" sz="1400" dirty="0">
                <a:ln w="0"/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值取平均所得</a:t>
            </a:r>
            <a:r>
              <a:rPr lang="en-US" altLang="zh-TW" sz="1400" dirty="0" smtClean="0">
                <a:ln w="0"/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ahoma" panose="020B0604030504040204" pitchFamily="34" charset="0"/>
              </a:rPr>
              <a:t>)</a:t>
            </a:r>
            <a:endParaRPr lang="en-US" altLang="zh-TW" sz="1400" b="1" u="sng" dirty="0" smtClean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r>
              <a:rPr lang="en-US" altLang="zh-TW" sz="1800" dirty="0" smtClean="0"/>
              <a:t>We find the </a:t>
            </a:r>
            <a:r>
              <a:rPr lang="en-US" altLang="zh-TW" sz="1800" dirty="0"/>
              <a:t>decay of the </a:t>
            </a:r>
            <a:r>
              <a:rPr lang="en-US" altLang="zh-TW" sz="1800" i="1" dirty="0"/>
              <a:t>τ </a:t>
            </a:r>
            <a:r>
              <a:rPr lang="en-US" altLang="zh-TW" sz="1800" dirty="0"/>
              <a:t>rank correlation coefficients follow an </a:t>
            </a:r>
            <a:r>
              <a:rPr lang="en-US" altLang="zh-TW" sz="1800" dirty="0" smtClean="0"/>
              <a:t>approximate exponential </a:t>
            </a:r>
            <a:r>
              <a:rPr lang="en-US" altLang="zh-TW" sz="1800" dirty="0"/>
              <a:t>process, </a:t>
            </a:r>
            <a:r>
              <a:rPr lang="en-US" altLang="zh-TW" sz="1800" i="1" dirty="0">
                <a:solidFill>
                  <a:srgbClr val="FF0000"/>
                </a:solidFill>
              </a:rPr>
              <a:t>τ </a:t>
            </a:r>
            <a:r>
              <a:rPr lang="en-US" altLang="zh-TW" sz="1800" dirty="0">
                <a:solidFill>
                  <a:srgbClr val="FF0000"/>
                </a:solidFill>
              </a:rPr>
              <a:t>= </a:t>
            </a:r>
            <a:r>
              <a:rPr lang="en-US" altLang="zh-TW" sz="1800" i="1" dirty="0">
                <a:solidFill>
                  <a:srgbClr val="FF0000"/>
                </a:solidFill>
              </a:rPr>
              <a:t>τ</a:t>
            </a:r>
            <a:r>
              <a:rPr lang="en-US" altLang="zh-TW" sz="1800" baseline="-25000" dirty="0">
                <a:solidFill>
                  <a:srgbClr val="FF0000"/>
                </a:solidFill>
              </a:rPr>
              <a:t>0</a:t>
            </a:r>
            <a:r>
              <a:rPr lang="en-US" altLang="zh-TW" sz="1800" i="1" dirty="0">
                <a:solidFill>
                  <a:srgbClr val="FF0000"/>
                </a:solidFill>
              </a:rPr>
              <a:t>e</a:t>
            </a:r>
            <a:r>
              <a:rPr lang="en-US" altLang="zh-TW" sz="1800" baseline="30000" dirty="0">
                <a:solidFill>
                  <a:srgbClr val="FF0000"/>
                </a:solidFill>
              </a:rPr>
              <a:t>−</a:t>
            </a:r>
            <a:r>
              <a:rPr lang="en-US" altLang="zh-TW" sz="1800" i="1" baseline="30000" dirty="0">
                <a:solidFill>
                  <a:srgbClr val="FF0000"/>
                </a:solidFill>
              </a:rPr>
              <a:t>t/λ</a:t>
            </a:r>
            <a:r>
              <a:rPr lang="en-US" altLang="zh-TW" sz="1800" dirty="0"/>
              <a:t>, as shown in </a:t>
            </a:r>
            <a:r>
              <a:rPr lang="en-US" altLang="zh-TW" sz="1800" dirty="0" smtClean="0"/>
              <a:t>the insets </a:t>
            </a:r>
            <a:r>
              <a:rPr lang="en-US" altLang="zh-TW" sz="1800" dirty="0"/>
              <a:t>in figure 4</a:t>
            </a:r>
            <a:r>
              <a:rPr lang="en-US" altLang="zh-TW" sz="1800" dirty="0" smtClean="0"/>
              <a:t>.</a:t>
            </a:r>
          </a:p>
          <a:p>
            <a:pPr algn="just"/>
            <a:r>
              <a:rPr lang="en-US" altLang="zh-TW" sz="1800" dirty="0">
                <a:solidFill>
                  <a:srgbClr val="FF0000"/>
                </a:solidFill>
              </a:rPr>
              <a:t>Larger </a:t>
            </a:r>
            <a:r>
              <a:rPr lang="en-US" altLang="zh-TW" sz="1800" i="1" dirty="0">
                <a:solidFill>
                  <a:srgbClr val="FF0000"/>
                </a:solidFill>
              </a:rPr>
              <a:t>τ</a:t>
            </a:r>
            <a:r>
              <a:rPr lang="en-US" altLang="zh-TW" sz="1800" baseline="-25000" dirty="0">
                <a:solidFill>
                  <a:srgbClr val="FF0000"/>
                </a:solidFill>
              </a:rPr>
              <a:t>0</a:t>
            </a:r>
            <a:r>
              <a:rPr lang="en-US" altLang="zh-TW" sz="1800" dirty="0">
                <a:solidFill>
                  <a:srgbClr val="FF0000"/>
                </a:solidFill>
              </a:rPr>
              <a:t> </a:t>
            </a:r>
            <a:r>
              <a:rPr lang="en-US" altLang="zh-TW" sz="1800" dirty="0"/>
              <a:t>is, the </a:t>
            </a:r>
            <a:r>
              <a:rPr lang="en-US" altLang="zh-TW" sz="1800" dirty="0">
                <a:solidFill>
                  <a:srgbClr val="FF0000"/>
                </a:solidFill>
              </a:rPr>
              <a:t>more consistent </a:t>
            </a:r>
            <a:r>
              <a:rPr lang="en-US" altLang="zh-TW" sz="1800" dirty="0"/>
              <a:t>two consecutive ranking are</a:t>
            </a:r>
            <a:r>
              <a:rPr lang="en-US" altLang="zh-TW" sz="1800" dirty="0" smtClean="0"/>
              <a:t>. </a:t>
            </a:r>
            <a:r>
              <a:rPr lang="en-US" altLang="zh-TW" sz="14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1400" i="1" dirty="0" smtClean="0">
                <a:solidFill>
                  <a:srgbClr val="0070C0"/>
                </a:solidFill>
                <a:latin typeface="Cambria" panose="02040503050406030204" pitchFamily="18" charset="0"/>
                <a:ea typeface="標楷體" panose="03000509000000000000" pitchFamily="65" charset="-120"/>
              </a:rPr>
              <a:t>τ</a:t>
            </a:r>
            <a:r>
              <a:rPr lang="en-US" altLang="zh-TW" sz="1400" baseline="-25000" dirty="0" smtClean="0">
                <a:solidFill>
                  <a:srgbClr val="0070C0"/>
                </a:solidFill>
                <a:latin typeface="Cambria" panose="02040503050406030204" pitchFamily="18" charset="0"/>
                <a:ea typeface="標楷體" panose="03000509000000000000" pitchFamily="65" charset="-120"/>
              </a:rPr>
              <a:t>0</a:t>
            </a:r>
            <a:r>
              <a:rPr lang="zh-TW" altLang="en-US" sz="14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大，同質性高，不同</a:t>
            </a:r>
            <a:r>
              <a:rPr lang="zh-TW" altLang="en-US" sz="14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兩季</a:t>
            </a:r>
            <a:r>
              <a:rPr lang="zh-TW" altLang="en-US" sz="14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間</a:t>
            </a:r>
            <a:r>
              <a:rPr lang="zh-TW" altLang="en-US" sz="14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影響程度</a:t>
            </a:r>
            <a:r>
              <a:rPr lang="zh-TW" altLang="en-US" sz="14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變動不大</a:t>
            </a:r>
            <a:r>
              <a:rPr lang="en-US" altLang="zh-TW" sz="14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sz="14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r>
              <a:rPr lang="en-US" altLang="zh-TW" sz="1800" dirty="0">
                <a:solidFill>
                  <a:srgbClr val="FF0000"/>
                </a:solidFill>
              </a:rPr>
              <a:t>Larger </a:t>
            </a:r>
            <a:r>
              <a:rPr lang="en-US" altLang="zh-TW" sz="1800" i="1" dirty="0">
                <a:solidFill>
                  <a:srgbClr val="FF0000"/>
                </a:solidFill>
              </a:rPr>
              <a:t>λ</a:t>
            </a:r>
            <a:r>
              <a:rPr lang="en-US" altLang="zh-TW" sz="1800" i="1" dirty="0"/>
              <a:t> </a:t>
            </a:r>
            <a:r>
              <a:rPr lang="en-US" altLang="zh-TW" sz="1800" dirty="0"/>
              <a:t>values mean </a:t>
            </a:r>
            <a:r>
              <a:rPr lang="en-US" altLang="zh-TW" sz="1800" dirty="0">
                <a:solidFill>
                  <a:srgbClr val="FF0000"/>
                </a:solidFill>
              </a:rPr>
              <a:t>longer persistence period</a:t>
            </a:r>
            <a:r>
              <a:rPr lang="en-US" altLang="zh-TW" sz="1800" dirty="0"/>
              <a:t>, and thus, describe the change in influence ranking across time</a:t>
            </a:r>
            <a:r>
              <a:rPr lang="en-US" altLang="zh-TW" sz="1800" dirty="0" smtClean="0"/>
              <a:t>.</a:t>
            </a:r>
            <a:r>
              <a:rPr lang="en-US" altLang="zh-TW" sz="18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4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sz="1400" i="1" dirty="0">
                <a:solidFill>
                  <a:srgbClr val="0070C0"/>
                </a:solidFill>
                <a:latin typeface="Cambria" panose="02040503050406030204" pitchFamily="18" charset="0"/>
              </a:rPr>
              <a:t>λ</a:t>
            </a:r>
            <a:r>
              <a:rPr lang="zh-TW" altLang="en-US" sz="14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大，市場狀態持續時間越久，市場結構的變動時間緩慢</a:t>
            </a:r>
            <a:r>
              <a:rPr lang="en-US" altLang="zh-TW" sz="14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en-US" altLang="zh-TW" sz="1800" b="1" dirty="0"/>
              <a:t>Using the </a:t>
            </a:r>
            <a:r>
              <a:rPr lang="en-US" altLang="zh-TW" sz="1800" b="1" i="1" dirty="0">
                <a:solidFill>
                  <a:srgbClr val="FF0000"/>
                </a:solidFill>
              </a:rPr>
              <a:t>τ</a:t>
            </a:r>
            <a:r>
              <a:rPr lang="en-US" altLang="zh-TW" sz="1800" b="1" baseline="-25000" dirty="0">
                <a:solidFill>
                  <a:srgbClr val="FF0000"/>
                </a:solidFill>
              </a:rPr>
              <a:t>0</a:t>
            </a:r>
            <a:r>
              <a:rPr lang="en-US" altLang="zh-TW" sz="1800" b="1" dirty="0"/>
              <a:t> and </a:t>
            </a:r>
            <a:r>
              <a:rPr lang="en-US" altLang="zh-TW" sz="1800" b="1" i="1" dirty="0">
                <a:solidFill>
                  <a:srgbClr val="FF0000"/>
                </a:solidFill>
              </a:rPr>
              <a:t>λ</a:t>
            </a:r>
            <a:r>
              <a:rPr lang="en-US" altLang="zh-TW" sz="1800" b="1" i="1" dirty="0"/>
              <a:t> </a:t>
            </a:r>
            <a:r>
              <a:rPr lang="en-US" altLang="zh-TW" sz="1800" b="1" dirty="0"/>
              <a:t>parameters can help in monitoring structural changes in the market, and their persistence</a:t>
            </a:r>
            <a:r>
              <a:rPr lang="en-US" altLang="zh-TW" sz="1800" b="1" dirty="0" smtClean="0"/>
              <a:t>.   </a:t>
            </a:r>
            <a:r>
              <a:rPr lang="en-US" altLang="zh-TW" sz="1400" b="1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4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觀測市場的穩定性</a:t>
            </a:r>
            <a:r>
              <a:rPr lang="en-US" altLang="zh-TW" sz="14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1400" b="1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endParaRPr lang="en-US" altLang="zh-TW" sz="14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endParaRPr lang="en-US" altLang="zh-TW" sz="1800" dirty="0"/>
          </a:p>
          <a:p>
            <a:pPr marL="0" indent="0" algn="just">
              <a:buNone/>
            </a:pPr>
            <a:endParaRPr lang="en-US" altLang="zh-TW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969282" y="132207"/>
                <a:ext cx="4694830" cy="233910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r>
                  <a:rPr lang="zh-TW" altLang="en-US" b="1" u="sng" dirty="0" smtClean="0">
                    <a:ln w="0"/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圖表說明：</a:t>
                </a:r>
                <a:endParaRPr lang="en-US" altLang="zh-TW" b="1" u="sng" dirty="0" smtClean="0">
                  <a:ln w="0"/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zh-TW" altLang="en-US" sz="1600" dirty="0" smtClean="0">
                    <a:ln w="0"/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第１季為起始點，兩兩季度間作</a:t>
                </a:r>
                <a:r>
                  <a:rPr lang="en-US" altLang="zh-TW" sz="1600" i="1" dirty="0" smtClean="0">
                    <a:solidFill>
                      <a:srgbClr val="0070C0"/>
                    </a:solidFill>
                    <a:latin typeface="Cambria" panose="02040503050406030204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τ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，共有</a:t>
                </a:r>
                <a:r>
                  <a:rPr lang="en-US" altLang="zh-TW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43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組</a:t>
                </a:r>
                <a:r>
                  <a:rPr lang="en-US" altLang="zh-TW" sz="1600" i="1" dirty="0" smtClean="0">
                    <a:solidFill>
                      <a:srgbClr val="0070C0"/>
                    </a:solidFill>
                    <a:latin typeface="Cambria" panose="02040503050406030204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τ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值；</a:t>
                </a:r>
                <a:endParaRPr lang="en-US" altLang="zh-TW" sz="1600" cap="none" spc="0" dirty="0" smtClean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  <a:p>
                <a:r>
                  <a:rPr lang="zh-TW" altLang="en-US" sz="1600" dirty="0" smtClean="0">
                    <a:ln w="0"/>
                    <a:solidFill>
                      <a:srgbClr val="0070C0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第２季為起始點</a:t>
                </a:r>
                <a:r>
                  <a:rPr lang="zh-TW" altLang="en-US" sz="1600" dirty="0">
                    <a:ln w="0"/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，兩兩季度間作</a:t>
                </a:r>
                <a:r>
                  <a:rPr lang="en-US" altLang="zh-TW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τ</a:t>
                </a:r>
                <a:r>
                  <a:rPr lang="zh-TW" altLang="en-US" sz="1600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，共有</a:t>
                </a:r>
                <a:r>
                  <a:rPr lang="en-US" altLang="zh-TW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42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組</a:t>
                </a:r>
                <a:r>
                  <a:rPr lang="en-US" altLang="zh-TW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τ</a:t>
                </a:r>
                <a:r>
                  <a:rPr lang="zh-TW" altLang="en-US" sz="1600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值；</a:t>
                </a:r>
                <a:endParaRPr lang="en-US" altLang="zh-TW" sz="1600" dirty="0" smtClean="0">
                  <a:ln w="0"/>
                  <a:solidFill>
                    <a:srgbClr val="0070C0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zh-TW" altLang="en-US" sz="1600" b="0" cap="none" spc="0" dirty="0" smtClean="0">
                    <a:ln w="0"/>
                    <a:solidFill>
                      <a:srgbClr val="0070C0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第３季為起始點</a:t>
                </a:r>
                <a:r>
                  <a:rPr lang="zh-TW" altLang="en-US" sz="1600" dirty="0">
                    <a:ln w="0"/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，兩兩季度間作</a:t>
                </a:r>
                <a:r>
                  <a:rPr lang="en-US" altLang="zh-TW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τ</a:t>
                </a:r>
                <a:r>
                  <a:rPr lang="zh-TW" altLang="en-US" sz="1600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，共有</a:t>
                </a:r>
                <a:r>
                  <a:rPr lang="en-US" altLang="zh-TW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41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組</a:t>
                </a:r>
                <a:r>
                  <a:rPr lang="en-US" altLang="zh-TW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τ</a:t>
                </a:r>
                <a:r>
                  <a:rPr lang="zh-TW" altLang="en-US" sz="1600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值；</a:t>
                </a:r>
                <a:endParaRPr lang="en-US" altLang="zh-TW" sz="1600" b="0" cap="none" spc="0" dirty="0" smtClean="0">
                  <a:ln w="0"/>
                  <a:solidFill>
                    <a:srgbClr val="0070C0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zh-TW" altLang="en-US" sz="1600" dirty="0" smtClean="0">
                    <a:ln w="0"/>
                    <a:solidFill>
                      <a:srgbClr val="0070C0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第４季為起始點</a:t>
                </a:r>
                <a:r>
                  <a:rPr lang="zh-TW" altLang="en-US" sz="1600" dirty="0">
                    <a:ln w="0"/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，兩兩季度間作</a:t>
                </a:r>
                <a:r>
                  <a:rPr lang="en-US" altLang="zh-TW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τ</a:t>
                </a:r>
                <a:r>
                  <a:rPr lang="zh-TW" altLang="en-US" sz="1600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，共有</a:t>
                </a:r>
                <a:r>
                  <a:rPr lang="en-US" altLang="zh-TW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40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組</a:t>
                </a:r>
                <a:r>
                  <a:rPr lang="en-US" altLang="zh-TW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τ</a:t>
                </a:r>
                <a:r>
                  <a:rPr lang="zh-TW" altLang="en-US" sz="1600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值；</a:t>
                </a:r>
                <a:endParaRPr lang="en-US" altLang="zh-TW" sz="1600" dirty="0" smtClean="0">
                  <a:ln w="0"/>
                  <a:solidFill>
                    <a:srgbClr val="0070C0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zh-TW" altLang="en-US" sz="1600" dirty="0" smtClean="0">
                    <a:ln w="0"/>
                    <a:solidFill>
                      <a:srgbClr val="0070C0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第５季為起始點</a:t>
                </a:r>
                <a:r>
                  <a:rPr lang="zh-TW" altLang="en-US" sz="1600" dirty="0">
                    <a:ln w="0"/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，兩兩季度間作</a:t>
                </a:r>
                <a:r>
                  <a:rPr lang="en-US" altLang="zh-TW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τ</a:t>
                </a:r>
                <a:r>
                  <a:rPr lang="zh-TW" altLang="en-US" sz="1600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，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共有</a:t>
                </a:r>
                <a:r>
                  <a:rPr lang="en-US" altLang="zh-TW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39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組</a:t>
                </a:r>
                <a:r>
                  <a:rPr lang="en-US" altLang="zh-TW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τ</a:t>
                </a:r>
                <a:r>
                  <a:rPr lang="zh-TW" altLang="en-US" sz="1600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值；</a:t>
                </a:r>
                <a:endParaRPr lang="en-US" altLang="zh-TW" sz="1600" dirty="0" smtClean="0">
                  <a:ln w="0"/>
                  <a:solidFill>
                    <a:srgbClr val="0070C0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1600" i="1" dirty="0">
                          <a:ln w="0"/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TW" altLang="en-US" sz="1600" i="1" dirty="0" smtClean="0">
                          <a:ln w="0"/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TW" altLang="en-US" sz="1600" i="1" dirty="0">
                          <a:ln w="0"/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TW" altLang="en-US" sz="1600" i="1" dirty="0" smtClean="0">
                          <a:ln w="0"/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TW" altLang="en-US" sz="1600" i="1" dirty="0">
                          <a:ln w="0"/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TW" altLang="en-US" sz="1600" i="1" dirty="0" smtClean="0">
                          <a:ln w="0"/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zh-TW" altLang="en-US" sz="1600" i="1" dirty="0">
                          <a:ln w="0"/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600" i="1" smtClean="0">
                          <a:ln w="0"/>
                          <a:solidFill>
                            <a:srgbClr val="0070C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altLang="zh-TW" sz="1600" dirty="0" smtClean="0">
                  <a:ln w="0"/>
                  <a:solidFill>
                    <a:srgbClr val="0070C0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zh-TW" altLang="en-US" sz="1600" dirty="0" smtClean="0">
                    <a:ln w="0"/>
                    <a:solidFill>
                      <a:srgbClr val="0070C0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第４３季</a:t>
                </a:r>
                <a:r>
                  <a:rPr lang="zh-TW" altLang="en-US" sz="1600" dirty="0">
                    <a:ln w="0"/>
                    <a:solidFill>
                      <a:srgbClr val="0070C0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為起始</a:t>
                </a:r>
                <a:r>
                  <a:rPr lang="zh-TW" altLang="en-US" sz="1600" dirty="0" smtClean="0">
                    <a:ln w="0"/>
                    <a:solidFill>
                      <a:srgbClr val="0070C0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點</a:t>
                </a:r>
                <a:r>
                  <a:rPr lang="zh-TW" altLang="en-US" sz="1600" dirty="0">
                    <a:ln w="0"/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，兩兩季度間作</a:t>
                </a:r>
                <a:r>
                  <a:rPr lang="en-US" altLang="zh-TW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τ</a:t>
                </a:r>
                <a:r>
                  <a:rPr lang="zh-TW" altLang="en-US" sz="1600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，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共有</a:t>
                </a:r>
                <a:r>
                  <a:rPr lang="en-US" altLang="zh-TW" sz="1600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1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組</a:t>
                </a:r>
                <a:r>
                  <a:rPr lang="en-US" altLang="zh-TW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τ</a:t>
                </a:r>
                <a:r>
                  <a:rPr lang="zh-TW" altLang="en-US" sz="1600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值；</a:t>
                </a:r>
                <a:endParaRPr lang="en-US" altLang="zh-TW" sz="1600" dirty="0" smtClean="0">
                  <a:ln w="0"/>
                  <a:solidFill>
                    <a:srgbClr val="0070C0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zh-TW" altLang="en-US" sz="1600" dirty="0" smtClean="0">
                    <a:ln w="0"/>
                    <a:solidFill>
                      <a:srgbClr val="0070C0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第４４季</a:t>
                </a:r>
                <a:r>
                  <a:rPr lang="zh-TW" altLang="en-US" sz="1600" dirty="0">
                    <a:ln w="0"/>
                    <a:solidFill>
                      <a:srgbClr val="0070C0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為起始</a:t>
                </a:r>
                <a:r>
                  <a:rPr lang="zh-TW" altLang="en-US" sz="1600" dirty="0" smtClean="0">
                    <a:ln w="0"/>
                    <a:solidFill>
                      <a:srgbClr val="0070C0"/>
                    </a:solidFill>
                    <a:effectLst/>
                    <a:latin typeface="標楷體" panose="03000509000000000000" pitchFamily="65" charset="-120"/>
                    <a:ea typeface="標楷體" panose="03000509000000000000" pitchFamily="65" charset="-120"/>
                  </a:rPr>
                  <a:t>點</a:t>
                </a:r>
                <a:r>
                  <a:rPr lang="zh-TW" altLang="en-US" sz="1600" dirty="0">
                    <a:ln w="0"/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，兩兩季度間作</a:t>
                </a:r>
                <a:r>
                  <a:rPr lang="en-US" altLang="zh-TW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τ</a:t>
                </a:r>
                <a:r>
                  <a:rPr lang="zh-TW" altLang="en-US" sz="1600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，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共有</a:t>
                </a:r>
                <a:r>
                  <a:rPr lang="en-US" altLang="zh-TW" sz="1600" dirty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0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組</a:t>
                </a:r>
                <a:r>
                  <a:rPr lang="en-US" altLang="zh-TW" sz="1600" i="1" dirty="0">
                    <a:solidFill>
                      <a:srgbClr val="0070C0"/>
                    </a:solidFill>
                    <a:latin typeface="Cambria" panose="02040503050406030204" pitchFamily="18" charset="0"/>
                    <a:ea typeface="Tahoma" panose="020B0604030504040204" pitchFamily="34" charset="0"/>
                    <a:cs typeface="Tahoma" panose="020B0604030504040204" pitchFamily="34" charset="0"/>
                  </a:rPr>
                  <a:t>τ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  <a:cs typeface="Tahoma" panose="020B0604030504040204" pitchFamily="34" charset="0"/>
                  </a:rPr>
                  <a:t>值。</a:t>
                </a:r>
                <a:endParaRPr lang="en-US" altLang="zh-TW" sz="1600" dirty="0" smtClean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282" y="132207"/>
                <a:ext cx="4694830" cy="2339102"/>
              </a:xfrm>
              <a:prstGeom prst="rect">
                <a:avLst/>
              </a:prstGeom>
              <a:blipFill rotWithShape="0">
                <a:blip r:embed="rId3"/>
                <a:stretch>
                  <a:fillRect l="-1039" t="-1305" r="-1818" b="-26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2109040" y="190123"/>
            <a:ext cx="150073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i="1" dirty="0">
                <a:solidFill>
                  <a:srgbClr val="FFC000"/>
                </a:solidFill>
              </a:rPr>
              <a:t>τ</a:t>
            </a:r>
            <a:r>
              <a:rPr lang="en-US" altLang="zh-TW" baseline="-25000" dirty="0">
                <a:solidFill>
                  <a:srgbClr val="FFC000"/>
                </a:solidFill>
              </a:rPr>
              <a:t>0</a:t>
            </a:r>
            <a:r>
              <a:rPr lang="zh-TW" altLang="en-US" b="0" cap="none" spc="0" dirty="0" smtClean="0">
                <a:ln w="0"/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最大 </a:t>
            </a:r>
            <a:r>
              <a:rPr lang="en-US" altLang="zh-TW" i="1" dirty="0">
                <a:solidFill>
                  <a:srgbClr val="FFC000"/>
                </a:solidFill>
                <a:latin typeface="Cambria" panose="02040503050406030204" pitchFamily="18" charset="0"/>
              </a:rPr>
              <a:t>λ</a:t>
            </a:r>
            <a:r>
              <a:rPr lang="zh-TW" altLang="en-US" dirty="0" smtClean="0">
                <a:ln w="0"/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</a:t>
            </a:r>
            <a:r>
              <a:rPr lang="zh-TW" altLang="en-US" dirty="0">
                <a:ln w="0"/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小</a:t>
            </a:r>
            <a:endParaRPr lang="zh-TW" altLang="en-US" b="0" cap="none" spc="0" dirty="0">
              <a:ln w="0"/>
              <a:solidFill>
                <a:srgbClr val="FFC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490327" y="2839955"/>
            <a:ext cx="149912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i="1" dirty="0">
                <a:solidFill>
                  <a:srgbClr val="FFC000"/>
                </a:solidFill>
              </a:rPr>
              <a:t>τ</a:t>
            </a:r>
            <a:r>
              <a:rPr lang="en-US" altLang="zh-TW" baseline="-25000" dirty="0">
                <a:solidFill>
                  <a:srgbClr val="FFC000"/>
                </a:solidFill>
              </a:rPr>
              <a:t>0</a:t>
            </a:r>
            <a:r>
              <a:rPr lang="zh-TW" altLang="en-US" b="0" cap="none" spc="0" dirty="0" smtClean="0">
                <a:ln w="0"/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最小 </a:t>
            </a:r>
            <a:r>
              <a:rPr lang="en-US" altLang="zh-TW" i="1" dirty="0">
                <a:solidFill>
                  <a:srgbClr val="FFC000"/>
                </a:solidFill>
                <a:latin typeface="Cambria" panose="02040503050406030204" pitchFamily="18" charset="0"/>
              </a:rPr>
              <a:t>λ</a:t>
            </a:r>
            <a:r>
              <a:rPr lang="zh-TW" altLang="en-US" b="0" cap="none" spc="0" dirty="0" smtClean="0">
                <a:ln w="0"/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最大</a:t>
            </a:r>
            <a:endParaRPr lang="zh-TW" altLang="en-US" b="0" cap="none" spc="0" dirty="0">
              <a:ln w="0"/>
              <a:solidFill>
                <a:srgbClr val="FFC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559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68489" y="1473959"/>
            <a:ext cx="11586949" cy="3630304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只將某股票歸類到單一</a:t>
            </a:r>
            <a:r>
              <a:rPr lang="en-US" altLang="zh-TW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sector</a:t>
            </a:r>
            <a:r>
              <a:rPr lang="zh-TW" altLang="en-US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，無法反映它的整體表現及相關風險。</a:t>
            </a:r>
            <a:endParaRPr lang="en-US" altLang="zh-TW" dirty="0" smtClean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有</a:t>
            </a:r>
            <a:r>
              <a:rPr lang="zh-TW" altLang="en-US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些</a:t>
            </a:r>
            <a:r>
              <a:rPr lang="zh-TW" altLang="en-US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公司屬於集團，旗下子公司散佈各</a:t>
            </a:r>
            <a:r>
              <a:rPr lang="en-US" altLang="zh-TW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sector</a:t>
            </a:r>
            <a:r>
              <a:rPr lang="zh-TW" altLang="en-US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，所以會受到多個</a:t>
            </a:r>
            <a:r>
              <a:rPr lang="en-US" altLang="zh-TW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sector</a:t>
            </a:r>
            <a:r>
              <a:rPr lang="zh-TW" altLang="en-US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影響。</a:t>
            </a:r>
            <a:endParaRPr lang="en-US" altLang="zh-TW" dirty="0" smtClean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就算某一公司生產服務皆屬同</a:t>
            </a:r>
            <a:r>
              <a:rPr lang="en-US" altLang="zh-TW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sector</a:t>
            </a:r>
            <a:r>
              <a:rPr lang="zh-TW" altLang="en-US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，但有可能因為分工，也會受到其它</a:t>
            </a:r>
            <a:r>
              <a:rPr lang="en-US" altLang="zh-TW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sector</a:t>
            </a:r>
            <a:r>
              <a:rPr lang="zh-TW" altLang="en-US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的影響。</a:t>
            </a:r>
            <a:endParaRPr lang="en-US" altLang="zh-TW" dirty="0" smtClean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所以接下來要討論關於多個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sector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同時對股票的影響。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5921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The </a:t>
            </a:r>
            <a:r>
              <a:rPr lang="en-US" altLang="zh-TW" dirty="0"/>
              <a:t>partial correlation </a:t>
            </a:r>
            <a:r>
              <a:rPr lang="en-US" altLang="zh-TW" dirty="0" smtClean="0"/>
              <a:t>methodology to </a:t>
            </a:r>
            <a:r>
              <a:rPr lang="en-US" altLang="zh-TW" dirty="0"/>
              <a:t>study the multiple-sector influence on </a:t>
            </a:r>
            <a:r>
              <a:rPr lang="en-US" altLang="zh-TW" dirty="0" smtClean="0"/>
              <a:t>stocks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94" y="2152903"/>
            <a:ext cx="4030196" cy="122529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611" y="4615115"/>
            <a:ext cx="2379474" cy="998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00251" y="3378200"/>
                <a:ext cx="1189174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 smtClean="0"/>
                  <a:t>where </a:t>
                </a:r>
                <a:r>
                  <a:rPr lang="en-US" altLang="zh-TW" i="1" dirty="0"/>
                  <a:t>X </a:t>
                </a:r>
                <a:r>
                  <a:rPr lang="en-US" altLang="zh-TW" dirty="0"/>
                  <a:t>represents the investigated stock, </a:t>
                </a:r>
                <a:r>
                  <a:rPr lang="en-US" altLang="zh-TW" i="1" dirty="0"/>
                  <a:t>S </a:t>
                </a:r>
                <a:r>
                  <a:rPr lang="en-US" altLang="zh-TW" dirty="0"/>
                  <a:t>represents a </a:t>
                </a:r>
                <a:r>
                  <a:rPr lang="en-US" altLang="zh-TW" dirty="0" smtClean="0"/>
                  <a:t>given sector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N</a:t>
                </a:r>
                <a:r>
                  <a:rPr lang="en-US" altLang="zh-TW" i="1" baseline="-25000" dirty="0"/>
                  <a:t>S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is the number of stocks in sector </a:t>
                </a:r>
                <a:r>
                  <a:rPr lang="en-US" altLang="zh-TW" i="1" dirty="0"/>
                  <a:t>S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Z</a:t>
                </a:r>
                <a:r>
                  <a:rPr lang="en-US" altLang="zh-TW" i="1" baseline="-25000" dirty="0"/>
                  <a:t>S</a:t>
                </a:r>
                <a:r>
                  <a:rPr lang="en-US" altLang="zh-TW" i="1" dirty="0"/>
                  <a:t> </a:t>
                </a:r>
                <a:r>
                  <a:rPr lang="en-US" altLang="zh-TW" dirty="0" smtClean="0"/>
                  <a:t>represents the </a:t>
                </a:r>
                <a:r>
                  <a:rPr lang="en-US" altLang="zh-TW" dirty="0"/>
                  <a:t>stocks in sector </a:t>
                </a:r>
                <a:r>
                  <a:rPr lang="en-US" altLang="zh-TW" i="1" dirty="0" smtClean="0"/>
                  <a:t>S</a:t>
                </a:r>
                <a:r>
                  <a:rPr lang="en-US" altLang="zh-TW" dirty="0" smtClean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 smtClean="0"/>
                  <a:t>The </a:t>
                </a:r>
                <a:r>
                  <a:rPr lang="en-US" altLang="zh-TW" dirty="0"/>
                  <a:t>average influence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</m:oMath>
                </a14:m>
                <a:r>
                  <a:rPr lang="en-US" altLang="zh-TW" i="1" dirty="0" smtClean="0"/>
                  <a:t> </a:t>
                </a:r>
                <a:r>
                  <a:rPr lang="en-US" altLang="zh-TW" dirty="0" smtClean="0"/>
                  <a:t>reflects </a:t>
                </a:r>
                <a:r>
                  <a:rPr lang="en-US" altLang="zh-TW" b="1" dirty="0" smtClean="0">
                    <a:solidFill>
                      <a:srgbClr val="0070C0"/>
                    </a:solidFill>
                  </a:rPr>
                  <a:t>the level </a:t>
                </a:r>
                <a:r>
                  <a:rPr lang="en-US" altLang="zh-TW" b="1" dirty="0">
                    <a:solidFill>
                      <a:srgbClr val="0070C0"/>
                    </a:solidFill>
                  </a:rPr>
                  <a:t>of influence that stock </a:t>
                </a:r>
                <a:r>
                  <a:rPr lang="en-US" altLang="zh-TW" b="1" i="1" dirty="0">
                    <a:solidFill>
                      <a:srgbClr val="0070C0"/>
                    </a:solidFill>
                  </a:rPr>
                  <a:t>X </a:t>
                </a:r>
                <a:r>
                  <a:rPr lang="en-US" altLang="zh-TW" b="1" dirty="0">
                    <a:solidFill>
                      <a:srgbClr val="0070C0"/>
                    </a:solidFill>
                  </a:rPr>
                  <a:t>receives from sector </a:t>
                </a:r>
                <a:r>
                  <a:rPr lang="en-US" altLang="zh-TW" b="1" i="1" dirty="0">
                    <a:solidFill>
                      <a:srgbClr val="0070C0"/>
                    </a:solidFill>
                  </a:rPr>
                  <a:t>S</a:t>
                </a:r>
                <a:r>
                  <a:rPr lang="en-US" altLang="zh-TW" sz="1300" b="1" dirty="0" smtClean="0">
                    <a:solidFill>
                      <a:srgbClr val="0070C0"/>
                    </a:solidFill>
                  </a:rPr>
                  <a:t>. </a:t>
                </a:r>
                <a:r>
                  <a:rPr lang="en-US" altLang="zh-TW" sz="1300" dirty="0" smtClean="0">
                    <a:solidFill>
                      <a:srgbClr val="0070C0"/>
                    </a:solidFill>
                  </a:rPr>
                  <a:t>  </a:t>
                </a:r>
                <a:r>
                  <a:rPr lang="en-US" altLang="zh-TW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(Sector S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對股票</a:t>
                </a:r>
                <a:r>
                  <a:rPr lang="en-US" altLang="zh-TW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X</a:t>
                </a:r>
                <a:r>
                  <a:rPr lang="zh-TW" altLang="en-US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的影響程度</a:t>
                </a:r>
                <a:r>
                  <a:rPr lang="en-US" altLang="zh-TW" sz="1600" dirty="0" smtClean="0">
                    <a:solidFill>
                      <a:srgbClr val="0070C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endParaRPr lang="zh-TW" altLang="en-US" sz="1600" dirty="0">
                  <a:solidFill>
                    <a:srgbClr val="0070C0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51" y="3378200"/>
                <a:ext cx="11891749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308" t="-3289"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/>
          <p:cNvSpPr txBox="1"/>
          <p:nvPr/>
        </p:nvSpPr>
        <p:spPr>
          <a:xfrm>
            <a:off x="838200" y="5600700"/>
            <a:ext cx="1107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smtClean="0"/>
              <a:t>we can attribute stock </a:t>
            </a:r>
            <a:r>
              <a:rPr lang="en-US" altLang="zh-TW" i="1" dirty="0" smtClean="0"/>
              <a:t>X</a:t>
            </a:r>
            <a:r>
              <a:rPr lang="en-US" altLang="zh-TW" dirty="0" smtClean="0"/>
              <a:t>’s performance to sectors’ performances with coefficients</a:t>
            </a:r>
            <a:endParaRPr lang="zh-TW" alt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5260038" y="4622597"/>
            <a:ext cx="3228869" cy="775872"/>
            <a:chOff x="6632812" y="4615115"/>
            <a:chExt cx="3143489" cy="9117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字方塊 2"/>
                <p:cNvSpPr txBox="1"/>
                <p:nvPr/>
              </p:nvSpPr>
              <p:spPr>
                <a:xfrm>
                  <a:off x="6632812" y="4750954"/>
                  <a:ext cx="3143489" cy="5782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某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𝑠𝑒𝑐𝑡𝑜𝑟</m:t>
                            </m:r>
                            <m:r>
                              <a:rPr lang="zh-TW" alt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對</m:t>
                            </m:r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zh-TW" alt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的影響程度</m:t>
                            </m:r>
                          </m:num>
                          <m:den>
                            <m:r>
                              <a:rPr lang="zh-TW" alt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各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𝑠𝑒𝑐𝑡𝑜𝑟</m:t>
                            </m:r>
                            <m:r>
                              <a:rPr lang="zh-TW" alt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對</m:t>
                            </m:r>
                            <m:r>
                              <m:rPr>
                                <m:sty m:val="p"/>
                              </m:rPr>
                              <a:rPr lang="en-US" altLang="zh-TW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zh-TW" alt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之</m:t>
                            </m:r>
                            <m:r>
                              <a:rPr lang="zh-TW" alt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影響程度的總和</m:t>
                            </m:r>
                          </m:den>
                        </m:f>
                      </m:oMath>
                    </m:oMathPara>
                  </a14:m>
                  <a:endParaRPr lang="zh-TW" alt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文字方塊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2812" y="4750954"/>
                  <a:ext cx="3143489" cy="57823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728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左右括弧 8"/>
            <p:cNvSpPr/>
            <p:nvPr/>
          </p:nvSpPr>
          <p:spPr>
            <a:xfrm>
              <a:off x="6632812" y="4615115"/>
              <a:ext cx="3143489" cy="911711"/>
            </a:xfrm>
            <a:prstGeom prst="bracketPair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2" name="弧形箭號 (下彎) 11"/>
          <p:cNvSpPr/>
          <p:nvPr/>
        </p:nvSpPr>
        <p:spPr>
          <a:xfrm rot="20936666">
            <a:off x="4001430" y="4484184"/>
            <a:ext cx="1251372" cy="196559"/>
          </a:xfrm>
          <a:prstGeom prst="curvedDownArrow">
            <a:avLst>
              <a:gd name="adj1" fmla="val 26535"/>
              <a:gd name="adj2" fmla="val 106286"/>
              <a:gd name="adj3" fmla="val 35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04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5854890" y="368489"/>
            <a:ext cx="6337110" cy="5418161"/>
            <a:chOff x="6305100" y="0"/>
            <a:chExt cx="5886900" cy="5098236"/>
          </a:xfrm>
        </p:grpSpPr>
        <p:pic>
          <p:nvPicPr>
            <p:cNvPr id="4" name="圖片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69" r="15171" b="21450"/>
            <a:stretch/>
          </p:blipFill>
          <p:spPr>
            <a:xfrm>
              <a:off x="6305100" y="0"/>
              <a:ext cx="5886900" cy="4299045"/>
            </a:xfrm>
            <a:prstGeom prst="rect">
              <a:avLst/>
            </a:prstGeom>
          </p:spPr>
        </p:pic>
        <p:pic>
          <p:nvPicPr>
            <p:cNvPr id="3" name="圖片 2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9008"/>
            <a:stretch/>
          </p:blipFill>
          <p:spPr>
            <a:xfrm>
              <a:off x="6305100" y="4299045"/>
              <a:ext cx="5886900" cy="799191"/>
            </a:xfrm>
            <a:prstGeom prst="rect">
              <a:avLst/>
            </a:prstGeom>
          </p:spPr>
        </p:pic>
      </p:grp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196755" y="1619204"/>
            <a:ext cx="5658135" cy="4602472"/>
          </a:xfrm>
        </p:spPr>
        <p:txBody>
          <a:bodyPr>
            <a:noAutofit/>
          </a:bodyPr>
          <a:lstStyle/>
          <a:p>
            <a:r>
              <a:rPr lang="en-US" altLang="zh-TW" sz="2300" b="1" dirty="0" smtClean="0">
                <a:solidFill>
                  <a:srgbClr val="0070C0"/>
                </a:solidFill>
                <a:latin typeface="Cambria" panose="02040503050406030204" pitchFamily="18" charset="0"/>
              </a:rPr>
              <a:t>Alcoa Inc.</a:t>
            </a:r>
            <a:r>
              <a:rPr lang="zh-TW" altLang="en-US" sz="2300" b="1" dirty="0" smtClean="0">
                <a:solidFill>
                  <a:srgbClr val="0070C0"/>
                </a:solidFill>
                <a:latin typeface="Cambria" panose="02040503050406030204" pitchFamily="18" charset="0"/>
              </a:rPr>
              <a:t> ： </a:t>
            </a:r>
            <a:endParaRPr lang="en-US" altLang="zh-TW" sz="2300" b="1" dirty="0" smtClean="0">
              <a:solidFill>
                <a:srgbClr val="0070C0"/>
              </a:solidFill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zh-TW" sz="2300" dirty="0" smtClean="0">
                <a:solidFill>
                  <a:srgbClr val="FFC000"/>
                </a:solidFill>
                <a:latin typeface="Cambria" panose="02040503050406030204" pitchFamily="18" charset="0"/>
              </a:rPr>
              <a:t>energy</a:t>
            </a:r>
            <a:r>
              <a:rPr lang="en-US" altLang="zh-TW" sz="2300" dirty="0">
                <a:latin typeface="Cambria" panose="02040503050406030204" pitchFamily="18" charset="0"/>
              </a:rPr>
              <a:t>, </a:t>
            </a:r>
            <a:r>
              <a:rPr lang="en-US" altLang="zh-TW" sz="2300" dirty="0">
                <a:solidFill>
                  <a:srgbClr val="FFC000"/>
                </a:solidFill>
                <a:latin typeface="Cambria" panose="02040503050406030204" pitchFamily="18" charset="0"/>
              </a:rPr>
              <a:t>industrials</a:t>
            </a:r>
            <a:r>
              <a:rPr lang="en-US" altLang="zh-TW" sz="2300" dirty="0">
                <a:latin typeface="Cambria" panose="02040503050406030204" pitchFamily="18" charset="0"/>
              </a:rPr>
              <a:t> </a:t>
            </a:r>
            <a:r>
              <a:rPr lang="en-US" altLang="zh-TW" sz="2300" dirty="0" smtClean="0">
                <a:latin typeface="Cambria" panose="02040503050406030204" pitchFamily="18" charset="0"/>
              </a:rPr>
              <a:t>and </a:t>
            </a:r>
            <a:r>
              <a:rPr lang="en-US" altLang="zh-TW" sz="2300" dirty="0">
                <a:solidFill>
                  <a:srgbClr val="FFC000"/>
                </a:solidFill>
                <a:latin typeface="Cambria" panose="02040503050406030204" pitchFamily="18" charset="0"/>
              </a:rPr>
              <a:t>materials</a:t>
            </a:r>
            <a:r>
              <a:rPr lang="en-US" altLang="zh-TW" sz="2300" dirty="0">
                <a:latin typeface="Cambria" panose="02040503050406030204" pitchFamily="18" charset="0"/>
              </a:rPr>
              <a:t> sector</a:t>
            </a:r>
            <a:r>
              <a:rPr lang="en-US" altLang="zh-TW" sz="2300" dirty="0" smtClean="0">
                <a:latin typeface="Cambria" panose="02040503050406030204" pitchFamily="18" charset="0"/>
              </a:rPr>
              <a:t>.</a:t>
            </a:r>
          </a:p>
          <a:p>
            <a:r>
              <a:rPr lang="en-US" altLang="zh-TW" sz="2300" b="1" dirty="0" smtClean="0">
                <a:solidFill>
                  <a:srgbClr val="0070C0"/>
                </a:solidFill>
                <a:latin typeface="Cambria" panose="02040503050406030204" pitchFamily="18" charset="0"/>
              </a:rPr>
              <a:t>Franklin Templeton Investments</a:t>
            </a:r>
            <a:r>
              <a:rPr lang="zh-TW" altLang="en-US" sz="2300" b="1" dirty="0" smtClean="0">
                <a:solidFill>
                  <a:srgbClr val="0070C0"/>
                </a:solidFill>
                <a:latin typeface="Cambria" panose="02040503050406030204" pitchFamily="18" charset="0"/>
              </a:rPr>
              <a:t> ： </a:t>
            </a:r>
            <a:endParaRPr lang="en-US" altLang="zh-TW" sz="2300" b="1" dirty="0" smtClean="0">
              <a:solidFill>
                <a:srgbClr val="0070C0"/>
              </a:solidFill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zh-TW" sz="2300" dirty="0" smtClean="0">
                <a:solidFill>
                  <a:srgbClr val="FFC000"/>
                </a:solidFill>
                <a:latin typeface="Cambria" panose="02040503050406030204" pitchFamily="18" charset="0"/>
              </a:rPr>
              <a:t>financials</a:t>
            </a:r>
            <a:r>
              <a:rPr lang="en-US" altLang="zh-TW" sz="2300" dirty="0" smtClean="0">
                <a:latin typeface="Cambria" panose="02040503050406030204" pitchFamily="18" charset="0"/>
              </a:rPr>
              <a:t> </a:t>
            </a:r>
            <a:r>
              <a:rPr lang="en-US" altLang="zh-TW" sz="2300" dirty="0">
                <a:latin typeface="Cambria" panose="02040503050406030204" pitchFamily="18" charset="0"/>
              </a:rPr>
              <a:t>sector</a:t>
            </a:r>
            <a:r>
              <a:rPr lang="en-US" altLang="zh-TW" sz="2300" dirty="0" smtClean="0">
                <a:latin typeface="Cambria" panose="02040503050406030204" pitchFamily="18" charset="0"/>
              </a:rPr>
              <a:t>.</a:t>
            </a:r>
          </a:p>
          <a:p>
            <a:r>
              <a:rPr lang="en-US" altLang="zh-TW" sz="2300" b="1" dirty="0" smtClean="0">
                <a:solidFill>
                  <a:srgbClr val="0070C0"/>
                </a:solidFill>
                <a:latin typeface="Cambria" panose="02040503050406030204" pitchFamily="18" charset="0"/>
              </a:rPr>
              <a:t>GE</a:t>
            </a:r>
            <a:r>
              <a:rPr lang="zh-TW" altLang="en-US" sz="2300" b="1" dirty="0" smtClean="0">
                <a:solidFill>
                  <a:srgbClr val="0070C0"/>
                </a:solidFill>
                <a:latin typeface="Cambria" panose="02040503050406030204" pitchFamily="18" charset="0"/>
              </a:rPr>
              <a:t>：</a:t>
            </a:r>
            <a:endParaRPr lang="en-US" altLang="zh-TW" sz="2300" b="1" dirty="0">
              <a:solidFill>
                <a:srgbClr val="0070C0"/>
              </a:solidFill>
              <a:latin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altLang="zh-TW" sz="2300" dirty="0">
                <a:solidFill>
                  <a:srgbClr val="FFC000"/>
                </a:solidFill>
                <a:latin typeface="Cambria" panose="02040503050406030204" pitchFamily="18" charset="0"/>
              </a:rPr>
              <a:t>energy</a:t>
            </a:r>
            <a:r>
              <a:rPr lang="en-US" altLang="zh-TW" sz="2300" dirty="0" smtClean="0">
                <a:latin typeface="Cambria" panose="02040503050406030204" pitchFamily="18" charset="0"/>
              </a:rPr>
              <a:t>, </a:t>
            </a:r>
            <a:r>
              <a:rPr lang="en-US" altLang="zh-TW" sz="2300" dirty="0">
                <a:solidFill>
                  <a:srgbClr val="FFC000"/>
                </a:solidFill>
                <a:latin typeface="Cambria" panose="02040503050406030204" pitchFamily="18" charset="0"/>
              </a:rPr>
              <a:t>financial</a:t>
            </a:r>
            <a:r>
              <a:rPr lang="en-US" altLang="zh-TW" sz="2300" b="1" dirty="0">
                <a:solidFill>
                  <a:srgbClr val="00B0F0"/>
                </a:solidFill>
                <a:latin typeface="Cambria" panose="02040503050406030204" pitchFamily="18" charset="0"/>
              </a:rPr>
              <a:t> </a:t>
            </a:r>
            <a:r>
              <a:rPr lang="en-US" altLang="zh-TW" sz="2300" dirty="0" smtClean="0">
                <a:latin typeface="Cambria" panose="02040503050406030204" pitchFamily="18" charset="0"/>
              </a:rPr>
              <a:t>and </a:t>
            </a:r>
            <a:r>
              <a:rPr lang="en-US" altLang="zh-TW" sz="2300" dirty="0">
                <a:solidFill>
                  <a:srgbClr val="FFC000"/>
                </a:solidFill>
                <a:latin typeface="Cambria" panose="02040503050406030204" pitchFamily="18" charset="0"/>
              </a:rPr>
              <a:t>utilities</a:t>
            </a:r>
            <a:r>
              <a:rPr lang="en-US" altLang="zh-TW" sz="2300" dirty="0">
                <a:latin typeface="Cambria" panose="02040503050406030204" pitchFamily="18" charset="0"/>
              </a:rPr>
              <a:t> sector</a:t>
            </a:r>
            <a:endParaRPr lang="en-US" altLang="zh-TW" sz="2300" dirty="0" smtClean="0">
              <a:latin typeface="Cambria" panose="02040503050406030204" pitchFamily="18" charset="0"/>
            </a:endParaRPr>
          </a:p>
          <a:p>
            <a:r>
              <a:rPr lang="en-US" altLang="zh-TW" sz="2300" b="1" dirty="0" smtClean="0">
                <a:solidFill>
                  <a:srgbClr val="0070C0"/>
                </a:solidFill>
                <a:latin typeface="Cambria" panose="02040503050406030204" pitchFamily="18" charset="0"/>
              </a:rPr>
              <a:t>Apple</a:t>
            </a:r>
            <a:r>
              <a:rPr lang="zh-TW" altLang="en-US" sz="2300" b="1" dirty="0" smtClean="0">
                <a:solidFill>
                  <a:srgbClr val="0070C0"/>
                </a:solidFill>
                <a:latin typeface="Cambria" panose="02040503050406030204" pitchFamily="18" charset="0"/>
              </a:rPr>
              <a:t> ： </a:t>
            </a:r>
            <a:endParaRPr lang="en-US" altLang="zh-TW" sz="2300" b="1" dirty="0" smtClean="0">
              <a:solidFill>
                <a:srgbClr val="0070C0"/>
              </a:solidFill>
              <a:latin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altLang="zh-TW" sz="2300" dirty="0" smtClean="0">
                <a:latin typeface="Cambria" panose="02040503050406030204" pitchFamily="18" charset="0"/>
              </a:rPr>
              <a:t>we </a:t>
            </a:r>
            <a:r>
              <a:rPr lang="en-US" altLang="zh-TW" sz="2300" dirty="0">
                <a:latin typeface="Cambria" panose="02040503050406030204" pitchFamily="18" charset="0"/>
              </a:rPr>
              <a:t>find </a:t>
            </a:r>
            <a:r>
              <a:rPr lang="en-US" altLang="zh-TW" sz="2300" dirty="0" smtClean="0">
                <a:latin typeface="Cambria" panose="02040503050406030204" pitchFamily="18" charset="0"/>
              </a:rPr>
              <a:t>that there </a:t>
            </a:r>
            <a:r>
              <a:rPr lang="en-US" altLang="zh-TW" sz="2300" dirty="0">
                <a:latin typeface="Cambria" panose="02040503050406030204" pitchFamily="18" charset="0"/>
              </a:rPr>
              <a:t>is a more homogeneous division of the influence </a:t>
            </a:r>
            <a:r>
              <a:rPr lang="en-US" altLang="zh-TW" sz="2300" dirty="0" smtClean="0">
                <a:latin typeface="Cambria" panose="02040503050406030204" pitchFamily="18" charset="0"/>
              </a:rPr>
              <a:t>between the </a:t>
            </a:r>
            <a:r>
              <a:rPr lang="en-US" altLang="zh-TW" sz="2300" dirty="0">
                <a:latin typeface="Cambria" panose="02040503050406030204" pitchFamily="18" charset="0"/>
              </a:rPr>
              <a:t>different sectors</a:t>
            </a:r>
            <a:r>
              <a:rPr lang="en-US" altLang="zh-TW" sz="2300" dirty="0" smtClean="0">
                <a:latin typeface="Cambria" panose="02040503050406030204" pitchFamily="18" charset="0"/>
              </a:rPr>
              <a:t>. </a:t>
            </a:r>
            <a:r>
              <a:rPr lang="en-US" altLang="zh-TW" sz="23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3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均勻分布</a:t>
            </a:r>
            <a:r>
              <a:rPr lang="en-US" altLang="zh-TW" sz="23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300" dirty="0">
              <a:solidFill>
                <a:srgbClr val="FFC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196755" y="341194"/>
                <a:ext cx="5412475" cy="104735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600" dirty="0" smtClean="0"/>
                  <a:t>The pie picture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36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6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6755" y="341194"/>
                <a:ext cx="5412475" cy="1047358"/>
              </a:xfrm>
              <a:blipFill rotWithShape="0">
                <a:blip r:embed="rId3"/>
                <a:stretch>
                  <a:fillRect l="-3378" b="-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0784479" y="1605556"/>
            <a:ext cx="1268297" cy="2923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300" b="1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300" b="1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3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生</a:t>
            </a:r>
            <a:r>
              <a:rPr lang="zh-TW" altLang="en-US" sz="13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活</a:t>
            </a:r>
            <a:r>
              <a:rPr lang="zh-TW" altLang="en-US" sz="13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必需品</a:t>
            </a:r>
            <a:r>
              <a:rPr lang="en-US" altLang="zh-TW" sz="13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13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83801" y="2223792"/>
            <a:ext cx="1101585" cy="2923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300" b="1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300" b="1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300" b="1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健康照護</a:t>
            </a:r>
            <a:r>
              <a:rPr lang="en-US" altLang="zh-TW" sz="13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13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601748" y="3589474"/>
            <a:ext cx="1026143" cy="2923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1300" b="1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300" b="1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3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公用事業</a:t>
            </a:r>
            <a:r>
              <a:rPr lang="en-US" altLang="zh-TW" sz="13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13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220888" y="977307"/>
            <a:ext cx="1435008" cy="2923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1300" b="1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300" b="1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3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生活非必需品</a:t>
            </a:r>
            <a:r>
              <a:rPr lang="en-US" altLang="zh-TW" sz="13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13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582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81" t="587" r="12681" b="26068"/>
          <a:stretch/>
        </p:blipFill>
        <p:spPr>
          <a:xfrm>
            <a:off x="6101390" y="781679"/>
            <a:ext cx="6090610" cy="3786392"/>
          </a:xfrm>
        </p:spPr>
      </p:pic>
      <p:sp>
        <p:nvSpPr>
          <p:cNvPr id="5" name="內容版面配置區 2"/>
          <p:cNvSpPr txBox="1">
            <a:spLocks/>
          </p:cNvSpPr>
          <p:nvPr/>
        </p:nvSpPr>
        <p:spPr>
          <a:xfrm>
            <a:off x="59897" y="1388552"/>
            <a:ext cx="6111918" cy="47994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1800" dirty="0" smtClean="0">
                <a:latin typeface="Cambria" panose="02040503050406030204" pitchFamily="18" charset="0"/>
              </a:rPr>
              <a:t>Calculate the </a:t>
            </a:r>
            <a:r>
              <a:rPr lang="en-US" altLang="zh-TW" sz="1800" dirty="0">
                <a:latin typeface="Cambria" panose="02040503050406030204" pitchFamily="18" charset="0"/>
              </a:rPr>
              <a:t>Pearson correlation of </a:t>
            </a:r>
            <a:r>
              <a:rPr lang="en-US" altLang="zh-TW" sz="1800" dirty="0">
                <a:solidFill>
                  <a:srgbClr val="0070C0"/>
                </a:solidFill>
                <a:latin typeface="Cambria" panose="02040503050406030204" pitchFamily="18" charset="0"/>
              </a:rPr>
              <a:t>influences from two sectors to the same </a:t>
            </a:r>
            <a:r>
              <a:rPr lang="en-US" altLang="zh-TW" sz="1800" dirty="0" smtClean="0">
                <a:solidFill>
                  <a:srgbClr val="0070C0"/>
                </a:solidFill>
                <a:latin typeface="Cambria" panose="02040503050406030204" pitchFamily="18" charset="0"/>
              </a:rPr>
              <a:t>stocks.</a:t>
            </a:r>
          </a:p>
          <a:p>
            <a:pPr marL="0" indent="0" algn="just">
              <a:buNone/>
            </a:pPr>
            <a:r>
              <a:rPr lang="en-US" altLang="zh-TW" sz="1800" dirty="0" smtClean="0">
                <a:latin typeface="Cambria" panose="02040503050406030204" pitchFamily="18" charset="0"/>
              </a:rPr>
              <a:t>i.e</a:t>
            </a:r>
            <a:r>
              <a:rPr lang="en-US" altLang="zh-TW" sz="1800" dirty="0">
                <a:latin typeface="Cambria" panose="02040503050406030204" pitchFamily="18" charset="0"/>
              </a:rPr>
              <a:t>. </a:t>
            </a:r>
            <a:r>
              <a:rPr lang="en-US" altLang="zh-TW" sz="1800" i="1" dirty="0">
                <a:latin typeface="Cambria" panose="02040503050406030204" pitchFamily="18" charset="0"/>
              </a:rPr>
              <a:t>ρ(</a:t>
            </a:r>
            <a:r>
              <a:rPr lang="en-US" altLang="zh-TW" sz="1800" i="1" dirty="0" err="1">
                <a:latin typeface="Cambria" panose="02040503050406030204" pitchFamily="18" charset="0"/>
              </a:rPr>
              <a:t>d</a:t>
            </a:r>
            <a:r>
              <a:rPr lang="en-US" altLang="zh-TW" sz="1800" i="1" baseline="30000" dirty="0" err="1">
                <a:latin typeface="Cambria" panose="02040503050406030204" pitchFamily="18" charset="0"/>
              </a:rPr>
              <a:t>Si</a:t>
            </a:r>
            <a:r>
              <a:rPr lang="en-US" altLang="zh-TW" sz="1800" i="1" dirty="0">
                <a:latin typeface="Cambria" panose="02040503050406030204" pitchFamily="18" charset="0"/>
              </a:rPr>
              <a:t> , </a:t>
            </a:r>
            <a:r>
              <a:rPr lang="en-US" altLang="zh-TW" sz="1800" i="1" dirty="0" err="1">
                <a:latin typeface="Cambria" panose="02040503050406030204" pitchFamily="18" charset="0"/>
              </a:rPr>
              <a:t>d</a:t>
            </a:r>
            <a:r>
              <a:rPr lang="en-US" altLang="zh-TW" sz="1800" i="1" baseline="30000" dirty="0" err="1">
                <a:latin typeface="Cambria" panose="02040503050406030204" pitchFamily="18" charset="0"/>
              </a:rPr>
              <a:t>Sj</a:t>
            </a:r>
            <a:r>
              <a:rPr lang="en-US" altLang="zh-TW" sz="1800" i="1" dirty="0">
                <a:latin typeface="Cambria" panose="02040503050406030204" pitchFamily="18" charset="0"/>
              </a:rPr>
              <a:t> )</a:t>
            </a:r>
            <a:r>
              <a:rPr lang="en-US" altLang="zh-TW" sz="1800" dirty="0">
                <a:latin typeface="Cambria" panose="02040503050406030204" pitchFamily="18" charset="0"/>
              </a:rPr>
              <a:t>, where </a:t>
            </a:r>
            <a:r>
              <a:rPr lang="en-US" altLang="zh-TW" sz="1800" i="1" dirty="0" err="1">
                <a:latin typeface="Cambria" panose="02040503050406030204" pitchFamily="18" charset="0"/>
              </a:rPr>
              <a:t>d</a:t>
            </a:r>
            <a:r>
              <a:rPr lang="en-US" altLang="zh-TW" sz="1800" i="1" baseline="30000" dirty="0" err="1">
                <a:latin typeface="Cambria" panose="02040503050406030204" pitchFamily="18" charset="0"/>
              </a:rPr>
              <a:t>Si</a:t>
            </a:r>
            <a:r>
              <a:rPr lang="en-US" altLang="zh-TW" sz="1800" i="1" dirty="0">
                <a:latin typeface="Cambria" panose="02040503050406030204" pitchFamily="18" charset="0"/>
              </a:rPr>
              <a:t> </a:t>
            </a:r>
            <a:r>
              <a:rPr lang="en-US" altLang="zh-TW" sz="1800" dirty="0">
                <a:latin typeface="Cambria" panose="02040503050406030204" pitchFamily="18" charset="0"/>
              </a:rPr>
              <a:t>represents the vector variable of influence from sector </a:t>
            </a:r>
            <a:r>
              <a:rPr lang="en-US" altLang="zh-TW" sz="1800" i="1" dirty="0" err="1">
                <a:latin typeface="Cambria" panose="02040503050406030204" pitchFamily="18" charset="0"/>
              </a:rPr>
              <a:t>i</a:t>
            </a:r>
            <a:r>
              <a:rPr lang="en-US" altLang="zh-TW" sz="1800" i="1" dirty="0">
                <a:latin typeface="Cambria" panose="02040503050406030204" pitchFamily="18" charset="0"/>
              </a:rPr>
              <a:t> </a:t>
            </a:r>
            <a:r>
              <a:rPr lang="en-US" altLang="zh-TW" sz="1800" dirty="0">
                <a:latin typeface="Cambria" panose="02040503050406030204" pitchFamily="18" charset="0"/>
              </a:rPr>
              <a:t>to all stocks</a:t>
            </a:r>
            <a:r>
              <a:rPr lang="en-US" altLang="zh-TW" sz="1800" dirty="0" smtClean="0">
                <a:latin typeface="Cambria" panose="02040503050406030204" pitchFamily="18" charset="0"/>
              </a:rPr>
              <a:t>.</a:t>
            </a:r>
            <a:endParaRPr lang="en-US" altLang="zh-TW" sz="1800" dirty="0" smtClean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r>
              <a:rPr lang="zh-TW" altLang="en-US" sz="1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兩</a:t>
            </a:r>
            <a:r>
              <a:rPr lang="en-US" altLang="zh-TW" sz="1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sector influence</a:t>
            </a:r>
            <a:r>
              <a:rPr lang="zh-TW" altLang="en-US" sz="1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相關性高，代表它們同時對某些相同的股票影響程</a:t>
            </a:r>
            <a:r>
              <a:rPr lang="zh-TW" altLang="en-US" sz="1800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度</a:t>
            </a:r>
            <a:r>
              <a:rPr lang="zh-TW" altLang="en-US" sz="18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大。</a:t>
            </a:r>
            <a:endParaRPr lang="en-US" altLang="zh-TW" sz="1800" dirty="0" smtClean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endParaRPr lang="en-US" altLang="zh-TW" sz="1600" dirty="0" smtClean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just"/>
            <a:r>
              <a:rPr lang="zh-TW" altLang="en-US" sz="1800" b="1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正相關</a:t>
            </a:r>
            <a:r>
              <a:rPr lang="en-US" altLang="zh-TW" sz="18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(S&amp;P500)</a:t>
            </a:r>
            <a:r>
              <a:rPr lang="zh-TW" altLang="en-US" sz="1800" b="1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sz="1800" b="1" u="sng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r>
              <a:rPr lang="en-US" altLang="zh-TW" sz="1800" b="1" dirty="0" smtClean="0">
                <a:solidFill>
                  <a:srgbClr val="00B0F0"/>
                </a:solidFill>
                <a:latin typeface="Cambria" panose="02040503050406030204" pitchFamily="18" charset="0"/>
              </a:rPr>
              <a:t>industrials</a:t>
            </a:r>
            <a:r>
              <a:rPr lang="en-US" altLang="zh-TW" sz="1800" dirty="0" smtClean="0">
                <a:latin typeface="Cambria" panose="02040503050406030204" pitchFamily="18" charset="0"/>
              </a:rPr>
              <a:t> sector</a:t>
            </a:r>
            <a:r>
              <a:rPr lang="zh-TW" altLang="en-US" sz="1800" dirty="0" smtClean="0">
                <a:latin typeface="Cambria" panose="02040503050406030204" pitchFamily="18" charset="0"/>
              </a:rPr>
              <a:t>、</a:t>
            </a:r>
            <a:r>
              <a:rPr lang="en-US" altLang="zh-TW" sz="1800" b="1" dirty="0" smtClean="0">
                <a:solidFill>
                  <a:srgbClr val="00B0F0"/>
                </a:solidFill>
                <a:latin typeface="Cambria" panose="02040503050406030204" pitchFamily="18" charset="0"/>
              </a:rPr>
              <a:t>consumer</a:t>
            </a:r>
            <a:r>
              <a:rPr lang="en-US" altLang="zh-TW" sz="1800" dirty="0" smtClean="0">
                <a:solidFill>
                  <a:srgbClr val="00B0F0"/>
                </a:solidFill>
                <a:latin typeface="Cambria" panose="02040503050406030204" pitchFamily="18" charset="0"/>
              </a:rPr>
              <a:t> </a:t>
            </a:r>
            <a:r>
              <a:rPr lang="en-US" altLang="zh-TW" sz="1800" b="1" dirty="0">
                <a:solidFill>
                  <a:srgbClr val="00B0F0"/>
                </a:solidFill>
                <a:latin typeface="Cambria" panose="02040503050406030204" pitchFamily="18" charset="0"/>
              </a:rPr>
              <a:t>discretionary</a:t>
            </a:r>
            <a:r>
              <a:rPr lang="en-US" altLang="zh-TW" sz="1800" dirty="0">
                <a:solidFill>
                  <a:srgbClr val="00B0F0"/>
                </a:solidFill>
                <a:latin typeface="Cambria" panose="02040503050406030204" pitchFamily="18" charset="0"/>
              </a:rPr>
              <a:t> </a:t>
            </a:r>
            <a:r>
              <a:rPr lang="en-US" altLang="zh-TW" sz="1800" dirty="0" smtClean="0">
                <a:latin typeface="Cambria" panose="02040503050406030204" pitchFamily="18" charset="0"/>
              </a:rPr>
              <a:t>sector </a:t>
            </a: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r>
              <a:rPr lang="en-US" altLang="zh-TW" sz="18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materials</a:t>
            </a:r>
            <a:r>
              <a:rPr lang="en-US" altLang="zh-TW" sz="18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altLang="zh-TW" sz="1800" dirty="0" smtClean="0">
                <a:latin typeface="Cambria" panose="02040503050406030204" pitchFamily="18" charset="0"/>
              </a:rPr>
              <a:t>sector</a:t>
            </a:r>
            <a:r>
              <a:rPr lang="zh-TW" altLang="en-US" sz="1800" dirty="0" smtClean="0">
                <a:latin typeface="Cambria" panose="02040503050406030204" pitchFamily="18" charset="0"/>
              </a:rPr>
              <a:t>、</a:t>
            </a:r>
            <a:r>
              <a:rPr lang="en-US" altLang="zh-TW" sz="18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industrials</a:t>
            </a:r>
            <a:r>
              <a:rPr lang="en-US" altLang="zh-TW" sz="1800" dirty="0" smtClean="0">
                <a:solidFill>
                  <a:srgbClr val="FF0000"/>
                </a:solidFill>
                <a:latin typeface="Cambria" panose="02040503050406030204" pitchFamily="18" charset="0"/>
              </a:rPr>
              <a:t> </a:t>
            </a:r>
            <a:r>
              <a:rPr lang="en-US" altLang="zh-TW" sz="1800" dirty="0" smtClean="0">
                <a:latin typeface="Cambria" panose="02040503050406030204" pitchFamily="18" charset="0"/>
              </a:rPr>
              <a:t>sector</a:t>
            </a: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r>
              <a:rPr lang="en-US" altLang="zh-TW" sz="1800" b="1" dirty="0" smtClean="0">
                <a:solidFill>
                  <a:srgbClr val="FFC000"/>
                </a:solidFill>
                <a:latin typeface="Cambria" panose="02040503050406030204" pitchFamily="18" charset="0"/>
              </a:rPr>
              <a:t>communications</a:t>
            </a:r>
            <a:r>
              <a:rPr lang="en-US" altLang="zh-TW" sz="1800" dirty="0" smtClean="0">
                <a:solidFill>
                  <a:srgbClr val="00B0F0"/>
                </a:solidFill>
                <a:latin typeface="Cambria" panose="02040503050406030204" pitchFamily="18" charset="0"/>
              </a:rPr>
              <a:t> </a:t>
            </a:r>
            <a:r>
              <a:rPr lang="en-US" altLang="zh-TW" sz="1800" dirty="0" smtClean="0">
                <a:latin typeface="Cambria" panose="02040503050406030204" pitchFamily="18" charset="0"/>
              </a:rPr>
              <a:t>sector</a:t>
            </a:r>
            <a:r>
              <a:rPr lang="zh-TW" altLang="en-US" sz="1800" dirty="0" smtClean="0">
                <a:latin typeface="Cambria" panose="02040503050406030204" pitchFamily="18" charset="0"/>
              </a:rPr>
              <a:t>、</a:t>
            </a:r>
            <a:r>
              <a:rPr lang="en-US" altLang="zh-TW" sz="1800" b="1" dirty="0" smtClean="0">
                <a:solidFill>
                  <a:srgbClr val="FFC000"/>
                </a:solidFill>
                <a:latin typeface="Cambria" panose="02040503050406030204" pitchFamily="18" charset="0"/>
              </a:rPr>
              <a:t>technology</a:t>
            </a:r>
            <a:r>
              <a:rPr lang="en-US" altLang="zh-TW" sz="1800" dirty="0" smtClean="0">
                <a:solidFill>
                  <a:srgbClr val="FFC000"/>
                </a:solidFill>
                <a:latin typeface="Cambria" panose="02040503050406030204" pitchFamily="18" charset="0"/>
              </a:rPr>
              <a:t> </a:t>
            </a:r>
            <a:r>
              <a:rPr lang="en-US" altLang="zh-TW" sz="1800" dirty="0" smtClean="0">
                <a:latin typeface="Cambria" panose="02040503050406030204" pitchFamily="18" charset="0"/>
              </a:rPr>
              <a:t>sector</a:t>
            </a:r>
          </a:p>
          <a:p>
            <a:r>
              <a:rPr lang="zh-TW" altLang="en-US" sz="1800" b="1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正相關</a:t>
            </a:r>
            <a:r>
              <a:rPr lang="en-US" altLang="zh-TW" sz="18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(Nikkei </a:t>
            </a:r>
            <a:r>
              <a:rPr lang="en-US" altLang="zh-TW" sz="18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500</a:t>
            </a:r>
            <a:r>
              <a:rPr lang="zh-TW" altLang="en-US" sz="18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sz="18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BES </a:t>
            </a:r>
            <a:r>
              <a:rPr lang="en-US" altLang="zh-TW" sz="18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200)</a:t>
            </a:r>
            <a:r>
              <a:rPr lang="zh-TW" altLang="en-US" sz="1800" b="1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sz="1800" b="1" u="sng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1800" b="1" dirty="0">
                <a:solidFill>
                  <a:srgbClr val="00B0F0"/>
                </a:solidFill>
                <a:latin typeface="Cambria" panose="02040503050406030204" pitchFamily="18" charset="0"/>
              </a:rPr>
              <a:t>materials</a:t>
            </a:r>
            <a:r>
              <a:rPr lang="en-US" altLang="zh-TW" sz="1800" dirty="0">
                <a:latin typeface="Cambria" panose="02040503050406030204" pitchFamily="18" charset="0"/>
              </a:rPr>
              <a:t> sector</a:t>
            </a:r>
            <a:r>
              <a:rPr lang="zh-TW" altLang="en-US" sz="1800" dirty="0">
                <a:latin typeface="Cambria" panose="02040503050406030204" pitchFamily="18" charset="0"/>
              </a:rPr>
              <a:t>、</a:t>
            </a:r>
            <a:r>
              <a:rPr lang="en-US" altLang="zh-TW" sz="1800" b="1" dirty="0">
                <a:solidFill>
                  <a:srgbClr val="00B0F0"/>
                </a:solidFill>
                <a:latin typeface="Cambria" panose="02040503050406030204" pitchFamily="18" charset="0"/>
              </a:rPr>
              <a:t>industrials</a:t>
            </a:r>
            <a:r>
              <a:rPr lang="en-US" altLang="zh-TW" sz="1800" dirty="0">
                <a:latin typeface="Cambria" panose="02040503050406030204" pitchFamily="18" charset="0"/>
              </a:rPr>
              <a:t> </a:t>
            </a:r>
            <a:r>
              <a:rPr lang="en-US" altLang="zh-TW" sz="1800" dirty="0" smtClean="0">
                <a:latin typeface="Cambria" panose="02040503050406030204" pitchFamily="18" charset="0"/>
              </a:rPr>
              <a:t>sector</a:t>
            </a:r>
          </a:p>
          <a:p>
            <a:pPr marL="0" indent="0">
              <a:buNone/>
            </a:pPr>
            <a:r>
              <a:rPr lang="en-US" altLang="zh-TW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" panose="02040503050406030204" pitchFamily="18" charset="0"/>
              </a:rPr>
              <a:t> </a:t>
            </a:r>
            <a:r>
              <a:rPr lang="en-US" altLang="zh-TW" sz="18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mbria" panose="02040503050406030204" pitchFamily="18" charset="0"/>
              </a:rPr>
              <a:t>        </a:t>
            </a:r>
            <a:r>
              <a:rPr lang="en-US" altLang="zh-TW" sz="1800" dirty="0">
                <a:latin typeface="Cambria" panose="02040503050406030204" pitchFamily="18" charset="0"/>
              </a:rPr>
              <a:t>Their influence are very close to each other</a:t>
            </a:r>
            <a:r>
              <a:rPr lang="en-US" altLang="zh-TW" sz="1800" dirty="0" smtClean="0">
                <a:latin typeface="Cambria" panose="02040503050406030204" pitchFamily="18" charset="0"/>
              </a:rPr>
              <a:t>.</a:t>
            </a:r>
            <a:endParaRPr lang="en-US" altLang="zh-TW" sz="1800" dirty="0">
              <a:latin typeface="Cambria" panose="02040503050406030204" pitchFamily="18" charset="0"/>
            </a:endParaRPr>
          </a:p>
        </p:txBody>
      </p:sp>
      <p:pic>
        <p:nvPicPr>
          <p:cNvPr id="6" name="內容版面配置區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3" t="73924"/>
          <a:stretch/>
        </p:blipFill>
        <p:spPr>
          <a:xfrm>
            <a:off x="6171815" y="4568071"/>
            <a:ext cx="5949760" cy="993351"/>
          </a:xfrm>
          <a:prstGeom prst="rect">
            <a:avLst/>
          </a:prstGeom>
        </p:spPr>
      </p:pic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210403" y="136477"/>
            <a:ext cx="5412475" cy="1047358"/>
          </a:xfrm>
        </p:spPr>
        <p:txBody>
          <a:bodyPr>
            <a:normAutofit fontScale="90000"/>
          </a:bodyPr>
          <a:lstStyle/>
          <a:p>
            <a:r>
              <a:rPr lang="en-US" altLang="zh-TW" sz="3600" dirty="0" smtClean="0"/>
              <a:t>Some sectors tend to influence the same stocks concurrently.</a:t>
            </a:r>
            <a:endParaRPr lang="zh-TW" altLang="en-US" sz="3600" dirty="0"/>
          </a:p>
        </p:txBody>
      </p:sp>
      <p:sp>
        <p:nvSpPr>
          <p:cNvPr id="3" name="向右箭號 2"/>
          <p:cNvSpPr/>
          <p:nvPr/>
        </p:nvSpPr>
        <p:spPr>
          <a:xfrm>
            <a:off x="151630" y="5889542"/>
            <a:ext cx="376451" cy="163773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" name="群組 9"/>
          <p:cNvGrpSpPr/>
          <p:nvPr/>
        </p:nvGrpSpPr>
        <p:grpSpPr>
          <a:xfrm>
            <a:off x="6101390" y="5561422"/>
            <a:ext cx="5746224" cy="923330"/>
            <a:chOff x="6101390" y="5561422"/>
            <a:chExt cx="5746224" cy="923330"/>
          </a:xfrm>
        </p:grpSpPr>
        <p:sp>
          <p:nvSpPr>
            <p:cNvPr id="9" name="文字方塊 8"/>
            <p:cNvSpPr txBox="1"/>
            <p:nvPr/>
          </p:nvSpPr>
          <p:spPr>
            <a:xfrm>
              <a:off x="6101390" y="5561422"/>
              <a:ext cx="574622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b="1" u="sng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負相關</a:t>
              </a:r>
              <a:r>
                <a:rPr lang="en-US" altLang="zh-TW" u="sng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(S&amp;P500)</a:t>
              </a:r>
              <a:r>
                <a:rPr lang="zh-TW" altLang="en-US" b="1" u="sng" dirty="0" smtClean="0">
                  <a:latin typeface="標楷體" panose="03000509000000000000" pitchFamily="65" charset="-120"/>
                  <a:ea typeface="標楷體" panose="03000509000000000000" pitchFamily="65" charset="-120"/>
                </a:rPr>
                <a:t>：</a:t>
              </a:r>
              <a:endParaRPr lang="en-US" altLang="zh-TW" b="1" u="sng" dirty="0" smtClean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r>
                <a:rPr lang="en-US" altLang="zh-TW" b="1" dirty="0" smtClean="0">
                  <a:solidFill>
                    <a:srgbClr val="FF0000"/>
                  </a:solidFill>
                  <a:latin typeface="Cambria" panose="02040503050406030204" pitchFamily="18" charset="0"/>
                </a:rPr>
                <a:t>utilities</a:t>
              </a:r>
              <a:r>
                <a:rPr lang="en-US" altLang="zh-TW" dirty="0" smtClean="0">
                  <a:solidFill>
                    <a:srgbClr val="FF0000"/>
                  </a:solidFill>
                  <a:latin typeface="Cambria" panose="02040503050406030204" pitchFamily="18" charset="0"/>
                </a:rPr>
                <a:t> </a:t>
              </a:r>
              <a:r>
                <a:rPr lang="en-US" altLang="zh-TW" dirty="0" smtClean="0">
                  <a:latin typeface="Cambria" panose="02040503050406030204" pitchFamily="18" charset="0"/>
                </a:rPr>
                <a:t>sector and </a:t>
              </a:r>
              <a:r>
                <a:rPr lang="en-US" altLang="zh-TW" b="1" dirty="0" smtClean="0">
                  <a:solidFill>
                    <a:srgbClr val="FF0000"/>
                  </a:solidFill>
                  <a:latin typeface="Cambria" panose="02040503050406030204" pitchFamily="18" charset="0"/>
                </a:rPr>
                <a:t>consumer</a:t>
              </a:r>
              <a:r>
                <a:rPr lang="en-US" altLang="zh-TW" dirty="0" smtClean="0">
                  <a:solidFill>
                    <a:srgbClr val="FF0000"/>
                  </a:solidFill>
                  <a:latin typeface="Cambria" panose="02040503050406030204" pitchFamily="18" charset="0"/>
                </a:rPr>
                <a:t> </a:t>
              </a:r>
              <a:r>
                <a:rPr lang="en-US" altLang="zh-TW" b="1" dirty="0" smtClean="0">
                  <a:solidFill>
                    <a:srgbClr val="FF0000"/>
                  </a:solidFill>
                  <a:latin typeface="Cambria" panose="02040503050406030204" pitchFamily="18" charset="0"/>
                </a:rPr>
                <a:t>discretionary</a:t>
              </a:r>
              <a:r>
                <a:rPr lang="en-US" altLang="zh-TW" dirty="0" smtClean="0">
                  <a:solidFill>
                    <a:srgbClr val="FF0000"/>
                  </a:solidFill>
                  <a:latin typeface="Cambria" panose="02040503050406030204" pitchFamily="18" charset="0"/>
                </a:rPr>
                <a:t> </a:t>
              </a:r>
              <a:r>
                <a:rPr lang="en-US" altLang="zh-TW" dirty="0" smtClean="0">
                  <a:latin typeface="Cambria" panose="02040503050406030204" pitchFamily="18" charset="0"/>
                </a:rPr>
                <a:t>sector</a:t>
              </a:r>
            </a:p>
            <a:p>
              <a:r>
                <a:rPr lang="en-US" altLang="zh-TW" dirty="0" smtClean="0">
                  <a:latin typeface="Cambria" panose="02040503050406030204" pitchFamily="18" charset="0"/>
                </a:rPr>
                <a:t>         One is highly </a:t>
              </a:r>
              <a:r>
                <a:rPr lang="en-US" altLang="zh-TW" dirty="0" err="1" smtClean="0">
                  <a:latin typeface="Cambria" panose="02040503050406030204" pitchFamily="18" charset="0"/>
                </a:rPr>
                <a:t>influence,the</a:t>
              </a:r>
              <a:r>
                <a:rPr lang="en-US" altLang="zh-TW" dirty="0" smtClean="0">
                  <a:latin typeface="Cambria" panose="02040503050406030204" pitchFamily="18" charset="0"/>
                </a:rPr>
                <a:t> other is little influence.</a:t>
              </a:r>
            </a:p>
          </p:txBody>
        </p:sp>
        <p:sp>
          <p:nvSpPr>
            <p:cNvPr id="8" name="向右箭號 7"/>
            <p:cNvSpPr/>
            <p:nvPr/>
          </p:nvSpPr>
          <p:spPr>
            <a:xfrm>
              <a:off x="6216243" y="6188008"/>
              <a:ext cx="376451" cy="163773"/>
            </a:xfrm>
            <a:prstGeom prst="right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1463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13944" y="291973"/>
            <a:ext cx="10515600" cy="1325563"/>
          </a:xfrm>
        </p:spPr>
        <p:txBody>
          <a:bodyPr/>
          <a:lstStyle/>
          <a:p>
            <a:r>
              <a:rPr lang="en-US" altLang="zh-TW" dirty="0" smtClean="0"/>
              <a:t>Conclusion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13944" y="1825625"/>
            <a:ext cx="11731752" cy="4351338"/>
          </a:xfrm>
        </p:spPr>
        <p:txBody>
          <a:bodyPr>
            <a:normAutofit/>
          </a:bodyPr>
          <a:lstStyle/>
          <a:p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en-US" altLang="zh-TW" sz="2500" dirty="0" smtClean="0">
                <a:latin typeface="Cambria" panose="02040503050406030204" pitchFamily="18" charset="0"/>
                <a:ea typeface="標楷體" panose="03000509000000000000" pitchFamily="65" charset="-120"/>
              </a:rPr>
              <a:t>partial correlation</a:t>
            </a:r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分析不同股票間</a:t>
            </a:r>
            <a:r>
              <a:rPr lang="en-US" altLang="zh-TW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可能不只兩個</a:t>
            </a:r>
            <a:r>
              <a:rPr lang="en-US" altLang="zh-TW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的相關性。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（相依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?or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獨立</a:t>
            </a:r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r>
              <a:rPr lang="zh-TW" altLang="en-US" sz="1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sz="1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5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此篇所提的方法，可用來</a:t>
            </a:r>
            <a: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排</a:t>
            </a:r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除其餘會影響相關性結果的對象。</a:t>
            </a:r>
            <a:endParaRPr lang="en-US" altLang="zh-TW" sz="25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5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已</a:t>
            </a:r>
            <a: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開發</a:t>
            </a:r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國家</a:t>
            </a:r>
            <a:r>
              <a:rPr lang="en-US" altLang="zh-TW" sz="2500" dirty="0" smtClean="0">
                <a:latin typeface="Cambria" panose="020405030504060302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500" dirty="0" err="1" smtClean="0">
                <a:latin typeface="Cambria" panose="02040503050406030204" pitchFamily="18" charset="0"/>
                <a:ea typeface="標楷體" panose="03000509000000000000" pitchFamily="65" charset="-120"/>
              </a:rPr>
              <a:t>US,UK,and</a:t>
            </a:r>
            <a:r>
              <a:rPr lang="en-US" altLang="zh-TW" sz="2500" dirty="0" smtClean="0">
                <a:latin typeface="Cambria" panose="02040503050406030204" pitchFamily="18" charset="0"/>
                <a:ea typeface="標楷體" panose="03000509000000000000" pitchFamily="65" charset="-120"/>
              </a:rPr>
              <a:t> Japan)</a:t>
            </a:r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相對開發</a:t>
            </a:r>
            <a: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中</a:t>
            </a:r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國家</a:t>
            </a:r>
            <a:r>
              <a:rPr lang="en-US" altLang="zh-TW" sz="2500" dirty="0" smtClean="0">
                <a:latin typeface="Cambria" panose="02040503050406030204" pitchFamily="18" charset="0"/>
                <a:ea typeface="標楷體" panose="03000509000000000000" pitchFamily="65" charset="-120"/>
              </a:rPr>
              <a:t>(India)</a:t>
            </a:r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來說，市場結構穩定性較高。</a:t>
            </a:r>
            <a:endParaRPr lang="en-US" altLang="zh-TW" sz="25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25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股票可能會受到除了本身所屬類股之外的其它類股所影響。</a:t>
            </a:r>
            <a:endParaRPr lang="zh-TW" altLang="en-US" sz="25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277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5147</TotalTime>
  <Words>2243</Words>
  <Application>Microsoft Office PowerPoint</Application>
  <PresentationFormat>寬螢幕</PresentationFormat>
  <Paragraphs>218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4" baseType="lpstr">
      <vt:lpstr>Microsoft YaHei UI</vt:lpstr>
      <vt:lpstr>新細明體</vt:lpstr>
      <vt:lpstr>標楷體</vt:lpstr>
      <vt:lpstr>Arial</vt:lpstr>
      <vt:lpstr>Calibri</vt:lpstr>
      <vt:lpstr>Calibri Light</vt:lpstr>
      <vt:lpstr>Cambria</vt:lpstr>
      <vt:lpstr>Cambria Math</vt:lpstr>
      <vt:lpstr>Tahoma</vt:lpstr>
      <vt:lpstr>Wingdings</vt:lpstr>
      <vt:lpstr>Office 佈景主題</vt:lpstr>
      <vt:lpstr>Partial correlation analysis : application for financial markets</vt:lpstr>
      <vt:lpstr>Review of partial correlation</vt:lpstr>
      <vt:lpstr>Data of experiment</vt:lpstr>
      <vt:lpstr>PowerPoint 簡報</vt:lpstr>
      <vt:lpstr>PowerPoint 簡報</vt:lpstr>
      <vt:lpstr>PowerPoint 簡報</vt:lpstr>
      <vt:lpstr>Partial correlation</vt:lpstr>
      <vt:lpstr>PowerPoint 簡報</vt:lpstr>
      <vt:lpstr>PowerPoint 簡報</vt:lpstr>
      <vt:lpstr>PowerPoint 簡報</vt:lpstr>
      <vt:lpstr>PowerPoint 簡報</vt:lpstr>
      <vt:lpstr>Stable v.s Volatile</vt:lpstr>
      <vt:lpstr>PowerPoint 簡報</vt:lpstr>
      <vt:lpstr>PowerPoint 簡報</vt:lpstr>
      <vt:lpstr>PowerPoint 簡報</vt:lpstr>
      <vt:lpstr>PowerPoint 簡報</vt:lpstr>
      <vt:lpstr>Discussion of stability</vt:lpstr>
      <vt:lpstr>PowerPoint 簡報</vt:lpstr>
      <vt:lpstr>PowerPoint 簡報</vt:lpstr>
      <vt:lpstr>The partial correlation methodology to study the multiple-sector influence on stocks</vt:lpstr>
      <vt:lpstr>The pie picture of β_X^S</vt:lpstr>
      <vt:lpstr>Some sectors tend to influence the same stocks concurrently.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Partial correlation analysis : application for financial markets</dc:title>
  <dc:creator>jhan</dc:creator>
  <cp:lastModifiedBy>jhan</cp:lastModifiedBy>
  <cp:revision>201</cp:revision>
  <dcterms:created xsi:type="dcterms:W3CDTF">2016-09-13T07:47:11Z</dcterms:created>
  <dcterms:modified xsi:type="dcterms:W3CDTF">2016-10-14T08:19:15Z</dcterms:modified>
</cp:coreProperties>
</file>