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70" r:id="rId4"/>
    <p:sldId id="259" r:id="rId5"/>
    <p:sldId id="260" r:id="rId6"/>
    <p:sldId id="261" r:id="rId7"/>
    <p:sldId id="262" r:id="rId8"/>
    <p:sldId id="263" r:id="rId9"/>
    <p:sldId id="268" r:id="rId10"/>
    <p:sldId id="266" r:id="rId11"/>
    <p:sldId id="267" r:id="rId12"/>
    <p:sldId id="269" r:id="rId13"/>
    <p:sldId id="265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92" d="100"/>
          <a:sy n="92" d="100"/>
        </p:scale>
        <p:origin x="9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716F5-4889-444D-A115-324C6BA44605}" type="datetimeFigureOut">
              <a:rPr lang="zh-TW" altLang="en-US" smtClean="0"/>
              <a:t>2016/9/21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AA4CC-4197-4A4E-8190-C63859CFF0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0526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4E8A48-0BB3-4429-A23E-981E055DBE4D}" type="slidenum">
              <a:rPr kern="0">
                <a:solidFill>
                  <a:srgbClr val="000000"/>
                </a:solidFill>
              </a:rPr>
              <a:pPr algn="r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400">
              <a:solidFill>
                <a:srgbClr val="000000"/>
              </a:solidFill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625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69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0952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07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2016/9/21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234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2016/9/21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71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2016/9/21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806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2016/9/21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5028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2016/9/21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557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2016/9/21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824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9339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06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08494-D09C-4163-A279-DEAA5259EAB0}" type="datetimeFigureOut">
              <a:rPr lang="zh-TW" altLang="en-US" smtClean="0"/>
              <a:t>2016/9/21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563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>
          <a:xfrm>
            <a:off x="813731" y="3335076"/>
            <a:ext cx="10201013" cy="1449115"/>
          </a:xfrm>
        </p:spPr>
        <p:txBody>
          <a:bodyPr wrap="square">
            <a:spAutoFit/>
          </a:bodyPr>
          <a:lstStyle/>
          <a:p>
            <a:pPr lvl="0"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Proceedings of the 2014 Conference on Empirical Methods in Natural Language Processing(EMNLP), 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</a:rPr>
              <a:t>Pages</a:t>
            </a:r>
            <a: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. 1746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–1751,</a:t>
            </a:r>
            <a:r>
              <a:rPr lang="en-US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/>
            </a:r>
            <a:br>
              <a:rPr lang="en-US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</a:br>
            <a:r>
              <a:rPr lang="en-US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Yoon Kim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(2014) </a:t>
            </a:r>
            <a: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/>
            </a:r>
            <a:b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</a:br>
            <a:endParaRPr lang="en-US" sz="2449" b="1" dirty="0">
              <a:solidFill>
                <a:srgbClr val="898989"/>
              </a:solidFill>
              <a:latin typeface="Liberation Sans Narrow" pitchFamily="34"/>
              <a:ea typeface="新細明體" pitchFamily="2"/>
            </a:endParaRP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395416" y="849121"/>
            <a:ext cx="11582399" cy="1897136"/>
          </a:xfrm>
        </p:spPr>
        <p:txBody>
          <a:bodyPr anchorCtr="1">
            <a:normAutofit/>
          </a:bodyPr>
          <a:lstStyle/>
          <a:p>
            <a:pPr marL="0" lvl="0" indent="0" algn="ctr">
              <a:buNone/>
            </a:pPr>
            <a:r>
              <a:rPr lang="en-US" sz="4800" dirty="0"/>
              <a:t>Convolutional Neural Networks for Sentence Classification</a:t>
            </a:r>
            <a:endParaRPr lang="en-US" sz="4800" b="1" dirty="0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4294967295"/>
          </p:nvPr>
        </p:nvSpPr>
        <p:spPr>
          <a:xfrm>
            <a:off x="2162522" y="4515041"/>
            <a:ext cx="8229630" cy="1897136"/>
          </a:xfrm>
        </p:spPr>
        <p:txBody>
          <a:bodyPr>
            <a:normAutofit lnSpcReduction="10000"/>
          </a:bodyPr>
          <a:lstStyle/>
          <a:p>
            <a:pPr lvl="1" algn="r" hangingPunct="0">
              <a:spcBef>
                <a:spcPts val="1284"/>
              </a:spcBef>
              <a:buNone/>
            </a:pPr>
            <a:endParaRPr lang="en-US" sz="2903" dirty="0">
              <a:highlight>
                <a:scrgbClr r="0" g="0" b="0">
                  <a:alpha val="0"/>
                </a:scrgbClr>
              </a:highlight>
              <a:latin typeface="Liberation Sans" pitchFamily="18"/>
              <a:ea typeface="微軟正黑體" pitchFamily="2"/>
              <a:cs typeface="Mangal" pitchFamily="2"/>
            </a:endParaRPr>
          </a:p>
          <a:p>
            <a:pPr lvl="1" algn="r" hangingPunct="0">
              <a:spcBef>
                <a:spcPts val="1284"/>
              </a:spcBef>
              <a:buNone/>
            </a:pPr>
            <a:endParaRPr lang="en-US" sz="2903" dirty="0">
              <a:highlight>
                <a:scrgbClr r="0" g="0" b="0">
                  <a:alpha val="0"/>
                </a:scrgbClr>
              </a:highlight>
              <a:latin typeface="Liberation Sans" pitchFamily="18"/>
              <a:ea typeface="微軟正黑體" pitchFamily="2"/>
              <a:cs typeface="Mangal" pitchFamily="2"/>
            </a:endParaRPr>
          </a:p>
          <a:p>
            <a:pPr lvl="1" algn="r" hangingPunct="0">
              <a:spcBef>
                <a:spcPts val="1284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Jyun-Hao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Lai</a:t>
            </a:r>
          </a:p>
          <a:p>
            <a:pPr lvl="1" algn="r" hangingPunct="0">
              <a:spcBef>
                <a:spcPts val="1284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2016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/ 09 / 21</a:t>
            </a:r>
          </a:p>
        </p:txBody>
      </p:sp>
    </p:spTree>
    <p:extLst>
      <p:ext uri="{BB962C8B-B14F-4D97-AF65-F5344CB8AC3E}">
        <p14:creationId xmlns:p14="http://schemas.microsoft.com/office/powerpoint/2010/main" val="27749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60" y="68562"/>
            <a:ext cx="10515600" cy="1325563"/>
          </a:xfrm>
        </p:spPr>
        <p:txBody>
          <a:bodyPr/>
          <a:lstStyle/>
          <a:p>
            <a:r>
              <a:rPr lang="en-US" altLang="zh-TW" b="1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60" y="1228166"/>
            <a:ext cx="10971688" cy="50132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200" dirty="0"/>
              <a:t>We report on a series of experiments with convolutional neural networks(CNN) trained on top of pre-trained word vectors for sentence-level classification tasks. We show that a simple CNN with little </a:t>
            </a:r>
            <a:r>
              <a:rPr lang="en-US" altLang="zh-TW" sz="3200" dirty="0" err="1"/>
              <a:t>hyperparameter</a:t>
            </a:r>
            <a:r>
              <a:rPr lang="en-US" altLang="zh-TW" sz="3200" dirty="0"/>
              <a:t> tuning and static vectors achieves excellent results on multiple benchmarks. Learning task-specific vectors through fine-tuning offers further gains in performance. We additionally propose a simple modification to the architecture to allow for the use of both task-specific and static vectors. The CNN models discussed herein improve upon the state of the art on 4 out of 7 tasks, which include sentiment analysis and question classification.</a:t>
            </a:r>
            <a:endParaRPr lang="zh-TW" altLang="en-US" sz="32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1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群組 69"/>
          <p:cNvGrpSpPr/>
          <p:nvPr/>
        </p:nvGrpSpPr>
        <p:grpSpPr>
          <a:xfrm>
            <a:off x="603309" y="1976929"/>
            <a:ext cx="6285171" cy="4383588"/>
            <a:chOff x="1545127" y="1722766"/>
            <a:chExt cx="6285171" cy="43835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字方塊 4"/>
                <p:cNvSpPr txBox="1"/>
                <p:nvPr/>
              </p:nvSpPr>
              <p:spPr>
                <a:xfrm>
                  <a:off x="1545127" y="1722766"/>
                  <a:ext cx="538609" cy="6013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4000" baseline="-25000" dirty="0"/>
                </a:p>
              </p:txBody>
            </p:sp>
          </mc:Choice>
          <mc:Fallback xmlns="">
            <p:sp>
              <p:nvSpPr>
                <p:cNvPr id="5" name="文字方塊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5127" y="1722766"/>
                  <a:ext cx="538609" cy="601383"/>
                </a:xfrm>
                <a:prstGeom prst="rect">
                  <a:avLst/>
                </a:prstGeom>
                <a:blipFill>
                  <a:blip r:embed="rId2"/>
                  <a:stretch>
                    <a:fillRect b="-101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4580389" y="2782472"/>
              <a:ext cx="528507" cy="494950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>
                  <a:solidFill>
                    <a:srgbClr val="002060"/>
                  </a:solidFill>
                </a:rPr>
                <a:t>+</a:t>
              </a:r>
              <a:endParaRPr lang="zh-TW" altLang="en-US" sz="2800" dirty="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/>
                <p:cNvSpPr txBox="1"/>
                <p:nvPr/>
              </p:nvSpPr>
              <p:spPr>
                <a:xfrm>
                  <a:off x="1574591" y="2517785"/>
                  <a:ext cx="538609" cy="6013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TW" altLang="en-US" sz="4000" baseline="-25000" dirty="0"/>
                </a:p>
              </p:txBody>
            </p:sp>
          </mc:Choice>
          <mc:Fallback xmlns="">
            <p:sp>
              <p:nvSpPr>
                <p:cNvPr id="9" name="文字方塊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4591" y="2517785"/>
                  <a:ext cx="538609" cy="601383"/>
                </a:xfrm>
                <a:prstGeom prst="rect">
                  <a:avLst/>
                </a:prstGeom>
                <a:blipFill>
                  <a:blip r:embed="rId3"/>
                  <a:stretch>
                    <a:fillRect b="-102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/>
                <p:cNvSpPr txBox="1"/>
                <p:nvPr/>
              </p:nvSpPr>
              <p:spPr>
                <a:xfrm>
                  <a:off x="1576918" y="4674284"/>
                  <a:ext cx="553805" cy="6013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baseline="-2500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TW" altLang="en-US" sz="4000" baseline="-25000" dirty="0"/>
                </a:p>
              </p:txBody>
            </p:sp>
          </mc:Choice>
          <mc:Fallback xmlns="">
            <p:sp>
              <p:nvSpPr>
                <p:cNvPr id="10" name="文字方塊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6918" y="4674284"/>
                  <a:ext cx="553805" cy="601383"/>
                </a:xfrm>
                <a:prstGeom prst="rect">
                  <a:avLst/>
                </a:prstGeom>
                <a:blipFill>
                  <a:blip r:embed="rId4"/>
                  <a:stretch>
                    <a:fillRect b="-101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/>
                <p:cNvSpPr txBox="1"/>
                <p:nvPr/>
              </p:nvSpPr>
              <p:spPr>
                <a:xfrm>
                  <a:off x="1784345" y="2952698"/>
                  <a:ext cx="177934" cy="14773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smtClean="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altLang="zh-TW" sz="32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altLang="zh-TW" sz="32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 xmlns="">
            <p:sp>
              <p:nvSpPr>
                <p:cNvPr id="12" name="文字方塊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4345" y="2952698"/>
                  <a:ext cx="177934" cy="147732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線單箭頭接點 14"/>
            <p:cNvCxnSpPr>
              <a:stCxn id="5" idx="3"/>
              <a:endCxn id="8" idx="1"/>
            </p:cNvCxnSpPr>
            <p:nvPr/>
          </p:nvCxnSpPr>
          <p:spPr>
            <a:xfrm>
              <a:off x="2083736" y="2023458"/>
              <a:ext cx="2496653" cy="1006489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直線單箭頭接點 15"/>
            <p:cNvCxnSpPr>
              <a:stCxn id="9" idx="3"/>
              <a:endCxn id="8" idx="1"/>
            </p:cNvCxnSpPr>
            <p:nvPr/>
          </p:nvCxnSpPr>
          <p:spPr>
            <a:xfrm>
              <a:off x="2113200" y="2818477"/>
              <a:ext cx="2467189" cy="21147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10" idx="3"/>
              <a:endCxn id="8" idx="1"/>
            </p:cNvCxnSpPr>
            <p:nvPr/>
          </p:nvCxnSpPr>
          <p:spPr>
            <a:xfrm flipV="1">
              <a:off x="2130723" y="3029947"/>
              <a:ext cx="2449666" cy="1945029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1602216" y="5581880"/>
              <a:ext cx="528507" cy="49495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/>
                <p:cNvSpPr/>
                <p:nvPr/>
              </p:nvSpPr>
              <p:spPr>
                <a:xfrm>
                  <a:off x="3130686" y="4602102"/>
                  <a:ext cx="943848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𝑖𝑎𝑠</m:t>
                        </m:r>
                      </m:oMath>
                    </m:oMathPara>
                  </a14:m>
                  <a:endParaRPr lang="zh-TW" altLang="en-US" sz="280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" name="矩形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0686" y="4602102"/>
                  <a:ext cx="94384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直線單箭頭接點 26"/>
            <p:cNvCxnSpPr>
              <a:stCxn id="24" idx="3"/>
              <a:endCxn id="8" idx="1"/>
            </p:cNvCxnSpPr>
            <p:nvPr/>
          </p:nvCxnSpPr>
          <p:spPr>
            <a:xfrm flipV="1">
              <a:off x="2130723" y="3029947"/>
              <a:ext cx="2449666" cy="2799408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/>
                <p:cNvSpPr/>
                <p:nvPr/>
              </p:nvSpPr>
              <p:spPr>
                <a:xfrm>
                  <a:off x="2894916" y="1795992"/>
                  <a:ext cx="636713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2800" i="1" baseline="-25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2800" baseline="-25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矩形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4916" y="1795992"/>
                  <a:ext cx="636713" cy="51328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/>
                <p:cNvSpPr/>
                <p:nvPr/>
              </p:nvSpPr>
              <p:spPr>
                <a:xfrm>
                  <a:off x="2872474" y="2388315"/>
                  <a:ext cx="635109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2800" i="1" baseline="-25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TW" altLang="en-US" sz="2800" i="1" baseline="-2500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矩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2474" y="2388315"/>
                  <a:ext cx="635109" cy="51328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/>
                <p:cNvSpPr/>
                <p:nvPr/>
              </p:nvSpPr>
              <p:spPr>
                <a:xfrm>
                  <a:off x="2885555" y="3524275"/>
                  <a:ext cx="646074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2800" i="1" baseline="-25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TW" altLang="en-US" sz="2800" i="1" baseline="-2500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矩形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5555" y="3524275"/>
                  <a:ext cx="646074" cy="51328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矩形 34"/>
            <p:cNvSpPr/>
            <p:nvPr/>
          </p:nvSpPr>
          <p:spPr>
            <a:xfrm>
              <a:off x="1675609" y="5552356"/>
              <a:ext cx="380232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3000" dirty="0"/>
                <a:t>1</a:t>
              </a:r>
              <a:endParaRPr lang="zh-TW" altLang="en-US" sz="3000" dirty="0"/>
            </a:p>
          </p:txBody>
        </p:sp>
        <p:cxnSp>
          <p:nvCxnSpPr>
            <p:cNvPr id="40" name="直線單箭頭接點 39"/>
            <p:cNvCxnSpPr>
              <a:stCxn id="8" idx="3"/>
            </p:cNvCxnSpPr>
            <p:nvPr/>
          </p:nvCxnSpPr>
          <p:spPr>
            <a:xfrm>
              <a:off x="5108896" y="3029947"/>
              <a:ext cx="570451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5" name="橢圓 44"/>
            <p:cNvSpPr/>
            <p:nvPr/>
          </p:nvSpPr>
          <p:spPr>
            <a:xfrm>
              <a:off x="5679347" y="2725085"/>
              <a:ext cx="721453" cy="60972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/>
                <p:cNvSpPr txBox="1"/>
                <p:nvPr/>
              </p:nvSpPr>
              <p:spPr>
                <a:xfrm>
                  <a:off x="5696870" y="2845280"/>
                  <a:ext cx="6944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47" name="文字方塊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6870" y="2845280"/>
                  <a:ext cx="694421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 48"/>
                <p:cNvSpPr/>
                <p:nvPr/>
              </p:nvSpPr>
              <p:spPr>
                <a:xfrm>
                  <a:off x="5216027" y="2660614"/>
                  <a:ext cx="35618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𝒛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9" name="矩形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6027" y="2660614"/>
                  <a:ext cx="35618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49"/>
                <p:cNvSpPr txBox="1"/>
                <p:nvPr/>
              </p:nvSpPr>
              <p:spPr>
                <a:xfrm>
                  <a:off x="4990426" y="4310496"/>
                  <a:ext cx="2099293" cy="7340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200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  <m:d>
                          <m:dPr>
                            <m:ctrlPr>
                              <a:rPr lang="en-US" altLang="zh-TW" sz="2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200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  <m:r>
                          <a:rPr lang="en-US" altLang="zh-TW" sz="22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2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sz="2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sz="22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TW" sz="2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200" b="1" i="1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zh-TW" sz="22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2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TW" altLang="en-US" sz="2200" b="1" dirty="0"/>
                </a:p>
              </p:txBody>
            </p:sp>
          </mc:Choice>
          <mc:Fallback xmlns="">
            <p:sp>
              <p:nvSpPr>
                <p:cNvPr id="50" name="文字方塊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0426" y="4310496"/>
                  <a:ext cx="2099293" cy="73404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文字方塊 50"/>
            <p:cNvSpPr txBox="1"/>
            <p:nvPr/>
          </p:nvSpPr>
          <p:spPr>
            <a:xfrm>
              <a:off x="4748833" y="3572484"/>
              <a:ext cx="30101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Activation Function</a:t>
              </a:r>
              <a:endParaRPr lang="zh-TW" altLang="en-US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/>
                <p:cNvSpPr txBox="1"/>
                <p:nvPr/>
              </p:nvSpPr>
              <p:spPr>
                <a:xfrm>
                  <a:off x="5373219" y="1981614"/>
                  <a:ext cx="1499321" cy="493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/>
                        </m:sSup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55" name="文字方塊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3219" y="1981614"/>
                  <a:ext cx="1499321" cy="4932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直線單箭頭接點 55"/>
            <p:cNvCxnSpPr>
              <a:stCxn id="47" idx="3"/>
            </p:cNvCxnSpPr>
            <p:nvPr/>
          </p:nvCxnSpPr>
          <p:spPr>
            <a:xfrm>
              <a:off x="6391291" y="3029946"/>
              <a:ext cx="1108467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59" name="矩形 58"/>
            <p:cNvSpPr/>
            <p:nvPr/>
          </p:nvSpPr>
          <p:spPr>
            <a:xfrm>
              <a:off x="7499758" y="2818476"/>
              <a:ext cx="33054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b="1" dirty="0"/>
                <a:t>y</a:t>
              </a:r>
              <a:endParaRPr lang="zh-TW" altLang="en-US" sz="2400" dirty="0"/>
            </a:p>
          </p:txBody>
        </p:sp>
      </p:grpSp>
      <p:sp>
        <p:nvSpPr>
          <p:cNvPr id="60" name="標題 1"/>
          <p:cNvSpPr>
            <a:spLocks noGrp="1"/>
          </p:cNvSpPr>
          <p:nvPr>
            <p:ph type="title"/>
          </p:nvPr>
        </p:nvSpPr>
        <p:spPr>
          <a:xfrm>
            <a:off x="259352" y="101261"/>
            <a:ext cx="10515600" cy="1325563"/>
          </a:xfrm>
        </p:spPr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捲積神經網路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(CNN)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基礎入門</a:t>
            </a:r>
            <a:endParaRPr lang="zh-TW" altLang="en-US" dirty="0"/>
          </a:p>
        </p:txBody>
      </p:sp>
      <p:grpSp>
        <p:nvGrpSpPr>
          <p:cNvPr id="81" name="群組 80"/>
          <p:cNvGrpSpPr/>
          <p:nvPr/>
        </p:nvGrpSpPr>
        <p:grpSpPr>
          <a:xfrm>
            <a:off x="7511619" y="1764690"/>
            <a:ext cx="4485580" cy="3038837"/>
            <a:chOff x="6495033" y="409672"/>
            <a:chExt cx="5102952" cy="3120122"/>
          </a:xfrm>
        </p:grpSpPr>
        <p:sp>
          <p:nvSpPr>
            <p:cNvPr id="63" name="橢圓 62"/>
            <p:cNvSpPr/>
            <p:nvPr/>
          </p:nvSpPr>
          <p:spPr>
            <a:xfrm>
              <a:off x="10453096" y="1144306"/>
              <a:ext cx="461395" cy="4546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10453096" y="1781033"/>
              <a:ext cx="461395" cy="4546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/>
                <p:cNvSpPr txBox="1"/>
                <p:nvPr/>
              </p:nvSpPr>
              <p:spPr>
                <a:xfrm>
                  <a:off x="10383871" y="1824863"/>
                  <a:ext cx="5998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65" name="文字方塊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3871" y="1824863"/>
                  <a:ext cx="599844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/>
                <p:cNvSpPr txBox="1"/>
                <p:nvPr/>
              </p:nvSpPr>
              <p:spPr>
                <a:xfrm>
                  <a:off x="10383871" y="1167068"/>
                  <a:ext cx="5998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66" name="文字方塊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3871" y="1167068"/>
                  <a:ext cx="599844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橢圓 66"/>
            <p:cNvSpPr/>
            <p:nvPr/>
          </p:nvSpPr>
          <p:spPr>
            <a:xfrm>
              <a:off x="10456592" y="3075172"/>
              <a:ext cx="461395" cy="4546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字方塊 67"/>
                <p:cNvSpPr txBox="1"/>
                <p:nvPr/>
              </p:nvSpPr>
              <p:spPr>
                <a:xfrm>
                  <a:off x="10387367" y="3097934"/>
                  <a:ext cx="5998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68" name="文字方塊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7367" y="3097934"/>
                  <a:ext cx="599844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114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字方塊 68"/>
                <p:cNvSpPr txBox="1"/>
                <p:nvPr/>
              </p:nvSpPr>
              <p:spPr>
                <a:xfrm>
                  <a:off x="10639710" y="2206711"/>
                  <a:ext cx="88166" cy="7386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 smtClean="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altLang="zh-TW" sz="16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altLang="zh-TW" sz="16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69" name="文字方塊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39710" y="2206711"/>
                  <a:ext cx="88166" cy="73866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1" name="圖片 7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495033" y="1126614"/>
              <a:ext cx="1838325" cy="1695450"/>
            </a:xfrm>
            <a:prstGeom prst="rect">
              <a:avLst/>
            </a:prstGeom>
          </p:spPr>
        </p:pic>
        <p:sp>
          <p:nvSpPr>
            <p:cNvPr id="73" name="文字方塊 72"/>
            <p:cNvSpPr txBox="1"/>
            <p:nvPr/>
          </p:nvSpPr>
          <p:spPr>
            <a:xfrm>
              <a:off x="10055255" y="409672"/>
              <a:ext cx="12570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Output</a:t>
              </a:r>
              <a:endPara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4" name="圓角矩形 73"/>
            <p:cNvSpPr/>
            <p:nvPr/>
          </p:nvSpPr>
          <p:spPr>
            <a:xfrm>
              <a:off x="8497020" y="1676996"/>
              <a:ext cx="1511045" cy="69925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向右箭號 74"/>
            <p:cNvSpPr/>
            <p:nvPr/>
          </p:nvSpPr>
          <p:spPr>
            <a:xfrm>
              <a:off x="8071240" y="1974339"/>
              <a:ext cx="226503" cy="181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8434442" y="1815954"/>
              <a:ext cx="14654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Machine</a:t>
              </a:r>
              <a:endPara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7" name="向右箭號 76"/>
            <p:cNvSpPr/>
            <p:nvPr/>
          </p:nvSpPr>
          <p:spPr>
            <a:xfrm>
              <a:off x="10116094" y="1970587"/>
              <a:ext cx="226503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圓角矩形 77"/>
            <p:cNvSpPr/>
            <p:nvPr/>
          </p:nvSpPr>
          <p:spPr>
            <a:xfrm>
              <a:off x="10383872" y="1676997"/>
              <a:ext cx="599844" cy="575136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10983714" y="1767138"/>
              <a:ext cx="6142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b="1" dirty="0">
                  <a:solidFill>
                    <a:srgbClr val="FF0000"/>
                  </a:solidFill>
                </a:rPr>
                <a:t>Is 2</a:t>
              </a:r>
              <a:endParaRPr lang="zh-TW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6927416" y="460521"/>
              <a:ext cx="9813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Input</a:t>
              </a:r>
              <a:endPara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93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捲積神經網路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(CNN)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基礎入門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影像處理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對影像的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個捲積運算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實際上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就是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ㄧ個濾波過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程。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綠色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影像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，可以是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ㄧ張黑白圖片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是黑色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pixel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是白色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pixel 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。黄色就表示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濾波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器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(filter)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，也叫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捲積核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CN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kernal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。透過捲積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對影像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pixel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進行加權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獲得影像的某種特徵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044" y="3652058"/>
            <a:ext cx="4118558" cy="300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9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捲積神經網路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(CNN)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基礎入門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39028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舉個例子，如果綠色圖片是一個人，黃色矩陣代表一個眼睛，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捲積的過程就是拿這個矩陣去匹配，則在眼睛的部分會有比較大的響應。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9" name="群組 8"/>
          <p:cNvGrpSpPr/>
          <p:nvPr/>
        </p:nvGrpSpPr>
        <p:grpSpPr>
          <a:xfrm>
            <a:off x="3253819" y="3223394"/>
            <a:ext cx="5684361" cy="3086100"/>
            <a:chOff x="2563432" y="3289296"/>
            <a:chExt cx="5684361" cy="3086100"/>
          </a:xfrm>
        </p:grpSpPr>
        <p:sp>
          <p:nvSpPr>
            <p:cNvPr id="6" name="文字方塊 5"/>
            <p:cNvSpPr txBox="1"/>
            <p:nvPr/>
          </p:nvSpPr>
          <p:spPr>
            <a:xfrm>
              <a:off x="6672530" y="5898972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涼宮春日</a:t>
              </a:r>
            </a:p>
          </p:txBody>
        </p:sp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63432" y="3289296"/>
              <a:ext cx="2802011" cy="3086100"/>
            </a:xfrm>
            <a:prstGeom prst="rect">
              <a:avLst/>
            </a:prstGeom>
          </p:spPr>
        </p:pic>
        <p:sp>
          <p:nvSpPr>
            <p:cNvPr id="8" name="向右箭號 7"/>
            <p:cNvSpPr/>
            <p:nvPr/>
          </p:nvSpPr>
          <p:spPr>
            <a:xfrm>
              <a:off x="5561621" y="4503940"/>
              <a:ext cx="304910" cy="2494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5264" y="3464653"/>
              <a:ext cx="2042529" cy="23316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637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1627" y="26299"/>
            <a:ext cx="10515600" cy="1325563"/>
          </a:xfrm>
        </p:spPr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捲積神經網路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(CNN)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基礎入門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1627" y="1398905"/>
            <a:ext cx="10515600" cy="447792"/>
          </a:xfrm>
        </p:spPr>
        <p:txBody>
          <a:bodyPr>
            <a:normAutofit lnSpcReduction="10000"/>
          </a:bodyPr>
          <a:lstStyle/>
          <a:p>
            <a:r>
              <a:rPr lang="en-US" altLang="zh-TW" b="1" dirty="0">
                <a:solidFill>
                  <a:srgbClr val="0070C0"/>
                </a:solidFill>
              </a:rPr>
              <a:t>local receptive fields</a:t>
            </a:r>
            <a:endParaRPr lang="zh-TW" alt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71627" y="2017502"/>
                <a:ext cx="11642739" cy="1334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在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原始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神經網路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中，每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層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神經元總是與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前面一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層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的所有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神經元相連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，也就是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全相連</a:t>
                </a:r>
                <a:r>
                  <a:rPr lang="en-US" altLang="zh-TW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(full connected)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而在</a:t>
                </a:r>
                <a:r>
                  <a:rPr lang="en-US" altLang="zh-TW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CNN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當中，</a:t>
                </a:r>
                <a:endPara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每個隱藏層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神經元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都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會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和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輸入層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的部分神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經元相連。</a:t>
                </a:r>
                <a:endPara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對於一個</a:t>
                </a:r>
                <a:r>
                  <a:rPr lang="en-US" altLang="zh-CN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1000 × 1000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輸入影像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而言，如果下一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層隱藏層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神經元數目為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r>
                  <a:rPr lang="en-US" altLang="zh-CN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full connected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有</a:t>
                </a:r>
                <a:r>
                  <a:rPr lang="en-US" altLang="zh-CN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1000 × 1000 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</m:sup>
                    </m:sSup>
                  </m:oMath>
                </a14:m>
                <a:endParaRPr lang="en-US" altLang="zh-CN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個權值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，如此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巨大的參數幾乎難以訓練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；而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採用</a:t>
                </a:r>
                <a:r>
                  <a:rPr lang="en-US" altLang="zh-CN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local connected 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隱藏層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每個神經元與影像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中</a:t>
                </a:r>
                <a:r>
                  <a:rPr lang="en-US" altLang="zh-CN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10 × 10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的局部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影像連結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endParaRPr lang="en-US" altLang="zh-CN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此時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權值參數數量為</a:t>
                </a:r>
                <a:r>
                  <a:rPr lang="en-US" altLang="zh-CN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10 × 10 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，少了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。</a:t>
                </a:r>
                <a:endPara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27" y="2017502"/>
                <a:ext cx="11642739" cy="1334596"/>
              </a:xfrm>
              <a:prstGeom prst="rect">
                <a:avLst/>
              </a:prstGeom>
              <a:blipFill>
                <a:blip r:embed="rId2"/>
                <a:stretch>
                  <a:fillRect l="-262" t="-1826" b="-45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417" y="3780332"/>
            <a:ext cx="3368529" cy="2526397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0" y="3780332"/>
            <a:ext cx="3368529" cy="252639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583" y="122791"/>
            <a:ext cx="3708783" cy="181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4192" y="147724"/>
            <a:ext cx="10515600" cy="1325563"/>
          </a:xfrm>
        </p:spPr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捲積神經網路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(CNN)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基礎入門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51638" y="1137728"/>
                <a:ext cx="10515600" cy="2276591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b="1" dirty="0">
                    <a:solidFill>
                      <a:srgbClr val="0070C0"/>
                    </a:solidFill>
                  </a:rPr>
                  <a:t>shared weights</a:t>
                </a:r>
              </a:p>
              <a:p>
                <a:pPr marL="0" indent="0">
                  <a:buNone/>
                </a:pP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即使減少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了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一些訓練參數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，但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參數數量仍較多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。能不能再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減少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呢？</a:t>
                </a:r>
                <a:endParaRPr lang="en-US" altLang="zh-CN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>
                  <a:buNone/>
                </a:pP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方法就是</a:t>
                </a:r>
                <a:r>
                  <a:rPr lang="en-US" altLang="zh-TW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shared weights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。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具體做法是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，在局部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連接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中隐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隱藏層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的每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一個神經元連接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的是一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個</a:t>
                </a:r>
                <a:r>
                  <a:rPr lang="en-US" altLang="zh-CN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10 × 10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的局部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影像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，因此有</a:t>
                </a:r>
                <a:r>
                  <a:rPr lang="en-US" altLang="zh-CN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10 × 10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個權值參數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將這</a:t>
                </a:r>
                <a:r>
                  <a:rPr lang="en-US" altLang="zh-CN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10 × 10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個權值參數分享給剩下的神經元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，也就是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隱藏層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個神經元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權值參數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相同，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此時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不管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隱藏層神經元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數目是多少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需要訓練的參數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就是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這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 </a:t>
                </a:r>
                <a:r>
                  <a:rPr lang="en-US" altLang="zh-CN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10 × 10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個參數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（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也就是濾波器的大小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）</a:t>
                </a:r>
                <a:endParaRPr lang="en-US" altLang="zh-CN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>
                  <a:buNone/>
                </a:pP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另外，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有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時候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，我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們將從輸入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到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隱藏層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映射叫做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en-US" altLang="zh-CN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feature map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，實際應用中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我們</a:t>
                </a:r>
                <a:r>
                  <a:rPr lang="zh-CN" altLang="en-US" sz="1600" b="1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可能不只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一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個</a:t>
                </a:r>
                <a:r>
                  <a:rPr lang="en-US" altLang="zh-CN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feature map</a:t>
                </a:r>
                <a:r>
                  <a:rPr lang="zh-CN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r>
                  <a:rPr lang="zh-TW" altLang="en-US" sz="1600" b="1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可能有</a:t>
                </a:r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多個。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1638" y="1137728"/>
                <a:ext cx="10515600" cy="2276591"/>
              </a:xfrm>
              <a:blipFill rotWithShape="0">
                <a:blip r:embed="rId2"/>
                <a:stretch>
                  <a:fillRect l="-1043" t="-4558" r="-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29" y="3595785"/>
            <a:ext cx="6466338" cy="265678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649" y="4404323"/>
            <a:ext cx="3719119" cy="167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7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5470" y="264457"/>
            <a:ext cx="10515600" cy="1325563"/>
          </a:xfrm>
        </p:spPr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捲積神經網路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(CNN)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基礎入門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1304" y="1322286"/>
            <a:ext cx="11518784" cy="1622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b="1" dirty="0">
                <a:solidFill>
                  <a:srgbClr val="0070C0"/>
                </a:solidFill>
              </a:rPr>
              <a:t>Pooling</a:t>
            </a:r>
          </a:p>
          <a:p>
            <a:pPr marL="0" indent="0">
              <a:buNone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為了進一步</a:t>
            </a:r>
            <a:r>
              <a:rPr lang="zh-CN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降低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神經網路訓練參數以及模型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(model)</a:t>
            </a:r>
            <a:r>
              <a:rPr lang="zh-CN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CN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overfitting</a:t>
            </a:r>
            <a:r>
              <a:rPr lang="zh-CN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我們對捲積層進行</a:t>
            </a:r>
            <a:r>
              <a:rPr lang="en-US" altLang="zh-CN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Pooling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處理。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以常見的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max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pooling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為例子，</a:t>
            </a:r>
            <a:r>
              <a:rPr lang="zh-CN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CN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max pooling</a:t>
            </a:r>
            <a:r>
              <a:rPr lang="zh-CN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中，</a:t>
            </a:r>
            <a:r>
              <a:rPr lang="en-US" altLang="zh-CN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pooling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層</a:t>
            </a:r>
            <a:r>
              <a:rPr lang="zh-CN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的每一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個神經元</a:t>
            </a:r>
            <a:r>
              <a:rPr lang="zh-CN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的值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對應捲積層</a:t>
            </a:r>
            <a:r>
              <a:rPr lang="zh-CN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CN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2*2</a:t>
            </a:r>
            <a:r>
              <a:rPr lang="zh-CN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區域最大</a:t>
            </a:r>
            <a:r>
              <a:rPr lang="zh-CN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輸出值。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6" name="群組 15"/>
          <p:cNvGrpSpPr/>
          <p:nvPr/>
        </p:nvGrpSpPr>
        <p:grpSpPr>
          <a:xfrm>
            <a:off x="7892734" y="3125258"/>
            <a:ext cx="2594994" cy="2914650"/>
            <a:chOff x="953549" y="2944536"/>
            <a:chExt cx="2594994" cy="2914650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3549" y="2944536"/>
              <a:ext cx="1638300" cy="2914650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1551963" y="3229761"/>
              <a:ext cx="956345" cy="9144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向右箭號 6"/>
            <p:cNvSpPr/>
            <p:nvPr/>
          </p:nvSpPr>
          <p:spPr>
            <a:xfrm>
              <a:off x="2659310" y="3609162"/>
              <a:ext cx="285226" cy="180364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3106722" y="3439077"/>
              <a:ext cx="441821" cy="495767"/>
            </a:xfrm>
            <a:prstGeom prst="ellipse">
              <a:avLst/>
            </a:prstGeom>
            <a:noFill/>
            <a:ln w="571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3160011" y="347712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/>
                <a:t>4</a:t>
              </a:r>
              <a:endParaRPr lang="zh-TW" altLang="en-US" sz="2000" dirty="0"/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033948" y="2682918"/>
            <a:ext cx="5164023" cy="3799329"/>
            <a:chOff x="5819593" y="2704021"/>
            <a:chExt cx="5164023" cy="3799329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8550" y="3475823"/>
              <a:ext cx="1884683" cy="1336675"/>
            </a:xfrm>
            <a:prstGeom prst="rect">
              <a:avLst/>
            </a:prstGeom>
          </p:spPr>
        </p:pic>
        <p:pic>
          <p:nvPicPr>
            <p:cNvPr id="10" name="圖片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0696" y="4859310"/>
              <a:ext cx="2131182" cy="1513265"/>
            </a:xfrm>
            <a:prstGeom prst="rect">
              <a:avLst/>
            </a:prstGeom>
          </p:spPr>
        </p:pic>
        <p:pic>
          <p:nvPicPr>
            <p:cNvPr id="11" name="圖片 1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8435" y="3906831"/>
              <a:ext cx="2439127" cy="1475589"/>
            </a:xfrm>
            <a:prstGeom prst="rect">
              <a:avLst/>
            </a:prstGeom>
          </p:spPr>
        </p:pic>
        <p:sp>
          <p:nvSpPr>
            <p:cNvPr id="12" name="文字方塊 11"/>
            <p:cNvSpPr txBox="1"/>
            <p:nvPr/>
          </p:nvSpPr>
          <p:spPr>
            <a:xfrm>
              <a:off x="7866320" y="2704021"/>
              <a:ext cx="17615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overfitting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8747106" y="5489854"/>
              <a:ext cx="223651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→不是樹葉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誤以為樹葉必須有鋸齒</a:t>
              </a:r>
            </a:p>
          </p:txBody>
        </p:sp>
        <p:sp>
          <p:nvSpPr>
            <p:cNvPr id="14" name="圓角矩形 13"/>
            <p:cNvSpPr/>
            <p:nvPr/>
          </p:nvSpPr>
          <p:spPr>
            <a:xfrm>
              <a:off x="5819593" y="3268164"/>
              <a:ext cx="2372286" cy="3235186"/>
            </a:xfrm>
            <a:prstGeom prst="round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5852946" y="4050891"/>
              <a:ext cx="389850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樹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葉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訓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練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樣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313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356668" y="150851"/>
            <a:ext cx="115691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word embedding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的意思是：</a:t>
            </a:r>
            <a:endParaRPr lang="en-US" altLang="zh-CN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給定一文件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那麼可以將文件想像成一個連續的序列，例如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 B A C B F G</a:t>
            </a: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我們希望對文件中的每一個詞，都能夠得到一個對映的向量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b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例如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 B A C B F G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也許我們最後能夠得到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對映的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向量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[0.1 0.6 -0.5]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對映的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向量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[-0.2 0.9 0.7]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在未來，如果我們想要知道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的同義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相似，相關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詞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，就可以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透過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求詞</a:t>
            </a:r>
            <a:r>
              <a:rPr lang="en-US" altLang="zh-CN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CN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cos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r>
              <a:rPr lang="zh-CN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下最相似的向量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來完成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84" name="群組 83"/>
          <p:cNvGrpSpPr/>
          <p:nvPr/>
        </p:nvGrpSpPr>
        <p:grpSpPr>
          <a:xfrm>
            <a:off x="510745" y="1905177"/>
            <a:ext cx="5898292" cy="4760099"/>
            <a:chOff x="2982097" y="1905177"/>
            <a:chExt cx="5898292" cy="4760099"/>
          </a:xfrm>
        </p:grpSpPr>
        <p:sp>
          <p:nvSpPr>
            <p:cNvPr id="37" name="弧形 36"/>
            <p:cNvSpPr/>
            <p:nvPr/>
          </p:nvSpPr>
          <p:spPr>
            <a:xfrm rot="18586150">
              <a:off x="6173776" y="3537270"/>
              <a:ext cx="363432" cy="608526"/>
            </a:xfrm>
            <a:prstGeom prst="arc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" name="直線單箭頭接點 6"/>
            <p:cNvCxnSpPr/>
            <p:nvPr/>
          </p:nvCxnSpPr>
          <p:spPr>
            <a:xfrm>
              <a:off x="2982097" y="4613189"/>
              <a:ext cx="5898292" cy="16476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/>
            <p:cNvCxnSpPr/>
            <p:nvPr/>
          </p:nvCxnSpPr>
          <p:spPr>
            <a:xfrm flipV="1">
              <a:off x="5750010" y="1905177"/>
              <a:ext cx="8238" cy="4627429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 flipV="1">
              <a:off x="5774724" y="2488084"/>
              <a:ext cx="716692" cy="2125106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5774724" y="3050239"/>
              <a:ext cx="1235673" cy="1562952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>
            <a:xfrm flipV="1">
              <a:off x="5774724" y="3402228"/>
              <a:ext cx="1598141" cy="121920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5782962" y="4613190"/>
              <a:ext cx="831386" cy="165109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5774724" y="4613190"/>
              <a:ext cx="1622854" cy="1246662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H="1" flipV="1">
              <a:off x="4235470" y="3917092"/>
              <a:ext cx="1522778" cy="704336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H="1">
              <a:off x="4258962" y="4613190"/>
              <a:ext cx="1515762" cy="843093"/>
            </a:xfrm>
            <a:prstGeom prst="line">
              <a:avLst/>
            </a:prstGeom>
            <a:ln w="127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6378402" y="2047837"/>
              <a:ext cx="415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貓</a:t>
              </a: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6882005" y="2698249"/>
              <a:ext cx="415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狗</a:t>
              </a: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7297503" y="3096483"/>
              <a:ext cx="646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猴子</a:t>
              </a: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3408886" y="5288735"/>
              <a:ext cx="908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紫羅蘭</a:t>
              </a: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7100038" y="5894948"/>
              <a:ext cx="11079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人工智慧</a:t>
              </a: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6166014" y="6295944"/>
              <a:ext cx="11079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機器學習</a:t>
              </a: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3391254" y="3593668"/>
              <a:ext cx="877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周子瑜</a:t>
              </a:r>
            </a:p>
          </p:txBody>
        </p:sp>
        <p:pic>
          <p:nvPicPr>
            <p:cNvPr id="39" name="圖片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984" y="3172942"/>
              <a:ext cx="420726" cy="420726"/>
            </a:xfrm>
            <a:prstGeom prst="rect">
              <a:avLst/>
            </a:prstGeom>
          </p:spPr>
        </p:pic>
        <p:sp>
          <p:nvSpPr>
            <p:cNvPr id="81" name="手繪多邊形 80"/>
            <p:cNvSpPr/>
            <p:nvPr/>
          </p:nvSpPr>
          <p:spPr>
            <a:xfrm>
              <a:off x="4967415" y="3917092"/>
              <a:ext cx="1037967" cy="1132703"/>
            </a:xfrm>
            <a:custGeom>
              <a:avLst/>
              <a:gdLst>
                <a:gd name="connsiteX0" fmla="*/ 0 w 939114"/>
                <a:gd name="connsiteY0" fmla="*/ 815546 h 815546"/>
                <a:gd name="connsiteX1" fmla="*/ 271849 w 939114"/>
                <a:gd name="connsiteY1" fmla="*/ 214183 h 815546"/>
                <a:gd name="connsiteX2" fmla="*/ 939114 w 939114"/>
                <a:gd name="connsiteY2" fmla="*/ 0 h 815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9114" h="815546">
                  <a:moveTo>
                    <a:pt x="0" y="815546"/>
                  </a:moveTo>
                  <a:cubicBezTo>
                    <a:pt x="57665" y="582826"/>
                    <a:pt x="115330" y="350107"/>
                    <a:pt x="271849" y="214183"/>
                  </a:cubicBezTo>
                  <a:cubicBezTo>
                    <a:pt x="428368" y="78259"/>
                    <a:pt x="683741" y="39129"/>
                    <a:pt x="939114" y="0"/>
                  </a:cubicBezTo>
                </a:path>
              </a:pathLst>
            </a:custGeom>
            <a:no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83" name="圖片 8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2633" y="3817072"/>
              <a:ext cx="314015" cy="314015"/>
            </a:xfrm>
            <a:prstGeom prst="rect">
              <a:avLst/>
            </a:prstGeom>
          </p:spPr>
        </p:pic>
      </p:grpSp>
      <p:pic>
        <p:nvPicPr>
          <p:cNvPr id="85" name="圖片 8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085" y="1760056"/>
            <a:ext cx="3205738" cy="501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224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974" y="1296288"/>
            <a:ext cx="8790052" cy="439799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The model architecture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555668" y="5946256"/>
                <a:ext cx="114527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Input</a:t>
                </a:r>
                <a:r>
                  <a: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透過卷積得到</a:t>
                </a:r>
                <a:r>
                  <a:rPr lang="en-US" altLang="zh-CN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Feature Map</a:t>
                </a:r>
                <a:r>
                  <a:rPr lang="zh-CN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r>
                  <a: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捲積的窗口大小為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altLang="zh-CN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CN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r>
                  <a:rPr lang="en-US" altLang="zh-TW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1" i="1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表示詞語個數</a:t>
                </a:r>
                <a:r>
                  <a:rPr lang="zh-CN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r>
                  <a:rPr lang="en-US" altLang="zh-TW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表示</a:t>
                </a:r>
                <a:r>
                  <a:rPr lang="en-US" altLang="zh-CN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word vector</a:t>
                </a:r>
                <a:r>
                  <a: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的維度</a:t>
                </a:r>
                <a:r>
                  <a:rPr lang="zh-CN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。</a:t>
                </a:r>
                <a:endParaRPr lang="en-US" altLang="zh-CN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最後得到若干個行數為</a:t>
                </a:r>
                <a:r>
                  <a:rPr lang="en-US" altLang="zh-TW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</a:t>
                </a:r>
                <a:r>
                  <a: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</a:t>
                </a:r>
                <a:r>
                  <a:rPr lang="en-US" altLang="zh-CN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Feature Map</a:t>
                </a:r>
                <a:r>
                  <a:rPr lang="zh-CN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。</a:t>
                </a:r>
                <a:endPara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68" y="5946256"/>
                <a:ext cx="11452751" cy="646331"/>
              </a:xfrm>
              <a:prstGeom prst="rect">
                <a:avLst/>
              </a:prstGeom>
              <a:blipFill>
                <a:blip r:embed="rId3"/>
                <a:stretch>
                  <a:fillRect l="-426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語音泡泡: 橢圓形 6"/>
          <p:cNvSpPr/>
          <p:nvPr/>
        </p:nvSpPr>
        <p:spPr>
          <a:xfrm>
            <a:off x="7100357" y="1520011"/>
            <a:ext cx="2863926" cy="804672"/>
          </a:xfrm>
          <a:prstGeom prst="wedgeEllipseCallou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7131228" y="1788773"/>
            <a:ext cx="2863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簡單的從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Feature Map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取出最大值</a:t>
            </a:r>
          </a:p>
        </p:txBody>
      </p:sp>
    </p:spTree>
    <p:extLst>
      <p:ext uri="{BB962C8B-B14F-4D97-AF65-F5344CB8AC3E}">
        <p14:creationId xmlns:p14="http://schemas.microsoft.com/office/powerpoint/2010/main" val="1959784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9644" y="139226"/>
            <a:ext cx="7331657" cy="4217932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41699" y="4598093"/>
            <a:ext cx="4973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CNN-rand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：所有的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word vector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都是隨機的。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41699" y="5134728"/>
            <a:ext cx="8896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CNN-static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：所有的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word vector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Word2Vector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得到的结果，並且值固定不變。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41699" y="5683990"/>
            <a:ext cx="1058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CNN-non-static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：所有的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word vector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Word2Vector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得到的结果，但是會在訓練過程中被修改。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41699" y="6211669"/>
            <a:ext cx="8103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CNN-multichannel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CNN-static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CNN-non-static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的混合版本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中和用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6976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9645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09" y="444560"/>
            <a:ext cx="5434656" cy="435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34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763</Words>
  <Application>Microsoft Office PowerPoint</Application>
  <PresentationFormat>寬螢幕</PresentationFormat>
  <Paragraphs>88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5" baseType="lpstr">
      <vt:lpstr>Liberation Sans</vt:lpstr>
      <vt:lpstr>Liberation Sans Narrow</vt:lpstr>
      <vt:lpstr>Liberation Serif</vt:lpstr>
      <vt:lpstr>微軟正黑體</vt:lpstr>
      <vt:lpstr>新細明體</vt:lpstr>
      <vt:lpstr>Arial</vt:lpstr>
      <vt:lpstr>Calibri</vt:lpstr>
      <vt:lpstr>Calibri Light</vt:lpstr>
      <vt:lpstr>Cambria Math</vt:lpstr>
      <vt:lpstr>Mangal</vt:lpstr>
      <vt:lpstr>Tahoma</vt:lpstr>
      <vt:lpstr>Office 佈景主題</vt:lpstr>
      <vt:lpstr>Proceedings of the 2014 Conference on Empirical Methods in Natural Language Processing(EMNLP), Pages. 1746–1751, Yoon Kim(2014)  </vt:lpstr>
      <vt:lpstr>Abstract</vt:lpstr>
      <vt:lpstr>捲積神經網路(CNN) 基礎入門</vt:lpstr>
      <vt:lpstr>捲積神經網路(CNN) 基礎入門</vt:lpstr>
      <vt:lpstr>捲積神經網路(CNN) 基礎入門</vt:lpstr>
      <vt:lpstr>捲積神經網路(CNN) 基礎入門</vt:lpstr>
      <vt:lpstr>捲積神經網路(CNN) 基礎入門</vt:lpstr>
      <vt:lpstr>捲積神經網路(CNN) 基礎入門</vt:lpstr>
      <vt:lpstr>PowerPoint 簡報</vt:lpstr>
      <vt:lpstr>The model architecture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Expert Systems with Applications, Vol. 38 2758–2765 Wen Zhang , Taketoshi Yoshida , Xijin Tang (2011)  </dc:title>
  <dc:creator>Jyun-Hao Lai</dc:creator>
  <cp:lastModifiedBy>pplab-class</cp:lastModifiedBy>
  <cp:revision>66</cp:revision>
  <dcterms:created xsi:type="dcterms:W3CDTF">2016-09-20T07:36:42Z</dcterms:created>
  <dcterms:modified xsi:type="dcterms:W3CDTF">2016-09-21T13:03:39Z</dcterms:modified>
</cp:coreProperties>
</file>