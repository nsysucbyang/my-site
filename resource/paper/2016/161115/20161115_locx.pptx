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handoutMasterIdLst>
    <p:handoutMasterId r:id="rId17"/>
  </p:handout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1" r:id="rId15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2" autoAdjust="0"/>
    <p:restoredTop sz="88876" autoAdjust="0"/>
  </p:normalViewPr>
  <p:slideViewPr>
    <p:cSldViewPr snapToGrid="0">
      <p:cViewPr varScale="1">
        <p:scale>
          <a:sx n="77" d="100"/>
          <a:sy n="77" d="100"/>
        </p:scale>
        <p:origin x="822" y="78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00" d="100"/>
        <a:sy n="100" d="100"/>
      </p:scale>
      <p:origin x="0" y="-193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CB409-2DA1-4BCA-B435-C6D650D60C53}" type="datetimeFigureOut">
              <a:rPr lang="zh-TW" altLang="en-US" smtClean="0"/>
              <a:t>2016/11/15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6F0565-5FB6-414C-A160-5E7695D65A9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6542347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CDEB75-3589-4D32-B44A-E0772C0D15C5}" type="datetimeFigureOut">
              <a:rPr lang="zh-TW" altLang="en-US" smtClean="0"/>
              <a:t>2016/11/15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F0D5DF-B2A2-41B1-A94F-55B40B4E12B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9570971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497953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395589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WAGNER, R. A., AND FISHER, M.J. The string-to-string correction problem. J. ACM 21, 1 (Jan. 1973), 168-173. 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353461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一個原地算法（</a:t>
            </a:r>
            <a:r>
              <a:rPr lang="en-US" altLang="zh-TW" dirty="0" smtClean="0"/>
              <a:t>in-place algorithm</a:t>
            </a:r>
            <a:r>
              <a:rPr lang="zh-TW" altLang="en-US" dirty="0" smtClean="0"/>
              <a:t>）是一種使用小的，固定數量的額外之空間來轉換資料的算法。當算法執行時，輸入的資料通常會被要輸出的部份覆蓋掉。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675333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190213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403170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1298A-9EB3-42B2-88C5-2F0EFF490742}" type="datetime1">
              <a:rPr lang="zh-TW" altLang="en-US" smtClean="0"/>
              <a:t>2016/11/15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9006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E4F48-615B-4D43-85F8-FC994E9EB636}" type="datetime1">
              <a:rPr lang="zh-TW" altLang="en-US" smtClean="0"/>
              <a:t>2016/11/15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95238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F1928-6700-4DC9-A076-D0BF30D5DBBD}" type="datetime1">
              <a:rPr lang="zh-TW" altLang="en-US" smtClean="0"/>
              <a:t>2016/11/15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7132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D3154-712F-45B6-A0AE-7A098B6338F6}" type="datetime1">
              <a:rPr lang="zh-TW" altLang="en-US" smtClean="0"/>
              <a:t>2016/11/15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4120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273DF-615B-4058-AF41-EADF7509BC00}" type="datetime1">
              <a:rPr lang="zh-TW" altLang="en-US" smtClean="0"/>
              <a:t>2016/11/15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3329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BB4DD-0673-4B64-95EC-7226B2234C4F}" type="datetime1">
              <a:rPr lang="zh-TW" altLang="en-US" smtClean="0"/>
              <a:t>2016/11/15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8534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7D4EB-58DD-47ED-9641-44B3A13428A7}" type="datetime1">
              <a:rPr lang="zh-TW" altLang="en-US" smtClean="0"/>
              <a:t>2016/11/15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05121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573EA-C642-4CFF-8FB0-29B81741E751}" type="datetime1">
              <a:rPr lang="zh-TW" altLang="en-US" smtClean="0"/>
              <a:t>2016/11/15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895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6159C-D510-455D-9AED-3E6EEFED4716}" type="datetime1">
              <a:rPr lang="zh-TW" altLang="en-US" smtClean="0"/>
              <a:t>2016/11/15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5642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C1DA0-3176-4336-A105-86AE0C6420FD}" type="datetime1">
              <a:rPr lang="zh-TW" altLang="en-US" smtClean="0"/>
              <a:t>2016/11/15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44155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0B38E-410A-4A55-B707-0AD4CE835622}" type="datetime1">
              <a:rPr lang="zh-TW" altLang="en-US" smtClean="0"/>
              <a:t>2016/11/15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95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AB0AF7-0BBF-4044-8175-A5863DDFEA3E}" type="datetime1">
              <a:rPr lang="zh-TW" altLang="en-US" smtClean="0"/>
              <a:t>2016/11/15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3555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419895" y="323586"/>
            <a:ext cx="8353401" cy="1276614"/>
          </a:xfrm>
        </p:spPr>
        <p:txBody>
          <a:bodyPr>
            <a:normAutofit/>
          </a:bodyPr>
          <a:lstStyle/>
          <a:p>
            <a:r>
              <a:rPr lang="en-US" altLang="zh-TW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String-to-String Correction Problem </a:t>
            </a:r>
            <a:br>
              <a:rPr lang="en-US" altLang="zh-TW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Block Moves </a:t>
            </a:r>
            <a:endParaRPr lang="zh-TW" alt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19895" y="2599144"/>
            <a:ext cx="8353402" cy="3573055"/>
          </a:xfrm>
        </p:spPr>
        <p:txBody>
          <a:bodyPr>
            <a:no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Walter 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F. </a:t>
            </a:r>
            <a:r>
              <a:rPr lang="en-US" altLang="zh-TW" dirty="0" err="1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Tichy</a:t>
            </a:r>
            <a:r>
              <a:rPr lang="zh-TW" altLang="en-US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endParaRPr lang="en-US" altLang="zh-TW" dirty="0" smtClean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r>
              <a:rPr lang="en-US" altLang="zh-TW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ACM 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Transactions on Computer Systems (TOCS) </a:t>
            </a:r>
            <a:endParaRPr lang="en-US" altLang="zh-TW" dirty="0" smtClean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r>
              <a:rPr lang="en-US" altLang="zh-TW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Volume 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2 Issue 4, Nov. </a:t>
            </a:r>
            <a:r>
              <a:rPr lang="en-US" altLang="zh-TW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1984, Pages 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309-321 </a:t>
            </a:r>
            <a:endParaRPr lang="en-US" altLang="zh-TW" dirty="0" smtClean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Presenter: Chong-Xuan Lo</a:t>
            </a:r>
          </a:p>
          <a:p>
            <a:r>
              <a:rPr lang="en-US" altLang="zh-TW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Date:2016/11/15</a:t>
            </a:r>
            <a:endParaRPr lang="zh-TW" altLang="en-US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2000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Abstract(1/2)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string-to-string correction problem is to find a minimal sequence of edit operations for changing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given string into another given string. Extant algorithms compute a longest common subsequence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LCS) of the two strings and then regard the characters not included in the LCS as the differences.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However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 LCS does not necessarily include all possible matches, and therefore does not produce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shortest edit sequence. An algorithm that produces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zh-TW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shortest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edit sequence transforming one string into another is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algorithm is optimal in the sense that it generates a minimal covering set of common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substrings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one string with respect to another.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0506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Abstract(2/2)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improvements of the basic algorithm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zh-TW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first improvement performs well on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strings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few replicated symbols. The second improvement runs in time and space linear to the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size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input. Efficient algorithms for regenerating a string from an edit sequence are also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8265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Edit distance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ctr"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S = </a:t>
            </a:r>
            <a:r>
              <a:rPr lang="en-US" altLang="zh-TW" sz="24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TW" sz="24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</a:t>
            </a:r>
            <a:r>
              <a:rPr lang="en-US" altLang="zh-TW" sz="24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hai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T = </a:t>
            </a:r>
            <a:r>
              <a:rPr lang="en-US" altLang="zh-TW" sz="2400" u="sng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r>
              <a:rPr lang="en-US" altLang="zh-TW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TW" sz="2400" u="sng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</a:t>
            </a:r>
            <a:r>
              <a:rPr lang="en-US" altLang="zh-TW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TW" sz="2400" u="sng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following edit script, based on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LCS </a:t>
            </a:r>
            <a:r>
              <a:rPr lang="en-US" altLang="zh-TW" sz="2400" u="sng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sahai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, would</a:t>
            </a:r>
          </a:p>
          <a:p>
            <a:pPr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 the target string 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sakhalin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shanghai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pt-BR" altLang="zh-TW" sz="20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			M 0 </a:t>
            </a:r>
            <a:r>
              <a:rPr lang="pt-BR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, </a:t>
            </a:r>
            <a:r>
              <a:rPr lang="pt-BR" altLang="zh-TW" sz="20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1 - s</a:t>
            </a:r>
            <a:endParaRPr lang="pt-BR" altLang="zh-TW" sz="20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pt-BR" altLang="zh-TW" sz="20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			M </a:t>
            </a:r>
            <a:r>
              <a:rPr lang="pt-BR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2 , 1 </a:t>
            </a:r>
            <a:r>
              <a:rPr lang="pt-BR" altLang="zh-TW" sz="20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- sa</a:t>
            </a:r>
            <a:endParaRPr lang="pt-BR" altLang="zh-TW" sz="20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pt-BR" altLang="zh-TW" sz="20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			A   "k"  - sak</a:t>
            </a:r>
            <a:endParaRPr lang="pt-BR" altLang="zh-TW" sz="20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pt-BR" altLang="zh-TW" sz="20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			M </a:t>
            </a:r>
            <a:r>
              <a:rPr lang="pt-BR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5 , 2 </a:t>
            </a:r>
            <a:r>
              <a:rPr lang="pt-BR" altLang="zh-TW" sz="20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- sakha</a:t>
            </a:r>
            <a:endParaRPr lang="pt-BR" altLang="zh-TW" sz="20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pt-BR" altLang="zh-TW" sz="20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			A  "l"    - sakhal</a:t>
            </a:r>
            <a:endParaRPr lang="pt-BR" altLang="zh-TW" sz="20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pt-BR" altLang="zh-TW" sz="20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			M </a:t>
            </a:r>
            <a:r>
              <a:rPr lang="pt-BR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7 , 1 - </a:t>
            </a:r>
            <a:r>
              <a:rPr lang="pt-BR" altLang="zh-TW" sz="20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sakhali</a:t>
            </a:r>
            <a:endParaRPr lang="pt-BR" altLang="zh-TW" sz="20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pt-BR" altLang="zh-TW" sz="20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			A  "n"   -</a:t>
            </a:r>
            <a:r>
              <a:rPr lang="pt-BR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pt-BR" altLang="zh-TW" sz="20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sakhalin</a:t>
            </a:r>
            <a:endParaRPr lang="zh-TW" altLang="en-US" sz="20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4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3539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Block move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pt-B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pt-BR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block move </a:t>
            </a:r>
            <a:r>
              <a:rPr lang="pt-B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triple (p, q, l) such </a:t>
            </a:r>
            <a:r>
              <a:rPr lang="pt-BR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that </a:t>
            </a:r>
          </a:p>
          <a:p>
            <a:pPr marL="0" indent="0">
              <a:buNone/>
            </a:pPr>
            <a:r>
              <a:rPr lang="pt-B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S </a:t>
            </a:r>
            <a:r>
              <a:rPr lang="pt-B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 p . . . . , p + l - 1 ] = T [ q . . . . , q + l - 1 ] </a:t>
            </a:r>
          </a:p>
          <a:p>
            <a:pPr>
              <a:buNone/>
            </a:pPr>
            <a:r>
              <a:rPr lang="pt-BR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( </a:t>
            </a:r>
            <a:r>
              <a:rPr lang="pt-B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≦ p ≦ n - l + l ,  0 ≦ q ≦ m - l + l  ,  l &gt; 0).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pt-B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move represents a </a:t>
            </a:r>
            <a:r>
              <a:rPr lang="pt-BR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nonempty </a:t>
            </a:r>
            <a:r>
              <a:rPr lang="pt-B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common </a:t>
            </a:r>
            <a:r>
              <a:rPr lang="pt-B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substring </a:t>
            </a:r>
            <a:r>
              <a:rPr lang="pt-BR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 S and T </a:t>
            </a:r>
            <a:r>
              <a:rPr lang="pt-B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length </a:t>
            </a:r>
            <a:r>
              <a:rPr lang="pt-BR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</a:p>
          <a:p>
            <a:endParaRPr lang="pt-BR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abda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,T =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abcab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 (0,0,2) , (0,3,2) } 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5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8694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Block move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Wagner</a:t>
            </a:r>
            <a:r>
              <a:rPr lang="zh-TW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1974</a:t>
            </a:r>
            <a:r>
              <a:rPr lang="zh-TW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did not permit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crossing block moves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</a:p>
          <a:p>
            <a:pPr marL="0" indent="0"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required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one-to-one correspondence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between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characters of</a:t>
            </a:r>
          </a:p>
          <a:p>
            <a:pPr marL="0" indent="0"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source and target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strings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傳統</a:t>
            </a:r>
            <a:r>
              <a:rPr lang="en-US" altLang="zh-TW" sz="24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LCS</a:t>
            </a:r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與 解除限制後的字串</a:t>
            </a:r>
            <a:endParaRPr lang="zh-TW" altLang="en-US" sz="24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6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362" y="4674395"/>
            <a:ext cx="3876675" cy="94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5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39750" y="-60326"/>
            <a:ext cx="7886700" cy="1325563"/>
          </a:xfrm>
        </p:spPr>
        <p:txBody>
          <a:bodyPr/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Basic algorithm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34950" y="1073150"/>
            <a:ext cx="8705850" cy="4351338"/>
          </a:xfrm>
        </p:spPr>
        <p:txBody>
          <a:bodyPr>
            <a:noAutofit/>
          </a:bodyPr>
          <a:lstStyle/>
          <a:p>
            <a:r>
              <a:rPr lang="en-US" altLang="zh-TW" sz="2400" dirty="0" smtClean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The </a:t>
            </a:r>
            <a:r>
              <a:rPr lang="en-US" altLang="zh-TW" sz="240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problem is to find a </a:t>
            </a:r>
            <a:r>
              <a:rPr lang="en-US" altLang="zh-TW" sz="2400" dirty="0" smtClean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minimal covering set (</a:t>
            </a:r>
            <a:r>
              <a:rPr lang="en-US" altLang="zh-TW" sz="240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set of block </a:t>
            </a:r>
            <a:r>
              <a:rPr lang="en-US" altLang="zh-TW" sz="2400" dirty="0" smtClean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moves)</a:t>
            </a:r>
          </a:p>
          <a:p>
            <a:pPr marL="0" indent="0">
              <a:buNone/>
            </a:pPr>
            <a:endParaRPr lang="en-US" altLang="zh-TW" sz="2400" dirty="0" smtClean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r>
              <a:rPr lang="en-US" altLang="zh-TW" sz="2400" dirty="0" smtClean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S = </a:t>
            </a:r>
            <a:r>
              <a:rPr lang="en-US" altLang="zh-TW" sz="2400" dirty="0" err="1" smtClean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vwvwxy</a:t>
            </a:r>
            <a:r>
              <a:rPr lang="en-US" altLang="zh-TW" sz="2400" dirty="0" smtClean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    T = </a:t>
            </a:r>
            <a:r>
              <a:rPr lang="en-US" altLang="zh-TW" sz="2400" dirty="0" err="1" smtClean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zvwxw</a:t>
            </a:r>
            <a:endParaRPr lang="en-US" altLang="zh-TW" sz="2400" dirty="0" smtClean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Step </a:t>
            </a:r>
            <a:r>
              <a:rPr lang="en-US" altLang="zh-TW" sz="240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1: </a:t>
            </a:r>
          </a:p>
          <a:p>
            <a:pPr marL="0" indent="0">
              <a:buNone/>
            </a:pPr>
            <a:r>
              <a:rPr lang="en-US" altLang="zh-TW" sz="2400" dirty="0">
                <a:latin typeface="NSimSun" panose="02010609030101010101" pitchFamily="49" charset="-122"/>
                <a:ea typeface="NSimSun" panose="02010609030101010101" pitchFamily="49" charset="-122"/>
                <a:cs typeface="Times New Roman" panose="02020603050405020304" pitchFamily="18" charset="0"/>
              </a:rPr>
              <a:t>S </a:t>
            </a:r>
            <a:r>
              <a:rPr lang="en-US" altLang="zh-TW" sz="2400" dirty="0" smtClean="0">
                <a:latin typeface="NSimSun" panose="02010609030101010101" pitchFamily="49" charset="-122"/>
                <a:ea typeface="NSimSun" panose="02010609030101010101" pitchFamily="49" charset="-122"/>
                <a:cs typeface="Times New Roman" panose="02020603050405020304" pitchFamily="18" charset="0"/>
              </a:rPr>
              <a:t>= v </a:t>
            </a:r>
            <a:r>
              <a:rPr lang="en-US" altLang="zh-TW" sz="2400" dirty="0">
                <a:latin typeface="NSimSun" panose="02010609030101010101" pitchFamily="49" charset="-122"/>
                <a:ea typeface="NSimSun" panose="02010609030101010101" pitchFamily="49" charset="-122"/>
                <a:cs typeface="Times New Roman" panose="02020603050405020304" pitchFamily="18" charset="0"/>
              </a:rPr>
              <a:t>w v w x y </a:t>
            </a:r>
          </a:p>
          <a:p>
            <a:pPr marL="0" indent="0">
              <a:buNone/>
            </a:pPr>
            <a:r>
              <a:rPr lang="en-US" altLang="zh-TW" sz="2400" dirty="0">
                <a:latin typeface="NSimSun" panose="02010609030101010101" pitchFamily="49" charset="-122"/>
                <a:ea typeface="NSimSun" panose="02010609030101010101" pitchFamily="49" charset="-122"/>
                <a:cs typeface="Times New Roman" panose="02020603050405020304" pitchFamily="18" charset="0"/>
              </a:rPr>
              <a:t>T = </a:t>
            </a:r>
            <a:r>
              <a:rPr lang="en-US" altLang="zh-TW" sz="2400" dirty="0" smtClean="0">
                <a:latin typeface="NSimSun" panose="02010609030101010101" pitchFamily="49" charset="-122"/>
                <a:ea typeface="NSimSun" panose="02010609030101010101" pitchFamily="49" charset="-122"/>
                <a:cs typeface="Times New Roman" panose="02020603050405020304" pitchFamily="18" charset="0"/>
              </a:rPr>
              <a:t>| z </a:t>
            </a:r>
            <a:r>
              <a:rPr lang="en-US" altLang="zh-TW" sz="2400" dirty="0">
                <a:latin typeface="NSimSun" panose="02010609030101010101" pitchFamily="49" charset="-122"/>
                <a:ea typeface="NSimSun" panose="02010609030101010101" pitchFamily="49" charset="-122"/>
                <a:cs typeface="Times New Roman" panose="02020603050405020304" pitchFamily="18" charset="0"/>
              </a:rPr>
              <a:t>v w x w </a:t>
            </a:r>
            <a:r>
              <a:rPr lang="en-US" altLang="zh-TW" sz="2400" dirty="0" smtClean="0">
                <a:latin typeface="NSimSun" panose="02010609030101010101" pitchFamily="49" charset="-122"/>
                <a:ea typeface="NSimSun" panose="02010609030101010101" pitchFamily="49" charset="-122"/>
                <a:cs typeface="Times New Roman" panose="02020603050405020304" pitchFamily="18" charset="0"/>
              </a:rPr>
              <a:t>  </a:t>
            </a:r>
            <a:r>
              <a:rPr lang="en-US" altLang="zh-TW" sz="2400" dirty="0" smtClean="0">
                <a:latin typeface="Times New Roman" panose="02020603050405020304" pitchFamily="18" charset="0"/>
                <a:ea typeface="NSimSun" panose="02010609030101010101" pitchFamily="49" charset="-122"/>
                <a:cs typeface="Times New Roman" panose="02020603050405020304" pitchFamily="18" charset="0"/>
              </a:rPr>
              <a:t>longest </a:t>
            </a:r>
            <a:r>
              <a:rPr lang="en-US" altLang="zh-TW" sz="2400" dirty="0">
                <a:latin typeface="Times New Roman" panose="02020603050405020304" pitchFamily="18" charset="0"/>
                <a:ea typeface="NSimSun" panose="02010609030101010101" pitchFamily="49" charset="-122"/>
                <a:cs typeface="Times New Roman" panose="02020603050405020304" pitchFamily="18" charset="0"/>
              </a:rPr>
              <a:t>block move starting with T[0]: none </a:t>
            </a:r>
          </a:p>
          <a:p>
            <a:pPr marL="0" indent="0">
              <a:buNone/>
            </a:pPr>
            <a:r>
              <a:rPr lang="en-US" altLang="zh-TW" sz="2400" dirty="0">
                <a:latin typeface="NSimSun" panose="02010609030101010101" pitchFamily="49" charset="-122"/>
                <a:ea typeface="NSimSun" panose="02010609030101010101" pitchFamily="49" charset="-122"/>
                <a:cs typeface="Times New Roman" panose="02020603050405020304" pitchFamily="18" charset="0"/>
              </a:rPr>
              <a:t>Step 2: </a:t>
            </a:r>
          </a:p>
          <a:p>
            <a:pPr marL="0" indent="0">
              <a:buNone/>
            </a:pPr>
            <a:r>
              <a:rPr lang="en-US" altLang="zh-TW" sz="2400" dirty="0">
                <a:latin typeface="NSimSun" panose="02010609030101010101" pitchFamily="49" charset="-122"/>
                <a:ea typeface="NSimSun" panose="02010609030101010101" pitchFamily="49" charset="-122"/>
                <a:cs typeface="Times New Roman" panose="02020603050405020304" pitchFamily="18" charset="0"/>
              </a:rPr>
              <a:t>S = </a:t>
            </a:r>
            <a:r>
              <a:rPr lang="en-US" altLang="zh-TW" sz="2400" dirty="0" smtClean="0">
                <a:latin typeface="NSimSun" panose="02010609030101010101" pitchFamily="49" charset="-122"/>
                <a:ea typeface="NSimSun" panose="02010609030101010101" pitchFamily="49" charset="-122"/>
                <a:cs typeface="Times New Roman" panose="02020603050405020304" pitchFamily="18" charset="0"/>
              </a:rPr>
              <a:t>v </a:t>
            </a:r>
            <a:r>
              <a:rPr lang="en-US" altLang="zh-TW" sz="2400" dirty="0">
                <a:latin typeface="NSimSun" panose="02010609030101010101" pitchFamily="49" charset="-122"/>
                <a:ea typeface="NSimSun" panose="02010609030101010101" pitchFamily="49" charset="-122"/>
                <a:cs typeface="Times New Roman" panose="02020603050405020304" pitchFamily="18" charset="0"/>
              </a:rPr>
              <a:t>w v w x y </a:t>
            </a:r>
          </a:p>
          <a:p>
            <a:pPr marL="0" indent="0">
              <a:buNone/>
            </a:pPr>
            <a:r>
              <a:rPr lang="en-US" altLang="zh-TW" sz="2400" dirty="0">
                <a:latin typeface="NSimSun" panose="02010609030101010101" pitchFamily="49" charset="-122"/>
                <a:ea typeface="NSimSun" panose="02010609030101010101" pitchFamily="49" charset="-122"/>
                <a:cs typeface="Times New Roman" panose="02020603050405020304" pitchFamily="18" charset="0"/>
              </a:rPr>
              <a:t>T = z </a:t>
            </a:r>
            <a:r>
              <a:rPr lang="en-US" altLang="zh-TW" sz="2400" dirty="0" smtClean="0">
                <a:latin typeface="NSimSun" panose="02010609030101010101" pitchFamily="49" charset="-122"/>
                <a:ea typeface="NSimSun" panose="02010609030101010101" pitchFamily="49" charset="-122"/>
                <a:cs typeface="Times New Roman" panose="02020603050405020304" pitchFamily="18" charset="0"/>
              </a:rPr>
              <a:t>| v </a:t>
            </a:r>
            <a:r>
              <a:rPr lang="en-US" altLang="zh-TW" sz="2400" dirty="0">
                <a:latin typeface="NSimSun" panose="02010609030101010101" pitchFamily="49" charset="-122"/>
                <a:ea typeface="NSimSun" panose="02010609030101010101" pitchFamily="49" charset="-122"/>
                <a:cs typeface="Times New Roman" panose="02020603050405020304" pitchFamily="18" charset="0"/>
              </a:rPr>
              <a:t>w x w </a:t>
            </a:r>
            <a:r>
              <a:rPr lang="en-US" altLang="zh-TW" sz="2400" dirty="0" smtClean="0">
                <a:latin typeface="NSimSun" panose="02010609030101010101" pitchFamily="49" charset="-122"/>
                <a:ea typeface="NSimSun" panose="02010609030101010101" pitchFamily="49" charset="-122"/>
                <a:cs typeface="Times New Roman" panose="02020603050405020304" pitchFamily="18" charset="0"/>
              </a:rPr>
              <a:t>  </a:t>
            </a:r>
            <a:r>
              <a:rPr lang="en-US" altLang="zh-TW" sz="2400" dirty="0" smtClean="0">
                <a:latin typeface="Times New Roman" panose="02020603050405020304" pitchFamily="18" charset="0"/>
                <a:ea typeface="NSimSun" panose="02010609030101010101" pitchFamily="49" charset="-122"/>
                <a:cs typeface="Times New Roman" panose="02020603050405020304" pitchFamily="18" charset="0"/>
              </a:rPr>
              <a:t> longest </a:t>
            </a:r>
            <a:r>
              <a:rPr lang="en-US" altLang="zh-TW" sz="2400" dirty="0">
                <a:latin typeface="Times New Roman" panose="02020603050405020304" pitchFamily="18" charset="0"/>
                <a:ea typeface="NSimSun" panose="02010609030101010101" pitchFamily="49" charset="-122"/>
                <a:cs typeface="Times New Roman" panose="02020603050405020304" pitchFamily="18" charset="0"/>
              </a:rPr>
              <a:t>block move starting with T[1]: (2, 1, 3) </a:t>
            </a:r>
          </a:p>
          <a:p>
            <a:pPr marL="0" indent="0">
              <a:buNone/>
            </a:pPr>
            <a:r>
              <a:rPr lang="en-US" altLang="zh-TW" sz="2400" dirty="0">
                <a:latin typeface="NSimSun" panose="02010609030101010101" pitchFamily="49" charset="-122"/>
                <a:ea typeface="NSimSun" panose="02010609030101010101" pitchFamily="49" charset="-122"/>
                <a:cs typeface="Times New Roman" panose="02020603050405020304" pitchFamily="18" charset="0"/>
              </a:rPr>
              <a:t>Step 3: </a:t>
            </a:r>
          </a:p>
          <a:p>
            <a:pPr marL="0" indent="0">
              <a:buNone/>
            </a:pPr>
            <a:r>
              <a:rPr lang="en-US" altLang="zh-TW" sz="2400" dirty="0">
                <a:latin typeface="NSimSun" panose="02010609030101010101" pitchFamily="49" charset="-122"/>
                <a:ea typeface="NSimSun" panose="02010609030101010101" pitchFamily="49" charset="-122"/>
                <a:cs typeface="Times New Roman" panose="02020603050405020304" pitchFamily="18" charset="0"/>
              </a:rPr>
              <a:t>S = v w v w x y </a:t>
            </a:r>
            <a:endParaRPr lang="en-US" altLang="zh-TW" sz="2400" dirty="0" smtClean="0">
              <a:latin typeface="NSimSun" panose="02010609030101010101" pitchFamily="49" charset="-122"/>
              <a:ea typeface="NSimSun" panose="02010609030101010101" pitchFamily="49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400" dirty="0" smtClean="0">
                <a:latin typeface="NSimSun" panose="02010609030101010101" pitchFamily="49" charset="-122"/>
                <a:ea typeface="NSimSun" panose="02010609030101010101" pitchFamily="49" charset="-122"/>
                <a:cs typeface="Times New Roman" panose="02020603050405020304" pitchFamily="18" charset="0"/>
              </a:rPr>
              <a:t>T </a:t>
            </a:r>
            <a:r>
              <a:rPr lang="en-US" altLang="zh-TW" sz="2400" dirty="0">
                <a:latin typeface="NSimSun" panose="02010609030101010101" pitchFamily="49" charset="-122"/>
                <a:ea typeface="NSimSun" panose="02010609030101010101" pitchFamily="49" charset="-122"/>
                <a:cs typeface="Times New Roman" panose="02020603050405020304" pitchFamily="18" charset="0"/>
              </a:rPr>
              <a:t>= z v w </a:t>
            </a:r>
            <a:r>
              <a:rPr lang="en-US" altLang="zh-TW" sz="2400" dirty="0" smtClean="0">
                <a:latin typeface="NSimSun" panose="02010609030101010101" pitchFamily="49" charset="-122"/>
                <a:ea typeface="NSimSun" panose="02010609030101010101" pitchFamily="49" charset="-122"/>
                <a:cs typeface="Times New Roman" panose="02020603050405020304" pitchFamily="18" charset="0"/>
              </a:rPr>
              <a:t>x | w   </a:t>
            </a:r>
            <a:r>
              <a:rPr lang="en-US" altLang="zh-TW" sz="2400" dirty="0" smtClean="0">
                <a:latin typeface="Times New Roman" panose="02020603050405020304" pitchFamily="18" charset="0"/>
                <a:ea typeface="NSimSun" panose="02010609030101010101" pitchFamily="49" charset="-122"/>
                <a:cs typeface="Times New Roman" panose="02020603050405020304" pitchFamily="18" charset="0"/>
              </a:rPr>
              <a:t>l</a:t>
            </a:r>
            <a:r>
              <a:rPr lang="en-US" altLang="zh-TW" sz="2400" dirty="0" smtClean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ongest </a:t>
            </a:r>
            <a:r>
              <a:rPr lang="en-US" altLang="zh-TW" sz="240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block move starting with T[4]: (1, 4, 1) 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7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6306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0" y="-60326"/>
            <a:ext cx="9144000" cy="1325563"/>
          </a:xfrm>
        </p:spPr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First improvement of the </a:t>
            </a:r>
            <a:b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basic algorithm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69875" y="1517650"/>
            <a:ext cx="8705850" cy="4351338"/>
          </a:xfrm>
        </p:spPr>
        <p:txBody>
          <a:bodyPr>
            <a:noAutofit/>
          </a:bodyPr>
          <a:lstStyle/>
          <a:p>
            <a:r>
              <a:rPr lang="pt-BR" altLang="zh-TW" sz="2400" dirty="0" smtClean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We prepare an index that </a:t>
            </a:r>
            <a:r>
              <a:rPr lang="pt-BR" altLang="zh-TW" sz="240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, for each </a:t>
            </a:r>
            <a:r>
              <a:rPr lang="pt-BR" altLang="zh-TW" sz="2400" dirty="0" smtClean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symbol ‘v’ </a:t>
            </a:r>
            <a:r>
              <a:rPr lang="pt-BR" altLang="zh-TW" sz="240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in the alphabet </a:t>
            </a:r>
            <a:r>
              <a:rPr lang="pt-BR" altLang="zh-TW" sz="2400" dirty="0" smtClean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,lists the positions of all occurrences of ‘v’ and </a:t>
            </a:r>
            <a:r>
              <a:rPr lang="pt-BR" altLang="zh-TW" sz="240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S. </a:t>
            </a:r>
            <a:endParaRPr lang="pt-BR" altLang="zh-TW" sz="2400" dirty="0" smtClean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r>
              <a:rPr lang="pt-BR" altLang="zh-TW" sz="2400" dirty="0" smtClean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Assume T[q] </a:t>
            </a:r>
            <a:r>
              <a:rPr lang="pt-BR" altLang="zh-TW" sz="240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= </a:t>
            </a:r>
            <a:r>
              <a:rPr lang="pt-BR" altLang="zh-TW" sz="2400" dirty="0" smtClean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‘v’ </a:t>
            </a:r>
            <a:r>
              <a:rPr lang="pt-BR" altLang="zh-TW" sz="240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is </a:t>
            </a:r>
            <a:r>
              <a:rPr lang="pt-BR" altLang="zh-TW" sz="2400" dirty="0" smtClean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the first symbol of the unmatched tail of </a:t>
            </a:r>
            <a:r>
              <a:rPr lang="pt-BR" altLang="zh-TW" sz="240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T. </a:t>
            </a:r>
            <a:r>
              <a:rPr lang="pt-BR" altLang="zh-TW" sz="2400" dirty="0" smtClean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Lookup the list L of occurrences of symbol ‘v’ in </a:t>
            </a:r>
            <a:r>
              <a:rPr lang="pt-BR" altLang="zh-TW" sz="2400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S, </a:t>
            </a:r>
            <a:r>
              <a:rPr lang="pt-BR" altLang="zh-TW" sz="2400" dirty="0" smtClean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using the above index</a:t>
            </a:r>
            <a:r>
              <a:rPr lang="pt-BR" altLang="zh-TW" sz="2400" dirty="0" smtClean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altLang="zh-TW" sz="2400" dirty="0">
                <a:latin typeface="NSimSun" panose="02010609030101010101" pitchFamily="49" charset="-122"/>
                <a:ea typeface="NSimSun" panose="02010609030101010101" pitchFamily="49" charset="-122"/>
                <a:cs typeface="Times New Roman" panose="02020603050405020304" pitchFamily="18" charset="0"/>
              </a:rPr>
              <a:t>S = v w v w x y </a:t>
            </a:r>
          </a:p>
          <a:p>
            <a:pPr marL="0" indent="0">
              <a:buNone/>
            </a:pPr>
            <a:r>
              <a:rPr lang="en-US" altLang="zh-TW" sz="2400" dirty="0">
                <a:latin typeface="NSimSun" panose="02010609030101010101" pitchFamily="49" charset="-122"/>
                <a:ea typeface="NSimSun" panose="02010609030101010101" pitchFamily="49" charset="-122"/>
                <a:cs typeface="Times New Roman" panose="02020603050405020304" pitchFamily="18" charset="0"/>
              </a:rPr>
              <a:t>T = </a:t>
            </a:r>
            <a:r>
              <a:rPr lang="en-US" altLang="zh-TW" sz="2400" dirty="0" smtClean="0">
                <a:latin typeface="NSimSun" panose="02010609030101010101" pitchFamily="49" charset="-122"/>
                <a:ea typeface="NSimSun" panose="02010609030101010101" pitchFamily="49" charset="-122"/>
                <a:cs typeface="Times New Roman" panose="02020603050405020304" pitchFamily="18" charset="0"/>
              </a:rPr>
              <a:t>z v </a:t>
            </a:r>
            <a:r>
              <a:rPr lang="en-US" altLang="zh-TW" sz="2400" dirty="0">
                <a:latin typeface="NSimSun" panose="02010609030101010101" pitchFamily="49" charset="-122"/>
                <a:ea typeface="NSimSun" panose="02010609030101010101" pitchFamily="49" charset="-122"/>
                <a:cs typeface="Times New Roman" panose="02020603050405020304" pitchFamily="18" charset="0"/>
              </a:rPr>
              <a:t>w x w</a:t>
            </a:r>
            <a:endParaRPr lang="pt-BR" altLang="zh-TW" sz="2400" dirty="0">
              <a:latin typeface="NSimSun" panose="02010609030101010101" pitchFamily="49" charset="-122"/>
              <a:ea typeface="NSimSun" panose="02010609030101010101" pitchFamily="49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2400" dirty="0" smtClean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pt-BR" altLang="zh-TW" sz="2400" dirty="0" smtClean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The run time of the algorithm </a:t>
            </a:r>
            <a:r>
              <a:rPr lang="pt-BR" altLang="zh-TW" sz="240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is </a:t>
            </a:r>
            <a:r>
              <a:rPr lang="pt-BR" altLang="zh-TW" sz="2400" dirty="0" smtClean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O </a:t>
            </a:r>
            <a:r>
              <a:rPr lang="pt-BR" altLang="zh-TW" sz="240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( m n / </a:t>
            </a:r>
            <a:r>
              <a:rPr lang="el-GR" altLang="zh-TW" sz="2400" dirty="0" smtClean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α</a:t>
            </a:r>
            <a:r>
              <a:rPr lang="pt-BR" altLang="zh-TW" sz="2400" dirty="0" smtClean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) </a:t>
            </a:r>
            <a:r>
              <a:rPr lang="pt-BR" altLang="zh-TW" sz="240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.</a:t>
            </a:r>
            <a:endParaRPr lang="en-US" altLang="zh-TW" sz="24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8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6451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1472" y="4070351"/>
            <a:ext cx="6822528" cy="2651125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0" y="-60326"/>
            <a:ext cx="9144000" cy="1325563"/>
          </a:xfrm>
        </p:spPr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Second improvement of the </a:t>
            </a:r>
            <a:b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basic algorithm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69875" y="1517650"/>
            <a:ext cx="870585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altLang="zh-TW" sz="240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An adequate </a:t>
            </a:r>
            <a:r>
              <a:rPr lang="pt-BR" altLang="zh-TW" sz="2400" dirty="0" smtClean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data structure </a:t>
            </a:r>
            <a:r>
              <a:rPr lang="pt-BR" altLang="zh-TW" sz="240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for </a:t>
            </a:r>
            <a:r>
              <a:rPr lang="pt-BR" altLang="zh-TW" sz="2400" dirty="0" smtClean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this </a:t>
            </a:r>
            <a:r>
              <a:rPr lang="pt-BR" altLang="zh-TW" sz="240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purpose is a </a:t>
            </a:r>
            <a:r>
              <a:rPr lang="pt-BR" altLang="zh-TW" sz="2400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suffix tree</a:t>
            </a:r>
            <a:r>
              <a:rPr lang="pt-BR" altLang="zh-TW" sz="240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. Given </a:t>
            </a:r>
            <a:r>
              <a:rPr lang="pt-BR" altLang="zh-TW" sz="2400" dirty="0" smtClean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the </a:t>
            </a:r>
            <a:endParaRPr lang="pt-BR" altLang="zh-TW" sz="24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pt-BR" altLang="zh-TW" sz="240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source </a:t>
            </a:r>
            <a:r>
              <a:rPr lang="pt-BR" altLang="zh-TW" sz="2400" dirty="0" smtClean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string </a:t>
            </a:r>
            <a:r>
              <a:rPr lang="pt-BR" altLang="zh-TW" sz="240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S, </a:t>
            </a:r>
            <a:r>
              <a:rPr lang="pt-BR" altLang="zh-TW" sz="2400" dirty="0" smtClean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append </a:t>
            </a:r>
            <a:r>
              <a:rPr lang="pt-BR" altLang="zh-TW" sz="240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a unique </a:t>
            </a:r>
            <a:r>
              <a:rPr lang="pt-BR" altLang="zh-TW" sz="2400" dirty="0" smtClean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character </a:t>
            </a:r>
            <a:r>
              <a:rPr lang="pt-BR" altLang="zh-TW" sz="240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# </a:t>
            </a:r>
            <a:r>
              <a:rPr lang="pt-BR" altLang="zh-TW" sz="2400" dirty="0" smtClean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to </a:t>
            </a:r>
            <a:r>
              <a:rPr lang="pt-BR" altLang="zh-TW" sz="240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it </a:t>
            </a:r>
            <a:r>
              <a:rPr lang="pt-BR" altLang="zh-TW" sz="2400" dirty="0" smtClean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and build </a:t>
            </a:r>
            <a:r>
              <a:rPr lang="pt-BR" altLang="zh-TW" sz="240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a tree </a:t>
            </a:r>
            <a:r>
              <a:rPr lang="pt-BR" altLang="zh-TW" sz="2400" dirty="0" smtClean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for</a:t>
            </a:r>
          </a:p>
          <a:p>
            <a:pPr marL="0" indent="0">
              <a:buNone/>
            </a:pPr>
            <a:r>
              <a:rPr lang="pt-BR" altLang="zh-TW" sz="2400" dirty="0" smtClean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all suffixes of </a:t>
            </a:r>
            <a:r>
              <a:rPr lang="pt-BR" altLang="zh-TW" sz="240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S</a:t>
            </a:r>
            <a:r>
              <a:rPr lang="pt-BR" altLang="zh-TW" sz="2400" dirty="0" smtClean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#.</a:t>
            </a:r>
          </a:p>
          <a:p>
            <a:pPr marL="0" indent="0">
              <a:buNone/>
            </a:pPr>
            <a:r>
              <a:rPr lang="en-US" altLang="zh-TW" sz="2400" dirty="0" smtClean="0">
                <a:latin typeface="NSimSun" panose="02010609030101010101" pitchFamily="49" charset="-122"/>
                <a:ea typeface="NSimSun" panose="02010609030101010101" pitchFamily="49" charset="-122"/>
                <a:cs typeface="Times New Roman" panose="02020603050405020304" pitchFamily="18" charset="0"/>
              </a:rPr>
              <a:t>S </a:t>
            </a:r>
            <a:r>
              <a:rPr lang="en-US" altLang="zh-TW" sz="2400" dirty="0">
                <a:latin typeface="NSimSun" panose="02010609030101010101" pitchFamily="49" charset="-122"/>
                <a:ea typeface="NSimSun" panose="02010609030101010101" pitchFamily="49" charset="-122"/>
                <a:cs typeface="Times New Roman" panose="02020603050405020304" pitchFamily="18" charset="0"/>
              </a:rPr>
              <a:t>= v w v w x y </a:t>
            </a:r>
          </a:p>
          <a:p>
            <a:pPr marL="0" indent="0">
              <a:buNone/>
            </a:pPr>
            <a:r>
              <a:rPr lang="en-US" altLang="zh-TW" sz="2400" dirty="0">
                <a:latin typeface="NSimSun" panose="02010609030101010101" pitchFamily="49" charset="-122"/>
                <a:ea typeface="NSimSun" panose="02010609030101010101" pitchFamily="49" charset="-122"/>
                <a:cs typeface="Times New Roman" panose="02020603050405020304" pitchFamily="18" charset="0"/>
              </a:rPr>
              <a:t>T = z v w x </a:t>
            </a:r>
            <a:r>
              <a:rPr lang="en-US" altLang="zh-TW" sz="2400" dirty="0" smtClean="0">
                <a:latin typeface="NSimSun" panose="02010609030101010101" pitchFamily="49" charset="-122"/>
                <a:ea typeface="NSimSun" panose="02010609030101010101" pitchFamily="49" charset="-122"/>
                <a:cs typeface="Times New Roman" panose="02020603050405020304" pitchFamily="18" charset="0"/>
              </a:rPr>
              <a:t>w</a:t>
            </a:r>
            <a:endParaRPr lang="en-US" altLang="zh-TW" sz="2400" dirty="0" smtClean="0">
              <a:latin typeface="Times New Roman" panose="02020603050405020304" pitchFamily="18" charset="0"/>
              <a:ea typeface="NSimSun" panose="02010609030101010101" pitchFamily="49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pt-BR" altLang="zh-TW" sz="2400" dirty="0" smtClean="0">
                <a:latin typeface="Times New Roman" panose="02020603050405020304" pitchFamily="18" charset="0"/>
                <a:ea typeface="NSimSun" panose="02010609030101010101" pitchFamily="49" charset="-122"/>
                <a:cs typeface="Times New Roman" panose="02020603050405020304" pitchFamily="18" charset="0"/>
              </a:rPr>
              <a:t>Tracing </a:t>
            </a:r>
            <a:r>
              <a:rPr lang="pt-BR" altLang="zh-TW" sz="2400" dirty="0">
                <a:latin typeface="Times New Roman" panose="02020603050405020304" pitchFamily="18" charset="0"/>
                <a:ea typeface="NSimSun" panose="02010609030101010101" pitchFamily="49" charset="-122"/>
                <a:cs typeface="Times New Roman" panose="02020603050405020304" pitchFamily="18" charset="0"/>
              </a:rPr>
              <a:t>T[1, . . . </a:t>
            </a:r>
            <a:r>
              <a:rPr lang="pt-BR" altLang="zh-TW" sz="2400" dirty="0" smtClean="0">
                <a:latin typeface="Times New Roman" panose="02020603050405020304" pitchFamily="18" charset="0"/>
                <a:ea typeface="NSimSun" panose="02010609030101010101" pitchFamily="49" charset="-122"/>
                <a:cs typeface="Times New Roman" panose="02020603050405020304" pitchFamily="18" charset="0"/>
              </a:rPr>
              <a:t>] terminates </a:t>
            </a:r>
            <a:r>
              <a:rPr lang="pt-BR" altLang="zh-TW" sz="2400" dirty="0">
                <a:latin typeface="Times New Roman" panose="02020603050405020304" pitchFamily="18" charset="0"/>
                <a:ea typeface="NSimSun" panose="02010609030101010101" pitchFamily="49" charset="-122"/>
                <a:cs typeface="Times New Roman" panose="02020603050405020304" pitchFamily="18" charset="0"/>
              </a:rPr>
              <a:t>on </a:t>
            </a:r>
            <a:r>
              <a:rPr lang="pt-BR" altLang="zh-TW" sz="2400" dirty="0" smtClean="0">
                <a:latin typeface="Times New Roman" panose="02020603050405020304" pitchFamily="18" charset="0"/>
                <a:ea typeface="NSimSun" panose="02010609030101010101" pitchFamily="49" charset="-122"/>
                <a:cs typeface="Times New Roman" panose="02020603050405020304" pitchFamily="18" charset="0"/>
              </a:rPr>
              <a:t>the </a:t>
            </a:r>
            <a:r>
              <a:rPr lang="pt-BR" altLang="zh-TW" sz="2400" dirty="0">
                <a:latin typeface="Times New Roman" panose="02020603050405020304" pitchFamily="18" charset="0"/>
                <a:ea typeface="NSimSun" panose="02010609030101010101" pitchFamily="49" charset="-122"/>
                <a:cs typeface="Times New Roman" panose="02020603050405020304" pitchFamily="18" charset="0"/>
              </a:rPr>
              <a:t>arc to </a:t>
            </a:r>
            <a:r>
              <a:rPr lang="pt-BR" altLang="zh-TW" sz="2400" dirty="0" smtClean="0">
                <a:latin typeface="Times New Roman" panose="02020603050405020304" pitchFamily="18" charset="0"/>
                <a:ea typeface="NSimSun" panose="02010609030101010101" pitchFamily="49" charset="-122"/>
                <a:cs typeface="Times New Roman" panose="02020603050405020304" pitchFamily="18" charset="0"/>
              </a:rPr>
              <a:t>the </a:t>
            </a:r>
            <a:r>
              <a:rPr lang="pt-BR" altLang="zh-TW" sz="2400" dirty="0">
                <a:latin typeface="Times New Roman" panose="02020603050405020304" pitchFamily="18" charset="0"/>
                <a:ea typeface="NSimSun" panose="02010609030101010101" pitchFamily="49" charset="-122"/>
                <a:cs typeface="Times New Roman" panose="02020603050405020304" pitchFamily="18" charset="0"/>
              </a:rPr>
              <a:t>leaf labeled </a:t>
            </a:r>
            <a:r>
              <a:rPr lang="pt-BR" altLang="zh-TW" sz="2400" dirty="0" smtClean="0">
                <a:latin typeface="Times New Roman" panose="02020603050405020304" pitchFamily="18" charset="0"/>
                <a:ea typeface="NSimSun" panose="02010609030101010101" pitchFamily="49" charset="-122"/>
                <a:cs typeface="Times New Roman" panose="02020603050405020304" pitchFamily="18" charset="0"/>
              </a:rPr>
              <a:t>2,</a:t>
            </a:r>
          </a:p>
          <a:p>
            <a:pPr marL="0" indent="0">
              <a:buNone/>
            </a:pPr>
            <a:r>
              <a:rPr lang="pt-BR" altLang="zh-TW" sz="2400" dirty="0" smtClean="0">
                <a:latin typeface="Times New Roman" panose="02020603050405020304" pitchFamily="18" charset="0"/>
                <a:ea typeface="NSimSun" panose="02010609030101010101" pitchFamily="49" charset="-122"/>
                <a:cs typeface="Times New Roman" panose="02020603050405020304" pitchFamily="18" charset="0"/>
              </a:rPr>
              <a:t>producing the </a:t>
            </a:r>
            <a:r>
              <a:rPr lang="pt-BR" altLang="zh-TW" sz="2400" dirty="0">
                <a:latin typeface="Times New Roman" panose="02020603050405020304" pitchFamily="18" charset="0"/>
                <a:ea typeface="NSimSun" panose="02010609030101010101" pitchFamily="49" charset="-122"/>
                <a:cs typeface="Times New Roman" panose="02020603050405020304" pitchFamily="18" charset="0"/>
              </a:rPr>
              <a:t>block move (2, 1, 3).</a:t>
            </a:r>
          </a:p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9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2896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0" y="-60326"/>
            <a:ext cx="9144000" cy="1325563"/>
          </a:xfrm>
        </p:spPr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Discussion of the three algorithms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69875" y="1517650"/>
            <a:ext cx="870585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10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700" y="2488406"/>
            <a:ext cx="6477000" cy="2409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765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175" y="1860777"/>
            <a:ext cx="6457950" cy="4997223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0" y="-60326"/>
            <a:ext cx="9144000" cy="1325563"/>
          </a:xfrm>
        </p:spPr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In-place reconstruction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57175" y="1265237"/>
            <a:ext cx="8705850" cy="4351338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= shanghai            T = </a:t>
            </a:r>
            <a:r>
              <a:rPr lang="en-US" altLang="zh-TW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sakhalin</a:t>
            </a:r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11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354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725" y="1828610"/>
            <a:ext cx="6118225" cy="4892866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0" y="-60326"/>
            <a:ext cx="9144000" cy="1325563"/>
          </a:xfrm>
        </p:spPr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In-place reconstruction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57175" y="1265237"/>
            <a:ext cx="8705850" cy="4351338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= shanghai            T = </a:t>
            </a:r>
            <a:r>
              <a:rPr lang="en-US" altLang="zh-TW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sakhalin</a:t>
            </a:r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12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7336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0" y="-60326"/>
            <a:ext cx="9144000" cy="1325563"/>
          </a:xfrm>
        </p:spPr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In-place reconstruction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57175" y="1265237"/>
            <a:ext cx="8705850" cy="4351338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= shanghai            T = </a:t>
            </a:r>
            <a:r>
              <a:rPr lang="en-US" altLang="zh-TW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sakhalin</a:t>
            </a:r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13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2182812"/>
            <a:ext cx="7372350" cy="2771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964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0" y="-60326"/>
            <a:ext cx="9144000" cy="1325563"/>
          </a:xfrm>
        </p:spPr>
        <p:txBody>
          <a:bodyPr/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19075" y="1708150"/>
            <a:ext cx="8705850" cy="4351338"/>
          </a:xfrm>
        </p:spPr>
        <p:txBody>
          <a:bodyPr>
            <a:noAutofit/>
          </a:bodyPr>
          <a:lstStyle/>
          <a:p>
            <a:r>
              <a:rPr lang="pt-BR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pt-B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move algorithm </a:t>
            </a:r>
            <a:r>
              <a:rPr lang="pt-BR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</a:t>
            </a:r>
            <a:r>
              <a:rPr lang="pt-B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 runs in linear </a:t>
            </a:r>
            <a:r>
              <a:rPr lang="pt-BR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 and space.</a:t>
            </a:r>
          </a:p>
          <a:p>
            <a:r>
              <a:rPr lang="pt-BR" altLang="zh-TW" sz="2400" dirty="0" smtClean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Reconstructing the target string </a:t>
            </a:r>
            <a:r>
              <a:rPr lang="pt-BR" altLang="zh-TW" sz="240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is </a:t>
            </a:r>
            <a:r>
              <a:rPr lang="pt-BR" altLang="zh-TW" sz="2400" dirty="0" smtClean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equally </a:t>
            </a:r>
            <a:r>
              <a:rPr lang="pt-BR" altLang="zh-TW" sz="240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efficient for </a:t>
            </a:r>
            <a:r>
              <a:rPr lang="pt-BR" altLang="zh-TW" sz="2400" dirty="0" smtClean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both methods</a:t>
            </a:r>
            <a:r>
              <a:rPr lang="pt-BR" altLang="zh-TW" sz="240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, provided </a:t>
            </a:r>
            <a:r>
              <a:rPr lang="pt-BR" altLang="zh-TW" sz="2400" dirty="0" smtClean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that the </a:t>
            </a:r>
            <a:r>
              <a:rPr lang="pt-BR" altLang="zh-TW" sz="240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source string can be </a:t>
            </a:r>
            <a:r>
              <a:rPr lang="pt-BR" altLang="zh-TW" sz="2400" dirty="0" smtClean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accessed randomly</a:t>
            </a:r>
            <a:r>
              <a:rPr lang="pt-BR" altLang="zh-TW" sz="240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. </a:t>
            </a:r>
            <a:endParaRPr lang="en-US" altLang="zh-TW" sz="2400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14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1509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26296</TotalTime>
  <Words>553</Words>
  <Application>Microsoft Office PowerPoint</Application>
  <PresentationFormat>如螢幕大小 (4:3)</PresentationFormat>
  <Paragraphs>96</Paragraphs>
  <Slides>14</Slides>
  <Notes>6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22" baseType="lpstr">
      <vt:lpstr>NSimSun</vt:lpstr>
      <vt:lpstr>微軟正黑體</vt:lpstr>
      <vt:lpstr>新細明體</vt:lpstr>
      <vt:lpstr>Arial</vt:lpstr>
      <vt:lpstr>Calibri</vt:lpstr>
      <vt:lpstr>Calibri Light</vt:lpstr>
      <vt:lpstr>Times New Roman</vt:lpstr>
      <vt:lpstr>Office 佈景主題</vt:lpstr>
      <vt:lpstr>The String-to-String Correction Problem  with Block Moves </vt:lpstr>
      <vt:lpstr>Abstract(1/2)</vt:lpstr>
      <vt:lpstr>Abstract(2/2)</vt:lpstr>
      <vt:lpstr>Edit distance</vt:lpstr>
      <vt:lpstr>Block move</vt:lpstr>
      <vt:lpstr>Block move</vt:lpstr>
      <vt:lpstr>Basic algorithm</vt:lpstr>
      <vt:lpstr> First improvement of the  basic algorithm</vt:lpstr>
      <vt:lpstr> Second improvement of the  basic algorithm</vt:lpstr>
      <vt:lpstr> Discussion of the three algorithms </vt:lpstr>
      <vt:lpstr> In-place reconstruction</vt:lpstr>
      <vt:lpstr> In-place reconstruction</vt:lpstr>
      <vt:lpstr> In-place reconstruction</vt:lpstr>
      <vt:lpstr>Conclusion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Mining Association Rules in Big Data for E-healthcare Information System</dc:title>
  <dc:creator>muchmuch</dc:creator>
  <cp:lastModifiedBy>pplab-class</cp:lastModifiedBy>
  <cp:revision>262</cp:revision>
  <dcterms:created xsi:type="dcterms:W3CDTF">2016-04-23T07:31:56Z</dcterms:created>
  <dcterms:modified xsi:type="dcterms:W3CDTF">2016-11-15T11:17:36Z</dcterms:modified>
</cp:coreProperties>
</file>