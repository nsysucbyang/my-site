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73" r:id="rId15"/>
    <p:sldId id="269" r:id="rId16"/>
    <p:sldId id="268" r:id="rId17"/>
    <p:sldId id="270" r:id="rId18"/>
    <p:sldId id="271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99" d="100"/>
          <a:sy n="99" d="100"/>
        </p:scale>
        <p:origin x="34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60350-0A51-491D-987F-515C5730FDF3}" type="datetimeFigureOut">
              <a:rPr lang="en-US" smtClean="0"/>
              <a:t>11/15/2016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FDE18-2BD7-4D63-9F45-44788A824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19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ead01.com/0kaKGB.html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希爾德斯海姆大學  德國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FDE18-2BD7-4D63-9F45-44788A8246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73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损失函数（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 function）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是用来估量你模型的预测值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f(x)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与真实值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的不一致程度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正則化中我們將保留所有的特徵變量，但是會減小特徵變量的數量級（參數數值的大小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j)）。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個方法非常有效，當我們有很多特徵變量時，其中每一個變量都能對預測產生一點影響。正如我們在房價預測的例子中看到的那樣，我們可以有很多特徵變量，其中每一個變量都是有用的，因此我們不希望把它們刪掉，這就導致了正則化概念的發生。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接下來我們會討論怎樣應用正則化和什麼叫做正則化均值，然後將開始討論怎樣使用正則化來使學習算法正常工作，並避免過擬合。</a:t>
            </a:r>
          </a:p>
          <a:p>
            <a:r>
              <a:rPr lang="zh-TW" altLang="en-US" dirty="0"/>
              <a:t/>
            </a:r>
            <a:br>
              <a:rPr lang="zh-TW" alt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FDE18-2BD7-4D63-9F45-44788A82462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35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Linear weight http://www.ibm.com/support/knowledgecenter/zh-tw/SSLVMB_20.0.0/com.ibm.spss.statistics.help/idh_wlsq.htm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權重也是通過專家給出和曆史資料獲得的。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FDE18-2BD7-4D63-9F45-44788A8246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957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http://www.ibm.com/support/knowledgecenter/zh-tw/SSLVMB_20.0.0/com.ibm.spss.statistics.help/idh_wlsq.htm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FDE18-2BD7-4D63-9F45-44788A82462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3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https://read01.com/GGDg03.html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FDE18-2BD7-4D63-9F45-44788A82462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35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coefficient=coefficient−(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alpha∗delta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碗表面上的任一隨機位置表示當前係數對應的成本值，碗的底部則表示最優解集對應的成本函數值。梯度下降法的目標就是不斷地嘗試不同的係數值，然後評估成本函數並選擇能夠降低成本函數的參數值。重複疊代計算上述步驟直到收斂，我們就能獲得最小成本函數值對應的最優解</a:t>
            </a:r>
            <a:r>
              <a:rPr lang="zh-TW" altLang="en-US" dirty="0"/>
              <a:t/>
            </a:r>
            <a:br>
              <a:rPr lang="zh-TW" altLang="en-US" dirty="0"/>
            </a:b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原文網址：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https://read01.com/0kaKGB.html</a:t>
            </a:r>
            <a:r>
              <a:rPr lang="en-US" dirty="0"/>
              <a:t/>
            </a:r>
            <a:br>
              <a:rPr lang="en-US" dirty="0"/>
            </a:b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原文網址：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https://read01.com/0kaKGB.html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FDE18-2BD7-4D63-9F45-44788A82462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72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ikdd.acm.org/Site/CoDS2016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19200"/>
            <a:ext cx="7772400" cy="1470025"/>
          </a:xfrm>
        </p:spPr>
        <p:txBody>
          <a:bodyPr/>
          <a:lstStyle/>
          <a:p>
            <a:r>
              <a:rPr lang="en-US" b="1" dirty="0"/>
              <a:t>Learning DTW-</a:t>
            </a:r>
            <a:r>
              <a:rPr lang="en-US" b="1" dirty="0" err="1"/>
              <a:t>Shapelets</a:t>
            </a:r>
            <a:r>
              <a:rPr lang="en-US" b="1" dirty="0"/>
              <a:t> for Time-Series Classification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2819400"/>
            <a:ext cx="6400800" cy="2362200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 err="1"/>
              <a:t>Mit</a:t>
            </a:r>
            <a:r>
              <a:rPr lang="en-US" sz="2000" dirty="0"/>
              <a:t> Shah, </a:t>
            </a:r>
          </a:p>
          <a:p>
            <a:r>
              <a:rPr lang="en-US" sz="2000" dirty="0" err="1"/>
              <a:t>Josif</a:t>
            </a:r>
            <a:r>
              <a:rPr lang="en-US" sz="2000" dirty="0"/>
              <a:t> </a:t>
            </a:r>
            <a:r>
              <a:rPr lang="en-US" sz="2000" dirty="0" err="1"/>
              <a:t>Grabocka</a:t>
            </a:r>
            <a:r>
              <a:rPr lang="en-US" sz="2000" dirty="0"/>
              <a:t>,</a:t>
            </a:r>
          </a:p>
          <a:p>
            <a:r>
              <a:rPr lang="en-US" sz="2000" dirty="0"/>
              <a:t> Nicolas Schilling, </a:t>
            </a:r>
          </a:p>
          <a:p>
            <a:r>
              <a:rPr lang="en-US" sz="2000" dirty="0"/>
              <a:t>Martin </a:t>
            </a:r>
            <a:r>
              <a:rPr lang="en-US" sz="2000" dirty="0" err="1"/>
              <a:t>Wistuba</a:t>
            </a:r>
            <a:r>
              <a:rPr lang="en-US" sz="2000" dirty="0"/>
              <a:t>, </a:t>
            </a:r>
          </a:p>
          <a:p>
            <a:r>
              <a:rPr lang="en-US" sz="2000" dirty="0"/>
              <a:t>Lars Schmidt-</a:t>
            </a:r>
            <a:r>
              <a:rPr lang="en-US" sz="2000" dirty="0" err="1"/>
              <a:t>Thieme</a:t>
            </a:r>
            <a:r>
              <a:rPr lang="en-US" sz="2000" dirty="0"/>
              <a:t>,</a:t>
            </a:r>
          </a:p>
          <a:p>
            <a:r>
              <a:rPr lang="en-US" sz="2200" u="sng" dirty="0">
                <a:hlinkClick r:id="rId3" tooltip="Conference Website"/>
              </a:rPr>
              <a:t>CODS '16</a:t>
            </a:r>
            <a:r>
              <a:rPr lang="en-US" sz="2200" dirty="0"/>
              <a:t> Proceedings of the 3rd IKDD Conference on Data Science, 2016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7039" y="5172364"/>
            <a:ext cx="35831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Presenter : </a:t>
            </a:r>
            <a:r>
              <a:rPr lang="en-US" altLang="zh-TW" dirty="0"/>
              <a:t>Presenter:  Shu-Kai Hung</a:t>
            </a:r>
            <a:r>
              <a:rPr lang="en-US" altLang="zh-TW"/>
              <a:t/>
            </a:r>
            <a:br>
              <a:rPr lang="en-US" altLang="zh-TW"/>
            </a:br>
            <a:r>
              <a:rPr lang="en-US" altLang="zh-TW" smtClean="0"/>
              <a:t>Date:2016/11/15</a:t>
            </a:r>
            <a:r>
              <a:rPr lang="zh-TW" altLang="en-US" dirty="0"/>
              <a:t/>
            </a:r>
            <a:br>
              <a:rPr lang="zh-TW" altLang="en-US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4259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229600" cy="868362"/>
          </a:xfrm>
        </p:spPr>
        <p:txBody>
          <a:bodyPr/>
          <a:lstStyle/>
          <a:p>
            <a:r>
              <a:rPr lang="en-US" dirty="0"/>
              <a:t>Abstract(1/3)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7848600" cy="5334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err="1"/>
              <a:t>Shapelets</a:t>
            </a:r>
            <a:r>
              <a:rPr lang="en-US" sz="2800" dirty="0"/>
              <a:t> are discriminative patterns in time series, that best predict the target variable when their distances to the respective time series are used as features for a classier. Since the </a:t>
            </a:r>
            <a:r>
              <a:rPr lang="en-US" sz="2800" dirty="0" err="1"/>
              <a:t>shapelet</a:t>
            </a:r>
            <a:r>
              <a:rPr lang="en-US" sz="2800" dirty="0"/>
              <a:t> is simply any time series of some length less than or equal to the length of the shortest time series in our data set, there is an enormous amount of possible </a:t>
            </a:r>
            <a:r>
              <a:rPr lang="en-US" sz="2800" dirty="0" err="1"/>
              <a:t>shapelets</a:t>
            </a:r>
            <a:r>
              <a:rPr lang="en-US" sz="2800" dirty="0"/>
              <a:t> present in the data. Initially, </a:t>
            </a:r>
            <a:r>
              <a:rPr lang="en-US" sz="2800" dirty="0" err="1"/>
              <a:t>shapelets</a:t>
            </a:r>
            <a:r>
              <a:rPr lang="en-US" sz="2800" dirty="0"/>
              <a:t> were found by extracting numerous candidates and evaluating them for their prediction quality. Then, </a:t>
            </a:r>
            <a:r>
              <a:rPr lang="en-US" sz="2800" dirty="0" err="1"/>
              <a:t>Grabocka</a:t>
            </a:r>
            <a:r>
              <a:rPr lang="en-US" sz="2800" dirty="0"/>
              <a:t> et al. [2] proposed a novel approach of learning time series </a:t>
            </a:r>
            <a:r>
              <a:rPr lang="en-US" sz="2800" dirty="0" err="1"/>
              <a:t>shapelets</a:t>
            </a:r>
            <a:r>
              <a:rPr lang="en-US" sz="2800" dirty="0"/>
              <a:t> called LTS.</a:t>
            </a:r>
          </a:p>
        </p:txBody>
      </p:sp>
    </p:spTree>
    <p:extLst>
      <p:ext uri="{BB962C8B-B14F-4D97-AF65-F5344CB8AC3E}">
        <p14:creationId xmlns:p14="http://schemas.microsoft.com/office/powerpoint/2010/main" val="1810289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534400" cy="5029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A new mathematical formalization of the task via a </a:t>
            </a:r>
            <a:r>
              <a:rPr lang="en-US" sz="2800" dirty="0" err="1"/>
              <a:t>classication</a:t>
            </a:r>
            <a:r>
              <a:rPr lang="en-US" sz="2800" dirty="0"/>
              <a:t> objective function was proposed and a tailored stochastic gradient learning was applied. It enabled learning near-to-optimal </a:t>
            </a:r>
            <a:r>
              <a:rPr lang="en-US" sz="2800" dirty="0" err="1"/>
              <a:t>shapelets</a:t>
            </a:r>
            <a:r>
              <a:rPr lang="en-US" sz="2800" dirty="0"/>
              <a:t> without the overhead of trying out lots of candidates. The Euclidean distance measure was used as distance metric in the proposed approach. As a limitation, it is not able to learn a single </a:t>
            </a:r>
            <a:r>
              <a:rPr lang="en-US" sz="2800" dirty="0" err="1"/>
              <a:t>shapelet</a:t>
            </a:r>
            <a:r>
              <a:rPr lang="en-US" sz="2800" dirty="0"/>
              <a:t>, that can be representative of </a:t>
            </a:r>
            <a:r>
              <a:rPr lang="en-US" sz="2800" dirty="0" err="1"/>
              <a:t>dierent</a:t>
            </a:r>
            <a:r>
              <a:rPr lang="en-US" sz="2800" dirty="0"/>
              <a:t> subsequences of time series, which are just warped along time axis.</a:t>
            </a:r>
          </a:p>
        </p:txBody>
      </p:sp>
    </p:spTree>
    <p:extLst>
      <p:ext uri="{BB962C8B-B14F-4D97-AF65-F5344CB8AC3E}">
        <p14:creationId xmlns:p14="http://schemas.microsoft.com/office/powerpoint/2010/main" val="3091846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To consider these cases, we propose to use Dynamic Time Warping (DTW) as a distance measure in the framework of LTS. The proposed approach was evaluated on 11 real world data sets from the UCR repository and a synthetic data set created by ourselves. The experimental results show that the proposed approach outperforms the existing methods on these data sets.</a:t>
            </a:r>
          </a:p>
        </p:txBody>
      </p:sp>
    </p:spTree>
    <p:extLst>
      <p:ext uri="{BB962C8B-B14F-4D97-AF65-F5344CB8AC3E}">
        <p14:creationId xmlns:p14="http://schemas.microsoft.com/office/powerpoint/2010/main" val="1137882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4754563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Time series : ordered set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real-valued</a:t>
                </a:r>
              </a:p>
              <a:p>
                <a:pPr marL="0" indent="0">
                  <a:buNone/>
                </a:pPr>
                <a:r>
                  <a:rPr lang="en-US" sz="2400" dirty="0"/>
                  <a:t>	denote it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𝑇</m:t>
                    </m:r>
                  </m:oMath>
                </a14:m>
                <a:r>
                  <a:rPr lang="en-US" sz="2400" dirty="0"/>
                  <a:t>,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…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𝑄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 err="1"/>
                  <a:t>Shapelet</a:t>
                </a:r>
                <a:r>
                  <a:rPr lang="en-US" sz="2400" dirty="0"/>
                  <a:t> : time series sub-sequence which are in some sense maximally representative of a class. denote a </a:t>
                </a:r>
                <a:r>
                  <a:rPr lang="en-US" sz="2400" dirty="0" err="1"/>
                  <a:t>shapelet</a:t>
                </a:r>
                <a:r>
                  <a:rPr lang="en-US" sz="2400" dirty="0"/>
                  <a:t>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𝑆</m:t>
                    </m:r>
                    <m:r>
                      <a:rPr lang="en-US" sz="24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and denote the length of a </a:t>
                </a:r>
                <a:r>
                  <a:rPr lang="en-US" sz="2400" dirty="0" err="1"/>
                  <a:t>shapelet</a:t>
                </a:r>
                <a:r>
                  <a:rPr lang="en-US" sz="2400" dirty="0"/>
                  <a:t>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400" dirty="0"/>
                  <a:t> and the total number of </a:t>
                </a:r>
                <a:r>
                  <a:rPr lang="en-US" sz="2400" dirty="0" err="1"/>
                  <a:t>shapelets</a:t>
                </a:r>
                <a:r>
                  <a:rPr lang="en-US" sz="2400" dirty="0"/>
                  <a:t> to be learned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𝐾</m:t>
                    </m:r>
                    <m:r>
                      <a:rPr lang="en-US" sz="2400" i="1" dirty="0">
                        <a:latin typeface="Cambria Math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4754563"/>
              </a:xfrm>
              <a:blipFill>
                <a:blip r:embed="rId2"/>
                <a:stretch>
                  <a:fillRect l="-963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232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"/>
                <a:ext cx="8229600" cy="5973763"/>
              </a:xfrm>
            </p:spPr>
            <p:txBody>
              <a:bodyPr/>
              <a:lstStyle/>
              <a:p>
                <a:r>
                  <a:rPr lang="en-US" dirty="0"/>
                  <a:t>DTW distance :</a:t>
                </a:r>
              </a:p>
              <a:p>
                <a:pPr marL="0" indent="0">
                  <a:buNone/>
                </a:pPr>
                <a:r>
                  <a:rPr lang="en-US" dirty="0"/>
                  <a:t>Two time series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𝑇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with length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"/>
                <a:ext cx="8229600" cy="5973763"/>
              </a:xfrm>
              <a:blipFill rotWithShape="1">
                <a:blip r:embed="rId2"/>
                <a:stretch>
                  <a:fillRect l="-1852" t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6" y="1905000"/>
            <a:ext cx="8627672" cy="3350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4799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Time series segment and </a:t>
            </a:r>
            <a:r>
              <a:rPr lang="en-US" dirty="0" err="1"/>
              <a:t>shapelet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600200"/>
                <a:ext cx="8915400" cy="4525963"/>
              </a:xfrm>
            </p:spPr>
            <p:txBody>
              <a:bodyPr/>
              <a:lstStyle/>
              <a:p>
                <a:r>
                  <a:rPr lang="en-US" sz="2400" dirty="0"/>
                  <a:t>Time series segment :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/>
                  <a:t> time series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𝑇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400" dirty="0"/>
                  <a:t> extracted by sliding a window of size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𝐿</m:t>
                    </m:r>
                  </m:oMath>
                </a14:m>
                <a:r>
                  <a:rPr lang="en-US" sz="2400" dirty="0"/>
                  <a:t> staring at time-stamp j is define as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….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𝐿</m:t>
                        </m:r>
                        <m:r>
                          <a:rPr lang="en-US" sz="24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/>
                  <a:t> also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𝑇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𝑗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zh-TW" altLang="en-US" sz="2400" dirty="0"/>
                  <a:t>因此，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/>
                      </a:rPr>
                      <m:t>𝑗</m:t>
                    </m:r>
                    <m:r>
                      <a:rPr lang="en-US" altLang="zh-TW" sz="2400" i="1" dirty="0" smtClean="0">
                        <a:latin typeface="Cambria Math"/>
                      </a:rPr>
                      <m:t> = </m:t>
                    </m:r>
                    <m:r>
                      <a:rPr lang="en-US" altLang="zh-TW" sz="2400" i="1" dirty="0" smtClean="0">
                        <a:latin typeface="Cambria Math"/>
                      </a:rPr>
                      <m:t>𝑄</m:t>
                    </m:r>
                    <m:r>
                      <a:rPr lang="en-US" altLang="zh-TW" sz="2400" i="1" dirty="0" smtClean="0">
                        <a:latin typeface="Cambria Math"/>
                      </a:rPr>
                      <m:t>+</m:t>
                    </m:r>
                    <m:r>
                      <a:rPr lang="en-US" altLang="zh-TW" sz="2400" i="1" dirty="0" smtClean="0">
                        <a:latin typeface="Cambria Math"/>
                      </a:rPr>
                      <m:t>𝐿</m:t>
                    </m:r>
                    <m:r>
                      <a:rPr lang="en-US" altLang="zh-TW" sz="2400" i="1" dirty="0" smtClean="0">
                        <a:latin typeface="Cambria Math"/>
                      </a:rPr>
                      <m:t>−1 </m:t>
                    </m:r>
                  </m:oMath>
                </a14:m>
                <a:r>
                  <a:rPr lang="zh-TW" altLang="en-US" sz="2400" dirty="0"/>
                  <a:t>為</a:t>
                </a:r>
                <a:r>
                  <a:rPr lang="en-US" altLang="zh-TW" sz="2400" dirty="0"/>
                  <a:t>1</a:t>
                </a:r>
                <a:r>
                  <a:rPr lang="zh-TW" altLang="en-US" sz="2400" dirty="0"/>
                  <a:t>個</a:t>
                </a:r>
                <a:r>
                  <a:rPr lang="en-US" altLang="zh-TW" sz="2400" dirty="0"/>
                  <a:t>time series</a:t>
                </a:r>
                <a:r>
                  <a:rPr lang="zh-TW" altLang="en-US" sz="2400" dirty="0"/>
                  <a:t>的</a:t>
                </a:r>
                <a:r>
                  <a:rPr lang="en-US" altLang="zh-TW" sz="2400" dirty="0"/>
                  <a:t>segment </a:t>
                </a:r>
                <a:r>
                  <a:rPr lang="zh-TW" altLang="en-US" sz="2400" dirty="0"/>
                  <a:t>個數</a:t>
                </a:r>
                <a:endParaRPr lang="en-US" altLang="zh-TW" sz="2400" dirty="0"/>
              </a:p>
              <a:p>
                <a:r>
                  <a:rPr lang="en-US" sz="2400" dirty="0"/>
                  <a:t>The distance between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/>
                  <a:t> time series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𝑇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400" dirty="0"/>
                  <a:t> and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𝑘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𝑡h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 err="1"/>
                  <a:t>shapelet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𝑘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 is defined as the minimum distance among all the DTW distances between the </a:t>
                </a:r>
                <a:r>
                  <a:rPr lang="en-US" sz="2400" dirty="0" err="1"/>
                  <a:t>shapelet</a:t>
                </a:r>
                <a:r>
                  <a:rPr lang="en-US" sz="2400" dirty="0"/>
                  <a:t> and each of the segments of the time series : 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600200"/>
                <a:ext cx="8915400" cy="4525963"/>
              </a:xfrm>
              <a:blipFill rotWithShape="1">
                <a:blip r:embed="rId2"/>
                <a:stretch>
                  <a:fillRect l="-1025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953000"/>
            <a:ext cx="4591050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625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991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Learning Time Series </a:t>
            </a:r>
            <a:r>
              <a:rPr lang="en-US" dirty="0" err="1"/>
              <a:t>Shapelets</a:t>
            </a:r>
            <a:r>
              <a:rPr lang="en-US" dirty="0"/>
              <a:t> </a:t>
            </a:r>
            <a:r>
              <a:rPr lang="en-US" dirty="0" err="1"/>
              <a:t>withDTW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(LTSD)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8763000" cy="4953000"/>
          </a:xfrm>
        </p:spPr>
        <p:txBody>
          <a:bodyPr/>
          <a:lstStyle/>
          <a:p>
            <a:r>
              <a:rPr lang="en-US" sz="2400" dirty="0"/>
              <a:t>LTS distance measure </a:t>
            </a:r>
            <a:r>
              <a:rPr lang="zh-TW" altLang="en-US" sz="2400" dirty="0"/>
              <a:t>方式變為 </a:t>
            </a:r>
            <a:r>
              <a:rPr lang="en-US" altLang="zh-TW" sz="2400" dirty="0"/>
              <a:t>DTW</a:t>
            </a:r>
            <a:r>
              <a:rPr lang="zh-TW" altLang="en-US" sz="2400" dirty="0"/>
              <a:t> </a:t>
            </a:r>
            <a:r>
              <a:rPr lang="en-US" altLang="zh-TW" sz="2400" dirty="0"/>
              <a:t>(</a:t>
            </a:r>
            <a:r>
              <a:rPr lang="zh-TW" altLang="en-US" sz="2400" dirty="0"/>
              <a:t>原為</a:t>
            </a:r>
            <a:r>
              <a:rPr lang="en-US" altLang="zh-TW" sz="2400" dirty="0"/>
              <a:t>Euclidean distance)</a:t>
            </a:r>
          </a:p>
          <a:p>
            <a:endParaRPr lang="en-US" sz="2400" dirty="0"/>
          </a:p>
          <a:p>
            <a:r>
              <a:rPr lang="en-US" altLang="zh-TW" sz="2400" dirty="0"/>
              <a:t>LTSD </a:t>
            </a:r>
            <a:r>
              <a:rPr lang="zh-TW" altLang="en-US" sz="2400" dirty="0"/>
              <a:t>步驟</a:t>
            </a:r>
            <a:endParaRPr lang="en-US" altLang="zh-TW" sz="2400" dirty="0"/>
          </a:p>
          <a:p>
            <a:endParaRPr lang="en-US" altLang="zh-TW" sz="2400" dirty="0"/>
          </a:p>
          <a:p>
            <a:pPr marL="0" indent="0">
              <a:buNone/>
            </a:pPr>
            <a:r>
              <a:rPr lang="en-US" altLang="zh-TW" sz="2400" dirty="0"/>
              <a:t>1.</a:t>
            </a:r>
            <a:r>
              <a:rPr lang="zh-TW" altLang="en-US" sz="2400" dirty="0"/>
              <a:t> 利用</a:t>
            </a:r>
            <a:r>
              <a:rPr lang="en-US" sz="2400" dirty="0"/>
              <a:t>minimum distance among all the </a:t>
            </a:r>
            <a:r>
              <a:rPr lang="en-US" sz="2400" dirty="0">
                <a:solidFill>
                  <a:srgbClr val="FF0000"/>
                </a:solidFill>
              </a:rPr>
              <a:t>DTW </a:t>
            </a:r>
            <a:r>
              <a:rPr lang="en-US" sz="2400" dirty="0"/>
              <a:t>distances between the </a:t>
            </a:r>
            <a:r>
              <a:rPr lang="en-US" sz="2400" dirty="0" err="1"/>
              <a:t>shapelet</a:t>
            </a:r>
            <a:r>
              <a:rPr lang="en-US" sz="2400" dirty="0"/>
              <a:t> and each of the segments of the time series </a:t>
            </a:r>
            <a:r>
              <a:rPr lang="zh-TW" altLang="en-US" sz="2400" dirty="0"/>
              <a:t>建立</a:t>
            </a:r>
            <a:r>
              <a:rPr lang="en-US" altLang="zh-TW" sz="2400" dirty="0"/>
              <a:t>model</a:t>
            </a:r>
          </a:p>
          <a:p>
            <a:pPr marL="0" indent="0">
              <a:buNone/>
            </a:pPr>
            <a:r>
              <a:rPr lang="en-US" sz="2400" dirty="0"/>
              <a:t>2. </a:t>
            </a:r>
            <a:r>
              <a:rPr lang="zh-TW" altLang="en-US" sz="2400" dirty="0"/>
              <a:t>利用邏輯回歸分析模型讓預測目標為概率性</a:t>
            </a:r>
            <a:endParaRPr lang="en-US" altLang="zh-TW" sz="2400" dirty="0"/>
          </a:p>
          <a:p>
            <a:pPr marL="0" indent="0">
              <a:buNone/>
            </a:pPr>
            <a:r>
              <a:rPr lang="en-US" altLang="zh-TW" sz="2400" dirty="0"/>
              <a:t>3.</a:t>
            </a:r>
            <a:r>
              <a:rPr lang="zh-TW" altLang="en-US" sz="2400" dirty="0"/>
              <a:t>導出損失函數及正則化表示正則化目標函數</a:t>
            </a:r>
            <a:endParaRPr lang="en-US" altLang="zh-TW" sz="2400" dirty="0"/>
          </a:p>
          <a:p>
            <a:pPr marL="0" indent="0">
              <a:buNone/>
            </a:pPr>
            <a:r>
              <a:rPr lang="en-US" altLang="zh-TW" sz="2400" dirty="0"/>
              <a:t>4.</a:t>
            </a:r>
            <a:r>
              <a:rPr lang="zh-CN" altLang="en-US" sz="2400" dirty="0"/>
              <a:t> </a:t>
            </a:r>
            <a:r>
              <a:rPr lang="zh-TW" altLang="en-US" sz="2400" dirty="0"/>
              <a:t>隨機梯度下降</a:t>
            </a:r>
            <a:r>
              <a:rPr lang="zh-TW" altLang="en-US" sz="2400" dirty="0" smtClean="0"/>
              <a:t>法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430315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11763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Having computed minimum distances as the new predictors,</a:t>
                </a:r>
              </a:p>
              <a:p>
                <a:pPr marL="0" indent="0">
                  <a:buNone/>
                </a:pPr>
                <a:r>
                  <a:rPr lang="en-US" sz="2400" dirty="0"/>
                  <a:t>a linear model can predict target values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/>
                          </a:rPr>
                          <m:t>𝑌</m:t>
                        </m:r>
                      </m:e>
                    </m:acc>
                    <m:r>
                      <a:rPr lang="en-US" sz="240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𝐼</m:t>
                        </m:r>
                      </m:sup>
                    </m:sSup>
                  </m:oMath>
                </a14:m>
                <a:r>
                  <a:rPr lang="en-US" sz="2400" dirty="0"/>
                  <a:t>via</a:t>
                </a:r>
              </a:p>
              <a:p>
                <a:pPr marL="0" indent="0">
                  <a:buNone/>
                </a:pPr>
                <a:r>
                  <a:rPr lang="en-US" sz="2400" dirty="0"/>
                  <a:t>the predictors M and the linear weights(</a:t>
                </a:r>
                <a:r>
                  <a:rPr lang="zh-TW" altLang="en-US" sz="2400" dirty="0"/>
                  <a:t>線性權重</a:t>
                </a:r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𝑊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US" sz="24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2400" dirty="0"/>
                  <a:t> as shown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Our model learns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400" dirty="0"/>
                  <a:t> different scales of </a:t>
                </a:r>
                <a:r>
                  <a:rPr lang="en-US" sz="2400" dirty="0" err="1"/>
                  <a:t>shapelet</a:t>
                </a:r>
                <a:r>
                  <a:rPr lang="en-US" sz="2400" dirty="0"/>
                  <a:t> lengths</a:t>
                </a:r>
              </a:p>
              <a:p>
                <a:pPr marL="0" indent="0">
                  <a:buNone/>
                </a:pPr>
                <a:r>
                  <a:rPr lang="en-US" sz="2400" dirty="0"/>
                  <a:t>starting at a minimum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𝐿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𝑚𝑖𝑛</m:t>
                        </m:r>
                      </m:sup>
                    </m:sSup>
                  </m:oMath>
                </a14:m>
                <a:r>
                  <a:rPr lang="en-US" sz="2400" dirty="0"/>
                  <a:t>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{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𝑚𝑖𝑛</m:t>
                        </m:r>
                      </m:sup>
                    </m:sSup>
                    <m:r>
                      <a:rPr lang="en-US" sz="2400" b="0" i="1" smtClean="0">
                        <a:latin typeface="Cambria Math"/>
                        <a:ea typeface="Cambria Math"/>
                      </a:rPr>
                      <m:t>,2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𝑚𝑖𝑛</m:t>
                        </m:r>
                      </m:sup>
                    </m:sSup>
                  </m:oMath>
                </a14:m>
                <a:r>
                  <a:rPr lang="en-US" sz="2400" dirty="0"/>
                  <a:t>…,R</a:t>
                </a:r>
                <a:r>
                  <a:rPr lang="en-US" sz="24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𝑚𝑖𝑛</m:t>
                        </m:r>
                      </m:sup>
                    </m:sSup>
                  </m:oMath>
                </a14:m>
                <a:r>
                  <a:rPr lang="en-US" sz="2400" dirty="0"/>
                  <a:t>}</a:t>
                </a:r>
              </a:p>
              <a:p>
                <a:pPr marL="0" indent="0">
                  <a:buNone/>
                </a:pPr>
                <a:r>
                  <a:rPr lang="en-US" sz="2400" dirty="0"/>
                  <a:t>The </a:t>
                </a:r>
                <a:r>
                  <a:rPr lang="en-US" sz="2400" dirty="0" err="1"/>
                  <a:t>shapelets</a:t>
                </a:r>
                <a:r>
                  <a:rPr lang="en-US" sz="2400" dirty="0"/>
                  <a:t> therefore can be defined as</a:t>
                </a:r>
              </a:p>
              <a:p>
                <a:pPr marL="0" indent="0">
                  <a:buNone/>
                </a:pPr>
                <a:r>
                  <a:rPr lang="zh-TW" altLang="en-US" sz="2400" dirty="0"/>
                  <a:t>所以 </a:t>
                </a:r>
                <a:r>
                  <a:rPr lang="en-US" altLang="zh-TW" sz="2400" dirty="0"/>
                  <a:t>S</a:t>
                </a:r>
                <a:r>
                  <a:rPr lang="zh-TW" altLang="en-US" sz="2400" dirty="0"/>
                  <a:t>的個數及長度也會因</a:t>
                </a:r>
                <a:r>
                  <a:rPr lang="en-US" altLang="zh-TW" sz="2400" dirty="0"/>
                  <a:t>R</a:t>
                </a:r>
                <a:r>
                  <a:rPr lang="zh-TW" altLang="en-US" sz="2400" dirty="0"/>
                  <a:t>的</a:t>
                </a:r>
                <a:r>
                  <a:rPr lang="en-US" altLang="zh-TW" sz="2400" dirty="0"/>
                  <a:t>scale </a:t>
                </a:r>
                <a:r>
                  <a:rPr lang="zh-TW" altLang="en-US" sz="2400" dirty="0"/>
                  <a:t>而有不同改變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11763"/>
              </a:xfrm>
              <a:blipFill>
                <a:blip r:embed="rId3"/>
                <a:stretch>
                  <a:fillRect l="-1111" t="-9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2362200"/>
            <a:ext cx="428625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291" y="4343400"/>
            <a:ext cx="2238375" cy="396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5334000"/>
            <a:ext cx="40767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6188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"/>
                <a:ext cx="8229600" cy="5973763"/>
              </a:xfrm>
            </p:spPr>
            <p:txBody>
              <a:bodyPr>
                <a:normAutofit/>
              </a:bodyPr>
              <a:lstStyle/>
              <a:p>
                <a:endParaRPr lang="en-US" sz="2400" dirty="0"/>
              </a:p>
              <a:p>
                <a:r>
                  <a:rPr lang="en-US" sz="2400" dirty="0"/>
                  <a:t>In order to learn from multi-class targets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𝑊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∈ 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  <m:t>{1,…,</m:t>
                        </m:r>
                        <m: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  <m:t>𝐶</m:t>
                        </m:r>
                        <m: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  <m:t>}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𝐼</m:t>
                        </m:r>
                      </m:sup>
                    </m:sSup>
                  </m:oMath>
                </a14:m>
                <a:r>
                  <a:rPr lang="en-US" sz="2400" dirty="0"/>
                  <a:t>with C categories, we will convert the problem into C-many one-</a:t>
                </a:r>
                <a:r>
                  <a:rPr lang="en-US" sz="2400" dirty="0" err="1"/>
                  <a:t>vs</a:t>
                </a:r>
                <a:r>
                  <a:rPr lang="en-US" sz="2400" dirty="0"/>
                  <a:t>-all sub-problems. The one-</a:t>
                </a:r>
                <a:r>
                  <a:rPr lang="en-US" sz="2400" dirty="0" err="1"/>
                  <a:t>vs</a:t>
                </a:r>
                <a:r>
                  <a:rPr lang="en-US" sz="2400" dirty="0"/>
                  <a:t>-all binary targets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𝑌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∈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400" b="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/>
                                <a:ea typeface="Cambria Math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𝐼</m:t>
                        </m:r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∗</m:t>
                        </m:r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𝐶</m:t>
                        </m:r>
                      </m:sup>
                    </m:sSup>
                  </m:oMath>
                </a14:m>
                <a:endParaRPr lang="en-US" sz="2400" b="0" dirty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altLang="zh-TW" sz="2400" dirty="0"/>
                  <a:t>(Logistic Regression</a:t>
                </a:r>
                <a:r>
                  <a:rPr lang="zh-TW" altLang="en-US" sz="2400" dirty="0"/>
                  <a:t>算法作為一個二分類算法</a:t>
                </a:r>
                <a:r>
                  <a:rPr lang="en-US" altLang="zh-TW" sz="2400" dirty="0"/>
                  <a:t>)</a:t>
                </a: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the target value will be as shown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zh-TW" altLang="en-US" sz="2400" dirty="0"/>
                  <a:t>講這些值用於邏輯回歸分析求最佳化解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"/>
                <a:ext cx="8229600" cy="5973763"/>
              </a:xfrm>
              <a:blipFill>
                <a:blip r:embed="rId3"/>
                <a:stretch>
                  <a:fillRect l="-1111" r="-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32398"/>
            <a:ext cx="641985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336926"/>
            <a:ext cx="4486275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3859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邏輯回歸分析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5181600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線性回歸分析</a:t>
            </a:r>
            <a:r>
              <a:rPr lang="en-US" altLang="zh-TW" sz="2400" dirty="0"/>
              <a:t>(OLS):</a:t>
            </a:r>
            <a:r>
              <a:rPr lang="zh-TW" altLang="en-US" sz="2400" dirty="0"/>
              <a:t>在一組資料中找尋最有代表性的一條線</a:t>
            </a:r>
            <a:endParaRPr lang="en-US" altLang="zh-TW" sz="2400" dirty="0"/>
          </a:p>
          <a:p>
            <a:pPr marL="0" indent="0">
              <a:buNone/>
            </a:pPr>
            <a:r>
              <a:rPr lang="zh-TW" altLang="en-US" sz="2400" dirty="0"/>
              <a:t>原理 </a:t>
            </a:r>
            <a:r>
              <a:rPr lang="en-US" altLang="zh-TW" sz="2400" dirty="0"/>
              <a:t>:</a:t>
            </a:r>
            <a:r>
              <a:rPr lang="zh-TW" altLang="en-US" sz="2400" dirty="0"/>
              <a:t> 最小平方和</a:t>
            </a:r>
            <a:endParaRPr lang="en-US" altLang="zh-TW" sz="2400" dirty="0"/>
          </a:p>
          <a:p>
            <a:pPr marL="0" indent="0">
              <a:buNone/>
            </a:pPr>
            <a:r>
              <a:rPr lang="zh-TW" altLang="en-US" sz="2400" dirty="0"/>
              <a:t>受限於很多假設與前提</a:t>
            </a:r>
            <a:r>
              <a:rPr lang="en-US" altLang="zh-TW" sz="2400" dirty="0"/>
              <a:t>=&gt;Limit Dependent variable(LDV)</a:t>
            </a:r>
          </a:p>
          <a:p>
            <a:pPr marL="0" indent="0">
              <a:buNone/>
            </a:pPr>
            <a:r>
              <a:rPr lang="zh-TW" altLang="en-US" sz="2400" dirty="0"/>
              <a:t>最常遇到之</a:t>
            </a:r>
            <a:r>
              <a:rPr lang="en-US" altLang="zh-TW" sz="2400" dirty="0"/>
              <a:t>LDV</a:t>
            </a:r>
            <a:r>
              <a:rPr lang="zh-TW" altLang="en-US" sz="2400" dirty="0"/>
              <a:t> </a:t>
            </a:r>
            <a:r>
              <a:rPr lang="en-US" altLang="zh-TW" sz="2400" dirty="0"/>
              <a:t>=&gt;2</a:t>
            </a:r>
            <a:r>
              <a:rPr lang="zh-TW" altLang="en-US" sz="2400" dirty="0"/>
              <a:t>元選擇 </a:t>
            </a:r>
            <a:r>
              <a:rPr lang="en-US" altLang="zh-TW" sz="2400" dirty="0"/>
              <a:t>example : </a:t>
            </a:r>
            <a:r>
              <a:rPr lang="zh-TW" altLang="en-US" sz="2400" dirty="0"/>
              <a:t>你是男或女</a:t>
            </a:r>
            <a:r>
              <a:rPr lang="en-US" altLang="zh-TW" sz="2400" dirty="0"/>
              <a:t>?</a:t>
            </a:r>
          </a:p>
          <a:p>
            <a:pPr marL="0" indent="0">
              <a:buNone/>
            </a:pPr>
            <a:endParaRPr lang="en-US" altLang="zh-TW" sz="2400" dirty="0"/>
          </a:p>
          <a:p>
            <a:r>
              <a:rPr lang="zh-TW" altLang="en-US" sz="2400" dirty="0"/>
              <a:t>非線性 </a:t>
            </a:r>
            <a:r>
              <a:rPr lang="en-US" altLang="zh-TW" sz="2400" dirty="0"/>
              <a:t>:</a:t>
            </a:r>
            <a:r>
              <a:rPr lang="zh-TW" altLang="en-US" sz="2400" dirty="0"/>
              <a:t> 邏輯回歸 為其中一種</a:t>
            </a:r>
            <a:endParaRPr lang="en-US" altLang="zh-TW" sz="2400" dirty="0"/>
          </a:p>
          <a:p>
            <a:pPr marL="0" indent="0">
              <a:buNone/>
            </a:pPr>
            <a:r>
              <a:rPr lang="zh-TW" altLang="en-US" sz="2400" dirty="0"/>
              <a:t>原理 </a:t>
            </a:r>
            <a:r>
              <a:rPr lang="en-US" altLang="zh-TW" sz="2400" dirty="0"/>
              <a:t>:</a:t>
            </a:r>
            <a:r>
              <a:rPr lang="zh-TW" altLang="en-US" sz="2400" dirty="0"/>
              <a:t> 最大可能性 並且最小平方和原理也符合邏輯回歸的原理</a:t>
            </a:r>
            <a:endParaRPr lang="en-US" altLang="zh-TW" sz="2400" dirty="0"/>
          </a:p>
          <a:p>
            <a:pPr marL="0" indent="0">
              <a:buNone/>
            </a:pPr>
            <a:endParaRPr lang="en-US" altLang="zh-TW" sz="2400" dirty="0"/>
          </a:p>
          <a:p>
            <a:pPr marL="0" indent="0">
              <a:buNone/>
            </a:pPr>
            <a:r>
              <a:rPr lang="zh-TW" altLang="en-US" sz="2400" dirty="0"/>
              <a:t>邏輯回歸為電腦迭代找出參數值</a:t>
            </a:r>
            <a:endParaRPr lang="en-US" altLang="zh-TW" sz="2400" dirty="0"/>
          </a:p>
          <a:p>
            <a:pPr marL="0" indent="0">
              <a:buNone/>
            </a:pPr>
            <a:r>
              <a:rPr lang="zh-TW" altLang="en-US" sz="2400" dirty="0"/>
              <a:t>本篇所用為邏輯回歸</a:t>
            </a:r>
            <a:endParaRPr lang="en-US" altLang="zh-TW" sz="2400" dirty="0"/>
          </a:p>
          <a:p>
            <a:pPr marL="0" indent="0">
              <a:buNone/>
            </a:pPr>
            <a:endParaRPr lang="en-US" altLang="zh-TW" sz="2400" dirty="0"/>
          </a:p>
          <a:p>
            <a:pPr marL="0" indent="0">
              <a:buNone/>
            </a:pP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102883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loss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/>
          </a:bodyPr>
          <a:lstStyle/>
          <a:p>
            <a:r>
              <a:rPr lang="zh-TW" altLang="en-US" sz="2000" dirty="0"/>
              <a:t>損失函数（</a:t>
            </a:r>
            <a:r>
              <a:rPr lang="en-US" sz="2000" dirty="0"/>
              <a:t>loss function）</a:t>
            </a:r>
            <a:r>
              <a:rPr lang="zh-TW" altLang="en-US" sz="2000" dirty="0"/>
              <a:t>是用来估量你模型的預測值</a:t>
            </a:r>
            <a:r>
              <a:rPr lang="en-US" sz="2000" dirty="0"/>
              <a:t>f(x)</a:t>
            </a:r>
            <a:r>
              <a:rPr lang="zh-TW" altLang="en-US" sz="2000" dirty="0"/>
              <a:t>與真實值</a:t>
            </a:r>
            <a:r>
              <a:rPr lang="en-US" sz="2000" dirty="0"/>
              <a:t>Y</a:t>
            </a:r>
            <a:r>
              <a:rPr lang="zh-TW" altLang="en-US" sz="2000" dirty="0"/>
              <a:t>的不一致程度 </a:t>
            </a:r>
            <a:r>
              <a:rPr lang="en-US" altLang="zh-TW" sz="2000" dirty="0"/>
              <a:t>(</a:t>
            </a:r>
            <a:r>
              <a:rPr lang="zh-TW" altLang="en-US" sz="2000" dirty="0"/>
              <a:t>評估含數好壞</a:t>
            </a:r>
            <a:r>
              <a:rPr lang="en-US" altLang="zh-TW" sz="2000" dirty="0"/>
              <a:t>)</a:t>
            </a:r>
          </a:p>
          <a:p>
            <a:r>
              <a:rPr lang="zh-TW" altLang="en-US" sz="2000" dirty="0"/>
              <a:t>正則化 </a:t>
            </a:r>
            <a:r>
              <a:rPr lang="en-US" altLang="zh-TW" sz="2000" dirty="0"/>
              <a:t>:</a:t>
            </a:r>
            <a:r>
              <a:rPr lang="zh-TW" altLang="en-US" sz="2000" dirty="0"/>
              <a:t> 解決過多特徵且每個特徵都會影響預測時，又不想刪除特徵 所採取的減小特徵量數量級的方法</a:t>
            </a:r>
            <a:r>
              <a:rPr lang="en-US" altLang="zh-TW" sz="2000" dirty="0"/>
              <a:t>(</a:t>
            </a:r>
            <a:r>
              <a:rPr lang="zh-TW" altLang="en-US" sz="2000" dirty="0"/>
              <a:t>解決過度擬合問題</a:t>
            </a:r>
            <a:r>
              <a:rPr lang="en-US" altLang="zh-TW" sz="2000" dirty="0"/>
              <a:t>)</a:t>
            </a:r>
          </a:p>
          <a:p>
            <a:r>
              <a:rPr lang="zh-TW" altLang="en-US" sz="2400" dirty="0"/>
              <a:t>對數損失函數用於</a:t>
            </a:r>
            <a:r>
              <a:rPr lang="zh-TW" altLang="en-US" sz="2400" dirty="0">
                <a:solidFill>
                  <a:srgbClr val="FF0000"/>
                </a:solidFill>
              </a:rPr>
              <a:t>估計數據類型 </a:t>
            </a:r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sz="2000" dirty="0"/>
              <a:t>	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5615589"/>
            <a:ext cx="611505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3352800"/>
            <a:ext cx="6210300" cy="1123950"/>
          </a:xfrm>
          <a:prstGeom prst="rect">
            <a:avLst/>
          </a:prstGeom>
        </p:spPr>
      </p:pic>
      <p:sp>
        <p:nvSpPr>
          <p:cNvPr id="5" name="向下箭號 4"/>
          <p:cNvSpPr/>
          <p:nvPr/>
        </p:nvSpPr>
        <p:spPr>
          <a:xfrm>
            <a:off x="3886200" y="4648200"/>
            <a:ext cx="228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289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對數損失</a:t>
            </a:r>
            <a:r>
              <a:rPr lang="en-US" altLang="zh-TW" dirty="0" smtClean="0"/>
              <a:t>(Log Loss)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800" b="1" dirty="0" smtClean="0"/>
          </a:p>
          <a:p>
            <a:r>
              <a:rPr lang="en-US" altLang="zh-CN" sz="2800" b="1" dirty="0" smtClean="0"/>
              <a:t>log</a:t>
            </a:r>
            <a:r>
              <a:rPr lang="zh-TW" altLang="en-US" sz="2800" b="1" dirty="0" smtClean="0"/>
              <a:t>損失</a:t>
            </a:r>
            <a:r>
              <a:rPr lang="zh-CN" altLang="en-US" sz="2800" b="1" dirty="0" smtClean="0"/>
              <a:t>函</a:t>
            </a:r>
            <a:r>
              <a:rPr lang="zh-CN" altLang="en-US" sz="2800" b="1" dirty="0"/>
              <a:t>数</a:t>
            </a:r>
            <a:r>
              <a:rPr lang="zh-CN" altLang="en-US" sz="2800" b="1" dirty="0" smtClean="0"/>
              <a:t>的</a:t>
            </a:r>
            <a:r>
              <a:rPr lang="zh-TW" altLang="en-US" sz="2800" b="1" dirty="0" smtClean="0"/>
              <a:t>標準形式</a:t>
            </a:r>
            <a:r>
              <a:rPr lang="zh-CN" altLang="en-US" sz="2800" b="1" dirty="0" smtClean="0"/>
              <a:t> </a:t>
            </a:r>
            <a:r>
              <a:rPr lang="en-US" altLang="zh-CN" sz="2800" b="1" dirty="0" smtClean="0"/>
              <a:t>:</a:t>
            </a:r>
            <a:r>
              <a:rPr lang="en-US" altLang="zh-TW" sz="2800" dirty="0" smtClean="0"/>
              <a:t>L(Y,P(Y|X</a:t>
            </a:r>
            <a:r>
              <a:rPr lang="en-US" altLang="zh-TW" sz="2800" dirty="0"/>
              <a:t>))=−</a:t>
            </a:r>
            <a:r>
              <a:rPr lang="en-US" altLang="zh-TW" sz="2800" dirty="0" err="1"/>
              <a:t>logP</a:t>
            </a:r>
            <a:r>
              <a:rPr lang="en-US" altLang="zh-TW" sz="2800" dirty="0"/>
              <a:t>(Y|X</a:t>
            </a:r>
            <a:r>
              <a:rPr lang="en-US" altLang="zh-TW" sz="2800" dirty="0" smtClean="0"/>
              <a:t>)</a:t>
            </a:r>
          </a:p>
          <a:p>
            <a:r>
              <a:rPr lang="zh-TW" altLang="en-US" sz="2800" dirty="0" smtClean="0"/>
              <a:t>邏輯回歸推導中 </a:t>
            </a:r>
            <a:r>
              <a:rPr lang="en-US" altLang="zh-TW" sz="2800" dirty="0" smtClean="0"/>
              <a:t>Y</a:t>
            </a:r>
            <a:r>
              <a:rPr lang="zh-TW" altLang="en-US" sz="2800" dirty="0" smtClean="0"/>
              <a:t> 服從 </a:t>
            </a:r>
            <a:r>
              <a:rPr lang="en-US" altLang="zh-TW" sz="2800" dirty="0" smtClean="0"/>
              <a:t>0-1</a:t>
            </a:r>
            <a:r>
              <a:rPr lang="zh-TW" altLang="en-US" sz="2800" dirty="0" smtClean="0"/>
              <a:t>分布</a:t>
            </a:r>
            <a:r>
              <a:rPr lang="en-US" altLang="zh-TW" sz="2800" dirty="0" smtClean="0"/>
              <a:t>(</a:t>
            </a:r>
            <a:r>
              <a:rPr lang="zh-TW" altLang="en-US" sz="2800" b="1" dirty="0" smtClean="0"/>
              <a:t>伯</a:t>
            </a:r>
            <a:r>
              <a:rPr lang="zh-TW" altLang="en-US" sz="2800" b="1" dirty="0"/>
              <a:t>努利</a:t>
            </a:r>
            <a:r>
              <a:rPr lang="zh-TW" altLang="en-US" sz="2800" b="1" dirty="0" smtClean="0"/>
              <a:t>分布</a:t>
            </a:r>
            <a:r>
              <a:rPr lang="en-US" altLang="zh-TW" sz="2800" b="1" dirty="0" smtClean="0"/>
              <a:t>)</a:t>
            </a:r>
          </a:p>
          <a:p>
            <a:r>
              <a:rPr lang="zh-TW" altLang="en-US" sz="2800" dirty="0" smtClean="0"/>
              <a:t>求得滿足該分布的預測函數</a:t>
            </a:r>
            <a:endParaRPr lang="en-US" altLang="zh-TW" sz="2800" dirty="0" smtClean="0"/>
          </a:p>
          <a:p>
            <a:r>
              <a:rPr lang="zh-TW" altLang="en-US" sz="2800" dirty="0" smtClean="0"/>
              <a:t>取對數求極值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44774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zh-TW" altLang="en-US" dirty="0"/>
              <a:t>邏輯回歸分析流程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endParaRPr lang="en-US" altLang="zh-TW" sz="2000" dirty="0" smtClean="0"/>
          </a:p>
          <a:p>
            <a:r>
              <a:rPr lang="zh-TW" altLang="en-US" sz="2000" dirty="0" smtClean="0"/>
              <a:t>邏輯</a:t>
            </a:r>
            <a:r>
              <a:rPr lang="zh-TW" altLang="en-US" sz="2000" dirty="0"/>
              <a:t>回歸的預測函數</a:t>
            </a:r>
            <a:endParaRPr lang="en-US" altLang="zh-TW" sz="2000" dirty="0"/>
          </a:p>
          <a:p>
            <a:endParaRPr lang="en-US" altLang="zh-TW" sz="2000" dirty="0"/>
          </a:p>
          <a:p>
            <a:r>
              <a:rPr lang="zh-TW" altLang="en-US" sz="2000" dirty="0"/>
              <a:t>評估函數</a:t>
            </a:r>
            <a:r>
              <a:rPr lang="en-US" altLang="zh-TW" sz="2000" dirty="0"/>
              <a:t>:</a:t>
            </a:r>
            <a:r>
              <a:rPr lang="zh-TW" altLang="en-US" sz="2000" dirty="0"/>
              <a:t>評估函數好壞</a:t>
            </a:r>
            <a:endParaRPr lang="en-US" altLang="zh-TW" sz="2000" dirty="0"/>
          </a:p>
          <a:p>
            <a:endParaRPr lang="en-US" altLang="zh-TW" sz="2000" dirty="0"/>
          </a:p>
          <a:p>
            <a:r>
              <a:rPr lang="zh-TW" altLang="en-US" sz="2000" dirty="0"/>
              <a:t>評估含數利用</a:t>
            </a:r>
            <a:r>
              <a:rPr lang="zh-TW" altLang="en-US" sz="2000" dirty="0">
                <a:solidFill>
                  <a:srgbClr val="FF0000"/>
                </a:solidFill>
              </a:rPr>
              <a:t>隨機梯度下降法</a:t>
            </a:r>
            <a:r>
              <a:rPr lang="en-US" altLang="zh-TW" sz="2000" dirty="0"/>
              <a:t>	</a:t>
            </a:r>
            <a:r>
              <a:rPr lang="zh-TW" altLang="en-US" sz="2000" dirty="0"/>
              <a:t>求得最小值</a:t>
            </a:r>
            <a:endParaRPr lang="en-US" altLang="zh-TW" sz="2000" dirty="0"/>
          </a:p>
          <a:p>
            <a:endParaRPr lang="en-US" altLang="zh-TW" sz="2000" dirty="0"/>
          </a:p>
          <a:p>
            <a:r>
              <a:rPr lang="zh-TW" altLang="en-US" sz="2400" dirty="0"/>
              <a:t>推導過程為對預測函數求偏導數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524000"/>
            <a:ext cx="4486275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301875"/>
            <a:ext cx="556260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3367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/>
              <a:t>Classification of Test Instances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For multi-class classification, once the</a:t>
            </a:r>
            <a:r>
              <a:rPr lang="zh-TW" altLang="en-US" sz="2800" dirty="0"/>
              <a:t> </a:t>
            </a:r>
            <a:r>
              <a:rPr lang="en-US" sz="2800" dirty="0"/>
              <a:t>model is learned, a test instance indexed t is classified using</a:t>
            </a:r>
            <a:r>
              <a:rPr lang="zh-TW" altLang="en-US" sz="2800" dirty="0"/>
              <a:t> </a:t>
            </a:r>
            <a:r>
              <a:rPr lang="en-US" sz="2800" dirty="0"/>
              <a:t>the one-</a:t>
            </a:r>
            <a:r>
              <a:rPr lang="en-US" sz="2800" dirty="0" err="1"/>
              <a:t>vs</a:t>
            </a:r>
            <a:r>
              <a:rPr lang="en-US" sz="2800" dirty="0"/>
              <a:t>-all classifier which yields maximum confidence,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657600"/>
            <a:ext cx="6153150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1529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Gradients for </a:t>
            </a:r>
            <a:r>
              <a:rPr lang="en-US" dirty="0" err="1"/>
              <a:t>Shapelets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尤於為一次一個的去分類，會有分類錯誤</a:t>
            </a:r>
            <a:endParaRPr lang="en-US" altLang="zh-TW" sz="2400" dirty="0"/>
          </a:p>
          <a:p>
            <a:pPr marL="0" indent="0">
              <a:buNone/>
            </a:pPr>
            <a:r>
              <a:rPr lang="zh-TW" altLang="en-US" sz="2400" dirty="0"/>
              <a:t>需用隨機梯度下降</a:t>
            </a:r>
            <a:r>
              <a:rPr lang="en-US" altLang="zh-TW" sz="2400" dirty="0"/>
              <a:t>(</a:t>
            </a:r>
            <a:r>
              <a:rPr lang="en-US" sz="2400" dirty="0"/>
              <a:t>stochastic gradient descent</a:t>
            </a:r>
            <a:r>
              <a:rPr lang="en-US" altLang="zh-TW" sz="2400" dirty="0"/>
              <a:t>)</a:t>
            </a:r>
            <a:r>
              <a:rPr lang="zh-TW" altLang="en-US" sz="2400" dirty="0"/>
              <a:t>來補償</a:t>
            </a:r>
            <a:endParaRPr lang="en-US" altLang="zh-TW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zh-TW" altLang="en-US" sz="2000" dirty="0">
                <a:solidFill>
                  <a:srgbClr val="FF0000"/>
                </a:solidFill>
              </a:rPr>
              <a:t>梯度下降</a:t>
            </a:r>
            <a:r>
              <a:rPr lang="en-US" altLang="zh-TW" sz="2000" dirty="0"/>
              <a:t>:</a:t>
            </a:r>
            <a:r>
              <a:rPr lang="zh-TW" altLang="en-US" sz="2000" dirty="0"/>
              <a:t> 尤</a:t>
            </a:r>
            <a:r>
              <a:rPr lang="en-US" altLang="zh-TW" sz="2000" dirty="0"/>
              <a:t>Hill climbing </a:t>
            </a:r>
            <a:r>
              <a:rPr lang="zh-TW" altLang="en-US" sz="2000" dirty="0"/>
              <a:t>衍生，往山上爬時直接走</a:t>
            </a:r>
            <a:r>
              <a:rPr lang="zh-TW" altLang="en-US" sz="2000" dirty="0">
                <a:solidFill>
                  <a:srgbClr val="0070C0"/>
                </a:solidFill>
              </a:rPr>
              <a:t>梯度</a:t>
            </a:r>
            <a:r>
              <a:rPr lang="en-US" altLang="zh-TW" sz="2000" dirty="0">
                <a:solidFill>
                  <a:srgbClr val="0070C0"/>
                </a:solidFill>
              </a:rPr>
              <a:t>(</a:t>
            </a:r>
            <a:r>
              <a:rPr lang="zh-TW" altLang="en-US" sz="2000" dirty="0">
                <a:solidFill>
                  <a:srgbClr val="0070C0"/>
                </a:solidFill>
              </a:rPr>
              <a:t>傾斜程度</a:t>
            </a:r>
            <a:r>
              <a:rPr lang="en-US" altLang="zh-TW" sz="2000" dirty="0">
                <a:solidFill>
                  <a:srgbClr val="0070C0"/>
                </a:solidFill>
              </a:rPr>
              <a:t>,DTW</a:t>
            </a:r>
            <a:r>
              <a:rPr lang="zh-TW" altLang="en-US" sz="2000" dirty="0">
                <a:solidFill>
                  <a:srgbClr val="0070C0"/>
                </a:solidFill>
              </a:rPr>
              <a:t>梯度</a:t>
            </a:r>
            <a:r>
              <a:rPr lang="en-US" altLang="zh-TW" sz="2000" dirty="0">
                <a:solidFill>
                  <a:srgbClr val="0070C0"/>
                </a:solidFill>
              </a:rPr>
              <a:t>)</a:t>
            </a:r>
            <a:r>
              <a:rPr lang="zh-TW" altLang="en-US" sz="2000" dirty="0"/>
              <a:t>方向找最佳解</a:t>
            </a: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r>
              <a:rPr lang="zh-TW" altLang="en-US" sz="2000" dirty="0"/>
              <a:t>方法</a:t>
            </a:r>
            <a:r>
              <a:rPr lang="en-US" altLang="zh-TW" sz="2000" dirty="0"/>
              <a:t>:</a:t>
            </a:r>
            <a:r>
              <a:rPr lang="zh-TW" altLang="en-US" sz="2000" dirty="0"/>
              <a:t> 設定參數初始值 </a:t>
            </a:r>
            <a:r>
              <a:rPr lang="en-US" altLang="zh-TW" sz="2000" dirty="0"/>
              <a:t>(</a:t>
            </a:r>
            <a:r>
              <a:rPr lang="zh-TW" altLang="en-US" sz="2000" dirty="0"/>
              <a:t>通常為</a:t>
            </a:r>
            <a:r>
              <a:rPr lang="en-US" altLang="zh-TW" sz="2000" dirty="0"/>
              <a:t>0)</a:t>
            </a:r>
            <a:r>
              <a:rPr lang="zh-TW" altLang="en-US" sz="2000" dirty="0"/>
              <a:t> 計算成本函數</a:t>
            </a:r>
            <a:r>
              <a:rPr lang="en-US" altLang="zh-TW" sz="2000" dirty="0"/>
              <a:t>(</a:t>
            </a:r>
            <a:r>
              <a:rPr lang="zh-TW" altLang="en-US" sz="2000" dirty="0"/>
              <a:t>碗的造型</a:t>
            </a:r>
            <a:r>
              <a:rPr lang="en-US" altLang="zh-TW" sz="2000" dirty="0"/>
              <a:t>)</a:t>
            </a:r>
            <a:r>
              <a:rPr lang="zh-TW" altLang="en-US" sz="2000" dirty="0"/>
              <a:t> 然後 導函數</a:t>
            </a:r>
            <a:r>
              <a:rPr lang="en-US" altLang="zh-TW" sz="2000" dirty="0"/>
              <a:t>(</a:t>
            </a:r>
            <a:r>
              <a:rPr lang="zh-TW" altLang="en-US" sz="2000" dirty="0"/>
              <a:t>計算資料某點的斜率</a:t>
            </a:r>
            <a:r>
              <a:rPr lang="en-US" altLang="zh-TW" sz="2000" dirty="0"/>
              <a:t>)</a:t>
            </a:r>
            <a:r>
              <a:rPr lang="zh-TW" altLang="en-US" sz="2000" dirty="0"/>
              <a:t> 並設定學習效率參數</a:t>
            </a:r>
            <a:r>
              <a:rPr lang="en-US" altLang="zh-CN" sz="2000" dirty="0"/>
              <a:t>(alpha)</a:t>
            </a:r>
            <a:r>
              <a:rPr lang="zh-TW" altLang="en-US" sz="2000" dirty="0"/>
              <a:t>的值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0" indent="0">
              <a:buNone/>
            </a:pPr>
            <a:r>
              <a:rPr lang="en-US" sz="2000" dirty="0"/>
              <a:t>coefficient=0</a:t>
            </a:r>
          </a:p>
          <a:p>
            <a:pPr marL="0" indent="0">
              <a:buNone/>
            </a:pPr>
            <a:r>
              <a:rPr lang="en-US" sz="2000" dirty="0"/>
              <a:t>cost=f(coefficient)</a:t>
            </a:r>
          </a:p>
          <a:p>
            <a:pPr marL="0" indent="0">
              <a:buNone/>
            </a:pPr>
            <a:r>
              <a:rPr lang="en-US" sz="2000" dirty="0"/>
              <a:t>coefficient=coefficient−(</a:t>
            </a:r>
            <a:r>
              <a:rPr lang="en-US" sz="2000" dirty="0" err="1"/>
              <a:t>alpha∗delta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zh-TW" altLang="en-US" sz="2000" dirty="0"/>
              <a:t>當參數收斂，即能獲得最優解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62400"/>
            <a:ext cx="3276600" cy="272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220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隨機梯度下降</a:t>
            </a:r>
            <a:r>
              <a:rPr lang="en-US" altLang="zh-TW" dirty="0"/>
              <a:t>(</a:t>
            </a:r>
            <a:r>
              <a:rPr lang="en-US" dirty="0"/>
              <a:t>stochastic gradient descent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sz="2400" dirty="0"/>
              <a:t>通常用於大資料量，給予隨機訓練樣本每次去更新參數，評估成本函數，然後找到最佳解</a:t>
            </a:r>
            <a:endParaRPr lang="en-US" altLang="zh-TW" sz="2400" dirty="0"/>
          </a:p>
          <a:p>
            <a:r>
              <a:rPr lang="zh-TW" altLang="en-US" sz="2400" dirty="0"/>
              <a:t>對於大規模數據來說，收斂速度明顯高於其他算法</a:t>
            </a:r>
            <a:endParaRPr lang="en-US" altLang="zh-TW" sz="2400" dirty="0"/>
          </a:p>
          <a:p>
            <a:pPr marL="0" indent="0">
              <a:buNone/>
            </a:pPr>
            <a:r>
              <a:rPr lang="zh-TW" altLang="en-US" sz="2400" dirty="0"/>
              <a:t>所有梯度下降法 都有</a:t>
            </a:r>
            <a:r>
              <a:rPr lang="zh-TW" altLang="en-US" sz="2400" dirty="0">
                <a:solidFill>
                  <a:srgbClr val="FF0000"/>
                </a:solidFill>
              </a:rPr>
              <a:t>區域極值</a:t>
            </a:r>
            <a:r>
              <a:rPr lang="zh-TW" altLang="en-US" sz="2400" dirty="0"/>
              <a:t>的問題</a:t>
            </a:r>
            <a:endParaRPr lang="en-US" altLang="zh-TW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962400"/>
            <a:ext cx="5257800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7590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DTW</a:t>
            </a:r>
            <a:r>
              <a:rPr lang="zh-TW" altLang="en-US" dirty="0"/>
              <a:t> </a:t>
            </a:r>
            <a:r>
              <a:rPr lang="en-US" dirty="0"/>
              <a:t>Gradient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371600"/>
            <a:ext cx="67437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038600"/>
            <a:ext cx="7010400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0729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846138"/>
            <a:ext cx="6724650" cy="501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6616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1177</Words>
  <Application>Microsoft Office PowerPoint</Application>
  <PresentationFormat>如螢幕大小 (4:3)</PresentationFormat>
  <Paragraphs>127</Paragraphs>
  <Slides>19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5" baseType="lpstr">
      <vt:lpstr>宋体</vt:lpstr>
      <vt:lpstr>新細明體</vt:lpstr>
      <vt:lpstr>Arial</vt:lpstr>
      <vt:lpstr>Calibri</vt:lpstr>
      <vt:lpstr>Cambria Math</vt:lpstr>
      <vt:lpstr>Office Theme</vt:lpstr>
      <vt:lpstr>Learning DTW-Shapelets for Time-Series Classification</vt:lpstr>
      <vt:lpstr>Abstract(1/3)</vt:lpstr>
      <vt:lpstr>Abstract(2/3)</vt:lpstr>
      <vt:lpstr>Abstract(3/3)</vt:lpstr>
      <vt:lpstr>Definition</vt:lpstr>
      <vt:lpstr>PowerPoint 簡報</vt:lpstr>
      <vt:lpstr>Time series segment and shapelet</vt:lpstr>
      <vt:lpstr>Learning Time Series Shapelets withDTW (LTSD)</vt:lpstr>
      <vt:lpstr>MODEL</vt:lpstr>
      <vt:lpstr>PowerPoint 簡報</vt:lpstr>
      <vt:lpstr>邏輯回歸分析</vt:lpstr>
      <vt:lpstr>logistic loss function</vt:lpstr>
      <vt:lpstr>對數損失(Log Loss)</vt:lpstr>
      <vt:lpstr>邏輯回歸分析流程</vt:lpstr>
      <vt:lpstr>Classification of Test Instances</vt:lpstr>
      <vt:lpstr>Gradients for Shapelets</vt:lpstr>
      <vt:lpstr>PowerPoint 簡報</vt:lpstr>
      <vt:lpstr>DTW Gradient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DTW-Shapelets for Time-Series Classification</dc:title>
  <dc:creator>LIB</dc:creator>
  <cp:lastModifiedBy>andy</cp:lastModifiedBy>
  <cp:revision>40</cp:revision>
  <dcterms:created xsi:type="dcterms:W3CDTF">2006-08-16T00:00:00Z</dcterms:created>
  <dcterms:modified xsi:type="dcterms:W3CDTF">2016-11-15T09:45:54Z</dcterms:modified>
</cp:coreProperties>
</file>