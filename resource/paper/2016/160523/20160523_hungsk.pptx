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71" r:id="rId4"/>
    <p:sldId id="272" r:id="rId5"/>
    <p:sldId id="265" r:id="rId6"/>
    <p:sldId id="259" r:id="rId7"/>
    <p:sldId id="260" r:id="rId8"/>
    <p:sldId id="261" r:id="rId9"/>
    <p:sldId id="273" r:id="rId10"/>
    <p:sldId id="262" r:id="rId11"/>
    <p:sldId id="263" r:id="rId12"/>
    <p:sldId id="264" r:id="rId13"/>
    <p:sldId id="269" r:id="rId14"/>
    <p:sldId id="266" r:id="rId15"/>
    <p:sldId id="267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48A92-1A6F-4866-822C-2973074D38B5}" type="datetimeFigureOut">
              <a:rPr lang="zh-TW" altLang="en-US" smtClean="0"/>
              <a:t>2016/5/22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B2DFF5-C76F-48DF-9F49-5A7A5F6A81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6856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BC34C-DF0B-4EF9-8AE0-25266FA2F87C}" type="datetime1">
              <a:rPr lang="zh-TW" altLang="en-US" smtClean="0"/>
              <a:t>2016/5/22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6521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2C309-0DCA-4CA6-8309-6A046C08A1A8}" type="datetime1">
              <a:rPr lang="zh-TW" altLang="en-US" smtClean="0"/>
              <a:t>2016/5/22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138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5788-D967-4211-B4AE-4BE7F7B3DDE3}" type="datetime1">
              <a:rPr lang="zh-TW" altLang="en-US" smtClean="0"/>
              <a:t>2016/5/22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8211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767D6-4727-4DBC-B4A7-CF0DCAA737D3}" type="datetime1">
              <a:rPr lang="zh-TW" altLang="en-US" smtClean="0"/>
              <a:t>2016/5/22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820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3FDA7-D744-4889-AA8C-A3CAFD326707}" type="datetime1">
              <a:rPr lang="zh-TW" altLang="en-US" smtClean="0"/>
              <a:t>2016/5/22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394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68682-FE74-4EE1-9818-5AD03F481F96}" type="datetime1">
              <a:rPr lang="zh-TW" altLang="en-US" smtClean="0"/>
              <a:t>2016/5/22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5974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A65BF-3A40-47F7-8360-07DAB71B9657}" type="datetime1">
              <a:rPr lang="zh-TW" altLang="en-US" smtClean="0"/>
              <a:t>2016/5/22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7914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7926-3B02-448D-8432-681CC189623F}" type="datetime1">
              <a:rPr lang="zh-TW" altLang="en-US" smtClean="0"/>
              <a:t>2016/5/22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211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13785-770A-421C-A675-96C4A57A3AF4}" type="datetime1">
              <a:rPr lang="zh-TW" altLang="en-US" smtClean="0"/>
              <a:t>2016/5/22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0525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DDBED-7128-4B9A-854B-AE1EBA2ACFEC}" type="datetime1">
              <a:rPr lang="zh-TW" altLang="en-US" smtClean="0"/>
              <a:t>2016/5/22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446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6CE9B-AC41-48CA-B212-03F141E9197F}" type="datetime1">
              <a:rPr lang="zh-TW" altLang="en-US" smtClean="0"/>
              <a:t>2016/5/22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251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4F9CF-8769-4A02-9D3D-EE2396F7D6DE}" type="datetime1">
              <a:rPr lang="zh-TW" altLang="en-US" smtClean="0"/>
              <a:t>2016/5/22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364F3-CC44-48AC-94D7-200597D305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0139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862148"/>
            <a:ext cx="9144000" cy="2142309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Mixed dissimilarity measure for piecewise linear approximation based</a:t>
            </a:r>
            <a:br>
              <a:rPr lang="en-US" altLang="zh-TW" sz="3600" dirty="0"/>
            </a:br>
            <a:r>
              <a:rPr lang="en-US" altLang="zh-TW" sz="3600" dirty="0"/>
              <a:t>time series applications</a:t>
            </a:r>
            <a:endParaRPr lang="zh-TW" altLang="en-US" sz="3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77139"/>
          </a:xfrm>
        </p:spPr>
        <p:txBody>
          <a:bodyPr/>
          <a:lstStyle/>
          <a:p>
            <a:r>
              <a:rPr lang="en-US" altLang="zh-TW" dirty="0"/>
              <a:t>Zoltan </a:t>
            </a:r>
            <a:r>
              <a:rPr lang="en-US" altLang="zh-TW" dirty="0" err="1"/>
              <a:t>Banko</a:t>
            </a:r>
            <a:r>
              <a:rPr lang="en-US" altLang="zh-TW" dirty="0"/>
              <a:t> </a:t>
            </a:r>
            <a:r>
              <a:rPr lang="en-US" altLang="zh-TW" dirty="0" smtClean="0"/>
              <a:t>, </a:t>
            </a:r>
            <a:r>
              <a:rPr lang="en-US" altLang="zh-TW" dirty="0"/>
              <a:t>Janos </a:t>
            </a:r>
            <a:r>
              <a:rPr lang="en-US" altLang="zh-TW" dirty="0" err="1" smtClean="0"/>
              <a:t>Abonyi</a:t>
            </a:r>
            <a:endParaRPr lang="en-US" altLang="zh-TW" dirty="0" smtClean="0"/>
          </a:p>
          <a:p>
            <a:r>
              <a:rPr lang="en-US" altLang="zh-TW" dirty="0"/>
              <a:t>Expert Systems with Applications 42 (2015) </a:t>
            </a:r>
            <a:r>
              <a:rPr lang="en-US" altLang="zh-TW" dirty="0" smtClean="0"/>
              <a:t>7664–7675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Presenter: Shu-Kai Hung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7674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6864"/>
            <a:ext cx="10515600" cy="558067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Abstract(1/3)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967154"/>
            <a:ext cx="10515600" cy="5218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In recent years, expert systems built around time series-based methods have been </a:t>
            </a:r>
            <a:r>
              <a:rPr lang="en-US" altLang="zh-TW" dirty="0" smtClean="0"/>
              <a:t>enthusiastically adopted </a:t>
            </a:r>
            <a:r>
              <a:rPr lang="en-US" altLang="zh-TW" dirty="0"/>
              <a:t>in engineering applications, thanks to their ease of use and effectiveness. This </a:t>
            </a:r>
            <a:r>
              <a:rPr lang="en-US" altLang="zh-TW" dirty="0" smtClean="0"/>
              <a:t>effectiveness depends </a:t>
            </a:r>
            <a:r>
              <a:rPr lang="en-US" altLang="zh-TW" dirty="0"/>
              <a:t>on how precisely the raw data can be approximated and how precisely these </a:t>
            </a:r>
            <a:r>
              <a:rPr lang="en-US" altLang="zh-TW" dirty="0" smtClean="0"/>
              <a:t>approximations can </a:t>
            </a:r>
            <a:r>
              <a:rPr lang="en-US" altLang="zh-TW" dirty="0"/>
              <a:t>be compared. When performance of a time series-based system needs to be improved, it is </a:t>
            </a:r>
            <a:r>
              <a:rPr lang="en-US" altLang="zh-TW" dirty="0" smtClean="0"/>
              <a:t>desirable to </a:t>
            </a:r>
            <a:r>
              <a:rPr lang="en-US" altLang="zh-TW" dirty="0"/>
              <a:t>consider other time series representations and comparison methods. The approximation, however, </a:t>
            </a:r>
            <a:r>
              <a:rPr lang="en-US" altLang="zh-TW" dirty="0" smtClean="0"/>
              <a:t>is often </a:t>
            </a:r>
            <a:r>
              <a:rPr lang="en-US" altLang="zh-TW" dirty="0"/>
              <a:t>generated by a non-replaceable element and eventually the only way to find a more advanced </a:t>
            </a:r>
            <a:r>
              <a:rPr lang="en-US" altLang="zh-TW" dirty="0" err="1" smtClean="0"/>
              <a:t>comparisonmethod</a:t>
            </a:r>
            <a:r>
              <a:rPr lang="en-US" altLang="zh-TW" dirty="0" smtClean="0"/>
              <a:t> </a:t>
            </a:r>
            <a:r>
              <a:rPr lang="en-US" altLang="zh-TW" dirty="0"/>
              <a:t>is either by creating a new dissimilarity measure or by improving the existing one further.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4401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7729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Abstract(2/3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063869"/>
            <a:ext cx="10515600" cy="5086717"/>
          </a:xfrm>
        </p:spPr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In </a:t>
            </a:r>
            <a:r>
              <a:rPr lang="en-US" altLang="zh-TW" dirty="0"/>
              <a:t>this paper, it is shown how a mixture of different comparison methods can be utilized to improve </a:t>
            </a:r>
            <a:r>
              <a:rPr lang="en-US" altLang="zh-TW" dirty="0" smtClean="0"/>
              <a:t>the effectiveness </a:t>
            </a:r>
            <a:r>
              <a:rPr lang="en-US" altLang="zh-TW" dirty="0"/>
              <a:t>of a system without modifying the time series representation itself. For this purpose, a </a:t>
            </a:r>
            <a:r>
              <a:rPr lang="en-US" altLang="zh-TW" dirty="0" smtClean="0"/>
              <a:t>novel, mixed </a:t>
            </a:r>
            <a:r>
              <a:rPr lang="en-US" altLang="zh-TW" dirty="0"/>
              <a:t>comparison method is presented for the widely used piecewise linear approximation (PLA</a:t>
            </a:r>
            <a:r>
              <a:rPr lang="en-US" altLang="zh-TW" dirty="0" smtClean="0"/>
              <a:t>),called </a:t>
            </a:r>
            <a:r>
              <a:rPr lang="en-US" altLang="zh-TW" dirty="0"/>
              <a:t>mixed dissimilarity measure for PLA (MDPLA). It combines one of the most popular </a:t>
            </a:r>
            <a:r>
              <a:rPr lang="en-US" altLang="zh-TW" dirty="0" smtClean="0"/>
              <a:t>dissimilarity measure </a:t>
            </a:r>
            <a:r>
              <a:rPr lang="en-US" altLang="zh-TW" dirty="0"/>
              <a:t>that utilizes the means of PLA segment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7813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Abstract(3/3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On the basis of empirical studies three advantages of such combined dissimilarity measures are </a:t>
            </a:r>
            <a:r>
              <a:rPr lang="en-US" altLang="zh-TW" dirty="0" smtClean="0"/>
              <a:t>presented. First</a:t>
            </a:r>
            <a:r>
              <a:rPr lang="en-US" altLang="zh-TW" dirty="0"/>
              <a:t>, it is shown that the mixture ensures that MDPLA outperforms the most popular </a:t>
            </a:r>
            <a:r>
              <a:rPr lang="en-US" altLang="zh-TW" dirty="0" smtClean="0"/>
              <a:t>dissimilarity measures </a:t>
            </a:r>
            <a:r>
              <a:rPr lang="en-US" altLang="zh-TW" dirty="0"/>
              <a:t>created for PLA segments. Moreover, in many cases, MDPLA provides results that makes </a:t>
            </a:r>
            <a:r>
              <a:rPr lang="en-US" altLang="zh-TW" dirty="0" smtClean="0"/>
              <a:t>the application </a:t>
            </a:r>
            <a:r>
              <a:rPr lang="en-US" altLang="zh-TW" dirty="0"/>
              <a:t>of dynamic time warping (DTW) unnecessary, yielding improvement not only in accuracy </a:t>
            </a:r>
            <a:r>
              <a:rPr lang="en-US" altLang="zh-TW" dirty="0" smtClean="0"/>
              <a:t>but also </a:t>
            </a:r>
            <a:r>
              <a:rPr lang="en-US" altLang="zh-TW" dirty="0"/>
              <a:t>in speed. Finally, it is demonstrated that a mixed measure, such as MDPLA, shortens the </a:t>
            </a:r>
            <a:r>
              <a:rPr lang="en-US" altLang="zh-TW" dirty="0" smtClean="0"/>
              <a:t>warping path </a:t>
            </a:r>
            <a:r>
              <a:rPr lang="en-US" altLang="zh-TW" dirty="0"/>
              <a:t>of DTW and thus helps to avoid pathological </a:t>
            </a:r>
            <a:r>
              <a:rPr lang="en-US" altLang="zh-TW" dirty="0" err="1"/>
              <a:t>warpings</a:t>
            </a:r>
            <a:r>
              <a:rPr lang="en-US" altLang="zh-TW" dirty="0"/>
              <a:t>, i.e. the unwanted alignments of </a:t>
            </a:r>
            <a:r>
              <a:rPr lang="en-US" altLang="zh-TW" dirty="0" smtClean="0"/>
              <a:t>DTW. This </a:t>
            </a:r>
            <a:r>
              <a:rPr lang="en-US" altLang="zh-TW" dirty="0"/>
              <a:t>way, DTW can be applied without penalizing or constraining the warping path itself while </a:t>
            </a:r>
            <a:r>
              <a:rPr lang="en-US" altLang="zh-TW" dirty="0" smtClean="0"/>
              <a:t>the chance </a:t>
            </a:r>
            <a:r>
              <a:rPr lang="en-US" altLang="zh-TW" dirty="0"/>
              <a:t>of the unwanted alignments are significantly lowered.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7873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2879" y="365125"/>
            <a:ext cx="11717383" cy="1325563"/>
          </a:xfrm>
        </p:spPr>
        <p:txBody>
          <a:bodyPr/>
          <a:lstStyle/>
          <a:p>
            <a:r>
              <a:rPr lang="en-US" altLang="zh-TW" dirty="0"/>
              <a:t>Theoretical </a:t>
            </a:r>
            <a:r>
              <a:rPr lang="en-US" altLang="zh-TW" dirty="0" smtClean="0"/>
              <a:t>background-Time series classification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2625" y="14468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Time series : A</a:t>
            </a:r>
            <a:r>
              <a:rPr lang="en-US" altLang="zh-TW" dirty="0"/>
              <a:t> </a:t>
            </a:r>
            <a:r>
              <a:rPr lang="en-US" altLang="zh-TW" b="1" dirty="0"/>
              <a:t>time series</a:t>
            </a:r>
            <a:r>
              <a:rPr lang="en-US" altLang="zh-TW" dirty="0"/>
              <a:t> is a sequence of data points, measured typically at successive times spaced at uniform time intervals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Classification </a:t>
            </a:r>
            <a:r>
              <a:rPr lang="en-US" altLang="zh-TW" dirty="0"/>
              <a:t>: </a:t>
            </a:r>
            <a:r>
              <a:rPr lang="zh-TW" altLang="en-US" dirty="0"/>
              <a:t>要以某個 </a:t>
            </a:r>
            <a:r>
              <a:rPr lang="en-US" altLang="zh-TW" dirty="0"/>
              <a:t>algorithm </a:t>
            </a:r>
            <a:r>
              <a:rPr lang="zh-TW" altLang="en-US" dirty="0"/>
              <a:t>把不同的</a:t>
            </a:r>
            <a:r>
              <a:rPr lang="en-US" altLang="zh-TW" dirty="0"/>
              <a:t>time series</a:t>
            </a:r>
            <a:r>
              <a:rPr lang="zh-TW" altLang="en-US" dirty="0"/>
              <a:t> 作分類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1028" name="Picture 4" descr="http://www.hko.gov.hk/wxinfo/ts/temp/hkotem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5" y="2467814"/>
            <a:ext cx="8321039" cy="204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9410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95307"/>
            <a:ext cx="10515600" cy="823595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dynamic time warping(DTW)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2890" y="1285816"/>
            <a:ext cx="5919729" cy="390177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66620" y="1285816"/>
            <a:ext cx="916577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Two times series:</a:t>
            </a:r>
          </a:p>
          <a:p>
            <a:r>
              <a:rPr lang="en-US" altLang="zh-TW" dirty="0" smtClean="0"/>
              <a:t>X = (1,1,2,3,2,0)</a:t>
            </a:r>
          </a:p>
          <a:p>
            <a:r>
              <a:rPr lang="en-US" altLang="zh-TW" dirty="0" smtClean="0"/>
              <a:t>Y = (0,1,1,2,3,2,1)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" y="5187594"/>
            <a:ext cx="9896959" cy="847446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3047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69182"/>
            <a:ext cx="10515600" cy="1325563"/>
          </a:xfrm>
        </p:spPr>
        <p:txBody>
          <a:bodyPr/>
          <a:lstStyle/>
          <a:p>
            <a:r>
              <a:rPr lang="en-US" altLang="zh-TW" dirty="0" smtClean="0"/>
              <a:t>Piecewise linear approximation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19349"/>
                <a:ext cx="10515600" cy="485761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zh-TW" dirty="0" smtClean="0"/>
                  <a:t>PLA segment of time series x </a:t>
                </a:r>
                <a:r>
                  <a:rPr lang="en-US" altLang="zh-TW" dirty="0"/>
                  <a:t>is described by four </a:t>
                </a:r>
                <a:r>
                  <a:rPr lang="en-US" altLang="zh-TW" dirty="0" smtClean="0"/>
                  <a:t>numbers:</a:t>
                </a:r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表示</m:t>
                    </m:r>
                  </m:oMath>
                </a14:m>
                <a:r>
                  <a:rPr lang="zh-TW" altLang="en-US" dirty="0" smtClean="0"/>
                  <a:t>左邊切割位置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表示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右</m:t>
                    </m:r>
                  </m:oMath>
                </a14:m>
                <a:r>
                  <a:rPr lang="zh-TW" altLang="en-US" dirty="0" smtClean="0"/>
                  <a:t>邊切割位置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:</a:t>
                </a:r>
                <a:r>
                  <a:rPr lang="zh-TW" altLang="en-US" dirty="0" smtClean="0"/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 smtClean="0"/>
                  <a:t>之值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:</a:t>
                </a:r>
                <a:r>
                  <a:rPr lang="zh-TW" altLang="en-US" dirty="0" smtClean="0"/>
                  <a:t>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 smtClean="0"/>
                  <a:t>之值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Segmentation method : Top-down or bottom-up</a:t>
                </a:r>
                <a:endParaRPr lang="en-US" altLang="zh-TW" dirty="0" smtClean="0"/>
              </a:p>
              <a:p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19349"/>
                <a:ext cx="10515600" cy="4857614"/>
              </a:xfrm>
              <a:blipFill>
                <a:blip r:embed="rId2"/>
                <a:stretch>
                  <a:fillRect l="-1043" t="-31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667" y="1827395"/>
            <a:ext cx="3236595" cy="647700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0906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23736"/>
            <a:ext cx="10515600" cy="719092"/>
          </a:xfrm>
        </p:spPr>
        <p:txBody>
          <a:bodyPr>
            <a:normAutofit fontScale="90000"/>
          </a:bodyPr>
          <a:lstStyle/>
          <a:p>
            <a:r>
              <a:rPr lang="en-US" altLang="zh-TW" b="1" dirty="0" smtClean="0"/>
              <a:t>MPLA(means of Piecewise linear approximation)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74766" y="1084218"/>
                <a:ext cx="10779034" cy="5643153"/>
              </a:xfrm>
            </p:spPr>
            <p:txBody>
              <a:bodyPr/>
              <a:lstStyle/>
              <a:p>
                <a:r>
                  <a:rPr lang="en-US" altLang="zh-TW" dirty="0" smtClean="0"/>
                  <a:t>generalized dissimilarity measure between </a:t>
                </a:r>
                <a:r>
                  <a:rPr lang="en-US" altLang="zh-TW" dirty="0"/>
                  <a:t>two PLA segments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 for DTW by comparing </a:t>
                </a:r>
                <a:r>
                  <a:rPr lang="en-US" altLang="zh-TW" dirty="0" smtClean="0"/>
                  <a:t>the means </a:t>
                </a:r>
                <a:r>
                  <a:rPr lang="en-US" altLang="zh-TW" dirty="0"/>
                  <a:t>of </a:t>
                </a:r>
                <a:r>
                  <a:rPr lang="en-US" altLang="zh-TW" dirty="0" smtClean="0"/>
                  <a:t>segments: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766" y="1084218"/>
                <a:ext cx="10779034" cy="5643153"/>
              </a:xfrm>
              <a:blipFill>
                <a:blip r:embed="rId2"/>
                <a:stretch>
                  <a:fillRect l="-1018" t="-1836" r="-3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136" y="2127906"/>
            <a:ext cx="5667375" cy="971550"/>
          </a:xfrm>
          <a:prstGeom prst="rect">
            <a:avLst/>
          </a:prstGeom>
        </p:spPr>
      </p:pic>
      <p:sp>
        <p:nvSpPr>
          <p:cNvPr id="5" name="標題 1"/>
          <p:cNvSpPr txBox="1">
            <a:spLocks/>
          </p:cNvSpPr>
          <p:nvPr/>
        </p:nvSpPr>
        <p:spPr>
          <a:xfrm>
            <a:off x="720635" y="3254374"/>
            <a:ext cx="10633165" cy="71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b="1" dirty="0" smtClean="0"/>
              <a:t>SPLA(slope-based of Piecewise linear approximation)</a:t>
            </a:r>
            <a:endParaRPr lang="zh-TW" altLang="en-US" b="1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837" y="4061709"/>
            <a:ext cx="6810375" cy="1038225"/>
          </a:xfrm>
          <a:prstGeom prst="rect">
            <a:avLst/>
          </a:prstGeom>
        </p:spPr>
      </p:pic>
      <p:sp>
        <p:nvSpPr>
          <p:cNvPr id="7" name="標題 1"/>
          <p:cNvSpPr txBox="1">
            <a:spLocks/>
          </p:cNvSpPr>
          <p:nvPr/>
        </p:nvSpPr>
        <p:spPr>
          <a:xfrm>
            <a:off x="647700" y="5099934"/>
            <a:ext cx="10633165" cy="7190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zh-TW" altLang="en-US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0296010" y="3872796"/>
            <a:ext cx="10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y = </a:t>
            </a:r>
            <a:r>
              <a:rPr lang="en-US" altLang="zh-TW" dirty="0" smtClean="0">
                <a:solidFill>
                  <a:srgbClr val="FF0000"/>
                </a:solidFill>
              </a:rPr>
              <a:t>m</a:t>
            </a:r>
            <a:r>
              <a:rPr lang="en-US" altLang="zh-TW" dirty="0" smtClean="0"/>
              <a:t>x +c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8437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39821" y="294787"/>
            <a:ext cx="10202008" cy="742706"/>
          </a:xfrm>
        </p:spPr>
        <p:txBody>
          <a:bodyPr/>
          <a:lstStyle/>
          <a:p>
            <a:r>
              <a:rPr lang="en-US" altLang="zh-TW" dirty="0" smtClean="0"/>
              <a:t>Using 1-NN classification</a:t>
            </a:r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821" y="1165714"/>
            <a:ext cx="9925802" cy="5190636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9167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TW" dirty="0" smtClean="0"/>
              <a:t>MDPLA</a:t>
            </a:r>
            <a:r>
              <a:rPr lang="en-US" altLang="zh-TW" dirty="0"/>
              <a:t> </a:t>
            </a:r>
            <a:r>
              <a:rPr lang="en-US" altLang="zh-TW" dirty="0" smtClean="0"/>
              <a:t>(Mixed </a:t>
            </a:r>
            <a:r>
              <a:rPr lang="en-US" altLang="zh-TW" dirty="0"/>
              <a:t>dissimilarity measure for piecewise linear </a:t>
            </a:r>
            <a:r>
              <a:rPr lang="en-US" altLang="zh-TW" dirty="0" smtClean="0"/>
              <a:t>approximation)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7092"/>
                <a:ext cx="10515600" cy="4935992"/>
              </a:xfrm>
            </p:spPr>
            <p:txBody>
              <a:bodyPr/>
              <a:lstStyle/>
              <a:p>
                <a:r>
                  <a:rPr lang="en-US" altLang="zh-TW" dirty="0" smtClean="0"/>
                  <a:t>mixed dissimilarity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𝑀𝐷𝑃𝐿𝐴</m:t>
                        </m:r>
                      </m:sub>
                    </m:sSub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was defined </a:t>
                </a:r>
                <a:r>
                  <a:rPr lang="en-US" altLang="zh-TW" dirty="0" smtClean="0"/>
                  <a:t>by the </a:t>
                </a:r>
                <a:r>
                  <a:rPr lang="en-US" altLang="zh-TW" dirty="0"/>
                  <a:t>authors between univariate time series x and y</a:t>
                </a:r>
                <a:r>
                  <a:rPr lang="en-US" altLang="zh-TW" dirty="0" smtClean="0"/>
                  <a:t>:</a:t>
                </a:r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pPr marL="0" indent="0">
                  <a:buNone/>
                </a:pPr>
                <a:r>
                  <a:rPr lang="zh-TW" altLang="en-US" dirty="0" smtClean="0"/>
                  <a:t>其中</a:t>
                </a:r>
                <a:r>
                  <a:rPr lang="en-US" altLang="zh-TW" dirty="0" smtClean="0"/>
                  <a:t>0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𝑀𝑃𝐿𝐴</m:t>
                        </m:r>
                      </m:sub>
                    </m:sSub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≤ </m:t>
                    </m:r>
                  </m:oMath>
                </a14:m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𝑃𝐿𝐴</m:t>
                        </m:r>
                      </m:sub>
                    </m:sSub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-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𝑀𝑃𝐿𝐴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WHY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MIX?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𝑀𝑃𝐿𝐴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注重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於</m:t>
                    </m:r>
                  </m:oMath>
                </a14:m>
                <a:r>
                  <a:rPr lang="zh-TW" altLang="en-US" dirty="0" smtClean="0"/>
                  <a:t>值</a:t>
                </a:r>
                <a:r>
                  <a:rPr lang="en-US" altLang="zh-TW" dirty="0" smtClean="0"/>
                  <a:t>(mean)</a:t>
                </a:r>
                <a:r>
                  <a:rPr lang="zh-TW" altLang="en-US" dirty="0" smtClean="0"/>
                  <a:t> 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𝑃𝐿𝐴</m:t>
                        </m:r>
                      </m:sub>
                    </m:sSub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注重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趨勢</m:t>
                    </m:r>
                  </m:oMath>
                </a14:m>
                <a:r>
                  <a:rPr lang="en-US" altLang="zh-TW" dirty="0" smtClean="0"/>
                  <a:t>(trend)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7092"/>
                <a:ext cx="10515600" cy="4935992"/>
              </a:xfrm>
              <a:blipFill>
                <a:blip r:embed="rId2"/>
                <a:stretch>
                  <a:fillRect l="-1217" t="-19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614" y="2475094"/>
            <a:ext cx="7273704" cy="790620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3273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r>
              <a:rPr lang="en-US" altLang="zh-TW" dirty="0"/>
              <a:t>Validation </a:t>
            </a:r>
            <a:r>
              <a:rPr lang="en-US" altLang="zh-TW" dirty="0" smtClean="0"/>
              <a:t>results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>
          <a:xfrm>
            <a:off x="838200" y="1136469"/>
            <a:ext cx="10515600" cy="5040494"/>
          </a:xfrm>
        </p:spPr>
        <p:txBody>
          <a:bodyPr/>
          <a:lstStyle/>
          <a:p>
            <a:r>
              <a:rPr lang="en-US" altLang="zh-TW" dirty="0" smtClean="0"/>
              <a:t>Segmentation</a:t>
            </a:r>
            <a:endParaRPr lang="en-US" altLang="zh-TW" dirty="0" smtClean="0"/>
          </a:p>
          <a:p>
            <a:r>
              <a:rPr lang="en-US" altLang="zh-TW" dirty="0" smtClean="0"/>
              <a:t>Alignment:</a:t>
            </a:r>
            <a:r>
              <a:rPr lang="zh-TW" altLang="en-US" dirty="0" smtClean="0"/>
              <a:t>算出</a:t>
            </a:r>
            <a:r>
              <a:rPr lang="en-US" altLang="zh-TW" dirty="0" smtClean="0"/>
              <a:t>DTW</a:t>
            </a:r>
            <a:r>
              <a:rPr lang="zh-TW" altLang="en-US" dirty="0" smtClean="0"/>
              <a:t>的</a:t>
            </a:r>
            <a:r>
              <a:rPr lang="en-US" altLang="zh-TW" dirty="0" smtClean="0"/>
              <a:t>TABLE(MPLA,SPLA,MDPLA)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07" y="2224020"/>
            <a:ext cx="12054793" cy="3009083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6916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6652" y="0"/>
            <a:ext cx="10463348" cy="1189356"/>
          </a:xfrm>
        </p:spPr>
        <p:txBody>
          <a:bodyPr/>
          <a:lstStyle/>
          <a:p>
            <a:r>
              <a:rPr lang="en-US" altLang="zh-TW" dirty="0" smtClean="0"/>
              <a:t>SAX(symbolic aggregate </a:t>
            </a:r>
            <a:r>
              <a:rPr lang="en-US" altLang="zh-TW" dirty="0"/>
              <a:t>approximation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43938" y="794579"/>
            <a:ext cx="11639006" cy="6008914"/>
          </a:xfrm>
        </p:spPr>
        <p:txBody>
          <a:bodyPr/>
          <a:lstStyle/>
          <a:p>
            <a:r>
              <a:rPr lang="en-US" altLang="zh-TW" dirty="0"/>
              <a:t>Allows a time series of arbitrary length </a:t>
            </a:r>
            <a:r>
              <a:rPr lang="en-US" altLang="zh-TW" i="1" dirty="0"/>
              <a:t>n</a:t>
            </a:r>
            <a:r>
              <a:rPr lang="en-US" altLang="zh-TW" dirty="0"/>
              <a:t> to be reduced to a string of arbitrary length </a:t>
            </a:r>
            <a:r>
              <a:rPr lang="en-US" altLang="zh-TW" i="1" dirty="0"/>
              <a:t>w </a:t>
            </a:r>
            <a:r>
              <a:rPr lang="en-US" altLang="zh-TW" dirty="0"/>
              <a:t>(w&lt;&lt;n)</a:t>
            </a:r>
          </a:p>
          <a:p>
            <a:pPr marL="0" indent="0">
              <a:buNone/>
            </a:pPr>
            <a:r>
              <a:rPr lang="en-US" altLang="zh-TW" dirty="0"/>
              <a:t>Step 1: Reduce dimension by </a:t>
            </a:r>
            <a:r>
              <a:rPr lang="en-US" altLang="zh-TW" dirty="0" smtClean="0"/>
              <a:t>PAA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                                                              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  example: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0418753"/>
              </p:ext>
            </p:extLst>
          </p:nvPr>
        </p:nvGraphicFramePr>
        <p:xfrm>
          <a:off x="1295399" y="2142944"/>
          <a:ext cx="2854067" cy="133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Equation" r:id="rId3" imgW="850680" imgH="507960" progId="Equation.3">
                  <p:embed/>
                </p:oleObj>
              </mc:Choice>
              <mc:Fallback>
                <p:oleObj name="Equation" r:id="rId3" imgW="850680" imgH="507960" progId="Equation.3">
                  <p:embed/>
                  <p:pic>
                    <p:nvPicPr>
                      <p:cNvPr id="184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399" y="2142944"/>
                        <a:ext cx="2854067" cy="1331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" name="投影片編號版面配置區 16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12</a:t>
            </a:fld>
            <a:endParaRPr lang="zh-TW" altLang="en-US"/>
          </a:p>
        </p:txBody>
      </p:sp>
      <p:graphicFrame>
        <p:nvGraphicFramePr>
          <p:cNvPr id="16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194407"/>
              </p:ext>
            </p:extLst>
          </p:nvPr>
        </p:nvGraphicFramePr>
        <p:xfrm>
          <a:off x="2112358" y="4643806"/>
          <a:ext cx="2133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Equation" r:id="rId5" imgW="888840" imgH="444240" progId="Equation.3">
                  <p:embed/>
                </p:oleObj>
              </mc:Choice>
              <mc:Fallback>
                <p:oleObj name="Equation" r:id="rId5" imgW="888840" imgH="44424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358" y="4643806"/>
                        <a:ext cx="21336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1491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378069"/>
            <a:ext cx="10515600" cy="5798894"/>
          </a:xfrm>
        </p:spPr>
        <p:txBody>
          <a:bodyPr/>
          <a:lstStyle/>
          <a:p>
            <a:r>
              <a:rPr lang="en-US" altLang="zh-TW" dirty="0"/>
              <a:t>Step 2: Discretization  (Words: 8  Alphabet: 3)</a:t>
            </a:r>
          </a:p>
          <a:p>
            <a:pPr marL="0" indent="0">
              <a:buNone/>
            </a:pPr>
            <a:r>
              <a:rPr lang="en-US" altLang="zh-TW" dirty="0"/>
              <a:t> Determine breakpoints that will produce </a:t>
            </a:r>
            <a:r>
              <a:rPr lang="en-US" altLang="zh-TW" i="1" dirty="0"/>
              <a:t>a</a:t>
            </a:r>
            <a:r>
              <a:rPr lang="en-US" altLang="zh-TW" dirty="0"/>
              <a:t> equal-sized areas under Gaussian </a:t>
            </a:r>
            <a:r>
              <a:rPr lang="en-US" altLang="zh-TW" dirty="0" smtClean="0"/>
              <a:t>curve(</a:t>
            </a:r>
            <a:r>
              <a:rPr lang="zh-TW" altLang="en-US" dirty="0" smtClean="0"/>
              <a:t>常態分布</a:t>
            </a:r>
            <a:r>
              <a:rPr lang="en-US" altLang="zh-TW" dirty="0" smtClean="0"/>
              <a:t>).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13</a:t>
            </a:fld>
            <a:endParaRPr lang="zh-TW" altLang="en-US"/>
          </a:p>
        </p:txBody>
      </p:sp>
      <p:grpSp>
        <p:nvGrpSpPr>
          <p:cNvPr id="6" name="Group 80"/>
          <p:cNvGrpSpPr>
            <a:grpSpLocks/>
          </p:cNvGrpSpPr>
          <p:nvPr/>
        </p:nvGrpSpPr>
        <p:grpSpPr bwMode="auto">
          <a:xfrm>
            <a:off x="2135277" y="2519994"/>
            <a:ext cx="5464175" cy="2420937"/>
            <a:chOff x="993" y="2304"/>
            <a:chExt cx="3516" cy="1754"/>
          </a:xfrm>
        </p:grpSpPr>
        <p:sp>
          <p:nvSpPr>
            <p:cNvPr id="7" name="Rectangle 81"/>
            <p:cNvSpPr>
              <a:spLocks noChangeArrowheads="1"/>
            </p:cNvSpPr>
            <p:nvPr/>
          </p:nvSpPr>
          <p:spPr bwMode="auto">
            <a:xfrm>
              <a:off x="996" y="2355"/>
              <a:ext cx="341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2300" i="0">
                  <a:solidFill>
                    <a:srgbClr val="000000"/>
                  </a:solidFill>
                </a:rPr>
                <a:t> 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8" name="Rectangle 82"/>
            <p:cNvSpPr>
              <a:spLocks noChangeArrowheads="1"/>
            </p:cNvSpPr>
            <p:nvPr/>
          </p:nvSpPr>
          <p:spPr bwMode="auto">
            <a:xfrm>
              <a:off x="996" y="2443"/>
              <a:ext cx="112" cy="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 83"/>
            <p:cNvSpPr>
              <a:spLocks noChangeArrowheads="1"/>
            </p:cNvSpPr>
            <p:nvPr/>
          </p:nvSpPr>
          <p:spPr bwMode="auto">
            <a:xfrm>
              <a:off x="996" y="2449"/>
              <a:ext cx="341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2300" i="0">
                  <a:solidFill>
                    <a:srgbClr val="000000"/>
                  </a:solidFill>
                </a:rPr>
                <a:t> 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10" name="Rectangle 84"/>
            <p:cNvSpPr>
              <a:spLocks noChangeArrowheads="1"/>
            </p:cNvSpPr>
            <p:nvPr/>
          </p:nvSpPr>
          <p:spPr bwMode="auto">
            <a:xfrm>
              <a:off x="1039" y="2449"/>
              <a:ext cx="341" cy="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2300" i="0">
                  <a:solidFill>
                    <a:srgbClr val="000000"/>
                  </a:solidFill>
                </a:rPr>
                <a:t> 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11" name="Rectangle 85"/>
            <p:cNvSpPr>
              <a:spLocks noChangeArrowheads="1"/>
            </p:cNvSpPr>
            <p:nvPr/>
          </p:nvSpPr>
          <p:spPr bwMode="auto">
            <a:xfrm>
              <a:off x="1757" y="2476"/>
              <a:ext cx="2740" cy="1399"/>
            </a:xfrm>
            <a:prstGeom prst="rect">
              <a:avLst/>
            </a:prstGeom>
            <a:noFill/>
            <a:ln w="158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86"/>
            <p:cNvSpPr>
              <a:spLocks noChangeArrowheads="1"/>
            </p:cNvSpPr>
            <p:nvPr/>
          </p:nvSpPr>
          <p:spPr bwMode="auto">
            <a:xfrm>
              <a:off x="1488" y="3926"/>
              <a:ext cx="345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1100" i="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13" name="Rectangle 87"/>
            <p:cNvSpPr>
              <a:spLocks noChangeArrowheads="1"/>
            </p:cNvSpPr>
            <p:nvPr/>
          </p:nvSpPr>
          <p:spPr bwMode="auto">
            <a:xfrm>
              <a:off x="1680" y="2496"/>
              <a:ext cx="178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88"/>
            <p:cNvSpPr>
              <a:spLocks noChangeArrowheads="1"/>
            </p:cNvSpPr>
            <p:nvPr/>
          </p:nvSpPr>
          <p:spPr bwMode="auto">
            <a:xfrm>
              <a:off x="1569" y="2405"/>
              <a:ext cx="157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9"/>
            <p:cNvSpPr>
              <a:spLocks noChangeArrowheads="1"/>
            </p:cNvSpPr>
            <p:nvPr/>
          </p:nvSpPr>
          <p:spPr bwMode="auto">
            <a:xfrm>
              <a:off x="1138" y="2357"/>
              <a:ext cx="111" cy="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90"/>
            <p:cNvSpPr>
              <a:spLocks noChangeArrowheads="1"/>
            </p:cNvSpPr>
            <p:nvPr/>
          </p:nvSpPr>
          <p:spPr bwMode="auto">
            <a:xfrm>
              <a:off x="1867" y="2809"/>
              <a:ext cx="219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91"/>
            <p:cNvSpPr>
              <a:spLocks noChangeArrowheads="1"/>
            </p:cNvSpPr>
            <p:nvPr/>
          </p:nvSpPr>
          <p:spPr bwMode="auto">
            <a:xfrm>
              <a:off x="1961" y="2816"/>
              <a:ext cx="116" cy="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92"/>
            <p:cNvSpPr>
              <a:spLocks noChangeArrowheads="1"/>
            </p:cNvSpPr>
            <p:nvPr/>
          </p:nvSpPr>
          <p:spPr bwMode="auto">
            <a:xfrm>
              <a:off x="2841" y="2853"/>
              <a:ext cx="220" cy="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93"/>
            <p:cNvSpPr>
              <a:spLocks noChangeArrowheads="1"/>
            </p:cNvSpPr>
            <p:nvPr/>
          </p:nvSpPr>
          <p:spPr bwMode="auto">
            <a:xfrm>
              <a:off x="2841" y="2894"/>
              <a:ext cx="168" cy="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94"/>
            <p:cNvSpPr>
              <a:spLocks noChangeArrowheads="1"/>
            </p:cNvSpPr>
            <p:nvPr/>
          </p:nvSpPr>
          <p:spPr bwMode="auto">
            <a:xfrm>
              <a:off x="2936" y="2860"/>
              <a:ext cx="115" cy="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95"/>
            <p:cNvSpPr>
              <a:spLocks noChangeArrowheads="1"/>
            </p:cNvSpPr>
            <p:nvPr/>
          </p:nvSpPr>
          <p:spPr bwMode="auto">
            <a:xfrm>
              <a:off x="3138" y="2542"/>
              <a:ext cx="219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96"/>
            <p:cNvSpPr>
              <a:spLocks noChangeArrowheads="1"/>
            </p:cNvSpPr>
            <p:nvPr/>
          </p:nvSpPr>
          <p:spPr bwMode="auto">
            <a:xfrm>
              <a:off x="3138" y="2549"/>
              <a:ext cx="149" cy="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97"/>
            <p:cNvSpPr>
              <a:spLocks noChangeArrowheads="1"/>
            </p:cNvSpPr>
            <p:nvPr/>
          </p:nvSpPr>
          <p:spPr bwMode="auto">
            <a:xfrm>
              <a:off x="3214" y="2549"/>
              <a:ext cx="115" cy="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98"/>
            <p:cNvSpPr>
              <a:spLocks noChangeArrowheads="1"/>
            </p:cNvSpPr>
            <p:nvPr/>
          </p:nvSpPr>
          <p:spPr bwMode="auto">
            <a:xfrm>
              <a:off x="3463" y="2566"/>
              <a:ext cx="219" cy="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ctangle 99"/>
            <p:cNvSpPr>
              <a:spLocks noChangeArrowheads="1"/>
            </p:cNvSpPr>
            <p:nvPr/>
          </p:nvSpPr>
          <p:spPr bwMode="auto">
            <a:xfrm>
              <a:off x="3538" y="2571"/>
              <a:ext cx="115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100"/>
            <p:cNvSpPr>
              <a:spLocks noChangeArrowheads="1"/>
            </p:cNvSpPr>
            <p:nvPr/>
          </p:nvSpPr>
          <p:spPr bwMode="auto">
            <a:xfrm>
              <a:off x="4113" y="2538"/>
              <a:ext cx="220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101"/>
            <p:cNvSpPr>
              <a:spLocks noChangeArrowheads="1"/>
            </p:cNvSpPr>
            <p:nvPr/>
          </p:nvSpPr>
          <p:spPr bwMode="auto">
            <a:xfrm>
              <a:off x="4188" y="2544"/>
              <a:ext cx="116" cy="2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102"/>
            <p:cNvSpPr>
              <a:spLocks noChangeArrowheads="1"/>
            </p:cNvSpPr>
            <p:nvPr/>
          </p:nvSpPr>
          <p:spPr bwMode="auto">
            <a:xfrm>
              <a:off x="1680" y="2496"/>
              <a:ext cx="178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03"/>
            <p:cNvSpPr>
              <a:spLocks noChangeShapeType="1"/>
            </p:cNvSpPr>
            <p:nvPr/>
          </p:nvSpPr>
          <p:spPr bwMode="auto">
            <a:xfrm>
              <a:off x="1278" y="2899"/>
              <a:ext cx="3225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04"/>
            <p:cNvSpPr>
              <a:spLocks noChangeShapeType="1"/>
            </p:cNvSpPr>
            <p:nvPr/>
          </p:nvSpPr>
          <p:spPr bwMode="auto">
            <a:xfrm>
              <a:off x="1282" y="3233"/>
              <a:ext cx="3227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105"/>
            <p:cNvSpPr>
              <a:spLocks noChangeArrowheads="1"/>
            </p:cNvSpPr>
            <p:nvPr/>
          </p:nvSpPr>
          <p:spPr bwMode="auto">
            <a:xfrm>
              <a:off x="996" y="2500"/>
              <a:ext cx="341" cy="25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2300" i="0">
                  <a:solidFill>
                    <a:srgbClr val="000000"/>
                  </a:solidFill>
                </a:rPr>
                <a:t> 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32" name="Rectangle 106"/>
            <p:cNvSpPr>
              <a:spLocks noChangeArrowheads="1"/>
            </p:cNvSpPr>
            <p:nvPr/>
          </p:nvSpPr>
          <p:spPr bwMode="auto">
            <a:xfrm>
              <a:off x="1138" y="2501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107"/>
            <p:cNvSpPr>
              <a:spLocks noChangeArrowheads="1"/>
            </p:cNvSpPr>
            <p:nvPr/>
          </p:nvSpPr>
          <p:spPr bwMode="auto">
            <a:xfrm>
              <a:off x="996" y="2500"/>
              <a:ext cx="341" cy="25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2300" i="0">
                  <a:solidFill>
                    <a:srgbClr val="000000"/>
                  </a:solidFill>
                </a:rPr>
                <a:t> 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34" name="Rectangle 108"/>
            <p:cNvSpPr>
              <a:spLocks noChangeArrowheads="1"/>
            </p:cNvSpPr>
            <p:nvPr/>
          </p:nvSpPr>
          <p:spPr bwMode="auto">
            <a:xfrm>
              <a:off x="1138" y="2501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109"/>
            <p:cNvSpPr>
              <a:spLocks noChangeShapeType="1"/>
            </p:cNvSpPr>
            <p:nvPr/>
          </p:nvSpPr>
          <p:spPr bwMode="auto">
            <a:xfrm flipV="1">
              <a:off x="1215" y="2480"/>
              <a:ext cx="1" cy="139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110"/>
            <p:cNvSpPr>
              <a:spLocks noChangeShapeType="1"/>
            </p:cNvSpPr>
            <p:nvPr/>
          </p:nvSpPr>
          <p:spPr bwMode="auto">
            <a:xfrm flipV="1">
              <a:off x="1215" y="2480"/>
              <a:ext cx="1" cy="139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11"/>
            <p:cNvSpPr>
              <a:spLocks noChangeShapeType="1"/>
            </p:cNvSpPr>
            <p:nvPr/>
          </p:nvSpPr>
          <p:spPr bwMode="auto">
            <a:xfrm flipV="1">
              <a:off x="1215" y="3858"/>
              <a:ext cx="1" cy="2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12"/>
            <p:cNvSpPr>
              <a:spLocks noChangeShapeType="1"/>
            </p:cNvSpPr>
            <p:nvPr/>
          </p:nvSpPr>
          <p:spPr bwMode="auto">
            <a:xfrm>
              <a:off x="1215" y="3677"/>
              <a:ext cx="2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113"/>
            <p:cNvSpPr>
              <a:spLocks noChangeArrowheads="1"/>
            </p:cNvSpPr>
            <p:nvPr/>
          </p:nvSpPr>
          <p:spPr bwMode="auto">
            <a:xfrm>
              <a:off x="993" y="3633"/>
              <a:ext cx="209" cy="14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114"/>
            <p:cNvSpPr>
              <a:spLocks noChangeArrowheads="1"/>
            </p:cNvSpPr>
            <p:nvPr/>
          </p:nvSpPr>
          <p:spPr bwMode="auto">
            <a:xfrm>
              <a:off x="993" y="3636"/>
              <a:ext cx="66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115"/>
            <p:cNvSpPr>
              <a:spLocks noChangeArrowheads="1"/>
            </p:cNvSpPr>
            <p:nvPr/>
          </p:nvSpPr>
          <p:spPr bwMode="auto">
            <a:xfrm>
              <a:off x="993" y="3639"/>
              <a:ext cx="324" cy="12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1100" i="0">
                  <a:solidFill>
                    <a:srgbClr val="000000"/>
                  </a:solidFill>
                  <a:latin typeface="Helvetica" pitchFamily="34" charset="0"/>
                </a:rPr>
                <a:t>-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42" name="Rectangle 116"/>
            <p:cNvSpPr>
              <a:spLocks noChangeArrowheads="1"/>
            </p:cNvSpPr>
            <p:nvPr/>
          </p:nvSpPr>
          <p:spPr bwMode="auto">
            <a:xfrm>
              <a:off x="1021" y="3636"/>
              <a:ext cx="157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117"/>
            <p:cNvSpPr>
              <a:spLocks noChangeArrowheads="1"/>
            </p:cNvSpPr>
            <p:nvPr/>
          </p:nvSpPr>
          <p:spPr bwMode="auto">
            <a:xfrm>
              <a:off x="1140" y="3554"/>
              <a:ext cx="111" cy="24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118"/>
            <p:cNvSpPr>
              <a:spLocks noChangeShapeType="1"/>
            </p:cNvSpPr>
            <p:nvPr/>
          </p:nvSpPr>
          <p:spPr bwMode="auto">
            <a:xfrm>
              <a:off x="1215" y="3477"/>
              <a:ext cx="2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 119"/>
            <p:cNvSpPr>
              <a:spLocks noChangeArrowheads="1"/>
            </p:cNvSpPr>
            <p:nvPr/>
          </p:nvSpPr>
          <p:spPr bwMode="auto">
            <a:xfrm>
              <a:off x="999" y="3434"/>
              <a:ext cx="127" cy="1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 120"/>
            <p:cNvSpPr>
              <a:spLocks noChangeArrowheads="1"/>
            </p:cNvSpPr>
            <p:nvPr/>
          </p:nvSpPr>
          <p:spPr bwMode="auto">
            <a:xfrm>
              <a:off x="998" y="3437"/>
              <a:ext cx="66" cy="12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Rectangle 121"/>
            <p:cNvSpPr>
              <a:spLocks noChangeArrowheads="1"/>
            </p:cNvSpPr>
            <p:nvPr/>
          </p:nvSpPr>
          <p:spPr bwMode="auto">
            <a:xfrm>
              <a:off x="1026" y="3437"/>
              <a:ext cx="86" cy="12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Rectangle 122"/>
            <p:cNvSpPr>
              <a:spLocks noChangeArrowheads="1"/>
            </p:cNvSpPr>
            <p:nvPr/>
          </p:nvSpPr>
          <p:spPr bwMode="auto">
            <a:xfrm>
              <a:off x="1074" y="3355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123"/>
            <p:cNvSpPr>
              <a:spLocks noChangeShapeType="1"/>
            </p:cNvSpPr>
            <p:nvPr/>
          </p:nvSpPr>
          <p:spPr bwMode="auto">
            <a:xfrm>
              <a:off x="1215" y="3277"/>
              <a:ext cx="2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124"/>
            <p:cNvSpPr>
              <a:spLocks noChangeArrowheads="1"/>
            </p:cNvSpPr>
            <p:nvPr/>
          </p:nvSpPr>
          <p:spPr bwMode="auto">
            <a:xfrm>
              <a:off x="993" y="3234"/>
              <a:ext cx="209" cy="1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125"/>
            <p:cNvSpPr>
              <a:spLocks noChangeArrowheads="1"/>
            </p:cNvSpPr>
            <p:nvPr/>
          </p:nvSpPr>
          <p:spPr bwMode="auto">
            <a:xfrm>
              <a:off x="993" y="3235"/>
              <a:ext cx="66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126"/>
            <p:cNvSpPr>
              <a:spLocks noChangeArrowheads="1"/>
            </p:cNvSpPr>
            <p:nvPr/>
          </p:nvSpPr>
          <p:spPr bwMode="auto">
            <a:xfrm>
              <a:off x="1021" y="3235"/>
              <a:ext cx="157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127"/>
            <p:cNvSpPr>
              <a:spLocks noChangeArrowheads="1"/>
            </p:cNvSpPr>
            <p:nvPr/>
          </p:nvSpPr>
          <p:spPr bwMode="auto">
            <a:xfrm>
              <a:off x="1140" y="3154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128"/>
            <p:cNvSpPr>
              <a:spLocks noChangeShapeType="1"/>
            </p:cNvSpPr>
            <p:nvPr/>
          </p:nvSpPr>
          <p:spPr bwMode="auto">
            <a:xfrm>
              <a:off x="1215" y="3077"/>
              <a:ext cx="2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Rectangle 129"/>
            <p:cNvSpPr>
              <a:spLocks noChangeArrowheads="1"/>
            </p:cNvSpPr>
            <p:nvPr/>
          </p:nvSpPr>
          <p:spPr bwMode="auto">
            <a:xfrm>
              <a:off x="1024" y="3034"/>
              <a:ext cx="97" cy="14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ectangle 130"/>
            <p:cNvSpPr>
              <a:spLocks noChangeArrowheads="1"/>
            </p:cNvSpPr>
            <p:nvPr/>
          </p:nvSpPr>
          <p:spPr bwMode="auto">
            <a:xfrm>
              <a:off x="1024" y="3034"/>
              <a:ext cx="86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 131"/>
            <p:cNvSpPr>
              <a:spLocks noChangeArrowheads="1"/>
            </p:cNvSpPr>
            <p:nvPr/>
          </p:nvSpPr>
          <p:spPr bwMode="auto">
            <a:xfrm>
              <a:off x="1072" y="2953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132"/>
            <p:cNvSpPr>
              <a:spLocks noChangeShapeType="1"/>
            </p:cNvSpPr>
            <p:nvPr/>
          </p:nvSpPr>
          <p:spPr bwMode="auto">
            <a:xfrm>
              <a:off x="1215" y="2876"/>
              <a:ext cx="2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Rectangle 133"/>
            <p:cNvSpPr>
              <a:spLocks noChangeArrowheads="1"/>
            </p:cNvSpPr>
            <p:nvPr/>
          </p:nvSpPr>
          <p:spPr bwMode="auto">
            <a:xfrm>
              <a:off x="1019" y="2832"/>
              <a:ext cx="178" cy="14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Rectangle 134"/>
            <p:cNvSpPr>
              <a:spLocks noChangeArrowheads="1"/>
            </p:cNvSpPr>
            <p:nvPr/>
          </p:nvSpPr>
          <p:spPr bwMode="auto">
            <a:xfrm>
              <a:off x="1019" y="2834"/>
              <a:ext cx="157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Rectangle 135"/>
            <p:cNvSpPr>
              <a:spLocks noChangeArrowheads="1"/>
            </p:cNvSpPr>
            <p:nvPr/>
          </p:nvSpPr>
          <p:spPr bwMode="auto">
            <a:xfrm>
              <a:off x="1138" y="2753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136"/>
            <p:cNvSpPr>
              <a:spLocks noChangeShapeType="1"/>
            </p:cNvSpPr>
            <p:nvPr/>
          </p:nvSpPr>
          <p:spPr bwMode="auto">
            <a:xfrm>
              <a:off x="1215" y="2677"/>
              <a:ext cx="2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Rectangle 137"/>
            <p:cNvSpPr>
              <a:spLocks noChangeArrowheads="1"/>
            </p:cNvSpPr>
            <p:nvPr/>
          </p:nvSpPr>
          <p:spPr bwMode="auto">
            <a:xfrm>
              <a:off x="1024" y="2632"/>
              <a:ext cx="97" cy="14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Rectangle 138"/>
            <p:cNvSpPr>
              <a:spLocks noChangeArrowheads="1"/>
            </p:cNvSpPr>
            <p:nvPr/>
          </p:nvSpPr>
          <p:spPr bwMode="auto">
            <a:xfrm>
              <a:off x="1024" y="2635"/>
              <a:ext cx="86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Rectangle 139"/>
            <p:cNvSpPr>
              <a:spLocks noChangeArrowheads="1"/>
            </p:cNvSpPr>
            <p:nvPr/>
          </p:nvSpPr>
          <p:spPr bwMode="auto">
            <a:xfrm>
              <a:off x="1071" y="2556"/>
              <a:ext cx="341" cy="25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2300" i="0">
                  <a:solidFill>
                    <a:srgbClr val="000000"/>
                  </a:solidFill>
                </a:rPr>
                <a:t> 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66" name="Rectangle 140"/>
            <p:cNvSpPr>
              <a:spLocks noChangeArrowheads="1"/>
            </p:cNvSpPr>
            <p:nvPr/>
          </p:nvSpPr>
          <p:spPr bwMode="auto">
            <a:xfrm>
              <a:off x="1072" y="2554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141"/>
            <p:cNvSpPr>
              <a:spLocks noChangeShapeType="1"/>
            </p:cNvSpPr>
            <p:nvPr/>
          </p:nvSpPr>
          <p:spPr bwMode="auto">
            <a:xfrm flipV="1">
              <a:off x="1215" y="2480"/>
              <a:ext cx="1" cy="139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142"/>
            <p:cNvSpPr>
              <a:spLocks/>
            </p:cNvSpPr>
            <p:nvPr/>
          </p:nvSpPr>
          <p:spPr bwMode="auto">
            <a:xfrm>
              <a:off x="1251" y="2489"/>
              <a:ext cx="351" cy="1382"/>
            </a:xfrm>
            <a:custGeom>
              <a:avLst/>
              <a:gdLst/>
              <a:ahLst/>
              <a:cxnLst>
                <a:cxn ang="0">
                  <a:pos x="156" y="0"/>
                </a:cxn>
                <a:cxn ang="0">
                  <a:pos x="199" y="77"/>
                </a:cxn>
                <a:cxn ang="0">
                  <a:pos x="241" y="153"/>
                </a:cxn>
                <a:cxn ang="0">
                  <a:pos x="287" y="236"/>
                </a:cxn>
                <a:cxn ang="0">
                  <a:pos x="335" y="312"/>
                </a:cxn>
                <a:cxn ang="0">
                  <a:pos x="382" y="395"/>
                </a:cxn>
                <a:cxn ang="0">
                  <a:pos x="435" y="471"/>
                </a:cxn>
                <a:cxn ang="0">
                  <a:pos x="479" y="547"/>
                </a:cxn>
                <a:cxn ang="0">
                  <a:pos x="522" y="631"/>
                </a:cxn>
                <a:cxn ang="0">
                  <a:pos x="571" y="707"/>
                </a:cxn>
                <a:cxn ang="0">
                  <a:pos x="607" y="790"/>
                </a:cxn>
                <a:cxn ang="0">
                  <a:pos x="639" y="866"/>
                </a:cxn>
                <a:cxn ang="0">
                  <a:pos x="665" y="942"/>
                </a:cxn>
                <a:cxn ang="0">
                  <a:pos x="683" y="1026"/>
                </a:cxn>
                <a:cxn ang="0">
                  <a:pos x="695" y="1102"/>
                </a:cxn>
                <a:cxn ang="0">
                  <a:pos x="700" y="1185"/>
                </a:cxn>
                <a:cxn ang="0">
                  <a:pos x="695" y="1261"/>
                </a:cxn>
                <a:cxn ang="0">
                  <a:pos x="683" y="1337"/>
                </a:cxn>
                <a:cxn ang="0">
                  <a:pos x="665" y="1421"/>
                </a:cxn>
                <a:cxn ang="0">
                  <a:pos x="639" y="1497"/>
                </a:cxn>
                <a:cxn ang="0">
                  <a:pos x="607" y="1580"/>
                </a:cxn>
                <a:cxn ang="0">
                  <a:pos x="571" y="1658"/>
                </a:cxn>
                <a:cxn ang="0">
                  <a:pos x="522" y="1732"/>
                </a:cxn>
                <a:cxn ang="0">
                  <a:pos x="479" y="1815"/>
                </a:cxn>
                <a:cxn ang="0">
                  <a:pos x="435" y="1893"/>
                </a:cxn>
                <a:cxn ang="0">
                  <a:pos x="382" y="1975"/>
                </a:cxn>
                <a:cxn ang="0">
                  <a:pos x="335" y="2051"/>
                </a:cxn>
                <a:cxn ang="0">
                  <a:pos x="287" y="2129"/>
                </a:cxn>
                <a:cxn ang="0">
                  <a:pos x="241" y="2210"/>
                </a:cxn>
                <a:cxn ang="0">
                  <a:pos x="199" y="2286"/>
                </a:cxn>
                <a:cxn ang="0">
                  <a:pos x="156" y="2370"/>
                </a:cxn>
                <a:cxn ang="0">
                  <a:pos x="114" y="2446"/>
                </a:cxn>
                <a:cxn ang="0">
                  <a:pos x="83" y="2522"/>
                </a:cxn>
                <a:cxn ang="0">
                  <a:pos x="53" y="2605"/>
                </a:cxn>
                <a:cxn ang="0">
                  <a:pos x="25" y="2681"/>
                </a:cxn>
                <a:cxn ang="0">
                  <a:pos x="0" y="2765"/>
                </a:cxn>
              </a:cxnLst>
              <a:rect l="0" t="0" r="r" b="b"/>
              <a:pathLst>
                <a:path w="700" h="2765">
                  <a:moveTo>
                    <a:pt x="156" y="0"/>
                  </a:moveTo>
                  <a:lnTo>
                    <a:pt x="199" y="77"/>
                  </a:lnTo>
                  <a:lnTo>
                    <a:pt x="241" y="153"/>
                  </a:lnTo>
                  <a:lnTo>
                    <a:pt x="287" y="236"/>
                  </a:lnTo>
                  <a:lnTo>
                    <a:pt x="335" y="312"/>
                  </a:lnTo>
                  <a:lnTo>
                    <a:pt x="382" y="395"/>
                  </a:lnTo>
                  <a:lnTo>
                    <a:pt x="435" y="471"/>
                  </a:lnTo>
                  <a:lnTo>
                    <a:pt x="479" y="547"/>
                  </a:lnTo>
                  <a:lnTo>
                    <a:pt x="522" y="631"/>
                  </a:lnTo>
                  <a:lnTo>
                    <a:pt x="571" y="707"/>
                  </a:lnTo>
                  <a:lnTo>
                    <a:pt x="607" y="790"/>
                  </a:lnTo>
                  <a:lnTo>
                    <a:pt x="639" y="866"/>
                  </a:lnTo>
                  <a:lnTo>
                    <a:pt x="665" y="942"/>
                  </a:lnTo>
                  <a:lnTo>
                    <a:pt x="683" y="1026"/>
                  </a:lnTo>
                  <a:lnTo>
                    <a:pt x="695" y="1102"/>
                  </a:lnTo>
                  <a:lnTo>
                    <a:pt x="700" y="1185"/>
                  </a:lnTo>
                  <a:lnTo>
                    <a:pt x="695" y="1261"/>
                  </a:lnTo>
                  <a:lnTo>
                    <a:pt x="683" y="1337"/>
                  </a:lnTo>
                  <a:lnTo>
                    <a:pt x="665" y="1421"/>
                  </a:lnTo>
                  <a:lnTo>
                    <a:pt x="639" y="1497"/>
                  </a:lnTo>
                  <a:lnTo>
                    <a:pt x="607" y="1580"/>
                  </a:lnTo>
                  <a:lnTo>
                    <a:pt x="571" y="1658"/>
                  </a:lnTo>
                  <a:lnTo>
                    <a:pt x="522" y="1732"/>
                  </a:lnTo>
                  <a:lnTo>
                    <a:pt x="479" y="1815"/>
                  </a:lnTo>
                  <a:lnTo>
                    <a:pt x="435" y="1893"/>
                  </a:lnTo>
                  <a:lnTo>
                    <a:pt x="382" y="1975"/>
                  </a:lnTo>
                  <a:lnTo>
                    <a:pt x="335" y="2051"/>
                  </a:lnTo>
                  <a:lnTo>
                    <a:pt x="287" y="2129"/>
                  </a:lnTo>
                  <a:lnTo>
                    <a:pt x="241" y="2210"/>
                  </a:lnTo>
                  <a:lnTo>
                    <a:pt x="199" y="2286"/>
                  </a:lnTo>
                  <a:lnTo>
                    <a:pt x="156" y="2370"/>
                  </a:lnTo>
                  <a:lnTo>
                    <a:pt x="114" y="2446"/>
                  </a:lnTo>
                  <a:lnTo>
                    <a:pt x="83" y="2522"/>
                  </a:lnTo>
                  <a:lnTo>
                    <a:pt x="53" y="2605"/>
                  </a:lnTo>
                  <a:lnTo>
                    <a:pt x="25" y="2681"/>
                  </a:lnTo>
                  <a:lnTo>
                    <a:pt x="0" y="276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Rectangle 143"/>
            <p:cNvSpPr>
              <a:spLocks noChangeArrowheads="1"/>
            </p:cNvSpPr>
            <p:nvPr/>
          </p:nvSpPr>
          <p:spPr bwMode="auto">
            <a:xfrm>
              <a:off x="996" y="2500"/>
              <a:ext cx="341" cy="25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2300" i="0">
                  <a:solidFill>
                    <a:srgbClr val="000000"/>
                  </a:solidFill>
                </a:rPr>
                <a:t> 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70" name="Rectangle 144"/>
            <p:cNvSpPr>
              <a:spLocks noChangeArrowheads="1"/>
            </p:cNvSpPr>
            <p:nvPr/>
          </p:nvSpPr>
          <p:spPr bwMode="auto">
            <a:xfrm>
              <a:off x="1138" y="2501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Rectangle 145"/>
            <p:cNvSpPr>
              <a:spLocks noChangeArrowheads="1"/>
            </p:cNvSpPr>
            <p:nvPr/>
          </p:nvSpPr>
          <p:spPr bwMode="auto">
            <a:xfrm>
              <a:off x="996" y="2500"/>
              <a:ext cx="341" cy="25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2300" i="0" dirty="0">
                  <a:solidFill>
                    <a:srgbClr val="000000"/>
                  </a:solidFill>
                </a:rPr>
                <a:t> </a:t>
              </a:r>
              <a:endParaRPr lang="en-US" i="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72" name="Rectangle 146"/>
            <p:cNvSpPr>
              <a:spLocks noChangeArrowheads="1"/>
            </p:cNvSpPr>
            <p:nvPr/>
          </p:nvSpPr>
          <p:spPr bwMode="auto">
            <a:xfrm>
              <a:off x="1138" y="2501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147"/>
            <p:cNvSpPr>
              <a:spLocks noChangeShapeType="1"/>
            </p:cNvSpPr>
            <p:nvPr/>
          </p:nvSpPr>
          <p:spPr bwMode="auto">
            <a:xfrm flipV="1">
              <a:off x="1215" y="2480"/>
              <a:ext cx="1" cy="139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148"/>
            <p:cNvSpPr>
              <a:spLocks noChangeShapeType="1"/>
            </p:cNvSpPr>
            <p:nvPr/>
          </p:nvSpPr>
          <p:spPr bwMode="auto">
            <a:xfrm flipV="1">
              <a:off x="1215" y="2480"/>
              <a:ext cx="1" cy="139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149"/>
            <p:cNvSpPr>
              <a:spLocks noChangeShapeType="1"/>
            </p:cNvSpPr>
            <p:nvPr/>
          </p:nvSpPr>
          <p:spPr bwMode="auto">
            <a:xfrm flipV="1">
              <a:off x="1215" y="3858"/>
              <a:ext cx="1" cy="2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150"/>
            <p:cNvSpPr>
              <a:spLocks noChangeShapeType="1"/>
            </p:cNvSpPr>
            <p:nvPr/>
          </p:nvSpPr>
          <p:spPr bwMode="auto">
            <a:xfrm>
              <a:off x="1215" y="3677"/>
              <a:ext cx="2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Rectangle 151"/>
            <p:cNvSpPr>
              <a:spLocks noChangeArrowheads="1"/>
            </p:cNvSpPr>
            <p:nvPr/>
          </p:nvSpPr>
          <p:spPr bwMode="auto">
            <a:xfrm>
              <a:off x="993" y="3633"/>
              <a:ext cx="209" cy="14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Rectangle 152"/>
            <p:cNvSpPr>
              <a:spLocks noChangeArrowheads="1"/>
            </p:cNvSpPr>
            <p:nvPr/>
          </p:nvSpPr>
          <p:spPr bwMode="auto">
            <a:xfrm>
              <a:off x="993" y="3636"/>
              <a:ext cx="66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Rectangle 153"/>
            <p:cNvSpPr>
              <a:spLocks noChangeArrowheads="1"/>
            </p:cNvSpPr>
            <p:nvPr/>
          </p:nvSpPr>
          <p:spPr bwMode="auto">
            <a:xfrm>
              <a:off x="993" y="3639"/>
              <a:ext cx="324" cy="12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1100" i="0">
                  <a:solidFill>
                    <a:srgbClr val="000000"/>
                  </a:solidFill>
                  <a:latin typeface="Helvetica" pitchFamily="34" charset="0"/>
                </a:rPr>
                <a:t>-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80" name="Rectangle 154"/>
            <p:cNvSpPr>
              <a:spLocks noChangeArrowheads="1"/>
            </p:cNvSpPr>
            <p:nvPr/>
          </p:nvSpPr>
          <p:spPr bwMode="auto">
            <a:xfrm>
              <a:off x="1021" y="3636"/>
              <a:ext cx="157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Rectangle 155"/>
            <p:cNvSpPr>
              <a:spLocks noChangeArrowheads="1"/>
            </p:cNvSpPr>
            <p:nvPr/>
          </p:nvSpPr>
          <p:spPr bwMode="auto">
            <a:xfrm>
              <a:off x="1140" y="3554"/>
              <a:ext cx="111" cy="24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156"/>
            <p:cNvSpPr>
              <a:spLocks noChangeShapeType="1"/>
            </p:cNvSpPr>
            <p:nvPr/>
          </p:nvSpPr>
          <p:spPr bwMode="auto">
            <a:xfrm>
              <a:off x="1215" y="3477"/>
              <a:ext cx="2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Rectangle 157"/>
            <p:cNvSpPr>
              <a:spLocks noChangeArrowheads="1"/>
            </p:cNvSpPr>
            <p:nvPr/>
          </p:nvSpPr>
          <p:spPr bwMode="auto">
            <a:xfrm>
              <a:off x="999" y="3434"/>
              <a:ext cx="127" cy="1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Rectangle 158"/>
            <p:cNvSpPr>
              <a:spLocks noChangeArrowheads="1"/>
            </p:cNvSpPr>
            <p:nvPr/>
          </p:nvSpPr>
          <p:spPr bwMode="auto">
            <a:xfrm>
              <a:off x="998" y="3437"/>
              <a:ext cx="66" cy="12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Rectangle 159"/>
            <p:cNvSpPr>
              <a:spLocks noChangeArrowheads="1"/>
            </p:cNvSpPr>
            <p:nvPr/>
          </p:nvSpPr>
          <p:spPr bwMode="auto">
            <a:xfrm>
              <a:off x="1026" y="3437"/>
              <a:ext cx="86" cy="12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Rectangle 160"/>
            <p:cNvSpPr>
              <a:spLocks noChangeArrowheads="1"/>
            </p:cNvSpPr>
            <p:nvPr/>
          </p:nvSpPr>
          <p:spPr bwMode="auto">
            <a:xfrm>
              <a:off x="1074" y="3355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161"/>
            <p:cNvSpPr>
              <a:spLocks noChangeShapeType="1"/>
            </p:cNvSpPr>
            <p:nvPr/>
          </p:nvSpPr>
          <p:spPr bwMode="auto">
            <a:xfrm>
              <a:off x="1215" y="3277"/>
              <a:ext cx="2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Rectangle 162"/>
            <p:cNvSpPr>
              <a:spLocks noChangeArrowheads="1"/>
            </p:cNvSpPr>
            <p:nvPr/>
          </p:nvSpPr>
          <p:spPr bwMode="auto">
            <a:xfrm>
              <a:off x="993" y="3234"/>
              <a:ext cx="209" cy="1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Rectangle 163"/>
            <p:cNvSpPr>
              <a:spLocks noChangeArrowheads="1"/>
            </p:cNvSpPr>
            <p:nvPr/>
          </p:nvSpPr>
          <p:spPr bwMode="auto">
            <a:xfrm>
              <a:off x="993" y="3235"/>
              <a:ext cx="66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Rectangle 164"/>
            <p:cNvSpPr>
              <a:spLocks noChangeArrowheads="1"/>
            </p:cNvSpPr>
            <p:nvPr/>
          </p:nvSpPr>
          <p:spPr bwMode="auto">
            <a:xfrm>
              <a:off x="1021" y="3235"/>
              <a:ext cx="157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Rectangle 165"/>
            <p:cNvSpPr>
              <a:spLocks noChangeArrowheads="1"/>
            </p:cNvSpPr>
            <p:nvPr/>
          </p:nvSpPr>
          <p:spPr bwMode="auto">
            <a:xfrm>
              <a:off x="1140" y="3154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166"/>
            <p:cNvSpPr>
              <a:spLocks noChangeShapeType="1"/>
            </p:cNvSpPr>
            <p:nvPr/>
          </p:nvSpPr>
          <p:spPr bwMode="auto">
            <a:xfrm>
              <a:off x="1215" y="3077"/>
              <a:ext cx="2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Rectangle 167"/>
            <p:cNvSpPr>
              <a:spLocks noChangeArrowheads="1"/>
            </p:cNvSpPr>
            <p:nvPr/>
          </p:nvSpPr>
          <p:spPr bwMode="auto">
            <a:xfrm>
              <a:off x="1024" y="3034"/>
              <a:ext cx="97" cy="14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Rectangle 168"/>
            <p:cNvSpPr>
              <a:spLocks noChangeArrowheads="1"/>
            </p:cNvSpPr>
            <p:nvPr/>
          </p:nvSpPr>
          <p:spPr bwMode="auto">
            <a:xfrm>
              <a:off x="1024" y="3034"/>
              <a:ext cx="86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Rectangle 169"/>
            <p:cNvSpPr>
              <a:spLocks noChangeArrowheads="1"/>
            </p:cNvSpPr>
            <p:nvPr/>
          </p:nvSpPr>
          <p:spPr bwMode="auto">
            <a:xfrm>
              <a:off x="1072" y="2953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170"/>
            <p:cNvSpPr>
              <a:spLocks noChangeShapeType="1"/>
            </p:cNvSpPr>
            <p:nvPr/>
          </p:nvSpPr>
          <p:spPr bwMode="auto">
            <a:xfrm>
              <a:off x="1215" y="2876"/>
              <a:ext cx="2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Rectangle 171"/>
            <p:cNvSpPr>
              <a:spLocks noChangeArrowheads="1"/>
            </p:cNvSpPr>
            <p:nvPr/>
          </p:nvSpPr>
          <p:spPr bwMode="auto">
            <a:xfrm>
              <a:off x="1019" y="2832"/>
              <a:ext cx="178" cy="14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Rectangle 172"/>
            <p:cNvSpPr>
              <a:spLocks noChangeArrowheads="1"/>
            </p:cNvSpPr>
            <p:nvPr/>
          </p:nvSpPr>
          <p:spPr bwMode="auto">
            <a:xfrm>
              <a:off x="1019" y="2834"/>
              <a:ext cx="157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173"/>
            <p:cNvSpPr>
              <a:spLocks noChangeArrowheads="1"/>
            </p:cNvSpPr>
            <p:nvPr/>
          </p:nvSpPr>
          <p:spPr bwMode="auto">
            <a:xfrm>
              <a:off x="1138" y="2753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Line 174"/>
            <p:cNvSpPr>
              <a:spLocks noChangeShapeType="1"/>
            </p:cNvSpPr>
            <p:nvPr/>
          </p:nvSpPr>
          <p:spPr bwMode="auto">
            <a:xfrm>
              <a:off x="1215" y="2677"/>
              <a:ext cx="25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Rectangle 175"/>
            <p:cNvSpPr>
              <a:spLocks noChangeArrowheads="1"/>
            </p:cNvSpPr>
            <p:nvPr/>
          </p:nvSpPr>
          <p:spPr bwMode="auto">
            <a:xfrm>
              <a:off x="1024" y="2632"/>
              <a:ext cx="97" cy="14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Rectangle 176"/>
            <p:cNvSpPr>
              <a:spLocks noChangeArrowheads="1"/>
            </p:cNvSpPr>
            <p:nvPr/>
          </p:nvSpPr>
          <p:spPr bwMode="auto">
            <a:xfrm>
              <a:off x="1024" y="2635"/>
              <a:ext cx="86" cy="123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Rectangle 177"/>
            <p:cNvSpPr>
              <a:spLocks noChangeArrowheads="1"/>
            </p:cNvSpPr>
            <p:nvPr/>
          </p:nvSpPr>
          <p:spPr bwMode="auto">
            <a:xfrm>
              <a:off x="1071" y="2556"/>
              <a:ext cx="341" cy="25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2300" i="0">
                  <a:solidFill>
                    <a:srgbClr val="000000"/>
                  </a:solidFill>
                </a:rPr>
                <a:t> 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104" name="Rectangle 178"/>
            <p:cNvSpPr>
              <a:spLocks noChangeArrowheads="1"/>
            </p:cNvSpPr>
            <p:nvPr/>
          </p:nvSpPr>
          <p:spPr bwMode="auto">
            <a:xfrm>
              <a:off x="1072" y="2554"/>
              <a:ext cx="111" cy="245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Line 179"/>
            <p:cNvSpPr>
              <a:spLocks noChangeShapeType="1"/>
            </p:cNvSpPr>
            <p:nvPr/>
          </p:nvSpPr>
          <p:spPr bwMode="auto">
            <a:xfrm flipV="1">
              <a:off x="1215" y="2480"/>
              <a:ext cx="1" cy="139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80"/>
            <p:cNvSpPr>
              <a:spLocks/>
            </p:cNvSpPr>
            <p:nvPr/>
          </p:nvSpPr>
          <p:spPr bwMode="auto">
            <a:xfrm>
              <a:off x="1251" y="2489"/>
              <a:ext cx="351" cy="1382"/>
            </a:xfrm>
            <a:custGeom>
              <a:avLst/>
              <a:gdLst/>
              <a:ahLst/>
              <a:cxnLst>
                <a:cxn ang="0">
                  <a:pos x="156" y="0"/>
                </a:cxn>
                <a:cxn ang="0">
                  <a:pos x="199" y="77"/>
                </a:cxn>
                <a:cxn ang="0">
                  <a:pos x="241" y="153"/>
                </a:cxn>
                <a:cxn ang="0">
                  <a:pos x="287" y="236"/>
                </a:cxn>
                <a:cxn ang="0">
                  <a:pos x="335" y="312"/>
                </a:cxn>
                <a:cxn ang="0">
                  <a:pos x="382" y="395"/>
                </a:cxn>
                <a:cxn ang="0">
                  <a:pos x="435" y="471"/>
                </a:cxn>
                <a:cxn ang="0">
                  <a:pos x="479" y="547"/>
                </a:cxn>
                <a:cxn ang="0">
                  <a:pos x="522" y="631"/>
                </a:cxn>
                <a:cxn ang="0">
                  <a:pos x="571" y="707"/>
                </a:cxn>
                <a:cxn ang="0">
                  <a:pos x="607" y="790"/>
                </a:cxn>
                <a:cxn ang="0">
                  <a:pos x="639" y="866"/>
                </a:cxn>
                <a:cxn ang="0">
                  <a:pos x="665" y="942"/>
                </a:cxn>
                <a:cxn ang="0">
                  <a:pos x="683" y="1026"/>
                </a:cxn>
                <a:cxn ang="0">
                  <a:pos x="695" y="1102"/>
                </a:cxn>
                <a:cxn ang="0">
                  <a:pos x="700" y="1185"/>
                </a:cxn>
                <a:cxn ang="0">
                  <a:pos x="695" y="1261"/>
                </a:cxn>
                <a:cxn ang="0">
                  <a:pos x="683" y="1337"/>
                </a:cxn>
                <a:cxn ang="0">
                  <a:pos x="665" y="1421"/>
                </a:cxn>
                <a:cxn ang="0">
                  <a:pos x="639" y="1497"/>
                </a:cxn>
                <a:cxn ang="0">
                  <a:pos x="607" y="1580"/>
                </a:cxn>
                <a:cxn ang="0">
                  <a:pos x="571" y="1658"/>
                </a:cxn>
                <a:cxn ang="0">
                  <a:pos x="522" y="1732"/>
                </a:cxn>
                <a:cxn ang="0">
                  <a:pos x="479" y="1815"/>
                </a:cxn>
                <a:cxn ang="0">
                  <a:pos x="435" y="1893"/>
                </a:cxn>
                <a:cxn ang="0">
                  <a:pos x="382" y="1975"/>
                </a:cxn>
                <a:cxn ang="0">
                  <a:pos x="335" y="2051"/>
                </a:cxn>
                <a:cxn ang="0">
                  <a:pos x="287" y="2129"/>
                </a:cxn>
                <a:cxn ang="0">
                  <a:pos x="241" y="2210"/>
                </a:cxn>
                <a:cxn ang="0">
                  <a:pos x="199" y="2286"/>
                </a:cxn>
                <a:cxn ang="0">
                  <a:pos x="156" y="2370"/>
                </a:cxn>
                <a:cxn ang="0">
                  <a:pos x="114" y="2446"/>
                </a:cxn>
                <a:cxn ang="0">
                  <a:pos x="83" y="2522"/>
                </a:cxn>
                <a:cxn ang="0">
                  <a:pos x="53" y="2605"/>
                </a:cxn>
                <a:cxn ang="0">
                  <a:pos x="25" y="2681"/>
                </a:cxn>
                <a:cxn ang="0">
                  <a:pos x="0" y="2765"/>
                </a:cxn>
              </a:cxnLst>
              <a:rect l="0" t="0" r="r" b="b"/>
              <a:pathLst>
                <a:path w="700" h="2765">
                  <a:moveTo>
                    <a:pt x="156" y="0"/>
                  </a:moveTo>
                  <a:lnTo>
                    <a:pt x="199" y="77"/>
                  </a:lnTo>
                  <a:lnTo>
                    <a:pt x="241" y="153"/>
                  </a:lnTo>
                  <a:lnTo>
                    <a:pt x="287" y="236"/>
                  </a:lnTo>
                  <a:lnTo>
                    <a:pt x="335" y="312"/>
                  </a:lnTo>
                  <a:lnTo>
                    <a:pt x="382" y="395"/>
                  </a:lnTo>
                  <a:lnTo>
                    <a:pt x="435" y="471"/>
                  </a:lnTo>
                  <a:lnTo>
                    <a:pt x="479" y="547"/>
                  </a:lnTo>
                  <a:lnTo>
                    <a:pt x="522" y="631"/>
                  </a:lnTo>
                  <a:lnTo>
                    <a:pt x="571" y="707"/>
                  </a:lnTo>
                  <a:lnTo>
                    <a:pt x="607" y="790"/>
                  </a:lnTo>
                  <a:lnTo>
                    <a:pt x="639" y="866"/>
                  </a:lnTo>
                  <a:lnTo>
                    <a:pt x="665" y="942"/>
                  </a:lnTo>
                  <a:lnTo>
                    <a:pt x="683" y="1026"/>
                  </a:lnTo>
                  <a:lnTo>
                    <a:pt x="695" y="1102"/>
                  </a:lnTo>
                  <a:lnTo>
                    <a:pt x="700" y="1185"/>
                  </a:lnTo>
                  <a:lnTo>
                    <a:pt x="695" y="1261"/>
                  </a:lnTo>
                  <a:lnTo>
                    <a:pt x="683" y="1337"/>
                  </a:lnTo>
                  <a:lnTo>
                    <a:pt x="665" y="1421"/>
                  </a:lnTo>
                  <a:lnTo>
                    <a:pt x="639" y="1497"/>
                  </a:lnTo>
                  <a:lnTo>
                    <a:pt x="607" y="1580"/>
                  </a:lnTo>
                  <a:lnTo>
                    <a:pt x="571" y="1658"/>
                  </a:lnTo>
                  <a:lnTo>
                    <a:pt x="522" y="1732"/>
                  </a:lnTo>
                  <a:lnTo>
                    <a:pt x="479" y="1815"/>
                  </a:lnTo>
                  <a:lnTo>
                    <a:pt x="435" y="1893"/>
                  </a:lnTo>
                  <a:lnTo>
                    <a:pt x="382" y="1975"/>
                  </a:lnTo>
                  <a:lnTo>
                    <a:pt x="335" y="2051"/>
                  </a:lnTo>
                  <a:lnTo>
                    <a:pt x="287" y="2129"/>
                  </a:lnTo>
                  <a:lnTo>
                    <a:pt x="241" y="2210"/>
                  </a:lnTo>
                  <a:lnTo>
                    <a:pt x="199" y="2286"/>
                  </a:lnTo>
                  <a:lnTo>
                    <a:pt x="156" y="2370"/>
                  </a:lnTo>
                  <a:lnTo>
                    <a:pt x="114" y="2446"/>
                  </a:lnTo>
                  <a:lnTo>
                    <a:pt x="83" y="2522"/>
                  </a:lnTo>
                  <a:lnTo>
                    <a:pt x="53" y="2605"/>
                  </a:lnTo>
                  <a:lnTo>
                    <a:pt x="25" y="2681"/>
                  </a:lnTo>
                  <a:lnTo>
                    <a:pt x="0" y="2765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Rectangle 181"/>
            <p:cNvSpPr>
              <a:spLocks noChangeArrowheads="1"/>
            </p:cNvSpPr>
            <p:nvPr/>
          </p:nvSpPr>
          <p:spPr bwMode="auto">
            <a:xfrm>
              <a:off x="1488" y="3926"/>
              <a:ext cx="345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1100" i="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108" name="Freeform 182"/>
            <p:cNvSpPr>
              <a:spLocks/>
            </p:cNvSpPr>
            <p:nvPr/>
          </p:nvSpPr>
          <p:spPr bwMode="auto">
            <a:xfrm>
              <a:off x="1775" y="2536"/>
              <a:ext cx="2479" cy="1193"/>
            </a:xfrm>
            <a:custGeom>
              <a:avLst/>
              <a:gdLst/>
              <a:ahLst/>
              <a:cxnLst>
                <a:cxn ang="0">
                  <a:pos x="192" y="1045"/>
                </a:cxn>
                <a:cxn ang="0">
                  <a:pos x="467" y="1045"/>
                </a:cxn>
                <a:cxn ang="0">
                  <a:pos x="573" y="1039"/>
                </a:cxn>
                <a:cxn ang="0">
                  <a:pos x="654" y="2132"/>
                </a:cxn>
                <a:cxn ang="0">
                  <a:pos x="935" y="2132"/>
                </a:cxn>
                <a:cxn ang="0">
                  <a:pos x="1214" y="2132"/>
                </a:cxn>
                <a:cxn ang="0">
                  <a:pos x="1232" y="2369"/>
                </a:cxn>
                <a:cxn ang="0">
                  <a:pos x="1402" y="2385"/>
                </a:cxn>
                <a:cxn ang="0">
                  <a:pos x="1678" y="2385"/>
                </a:cxn>
                <a:cxn ang="0">
                  <a:pos x="1844" y="2378"/>
                </a:cxn>
                <a:cxn ang="0">
                  <a:pos x="1884" y="1157"/>
                </a:cxn>
                <a:cxn ang="0">
                  <a:pos x="2071" y="1164"/>
                </a:cxn>
                <a:cxn ang="0">
                  <a:pos x="2346" y="1164"/>
                </a:cxn>
                <a:cxn ang="0">
                  <a:pos x="2480" y="1150"/>
                </a:cxn>
                <a:cxn ang="0">
                  <a:pos x="2516" y="32"/>
                </a:cxn>
                <a:cxn ang="0">
                  <a:pos x="2737" y="45"/>
                </a:cxn>
                <a:cxn ang="0">
                  <a:pos x="3004" y="45"/>
                </a:cxn>
                <a:cxn ang="0">
                  <a:pos x="3072" y="23"/>
                </a:cxn>
                <a:cxn ang="0">
                  <a:pos x="3205" y="552"/>
                </a:cxn>
                <a:cxn ang="0">
                  <a:pos x="3484" y="552"/>
                </a:cxn>
                <a:cxn ang="0">
                  <a:pos x="3710" y="530"/>
                </a:cxn>
                <a:cxn ang="0">
                  <a:pos x="3732" y="829"/>
                </a:cxn>
                <a:cxn ang="0">
                  <a:pos x="3951" y="838"/>
                </a:cxn>
                <a:cxn ang="0">
                  <a:pos x="4215" y="838"/>
                </a:cxn>
                <a:cxn ang="0">
                  <a:pos x="4359" y="822"/>
                </a:cxn>
                <a:cxn ang="0">
                  <a:pos x="4395" y="496"/>
                </a:cxn>
                <a:cxn ang="0">
                  <a:pos x="4606" y="512"/>
                </a:cxn>
                <a:cxn ang="0">
                  <a:pos x="4883" y="512"/>
                </a:cxn>
                <a:cxn ang="0">
                  <a:pos x="4806" y="467"/>
                </a:cxn>
                <a:cxn ang="0">
                  <a:pos x="4531" y="467"/>
                </a:cxn>
                <a:cxn ang="0">
                  <a:pos x="4359" y="478"/>
                </a:cxn>
                <a:cxn ang="0">
                  <a:pos x="4322" y="804"/>
                </a:cxn>
                <a:cxn ang="0">
                  <a:pos x="4177" y="793"/>
                </a:cxn>
                <a:cxn ang="0">
                  <a:pos x="3910" y="793"/>
                </a:cxn>
                <a:cxn ang="0">
                  <a:pos x="3756" y="793"/>
                </a:cxn>
                <a:cxn ang="0">
                  <a:pos x="3710" y="507"/>
                </a:cxn>
                <a:cxn ang="0">
                  <a:pos x="3433" y="507"/>
                </a:cxn>
                <a:cxn ang="0">
                  <a:pos x="3167" y="507"/>
                </a:cxn>
                <a:cxn ang="0">
                  <a:pos x="3115" y="21"/>
                </a:cxn>
                <a:cxn ang="0">
                  <a:pos x="2967" y="0"/>
                </a:cxn>
                <a:cxn ang="0">
                  <a:pos x="2700" y="0"/>
                </a:cxn>
                <a:cxn ang="0">
                  <a:pos x="2482" y="5"/>
                </a:cxn>
                <a:cxn ang="0">
                  <a:pos x="2443" y="1132"/>
                </a:cxn>
                <a:cxn ang="0">
                  <a:pos x="2310" y="1119"/>
                </a:cxn>
                <a:cxn ang="0">
                  <a:pos x="2031" y="1119"/>
                </a:cxn>
                <a:cxn ang="0">
                  <a:pos x="1850" y="1132"/>
                </a:cxn>
                <a:cxn ang="0">
                  <a:pos x="1810" y="2360"/>
                </a:cxn>
                <a:cxn ang="0">
                  <a:pos x="1640" y="2340"/>
                </a:cxn>
                <a:cxn ang="0">
                  <a:pos x="1365" y="2340"/>
                </a:cxn>
                <a:cxn ang="0">
                  <a:pos x="1249" y="2360"/>
                </a:cxn>
                <a:cxn ang="0">
                  <a:pos x="1173" y="2086"/>
                </a:cxn>
                <a:cxn ang="0">
                  <a:pos x="897" y="2086"/>
                </a:cxn>
                <a:cxn ang="0">
                  <a:pos x="618" y="2086"/>
                </a:cxn>
                <a:cxn ang="0">
                  <a:pos x="600" y="1010"/>
                </a:cxn>
                <a:cxn ang="0">
                  <a:pos x="430" y="1000"/>
                </a:cxn>
                <a:cxn ang="0">
                  <a:pos x="153" y="1000"/>
                </a:cxn>
              </a:cxnLst>
              <a:rect l="0" t="0" r="r" b="b"/>
              <a:pathLst>
                <a:path w="4956" h="2385">
                  <a:moveTo>
                    <a:pt x="0" y="1000"/>
                  </a:moveTo>
                  <a:lnTo>
                    <a:pt x="0" y="1045"/>
                  </a:lnTo>
                  <a:lnTo>
                    <a:pt x="39" y="1045"/>
                  </a:lnTo>
                  <a:lnTo>
                    <a:pt x="76" y="1045"/>
                  </a:lnTo>
                  <a:lnTo>
                    <a:pt x="113" y="1045"/>
                  </a:lnTo>
                  <a:lnTo>
                    <a:pt x="153" y="1045"/>
                  </a:lnTo>
                  <a:lnTo>
                    <a:pt x="192" y="1045"/>
                  </a:lnTo>
                  <a:lnTo>
                    <a:pt x="229" y="1045"/>
                  </a:lnTo>
                  <a:lnTo>
                    <a:pt x="266" y="1045"/>
                  </a:lnTo>
                  <a:lnTo>
                    <a:pt x="304" y="1045"/>
                  </a:lnTo>
                  <a:lnTo>
                    <a:pt x="355" y="1045"/>
                  </a:lnTo>
                  <a:lnTo>
                    <a:pt x="391" y="1045"/>
                  </a:lnTo>
                  <a:lnTo>
                    <a:pt x="430" y="1045"/>
                  </a:lnTo>
                  <a:lnTo>
                    <a:pt x="467" y="1045"/>
                  </a:lnTo>
                  <a:lnTo>
                    <a:pt x="506" y="1045"/>
                  </a:lnTo>
                  <a:lnTo>
                    <a:pt x="544" y="1045"/>
                  </a:lnTo>
                  <a:lnTo>
                    <a:pt x="581" y="1045"/>
                  </a:lnTo>
                  <a:lnTo>
                    <a:pt x="581" y="1019"/>
                  </a:lnTo>
                  <a:lnTo>
                    <a:pt x="561" y="1029"/>
                  </a:lnTo>
                  <a:lnTo>
                    <a:pt x="566" y="1038"/>
                  </a:lnTo>
                  <a:lnTo>
                    <a:pt x="573" y="1039"/>
                  </a:lnTo>
                  <a:lnTo>
                    <a:pt x="561" y="1021"/>
                  </a:lnTo>
                  <a:lnTo>
                    <a:pt x="598" y="2108"/>
                  </a:lnTo>
                  <a:lnTo>
                    <a:pt x="600" y="2115"/>
                  </a:lnTo>
                  <a:lnTo>
                    <a:pt x="603" y="2124"/>
                  </a:lnTo>
                  <a:lnTo>
                    <a:pt x="610" y="2126"/>
                  </a:lnTo>
                  <a:lnTo>
                    <a:pt x="618" y="2132"/>
                  </a:lnTo>
                  <a:lnTo>
                    <a:pt x="654" y="2132"/>
                  </a:lnTo>
                  <a:lnTo>
                    <a:pt x="695" y="2132"/>
                  </a:lnTo>
                  <a:lnTo>
                    <a:pt x="746" y="2132"/>
                  </a:lnTo>
                  <a:lnTo>
                    <a:pt x="782" y="2132"/>
                  </a:lnTo>
                  <a:lnTo>
                    <a:pt x="821" y="2132"/>
                  </a:lnTo>
                  <a:lnTo>
                    <a:pt x="858" y="2132"/>
                  </a:lnTo>
                  <a:lnTo>
                    <a:pt x="897" y="2132"/>
                  </a:lnTo>
                  <a:lnTo>
                    <a:pt x="935" y="2132"/>
                  </a:lnTo>
                  <a:lnTo>
                    <a:pt x="972" y="2132"/>
                  </a:lnTo>
                  <a:lnTo>
                    <a:pt x="1010" y="2132"/>
                  </a:lnTo>
                  <a:lnTo>
                    <a:pt x="1049" y="2132"/>
                  </a:lnTo>
                  <a:lnTo>
                    <a:pt x="1086" y="2132"/>
                  </a:lnTo>
                  <a:lnTo>
                    <a:pt x="1137" y="2132"/>
                  </a:lnTo>
                  <a:lnTo>
                    <a:pt x="1173" y="2132"/>
                  </a:lnTo>
                  <a:lnTo>
                    <a:pt x="1214" y="2132"/>
                  </a:lnTo>
                  <a:lnTo>
                    <a:pt x="1214" y="2106"/>
                  </a:lnTo>
                  <a:lnTo>
                    <a:pt x="1195" y="2115"/>
                  </a:lnTo>
                  <a:lnTo>
                    <a:pt x="1198" y="2124"/>
                  </a:lnTo>
                  <a:lnTo>
                    <a:pt x="1205" y="2126"/>
                  </a:lnTo>
                  <a:lnTo>
                    <a:pt x="1193" y="2112"/>
                  </a:lnTo>
                  <a:lnTo>
                    <a:pt x="1231" y="2365"/>
                  </a:lnTo>
                  <a:lnTo>
                    <a:pt x="1232" y="2369"/>
                  </a:lnTo>
                  <a:lnTo>
                    <a:pt x="1236" y="2378"/>
                  </a:lnTo>
                  <a:lnTo>
                    <a:pt x="1241" y="2380"/>
                  </a:lnTo>
                  <a:lnTo>
                    <a:pt x="1249" y="2385"/>
                  </a:lnTo>
                  <a:lnTo>
                    <a:pt x="1288" y="2385"/>
                  </a:lnTo>
                  <a:lnTo>
                    <a:pt x="1326" y="2385"/>
                  </a:lnTo>
                  <a:lnTo>
                    <a:pt x="1365" y="2385"/>
                  </a:lnTo>
                  <a:lnTo>
                    <a:pt x="1402" y="2385"/>
                  </a:lnTo>
                  <a:lnTo>
                    <a:pt x="1440" y="2385"/>
                  </a:lnTo>
                  <a:lnTo>
                    <a:pt x="1477" y="2385"/>
                  </a:lnTo>
                  <a:lnTo>
                    <a:pt x="1526" y="2385"/>
                  </a:lnTo>
                  <a:lnTo>
                    <a:pt x="1564" y="2385"/>
                  </a:lnTo>
                  <a:lnTo>
                    <a:pt x="1603" y="2385"/>
                  </a:lnTo>
                  <a:lnTo>
                    <a:pt x="1640" y="2385"/>
                  </a:lnTo>
                  <a:lnTo>
                    <a:pt x="1678" y="2385"/>
                  </a:lnTo>
                  <a:lnTo>
                    <a:pt x="1717" y="2385"/>
                  </a:lnTo>
                  <a:lnTo>
                    <a:pt x="1754" y="2385"/>
                  </a:lnTo>
                  <a:lnTo>
                    <a:pt x="1792" y="2385"/>
                  </a:lnTo>
                  <a:lnTo>
                    <a:pt x="1831" y="2385"/>
                  </a:lnTo>
                  <a:lnTo>
                    <a:pt x="1831" y="2383"/>
                  </a:lnTo>
                  <a:lnTo>
                    <a:pt x="1839" y="2380"/>
                  </a:lnTo>
                  <a:lnTo>
                    <a:pt x="1844" y="2378"/>
                  </a:lnTo>
                  <a:lnTo>
                    <a:pt x="1850" y="2369"/>
                  </a:lnTo>
                  <a:lnTo>
                    <a:pt x="1853" y="2362"/>
                  </a:lnTo>
                  <a:lnTo>
                    <a:pt x="1890" y="1144"/>
                  </a:lnTo>
                  <a:lnTo>
                    <a:pt x="1868" y="1141"/>
                  </a:lnTo>
                  <a:lnTo>
                    <a:pt x="1868" y="1164"/>
                  </a:lnTo>
                  <a:lnTo>
                    <a:pt x="1877" y="1163"/>
                  </a:lnTo>
                  <a:lnTo>
                    <a:pt x="1884" y="1157"/>
                  </a:lnTo>
                  <a:lnTo>
                    <a:pt x="1887" y="1150"/>
                  </a:lnTo>
                  <a:lnTo>
                    <a:pt x="1868" y="1164"/>
                  </a:lnTo>
                  <a:lnTo>
                    <a:pt x="1919" y="1164"/>
                  </a:lnTo>
                  <a:lnTo>
                    <a:pt x="1955" y="1164"/>
                  </a:lnTo>
                  <a:lnTo>
                    <a:pt x="1994" y="1164"/>
                  </a:lnTo>
                  <a:lnTo>
                    <a:pt x="2031" y="1164"/>
                  </a:lnTo>
                  <a:lnTo>
                    <a:pt x="2071" y="1164"/>
                  </a:lnTo>
                  <a:lnTo>
                    <a:pt x="2108" y="1164"/>
                  </a:lnTo>
                  <a:lnTo>
                    <a:pt x="2145" y="1164"/>
                  </a:lnTo>
                  <a:lnTo>
                    <a:pt x="2183" y="1164"/>
                  </a:lnTo>
                  <a:lnTo>
                    <a:pt x="2218" y="1164"/>
                  </a:lnTo>
                  <a:lnTo>
                    <a:pt x="2259" y="1164"/>
                  </a:lnTo>
                  <a:lnTo>
                    <a:pt x="2310" y="1164"/>
                  </a:lnTo>
                  <a:lnTo>
                    <a:pt x="2346" y="1164"/>
                  </a:lnTo>
                  <a:lnTo>
                    <a:pt x="2385" y="1164"/>
                  </a:lnTo>
                  <a:lnTo>
                    <a:pt x="2423" y="1164"/>
                  </a:lnTo>
                  <a:lnTo>
                    <a:pt x="2462" y="1164"/>
                  </a:lnTo>
                  <a:lnTo>
                    <a:pt x="2462" y="1164"/>
                  </a:lnTo>
                  <a:lnTo>
                    <a:pt x="2470" y="1163"/>
                  </a:lnTo>
                  <a:lnTo>
                    <a:pt x="2477" y="1157"/>
                  </a:lnTo>
                  <a:lnTo>
                    <a:pt x="2480" y="1150"/>
                  </a:lnTo>
                  <a:lnTo>
                    <a:pt x="2482" y="1144"/>
                  </a:lnTo>
                  <a:lnTo>
                    <a:pt x="2521" y="23"/>
                  </a:lnTo>
                  <a:lnTo>
                    <a:pt x="2499" y="23"/>
                  </a:lnTo>
                  <a:lnTo>
                    <a:pt x="2499" y="43"/>
                  </a:lnTo>
                  <a:lnTo>
                    <a:pt x="2508" y="41"/>
                  </a:lnTo>
                  <a:lnTo>
                    <a:pt x="2514" y="40"/>
                  </a:lnTo>
                  <a:lnTo>
                    <a:pt x="2516" y="32"/>
                  </a:lnTo>
                  <a:lnTo>
                    <a:pt x="2499" y="45"/>
                  </a:lnTo>
                  <a:lnTo>
                    <a:pt x="2536" y="45"/>
                  </a:lnTo>
                  <a:lnTo>
                    <a:pt x="2576" y="45"/>
                  </a:lnTo>
                  <a:lnTo>
                    <a:pt x="2613" y="45"/>
                  </a:lnTo>
                  <a:lnTo>
                    <a:pt x="2650" y="45"/>
                  </a:lnTo>
                  <a:lnTo>
                    <a:pt x="2700" y="45"/>
                  </a:lnTo>
                  <a:lnTo>
                    <a:pt x="2737" y="45"/>
                  </a:lnTo>
                  <a:lnTo>
                    <a:pt x="2776" y="45"/>
                  </a:lnTo>
                  <a:lnTo>
                    <a:pt x="2814" y="45"/>
                  </a:lnTo>
                  <a:lnTo>
                    <a:pt x="2853" y="45"/>
                  </a:lnTo>
                  <a:lnTo>
                    <a:pt x="2890" y="45"/>
                  </a:lnTo>
                  <a:lnTo>
                    <a:pt x="2929" y="45"/>
                  </a:lnTo>
                  <a:lnTo>
                    <a:pt x="2967" y="45"/>
                  </a:lnTo>
                  <a:lnTo>
                    <a:pt x="3004" y="45"/>
                  </a:lnTo>
                  <a:lnTo>
                    <a:pt x="3041" y="45"/>
                  </a:lnTo>
                  <a:lnTo>
                    <a:pt x="3092" y="45"/>
                  </a:lnTo>
                  <a:lnTo>
                    <a:pt x="3092" y="23"/>
                  </a:lnTo>
                  <a:lnTo>
                    <a:pt x="3074" y="32"/>
                  </a:lnTo>
                  <a:lnTo>
                    <a:pt x="3077" y="40"/>
                  </a:lnTo>
                  <a:lnTo>
                    <a:pt x="3084" y="41"/>
                  </a:lnTo>
                  <a:lnTo>
                    <a:pt x="3072" y="23"/>
                  </a:lnTo>
                  <a:lnTo>
                    <a:pt x="3109" y="530"/>
                  </a:lnTo>
                  <a:lnTo>
                    <a:pt x="3111" y="539"/>
                  </a:lnTo>
                  <a:lnTo>
                    <a:pt x="3115" y="547"/>
                  </a:lnTo>
                  <a:lnTo>
                    <a:pt x="3120" y="549"/>
                  </a:lnTo>
                  <a:lnTo>
                    <a:pt x="3128" y="552"/>
                  </a:lnTo>
                  <a:lnTo>
                    <a:pt x="3167" y="552"/>
                  </a:lnTo>
                  <a:lnTo>
                    <a:pt x="3205" y="552"/>
                  </a:lnTo>
                  <a:lnTo>
                    <a:pt x="3242" y="552"/>
                  </a:lnTo>
                  <a:lnTo>
                    <a:pt x="3281" y="552"/>
                  </a:lnTo>
                  <a:lnTo>
                    <a:pt x="3319" y="552"/>
                  </a:lnTo>
                  <a:lnTo>
                    <a:pt x="3356" y="552"/>
                  </a:lnTo>
                  <a:lnTo>
                    <a:pt x="3392" y="552"/>
                  </a:lnTo>
                  <a:lnTo>
                    <a:pt x="3433" y="552"/>
                  </a:lnTo>
                  <a:lnTo>
                    <a:pt x="3484" y="552"/>
                  </a:lnTo>
                  <a:lnTo>
                    <a:pt x="3519" y="552"/>
                  </a:lnTo>
                  <a:lnTo>
                    <a:pt x="3558" y="552"/>
                  </a:lnTo>
                  <a:lnTo>
                    <a:pt x="3596" y="552"/>
                  </a:lnTo>
                  <a:lnTo>
                    <a:pt x="3635" y="552"/>
                  </a:lnTo>
                  <a:lnTo>
                    <a:pt x="3672" y="552"/>
                  </a:lnTo>
                  <a:lnTo>
                    <a:pt x="3710" y="552"/>
                  </a:lnTo>
                  <a:lnTo>
                    <a:pt x="3710" y="530"/>
                  </a:lnTo>
                  <a:lnTo>
                    <a:pt x="3689" y="539"/>
                  </a:lnTo>
                  <a:lnTo>
                    <a:pt x="3694" y="547"/>
                  </a:lnTo>
                  <a:lnTo>
                    <a:pt x="3701" y="549"/>
                  </a:lnTo>
                  <a:lnTo>
                    <a:pt x="3689" y="532"/>
                  </a:lnTo>
                  <a:lnTo>
                    <a:pt x="3727" y="818"/>
                  </a:lnTo>
                  <a:lnTo>
                    <a:pt x="3728" y="822"/>
                  </a:lnTo>
                  <a:lnTo>
                    <a:pt x="3732" y="829"/>
                  </a:lnTo>
                  <a:lnTo>
                    <a:pt x="3739" y="833"/>
                  </a:lnTo>
                  <a:lnTo>
                    <a:pt x="3747" y="838"/>
                  </a:lnTo>
                  <a:lnTo>
                    <a:pt x="3786" y="838"/>
                  </a:lnTo>
                  <a:lnTo>
                    <a:pt x="3824" y="838"/>
                  </a:lnTo>
                  <a:lnTo>
                    <a:pt x="3875" y="838"/>
                  </a:lnTo>
                  <a:lnTo>
                    <a:pt x="3910" y="838"/>
                  </a:lnTo>
                  <a:lnTo>
                    <a:pt x="3951" y="838"/>
                  </a:lnTo>
                  <a:lnTo>
                    <a:pt x="3987" y="838"/>
                  </a:lnTo>
                  <a:lnTo>
                    <a:pt x="4026" y="838"/>
                  </a:lnTo>
                  <a:lnTo>
                    <a:pt x="4063" y="838"/>
                  </a:lnTo>
                  <a:lnTo>
                    <a:pt x="4101" y="838"/>
                  </a:lnTo>
                  <a:lnTo>
                    <a:pt x="4140" y="838"/>
                  </a:lnTo>
                  <a:lnTo>
                    <a:pt x="4177" y="838"/>
                  </a:lnTo>
                  <a:lnTo>
                    <a:pt x="4215" y="838"/>
                  </a:lnTo>
                  <a:lnTo>
                    <a:pt x="4264" y="838"/>
                  </a:lnTo>
                  <a:lnTo>
                    <a:pt x="4301" y="838"/>
                  </a:lnTo>
                  <a:lnTo>
                    <a:pt x="4341" y="838"/>
                  </a:lnTo>
                  <a:lnTo>
                    <a:pt x="4341" y="837"/>
                  </a:lnTo>
                  <a:lnTo>
                    <a:pt x="4349" y="833"/>
                  </a:lnTo>
                  <a:lnTo>
                    <a:pt x="4356" y="829"/>
                  </a:lnTo>
                  <a:lnTo>
                    <a:pt x="4359" y="822"/>
                  </a:lnTo>
                  <a:lnTo>
                    <a:pt x="4361" y="818"/>
                  </a:lnTo>
                  <a:lnTo>
                    <a:pt x="4398" y="492"/>
                  </a:lnTo>
                  <a:lnTo>
                    <a:pt x="4378" y="487"/>
                  </a:lnTo>
                  <a:lnTo>
                    <a:pt x="4378" y="510"/>
                  </a:lnTo>
                  <a:lnTo>
                    <a:pt x="4386" y="507"/>
                  </a:lnTo>
                  <a:lnTo>
                    <a:pt x="4393" y="503"/>
                  </a:lnTo>
                  <a:lnTo>
                    <a:pt x="4395" y="496"/>
                  </a:lnTo>
                  <a:lnTo>
                    <a:pt x="4378" y="512"/>
                  </a:lnTo>
                  <a:lnTo>
                    <a:pt x="4415" y="512"/>
                  </a:lnTo>
                  <a:lnTo>
                    <a:pt x="4454" y="512"/>
                  </a:lnTo>
                  <a:lnTo>
                    <a:pt x="4492" y="512"/>
                  </a:lnTo>
                  <a:lnTo>
                    <a:pt x="4531" y="512"/>
                  </a:lnTo>
                  <a:lnTo>
                    <a:pt x="4568" y="512"/>
                  </a:lnTo>
                  <a:lnTo>
                    <a:pt x="4606" y="512"/>
                  </a:lnTo>
                  <a:lnTo>
                    <a:pt x="4657" y="512"/>
                  </a:lnTo>
                  <a:lnTo>
                    <a:pt x="4693" y="512"/>
                  </a:lnTo>
                  <a:lnTo>
                    <a:pt x="4732" y="512"/>
                  </a:lnTo>
                  <a:lnTo>
                    <a:pt x="4769" y="512"/>
                  </a:lnTo>
                  <a:lnTo>
                    <a:pt x="4806" y="512"/>
                  </a:lnTo>
                  <a:lnTo>
                    <a:pt x="4846" y="512"/>
                  </a:lnTo>
                  <a:lnTo>
                    <a:pt x="4883" y="512"/>
                  </a:lnTo>
                  <a:lnTo>
                    <a:pt x="4920" y="512"/>
                  </a:lnTo>
                  <a:lnTo>
                    <a:pt x="4956" y="512"/>
                  </a:lnTo>
                  <a:lnTo>
                    <a:pt x="4956" y="467"/>
                  </a:lnTo>
                  <a:lnTo>
                    <a:pt x="4920" y="467"/>
                  </a:lnTo>
                  <a:lnTo>
                    <a:pt x="4883" y="467"/>
                  </a:lnTo>
                  <a:lnTo>
                    <a:pt x="4846" y="467"/>
                  </a:lnTo>
                  <a:lnTo>
                    <a:pt x="4806" y="467"/>
                  </a:lnTo>
                  <a:lnTo>
                    <a:pt x="4769" y="467"/>
                  </a:lnTo>
                  <a:lnTo>
                    <a:pt x="4732" y="467"/>
                  </a:lnTo>
                  <a:lnTo>
                    <a:pt x="4693" y="467"/>
                  </a:lnTo>
                  <a:lnTo>
                    <a:pt x="4657" y="467"/>
                  </a:lnTo>
                  <a:lnTo>
                    <a:pt x="4606" y="467"/>
                  </a:lnTo>
                  <a:lnTo>
                    <a:pt x="4568" y="467"/>
                  </a:lnTo>
                  <a:lnTo>
                    <a:pt x="4531" y="467"/>
                  </a:lnTo>
                  <a:lnTo>
                    <a:pt x="4492" y="467"/>
                  </a:lnTo>
                  <a:lnTo>
                    <a:pt x="4454" y="467"/>
                  </a:lnTo>
                  <a:lnTo>
                    <a:pt x="4415" y="467"/>
                  </a:lnTo>
                  <a:lnTo>
                    <a:pt x="4378" y="467"/>
                  </a:lnTo>
                  <a:lnTo>
                    <a:pt x="4369" y="467"/>
                  </a:lnTo>
                  <a:lnTo>
                    <a:pt x="4361" y="471"/>
                  </a:lnTo>
                  <a:lnTo>
                    <a:pt x="4359" y="478"/>
                  </a:lnTo>
                  <a:lnTo>
                    <a:pt x="4358" y="487"/>
                  </a:lnTo>
                  <a:lnTo>
                    <a:pt x="4358" y="485"/>
                  </a:lnTo>
                  <a:lnTo>
                    <a:pt x="4318" y="811"/>
                  </a:lnTo>
                  <a:lnTo>
                    <a:pt x="4341" y="793"/>
                  </a:lnTo>
                  <a:lnTo>
                    <a:pt x="4332" y="793"/>
                  </a:lnTo>
                  <a:lnTo>
                    <a:pt x="4325" y="797"/>
                  </a:lnTo>
                  <a:lnTo>
                    <a:pt x="4322" y="804"/>
                  </a:lnTo>
                  <a:lnTo>
                    <a:pt x="4318" y="813"/>
                  </a:lnTo>
                  <a:lnTo>
                    <a:pt x="4341" y="813"/>
                  </a:lnTo>
                  <a:lnTo>
                    <a:pt x="4341" y="793"/>
                  </a:lnTo>
                  <a:lnTo>
                    <a:pt x="4301" y="793"/>
                  </a:lnTo>
                  <a:lnTo>
                    <a:pt x="4264" y="793"/>
                  </a:lnTo>
                  <a:lnTo>
                    <a:pt x="4215" y="793"/>
                  </a:lnTo>
                  <a:lnTo>
                    <a:pt x="4177" y="793"/>
                  </a:lnTo>
                  <a:lnTo>
                    <a:pt x="4140" y="793"/>
                  </a:lnTo>
                  <a:lnTo>
                    <a:pt x="4101" y="793"/>
                  </a:lnTo>
                  <a:lnTo>
                    <a:pt x="4063" y="793"/>
                  </a:lnTo>
                  <a:lnTo>
                    <a:pt x="4026" y="793"/>
                  </a:lnTo>
                  <a:lnTo>
                    <a:pt x="3987" y="793"/>
                  </a:lnTo>
                  <a:lnTo>
                    <a:pt x="3951" y="793"/>
                  </a:lnTo>
                  <a:lnTo>
                    <a:pt x="3910" y="793"/>
                  </a:lnTo>
                  <a:lnTo>
                    <a:pt x="3875" y="793"/>
                  </a:lnTo>
                  <a:lnTo>
                    <a:pt x="3824" y="793"/>
                  </a:lnTo>
                  <a:lnTo>
                    <a:pt x="3786" y="793"/>
                  </a:lnTo>
                  <a:lnTo>
                    <a:pt x="3747" y="793"/>
                  </a:lnTo>
                  <a:lnTo>
                    <a:pt x="3766" y="804"/>
                  </a:lnTo>
                  <a:lnTo>
                    <a:pt x="3762" y="797"/>
                  </a:lnTo>
                  <a:lnTo>
                    <a:pt x="3756" y="793"/>
                  </a:lnTo>
                  <a:lnTo>
                    <a:pt x="3747" y="813"/>
                  </a:lnTo>
                  <a:lnTo>
                    <a:pt x="3766" y="811"/>
                  </a:lnTo>
                  <a:lnTo>
                    <a:pt x="3730" y="529"/>
                  </a:lnTo>
                  <a:lnTo>
                    <a:pt x="3728" y="521"/>
                  </a:lnTo>
                  <a:lnTo>
                    <a:pt x="3723" y="512"/>
                  </a:lnTo>
                  <a:lnTo>
                    <a:pt x="3718" y="510"/>
                  </a:lnTo>
                  <a:lnTo>
                    <a:pt x="3710" y="507"/>
                  </a:lnTo>
                  <a:lnTo>
                    <a:pt x="3672" y="507"/>
                  </a:lnTo>
                  <a:lnTo>
                    <a:pt x="3635" y="507"/>
                  </a:lnTo>
                  <a:lnTo>
                    <a:pt x="3596" y="507"/>
                  </a:lnTo>
                  <a:lnTo>
                    <a:pt x="3558" y="507"/>
                  </a:lnTo>
                  <a:lnTo>
                    <a:pt x="3519" y="507"/>
                  </a:lnTo>
                  <a:lnTo>
                    <a:pt x="3484" y="507"/>
                  </a:lnTo>
                  <a:lnTo>
                    <a:pt x="3433" y="507"/>
                  </a:lnTo>
                  <a:lnTo>
                    <a:pt x="3392" y="507"/>
                  </a:lnTo>
                  <a:lnTo>
                    <a:pt x="3356" y="507"/>
                  </a:lnTo>
                  <a:lnTo>
                    <a:pt x="3319" y="507"/>
                  </a:lnTo>
                  <a:lnTo>
                    <a:pt x="3281" y="507"/>
                  </a:lnTo>
                  <a:lnTo>
                    <a:pt x="3242" y="507"/>
                  </a:lnTo>
                  <a:lnTo>
                    <a:pt x="3205" y="507"/>
                  </a:lnTo>
                  <a:lnTo>
                    <a:pt x="3167" y="507"/>
                  </a:lnTo>
                  <a:lnTo>
                    <a:pt x="3128" y="507"/>
                  </a:lnTo>
                  <a:lnTo>
                    <a:pt x="3149" y="521"/>
                  </a:lnTo>
                  <a:lnTo>
                    <a:pt x="3145" y="512"/>
                  </a:lnTo>
                  <a:lnTo>
                    <a:pt x="3137" y="510"/>
                  </a:lnTo>
                  <a:lnTo>
                    <a:pt x="3128" y="530"/>
                  </a:lnTo>
                  <a:lnTo>
                    <a:pt x="3152" y="529"/>
                  </a:lnTo>
                  <a:lnTo>
                    <a:pt x="3115" y="21"/>
                  </a:lnTo>
                  <a:lnTo>
                    <a:pt x="3111" y="14"/>
                  </a:lnTo>
                  <a:lnTo>
                    <a:pt x="3108" y="5"/>
                  </a:lnTo>
                  <a:lnTo>
                    <a:pt x="3101" y="3"/>
                  </a:lnTo>
                  <a:lnTo>
                    <a:pt x="3092" y="0"/>
                  </a:lnTo>
                  <a:lnTo>
                    <a:pt x="3041" y="0"/>
                  </a:lnTo>
                  <a:lnTo>
                    <a:pt x="3004" y="0"/>
                  </a:lnTo>
                  <a:lnTo>
                    <a:pt x="2967" y="0"/>
                  </a:lnTo>
                  <a:lnTo>
                    <a:pt x="2929" y="0"/>
                  </a:lnTo>
                  <a:lnTo>
                    <a:pt x="2890" y="0"/>
                  </a:lnTo>
                  <a:lnTo>
                    <a:pt x="2853" y="0"/>
                  </a:lnTo>
                  <a:lnTo>
                    <a:pt x="2814" y="0"/>
                  </a:lnTo>
                  <a:lnTo>
                    <a:pt x="2776" y="0"/>
                  </a:lnTo>
                  <a:lnTo>
                    <a:pt x="2737" y="0"/>
                  </a:lnTo>
                  <a:lnTo>
                    <a:pt x="2700" y="0"/>
                  </a:lnTo>
                  <a:lnTo>
                    <a:pt x="2650" y="0"/>
                  </a:lnTo>
                  <a:lnTo>
                    <a:pt x="2613" y="0"/>
                  </a:lnTo>
                  <a:lnTo>
                    <a:pt x="2576" y="0"/>
                  </a:lnTo>
                  <a:lnTo>
                    <a:pt x="2536" y="0"/>
                  </a:lnTo>
                  <a:lnTo>
                    <a:pt x="2499" y="0"/>
                  </a:lnTo>
                  <a:lnTo>
                    <a:pt x="2491" y="3"/>
                  </a:lnTo>
                  <a:lnTo>
                    <a:pt x="2482" y="5"/>
                  </a:lnTo>
                  <a:lnTo>
                    <a:pt x="2480" y="14"/>
                  </a:lnTo>
                  <a:lnTo>
                    <a:pt x="2479" y="23"/>
                  </a:lnTo>
                  <a:lnTo>
                    <a:pt x="2440" y="1141"/>
                  </a:lnTo>
                  <a:lnTo>
                    <a:pt x="2462" y="1119"/>
                  </a:lnTo>
                  <a:lnTo>
                    <a:pt x="2453" y="1121"/>
                  </a:lnTo>
                  <a:lnTo>
                    <a:pt x="2446" y="1126"/>
                  </a:lnTo>
                  <a:lnTo>
                    <a:pt x="2443" y="1132"/>
                  </a:lnTo>
                  <a:lnTo>
                    <a:pt x="2440" y="1141"/>
                  </a:lnTo>
                  <a:lnTo>
                    <a:pt x="2462" y="1141"/>
                  </a:lnTo>
                  <a:lnTo>
                    <a:pt x="2462" y="1119"/>
                  </a:lnTo>
                  <a:lnTo>
                    <a:pt x="2423" y="1119"/>
                  </a:lnTo>
                  <a:lnTo>
                    <a:pt x="2385" y="1119"/>
                  </a:lnTo>
                  <a:lnTo>
                    <a:pt x="2346" y="1119"/>
                  </a:lnTo>
                  <a:lnTo>
                    <a:pt x="2310" y="1119"/>
                  </a:lnTo>
                  <a:lnTo>
                    <a:pt x="2259" y="1119"/>
                  </a:lnTo>
                  <a:lnTo>
                    <a:pt x="2218" y="1119"/>
                  </a:lnTo>
                  <a:lnTo>
                    <a:pt x="2183" y="1119"/>
                  </a:lnTo>
                  <a:lnTo>
                    <a:pt x="2145" y="1119"/>
                  </a:lnTo>
                  <a:lnTo>
                    <a:pt x="2108" y="1119"/>
                  </a:lnTo>
                  <a:lnTo>
                    <a:pt x="2071" y="1119"/>
                  </a:lnTo>
                  <a:lnTo>
                    <a:pt x="2031" y="1119"/>
                  </a:lnTo>
                  <a:lnTo>
                    <a:pt x="1994" y="1119"/>
                  </a:lnTo>
                  <a:lnTo>
                    <a:pt x="1955" y="1119"/>
                  </a:lnTo>
                  <a:lnTo>
                    <a:pt x="1919" y="1119"/>
                  </a:lnTo>
                  <a:lnTo>
                    <a:pt x="1868" y="1119"/>
                  </a:lnTo>
                  <a:lnTo>
                    <a:pt x="1860" y="1121"/>
                  </a:lnTo>
                  <a:lnTo>
                    <a:pt x="1853" y="1126"/>
                  </a:lnTo>
                  <a:lnTo>
                    <a:pt x="1850" y="1132"/>
                  </a:lnTo>
                  <a:lnTo>
                    <a:pt x="1848" y="1141"/>
                  </a:lnTo>
                  <a:lnTo>
                    <a:pt x="1810" y="2360"/>
                  </a:lnTo>
                  <a:lnTo>
                    <a:pt x="1831" y="2340"/>
                  </a:lnTo>
                  <a:lnTo>
                    <a:pt x="1822" y="2342"/>
                  </a:lnTo>
                  <a:lnTo>
                    <a:pt x="1816" y="2344"/>
                  </a:lnTo>
                  <a:lnTo>
                    <a:pt x="1810" y="2351"/>
                  </a:lnTo>
                  <a:lnTo>
                    <a:pt x="1810" y="2360"/>
                  </a:lnTo>
                  <a:lnTo>
                    <a:pt x="1831" y="2360"/>
                  </a:lnTo>
                  <a:lnTo>
                    <a:pt x="1831" y="2340"/>
                  </a:lnTo>
                  <a:lnTo>
                    <a:pt x="1792" y="2340"/>
                  </a:lnTo>
                  <a:lnTo>
                    <a:pt x="1754" y="2340"/>
                  </a:lnTo>
                  <a:lnTo>
                    <a:pt x="1717" y="2340"/>
                  </a:lnTo>
                  <a:lnTo>
                    <a:pt x="1678" y="2340"/>
                  </a:lnTo>
                  <a:lnTo>
                    <a:pt x="1640" y="2340"/>
                  </a:lnTo>
                  <a:lnTo>
                    <a:pt x="1603" y="2340"/>
                  </a:lnTo>
                  <a:lnTo>
                    <a:pt x="1564" y="2340"/>
                  </a:lnTo>
                  <a:lnTo>
                    <a:pt x="1526" y="2340"/>
                  </a:lnTo>
                  <a:lnTo>
                    <a:pt x="1477" y="2340"/>
                  </a:lnTo>
                  <a:lnTo>
                    <a:pt x="1440" y="2340"/>
                  </a:lnTo>
                  <a:lnTo>
                    <a:pt x="1402" y="2340"/>
                  </a:lnTo>
                  <a:lnTo>
                    <a:pt x="1365" y="2340"/>
                  </a:lnTo>
                  <a:lnTo>
                    <a:pt x="1326" y="2340"/>
                  </a:lnTo>
                  <a:lnTo>
                    <a:pt x="1288" y="2340"/>
                  </a:lnTo>
                  <a:lnTo>
                    <a:pt x="1249" y="2340"/>
                  </a:lnTo>
                  <a:lnTo>
                    <a:pt x="1270" y="2351"/>
                  </a:lnTo>
                  <a:lnTo>
                    <a:pt x="1266" y="2344"/>
                  </a:lnTo>
                  <a:lnTo>
                    <a:pt x="1258" y="2342"/>
                  </a:lnTo>
                  <a:lnTo>
                    <a:pt x="1249" y="2360"/>
                  </a:lnTo>
                  <a:lnTo>
                    <a:pt x="1271" y="2358"/>
                  </a:lnTo>
                  <a:lnTo>
                    <a:pt x="1232" y="2104"/>
                  </a:lnTo>
                  <a:lnTo>
                    <a:pt x="1232" y="2097"/>
                  </a:lnTo>
                  <a:lnTo>
                    <a:pt x="1229" y="2090"/>
                  </a:lnTo>
                  <a:lnTo>
                    <a:pt x="1222" y="2088"/>
                  </a:lnTo>
                  <a:lnTo>
                    <a:pt x="1214" y="2086"/>
                  </a:lnTo>
                  <a:lnTo>
                    <a:pt x="1173" y="2086"/>
                  </a:lnTo>
                  <a:lnTo>
                    <a:pt x="1137" y="2086"/>
                  </a:lnTo>
                  <a:lnTo>
                    <a:pt x="1086" y="2086"/>
                  </a:lnTo>
                  <a:lnTo>
                    <a:pt x="1049" y="2086"/>
                  </a:lnTo>
                  <a:lnTo>
                    <a:pt x="1010" y="2086"/>
                  </a:lnTo>
                  <a:lnTo>
                    <a:pt x="972" y="2086"/>
                  </a:lnTo>
                  <a:lnTo>
                    <a:pt x="935" y="2086"/>
                  </a:lnTo>
                  <a:lnTo>
                    <a:pt x="897" y="2086"/>
                  </a:lnTo>
                  <a:lnTo>
                    <a:pt x="858" y="2086"/>
                  </a:lnTo>
                  <a:lnTo>
                    <a:pt x="821" y="2086"/>
                  </a:lnTo>
                  <a:lnTo>
                    <a:pt x="782" y="2086"/>
                  </a:lnTo>
                  <a:lnTo>
                    <a:pt x="746" y="2086"/>
                  </a:lnTo>
                  <a:lnTo>
                    <a:pt x="695" y="2086"/>
                  </a:lnTo>
                  <a:lnTo>
                    <a:pt x="654" y="2086"/>
                  </a:lnTo>
                  <a:lnTo>
                    <a:pt x="618" y="2086"/>
                  </a:lnTo>
                  <a:lnTo>
                    <a:pt x="637" y="2097"/>
                  </a:lnTo>
                  <a:lnTo>
                    <a:pt x="634" y="2090"/>
                  </a:lnTo>
                  <a:lnTo>
                    <a:pt x="627" y="2088"/>
                  </a:lnTo>
                  <a:lnTo>
                    <a:pt x="618" y="2106"/>
                  </a:lnTo>
                  <a:lnTo>
                    <a:pt x="641" y="2106"/>
                  </a:lnTo>
                  <a:lnTo>
                    <a:pt x="603" y="1019"/>
                  </a:lnTo>
                  <a:lnTo>
                    <a:pt x="600" y="1010"/>
                  </a:lnTo>
                  <a:lnTo>
                    <a:pt x="595" y="1003"/>
                  </a:lnTo>
                  <a:lnTo>
                    <a:pt x="590" y="1001"/>
                  </a:lnTo>
                  <a:lnTo>
                    <a:pt x="581" y="1000"/>
                  </a:lnTo>
                  <a:lnTo>
                    <a:pt x="544" y="1000"/>
                  </a:lnTo>
                  <a:lnTo>
                    <a:pt x="506" y="1000"/>
                  </a:lnTo>
                  <a:lnTo>
                    <a:pt x="467" y="1000"/>
                  </a:lnTo>
                  <a:lnTo>
                    <a:pt x="430" y="1000"/>
                  </a:lnTo>
                  <a:lnTo>
                    <a:pt x="391" y="1000"/>
                  </a:lnTo>
                  <a:lnTo>
                    <a:pt x="355" y="1000"/>
                  </a:lnTo>
                  <a:lnTo>
                    <a:pt x="304" y="1000"/>
                  </a:lnTo>
                  <a:lnTo>
                    <a:pt x="266" y="1000"/>
                  </a:lnTo>
                  <a:lnTo>
                    <a:pt x="229" y="1000"/>
                  </a:lnTo>
                  <a:lnTo>
                    <a:pt x="192" y="1000"/>
                  </a:lnTo>
                  <a:lnTo>
                    <a:pt x="153" y="1000"/>
                  </a:lnTo>
                  <a:lnTo>
                    <a:pt x="113" y="1000"/>
                  </a:lnTo>
                  <a:lnTo>
                    <a:pt x="76" y="1000"/>
                  </a:lnTo>
                  <a:lnTo>
                    <a:pt x="39" y="1000"/>
                  </a:lnTo>
                  <a:lnTo>
                    <a:pt x="0" y="1000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Line 183"/>
            <p:cNvSpPr>
              <a:spLocks noChangeShapeType="1"/>
            </p:cNvSpPr>
            <p:nvPr/>
          </p:nvSpPr>
          <p:spPr bwMode="auto">
            <a:xfrm>
              <a:off x="1757" y="3873"/>
              <a:ext cx="2738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Line 184"/>
            <p:cNvSpPr>
              <a:spLocks noChangeShapeType="1"/>
            </p:cNvSpPr>
            <p:nvPr/>
          </p:nvSpPr>
          <p:spPr bwMode="auto">
            <a:xfrm>
              <a:off x="1757" y="3873"/>
              <a:ext cx="2738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Rectangle 185"/>
            <p:cNvSpPr>
              <a:spLocks noChangeArrowheads="1"/>
            </p:cNvSpPr>
            <p:nvPr/>
          </p:nvSpPr>
          <p:spPr bwMode="auto">
            <a:xfrm>
              <a:off x="1738" y="3904"/>
              <a:ext cx="86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186"/>
            <p:cNvSpPr>
              <a:spLocks noChangeShapeType="1"/>
            </p:cNvSpPr>
            <p:nvPr/>
          </p:nvSpPr>
          <p:spPr bwMode="auto">
            <a:xfrm flipV="1">
              <a:off x="2148" y="3853"/>
              <a:ext cx="1" cy="20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Rectangle 187"/>
            <p:cNvSpPr>
              <a:spLocks noChangeArrowheads="1"/>
            </p:cNvSpPr>
            <p:nvPr/>
          </p:nvSpPr>
          <p:spPr bwMode="auto">
            <a:xfrm>
              <a:off x="2103" y="3904"/>
              <a:ext cx="133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Rectangle 188"/>
            <p:cNvSpPr>
              <a:spLocks noChangeArrowheads="1"/>
            </p:cNvSpPr>
            <p:nvPr/>
          </p:nvSpPr>
          <p:spPr bwMode="auto">
            <a:xfrm>
              <a:off x="1822" y="3936"/>
              <a:ext cx="395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1100" i="0">
                  <a:solidFill>
                    <a:srgbClr val="000000"/>
                  </a:solidFill>
                  <a:latin typeface="Helvetica" pitchFamily="34" charset="0"/>
                </a:rPr>
                <a:t>20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115" name="Line 189"/>
            <p:cNvSpPr>
              <a:spLocks noChangeShapeType="1"/>
            </p:cNvSpPr>
            <p:nvPr/>
          </p:nvSpPr>
          <p:spPr bwMode="auto">
            <a:xfrm flipV="1">
              <a:off x="2539" y="3853"/>
              <a:ext cx="1" cy="20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Rectangle 190"/>
            <p:cNvSpPr>
              <a:spLocks noChangeArrowheads="1"/>
            </p:cNvSpPr>
            <p:nvPr/>
          </p:nvSpPr>
          <p:spPr bwMode="auto">
            <a:xfrm>
              <a:off x="2495" y="3904"/>
              <a:ext cx="134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Rectangle 191"/>
            <p:cNvSpPr>
              <a:spLocks noChangeArrowheads="1"/>
            </p:cNvSpPr>
            <p:nvPr/>
          </p:nvSpPr>
          <p:spPr bwMode="auto">
            <a:xfrm>
              <a:off x="2206" y="3926"/>
              <a:ext cx="394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1100" i="0">
                  <a:solidFill>
                    <a:srgbClr val="000000"/>
                  </a:solidFill>
                  <a:latin typeface="Helvetica" pitchFamily="34" charset="0"/>
                </a:rPr>
                <a:t>40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118" name="Line 192"/>
            <p:cNvSpPr>
              <a:spLocks noChangeShapeType="1"/>
            </p:cNvSpPr>
            <p:nvPr/>
          </p:nvSpPr>
          <p:spPr bwMode="auto">
            <a:xfrm flipV="1">
              <a:off x="2931" y="3853"/>
              <a:ext cx="1" cy="20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Rectangle 193"/>
            <p:cNvSpPr>
              <a:spLocks noChangeArrowheads="1"/>
            </p:cNvSpPr>
            <p:nvPr/>
          </p:nvSpPr>
          <p:spPr bwMode="auto">
            <a:xfrm>
              <a:off x="2886" y="3904"/>
              <a:ext cx="132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Rectangle 194"/>
            <p:cNvSpPr>
              <a:spLocks noChangeArrowheads="1"/>
            </p:cNvSpPr>
            <p:nvPr/>
          </p:nvSpPr>
          <p:spPr bwMode="auto">
            <a:xfrm>
              <a:off x="2592" y="3926"/>
              <a:ext cx="394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1100" i="0">
                  <a:solidFill>
                    <a:srgbClr val="000000"/>
                  </a:solidFill>
                  <a:latin typeface="Helvetica" pitchFamily="34" charset="0"/>
                </a:rPr>
                <a:t>60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121" name="Line 195"/>
            <p:cNvSpPr>
              <a:spLocks noChangeShapeType="1"/>
            </p:cNvSpPr>
            <p:nvPr/>
          </p:nvSpPr>
          <p:spPr bwMode="auto">
            <a:xfrm flipV="1">
              <a:off x="3322" y="3853"/>
              <a:ext cx="1" cy="20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Rectangle 196"/>
            <p:cNvSpPr>
              <a:spLocks noChangeArrowheads="1"/>
            </p:cNvSpPr>
            <p:nvPr/>
          </p:nvSpPr>
          <p:spPr bwMode="auto">
            <a:xfrm>
              <a:off x="3278" y="3904"/>
              <a:ext cx="133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Rectangle 197"/>
            <p:cNvSpPr>
              <a:spLocks noChangeArrowheads="1"/>
            </p:cNvSpPr>
            <p:nvPr/>
          </p:nvSpPr>
          <p:spPr bwMode="auto">
            <a:xfrm>
              <a:off x="2976" y="3926"/>
              <a:ext cx="394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1100" i="0">
                  <a:solidFill>
                    <a:srgbClr val="000000"/>
                  </a:solidFill>
                  <a:latin typeface="Helvetica" pitchFamily="34" charset="0"/>
                </a:rPr>
                <a:t>80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124" name="Line 198"/>
            <p:cNvSpPr>
              <a:spLocks noChangeShapeType="1"/>
            </p:cNvSpPr>
            <p:nvPr/>
          </p:nvSpPr>
          <p:spPr bwMode="auto">
            <a:xfrm flipV="1">
              <a:off x="3713" y="3853"/>
              <a:ext cx="1" cy="20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Rectangle 199"/>
            <p:cNvSpPr>
              <a:spLocks noChangeArrowheads="1"/>
            </p:cNvSpPr>
            <p:nvPr/>
          </p:nvSpPr>
          <p:spPr bwMode="auto">
            <a:xfrm>
              <a:off x="3649" y="3904"/>
              <a:ext cx="181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Rectangle 200"/>
            <p:cNvSpPr>
              <a:spLocks noChangeArrowheads="1"/>
            </p:cNvSpPr>
            <p:nvPr/>
          </p:nvSpPr>
          <p:spPr bwMode="auto">
            <a:xfrm>
              <a:off x="3360" y="3926"/>
              <a:ext cx="444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1100" i="0">
                  <a:solidFill>
                    <a:srgbClr val="000000"/>
                  </a:solidFill>
                  <a:latin typeface="Helvetica" pitchFamily="34" charset="0"/>
                </a:rPr>
                <a:t>100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127" name="Line 201"/>
            <p:cNvSpPr>
              <a:spLocks noChangeShapeType="1"/>
            </p:cNvSpPr>
            <p:nvPr/>
          </p:nvSpPr>
          <p:spPr bwMode="auto">
            <a:xfrm flipV="1">
              <a:off x="4104" y="3853"/>
              <a:ext cx="1" cy="20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Rectangle 202"/>
            <p:cNvSpPr>
              <a:spLocks noChangeArrowheads="1"/>
            </p:cNvSpPr>
            <p:nvPr/>
          </p:nvSpPr>
          <p:spPr bwMode="auto">
            <a:xfrm>
              <a:off x="4040" y="3904"/>
              <a:ext cx="181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Rectangle 203"/>
            <p:cNvSpPr>
              <a:spLocks noChangeArrowheads="1"/>
            </p:cNvSpPr>
            <p:nvPr/>
          </p:nvSpPr>
          <p:spPr bwMode="auto">
            <a:xfrm>
              <a:off x="3744" y="3926"/>
              <a:ext cx="444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1100" i="0">
                  <a:solidFill>
                    <a:srgbClr val="000000"/>
                  </a:solidFill>
                  <a:latin typeface="Helvetica" pitchFamily="34" charset="0"/>
                </a:rPr>
                <a:t>120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130" name="Line 204"/>
            <p:cNvSpPr>
              <a:spLocks noChangeShapeType="1"/>
            </p:cNvSpPr>
            <p:nvPr/>
          </p:nvSpPr>
          <p:spPr bwMode="auto">
            <a:xfrm flipV="1">
              <a:off x="4495" y="3853"/>
              <a:ext cx="1" cy="20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205"/>
            <p:cNvSpPr>
              <a:spLocks noChangeShapeType="1"/>
            </p:cNvSpPr>
            <p:nvPr/>
          </p:nvSpPr>
          <p:spPr bwMode="auto">
            <a:xfrm flipH="1">
              <a:off x="4464" y="3873"/>
              <a:ext cx="31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206"/>
            <p:cNvSpPr>
              <a:spLocks noChangeShapeType="1"/>
            </p:cNvSpPr>
            <p:nvPr/>
          </p:nvSpPr>
          <p:spPr bwMode="auto">
            <a:xfrm>
              <a:off x="1757" y="3873"/>
              <a:ext cx="2738" cy="1"/>
            </a:xfrm>
            <a:prstGeom prst="line">
              <a:avLst/>
            </a:pr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Rectangle 207"/>
            <p:cNvSpPr>
              <a:spLocks noChangeArrowheads="1"/>
            </p:cNvSpPr>
            <p:nvPr/>
          </p:nvSpPr>
          <p:spPr bwMode="auto">
            <a:xfrm>
              <a:off x="1738" y="3904"/>
              <a:ext cx="86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208"/>
            <p:cNvSpPr>
              <a:spLocks/>
            </p:cNvSpPr>
            <p:nvPr/>
          </p:nvSpPr>
          <p:spPr bwMode="auto">
            <a:xfrm>
              <a:off x="1776" y="2516"/>
              <a:ext cx="2454" cy="1276"/>
            </a:xfrm>
            <a:custGeom>
              <a:avLst/>
              <a:gdLst/>
              <a:ahLst/>
              <a:cxnLst>
                <a:cxn ang="0">
                  <a:pos x="63" y="663"/>
                </a:cxn>
                <a:cxn ang="0">
                  <a:pos x="159" y="676"/>
                </a:cxn>
                <a:cxn ang="0">
                  <a:pos x="254" y="870"/>
                </a:cxn>
                <a:cxn ang="0">
                  <a:pos x="362" y="1033"/>
                </a:cxn>
                <a:cxn ang="0">
                  <a:pos x="459" y="1229"/>
                </a:cxn>
                <a:cxn ang="0">
                  <a:pos x="554" y="1403"/>
                </a:cxn>
                <a:cxn ang="0">
                  <a:pos x="661" y="1612"/>
                </a:cxn>
                <a:cxn ang="0">
                  <a:pos x="757" y="1761"/>
                </a:cxn>
                <a:cxn ang="0">
                  <a:pos x="854" y="1891"/>
                </a:cxn>
                <a:cxn ang="0">
                  <a:pos x="960" y="1988"/>
                </a:cxn>
                <a:cxn ang="0">
                  <a:pos x="1057" y="2047"/>
                </a:cxn>
                <a:cxn ang="0">
                  <a:pos x="1153" y="2098"/>
                </a:cxn>
                <a:cxn ang="0">
                  <a:pos x="1248" y="2039"/>
                </a:cxn>
                <a:cxn ang="0">
                  <a:pos x="1356" y="1956"/>
                </a:cxn>
                <a:cxn ang="0">
                  <a:pos x="1453" y="1826"/>
                </a:cxn>
                <a:cxn ang="0">
                  <a:pos x="1548" y="1651"/>
                </a:cxn>
                <a:cxn ang="0">
                  <a:pos x="1655" y="1429"/>
                </a:cxn>
                <a:cxn ang="0">
                  <a:pos x="1752" y="1229"/>
                </a:cxn>
                <a:cxn ang="0">
                  <a:pos x="1848" y="1007"/>
                </a:cxn>
                <a:cxn ang="0">
                  <a:pos x="1954" y="655"/>
                </a:cxn>
                <a:cxn ang="0">
                  <a:pos x="2051" y="396"/>
                </a:cxn>
                <a:cxn ang="0">
                  <a:pos x="2146" y="187"/>
                </a:cxn>
                <a:cxn ang="0">
                  <a:pos x="2244" y="78"/>
                </a:cxn>
                <a:cxn ang="0">
                  <a:pos x="2350" y="0"/>
                </a:cxn>
                <a:cxn ang="0">
                  <a:pos x="2445" y="52"/>
                </a:cxn>
                <a:cxn ang="0">
                  <a:pos x="2542" y="117"/>
                </a:cxn>
                <a:cxn ang="0">
                  <a:pos x="2650" y="130"/>
                </a:cxn>
                <a:cxn ang="0">
                  <a:pos x="2745" y="298"/>
                </a:cxn>
                <a:cxn ang="0">
                  <a:pos x="2841" y="461"/>
                </a:cxn>
                <a:cxn ang="0">
                  <a:pos x="2948" y="578"/>
                </a:cxn>
                <a:cxn ang="0">
                  <a:pos x="3043" y="696"/>
                </a:cxn>
                <a:cxn ang="0">
                  <a:pos x="3141" y="774"/>
                </a:cxn>
                <a:cxn ang="0">
                  <a:pos x="3237" y="825"/>
                </a:cxn>
                <a:cxn ang="0">
                  <a:pos x="3344" y="748"/>
                </a:cxn>
                <a:cxn ang="0">
                  <a:pos x="3439" y="748"/>
                </a:cxn>
                <a:cxn ang="0">
                  <a:pos x="3536" y="676"/>
                </a:cxn>
                <a:cxn ang="0">
                  <a:pos x="3644" y="596"/>
                </a:cxn>
                <a:cxn ang="0">
                  <a:pos x="3739" y="604"/>
                </a:cxn>
                <a:cxn ang="0">
                  <a:pos x="3835" y="513"/>
                </a:cxn>
                <a:cxn ang="0">
                  <a:pos x="3942" y="416"/>
                </a:cxn>
                <a:cxn ang="0">
                  <a:pos x="4038" y="344"/>
                </a:cxn>
                <a:cxn ang="0">
                  <a:pos x="4135" y="422"/>
                </a:cxn>
              </a:cxnLst>
              <a:rect l="0" t="0" r="r" b="b"/>
              <a:pathLst>
                <a:path w="4198" h="2098">
                  <a:moveTo>
                    <a:pt x="0" y="727"/>
                  </a:moveTo>
                  <a:lnTo>
                    <a:pt x="31" y="683"/>
                  </a:lnTo>
                  <a:lnTo>
                    <a:pt x="63" y="663"/>
                  </a:lnTo>
                  <a:lnTo>
                    <a:pt x="95" y="643"/>
                  </a:lnTo>
                  <a:lnTo>
                    <a:pt x="126" y="650"/>
                  </a:lnTo>
                  <a:lnTo>
                    <a:pt x="159" y="676"/>
                  </a:lnTo>
                  <a:lnTo>
                    <a:pt x="191" y="727"/>
                  </a:lnTo>
                  <a:lnTo>
                    <a:pt x="223" y="805"/>
                  </a:lnTo>
                  <a:lnTo>
                    <a:pt x="254" y="870"/>
                  </a:lnTo>
                  <a:lnTo>
                    <a:pt x="299" y="922"/>
                  </a:lnTo>
                  <a:lnTo>
                    <a:pt x="331" y="968"/>
                  </a:lnTo>
                  <a:lnTo>
                    <a:pt x="362" y="1033"/>
                  </a:lnTo>
                  <a:lnTo>
                    <a:pt x="394" y="1098"/>
                  </a:lnTo>
                  <a:lnTo>
                    <a:pt x="427" y="1162"/>
                  </a:lnTo>
                  <a:lnTo>
                    <a:pt x="459" y="1229"/>
                  </a:lnTo>
                  <a:lnTo>
                    <a:pt x="491" y="1293"/>
                  </a:lnTo>
                  <a:lnTo>
                    <a:pt x="522" y="1358"/>
                  </a:lnTo>
                  <a:lnTo>
                    <a:pt x="554" y="1403"/>
                  </a:lnTo>
                  <a:lnTo>
                    <a:pt x="587" y="1462"/>
                  </a:lnTo>
                  <a:lnTo>
                    <a:pt x="629" y="1532"/>
                  </a:lnTo>
                  <a:lnTo>
                    <a:pt x="661" y="1612"/>
                  </a:lnTo>
                  <a:lnTo>
                    <a:pt x="692" y="1676"/>
                  </a:lnTo>
                  <a:lnTo>
                    <a:pt x="725" y="1728"/>
                  </a:lnTo>
                  <a:lnTo>
                    <a:pt x="757" y="1761"/>
                  </a:lnTo>
                  <a:lnTo>
                    <a:pt x="789" y="1780"/>
                  </a:lnTo>
                  <a:lnTo>
                    <a:pt x="822" y="1832"/>
                  </a:lnTo>
                  <a:lnTo>
                    <a:pt x="854" y="1891"/>
                  </a:lnTo>
                  <a:lnTo>
                    <a:pt x="887" y="1923"/>
                  </a:lnTo>
                  <a:lnTo>
                    <a:pt x="918" y="1962"/>
                  </a:lnTo>
                  <a:lnTo>
                    <a:pt x="960" y="1988"/>
                  </a:lnTo>
                  <a:lnTo>
                    <a:pt x="992" y="2015"/>
                  </a:lnTo>
                  <a:lnTo>
                    <a:pt x="1025" y="2034"/>
                  </a:lnTo>
                  <a:lnTo>
                    <a:pt x="1057" y="2047"/>
                  </a:lnTo>
                  <a:lnTo>
                    <a:pt x="1088" y="2073"/>
                  </a:lnTo>
                  <a:lnTo>
                    <a:pt x="1120" y="2093"/>
                  </a:lnTo>
                  <a:lnTo>
                    <a:pt x="1153" y="2098"/>
                  </a:lnTo>
                  <a:lnTo>
                    <a:pt x="1185" y="2093"/>
                  </a:lnTo>
                  <a:lnTo>
                    <a:pt x="1217" y="2065"/>
                  </a:lnTo>
                  <a:lnTo>
                    <a:pt x="1248" y="2039"/>
                  </a:lnTo>
                  <a:lnTo>
                    <a:pt x="1292" y="2015"/>
                  </a:lnTo>
                  <a:lnTo>
                    <a:pt x="1325" y="1988"/>
                  </a:lnTo>
                  <a:lnTo>
                    <a:pt x="1356" y="1956"/>
                  </a:lnTo>
                  <a:lnTo>
                    <a:pt x="1388" y="1917"/>
                  </a:lnTo>
                  <a:lnTo>
                    <a:pt x="1420" y="1864"/>
                  </a:lnTo>
                  <a:lnTo>
                    <a:pt x="1453" y="1826"/>
                  </a:lnTo>
                  <a:lnTo>
                    <a:pt x="1485" y="1767"/>
                  </a:lnTo>
                  <a:lnTo>
                    <a:pt x="1516" y="1715"/>
                  </a:lnTo>
                  <a:lnTo>
                    <a:pt x="1548" y="1651"/>
                  </a:lnTo>
                  <a:lnTo>
                    <a:pt x="1580" y="1573"/>
                  </a:lnTo>
                  <a:lnTo>
                    <a:pt x="1623" y="1501"/>
                  </a:lnTo>
                  <a:lnTo>
                    <a:pt x="1655" y="1429"/>
                  </a:lnTo>
                  <a:lnTo>
                    <a:pt x="1688" y="1345"/>
                  </a:lnTo>
                  <a:lnTo>
                    <a:pt x="1719" y="1280"/>
                  </a:lnTo>
                  <a:lnTo>
                    <a:pt x="1752" y="1229"/>
                  </a:lnTo>
                  <a:lnTo>
                    <a:pt x="1784" y="1170"/>
                  </a:lnTo>
                  <a:lnTo>
                    <a:pt x="1816" y="1092"/>
                  </a:lnTo>
                  <a:lnTo>
                    <a:pt x="1848" y="1007"/>
                  </a:lnTo>
                  <a:lnTo>
                    <a:pt x="1879" y="897"/>
                  </a:lnTo>
                  <a:lnTo>
                    <a:pt x="1912" y="779"/>
                  </a:lnTo>
                  <a:lnTo>
                    <a:pt x="1954" y="655"/>
                  </a:lnTo>
                  <a:lnTo>
                    <a:pt x="1986" y="546"/>
                  </a:lnTo>
                  <a:lnTo>
                    <a:pt x="2017" y="467"/>
                  </a:lnTo>
                  <a:lnTo>
                    <a:pt x="2051" y="396"/>
                  </a:lnTo>
                  <a:lnTo>
                    <a:pt x="2082" y="330"/>
                  </a:lnTo>
                  <a:lnTo>
                    <a:pt x="2114" y="259"/>
                  </a:lnTo>
                  <a:lnTo>
                    <a:pt x="2146" y="187"/>
                  </a:lnTo>
                  <a:lnTo>
                    <a:pt x="2179" y="136"/>
                  </a:lnTo>
                  <a:lnTo>
                    <a:pt x="2210" y="104"/>
                  </a:lnTo>
                  <a:lnTo>
                    <a:pt x="2244" y="78"/>
                  </a:lnTo>
                  <a:lnTo>
                    <a:pt x="2285" y="52"/>
                  </a:lnTo>
                  <a:lnTo>
                    <a:pt x="2317" y="20"/>
                  </a:lnTo>
                  <a:lnTo>
                    <a:pt x="2350" y="0"/>
                  </a:lnTo>
                  <a:lnTo>
                    <a:pt x="2382" y="13"/>
                  </a:lnTo>
                  <a:lnTo>
                    <a:pt x="2414" y="20"/>
                  </a:lnTo>
                  <a:lnTo>
                    <a:pt x="2445" y="52"/>
                  </a:lnTo>
                  <a:lnTo>
                    <a:pt x="2478" y="85"/>
                  </a:lnTo>
                  <a:lnTo>
                    <a:pt x="2510" y="110"/>
                  </a:lnTo>
                  <a:lnTo>
                    <a:pt x="2542" y="117"/>
                  </a:lnTo>
                  <a:lnTo>
                    <a:pt x="2573" y="98"/>
                  </a:lnTo>
                  <a:lnTo>
                    <a:pt x="2618" y="104"/>
                  </a:lnTo>
                  <a:lnTo>
                    <a:pt x="2650" y="130"/>
                  </a:lnTo>
                  <a:lnTo>
                    <a:pt x="2681" y="176"/>
                  </a:lnTo>
                  <a:lnTo>
                    <a:pt x="2713" y="234"/>
                  </a:lnTo>
                  <a:lnTo>
                    <a:pt x="2745" y="298"/>
                  </a:lnTo>
                  <a:lnTo>
                    <a:pt x="2778" y="376"/>
                  </a:lnTo>
                  <a:lnTo>
                    <a:pt x="2810" y="429"/>
                  </a:lnTo>
                  <a:lnTo>
                    <a:pt x="2841" y="461"/>
                  </a:lnTo>
                  <a:lnTo>
                    <a:pt x="2873" y="494"/>
                  </a:lnTo>
                  <a:lnTo>
                    <a:pt x="2906" y="532"/>
                  </a:lnTo>
                  <a:lnTo>
                    <a:pt x="2948" y="578"/>
                  </a:lnTo>
                  <a:lnTo>
                    <a:pt x="2980" y="618"/>
                  </a:lnTo>
                  <a:lnTo>
                    <a:pt x="3011" y="663"/>
                  </a:lnTo>
                  <a:lnTo>
                    <a:pt x="3043" y="696"/>
                  </a:lnTo>
                  <a:lnTo>
                    <a:pt x="3076" y="727"/>
                  </a:lnTo>
                  <a:lnTo>
                    <a:pt x="3109" y="733"/>
                  </a:lnTo>
                  <a:lnTo>
                    <a:pt x="3141" y="774"/>
                  </a:lnTo>
                  <a:lnTo>
                    <a:pt x="3173" y="792"/>
                  </a:lnTo>
                  <a:lnTo>
                    <a:pt x="3206" y="812"/>
                  </a:lnTo>
                  <a:lnTo>
                    <a:pt x="3237" y="825"/>
                  </a:lnTo>
                  <a:lnTo>
                    <a:pt x="3279" y="805"/>
                  </a:lnTo>
                  <a:lnTo>
                    <a:pt x="3311" y="774"/>
                  </a:lnTo>
                  <a:lnTo>
                    <a:pt x="3344" y="748"/>
                  </a:lnTo>
                  <a:lnTo>
                    <a:pt x="3376" y="740"/>
                  </a:lnTo>
                  <a:lnTo>
                    <a:pt x="3407" y="753"/>
                  </a:lnTo>
                  <a:lnTo>
                    <a:pt x="3439" y="748"/>
                  </a:lnTo>
                  <a:lnTo>
                    <a:pt x="3471" y="733"/>
                  </a:lnTo>
                  <a:lnTo>
                    <a:pt x="3504" y="707"/>
                  </a:lnTo>
                  <a:lnTo>
                    <a:pt x="3536" y="676"/>
                  </a:lnTo>
                  <a:lnTo>
                    <a:pt x="3567" y="631"/>
                  </a:lnTo>
                  <a:lnTo>
                    <a:pt x="3611" y="604"/>
                  </a:lnTo>
                  <a:lnTo>
                    <a:pt x="3644" y="596"/>
                  </a:lnTo>
                  <a:lnTo>
                    <a:pt x="3675" y="596"/>
                  </a:lnTo>
                  <a:lnTo>
                    <a:pt x="3707" y="604"/>
                  </a:lnTo>
                  <a:lnTo>
                    <a:pt x="3739" y="604"/>
                  </a:lnTo>
                  <a:lnTo>
                    <a:pt x="3770" y="591"/>
                  </a:lnTo>
                  <a:lnTo>
                    <a:pt x="3804" y="559"/>
                  </a:lnTo>
                  <a:lnTo>
                    <a:pt x="3835" y="513"/>
                  </a:lnTo>
                  <a:lnTo>
                    <a:pt x="3867" y="474"/>
                  </a:lnTo>
                  <a:lnTo>
                    <a:pt x="3899" y="435"/>
                  </a:lnTo>
                  <a:lnTo>
                    <a:pt x="3942" y="416"/>
                  </a:lnTo>
                  <a:lnTo>
                    <a:pt x="3975" y="383"/>
                  </a:lnTo>
                  <a:lnTo>
                    <a:pt x="4007" y="357"/>
                  </a:lnTo>
                  <a:lnTo>
                    <a:pt x="4038" y="344"/>
                  </a:lnTo>
                  <a:lnTo>
                    <a:pt x="4070" y="352"/>
                  </a:lnTo>
                  <a:lnTo>
                    <a:pt x="4103" y="383"/>
                  </a:lnTo>
                  <a:lnTo>
                    <a:pt x="4135" y="422"/>
                  </a:lnTo>
                  <a:lnTo>
                    <a:pt x="4167" y="454"/>
                  </a:lnTo>
                  <a:lnTo>
                    <a:pt x="4198" y="494"/>
                  </a:lnTo>
                </a:path>
              </a:pathLst>
            </a:custGeom>
            <a:noFill/>
            <a:ln w="6350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Rectangle 209"/>
            <p:cNvSpPr>
              <a:spLocks noChangeArrowheads="1"/>
            </p:cNvSpPr>
            <p:nvPr/>
          </p:nvSpPr>
          <p:spPr bwMode="auto">
            <a:xfrm>
              <a:off x="3456" y="2927"/>
              <a:ext cx="398" cy="2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itchFamily="2" charset="2"/>
                <a:buNone/>
              </a:pPr>
              <a:r>
                <a:rPr lang="en-US" sz="2300" b="1" i="0">
                  <a:solidFill>
                    <a:srgbClr val="000000"/>
                  </a:solidFill>
                </a:rPr>
                <a:t>b</a:t>
              </a:r>
              <a:endParaRPr lang="en-US" i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</a:endParaRPr>
            </a:p>
          </p:txBody>
        </p:sp>
        <p:sp>
          <p:nvSpPr>
            <p:cNvPr id="136" name="Rectangle 210"/>
            <p:cNvSpPr>
              <a:spLocks noChangeArrowheads="1"/>
            </p:cNvSpPr>
            <p:nvPr/>
          </p:nvSpPr>
          <p:spPr bwMode="auto">
            <a:xfrm>
              <a:off x="3652" y="2918"/>
              <a:ext cx="291" cy="45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7" name="Group 211"/>
            <p:cNvGrpSpPr>
              <a:grpSpLocks/>
            </p:cNvGrpSpPr>
            <p:nvPr/>
          </p:nvGrpSpPr>
          <p:grpSpPr bwMode="auto">
            <a:xfrm>
              <a:off x="1440" y="2304"/>
              <a:ext cx="2832" cy="1537"/>
              <a:chOff x="1440" y="2304"/>
              <a:chExt cx="2832" cy="1537"/>
            </a:xfrm>
          </p:grpSpPr>
          <p:sp>
            <p:nvSpPr>
              <p:cNvPr id="138" name="Rectangle 212"/>
              <p:cNvSpPr>
                <a:spLocks noChangeArrowheads="1"/>
              </p:cNvSpPr>
              <p:nvPr/>
            </p:nvSpPr>
            <p:spPr bwMode="auto">
              <a:xfrm>
                <a:off x="1775" y="3022"/>
                <a:ext cx="292" cy="45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Rectangle 213"/>
              <p:cNvSpPr>
                <a:spLocks noChangeArrowheads="1"/>
              </p:cNvSpPr>
              <p:nvPr/>
            </p:nvSpPr>
            <p:spPr bwMode="auto">
              <a:xfrm>
                <a:off x="3969" y="2757"/>
                <a:ext cx="291" cy="45"/>
              </a:xfrm>
              <a:prstGeom prst="rect">
                <a:avLst/>
              </a:prstGeom>
              <a:solidFill>
                <a:srgbClr val="00FF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0" name="Group 214"/>
              <p:cNvGrpSpPr>
                <a:grpSpLocks/>
              </p:cNvGrpSpPr>
              <p:nvPr/>
            </p:nvGrpSpPr>
            <p:grpSpPr bwMode="auto">
              <a:xfrm>
                <a:off x="1440" y="2304"/>
                <a:ext cx="2832" cy="1537"/>
                <a:chOff x="1440" y="2304"/>
                <a:chExt cx="2832" cy="1537"/>
              </a:xfrm>
            </p:grpSpPr>
            <p:sp>
              <p:nvSpPr>
                <p:cNvPr id="141" name="Rectangle 215"/>
                <p:cNvSpPr>
                  <a:spLocks noChangeArrowheads="1"/>
                </p:cNvSpPr>
                <p:nvPr/>
              </p:nvSpPr>
              <p:spPr bwMode="auto">
                <a:xfrm>
                  <a:off x="1440" y="3024"/>
                  <a:ext cx="583" cy="2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5000"/>
                    <a:buFont typeface="Wingdings" pitchFamily="2" charset="2"/>
                    <a:buNone/>
                  </a:pPr>
                  <a:r>
                    <a:rPr lang="en-US" sz="2300" b="1" i="0">
                      <a:solidFill>
                        <a:srgbClr val="000000"/>
                      </a:solidFill>
                    </a:rPr>
                    <a:t>	b</a:t>
                  </a:r>
                  <a:endParaRPr lang="en-US" i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pitchFamily="34" charset="0"/>
                  </a:endParaRPr>
                </a:p>
              </p:txBody>
            </p:sp>
            <p:sp>
              <p:nvSpPr>
                <p:cNvPr id="142" name="Rectangle 216"/>
                <p:cNvSpPr>
                  <a:spLocks noChangeArrowheads="1"/>
                </p:cNvSpPr>
                <p:nvPr/>
              </p:nvSpPr>
              <p:spPr bwMode="auto">
                <a:xfrm>
                  <a:off x="2354" y="2880"/>
                  <a:ext cx="582" cy="2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5000"/>
                    <a:buFont typeface="Wingdings" pitchFamily="2" charset="2"/>
                    <a:buNone/>
                  </a:pPr>
                  <a:r>
                    <a:rPr lang="en-US" sz="2300" b="1" i="0" dirty="0">
                      <a:solidFill>
                        <a:srgbClr val="000000"/>
                      </a:solidFill>
                    </a:rPr>
                    <a:t>	b</a:t>
                  </a:r>
                  <a:endParaRPr lang="en-US" i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pitchFamily="34" charset="0"/>
                  </a:endParaRPr>
                </a:p>
              </p:txBody>
            </p:sp>
            <p:grpSp>
              <p:nvGrpSpPr>
                <p:cNvPr id="143" name="Group 217"/>
                <p:cNvGrpSpPr>
                  <a:grpSpLocks/>
                </p:cNvGrpSpPr>
                <p:nvPr/>
              </p:nvGrpSpPr>
              <p:grpSpPr bwMode="auto">
                <a:xfrm>
                  <a:off x="1878" y="2304"/>
                  <a:ext cx="2394" cy="1537"/>
                  <a:chOff x="1867" y="2304"/>
                  <a:chExt cx="2394" cy="1537"/>
                </a:xfrm>
              </p:grpSpPr>
              <p:sp>
                <p:nvSpPr>
                  <p:cNvPr id="145" name="Rectangle 218"/>
                  <p:cNvSpPr>
                    <a:spLocks noChangeArrowheads="1"/>
                  </p:cNvSpPr>
                  <p:nvPr/>
                </p:nvSpPr>
                <p:spPr bwMode="auto">
                  <a:xfrm>
                    <a:off x="2088" y="3567"/>
                    <a:ext cx="291" cy="46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46" name="Rectangle 219"/>
                  <p:cNvSpPr>
                    <a:spLocks noChangeArrowheads="1"/>
                  </p:cNvSpPr>
                  <p:nvPr/>
                </p:nvSpPr>
                <p:spPr bwMode="auto">
                  <a:xfrm>
                    <a:off x="2403" y="3692"/>
                    <a:ext cx="290" cy="46"/>
                  </a:xfrm>
                  <a:prstGeom prst="rect">
                    <a:avLst/>
                  </a:prstGeom>
                  <a:solidFill>
                    <a:srgbClr val="00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47" name="Rectangle 220"/>
                  <p:cNvSpPr>
                    <a:spLocks noChangeArrowheads="1"/>
                  </p:cNvSpPr>
                  <p:nvPr/>
                </p:nvSpPr>
                <p:spPr bwMode="auto">
                  <a:xfrm>
                    <a:off x="2717" y="3087"/>
                    <a:ext cx="291" cy="4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48" name="Rectangle 221"/>
                  <p:cNvSpPr>
                    <a:spLocks noChangeArrowheads="1"/>
                  </p:cNvSpPr>
                  <p:nvPr/>
                </p:nvSpPr>
                <p:spPr bwMode="auto">
                  <a:xfrm>
                    <a:off x="3029" y="2524"/>
                    <a:ext cx="292" cy="45"/>
                  </a:xfrm>
                  <a:prstGeom prst="rect">
                    <a:avLst/>
                  </a:prstGeom>
                  <a:solidFill>
                    <a:srgbClr val="00FF0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49" name="Rectangle 222"/>
                  <p:cNvSpPr>
                    <a:spLocks noChangeArrowheads="1"/>
                  </p:cNvSpPr>
                  <p:nvPr/>
                </p:nvSpPr>
                <p:spPr bwMode="auto">
                  <a:xfrm>
                    <a:off x="3346" y="2770"/>
                    <a:ext cx="291" cy="46"/>
                  </a:xfrm>
                  <a:prstGeom prst="rect">
                    <a:avLst/>
                  </a:prstGeom>
                  <a:solidFill>
                    <a:srgbClr val="00FF00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0" name="Rectangle 223"/>
                  <p:cNvSpPr>
                    <a:spLocks noChangeArrowheads="1"/>
                  </p:cNvSpPr>
                  <p:nvPr/>
                </p:nvSpPr>
                <p:spPr bwMode="auto">
                  <a:xfrm>
                    <a:off x="1867" y="3030"/>
                    <a:ext cx="168" cy="24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1" name="Rectangle 224"/>
                  <p:cNvSpPr>
                    <a:spLocks noChangeArrowheads="1"/>
                  </p:cNvSpPr>
                  <p:nvPr/>
                </p:nvSpPr>
                <p:spPr bwMode="auto">
                  <a:xfrm>
                    <a:off x="2192" y="3550"/>
                    <a:ext cx="219" cy="26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2" name="Rectangle 225"/>
                  <p:cNvSpPr>
                    <a:spLocks noChangeArrowheads="1"/>
                  </p:cNvSpPr>
                  <p:nvPr/>
                </p:nvSpPr>
                <p:spPr bwMode="auto">
                  <a:xfrm>
                    <a:off x="2191" y="3596"/>
                    <a:ext cx="158" cy="24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" name="Rectangle 226"/>
                  <p:cNvSpPr>
                    <a:spLocks noChangeArrowheads="1"/>
                  </p:cNvSpPr>
                  <p:nvPr/>
                </p:nvSpPr>
                <p:spPr bwMode="auto">
                  <a:xfrm>
                    <a:off x="2018" y="3455"/>
                    <a:ext cx="572" cy="25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65000"/>
                      <a:buFont typeface="Wingdings" pitchFamily="2" charset="2"/>
                      <a:buNone/>
                    </a:pPr>
                    <a:r>
                      <a:rPr lang="en-US" sz="2300" b="1" i="0" dirty="0">
                        <a:solidFill>
                          <a:srgbClr val="000000"/>
                        </a:solidFill>
                      </a:rPr>
                      <a:t>	a</a:t>
                    </a:r>
                    <a:endParaRPr lang="en-US" i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pitchFamily="34" charset="0"/>
                    </a:endParaRPr>
                  </a:p>
                </p:txBody>
              </p:sp>
              <p:sp>
                <p:nvSpPr>
                  <p:cNvPr id="154" name="Rectangle 227"/>
                  <p:cNvSpPr>
                    <a:spLocks noChangeArrowheads="1"/>
                  </p:cNvSpPr>
                  <p:nvPr/>
                </p:nvSpPr>
                <p:spPr bwMode="auto">
                  <a:xfrm>
                    <a:off x="2517" y="3481"/>
                    <a:ext cx="219" cy="2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5" name="Rectangle 228"/>
                  <p:cNvSpPr>
                    <a:spLocks noChangeArrowheads="1"/>
                  </p:cNvSpPr>
                  <p:nvPr/>
                </p:nvSpPr>
                <p:spPr bwMode="auto">
                  <a:xfrm>
                    <a:off x="2517" y="3490"/>
                    <a:ext cx="158" cy="24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6" name="Rectangle 229"/>
                  <p:cNvSpPr>
                    <a:spLocks noChangeArrowheads="1"/>
                  </p:cNvSpPr>
                  <p:nvPr/>
                </p:nvSpPr>
                <p:spPr bwMode="auto">
                  <a:xfrm>
                    <a:off x="2602" y="3490"/>
                    <a:ext cx="115" cy="24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7" name="Rectangle 230"/>
                  <p:cNvSpPr>
                    <a:spLocks noChangeArrowheads="1"/>
                  </p:cNvSpPr>
                  <p:nvPr/>
                </p:nvSpPr>
                <p:spPr bwMode="auto">
                  <a:xfrm>
                    <a:off x="3138" y="2555"/>
                    <a:ext cx="378" cy="2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65000"/>
                      <a:buFont typeface="Wingdings" pitchFamily="2" charset="2"/>
                      <a:buNone/>
                    </a:pPr>
                    <a:r>
                      <a:rPr lang="en-US" sz="2300" b="1" i="0" dirty="0">
                        <a:solidFill>
                          <a:srgbClr val="000000"/>
                        </a:solidFill>
                      </a:rPr>
                      <a:t>c</a:t>
                    </a:r>
                    <a:endParaRPr lang="en-US" i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pitchFamily="34" charset="0"/>
                    </a:endParaRPr>
                  </a:p>
                </p:txBody>
              </p:sp>
              <p:sp>
                <p:nvSpPr>
                  <p:cNvPr id="158" name="Rectangle 231"/>
                  <p:cNvSpPr>
                    <a:spLocks noChangeArrowheads="1"/>
                  </p:cNvSpPr>
                  <p:nvPr/>
                </p:nvSpPr>
                <p:spPr bwMode="auto">
                  <a:xfrm>
                    <a:off x="2689" y="2304"/>
                    <a:ext cx="562" cy="25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65000"/>
                      <a:buFont typeface="Wingdings" pitchFamily="2" charset="2"/>
                      <a:buNone/>
                    </a:pPr>
                    <a:r>
                      <a:rPr lang="en-US" sz="2300" b="1" i="0" dirty="0">
                        <a:solidFill>
                          <a:srgbClr val="000000"/>
                        </a:solidFill>
                      </a:rPr>
                      <a:t>	c</a:t>
                    </a:r>
                    <a:endParaRPr lang="en-US" i="0" dirty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pitchFamily="34" charset="0"/>
                    </a:endParaRPr>
                  </a:p>
                </p:txBody>
              </p:sp>
              <p:sp>
                <p:nvSpPr>
                  <p:cNvPr id="159" name="Rectangle 232"/>
                  <p:cNvSpPr>
                    <a:spLocks noChangeArrowheads="1"/>
                  </p:cNvSpPr>
                  <p:nvPr/>
                </p:nvSpPr>
                <p:spPr bwMode="auto">
                  <a:xfrm>
                    <a:off x="3788" y="2961"/>
                    <a:ext cx="219" cy="26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0" name="Rectangle 233"/>
                  <p:cNvSpPr>
                    <a:spLocks noChangeArrowheads="1"/>
                  </p:cNvSpPr>
                  <p:nvPr/>
                </p:nvSpPr>
                <p:spPr bwMode="auto">
                  <a:xfrm>
                    <a:off x="3788" y="2969"/>
                    <a:ext cx="167" cy="24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1" name="Rectangle 234"/>
                  <p:cNvSpPr>
                    <a:spLocks noChangeArrowheads="1"/>
                  </p:cNvSpPr>
                  <p:nvPr/>
                </p:nvSpPr>
                <p:spPr bwMode="auto">
                  <a:xfrm>
                    <a:off x="3882" y="2969"/>
                    <a:ext cx="116" cy="24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2" name="Rectangle 235"/>
                  <p:cNvSpPr>
                    <a:spLocks noChangeArrowheads="1"/>
                  </p:cNvSpPr>
                  <p:nvPr/>
                </p:nvSpPr>
                <p:spPr bwMode="auto">
                  <a:xfrm>
                    <a:off x="4112" y="2544"/>
                    <a:ext cx="149" cy="24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3" name="Rectangle 236"/>
                  <p:cNvSpPr>
                    <a:spLocks noChangeArrowheads="1"/>
                  </p:cNvSpPr>
                  <p:nvPr/>
                </p:nvSpPr>
                <p:spPr bwMode="auto">
                  <a:xfrm>
                    <a:off x="3792" y="2544"/>
                    <a:ext cx="378" cy="25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65000"/>
                      <a:buFont typeface="Wingdings" pitchFamily="2" charset="2"/>
                      <a:buNone/>
                    </a:pPr>
                    <a:r>
                      <a:rPr lang="en-US" sz="2300" b="1" i="0">
                        <a:solidFill>
                          <a:srgbClr val="000000"/>
                        </a:solidFill>
                      </a:rPr>
                      <a:t>c</a:t>
                    </a:r>
                    <a:endParaRPr lang="en-US" i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ahoma" pitchFamily="34" charset="0"/>
                    </a:endParaRPr>
                  </a:p>
                </p:txBody>
              </p:sp>
            </p:grpSp>
            <p:sp>
              <p:nvSpPr>
                <p:cNvPr id="144" name="Rectangle 237"/>
                <p:cNvSpPr>
                  <a:spLocks noChangeArrowheads="1"/>
                </p:cNvSpPr>
                <p:nvPr/>
              </p:nvSpPr>
              <p:spPr bwMode="auto">
                <a:xfrm>
                  <a:off x="1728" y="3552"/>
                  <a:ext cx="573" cy="2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5000"/>
                    <a:buFont typeface="Wingdings" pitchFamily="2" charset="2"/>
                    <a:buNone/>
                  </a:pPr>
                  <a:r>
                    <a:rPr lang="en-US" sz="2300" b="1" i="0" dirty="0">
                      <a:solidFill>
                        <a:srgbClr val="000000"/>
                      </a:solidFill>
                    </a:rPr>
                    <a:t>	a</a:t>
                  </a:r>
                  <a:endParaRPr lang="en-US" i="0" dirty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pitchFamily="34" charset="0"/>
                  </a:endParaRPr>
                </a:p>
              </p:txBody>
            </p:sp>
          </p:grpSp>
        </p:grpSp>
      </p:grpSp>
      <p:sp>
        <p:nvSpPr>
          <p:cNvPr id="164" name="矩形 163"/>
          <p:cNvSpPr/>
          <p:nvPr/>
        </p:nvSpPr>
        <p:spPr>
          <a:xfrm>
            <a:off x="1820008" y="2757395"/>
            <a:ext cx="599667" cy="40579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6" name="矩形 165"/>
          <p:cNvSpPr/>
          <p:nvPr/>
        </p:nvSpPr>
        <p:spPr>
          <a:xfrm>
            <a:off x="1831559" y="3349517"/>
            <a:ext cx="599667" cy="4057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矩形 166"/>
          <p:cNvSpPr/>
          <p:nvPr/>
        </p:nvSpPr>
        <p:spPr>
          <a:xfrm>
            <a:off x="1836997" y="3995469"/>
            <a:ext cx="599667" cy="40579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5400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697" y="-67777"/>
            <a:ext cx="11458303" cy="6925777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6510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2439" y="468893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MPLA : 3 SPLA : 2 MDPLA : </a:t>
            </a:r>
            <a:r>
              <a:rPr lang="en-US" altLang="zh-TW" dirty="0" smtClean="0">
                <a:solidFill>
                  <a:srgbClr val="FF0000"/>
                </a:solidFill>
              </a:rPr>
              <a:t>8</a:t>
            </a:r>
            <a:r>
              <a:rPr lang="zh-TW" altLang="en-US" dirty="0" smtClean="0"/>
              <a:t> </a:t>
            </a:r>
            <a:r>
              <a:rPr lang="en-US" altLang="zh-TW" dirty="0" smtClean="0"/>
              <a:t> SAX : 7 </a:t>
            </a:r>
            <a:br>
              <a:rPr lang="en-US" altLang="zh-TW" dirty="0" smtClean="0"/>
            </a:br>
            <a:r>
              <a:rPr lang="en-US" altLang="zh-TW" dirty="0" smtClean="0"/>
              <a:t>MPLA :</a:t>
            </a:r>
            <a:r>
              <a:rPr lang="zh-TW" altLang="en-US" dirty="0" smtClean="0"/>
              <a:t> </a:t>
            </a:r>
            <a:r>
              <a:rPr lang="en-US" altLang="zh-TW" dirty="0" smtClean="0"/>
              <a:t>3 SPLA : 4</a:t>
            </a:r>
            <a:r>
              <a:rPr lang="zh-TW" altLang="en-US" dirty="0" smtClean="0"/>
              <a:t> </a:t>
            </a:r>
            <a:r>
              <a:rPr lang="en-US" altLang="zh-TW" dirty="0" smtClean="0"/>
              <a:t>MDPLA : </a:t>
            </a:r>
            <a:r>
              <a:rPr lang="en-US" altLang="zh-TW" dirty="0" smtClean="0">
                <a:solidFill>
                  <a:srgbClr val="FF0000"/>
                </a:solidFill>
              </a:rPr>
              <a:t>14</a:t>
            </a:r>
            <a:r>
              <a:rPr lang="zh-TW" altLang="en-US" dirty="0" smtClean="0"/>
              <a:t> </a:t>
            </a:r>
            <a:r>
              <a:rPr lang="en-US" altLang="zh-TW" dirty="0" smtClean="0"/>
              <a:t>SAX :2</a:t>
            </a:r>
            <a:r>
              <a:rPr lang="zh-TW" altLang="en-US" dirty="0" smtClean="0"/>
              <a:t>  </a:t>
            </a:r>
            <a:r>
              <a:rPr lang="en-US" altLang="zh-TW" dirty="0" smtClean="0"/>
              <a:t>(warping)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7306" y="192768"/>
            <a:ext cx="9145867" cy="4351338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364F3-CC44-48AC-94D7-200597D3056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50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1662</TotalTime>
  <Words>564</Words>
  <Application>Microsoft Office PowerPoint</Application>
  <PresentationFormat>寬螢幕</PresentationFormat>
  <Paragraphs>107</Paragraphs>
  <Slides>15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5" baseType="lpstr">
      <vt:lpstr>新細明體</vt:lpstr>
      <vt:lpstr>Arial</vt:lpstr>
      <vt:lpstr>Calibri</vt:lpstr>
      <vt:lpstr>Calibri Light</vt:lpstr>
      <vt:lpstr>Cambria Math</vt:lpstr>
      <vt:lpstr>Helvetica</vt:lpstr>
      <vt:lpstr>Tahoma</vt:lpstr>
      <vt:lpstr>Wingdings</vt:lpstr>
      <vt:lpstr>Office 佈景主題</vt:lpstr>
      <vt:lpstr>Equation</vt:lpstr>
      <vt:lpstr>Mixed dissimilarity measure for piecewise linear approximation based time series applications</vt:lpstr>
      <vt:lpstr>Abstract(1/3)</vt:lpstr>
      <vt:lpstr>Abstract(2/3)</vt:lpstr>
      <vt:lpstr>Abstract(3/3)</vt:lpstr>
      <vt:lpstr>Theoretical background-Time series classification</vt:lpstr>
      <vt:lpstr>dynamic time warping(DTW)</vt:lpstr>
      <vt:lpstr>Piecewise linear approximation</vt:lpstr>
      <vt:lpstr>MPLA(means of Piecewise linear approximation)</vt:lpstr>
      <vt:lpstr>Using 1-NN classification</vt:lpstr>
      <vt:lpstr>MDPLA (Mixed dissimilarity measure for piecewise linear approximation)</vt:lpstr>
      <vt:lpstr>Validation results</vt:lpstr>
      <vt:lpstr>SAX(symbolic aggregate approximation)</vt:lpstr>
      <vt:lpstr>PowerPoint 簡報</vt:lpstr>
      <vt:lpstr>PowerPoint 簡報</vt:lpstr>
      <vt:lpstr>MPLA : 3 SPLA : 2 MDPLA : 8  SAX : 7  MPLA : 3 SPLA : 4 MDPLA : 14 SAX :2  (warping)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Mixed dissimilarity measure for piecewise linear approximation based time series applications</dc:title>
  <dc:creator>andy</dc:creator>
  <cp:lastModifiedBy>andy</cp:lastModifiedBy>
  <cp:revision>27</cp:revision>
  <dcterms:created xsi:type="dcterms:W3CDTF">2016-05-15T10:57:19Z</dcterms:created>
  <dcterms:modified xsi:type="dcterms:W3CDTF">2016-05-23T06:21:57Z</dcterms:modified>
</cp:coreProperties>
</file>