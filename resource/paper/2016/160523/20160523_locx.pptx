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0"/>
  </p:notesMasterIdLst>
  <p:handoutMasterIdLst>
    <p:handoutMasterId r:id="rId41"/>
  </p:handoutMasterIdLst>
  <p:sldIdLst>
    <p:sldId id="256" r:id="rId2"/>
    <p:sldId id="273" r:id="rId3"/>
    <p:sldId id="274" r:id="rId4"/>
    <p:sldId id="278" r:id="rId5"/>
    <p:sldId id="275" r:id="rId6"/>
    <p:sldId id="276" r:id="rId7"/>
    <p:sldId id="277" r:id="rId8"/>
    <p:sldId id="280" r:id="rId9"/>
    <p:sldId id="279" r:id="rId10"/>
    <p:sldId id="281" r:id="rId11"/>
    <p:sldId id="282" r:id="rId12"/>
    <p:sldId id="283" r:id="rId13"/>
    <p:sldId id="284" r:id="rId14"/>
    <p:sldId id="285" r:id="rId15"/>
    <p:sldId id="260" r:id="rId16"/>
    <p:sldId id="261" r:id="rId17"/>
    <p:sldId id="262" r:id="rId18"/>
    <p:sldId id="263" r:id="rId19"/>
    <p:sldId id="264" r:id="rId20"/>
    <p:sldId id="266" r:id="rId21"/>
    <p:sldId id="265" r:id="rId22"/>
    <p:sldId id="267" r:id="rId23"/>
    <p:sldId id="268" r:id="rId24"/>
    <p:sldId id="269" r:id="rId25"/>
    <p:sldId id="270" r:id="rId26"/>
    <p:sldId id="272" r:id="rId27"/>
    <p:sldId id="286" r:id="rId28"/>
    <p:sldId id="293" r:id="rId29"/>
    <p:sldId id="287" r:id="rId30"/>
    <p:sldId id="294" r:id="rId31"/>
    <p:sldId id="295" r:id="rId32"/>
    <p:sldId id="288" r:id="rId33"/>
    <p:sldId id="289" r:id="rId34"/>
    <p:sldId id="291" r:id="rId35"/>
    <p:sldId id="292" r:id="rId36"/>
    <p:sldId id="290" r:id="rId37"/>
    <p:sldId id="296" r:id="rId38"/>
    <p:sldId id="297" r:id="rId39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164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CB409-2DA1-4BCA-B435-C6D650D60C53}" type="datetimeFigureOut">
              <a:rPr lang="zh-TW" altLang="en-US" smtClean="0"/>
              <a:t>2016/5/23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6F0565-5FB6-414C-A160-5E7695D65A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542347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CDEB75-3589-4D32-B44A-E0772C0D15C5}" type="datetimeFigureOut">
              <a:rPr lang="zh-TW" altLang="en-US" smtClean="0"/>
              <a:t>2016/5/23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F0D5DF-B2A2-41B1-A94F-55B40B4E12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570971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9795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16745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19244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17666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15285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8827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44317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27075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99838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35032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51940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91030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18625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26535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50336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00743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29115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08822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82162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834389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247807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87291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48882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72331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811905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448243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660928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790530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80689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369253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92922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586042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065129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66912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981979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655857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200495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45317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FD33D-6920-49C9-BD5B-0C0D85FA0340}" type="datetime1">
              <a:rPr lang="zh-TW" altLang="en-US" smtClean="0"/>
              <a:t>2016/5/23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9006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3E486-6A60-4EDA-BC68-DE7B5D5D14C9}" type="datetime1">
              <a:rPr lang="zh-TW" altLang="en-US" smtClean="0"/>
              <a:t>2016/5/23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5238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7159C-A7EE-4402-A9E1-F5C768C7B964}" type="datetime1">
              <a:rPr lang="zh-TW" altLang="en-US" smtClean="0"/>
              <a:t>2016/5/23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7132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40366-0D2E-4DBF-A4DB-63EF4915A4E1}" type="datetime1">
              <a:rPr lang="zh-TW" altLang="en-US" smtClean="0"/>
              <a:t>2016/5/23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4120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7CDEB-A01D-4AF4-97EE-6BB7504F226E}" type="datetime1">
              <a:rPr lang="zh-TW" altLang="en-US" smtClean="0"/>
              <a:t>2016/5/23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3329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082A2-4BD0-4708-B70C-B5887DEA0B1F}" type="datetime1">
              <a:rPr lang="zh-TW" altLang="en-US" smtClean="0"/>
              <a:t>2016/5/23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534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081FE-D062-4501-AF67-F6F13AB557C4}" type="datetime1">
              <a:rPr lang="zh-TW" altLang="en-US" smtClean="0"/>
              <a:t>2016/5/23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5121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DBBBC-FAB9-4F8E-B87C-E92E8C50AA1F}" type="datetime1">
              <a:rPr lang="zh-TW" altLang="en-US" smtClean="0"/>
              <a:t>2016/5/23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895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9B5C7-F62C-4562-B6D8-707E3DE2FF75}" type="datetime1">
              <a:rPr lang="zh-TW" altLang="en-US" smtClean="0"/>
              <a:t>2016/5/23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5642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92113-ABB1-4EA4-8AEB-6052D5EE5BEE}" type="datetime1">
              <a:rPr lang="zh-TW" altLang="en-US" smtClean="0"/>
              <a:t>2016/5/23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4415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9E917-8D65-4AD0-8E2F-50C5DBAAC474}" type="datetime1">
              <a:rPr lang="zh-TW" altLang="en-US" smtClean="0"/>
              <a:t>2016/5/23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95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DF453C-B32A-44BE-9370-F66BE2CFC793}" type="datetime1">
              <a:rPr lang="zh-TW" altLang="en-US" smtClean="0"/>
              <a:t>2016/5/23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3555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799" y="584141"/>
            <a:ext cx="7774286" cy="582808"/>
          </a:xfrm>
        </p:spPr>
        <p:txBody>
          <a:bodyPr>
            <a:normAutofit fontScale="90000"/>
          </a:bodyPr>
          <a:lstStyle/>
          <a:p>
            <a:r>
              <a:rPr lang="en-US" altLang="zh-TW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SOAP: short oligonucleotide alignment program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19895" y="2586445"/>
            <a:ext cx="8040190" cy="3205498"/>
          </a:xfrm>
        </p:spPr>
        <p:txBody>
          <a:bodyPr>
            <a:normAutofit/>
          </a:bodyPr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Ruiqiang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Yingrui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Karsten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Kristiansen and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Jun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Wang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Beijing Genomics Institute at Shenzhen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BIOINFORMATICS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Vol</a:t>
            </a:r>
            <a:r>
              <a:rPr lang="pt-B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24 no. 5 2008, pages 713–714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Chong-Xuan Lo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Date:2016/5/23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2000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279482" y="364584"/>
            <a:ext cx="5992174" cy="674715"/>
          </a:xfrm>
        </p:spPr>
        <p:txBody>
          <a:bodyPr>
            <a:normAutofit/>
          </a:bodyPr>
          <a:lstStyle/>
          <a:p>
            <a:r>
              <a:rPr lang="en-US" altLang="zh-TW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911517" y="1323704"/>
            <a:ext cx="7755717" cy="4819322"/>
          </a:xfrm>
        </p:spPr>
        <p:txBody>
          <a:bodyPr>
            <a:normAutofit fontScale="92500" lnSpcReduction="10000"/>
          </a:bodyPr>
          <a:lstStyle/>
          <a:p>
            <a:pPr algn="l"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have developed a program SOAP for efficient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gapped and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ungapped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alignment of short oligonucleotides onto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sequences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program is designed to handle the huge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amounts of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 reads generated by parallel sequencing using the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new generation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Illumina-Solexa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sequencing technology. SOAP is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compatible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numerous applications, including single-read or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pair-end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resequencing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small RNA discovery and mRNA tag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mapping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SOAP is a command-driven program, which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multi-threaded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computing, and has a batch module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multiple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sets.</a:t>
            </a:r>
          </a:p>
          <a:p>
            <a:pPr algn="l">
              <a:lnSpc>
                <a:spcPct val="150000"/>
              </a:lnSpc>
            </a:pP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1072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279481" y="364584"/>
            <a:ext cx="6418895" cy="674715"/>
          </a:xfrm>
        </p:spPr>
        <p:txBody>
          <a:bodyPr>
            <a:normAutofit fontScale="90000"/>
          </a:bodyPr>
          <a:lstStyle/>
          <a:p>
            <a:r>
              <a:rPr lang="zh-TW" altLang="en-US" sz="36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傳統</a:t>
            </a: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en-US" altLang="zh-TW" sz="36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DNA sequencing( DNA</a:t>
            </a:r>
            <a:r>
              <a:rPr lang="zh-TW" altLang="en-US" sz="36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定序</a:t>
            </a:r>
            <a:r>
              <a:rPr lang="en-US" altLang="zh-TW" sz="36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3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206123" y="1358538"/>
            <a:ext cx="7755717" cy="4819322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Sanger sequencing: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Chain termination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雙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脫氧鏈終止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法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algn="l">
              <a:lnSpc>
                <a:spcPct val="150000"/>
              </a:lnSpc>
            </a:pP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1958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年及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1980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年兩度獲得諾貝爾化學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獎，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是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第四位兩度獲得諾貝爾獎，以及唯一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獲得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兩次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諾貝爾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化學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獎的人。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fld>
            <a:endParaRPr lang="zh-TW" altLang="en-US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028" name="Picture 4" descr="Frederick Sanger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4522" y="2109193"/>
            <a:ext cx="2095500" cy="2581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字方塊 3"/>
          <p:cNvSpPr txBox="1"/>
          <p:nvPr/>
        </p:nvSpPr>
        <p:spPr>
          <a:xfrm>
            <a:off x="6904113" y="5009708"/>
            <a:ext cx="1915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弗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雷德里克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·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桑格</a:t>
            </a:r>
          </a:p>
        </p:txBody>
      </p:sp>
    </p:spTree>
    <p:extLst>
      <p:ext uri="{BB962C8B-B14F-4D97-AF65-F5344CB8AC3E}">
        <p14:creationId xmlns:p14="http://schemas.microsoft.com/office/powerpoint/2010/main" val="3299236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副標題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" y="6351"/>
            <a:ext cx="8915400" cy="671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105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279479" y="0"/>
            <a:ext cx="6418895" cy="674715"/>
          </a:xfrm>
        </p:spPr>
        <p:txBody>
          <a:bodyPr>
            <a:normAutofit fontScale="90000"/>
          </a:bodyPr>
          <a:lstStyle/>
          <a:p>
            <a:r>
              <a:rPr lang="zh-TW" altLang="en-US" sz="36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傳統</a:t>
            </a: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en-US" altLang="zh-TW" sz="36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DNA sequencing( DNA</a:t>
            </a:r>
            <a:r>
              <a:rPr lang="zh-TW" altLang="en-US" sz="36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定序</a:t>
            </a:r>
            <a:r>
              <a:rPr lang="en-US" altLang="zh-TW" sz="36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3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0" y="586723"/>
            <a:ext cx="7755717" cy="5756366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主要是先進行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DNA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合成，利用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DNA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引子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和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DNA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聚合</a:t>
            </a:r>
            <a:r>
              <a:rPr lang="zh-TW" altLang="en-US" dirty="0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酶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PCR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反應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使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DNA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鏈得以展開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複製，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再利用</a:t>
            </a:r>
            <a:r>
              <a:rPr lang="zh-TW" altLang="en-US" dirty="0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雙脫氧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核</a:t>
            </a:r>
            <a:r>
              <a:rPr lang="zh-TW" altLang="en-US" dirty="0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苷酸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Dideoxy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來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終止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DNA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鏈的合成。實驗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會獲得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不同長度的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DNA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片段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fld>
            <a:endParaRPr lang="zh-TW" altLang="en-US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886" y="2928876"/>
            <a:ext cx="3723257" cy="880949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886" y="4005956"/>
            <a:ext cx="4269040" cy="2852044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4677" y="2488321"/>
            <a:ext cx="3685636" cy="2006247"/>
          </a:xfrm>
          <a:prstGeom prst="rect">
            <a:avLst/>
          </a:prstGeom>
        </p:spPr>
      </p:pic>
      <p:pic>
        <p:nvPicPr>
          <p:cNvPr id="11" name="圖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9714" y="4639032"/>
            <a:ext cx="3700599" cy="221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924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279481" y="364584"/>
            <a:ext cx="6418895" cy="674715"/>
          </a:xfrm>
        </p:spPr>
        <p:txBody>
          <a:bodyPr>
            <a:normAutofit fontScale="90000"/>
          </a:bodyPr>
          <a:lstStyle/>
          <a:p>
            <a:r>
              <a:rPr lang="zh-TW" altLang="en-US" sz="36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傳統</a:t>
            </a: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en-US" altLang="zh-TW" sz="36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DNA sequencing( DNA</a:t>
            </a:r>
            <a:r>
              <a:rPr lang="zh-TW" altLang="en-US" sz="36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定序</a:t>
            </a:r>
            <a:r>
              <a:rPr lang="en-US" altLang="zh-TW" sz="36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3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206123" y="1358538"/>
            <a:ext cx="7755717" cy="4819322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將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PCR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反應獲得的總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DNA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通過毛細管電泳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分離，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跑到最末端的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DNA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就可以在雷射的作用下發出螢光。由於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ddATP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ddGTP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ddCTP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ddTTP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（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種雙脫氧核糖核苷酸）螢光標記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不同。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</a:t>
            </a:fld>
            <a:endParaRPr lang="zh-TW" altLang="en-US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2580" y="3308351"/>
            <a:ext cx="51054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807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87087" y="257220"/>
            <a:ext cx="8978536" cy="674715"/>
          </a:xfrm>
        </p:spPr>
        <p:txBody>
          <a:bodyPr>
            <a:normAutofit fontScale="90000"/>
          </a:bodyPr>
          <a:lstStyle/>
          <a:p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次世代定序 </a:t>
            </a: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(Next Generation Sequencing, NGS)</a:t>
            </a:r>
            <a:endParaRPr lang="zh-TW" altLang="en-US" sz="3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206123" y="1358538"/>
            <a:ext cx="7755717" cy="4819322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自動定序儀器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Illumina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Solexa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ABI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</a:t>
            </a:r>
            <a:r>
              <a:rPr lang="en-US" altLang="zh-TW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SOLiD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Roche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454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皆可稱為次世代定序儀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</a:t>
            </a:fld>
            <a:endParaRPr lang="zh-TW" altLang="en-US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0984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87087" y="257220"/>
            <a:ext cx="8978536" cy="674715"/>
          </a:xfrm>
        </p:spPr>
        <p:txBody>
          <a:bodyPr>
            <a:normAutofit fontScale="90000"/>
          </a:bodyPr>
          <a:lstStyle/>
          <a:p>
            <a:r>
              <a:rPr lang="zh-TW" altLang="en-US" sz="36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次</a:t>
            </a: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世代定序 </a:t>
            </a: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(Next Generation Sequencing, NGS)</a:t>
            </a:r>
            <a:endParaRPr lang="zh-TW" altLang="en-US" sz="3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598009" y="1419498"/>
            <a:ext cx="7917341" cy="4819322"/>
          </a:xfrm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</a:pP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目前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沒有儀器和方法，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可以一次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重頭到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尾定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序整條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染色體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</a:pP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</a:pP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定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序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長度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(read </a:t>
            </a:r>
            <a:r>
              <a:rPr lang="en-US" altLang="zh-TW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lenth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只能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數十到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數千鹼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基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bp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	</a:t>
            </a:r>
          </a:p>
          <a:p>
            <a:pPr algn="l">
              <a:lnSpc>
                <a:spcPct val="100000"/>
              </a:lnSpc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至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今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的定序方法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­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‐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先定序產生許多的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short read 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，再利用有效率的演算法將這些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read mapping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起來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</a:pP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</a:pP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short read meaning short sequences of &lt;~200 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bp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(as compared to long reads by Sanger sequencing, which cover ~1000 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bp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</a:t>
            </a:fld>
            <a:endParaRPr lang="zh-TW" altLang="en-US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0226" y="3829159"/>
            <a:ext cx="3925694" cy="149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969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0962" y="176565"/>
            <a:ext cx="8978536" cy="674715"/>
          </a:xfrm>
        </p:spPr>
        <p:txBody>
          <a:bodyPr>
            <a:normAutofit/>
          </a:bodyPr>
          <a:lstStyle/>
          <a:p>
            <a:r>
              <a:rPr lang="en-US" altLang="zh-TW" sz="36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Mapping Method</a:t>
            </a:r>
            <a:endParaRPr lang="zh-TW" altLang="en-US" sz="3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49963" y="1025476"/>
            <a:ext cx="7917341" cy="4819322"/>
          </a:xfrm>
        </p:spPr>
        <p:txBody>
          <a:bodyPr>
            <a:noAutofit/>
          </a:bodyPr>
          <a:lstStyle/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Hash Table(Lookup table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	</a:t>
            </a:r>
          </a:p>
          <a:p>
            <a:pPr algn="l">
              <a:lnSpc>
                <a:spcPct val="100000"/>
              </a:lnSpc>
            </a:pPr>
            <a:r>
              <a:rPr lang="en-US" altLang="zh-TW" sz="18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–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 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FAST, but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 </a:t>
            </a:r>
            <a:r>
              <a:rPr lang="en-US" altLang="zh-TW" sz="2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requires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 </a:t>
            </a:r>
            <a:r>
              <a:rPr lang="en-US" altLang="zh-TW" sz="2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perfect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 matches.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	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Dynamic Programming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 (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Smith -Waterman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	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 </a:t>
            </a:r>
          </a:p>
          <a:p>
            <a:pPr algn="l">
              <a:lnSpc>
                <a:spcPct val="100000"/>
              </a:lnSpc>
            </a:pP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–  </a:t>
            </a:r>
            <a:r>
              <a:rPr lang="en-US" altLang="zh-TW" sz="20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Indels</a:t>
            </a:r>
            <a:r>
              <a:rPr lang="en-US" altLang="zh-TW" sz="2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	</a:t>
            </a:r>
            <a:r>
              <a:rPr lang="en-US" altLang="zh-TW" sz="2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 </a:t>
            </a:r>
          </a:p>
          <a:p>
            <a:pPr algn="l">
              <a:lnSpc>
                <a:spcPct val="100000"/>
              </a:lnSpc>
            </a:pP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–  </a:t>
            </a:r>
            <a:r>
              <a:rPr lang="en-US" altLang="zh-TW" sz="2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Mathematically optimal solution.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</a:pP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–  </a:t>
            </a:r>
            <a:r>
              <a:rPr lang="en-US" altLang="zh-TW" sz="2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Slow. (most programs use Hash Mapping as a </a:t>
            </a:r>
            <a:r>
              <a:rPr lang="en-US" altLang="zh-TW" sz="20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preﬁlter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	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Burrows-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­‐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Wheeler Transform (BW Transform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	</a:t>
            </a:r>
          </a:p>
          <a:p>
            <a:pPr algn="l">
              <a:lnSpc>
                <a:spcPct val="100000"/>
              </a:lnSpc>
            </a:pPr>
            <a:r>
              <a:rPr lang="en-US" altLang="zh-TW" sz="2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–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  FAST</a:t>
            </a:r>
            <a:r>
              <a:rPr lang="en-US" altLang="zh-TW" sz="2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 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 (</a:t>
            </a:r>
            <a:r>
              <a:rPr lang="en-US" altLang="zh-TW" sz="2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without mismatch/gap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	</a:t>
            </a:r>
            <a:endParaRPr lang="en-US" altLang="zh-TW" sz="20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</a:pPr>
            <a:r>
              <a:rPr lang="en-US" altLang="zh-TW" sz="2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–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  </a:t>
            </a:r>
            <a:r>
              <a:rPr lang="en-US" altLang="zh-TW" sz="2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Memory eﬃcient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	</a:t>
            </a:r>
          </a:p>
          <a:p>
            <a:pPr algn="l">
              <a:lnSpc>
                <a:spcPct val="100000"/>
              </a:lnSpc>
            </a:pPr>
            <a:r>
              <a:rPr lang="en-US" altLang="zh-TW" sz="2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–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  </a:t>
            </a:r>
            <a:r>
              <a:rPr lang="en-US" altLang="zh-TW" sz="2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But for gaps/mismatches, it lacks sensitivity.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	</a:t>
            </a:r>
          </a:p>
          <a:p>
            <a:pPr algn="l">
              <a:lnSpc>
                <a:spcPct val="100000"/>
              </a:lnSpc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 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9</a:t>
            </a:fld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5821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0962" y="176565"/>
            <a:ext cx="8978536" cy="674715"/>
          </a:xfrm>
        </p:spPr>
        <p:txBody>
          <a:bodyPr>
            <a:normAutofit/>
          </a:bodyPr>
          <a:lstStyle/>
          <a:p>
            <a:r>
              <a:rPr lang="en-US" altLang="zh-TW" sz="36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Soap</a:t>
            </a:r>
            <a:endParaRPr lang="zh-TW" altLang="en-US" sz="3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49963" y="1025476"/>
            <a:ext cx="7917341" cy="4819322"/>
          </a:xfrm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The program will load reference sequences into RAM, create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hash tables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for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seed indexing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</a:t>
            </a:r>
          </a:p>
          <a:p>
            <a:pPr algn="l">
              <a:lnSpc>
                <a:spcPct val="100000"/>
              </a:lnSpc>
            </a:pP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Example: seed size=3</a:t>
            </a:r>
          </a:p>
          <a:p>
            <a:pPr algn="l">
              <a:lnSpc>
                <a:spcPct val="100000"/>
              </a:lnSpc>
            </a:pP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</a:t>
            </a:fld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395328"/>
              </p:ext>
            </p:extLst>
          </p:nvPr>
        </p:nvGraphicFramePr>
        <p:xfrm>
          <a:off x="449963" y="2381069"/>
          <a:ext cx="8493747" cy="10807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49499"/>
                <a:gridCol w="793031"/>
                <a:gridCol w="793031"/>
                <a:gridCol w="793031"/>
                <a:gridCol w="793031"/>
                <a:gridCol w="793031"/>
                <a:gridCol w="793031"/>
                <a:gridCol w="793031"/>
                <a:gridCol w="793031"/>
              </a:tblGrid>
              <a:tr h="55372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Reference</a:t>
                      </a:r>
                      <a:r>
                        <a:rPr lang="en-US" altLang="zh-TW" baseline="0" dirty="0" smtClean="0"/>
                        <a:t> </a:t>
                      </a:r>
                      <a:r>
                        <a:rPr lang="en-US" altLang="zh-TW" dirty="0" smtClean="0"/>
                        <a:t>sequence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698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position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0229043"/>
              </p:ext>
            </p:extLst>
          </p:nvPr>
        </p:nvGraphicFramePr>
        <p:xfrm>
          <a:off x="66802" y="3730898"/>
          <a:ext cx="873740" cy="153053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6870"/>
                <a:gridCol w="43687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00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01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11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1559573"/>
              </p:ext>
            </p:extLst>
          </p:nvPr>
        </p:nvGraphicFramePr>
        <p:xfrm>
          <a:off x="1384664" y="3747088"/>
          <a:ext cx="1820092" cy="27918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0046"/>
                <a:gridCol w="910046"/>
              </a:tblGrid>
              <a:tr h="56359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AAA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000000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359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AAT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000001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359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AAC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000010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359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AAG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000011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46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…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…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3230169" y="3840480"/>
                <a:ext cx="11784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zh-TW" altLang="en-US" i="1">
                          <a:latin typeface="Cambria Math" panose="02040503050406030204" pitchFamily="18" charset="0"/>
                        </a:rPr>
                        <m:t>種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0169" y="3840480"/>
                <a:ext cx="1178464" cy="369332"/>
              </a:xfrm>
              <a:prstGeom prst="rect">
                <a:avLst/>
              </a:prstGeom>
              <a:blipFill rotWithShape="0">
                <a:blip r:embed="rId3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表格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95036551"/>
                  </p:ext>
                </p:extLst>
              </p:nvPr>
            </p:nvGraphicFramePr>
            <p:xfrm>
              <a:off x="4738824" y="3836677"/>
              <a:ext cx="2299063" cy="30102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31223"/>
                    <a:gridCol w="1767840"/>
                  </a:tblGrid>
                  <a:tr h="430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000000-AAA</a:t>
                          </a:r>
                          <a:endParaRPr lang="zh-TW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30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000001-AAT</a:t>
                          </a:r>
                          <a:endParaRPr lang="zh-TW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300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/>
                            <a:t>…</a:t>
                          </a:r>
                          <a:endParaRPr lang="zh-TW" altLang="en-US" dirty="0" smtClean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000110-ATC</a:t>
                          </a:r>
                          <a:endParaRPr lang="zh-TW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30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…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011011-TCG</a:t>
                          </a:r>
                          <a:endParaRPr lang="zh-TW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30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…</a:t>
                          </a:r>
                          <a:endParaRPr lang="zh-TW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101100-CGA</a:t>
                          </a:r>
                          <a:endParaRPr lang="zh-TW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30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…</a:t>
                          </a:r>
                          <a:endParaRPr lang="zh-TW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110004-GAT</a:t>
                          </a:r>
                          <a:endParaRPr lang="zh-TW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300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TW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sup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111111-GGG</a:t>
                          </a:r>
                          <a:endParaRPr lang="zh-TW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表格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95036551"/>
                  </p:ext>
                </p:extLst>
              </p:nvPr>
            </p:nvGraphicFramePr>
            <p:xfrm>
              <a:off x="4738824" y="3836677"/>
              <a:ext cx="2299063" cy="30102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31223"/>
                    <a:gridCol w="1767840"/>
                  </a:tblGrid>
                  <a:tr h="430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000000-AAA</a:t>
                          </a:r>
                          <a:endParaRPr lang="zh-TW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30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000001-AAT</a:t>
                          </a:r>
                          <a:endParaRPr lang="zh-TW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300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/>
                            <a:t>…</a:t>
                          </a:r>
                          <a:endParaRPr lang="zh-TW" altLang="en-US" dirty="0" smtClean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000110-ATC</a:t>
                          </a:r>
                          <a:endParaRPr lang="zh-TW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30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…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011011-TCG</a:t>
                          </a:r>
                          <a:endParaRPr lang="zh-TW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30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…</a:t>
                          </a:r>
                          <a:endParaRPr lang="zh-TW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101100-CGA</a:t>
                          </a:r>
                          <a:endParaRPr lang="zh-TW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30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…</a:t>
                          </a:r>
                          <a:endParaRPr lang="zh-TW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110004-GAT</a:t>
                          </a:r>
                          <a:endParaRPr lang="zh-TW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300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1149" t="-598592" r="-336782" b="-140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111111-GGG</a:t>
                          </a:r>
                          <a:endParaRPr lang="zh-TW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10" name="文字方塊 9"/>
          <p:cNvSpPr txBox="1"/>
          <p:nvPr/>
        </p:nvSpPr>
        <p:spPr>
          <a:xfrm>
            <a:off x="4619600" y="3471148"/>
            <a:ext cx="11789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Hash table</a:t>
            </a:r>
            <a:endParaRPr lang="zh-TW" altLang="en-US" dirty="0"/>
          </a:p>
        </p:txBody>
      </p:sp>
      <p:cxnSp>
        <p:nvCxnSpPr>
          <p:cNvPr id="14" name="直線單箭頭接點 13"/>
          <p:cNvCxnSpPr/>
          <p:nvPr/>
        </p:nvCxnSpPr>
        <p:spPr>
          <a:xfrm flipV="1">
            <a:off x="6871063" y="4737463"/>
            <a:ext cx="615587" cy="1741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3751709"/>
              </p:ext>
            </p:extLst>
          </p:nvPr>
        </p:nvGraphicFramePr>
        <p:xfrm>
          <a:off x="7589520" y="3675017"/>
          <a:ext cx="426721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6721"/>
              </a:tblGrid>
              <a:tr h="30301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Ф</a:t>
                      </a:r>
                      <a:endParaRPr lang="zh-TW" altLang="en-US" dirty="0"/>
                    </a:p>
                  </a:txBody>
                  <a:tcPr anchor="ctr"/>
                </a:tc>
              </a:tr>
            </a:tbl>
          </a:graphicData>
        </a:graphic>
      </p:graphicFrame>
      <p:cxnSp>
        <p:nvCxnSpPr>
          <p:cNvPr id="19" name="直線單箭頭接點 18"/>
          <p:cNvCxnSpPr/>
          <p:nvPr/>
        </p:nvCxnSpPr>
        <p:spPr>
          <a:xfrm flipV="1">
            <a:off x="6871062" y="3850974"/>
            <a:ext cx="615587" cy="1741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0045912"/>
              </p:ext>
            </p:extLst>
          </p:nvPr>
        </p:nvGraphicFramePr>
        <p:xfrm>
          <a:off x="7606936" y="5124995"/>
          <a:ext cx="760368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0184"/>
                <a:gridCol w="380184"/>
              </a:tblGrid>
              <a:tr h="30301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/>
                </a:tc>
              </a:tr>
            </a:tbl>
          </a:graphicData>
        </a:graphic>
      </p:graphicFrame>
      <p:cxnSp>
        <p:nvCxnSpPr>
          <p:cNvPr id="21" name="直線單箭頭接點 20"/>
          <p:cNvCxnSpPr/>
          <p:nvPr/>
        </p:nvCxnSpPr>
        <p:spPr>
          <a:xfrm flipV="1">
            <a:off x="6871062" y="4294218"/>
            <a:ext cx="615587" cy="1741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/>
          <p:nvPr/>
        </p:nvCxnSpPr>
        <p:spPr>
          <a:xfrm flipV="1">
            <a:off x="6871061" y="5193375"/>
            <a:ext cx="615587" cy="1741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5752148"/>
              </p:ext>
            </p:extLst>
          </p:nvPr>
        </p:nvGraphicFramePr>
        <p:xfrm>
          <a:off x="7593874" y="4102630"/>
          <a:ext cx="426721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6721"/>
              </a:tblGrid>
              <a:tr h="30301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Ф</a:t>
                      </a:r>
                      <a:endParaRPr lang="zh-TW" altLang="en-US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24" name="表格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3115982"/>
              </p:ext>
            </p:extLst>
          </p:nvPr>
        </p:nvGraphicFramePr>
        <p:xfrm>
          <a:off x="7606936" y="4641669"/>
          <a:ext cx="760368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0184"/>
                <a:gridCol w="380184"/>
              </a:tblGrid>
              <a:tr h="30301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</a:tr>
            </a:tbl>
          </a:graphicData>
        </a:graphic>
      </p:graphicFrame>
      <p:cxnSp>
        <p:nvCxnSpPr>
          <p:cNvPr id="25" name="直線單箭頭接點 24"/>
          <p:cNvCxnSpPr/>
          <p:nvPr/>
        </p:nvCxnSpPr>
        <p:spPr>
          <a:xfrm flipV="1">
            <a:off x="6871060" y="6535752"/>
            <a:ext cx="615587" cy="1741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線單箭頭接點 25"/>
          <p:cNvCxnSpPr/>
          <p:nvPr/>
        </p:nvCxnSpPr>
        <p:spPr>
          <a:xfrm flipV="1">
            <a:off x="6871060" y="6133085"/>
            <a:ext cx="615587" cy="1741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2263002"/>
              </p:ext>
            </p:extLst>
          </p:nvPr>
        </p:nvGraphicFramePr>
        <p:xfrm>
          <a:off x="7615644" y="5988780"/>
          <a:ext cx="380184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0184"/>
              </a:tblGrid>
              <a:tr h="30301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/>
                </a:tc>
              </a:tr>
            </a:tbl>
          </a:graphicData>
        </a:graphic>
      </p:graphicFrame>
      <p:cxnSp>
        <p:nvCxnSpPr>
          <p:cNvPr id="28" name="直線單箭頭接點 27"/>
          <p:cNvCxnSpPr/>
          <p:nvPr/>
        </p:nvCxnSpPr>
        <p:spPr>
          <a:xfrm flipV="1">
            <a:off x="6871059" y="5703137"/>
            <a:ext cx="615587" cy="1741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9" name="表格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1094463"/>
              </p:ext>
            </p:extLst>
          </p:nvPr>
        </p:nvGraphicFramePr>
        <p:xfrm>
          <a:off x="7633062" y="6404810"/>
          <a:ext cx="426721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6721"/>
              </a:tblGrid>
              <a:tr h="30301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Ф</a:t>
                      </a:r>
                      <a:endParaRPr lang="zh-TW" altLang="en-US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30" name="表格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39307"/>
              </p:ext>
            </p:extLst>
          </p:nvPr>
        </p:nvGraphicFramePr>
        <p:xfrm>
          <a:off x="7611290" y="5551934"/>
          <a:ext cx="380184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0184"/>
              </a:tblGrid>
              <a:tr h="30301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6591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0962" y="176565"/>
            <a:ext cx="8978536" cy="674715"/>
          </a:xfrm>
        </p:spPr>
        <p:txBody>
          <a:bodyPr>
            <a:normAutofit/>
          </a:bodyPr>
          <a:lstStyle/>
          <a:p>
            <a:r>
              <a:rPr lang="en-US" altLang="zh-TW" sz="36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Soap</a:t>
            </a:r>
            <a:endParaRPr lang="zh-TW" altLang="en-US" sz="3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標題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449963" y="1025476"/>
                <a:ext cx="7917341" cy="4819322"/>
              </a:xfrm>
            </p:spPr>
            <p:txBody>
              <a:bodyPr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RAM=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+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4∗3+8∗6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∗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4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𝑆</m:t>
                        </m:r>
                      </m:sup>
                    </m:sSup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+(4+1)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∗3∗</m:t>
                    </m:r>
                    <m:f>
                      <m:fPr>
                        <m:ctrlPr>
                          <a:rPr lang="en-US" altLang="zh-TW" i="1" dirty="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+4*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24</m:t>
                        </m:r>
                      </m:sup>
                    </m:sSup>
                  </m:oMath>
                </a14:m>
                <a:endParaRPr lang="en-US" altLang="zh-TW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algn="l">
                  <a:lnSpc>
                    <a:spcPct val="100000"/>
                  </a:lnSpc>
                </a:pPr>
                <a:endPara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algn="l">
                  <a:lnSpc>
                    <a:spcPct val="100000"/>
                  </a:lnSpc>
                </a:pP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where L is the total length of the reference sequences; </a:t>
                </a:r>
                <a:endParaRPr lang="en-US" altLang="zh-TW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algn="l">
                  <a:lnSpc>
                    <a:spcPct val="100000"/>
                  </a:lnSpc>
                </a:pP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S 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is 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seed size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. </a:t>
                </a:r>
                <a:endParaRPr lang="en-US" altLang="zh-TW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algn="l">
                  <a:lnSpc>
                    <a:spcPct val="100000"/>
                  </a:lnSpc>
                </a:pP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for 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the 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whole human 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genome, L =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3 Gb and a selected seed size S =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12 </a:t>
                </a:r>
                <a:r>
                  <a:rPr lang="en-US" altLang="zh-TW" dirty="0" err="1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bp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, about </a:t>
                </a:r>
                <a:r>
                  <a:rPr lang="en-US" altLang="zh-TW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14 Gb RAM 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in total will be needed.	</a:t>
                </a:r>
              </a:p>
              <a:p>
                <a:pPr algn="l">
                  <a:lnSpc>
                    <a:spcPct val="100000"/>
                  </a:lnSpc>
                </a:pPr>
                <a:endParaRPr lang="en-US" altLang="zh-TW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algn="l">
                  <a:lnSpc>
                    <a:spcPct val="100000"/>
                  </a:lnSpc>
                </a:pP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用空間來換時間</a:t>
                </a:r>
                <a:endPara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副標題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449963" y="1025476"/>
                <a:ext cx="7917341" cy="4819322"/>
              </a:xfrm>
              <a:blipFill rotWithShape="0">
                <a:blip r:embed="rId3"/>
                <a:stretch>
                  <a:fillRect l="-123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</a:t>
            </a:fld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0799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0962" y="176565"/>
            <a:ext cx="8978536" cy="674715"/>
          </a:xfrm>
        </p:spPr>
        <p:txBody>
          <a:bodyPr>
            <a:normAutofit/>
          </a:bodyPr>
          <a:lstStyle/>
          <a:p>
            <a:r>
              <a:rPr lang="en-US" altLang="zh-TW" sz="36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Soap</a:t>
            </a:r>
            <a:endParaRPr lang="zh-TW" altLang="en-US" sz="3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49963" y="1025476"/>
            <a:ext cx="7917341" cy="4819322"/>
          </a:xfrm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</a:pP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</a:pP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</a:pP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</a:pP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</a:pP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</a:pPr>
            <a:r>
              <a:rPr lang="en-US" altLang="zh-TW" sz="2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Soap iterative: </a:t>
            </a:r>
          </a:p>
          <a:p>
            <a:pPr algn="l">
              <a:lnSpc>
                <a:spcPct val="100000"/>
              </a:lnSpc>
            </a:pPr>
            <a:r>
              <a:rPr lang="en-US" altLang="zh-TW" sz="2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Reads 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always exhibit a much higher </a:t>
            </a:r>
            <a:r>
              <a:rPr lang="en-US" altLang="zh-TW" sz="2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number of 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sequencing errors at the </a:t>
            </a:r>
            <a:r>
              <a:rPr lang="en-US" altLang="zh-TW" sz="2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3’-end</a:t>
            </a:r>
            <a:endParaRPr lang="zh-TW" altLang="en-US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12</a:t>
            </a:fld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070" y="1089129"/>
            <a:ext cx="7477125" cy="3838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611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552847" y="1036986"/>
            <a:ext cx="7774286" cy="582808"/>
          </a:xfrm>
        </p:spPr>
        <p:txBody>
          <a:bodyPr>
            <a:normAutofit fontScale="90000"/>
          </a:bodyPr>
          <a:lstStyle/>
          <a:p>
            <a:r>
              <a:rPr lang="en-US" altLang="zh-TW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Ultrafast and memory-efficient alignment </a:t>
            </a:r>
            <a:r>
              <a:rPr lang="en-US" altLang="zh-TW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short </a:t>
            </a:r>
            <a:r>
              <a:rPr lang="en-US" altLang="zh-TW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DNA sequences </a:t>
            </a:r>
            <a:r>
              <a:rPr lang="en-US" altLang="zh-TW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zh-TW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human genome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19895" y="2586445"/>
            <a:ext cx="8279968" cy="3205498"/>
          </a:xfrm>
        </p:spPr>
        <p:txBody>
          <a:bodyPr>
            <a:normAutofit/>
          </a:bodyPr>
          <a:lstStyle/>
          <a:p>
            <a:pPr algn="l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Langmead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Cole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Trapnell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Mihai Pop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Steven L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Salzberg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Genome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Biology 2009, 9,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Volume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10, Issue 3,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R25.1</a:t>
            </a:r>
            <a:r>
              <a:rPr lang="pt-B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R25.10</a:t>
            </a:r>
          </a:p>
          <a:p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Chong-Xuan Lo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Date:2016/5/23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9548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279482" y="364584"/>
            <a:ext cx="5992174" cy="674715"/>
          </a:xfrm>
        </p:spPr>
        <p:txBody>
          <a:bodyPr>
            <a:normAutofit/>
          </a:bodyPr>
          <a:lstStyle/>
          <a:p>
            <a:r>
              <a:rPr lang="en-US" altLang="zh-TW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661851" y="1288164"/>
            <a:ext cx="7918297" cy="4819322"/>
          </a:xfrm>
        </p:spPr>
        <p:txBody>
          <a:bodyPr>
            <a:normAutofit lnSpcReduction="10000"/>
          </a:bodyPr>
          <a:lstStyle/>
          <a:p>
            <a:pPr algn="l">
              <a:lnSpc>
                <a:spcPct val="150000"/>
              </a:lnSpc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Bowtie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an ultrafast, memory-efficient alignment program for aligning short DNA sequence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reads to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genomes. For the human genome, Burrows-Wheeler indexing allows Bowtie to align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more than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 million reads per  CPU  hour with a  memory footprint of approximately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1.3 gigabytes. Bowtie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extends previous Burrows-Wheeler techniques with a novel quality-aware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backtracking algorithm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permits mismatches. Multiple processor cores can be used simultaneously to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achieve even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greater alignment speeds.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7406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494476" y="329750"/>
            <a:ext cx="5992174" cy="674715"/>
          </a:xfrm>
        </p:spPr>
        <p:txBody>
          <a:bodyPr>
            <a:normAutofit/>
          </a:bodyPr>
          <a:lstStyle/>
          <a:p>
            <a:r>
              <a:rPr lang="en-US" altLang="zh-TW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Exact </a:t>
            </a:r>
            <a:r>
              <a:rPr lang="en-US" altLang="zh-TW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matching </a:t>
            </a:r>
            <a:r>
              <a:rPr lang="en-US" altLang="zh-TW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573024" y="1236617"/>
            <a:ext cx="7755717" cy="5237335"/>
          </a:xfrm>
        </p:spPr>
        <p:txBody>
          <a:bodyPr>
            <a:normAutofit lnSpcReduction="10000"/>
          </a:bodyPr>
          <a:lstStyle/>
          <a:p>
            <a:pPr algn="l">
              <a:lnSpc>
                <a:spcPct val="150000"/>
              </a:lnSpc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</a:p>
          <a:p>
            <a:pPr algn="l">
              <a:lnSpc>
                <a:spcPct val="150000"/>
              </a:lnSpc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Text=</a:t>
            </a:r>
            <a:r>
              <a:rPr lang="en-US" altLang="zh-TW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acaacg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  <a:p>
            <a:pPr algn="l">
              <a:lnSpc>
                <a:spcPct val="150000"/>
              </a:lnSpc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Pattern=</a:t>
            </a:r>
            <a:r>
              <a:rPr lang="en-US" altLang="zh-TW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aac</a:t>
            </a:r>
            <a:endParaRPr lang="en-US" altLang="zh-TW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en-US" altLang="zh-TW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TW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aca</a:t>
            </a:r>
            <a:r>
              <a:rPr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acg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caa</a:t>
            </a:r>
            <a:r>
              <a:rPr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cg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$	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TW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  <a:r>
              <a:rPr lang="en-US" altLang="zh-TW" i="1" u="sng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aac</a:t>
            </a:r>
            <a:r>
              <a:rPr lang="en-US" altLang="zh-TW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</a:t>
            </a:r>
            <a:endParaRPr lang="en-US" altLang="zh-TW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TW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aac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        </a:t>
            </a:r>
            <a:r>
              <a:rPr lang="en-US" altLang="zh-TW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aac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	         </a:t>
            </a:r>
            <a:r>
              <a:rPr lang="en-US" altLang="zh-TW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aac</a:t>
            </a:r>
            <a:endParaRPr lang="en-US" altLang="zh-TW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brute force window sliding algorithm 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costs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mn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2125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793289" y="303624"/>
            <a:ext cx="5992174" cy="674715"/>
          </a:xfrm>
        </p:spPr>
        <p:txBody>
          <a:bodyPr>
            <a:normAutofit fontScale="90000"/>
          </a:bodyPr>
          <a:lstStyle/>
          <a:p>
            <a:r>
              <a:rPr lang="en-US" altLang="zh-TW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Burrows-Wheeler Transform(BWT)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573024" y="1689464"/>
            <a:ext cx="7755717" cy="4784488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副標題 2"/>
          <p:cNvSpPr txBox="1">
            <a:spLocks/>
          </p:cNvSpPr>
          <p:nvPr/>
        </p:nvSpPr>
        <p:spPr>
          <a:xfrm>
            <a:off x="573024" y="1323703"/>
            <a:ext cx="7755717" cy="51502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TW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acaacg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  <a:p>
            <a:pPr algn="l">
              <a:lnSpc>
                <a:spcPct val="150000"/>
              </a:lnSpc>
            </a:pPr>
            <a:endParaRPr lang="en-US" altLang="zh-TW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en-US" altLang="zh-TW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en-US" altLang="zh-TW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en-US" altLang="zh-TW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en-US" altLang="zh-TW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en-US" altLang="zh-TW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8285151"/>
              </p:ext>
            </p:extLst>
          </p:nvPr>
        </p:nvGraphicFramePr>
        <p:xfrm>
          <a:off x="2757838" y="1841472"/>
          <a:ext cx="3700112" cy="4632480"/>
        </p:xfrm>
        <a:graphic>
          <a:graphicData uri="http://schemas.openxmlformats.org/drawingml/2006/table">
            <a:tbl>
              <a:tblPr/>
              <a:tblGrid>
                <a:gridCol w="525293"/>
                <a:gridCol w="398515"/>
                <a:gridCol w="461904"/>
                <a:gridCol w="463530"/>
                <a:gridCol w="461904"/>
                <a:gridCol w="463532"/>
                <a:gridCol w="461904"/>
                <a:gridCol w="463530"/>
              </a:tblGrid>
              <a:tr h="441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SA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32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32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32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32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32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19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19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19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19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19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19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19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344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680077" y="-139736"/>
            <a:ext cx="5992174" cy="674715"/>
          </a:xfrm>
        </p:spPr>
        <p:txBody>
          <a:bodyPr>
            <a:normAutofit fontScale="90000"/>
          </a:bodyPr>
          <a:lstStyle/>
          <a:p>
            <a:r>
              <a:rPr lang="en-US" altLang="zh-TW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Burrows-Wheeler Transform(BWT)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573024" y="1689464"/>
            <a:ext cx="7755717" cy="4784488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副標題 2"/>
          <p:cNvSpPr txBox="1">
            <a:spLocks/>
          </p:cNvSpPr>
          <p:nvPr/>
        </p:nvSpPr>
        <p:spPr>
          <a:xfrm>
            <a:off x="409233" y="674714"/>
            <a:ext cx="8177417" cy="618328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lexicographically sort these rows to construct a BWT matrix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spcBef>
                <a:spcPct val="0"/>
              </a:spcBef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>
              <a:spcBef>
                <a:spcPct val="0"/>
              </a:spcBef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BWT =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TW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gc</a:t>
            </a:r>
            <a:r>
              <a:rPr kumimoji="1" lang="en-US" altLang="zh-TW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$aaac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on the last column of the BWT matrix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l">
              <a:spcBef>
                <a:spcPct val="0"/>
              </a:spcBef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>
              <a:spcBef>
                <a:spcPct val="0"/>
              </a:spcBef>
            </a:pP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Construct and sort all suffix’s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 : O(M)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ct val="0"/>
              </a:spcBef>
            </a:pP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en-US" altLang="zh-TW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en-US" altLang="zh-TW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en-US" altLang="zh-TW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en-US" altLang="zh-TW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en-US" altLang="zh-TW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en-US" altLang="zh-TW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5259280"/>
              </p:ext>
            </p:extLst>
          </p:nvPr>
        </p:nvGraphicFramePr>
        <p:xfrm>
          <a:off x="2967400" y="1149530"/>
          <a:ext cx="3847792" cy="4510620"/>
        </p:xfrm>
        <a:graphic>
          <a:graphicData uri="http://schemas.openxmlformats.org/drawingml/2006/table">
            <a:tbl>
              <a:tblPr/>
              <a:tblGrid>
                <a:gridCol w="722233"/>
                <a:gridCol w="597047"/>
                <a:gridCol w="360672"/>
                <a:gridCol w="360672"/>
                <a:gridCol w="361941"/>
                <a:gridCol w="360672"/>
                <a:gridCol w="361942"/>
                <a:gridCol w="360672"/>
                <a:gridCol w="361941"/>
              </a:tblGrid>
              <a:tr h="274638">
                <a:tc>
                  <a:txBody>
                    <a:bodyPr/>
                    <a:lstStyle/>
                    <a:p>
                      <a:r>
                        <a:rPr lang="en-US" altLang="zh-TW" sz="24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row</a:t>
                      </a:r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i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</a:t>
                      </a:r>
                      <a:endParaRPr lang="zh-TW" altLang="en-US" sz="2400" i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4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4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4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4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60">
                <a:tc>
                  <a:txBody>
                    <a:bodyPr/>
                    <a:lstStyle/>
                    <a:p>
                      <a:r>
                        <a:rPr lang="en-US" altLang="zh-TW" sz="24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i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i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3785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793289" y="0"/>
            <a:ext cx="5992174" cy="674715"/>
          </a:xfrm>
        </p:spPr>
        <p:txBody>
          <a:bodyPr>
            <a:normAutofit fontScale="90000"/>
          </a:bodyPr>
          <a:lstStyle/>
          <a:p>
            <a:r>
              <a:rPr lang="en-US" altLang="zh-TW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Burrows-Wheeler Transform(BWT)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573024" y="1689464"/>
            <a:ext cx="7755717" cy="4784488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副標題 2"/>
              <p:cNvSpPr txBox="1">
                <a:spLocks/>
              </p:cNvSpPr>
              <p:nvPr/>
            </p:nvSpPr>
            <p:spPr>
              <a:xfrm>
                <a:off x="573024" y="931818"/>
                <a:ext cx="8083296" cy="592618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TW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TW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acaacg</a:t>
                </a:r>
                <a:r>
                  <a:rPr lang="en-US" altLang="zh-TW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$</a:t>
                </a:r>
              </a:p>
              <a:p>
                <a:pPr algn="l">
                  <a:spcBef>
                    <a:spcPct val="0"/>
                  </a:spcBef>
                </a:pPr>
                <a:endParaRPr lang="en-US" altLang="zh-TW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>
                  <a:spcBef>
                    <a:spcPct val="0"/>
                  </a:spcBef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BWT=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gc</a:t>
                </a:r>
                <a:r>
                  <a:rPr kumimoji="1" lang="en-US" altLang="zh-TW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$aaac</a:t>
                </a:r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ct val="0"/>
                  </a:spcBef>
                </a:pP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ct val="0"/>
                  </a:spcBef>
                </a:pPr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ct val="0"/>
                  </a:spcBef>
                </a:pP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ct val="0"/>
                  </a:spcBef>
                </a:pPr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ct val="0"/>
                  </a:spcBef>
                </a:pP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ct val="0"/>
                  </a:spcBef>
                </a:pPr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ct val="0"/>
                  </a:spcBef>
                </a:pP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ct val="0"/>
                  </a:spcBef>
                </a:pPr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ct val="0"/>
                  </a:spcBef>
                </a:pP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ct val="0"/>
                  </a:spcBef>
                </a:pPr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ct val="0"/>
                  </a:spcBef>
                </a:pP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ct val="0"/>
                  </a:spcBef>
                </a:pPr>
                <a:r>
                  <a:rPr lang="fr-FR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define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/>
                      </a:rPr>
                      <m:t>𝑆𝐴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fr-FR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fr-FR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(7, 3, 1, 4, 2, 5, 6). </a:t>
                </a:r>
              </a:p>
              <a:p>
                <a:pPr>
                  <a:spcBef>
                    <a:spcPct val="0"/>
                  </a:spcBef>
                </a:pPr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ct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/>
                            </a:rPr>
                            <m:t>𝐵𝑊𝑇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b/>
                      </m:sSub>
                      <m:r>
                        <a:rPr lang="en-US" altLang="zh-TW" i="1">
                          <a:latin typeface="Cambria Math"/>
                        </a:rPr>
                        <m:t>=</m:t>
                      </m:r>
                      <m:r>
                        <a:rPr lang="en-US" altLang="zh-TW" i="1">
                          <a:latin typeface="Cambria Math"/>
                        </a:rPr>
                        <m:t>𝑇</m:t>
                      </m:r>
                      <m:r>
                        <a:rPr lang="en-US" altLang="zh-TW" i="1">
                          <a:latin typeface="Cambria Math"/>
                        </a:rPr>
                        <m:t>[</m:t>
                      </m:r>
                      <m:r>
                        <a:rPr lang="en-US" altLang="zh-TW" i="1">
                          <a:latin typeface="Cambria Math"/>
                        </a:rPr>
                        <m:t>𝑆𝐴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/>
                            </a:rPr>
                            <m:t>𝑖</m:t>
                          </m:r>
                        </m:e>
                      </m:d>
                      <m:r>
                        <a:rPr lang="en-US" altLang="zh-TW" i="1">
                          <a:latin typeface="Cambria Math"/>
                        </a:rPr>
                        <m:t>−1]</m:t>
                      </m:r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ct val="0"/>
                  </a:spcBef>
                </a:pPr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ct val="0"/>
                  </a:spcBef>
                </a:pP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ct val="0"/>
                  </a:spcBef>
                </a:pPr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>
                  <a:spcBef>
                    <a:spcPct val="0"/>
                  </a:spcBef>
                </a:pP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>
                  <a:lnSpc>
                    <a:spcPct val="150000"/>
                  </a:lnSpc>
                </a:pPr>
                <a:endParaRPr lang="en-US" altLang="zh-TW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>
                  <a:lnSpc>
                    <a:spcPct val="150000"/>
                  </a:lnSpc>
                </a:pPr>
                <a:endParaRPr lang="en-US" altLang="zh-TW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>
                  <a:lnSpc>
                    <a:spcPct val="150000"/>
                  </a:lnSpc>
                </a:pPr>
                <a:endParaRPr lang="en-US" altLang="zh-TW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>
                  <a:lnSpc>
                    <a:spcPct val="150000"/>
                  </a:lnSpc>
                </a:pPr>
                <a:endParaRPr lang="en-US" altLang="zh-TW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>
                  <a:lnSpc>
                    <a:spcPct val="150000"/>
                  </a:lnSpc>
                </a:pPr>
                <a:endParaRPr lang="en-US" altLang="zh-TW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>
                  <a:lnSpc>
                    <a:spcPct val="150000"/>
                  </a:lnSpc>
                </a:pPr>
                <a:endParaRPr lang="en-US" altLang="zh-TW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>
                  <a:lnSpc>
                    <a:spcPct val="150000"/>
                  </a:lnSpc>
                </a:pP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副標題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024" y="931818"/>
                <a:ext cx="8083296" cy="5926182"/>
              </a:xfrm>
              <a:prstGeom prst="rect">
                <a:avLst/>
              </a:prstGeom>
              <a:blipFill rotWithShape="0">
                <a:blip r:embed="rId3"/>
                <a:stretch>
                  <a:fillRect l="-1131" t="-144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5250980"/>
              </p:ext>
            </p:extLst>
          </p:nvPr>
        </p:nvGraphicFramePr>
        <p:xfrm>
          <a:off x="4480949" y="801189"/>
          <a:ext cx="3847792" cy="4510620"/>
        </p:xfrm>
        <a:graphic>
          <a:graphicData uri="http://schemas.openxmlformats.org/drawingml/2006/table">
            <a:tbl>
              <a:tblPr/>
              <a:tblGrid>
                <a:gridCol w="722233"/>
                <a:gridCol w="597047"/>
                <a:gridCol w="360672"/>
                <a:gridCol w="360672"/>
                <a:gridCol w="361941"/>
                <a:gridCol w="360672"/>
                <a:gridCol w="361942"/>
                <a:gridCol w="360672"/>
                <a:gridCol w="361941"/>
              </a:tblGrid>
              <a:tr h="274638">
                <a:tc>
                  <a:txBody>
                    <a:bodyPr/>
                    <a:lstStyle/>
                    <a:p>
                      <a:r>
                        <a:rPr lang="en-US" altLang="zh-TW" sz="24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row</a:t>
                      </a:r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i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</a:t>
                      </a:r>
                      <a:endParaRPr lang="zh-TW" altLang="en-US" sz="2400" i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4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4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4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4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60">
                <a:tc>
                  <a:txBody>
                    <a:bodyPr/>
                    <a:lstStyle/>
                    <a:p>
                      <a:r>
                        <a:rPr lang="en-US" altLang="zh-TW" sz="24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i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i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5591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793289" y="0"/>
            <a:ext cx="5992174" cy="674715"/>
          </a:xfrm>
        </p:spPr>
        <p:txBody>
          <a:bodyPr>
            <a:normAutofit fontScale="90000"/>
          </a:bodyPr>
          <a:lstStyle/>
          <a:p>
            <a:r>
              <a:rPr lang="en-US" altLang="zh-TW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Burrows-Wheeler Transform(BWT)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573024" y="1689464"/>
            <a:ext cx="7755717" cy="4784488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副標題 2"/>
          <p:cNvSpPr txBox="1">
            <a:spLocks/>
          </p:cNvSpPr>
          <p:nvPr/>
        </p:nvSpPr>
        <p:spPr>
          <a:xfrm>
            <a:off x="573024" y="931818"/>
            <a:ext cx="8083296" cy="59261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matrix has a property called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'last first (LF) mapping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'.</a:t>
            </a:r>
          </a:p>
          <a:p>
            <a:pPr>
              <a:spcBef>
                <a:spcPct val="0"/>
              </a:spcBef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ct val="0"/>
              </a:spcBef>
            </a:pP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en-US" altLang="zh-TW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en-US" altLang="zh-TW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en-US" altLang="zh-TW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en-US" altLang="zh-TW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en-US" altLang="zh-TW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en-US" altLang="zh-TW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4745118"/>
              </p:ext>
            </p:extLst>
          </p:nvPr>
        </p:nvGraphicFramePr>
        <p:xfrm>
          <a:off x="4667558" y="1776549"/>
          <a:ext cx="3847792" cy="4510620"/>
        </p:xfrm>
        <a:graphic>
          <a:graphicData uri="http://schemas.openxmlformats.org/drawingml/2006/table">
            <a:tbl>
              <a:tblPr/>
              <a:tblGrid>
                <a:gridCol w="722233"/>
                <a:gridCol w="597047"/>
                <a:gridCol w="360672"/>
                <a:gridCol w="360672"/>
                <a:gridCol w="361941"/>
                <a:gridCol w="360672"/>
                <a:gridCol w="361942"/>
                <a:gridCol w="360672"/>
                <a:gridCol w="361941"/>
              </a:tblGrid>
              <a:tr h="274638">
                <a:tc>
                  <a:txBody>
                    <a:bodyPr/>
                    <a:lstStyle/>
                    <a:p>
                      <a:r>
                        <a:rPr lang="en-US" altLang="zh-TW" sz="24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row</a:t>
                      </a:r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i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</a:t>
                      </a:r>
                      <a:endParaRPr lang="zh-TW" altLang="en-US" sz="2400" i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4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4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4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4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60">
                <a:tc>
                  <a:txBody>
                    <a:bodyPr/>
                    <a:lstStyle/>
                    <a:p>
                      <a:r>
                        <a:rPr lang="en-US" altLang="zh-TW" sz="24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i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i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" name="文字方塊 4"/>
          <p:cNvSpPr txBox="1">
            <a:spLocks noChangeArrowheads="1"/>
          </p:cNvSpPr>
          <p:nvPr/>
        </p:nvSpPr>
        <p:spPr bwMode="auto">
          <a:xfrm>
            <a:off x="386415" y="2474595"/>
            <a:ext cx="3759362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row</a:t>
            </a:r>
            <a:r>
              <a:rPr lang="zh-TW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BWT[2]=c. 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Row</a:t>
            </a:r>
            <a:r>
              <a:rPr lang="zh-TW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starts with “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actually means that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exists a suffix starting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caa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 in row 5.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7177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793289" y="0"/>
            <a:ext cx="5992174" cy="674715"/>
          </a:xfrm>
        </p:spPr>
        <p:txBody>
          <a:bodyPr>
            <a:normAutofit fontScale="90000"/>
          </a:bodyPr>
          <a:lstStyle/>
          <a:p>
            <a:r>
              <a:rPr lang="en-US" altLang="zh-TW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Burrows-Wheeler Transform(BWT)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573024" y="1689464"/>
            <a:ext cx="7755717" cy="4784488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副標題 2"/>
          <p:cNvSpPr txBox="1">
            <a:spLocks/>
          </p:cNvSpPr>
          <p:nvPr/>
        </p:nvSpPr>
        <p:spPr>
          <a:xfrm>
            <a:off x="573024" y="931818"/>
            <a:ext cx="8083296" cy="59261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every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P, there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two corresponding </a:t>
            </a:r>
          </a:p>
          <a:p>
            <a:pPr algn="l">
              <a:spcBef>
                <a:spcPct val="0"/>
              </a:spcBef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s(P),e(P) associated with this pattern P.</a:t>
            </a:r>
          </a:p>
          <a:p>
            <a:pPr algn="l">
              <a:spcBef>
                <a:spcPct val="0"/>
              </a:spcBef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and e denote starting and ending locations respectively.</a:t>
            </a:r>
          </a:p>
          <a:p>
            <a:pPr algn="l">
              <a:spcBef>
                <a:spcPct val="0"/>
              </a:spcBef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ct val="0"/>
              </a:spcBef>
            </a:pP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en-US" altLang="zh-TW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en-US" altLang="zh-TW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en-US" altLang="zh-TW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en-US" altLang="zh-TW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en-US" altLang="zh-TW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en-US" altLang="zh-TW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8971186"/>
              </p:ext>
            </p:extLst>
          </p:nvPr>
        </p:nvGraphicFramePr>
        <p:xfrm>
          <a:off x="4534054" y="2111812"/>
          <a:ext cx="3847792" cy="4510620"/>
        </p:xfrm>
        <a:graphic>
          <a:graphicData uri="http://schemas.openxmlformats.org/drawingml/2006/table">
            <a:tbl>
              <a:tblPr/>
              <a:tblGrid>
                <a:gridCol w="722233"/>
                <a:gridCol w="597047"/>
                <a:gridCol w="360672"/>
                <a:gridCol w="360672"/>
                <a:gridCol w="361941"/>
                <a:gridCol w="360672"/>
                <a:gridCol w="361942"/>
                <a:gridCol w="360672"/>
                <a:gridCol w="361941"/>
              </a:tblGrid>
              <a:tr h="274638">
                <a:tc>
                  <a:txBody>
                    <a:bodyPr/>
                    <a:lstStyle/>
                    <a:p>
                      <a:r>
                        <a:rPr lang="en-US" altLang="zh-TW" sz="24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row</a:t>
                      </a:r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i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</a:t>
                      </a:r>
                      <a:endParaRPr lang="zh-TW" altLang="en-US" sz="2400" i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4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4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4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4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60">
                <a:tc>
                  <a:txBody>
                    <a:bodyPr/>
                    <a:lstStyle/>
                    <a:p>
                      <a:r>
                        <a:rPr lang="en-US" altLang="zh-TW" sz="24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i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i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" name="文字方塊 4"/>
          <p:cNvSpPr txBox="1">
            <a:spLocks noChangeArrowheads="1"/>
          </p:cNvSpPr>
          <p:nvPr/>
        </p:nvSpPr>
        <p:spPr bwMode="auto">
          <a:xfrm>
            <a:off x="386415" y="2657038"/>
            <a:ext cx="3533340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s(“a”) =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(“a”) = 4.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(“ca”) = 5,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(“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 =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Thus, our job is to find the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s(P) and e(P) for a given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pattern.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2769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793289" y="0"/>
            <a:ext cx="5992174" cy="674715"/>
          </a:xfrm>
        </p:spPr>
        <p:txBody>
          <a:bodyPr>
            <a:normAutofit fontScale="90000"/>
          </a:bodyPr>
          <a:lstStyle/>
          <a:p>
            <a:r>
              <a:rPr lang="en-US" altLang="zh-TW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Burrows-Wheeler Transform(BWT)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573024" y="1689464"/>
            <a:ext cx="7755717" cy="4784488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副標題 2"/>
          <p:cNvSpPr txBox="1">
            <a:spLocks/>
          </p:cNvSpPr>
          <p:nvPr/>
        </p:nvSpPr>
        <p:spPr>
          <a:xfrm>
            <a:off x="269965" y="931818"/>
            <a:ext cx="8665029" cy="59261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</a:pPr>
            <a:r>
              <a:rPr lang="en-US" altLang="zh-TW" dirty="0" smtClean="0">
                <a:latin typeface="Times New Roman" charset="0"/>
              </a:rPr>
              <a:t>Apply the BWT’s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‘last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(LF)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mapping’</a:t>
            </a:r>
            <a:r>
              <a:rPr lang="en-US" altLang="zh-TW" dirty="0" smtClean="0">
                <a:latin typeface="Times New Roman" charset="0"/>
              </a:rPr>
              <a:t> property to exact string matching : </a:t>
            </a:r>
            <a:r>
              <a:rPr lang="en-US" altLang="zh-TW" dirty="0" smtClean="0">
                <a:solidFill>
                  <a:srgbClr val="FF0000"/>
                </a:solidFill>
                <a:latin typeface="Times New Roman" charset="0"/>
              </a:rPr>
              <a:t>backtracking</a:t>
            </a:r>
            <a:endParaRPr lang="en-US" altLang="zh-TW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ct val="0"/>
              </a:spcBef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ct val="0"/>
              </a:spcBef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C(x): the number of characters in the text T that are </a:t>
            </a:r>
            <a:r>
              <a:rPr lang="en-US" altLang="zh-TW" dirty="0">
                <a:latin typeface="Times New Roman" charset="0"/>
              </a:rPr>
              <a:t>lexicographically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smaller than x. </a:t>
            </a:r>
          </a:p>
          <a:p>
            <a:pPr algn="l">
              <a:spcBef>
                <a:spcPct val="0"/>
              </a:spcBef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ct val="0"/>
              </a:spcBef>
            </a:pP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Occ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x): the number of character x that occurs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BWT[1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i].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ct val="0"/>
              </a:spcBef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ct val="0"/>
              </a:spcBef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ct val="0"/>
              </a:spcBef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acaacg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$			</a:t>
            </a:r>
            <a:endParaRPr lang="en-US" altLang="zh-TW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ct val="0"/>
              </a:spcBef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ct val="0"/>
              </a:spcBef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C($) = 0</a:t>
            </a:r>
          </a:p>
          <a:p>
            <a:pPr algn="l">
              <a:spcBef>
                <a:spcPct val="0"/>
              </a:spcBef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C(a) = 1</a:t>
            </a:r>
          </a:p>
          <a:p>
            <a:pPr algn="l">
              <a:spcBef>
                <a:spcPct val="0"/>
              </a:spcBef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C(c)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ct val="0"/>
              </a:spcBef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C(g)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ct val="0"/>
              </a:spcBef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474983" y="4919008"/>
            <a:ext cx="343792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Occ</a:t>
            </a:r>
            <a:r>
              <a:rPr kumimoji="1"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(5,a)=2</a:t>
            </a:r>
            <a:endParaRPr kumimoji="1"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Occ</a:t>
            </a:r>
            <a:r>
              <a:rPr kumimoji="1"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(7,a)=3</a:t>
            </a:r>
            <a:endParaRPr kumimoji="1"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Occ</a:t>
            </a:r>
            <a:r>
              <a:rPr kumimoji="1"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(5,c)=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sz="2400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560595"/>
              </p:ext>
            </p:extLst>
          </p:nvPr>
        </p:nvGraphicFramePr>
        <p:xfrm>
          <a:off x="3228471" y="3743087"/>
          <a:ext cx="3499641" cy="914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1525"/>
                <a:gridCol w="322588"/>
                <a:gridCol w="322588"/>
                <a:gridCol w="322588"/>
                <a:gridCol w="322588"/>
                <a:gridCol w="322588"/>
                <a:gridCol w="322588"/>
                <a:gridCol w="322588"/>
              </a:tblGrid>
              <a:tr h="450079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91447" marR="91447" marT="45745" marB="4574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91447" marR="91447" marT="45745" marB="4574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91447" marR="91447" marT="45745" marB="4574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91447" marR="91447" marT="45745" marB="4574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91447" marR="91447" marT="45745" marB="4574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91447" marR="91447" marT="45745" marB="4574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91447" marR="91447" marT="45745" marB="4574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91447" marR="91447" marT="45745" marB="4574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5007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BWT=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91447" marR="91447" marT="45745" marB="4574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91447" marR="91447" marT="45745" marB="4574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91447" marR="91447" marT="45745" marB="4574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40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</a:t>
                      </a:r>
                      <a:endParaRPr lang="zh-TW" altLang="en-US" sz="2400" i="0" dirty="0">
                        <a:solidFill>
                          <a:schemeClr val="tx1"/>
                        </a:solidFill>
                      </a:endParaRPr>
                    </a:p>
                  </a:txBody>
                  <a:tcPr marL="91447" marR="91447" marT="45745" marB="4574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i="0" dirty="0">
                        <a:solidFill>
                          <a:schemeClr val="tx1"/>
                        </a:solidFill>
                      </a:endParaRPr>
                    </a:p>
                  </a:txBody>
                  <a:tcPr marL="91447" marR="91447" marT="45745" marB="4574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91447" marR="91447" marT="45745" marB="4574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91447" marR="91447" marT="45745" marB="4574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91447" marR="91447" marT="45745" marB="4574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6628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793289" y="0"/>
            <a:ext cx="5992174" cy="674715"/>
          </a:xfrm>
        </p:spPr>
        <p:txBody>
          <a:bodyPr>
            <a:normAutofit fontScale="90000"/>
          </a:bodyPr>
          <a:lstStyle/>
          <a:p>
            <a:r>
              <a:rPr lang="en-US" altLang="zh-TW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Burrows-Wheeler Transform(BWT)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573024" y="1689464"/>
            <a:ext cx="7755717" cy="4784488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副標題 2"/>
          <p:cNvSpPr txBox="1">
            <a:spLocks/>
          </p:cNvSpPr>
          <p:nvPr/>
        </p:nvSpPr>
        <p:spPr>
          <a:xfrm>
            <a:off x="269965" y="931818"/>
            <a:ext cx="8665029" cy="59261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</a:pPr>
            <a:r>
              <a:rPr lang="en-US" altLang="zh-TW" dirty="0">
                <a:latin typeface="Times New Roman" charset="0"/>
              </a:rPr>
              <a:t>We can store </a:t>
            </a:r>
            <a:r>
              <a:rPr lang="en-US" altLang="zh-TW" dirty="0" smtClean="0">
                <a:latin typeface="Times New Roman" charset="0"/>
              </a:rPr>
              <a:t>C (</a:t>
            </a:r>
            <a:r>
              <a:rPr lang="en-US" altLang="zh-TW" dirty="0">
                <a:latin typeface="Times New Roman" charset="0"/>
              </a:rPr>
              <a:t>x) and </a:t>
            </a:r>
            <a:r>
              <a:rPr lang="en-US" altLang="zh-TW" dirty="0" err="1" smtClean="0">
                <a:latin typeface="Times New Roman" charset="0"/>
              </a:rPr>
              <a:t>Occ</a:t>
            </a:r>
            <a:r>
              <a:rPr lang="en-US" altLang="zh-TW" dirty="0" smtClean="0">
                <a:latin typeface="Times New Roman" charset="0"/>
              </a:rPr>
              <a:t>(</a:t>
            </a:r>
            <a:r>
              <a:rPr lang="en-US" altLang="zh-TW" dirty="0" err="1" smtClean="0">
                <a:latin typeface="Times New Roman" charset="0"/>
              </a:rPr>
              <a:t>i,x</a:t>
            </a:r>
            <a:r>
              <a:rPr lang="en-US" altLang="zh-TW" dirty="0">
                <a:latin typeface="Times New Roman" charset="0"/>
              </a:rPr>
              <a:t>) as matrixes in pre-processing time</a:t>
            </a:r>
            <a:r>
              <a:rPr lang="en-US" altLang="zh-TW" dirty="0" smtClean="0">
                <a:latin typeface="Times New Roman" charset="0"/>
              </a:rPr>
              <a:t>:</a:t>
            </a:r>
            <a:endParaRPr lang="en-US" altLang="zh-TW" dirty="0">
              <a:latin typeface="Times New Roman" charset="0"/>
            </a:endParaRPr>
          </a:p>
          <a:p>
            <a:pPr algn="l">
              <a:spcBef>
                <a:spcPct val="0"/>
              </a:spcBef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ct val="0"/>
              </a:spcBef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3904976"/>
              </p:ext>
            </p:extLst>
          </p:nvPr>
        </p:nvGraphicFramePr>
        <p:xfrm>
          <a:off x="200060" y="1845731"/>
          <a:ext cx="3847792" cy="4510620"/>
        </p:xfrm>
        <a:graphic>
          <a:graphicData uri="http://schemas.openxmlformats.org/drawingml/2006/table">
            <a:tbl>
              <a:tblPr/>
              <a:tblGrid>
                <a:gridCol w="722233"/>
                <a:gridCol w="597047"/>
                <a:gridCol w="360672"/>
                <a:gridCol w="360672"/>
                <a:gridCol w="361941"/>
                <a:gridCol w="360672"/>
                <a:gridCol w="361942"/>
                <a:gridCol w="360672"/>
                <a:gridCol w="361941"/>
              </a:tblGrid>
              <a:tr h="274638">
                <a:tc>
                  <a:txBody>
                    <a:bodyPr/>
                    <a:lstStyle/>
                    <a:p>
                      <a:r>
                        <a:rPr lang="en-US" altLang="zh-TW" sz="24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row</a:t>
                      </a:r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i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</a:t>
                      </a:r>
                      <a:endParaRPr lang="zh-TW" altLang="en-US" sz="2400" i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4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4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4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4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60">
                <a:tc>
                  <a:txBody>
                    <a:bodyPr/>
                    <a:lstStyle/>
                    <a:p>
                      <a:r>
                        <a:rPr lang="en-US" altLang="zh-TW" sz="24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i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i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0823743"/>
              </p:ext>
            </p:extLst>
          </p:nvPr>
        </p:nvGraphicFramePr>
        <p:xfrm>
          <a:off x="4617947" y="1776550"/>
          <a:ext cx="1506538" cy="11890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459"/>
                <a:gridCol w="373459"/>
                <a:gridCol w="386161"/>
                <a:gridCol w="373459"/>
              </a:tblGrid>
              <a:tr h="396346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C (x)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91459" marR="91459"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63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</a:t>
                      </a:r>
                      <a:endParaRPr lang="zh-TW" altLang="en-US" sz="20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9" marR="91459"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9" marR="91459"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0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9" marR="91459"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0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9" marR="91459"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63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91459" marR="91459"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91459" marR="91459"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91459" marR="91459"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91459" marR="91459"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7701863"/>
              </p:ext>
            </p:extLst>
          </p:nvPr>
        </p:nvGraphicFramePr>
        <p:xfrm>
          <a:off x="6478715" y="1788069"/>
          <a:ext cx="1560912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073"/>
                <a:gridCol w="310073"/>
                <a:gridCol w="310073"/>
                <a:gridCol w="310073"/>
                <a:gridCol w="320620"/>
              </a:tblGrid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TW" sz="2000" dirty="0" err="1" smtClean="0">
                          <a:solidFill>
                            <a:schemeClr val="tx1"/>
                          </a:solidFill>
                        </a:rPr>
                        <a:t>Occ</a:t>
                      </a:r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zh-TW" sz="2000" dirty="0" err="1" smtClean="0">
                          <a:solidFill>
                            <a:schemeClr val="tx1"/>
                          </a:solidFill>
                        </a:rPr>
                        <a:t>i,x</a:t>
                      </a:r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</a:t>
                      </a:r>
                      <a:endParaRPr lang="zh-TW" altLang="en-US" sz="20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0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0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" name="文字方塊 16"/>
          <p:cNvSpPr txBox="1"/>
          <p:nvPr/>
        </p:nvSpPr>
        <p:spPr>
          <a:xfrm>
            <a:off x="4309862" y="5827621"/>
            <a:ext cx="42961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Occ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, x)</a:t>
            </a:r>
            <a:r>
              <a:rPr lang="en-US" altLang="zh-TW" dirty="0"/>
              <a:t> can be performed in constant </a:t>
            </a:r>
            <a:r>
              <a:rPr lang="en-US" altLang="zh-TW" dirty="0" smtClean="0"/>
              <a:t>time</a:t>
            </a:r>
          </a:p>
          <a:p>
            <a:r>
              <a:rPr lang="en-US" altLang="zh-TW" dirty="0" smtClean="0"/>
              <a:t> 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6457950" y="2281645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i="1" dirty="0" err="1" smtClean="0"/>
              <a:t>i</a:t>
            </a:r>
            <a:endParaRPr lang="zh-TW" altLang="en-US" i="1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6550113" y="2096979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i="1" dirty="0" smtClean="0"/>
              <a:t>x</a:t>
            </a:r>
            <a:endParaRPr lang="zh-TW" altLang="en-US" i="1" dirty="0"/>
          </a:p>
        </p:txBody>
      </p:sp>
    </p:spTree>
    <p:extLst>
      <p:ext uri="{BB962C8B-B14F-4D97-AF65-F5344CB8AC3E}">
        <p14:creationId xmlns:p14="http://schemas.microsoft.com/office/powerpoint/2010/main" val="37419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793289" y="0"/>
            <a:ext cx="5992174" cy="674715"/>
          </a:xfrm>
        </p:spPr>
        <p:txBody>
          <a:bodyPr>
            <a:normAutofit fontScale="90000"/>
          </a:bodyPr>
          <a:lstStyle/>
          <a:p>
            <a:r>
              <a:rPr lang="en-US" altLang="zh-TW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Burrows-Wheeler Transform(BWT)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573024" y="1689464"/>
            <a:ext cx="7755717" cy="4784488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副標題 2"/>
          <p:cNvSpPr txBox="1">
            <a:spLocks/>
          </p:cNvSpPr>
          <p:nvPr/>
        </p:nvSpPr>
        <p:spPr>
          <a:xfrm>
            <a:off x="269965" y="931818"/>
            <a:ext cx="8665029" cy="59261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altLang="zh-TW" dirty="0"/>
              <a:t>Given the range [</a:t>
            </a:r>
            <a:r>
              <a:rPr lang="en-US" altLang="zh-TW" dirty="0" smtClean="0"/>
              <a:t>s(Y), e(Y)] </a:t>
            </a:r>
            <a:r>
              <a:rPr lang="en-US" altLang="zh-TW" dirty="0"/>
              <a:t>of a string </a:t>
            </a:r>
            <a:r>
              <a:rPr lang="en-US" altLang="zh-TW" dirty="0" smtClean="0"/>
              <a:t>Y, </a:t>
            </a:r>
            <a:r>
              <a:rPr lang="en-US" altLang="zh-TW" dirty="0"/>
              <a:t>computing the range [</a:t>
            </a:r>
            <a:r>
              <a:rPr lang="en-US" altLang="zh-TW" dirty="0" smtClean="0"/>
              <a:t>s(</a:t>
            </a:r>
            <a:r>
              <a:rPr lang="en-US" altLang="zh-TW" dirty="0" err="1" smtClean="0"/>
              <a:t>xY</a:t>
            </a:r>
            <a:r>
              <a:rPr lang="en-US" altLang="zh-TW" dirty="0" smtClean="0"/>
              <a:t>), e(</a:t>
            </a:r>
            <a:r>
              <a:rPr lang="en-US" altLang="zh-TW" dirty="0" err="1" smtClean="0"/>
              <a:t>xY</a:t>
            </a:r>
            <a:r>
              <a:rPr lang="en-US" altLang="zh-TW" dirty="0" smtClean="0"/>
              <a:t>)] </a:t>
            </a:r>
            <a:r>
              <a:rPr lang="en-US" altLang="zh-TW" dirty="0"/>
              <a:t>for the string </a:t>
            </a:r>
            <a:r>
              <a:rPr lang="en-US" altLang="zh-TW" dirty="0" err="1" smtClean="0"/>
              <a:t>xY</a:t>
            </a:r>
            <a:r>
              <a:rPr lang="en-US" altLang="zh-TW" dirty="0" smtClean="0"/>
              <a:t> </a:t>
            </a:r>
            <a:r>
              <a:rPr lang="en-US" altLang="zh-TW" dirty="0"/>
              <a:t>for any character x can be done by the following formulas:</a:t>
            </a:r>
          </a:p>
          <a:p>
            <a:pPr algn="l">
              <a:defRPr/>
            </a:pPr>
            <a:endParaRPr lang="en-US" altLang="zh-TW" dirty="0"/>
          </a:p>
          <a:p>
            <a:pPr algn="l">
              <a:defRPr/>
            </a:pPr>
            <a:r>
              <a:rPr lang="en-US" altLang="zh-TW" dirty="0" smtClean="0"/>
              <a:t>s(</a:t>
            </a:r>
            <a:r>
              <a:rPr lang="en-US" altLang="zh-TW" dirty="0" err="1" smtClean="0"/>
              <a:t>xY</a:t>
            </a:r>
            <a:r>
              <a:rPr lang="en-US" altLang="zh-TW" dirty="0" smtClean="0"/>
              <a:t>) </a:t>
            </a:r>
            <a:r>
              <a:rPr lang="en-US" altLang="zh-TW" dirty="0"/>
              <a:t>= </a:t>
            </a:r>
            <a:r>
              <a:rPr lang="en-US" altLang="zh-TW" dirty="0" smtClean="0"/>
              <a:t>C(x</a:t>
            </a:r>
            <a:r>
              <a:rPr lang="en-US" altLang="zh-TW" dirty="0"/>
              <a:t>) + </a:t>
            </a:r>
            <a:r>
              <a:rPr lang="en-US" altLang="zh-TW" dirty="0" err="1" smtClean="0"/>
              <a:t>Occ</a:t>
            </a:r>
            <a:r>
              <a:rPr lang="en-US" altLang="zh-TW" dirty="0" smtClean="0"/>
              <a:t>(s(Y)-1,x</a:t>
            </a:r>
            <a:r>
              <a:rPr lang="en-US" altLang="zh-TW" dirty="0"/>
              <a:t>) + 1</a:t>
            </a:r>
          </a:p>
          <a:p>
            <a:pPr algn="l">
              <a:defRPr/>
            </a:pPr>
            <a:r>
              <a:rPr lang="en-US" altLang="zh-TW" dirty="0" smtClean="0"/>
              <a:t>e(</a:t>
            </a:r>
            <a:r>
              <a:rPr lang="en-US" altLang="zh-TW" dirty="0" err="1" smtClean="0"/>
              <a:t>xY</a:t>
            </a:r>
            <a:r>
              <a:rPr lang="en-US" altLang="zh-TW" dirty="0" smtClean="0"/>
              <a:t>) = C(x</a:t>
            </a:r>
            <a:r>
              <a:rPr lang="en-US" altLang="zh-TW" dirty="0"/>
              <a:t>) + </a:t>
            </a:r>
            <a:r>
              <a:rPr lang="en-US" altLang="zh-TW" dirty="0" err="1" smtClean="0"/>
              <a:t>Occ</a:t>
            </a:r>
            <a:r>
              <a:rPr lang="en-US" altLang="zh-TW" dirty="0" smtClean="0"/>
              <a:t>(e(Y), </a:t>
            </a:r>
            <a:r>
              <a:rPr lang="en-US" altLang="zh-TW" dirty="0"/>
              <a:t>x</a:t>
            </a:r>
            <a:r>
              <a:rPr lang="en-US" altLang="zh-TW" dirty="0" smtClean="0"/>
              <a:t>)</a:t>
            </a:r>
          </a:p>
          <a:p>
            <a:pPr algn="l">
              <a:defRPr/>
            </a:pPr>
            <a:endParaRPr lang="en-US" altLang="zh-TW" dirty="0"/>
          </a:p>
          <a:p>
            <a:pPr algn="l">
              <a:defRPr/>
            </a:pPr>
            <a:r>
              <a:rPr lang="en-US" altLang="zh-TW" dirty="0" smtClean="0"/>
              <a:t>s(</a:t>
            </a:r>
            <a:r>
              <a:rPr lang="en-US" altLang="zh-TW" dirty="0" err="1" smtClean="0"/>
              <a:t>xY</a:t>
            </a:r>
            <a:r>
              <a:rPr lang="en-US" altLang="zh-TW" dirty="0" smtClean="0"/>
              <a:t>) </a:t>
            </a:r>
            <a:r>
              <a:rPr lang="en-US" altLang="zh-TW" dirty="0"/>
              <a:t>≤ e(</a:t>
            </a:r>
            <a:r>
              <a:rPr lang="en-US" altLang="zh-TW" dirty="0" err="1"/>
              <a:t>xY</a:t>
            </a:r>
            <a:r>
              <a:rPr lang="en-US" altLang="zh-TW" dirty="0" smtClean="0"/>
              <a:t>) if </a:t>
            </a:r>
            <a:r>
              <a:rPr lang="en-US" altLang="zh-TW" dirty="0"/>
              <a:t>and only if </a:t>
            </a:r>
            <a:r>
              <a:rPr lang="en-US" altLang="zh-TW" dirty="0" smtClean="0"/>
              <a:t> “</a:t>
            </a:r>
            <a:r>
              <a:rPr lang="en-US" altLang="zh-TW" dirty="0" err="1" smtClean="0"/>
              <a:t>xY</a:t>
            </a:r>
            <a:r>
              <a:rPr lang="en-US" altLang="zh-TW" dirty="0" smtClean="0"/>
              <a:t>”  is </a:t>
            </a:r>
            <a:r>
              <a:rPr lang="en-US" altLang="zh-TW" dirty="0"/>
              <a:t>a substring of </a:t>
            </a:r>
            <a:r>
              <a:rPr lang="en-US" altLang="zh-TW" dirty="0" smtClean="0"/>
              <a:t>T</a:t>
            </a:r>
          </a:p>
          <a:p>
            <a:pPr algn="l">
              <a:defRPr/>
            </a:pPr>
            <a:endParaRPr lang="en-US" altLang="zh-TW" dirty="0" smtClean="0"/>
          </a:p>
          <a:p>
            <a:pPr algn="l">
              <a:defRPr/>
            </a:pPr>
            <a:r>
              <a:rPr lang="en-US" altLang="zh-TW" sz="2000" dirty="0" smtClean="0">
                <a:solidFill>
                  <a:schemeClr val="bg1">
                    <a:lumMod val="50000"/>
                  </a:schemeClr>
                </a:solidFill>
              </a:rPr>
              <a:t>Proved by </a:t>
            </a:r>
            <a:r>
              <a:rPr lang="en-US" altLang="zh-TW" sz="2000" dirty="0" err="1" smtClean="0">
                <a:solidFill>
                  <a:schemeClr val="bg1">
                    <a:lumMod val="50000"/>
                  </a:schemeClr>
                </a:solidFill>
              </a:rPr>
              <a:t>Ferragina,P</a:t>
            </a: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</a:rPr>
              <a:t>. and </a:t>
            </a:r>
            <a:r>
              <a:rPr lang="en-US" altLang="zh-TW" sz="2000" dirty="0" err="1">
                <a:solidFill>
                  <a:schemeClr val="bg1">
                    <a:lumMod val="50000"/>
                  </a:schemeClr>
                </a:solidFill>
              </a:rPr>
              <a:t>Manzini,G</a:t>
            </a: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</a:rPr>
              <a:t>. (2000) Opportunistic data structures with applications.</a:t>
            </a:r>
            <a:endParaRPr lang="zh-TW" altLang="zh-TW" sz="2000" dirty="0">
              <a:solidFill>
                <a:schemeClr val="bg1">
                  <a:lumMod val="50000"/>
                </a:schemeClr>
              </a:solidFill>
            </a:endParaRPr>
          </a:p>
          <a:p>
            <a:pPr algn="l">
              <a:spcBef>
                <a:spcPct val="0"/>
              </a:spcBef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ct val="0"/>
              </a:spcBef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8552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793289" y="0"/>
            <a:ext cx="5992174" cy="674715"/>
          </a:xfrm>
        </p:spPr>
        <p:txBody>
          <a:bodyPr>
            <a:normAutofit fontScale="90000"/>
          </a:bodyPr>
          <a:lstStyle/>
          <a:p>
            <a:r>
              <a:rPr lang="en-US" altLang="zh-TW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Burrows-Wheeler Transform(BWT)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副標題 2"/>
          <p:cNvSpPr txBox="1">
            <a:spLocks/>
          </p:cNvSpPr>
          <p:nvPr/>
        </p:nvSpPr>
        <p:spPr>
          <a:xfrm>
            <a:off x="269965" y="931818"/>
            <a:ext cx="8665029" cy="59261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acaacg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ct val="0"/>
              </a:spcBef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ct val="0"/>
              </a:spcBef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P=ac</a:t>
            </a:r>
          </a:p>
          <a:p>
            <a:pPr algn="l">
              <a:lnSpc>
                <a:spcPct val="150000"/>
              </a:lnSpc>
              <a:spcBef>
                <a:spcPct val="0"/>
              </a:spcBef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altLang="zh-TW" dirty="0" smtClean="0">
                <a:latin typeface="Times New Roman" charset="0"/>
              </a:rPr>
              <a:t>Initially, </a:t>
            </a:r>
            <a:r>
              <a:rPr lang="en-US" altLang="zh-TW" dirty="0">
                <a:latin typeface="Times New Roman" charset="0"/>
              </a:rPr>
              <a:t>s(Nil)=1, e(Nil) = </a:t>
            </a:r>
            <a:r>
              <a:rPr lang="en-US" altLang="zh-TW" dirty="0" smtClean="0">
                <a:latin typeface="Times New Roman" charset="0"/>
              </a:rPr>
              <a:t>7.</a:t>
            </a:r>
            <a:endParaRPr lang="en-US" altLang="zh-TW" dirty="0">
              <a:latin typeface="Times New Roman" charset="0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altLang="zh-TW" dirty="0">
                <a:latin typeface="Times New Roman" charset="0"/>
              </a:rPr>
              <a:t>We start with </a:t>
            </a:r>
            <a:r>
              <a:rPr lang="en-US" altLang="zh-TW" dirty="0" smtClean="0">
                <a:latin typeface="Times New Roman" charset="0"/>
              </a:rPr>
              <a:t>x=‘c’ </a:t>
            </a:r>
            <a:r>
              <a:rPr lang="en-US" altLang="zh-TW" dirty="0">
                <a:latin typeface="Times New Roman" charset="0"/>
              </a:rPr>
              <a:t>and </a:t>
            </a:r>
            <a:r>
              <a:rPr lang="en-US" altLang="zh-TW" dirty="0" smtClean="0">
                <a:latin typeface="Times New Roman" charset="0"/>
              </a:rPr>
              <a:t>Y </a:t>
            </a:r>
            <a:r>
              <a:rPr lang="en-US" altLang="zh-TW" dirty="0">
                <a:latin typeface="Times New Roman" charset="0"/>
              </a:rPr>
              <a:t>= Nil.</a:t>
            </a: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altLang="zh-TW" dirty="0" smtClean="0">
                <a:latin typeface="Times New Roman" charset="0"/>
              </a:rPr>
              <a:t>C(c)=4, </a:t>
            </a: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altLang="zh-TW" dirty="0" err="1" smtClean="0">
                <a:latin typeface="Times New Roman" charset="0"/>
              </a:rPr>
              <a:t>Occ</a:t>
            </a:r>
            <a:r>
              <a:rPr lang="en-US" altLang="zh-TW" dirty="0" smtClean="0">
                <a:latin typeface="Times New Roman" charset="0"/>
              </a:rPr>
              <a:t>(s(Nil)-1,c)=0, </a:t>
            </a: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altLang="zh-TW" dirty="0" err="1" smtClean="0">
                <a:latin typeface="Times New Roman" charset="0"/>
              </a:rPr>
              <a:t>Occ</a:t>
            </a:r>
            <a:r>
              <a:rPr lang="en-US" altLang="zh-TW" dirty="0" smtClean="0">
                <a:latin typeface="Times New Roman" charset="0"/>
              </a:rPr>
              <a:t>(e(Nil</a:t>
            </a:r>
            <a:r>
              <a:rPr lang="en-US" altLang="zh-TW" dirty="0">
                <a:latin typeface="Times New Roman" charset="0"/>
              </a:rPr>
              <a:t>) </a:t>
            </a:r>
            <a:r>
              <a:rPr lang="en-US" altLang="zh-TW" dirty="0" smtClean="0">
                <a:latin typeface="Times New Roman" charset="0"/>
              </a:rPr>
              <a:t>,c)=2.</a:t>
            </a:r>
            <a:endParaRPr lang="en-US" altLang="zh-TW" dirty="0">
              <a:latin typeface="Times New Roman" charset="0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altLang="zh-TW" dirty="0" smtClean="0">
                <a:latin typeface="Times New Roman" charset="0"/>
              </a:rPr>
              <a:t>s(c)=4+0+1=5, e(c) </a:t>
            </a:r>
            <a:r>
              <a:rPr lang="en-US" altLang="zh-TW" dirty="0">
                <a:latin typeface="Times New Roman" charset="0"/>
              </a:rPr>
              <a:t>= </a:t>
            </a:r>
            <a:r>
              <a:rPr lang="en-US" altLang="zh-TW" dirty="0" smtClean="0">
                <a:latin typeface="Times New Roman" charset="0"/>
              </a:rPr>
              <a:t>4+2=6.</a:t>
            </a:r>
            <a:endParaRPr lang="en-US" altLang="zh-TW" dirty="0">
              <a:latin typeface="Times New Roman" charset="0"/>
            </a:endParaRPr>
          </a:p>
          <a:p>
            <a:pPr algn="l">
              <a:spcBef>
                <a:spcPct val="0"/>
              </a:spcBef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5577346"/>
              </p:ext>
            </p:extLst>
          </p:nvPr>
        </p:nvGraphicFramePr>
        <p:xfrm>
          <a:off x="5087202" y="1932817"/>
          <a:ext cx="3847792" cy="4510620"/>
        </p:xfrm>
        <a:graphic>
          <a:graphicData uri="http://schemas.openxmlformats.org/drawingml/2006/table">
            <a:tbl>
              <a:tblPr/>
              <a:tblGrid>
                <a:gridCol w="722233"/>
                <a:gridCol w="597047"/>
                <a:gridCol w="360672"/>
                <a:gridCol w="360672"/>
                <a:gridCol w="361941"/>
                <a:gridCol w="360672"/>
                <a:gridCol w="361942"/>
                <a:gridCol w="360672"/>
                <a:gridCol w="361941"/>
              </a:tblGrid>
              <a:tr h="274638">
                <a:tc>
                  <a:txBody>
                    <a:bodyPr/>
                    <a:lstStyle/>
                    <a:p>
                      <a:r>
                        <a:rPr lang="en-US" altLang="zh-TW" sz="24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row</a:t>
                      </a:r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i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</a:t>
                      </a:r>
                      <a:endParaRPr lang="zh-TW" altLang="en-US" sz="2400" i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4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4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4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4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60">
                <a:tc>
                  <a:txBody>
                    <a:bodyPr/>
                    <a:lstStyle/>
                    <a:p>
                      <a:r>
                        <a:rPr lang="en-US" altLang="zh-TW" sz="24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i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i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" name="文字方塊 9"/>
          <p:cNvSpPr txBox="1"/>
          <p:nvPr/>
        </p:nvSpPr>
        <p:spPr>
          <a:xfrm>
            <a:off x="6508342" y="775063"/>
            <a:ext cx="2635658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zh-TW" sz="1600" dirty="0">
                <a:solidFill>
                  <a:schemeClr val="bg1">
                    <a:lumMod val="50000"/>
                  </a:schemeClr>
                </a:solidFill>
              </a:rPr>
              <a:t>s(</a:t>
            </a:r>
            <a:r>
              <a:rPr lang="en-US" altLang="zh-TW" sz="1600" dirty="0" err="1">
                <a:solidFill>
                  <a:schemeClr val="bg1">
                    <a:lumMod val="50000"/>
                  </a:schemeClr>
                </a:solidFill>
              </a:rPr>
              <a:t>xY</a:t>
            </a:r>
            <a:r>
              <a:rPr lang="en-US" altLang="zh-TW" sz="1600" dirty="0">
                <a:solidFill>
                  <a:schemeClr val="bg1">
                    <a:lumMod val="50000"/>
                  </a:schemeClr>
                </a:solidFill>
              </a:rPr>
              <a:t>) = C(x) + </a:t>
            </a:r>
            <a:r>
              <a:rPr lang="en-US" altLang="zh-TW" sz="1600" dirty="0" err="1">
                <a:solidFill>
                  <a:schemeClr val="bg1">
                    <a:lumMod val="50000"/>
                  </a:schemeClr>
                </a:solidFill>
              </a:rPr>
              <a:t>Occ</a:t>
            </a:r>
            <a:r>
              <a:rPr lang="en-US" altLang="zh-TW" sz="1600" dirty="0">
                <a:solidFill>
                  <a:schemeClr val="bg1">
                    <a:lumMod val="50000"/>
                  </a:schemeClr>
                </a:solidFill>
              </a:rPr>
              <a:t>(s(Y)-1,x) + 1</a:t>
            </a:r>
          </a:p>
          <a:p>
            <a:pPr>
              <a:defRPr/>
            </a:pPr>
            <a:r>
              <a:rPr lang="en-US" altLang="zh-TW" sz="1600" dirty="0">
                <a:solidFill>
                  <a:schemeClr val="bg1">
                    <a:lumMod val="50000"/>
                  </a:schemeClr>
                </a:solidFill>
              </a:rPr>
              <a:t>e(</a:t>
            </a:r>
            <a:r>
              <a:rPr lang="en-US" altLang="zh-TW" sz="1600" dirty="0" err="1">
                <a:solidFill>
                  <a:schemeClr val="bg1">
                    <a:lumMod val="50000"/>
                  </a:schemeClr>
                </a:solidFill>
              </a:rPr>
              <a:t>xY</a:t>
            </a:r>
            <a:r>
              <a:rPr lang="en-US" altLang="zh-TW" sz="1600" dirty="0">
                <a:solidFill>
                  <a:schemeClr val="bg1">
                    <a:lumMod val="50000"/>
                  </a:schemeClr>
                </a:solidFill>
              </a:rPr>
              <a:t>) = C(x) + </a:t>
            </a:r>
            <a:r>
              <a:rPr lang="en-US" altLang="zh-TW" sz="1600" dirty="0" err="1">
                <a:solidFill>
                  <a:schemeClr val="bg1">
                    <a:lumMod val="50000"/>
                  </a:schemeClr>
                </a:solidFill>
              </a:rPr>
              <a:t>Occ</a:t>
            </a:r>
            <a:r>
              <a:rPr lang="en-US" altLang="zh-TW" sz="1600" dirty="0">
                <a:solidFill>
                  <a:schemeClr val="bg1">
                    <a:lumMod val="50000"/>
                  </a:schemeClr>
                </a:solidFill>
              </a:rPr>
              <a:t>(e(Y), x)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47144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793289" y="0"/>
            <a:ext cx="5992174" cy="674715"/>
          </a:xfrm>
        </p:spPr>
        <p:txBody>
          <a:bodyPr>
            <a:normAutofit fontScale="90000"/>
          </a:bodyPr>
          <a:lstStyle/>
          <a:p>
            <a:r>
              <a:rPr lang="en-US" altLang="zh-TW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Burrows-Wheeler Transform(BWT)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副標題 2"/>
          <p:cNvSpPr txBox="1">
            <a:spLocks/>
          </p:cNvSpPr>
          <p:nvPr/>
        </p:nvSpPr>
        <p:spPr>
          <a:xfrm>
            <a:off x="182879" y="1297578"/>
            <a:ext cx="8665029" cy="592618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acaacg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ct val="0"/>
              </a:spcBef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ct val="0"/>
              </a:spcBef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P=ac</a:t>
            </a:r>
          </a:p>
          <a:p>
            <a:pPr algn="l">
              <a:lnSpc>
                <a:spcPct val="150000"/>
              </a:lnSpc>
              <a:spcBef>
                <a:spcPct val="0"/>
              </a:spcBef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altLang="zh-TW" dirty="0" smtClean="0">
                <a:latin typeface="Times New Roman" charset="0"/>
              </a:rPr>
              <a:t>Next, s(c)=5, e(c) </a:t>
            </a:r>
            <a:r>
              <a:rPr lang="en-US" altLang="zh-TW" dirty="0">
                <a:latin typeface="Times New Roman" charset="0"/>
              </a:rPr>
              <a:t>= </a:t>
            </a:r>
            <a:r>
              <a:rPr lang="en-US" altLang="zh-TW" dirty="0" smtClean="0">
                <a:latin typeface="Times New Roman" charset="0"/>
              </a:rPr>
              <a:t>6.</a:t>
            </a:r>
            <a:endParaRPr lang="en-US" altLang="zh-TW" dirty="0">
              <a:latin typeface="Times New Roman" charset="0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altLang="zh-TW" dirty="0">
                <a:latin typeface="Times New Roman" charset="0"/>
              </a:rPr>
              <a:t>We start with </a:t>
            </a:r>
            <a:r>
              <a:rPr lang="en-US" altLang="zh-TW" dirty="0" smtClean="0">
                <a:latin typeface="Times New Roman" charset="0"/>
              </a:rPr>
              <a:t>x=‘a’ </a:t>
            </a:r>
            <a:r>
              <a:rPr lang="en-US" altLang="zh-TW" dirty="0">
                <a:latin typeface="Times New Roman" charset="0"/>
              </a:rPr>
              <a:t>and </a:t>
            </a:r>
            <a:r>
              <a:rPr lang="en-US" altLang="zh-TW" dirty="0" smtClean="0">
                <a:latin typeface="Times New Roman" charset="0"/>
              </a:rPr>
              <a:t>Y = ‘ c’.</a:t>
            </a:r>
            <a:endParaRPr lang="en-US" altLang="zh-TW" dirty="0">
              <a:latin typeface="Times New Roman" charset="0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altLang="zh-TW" dirty="0" smtClean="0">
                <a:latin typeface="Times New Roman" charset="0"/>
              </a:rPr>
              <a:t>C(a)=1, </a:t>
            </a: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altLang="zh-TW" dirty="0" err="1" smtClean="0">
                <a:latin typeface="Times New Roman" charset="0"/>
              </a:rPr>
              <a:t>Occ</a:t>
            </a:r>
            <a:r>
              <a:rPr lang="en-US" altLang="zh-TW" dirty="0" smtClean="0">
                <a:latin typeface="Times New Roman" charset="0"/>
              </a:rPr>
              <a:t>(s(c)-1,a)=1, </a:t>
            </a: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altLang="zh-TW" dirty="0" err="1" smtClean="0">
                <a:latin typeface="Times New Roman" charset="0"/>
              </a:rPr>
              <a:t>Occ</a:t>
            </a:r>
            <a:r>
              <a:rPr lang="en-US" altLang="zh-TW" dirty="0" smtClean="0">
                <a:latin typeface="Times New Roman" charset="0"/>
              </a:rPr>
              <a:t>(e(c),a)=3.</a:t>
            </a:r>
            <a:endParaRPr lang="en-US" altLang="zh-TW" dirty="0">
              <a:latin typeface="Times New Roman" charset="0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altLang="zh-TW" dirty="0" smtClean="0">
                <a:latin typeface="Times New Roman" charset="0"/>
              </a:rPr>
              <a:t>s(ac)=1+1+1=3, e(ac) </a:t>
            </a:r>
            <a:r>
              <a:rPr lang="en-US" altLang="zh-TW" dirty="0">
                <a:latin typeface="Times New Roman" charset="0"/>
              </a:rPr>
              <a:t>= </a:t>
            </a:r>
            <a:r>
              <a:rPr lang="en-US" altLang="zh-TW" dirty="0" smtClean="0">
                <a:latin typeface="Times New Roman" charset="0"/>
              </a:rPr>
              <a:t>1+3=4.</a:t>
            </a:r>
          </a:p>
          <a:p>
            <a:pPr algn="l">
              <a:lnSpc>
                <a:spcPct val="150000"/>
              </a:lnSpc>
              <a:spcBef>
                <a:spcPct val="0"/>
              </a:spcBef>
            </a:pPr>
            <a:endParaRPr lang="en-US" altLang="zh-TW" dirty="0" smtClean="0">
              <a:latin typeface="Times New Roman" charset="0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</a:pPr>
            <a:endParaRPr lang="en-US" altLang="zh-TW" dirty="0">
              <a:latin typeface="Times New Roman" charset="0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altLang="zh-TW" dirty="0" err="1" smtClean="0"/>
              <a:t>Occ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, x)</a:t>
            </a:r>
            <a:r>
              <a:rPr lang="en-US" altLang="zh-TW" dirty="0"/>
              <a:t> can be performed in constant time, </a:t>
            </a:r>
            <a:r>
              <a:rPr lang="en-US" altLang="zh-TW" dirty="0" smtClean="0"/>
              <a:t>so count </a:t>
            </a:r>
            <a:r>
              <a:rPr lang="en-US" altLang="zh-TW" dirty="0"/>
              <a:t>can complete in linear time in the length of the pattern: O(p) time.</a:t>
            </a:r>
            <a:endParaRPr lang="en-US" altLang="zh-TW" dirty="0">
              <a:latin typeface="Times New Roman" charset="0"/>
            </a:endParaRPr>
          </a:p>
          <a:p>
            <a:pPr algn="l">
              <a:spcBef>
                <a:spcPct val="0"/>
              </a:spcBef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8001022"/>
              </p:ext>
            </p:extLst>
          </p:nvPr>
        </p:nvGraphicFramePr>
        <p:xfrm>
          <a:off x="4667558" y="1343447"/>
          <a:ext cx="3847792" cy="4510620"/>
        </p:xfrm>
        <a:graphic>
          <a:graphicData uri="http://schemas.openxmlformats.org/drawingml/2006/table">
            <a:tbl>
              <a:tblPr/>
              <a:tblGrid>
                <a:gridCol w="722233"/>
                <a:gridCol w="597047"/>
                <a:gridCol w="360672"/>
                <a:gridCol w="360672"/>
                <a:gridCol w="361941"/>
                <a:gridCol w="360672"/>
                <a:gridCol w="361942"/>
                <a:gridCol w="360672"/>
                <a:gridCol w="361941"/>
              </a:tblGrid>
              <a:tr h="274638">
                <a:tc>
                  <a:txBody>
                    <a:bodyPr/>
                    <a:lstStyle/>
                    <a:p>
                      <a:r>
                        <a:rPr lang="en-US" altLang="zh-TW" sz="24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row</a:t>
                      </a:r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i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</a:t>
                      </a:r>
                      <a:endParaRPr lang="zh-TW" altLang="en-US" sz="2400" i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4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4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4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4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60">
                <a:tc>
                  <a:txBody>
                    <a:bodyPr/>
                    <a:lstStyle/>
                    <a:p>
                      <a:r>
                        <a:rPr lang="en-US" altLang="zh-TW" sz="24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i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i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6508342" y="775063"/>
            <a:ext cx="2635658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zh-TW" sz="1600" dirty="0">
                <a:solidFill>
                  <a:schemeClr val="bg1">
                    <a:lumMod val="50000"/>
                  </a:schemeClr>
                </a:solidFill>
              </a:rPr>
              <a:t>s(</a:t>
            </a:r>
            <a:r>
              <a:rPr lang="en-US" altLang="zh-TW" sz="1600" dirty="0" err="1">
                <a:solidFill>
                  <a:schemeClr val="bg1">
                    <a:lumMod val="50000"/>
                  </a:schemeClr>
                </a:solidFill>
              </a:rPr>
              <a:t>xY</a:t>
            </a:r>
            <a:r>
              <a:rPr lang="en-US" altLang="zh-TW" sz="1600" dirty="0">
                <a:solidFill>
                  <a:schemeClr val="bg1">
                    <a:lumMod val="50000"/>
                  </a:schemeClr>
                </a:solidFill>
              </a:rPr>
              <a:t>) = C(x) + </a:t>
            </a:r>
            <a:r>
              <a:rPr lang="en-US" altLang="zh-TW" sz="1600" dirty="0" err="1">
                <a:solidFill>
                  <a:schemeClr val="bg1">
                    <a:lumMod val="50000"/>
                  </a:schemeClr>
                </a:solidFill>
              </a:rPr>
              <a:t>Occ</a:t>
            </a:r>
            <a:r>
              <a:rPr lang="en-US" altLang="zh-TW" sz="1600" dirty="0">
                <a:solidFill>
                  <a:schemeClr val="bg1">
                    <a:lumMod val="50000"/>
                  </a:schemeClr>
                </a:solidFill>
              </a:rPr>
              <a:t>(s(Y)-1,x) + 1</a:t>
            </a:r>
          </a:p>
          <a:p>
            <a:pPr>
              <a:defRPr/>
            </a:pPr>
            <a:r>
              <a:rPr lang="en-US" altLang="zh-TW" sz="1600" dirty="0">
                <a:solidFill>
                  <a:schemeClr val="bg1">
                    <a:lumMod val="50000"/>
                  </a:schemeClr>
                </a:solidFill>
              </a:rPr>
              <a:t>e(</a:t>
            </a:r>
            <a:r>
              <a:rPr lang="en-US" altLang="zh-TW" sz="1600" dirty="0" err="1">
                <a:solidFill>
                  <a:schemeClr val="bg1">
                    <a:lumMod val="50000"/>
                  </a:schemeClr>
                </a:solidFill>
              </a:rPr>
              <a:t>xY</a:t>
            </a:r>
            <a:r>
              <a:rPr lang="en-US" altLang="zh-TW" sz="1600" dirty="0">
                <a:solidFill>
                  <a:schemeClr val="bg1">
                    <a:lumMod val="50000"/>
                  </a:schemeClr>
                </a:solidFill>
              </a:rPr>
              <a:t>) = C(x) + </a:t>
            </a:r>
            <a:r>
              <a:rPr lang="en-US" altLang="zh-TW" sz="1600" dirty="0" err="1">
                <a:solidFill>
                  <a:schemeClr val="bg1">
                    <a:lumMod val="50000"/>
                  </a:schemeClr>
                </a:solidFill>
              </a:rPr>
              <a:t>Occ</a:t>
            </a:r>
            <a:r>
              <a:rPr lang="en-US" altLang="zh-TW" sz="1600" dirty="0">
                <a:solidFill>
                  <a:schemeClr val="bg1">
                    <a:lumMod val="50000"/>
                  </a:schemeClr>
                </a:solidFill>
              </a:rPr>
              <a:t>(e(Y), x)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30202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793289" y="0"/>
            <a:ext cx="5992174" cy="674715"/>
          </a:xfrm>
        </p:spPr>
        <p:txBody>
          <a:bodyPr>
            <a:normAutofit fontScale="90000"/>
          </a:bodyPr>
          <a:lstStyle/>
          <a:p>
            <a:r>
              <a:rPr lang="en-US" altLang="zh-TW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Burrows-Wheeler Transform(BWT)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副標題 2"/>
          <p:cNvSpPr txBox="1">
            <a:spLocks/>
          </p:cNvSpPr>
          <p:nvPr/>
        </p:nvSpPr>
        <p:spPr>
          <a:xfrm>
            <a:off x="269965" y="931818"/>
            <a:ext cx="8665029" cy="59261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acaacg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ct val="0"/>
              </a:spcBef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ct val="0"/>
              </a:spcBef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P=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gac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altLang="zh-TW" dirty="0" smtClean="0">
                <a:latin typeface="Times New Roman" charset="0"/>
              </a:rPr>
              <a:t>Next, s(ac)=3, e(ac) </a:t>
            </a:r>
            <a:r>
              <a:rPr lang="en-US" altLang="zh-TW" dirty="0">
                <a:latin typeface="Times New Roman" charset="0"/>
              </a:rPr>
              <a:t>= </a:t>
            </a:r>
            <a:r>
              <a:rPr lang="en-US" altLang="zh-TW" dirty="0" smtClean="0">
                <a:latin typeface="Times New Roman" charset="0"/>
              </a:rPr>
              <a:t>4.</a:t>
            </a:r>
            <a:endParaRPr lang="en-US" altLang="zh-TW" dirty="0">
              <a:latin typeface="Times New Roman" charset="0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altLang="zh-TW" dirty="0">
                <a:latin typeface="Times New Roman" charset="0"/>
              </a:rPr>
              <a:t>We start with </a:t>
            </a:r>
            <a:r>
              <a:rPr lang="en-US" altLang="zh-TW" dirty="0" smtClean="0">
                <a:latin typeface="Times New Roman" charset="0"/>
              </a:rPr>
              <a:t>x=‘g’ </a:t>
            </a:r>
            <a:r>
              <a:rPr lang="en-US" altLang="zh-TW" dirty="0">
                <a:latin typeface="Times New Roman" charset="0"/>
              </a:rPr>
              <a:t>and </a:t>
            </a:r>
            <a:r>
              <a:rPr lang="en-US" altLang="zh-TW" dirty="0" smtClean="0">
                <a:latin typeface="Times New Roman" charset="0"/>
              </a:rPr>
              <a:t>Y =‘ ac’.</a:t>
            </a:r>
            <a:endParaRPr lang="en-US" altLang="zh-TW" dirty="0">
              <a:latin typeface="Times New Roman" charset="0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altLang="zh-TW" dirty="0" smtClean="0">
                <a:latin typeface="Times New Roman" charset="0"/>
              </a:rPr>
              <a:t>C(g)=6, </a:t>
            </a: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altLang="zh-TW" dirty="0" err="1" smtClean="0">
                <a:latin typeface="Times New Roman" charset="0"/>
              </a:rPr>
              <a:t>Occ</a:t>
            </a:r>
            <a:r>
              <a:rPr lang="en-US" altLang="zh-TW" dirty="0" smtClean="0">
                <a:latin typeface="Times New Roman" charset="0"/>
              </a:rPr>
              <a:t>(s(ac)-1,g)=1, </a:t>
            </a: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altLang="zh-TW" dirty="0" err="1" smtClean="0">
                <a:latin typeface="Times New Roman" charset="0"/>
              </a:rPr>
              <a:t>Occ</a:t>
            </a:r>
            <a:r>
              <a:rPr lang="en-US" altLang="zh-TW" dirty="0" smtClean="0">
                <a:latin typeface="Times New Roman" charset="0"/>
              </a:rPr>
              <a:t>(e(ac),g)=1.</a:t>
            </a:r>
            <a:endParaRPr lang="en-US" altLang="zh-TW" dirty="0">
              <a:latin typeface="Times New Roman" charset="0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altLang="zh-TW" dirty="0" smtClean="0">
                <a:latin typeface="Times New Roman" charset="0"/>
              </a:rPr>
              <a:t>s(</a:t>
            </a:r>
            <a:r>
              <a:rPr lang="en-US" altLang="zh-TW" dirty="0" err="1" smtClean="0">
                <a:latin typeface="Times New Roman" charset="0"/>
              </a:rPr>
              <a:t>gac</a:t>
            </a:r>
            <a:r>
              <a:rPr lang="en-US" altLang="zh-TW" dirty="0" smtClean="0">
                <a:latin typeface="Times New Roman" charset="0"/>
              </a:rPr>
              <a:t>)=6+1+1=8, e(</a:t>
            </a:r>
            <a:r>
              <a:rPr lang="en-US" altLang="zh-TW" dirty="0" err="1" smtClean="0">
                <a:latin typeface="Times New Roman" charset="0"/>
              </a:rPr>
              <a:t>gac</a:t>
            </a:r>
            <a:r>
              <a:rPr lang="en-US" altLang="zh-TW" dirty="0" smtClean="0">
                <a:latin typeface="Times New Roman" charset="0"/>
              </a:rPr>
              <a:t>) </a:t>
            </a:r>
            <a:r>
              <a:rPr lang="en-US" altLang="zh-TW" dirty="0">
                <a:latin typeface="Times New Roman" charset="0"/>
              </a:rPr>
              <a:t>= </a:t>
            </a:r>
            <a:r>
              <a:rPr lang="en-US" altLang="zh-TW" dirty="0" smtClean="0">
                <a:latin typeface="Times New Roman" charset="0"/>
              </a:rPr>
              <a:t>6+1=7.</a:t>
            </a:r>
            <a:endParaRPr lang="en-US" altLang="zh-TW" dirty="0">
              <a:latin typeface="Times New Roman" charset="0"/>
            </a:endParaRPr>
          </a:p>
          <a:p>
            <a:pPr algn="l">
              <a:spcBef>
                <a:spcPct val="0"/>
              </a:spcBef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ct val="0"/>
              </a:spcBef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ct val="0"/>
              </a:spcBef>
            </a:pPr>
            <a:r>
              <a:rPr lang="en-US" altLang="zh-TW" dirty="0">
                <a:latin typeface="Times New Roman" charset="0"/>
              </a:rPr>
              <a:t>s(</a:t>
            </a:r>
            <a:r>
              <a:rPr lang="en-US" altLang="zh-TW" dirty="0" err="1">
                <a:latin typeface="Times New Roman" charset="0"/>
              </a:rPr>
              <a:t>gac</a:t>
            </a:r>
            <a:r>
              <a:rPr lang="en-US" altLang="zh-TW" dirty="0" smtClean="0">
                <a:latin typeface="Times New Roman" charset="0"/>
              </a:rPr>
              <a:t>)&gt;e(</a:t>
            </a:r>
            <a:r>
              <a:rPr lang="en-US" altLang="zh-TW" dirty="0" err="1" smtClean="0">
                <a:latin typeface="Times New Roman" charset="0"/>
              </a:rPr>
              <a:t>gac</a:t>
            </a:r>
            <a:r>
              <a:rPr lang="en-US" altLang="zh-TW" dirty="0" smtClean="0">
                <a:latin typeface="Times New Roman" charset="0"/>
              </a:rPr>
              <a:t>),so ‘</a:t>
            </a:r>
            <a:r>
              <a:rPr lang="en-US" altLang="zh-TW" dirty="0" err="1" smtClean="0">
                <a:latin typeface="Times New Roman" charset="0"/>
              </a:rPr>
              <a:t>gac’</a:t>
            </a:r>
            <a:r>
              <a:rPr lang="en-US" altLang="zh-TW" dirty="0" err="1" smtClean="0"/>
              <a:t>does</a:t>
            </a:r>
            <a:r>
              <a:rPr lang="en-US" altLang="zh-TW" dirty="0" smtClean="0"/>
              <a:t> </a:t>
            </a:r>
            <a:r>
              <a:rPr lang="en-US" altLang="zh-TW" dirty="0"/>
              <a:t>not exist in text T.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7990467"/>
              </p:ext>
            </p:extLst>
          </p:nvPr>
        </p:nvGraphicFramePr>
        <p:xfrm>
          <a:off x="5000116" y="1445137"/>
          <a:ext cx="3847792" cy="4510620"/>
        </p:xfrm>
        <a:graphic>
          <a:graphicData uri="http://schemas.openxmlformats.org/drawingml/2006/table">
            <a:tbl>
              <a:tblPr/>
              <a:tblGrid>
                <a:gridCol w="722233"/>
                <a:gridCol w="597047"/>
                <a:gridCol w="360672"/>
                <a:gridCol w="360672"/>
                <a:gridCol w="361941"/>
                <a:gridCol w="360672"/>
                <a:gridCol w="361942"/>
                <a:gridCol w="360672"/>
                <a:gridCol w="361941"/>
              </a:tblGrid>
              <a:tr h="274638">
                <a:tc>
                  <a:txBody>
                    <a:bodyPr/>
                    <a:lstStyle/>
                    <a:p>
                      <a:r>
                        <a:rPr lang="en-US" altLang="zh-TW" sz="24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row</a:t>
                      </a:r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i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</a:t>
                      </a:r>
                      <a:endParaRPr lang="zh-TW" altLang="en-US" sz="2400" i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4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4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4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4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60">
                <a:tc>
                  <a:txBody>
                    <a:bodyPr/>
                    <a:lstStyle/>
                    <a:p>
                      <a:r>
                        <a:rPr lang="en-US" altLang="zh-TW" sz="24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i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i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6508342" y="775063"/>
            <a:ext cx="2635658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zh-TW" sz="1600" dirty="0">
                <a:solidFill>
                  <a:schemeClr val="bg1">
                    <a:lumMod val="50000"/>
                  </a:schemeClr>
                </a:solidFill>
              </a:rPr>
              <a:t>s(</a:t>
            </a:r>
            <a:r>
              <a:rPr lang="en-US" altLang="zh-TW" sz="1600" dirty="0" err="1">
                <a:solidFill>
                  <a:schemeClr val="bg1">
                    <a:lumMod val="50000"/>
                  </a:schemeClr>
                </a:solidFill>
              </a:rPr>
              <a:t>xY</a:t>
            </a:r>
            <a:r>
              <a:rPr lang="en-US" altLang="zh-TW" sz="1600" dirty="0">
                <a:solidFill>
                  <a:schemeClr val="bg1">
                    <a:lumMod val="50000"/>
                  </a:schemeClr>
                </a:solidFill>
              </a:rPr>
              <a:t>) = C(x) + </a:t>
            </a:r>
            <a:r>
              <a:rPr lang="en-US" altLang="zh-TW" sz="1600" dirty="0" err="1">
                <a:solidFill>
                  <a:schemeClr val="bg1">
                    <a:lumMod val="50000"/>
                  </a:schemeClr>
                </a:solidFill>
              </a:rPr>
              <a:t>Occ</a:t>
            </a:r>
            <a:r>
              <a:rPr lang="en-US" altLang="zh-TW" sz="1600" dirty="0">
                <a:solidFill>
                  <a:schemeClr val="bg1">
                    <a:lumMod val="50000"/>
                  </a:schemeClr>
                </a:solidFill>
              </a:rPr>
              <a:t>(s(Y)-1,x) + 1</a:t>
            </a:r>
          </a:p>
          <a:p>
            <a:pPr>
              <a:defRPr/>
            </a:pPr>
            <a:r>
              <a:rPr lang="en-US" altLang="zh-TW" sz="1600" dirty="0">
                <a:solidFill>
                  <a:schemeClr val="bg1">
                    <a:lumMod val="50000"/>
                  </a:schemeClr>
                </a:solidFill>
              </a:rPr>
              <a:t>e(</a:t>
            </a:r>
            <a:r>
              <a:rPr lang="en-US" altLang="zh-TW" sz="1600" dirty="0" err="1">
                <a:solidFill>
                  <a:schemeClr val="bg1">
                    <a:lumMod val="50000"/>
                  </a:schemeClr>
                </a:solidFill>
              </a:rPr>
              <a:t>xY</a:t>
            </a:r>
            <a:r>
              <a:rPr lang="en-US" altLang="zh-TW" sz="1600" dirty="0">
                <a:solidFill>
                  <a:schemeClr val="bg1">
                    <a:lumMod val="50000"/>
                  </a:schemeClr>
                </a:solidFill>
              </a:rPr>
              <a:t>) = C(x) + </a:t>
            </a:r>
            <a:r>
              <a:rPr lang="en-US" altLang="zh-TW" sz="1600" dirty="0" err="1">
                <a:solidFill>
                  <a:schemeClr val="bg1">
                    <a:lumMod val="50000"/>
                  </a:schemeClr>
                </a:solidFill>
              </a:rPr>
              <a:t>Occ</a:t>
            </a:r>
            <a:r>
              <a:rPr lang="en-US" altLang="zh-TW" sz="1600" dirty="0">
                <a:solidFill>
                  <a:schemeClr val="bg1">
                    <a:lumMod val="50000"/>
                  </a:schemeClr>
                </a:solidFill>
              </a:rPr>
              <a:t>(e(Y), x)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79232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454795" y="329750"/>
            <a:ext cx="5992174" cy="674715"/>
          </a:xfrm>
        </p:spPr>
        <p:txBody>
          <a:bodyPr>
            <a:normAutofit/>
          </a:bodyPr>
          <a:lstStyle/>
          <a:p>
            <a:r>
              <a:rPr lang="en-US" altLang="zh-TW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Bowtie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573024" y="1654630"/>
            <a:ext cx="7755717" cy="4819322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EXACTMATCH  is  insufficient  for  short  read  alignment</a:t>
            </a:r>
          </a:p>
          <a:p>
            <a:pPr algn="l"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alignments may contain mismatches, which may be</a:t>
            </a:r>
          </a:p>
          <a:p>
            <a:pPr algn="l"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due to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sequencing errors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genuine differences between refer-</a:t>
            </a:r>
          </a:p>
          <a:p>
            <a:pPr algn="l">
              <a:lnSpc>
                <a:spcPct val="150000"/>
              </a:lnSpc>
            </a:pP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ence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query organisms, or both.</a:t>
            </a:r>
          </a:p>
          <a:p>
            <a:pPr algn="l">
              <a:lnSpc>
                <a:spcPct val="150000"/>
              </a:lnSpc>
            </a:pP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0902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428669" y="0"/>
            <a:ext cx="5992174" cy="674715"/>
          </a:xfrm>
        </p:spPr>
        <p:txBody>
          <a:bodyPr>
            <a:normAutofit/>
          </a:bodyPr>
          <a:lstStyle/>
          <a:p>
            <a:r>
              <a:rPr lang="en-US" altLang="zh-TW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FASTQ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標題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0" y="674715"/>
                <a:ext cx="8595360" cy="5150249"/>
              </a:xfrm>
            </p:spPr>
            <p:txBody>
              <a:bodyPr>
                <a:norm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zh-TW" altLang="en-US" sz="20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”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@”</a:t>
                </a:r>
                <a:r>
                  <a:rPr lang="zh-TW" altLang="en-US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後面則是代表該序列來自哪台機器的什麼</a:t>
                </a:r>
                <a:r>
                  <a:rPr lang="zh-TW" altLang="en-US" sz="20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位置和序列名稱</a:t>
                </a:r>
                <a:endParaRPr lang="en-US" altLang="zh-TW" sz="200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algn="l">
                  <a:lnSpc>
                    <a:spcPct val="150000"/>
                  </a:lnSpc>
                </a:pPr>
                <a:r>
                  <a:rPr lang="zh-TW" altLang="en-US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第二行就是</a:t>
                </a:r>
                <a:r>
                  <a:rPr lang="zh-TW" altLang="en-US" sz="20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我們的</a:t>
                </a:r>
                <a:r>
                  <a:rPr lang="zh-TW" altLang="en-US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序列資訊，由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ATCG</a:t>
                </a:r>
                <a:r>
                  <a:rPr lang="zh-TW" altLang="en-US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所組成</a:t>
                </a:r>
                <a:r>
                  <a:rPr lang="zh-TW" altLang="en-US" sz="20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，亦</a:t>
                </a:r>
                <a:r>
                  <a:rPr lang="zh-TW" altLang="en-US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指讀</a:t>
                </a:r>
                <a:r>
                  <a:rPr lang="zh-TW" altLang="en-US" sz="20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長</a:t>
                </a:r>
                <a:r>
                  <a:rPr lang="en-US" altLang="zh-TW" sz="20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(read </a:t>
                </a:r>
                <a:r>
                  <a:rPr lang="en-US" altLang="zh-TW" sz="2000" dirty="0" err="1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lenth</a:t>
                </a:r>
                <a:r>
                  <a:rPr lang="en-US" altLang="zh-TW" sz="20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</a:t>
                </a:r>
              </a:p>
              <a:p>
                <a:pPr algn="l">
                  <a:lnSpc>
                    <a:spcPct val="150000"/>
                  </a:lnSpc>
                </a:pPr>
                <a:r>
                  <a:rPr lang="zh-TW" altLang="en-US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第三行僅會出現一個”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+”</a:t>
                </a:r>
                <a:r>
                  <a:rPr lang="zh-TW" altLang="en-US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符號，並無任何特殊意義，僅提供機器辨識用</a:t>
                </a:r>
                <a:r>
                  <a:rPr lang="zh-TW" altLang="en-US" sz="20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。</a:t>
                </a:r>
                <a:endParaRPr lang="en-US" altLang="zh-TW" sz="200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algn="l">
                  <a:lnSpc>
                    <a:spcPct val="150000"/>
                  </a:lnSpc>
                </a:pPr>
                <a:r>
                  <a:rPr lang="zh-TW" altLang="en-US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第四</a:t>
                </a:r>
                <a:r>
                  <a:rPr lang="zh-TW" altLang="en-US" sz="20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行等同</a:t>
                </a:r>
                <a:r>
                  <a:rPr lang="zh-TW" altLang="en-US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於第二行序列的</a:t>
                </a:r>
                <a:r>
                  <a:rPr lang="zh-TW" altLang="en-US" sz="20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資訊，</a:t>
                </a:r>
                <a:r>
                  <a:rPr lang="zh-TW" altLang="en-US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經過運算後的最終數值稱之為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QV</a:t>
                </a:r>
                <a:r>
                  <a:rPr lang="zh-TW" altLang="en-US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值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(Quality Value</a:t>
                </a:r>
                <a:r>
                  <a:rPr lang="en-US" altLang="zh-TW" sz="20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</a:t>
                </a:r>
                <a:r>
                  <a:rPr lang="zh-TW" altLang="en-US" sz="20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，</a:t>
                </a:r>
                <a:r>
                  <a:rPr lang="zh-TW" altLang="en-US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再</a:t>
                </a:r>
                <a:r>
                  <a:rPr lang="zh-TW" altLang="en-US" sz="20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轉換為</a:t>
                </a:r>
                <a:r>
                  <a:rPr lang="en-US" altLang="zh-TW" sz="20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ASCII 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code </a:t>
                </a:r>
                <a:r>
                  <a:rPr lang="zh-TW" altLang="en-US" sz="20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。</a:t>
                </a:r>
                <a:endParaRPr lang="en-US" altLang="zh-TW" sz="20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algn="l">
                  <a:lnSpc>
                    <a:spcPct val="150000"/>
                  </a:lnSpc>
                </a:pPr>
                <a:r>
                  <a:rPr lang="en-US" altLang="zh-TW" sz="20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Q=-10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TW" sz="200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 sz="2000" i="0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</m:func>
                    <m:r>
                      <a:rPr lang="en-US" altLang="zh-TW" sz="2000" b="0" i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</m:t>
                    </m:r>
                    <m:r>
                      <a:rPr lang="zh-TW" altLang="en-US" sz="2000" i="1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，</m:t>
                    </m:r>
                  </m:oMath>
                </a14:m>
                <a:r>
                  <a:rPr lang="en-US" altLang="zh-TW" sz="20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where 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p is the probability of </a:t>
                </a:r>
                <a:r>
                  <a:rPr lang="en-US" altLang="zh-TW" sz="20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error</a:t>
                </a:r>
              </a:p>
              <a:p>
                <a:pPr algn="l">
                  <a:lnSpc>
                    <a:spcPct val="150000"/>
                  </a:lnSpc>
                </a:pPr>
                <a:r>
                  <a:rPr lang="zh-TW" altLang="en-US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例如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p=0.01  </a:t>
                </a:r>
                <a:r>
                  <a:rPr lang="zh-TW" altLang="en-US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則</a:t>
                </a:r>
                <a:r>
                  <a:rPr lang="en-US" altLang="zh-TW" sz="20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Q=20</a:t>
                </a:r>
                <a:r>
                  <a:rPr lang="zh-TW" altLang="en-US" sz="20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 </a:t>
                </a:r>
                <a:r>
                  <a:rPr lang="en-US" altLang="zh-TW" sz="20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, </a:t>
                </a:r>
                <a:r>
                  <a:rPr lang="zh-TW" altLang="en-US" sz="20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 </a:t>
                </a:r>
                <a:r>
                  <a:rPr lang="en-US" altLang="zh-TW" sz="20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p=0.1 </a:t>
                </a:r>
                <a:r>
                  <a:rPr lang="zh-TW" altLang="en-US" sz="20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則</a:t>
                </a:r>
                <a:r>
                  <a:rPr lang="en-US" altLang="zh-TW" sz="20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Q=10</a:t>
                </a:r>
              </a:p>
              <a:p>
                <a:pPr algn="l">
                  <a:lnSpc>
                    <a:spcPct val="150000"/>
                  </a:lnSpc>
                </a:pPr>
                <a:r>
                  <a:rPr lang="en-US" altLang="zh-TW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200" dirty="0" smtClean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           Ewing </a:t>
                </a:r>
                <a:r>
                  <a:rPr lang="en-US" altLang="zh-TW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B, Green P: Base-calling of automated sequencer traces using </a:t>
                </a:r>
                <a:r>
                  <a:rPr lang="en-US" altLang="zh-TW" sz="1200" dirty="0" err="1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phred</a:t>
                </a:r>
                <a:r>
                  <a:rPr lang="en-US" altLang="zh-TW" sz="12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. II. Error probabilities. Genome Res 1998, 8:186-194.</a:t>
                </a:r>
                <a:endParaRPr lang="zh-TW" altLang="en-US" sz="12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副標題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0" y="674715"/>
                <a:ext cx="8595360" cy="5150249"/>
              </a:xfrm>
              <a:blipFill rotWithShape="0">
                <a:blip r:embed="rId3"/>
                <a:stretch>
                  <a:fillRect l="-709" r="-7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" y="5072844"/>
            <a:ext cx="7381875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765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454795" y="329750"/>
            <a:ext cx="5992174" cy="674715"/>
          </a:xfrm>
        </p:spPr>
        <p:txBody>
          <a:bodyPr>
            <a:normAutofit/>
          </a:bodyPr>
          <a:lstStyle/>
          <a:p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3700" y="292101"/>
            <a:ext cx="6210300" cy="6429375"/>
          </a:xfrm>
          <a:prstGeom prst="rect">
            <a:avLst/>
          </a:prstGeom>
        </p:spPr>
      </p:pic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-87086" y="2168436"/>
            <a:ext cx="7755717" cy="4819322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there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no exact match 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'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ggta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' but there 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one-mismatch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alignment </a:t>
            </a:r>
          </a:p>
          <a:p>
            <a:pPr algn="l">
              <a:lnSpc>
                <a:spcPct val="150000"/>
              </a:lnSpc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'a' is replaced by 'g'.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29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3944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454795" y="329750"/>
            <a:ext cx="5992174" cy="674715"/>
          </a:xfrm>
        </p:spPr>
        <p:txBody>
          <a:bodyPr>
            <a:normAutofit/>
          </a:bodyPr>
          <a:lstStyle/>
          <a:p>
            <a:r>
              <a:rPr lang="en-US" altLang="zh-TW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Excessive backtracking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573024" y="1654630"/>
            <a:ext cx="7755717" cy="4819322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Double indexing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l">
              <a:lnSpc>
                <a:spcPct val="150000"/>
              </a:lnSpc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containing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BWT of the genome, called the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'forward' index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algn="l">
              <a:lnSpc>
                <a:spcPct val="150000"/>
              </a:lnSpc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containing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BWT of the genome with its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reversed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called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'mirror' index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2872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494476" y="7322"/>
            <a:ext cx="5992174" cy="674715"/>
          </a:xfrm>
        </p:spPr>
        <p:txBody>
          <a:bodyPr>
            <a:normAutofit/>
          </a:bodyPr>
          <a:lstStyle/>
          <a:p>
            <a:r>
              <a:rPr lang="en-US" altLang="zh-TW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Excessive backtracking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65463" y="1193076"/>
            <a:ext cx="4145280" cy="4819322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In 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 experiments,  we  have  observed 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that excessive backtracking 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 significant  only  when  </a:t>
            </a: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 read  </a:t>
            </a:r>
            <a:r>
              <a:rPr lang="en-US" altLang="zh-TW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 many  </a:t>
            </a: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low-quality  positions 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 does  not  align  or 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aligns poorly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the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sequence. </a:t>
            </a:r>
          </a:p>
          <a:p>
            <a:pPr algn="l">
              <a:lnSpc>
                <a:spcPct val="150000"/>
              </a:lnSpc>
            </a:pP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We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mitigate this cost by enforcing a limit on the number of backtracks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8625" y="710974"/>
            <a:ext cx="4905375" cy="591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830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454795" y="329750"/>
            <a:ext cx="5992174" cy="674715"/>
          </a:xfrm>
        </p:spPr>
        <p:txBody>
          <a:bodyPr>
            <a:normAutofit/>
          </a:bodyPr>
          <a:lstStyle/>
          <a:p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573024" y="1654630"/>
            <a:ext cx="7755717" cy="4819322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7107"/>
            <a:ext cx="9278045" cy="5543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142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454795" y="329750"/>
            <a:ext cx="5992174" cy="674715"/>
          </a:xfrm>
        </p:spPr>
        <p:txBody>
          <a:bodyPr>
            <a:normAutofit/>
          </a:bodyPr>
          <a:lstStyle/>
          <a:p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573024" y="1654630"/>
            <a:ext cx="7755717" cy="4819322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33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2318250"/>
            <a:ext cx="9144000" cy="1594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415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552847" y="1036986"/>
            <a:ext cx="7774286" cy="582808"/>
          </a:xfrm>
        </p:spPr>
        <p:txBody>
          <a:bodyPr>
            <a:normAutofit fontScale="90000"/>
          </a:bodyPr>
          <a:lstStyle/>
          <a:p>
            <a:r>
              <a:rPr lang="en-US" altLang="zh-TW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and accurate short read alignment </a:t>
            </a:r>
            <a:r>
              <a:rPr lang="en-US" altLang="zh-TW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 Burrows–Wheeler transform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19895" y="2586445"/>
            <a:ext cx="8279968" cy="3205498"/>
          </a:xfrm>
        </p:spPr>
        <p:txBody>
          <a:bodyPr>
            <a:normAutofit/>
          </a:bodyPr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Heng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 and Richard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Durbin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BIOINFORMATICS,</a:t>
            </a:r>
            <a:r>
              <a:rPr lang="pt-B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Vol. 25 no. 14 2009, pages 1754–1760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Chong-Xuan Lo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Date:2016/5/23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0820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279482" y="364584"/>
            <a:ext cx="5992174" cy="674715"/>
          </a:xfrm>
        </p:spPr>
        <p:txBody>
          <a:bodyPr>
            <a:normAutofit/>
          </a:bodyPr>
          <a:lstStyle/>
          <a:p>
            <a:r>
              <a:rPr lang="en-US" altLang="zh-TW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911517" y="1323704"/>
            <a:ext cx="7755717" cy="4819322"/>
          </a:xfrm>
        </p:spPr>
        <p:txBody>
          <a:bodyPr>
            <a:normAutofit fontScale="77500" lnSpcReduction="20000"/>
          </a:bodyPr>
          <a:lstStyle/>
          <a:p>
            <a:pPr algn="l"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implemented Burrows-Wheeler Alignment tool (BWA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a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read alignment package that is based on backward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search with Burrows–Wheeler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 (BWT), to efﬁciently align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short sequencing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reads against a large reference sequence such as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human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genome, allowing mismatches and gaps. BWA supports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both base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 reads, e.g. from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Illumina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sequencing machines,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color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 reads from AB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SOLiD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machines. Evaluations on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both simulated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real data suggest that BWA is ∼ 10–20 × faster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 MAQ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while achieving similar accuracy. In addition, BWA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outputs alignment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new standard SAM (Sequence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Alignment/Map) format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Variant calling and other downstream analyses after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alignment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achieved with the open source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SAMtools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package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35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5543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454795" y="329750"/>
            <a:ext cx="5992174" cy="674715"/>
          </a:xfrm>
        </p:spPr>
        <p:txBody>
          <a:bodyPr>
            <a:normAutofit/>
          </a:bodyPr>
          <a:lstStyle/>
          <a:p>
            <a:r>
              <a:rPr lang="en-US" altLang="zh-TW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BWA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573024" y="1654630"/>
            <a:ext cx="7755717" cy="4819322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Bowtie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講求速度快，但結果不一定準確。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而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BWA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的概念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(BWT)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跟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Bowtie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大致相同，但他會輸出各種比對的情形，結果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比較準確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36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8002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454795" y="329750"/>
            <a:ext cx="5992174" cy="674715"/>
          </a:xfrm>
        </p:spPr>
        <p:txBody>
          <a:bodyPr>
            <a:normAutofit/>
          </a:bodyPr>
          <a:lstStyle/>
          <a:p>
            <a:r>
              <a:rPr lang="en-US" altLang="zh-TW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BWA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0" y="1262744"/>
            <a:ext cx="7755717" cy="4819322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Single-end: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只讀取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DNA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片段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的一端。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Paired-end: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讀取兩端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1925" y="1278750"/>
            <a:ext cx="5133975" cy="3876675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30470"/>
            <a:ext cx="3971925" cy="280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110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454795" y="329750"/>
            <a:ext cx="5992174" cy="674715"/>
          </a:xfrm>
        </p:spPr>
        <p:txBody>
          <a:bodyPr>
            <a:normAutofit/>
          </a:bodyPr>
          <a:lstStyle/>
          <a:p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548640" y="2786742"/>
            <a:ext cx="7755717" cy="332144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5220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8935</TotalTime>
  <Words>2446</Words>
  <Application>Microsoft Office PowerPoint</Application>
  <PresentationFormat>如螢幕大小 (4:3)</PresentationFormat>
  <Paragraphs>1118</Paragraphs>
  <Slides>38</Slides>
  <Notes>38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38</vt:i4>
      </vt:variant>
    </vt:vector>
  </HeadingPairs>
  <TitlesOfParts>
    <vt:vector size="46" baseType="lpstr">
      <vt:lpstr>新細明體</vt:lpstr>
      <vt:lpstr>標楷體</vt:lpstr>
      <vt:lpstr>Arial</vt:lpstr>
      <vt:lpstr>Calibri</vt:lpstr>
      <vt:lpstr>Calibri Light</vt:lpstr>
      <vt:lpstr>Cambria Math</vt:lpstr>
      <vt:lpstr>Times New Roman</vt:lpstr>
      <vt:lpstr>Office 佈景主題</vt:lpstr>
      <vt:lpstr>SOAP: short oligonucleotide alignment program</vt:lpstr>
      <vt:lpstr>Abstract</vt:lpstr>
      <vt:lpstr>傳統:DNA sequencing( DNA定序)</vt:lpstr>
      <vt:lpstr>PowerPoint 簡報</vt:lpstr>
      <vt:lpstr>傳統:DNA sequencing( DNA定序)</vt:lpstr>
      <vt:lpstr>傳統:DNA sequencing( DNA定序)</vt:lpstr>
      <vt:lpstr>次世代定序 (Next Generation Sequencing, NGS)</vt:lpstr>
      <vt:lpstr>次世代定序 (Next Generation Sequencing, NGS)</vt:lpstr>
      <vt:lpstr>Mapping Method</vt:lpstr>
      <vt:lpstr>Soap</vt:lpstr>
      <vt:lpstr>Soap</vt:lpstr>
      <vt:lpstr>Soap</vt:lpstr>
      <vt:lpstr>Ultrafast and memory-efficient alignment of short DNA sequences to the human genome</vt:lpstr>
      <vt:lpstr>Abstract</vt:lpstr>
      <vt:lpstr>Exact string matching problem</vt:lpstr>
      <vt:lpstr>Burrows-Wheeler Transform(BWT)</vt:lpstr>
      <vt:lpstr>Burrows-Wheeler Transform(BWT)</vt:lpstr>
      <vt:lpstr>Burrows-Wheeler Transform(BWT)</vt:lpstr>
      <vt:lpstr>Burrows-Wheeler Transform(BWT)</vt:lpstr>
      <vt:lpstr>Burrows-Wheeler Transform(BWT)</vt:lpstr>
      <vt:lpstr>Burrows-Wheeler Transform(BWT)</vt:lpstr>
      <vt:lpstr>Burrows-Wheeler Transform(BWT)</vt:lpstr>
      <vt:lpstr>Burrows-Wheeler Transform(BWT)</vt:lpstr>
      <vt:lpstr>Burrows-Wheeler Transform(BWT)</vt:lpstr>
      <vt:lpstr>Burrows-Wheeler Transform(BWT)</vt:lpstr>
      <vt:lpstr>Burrows-Wheeler Transform(BWT)</vt:lpstr>
      <vt:lpstr>Bowtie</vt:lpstr>
      <vt:lpstr>FASTQ</vt:lpstr>
      <vt:lpstr>PowerPoint 簡報</vt:lpstr>
      <vt:lpstr>Excessive backtracking</vt:lpstr>
      <vt:lpstr>Excessive backtracking</vt:lpstr>
      <vt:lpstr>PowerPoint 簡報</vt:lpstr>
      <vt:lpstr>PowerPoint 簡報</vt:lpstr>
      <vt:lpstr>Fast and accurate short read alignment with Burrows–Wheeler transform</vt:lpstr>
      <vt:lpstr>Abstract</vt:lpstr>
      <vt:lpstr>BWA</vt:lpstr>
      <vt:lpstr>BWA</vt:lpstr>
      <vt:lpstr>PowerPoint 簡報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Mining Association Rules in Big Data for E-healthcare Information System </dc:title>
  <dc:creator>muchmuch</dc:creator>
  <cp:lastModifiedBy>muchmuch</cp:lastModifiedBy>
  <cp:revision>149</cp:revision>
  <dcterms:created xsi:type="dcterms:W3CDTF">2016-04-23T07:31:56Z</dcterms:created>
  <dcterms:modified xsi:type="dcterms:W3CDTF">2016-05-23T05:14:07Z</dcterms:modified>
</cp:coreProperties>
</file>