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2" r:id="rId10"/>
    <p:sldId id="268" r:id="rId11"/>
    <p:sldId id="263" r:id="rId12"/>
    <p:sldId id="267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EFCB11-1AD7-455F-B407-E13BD3865798}" type="datetimeFigureOut">
              <a:rPr lang="zh-TW" altLang="en-US" smtClean="0"/>
              <a:t>2016/11/22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BFE606-5565-4EA7-9BCC-94C62E4113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1790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BFE606-5565-4EA7-9BCC-94C62E41138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4610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BFE606-5565-4EA7-9BCC-94C62E41138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3333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BFE606-5565-4EA7-9BCC-94C62E41138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8098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E4505-3805-480B-9582-D6DCCF6E3B3D}" type="datetime1">
              <a:rPr lang="zh-TW" altLang="en-US" smtClean="0"/>
              <a:t>2016/11/22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1937-6110-493B-B7AF-FB89256A0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047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07A28-3DF5-4FFD-AD9E-F76F697B3A28}" type="datetime1">
              <a:rPr lang="zh-TW" altLang="en-US" smtClean="0"/>
              <a:t>2016/11/22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1937-6110-493B-B7AF-FB89256A0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610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EDCE3-CD1E-4BCF-A8B2-C1E76BA8229A}" type="datetime1">
              <a:rPr lang="zh-TW" altLang="en-US" smtClean="0"/>
              <a:t>2016/11/22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1937-6110-493B-B7AF-FB89256A0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671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2F5-EC0E-4D49-BCF4-8ED4224916DC}" type="datetime1">
              <a:rPr lang="zh-TW" altLang="en-US" smtClean="0"/>
              <a:t>2016/11/22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1937-6110-493B-B7AF-FB89256A0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7188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EC2B-4EFB-4C90-8132-2988CE72CA93}" type="datetime1">
              <a:rPr lang="zh-TW" altLang="en-US" smtClean="0"/>
              <a:t>2016/11/22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1937-6110-493B-B7AF-FB89256A0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854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7FE59-A108-4CFC-A5AD-FDFAB85D9B63}" type="datetime1">
              <a:rPr lang="zh-TW" altLang="en-US" smtClean="0"/>
              <a:t>2016/11/22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1937-6110-493B-B7AF-FB89256A0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5733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E10F4-C938-4D75-B97A-A4B2BB869C1E}" type="datetime1">
              <a:rPr lang="zh-TW" altLang="en-US" smtClean="0"/>
              <a:t>2016/11/22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1937-6110-493B-B7AF-FB89256A0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5931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3FBD1-7082-4AA2-A8CC-FE4EBBDF1A8A}" type="datetime1">
              <a:rPr lang="zh-TW" altLang="en-US" smtClean="0"/>
              <a:t>2016/11/22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1937-6110-493B-B7AF-FB89256A0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0095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81B8-4D3F-4E3A-BAA0-C89C8A65A2C3}" type="datetime1">
              <a:rPr lang="zh-TW" altLang="en-US" smtClean="0"/>
              <a:t>2016/11/22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1937-6110-493B-B7AF-FB89256A0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1500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C2FE-9FAB-44C6-8254-B103CE105F94}" type="datetime1">
              <a:rPr lang="zh-TW" altLang="en-US" smtClean="0"/>
              <a:t>2016/11/22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1937-6110-493B-B7AF-FB89256A0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7340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E9586-A09A-4E37-BE49-4FAF009DFD19}" type="datetime1">
              <a:rPr lang="zh-TW" altLang="en-US" smtClean="0"/>
              <a:t>2016/11/22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1937-6110-493B-B7AF-FB89256A0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8076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37C7F-7A88-447D-9E1E-3FE5A5FE6A52}" type="datetime1">
              <a:rPr lang="zh-TW" altLang="en-US" smtClean="0"/>
              <a:t>2016/11/22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71937-6110-493B-B7AF-FB89256A0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7910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699911"/>
            <a:ext cx="9144000" cy="1692452"/>
          </a:xfrm>
        </p:spPr>
        <p:txBody>
          <a:bodyPr>
            <a:normAutofit fontScale="90000"/>
          </a:bodyPr>
          <a:lstStyle/>
          <a:p>
            <a:r>
              <a:rPr lang="en-US" altLang="zh-TW"/>
              <a:t>A</a:t>
            </a:r>
            <a:r>
              <a:rPr lang="zh-TW" altLang="en-US"/>
              <a:t> </a:t>
            </a:r>
            <a:r>
              <a:rPr lang="en-US" altLang="zh-TW"/>
              <a:t>simple algorithm for the constrained sequence problems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46577" y="2673743"/>
            <a:ext cx="9144000" cy="2115104"/>
          </a:xfrm>
        </p:spPr>
        <p:txBody>
          <a:bodyPr>
            <a:normAutofit lnSpcReduction="10000"/>
          </a:bodyPr>
          <a:lstStyle/>
          <a:p>
            <a:r>
              <a:rPr lang="en-US" altLang="zh-TW"/>
              <a:t>Francis Y.L. Chin </a:t>
            </a:r>
            <a:endParaRPr lang="en-US" altLang="zh-TW" dirty="0"/>
          </a:p>
          <a:p>
            <a:r>
              <a:rPr lang="en-US" altLang="zh-TW"/>
              <a:t> Alfredo De Santis </a:t>
            </a:r>
            <a:endParaRPr lang="en-US" altLang="zh-TW" dirty="0"/>
          </a:p>
          <a:p>
            <a:r>
              <a:rPr lang="en-US" altLang="zh-TW"/>
              <a:t> Anna Lisa Ferrara </a:t>
            </a:r>
            <a:endParaRPr lang="en-US" altLang="zh-TW" dirty="0"/>
          </a:p>
          <a:p>
            <a:r>
              <a:rPr lang="en-US" altLang="zh-TW"/>
              <a:t> N.L. Ho </a:t>
            </a:r>
            <a:endParaRPr lang="en-US" altLang="zh-TW" dirty="0"/>
          </a:p>
          <a:p>
            <a:r>
              <a:rPr lang="en-US" altLang="zh-TW"/>
              <a:t> S.K. Kim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3668888" y="4860624"/>
            <a:ext cx="4899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Information Processing Letters 90(2004) 175-179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8811210" y="6197600"/>
            <a:ext cx="1856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Date: 2016/11/22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4227688" y="5508977"/>
            <a:ext cx="3781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Speaker: Hsiu-</a:t>
            </a:r>
            <a:r>
              <a:rPr lang="en-US" altLang="zh-TW" sz="2400" dirty="0" err="1"/>
              <a:t>Chieh</a:t>
            </a:r>
            <a:r>
              <a:rPr lang="en-US" altLang="zh-TW" sz="2400" dirty="0"/>
              <a:t> Hung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69459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pPr algn="ctr"/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515902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TW"/>
              <a:t>	In this paper we address the constrained longest common subsequence problem. Given two sequences </a:t>
            </a:r>
            <a:r>
              <a:rPr lang="en-US" altLang="zh-TW" i="1"/>
              <a:t>X</a:t>
            </a:r>
            <a:r>
              <a:rPr lang="en-US" altLang="zh-TW"/>
              <a:t>, </a:t>
            </a:r>
            <a:r>
              <a:rPr lang="en-US" altLang="zh-TW" i="1"/>
              <a:t>Y</a:t>
            </a:r>
            <a:r>
              <a:rPr lang="en-US" altLang="zh-TW"/>
              <a:t> and a constrained sequence </a:t>
            </a:r>
            <a:r>
              <a:rPr lang="en-US" altLang="zh-TW" i="1"/>
              <a:t>P</a:t>
            </a:r>
            <a:r>
              <a:rPr lang="en-US" altLang="zh-TW"/>
              <a:t>, a sequence </a:t>
            </a:r>
            <a:r>
              <a:rPr lang="en-US" altLang="zh-TW" i="1"/>
              <a:t>Z</a:t>
            </a:r>
            <a:r>
              <a:rPr lang="en-US" altLang="zh-TW"/>
              <a:t> is a constrained longest common subsequence for </a:t>
            </a:r>
            <a:r>
              <a:rPr lang="en-US" altLang="zh-TW" i="1"/>
              <a:t>X</a:t>
            </a:r>
            <a:r>
              <a:rPr lang="en-US" altLang="zh-TW"/>
              <a:t> and </a:t>
            </a:r>
            <a:r>
              <a:rPr lang="en-US" altLang="zh-TW" i="1"/>
              <a:t>Y</a:t>
            </a:r>
            <a:r>
              <a:rPr lang="en-US" altLang="zh-TW"/>
              <a:t> with respect to </a:t>
            </a:r>
            <a:r>
              <a:rPr lang="en-US" altLang="zh-TW" i="1"/>
              <a:t>P</a:t>
            </a:r>
            <a:r>
              <a:rPr lang="en-US" altLang="zh-TW"/>
              <a:t> if </a:t>
            </a:r>
            <a:r>
              <a:rPr lang="en-US" altLang="zh-TW" i="1"/>
              <a:t>Z</a:t>
            </a:r>
            <a:r>
              <a:rPr lang="en-US" altLang="zh-TW"/>
              <a:t> is the longest subsequence of </a:t>
            </a:r>
            <a:r>
              <a:rPr lang="en-US" altLang="zh-TW" i="1"/>
              <a:t>X</a:t>
            </a:r>
            <a:r>
              <a:rPr lang="en-US" altLang="zh-TW"/>
              <a:t> and </a:t>
            </a:r>
            <a:r>
              <a:rPr lang="en-US" altLang="zh-TW" i="1"/>
              <a:t>Y</a:t>
            </a:r>
            <a:r>
              <a:rPr lang="en-US" altLang="zh-TW"/>
              <a:t> such that </a:t>
            </a:r>
            <a:r>
              <a:rPr lang="en-US" altLang="zh-TW" i="1"/>
              <a:t>P</a:t>
            </a:r>
            <a:r>
              <a:rPr lang="en-US" altLang="zh-TW"/>
              <a:t> is a subsequence of </a:t>
            </a:r>
            <a:r>
              <a:rPr lang="en-US" altLang="zh-TW" i="1"/>
              <a:t>Z</a:t>
            </a:r>
            <a:r>
              <a:rPr lang="en-US" altLang="zh-TW" dirty="0"/>
              <a:t>.</a:t>
            </a:r>
          </a:p>
          <a:p>
            <a:pPr marL="0" indent="0">
              <a:buNone/>
            </a:pPr>
            <a:r>
              <a:rPr lang="en-US" altLang="zh-TW"/>
              <a:t>	Recently, Tsai [Inform. Process. Lett. 88 (2003) 173–176] proposed an O(</a:t>
            </a:r>
            <a:r>
              <a:rPr lang="en-US" altLang="zh-TW" i="1"/>
              <a:t>n</a:t>
            </a:r>
            <a:r>
              <a:rPr lang="en-US" altLang="zh-TW" baseline="30000"/>
              <a:t>2</a:t>
            </a:r>
            <a:r>
              <a:rPr lang="en-US" altLang="zh-TW"/>
              <a:t>·</a:t>
            </a:r>
            <a:r>
              <a:rPr lang="en-US" altLang="zh-TW" i="1"/>
              <a:t>m</a:t>
            </a:r>
            <a:r>
              <a:rPr lang="en-US" altLang="zh-TW" baseline="30000"/>
              <a:t>2</a:t>
            </a:r>
            <a:r>
              <a:rPr lang="en-US" altLang="zh-TW"/>
              <a:t>·</a:t>
            </a:r>
            <a:r>
              <a:rPr lang="en-US" altLang="zh-TW" i="1"/>
              <a:t>r</a:t>
            </a:r>
            <a:r>
              <a:rPr lang="en-US" altLang="zh-TW"/>
              <a:t>) time algorithm to solve this problem using dynamic programming technique, where </a:t>
            </a:r>
            <a:r>
              <a:rPr lang="en-US" altLang="zh-TW" i="1"/>
              <a:t>n</a:t>
            </a:r>
            <a:r>
              <a:rPr lang="en-US" altLang="zh-TW"/>
              <a:t>, </a:t>
            </a:r>
            <a:r>
              <a:rPr lang="en-US" altLang="zh-TW" i="1"/>
              <a:t>m</a:t>
            </a:r>
            <a:r>
              <a:rPr lang="en-US" altLang="zh-TW"/>
              <a:t> and </a:t>
            </a:r>
            <a:r>
              <a:rPr lang="en-US" altLang="zh-TW" i="1"/>
              <a:t>r</a:t>
            </a:r>
            <a:r>
              <a:rPr lang="en-US" altLang="zh-TW"/>
              <a:t> are the lengths of </a:t>
            </a:r>
            <a:r>
              <a:rPr lang="en-US" altLang="zh-TW" i="1"/>
              <a:t>X</a:t>
            </a:r>
            <a:r>
              <a:rPr lang="en-US" altLang="zh-TW"/>
              <a:t>, </a:t>
            </a:r>
            <a:r>
              <a:rPr lang="en-US" altLang="zh-TW" i="1"/>
              <a:t>Y</a:t>
            </a:r>
            <a:r>
              <a:rPr lang="en-US" altLang="zh-TW"/>
              <a:t> and </a:t>
            </a:r>
            <a:r>
              <a:rPr lang="en-US" altLang="zh-TW" i="1"/>
              <a:t>P</a:t>
            </a:r>
            <a:r>
              <a:rPr lang="en-US" altLang="zh-TW"/>
              <a:t>, respectively</a:t>
            </a:r>
            <a:r>
              <a:rPr lang="en-US" altLang="zh-TW" dirty="0"/>
              <a:t>.</a:t>
            </a:r>
          </a:p>
          <a:p>
            <a:pPr marL="0" indent="0">
              <a:buNone/>
            </a:pPr>
            <a:r>
              <a:rPr lang="en-US" altLang="zh-TW"/>
              <a:t>	In this paper, we present a simple algorithm to solve the constrained longest common subsequence problem in O(</a:t>
            </a:r>
            <a:r>
              <a:rPr lang="en-US" altLang="zh-TW" i="1"/>
              <a:t>n</a:t>
            </a:r>
            <a:r>
              <a:rPr lang="en-US" altLang="zh-TW"/>
              <a:t>·</a:t>
            </a:r>
            <a:r>
              <a:rPr lang="en-US" altLang="zh-TW" i="1"/>
              <a:t>m</a:t>
            </a:r>
            <a:r>
              <a:rPr lang="en-US" altLang="zh-TW"/>
              <a:t>·</a:t>
            </a:r>
            <a:r>
              <a:rPr lang="en-US" altLang="zh-TW" i="1"/>
              <a:t>r</a:t>
            </a:r>
            <a:r>
              <a:rPr lang="en-US" altLang="zh-TW"/>
              <a:t>) time and show that the constrained longest common subsequence problem is equivalent to a special case of the constrained multiple sequence alignment problem which can also be solved with the same time complexity</a:t>
            </a:r>
            <a:r>
              <a:rPr lang="en-US" altLang="zh-TW" dirty="0"/>
              <a:t>.</a:t>
            </a: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1937-6110-493B-B7AF-FB89256A05D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3097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463586" y="282221"/>
            <a:ext cx="74837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4400"/>
              <a:t>Longest Common Subsequence </a:t>
            </a:r>
            <a:endParaRPr lang="zh-TW" altLang="en-US" sz="44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091288" y="1727200"/>
            <a:ext cx="27622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X: A C B C D</a:t>
            </a:r>
            <a:endParaRPr lang="zh-TW" alt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091288" y="2402738"/>
            <a:ext cx="36215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Y: B A </a:t>
            </a:r>
            <a:r>
              <a:rPr lang="en-US" altLang="zh-TW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C D C D</a:t>
            </a:r>
            <a:endParaRPr lang="zh-TW" alt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9" name="群組 8"/>
          <p:cNvGrpSpPr/>
          <p:nvPr/>
        </p:nvGrpSpPr>
        <p:grpSpPr>
          <a:xfrm>
            <a:off x="4301068" y="3339886"/>
            <a:ext cx="3552515" cy="523220"/>
            <a:chOff x="4301068" y="3339886"/>
            <a:chExt cx="3552515" cy="523220"/>
          </a:xfrm>
        </p:grpSpPr>
        <p:sp>
          <p:nvSpPr>
            <p:cNvPr id="7" name="文字方塊 6"/>
            <p:cNvSpPr txBox="1"/>
            <p:nvPr/>
          </p:nvSpPr>
          <p:spPr>
            <a:xfrm>
              <a:off x="5091288" y="3339886"/>
              <a:ext cx="27622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LCS: A C </a:t>
              </a:r>
              <a:r>
                <a:rPr lang="en-US" altLang="zh-TW" sz="2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D</a:t>
              </a:r>
              <a:endPara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箭號: 向右 7"/>
            <p:cNvSpPr/>
            <p:nvPr/>
          </p:nvSpPr>
          <p:spPr>
            <a:xfrm>
              <a:off x="4301068" y="3431350"/>
              <a:ext cx="587022" cy="362870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7" name="減號 16"/>
          <p:cNvSpPr/>
          <p:nvPr/>
        </p:nvSpPr>
        <p:spPr>
          <a:xfrm>
            <a:off x="5779271" y="2063923"/>
            <a:ext cx="313509" cy="199560"/>
          </a:xfrm>
          <a:prstGeom prst="mathMinus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減號 17"/>
          <p:cNvSpPr/>
          <p:nvPr/>
        </p:nvSpPr>
        <p:spPr>
          <a:xfrm>
            <a:off x="6197769" y="2059567"/>
            <a:ext cx="313509" cy="199560"/>
          </a:xfrm>
          <a:prstGeom prst="mathMinus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減號 18"/>
          <p:cNvSpPr/>
          <p:nvPr/>
        </p:nvSpPr>
        <p:spPr>
          <a:xfrm>
            <a:off x="7072007" y="2059567"/>
            <a:ext cx="313509" cy="199560"/>
          </a:xfrm>
          <a:prstGeom prst="mathMinus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減號 19"/>
          <p:cNvSpPr/>
          <p:nvPr/>
        </p:nvSpPr>
        <p:spPr>
          <a:xfrm>
            <a:off x="7479219" y="2059567"/>
            <a:ext cx="313509" cy="199560"/>
          </a:xfrm>
          <a:prstGeom prst="mathMinus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減號 20"/>
          <p:cNvSpPr/>
          <p:nvPr/>
        </p:nvSpPr>
        <p:spPr>
          <a:xfrm>
            <a:off x="6612720" y="2717066"/>
            <a:ext cx="313509" cy="199560"/>
          </a:xfrm>
          <a:prstGeom prst="mathMinus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減號 21"/>
          <p:cNvSpPr/>
          <p:nvPr/>
        </p:nvSpPr>
        <p:spPr>
          <a:xfrm>
            <a:off x="7052018" y="2717067"/>
            <a:ext cx="313509" cy="199560"/>
          </a:xfrm>
          <a:prstGeom prst="mathMinus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減號 22"/>
          <p:cNvSpPr/>
          <p:nvPr/>
        </p:nvSpPr>
        <p:spPr>
          <a:xfrm>
            <a:off x="7897710" y="2717070"/>
            <a:ext cx="313509" cy="199560"/>
          </a:xfrm>
          <a:prstGeom prst="mathMinus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減號 23"/>
          <p:cNvSpPr/>
          <p:nvPr/>
        </p:nvSpPr>
        <p:spPr>
          <a:xfrm>
            <a:off x="8320562" y="2717064"/>
            <a:ext cx="313509" cy="199560"/>
          </a:xfrm>
          <a:prstGeom prst="mathMinus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1937-6110-493B-B7AF-FB89256A05D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532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182250" y="257169"/>
            <a:ext cx="103721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4400"/>
              <a:t>Constrained Longest Common Subsequence </a:t>
            </a:r>
            <a:endParaRPr lang="zh-TW" altLang="en-US" sz="4400" dirty="0"/>
          </a:p>
        </p:txBody>
      </p:sp>
      <p:grpSp>
        <p:nvGrpSpPr>
          <p:cNvPr id="7" name="群組 6"/>
          <p:cNvGrpSpPr/>
          <p:nvPr/>
        </p:nvGrpSpPr>
        <p:grpSpPr>
          <a:xfrm>
            <a:off x="4148741" y="4029187"/>
            <a:ext cx="2890755" cy="954107"/>
            <a:chOff x="4301068" y="3339886"/>
            <a:chExt cx="2173932" cy="954107"/>
          </a:xfrm>
        </p:grpSpPr>
        <p:sp>
          <p:nvSpPr>
            <p:cNvPr id="8" name="文字方塊 7"/>
            <p:cNvSpPr txBox="1"/>
            <p:nvPr/>
          </p:nvSpPr>
          <p:spPr>
            <a:xfrm>
              <a:off x="4991079" y="3339886"/>
              <a:ext cx="148392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Z: B C D</a:t>
              </a:r>
              <a:endPara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箭號: 向右 8"/>
            <p:cNvSpPr/>
            <p:nvPr/>
          </p:nvSpPr>
          <p:spPr>
            <a:xfrm>
              <a:off x="4301068" y="3431350"/>
              <a:ext cx="587022" cy="362870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2" name="群組 1"/>
          <p:cNvGrpSpPr/>
          <p:nvPr/>
        </p:nvGrpSpPr>
        <p:grpSpPr>
          <a:xfrm>
            <a:off x="5091288" y="1737956"/>
            <a:ext cx="3639085" cy="1757787"/>
            <a:chOff x="5091288" y="1737956"/>
            <a:chExt cx="3639085" cy="1757787"/>
          </a:xfrm>
        </p:grpSpPr>
        <p:sp>
          <p:nvSpPr>
            <p:cNvPr id="5" name="文字方塊 4"/>
            <p:cNvSpPr txBox="1"/>
            <p:nvPr/>
          </p:nvSpPr>
          <p:spPr>
            <a:xfrm>
              <a:off x="5103851" y="1737956"/>
              <a:ext cx="27622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X: A C B C D</a:t>
              </a:r>
              <a:endPara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5108869" y="2365996"/>
              <a:ext cx="36215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Y: B A </a:t>
              </a:r>
              <a:r>
                <a:rPr lang="en-US" altLang="zh-TW" sz="2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C D C D</a:t>
              </a:r>
              <a:endPara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5091288" y="2972523"/>
              <a:ext cx="14734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P: B D</a:t>
              </a:r>
              <a:endPara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1" name="減號 10"/>
          <p:cNvSpPr/>
          <p:nvPr/>
        </p:nvSpPr>
        <p:spPr>
          <a:xfrm>
            <a:off x="6625165" y="2050860"/>
            <a:ext cx="313509" cy="199560"/>
          </a:xfrm>
          <a:prstGeom prst="mathMinus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減號 11"/>
          <p:cNvSpPr/>
          <p:nvPr/>
        </p:nvSpPr>
        <p:spPr>
          <a:xfrm>
            <a:off x="7070067" y="2050860"/>
            <a:ext cx="313509" cy="199560"/>
          </a:xfrm>
          <a:prstGeom prst="mathMinus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減號 12"/>
          <p:cNvSpPr/>
          <p:nvPr/>
        </p:nvSpPr>
        <p:spPr>
          <a:xfrm>
            <a:off x="7482344" y="2050860"/>
            <a:ext cx="313509" cy="199560"/>
          </a:xfrm>
          <a:prstGeom prst="mathMinus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減號 13"/>
          <p:cNvSpPr/>
          <p:nvPr/>
        </p:nvSpPr>
        <p:spPr>
          <a:xfrm>
            <a:off x="5810664" y="2689686"/>
            <a:ext cx="313509" cy="199560"/>
          </a:xfrm>
          <a:prstGeom prst="mathMinus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減號 14"/>
          <p:cNvSpPr/>
          <p:nvPr/>
        </p:nvSpPr>
        <p:spPr>
          <a:xfrm>
            <a:off x="7926789" y="2689686"/>
            <a:ext cx="313509" cy="199560"/>
          </a:xfrm>
          <a:prstGeom prst="mathMinus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減號 15"/>
          <p:cNvSpPr/>
          <p:nvPr/>
        </p:nvSpPr>
        <p:spPr>
          <a:xfrm>
            <a:off x="8349121" y="2689686"/>
            <a:ext cx="313509" cy="199560"/>
          </a:xfrm>
          <a:prstGeom prst="mathMinus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投影片編號版面配置區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1937-6110-493B-B7AF-FB89256A05D0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4477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851769" y="905523"/>
            <a:ext cx="2705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X = {</a:t>
            </a:r>
            <a:r>
              <a:rPr lang="en-US" altLang="zh-TW" sz="2800" i="1" dirty="0"/>
              <a:t>x</a:t>
            </a:r>
            <a:r>
              <a:rPr lang="en-US" altLang="zh-TW" sz="2800" baseline="-25000" dirty="0"/>
              <a:t>1</a:t>
            </a:r>
            <a:r>
              <a:rPr lang="en-US" altLang="zh-TW" sz="2800" dirty="0"/>
              <a:t>,</a:t>
            </a:r>
            <a:r>
              <a:rPr lang="en-US" altLang="zh-TW" sz="2800" i="1" dirty="0"/>
              <a:t>x</a:t>
            </a:r>
            <a:r>
              <a:rPr lang="en-US" altLang="zh-TW" sz="2800" baseline="-25000" dirty="0"/>
              <a:t>2</a:t>
            </a:r>
            <a:r>
              <a:rPr lang="en-US" altLang="zh-TW" sz="2800" dirty="0"/>
              <a:t>,……,</a:t>
            </a:r>
            <a:r>
              <a:rPr lang="en-US" altLang="zh-TW" sz="2800" i="1" dirty="0" err="1"/>
              <a:t>x</a:t>
            </a:r>
            <a:r>
              <a:rPr lang="en-US" altLang="zh-TW" sz="2800" baseline="-25000" dirty="0" err="1"/>
              <a:t>n</a:t>
            </a:r>
            <a:r>
              <a:rPr lang="en-US" altLang="zh-TW" sz="2800" dirty="0"/>
              <a:t>}</a:t>
            </a:r>
            <a:endParaRPr lang="zh-TW" altLang="en-US" sz="2800" baseline="-250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851768" y="1620555"/>
            <a:ext cx="2705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 = {</a:t>
            </a:r>
            <a:r>
              <a:rPr lang="en-US" altLang="zh-TW" sz="2800" i="1" dirty="0"/>
              <a:t>y</a:t>
            </a:r>
            <a:r>
              <a:rPr lang="en-US" altLang="zh-TW" sz="2800" baseline="-25000" dirty="0"/>
              <a:t>1</a:t>
            </a:r>
            <a:r>
              <a:rPr lang="en-US" altLang="zh-TW" sz="2800" dirty="0"/>
              <a:t>,</a:t>
            </a:r>
            <a:r>
              <a:rPr lang="en-US" altLang="zh-TW" sz="2800" i="1" dirty="0"/>
              <a:t>y</a:t>
            </a:r>
            <a:r>
              <a:rPr lang="en-US" altLang="zh-TW" sz="2800" baseline="-25000" dirty="0"/>
              <a:t>2</a:t>
            </a:r>
            <a:r>
              <a:rPr lang="en-US" altLang="zh-TW" sz="2800" dirty="0"/>
              <a:t>,……,</a:t>
            </a:r>
            <a:r>
              <a:rPr lang="en-US" altLang="zh-TW" sz="2800" i="1" dirty="0" err="1"/>
              <a:t>y</a:t>
            </a:r>
            <a:r>
              <a:rPr lang="en-US" altLang="zh-TW" sz="2800" baseline="-25000" dirty="0" err="1"/>
              <a:t>m</a:t>
            </a:r>
            <a:r>
              <a:rPr lang="en-US" altLang="zh-TW" sz="2800" dirty="0"/>
              <a:t>}</a:t>
            </a:r>
            <a:endParaRPr lang="zh-TW" altLang="en-US" sz="28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851767" y="2413739"/>
            <a:ext cx="2705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P = {</a:t>
            </a:r>
            <a:r>
              <a:rPr lang="en-US" altLang="zh-TW" sz="2800" i="1" dirty="0"/>
              <a:t>p</a:t>
            </a:r>
            <a:r>
              <a:rPr lang="en-US" altLang="zh-TW" sz="2800" baseline="-25000" dirty="0"/>
              <a:t>1</a:t>
            </a:r>
            <a:r>
              <a:rPr lang="en-US" altLang="zh-TW" sz="2800" dirty="0"/>
              <a:t>,</a:t>
            </a:r>
            <a:r>
              <a:rPr lang="en-US" altLang="zh-TW" sz="2800" i="1" dirty="0"/>
              <a:t>p</a:t>
            </a:r>
            <a:r>
              <a:rPr lang="en-US" altLang="zh-TW" sz="2800" baseline="-25000" dirty="0"/>
              <a:t>2</a:t>
            </a:r>
            <a:r>
              <a:rPr lang="en-US" altLang="zh-TW" sz="2800" dirty="0"/>
              <a:t>,……,</a:t>
            </a:r>
            <a:r>
              <a:rPr lang="en-US" altLang="zh-TW" sz="2800" i="1" dirty="0" err="1"/>
              <a:t>p</a:t>
            </a:r>
            <a:r>
              <a:rPr lang="en-US" altLang="zh-TW" sz="2800" baseline="-25000" dirty="0" err="1"/>
              <a:t>r</a:t>
            </a:r>
            <a:r>
              <a:rPr lang="en-US" altLang="zh-TW" sz="2800" dirty="0"/>
              <a:t>}</a:t>
            </a:r>
            <a:endParaRPr lang="zh-TW" altLang="en-US" sz="28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851767" y="3207183"/>
            <a:ext cx="2705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Z = {</a:t>
            </a:r>
            <a:r>
              <a:rPr lang="en-US" altLang="zh-TW" sz="2800" i="1" dirty="0"/>
              <a:t>z</a:t>
            </a:r>
            <a:r>
              <a:rPr lang="en-US" altLang="zh-TW" sz="2800" baseline="-25000" dirty="0"/>
              <a:t>1</a:t>
            </a:r>
            <a:r>
              <a:rPr lang="en-US" altLang="zh-TW" sz="2800" dirty="0"/>
              <a:t>,</a:t>
            </a:r>
            <a:r>
              <a:rPr lang="en-US" altLang="zh-TW" sz="2800" i="1" dirty="0"/>
              <a:t>z</a:t>
            </a:r>
            <a:r>
              <a:rPr lang="en-US" altLang="zh-TW" sz="2800" baseline="-25000" dirty="0"/>
              <a:t>2</a:t>
            </a:r>
            <a:r>
              <a:rPr lang="en-US" altLang="zh-TW" sz="2800" dirty="0"/>
              <a:t>,……,</a:t>
            </a:r>
            <a:r>
              <a:rPr lang="en-US" altLang="zh-TW" sz="2800" i="1" dirty="0" err="1"/>
              <a:t>z</a:t>
            </a:r>
            <a:r>
              <a:rPr lang="en-US" altLang="zh-TW" sz="2800" baseline="-25000" dirty="0" err="1"/>
              <a:t>l</a:t>
            </a:r>
            <a:r>
              <a:rPr lang="en-US" altLang="zh-TW" sz="2800" dirty="0"/>
              <a:t>}</a:t>
            </a:r>
            <a:endParaRPr lang="zh-TW" altLang="en-US" sz="28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851769" y="4096011"/>
            <a:ext cx="105485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L(</a:t>
            </a:r>
            <a:r>
              <a:rPr lang="en-US" altLang="zh-TW" sz="2800" i="1" dirty="0" err="1"/>
              <a:t>i</a:t>
            </a:r>
            <a:r>
              <a:rPr lang="en-US" altLang="zh-TW" sz="2800" dirty="0" err="1"/>
              <a:t>,</a:t>
            </a:r>
            <a:r>
              <a:rPr lang="en-US" altLang="zh-TW" sz="2800" i="1" dirty="0" err="1"/>
              <a:t>j</a:t>
            </a:r>
            <a:r>
              <a:rPr lang="en-US" altLang="zh-TW" sz="2800" dirty="0" err="1"/>
              <a:t>,</a:t>
            </a:r>
            <a:r>
              <a:rPr lang="en-US" altLang="zh-TW" sz="2800" i="1" dirty="0" err="1"/>
              <a:t>k</a:t>
            </a:r>
            <a:r>
              <a:rPr lang="en-US" altLang="zh-TW" sz="2800" dirty="0"/>
              <a:t>) denotes the constrained LCS length of X</a:t>
            </a:r>
            <a:r>
              <a:rPr lang="en-US" altLang="zh-TW" sz="2800" baseline="-25000" dirty="0"/>
              <a:t>i</a:t>
            </a:r>
            <a:r>
              <a:rPr lang="en-US" altLang="zh-TW" sz="2800" dirty="0"/>
              <a:t> and </a:t>
            </a:r>
            <a:r>
              <a:rPr lang="en-US" altLang="zh-TW" sz="2800" dirty="0" err="1"/>
              <a:t>Y</a:t>
            </a:r>
            <a:r>
              <a:rPr lang="en-US" altLang="zh-TW" sz="2800" baseline="-25000" dirty="0" err="1"/>
              <a:t>j</a:t>
            </a:r>
            <a:r>
              <a:rPr lang="en-US" altLang="zh-TW" sz="2800" dirty="0"/>
              <a:t> with respect to </a:t>
            </a:r>
            <a:r>
              <a:rPr lang="en-US" altLang="zh-TW" sz="2800" dirty="0" err="1"/>
              <a:t>P</a:t>
            </a:r>
            <a:r>
              <a:rPr lang="en-US" altLang="zh-TW" sz="2800" baseline="-25000" dirty="0" err="1"/>
              <a:t>k</a:t>
            </a:r>
            <a:endParaRPr lang="zh-TW" altLang="en-US" sz="2800" baseline="-25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851767" y="4889195"/>
            <a:ext cx="4446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X</a:t>
            </a:r>
            <a:r>
              <a:rPr lang="en-US" altLang="zh-TW" sz="2400" baseline="-25000" dirty="0"/>
              <a:t>i</a:t>
            </a:r>
            <a:r>
              <a:rPr lang="en-US" altLang="zh-TW" sz="2400" dirty="0"/>
              <a:t> = {</a:t>
            </a:r>
            <a:r>
              <a:rPr lang="en-US" altLang="zh-TW" sz="2400" i="1" dirty="0"/>
              <a:t>x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,</a:t>
            </a:r>
            <a:r>
              <a:rPr lang="en-US" altLang="zh-TW" sz="2400" i="1" dirty="0"/>
              <a:t>x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,……,</a:t>
            </a:r>
            <a:r>
              <a:rPr lang="en-US" altLang="zh-TW" sz="2400" i="1" dirty="0"/>
              <a:t>x</a:t>
            </a:r>
            <a:r>
              <a:rPr lang="en-US" altLang="zh-TW" sz="2400" baseline="-25000" dirty="0"/>
              <a:t>i</a:t>
            </a:r>
            <a:r>
              <a:rPr lang="en-US" altLang="zh-TW" sz="2400" dirty="0"/>
              <a:t>}                </a:t>
            </a:r>
            <a:r>
              <a:rPr lang="en-US" altLang="zh-TW" sz="2400" dirty="0">
                <a:solidFill>
                  <a:srgbClr val="FF0000"/>
                </a:solidFill>
              </a:rPr>
              <a:t>0 </a:t>
            </a:r>
            <a:r>
              <a:rPr lang="zh-TW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</a:t>
            </a: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altLang="zh-TW" sz="2400" dirty="0" err="1">
                <a:solidFill>
                  <a:srgbClr val="FF0000"/>
                </a:solidFill>
              </a:rPr>
              <a:t>i</a:t>
            </a: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zh-TW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</a:t>
            </a:r>
            <a:r>
              <a:rPr lang="zh-TW" altLang="en-US" sz="2400" dirty="0">
                <a:solidFill>
                  <a:srgbClr val="FF0000"/>
                </a:solidFill>
              </a:rPr>
              <a:t> </a:t>
            </a:r>
            <a:r>
              <a:rPr lang="en-US" altLang="zh-TW" sz="2400" dirty="0">
                <a:solidFill>
                  <a:srgbClr val="FF0000"/>
                </a:solidFill>
              </a:rPr>
              <a:t>n</a:t>
            </a:r>
          </a:p>
          <a:p>
            <a:r>
              <a:rPr lang="en-US" altLang="zh-TW" sz="2400" dirty="0" err="1"/>
              <a:t>Y</a:t>
            </a:r>
            <a:r>
              <a:rPr lang="en-US" altLang="zh-TW" sz="2400" baseline="-25000" dirty="0" err="1"/>
              <a:t>j</a:t>
            </a:r>
            <a:r>
              <a:rPr lang="en-US" altLang="zh-TW" sz="2400" dirty="0"/>
              <a:t> = {</a:t>
            </a:r>
            <a:r>
              <a:rPr lang="en-US" altLang="zh-TW" sz="2400" i="1" dirty="0"/>
              <a:t>y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,</a:t>
            </a:r>
            <a:r>
              <a:rPr lang="en-US" altLang="zh-TW" sz="2400" i="1" dirty="0"/>
              <a:t>y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,……,</a:t>
            </a:r>
            <a:r>
              <a:rPr lang="en-US" altLang="zh-TW" sz="2400" i="1" dirty="0" err="1"/>
              <a:t>y</a:t>
            </a:r>
            <a:r>
              <a:rPr lang="en-US" altLang="zh-TW" sz="2400" baseline="-25000" dirty="0" err="1"/>
              <a:t>j</a:t>
            </a:r>
            <a:r>
              <a:rPr lang="en-US" altLang="zh-TW" sz="2400" dirty="0"/>
              <a:t>}</a:t>
            </a:r>
            <a:r>
              <a:rPr lang="zh-TW" altLang="en-US" sz="2400" dirty="0"/>
              <a:t>               </a:t>
            </a:r>
            <a:r>
              <a:rPr lang="en-US" altLang="zh-TW" sz="2400" dirty="0">
                <a:solidFill>
                  <a:srgbClr val="FF0000"/>
                </a:solidFill>
              </a:rPr>
              <a:t>0</a:t>
            </a:r>
            <a:r>
              <a:rPr lang="zh-TW" altLang="en-US" sz="2400" dirty="0">
                <a:solidFill>
                  <a:srgbClr val="FF0000"/>
                </a:solidFill>
              </a:rPr>
              <a:t> </a:t>
            </a:r>
            <a:r>
              <a:rPr lang="zh-TW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</a:t>
            </a:r>
            <a:r>
              <a:rPr lang="zh-TW" altLang="en-US" sz="2400" dirty="0">
                <a:solidFill>
                  <a:srgbClr val="FF0000"/>
                </a:solidFill>
              </a:rPr>
              <a:t> </a:t>
            </a:r>
            <a:r>
              <a:rPr lang="en-US" altLang="zh-TW" sz="2400" dirty="0">
                <a:solidFill>
                  <a:srgbClr val="FF0000"/>
                </a:solidFill>
              </a:rPr>
              <a:t>j </a:t>
            </a:r>
            <a:r>
              <a:rPr lang="zh-TW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</a:t>
            </a:r>
            <a:r>
              <a:rPr lang="zh-TW" altLang="en-US" sz="2400" dirty="0">
                <a:solidFill>
                  <a:srgbClr val="FF0000"/>
                </a:solidFill>
              </a:rPr>
              <a:t> </a:t>
            </a:r>
            <a:r>
              <a:rPr lang="en-US" altLang="zh-TW" sz="2400" dirty="0">
                <a:solidFill>
                  <a:srgbClr val="FF0000"/>
                </a:solidFill>
              </a:rPr>
              <a:t>m</a:t>
            </a:r>
          </a:p>
          <a:p>
            <a:r>
              <a:rPr lang="en-US" altLang="zh-TW" sz="2400" dirty="0" err="1"/>
              <a:t>P</a:t>
            </a:r>
            <a:r>
              <a:rPr lang="en-US" altLang="zh-TW" sz="2400" baseline="-25000" dirty="0" err="1"/>
              <a:t>k</a:t>
            </a:r>
            <a:r>
              <a:rPr lang="en-US" altLang="zh-TW" sz="2400" dirty="0"/>
              <a:t> = {</a:t>
            </a:r>
            <a:r>
              <a:rPr lang="en-US" altLang="zh-TW" sz="2400" i="1" dirty="0"/>
              <a:t>p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,</a:t>
            </a:r>
            <a:r>
              <a:rPr lang="en-US" altLang="zh-TW" sz="2400" i="1" dirty="0"/>
              <a:t>p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,……,</a:t>
            </a:r>
            <a:r>
              <a:rPr lang="en-US" altLang="zh-TW" sz="2400" i="1" dirty="0" err="1"/>
              <a:t>p</a:t>
            </a:r>
            <a:r>
              <a:rPr lang="en-US" altLang="zh-TW" sz="2400" baseline="-25000" dirty="0" err="1"/>
              <a:t>k</a:t>
            </a:r>
            <a:r>
              <a:rPr lang="en-US" altLang="zh-TW" sz="2400" dirty="0"/>
              <a:t>}	    </a:t>
            </a:r>
            <a:r>
              <a:rPr lang="en-US" altLang="zh-TW" sz="2400" dirty="0">
                <a:solidFill>
                  <a:srgbClr val="FF0000"/>
                </a:solidFill>
              </a:rPr>
              <a:t>0 </a:t>
            </a:r>
            <a:r>
              <a:rPr lang="zh-TW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</a:t>
            </a:r>
            <a:r>
              <a:rPr lang="zh-TW" altLang="en-US" sz="2400" dirty="0">
                <a:solidFill>
                  <a:srgbClr val="FF0000"/>
                </a:solidFill>
              </a:rPr>
              <a:t> </a:t>
            </a:r>
            <a:r>
              <a:rPr lang="en-US" altLang="zh-TW" sz="2400" dirty="0">
                <a:solidFill>
                  <a:srgbClr val="FF0000"/>
                </a:solidFill>
              </a:rPr>
              <a:t>k</a:t>
            </a:r>
            <a:r>
              <a:rPr lang="zh-TW" altLang="en-US" sz="2400" dirty="0">
                <a:solidFill>
                  <a:srgbClr val="FF0000"/>
                </a:solidFill>
              </a:rPr>
              <a:t> </a:t>
            </a:r>
            <a:r>
              <a:rPr lang="zh-TW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</a:t>
            </a:r>
            <a:r>
              <a:rPr lang="zh-TW" altLang="en-US" sz="2400" dirty="0">
                <a:solidFill>
                  <a:srgbClr val="FF0000"/>
                </a:solidFill>
              </a:rPr>
              <a:t> </a:t>
            </a:r>
            <a:r>
              <a:rPr lang="en-US" altLang="zh-TW" sz="2400" dirty="0">
                <a:solidFill>
                  <a:srgbClr val="FF0000"/>
                </a:solidFill>
              </a:rPr>
              <a:t>r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1937-6110-493B-B7AF-FB89256A05D0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853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48" y="149742"/>
            <a:ext cx="5215811" cy="5699913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8179979" y="1716680"/>
            <a:ext cx="17427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/>
              <a:t>X:  A C B C </a:t>
            </a:r>
            <a:endParaRPr lang="zh-TW" altLang="en-US" sz="28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8179979" y="2393989"/>
            <a:ext cx="22976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/>
              <a:t>Y:  B A A C D C </a:t>
            </a:r>
            <a:endParaRPr lang="zh-TW" altLang="en-US" sz="28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8179979" y="3071298"/>
            <a:ext cx="9076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/>
              <a:t>P:  B </a:t>
            </a:r>
            <a:endParaRPr lang="zh-TW" altLang="en-US" sz="2800" dirty="0"/>
          </a:p>
        </p:txBody>
      </p:sp>
      <p:sp>
        <p:nvSpPr>
          <p:cNvPr id="10" name="橢圓 9"/>
          <p:cNvSpPr/>
          <p:nvPr/>
        </p:nvSpPr>
        <p:spPr>
          <a:xfrm>
            <a:off x="9770301" y="1791836"/>
            <a:ext cx="300625" cy="38769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10311007" y="2482854"/>
            <a:ext cx="300625" cy="38769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8933147" y="3146732"/>
            <a:ext cx="300625" cy="38769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8880519" y="3078968"/>
            <a:ext cx="405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D</a:t>
            </a:r>
            <a:endParaRPr lang="zh-TW" altLang="en-US" sz="28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9709323" y="1715722"/>
            <a:ext cx="405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D</a:t>
            </a:r>
            <a:endParaRPr lang="zh-TW" altLang="en-US" sz="28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10247941" y="2404652"/>
            <a:ext cx="405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D</a:t>
            </a:r>
            <a:endParaRPr lang="zh-TW" altLang="en-US" sz="28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8880519" y="3063628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A</a:t>
            </a:r>
            <a:endParaRPr lang="zh-TW" altLang="en-US" sz="2800" dirty="0"/>
          </a:p>
        </p:txBody>
      </p:sp>
      <p:sp>
        <p:nvSpPr>
          <p:cNvPr id="19" name="橢圓 18"/>
          <p:cNvSpPr/>
          <p:nvPr/>
        </p:nvSpPr>
        <p:spPr>
          <a:xfrm>
            <a:off x="9745247" y="1766175"/>
            <a:ext cx="331907" cy="45093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10285953" y="2444667"/>
            <a:ext cx="331907" cy="45093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10271203" y="2393989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B</a:t>
            </a:r>
            <a:endParaRPr lang="zh-TW" altLang="en-US" sz="2800" dirty="0"/>
          </a:p>
        </p:txBody>
      </p:sp>
      <p:sp>
        <p:nvSpPr>
          <p:cNvPr id="23" name="橢圓 22"/>
          <p:cNvSpPr/>
          <p:nvPr/>
        </p:nvSpPr>
        <p:spPr>
          <a:xfrm>
            <a:off x="9734375" y="1755733"/>
            <a:ext cx="361603" cy="48643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10258953" y="2409173"/>
            <a:ext cx="361603" cy="48643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9734774" y="1741424"/>
            <a:ext cx="353252" cy="4885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/>
          <p:cNvSpPr/>
          <p:nvPr/>
        </p:nvSpPr>
        <p:spPr>
          <a:xfrm>
            <a:off x="10265956" y="2428694"/>
            <a:ext cx="353252" cy="4885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1937-6110-493B-B7AF-FB89256A05D0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731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396 -3.33333E-6 L -0.02396 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083 2.22222E-6 L -0.02083 0.0002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291 2.96296E-6 L -0.02291 0.0002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292 7.40741E-7 L -0.02292 0.00023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083 -1.85185E-6 L -0.02083 0.00023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383 -3.33333E-6 L -0.02383 0.00023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187 4.44444E-6 L -0.02187 0.00023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/>
      <p:bldP spid="15" grpId="0"/>
      <p:bldP spid="16" grpId="0"/>
      <p:bldP spid="19" grpId="0" animBg="1"/>
      <p:bldP spid="19" grpId="1" animBg="1"/>
      <p:bldP spid="19" grpId="2" animBg="1"/>
      <p:bldP spid="21" grpId="0" animBg="1"/>
      <p:bldP spid="21" grpId="1" animBg="1"/>
      <p:bldP spid="21" grpId="2" animBg="1"/>
      <p:bldP spid="22" grpId="0"/>
      <p:bldP spid="23" grpId="0" animBg="1"/>
      <p:bldP spid="24" grpId="0" animBg="1"/>
      <p:bldP spid="24" grpId="1" animBg="1"/>
      <p:bldP spid="25" grpId="0" animBg="1"/>
      <p:bldP spid="25" grpId="1" animBg="1"/>
      <p:bldP spid="25" grpId="2" animBg="1"/>
      <p:bldP spid="26" grpId="0" animBg="1"/>
      <p:bldP spid="2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245950"/>
              </p:ext>
            </p:extLst>
          </p:nvPr>
        </p:nvGraphicFramePr>
        <p:xfrm>
          <a:off x="3663853" y="1985759"/>
          <a:ext cx="7449624" cy="4527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736">
                  <a:extLst>
                    <a:ext uri="{9D8B030D-6E8A-4147-A177-3AD203B41FA5}">
                      <a16:colId xmlns:a16="http://schemas.microsoft.com/office/drawing/2014/main" val="1721933637"/>
                    </a:ext>
                  </a:extLst>
                </a:gridCol>
                <a:gridCol w="827736">
                  <a:extLst>
                    <a:ext uri="{9D8B030D-6E8A-4147-A177-3AD203B41FA5}">
                      <a16:colId xmlns:a16="http://schemas.microsoft.com/office/drawing/2014/main" val="607116134"/>
                    </a:ext>
                  </a:extLst>
                </a:gridCol>
                <a:gridCol w="827736">
                  <a:extLst>
                    <a:ext uri="{9D8B030D-6E8A-4147-A177-3AD203B41FA5}">
                      <a16:colId xmlns:a16="http://schemas.microsoft.com/office/drawing/2014/main" val="1518066101"/>
                    </a:ext>
                  </a:extLst>
                </a:gridCol>
                <a:gridCol w="827736">
                  <a:extLst>
                    <a:ext uri="{9D8B030D-6E8A-4147-A177-3AD203B41FA5}">
                      <a16:colId xmlns:a16="http://schemas.microsoft.com/office/drawing/2014/main" val="2683472188"/>
                    </a:ext>
                  </a:extLst>
                </a:gridCol>
                <a:gridCol w="827736">
                  <a:extLst>
                    <a:ext uri="{9D8B030D-6E8A-4147-A177-3AD203B41FA5}">
                      <a16:colId xmlns:a16="http://schemas.microsoft.com/office/drawing/2014/main" val="883124558"/>
                    </a:ext>
                  </a:extLst>
                </a:gridCol>
                <a:gridCol w="827736">
                  <a:extLst>
                    <a:ext uri="{9D8B030D-6E8A-4147-A177-3AD203B41FA5}">
                      <a16:colId xmlns:a16="http://schemas.microsoft.com/office/drawing/2014/main" val="2112461534"/>
                    </a:ext>
                  </a:extLst>
                </a:gridCol>
                <a:gridCol w="827736">
                  <a:extLst>
                    <a:ext uri="{9D8B030D-6E8A-4147-A177-3AD203B41FA5}">
                      <a16:colId xmlns:a16="http://schemas.microsoft.com/office/drawing/2014/main" val="2324405681"/>
                    </a:ext>
                  </a:extLst>
                </a:gridCol>
                <a:gridCol w="827736">
                  <a:extLst>
                    <a:ext uri="{9D8B030D-6E8A-4147-A177-3AD203B41FA5}">
                      <a16:colId xmlns:a16="http://schemas.microsoft.com/office/drawing/2014/main" val="1532168211"/>
                    </a:ext>
                  </a:extLst>
                </a:gridCol>
                <a:gridCol w="827736">
                  <a:extLst>
                    <a:ext uri="{9D8B030D-6E8A-4147-A177-3AD203B41FA5}">
                      <a16:colId xmlns:a16="http://schemas.microsoft.com/office/drawing/2014/main" val="3253748721"/>
                    </a:ext>
                  </a:extLst>
                </a:gridCol>
              </a:tblGrid>
              <a:tr h="646798">
                <a:tc>
                  <a:txBody>
                    <a:bodyPr/>
                    <a:lstStyle/>
                    <a:p>
                      <a:pPr algn="ctr"/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35143"/>
                  </a:ext>
                </a:extLst>
              </a:tr>
              <a:tr h="6467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753382"/>
                  </a:ext>
                </a:extLst>
              </a:tr>
              <a:tr h="6467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605795"/>
                  </a:ext>
                </a:extLst>
              </a:tr>
              <a:tr h="6467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1274556"/>
                  </a:ext>
                </a:extLst>
              </a:tr>
              <a:tr h="6467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343236"/>
                  </a:ext>
                </a:extLst>
              </a:tr>
              <a:tr h="6467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409892"/>
                  </a:ext>
                </a:extLst>
              </a:tr>
              <a:tr h="6467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290896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7061539" y="998787"/>
            <a:ext cx="12806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/>
              <a:t>k = 2</a:t>
            </a:r>
            <a:endParaRPr lang="zh-TW" altLang="en-US" sz="3000" dirty="0"/>
          </a:p>
        </p:txBody>
      </p:sp>
      <p:grpSp>
        <p:nvGrpSpPr>
          <p:cNvPr id="5" name="群組 4"/>
          <p:cNvGrpSpPr/>
          <p:nvPr/>
        </p:nvGrpSpPr>
        <p:grpSpPr>
          <a:xfrm>
            <a:off x="899116" y="423038"/>
            <a:ext cx="3639085" cy="1736274"/>
            <a:chOff x="5091288" y="1759469"/>
            <a:chExt cx="3639085" cy="1736274"/>
          </a:xfrm>
        </p:grpSpPr>
        <p:sp>
          <p:nvSpPr>
            <p:cNvPr id="6" name="文字方塊 5"/>
            <p:cNvSpPr txBox="1"/>
            <p:nvPr/>
          </p:nvSpPr>
          <p:spPr>
            <a:xfrm>
              <a:off x="5108869" y="1759469"/>
              <a:ext cx="27622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X:</a:t>
              </a:r>
              <a:r>
                <a:rPr lang="zh-TW" alt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 C B C D</a:t>
              </a:r>
              <a:endPara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5108869" y="2365996"/>
              <a:ext cx="36215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Y: B A </a:t>
              </a:r>
              <a:r>
                <a:rPr lang="en-US" altLang="zh-TW" sz="2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C D C D</a:t>
              </a:r>
              <a:endPara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5091288" y="2972523"/>
              <a:ext cx="14734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P: B D</a:t>
              </a:r>
              <a:endPara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3" name="文字方塊 2"/>
          <p:cNvSpPr txBox="1"/>
          <p:nvPr/>
        </p:nvSpPr>
        <p:spPr>
          <a:xfrm>
            <a:off x="899116" y="3530991"/>
            <a:ext cx="1611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/>
              <a:t>X means -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2327572" y="3559124"/>
            <a:ext cx="4908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/>
              <a:t>∞</a:t>
            </a:r>
          </a:p>
        </p:txBody>
      </p:sp>
      <p:sp>
        <p:nvSpPr>
          <p:cNvPr id="10" name="橢圓 9"/>
          <p:cNvSpPr/>
          <p:nvPr/>
        </p:nvSpPr>
        <p:spPr>
          <a:xfrm>
            <a:off x="10479910" y="5970263"/>
            <a:ext cx="422031" cy="4668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1937-6110-493B-B7AF-FB89256A05D0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13" name="減號 12"/>
          <p:cNvSpPr/>
          <p:nvPr/>
        </p:nvSpPr>
        <p:spPr>
          <a:xfrm>
            <a:off x="2015010" y="1955906"/>
            <a:ext cx="313509" cy="199560"/>
          </a:xfrm>
          <a:prstGeom prst="mathMinus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4" name="直線單箭頭接點 13"/>
          <p:cNvCxnSpPr/>
          <p:nvPr/>
        </p:nvCxnSpPr>
        <p:spPr>
          <a:xfrm rot="10800000">
            <a:off x="10121379" y="5714172"/>
            <a:ext cx="360000" cy="37253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21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240004"/>
              </p:ext>
            </p:extLst>
          </p:nvPr>
        </p:nvGraphicFramePr>
        <p:xfrm>
          <a:off x="3691988" y="1985757"/>
          <a:ext cx="6886917" cy="441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13">
                  <a:extLst>
                    <a:ext uri="{9D8B030D-6E8A-4147-A177-3AD203B41FA5}">
                      <a16:colId xmlns:a16="http://schemas.microsoft.com/office/drawing/2014/main" val="2428653781"/>
                    </a:ext>
                  </a:extLst>
                </a:gridCol>
                <a:gridCol w="765213">
                  <a:extLst>
                    <a:ext uri="{9D8B030D-6E8A-4147-A177-3AD203B41FA5}">
                      <a16:colId xmlns:a16="http://schemas.microsoft.com/office/drawing/2014/main" val="1277736023"/>
                    </a:ext>
                  </a:extLst>
                </a:gridCol>
                <a:gridCol w="765213">
                  <a:extLst>
                    <a:ext uri="{9D8B030D-6E8A-4147-A177-3AD203B41FA5}">
                      <a16:colId xmlns:a16="http://schemas.microsoft.com/office/drawing/2014/main" val="3012425801"/>
                    </a:ext>
                  </a:extLst>
                </a:gridCol>
                <a:gridCol w="765213">
                  <a:extLst>
                    <a:ext uri="{9D8B030D-6E8A-4147-A177-3AD203B41FA5}">
                      <a16:colId xmlns:a16="http://schemas.microsoft.com/office/drawing/2014/main" val="831522316"/>
                    </a:ext>
                  </a:extLst>
                </a:gridCol>
                <a:gridCol w="765213">
                  <a:extLst>
                    <a:ext uri="{9D8B030D-6E8A-4147-A177-3AD203B41FA5}">
                      <a16:colId xmlns:a16="http://schemas.microsoft.com/office/drawing/2014/main" val="1145776699"/>
                    </a:ext>
                  </a:extLst>
                </a:gridCol>
                <a:gridCol w="765213">
                  <a:extLst>
                    <a:ext uri="{9D8B030D-6E8A-4147-A177-3AD203B41FA5}">
                      <a16:colId xmlns:a16="http://schemas.microsoft.com/office/drawing/2014/main" val="1054708603"/>
                    </a:ext>
                  </a:extLst>
                </a:gridCol>
                <a:gridCol w="765213">
                  <a:extLst>
                    <a:ext uri="{9D8B030D-6E8A-4147-A177-3AD203B41FA5}">
                      <a16:colId xmlns:a16="http://schemas.microsoft.com/office/drawing/2014/main" val="998111983"/>
                    </a:ext>
                  </a:extLst>
                </a:gridCol>
                <a:gridCol w="765213">
                  <a:extLst>
                    <a:ext uri="{9D8B030D-6E8A-4147-A177-3AD203B41FA5}">
                      <a16:colId xmlns:a16="http://schemas.microsoft.com/office/drawing/2014/main" val="740396796"/>
                    </a:ext>
                  </a:extLst>
                </a:gridCol>
                <a:gridCol w="765213">
                  <a:extLst>
                    <a:ext uri="{9D8B030D-6E8A-4147-A177-3AD203B41FA5}">
                      <a16:colId xmlns:a16="http://schemas.microsoft.com/office/drawing/2014/main" val="2131690473"/>
                    </a:ext>
                  </a:extLst>
                </a:gridCol>
              </a:tblGrid>
              <a:tr h="630720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586143"/>
                  </a:ext>
                </a:extLst>
              </a:tr>
              <a:tr h="6307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137814"/>
                  </a:ext>
                </a:extLst>
              </a:tr>
              <a:tr h="6307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580375"/>
                  </a:ext>
                </a:extLst>
              </a:tr>
              <a:tr h="6307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375828"/>
                  </a:ext>
                </a:extLst>
              </a:tr>
              <a:tr h="6307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377980"/>
                  </a:ext>
                </a:extLst>
              </a:tr>
              <a:tr h="6307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18328"/>
                  </a:ext>
                </a:extLst>
              </a:tr>
              <a:tr h="6307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111854"/>
                  </a:ext>
                </a:extLst>
              </a:tr>
            </a:tbl>
          </a:graphicData>
        </a:graphic>
      </p:graphicFrame>
      <p:grpSp>
        <p:nvGrpSpPr>
          <p:cNvPr id="3" name="群組 2"/>
          <p:cNvGrpSpPr/>
          <p:nvPr/>
        </p:nvGrpSpPr>
        <p:grpSpPr>
          <a:xfrm>
            <a:off x="511150" y="521512"/>
            <a:ext cx="3639085" cy="1736274"/>
            <a:chOff x="5091288" y="1759469"/>
            <a:chExt cx="3639085" cy="1736274"/>
          </a:xfrm>
        </p:grpSpPr>
        <p:sp>
          <p:nvSpPr>
            <p:cNvPr id="5" name="文字方塊 4"/>
            <p:cNvSpPr txBox="1"/>
            <p:nvPr/>
          </p:nvSpPr>
          <p:spPr>
            <a:xfrm>
              <a:off x="5108869" y="1759469"/>
              <a:ext cx="27622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X: A C B C D</a:t>
              </a:r>
              <a:endPara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5108869" y="2365996"/>
              <a:ext cx="36215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Y: B A </a:t>
              </a:r>
              <a:r>
                <a:rPr lang="en-US" altLang="zh-TW" sz="2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C D C D</a:t>
              </a:r>
              <a:endPara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5091288" y="2972523"/>
              <a:ext cx="14734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P: B D</a:t>
              </a:r>
              <a:endPara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8" name="文字方塊 7"/>
          <p:cNvSpPr txBox="1"/>
          <p:nvPr/>
        </p:nvSpPr>
        <p:spPr>
          <a:xfrm>
            <a:off x="6878659" y="1044732"/>
            <a:ext cx="12806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/>
              <a:t>k = 1</a:t>
            </a:r>
            <a:endParaRPr lang="zh-TW" altLang="en-US" sz="3000" dirty="0"/>
          </a:p>
        </p:txBody>
      </p:sp>
      <p:sp>
        <p:nvSpPr>
          <p:cNvPr id="9" name="橢圓 8"/>
          <p:cNvSpPr/>
          <p:nvPr/>
        </p:nvSpPr>
        <p:spPr>
          <a:xfrm>
            <a:off x="9216253" y="5233186"/>
            <a:ext cx="422031" cy="4668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5388358" y="4589282"/>
            <a:ext cx="422031" cy="4668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1937-6110-493B-B7AF-FB89256A05D0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12" name="減號 11"/>
          <p:cNvSpPr/>
          <p:nvPr/>
        </p:nvSpPr>
        <p:spPr>
          <a:xfrm>
            <a:off x="1201246" y="2057507"/>
            <a:ext cx="313509" cy="199560"/>
          </a:xfrm>
          <a:prstGeom prst="mathMinus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1" name="群組 20"/>
          <p:cNvGrpSpPr/>
          <p:nvPr/>
        </p:nvGrpSpPr>
        <p:grpSpPr>
          <a:xfrm>
            <a:off x="5784560" y="4648807"/>
            <a:ext cx="3431693" cy="636234"/>
            <a:chOff x="5784560" y="4648807"/>
            <a:chExt cx="3431693" cy="636234"/>
          </a:xfrm>
        </p:grpSpPr>
        <p:cxnSp>
          <p:nvCxnSpPr>
            <p:cNvPr id="13" name="直線單箭頭接點 12"/>
            <p:cNvCxnSpPr/>
            <p:nvPr/>
          </p:nvCxnSpPr>
          <p:spPr>
            <a:xfrm rot="10800000">
              <a:off x="8856253" y="4912508"/>
              <a:ext cx="360000" cy="37253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/>
            <p:cNvCxnSpPr/>
            <p:nvPr/>
          </p:nvCxnSpPr>
          <p:spPr>
            <a:xfrm rot="8040000">
              <a:off x="8094247" y="4646896"/>
              <a:ext cx="360000" cy="37253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/>
            <p:nvPr/>
          </p:nvCxnSpPr>
          <p:spPr>
            <a:xfrm rot="8040000">
              <a:off x="7332243" y="4655604"/>
              <a:ext cx="360000" cy="37253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/>
            <p:nvPr/>
          </p:nvCxnSpPr>
          <p:spPr>
            <a:xfrm rot="8040000">
              <a:off x="6574600" y="4642540"/>
              <a:ext cx="360000" cy="37253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/>
            <p:nvPr/>
          </p:nvCxnSpPr>
          <p:spPr>
            <a:xfrm rot="8040000">
              <a:off x="5790827" y="4642540"/>
              <a:ext cx="360000" cy="37253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直線單箭頭接點 21"/>
          <p:cNvCxnSpPr/>
          <p:nvPr/>
        </p:nvCxnSpPr>
        <p:spPr>
          <a:xfrm rot="10800000">
            <a:off x="5075489" y="4350926"/>
            <a:ext cx="360000" cy="37253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597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443223"/>
              </p:ext>
            </p:extLst>
          </p:nvPr>
        </p:nvGraphicFramePr>
        <p:xfrm>
          <a:off x="568960" y="1732542"/>
          <a:ext cx="7393356" cy="4611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484">
                  <a:extLst>
                    <a:ext uri="{9D8B030D-6E8A-4147-A177-3AD203B41FA5}">
                      <a16:colId xmlns:a16="http://schemas.microsoft.com/office/drawing/2014/main" val="1280226587"/>
                    </a:ext>
                  </a:extLst>
                </a:gridCol>
                <a:gridCol w="821484">
                  <a:extLst>
                    <a:ext uri="{9D8B030D-6E8A-4147-A177-3AD203B41FA5}">
                      <a16:colId xmlns:a16="http://schemas.microsoft.com/office/drawing/2014/main" val="1813866465"/>
                    </a:ext>
                  </a:extLst>
                </a:gridCol>
                <a:gridCol w="821484">
                  <a:extLst>
                    <a:ext uri="{9D8B030D-6E8A-4147-A177-3AD203B41FA5}">
                      <a16:colId xmlns:a16="http://schemas.microsoft.com/office/drawing/2014/main" val="63190197"/>
                    </a:ext>
                  </a:extLst>
                </a:gridCol>
                <a:gridCol w="821484">
                  <a:extLst>
                    <a:ext uri="{9D8B030D-6E8A-4147-A177-3AD203B41FA5}">
                      <a16:colId xmlns:a16="http://schemas.microsoft.com/office/drawing/2014/main" val="3795579746"/>
                    </a:ext>
                  </a:extLst>
                </a:gridCol>
                <a:gridCol w="821484">
                  <a:extLst>
                    <a:ext uri="{9D8B030D-6E8A-4147-A177-3AD203B41FA5}">
                      <a16:colId xmlns:a16="http://schemas.microsoft.com/office/drawing/2014/main" val="956094963"/>
                    </a:ext>
                  </a:extLst>
                </a:gridCol>
                <a:gridCol w="821484">
                  <a:extLst>
                    <a:ext uri="{9D8B030D-6E8A-4147-A177-3AD203B41FA5}">
                      <a16:colId xmlns:a16="http://schemas.microsoft.com/office/drawing/2014/main" val="245546121"/>
                    </a:ext>
                  </a:extLst>
                </a:gridCol>
                <a:gridCol w="821484">
                  <a:extLst>
                    <a:ext uri="{9D8B030D-6E8A-4147-A177-3AD203B41FA5}">
                      <a16:colId xmlns:a16="http://schemas.microsoft.com/office/drawing/2014/main" val="2690888391"/>
                    </a:ext>
                  </a:extLst>
                </a:gridCol>
                <a:gridCol w="821484">
                  <a:extLst>
                    <a:ext uri="{9D8B030D-6E8A-4147-A177-3AD203B41FA5}">
                      <a16:colId xmlns:a16="http://schemas.microsoft.com/office/drawing/2014/main" val="659597087"/>
                    </a:ext>
                  </a:extLst>
                </a:gridCol>
                <a:gridCol w="821484">
                  <a:extLst>
                    <a:ext uri="{9D8B030D-6E8A-4147-A177-3AD203B41FA5}">
                      <a16:colId xmlns:a16="http://schemas.microsoft.com/office/drawing/2014/main" val="3758907577"/>
                    </a:ext>
                  </a:extLst>
                </a:gridCol>
              </a:tblGrid>
              <a:tr h="658855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668917"/>
                  </a:ext>
                </a:extLst>
              </a:tr>
              <a:tr h="658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586943"/>
                  </a:ext>
                </a:extLst>
              </a:tr>
              <a:tr h="658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433412"/>
                  </a:ext>
                </a:extLst>
              </a:tr>
              <a:tr h="658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461773"/>
                  </a:ext>
                </a:extLst>
              </a:tr>
              <a:tr h="658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058779"/>
                  </a:ext>
                </a:extLst>
              </a:tr>
              <a:tr h="658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846877"/>
                  </a:ext>
                </a:extLst>
              </a:tr>
              <a:tr h="658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844329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3966646" y="942517"/>
            <a:ext cx="12806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/>
              <a:t>k = 0</a:t>
            </a:r>
            <a:endParaRPr lang="zh-TW" altLang="en-US" sz="3000" dirty="0"/>
          </a:p>
        </p:txBody>
      </p:sp>
      <p:grpSp>
        <p:nvGrpSpPr>
          <p:cNvPr id="7" name="群組 6"/>
          <p:cNvGrpSpPr/>
          <p:nvPr/>
        </p:nvGrpSpPr>
        <p:grpSpPr>
          <a:xfrm>
            <a:off x="8187398" y="3502861"/>
            <a:ext cx="2399238" cy="1171436"/>
            <a:chOff x="8187398" y="3502861"/>
            <a:chExt cx="2399238" cy="1171436"/>
          </a:xfrm>
        </p:grpSpPr>
        <p:sp>
          <p:nvSpPr>
            <p:cNvPr id="4" name="文字方塊 3"/>
            <p:cNvSpPr txBox="1"/>
            <p:nvPr/>
          </p:nvSpPr>
          <p:spPr>
            <a:xfrm>
              <a:off x="9284677" y="3502861"/>
              <a:ext cx="13019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/>
                <a:t>Z: B C D</a:t>
              </a:r>
              <a:endParaRPr lang="zh-TW" altLang="en-US" sz="2800" dirty="0"/>
            </a:p>
          </p:txBody>
        </p:sp>
        <p:sp>
          <p:nvSpPr>
            <p:cNvPr id="5" name="文字方塊 4"/>
            <p:cNvSpPr txBox="1"/>
            <p:nvPr/>
          </p:nvSpPr>
          <p:spPr>
            <a:xfrm>
              <a:off x="9284677" y="4151077"/>
              <a:ext cx="124104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/>
                <a:t>O(</a:t>
              </a:r>
              <a:r>
                <a:rPr lang="en-US" altLang="zh-TW" sz="2800" dirty="0" err="1"/>
                <a:t>nmr</a:t>
              </a:r>
              <a:r>
                <a:rPr lang="en-US" altLang="zh-TW" sz="2800" dirty="0"/>
                <a:t>)</a:t>
              </a:r>
              <a:endParaRPr lang="zh-TW" altLang="en-US" sz="2800" dirty="0"/>
            </a:p>
          </p:txBody>
        </p:sp>
        <p:sp>
          <p:nvSpPr>
            <p:cNvPr id="6" name="箭號: 向右 5"/>
            <p:cNvSpPr/>
            <p:nvPr/>
          </p:nvSpPr>
          <p:spPr>
            <a:xfrm>
              <a:off x="8187398" y="3764471"/>
              <a:ext cx="872197" cy="648216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1937-6110-493B-B7AF-FB89256A05D0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9349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312912"/>
            <a:ext cx="10515600" cy="7595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4400"/>
              <a:t>Sequence Alignment</a:t>
            </a:r>
            <a:endParaRPr lang="zh-TW" altLang="en-US" sz="4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1937-6110-493B-B7AF-FB89256A05D0}" type="slidenum">
              <a:rPr lang="zh-TW" altLang="en-US" smtClean="0"/>
              <a:t>10</a:t>
            </a:fld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564444" y="1535287"/>
            <a:ext cx="27622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X: A C B C D</a:t>
            </a:r>
            <a:endParaRPr lang="zh-TW" alt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64444" y="2148815"/>
            <a:ext cx="36215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Y: B A </a:t>
            </a:r>
            <a:r>
              <a:rPr lang="en-US" altLang="zh-TW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C D C D</a:t>
            </a:r>
            <a:endParaRPr lang="zh-TW" alt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群組 10"/>
          <p:cNvGrpSpPr/>
          <p:nvPr/>
        </p:nvGrpSpPr>
        <p:grpSpPr>
          <a:xfrm>
            <a:off x="2446691" y="3319581"/>
            <a:ext cx="2762295" cy="1182268"/>
            <a:chOff x="3001586" y="3191176"/>
            <a:chExt cx="2762295" cy="1182268"/>
          </a:xfrm>
        </p:grpSpPr>
        <p:sp>
          <p:nvSpPr>
            <p:cNvPr id="7" name="文字方塊 6"/>
            <p:cNvSpPr txBox="1"/>
            <p:nvPr/>
          </p:nvSpPr>
          <p:spPr>
            <a:xfrm>
              <a:off x="3001586" y="3191176"/>
              <a:ext cx="27622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X’:AC</a:t>
              </a:r>
              <a:r>
                <a:rPr lang="en-US" altLang="zh-TW" sz="28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--</a:t>
              </a:r>
              <a:r>
                <a:rPr lang="en-US" altLang="zh-TW" sz="28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CD</a:t>
              </a:r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--</a:t>
              </a:r>
              <a:endPara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3001586" y="3850224"/>
              <a:ext cx="27622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Y’:--</a:t>
              </a:r>
              <a:r>
                <a:rPr lang="en-US" altLang="zh-TW" sz="28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AA</a:t>
              </a:r>
              <a:r>
                <a:rPr lang="en-US" altLang="zh-TW" sz="28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CD</a:t>
              </a:r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CD</a:t>
              </a:r>
              <a:endPara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6305142" y="3319581"/>
            <a:ext cx="3677058" cy="1150282"/>
            <a:chOff x="7195407" y="3359621"/>
            <a:chExt cx="2996077" cy="779963"/>
          </a:xfrm>
        </p:grpSpPr>
        <p:sp>
          <p:nvSpPr>
            <p:cNvPr id="9" name="文字方塊 8"/>
            <p:cNvSpPr txBox="1"/>
            <p:nvPr/>
          </p:nvSpPr>
          <p:spPr>
            <a:xfrm>
              <a:off x="7195407" y="3359621"/>
              <a:ext cx="2996077" cy="354776"/>
            </a:xfrm>
            <a:prstGeom prst="rect">
              <a:avLst/>
            </a:prstGeom>
            <a:noFill/>
          </p:spPr>
          <p:txBody>
            <a:bodyPr wrap="square" rtlCol="0" anchor="b" anchorCtr="0">
              <a:spAutoFit/>
            </a:bodyPr>
            <a:lstStyle/>
            <a:p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X’:-</a:t>
              </a:r>
              <a:r>
                <a:rPr lang="en-US" altLang="zh-TW" sz="28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  <a:r>
                <a:rPr lang="en-US" altLang="zh-TW" sz="28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B-</a:t>
              </a:r>
              <a:r>
                <a:rPr lang="en-US" altLang="zh-TW" sz="28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CD</a:t>
              </a:r>
              <a:endParaRPr lang="zh-TW" altLang="en-US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7195407" y="3784808"/>
              <a:ext cx="2832881" cy="354776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Y’:B</a:t>
              </a:r>
              <a:r>
                <a:rPr lang="en-US" altLang="zh-TW" sz="28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r>
                <a:rPr lang="en-US" altLang="zh-TW" sz="28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-D</a:t>
              </a:r>
              <a:r>
                <a:rPr lang="en-US" altLang="zh-TW" sz="28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CD</a:t>
              </a:r>
              <a:endParaRPr lang="zh-TW" altLang="en-US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250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/>
          <p:cNvGrpSpPr/>
          <p:nvPr/>
        </p:nvGrpSpPr>
        <p:grpSpPr>
          <a:xfrm>
            <a:off x="1570892" y="1843874"/>
            <a:ext cx="4713097" cy="1736274"/>
            <a:chOff x="5091288" y="1759469"/>
            <a:chExt cx="4713097" cy="1736274"/>
          </a:xfrm>
        </p:grpSpPr>
        <p:sp>
          <p:nvSpPr>
            <p:cNvPr id="5" name="文字方塊 4"/>
            <p:cNvSpPr txBox="1"/>
            <p:nvPr/>
          </p:nvSpPr>
          <p:spPr>
            <a:xfrm>
              <a:off x="5108869" y="1759469"/>
              <a:ext cx="46955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X’: A C </a:t>
              </a:r>
              <a:r>
                <a:rPr lang="en-US" altLang="zh-TW" sz="28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- - </a:t>
              </a:r>
              <a:r>
                <a:rPr lang="en-US" altLang="zh-TW" sz="28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 D </a:t>
              </a:r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 -</a:t>
              </a:r>
              <a:endPara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5108869" y="2365996"/>
              <a:ext cx="46955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Y’: - - </a:t>
              </a:r>
              <a:r>
                <a:rPr lang="en-US" altLang="zh-TW" sz="28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A </a:t>
              </a:r>
              <a:r>
                <a:rPr lang="en-US" altLang="zh-TW" sz="2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TW" sz="28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 D</a:t>
              </a:r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C D</a:t>
              </a:r>
              <a:endPara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5091288" y="2972523"/>
              <a:ext cx="16882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P’: B D</a:t>
              </a:r>
              <a:endPara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8" name="文字方塊 7"/>
          <p:cNvSpPr txBox="1"/>
          <p:nvPr/>
        </p:nvSpPr>
        <p:spPr>
          <a:xfrm>
            <a:off x="1570892" y="210792"/>
            <a:ext cx="91470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400"/>
              <a:t>Constrained Sequence Alignment (</a:t>
            </a:r>
            <a:r>
              <a:rPr lang="en-US" altLang="zh-TW" sz="4400" dirty="0"/>
              <a:t>CSA)</a:t>
            </a:r>
            <a:endParaRPr lang="zh-TW" altLang="en-US" sz="4400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2292" y="4240620"/>
            <a:ext cx="5134256" cy="1513066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1570892" y="4008372"/>
            <a:ext cx="2572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Z’: B C D</a:t>
            </a:r>
            <a:endParaRPr lang="zh-TW" alt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1937-6110-493B-B7AF-FB89256A05D0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4091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04333" y="403226"/>
            <a:ext cx="10515600" cy="65793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altLang="zh-TW" sz="4400" dirty="0"/>
              <a:t>Conclusion</a:t>
            </a:r>
            <a:endParaRPr lang="zh-TW" altLang="en-US" sz="44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476933" y="1783643"/>
            <a:ext cx="1171506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/>
              <a:t>Described a simple O(nmr) time algorithm to solve CLCS</a:t>
            </a:r>
            <a:r>
              <a:rPr lang="en-US" altLang="zh-TW" sz="2800" dirty="0"/>
              <a:t>.</a:t>
            </a:r>
          </a:p>
          <a:p>
            <a:endParaRPr lang="en-US" altLang="zh-TW" sz="2800" dirty="0"/>
          </a:p>
          <a:p>
            <a:r>
              <a:rPr lang="en-US" altLang="zh-TW" sz="2800"/>
              <a:t>Also showed that the CLCS problem is indeed a special case of the CSA problem</a:t>
            </a:r>
            <a:r>
              <a:rPr lang="en-US" altLang="zh-TW" sz="2800" dirty="0"/>
              <a:t>.</a:t>
            </a:r>
            <a:endParaRPr lang="zh-TW" altLang="en-US" sz="2800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1937-6110-493B-B7AF-FB89256A05D0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066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580</Words>
  <Application>Microsoft Office PowerPoint</Application>
  <PresentationFormat>寬螢幕</PresentationFormat>
  <Paragraphs>267</Paragraphs>
  <Slides>12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新細明體</vt:lpstr>
      <vt:lpstr>Arial</vt:lpstr>
      <vt:lpstr>Calibri</vt:lpstr>
      <vt:lpstr>Calibri Light</vt:lpstr>
      <vt:lpstr>Courier New</vt:lpstr>
      <vt:lpstr>Symbol</vt:lpstr>
      <vt:lpstr>Office 佈景主題</vt:lpstr>
      <vt:lpstr>A simple algorithm for the constrained sequence problems</vt:lpstr>
      <vt:lpstr>Abstract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simple algorithm for the constrained sequence problems</dc:title>
  <dc:creator>Caros</dc:creator>
  <cp:lastModifiedBy>Caros</cp:lastModifiedBy>
  <cp:revision>74</cp:revision>
  <dcterms:created xsi:type="dcterms:W3CDTF">2016-11-15T05:51:47Z</dcterms:created>
  <dcterms:modified xsi:type="dcterms:W3CDTF">2016-11-22T14:22:47Z</dcterms:modified>
</cp:coreProperties>
</file>