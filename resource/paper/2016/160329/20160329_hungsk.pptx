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  <p:sldId id="276" r:id="rId20"/>
    <p:sldId id="277" r:id="rId21"/>
    <p:sldId id="274" r:id="rId22"/>
    <p:sldId id="275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86" autoAdjust="0"/>
  </p:normalViewPr>
  <p:slideViewPr>
    <p:cSldViewPr snapToGrid="0">
      <p:cViewPr varScale="1">
        <p:scale>
          <a:sx n="48" d="100"/>
          <a:sy n="48" d="100"/>
        </p:scale>
        <p:origin x="528" y="40"/>
      </p:cViewPr>
      <p:guideLst/>
    </p:cSldViewPr>
  </p:slideViewPr>
  <p:notesTextViewPr>
    <p:cViewPr>
      <p:scale>
        <a:sx n="1" d="1"/>
        <a:sy n="1" d="1"/>
      </p:scale>
      <p:origin x="0" y="-2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AC471-3A6C-4D2F-82D6-0CBE305C3F7A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2DBEF-2BBB-4633-86B0-7FF98D9952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77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http://link.springer.com/journal/10618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999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907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052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1</a:t>
            </a:r>
            <a:r>
              <a:rPr lang="zh-TW" altLang="en-US" dirty="0" smtClean="0"/>
              <a:t>）在連續的時間間隔</a:t>
            </a:r>
          </a:p>
          <a:p>
            <a:endParaRPr lang="zh-TW" altLang="en-US" dirty="0" smtClean="0"/>
          </a:p>
          <a:p>
            <a:r>
              <a:rPr lang="en-US" altLang="zh-TW" dirty="0" smtClean="0"/>
              <a:t>2</a:t>
            </a:r>
            <a:r>
              <a:rPr lang="zh-TW" altLang="en-US" dirty="0" smtClean="0"/>
              <a:t>）出跨間隔連續測量</a:t>
            </a:r>
          </a:p>
          <a:p>
            <a:endParaRPr lang="zh-TW" altLang="en-US" dirty="0" smtClean="0"/>
          </a:p>
          <a:p>
            <a:r>
              <a:rPr lang="en-US" altLang="zh-TW" dirty="0" smtClean="0"/>
              <a:t>3</a:t>
            </a:r>
            <a:r>
              <a:rPr lang="zh-TW" altLang="en-US" dirty="0" smtClean="0"/>
              <a:t>）採用每兩個連續測量之間的間距相等</a:t>
            </a:r>
          </a:p>
          <a:p>
            <a:endParaRPr lang="zh-TW" altLang="en-US" dirty="0" smtClean="0"/>
          </a:p>
          <a:p>
            <a:r>
              <a:rPr lang="en-US" altLang="zh-TW" dirty="0" smtClean="0"/>
              <a:t>4</a:t>
            </a:r>
            <a:r>
              <a:rPr lang="zh-TW" altLang="en-US" dirty="0" smtClean="0"/>
              <a:t>）具有至多一個數據點的時間間隔內的每個時間單元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206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941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Hand(H) = (1,5,4,3,7,6,2,8,9,10) </a:t>
            </a:r>
          </a:p>
          <a:p>
            <a:r>
              <a:rPr lang="en-US" altLang="zh-TW" dirty="0" smtClean="0"/>
              <a:t>Leg(L) =     (4,5,8,7,6,10,9,3,2,1)</a:t>
            </a:r>
          </a:p>
          <a:p>
            <a:r>
              <a:rPr lang="en-US" altLang="zh-TW" dirty="0" smtClean="0"/>
              <a:t>Eye(E) =  (1,2,3,4,5,6,7,8,9,10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701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3569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707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996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http://belleaya.pixnet.net/blog/post/30754486-%5B%E6%95%99%E5%AD%B8%5D-%5B%E7%B5%B1%E8%A8%88%5D-anova%E8%AE%8A%E7%95%B0%E6%95%B8%E5%88%86%E6%9E%90-%E5%B0%8F%E7%AD%86%E8%A8%98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2DBEF-2BBB-4633-86B0-7FF98D99525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365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38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3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02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005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4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45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716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02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13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57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24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806FE-3A21-410C-83C3-C1913C2A2ACB}" type="datetimeFigureOut">
              <a:rPr lang="zh-TW" altLang="en-US" smtClean="0"/>
              <a:t>2016/3/29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8D086-2470-4E59-94F2-5DEE68342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46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7735" y="746975"/>
            <a:ext cx="9074729" cy="196194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Classification of time series by </a:t>
            </a:r>
            <a:r>
              <a:rPr lang="en-US" altLang="zh-TW" dirty="0" err="1" smtClean="0"/>
              <a:t>shapelet</a:t>
            </a:r>
            <a:r>
              <a:rPr lang="en-US" altLang="zh-TW" dirty="0" smtClean="0"/>
              <a:t> transformation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787588" y="2708920"/>
            <a:ext cx="6400800" cy="292857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b="1" dirty="0"/>
              <a:t>Jon Hills </a:t>
            </a:r>
            <a:r>
              <a:rPr lang="en-US" altLang="zh-TW" b="1" dirty="0" smtClean="0"/>
              <a:t>·</a:t>
            </a:r>
          </a:p>
          <a:p>
            <a:r>
              <a:rPr lang="en-US" altLang="zh-TW" b="1" dirty="0" smtClean="0"/>
              <a:t> </a:t>
            </a:r>
            <a:r>
              <a:rPr lang="en-US" altLang="zh-TW" b="1" dirty="0"/>
              <a:t>Jason Lines · </a:t>
            </a:r>
            <a:endParaRPr lang="en-US" altLang="zh-TW" b="1" dirty="0" smtClean="0"/>
          </a:p>
          <a:p>
            <a:r>
              <a:rPr lang="en-US" altLang="zh-TW" b="1" dirty="0" smtClean="0"/>
              <a:t>Edgaras </a:t>
            </a:r>
            <a:r>
              <a:rPr lang="en-US" altLang="zh-TW" b="1" dirty="0" err="1"/>
              <a:t>Baranauskas</a:t>
            </a:r>
            <a:r>
              <a:rPr lang="en-US" altLang="zh-TW" b="1" dirty="0"/>
              <a:t> ·</a:t>
            </a:r>
          </a:p>
          <a:p>
            <a:r>
              <a:rPr lang="en-US" altLang="zh-TW" b="1" dirty="0"/>
              <a:t>James Mapp · </a:t>
            </a:r>
            <a:endParaRPr lang="en-US" altLang="zh-TW" b="1" dirty="0" smtClean="0"/>
          </a:p>
          <a:p>
            <a:r>
              <a:rPr lang="en-US" altLang="zh-TW" b="1" dirty="0" smtClean="0"/>
              <a:t>Anthony </a:t>
            </a:r>
            <a:r>
              <a:rPr lang="en-US" altLang="zh-TW" b="1" dirty="0" err="1" smtClean="0"/>
              <a:t>Bagnall</a:t>
            </a:r>
            <a:endParaRPr lang="en-US" altLang="zh-TW" b="1" dirty="0" smtClean="0"/>
          </a:p>
          <a:p>
            <a:endParaRPr lang="en-US" altLang="zh-TW" b="1" dirty="0" smtClean="0"/>
          </a:p>
          <a:p>
            <a:r>
              <a:rPr lang="en-US" altLang="zh-TW" b="1" dirty="0"/>
              <a:t>Data Mining and Knowledge</a:t>
            </a:r>
          </a:p>
          <a:p>
            <a:r>
              <a:rPr lang="en-US" altLang="zh-TW" b="1" dirty="0" smtClean="0"/>
              <a:t>Discover </a:t>
            </a:r>
            <a:r>
              <a:rPr lang="en-US" altLang="zh-TW" dirty="0" smtClean="0"/>
              <a:t>2013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719736" y="5637498"/>
            <a:ext cx="4536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Presenter:  Shu-Kai Hung</a:t>
            </a:r>
            <a:br>
              <a:rPr lang="en-US" altLang="zh-TW" sz="2400" dirty="0"/>
            </a:br>
            <a:r>
              <a:rPr lang="en-US" altLang="zh-TW" sz="2400" dirty="0" smtClean="0"/>
              <a:t>Date:2016/3/29</a:t>
            </a:r>
            <a:r>
              <a:rPr lang="zh-TW" altLang="en-US" sz="2400" dirty="0"/>
              <a:t/>
            </a:r>
            <a:br>
              <a:rPr lang="zh-TW" altLang="en-US" sz="2400" dirty="0"/>
            </a:b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5632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29555"/>
            <a:ext cx="10515600" cy="5306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Time-series </a:t>
            </a:r>
            <a:r>
              <a:rPr lang="en-US" altLang="zh-TW" dirty="0"/>
              <a:t>classification (TSC) problems present a specific challenge </a:t>
            </a:r>
            <a:r>
              <a:rPr lang="en-US" altLang="zh-TW" dirty="0" smtClean="0"/>
              <a:t>for classification </a:t>
            </a:r>
            <a:r>
              <a:rPr lang="en-US" altLang="zh-TW" dirty="0"/>
              <a:t>algorithms: how to measure similarity between series. A </a:t>
            </a:r>
            <a:r>
              <a:rPr lang="en-US" altLang="zh-TW" i="1" dirty="0" err="1"/>
              <a:t>shapelet</a:t>
            </a:r>
            <a:r>
              <a:rPr lang="en-US" altLang="zh-TW" i="1" dirty="0"/>
              <a:t> </a:t>
            </a:r>
            <a:r>
              <a:rPr lang="en-US" altLang="zh-TW" dirty="0"/>
              <a:t>is </a:t>
            </a:r>
            <a:r>
              <a:rPr lang="en-US" altLang="zh-TW" dirty="0" smtClean="0"/>
              <a:t>a time-series </a:t>
            </a:r>
            <a:r>
              <a:rPr lang="en-US" altLang="zh-TW" dirty="0"/>
              <a:t>subsequence that allows for TSC based on local, phase-independent </a:t>
            </a:r>
            <a:r>
              <a:rPr lang="en-US" altLang="zh-TW" dirty="0" smtClean="0"/>
              <a:t>similarity in </a:t>
            </a:r>
            <a:r>
              <a:rPr lang="en-US" altLang="zh-TW" dirty="0"/>
              <a:t>shape. </a:t>
            </a:r>
            <a:r>
              <a:rPr lang="en-US" altLang="zh-TW" dirty="0" err="1"/>
              <a:t>Shapelet</a:t>
            </a:r>
            <a:r>
              <a:rPr lang="en-US" altLang="zh-TW" dirty="0"/>
              <a:t>-based classification uses the similarity between a </a:t>
            </a:r>
            <a:r>
              <a:rPr lang="en-US" altLang="zh-TW" dirty="0" err="1" smtClean="0"/>
              <a:t>shapelet</a:t>
            </a:r>
            <a:r>
              <a:rPr lang="en-US" altLang="zh-TW" dirty="0" smtClean="0"/>
              <a:t> and </a:t>
            </a:r>
            <a:r>
              <a:rPr lang="en-US" altLang="zh-TW" dirty="0"/>
              <a:t>a series as a discriminatory feature. One benefit of the </a:t>
            </a:r>
            <a:r>
              <a:rPr lang="en-US" altLang="zh-TW" dirty="0" err="1"/>
              <a:t>shapelet</a:t>
            </a:r>
            <a:r>
              <a:rPr lang="en-US" altLang="zh-TW" dirty="0"/>
              <a:t> approach is </a:t>
            </a:r>
            <a:r>
              <a:rPr lang="en-US" altLang="zh-TW" dirty="0" smtClean="0"/>
              <a:t>that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</a:t>
            </a:r>
            <a:r>
              <a:rPr lang="en-US" altLang="zh-TW" dirty="0"/>
              <a:t>are </a:t>
            </a:r>
            <a:r>
              <a:rPr lang="en-US" altLang="zh-TW" dirty="0" err="1" smtClean="0"/>
              <a:t>comprehensibe</a:t>
            </a:r>
            <a:r>
              <a:rPr lang="en-US" altLang="zh-TW" dirty="0"/>
              <a:t>, and can offer insight into the problem domain. </a:t>
            </a:r>
            <a:r>
              <a:rPr lang="en-US" altLang="zh-TW" dirty="0" smtClean="0"/>
              <a:t>The original </a:t>
            </a:r>
            <a:r>
              <a:rPr lang="en-US" altLang="zh-TW" dirty="0" err="1"/>
              <a:t>shapelet</a:t>
            </a:r>
            <a:r>
              <a:rPr lang="en-US" altLang="zh-TW" dirty="0"/>
              <a:t>-based classifier embeds the </a:t>
            </a:r>
            <a:r>
              <a:rPr lang="en-US" altLang="zh-TW" dirty="0" err="1"/>
              <a:t>shapelet</a:t>
            </a:r>
            <a:r>
              <a:rPr lang="en-US" altLang="zh-TW" dirty="0"/>
              <a:t>-discovery algorithm in a </a:t>
            </a:r>
            <a:r>
              <a:rPr lang="en-US" altLang="zh-TW" dirty="0" smtClean="0"/>
              <a:t>decision tree</a:t>
            </a:r>
            <a:r>
              <a:rPr lang="en-US" altLang="zh-TW" dirty="0"/>
              <a:t>, and uses information gain to assess the quality of candidates, finding a </a:t>
            </a:r>
            <a:r>
              <a:rPr lang="en-US" altLang="zh-TW" dirty="0" smtClean="0"/>
              <a:t>new </a:t>
            </a:r>
            <a:r>
              <a:rPr lang="en-US" altLang="zh-TW" dirty="0" err="1" smtClean="0"/>
              <a:t>shapelet</a:t>
            </a:r>
            <a:r>
              <a:rPr lang="en-US" altLang="zh-TW" dirty="0" smtClean="0"/>
              <a:t> </a:t>
            </a:r>
            <a:r>
              <a:rPr lang="en-US" altLang="zh-TW" dirty="0"/>
              <a:t>at each node of the tree through an enumerative search. Subsequent </a:t>
            </a:r>
            <a:r>
              <a:rPr lang="en-US" altLang="zh-TW" dirty="0" smtClean="0"/>
              <a:t>research has </a:t>
            </a:r>
            <a:r>
              <a:rPr lang="en-US" altLang="zh-TW" dirty="0"/>
              <a:t>focused mainly on techniques to speed up the search. We examine how best </a:t>
            </a:r>
            <a:r>
              <a:rPr lang="en-US" altLang="zh-TW" dirty="0" smtClean="0"/>
              <a:t>to use </a:t>
            </a:r>
            <a:r>
              <a:rPr lang="en-US" altLang="zh-TW" dirty="0"/>
              <a:t>the </a:t>
            </a:r>
            <a:r>
              <a:rPr lang="en-US" altLang="zh-TW" dirty="0" err="1"/>
              <a:t>shapelet</a:t>
            </a:r>
            <a:r>
              <a:rPr lang="en-US" altLang="zh-TW" dirty="0"/>
              <a:t> primitive to construct classifiers.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791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33305"/>
            <a:ext cx="10515600" cy="1128825"/>
          </a:xfrm>
        </p:spPr>
        <p:txBody>
          <a:bodyPr/>
          <a:lstStyle/>
          <a:p>
            <a:r>
              <a:rPr lang="en-US" altLang="zh-TW" b="1" dirty="0" smtClean="0"/>
              <a:t>Abstract(2/3)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00637" y="1455312"/>
            <a:ext cx="10515600" cy="47989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We propose a single-scan </a:t>
            </a:r>
            <a:r>
              <a:rPr lang="en-US" altLang="zh-TW" dirty="0" err="1" smtClean="0"/>
              <a:t>shapelet</a:t>
            </a:r>
            <a:r>
              <a:rPr lang="en-US" altLang="zh-TW" dirty="0"/>
              <a:t> </a:t>
            </a:r>
            <a:r>
              <a:rPr lang="en-US" altLang="zh-TW" dirty="0" smtClean="0"/>
              <a:t>algorithm that finds the best </a:t>
            </a:r>
            <a:r>
              <a:rPr lang="en-US" altLang="zh-TW" i="1" dirty="0" smtClean="0"/>
              <a:t>k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, which are used to produce a transformed dataset, where each of the </a:t>
            </a:r>
            <a:r>
              <a:rPr lang="en-US" altLang="zh-TW" i="1" dirty="0" smtClean="0"/>
              <a:t>k </a:t>
            </a:r>
            <a:r>
              <a:rPr lang="en-US" altLang="zh-TW" dirty="0" smtClean="0"/>
              <a:t>features represent the distance between a time series and a </a:t>
            </a:r>
            <a:r>
              <a:rPr lang="en-US" altLang="zh-TW" dirty="0" err="1" smtClean="0"/>
              <a:t>shapelet</a:t>
            </a:r>
            <a:r>
              <a:rPr lang="en-US" altLang="zh-TW" dirty="0" smtClean="0"/>
              <a:t>.</a:t>
            </a:r>
            <a:r>
              <a:rPr lang="zh-TW" altLang="en-US" dirty="0" smtClean="0"/>
              <a:t> </a:t>
            </a:r>
            <a:r>
              <a:rPr lang="en-US" altLang="zh-TW" dirty="0" smtClean="0"/>
              <a:t>The primary advantages over the embedded approach are that the transformed Subsequent research has focused mainly on techniques to speed up the search. We examine how best to use the </a:t>
            </a:r>
            <a:r>
              <a:rPr lang="en-US" altLang="zh-TW" dirty="0" err="1" smtClean="0"/>
              <a:t>shapelet</a:t>
            </a:r>
            <a:r>
              <a:rPr lang="en-US" altLang="zh-TW" dirty="0" smtClean="0"/>
              <a:t> primitive to construct classifiers. We propose a single-scan </a:t>
            </a:r>
            <a:r>
              <a:rPr lang="en-US" altLang="zh-TW" dirty="0" err="1" smtClean="0"/>
              <a:t>shapelet</a:t>
            </a:r>
            <a:r>
              <a:rPr lang="en-US" altLang="zh-TW" dirty="0"/>
              <a:t> </a:t>
            </a:r>
            <a:r>
              <a:rPr lang="en-US" altLang="zh-TW" dirty="0" smtClean="0"/>
              <a:t>algorithm that finds the best </a:t>
            </a:r>
            <a:r>
              <a:rPr lang="en-US" altLang="zh-TW" i="1" dirty="0" smtClean="0"/>
              <a:t>k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, which are used to produce a transformed dataset, where each of the </a:t>
            </a:r>
            <a:r>
              <a:rPr lang="en-US" altLang="zh-TW" i="1" dirty="0" smtClean="0"/>
              <a:t>k </a:t>
            </a:r>
            <a:r>
              <a:rPr lang="en-US" altLang="zh-TW" dirty="0" smtClean="0"/>
              <a:t>features represent the distance between a time series and a </a:t>
            </a:r>
            <a:r>
              <a:rPr lang="en-US" altLang="zh-TW" dirty="0" err="1" smtClean="0"/>
              <a:t>shapelet</a:t>
            </a:r>
            <a:r>
              <a:rPr lang="en-US" altLang="zh-TW" dirty="0" smtClean="0"/>
              <a:t>.</a:t>
            </a:r>
            <a:r>
              <a:rPr lang="zh-TW" altLang="en-US" dirty="0" smtClean="0"/>
              <a:t> </a:t>
            </a:r>
            <a:r>
              <a:rPr lang="en-US" altLang="zh-TW" dirty="0" smtClean="0"/>
              <a:t>The primary advantages over the embedded approach are that the transformed data can be used in conjunction with any classifier, and that there is no recursive search for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. </a:t>
            </a:r>
            <a:endParaRPr lang="zh-TW" altLang="en-US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18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10578"/>
            <a:ext cx="10515600" cy="1325563"/>
          </a:xfrm>
        </p:spPr>
        <p:txBody>
          <a:bodyPr/>
          <a:lstStyle/>
          <a:p>
            <a:r>
              <a:rPr lang="en-US" altLang="zh-TW" b="1" dirty="0" smtClean="0"/>
              <a:t>Abstract(3/3)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61375"/>
            <a:ext cx="10515600" cy="4515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We </a:t>
            </a:r>
            <a:r>
              <a:rPr lang="en-US" altLang="zh-TW" dirty="0"/>
              <a:t>demonstrate that the transformed data, in conjunction </a:t>
            </a:r>
            <a:r>
              <a:rPr lang="en-US" altLang="zh-TW" dirty="0" smtClean="0"/>
              <a:t>with more </a:t>
            </a:r>
            <a:r>
              <a:rPr lang="en-US" altLang="zh-TW" dirty="0"/>
              <a:t>complex classifiers, gives greater accuracy than the embedded </a:t>
            </a:r>
            <a:r>
              <a:rPr lang="en-US" altLang="zh-TW" dirty="0" err="1"/>
              <a:t>shapelet</a:t>
            </a:r>
            <a:r>
              <a:rPr lang="en-US" altLang="zh-TW" dirty="0"/>
              <a:t> </a:t>
            </a:r>
            <a:r>
              <a:rPr lang="en-US" altLang="zh-TW" dirty="0" smtClean="0"/>
              <a:t>tree.</a:t>
            </a:r>
            <a:r>
              <a:rPr lang="zh-TW" altLang="en-US" dirty="0" smtClean="0"/>
              <a:t> </a:t>
            </a:r>
            <a:r>
              <a:rPr lang="en-US" altLang="zh-TW" dirty="0" smtClean="0"/>
              <a:t>We also </a:t>
            </a:r>
            <a:r>
              <a:rPr lang="en-US" altLang="zh-TW" dirty="0"/>
              <a:t>evaluate three similarity measures that produce equivalent results to </a:t>
            </a:r>
            <a:r>
              <a:rPr lang="en-US" altLang="zh-TW" dirty="0" smtClean="0"/>
              <a:t>information gain </a:t>
            </a:r>
            <a:r>
              <a:rPr lang="en-US" altLang="zh-TW" dirty="0"/>
              <a:t>in less time. Finally, we show that by </a:t>
            </a:r>
            <a:r>
              <a:rPr lang="en-US" altLang="zh-TW" dirty="0" smtClean="0"/>
              <a:t>conducting post-transform clustering of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, we can enhance the interpretability of the transformed data.</a:t>
            </a:r>
            <a:r>
              <a:rPr lang="zh-TW" altLang="en-US" dirty="0" smtClean="0"/>
              <a:t> </a:t>
            </a:r>
            <a:r>
              <a:rPr lang="en-US" altLang="zh-TW" dirty="0" smtClean="0"/>
              <a:t>We conduct our experiments on 29 datasets: </a:t>
            </a:r>
            <a:r>
              <a:rPr lang="en-US" altLang="zh-TW" dirty="0"/>
              <a:t>17 from the UCR repository, and 12 we provide ourselves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863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2762"/>
          </a:xfrm>
        </p:spPr>
        <p:txBody>
          <a:bodyPr/>
          <a:lstStyle/>
          <a:p>
            <a:r>
              <a:rPr lang="en-US" altLang="zh-TW" dirty="0"/>
              <a:t>Time-series classification (TSC) problems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7888"/>
                <a:ext cx="10515600" cy="526745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A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time series </a:t>
                </a:r>
                <a:r>
                  <a:rPr lang="en-US" altLang="zh-TW" dirty="0" smtClean="0"/>
                  <a:t>is a sequence of data points made: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1) over a continuous time interval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2) out of successive measurements across that interval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3) using equal spacing between every two consecutive measurements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4) with each time unit within the time interval having at most one data point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Classification : </a:t>
                </a:r>
                <a:r>
                  <a:rPr lang="zh-TW" altLang="en-US" dirty="0" smtClean="0"/>
                  <a:t>要以某個 </a:t>
                </a:r>
                <a:r>
                  <a:rPr lang="en-US" altLang="zh-TW" dirty="0" smtClean="0"/>
                  <a:t>algorithm </a:t>
                </a:r>
                <a:r>
                  <a:rPr lang="zh-TW" altLang="en-US" dirty="0" smtClean="0"/>
                  <a:t>把不同的</a:t>
                </a:r>
                <a:r>
                  <a:rPr lang="en-US" altLang="zh-TW" dirty="0" smtClean="0"/>
                  <a:t>time series</a:t>
                </a:r>
                <a:r>
                  <a:rPr lang="zh-TW" altLang="en-US" dirty="0" smtClean="0"/>
                  <a:t> 作分類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Suppose we have a set of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time series </a:t>
                </a:r>
                <a:r>
                  <a:rPr lang="en-US" altLang="zh-TW" b="1" dirty="0"/>
                  <a:t>T </a:t>
                </a:r>
                <a:r>
                  <a:rPr lang="en-US" altLang="zh-TW" dirty="0"/>
                  <a:t>= </a:t>
                </a:r>
                <a:r>
                  <a:rPr lang="en-US" altLang="zh-TW" dirty="0" smtClean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i="1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i="1" dirty="0" smtClean="0"/>
                  <a:t>, </a:t>
                </a:r>
                <a:r>
                  <a:rPr lang="en-US" altLang="zh-TW" i="1" dirty="0"/>
                  <a:t>. . . </a:t>
                </a:r>
                <a:r>
                  <a:rPr lang="en-US" altLang="zh-TW" i="1" dirty="0" smtClean="0"/>
                  <a:t>,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}, </a:t>
                </a:r>
                <a:r>
                  <a:rPr lang="en-US" altLang="zh-TW" dirty="0"/>
                  <a:t>where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each time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has 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real-valued ordered readings </a:t>
                </a:r>
                <a:r>
                  <a:rPr lang="en-US" altLang="zh-TW" i="1" dirty="0" err="1"/>
                  <a:t>Ti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=</a:t>
                </a:r>
                <a:r>
                  <a:rPr lang="en-US" altLang="zh-TW" i="1" dirty="0"/>
                  <a:t>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i="1" dirty="0" smtClean="0"/>
                  <a:t>,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i="1" dirty="0" smtClean="0"/>
                  <a:t>, </a:t>
                </a:r>
                <a:r>
                  <a:rPr lang="en-US" altLang="zh-TW" i="1" dirty="0"/>
                  <a:t>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i="1" dirty="0" smtClean="0"/>
                  <a:t>&gt;</a:t>
                </a:r>
                <a:r>
                  <a:rPr lang="en-US" altLang="zh-TW" dirty="0" smtClean="0"/>
                  <a:t>,</a:t>
                </a:r>
                <a:r>
                  <a:rPr lang="en-US" altLang="zh-TW" dirty="0"/>
                  <a:t> and a class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7888"/>
                <a:ext cx="10515600" cy="5267458"/>
              </a:xfrm>
              <a:blipFill rotWithShape="0">
                <a:blip r:embed="rId3"/>
                <a:stretch>
                  <a:fillRect l="-1217" t="-2546" r="-5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7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8162"/>
          </a:xfrm>
        </p:spPr>
        <p:txBody>
          <a:bodyPr/>
          <a:lstStyle/>
          <a:p>
            <a:r>
              <a:rPr lang="en-US" altLang="zh-TW" dirty="0" err="1"/>
              <a:t>Shapelet</a:t>
            </a:r>
            <a:r>
              <a:rPr lang="en-US" altLang="zh-TW" dirty="0"/>
              <a:t>-based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63288"/>
            <a:ext cx="10515600" cy="4813675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 err="1" smtClean="0"/>
              <a:t>Shapelet</a:t>
            </a:r>
            <a:r>
              <a:rPr lang="zh-TW" altLang="en-US" dirty="0" smtClean="0"/>
              <a:t>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/>
              <a:t>a time-series subsequence that can be used as a primitive for TSC </a:t>
            </a:r>
            <a:r>
              <a:rPr lang="en-US" altLang="zh-TW" dirty="0" smtClean="0"/>
              <a:t>based</a:t>
            </a:r>
            <a:r>
              <a:rPr lang="zh-TW" altLang="en-US" dirty="0" smtClean="0"/>
              <a:t> </a:t>
            </a:r>
            <a:r>
              <a:rPr lang="en-US" altLang="zh-TW" dirty="0" smtClean="0"/>
              <a:t>on </a:t>
            </a:r>
            <a:r>
              <a:rPr lang="en-US" altLang="zh-TW" dirty="0"/>
              <a:t>local, phase-independent similarity in shape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569" y="3462338"/>
            <a:ext cx="2876550" cy="24669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44" y="3338512"/>
            <a:ext cx="69723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8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65620"/>
            <a:ext cx="10515600" cy="1147792"/>
          </a:xfrm>
        </p:spPr>
        <p:txBody>
          <a:bodyPr/>
          <a:lstStyle/>
          <a:p>
            <a:r>
              <a:rPr lang="en-US" altLang="zh-TW" dirty="0" err="1" smtClean="0"/>
              <a:t>ShapeletCachedSelection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180407"/>
            <a:ext cx="10515600" cy="530352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process to extract the best </a:t>
            </a:r>
            <a:r>
              <a:rPr lang="en-US" altLang="zh-TW" i="1" dirty="0"/>
              <a:t>k </a:t>
            </a:r>
            <a:r>
              <a:rPr lang="en-US" altLang="zh-TW" dirty="0" err="1" smtClean="0"/>
              <a:t>shapelets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Step 1 : </a:t>
            </a:r>
            <a:r>
              <a:rPr lang="en-US" altLang="zh-TW" i="1" dirty="0"/>
              <a:t>Generating </a:t>
            </a:r>
            <a:r>
              <a:rPr lang="en-US" altLang="zh-TW" i="1" dirty="0" smtClean="0"/>
              <a:t>candidates</a:t>
            </a:r>
          </a:p>
          <a:p>
            <a:pPr marL="0" indent="0">
              <a:buNone/>
            </a:pPr>
            <a:r>
              <a:rPr lang="en-US" altLang="zh-TW" dirty="0" smtClean="0"/>
              <a:t>Step 2 : </a:t>
            </a:r>
            <a:r>
              <a:rPr lang="en-US" altLang="zh-TW" i="1" dirty="0" err="1"/>
              <a:t>Shapelet</a:t>
            </a:r>
            <a:r>
              <a:rPr lang="en-US" altLang="zh-TW" i="1" dirty="0"/>
              <a:t> distance </a:t>
            </a:r>
            <a:r>
              <a:rPr lang="en-US" altLang="zh-TW" i="1" dirty="0" smtClean="0"/>
              <a:t>calculations</a:t>
            </a:r>
          </a:p>
          <a:p>
            <a:pPr marL="0" indent="0">
              <a:buNone/>
            </a:pPr>
            <a:r>
              <a:rPr lang="en-US" altLang="zh-TW" i="1" dirty="0" smtClean="0"/>
              <a:t>Step 3 : </a:t>
            </a:r>
            <a:r>
              <a:rPr lang="en-US" altLang="zh-TW" i="1" dirty="0" err="1"/>
              <a:t>Shapelet</a:t>
            </a:r>
            <a:r>
              <a:rPr lang="en-US" altLang="zh-TW" i="1" dirty="0"/>
              <a:t> </a:t>
            </a:r>
            <a:r>
              <a:rPr lang="en-US" altLang="zh-TW" i="1" dirty="0" smtClean="0"/>
              <a:t>assessment(quality)</a:t>
            </a:r>
          </a:p>
          <a:p>
            <a:pPr marL="0" indent="0">
              <a:buNone/>
            </a:pPr>
            <a:r>
              <a:rPr lang="en-US" altLang="zh-TW" i="1" dirty="0" smtClean="0"/>
              <a:t>Step 4 :</a:t>
            </a:r>
            <a:r>
              <a:rPr lang="en-US" altLang="zh-TW" i="1" dirty="0"/>
              <a:t> </a:t>
            </a:r>
            <a:r>
              <a:rPr lang="en-US" altLang="zh-TW" i="1" dirty="0" smtClean="0"/>
              <a:t>remove Self Similar</a:t>
            </a:r>
          </a:p>
          <a:p>
            <a:pPr marL="0" indent="0">
              <a:buNone/>
            </a:pPr>
            <a:r>
              <a:rPr lang="en-US" altLang="zh-TW" i="1" dirty="0" smtClean="0"/>
              <a:t>Step 5 : Select k </a:t>
            </a:r>
            <a:r>
              <a:rPr lang="en-US" altLang="zh-TW" i="1" dirty="0" err="1" smtClean="0"/>
              <a:t>Shapelets</a:t>
            </a:r>
            <a:endParaRPr lang="en-US" altLang="zh-TW" i="1" dirty="0" smtClean="0"/>
          </a:p>
          <a:p>
            <a:pPr marL="0" indent="0">
              <a:buNone/>
            </a:pPr>
            <a:endParaRPr lang="en-US" altLang="zh-TW" i="1" dirty="0"/>
          </a:p>
        </p:txBody>
      </p:sp>
    </p:spTree>
    <p:extLst>
      <p:ext uri="{BB962C8B-B14F-4D97-AF65-F5344CB8AC3E}">
        <p14:creationId xmlns:p14="http://schemas.microsoft.com/office/powerpoint/2010/main" val="319306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32756"/>
            <a:ext cx="10515600" cy="665019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My dataset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13181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HUNG(n=3 m=10)</a:t>
            </a:r>
          </a:p>
          <a:p>
            <a:r>
              <a:rPr lang="en-US" altLang="zh-TW" dirty="0" smtClean="0"/>
              <a:t>Hand(H) = (1,5,4,3,7,6,2,8,9,10) </a:t>
            </a:r>
          </a:p>
          <a:p>
            <a:r>
              <a:rPr lang="en-US" altLang="zh-TW" dirty="0" smtClean="0"/>
              <a:t>Leg(L) =     (4,5,8,7,6,10,9,3,2,1)</a:t>
            </a:r>
          </a:p>
          <a:p>
            <a:r>
              <a:rPr lang="en-US" altLang="zh-TW" dirty="0" smtClean="0"/>
              <a:t>Eye(E) =  (1,2,3,4,5,6,7,8,9,10)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603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8076" y="232757"/>
                <a:ext cx="10515600" cy="66252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i="1" dirty="0" smtClean="0"/>
                  <a:t>Generating candidates</a:t>
                </a:r>
              </a:p>
              <a:p>
                <a:r>
                  <a:rPr lang="en-US" altLang="zh-TW" dirty="0"/>
                  <a:t>time series of length 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contains </a:t>
                </a:r>
                <a:r>
                  <a:rPr lang="en-US" altLang="zh-TW" i="1" dirty="0"/>
                  <a:t>(m </a:t>
                </a:r>
                <a:r>
                  <a:rPr lang="en-US" altLang="zh-TW" dirty="0"/>
                  <a:t>− </a:t>
                </a:r>
                <a:r>
                  <a:rPr lang="en-US" altLang="zh-TW" dirty="0" smtClean="0"/>
                  <a:t>L</a:t>
                </a:r>
                <a:r>
                  <a:rPr lang="en-US" altLang="zh-TW" i="1" dirty="0" smtClean="0"/>
                  <a:t>) </a:t>
                </a:r>
                <a:r>
                  <a:rPr lang="en-US" altLang="zh-TW" dirty="0"/>
                  <a:t>+ 1 distinct candidate </a:t>
                </a:r>
                <a:r>
                  <a:rPr lang="en-US" altLang="zh-TW" dirty="0" err="1"/>
                  <a:t>shapelets</a:t>
                </a:r>
                <a:r>
                  <a:rPr lang="en-US" altLang="zh-TW" dirty="0"/>
                  <a:t> of </a:t>
                </a:r>
                <a:r>
                  <a:rPr lang="en-US" altLang="zh-TW" dirty="0" smtClean="0"/>
                  <a:t>length L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</m:oMath>
                </a14:m>
                <a:r>
                  <a:rPr lang="en-US" altLang="zh-TW" dirty="0" smtClean="0"/>
                  <a:t> ={{1,5,4}, {5,4,3}, {4,3,7},{3,7,6},{7,6,2},{6,2,8},{2,8,9},{8,9,10}}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,3 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</m:oMath>
                </a14:m>
                <a:r>
                  <a:rPr lang="en-US" altLang="zh-TW" dirty="0" smtClean="0"/>
                  <a:t>}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𝐻𝑢𝑛𝑔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zh-TW" dirty="0" smtClean="0"/>
                  <a:t> }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8076" y="232757"/>
                <a:ext cx="10515600" cy="6625243"/>
              </a:xfrm>
              <a:blipFill rotWithShape="0">
                <a:blip r:embed="rId3"/>
                <a:stretch>
                  <a:fillRect l="-1217" t="-1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984" y="1613709"/>
            <a:ext cx="4966595" cy="85877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6630" y="2472486"/>
            <a:ext cx="4524949" cy="71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4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660"/>
          </a:xfrm>
        </p:spPr>
        <p:txBody>
          <a:bodyPr/>
          <a:lstStyle/>
          <a:p>
            <a:r>
              <a:rPr lang="en-US" altLang="zh-TW" i="1" dirty="0" err="1"/>
              <a:t>Shapelet</a:t>
            </a:r>
            <a:r>
              <a:rPr lang="en-US" altLang="zh-TW" i="1" dirty="0"/>
              <a:t> distance calculations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48887" y="1296786"/>
                <a:ext cx="10904913" cy="541989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200" dirty="0" smtClean="0"/>
                  <a:t>The squared Euclidean distance between two subsequences </a:t>
                </a:r>
                <a:r>
                  <a:rPr lang="en-US" altLang="zh-TW" sz="3200" i="1" dirty="0"/>
                  <a:t>S </a:t>
                </a:r>
                <a:r>
                  <a:rPr lang="en-US" altLang="zh-TW" sz="3200" dirty="0"/>
                  <a:t>and </a:t>
                </a:r>
                <a:r>
                  <a:rPr lang="en-US" altLang="zh-TW" sz="3200" i="1" dirty="0"/>
                  <a:t>R</a:t>
                </a:r>
                <a:r>
                  <a:rPr lang="en-US" altLang="zh-TW" sz="3200" dirty="0"/>
                  <a:t>, where both </a:t>
                </a:r>
                <a:r>
                  <a:rPr lang="en-US" altLang="zh-TW" sz="3200" dirty="0" smtClean="0"/>
                  <a:t>are of </a:t>
                </a:r>
                <a:r>
                  <a:rPr lang="en-US" altLang="zh-TW" sz="3200" dirty="0"/>
                  <a:t>length </a:t>
                </a:r>
                <a:r>
                  <a:rPr lang="en-US" altLang="zh-TW" sz="3200" i="1" dirty="0"/>
                  <a:t>l</a:t>
                </a:r>
                <a:r>
                  <a:rPr lang="en-US" altLang="zh-TW" sz="3200" dirty="0"/>
                  <a:t>, is defined </a:t>
                </a:r>
                <a:r>
                  <a:rPr lang="en-US" altLang="zh-TW" sz="3200" dirty="0" smtClean="0"/>
                  <a:t>as</a:t>
                </a:r>
              </a:p>
              <a:p>
                <a:endParaRPr lang="en-US" altLang="zh-TW" sz="3200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zh-TW" altLang="en-US" dirty="0"/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={{1,5,4}, {5,4,3}, {4,3,7},{3,7,6},{7,6,2},{6,2,8},{2,8,9},{8,9,10}}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{1,5,4},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 smtClean="0"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en-US" altLang="zh-TW" dirty="0" smtClean="0"/>
                  <a:t> {(16+1+1),(9+4+9),….} = 17 for a time series(H) and length 3</a:t>
                </a:r>
                <a:r>
                  <a:rPr lang="zh-TW" altLang="en-US" dirty="0" smtClean="0"/>
                  <a:t>   </a:t>
                </a:r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{1,5,4} 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</m:oMath>
                </a14:m>
                <a:r>
                  <a:rPr lang="en-US" altLang="zh-TW" dirty="0" smtClean="0"/>
                  <a:t>&gt;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                                              </a:t>
                </a: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8887" y="1296786"/>
                <a:ext cx="10904913" cy="5419898"/>
              </a:xfrm>
              <a:blipFill rotWithShape="0">
                <a:blip r:embed="rId3"/>
                <a:stretch>
                  <a:fillRect l="-1286" t="-2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28446"/>
            <a:ext cx="4341668" cy="120601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868" y="2249512"/>
            <a:ext cx="4555722" cy="137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6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32122"/>
            <a:ext cx="10515600" cy="715530"/>
          </a:xfrm>
        </p:spPr>
        <p:txBody>
          <a:bodyPr/>
          <a:lstStyle/>
          <a:p>
            <a:r>
              <a:rPr lang="en-US" altLang="zh-TW" i="1" dirty="0" err="1"/>
              <a:t>Shapelet</a:t>
            </a:r>
            <a:r>
              <a:rPr lang="en-US" altLang="zh-TW" i="1" dirty="0"/>
              <a:t> assessment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5513" y="947652"/>
            <a:ext cx="10888287" cy="5910348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smtClean="0"/>
              <a:t>information </a:t>
            </a:r>
            <a:r>
              <a:rPr lang="en-US" altLang="zh-TW" dirty="0"/>
              <a:t>gain (IG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 err="1" smtClean="0"/>
              <a:t>Kruskal</a:t>
            </a:r>
            <a:r>
              <a:rPr lang="en-US" altLang="zh-TW" dirty="0" smtClean="0"/>
              <a:t>-Wallis</a:t>
            </a:r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Analysis of variance </a:t>
            </a:r>
            <a:r>
              <a:rPr lang="en-US" altLang="zh-TW" dirty="0" smtClean="0"/>
              <a:t>F-statistic</a:t>
            </a:r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Mood’s median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186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440" y="0"/>
            <a:ext cx="10515600" cy="1014788"/>
          </a:xfrm>
        </p:spPr>
        <p:txBody>
          <a:bodyPr/>
          <a:lstStyle/>
          <a:p>
            <a:r>
              <a:rPr lang="en-US" altLang="zh-TW" dirty="0" smtClean="0"/>
              <a:t>information gain (IG)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72440" y="931026"/>
                <a:ext cx="10515600" cy="578565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/>
                  <a:t>分</a:t>
                </a:r>
                <a:r>
                  <a:rPr lang="zh-TW" altLang="en-US" dirty="0" smtClean="0"/>
                  <a:t>類</a:t>
                </a:r>
                <a:r>
                  <a:rPr lang="zh-TW" altLang="en-US" dirty="0"/>
                  <a:t>指標</a:t>
                </a:r>
                <a:r>
                  <a:rPr lang="zh-TW" altLang="en-US" b="1" dirty="0"/>
                  <a:t> </a:t>
                </a:r>
                <a:r>
                  <a:rPr lang="en-US" altLang="zh-TW" b="1" dirty="0" smtClean="0"/>
                  <a:t>Entropy</a:t>
                </a:r>
                <a:r>
                  <a:rPr lang="zh-TW" altLang="en-US" b="1" dirty="0" smtClean="0"/>
                  <a:t> </a:t>
                </a:r>
                <a:r>
                  <a:rPr lang="zh-TW" altLang="en-US" dirty="0" smtClean="0"/>
                  <a:t>熵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H()</a:t>
                </a:r>
                <a:r>
                  <a:rPr lang="zh-TW" altLang="en-US" dirty="0" smtClean="0"/>
                  <a:t>即為</a:t>
                </a:r>
                <a:r>
                  <a:rPr lang="en-US" altLang="zh-TW" b="1" dirty="0" smtClean="0"/>
                  <a:t>Entropy</a:t>
                </a:r>
                <a:r>
                  <a:rPr lang="zh-TW" altLang="en-US" b="1" dirty="0" smtClean="0"/>
                  <a:t> </a:t>
                </a:r>
                <a:r>
                  <a:rPr lang="en-US" altLang="zh-TW" b="1" dirty="0" smtClean="0"/>
                  <a:t>function,</a:t>
                </a:r>
                <a:r>
                  <a:rPr lang="zh-TW" altLang="en-US" b="1" dirty="0" smtClean="0"/>
                  <a:t>  </a:t>
                </a:r>
                <a:r>
                  <a:rPr lang="en-US" altLang="zh-TW" b="1" dirty="0" err="1" smtClean="0"/>
                  <a:t>sp</a:t>
                </a:r>
                <a:r>
                  <a:rPr lang="en-US" altLang="zh-TW" b="1" dirty="0" smtClean="0"/>
                  <a:t> </a:t>
                </a:r>
                <a:r>
                  <a:rPr lang="zh-TW" altLang="en-US" b="1" dirty="0"/>
                  <a:t>為</a:t>
                </a:r>
                <a:r>
                  <a:rPr lang="zh-TW" altLang="en-US" b="1" dirty="0" smtClean="0"/>
                  <a:t>分割點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(17,18,19) ,</a:t>
                </a:r>
                <a:r>
                  <a:rPr lang="en-US" altLang="zh-TW" dirty="0" err="1" smtClean="0"/>
                  <a:t>sp</a:t>
                </a:r>
                <a:r>
                  <a:rPr lang="en-US" altLang="zh-TW" dirty="0" smtClean="0"/>
                  <a:t> =</a:t>
                </a:r>
                <a:r>
                  <a:rPr lang="zh-TW" altLang="en-US" dirty="0" smtClean="0"/>
                  <a:t>橘色箭頭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則</a:t>
                </a:r>
                <a:r>
                  <a:rPr lang="en-US" altLang="zh-TW" dirty="0" smtClean="0"/>
                  <a:t>IG</a:t>
                </a:r>
                <a:r>
                  <a:rPr lang="zh-TW" altLang="en-US" dirty="0" smtClean="0"/>
                  <a:t> </a:t>
                </a:r>
                <a:r>
                  <a:rPr lang="zh-TW" altLang="en-US" dirty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-17/54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log 17/54 -18/54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log 18/54 -19/54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log 19/54 –(17/54H(17)+37/54H(18,19))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2440" y="931026"/>
                <a:ext cx="10515600" cy="5785657"/>
              </a:xfrm>
              <a:blipFill rotWithShape="0">
                <a:blip r:embed="rId3"/>
                <a:stretch>
                  <a:fillRect l="-1217" t="-20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94" y="931026"/>
            <a:ext cx="4586288" cy="119703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" y="3059084"/>
            <a:ext cx="8934047" cy="1627217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>
            <a:off x="1978429" y="4686301"/>
            <a:ext cx="66502" cy="334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62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88324" y="149629"/>
            <a:ext cx="10515600" cy="5960832"/>
          </a:xfrm>
        </p:spPr>
        <p:txBody>
          <a:bodyPr/>
          <a:lstStyle/>
          <a:p>
            <a:r>
              <a:rPr lang="zh-TW" altLang="en-US" dirty="0" smtClean="0"/>
              <a:t>處理所有分割點後 取最大值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70" y="983586"/>
            <a:ext cx="7199428" cy="152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0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/>
          <a:lstStyle/>
          <a:p>
            <a:r>
              <a:rPr lang="en-US" altLang="zh-TW" dirty="0" err="1"/>
              <a:t>Kruskal</a:t>
            </a:r>
            <a:r>
              <a:rPr lang="en-US" altLang="zh-TW" dirty="0"/>
              <a:t>-Wallis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65513" y="1163782"/>
                <a:ext cx="10888287" cy="55030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/>
                  <a:t>(Let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dirty="0"/>
                  <a:t> split to C </a:t>
                </a:r>
                <a:r>
                  <a:rPr lang="en-US" altLang="zh-TW" dirty="0" smtClean="0"/>
                  <a:t>class)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={(A){4.2,4.6,3.9,4.0},(B){3.3,2.4,2.6,3.8.2.8},(C){1.9,2.4,2.1,2.7,1.8}(D){3.5,3.1,3.7,4.1,4.4}} 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rank</a:t>
                </a:r>
                <a:r>
                  <a:rPr lang="zh-TW" altLang="en-US" dirty="0" smtClean="0"/>
                  <a:t>後 </a:t>
                </a:r>
                <a:r>
                  <a:rPr lang="en-US" altLang="zh-TW" dirty="0" smtClean="0"/>
                  <a:t>{(A){17,19,14,15},(B){10,4.5,6,13,8},(C){2,4.5,3,7,1}(D{11,9,12,16,18}}</a:t>
                </a:r>
              </a:p>
              <a:p>
                <a:pPr marL="0" indent="0">
                  <a:buNone/>
                </a:pPr>
                <a:r>
                  <a:rPr lang="zh-TW" altLang="en-US" dirty="0" smtClean="0"/>
                  <a:t>每個</a:t>
                </a:r>
                <a:r>
                  <a:rPr lang="en-US" altLang="zh-TW" dirty="0" err="1" smtClean="0"/>
                  <a:t>calss</a:t>
                </a:r>
                <a:r>
                  <a:rPr lang="zh-TW" altLang="en-US" dirty="0"/>
                  <a:t>各</a:t>
                </a:r>
                <a:r>
                  <a:rPr lang="zh-TW" altLang="en-US" dirty="0" smtClean="0"/>
                  <a:t>別加總 </a:t>
                </a:r>
                <a:r>
                  <a:rPr lang="en-US" altLang="zh-TW" dirty="0" smtClean="0"/>
                  <a:t>(A)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65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(B)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41.5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(C)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17.5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(D)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66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K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12/19</a:t>
                </a:r>
                <a:r>
                  <a:rPr lang="zh-TW" altLang="en-US" dirty="0" smtClean="0"/>
                  <a:t>*</a:t>
                </a:r>
                <a:r>
                  <a:rPr lang="en-US" altLang="zh-TW" dirty="0" smtClean="0"/>
                  <a:t>20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/4+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41.5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/5+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17.5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/5+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/5]-3*20 = 13.678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513" y="1163782"/>
                <a:ext cx="10888287" cy="5503025"/>
              </a:xfrm>
              <a:blipFill rotWithShape="0">
                <a:blip r:embed="rId3"/>
                <a:stretch>
                  <a:fillRect l="-1119" t="-1883" r="-6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3" y="4247525"/>
            <a:ext cx="6273914" cy="148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5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62186"/>
            <a:ext cx="10515600" cy="732155"/>
          </a:xfrm>
        </p:spPr>
        <p:txBody>
          <a:bodyPr/>
          <a:lstStyle/>
          <a:p>
            <a:r>
              <a:rPr lang="en-US" altLang="zh-TW" dirty="0"/>
              <a:t>Analysis of variance </a:t>
            </a:r>
            <a:r>
              <a:rPr lang="en-US" altLang="zh-TW" dirty="0" smtClean="0"/>
              <a:t>(ANOVA)F-statistic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5" y="2932977"/>
            <a:ext cx="8689916" cy="1173510"/>
          </a:xfrm>
          <a:prstGeom prst="rect">
            <a:avLst/>
          </a:prstGeom>
        </p:spPr>
      </p:pic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50737"/>
            <a:ext cx="7496609" cy="1227515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1048875" y="4366803"/>
            <a:ext cx="7664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F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組間變異</a:t>
            </a:r>
            <a:r>
              <a:rPr lang="en-US" altLang="zh-TW" sz="2800" dirty="0" smtClean="0"/>
              <a:t>/</a:t>
            </a:r>
            <a:r>
              <a:rPr lang="zh-TW" altLang="en-US" sz="2800" dirty="0" smtClean="0"/>
              <a:t>組數</a:t>
            </a:r>
            <a:r>
              <a:rPr lang="en-US" altLang="zh-TW" sz="2800" dirty="0" smtClean="0"/>
              <a:t>-1)/(</a:t>
            </a:r>
            <a:r>
              <a:rPr lang="zh-TW" altLang="en-US" sz="2800" dirty="0" smtClean="0"/>
              <a:t>組內變異</a:t>
            </a:r>
            <a:r>
              <a:rPr lang="en-US" altLang="zh-TW" sz="2800" dirty="0" smtClean="0"/>
              <a:t>/</a:t>
            </a:r>
            <a:r>
              <a:rPr lang="zh-TW" altLang="en-US" sz="2800" dirty="0" smtClean="0"/>
              <a:t>樣本數</a:t>
            </a:r>
            <a:r>
              <a:rPr lang="en-US" altLang="zh-TW" sz="2800" dirty="0" smtClean="0"/>
              <a:t>-</a:t>
            </a:r>
            <a:r>
              <a:rPr lang="zh-TW" altLang="en-US" sz="2800" dirty="0" smtClean="0"/>
              <a:t>組數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048875" y="5150339"/>
                <a:ext cx="959141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800" dirty="0" smtClean="0"/>
                  <a:t>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>分成</a:t>
                </a:r>
                <a:r>
                  <a:rPr lang="en-US" altLang="zh-TW" sz="2800" dirty="0" smtClean="0"/>
                  <a:t>C</a:t>
                </a:r>
                <a:r>
                  <a:rPr lang="zh-TW" altLang="en-US" sz="2800" dirty="0" smtClean="0"/>
                  <a:t>組去做上述計算，</a:t>
                </a:r>
                <a:r>
                  <a:rPr lang="zh-TW" altLang="en-US" sz="2800" dirty="0"/>
                  <a:t>值的大小也就決定了你的組跟組之間是否有顯著的</a:t>
                </a:r>
                <a:r>
                  <a:rPr lang="zh-TW" altLang="en-US" sz="2800" dirty="0" smtClean="0"/>
                  <a:t>差異</a:t>
                </a:r>
                <a:r>
                  <a:rPr lang="en-US" altLang="zh-TW" sz="2800" dirty="0" smtClean="0"/>
                  <a:t>F</a:t>
                </a:r>
                <a:r>
                  <a:rPr lang="zh-TW" altLang="en-US" sz="2800" dirty="0"/>
                  <a:t>值越大當然也就代表組跟組之間差異越大 </a:t>
                </a:r>
                <a:r>
                  <a:rPr lang="en-US" altLang="zh-TW" sz="2800" dirty="0"/>
                  <a:t>or </a:t>
                </a:r>
                <a:r>
                  <a:rPr lang="zh-TW" altLang="en-US" sz="2800" dirty="0"/>
                  <a:t>組內差異越小</a:t>
                </a: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875" y="5150339"/>
                <a:ext cx="9591416" cy="1384995"/>
              </a:xfrm>
              <a:prstGeom prst="rect">
                <a:avLst/>
              </a:prstGeom>
              <a:blipFill rotWithShape="0">
                <a:blip r:embed="rId4"/>
                <a:stretch>
                  <a:fillRect l="-1271" t="-5286" b="-11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60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8268" y="191985"/>
            <a:ext cx="10274531" cy="609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9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71698" y="365126"/>
            <a:ext cx="10515600" cy="898410"/>
          </a:xfrm>
        </p:spPr>
        <p:txBody>
          <a:bodyPr/>
          <a:lstStyle/>
          <a:p>
            <a:r>
              <a:rPr lang="en-US" altLang="zh-TW" dirty="0"/>
              <a:t>Mood’s </a:t>
            </a:r>
            <a:r>
              <a:rPr lang="en-US" altLang="zh-TW" dirty="0" smtClean="0"/>
              <a:t>median</a:t>
            </a:r>
            <a:r>
              <a:rPr lang="en-US" altLang="zh-TW" dirty="0"/>
              <a:t>(MM)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72193" y="1047404"/>
                <a:ext cx="10515600" cy="546977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dirty="0" smtClean="0"/>
                  <a:t> split to C class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not </a:t>
                </a:r>
                <a:r>
                  <a:rPr lang="en-US" altLang="zh-TW" dirty="0"/>
                  <a:t>require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dirty="0" smtClean="0"/>
                  <a:t> to </a:t>
                </a:r>
                <a:r>
                  <a:rPr lang="en-US" altLang="zh-TW" dirty="0"/>
                  <a:t>be sorted</a:t>
                </a:r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represent the count of class </a:t>
                </a:r>
                <a:r>
                  <a:rPr lang="en-US" altLang="zh-TW" i="1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above the median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the count of those below </a:t>
                </a:r>
                <a:r>
                  <a:rPr lang="en-US" altLang="zh-TW" dirty="0" smtClean="0"/>
                  <a:t>the median.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denote </a:t>
                </a:r>
                <a:r>
                  <a:rPr lang="en-US" altLang="zh-TW" dirty="0"/>
                  <a:t>the expected number of observations above and below the </a:t>
                </a:r>
                <a:r>
                  <a:rPr lang="en-US" altLang="zh-TW" dirty="0" smtClean="0"/>
                  <a:t>median(null hypothesis )</a:t>
                </a:r>
              </a:p>
              <a:p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193" y="1047404"/>
                <a:ext cx="10515600" cy="5469774"/>
              </a:xfrm>
              <a:blipFill rotWithShape="0">
                <a:blip r:embed="rId2"/>
                <a:stretch>
                  <a:fillRect l="-1217" t="-1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235" y="3335466"/>
            <a:ext cx="4212822" cy="184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66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201" y="798021"/>
            <a:ext cx="9851191" cy="490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13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77" y="129828"/>
            <a:ext cx="11570398" cy="672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20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15389"/>
            <a:ext cx="11041148" cy="4709754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838200" y="5375407"/>
            <a:ext cx="989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Average rank </a:t>
            </a:r>
            <a:r>
              <a:rPr lang="en-US" altLang="zh-TW" dirty="0" smtClean="0"/>
              <a:t>of time</a:t>
            </a:r>
            <a:r>
              <a:rPr lang="en-US" altLang="zh-TW" smtClean="0"/>
              <a:t>	                     3.72                            2.64                        1.62                             2.02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799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534" y="133004"/>
            <a:ext cx="9452049" cy="54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45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515" y="1687484"/>
            <a:ext cx="10324407" cy="5170516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560515" y="653143"/>
            <a:ext cx="10750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The main motivation for our </a:t>
            </a:r>
            <a:r>
              <a:rPr lang="en-US" altLang="zh-TW" sz="2400" dirty="0" err="1"/>
              <a:t>shapelet</a:t>
            </a:r>
            <a:r>
              <a:rPr lang="en-US" altLang="zh-TW" sz="2400" dirty="0"/>
              <a:t> transformation is to allow </a:t>
            </a:r>
            <a:r>
              <a:rPr lang="en-US" altLang="zh-TW" sz="2400" dirty="0" err="1"/>
              <a:t>shapelets</a:t>
            </a:r>
            <a:r>
              <a:rPr lang="en-US" altLang="zh-TW" sz="2400" dirty="0"/>
              <a:t> to be used</a:t>
            </a:r>
          </a:p>
          <a:p>
            <a:r>
              <a:rPr lang="en-US" altLang="zh-TW" sz="2400" dirty="0"/>
              <a:t>with a diverse range of classification algorithms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66365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793</Words>
  <Application>Microsoft Office PowerPoint</Application>
  <PresentationFormat>寬螢幕</PresentationFormat>
  <Paragraphs>129</Paragraphs>
  <Slides>22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新細明體</vt:lpstr>
      <vt:lpstr>Arial</vt:lpstr>
      <vt:lpstr>Calibri</vt:lpstr>
      <vt:lpstr>Calibri Light</vt:lpstr>
      <vt:lpstr>Cambria Math</vt:lpstr>
      <vt:lpstr>Office 佈景主題</vt:lpstr>
      <vt:lpstr>Classification of time series by shapelet transformation</vt:lpstr>
      <vt:lpstr>Abstract(1/3)</vt:lpstr>
      <vt:lpstr>Abstract(2/3)</vt:lpstr>
      <vt:lpstr>Abstract(3/3)</vt:lpstr>
      <vt:lpstr>Time-series classification (TSC) problems</vt:lpstr>
      <vt:lpstr>Shapelet-based classification</vt:lpstr>
      <vt:lpstr>ShapeletCachedSelection</vt:lpstr>
      <vt:lpstr>My dataset</vt:lpstr>
      <vt:lpstr>PowerPoint 簡報</vt:lpstr>
      <vt:lpstr>Shapelet distance calculations</vt:lpstr>
      <vt:lpstr>Shapelet assessment</vt:lpstr>
      <vt:lpstr>information gain (IG)</vt:lpstr>
      <vt:lpstr>PowerPoint 簡報</vt:lpstr>
      <vt:lpstr>Kruskal-Wallis</vt:lpstr>
      <vt:lpstr>Analysis of variance (ANOVA)F-statistic</vt:lpstr>
      <vt:lpstr>PowerPoint 簡報</vt:lpstr>
      <vt:lpstr>Mood’s median(MM)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time series by shapelet transformation</dc:title>
  <dc:creator>andy</dc:creator>
  <cp:lastModifiedBy>pplab-class</cp:lastModifiedBy>
  <cp:revision>36</cp:revision>
  <dcterms:created xsi:type="dcterms:W3CDTF">2016-03-12T19:55:18Z</dcterms:created>
  <dcterms:modified xsi:type="dcterms:W3CDTF">2016-03-29T10:50:59Z</dcterms:modified>
</cp:coreProperties>
</file>