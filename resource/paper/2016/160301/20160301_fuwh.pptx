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4" r:id="rId9"/>
    <p:sldId id="266" r:id="rId10"/>
    <p:sldId id="262" r:id="rId11"/>
    <p:sldId id="263" r:id="rId12"/>
  </p:sldIdLst>
  <p:sldSz cx="10080625" cy="7559675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  <a:tblStyle styleId="{BC89EF96-8CEA-46FF-86C4-4CE0E760980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5B9BD5"/>
          </a:solidFill>
        </a:fill>
      </a:tcStyle>
    </a:band1H>
    <a:band1V>
      <a:tcStyle>
        <a:tcBdr/>
        <a:fill>
          <a:solidFill>
            <a:srgbClr val="5B9BD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  <a:tblStyle styleId="{E8B1032C-EA38-4F05-BA0D-38AFFFC7BED3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70AD47"/>
          </a:solidFill>
        </a:fill>
      </a:tcStyle>
    </a:band1H>
    <a:band1V>
      <a:tcStyle>
        <a:tcBdr/>
        <a:fill>
          <a:solidFill>
            <a:srgbClr val="70AD47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DA37D80-6434-44D0-A028-1B22A696006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D7D31"/>
          </a:solidFill>
        </a:fill>
      </a:tcStyle>
    </a:band1H>
    <a:band1V>
      <a:tcStyle>
        <a:tcBdr/>
        <a:fill>
          <a:solidFill>
            <a:srgbClr val="ED7D31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EB344D84-9AFB-497E-A393-DC336BA19D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402" y="618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227E8C-9554-460F-B633-51D5AD774E1F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513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備忘稿版面配置區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頁首版面配置區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78A57073-AB8B-4F7A-BB5E-FAEF8A970D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33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  <a:ea typeface="微軟正黑體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66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78A57073-AB8B-4F7A-BB5E-FAEF8A970D70}" type="slidenum">
              <a:rPr lang="en-US" altLang="zh-TW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844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副標題 2"/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zh-TW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6BFC27-068B-4B72-92F7-9C821F0A3E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842836-F473-4F88-8FC5-E6506225D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9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6D477E-DD58-4DE2-94A6-FBA23A9245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2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2D141D-6966-43C1-8EB1-BB4818DFA3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文字版面配置區 4"/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6" name="內容版面配置區 5"/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7" name="日期版面配置區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頁尾版面配置區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投影片編號版面配置區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382990-A4FF-4906-9C3D-CE47CFC3DC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3CCA10-4506-4689-B9C6-7A25C650BA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頁尾版面配置區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投影片編號版面配置區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413963-2284-408C-A1F3-BA9C90A14B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0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59FB30-6DA3-498A-B3E4-39789FBB38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7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DDE591-0FAF-4F51-A0C1-3BEDC4250A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1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523178-8C3C-4D5B-987E-9C6DE9B052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0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5851529"/>
          </a:xfrm>
        </p:spPr>
        <p:txBody>
          <a:bodyPr vert="eaVert"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83D96B-BEA4-46BB-A345-50D7E40AC1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0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503998" y="1769043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2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3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4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FA3188D1-A64F-4C0D-9118-94DC8B17CC6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zh-TW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4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0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576355" y="2514631"/>
            <a:ext cx="9071643" cy="2908489"/>
          </a:xfrm>
        </p:spPr>
        <p:txBody>
          <a:bodyPr>
            <a:spAutoFit/>
          </a:bodyPr>
          <a:lstStyle/>
          <a:p>
            <a:pPr lvl="0"/>
            <a:r>
              <a:rPr lang="en-US" altLang="zh-TW" sz="2700" b="1" dirty="0" err="1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Navneet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 </a:t>
            </a:r>
            <a:r>
              <a:rPr lang="en-US" altLang="zh-TW" sz="2700" b="1" dirty="0" err="1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Dalal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 and Bill </a:t>
            </a:r>
            <a:r>
              <a:rPr lang="en-US" altLang="zh-TW" sz="2700" b="1" dirty="0" err="1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Triggs</a:t>
            </a:r>
            <a:r>
              <a:rPr lang="en-US" altLang="zh-TW" sz="2700" b="1" dirty="0" smtClean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/>
            </a:r>
            <a:br>
              <a:rPr lang="en-US" altLang="zh-TW" sz="2700" b="1" dirty="0" smtClean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</a:b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/>
            </a:r>
            <a:b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</a:br>
            <a: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  <a:t>Proceedings of</a:t>
            </a:r>
            <a:b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</a:br>
            <a: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  <a:t> </a:t>
            </a:r>
            <a: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  <a:t>Computer </a:t>
            </a:r>
            <a:r>
              <a:rPr lang="en-US" altLang="zh-TW" sz="2700" b="1" dirty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  <a:t>Vision and Pattern </a:t>
            </a:r>
            <a: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  <a:t>Recognition(CVPR 2005), </a:t>
            </a:r>
            <a:b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</a:br>
            <a: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  <a:t>San Diego, CA, USA, </a:t>
            </a:r>
            <a:b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</a:br>
            <a: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  <a:t>pp. </a:t>
            </a:r>
            <a: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  <a:t>886-893,</a:t>
            </a:r>
            <a:b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</a:br>
            <a:r>
              <a:rPr lang="en-US" altLang="zh-TW" sz="2700" b="1" dirty="0" smtClean="0">
                <a:solidFill>
                  <a:schemeClr val="bg1">
                    <a:lumMod val="65000"/>
                  </a:schemeClr>
                </a:solidFill>
                <a:latin typeface="Sitka Subheading" panose="02000505000000020004" pitchFamily="2" charset="0"/>
                <a:ea typeface="新細明體" pitchFamily="2"/>
              </a:rPr>
              <a:t>June 25, 2005</a:t>
            </a:r>
            <a:endParaRPr lang="en-US" sz="2700" b="1" dirty="0">
              <a:solidFill>
                <a:schemeClr val="bg1">
                  <a:lumMod val="65000"/>
                </a:schemeClr>
              </a:solidFill>
              <a:latin typeface="Sitka Subheading" panose="02000505000000020004" pitchFamily="2" charset="0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576355" y="935998"/>
            <a:ext cx="9071643" cy="1491891"/>
          </a:xfrm>
        </p:spPr>
        <p:txBody>
          <a:bodyPr anchorCtr="1"/>
          <a:lstStyle/>
          <a:p>
            <a:pPr lvl="0" algn="ctr"/>
            <a:r>
              <a:rPr lang="en-US" sz="40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Histogram of Oriented Gradients for Human Detection</a:t>
            </a:r>
            <a:endParaRPr lang="en-US" sz="4000" b="1" dirty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704380" y="5920800"/>
            <a:ext cx="9071643" cy="1159806"/>
          </a:xfrm>
        </p:spPr>
        <p:txBody>
          <a:bodyPr/>
          <a:lstStyle/>
          <a:p>
            <a:pPr lvl="1" algn="r" hangingPunct="0">
              <a:spcBef>
                <a:spcPts val="1415"/>
              </a:spcBef>
              <a:buNone/>
            </a:pP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Wei-</a:t>
            </a:r>
            <a:r>
              <a:rPr lang="en-US" altLang="zh-TW" dirty="0" err="1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Hao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, Fu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105/ 0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3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/</a:t>
            </a:r>
            <a:r>
              <a:rPr lang="zh-TW" alt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01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Abstract(1/3)</a:t>
            </a:r>
            <a:endParaRPr lang="zh-TW" altLang="en-US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We study the question of feature sets for robust visual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object recognition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, adopting linear SVM based human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detection as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a test case. </a:t>
            </a:r>
            <a:endParaRPr lang="en-US" altLang="zh-TW" dirty="0" smtClean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After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reviewing existing edge and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gradient based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descriptors, we show experimentally that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grids of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Histograms of Oriented Gradient (HOG) descriptors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significantly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outperform existing feature sets for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human detection.</a:t>
            </a:r>
            <a:endParaRPr lang="en-US" altLang="zh-TW" dirty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21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We study the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influence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of each stage of the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computation on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performance, concluding that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fine-scale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gradients,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fine orientation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binning, relatively coarse spatial binning,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and high-quality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local contrast normalization in overlapping descriptor</a:t>
            </a:r>
          </a:p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blocks are all important for good results.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936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The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new approach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gives near-perfect separation on the original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MIT pedestrian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database, so we introduce a more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challenging dataset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containing over 1800 annotated human images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with a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large range of pose variations and backgrounds.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96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Histogram of </a:t>
            </a:r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Oriented Gradient</a:t>
            </a:r>
            <a:endParaRPr lang="zh-TW" alt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38850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dirty="0" smtClean="0"/>
              <a:t>目的：計算局部圖像梯度方向</a:t>
            </a:r>
            <a:r>
              <a:rPr lang="zh-TW" altLang="en-US" dirty="0"/>
              <a:t>訊息</a:t>
            </a:r>
            <a:r>
              <a:rPr lang="zh-TW" altLang="en-US" dirty="0" smtClean="0"/>
              <a:t>的統計值。</a:t>
            </a:r>
            <a:endParaRPr lang="en-US" altLang="zh-TW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b="1" dirty="0" smtClean="0">
                <a:solidFill>
                  <a:srgbClr val="0070C0"/>
                </a:solidFill>
              </a:rPr>
              <a:t>Cell</a:t>
            </a:r>
            <a:r>
              <a:rPr lang="zh-TW" altLang="en-US" dirty="0" smtClean="0"/>
              <a:t>：由好幾個像素</a:t>
            </a:r>
            <a:r>
              <a:rPr lang="en-US" altLang="zh-TW" dirty="0" smtClean="0"/>
              <a:t>(pixel)</a:t>
            </a:r>
            <a:r>
              <a:rPr lang="zh-TW" altLang="en-US" dirty="0" smtClean="0"/>
              <a:t>組成的單位，利用這些</a:t>
            </a:r>
            <a:r>
              <a:rPr lang="zh-TW" altLang="en-US" dirty="0"/>
              <a:t>像素來</a:t>
            </a:r>
            <a:r>
              <a:rPr lang="zh-TW" altLang="en-US" dirty="0" smtClean="0"/>
              <a:t>決定該</a:t>
            </a:r>
            <a:r>
              <a:rPr lang="en-US" altLang="zh-TW" dirty="0" smtClean="0"/>
              <a:t>Cell</a:t>
            </a:r>
            <a:r>
              <a:rPr lang="zh-TW" altLang="en-US" dirty="0" smtClean="0"/>
              <a:t>的梯度方向。</a:t>
            </a:r>
            <a:endParaRPr lang="en-US" altLang="zh-TW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b="1" dirty="0" smtClean="0">
                <a:solidFill>
                  <a:srgbClr val="0070C0"/>
                </a:solidFill>
              </a:rPr>
              <a:t>Block</a:t>
            </a:r>
            <a:r>
              <a:rPr lang="zh-TW" altLang="en-US" dirty="0" smtClean="0"/>
              <a:t>：數個</a:t>
            </a:r>
            <a:r>
              <a:rPr lang="en-US" altLang="zh-TW" dirty="0" smtClean="0"/>
              <a:t>Cell</a:t>
            </a:r>
            <a:r>
              <a:rPr lang="zh-TW" altLang="en-US" dirty="0" smtClean="0"/>
              <a:t>所組成，</a:t>
            </a:r>
            <a:r>
              <a:rPr lang="en-US" altLang="zh-TW" dirty="0" smtClean="0"/>
              <a:t>Block</a:t>
            </a:r>
            <a:r>
              <a:rPr lang="zh-TW" altLang="en-US" dirty="0" smtClean="0"/>
              <a:t>彼此間可以</a:t>
            </a:r>
            <a:r>
              <a:rPr lang="zh-TW" altLang="en-US" b="1" dirty="0" smtClean="0">
                <a:solidFill>
                  <a:srgbClr val="0070C0"/>
                </a:solidFill>
              </a:rPr>
              <a:t>重疊</a:t>
            </a:r>
            <a:r>
              <a:rPr lang="zh-TW" altLang="en-US" dirty="0" smtClean="0"/>
              <a:t>，用來描述影像的局部邊緣資訊。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25976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Method</a:t>
            </a:r>
            <a:r>
              <a:rPr lang="zh-TW" altLang="en-US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flow chart</a:t>
            </a:r>
            <a:endParaRPr lang="zh-TW" alt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99543" y="2090494"/>
            <a:ext cx="94994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Input</a:t>
            </a:r>
          </a:p>
          <a:p>
            <a:r>
              <a:rPr lang="en-US" altLang="zh-TW" sz="2400" dirty="0" smtClean="0"/>
              <a:t>Image</a:t>
            </a:r>
            <a:endParaRPr lang="zh-TW" altLang="en-US" sz="2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335080" y="3388342"/>
            <a:ext cx="1302601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Normalize </a:t>
            </a:r>
          </a:p>
          <a:p>
            <a:r>
              <a:rPr lang="en-US" altLang="zh-TW" sz="2000" dirty="0" smtClean="0"/>
              <a:t>gamma &amp; </a:t>
            </a:r>
          </a:p>
          <a:p>
            <a:r>
              <a:rPr lang="en-US" altLang="zh-TW" sz="2000" dirty="0" err="1" smtClean="0"/>
              <a:t>colour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008725" y="3542230"/>
            <a:ext cx="1154868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Compute</a:t>
            </a:r>
          </a:p>
          <a:p>
            <a:r>
              <a:rPr lang="en-US" altLang="zh-TW" sz="2000" dirty="0" smtClean="0"/>
              <a:t>gradients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3464057" y="3381400"/>
            <a:ext cx="189840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Weighted vote</a:t>
            </a:r>
          </a:p>
          <a:p>
            <a:r>
              <a:rPr lang="en-US" altLang="zh-TW" sz="2000" dirty="0" smtClean="0"/>
              <a:t>Into spatial &amp; </a:t>
            </a:r>
          </a:p>
          <a:p>
            <a:r>
              <a:rPr lang="en-US" altLang="zh-TW" sz="2000" dirty="0" smtClean="0"/>
              <a:t>Orientation cells</a:t>
            </a: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654693" y="3381400"/>
            <a:ext cx="2212209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Contrast normalize </a:t>
            </a:r>
          </a:p>
          <a:p>
            <a:r>
              <a:rPr lang="en-US" altLang="zh-TW" sz="2000" dirty="0" smtClean="0"/>
              <a:t>Over overlapping</a:t>
            </a:r>
          </a:p>
          <a:p>
            <a:r>
              <a:rPr lang="en-US" altLang="zh-TW" sz="2000" dirty="0" smtClean="0"/>
              <a:t>Spatial blocks</a:t>
            </a:r>
            <a:endParaRPr lang="zh-TW" altLang="en-US" sz="2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120144" y="3381400"/>
            <a:ext cx="1740989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Collect </a:t>
            </a:r>
            <a:r>
              <a:rPr lang="en-US" altLang="zh-TW" sz="2000" dirty="0" smtClean="0"/>
              <a:t>HOG’s</a:t>
            </a:r>
            <a:endParaRPr lang="en-US" altLang="zh-TW" sz="2000" dirty="0" smtClean="0"/>
          </a:p>
          <a:p>
            <a:r>
              <a:rPr lang="en-US" altLang="zh-TW" sz="2000" dirty="0" smtClean="0"/>
              <a:t>Over detection</a:t>
            </a:r>
          </a:p>
          <a:p>
            <a:r>
              <a:rPr lang="en-US" altLang="zh-TW" sz="2000" dirty="0" smtClean="0"/>
              <a:t>window</a:t>
            </a:r>
            <a:endParaRPr lang="zh-TW" altLang="en-US" sz="2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453166" y="4961393"/>
            <a:ext cx="827471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Linear</a:t>
            </a:r>
          </a:p>
          <a:p>
            <a:r>
              <a:rPr lang="en-US" altLang="zh-TW" sz="2000" dirty="0" smtClean="0"/>
              <a:t>SVM</a:t>
            </a:r>
            <a:endParaRPr lang="zh-TW" altLang="en-US" sz="2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3349607" y="4983812"/>
            <a:ext cx="2647904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Person or </a:t>
            </a:r>
          </a:p>
          <a:p>
            <a:r>
              <a:rPr lang="en-US" altLang="zh-TW" sz="3600" b="1" dirty="0" smtClean="0"/>
              <a:t>Non-person</a:t>
            </a:r>
          </a:p>
          <a:p>
            <a:r>
              <a:rPr lang="en-US" altLang="zh-TW" sz="3600" b="1" dirty="0" smtClean="0"/>
              <a:t>classification</a:t>
            </a:r>
            <a:endParaRPr lang="zh-TW" altLang="en-US" sz="3600" b="1" dirty="0"/>
          </a:p>
        </p:txBody>
      </p:sp>
      <p:cxnSp>
        <p:nvCxnSpPr>
          <p:cNvPr id="13" name="直線單箭頭接點 12"/>
          <p:cNvCxnSpPr>
            <a:stCxn id="4" idx="2"/>
            <a:endCxn id="5" idx="0"/>
          </p:cNvCxnSpPr>
          <p:nvPr/>
        </p:nvCxnSpPr>
        <p:spPr>
          <a:xfrm>
            <a:off x="774513" y="2921491"/>
            <a:ext cx="211868" cy="466851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5" idx="3"/>
            <a:endCxn id="6" idx="1"/>
          </p:cNvCxnSpPr>
          <p:nvPr/>
        </p:nvCxnSpPr>
        <p:spPr>
          <a:xfrm flipV="1">
            <a:off x="1637681" y="3896173"/>
            <a:ext cx="371044" cy="1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6" idx="3"/>
            <a:endCxn id="7" idx="1"/>
          </p:cNvCxnSpPr>
          <p:nvPr/>
        </p:nvCxnSpPr>
        <p:spPr>
          <a:xfrm flipV="1">
            <a:off x="3163593" y="3889232"/>
            <a:ext cx="300464" cy="6941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7" idx="3"/>
            <a:endCxn id="8" idx="1"/>
          </p:cNvCxnSpPr>
          <p:nvPr/>
        </p:nvCxnSpPr>
        <p:spPr>
          <a:xfrm>
            <a:off x="5362462" y="3889232"/>
            <a:ext cx="292231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8" idx="3"/>
            <a:endCxn id="9" idx="1"/>
          </p:cNvCxnSpPr>
          <p:nvPr/>
        </p:nvCxnSpPr>
        <p:spPr>
          <a:xfrm>
            <a:off x="7866902" y="3889232"/>
            <a:ext cx="253242" cy="0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9" idx="2"/>
            <a:endCxn id="10" idx="3"/>
          </p:cNvCxnSpPr>
          <p:nvPr/>
        </p:nvCxnSpPr>
        <p:spPr>
          <a:xfrm flipH="1">
            <a:off x="8280637" y="4397063"/>
            <a:ext cx="710002" cy="918273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0" idx="1"/>
            <a:endCxn id="11" idx="3"/>
          </p:cNvCxnSpPr>
          <p:nvPr/>
        </p:nvCxnSpPr>
        <p:spPr>
          <a:xfrm flipH="1">
            <a:off x="5997511" y="5315336"/>
            <a:ext cx="1455655" cy="545639"/>
          </a:xfrm>
          <a:prstGeom prst="straightConnector1">
            <a:avLst/>
          </a:prstGeom>
          <a:ln w="444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21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Gradient Computation</a:t>
            </a:r>
            <a:endParaRPr lang="zh-TW" alt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Gaussian Smoothing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和一個特定的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Derivative mask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後，再利用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edge detection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Gradient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的計算。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20" y="3456121"/>
            <a:ext cx="1718560" cy="3352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 smoothnes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070" y="3456121"/>
            <a:ext cx="1718560" cy="3352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 smoothnes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120" y="3456121"/>
            <a:ext cx="1718560" cy="3352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974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Spatial/Orientation Binning</a:t>
            </a:r>
            <a:endParaRPr lang="zh-TW" alt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57178" y="2141073"/>
            <a:ext cx="3527419" cy="4384438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Orientation bins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分成</a:t>
            </a:r>
            <a:r>
              <a:rPr lang="en-US" altLang="zh-TW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0</a:t>
            </a:r>
            <a:r>
              <a:rPr lang="zh-TW" altLang="en-US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度到</a:t>
            </a:r>
            <a:r>
              <a:rPr lang="en-US" altLang="zh-TW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180</a:t>
            </a:r>
            <a:r>
              <a:rPr lang="zh-TW" altLang="en-US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度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（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兩方向若相差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180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度則視為同個角度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）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或是</a:t>
            </a:r>
            <a:r>
              <a:rPr lang="en-US" altLang="zh-TW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0</a:t>
            </a:r>
            <a:r>
              <a:rPr lang="zh-TW" altLang="en-US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度到</a:t>
            </a:r>
            <a:r>
              <a:rPr lang="en-US" altLang="zh-TW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360</a:t>
            </a:r>
            <a:r>
              <a:rPr lang="zh-TW" altLang="en-US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度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Ebrima" panose="02000000000000000000" pitchFamily="2" charset="0"/>
              </a:rPr>
              <a:t>兩種方式。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Ebrima" panose="02000000000000000000" pitchFamily="2" charset="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Ebrima" panose="02000000000000000000" pitchFamily="2" charset="0"/>
            </a:endParaRPr>
          </a:p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Ebrima" panose="02000000000000000000" pitchFamily="2" charset="0"/>
            </a:endParaRPr>
          </a:p>
        </p:txBody>
      </p:sp>
      <p:sp>
        <p:nvSpPr>
          <p:cNvPr id="4" name="橢圓 3"/>
          <p:cNvSpPr/>
          <p:nvPr/>
        </p:nvSpPr>
        <p:spPr>
          <a:xfrm>
            <a:off x="2711669" y="6038193"/>
            <a:ext cx="567559" cy="457200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41" y="1541375"/>
            <a:ext cx="5527117" cy="50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0800"/>
            <a:ext cx="5527117" cy="50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0800"/>
            <a:ext cx="5527118" cy="5057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550" y="1363680"/>
            <a:ext cx="5930415" cy="541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94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Descriptor </a:t>
            </a:r>
            <a:r>
              <a:rPr lang="en-US" altLang="zh-TW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Blocks</a:t>
            </a:r>
            <a:endParaRPr lang="zh-TW" alt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R-HOG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為矩形的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HOG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b="1" dirty="0" smtClean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C-HOG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為圓形的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HOG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人的辨識以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R-HOG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為基礎，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大小為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Cell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Cell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大小為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像素為最佳。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62979" y="1627322"/>
            <a:ext cx="855589" cy="887277"/>
          </a:xfrm>
          <a:prstGeom prst="rect">
            <a:avLst/>
          </a:prstGeom>
          <a:noFill/>
          <a:ln w="412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5" name="群組 24"/>
          <p:cNvGrpSpPr/>
          <p:nvPr/>
        </p:nvGrpSpPr>
        <p:grpSpPr>
          <a:xfrm>
            <a:off x="8614746" y="2991171"/>
            <a:ext cx="960895" cy="960895"/>
            <a:chOff x="7873322" y="2991171"/>
            <a:chExt cx="960895" cy="960895"/>
          </a:xfrm>
        </p:grpSpPr>
        <p:sp>
          <p:nvSpPr>
            <p:cNvPr id="6" name="橢圓 5"/>
            <p:cNvSpPr/>
            <p:nvPr/>
          </p:nvSpPr>
          <p:spPr>
            <a:xfrm>
              <a:off x="7873322" y="2991171"/>
              <a:ext cx="960895" cy="960895"/>
            </a:xfrm>
            <a:prstGeom prst="ellipse">
              <a:avLst/>
            </a:prstGeom>
            <a:noFill/>
            <a:ln w="412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8017879" y="3135729"/>
              <a:ext cx="671779" cy="671779"/>
            </a:xfrm>
            <a:prstGeom prst="ellipse">
              <a:avLst/>
            </a:prstGeom>
            <a:noFill/>
            <a:ln w="412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" name="直線接點 9"/>
            <p:cNvCxnSpPr/>
            <p:nvPr/>
          </p:nvCxnSpPr>
          <p:spPr>
            <a:xfrm>
              <a:off x="8353769" y="2991171"/>
              <a:ext cx="0" cy="960894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>
              <a:stCxn id="6" idx="2"/>
              <a:endCxn id="6" idx="6"/>
            </p:cNvCxnSpPr>
            <p:nvPr/>
          </p:nvCxnSpPr>
          <p:spPr>
            <a:xfrm>
              <a:off x="7873322" y="3471619"/>
              <a:ext cx="960895" cy="0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群組 26"/>
          <p:cNvGrpSpPr/>
          <p:nvPr/>
        </p:nvGrpSpPr>
        <p:grpSpPr>
          <a:xfrm>
            <a:off x="7115635" y="2991171"/>
            <a:ext cx="960895" cy="960895"/>
            <a:chOff x="6372570" y="2991172"/>
            <a:chExt cx="960895" cy="960895"/>
          </a:xfrm>
        </p:grpSpPr>
        <p:sp>
          <p:nvSpPr>
            <p:cNvPr id="5" name="橢圓 4"/>
            <p:cNvSpPr/>
            <p:nvPr/>
          </p:nvSpPr>
          <p:spPr>
            <a:xfrm>
              <a:off x="6372570" y="2991172"/>
              <a:ext cx="960895" cy="960895"/>
            </a:xfrm>
            <a:prstGeom prst="ellipse">
              <a:avLst/>
            </a:prstGeom>
            <a:noFill/>
            <a:ln w="412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/>
            <p:cNvSpPr/>
            <p:nvPr/>
          </p:nvSpPr>
          <p:spPr>
            <a:xfrm>
              <a:off x="6517128" y="3135729"/>
              <a:ext cx="671779" cy="671779"/>
            </a:xfrm>
            <a:prstGeom prst="ellipse">
              <a:avLst/>
            </a:prstGeom>
            <a:noFill/>
            <a:ln w="412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接點 17"/>
            <p:cNvCxnSpPr>
              <a:stCxn id="5" idx="0"/>
              <a:endCxn id="7" idx="0"/>
            </p:cNvCxnSpPr>
            <p:nvPr/>
          </p:nvCxnSpPr>
          <p:spPr>
            <a:xfrm>
              <a:off x="6853018" y="2991172"/>
              <a:ext cx="0" cy="144557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>
              <a:stCxn id="5" idx="2"/>
              <a:endCxn id="7" idx="2"/>
            </p:cNvCxnSpPr>
            <p:nvPr/>
          </p:nvCxnSpPr>
          <p:spPr>
            <a:xfrm flipV="1">
              <a:off x="6372570" y="3471619"/>
              <a:ext cx="144558" cy="1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>
              <a:stCxn id="7" idx="4"/>
              <a:endCxn id="5" idx="4"/>
            </p:cNvCxnSpPr>
            <p:nvPr/>
          </p:nvCxnSpPr>
          <p:spPr>
            <a:xfrm>
              <a:off x="6853018" y="3807508"/>
              <a:ext cx="0" cy="144559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>
              <a:stCxn id="7" idx="6"/>
              <a:endCxn id="5" idx="6"/>
            </p:cNvCxnSpPr>
            <p:nvPr/>
          </p:nvCxnSpPr>
          <p:spPr>
            <a:xfrm>
              <a:off x="7188907" y="3471619"/>
              <a:ext cx="144558" cy="1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線接點 28"/>
          <p:cNvCxnSpPr>
            <a:stCxn id="4" idx="1"/>
            <a:endCxn id="4" idx="3"/>
          </p:cNvCxnSpPr>
          <p:nvPr/>
        </p:nvCxnSpPr>
        <p:spPr>
          <a:xfrm>
            <a:off x="7162979" y="2070961"/>
            <a:ext cx="855589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4" idx="0"/>
          </p:cNvCxnSpPr>
          <p:nvPr/>
        </p:nvCxnSpPr>
        <p:spPr>
          <a:xfrm>
            <a:off x="7590774" y="1627322"/>
            <a:ext cx="0" cy="887277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356" y="1220314"/>
            <a:ext cx="7400925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5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180" y="1028618"/>
            <a:ext cx="2634867" cy="5222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  <a14:imgEffect>
                      <a14:sharpenSoften amount="-5300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bright="-8000" contrast="7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793" y="1028618"/>
            <a:ext cx="2634867" cy="5222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540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sharpenSoften amount="1300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bright="-8000" contrast="7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080" y="1066802"/>
            <a:ext cx="2634867" cy="5222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" name="群組 31"/>
          <p:cNvGrpSpPr/>
          <p:nvPr/>
        </p:nvGrpSpPr>
        <p:grpSpPr>
          <a:xfrm>
            <a:off x="1199783" y="1066802"/>
            <a:ext cx="2697930" cy="5222684"/>
            <a:chOff x="979059" y="1066802"/>
            <a:chExt cx="2697930" cy="5222684"/>
          </a:xfrm>
        </p:grpSpPr>
        <p:cxnSp>
          <p:nvCxnSpPr>
            <p:cNvPr id="8" name="直線接點 7"/>
            <p:cNvCxnSpPr/>
            <p:nvPr/>
          </p:nvCxnSpPr>
          <p:spPr>
            <a:xfrm>
              <a:off x="1306908" y="1066802"/>
              <a:ext cx="0" cy="522268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>
            <a:xfrm>
              <a:off x="1632729" y="1066802"/>
              <a:ext cx="0" cy="522268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>
              <a:off x="1963805" y="1066802"/>
              <a:ext cx="0" cy="522268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>
            <a:xfrm>
              <a:off x="2333279" y="1066802"/>
              <a:ext cx="0" cy="522268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673252" y="1066802"/>
              <a:ext cx="0" cy="522268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>
              <a:off x="3051625" y="1066802"/>
              <a:ext cx="0" cy="522268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>
              <a:off x="3366936" y="1066802"/>
              <a:ext cx="0" cy="522268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>
              <a:off x="1021102" y="1364364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>
              <a:off x="1015845" y="1690186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1021102" y="2021260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>
              <a:off x="1021102" y="2383868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1015844" y="2762240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>
              <a:off x="1026357" y="3140612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>
              <a:off x="994826" y="3518985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1026357" y="3881592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>
              <a:off x="979060" y="4196903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1042122" y="4512213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>
              <a:off x="979059" y="4859054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>
              <a:off x="1042122" y="5190131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1042122" y="5536972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>
              <a:off x="1042122" y="5915346"/>
              <a:ext cx="2634867" cy="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矩形 32"/>
          <p:cNvSpPr/>
          <p:nvPr/>
        </p:nvSpPr>
        <p:spPr>
          <a:xfrm>
            <a:off x="2925790" y="1724379"/>
            <a:ext cx="320400" cy="26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矩形圖說文字 33"/>
          <p:cNvSpPr/>
          <p:nvPr/>
        </p:nvSpPr>
        <p:spPr>
          <a:xfrm>
            <a:off x="4310816" y="1035545"/>
            <a:ext cx="5414797" cy="3823509"/>
          </a:xfrm>
          <a:prstGeom prst="wedgeRectCallout">
            <a:avLst>
              <a:gd name="adj1" fmla="val -73548"/>
              <a:gd name="adj2" fmla="val -28093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906337"/>
              </p:ext>
            </p:extLst>
          </p:nvPr>
        </p:nvGraphicFramePr>
        <p:xfrm>
          <a:off x="5178956" y="1259841"/>
          <a:ext cx="3965046" cy="3389664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660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08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32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86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↗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↑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/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86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/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86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86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←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↙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86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 smtClean="0">
                          <a:solidFill>
                            <a:schemeClr val="tx1"/>
                          </a:solidFill>
                        </a:rPr>
                        <a:t>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矩形 36"/>
          <p:cNvSpPr/>
          <p:nvPr/>
        </p:nvSpPr>
        <p:spPr>
          <a:xfrm>
            <a:off x="2925790" y="1395524"/>
            <a:ext cx="320400" cy="26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2580279" y="1395524"/>
            <a:ext cx="311350" cy="26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2582592" y="1719366"/>
            <a:ext cx="309003" cy="27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237" y="1066802"/>
            <a:ext cx="2638836" cy="525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矩形 46"/>
          <p:cNvSpPr/>
          <p:nvPr/>
        </p:nvSpPr>
        <p:spPr>
          <a:xfrm>
            <a:off x="2215316" y="1395479"/>
            <a:ext cx="309003" cy="26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2215315" y="1724334"/>
            <a:ext cx="309003" cy="266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2219682" y="2053577"/>
            <a:ext cx="309003" cy="302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2572242" y="2053577"/>
            <a:ext cx="288000" cy="302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2925789" y="2054777"/>
            <a:ext cx="316800" cy="302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2580279" y="1394846"/>
            <a:ext cx="311316" cy="2670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2577404" y="1714802"/>
            <a:ext cx="311316" cy="2792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/>
          <p:cNvSpPr/>
          <p:nvPr/>
        </p:nvSpPr>
        <p:spPr>
          <a:xfrm>
            <a:off x="2565440" y="2048430"/>
            <a:ext cx="311316" cy="2960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/>
        </p:nvSpPr>
        <p:spPr>
          <a:xfrm>
            <a:off x="2925123" y="1383737"/>
            <a:ext cx="311316" cy="2670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/>
        </p:nvSpPr>
        <p:spPr>
          <a:xfrm>
            <a:off x="2928770" y="1710200"/>
            <a:ext cx="311316" cy="2787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2930073" y="2060325"/>
            <a:ext cx="311316" cy="2960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/>
        </p:nvSpPr>
        <p:spPr>
          <a:xfrm>
            <a:off x="3293486" y="1389082"/>
            <a:ext cx="258263" cy="2670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/>
        </p:nvSpPr>
        <p:spPr>
          <a:xfrm>
            <a:off x="3305543" y="1717356"/>
            <a:ext cx="258263" cy="2670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/>
        </p:nvSpPr>
        <p:spPr>
          <a:xfrm>
            <a:off x="3305544" y="2040421"/>
            <a:ext cx="258263" cy="3227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766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4" grpId="0" animBg="1"/>
      <p:bldP spid="34" grpId="1" animBg="1"/>
      <p:bldP spid="37" grpId="2" animBg="1"/>
      <p:bldP spid="37" grpId="3" animBg="1"/>
      <p:bldP spid="38" grpId="2" animBg="1"/>
      <p:bldP spid="38" grpId="3" animBg="1"/>
      <p:bldP spid="39" grpId="2" animBg="1"/>
      <p:bldP spid="39" grpId="3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2" grpId="0" animBg="1"/>
      <p:bldP spid="52" grpId="1" animBg="1"/>
      <p:bldP spid="53" grpId="0" animBg="1"/>
      <p:bldP spid="53" grpId="1" animBg="1"/>
      <p:bldP spid="3" grpId="0" animBg="1"/>
      <p:bldP spid="3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</p:bldLst>
  </p:timing>
</p:sld>
</file>

<file path=ppt/theme/theme1.xml><?xml version="1.0" encoding="utf-8"?>
<a:theme xmlns:a="http://schemas.openxmlformats.org/drawingml/2006/main" name="預設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2914</TotalTime>
  <Words>402</Words>
  <Application>Microsoft Office PowerPoint</Application>
  <PresentationFormat>自訂</PresentationFormat>
  <Paragraphs>89</Paragraphs>
  <Slides>11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4" baseType="lpstr">
      <vt:lpstr>Liberation Sans</vt:lpstr>
      <vt:lpstr>Liberation Sans Narrow</vt:lpstr>
      <vt:lpstr>Liberation Serif</vt:lpstr>
      <vt:lpstr>Mangal</vt:lpstr>
      <vt:lpstr>微軟正黑體</vt:lpstr>
      <vt:lpstr>新細明體</vt:lpstr>
      <vt:lpstr>Arial</vt:lpstr>
      <vt:lpstr>Calibri</vt:lpstr>
      <vt:lpstr>Cambria Math</vt:lpstr>
      <vt:lpstr>Ebrima</vt:lpstr>
      <vt:lpstr>Sitka Subheading</vt:lpstr>
      <vt:lpstr>Tahoma</vt:lpstr>
      <vt:lpstr>預設</vt:lpstr>
      <vt:lpstr>Navneet Dalal and Bill Triggs  Proceedings of  Computer Vision and Pattern Recognition(CVPR 2005),  San Diego, CA, USA,  pp. 886-893, June 25, 2005</vt:lpstr>
      <vt:lpstr>Abstract(1/3)</vt:lpstr>
      <vt:lpstr>Abstract(2/3)</vt:lpstr>
      <vt:lpstr>Abstract(3/3)</vt:lpstr>
      <vt:lpstr>Histogram of Oriented Gradient</vt:lpstr>
      <vt:lpstr>Method flow chart</vt:lpstr>
      <vt:lpstr>Gradient Computation</vt:lpstr>
      <vt:lpstr>Spatial/Orientation Binning</vt:lpstr>
      <vt:lpstr>Descriptor Blocks</vt:lpstr>
      <vt:lpstr> 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Communications of the ACM June 1975 Volume 18 Number 6 D.S. Hirschberg Princeton University</dc:title>
  <dc:creator>Shecil</dc:creator>
  <cp:lastModifiedBy>whfu</cp:lastModifiedBy>
  <cp:revision>106</cp:revision>
  <dcterms:created xsi:type="dcterms:W3CDTF">2015-10-08T13:19:19Z</dcterms:created>
  <dcterms:modified xsi:type="dcterms:W3CDTF">2016-03-01T10:51:16Z</dcterms:modified>
</cp:coreProperties>
</file>