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1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86C0F-EC7C-4483-8DFE-3C9FCA61DBA6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1DBFB-F5B1-4E06-A380-DA49E2E8BC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78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柏林工業大學  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1DBFB-F5B1-4E06-A380-DA49E2E8BC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20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05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11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80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45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06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1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90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09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30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16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464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307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628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03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24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25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970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631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433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871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44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39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BE3BC-7C2F-47C2-BA30-188A50FBD2A1}" type="datetimeFigureOut">
              <a:rPr lang="zh-TW" altLang="en-US" smtClean="0"/>
              <a:t>2016/4/26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1A57A-8123-4012-945E-7C6289E2A6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8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E88ED-FAEB-406F-AE3C-FCFDFF978EC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8029D-9F1B-4068-8701-8E02C1C5E72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29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28503" y="416968"/>
            <a:ext cx="9144000" cy="2387600"/>
          </a:xfrm>
        </p:spPr>
        <p:txBody>
          <a:bodyPr/>
          <a:lstStyle/>
          <a:p>
            <a:r>
              <a:rPr lang="en-US" altLang="zh-TW" dirty="0"/>
              <a:t>Time Series Classification in Dissimilarity Spaces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28503" y="2804568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/>
              <a:t>Brijnesh</a:t>
            </a:r>
            <a:r>
              <a:rPr lang="en-US" altLang="zh-TW" dirty="0"/>
              <a:t> J. Jain and Stephan Spiegel</a:t>
            </a:r>
          </a:p>
          <a:p>
            <a:r>
              <a:rPr lang="en-US" altLang="zh-TW" dirty="0"/>
              <a:t>Berlin Institute of Technology, </a:t>
            </a:r>
            <a:r>
              <a:rPr lang="en-US" altLang="zh-TW" dirty="0" smtClean="0"/>
              <a:t>Germany</a:t>
            </a:r>
          </a:p>
          <a:p>
            <a:endParaRPr lang="en-US" altLang="zh-TW" dirty="0"/>
          </a:p>
          <a:p>
            <a:r>
              <a:rPr lang="en-US" altLang="zh-TW" dirty="0"/>
              <a:t>Proceedings 1st International Workshop on Advanced Analytics and Learning on Temporal </a:t>
            </a:r>
            <a:r>
              <a:rPr lang="en-US" altLang="zh-TW" dirty="0" smtClean="0"/>
              <a:t>Data </a:t>
            </a:r>
            <a:r>
              <a:rPr lang="en-US" altLang="zh-TW" dirty="0"/>
              <a:t>AALTD 2015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657599" y="5370602"/>
            <a:ext cx="46373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Presenter:  Shu-Kai Hung</a:t>
            </a:r>
            <a:br>
              <a:rPr lang="en-US" altLang="zh-TW" sz="2400" dirty="0"/>
            </a:br>
            <a:r>
              <a:rPr lang="en-US" altLang="zh-TW" sz="2400" dirty="0"/>
              <a:t>Date:2015/12/15</a:t>
            </a:r>
            <a:r>
              <a:rPr lang="zh-TW" altLang="en-US" sz="2400" dirty="0"/>
              <a:t/>
            </a:r>
            <a:br>
              <a:rPr lang="zh-TW" altLang="en-US" sz="2400" dirty="0"/>
            </a:br>
            <a:endParaRPr lang="zh-TW" altLang="en-US" sz="2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242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468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Time </a:t>
            </a:r>
            <a:r>
              <a:rPr lang="en-US" altLang="zh-TW" dirty="0"/>
              <a:t>series classification in the dissimilarity space combines</a:t>
            </a:r>
          </a:p>
          <a:p>
            <a:pPr marL="0" indent="0">
              <a:buNone/>
            </a:pPr>
            <a:r>
              <a:rPr lang="en-US" altLang="zh-TW" dirty="0"/>
              <a:t>the advantages of the dynamic time warping and the rich mathematical</a:t>
            </a:r>
          </a:p>
          <a:p>
            <a:pPr marL="0" indent="0">
              <a:buNone/>
            </a:pPr>
            <a:r>
              <a:rPr lang="en-US" altLang="zh-TW" dirty="0"/>
              <a:t>structure of Euclidean spaces. We applied dimension reduction using</a:t>
            </a:r>
          </a:p>
          <a:p>
            <a:pPr marL="0" indent="0">
              <a:buNone/>
            </a:pPr>
            <a:r>
              <a:rPr lang="en-US" altLang="zh-TW" dirty="0"/>
              <a:t>PCA followed by support vector learning on dissimilarity </a:t>
            </a:r>
            <a:r>
              <a:rPr lang="en-US" altLang="zh-TW" dirty="0" smtClean="0"/>
              <a:t>representations to </a:t>
            </a:r>
            <a:r>
              <a:rPr lang="en-US" altLang="zh-TW" dirty="0"/>
              <a:t>43 UCR datasets. Results indicate that time series classification in</a:t>
            </a:r>
          </a:p>
          <a:p>
            <a:pPr marL="0" indent="0">
              <a:buNone/>
            </a:pPr>
            <a:r>
              <a:rPr lang="en-US" altLang="zh-TW" dirty="0"/>
              <a:t>dissimilarity space has potential to complement the state-of-the-art.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629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8383" y="195308"/>
            <a:ext cx="10515600" cy="1006475"/>
          </a:xfrm>
        </p:spPr>
        <p:txBody>
          <a:bodyPr/>
          <a:lstStyle/>
          <a:p>
            <a:r>
              <a:rPr lang="en-US" altLang="zh-TW" dirty="0"/>
              <a:t>dynamic time warping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68383" y="1201783"/>
            <a:ext cx="10515600" cy="525126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Two times series:</a:t>
            </a:r>
          </a:p>
          <a:p>
            <a:pPr marL="0" indent="0">
              <a:buNone/>
            </a:pPr>
            <a:r>
              <a:rPr lang="en-US" altLang="zh-TW" dirty="0" smtClean="0"/>
              <a:t>X = (1,1,2,3,2,0)</a:t>
            </a:r>
          </a:p>
          <a:p>
            <a:pPr marL="0" indent="0">
              <a:buNone/>
            </a:pPr>
            <a:r>
              <a:rPr lang="en-US" altLang="zh-TW" dirty="0" smtClean="0"/>
              <a:t>Y = (0,1,1,2,3,2,1)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952968"/>
              </p:ext>
            </p:extLst>
          </p:nvPr>
        </p:nvGraphicFramePr>
        <p:xfrm>
          <a:off x="3882190" y="1201783"/>
          <a:ext cx="5876759" cy="38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537"/>
                <a:gridCol w="839537"/>
                <a:gridCol w="839537"/>
                <a:gridCol w="839537"/>
                <a:gridCol w="839537"/>
                <a:gridCol w="839537"/>
                <a:gridCol w="839537"/>
              </a:tblGrid>
              <a:tr h="48154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46" y="2900353"/>
            <a:ext cx="3341954" cy="10844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03" y="3984828"/>
            <a:ext cx="3427497" cy="9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2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15743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Dissimilarity representation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04422"/>
            <a:ext cx="10248900" cy="305752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838200" y="4161947"/>
            <a:ext cx="9268326" cy="468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.</a:t>
            </a:r>
            <a:endParaRPr lang="zh-TW" altLang="en-US" sz="24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61947"/>
            <a:ext cx="11294204" cy="13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7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356769"/>
            <a:ext cx="10515600" cy="1325563"/>
          </a:xfrm>
        </p:spPr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745957"/>
            <a:ext cx="11863137" cy="611204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 </a:t>
            </a:r>
            <a:r>
              <a:rPr lang="en-US" altLang="zh-TW" b="1" i="1" dirty="0"/>
              <a:t>Prototype selection</a:t>
            </a:r>
            <a:r>
              <a:rPr lang="en-US" altLang="zh-TW" dirty="0"/>
              <a:t>: construct a set of prototypes P from the training set X.</a:t>
            </a:r>
          </a:p>
          <a:p>
            <a:pPr marL="0" indent="0">
              <a:buNone/>
            </a:pPr>
            <a:r>
              <a:rPr lang="en-US" altLang="zh-TW" dirty="0"/>
              <a:t>2. </a:t>
            </a:r>
            <a:r>
              <a:rPr lang="en-US" altLang="zh-TW" b="1" i="1" dirty="0"/>
              <a:t>Dimension reduction</a:t>
            </a:r>
            <a:r>
              <a:rPr lang="en-US" altLang="zh-TW" dirty="0"/>
              <a:t>: </a:t>
            </a:r>
            <a:r>
              <a:rPr lang="en-US" altLang="zh-TW" dirty="0" smtClean="0"/>
              <a:t>perform </a:t>
            </a:r>
            <a:r>
              <a:rPr lang="en-US" altLang="zh-TW" dirty="0"/>
              <a:t>dimension reduction in the dissimilarity space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The goal of this experiment is to assess the performance of the following </a:t>
            </a:r>
            <a:r>
              <a:rPr lang="en-US" altLang="zh-TW" dirty="0" smtClean="0"/>
              <a:t>classifiers in </a:t>
            </a:r>
            <a:r>
              <a:rPr lang="en-US" altLang="zh-TW" dirty="0"/>
              <a:t>dissimilarity space: </a:t>
            </a:r>
            <a:endParaRPr lang="en-US" altLang="zh-TW" dirty="0" smtClean="0"/>
          </a:p>
          <a:p>
            <a:pPr marL="514350" indent="-514350">
              <a:buAutoNum type="arabicParenBoth"/>
            </a:pPr>
            <a:r>
              <a:rPr lang="en-US" altLang="zh-TW" dirty="0" smtClean="0"/>
              <a:t>nearest </a:t>
            </a:r>
            <a:r>
              <a:rPr lang="en-US" altLang="zh-TW" dirty="0"/>
              <a:t>neighbor using the Euclidean distance (EDDS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(</a:t>
            </a:r>
            <a:r>
              <a:rPr lang="en-US" altLang="zh-TW" dirty="0"/>
              <a:t>2) support vector machine (SVM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(3</a:t>
            </a:r>
            <a:r>
              <a:rPr lang="en-US" altLang="zh-TW" dirty="0"/>
              <a:t>) principal component analysis </a:t>
            </a:r>
            <a:r>
              <a:rPr lang="en-US" altLang="zh-TW" dirty="0" smtClean="0"/>
              <a:t>on dissimilarity </a:t>
            </a:r>
            <a:r>
              <a:rPr lang="en-US" altLang="zh-TW" dirty="0"/>
              <a:t>representations followed by support vector machine (PCA+SVM).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876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2716" y="866272"/>
                <a:ext cx="11081084" cy="58079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 smtClean="0"/>
                  <a:t>假設有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筆資料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…….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且須 </a:t>
                </a:r>
                <a:r>
                  <a:rPr lang="en-US" altLang="zh-TW" dirty="0" smtClean="0"/>
                  <a:t>zero mean(</a:t>
                </a:r>
                <a:r>
                  <a:rPr lang="zh-TW" altLang="en-US" dirty="0" smtClean="0"/>
                  <a:t>平均差為</a:t>
                </a:r>
                <a:r>
                  <a:rPr lang="en-US" altLang="zh-TW" dirty="0" smtClean="0"/>
                  <a:t>0)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Goal : find a set containing the maximum of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variance</a:t>
                </a:r>
                <a:r>
                  <a:rPr lang="en-US" altLang="zh-TW" dirty="0" smtClean="0"/>
                  <a:t> in the data.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Variance (</a:t>
                </a:r>
                <a:r>
                  <a:rPr lang="zh-TW" altLang="en-US" dirty="0" smtClean="0"/>
                  <a:t>變異數</a:t>
                </a:r>
                <a:r>
                  <a:rPr lang="en-US" altLang="zh-TW" dirty="0" smtClean="0"/>
                  <a:t>):</a:t>
                </a:r>
                <a:r>
                  <a:rPr lang="zh-TW" altLang="en-US" dirty="0" smtClean="0"/>
                  <a:t> 測量所有資料到平均數的平均距離。</a:t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資料的分散程度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平均數 </a:t>
                </a:r>
                <a:r>
                  <a:rPr lang="en-US" altLang="zh-TW" dirty="0" smtClean="0"/>
                  <a:t>: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84.67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變異數  </a:t>
                </a:r>
                <a:r>
                  <a:rPr lang="en-US" altLang="zh-TW" dirty="0" smtClean="0"/>
                  <a:t>(96-84.7)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2716" y="866272"/>
                <a:ext cx="11081084" cy="5807995"/>
              </a:xfrm>
              <a:blipFill rotWithShape="0">
                <a:blip r:embed="rId2"/>
                <a:stretch>
                  <a:fillRect l="-1155" t="-1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26695" y="3552358"/>
            <a:ext cx="63273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dirty="0" smtClean="0">
                <a:solidFill>
                  <a:srgbClr val="000000"/>
                </a:solidFill>
                <a:latin typeface="Arial Unicode MS" panose="020B0604020202020204" pitchFamily="34" charset="-120"/>
              </a:rPr>
              <a:t>小成第一次的段考成績為國文96分、數學90分、英文85分 、</a:t>
            </a:r>
            <a:endParaRPr lang="en-US" altLang="zh-TW" dirty="0" smtClean="0">
              <a:solidFill>
                <a:srgbClr val="000000"/>
              </a:solidFill>
              <a:latin typeface="Arial Unicode MS" panose="020B060402020202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dirty="0" smtClean="0">
                <a:solidFill>
                  <a:srgbClr val="000000"/>
                </a:solidFill>
                <a:latin typeface="Arial Unicode MS" panose="020B0604020202020204" pitchFamily="34" charset="-120"/>
              </a:rPr>
              <a:t>地理78分、 歷史92分、理化67分?</a:t>
            </a:r>
            <a:r>
              <a:rPr lang="zh-TW" altLang="zh-TW" dirty="0" smtClean="0">
                <a:solidFill>
                  <a:prstClr val="black"/>
                </a:solidFill>
              </a:rPr>
              <a:t> </a:t>
            </a:r>
            <a:endParaRPr lang="zh-TW" altLang="zh-TW" dirty="0" smtClean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923" y="4198689"/>
            <a:ext cx="5112670" cy="1698881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272716" y="158386"/>
            <a:ext cx="7496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smtClean="0"/>
              <a:t>PCA(Principle </a:t>
            </a:r>
            <a:r>
              <a:rPr lang="en-US" altLang="zh-TW" sz="4000" dirty="0"/>
              <a:t>Component </a:t>
            </a:r>
            <a:r>
              <a:rPr lang="en-US" altLang="zh-TW" sz="4000" dirty="0" smtClean="0"/>
              <a:t>Analysis)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0974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83127"/>
            <a:ext cx="10515600" cy="6093836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         y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 flipH="1">
            <a:off x="2161309" y="688769"/>
            <a:ext cx="11875" cy="5142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555668" y="4975761"/>
            <a:ext cx="8277101" cy="35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3515096" y="14487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3335976" y="2309751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370118" y="1590305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972296" y="19059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055423" y="3127169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4277096" y="22107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4901045" y="3635829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878286" y="1948451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734296" y="26679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3912423" y="3653642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986650" y="2379024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5191496" y="31251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896098" y="2531239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496296" y="34299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5652654" y="4073237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5801096" y="3734790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236031" y="3692238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829297" y="4268191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6903523" y="4050476"/>
            <a:ext cx="83127" cy="1068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2540082" y="2721429"/>
            <a:ext cx="6072002" cy="56160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9462155" y="5159475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cxnSp>
        <p:nvCxnSpPr>
          <p:cNvPr id="31" name="直線單箭頭接點 30"/>
          <p:cNvCxnSpPr>
            <a:stCxn id="9" idx="4"/>
          </p:cNvCxnSpPr>
          <p:nvPr/>
        </p:nvCxnSpPr>
        <p:spPr>
          <a:xfrm flipH="1">
            <a:off x="3351807" y="2416629"/>
            <a:ext cx="25733" cy="358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108369" y="2839348"/>
            <a:ext cx="83127" cy="18193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4870120" y="28577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cxnSp>
        <p:nvCxnSpPr>
          <p:cNvPr id="37" name="直線接點 36"/>
          <p:cNvCxnSpPr>
            <a:stCxn id="11" idx="5"/>
            <a:endCxn id="34" idx="6"/>
          </p:cNvCxnSpPr>
          <p:nvPr/>
        </p:nvCxnSpPr>
        <p:spPr>
          <a:xfrm>
            <a:off x="4043249" y="1997216"/>
            <a:ext cx="1148247" cy="9330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9" idx="6"/>
            <a:endCxn id="34" idx="6"/>
          </p:cNvCxnSpPr>
          <p:nvPr/>
        </p:nvCxnSpPr>
        <p:spPr>
          <a:xfrm>
            <a:off x="3419103" y="2363190"/>
            <a:ext cx="1772393" cy="5671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1" idx="4"/>
          </p:cNvCxnSpPr>
          <p:nvPr/>
        </p:nvCxnSpPr>
        <p:spPr>
          <a:xfrm flipH="1">
            <a:off x="3953986" y="2012868"/>
            <a:ext cx="59874" cy="8449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8" idx="4"/>
          </p:cNvCxnSpPr>
          <p:nvPr/>
        </p:nvCxnSpPr>
        <p:spPr>
          <a:xfrm flipH="1">
            <a:off x="6986650" y="2485902"/>
            <a:ext cx="41564" cy="639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弧形接點 44"/>
          <p:cNvCxnSpPr/>
          <p:nvPr/>
        </p:nvCxnSpPr>
        <p:spPr>
          <a:xfrm rot="16200000" flipH="1">
            <a:off x="3327863" y="2813658"/>
            <a:ext cx="236909" cy="220683"/>
          </a:xfrm>
          <a:prstGeom prst="curvedConnector3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弧形接點 46"/>
          <p:cNvCxnSpPr/>
          <p:nvPr/>
        </p:nvCxnSpPr>
        <p:spPr>
          <a:xfrm rot="10800000" flipV="1">
            <a:off x="6601268" y="3148990"/>
            <a:ext cx="365694" cy="187481"/>
          </a:xfrm>
          <a:prstGeom prst="curvedConnector3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542878" y="3042454"/>
            <a:ext cx="3058390" cy="29401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4453245" y="3135581"/>
            <a:ext cx="974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variance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08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726" y="-103967"/>
            <a:ext cx="9673389" cy="696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306</Words>
  <Application>Microsoft Office PowerPoint</Application>
  <PresentationFormat>寬螢幕</PresentationFormat>
  <Paragraphs>101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Arial Unicode MS</vt:lpstr>
      <vt:lpstr>新細明體</vt:lpstr>
      <vt:lpstr>Arial</vt:lpstr>
      <vt:lpstr>Calibri</vt:lpstr>
      <vt:lpstr>Calibri Light</vt:lpstr>
      <vt:lpstr>Cambria Math</vt:lpstr>
      <vt:lpstr>Office 佈景主題</vt:lpstr>
      <vt:lpstr>1_Office 佈景主題</vt:lpstr>
      <vt:lpstr>Time Series Classification in Dissimilarity Spaces</vt:lpstr>
      <vt:lpstr>Abstract</vt:lpstr>
      <vt:lpstr>dynamic time warping</vt:lpstr>
      <vt:lpstr>Dissimilarity representation</vt:lpstr>
      <vt:lpstr>Experiments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Classification in Dissimilarity Spaces</dc:title>
  <dc:creator>andy</dc:creator>
  <cp:lastModifiedBy>andy</cp:lastModifiedBy>
  <cp:revision>9</cp:revision>
  <dcterms:created xsi:type="dcterms:W3CDTF">2016-04-24T13:37:56Z</dcterms:created>
  <dcterms:modified xsi:type="dcterms:W3CDTF">2016-04-26T09:23:07Z</dcterms:modified>
</cp:coreProperties>
</file>