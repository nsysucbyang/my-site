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22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86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35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38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70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20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10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11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895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04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FA7B6-59C3-4675-A9C1-3FE2DBA4F706}" type="datetimeFigureOut">
              <a:rPr lang="zh-TW" altLang="en-US" smtClean="0"/>
              <a:t>2016/4/27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2C7DC-4793-43EB-BBB5-9A49157925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85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6905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sz="6600" dirty="0"/>
              <a:t>A New Interpretation of Information Rate</a:t>
            </a:r>
            <a:endParaRPr lang="zh-TW" altLang="en-US" sz="6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68425" y="4392671"/>
            <a:ext cx="9455150" cy="576262"/>
          </a:xfrm>
        </p:spPr>
        <p:txBody>
          <a:bodyPr>
            <a:noAutofit/>
          </a:bodyPr>
          <a:lstStyle/>
          <a:p>
            <a:r>
              <a:rPr lang="en-US" altLang="zh-TW" sz="3000" dirty="0"/>
              <a:t>Bell System Technical Journal, </a:t>
            </a:r>
            <a:r>
              <a:rPr lang="en-US" altLang="zh-TW" sz="3000" dirty="0" smtClean="0"/>
              <a:t>35(4), July 1956, pp. </a:t>
            </a:r>
            <a:r>
              <a:rPr lang="en-US" altLang="zh-TW" sz="3000" dirty="0"/>
              <a:t>917-926</a:t>
            </a:r>
            <a:endParaRPr lang="zh-TW" altLang="en-US" sz="3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4575175" y="3431363"/>
            <a:ext cx="30416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/>
              <a:t>John Larry </a:t>
            </a:r>
            <a:r>
              <a:rPr lang="en-US" altLang="zh-TW" sz="3000" dirty="0" smtClean="0"/>
              <a:t>Kelly, </a:t>
            </a:r>
            <a:r>
              <a:rPr lang="en-US" altLang="zh-TW" sz="3000" dirty="0"/>
              <a:t>Jr</a:t>
            </a:r>
            <a:r>
              <a:rPr lang="en-US" altLang="zh-TW" sz="3000" dirty="0" smtClean="0"/>
              <a:t>.</a:t>
            </a:r>
            <a:endParaRPr lang="en-US" altLang="zh-TW" sz="3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154487" y="5537200"/>
            <a:ext cx="3883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err="1" smtClean="0"/>
              <a:t>Presentor</a:t>
            </a:r>
            <a:r>
              <a:rPr lang="zh-TW" altLang="en-US" sz="2500" dirty="0" smtClean="0"/>
              <a:t>：</a:t>
            </a:r>
            <a:r>
              <a:rPr lang="en-US" altLang="zh-TW" sz="2500" dirty="0" smtClean="0"/>
              <a:t>Shih-jhan Huang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48415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66700" y="111125"/>
            <a:ext cx="3416300" cy="1120775"/>
          </a:xfrm>
        </p:spPr>
        <p:txBody>
          <a:bodyPr>
            <a:noAutofit/>
          </a:bodyPr>
          <a:lstStyle/>
          <a:p>
            <a:r>
              <a:rPr lang="en-US" altLang="zh-TW" sz="6600" dirty="0" smtClean="0">
                <a:latin typeface="+mn-lt"/>
              </a:rPr>
              <a:t>Abstract</a:t>
            </a:r>
            <a:endParaRPr lang="zh-TW" altLang="en-US" sz="66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6700" y="1117600"/>
            <a:ext cx="11582400" cy="5638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zh-TW" altLang="en-US" sz="3000" dirty="0" smtClean="0"/>
              <a:t>　</a:t>
            </a:r>
            <a:r>
              <a:rPr lang="en-US" altLang="zh-TW" sz="3000" dirty="0" smtClean="0"/>
              <a:t>If </a:t>
            </a:r>
            <a:r>
              <a:rPr lang="en-US" altLang="zh-TW" sz="3000" dirty="0"/>
              <a:t>the input symbols to a communication channel represent the </a:t>
            </a:r>
            <a:r>
              <a:rPr lang="en-US" altLang="zh-TW" sz="3000" dirty="0" smtClean="0"/>
              <a:t>outcomes of </a:t>
            </a:r>
            <a:r>
              <a:rPr lang="en-US" altLang="zh-TW" sz="3000" dirty="0"/>
              <a:t>a chance event on which bets are available at odds consistent with </a:t>
            </a:r>
            <a:r>
              <a:rPr lang="en-US" altLang="zh-TW" sz="3000" dirty="0" smtClean="0"/>
              <a:t>their probabilities </a:t>
            </a:r>
            <a:r>
              <a:rPr lang="en-US" altLang="zh-TW" sz="3000" dirty="0"/>
              <a:t>(i.e., </a:t>
            </a:r>
            <a:r>
              <a:rPr lang="en-US" altLang="zh-TW" sz="3000" dirty="0" smtClean="0"/>
              <a:t>“fair” </a:t>
            </a:r>
            <a:r>
              <a:rPr lang="en-US" altLang="zh-TW" sz="3000" dirty="0"/>
              <a:t>odds), a gambler can use the knowledge </a:t>
            </a:r>
            <a:r>
              <a:rPr lang="en-US" altLang="zh-TW" sz="3000" dirty="0" smtClean="0"/>
              <a:t>given him </a:t>
            </a:r>
            <a:r>
              <a:rPr lang="en-US" altLang="zh-TW" sz="3000" dirty="0"/>
              <a:t>by the received symbols to </a:t>
            </a:r>
            <a:r>
              <a:rPr lang="en-US" altLang="zh-TW" sz="3000" dirty="0" smtClean="0"/>
              <a:t>cause </a:t>
            </a:r>
            <a:r>
              <a:rPr lang="en-US" altLang="zh-TW" sz="3000" dirty="0"/>
              <a:t>his money to grow exponentially. </a:t>
            </a:r>
            <a:r>
              <a:rPr lang="en-US" altLang="zh-TW" sz="3000" dirty="0" smtClean="0"/>
              <a:t>The maximum </a:t>
            </a:r>
            <a:r>
              <a:rPr lang="en-US" altLang="zh-TW" sz="3000" dirty="0"/>
              <a:t>exponential rate of growth of the </a:t>
            </a:r>
            <a:r>
              <a:rPr lang="en-US" altLang="zh-TW" sz="3000" dirty="0" smtClean="0"/>
              <a:t>gambler‘s </a:t>
            </a:r>
            <a:r>
              <a:rPr lang="en-US" altLang="zh-TW" sz="3000" dirty="0"/>
              <a:t>capital is equal </a:t>
            </a:r>
            <a:r>
              <a:rPr lang="en-US" altLang="zh-TW" sz="3000" dirty="0" smtClean="0"/>
              <a:t>to the </a:t>
            </a:r>
            <a:r>
              <a:rPr lang="en-US" altLang="zh-TW" sz="3000" dirty="0"/>
              <a:t>rate of transmission of information over the channel. This result </a:t>
            </a:r>
            <a:r>
              <a:rPr lang="en-US" altLang="zh-TW" sz="3000" dirty="0" smtClean="0"/>
              <a:t>is generalized to </a:t>
            </a:r>
            <a:r>
              <a:rPr lang="en-US" altLang="zh-TW" sz="3000" dirty="0"/>
              <a:t>include the case of arbitrary </a:t>
            </a:r>
            <a:r>
              <a:rPr lang="en-US" altLang="zh-TW" sz="3000" dirty="0" smtClean="0"/>
              <a:t>odds.</a:t>
            </a:r>
          </a:p>
          <a:p>
            <a:pPr marL="0" indent="0" algn="just">
              <a:buNone/>
            </a:pPr>
            <a:r>
              <a:rPr lang="zh-TW" altLang="en-US" sz="3000" dirty="0"/>
              <a:t>　</a:t>
            </a:r>
            <a:r>
              <a:rPr lang="en-US" altLang="zh-TW" sz="3000" dirty="0" smtClean="0"/>
              <a:t>Thus </a:t>
            </a:r>
            <a:r>
              <a:rPr lang="en-US" altLang="zh-TW" sz="3000" dirty="0"/>
              <a:t>we find a situation in which the transmission rate is </a:t>
            </a:r>
            <a:r>
              <a:rPr lang="en-US" altLang="zh-TW" sz="3000" dirty="0" smtClean="0"/>
              <a:t>significant even </a:t>
            </a:r>
            <a:r>
              <a:rPr lang="en-US" altLang="zh-TW" sz="3000" dirty="0"/>
              <a:t>though no coding </a:t>
            </a:r>
            <a:r>
              <a:rPr lang="en-US" altLang="zh-TW" sz="3000" dirty="0" smtClean="0"/>
              <a:t>is contemplated</a:t>
            </a:r>
            <a:r>
              <a:rPr lang="en-US" altLang="zh-TW" sz="3000" dirty="0"/>
              <a:t>. Previously this quantity was </a:t>
            </a:r>
            <a:r>
              <a:rPr lang="en-US" altLang="zh-TW" sz="3000" dirty="0" smtClean="0"/>
              <a:t>given significance </a:t>
            </a:r>
            <a:r>
              <a:rPr lang="en-US" altLang="zh-TW" sz="3000" dirty="0"/>
              <a:t>only by a theorem of Shannon's which asserted that, with </a:t>
            </a:r>
            <a:r>
              <a:rPr lang="en-US" altLang="zh-TW" sz="3000" dirty="0" smtClean="0"/>
              <a:t>suitable encoding</a:t>
            </a:r>
            <a:r>
              <a:rPr lang="en-US" altLang="zh-TW" sz="3000" dirty="0"/>
              <a:t>, binary digits could be transmitted over the channel at </a:t>
            </a:r>
            <a:r>
              <a:rPr lang="en-US" altLang="zh-TW" sz="3000" dirty="0" smtClean="0"/>
              <a:t>this rate </a:t>
            </a:r>
            <a:r>
              <a:rPr lang="en-US" altLang="zh-TW" sz="3000" dirty="0"/>
              <a:t>with an arbitrarily small probability of error.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8580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 smtClean="0">
                <a:solidFill>
                  <a:srgbClr val="0070C0"/>
                </a:solidFill>
                <a:latin typeface="+mn-lt"/>
              </a:rPr>
              <a:t>Growth rate</a:t>
            </a:r>
            <a:endParaRPr lang="zh-TW" altLang="en-US" sz="6600" dirty="0">
              <a:solidFill>
                <a:srgbClr val="0070C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33588"/>
                <a:ext cx="10515600" cy="42449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6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sz="5600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zh-TW" sz="5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5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5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TW" sz="5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sz="5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box>
                            <m:boxPr>
                              <m:ctrlPr>
                                <a:rPr lang="en-US" altLang="zh-TW" sz="56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TW" sz="5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5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5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func>
                        <m:funcPr>
                          <m:ctrlPr>
                            <a:rPr lang="en-US" altLang="zh-TW" sz="5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5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box>
                            <m:boxPr>
                              <m:ctrlPr>
                                <a:rPr lang="en-US" altLang="zh-TW" sz="56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TW" sz="5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56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zh-TW" sz="5600" b="0" i="1" baseline="-2500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altLang="zh-TW" sz="56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zh-TW" sz="5600" b="0" i="1" baseline="-2500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box>
                        </m:e>
                      </m:func>
                    </m:oMath>
                  </m:oMathPara>
                </a14:m>
                <a:endParaRPr lang="en-US" altLang="zh-TW" sz="3600" i="1" dirty="0" smtClean="0"/>
              </a:p>
              <a:p>
                <a:pPr marL="0" indent="0">
                  <a:buNone/>
                </a:pPr>
                <a:r>
                  <a:rPr lang="en-US" altLang="zh-TW" sz="3600" i="1" dirty="0" smtClean="0"/>
                  <a:t>G : growth rate(</a:t>
                </a:r>
                <a:r>
                  <a:rPr lang="zh-TW" altLang="en-US" sz="3600" i="1" dirty="0" smtClean="0"/>
                  <a:t>資金成長率</a:t>
                </a:r>
                <a:r>
                  <a:rPr lang="en-US" altLang="zh-TW" sz="3600" i="1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sz="3600" i="1" dirty="0" smtClean="0"/>
                  <a:t>V</a:t>
                </a:r>
                <a:r>
                  <a:rPr lang="en-US" altLang="zh-TW" sz="3600" i="1" baseline="-25000" dirty="0" smtClean="0"/>
                  <a:t>0 </a:t>
                </a:r>
                <a:r>
                  <a:rPr lang="en-US" altLang="zh-TW" sz="3600" i="1" dirty="0" smtClean="0"/>
                  <a:t>: starting capital(</a:t>
                </a:r>
                <a:r>
                  <a:rPr lang="zh-TW" altLang="en-US" sz="3600" i="1" dirty="0" smtClean="0"/>
                  <a:t>初始資金</a:t>
                </a:r>
                <a:r>
                  <a:rPr lang="en-US" altLang="zh-TW" sz="3600" i="1" dirty="0" smtClean="0"/>
                  <a:t>)</a:t>
                </a:r>
                <a:br>
                  <a:rPr lang="en-US" altLang="zh-TW" sz="3600" i="1" dirty="0" smtClean="0"/>
                </a:br>
                <a:r>
                  <a:rPr lang="en-US" altLang="zh-TW" sz="3600" i="1" dirty="0" smtClean="0"/>
                  <a:t>V</a:t>
                </a:r>
                <a:r>
                  <a:rPr lang="en-US" altLang="zh-TW" sz="3600" i="1" baseline="-25000" dirty="0" smtClean="0"/>
                  <a:t>N </a:t>
                </a:r>
                <a:r>
                  <a:rPr lang="en-US" altLang="zh-TW" sz="3600" i="1" dirty="0" smtClean="0"/>
                  <a:t>: capital after N bets(</a:t>
                </a:r>
                <a:r>
                  <a:rPr lang="zh-TW" altLang="en-US" sz="3600" i="1" dirty="0" smtClean="0"/>
                  <a:t>下注Ｎ次後的資金</a:t>
                </a:r>
                <a:r>
                  <a:rPr lang="en-US" altLang="zh-TW" sz="3600" i="1" dirty="0" smtClean="0"/>
                  <a:t>)</a:t>
                </a:r>
              </a:p>
              <a:p>
                <a:pPr marL="0" indent="0">
                  <a:buNone/>
                </a:pPr>
                <a:endParaRPr lang="en-US" altLang="zh-TW" sz="3000" i="1" dirty="0" smtClean="0"/>
              </a:p>
              <a:p>
                <a:pPr marL="0" indent="0">
                  <a:buNone/>
                </a:pPr>
                <a:r>
                  <a:rPr lang="en-US" altLang="zh-TW" sz="3000" i="1" dirty="0" smtClean="0"/>
                  <a:t>(Note : G</a:t>
                </a:r>
                <a:r>
                  <a:rPr lang="zh-TW" altLang="en-US" sz="3000" i="1" dirty="0" smtClean="0"/>
                  <a:t>愈大 </a:t>
                </a:r>
                <a:r>
                  <a:rPr lang="en-US" altLang="zh-TW" sz="3000" i="1" dirty="0" smtClean="0"/>
                  <a:t>,</a:t>
                </a:r>
                <a:r>
                  <a:rPr lang="zh-TW" altLang="en-US" sz="3000" i="1" dirty="0" smtClean="0"/>
                  <a:t> 代表下注</a:t>
                </a:r>
                <a:r>
                  <a:rPr lang="en-US" altLang="zh-TW" sz="3000" i="1" dirty="0" smtClean="0"/>
                  <a:t>N</a:t>
                </a:r>
                <a:r>
                  <a:rPr lang="zh-TW" altLang="en-US" sz="3000" i="1" dirty="0" smtClean="0"/>
                  <a:t>次後 </a:t>
                </a:r>
                <a:r>
                  <a:rPr lang="en-US" altLang="zh-TW" sz="3000" i="1" dirty="0" smtClean="0"/>
                  <a:t>, </a:t>
                </a:r>
                <a:r>
                  <a:rPr lang="zh-TW" altLang="en-US" sz="3000" i="1" dirty="0" smtClean="0"/>
                  <a:t>資金愈多</a:t>
                </a:r>
                <a:r>
                  <a:rPr lang="en-US" altLang="zh-TW" sz="3000" i="1" dirty="0" smtClean="0"/>
                  <a:t>)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33588"/>
                <a:ext cx="10515600" cy="4244975"/>
              </a:xfrm>
              <a:blipFill rotWithShape="0">
                <a:blip r:embed="rId2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6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65200" y="1774824"/>
                <a:ext cx="10261600" cy="4664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dirty="0" smtClean="0"/>
                  <a:t>假設</a:t>
                </a:r>
                <a:r>
                  <a:rPr lang="zh-TW" altLang="en-US" b="1" dirty="0" smtClean="0"/>
                  <a:t>贏率為</a:t>
                </a:r>
                <a:r>
                  <a:rPr lang="en-US" altLang="zh-TW" b="1" dirty="0" smtClean="0"/>
                  <a:t>p</a:t>
                </a:r>
                <a:r>
                  <a:rPr lang="zh-TW" altLang="en-US" dirty="0"/>
                  <a:t> </a:t>
                </a:r>
                <a:r>
                  <a:rPr lang="en-US" altLang="zh-TW" dirty="0" smtClean="0"/>
                  <a:t>, </a:t>
                </a:r>
                <a:r>
                  <a:rPr lang="zh-TW" altLang="en-US" b="1" dirty="0" smtClean="0"/>
                  <a:t>敗率為</a:t>
                </a:r>
                <a:r>
                  <a:rPr lang="en-US" altLang="zh-TW" b="1" dirty="0" smtClean="0"/>
                  <a:t>q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p+q</a:t>
                </a:r>
                <a:r>
                  <a:rPr lang="en-US" altLang="zh-TW" dirty="0" smtClean="0"/>
                  <a:t>=1) , </a:t>
                </a:r>
                <a:r>
                  <a:rPr lang="zh-TW" altLang="en-US" b="1" dirty="0" smtClean="0"/>
                  <a:t>賠率為</a:t>
                </a:r>
                <a:r>
                  <a:rPr lang="en-US" altLang="zh-TW" b="1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</a:t>
                </a:r>
                <a:r>
                  <a:rPr lang="zh-TW" altLang="en-US" dirty="0" smtClean="0"/>
                  <a:t> 且有內線消息</a:t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不公平的銅板</a:t>
                </a:r>
                <a:r>
                  <a:rPr lang="en-US" altLang="zh-TW" dirty="0" smtClean="0"/>
                  <a:t>) , </a:t>
                </a:r>
                <a:r>
                  <a:rPr lang="zh-TW" altLang="en-US" dirty="0" smtClean="0"/>
                  <a:t>已知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sz="25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sz="25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5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altLang="zh-TW" sz="2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TW" sz="3000" dirty="0" smtClean="0"/>
                  <a:t>p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TW" sz="2500" dirty="0" smtClean="0"/>
                  <a:t>1</a:t>
                </a:r>
                <a:r>
                  <a:rPr lang="en-US" altLang="zh-TW" dirty="0" smtClean="0"/>
                  <a:t> , </a:t>
                </a:r>
                <a:r>
                  <a:rPr lang="zh-TW" altLang="en-US" dirty="0" smtClean="0"/>
                  <a:t>賭客決定下注全部資金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認為</a:t>
                </a:r>
                <a:r>
                  <a:rPr lang="zh-TW" altLang="en-US" dirty="0"/>
                  <a:t>可</a:t>
                </a:r>
                <a:r>
                  <a:rPr lang="zh-TW" altLang="en-US" dirty="0" smtClean="0"/>
                  <a:t>獲得最大獲利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可表示如下 </a:t>
                </a:r>
                <a:r>
                  <a:rPr lang="en-US" altLang="zh-TW" dirty="0" smtClean="0"/>
                  <a:t>: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[(1+1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baseline="-25000" dirty="0" smtClean="0"/>
              </a:p>
              <a:p>
                <a:pPr marL="0" indent="0">
                  <a:buNone/>
                </a:pPr>
                <a:endParaRPr lang="en-US" altLang="zh-TW" baseline="-25000" dirty="0"/>
              </a:p>
              <a:p>
                <a:pPr marL="0" indent="0">
                  <a:buNone/>
                </a:pPr>
                <a:r>
                  <a:rPr lang="zh-TW" altLang="en-US" dirty="0" smtClean="0"/>
                  <a:t>經過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次下注後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因為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TW" dirty="0" smtClean="0"/>
                  <a:t>p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TW" dirty="0" smtClean="0"/>
                  <a:t>1 , </a:t>
                </a:r>
                <a:r>
                  <a:rPr lang="zh-TW" altLang="en-US" dirty="0" smtClean="0"/>
                  <a:t>且賭客</a:t>
                </a:r>
                <a:r>
                  <a:rPr lang="zh-TW" altLang="en-US" dirty="0" smtClean="0"/>
                  <a:t>只要遇到一次輸場 </a:t>
                </a:r>
                <a:r>
                  <a:rPr lang="en-US" altLang="zh-TW" dirty="0" smtClean="0"/>
                  <a:t>, </a:t>
                </a:r>
                <a:r>
                  <a:rPr lang="en-US" altLang="zh-TW" dirty="0" smtClean="0"/>
                  <a:t>V</a:t>
                </a:r>
                <a:r>
                  <a:rPr lang="en-US" altLang="zh-TW" baseline="-25000" dirty="0" smtClean="0"/>
                  <a:t>N</a:t>
                </a:r>
                <a:r>
                  <a:rPr lang="zh-TW" altLang="en-US" dirty="0" smtClean="0"/>
                  <a:t>就會變成</a:t>
                </a:r>
                <a:r>
                  <a:rPr lang="en-US" altLang="zh-TW" dirty="0" smtClean="0"/>
                  <a:t>0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也就是說賭客到最後一定會血本無歸。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sz="1800" dirty="0" smtClean="0"/>
                  <a:t/>
                </a:r>
                <a:br>
                  <a:rPr lang="en-US" altLang="zh-TW" sz="1800" dirty="0" smtClean="0"/>
                </a:br>
                <a:endParaRPr lang="en-US" altLang="zh-TW" sz="1800" dirty="0" smtClean="0"/>
              </a:p>
              <a:p>
                <a:pPr marL="0" indent="0">
                  <a:buNone/>
                </a:pPr>
                <a:r>
                  <a:rPr lang="en-US" altLang="zh-TW" sz="1800" dirty="0" smtClean="0"/>
                  <a:t>(Note)</a:t>
                </a:r>
                <a:r>
                  <a:rPr lang="zh-TW" altLang="en-US" sz="1800" dirty="0" smtClean="0"/>
                  <a:t>賠率 </a:t>
                </a:r>
                <a:r>
                  <a:rPr lang="en-US" altLang="zh-TW" sz="1800" dirty="0" smtClean="0"/>
                  <a:t>: (</a:t>
                </a:r>
                <a:r>
                  <a:rPr lang="zh-TW" altLang="en-US" sz="1800" dirty="0" smtClean="0"/>
                  <a:t>獲勝的獲利</a:t>
                </a:r>
                <a:r>
                  <a:rPr lang="en-US" altLang="zh-TW" sz="1800" dirty="0" smtClean="0"/>
                  <a:t>/</a:t>
                </a:r>
                <a:r>
                  <a:rPr lang="zh-TW" altLang="en-US" sz="1800" dirty="0" smtClean="0"/>
                  <a:t>本金的比例</a:t>
                </a:r>
                <a:r>
                  <a:rPr lang="en-US" altLang="zh-TW" sz="1800" dirty="0" smtClean="0"/>
                  <a:t>) ex:</a:t>
                </a:r>
                <a:r>
                  <a:rPr lang="zh-TW" altLang="en-US" sz="1800" dirty="0" smtClean="0"/>
                  <a:t>下注</a:t>
                </a:r>
                <a:r>
                  <a:rPr lang="en-US" altLang="zh-TW" sz="1800" dirty="0" smtClean="0"/>
                  <a:t>1</a:t>
                </a:r>
                <a:r>
                  <a:rPr lang="zh-TW" altLang="en-US" sz="1800" dirty="0" smtClean="0"/>
                  <a:t>元 </a:t>
                </a:r>
                <a:r>
                  <a:rPr lang="en-US" altLang="zh-TW" sz="1800" dirty="0" smtClean="0"/>
                  <a:t>,</a:t>
                </a:r>
                <a:r>
                  <a:rPr lang="zh-TW" altLang="en-US" sz="1800" dirty="0" smtClean="0"/>
                  <a:t> 如果獲勝可賺</a:t>
                </a:r>
                <a:r>
                  <a:rPr lang="en-US" altLang="zh-TW" sz="1800" dirty="0" smtClean="0"/>
                  <a:t>1</a:t>
                </a:r>
                <a:r>
                  <a:rPr lang="zh-TW" altLang="en-US" sz="1800" dirty="0" smtClean="0"/>
                  <a:t>元</a:t>
                </a:r>
                <a:endParaRPr lang="en-US" altLang="zh-TW" sz="18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200" y="1774824"/>
                <a:ext cx="10261600" cy="4664075"/>
              </a:xfrm>
              <a:blipFill rotWithShape="0">
                <a:blip r:embed="rId2"/>
                <a:stretch>
                  <a:fillRect l="-1188" t="-2353" r="-5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469900" y="243095"/>
            <a:ext cx="52197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300" dirty="0" smtClean="0">
                <a:solidFill>
                  <a:srgbClr val="0070C0"/>
                </a:solidFill>
              </a:rPr>
              <a:t>Discussion</a:t>
            </a:r>
            <a:endParaRPr lang="zh-TW" altLang="en-US" sz="63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27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69900" y="1851025"/>
                <a:ext cx="107569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dirty="0" smtClean="0"/>
                  <a:t>所以作者在此篇論文提出以下假設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其中</a:t>
                </a:r>
                <a:r>
                  <a:rPr lang="en-US" altLang="zh-TW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zh-TW" altLang="en-US" i="1" dirty="0" smtClean="0">
                    <a:latin typeface="Cambria Math" panose="02040503050406030204" pitchFamily="18" charset="0"/>
                  </a:rPr>
                  <a:t>、</a:t>
                </a:r>
                <a:r>
                  <a:rPr lang="en-US" altLang="zh-TW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zh-TW" altLang="en-US" dirty="0" smtClean="0">
                    <a:latin typeface="+mn-ea"/>
                  </a:rPr>
                  <a:t>分別為贏與輸的次數 </a:t>
                </a:r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>
                    <a:ea typeface="Cambria Math" panose="02040503050406030204" pitchFamily="18" charset="0"/>
                  </a:rPr>
                  <a:t>為下注的比例</a:t>
                </a:r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𝑏𝑓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𝑎𝑓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b="0" baseline="-25000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利用此假設代入</a:t>
                </a:r>
                <a:r>
                  <a:rPr lang="en-US" altLang="zh-TW" dirty="0" smtClean="0"/>
                  <a:t>G(</a:t>
                </a:r>
                <a:r>
                  <a:rPr lang="zh-TW" altLang="en-US" dirty="0" smtClean="0"/>
                  <a:t>資金成長率</a:t>
                </a:r>
                <a:r>
                  <a:rPr lang="en-US" altLang="zh-TW" dirty="0" smtClean="0"/>
                  <a:t>) , </a:t>
                </a:r>
                <a:r>
                  <a:rPr lang="zh-TW" altLang="en-US" dirty="0" smtClean="0"/>
                  <a:t>代入後如下 </a:t>
                </a:r>
                <a:r>
                  <a:rPr lang="en-US" altLang="zh-TW" dirty="0" smtClean="0"/>
                  <a:t>: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</m:fName>
                        <m:e>
                          <m:box>
                            <m:box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box>
                        <m:box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box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𝑎𝑓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 smtClean="0"/>
                  <a:t>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p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𝑏𝑓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q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𝑎𝑓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func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900" y="1851025"/>
                <a:ext cx="10756900" cy="4351338"/>
              </a:xfrm>
              <a:blipFill rotWithShape="0">
                <a:blip r:embed="rId2"/>
                <a:stretch>
                  <a:fillRect l="-1133" t="-2805" r="-17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469900" y="243095"/>
            <a:ext cx="65024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300" dirty="0" smtClean="0">
                <a:solidFill>
                  <a:srgbClr val="0070C0"/>
                </a:solidFill>
              </a:rPr>
              <a:t>Kelly criterion </a:t>
            </a:r>
            <a:r>
              <a:rPr lang="zh-TW" altLang="en-US" sz="6300" dirty="0" smtClean="0">
                <a:solidFill>
                  <a:srgbClr val="0070C0"/>
                </a:solidFill>
              </a:rPr>
              <a:t>推導</a:t>
            </a:r>
            <a:endParaRPr lang="zh-TW" altLang="en-US" sz="63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44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50900" y="1165224"/>
                <a:ext cx="10515600" cy="48545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G</a:t>
                </a:r>
                <a:r>
                  <a:rPr lang="zh-TW" altLang="en-US" dirty="0" smtClean="0"/>
                  <a:t>求最大值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透過一階微分</a:t>
                </a:r>
                <a:r>
                  <a:rPr lang="en-US" altLang="zh-TW" dirty="0" smtClean="0"/>
                  <a:t>(G’=0</a:t>
                </a:r>
                <a:r>
                  <a:rPr lang="zh-TW" altLang="en-US" dirty="0" smtClean="0"/>
                  <a:t>時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可求得 </a:t>
                </a:r>
                <a:r>
                  <a:rPr lang="en-US" altLang="zh-TW" dirty="0" smtClean="0"/>
                  <a:t>: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altLang="zh-TW" sz="36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box>
                        <m:box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𝑏𝑝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𝑎𝑞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𝑎𝑏𝑓</m:t>
                              </m:r>
                            </m:num>
                            <m:den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)(1−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𝑎𝑓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box>
                    </m:oMath>
                  </m:oMathPara>
                </a14:m>
                <a:endParaRPr lang="en-US" altLang="zh-TW" sz="36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b="0" dirty="0" smtClean="0"/>
                  <a:t>                                                                                       </a:t>
                </a:r>
                <a:r>
                  <a:rPr lang="zh-TW" altLang="en-US" sz="2400" b="0" dirty="0" smtClean="0"/>
                  <a:t>             </a:t>
                </a:r>
                <a:r>
                  <a:rPr lang="en-US" altLang="zh-TW" sz="2400" b="0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𝑎𝑞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𝑎𝑏𝑓</m:t>
                    </m:r>
                  </m:oMath>
                </a14:m>
                <a:r>
                  <a:rPr lang="en-US" altLang="zh-TW" sz="2500" b="0" i="1" dirty="0" smtClean="0">
                    <a:latin typeface="Cambria Math" panose="02040503050406030204" pitchFamily="18" charset="0"/>
                  </a:rPr>
                  <a:t> = 0 </a:t>
                </a:r>
                <a:r>
                  <a:rPr lang="en-US" altLang="zh-TW" sz="2500" b="0" dirty="0" smtClean="0">
                    <a:latin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TW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3600" b="1" i="1" smtClean="0">
                                  <a:latin typeface="Cambria Math" panose="02040503050406030204" pitchFamily="18" charset="0"/>
                                </a:rPr>
                                <m:t>𝒃𝒑</m:t>
                              </m:r>
                              <m:r>
                                <a:rPr lang="en-US" altLang="zh-TW" sz="3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600" b="1" i="1" smtClean="0">
                                  <a:latin typeface="Cambria Math" panose="02040503050406030204" pitchFamily="18" charset="0"/>
                                </a:rPr>
                                <m:t>𝒂𝒒</m:t>
                              </m:r>
                            </m:num>
                            <m:den>
                              <m:r>
                                <a:rPr lang="en-US" altLang="zh-TW" sz="3600" b="1" i="1" smtClean="0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den>
                          </m:f>
                        </m:e>
                      </m:box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𝐾𝑒𝑙𝑙𝑦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𝑐𝑟𝑖𝑡𝑒𝑟𝑖𝑜𝑛</m:t>
                      </m:r>
                    </m:oMath>
                  </m:oMathPara>
                </a14:m>
                <a:endParaRPr lang="en-US" altLang="zh-TW" sz="36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再透過二階微分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檢查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altLang="zh-TW" dirty="0" smtClean="0"/>
                  <a:t> &lt; 0 </a:t>
                </a:r>
                <a:r>
                  <a:rPr lang="zh-TW" altLang="en-US" dirty="0" smtClean="0"/>
                  <a:t>是否成立</a:t>
                </a:r>
                <a:r>
                  <a:rPr lang="en-US" altLang="zh-TW" dirty="0" smtClean="0"/>
                  <a:t>?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成立 </a:t>
                </a:r>
                <a:r>
                  <a:rPr lang="en-US" altLang="zh-TW" dirty="0" smtClean="0"/>
                  <a:t>, </a:t>
                </a:r>
                <a:r>
                  <a:rPr lang="zh-TW" altLang="en-US" dirty="0" smtClean="0"/>
                  <a:t>則此處的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>
                    <a:latin typeface="Cambria Math" panose="02040503050406030204" pitchFamily="18" charset="0"/>
                  </a:rPr>
                  <a:t> 即為最佳下注比例 </a:t>
                </a:r>
                <a:r>
                  <a:rPr lang="en-US" altLang="zh-TW" dirty="0" smtClean="0">
                    <a:latin typeface="Cambria Math" panose="02040503050406030204" pitchFamily="18" charset="0"/>
                  </a:rPr>
                  <a:t>, </a:t>
                </a:r>
                <a:r>
                  <a:rPr lang="zh-TW" altLang="en-US" dirty="0" smtClean="0">
                    <a:latin typeface="Cambria Math" panose="02040503050406030204" pitchFamily="18" charset="0"/>
                  </a:rPr>
                  <a:t>可使得</a:t>
                </a:r>
                <a:r>
                  <a:rPr lang="en-US" altLang="zh-TW" dirty="0" smtClean="0">
                    <a:latin typeface="Cambria Math" panose="02040503050406030204" pitchFamily="18" charset="0"/>
                  </a:rPr>
                  <a:t>G</a:t>
                </a:r>
                <a:r>
                  <a:rPr lang="zh-TW" altLang="en-US" dirty="0" smtClean="0">
                    <a:latin typeface="Cambria Math" panose="02040503050406030204" pitchFamily="18" charset="0"/>
                  </a:rPr>
                  <a:t>為最大值</a:t>
                </a:r>
                <a:endParaRPr lang="en-US" altLang="zh-TW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900" y="1165224"/>
                <a:ext cx="10515600" cy="4854575"/>
              </a:xfrm>
              <a:blipFill rotWithShape="0">
                <a:blip r:embed="rId2"/>
                <a:stretch>
                  <a:fillRect l="-1217" t="-3015" b="-1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009900" y="3695700"/>
            <a:ext cx="2489200" cy="8763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8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314325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5600" dirty="0" smtClean="0">
                <a:solidFill>
                  <a:srgbClr val="0070C0"/>
                </a:solidFill>
                <a:latin typeface="+mn-lt"/>
              </a:rPr>
              <a:t>推廣 </a:t>
            </a:r>
            <a:r>
              <a:rPr lang="en-US" altLang="zh-TW" sz="5600" dirty="0" smtClean="0">
                <a:solidFill>
                  <a:srgbClr val="0070C0"/>
                </a:solidFill>
                <a:latin typeface="+mn-lt"/>
              </a:rPr>
              <a:t>:</a:t>
            </a:r>
            <a:r>
              <a:rPr lang="zh-TW" altLang="en-US" sz="5600" dirty="0" smtClean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TW" sz="5600" dirty="0" smtClean="0">
                <a:solidFill>
                  <a:srgbClr val="0070C0"/>
                </a:solidFill>
                <a:latin typeface="+mn-lt"/>
              </a:rPr>
              <a:t>Coin model</a:t>
            </a:r>
            <a:endParaRPr lang="zh-TW" altLang="en-US" sz="5600" dirty="0">
              <a:solidFill>
                <a:srgbClr val="0070C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39888"/>
                <a:ext cx="109728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TW" altLang="en-US" sz="3600" dirty="0" smtClean="0"/>
                  <a:t> </a:t>
                </a:r>
                <a:r>
                  <a:rPr lang="en-US" altLang="zh-TW" sz="3600" dirty="0" smtClean="0"/>
                  <a:t>X({</a:t>
                </a:r>
                <a:r>
                  <a:rPr lang="zh-TW" altLang="en-US" sz="3600" dirty="0" smtClean="0"/>
                  <a:t>正</a:t>
                </a:r>
                <a:r>
                  <a:rPr lang="en-US" altLang="zh-TW" sz="3600" dirty="0" smtClean="0"/>
                  <a:t>})</a:t>
                </a:r>
                <a:r>
                  <a:rPr lang="zh-TW" altLang="en-US" sz="3600" dirty="0" smtClean="0"/>
                  <a:t> </a:t>
                </a:r>
                <a:r>
                  <a:rPr lang="en-US" altLang="zh-TW" sz="3600" dirty="0" smtClean="0"/>
                  <a:t>=</a:t>
                </a:r>
                <a:r>
                  <a:rPr lang="zh-TW" altLang="en-US" sz="3600" dirty="0" smtClean="0"/>
                  <a:t> </a:t>
                </a:r>
                <a:r>
                  <a:rPr lang="en-US" altLang="zh-TW" sz="3600" dirty="0" smtClean="0"/>
                  <a:t>1 , </a:t>
                </a:r>
                <a:r>
                  <a:rPr lang="en-US" altLang="zh-TW" sz="3600" dirty="0"/>
                  <a:t>X</a:t>
                </a:r>
                <a:r>
                  <a:rPr lang="en-US" altLang="zh-TW" sz="3600" dirty="0" smtClean="0"/>
                  <a:t>({</a:t>
                </a:r>
                <a:r>
                  <a:rPr lang="zh-TW" altLang="en-US" sz="3600" dirty="0" smtClean="0"/>
                  <a:t>反</a:t>
                </a:r>
                <a:r>
                  <a:rPr lang="en-US" altLang="zh-TW" sz="3600" dirty="0" smtClean="0"/>
                  <a:t>})</a:t>
                </a:r>
                <a:r>
                  <a:rPr lang="zh-TW" altLang="en-US" sz="3600" dirty="0" smtClean="0"/>
                  <a:t> </a:t>
                </a:r>
                <a:r>
                  <a:rPr lang="en-US" altLang="zh-TW" sz="3600" dirty="0"/>
                  <a:t>=</a:t>
                </a:r>
                <a:r>
                  <a:rPr lang="zh-TW" altLang="en-US" sz="3600" dirty="0"/>
                  <a:t> </a:t>
                </a:r>
                <a:r>
                  <a:rPr lang="en-US" altLang="zh-TW" sz="3600" dirty="0" smtClean="0"/>
                  <a:t>-1</a:t>
                </a:r>
                <a:endParaRPr lang="en-US" altLang="zh-TW" sz="3600" dirty="0"/>
              </a:p>
              <a:p>
                <a:r>
                  <a:rPr lang="zh-TW" altLang="en-US" sz="3600" dirty="0" smtClean="0"/>
                  <a:t>真實機率分佈為</a:t>
                </a:r>
                <a:endParaRPr lang="en-US" altLang="zh-TW" sz="3600" dirty="0" smtClean="0"/>
              </a:p>
              <a:p>
                <a:pPr marL="0" indent="0">
                  <a:buNone/>
                </a:pPr>
                <a:r>
                  <a:rPr lang="en-US" altLang="zh-TW" sz="3600" dirty="0" smtClean="0"/>
                  <a:t>     P(X=1)=p , </a:t>
                </a:r>
                <a:r>
                  <a:rPr lang="en-US" altLang="zh-TW" sz="3600" dirty="0"/>
                  <a:t>P(X</a:t>
                </a:r>
                <a:r>
                  <a:rPr lang="en-US" altLang="zh-TW" sz="3600" dirty="0" smtClean="0"/>
                  <a:t>=-1)=q           (p</a:t>
                </a:r>
                <a14:m>
                  <m:oMath xmlns:m="http://schemas.openxmlformats.org/officeDocument/2006/math">
                    <m:r>
                      <a:rPr lang="en-US" altLang="zh-TW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3600" dirty="0" smtClean="0"/>
                  <a:t>0, </a:t>
                </a:r>
                <a:r>
                  <a:rPr lang="en-US" altLang="zh-TW" sz="3600" dirty="0" err="1" smtClean="0"/>
                  <a:t>p+q</a:t>
                </a:r>
                <a:r>
                  <a:rPr lang="en-US" altLang="zh-TW" sz="3600" dirty="0" smtClean="0"/>
                  <a:t>=1)</a:t>
                </a:r>
              </a:p>
              <a:p>
                <a:r>
                  <a:rPr lang="zh-TW" altLang="en-US" sz="3600" dirty="0" smtClean="0"/>
                  <a:t>莊家採信機率分佈為</a:t>
                </a:r>
                <a:endParaRPr lang="en-US" altLang="zh-TW" sz="3600" dirty="0" smtClean="0"/>
              </a:p>
              <a:p>
                <a:pPr marL="0" indent="0">
                  <a:buNone/>
                </a:pPr>
                <a:r>
                  <a:rPr lang="en-US" altLang="zh-TW" sz="3600" dirty="0" smtClean="0"/>
                  <a:t>     Q(X=1</a:t>
                </a:r>
                <a:r>
                  <a:rPr lang="en-US" altLang="zh-TW" sz="3600" dirty="0"/>
                  <a:t>)=</a:t>
                </a:r>
                <a:r>
                  <a:rPr lang="en-US" altLang="zh-TW" sz="3600" dirty="0" smtClean="0"/>
                  <a:t>p’ </a:t>
                </a:r>
                <a:r>
                  <a:rPr lang="en-US" altLang="zh-TW" sz="3600" dirty="0"/>
                  <a:t>, </a:t>
                </a:r>
                <a:r>
                  <a:rPr lang="en-US" altLang="zh-TW" sz="3600" dirty="0" smtClean="0"/>
                  <a:t>Q(X</a:t>
                </a:r>
                <a:r>
                  <a:rPr lang="en-US" altLang="zh-TW" sz="3600" dirty="0"/>
                  <a:t>=-1)=</a:t>
                </a:r>
                <a:r>
                  <a:rPr lang="en-US" altLang="zh-TW" sz="3600" dirty="0" smtClean="0"/>
                  <a:t>q’       (0&lt;p’&lt;1 , </a:t>
                </a:r>
                <a:r>
                  <a:rPr lang="en-US" altLang="zh-TW" sz="3600" dirty="0" err="1" smtClean="0"/>
                  <a:t>p’+q</a:t>
                </a:r>
                <a:r>
                  <a:rPr lang="en-US" altLang="zh-TW" sz="3600" dirty="0" smtClean="0"/>
                  <a:t>’=1)</a:t>
                </a:r>
              </a:p>
              <a:p>
                <a:r>
                  <a:rPr lang="zh-TW" altLang="en-US" sz="3600" dirty="0" smtClean="0"/>
                  <a:t>出現正面 </a:t>
                </a:r>
                <a:r>
                  <a:rPr lang="en-US" altLang="zh-TW" sz="3600" dirty="0" smtClean="0"/>
                  <a:t>: </a:t>
                </a:r>
                <a:r>
                  <a:rPr lang="zh-TW" altLang="en-US" sz="3600" dirty="0" smtClean="0"/>
                  <a:t>賭客賭</a:t>
                </a:r>
                <a:r>
                  <a:rPr lang="en-US" altLang="zh-TW" sz="3600" dirty="0" smtClean="0"/>
                  <a:t>1</a:t>
                </a:r>
                <a:r>
                  <a:rPr lang="zh-TW" altLang="en-US" sz="3600" dirty="0" smtClean="0"/>
                  <a:t>元贏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TW" altLang="en-US" sz="36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den>
                        </m:f>
                      </m:e>
                    </m:box>
                    <m:r>
                      <a:rPr lang="zh-TW" altLang="en-US" sz="3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3600" i="1">
                        <a:latin typeface="Cambria Math" panose="02040503050406030204" pitchFamily="18" charset="0"/>
                      </a:rPr>
                      <m:t>元</m:t>
                    </m:r>
                  </m:oMath>
                </a14:m>
                <a:endParaRPr lang="en-US" altLang="zh-TW" sz="3600" dirty="0" smtClean="0"/>
              </a:p>
              <a:p>
                <a:r>
                  <a:rPr lang="zh-TW" altLang="en-US" sz="3600" dirty="0"/>
                  <a:t>　</a:t>
                </a:r>
                <a:r>
                  <a:rPr lang="zh-TW" altLang="en-US" sz="3600" dirty="0" smtClean="0"/>
                  <a:t>　反面 </a:t>
                </a:r>
                <a:r>
                  <a:rPr lang="en-US" altLang="zh-TW" sz="3600" dirty="0" smtClean="0"/>
                  <a:t>: </a:t>
                </a:r>
                <a:r>
                  <a:rPr lang="zh-TW" altLang="en-US" sz="3600" dirty="0" smtClean="0"/>
                  <a:t>賭客賭</a:t>
                </a:r>
                <a:r>
                  <a:rPr lang="en-US" altLang="zh-TW" sz="3600" dirty="0" smtClean="0"/>
                  <a:t>1</a:t>
                </a:r>
                <a:r>
                  <a:rPr lang="zh-TW" altLang="en-US" sz="3600" dirty="0" smtClean="0"/>
                  <a:t>元賠 </a:t>
                </a:r>
                <a:r>
                  <a:rPr lang="en-US" altLang="zh-TW" sz="3600" dirty="0" smtClean="0"/>
                  <a:t>1</a:t>
                </a:r>
                <a:r>
                  <a:rPr lang="zh-TW" altLang="en-US" sz="3600" dirty="0" smtClean="0"/>
                  <a:t> 元</a:t>
                </a:r>
                <a:endParaRPr lang="en-US" altLang="zh-TW" sz="3600" dirty="0"/>
              </a:p>
              <a:p>
                <a:pPr marL="0" indent="0">
                  <a:buNone/>
                </a:pPr>
                <a:endParaRPr lang="zh-TW" altLang="en-US" sz="36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39888"/>
                <a:ext cx="10972800" cy="4351338"/>
              </a:xfrm>
              <a:blipFill rotWithShape="0">
                <a:blip r:embed="rId2"/>
                <a:stretch>
                  <a:fillRect l="-1500" t="-4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2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5600" dirty="0" smtClean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0 </a:t>
                </a:r>
                <a14:m>
                  <m:oMath xmlns:m="http://schemas.openxmlformats.org/officeDocument/2006/math">
                    <m:r>
                      <a:rPr lang="en-US" altLang="zh-TW" sz="56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56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56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sz="56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5600" dirty="0" smtClean="0"/>
                  <a:t>     </a:t>
                </a:r>
                <a:r>
                  <a:rPr lang="en-US" altLang="zh-TW" sz="3000" dirty="0" smtClean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3000" dirty="0" smtClean="0">
                    <a:solidFill>
                      <a:srgbClr val="0070C0"/>
                    </a:solidFill>
                  </a:rPr>
                  <a:t>=1 </a:t>
                </a:r>
                <a:r>
                  <a:rPr lang="zh-TW" altLang="en-US" sz="3000" dirty="0" smtClean="0">
                    <a:solidFill>
                      <a:srgbClr val="0070C0"/>
                    </a:solidFill>
                  </a:rPr>
                  <a:t>另作討論</a:t>
                </a:r>
                <a:r>
                  <a:rPr lang="en-US" altLang="zh-TW" sz="3000" dirty="0" smtClean="0">
                    <a:solidFill>
                      <a:srgbClr val="0070C0"/>
                    </a:solidFill>
                  </a:rPr>
                  <a:t>)</a:t>
                </a:r>
                <a:r>
                  <a:rPr lang="zh-TW" altLang="en-US" sz="5600" dirty="0" smtClean="0"/>
                  <a:t>     </a:t>
                </a:r>
                <a:endParaRPr lang="zh-TW" altLang="en-US" sz="5600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246" t="-1382" b="-119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正面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:r>
                  <a:rPr lang="zh-TW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TW" altLang="en-US" dirty="0" smtClean="0">
                    <a:latin typeface="Cambria Math" panose="02040503050406030204" pitchFamily="18" charset="0"/>
                  </a:rPr>
                  <a:t>時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V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(1) = (1-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)V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(1+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V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(1+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US" altLang="zh-TW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反面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:</a:t>
                </a:r>
                <a:r>
                  <a:rPr lang="zh-TW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=-1</a:t>
                </a:r>
                <a:r>
                  <a:rPr lang="zh-TW" altLang="en-US" dirty="0">
                    <a:latin typeface="Cambria Math" panose="02040503050406030204" pitchFamily="18" charset="0"/>
                  </a:rPr>
                  <a:t>時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V</a:t>
                </a:r>
                <a:r>
                  <a:rPr lang="en-US" altLang="zh-TW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(-1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(1-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)V</a:t>
                </a:r>
                <a:r>
                  <a:rPr lang="en-US" altLang="zh-TW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(1-1)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zh-TW" baseline="-25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13014"/>
            <a:ext cx="6676401" cy="122878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241800"/>
            <a:ext cx="8878886" cy="15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3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sz="3000" dirty="0" smtClean="0"/>
                  <a:t>仿照</a:t>
                </a:r>
                <a:r>
                  <a:rPr lang="en-US" altLang="zh-TW" sz="3000" dirty="0" smtClean="0"/>
                  <a:t>Kelly</a:t>
                </a:r>
                <a:r>
                  <a:rPr lang="zh-TW" altLang="en-US" sz="3000" dirty="0" smtClean="0"/>
                  <a:t>定義的 </a:t>
                </a:r>
                <a:r>
                  <a:rPr lang="en-US" altLang="zh-TW" sz="3000" dirty="0" smtClean="0"/>
                  <a:t>Growth rate G</a:t>
                </a:r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: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30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3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TW" sz="3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TW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box>
                          <m:box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box>
                      </m:e>
                    </m:func>
                    <m:func>
                      <m:func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3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box>
                          <m:box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TW" sz="3000" i="1" baseline="-1000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TW" sz="3000" i="1" baseline="-10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</m:e>
                        </m:box>
                      </m:e>
                    </m:func>
                  </m:oMath>
                </a14:m>
                <a:endParaRPr lang="en-US" altLang="zh-TW" sz="3000" dirty="0" smtClean="0"/>
              </a:p>
              <a:p>
                <a:pPr marL="0" indent="0">
                  <a:buNone/>
                </a:pPr>
                <a:r>
                  <a:rPr lang="zh-TW" altLang="en-US" sz="3000" dirty="0" smtClean="0"/>
                  <a:t>可得到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23" y="3041572"/>
            <a:ext cx="6405852" cy="17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8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900"/>
            <a:ext cx="6690691" cy="56007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946400" y="4953000"/>
            <a:ext cx="1397000" cy="8636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n w="0"/>
              <a:solidFill>
                <a:schemeClr val="tx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966360"/>
            <a:ext cx="6057900" cy="671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5905500" y="412362"/>
                <a:ext cx="31877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000" dirty="0" smtClean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0</a:t>
                </a:r>
                <a14:m>
                  <m:oMath xmlns:m="http://schemas.openxmlformats.org/officeDocument/2006/math">
                    <m:r>
                      <a:rPr lang="en-US" altLang="zh-TW" sz="3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3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sz="3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3000" dirty="0">
                    <a:solidFill>
                      <a:srgbClr val="0070C0"/>
                    </a:solidFill>
                  </a:rPr>
                  <a:t> </a:t>
                </a:r>
                <a:endParaRPr lang="zh-TW" altLang="en-US" sz="3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0" y="412362"/>
                <a:ext cx="3187700" cy="553998"/>
              </a:xfrm>
              <a:prstGeom prst="rect">
                <a:avLst/>
              </a:prstGeom>
              <a:blipFill rotWithShape="0">
                <a:blip r:embed="rId4"/>
                <a:stretch>
                  <a:fillRect l="-4589" t="-13187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753100" y="412362"/>
            <a:ext cx="6324600" cy="151803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222499" y="3733800"/>
            <a:ext cx="1079501" cy="8636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n w="0"/>
              <a:solidFill>
                <a:schemeClr val="tx1"/>
              </a:solidFill>
            </a:endParaRPr>
          </a:p>
        </p:txBody>
      </p:sp>
      <p:cxnSp>
        <p:nvCxnSpPr>
          <p:cNvPr id="12" name="弧形接點 11"/>
          <p:cNvCxnSpPr/>
          <p:nvPr/>
        </p:nvCxnSpPr>
        <p:spPr>
          <a:xfrm flipV="1">
            <a:off x="3345345" y="2098675"/>
            <a:ext cx="2857500" cy="1784350"/>
          </a:xfrm>
          <a:prstGeom prst="curvedConnector3">
            <a:avLst>
              <a:gd name="adj1" fmla="val 10066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67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23900" y="2105025"/>
                <a:ext cx="10515600" cy="148907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TW" altLang="en-US" sz="3600" dirty="0" smtClean="0"/>
                  <a:t>將 </a:t>
                </a:r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3600" i="1">
                        <a:latin typeface="Cambria Math" panose="02040503050406030204" pitchFamily="18" charset="0"/>
                      </a:rPr>
                      <m:t>−</m:t>
                    </m:r>
                    <m:box>
                      <m:box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den>
                        </m:f>
                      </m:e>
                    </m:box>
                    <m:r>
                      <a:rPr lang="en-US" altLang="zh-TW" sz="3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36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TW" altLang="en-US" sz="3600" dirty="0" smtClean="0"/>
                  <a:t> 代回 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3600" dirty="0" smtClean="0"/>
                  <a:t> </a:t>
                </a:r>
                <a:r>
                  <a:rPr lang="en-US" altLang="zh-TW" sz="3600" dirty="0" smtClean="0"/>
                  <a:t>, </a:t>
                </a:r>
                <a:r>
                  <a:rPr lang="zh-TW" altLang="en-US" sz="3600" dirty="0" smtClean="0"/>
                  <a:t>得 </a:t>
                </a:r>
                <a:endParaRPr lang="zh-TW" altLang="en-US" sz="36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900" y="2105025"/>
                <a:ext cx="10515600" cy="1489076"/>
              </a:xfrm>
              <a:blipFill rotWithShape="0">
                <a:blip r:embed="rId2"/>
                <a:stretch>
                  <a:fillRect l="-1797" t="-97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445" y="1800824"/>
            <a:ext cx="4589656" cy="136577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70445" y="1800825"/>
            <a:ext cx="4589656" cy="13657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86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647700" y="149225"/>
                <a:ext cx="10515600" cy="1325563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5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5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5600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5600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47700" y="149225"/>
                <a:ext cx="10515600" cy="13255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831" y="710406"/>
            <a:ext cx="7860985" cy="5391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0452100" y="3698895"/>
                <a:ext cx="17399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3000" dirty="0" smtClean="0">
                    <a:solidFill>
                      <a:srgbClr val="FF0000"/>
                    </a:solidFill>
                  </a:rPr>
                  <a:t>移項 </a:t>
                </a:r>
                <a:r>
                  <a:rPr lang="en-US" altLang="zh-TW" sz="3000" dirty="0" smtClean="0">
                    <a:solidFill>
                      <a:srgbClr val="FF0000"/>
                    </a:solidFill>
                  </a:rPr>
                  <a:t>,</a:t>
                </a:r>
                <a:br>
                  <a:rPr lang="en-US" altLang="zh-TW" sz="3000" dirty="0" smtClean="0">
                    <a:solidFill>
                      <a:srgbClr val="FF0000"/>
                    </a:solidFill>
                  </a:rPr>
                </a:br>
                <a:r>
                  <a:rPr lang="zh-TW" altLang="en-US" sz="3000" dirty="0" smtClean="0">
                    <a:solidFill>
                      <a:srgbClr val="FF0000"/>
                    </a:solidFill>
                  </a:rPr>
                  <a:t>取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3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30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/>
                    </m:func>
                  </m:oMath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100" y="3698895"/>
                <a:ext cx="1739900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8421" t="-7831" b="-180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弧形接點 6"/>
          <p:cNvCxnSpPr>
            <a:stCxn id="4" idx="3"/>
          </p:cNvCxnSpPr>
          <p:nvPr/>
        </p:nvCxnSpPr>
        <p:spPr>
          <a:xfrm flipH="1">
            <a:off x="7543800" y="3406164"/>
            <a:ext cx="2582016" cy="1413057"/>
          </a:xfrm>
          <a:prstGeom prst="curvedConnector3">
            <a:avLst>
              <a:gd name="adj1" fmla="val -885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標題 1"/>
              <p:cNvSpPr txBox="1">
                <a:spLocks/>
              </p:cNvSpPr>
              <p:nvPr/>
            </p:nvSpPr>
            <p:spPr>
              <a:xfrm>
                <a:off x="2057400" y="5900804"/>
                <a:ext cx="5486400" cy="86389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TW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zh-TW" altLang="en-US" sz="3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代表</m:t>
                    </m:r>
                    <m:r>
                      <a:rPr lang="zh-TW" altLang="en-US" sz="3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擲幣</m:t>
                    </m:r>
                  </m:oMath>
                </a14:m>
                <a:r>
                  <a:rPr lang="zh-TW" altLang="en-US" sz="3000" dirty="0" smtClean="0">
                    <a:solidFill>
                      <a:srgbClr val="0070C0"/>
                    </a:solidFill>
                  </a:rPr>
                  <a:t>只出現正面才有</a:t>
                </a:r>
                <a:r>
                  <a:rPr lang="en-US" altLang="zh-TW" sz="3000" dirty="0" smtClean="0">
                    <a:solidFill>
                      <a:srgbClr val="0070C0"/>
                    </a:solidFill>
                  </a:rPr>
                  <a:t>Max</a:t>
                </a:r>
                <a:endParaRPr lang="zh-TW" altLang="en-US" sz="3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900804"/>
                <a:ext cx="5486400" cy="863898"/>
              </a:xfrm>
              <a:prstGeom prst="rect">
                <a:avLst/>
              </a:prstGeom>
              <a:blipFill rotWithShape="0"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46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23900" y="10509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TW" altLang="en-US" sz="5600" dirty="0">
                    <a:solidFill>
                      <a:srgbClr val="0070C0"/>
                    </a:solidFill>
                  </a:rPr>
                  <a:t>結論</a:t>
                </a:r>
                <a:r>
                  <a:rPr lang="zh-TW" altLang="en-US" sz="560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altLang="zh-TW" sz="5600" dirty="0" smtClean="0">
                    <a:solidFill>
                      <a:srgbClr val="0070C0"/>
                    </a:solidFill>
                  </a:rPr>
                  <a:t>:</a:t>
                </a:r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　　在一擲</a:t>
                </a:r>
                <a:r>
                  <a:rPr lang="zh-TW" altLang="en-US" dirty="0"/>
                  <a:t>幣</a:t>
                </a:r>
                <a:r>
                  <a:rPr lang="zh-TW" altLang="en-US" dirty="0" smtClean="0"/>
                  <a:t>遊戲中，假設莊家所採用的擲幣機率分佈為</a:t>
                </a:r>
                <a:r>
                  <a:rPr lang="en-US" altLang="zh-TW" dirty="0" smtClean="0"/>
                  <a:t>Q</a:t>
                </a:r>
                <a:r>
                  <a:rPr lang="zh-TW" altLang="en-US" dirty="0" smtClean="0"/>
                  <a:t>，真實擲幣機率分佈為</a:t>
                </a:r>
                <a:r>
                  <a:rPr lang="en-US" altLang="zh-TW" dirty="0" smtClean="0"/>
                  <a:t>P</a:t>
                </a:r>
                <a:r>
                  <a:rPr lang="zh-TW" altLang="en-US" dirty="0" smtClean="0"/>
                  <a:t>。</a:t>
                </a:r>
                <a:r>
                  <a:rPr lang="en-US" altLang="zh-TW" dirty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　令 </a:t>
                </a:r>
                <a:r>
                  <a:rPr lang="en-US" altLang="zh-TW" dirty="0" smtClean="0"/>
                  <a:t>p = P(X=1) 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q = P(X</a:t>
                </a:r>
                <a:r>
                  <a:rPr lang="en-US" altLang="zh-TW" dirty="0"/>
                  <a:t>=-</a:t>
                </a:r>
                <a:r>
                  <a:rPr lang="en-US" altLang="zh-TW" dirty="0" smtClean="0"/>
                  <a:t>1) , p’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Q(X=1</a:t>
                </a:r>
                <a:r>
                  <a:rPr lang="en-US" altLang="zh-TW" dirty="0"/>
                  <a:t>) , </a:t>
                </a:r>
                <a:r>
                  <a:rPr lang="en-US" altLang="zh-TW" dirty="0" smtClean="0"/>
                  <a:t>q’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Q(X</a:t>
                </a:r>
                <a:r>
                  <a:rPr lang="en-US" altLang="zh-TW" dirty="0"/>
                  <a:t>=-1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1. </a:t>
                </a:r>
                <a:r>
                  <a:rPr lang="zh-TW" altLang="en-US" dirty="0" smtClean="0"/>
                  <a:t>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 , </a:t>
                </a:r>
                <a:r>
                  <a:rPr lang="zh-TW" altLang="en-US" b="0" dirty="0" smtClean="0">
                    <a:ea typeface="Cambria Math" panose="02040503050406030204" pitchFamily="18" charset="0"/>
                  </a:rPr>
                  <a:t>取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 = 0 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TW" b="0" dirty="0" smtClean="0">
                    <a:ea typeface="Cambria Math" panose="02040503050406030204" pitchFamily="18" charset="0"/>
                  </a:rPr>
                  <a:t> = 0 , </a:t>
                </a:r>
                <a:r>
                  <a:rPr lang="zh-TW" altLang="en-US" b="0" dirty="0" smtClean="0">
                    <a:ea typeface="Cambria Math" panose="02040503050406030204" pitchFamily="18" charset="0"/>
                  </a:rPr>
                  <a:t>賭客不應下注</a:t>
                </a:r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/>
                  <a:t>2. </a:t>
                </a:r>
                <a:r>
                  <a:rPr lang="zh-TW" altLang="en-US" dirty="0" smtClean="0"/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:r>
                  <a:rPr lang="en-US" altLang="zh-TW" dirty="0" smtClean="0">
                    <a:ea typeface="Cambria Math" panose="02040503050406030204" pitchFamily="18" charset="0"/>
                  </a:rPr>
                  <a:t>, </a:t>
                </a:r>
                <a:r>
                  <a:rPr lang="zh-TW" altLang="en-US" dirty="0" smtClean="0">
                    <a:ea typeface="Cambria Math" panose="02040503050406030204" pitchFamily="18" charset="0"/>
                  </a:rPr>
                  <a:t>取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box>
                      <m:box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box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>
                    <a:ea typeface="Cambria Math" panose="02040503050406030204" pitchFamily="18" charset="0"/>
                  </a:rPr>
                  <a:t> </a:t>
                </a:r>
                <a:r>
                  <a:rPr lang="en-US" altLang="zh-TW" dirty="0">
                    <a:ea typeface="Cambria Math" panose="02040503050406030204" pitchFamily="18" charset="0"/>
                  </a:rPr>
                  <a:t>,</a:t>
                </a:r>
                <a:r>
                  <a:rPr lang="en-US" altLang="zh-TW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box>
                          <m:box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den>
                            </m:f>
                          </m:e>
                        </m:box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box>
                          <m:box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den>
                            </m:f>
                          </m:e>
                        </m:box>
                      </m:e>
                    </m:func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3. </a:t>
                </a:r>
                <a:r>
                  <a:rPr lang="zh-TW" altLang="en-US" dirty="0" smtClean="0"/>
                  <a:t>若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 smtClean="0">
                    <a:ea typeface="Cambria Math" panose="02040503050406030204" pitchFamily="18" charset="0"/>
                  </a:rPr>
                  <a:t> , </a:t>
                </a:r>
                <a:r>
                  <a:rPr lang="zh-TW" altLang="en-US" dirty="0">
                    <a:ea typeface="Cambria Math" panose="02040503050406030204" pitchFamily="18" charset="0"/>
                  </a:rPr>
                  <a:t>取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func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900" y="1050924"/>
                <a:ext cx="10515600" cy="5032375"/>
              </a:xfrm>
              <a:blipFill rotWithShape="0">
                <a:blip r:embed="rId2"/>
                <a:stretch>
                  <a:fillRect l="-3246" t="-53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46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0700" y="1571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600" dirty="0" smtClean="0">
                <a:solidFill>
                  <a:srgbClr val="0070C0"/>
                </a:solidFill>
              </a:rPr>
              <a:t>Example</a:t>
            </a:r>
            <a:endParaRPr lang="zh-TW" altLang="en-US" sz="5600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0700" y="1279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　　擲</a:t>
            </a:r>
            <a:r>
              <a:rPr lang="zh-TW" altLang="en-US" dirty="0"/>
              <a:t>一枚錢幣，人頭與數字出現的機率各為</a:t>
            </a:r>
            <a:r>
              <a:rPr lang="en-US" altLang="zh-TW" dirty="0"/>
              <a:t>50%</a:t>
            </a:r>
            <a:r>
              <a:rPr lang="zh-TW" altLang="en-US" dirty="0" smtClean="0"/>
              <a:t>，出現人頭所</a:t>
            </a:r>
            <a:r>
              <a:rPr lang="zh-TW" altLang="en-US" dirty="0"/>
              <a:t>壓賭金全部輸光，故</a:t>
            </a:r>
            <a:r>
              <a:rPr lang="zh-TW" altLang="en-US" dirty="0" smtClean="0"/>
              <a:t>賠率</a:t>
            </a:r>
            <a:r>
              <a:rPr lang="en-US" altLang="zh-TW" dirty="0" smtClean="0"/>
              <a:t>(a)</a:t>
            </a:r>
            <a:r>
              <a:rPr lang="zh-TW" altLang="en-US" dirty="0" smtClean="0"/>
              <a:t>為</a:t>
            </a:r>
            <a:r>
              <a:rPr lang="en-US" altLang="zh-TW" dirty="0" smtClean="0"/>
              <a:t>1</a:t>
            </a:r>
            <a:r>
              <a:rPr lang="zh-TW" altLang="en-US" dirty="0" smtClean="0"/>
              <a:t>；出現數字那面所</a:t>
            </a:r>
            <a:r>
              <a:rPr lang="zh-TW" altLang="en-US" dirty="0"/>
              <a:t>壓賭金翻為</a:t>
            </a:r>
            <a:r>
              <a:rPr lang="en-US" altLang="zh-TW" dirty="0"/>
              <a:t>2.5</a:t>
            </a:r>
            <a:r>
              <a:rPr lang="zh-TW" altLang="en-US" dirty="0"/>
              <a:t>倍</a:t>
            </a:r>
            <a:r>
              <a:rPr lang="en-US" altLang="zh-TW" dirty="0"/>
              <a:t>(i.e.</a:t>
            </a:r>
            <a:r>
              <a:rPr lang="zh-TW" altLang="en-US" dirty="0"/>
              <a:t>淨賺</a:t>
            </a:r>
            <a:r>
              <a:rPr lang="en-US" altLang="zh-TW" dirty="0"/>
              <a:t>1.5</a:t>
            </a:r>
            <a:r>
              <a:rPr lang="zh-TW" altLang="en-US" dirty="0"/>
              <a:t>倍</a:t>
            </a:r>
            <a:r>
              <a:rPr lang="en-US" altLang="zh-TW" dirty="0"/>
              <a:t>)</a:t>
            </a:r>
            <a:r>
              <a:rPr lang="zh-TW" altLang="en-US" dirty="0"/>
              <a:t>，故</a:t>
            </a:r>
            <a:r>
              <a:rPr lang="zh-TW" altLang="en-US" dirty="0" smtClean="0"/>
              <a:t>賠率</a:t>
            </a:r>
            <a:r>
              <a:rPr lang="en-US" altLang="zh-TW" dirty="0" smtClean="0"/>
              <a:t>(b)</a:t>
            </a:r>
            <a:r>
              <a:rPr lang="zh-TW" altLang="en-US" dirty="0" smtClean="0"/>
              <a:t>為</a:t>
            </a:r>
            <a:r>
              <a:rPr lang="en-US" altLang="zh-TW" dirty="0"/>
              <a:t>1.5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*</a:t>
            </a:r>
            <a:r>
              <a:rPr lang="zh-TW" altLang="en-US" dirty="0" smtClean="0"/>
              <a:t>獲利期望值＝</a:t>
            </a:r>
            <a:r>
              <a:rPr lang="en-US" altLang="zh-TW" dirty="0" smtClean="0"/>
              <a:t>0.25</a:t>
            </a:r>
            <a:br>
              <a:rPr lang="en-US" altLang="zh-TW" dirty="0" smtClean="0"/>
            </a:br>
            <a:r>
              <a:rPr lang="en-US" altLang="zh-TW" sz="1600" dirty="0" smtClean="0"/>
              <a:t>(</a:t>
            </a:r>
            <a:r>
              <a:rPr lang="zh-TW" altLang="en-US" sz="1600" dirty="0" smtClean="0"/>
              <a:t>意思為平均</a:t>
            </a:r>
            <a:r>
              <a:rPr lang="zh-TW" altLang="en-US" sz="1600" dirty="0"/>
              <a:t>每賭</a:t>
            </a:r>
            <a:r>
              <a:rPr lang="en-US" altLang="zh-TW" sz="1600" dirty="0"/>
              <a:t>1</a:t>
            </a:r>
            <a:r>
              <a:rPr lang="zh-TW" altLang="en-US" sz="1600" dirty="0"/>
              <a:t>元</a:t>
            </a:r>
            <a:r>
              <a:rPr lang="zh-TW" altLang="en-US" sz="1600" dirty="0" smtClean="0"/>
              <a:t>，淨賺</a:t>
            </a:r>
            <a:r>
              <a:rPr lang="en-US" altLang="zh-TW" sz="1600" dirty="0"/>
              <a:t>0.25</a:t>
            </a:r>
            <a:r>
              <a:rPr lang="zh-TW" altLang="en-US" sz="1600" dirty="0"/>
              <a:t>元</a:t>
            </a:r>
            <a:r>
              <a:rPr lang="zh-TW" altLang="en-US" sz="1600" dirty="0" smtClean="0"/>
              <a:t>，報酬率</a:t>
            </a:r>
            <a:r>
              <a:rPr lang="en-US" altLang="zh-TW" sz="1600" dirty="0" smtClean="0"/>
              <a:t>=</a:t>
            </a:r>
            <a:r>
              <a:rPr lang="en-US" altLang="zh-TW" sz="1600" dirty="0"/>
              <a:t> 25% </a:t>
            </a:r>
            <a:r>
              <a:rPr lang="en-US" altLang="zh-TW" sz="1600" dirty="0" smtClean="0"/>
              <a:t>)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Q : </a:t>
            </a:r>
            <a:r>
              <a:rPr lang="zh-TW" altLang="en-US" dirty="0" smtClean="0"/>
              <a:t>然而</a:t>
            </a:r>
            <a:r>
              <a:rPr lang="zh-TW" altLang="en-US" dirty="0"/>
              <a:t>，假設今天你有</a:t>
            </a:r>
            <a:r>
              <a:rPr lang="en-US" altLang="zh-TW" dirty="0" smtClean="0"/>
              <a:t>1000</a:t>
            </a:r>
            <a:r>
              <a:rPr lang="zh-TW" altLang="en-US" dirty="0" smtClean="0"/>
              <a:t>元，玩</a:t>
            </a:r>
            <a:r>
              <a:rPr lang="zh-TW" altLang="en-US" dirty="0"/>
              <a:t>這個有利賭局無限多次，你該如何下注？</a:t>
            </a:r>
          </a:p>
        </p:txBody>
      </p:sp>
    </p:spTree>
    <p:extLst>
      <p:ext uri="{BB962C8B-B14F-4D97-AF65-F5344CB8AC3E}">
        <p14:creationId xmlns:p14="http://schemas.microsoft.com/office/powerpoint/2010/main" val="7487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600" dirty="0">
                <a:solidFill>
                  <a:srgbClr val="0070C0"/>
                </a:solidFill>
              </a:rPr>
              <a:t>S</a:t>
            </a:r>
            <a:r>
              <a:rPr lang="en-US" altLang="zh-TW" sz="5600" dirty="0" smtClean="0">
                <a:solidFill>
                  <a:srgbClr val="0070C0"/>
                </a:solidFill>
              </a:rPr>
              <a:t>olution</a:t>
            </a:r>
            <a:endParaRPr lang="zh-TW" altLang="en-US" sz="5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TW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zh-TW" sz="3000" b="1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TW" sz="3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3000" b="1" i="1">
                                  <a:latin typeface="Cambria Math" panose="02040503050406030204" pitchFamily="18" charset="0"/>
                                </a:rPr>
                                <m:t>𝒃𝒑</m:t>
                              </m:r>
                              <m:r>
                                <a:rPr lang="en-US" altLang="zh-TW" sz="3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000" b="1" i="1">
                                  <a:latin typeface="Cambria Math" panose="02040503050406030204" pitchFamily="18" charset="0"/>
                                </a:rPr>
                                <m:t>𝒂𝒒</m:t>
                              </m:r>
                            </m:num>
                            <m:den>
                              <m:r>
                                <a:rPr lang="en-US" altLang="zh-TW" sz="3000" b="1" i="1"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altLang="zh-TW" sz="3000" dirty="0" smtClean="0"/>
              </a:p>
              <a:p>
                <a:pPr marL="0" indent="0">
                  <a:buNone/>
                </a:pPr>
                <a:r>
                  <a:rPr lang="en-US" altLang="zh-TW" sz="3000" dirty="0" smtClean="0"/>
                  <a:t>    </a:t>
                </a:r>
                <a14:m>
                  <m:oMath xmlns:m="http://schemas.openxmlformats.org/officeDocument/2006/math">
                    <m:r>
                      <a:rPr lang="en-US" altLang="zh-TW" sz="3000" b="1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zh-TW" sz="3000" b="1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sz="3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3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3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altLang="zh-TW" sz="3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3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sz="3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box>
                  </m:oMath>
                </a14:m>
                <a:endParaRPr lang="en-US" altLang="zh-TW" sz="3000" dirty="0" smtClean="0"/>
              </a:p>
              <a:p>
                <a:pPr marL="0" indent="0">
                  <a:buNone/>
                </a:pPr>
                <a:r>
                  <a:rPr lang="en-US" altLang="zh-TW" sz="3000" dirty="0" smtClean="0"/>
                  <a:t>    </a:t>
                </a:r>
                <a14:m>
                  <m:oMath xmlns:m="http://schemas.openxmlformats.org/officeDocument/2006/math">
                    <m:r>
                      <a:rPr lang="en-US" altLang="zh-TW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1.66%</m:t>
                    </m:r>
                  </m:oMath>
                </a14:m>
                <a:r>
                  <a:rPr lang="zh-TW" altLang="en-US" sz="3000" dirty="0" smtClean="0"/>
                  <a:t>   </a:t>
                </a:r>
                <a:r>
                  <a:rPr lang="en-US" altLang="zh-TW" sz="1600" dirty="0" smtClean="0"/>
                  <a:t>(</a:t>
                </a:r>
                <a:r>
                  <a:rPr lang="zh-TW" altLang="en-US" sz="1600" dirty="0" smtClean="0"/>
                  <a:t>最佳比例 </a:t>
                </a:r>
                <a:r>
                  <a:rPr lang="en-US" altLang="zh-TW" sz="1600" dirty="0" smtClean="0"/>
                  <a:t>: </a:t>
                </a:r>
                <a:r>
                  <a:rPr lang="zh-TW" altLang="en-US" sz="1600" dirty="0" smtClean="0"/>
                  <a:t>資產</a:t>
                </a:r>
                <a:r>
                  <a:rPr lang="zh-TW" altLang="en-US" sz="1600" dirty="0"/>
                  <a:t>成長最</a:t>
                </a:r>
                <a:r>
                  <a:rPr lang="zh-TW" altLang="en-US" sz="1600" dirty="0" smtClean="0"/>
                  <a:t>快速的比例</a:t>
                </a:r>
                <a:r>
                  <a:rPr lang="en-US" altLang="zh-TW" sz="1600" dirty="0" smtClean="0"/>
                  <a:t>)</a:t>
                </a:r>
              </a:p>
              <a:p>
                <a:pPr marL="0" indent="0">
                  <a:buNone/>
                </a:pPr>
                <a:r>
                  <a:rPr lang="zh-TW" altLang="en-US" sz="2500" dirty="0"/>
                  <a:t>每次</a:t>
                </a:r>
                <a:r>
                  <a:rPr lang="zh-TW" altLang="en-US" sz="2500" dirty="0" smtClean="0"/>
                  <a:t>都下注資金</a:t>
                </a:r>
                <a:r>
                  <a:rPr lang="zh-TW" altLang="en-US" sz="2500" dirty="0"/>
                  <a:t>的</a:t>
                </a:r>
                <a:r>
                  <a:rPr lang="en-US" altLang="zh-TW" sz="2500" dirty="0"/>
                  <a:t>1/6 </a:t>
                </a:r>
                <a:r>
                  <a:rPr lang="en-US" altLang="zh-TW" sz="2500" dirty="0" smtClean="0"/>
                  <a:t>(16.66</a:t>
                </a:r>
                <a:r>
                  <a:rPr lang="en-US" altLang="zh-TW" sz="2500" dirty="0"/>
                  <a:t>%)</a:t>
                </a:r>
                <a:r>
                  <a:rPr lang="zh-TW" altLang="en-US" sz="2500" dirty="0" smtClean="0"/>
                  <a:t>，資產成長</a:t>
                </a:r>
                <a:r>
                  <a:rPr lang="zh-TW" altLang="en-US" sz="2500" dirty="0"/>
                  <a:t>最</a:t>
                </a:r>
                <a:r>
                  <a:rPr lang="zh-TW" altLang="en-US" sz="2500" dirty="0" smtClean="0"/>
                  <a:t>快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55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不同比例比較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6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dirty="0"/>
              <a:t>假設</a:t>
            </a:r>
            <a:r>
              <a:rPr lang="zh-TW" altLang="en-US" dirty="0" smtClean="0"/>
              <a:t>有三位賭客進行賭局：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zh-TW" altLang="en-US" dirty="0" smtClean="0"/>
              <a:t>　小</a:t>
            </a:r>
            <a:r>
              <a:rPr lang="zh-TW" altLang="en-US" dirty="0"/>
              <a:t>賭徒、凱利賭徒、大賭徒。三個都有</a:t>
            </a:r>
            <a:r>
              <a:rPr lang="en-US" altLang="zh-TW" dirty="0"/>
              <a:t>1000</a:t>
            </a:r>
            <a:r>
              <a:rPr lang="zh-TW" altLang="en-US" dirty="0"/>
              <a:t>元現金，可玩此賭局</a:t>
            </a:r>
            <a:r>
              <a:rPr lang="en-US" altLang="zh-TW" dirty="0"/>
              <a:t>100</a:t>
            </a:r>
            <a:r>
              <a:rPr lang="zh-TW" altLang="en-US" dirty="0"/>
              <a:t>次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小</a:t>
            </a:r>
            <a:r>
              <a:rPr lang="zh-TW" altLang="en-US" dirty="0"/>
              <a:t>賭徒比較保守，每次</a:t>
            </a:r>
            <a:r>
              <a:rPr lang="zh-TW" altLang="en-US" dirty="0" smtClean="0"/>
              <a:t>都下注手</a:t>
            </a:r>
            <a:r>
              <a:rPr lang="zh-TW" altLang="en-US" dirty="0"/>
              <a:t>上現金的</a:t>
            </a:r>
            <a:r>
              <a:rPr lang="en-US" altLang="zh-TW" dirty="0"/>
              <a:t>5</a:t>
            </a:r>
            <a:r>
              <a:rPr lang="en-US" altLang="zh-TW" dirty="0" smtClean="0"/>
              <a:t>%</a:t>
            </a:r>
          </a:p>
          <a:p>
            <a:r>
              <a:rPr lang="zh-TW" altLang="en-US" dirty="0" smtClean="0"/>
              <a:t>凱</a:t>
            </a:r>
            <a:r>
              <a:rPr lang="zh-TW" altLang="en-US" dirty="0"/>
              <a:t>利</a:t>
            </a:r>
            <a:r>
              <a:rPr lang="zh-TW" altLang="en-US" dirty="0" smtClean="0"/>
              <a:t>賭徒根據凱利公式</a:t>
            </a:r>
            <a:r>
              <a:rPr lang="zh-TW" altLang="en-US" dirty="0"/>
              <a:t>計算，每次</a:t>
            </a:r>
            <a:r>
              <a:rPr lang="zh-TW" altLang="en-US" dirty="0" smtClean="0"/>
              <a:t>都下注手</a:t>
            </a:r>
            <a:r>
              <a:rPr lang="zh-TW" altLang="en-US" dirty="0"/>
              <a:t>上現金的</a:t>
            </a:r>
            <a:r>
              <a:rPr lang="en-US" altLang="zh-TW" dirty="0"/>
              <a:t>16.66</a:t>
            </a:r>
            <a:r>
              <a:rPr lang="en-US" altLang="zh-TW" dirty="0" smtClean="0"/>
              <a:t>%</a:t>
            </a:r>
          </a:p>
          <a:p>
            <a:r>
              <a:rPr lang="zh-TW" altLang="en-US" dirty="0" smtClean="0"/>
              <a:t>大</a:t>
            </a:r>
            <a:r>
              <a:rPr lang="zh-TW" altLang="en-US" dirty="0"/>
              <a:t>賭徒最勇敢，每次</a:t>
            </a:r>
            <a:r>
              <a:rPr lang="zh-TW" altLang="en-US" dirty="0" smtClean="0"/>
              <a:t>都下</a:t>
            </a:r>
            <a:r>
              <a:rPr lang="zh-TW" altLang="en-US" dirty="0"/>
              <a:t>注</a:t>
            </a:r>
            <a:r>
              <a:rPr lang="zh-TW" altLang="en-US" dirty="0" smtClean="0"/>
              <a:t>手</a:t>
            </a:r>
            <a:r>
              <a:rPr lang="zh-TW" altLang="en-US" dirty="0"/>
              <a:t>上現金的一半</a:t>
            </a:r>
            <a:r>
              <a:rPr lang="en-US" altLang="zh-TW" dirty="0"/>
              <a:t>(50%)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則</a:t>
            </a:r>
            <a:r>
              <a:rPr lang="zh-TW" altLang="en-US" dirty="0"/>
              <a:t>玩</a:t>
            </a:r>
            <a:r>
              <a:rPr lang="en-US" altLang="zh-TW" dirty="0"/>
              <a:t>100</a:t>
            </a:r>
            <a:r>
              <a:rPr lang="zh-TW" altLang="en-US" dirty="0"/>
              <a:t>次後，我們可以合理預期，凱利賭徒的 資產會最多，勝於小賭徒，而大賭徒可能玩不到一百次就接近破產，救不回來了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302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372444"/>
            <a:ext cx="9639300" cy="6106984"/>
          </a:xfrm>
        </p:spPr>
      </p:pic>
    </p:spTree>
    <p:extLst>
      <p:ext uri="{BB962C8B-B14F-4D97-AF65-F5344CB8AC3E}">
        <p14:creationId xmlns:p14="http://schemas.microsoft.com/office/powerpoint/2010/main" val="264446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600" dirty="0" smtClean="0">
                <a:solidFill>
                  <a:srgbClr val="0070C0"/>
                </a:solidFill>
                <a:latin typeface="+mn-lt"/>
              </a:rPr>
              <a:t>推廣 </a:t>
            </a:r>
            <a:r>
              <a:rPr lang="en-US" altLang="zh-TW" sz="5600" dirty="0" smtClean="0">
                <a:solidFill>
                  <a:srgbClr val="0070C0"/>
                </a:solidFill>
                <a:latin typeface="+mn-lt"/>
              </a:rPr>
              <a:t>:</a:t>
            </a:r>
            <a:r>
              <a:rPr lang="zh-TW" altLang="en-US" sz="5600" dirty="0" smtClean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zh-TW" sz="5600" dirty="0" smtClean="0">
                <a:solidFill>
                  <a:srgbClr val="0070C0"/>
                </a:solidFill>
                <a:latin typeface="+mn-lt"/>
              </a:rPr>
              <a:t>Roulette model</a:t>
            </a:r>
            <a:endParaRPr lang="zh-TW" altLang="en-US" sz="56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5117"/>
            <a:ext cx="9956800" cy="508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6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285</Words>
  <Application>Microsoft Office PowerPoint</Application>
  <PresentationFormat>寬螢幕</PresentationFormat>
  <Paragraphs>83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Cambria Math</vt:lpstr>
      <vt:lpstr>Office 佈景主題</vt:lpstr>
      <vt:lpstr>A New Interpretation of Information Rate</vt:lpstr>
      <vt:lpstr>Abstract</vt:lpstr>
      <vt:lpstr>Growth rate</vt:lpstr>
      <vt:lpstr>PowerPoint 簡報</vt:lpstr>
      <vt:lpstr>PowerPoint 簡報</vt:lpstr>
      <vt:lpstr>PowerPoint 簡報</vt:lpstr>
      <vt:lpstr>推廣 : Coin model</vt:lpstr>
      <vt:lpstr>0 ≤l&lt;1     (l=1 另作討論)     </vt:lpstr>
      <vt:lpstr>PowerPoint 簡報</vt:lpstr>
      <vt:lpstr>PowerPoint 簡報</vt:lpstr>
      <vt:lpstr>PowerPoint 簡報</vt:lpstr>
      <vt:lpstr>l=1</vt:lpstr>
      <vt:lpstr>PowerPoint 簡報</vt:lpstr>
      <vt:lpstr>Example</vt:lpstr>
      <vt:lpstr>Solution</vt:lpstr>
      <vt:lpstr>不同比例比較</vt:lpstr>
      <vt:lpstr>PowerPoint 簡報</vt:lpstr>
      <vt:lpstr>推廣 : Roulette model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Interpretation of Information Rate</dc:title>
  <dc:creator>jhan</dc:creator>
  <cp:lastModifiedBy>jhan</cp:lastModifiedBy>
  <cp:revision>75</cp:revision>
  <dcterms:created xsi:type="dcterms:W3CDTF">2016-04-26T02:43:24Z</dcterms:created>
  <dcterms:modified xsi:type="dcterms:W3CDTF">2016-04-27T07:02:20Z</dcterms:modified>
</cp:coreProperties>
</file>