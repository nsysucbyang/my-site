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5B9BD5"/>
              </a:solidFill>
              <a:prstDash val="solid"/>
              <a:round/>
              <a:headEnd type="none" w="med" len="med"/>
              <a:tailEnd type="none" w="med" len="med"/>
            </a:ln>
          </a:left>
          <a:right>
            <a:ln w="12701" cap="flat" cmpd="sng" algn="ctr">
              <a:solidFill>
                <a:srgbClr val="5B9BD5"/>
              </a:solidFill>
              <a:prstDash val="solid"/>
              <a:round/>
              <a:headEnd type="none" w="med" len="med"/>
              <a:tailEnd type="none" w="med" len="med"/>
            </a:ln>
          </a:right>
          <a:top>
            <a:ln w="12701" cap="flat" cmpd="sng" algn="ctr">
              <a:solidFill>
                <a:srgbClr val="5B9BD5"/>
              </a:solidFill>
              <a:prstDash val="solid"/>
              <a:round/>
              <a:headEnd type="none" w="med" len="med"/>
              <a:tailEnd type="none" w="med" len="med"/>
            </a:ln>
          </a:top>
          <a:bottom>
            <a:ln w="12701" cap="flat" cmpd="sng" algn="ctr">
              <a:solidFill>
                <a:srgbClr val="5B9BD5"/>
              </a:solidFill>
              <a:prstDash val="solid"/>
              <a:round/>
              <a:headEnd type="none" w="med" len="med"/>
              <a:tailEnd type="none" w="med" len="med"/>
            </a:ln>
          </a:bottom>
        </a:tcBdr>
      </a:tcStyle>
    </a:wholeTbl>
    <a:band1H>
      <a:tcStyle>
        <a:tcBdr/>
        <a:fill>
          <a:solidFill>
            <a:srgbClr val="5B9BD5"/>
          </a:solidFill>
        </a:fill>
      </a:tcStyle>
    </a:band1H>
    <a:band1V>
      <a:tcStyle>
        <a:tcBdr/>
        <a:fill>
          <a:solidFill>
            <a:srgbClr val="5B9BD5"/>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5B9BD5"/>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5B9BD5"/>
              </a:solidFill>
              <a:prstDash val="solid"/>
              <a:round/>
              <a:headEnd type="none" w="med" len="med"/>
              <a:tailEnd type="none" w="med" len="med"/>
            </a:ln>
          </a:bottom>
        </a:tcBdr>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E8B1032C-EA38-4F05-BA0D-38AFFFC7BED3}" styleName="">
    <a:wholeTbl>
      <a:tcTxStyle>
        <a:font>
          <a:latin typeface="+mn-lt"/>
          <a:ea typeface="+mn-ea"/>
          <a:cs typeface="+mn-cs"/>
        </a:font>
        <a:srgbClr val="000000"/>
      </a:tcTxStyle>
      <a:tcStyle>
        <a:tcBdr>
          <a:left>
            <a:ln w="12701" cap="flat" cmpd="sng" algn="ctr">
              <a:solidFill>
                <a:srgbClr val="70AD47"/>
              </a:solidFill>
              <a:prstDash val="solid"/>
              <a:round/>
              <a:headEnd type="none" w="med" len="med"/>
              <a:tailEnd type="none" w="med" len="med"/>
            </a:ln>
          </a:left>
          <a:right>
            <a:ln w="12701" cap="flat" cmpd="sng" algn="ctr">
              <a:solidFill>
                <a:srgbClr val="70AD47"/>
              </a:solidFill>
              <a:prstDash val="solid"/>
              <a:round/>
              <a:headEnd type="none" w="med" len="med"/>
              <a:tailEnd type="none" w="med" len="med"/>
            </a:ln>
          </a:right>
          <a:top>
            <a:ln w="12701" cap="flat" cmpd="sng" algn="ctr">
              <a:solidFill>
                <a:srgbClr val="70AD47"/>
              </a:solidFill>
              <a:prstDash val="solid"/>
              <a:round/>
              <a:headEnd type="none" w="med" len="med"/>
              <a:tailEnd type="none" w="med" len="med"/>
            </a:ln>
          </a:top>
          <a:bottom>
            <a:ln w="12701" cap="flat" cmpd="sng" algn="ctr">
              <a:solidFill>
                <a:srgbClr val="70AD47"/>
              </a:solidFill>
              <a:prstDash val="solid"/>
              <a:round/>
              <a:headEnd type="none" w="med" len="med"/>
              <a:tailEnd type="none" w="med" len="med"/>
            </a:ln>
          </a:bottom>
        </a:tcBdr>
      </a:tcStyle>
    </a:wholeTbl>
    <a:band1H>
      <a:tcStyle>
        <a:tcBdr/>
        <a:fill>
          <a:solidFill>
            <a:srgbClr val="70AD47"/>
          </a:solidFill>
        </a:fill>
      </a:tcStyle>
    </a:band1H>
    <a:band1V>
      <a:tcStyle>
        <a:tcBdr/>
        <a:fill>
          <a:solidFill>
            <a:srgbClr val="70AD47"/>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70AD47"/>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70AD47"/>
              </a:solidFill>
              <a:prstDash val="solid"/>
              <a:round/>
              <a:headEnd type="none" w="med" len="med"/>
              <a:tailEnd type="none" w="med" len="med"/>
            </a:ln>
          </a:bottom>
        </a:tcBdr>
      </a:tcStyle>
    </a:firstRow>
  </a:tblStyle>
  <a:tblStyle styleId="{5DA37D80-6434-44D0-A028-1B22A696006F}" styleName="">
    <a:wholeTbl>
      <a:tcTxStyle>
        <a:font>
          <a:latin typeface="+mn-lt"/>
          <a:ea typeface="+mn-ea"/>
          <a:cs typeface="+mn-cs"/>
        </a:font>
        <a:srgbClr val="000000"/>
      </a:tcTxStyle>
      <a:tcStyle>
        <a:tcBdr>
          <a:left>
            <a:ln w="12701" cap="flat" cmpd="sng" algn="ctr">
              <a:solidFill>
                <a:srgbClr val="ED7D31"/>
              </a:solidFill>
              <a:prstDash val="solid"/>
              <a:round/>
              <a:headEnd type="none" w="med" len="med"/>
              <a:tailEnd type="none" w="med" len="med"/>
            </a:ln>
          </a:left>
          <a:right>
            <a:ln w="12701" cap="flat" cmpd="sng" algn="ctr">
              <a:solidFill>
                <a:srgbClr val="ED7D31"/>
              </a:solidFill>
              <a:prstDash val="solid"/>
              <a:round/>
              <a:headEnd type="none" w="med" len="med"/>
              <a:tailEnd type="none" w="med" len="med"/>
            </a:ln>
          </a:right>
          <a:top>
            <a:ln w="12701" cap="flat" cmpd="sng" algn="ctr">
              <a:solidFill>
                <a:srgbClr val="ED7D31"/>
              </a:solidFill>
              <a:prstDash val="solid"/>
              <a:round/>
              <a:headEnd type="none" w="med" len="med"/>
              <a:tailEnd type="none" w="med" len="med"/>
            </a:ln>
          </a:top>
          <a:bottom>
            <a:ln w="12701" cap="flat" cmpd="sng" algn="ctr">
              <a:solidFill>
                <a:srgbClr val="ED7D31"/>
              </a:solidFill>
              <a:prstDash val="solid"/>
              <a:round/>
              <a:headEnd type="none" w="med" len="med"/>
              <a:tailEnd type="none" w="med" len="med"/>
            </a:ln>
          </a:bottom>
        </a:tcBdr>
      </a:tcStyle>
    </a:wholeTbl>
    <a:band1H>
      <a:tcStyle>
        <a:tcBdr/>
        <a:fill>
          <a:solidFill>
            <a:srgbClr val="ED7D31"/>
          </a:solidFill>
        </a:fill>
      </a:tcStyle>
    </a:band1H>
    <a:band1V>
      <a:tcStyle>
        <a:tcBdr/>
        <a:fill>
          <a:solidFill>
            <a:srgbClr val="ED7D31"/>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ED7D31"/>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ED7D31"/>
              </a:solidFill>
              <a:prstDash val="solid"/>
              <a:round/>
              <a:headEnd type="none" w="med" len="med"/>
              <a:tailEnd type="none" w="med" len="med"/>
            </a:ln>
          </a:bottom>
        </a:tcBdr>
      </a:tcStyle>
    </a:firstRow>
  </a:tblStyle>
  <a:tblStyle styleId="{EB344D84-9AFB-497E-A393-DC336BA19D2E}"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A5A5A5"/>
          </a:solidFill>
        </a:fill>
      </a:tcStyle>
    </a:lastCol>
    <a:firstCol>
      <a:tcTxStyle b="on">
        <a:font>
          <a:latin typeface="+mn-lt"/>
          <a:ea typeface="+mn-ea"/>
          <a:cs typeface="+mn-cs"/>
        </a:font>
        <a:srgbClr val="FFFFFF"/>
      </a:tcTxStyle>
      <a:tcStyle>
        <a:tcBdr/>
        <a:fill>
          <a:solidFill>
            <a:srgbClr val="A5A5A5"/>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A5A5A5"/>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45" autoAdjust="0"/>
  </p:normalViewPr>
  <p:slideViewPr>
    <p:cSldViewPr snapToGrid="0">
      <p:cViewPr varScale="1">
        <p:scale>
          <a:sx n="90" d="100"/>
          <a:sy n="90" d="100"/>
        </p:scale>
        <p:origin x="330" y="96"/>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頁首版面配置區 1"/>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3" name="日期版面配置區 2"/>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4" name="頁尾版面配置區 3"/>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5" name="投影片編號版面配置區 4"/>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50227E8C-9554-460F-B633-51D5AD774E1F}" type="slidenum">
              <a:t>‹#›</a:t>
            </a:fld>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Tree>
    <p:extLst>
      <p:ext uri="{BB962C8B-B14F-4D97-AF65-F5344CB8AC3E}">
        <p14:creationId xmlns:p14="http://schemas.microsoft.com/office/powerpoint/2010/main" val="15513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idx="2"/>
          </p:nvPr>
        </p:nvSpPr>
        <p:spPr>
          <a:xfrm>
            <a:off x="1107000" y="812517"/>
            <a:ext cx="5345280" cy="4008958"/>
          </a:xfrm>
          <a:prstGeom prst="rect">
            <a:avLst/>
          </a:prstGeom>
          <a:noFill/>
          <a:ln>
            <a:noFill/>
            <a:prstDash val="solid"/>
          </a:ln>
        </p:spPr>
      </p:sp>
      <p:sp>
        <p:nvSpPr>
          <p:cNvPr id="3" name="備忘稿版面配置區 2"/>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n-US"/>
          </a:p>
        </p:txBody>
      </p:sp>
      <p:sp>
        <p:nvSpPr>
          <p:cNvPr id="4" name="頁首版面配置區 3"/>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日期版面配置區 4"/>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頁尾版面配置區 5"/>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7" name="投影片編號版面配置區 6"/>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78A57073-AB8B-4F7A-BB5E-FAEF8A970D70}" type="slidenum">
              <a:t>‹#›</a:t>
            </a:fld>
            <a:endParaRPr lang="en-US"/>
          </a:p>
        </p:txBody>
      </p:sp>
    </p:spTree>
    <p:extLst>
      <p:ext uri="{BB962C8B-B14F-4D97-AF65-F5344CB8AC3E}">
        <p14:creationId xmlns:p14="http://schemas.microsoft.com/office/powerpoint/2010/main" val="1409133388"/>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4E8A48-0BB3-4429-A23E-981E055DBE4D}" type="slidenum">
              <a:t>1</a:t>
            </a:fld>
            <a:endParaRPr lang="en-US" sz="1400" b="0" i="0" u="none" strike="noStrike" kern="1200" cap="none" spc="0" baseline="0">
              <a:solidFill>
                <a:srgbClr val="000000"/>
              </a:solidFill>
              <a:uFillTx/>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574662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5</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6</a:t>
            </a:fld>
            <a:endParaRPr lang="zh-TW" altLang="en-US"/>
          </a:p>
        </p:txBody>
      </p:sp>
    </p:spTree>
    <p:extLst>
      <p:ext uri="{BB962C8B-B14F-4D97-AF65-F5344CB8AC3E}">
        <p14:creationId xmlns:p14="http://schemas.microsoft.com/office/powerpoint/2010/main" val="543198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7</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8</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9</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10</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11</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12</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13</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14</a:t>
            </a:fld>
            <a:endParaRPr lang="zh-TW" altLang="en-US"/>
          </a:p>
        </p:txBody>
      </p:sp>
    </p:spTree>
    <p:extLst>
      <p:ext uri="{BB962C8B-B14F-4D97-AF65-F5344CB8AC3E}">
        <p14:creationId xmlns:p14="http://schemas.microsoft.com/office/powerpoint/2010/main" val="3077440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260472" y="1236661"/>
            <a:ext cx="7559673" cy="2632072"/>
          </a:xfrm>
        </p:spPr>
        <p:txBody>
          <a:bodyPr anchor="b"/>
          <a:lstStyle>
            <a:lvl1pPr>
              <a:defRPr lang="zh-TW" sz="6000"/>
            </a:lvl1pPr>
          </a:lstStyle>
          <a:p>
            <a:pPr lvl="0"/>
            <a:r>
              <a:rPr lang="zh-TW"/>
              <a:t>按一下以編輯母片標題樣式</a:t>
            </a:r>
            <a:endParaRPr lang="en-US"/>
          </a:p>
        </p:txBody>
      </p:sp>
      <p:sp>
        <p:nvSpPr>
          <p:cNvPr id="3" name="副標題 2"/>
          <p:cNvSpPr txBox="1">
            <a:spLocks noGrp="1"/>
          </p:cNvSpPr>
          <p:nvPr>
            <p:ph type="subTitle" idx="1"/>
          </p:nvPr>
        </p:nvSpPr>
        <p:spPr>
          <a:xfrm>
            <a:off x="1260472" y="3970333"/>
            <a:ext cx="7559673" cy="1825627"/>
          </a:xfrm>
        </p:spPr>
        <p:txBody>
          <a:bodyPr anchorCtr="1"/>
          <a:lstStyle>
            <a:lvl1pPr algn="ctr">
              <a:defRPr sz="2400"/>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AE6BFC27-068B-4B72-92F7-9C821F0A3E7B}" type="slidenum">
              <a:t>‹#›</a:t>
            </a:fld>
            <a:endParaRPr lang="en-US"/>
          </a:p>
        </p:txBody>
      </p:sp>
    </p:spTree>
    <p:extLst>
      <p:ext uri="{BB962C8B-B14F-4D97-AF65-F5344CB8AC3E}">
        <p14:creationId xmlns:p14="http://schemas.microsoft.com/office/powerpoint/2010/main" val="34534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68842836-F473-4F88-8FC5-E6506225DA8A}" type="slidenum">
              <a:t>‹#›</a:t>
            </a:fld>
            <a:endParaRPr lang="en-US"/>
          </a:p>
        </p:txBody>
      </p:sp>
    </p:spTree>
    <p:extLst>
      <p:ext uri="{BB962C8B-B14F-4D97-AF65-F5344CB8AC3E}">
        <p14:creationId xmlns:p14="http://schemas.microsoft.com/office/powerpoint/2010/main" val="228269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687391" y="1884358"/>
            <a:ext cx="8694736" cy="3144841"/>
          </a:xfrm>
        </p:spPr>
        <p:txBody>
          <a:bodyPr anchor="b"/>
          <a:lstStyle>
            <a:lvl1pPr>
              <a:defRPr lang="zh-TW" sz="6000"/>
            </a:lvl1pPr>
          </a:lstStyle>
          <a:p>
            <a:pPr lvl="0"/>
            <a:r>
              <a:rPr lang="zh-TW"/>
              <a:t>按一下以編輯母片標題樣式</a:t>
            </a:r>
            <a:endParaRPr lang="en-US"/>
          </a:p>
        </p:txBody>
      </p:sp>
      <p:sp>
        <p:nvSpPr>
          <p:cNvPr id="3" name="文字版面配置區 2"/>
          <p:cNvSpPr txBox="1">
            <a:spLocks noGrp="1"/>
          </p:cNvSpPr>
          <p:nvPr>
            <p:ph type="body" idx="1"/>
          </p:nvPr>
        </p:nvSpPr>
        <p:spPr>
          <a:xfrm>
            <a:off x="687391" y="5059366"/>
            <a:ext cx="8694736" cy="1652585"/>
          </a:xfrm>
        </p:spPr>
        <p:txBody>
          <a:bodyPr/>
          <a:lstStyle>
            <a:lvl1pPr>
              <a:defRPr sz="2400">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F06D477E-DD58-4DE2-94A6-FBA23A92454D}" type="slidenum">
              <a:t>‹#›</a:t>
            </a:fld>
            <a:endParaRPr lang="en-US"/>
          </a:p>
        </p:txBody>
      </p:sp>
    </p:spTree>
    <p:extLst>
      <p:ext uri="{BB962C8B-B14F-4D97-AF65-F5344CB8AC3E}">
        <p14:creationId xmlns:p14="http://schemas.microsoft.com/office/powerpoint/2010/main" val="138122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503240" y="1768477"/>
            <a:ext cx="4459291"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5114925" y="1768477"/>
            <a:ext cx="4460872"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A72D141D-6966-43C1-8EB1-BB4818DFA3BC}" type="slidenum">
              <a:t>‹#›</a:t>
            </a:fld>
            <a:endParaRPr lang="en-US"/>
          </a:p>
        </p:txBody>
      </p:sp>
    </p:spTree>
    <p:extLst>
      <p:ext uri="{BB962C8B-B14F-4D97-AF65-F5344CB8AC3E}">
        <p14:creationId xmlns:p14="http://schemas.microsoft.com/office/powerpoint/2010/main" val="115698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403222"/>
            <a:ext cx="8694736" cy="1460497"/>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693736" y="1852610"/>
            <a:ext cx="4265611" cy="908054"/>
          </a:xfrm>
        </p:spPr>
        <p:txBody>
          <a:bodyPr anchor="b"/>
          <a:lstStyle>
            <a:lvl1pPr>
              <a:defRPr sz="2400" b="1"/>
            </a:lvl1pPr>
          </a:lstStyle>
          <a:p>
            <a:pPr lvl="0"/>
            <a:r>
              <a:rPr lang="zh-TW"/>
              <a:t>按一下以編輯母片文字樣式</a:t>
            </a:r>
          </a:p>
        </p:txBody>
      </p:sp>
      <p:sp>
        <p:nvSpPr>
          <p:cNvPr id="4" name="內容版面配置區 3"/>
          <p:cNvSpPr txBox="1">
            <a:spLocks noGrp="1"/>
          </p:cNvSpPr>
          <p:nvPr>
            <p:ph idx="2"/>
          </p:nvPr>
        </p:nvSpPr>
        <p:spPr>
          <a:xfrm>
            <a:off x="693736" y="2760665"/>
            <a:ext cx="4265611"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5103815" y="1852610"/>
            <a:ext cx="4284658" cy="908054"/>
          </a:xfrm>
        </p:spPr>
        <p:txBody>
          <a:bodyPr anchor="b"/>
          <a:lstStyle>
            <a:lvl1pPr>
              <a:defRPr sz="2400" b="1"/>
            </a:lvl1pPr>
          </a:lstStyle>
          <a:p>
            <a:pPr lvl="0"/>
            <a:r>
              <a:rPr lang="zh-TW"/>
              <a:t>按一下以編輯母片文字樣式</a:t>
            </a:r>
          </a:p>
        </p:txBody>
      </p:sp>
      <p:sp>
        <p:nvSpPr>
          <p:cNvPr id="6" name="內容版面配置區 5"/>
          <p:cNvSpPr txBox="1">
            <a:spLocks noGrp="1"/>
          </p:cNvSpPr>
          <p:nvPr>
            <p:ph idx="4"/>
          </p:nvPr>
        </p:nvSpPr>
        <p:spPr>
          <a:xfrm>
            <a:off x="5103815" y="2760665"/>
            <a:ext cx="4284658"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pPr lvl="0"/>
            <a:endParaRPr lang="en-US"/>
          </a:p>
        </p:txBody>
      </p:sp>
      <p:sp>
        <p:nvSpPr>
          <p:cNvPr id="8" name="頁尾版面配置區 7"/>
          <p:cNvSpPr txBox="1">
            <a:spLocks noGrp="1"/>
          </p:cNvSpPr>
          <p:nvPr>
            <p:ph type="ftr" sz="quarter" idx="9"/>
          </p:nvPr>
        </p:nvSpPr>
        <p:spPr/>
        <p:txBody>
          <a:bodyPr/>
          <a:lstStyle>
            <a:lvl1pPr>
              <a:defRPr/>
            </a:lvl1pPr>
          </a:lstStyle>
          <a:p>
            <a:pPr lvl="0"/>
            <a:endParaRPr lang="en-US"/>
          </a:p>
        </p:txBody>
      </p:sp>
      <p:sp>
        <p:nvSpPr>
          <p:cNvPr id="9" name="投影片編號版面配置區 8"/>
          <p:cNvSpPr txBox="1">
            <a:spLocks noGrp="1"/>
          </p:cNvSpPr>
          <p:nvPr>
            <p:ph type="sldNum" sz="quarter" idx="8"/>
          </p:nvPr>
        </p:nvSpPr>
        <p:spPr/>
        <p:txBody>
          <a:bodyPr/>
          <a:lstStyle>
            <a:lvl1pPr>
              <a:defRPr/>
            </a:lvl1pPr>
          </a:lstStyle>
          <a:p>
            <a:pPr lvl="0"/>
            <a:fld id="{4D382990-A4FF-4906-9C3D-CE47CFC3DCA5}" type="slidenum">
              <a:t>‹#›</a:t>
            </a:fld>
            <a:endParaRPr lang="en-US"/>
          </a:p>
        </p:txBody>
      </p:sp>
    </p:spTree>
    <p:extLst>
      <p:ext uri="{BB962C8B-B14F-4D97-AF65-F5344CB8AC3E}">
        <p14:creationId xmlns:p14="http://schemas.microsoft.com/office/powerpoint/2010/main" val="340341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pPr lvl="0"/>
            <a:endParaRPr lang="en-US"/>
          </a:p>
        </p:txBody>
      </p:sp>
      <p:sp>
        <p:nvSpPr>
          <p:cNvPr id="4" name="頁尾版面配置區 3"/>
          <p:cNvSpPr txBox="1">
            <a:spLocks noGrp="1"/>
          </p:cNvSpPr>
          <p:nvPr>
            <p:ph type="ftr" sz="quarter" idx="9"/>
          </p:nvPr>
        </p:nvSpPr>
        <p:spPr/>
        <p:txBody>
          <a:bodyPr/>
          <a:lstStyle>
            <a:lvl1pPr>
              <a:defRPr/>
            </a:lvl1pPr>
          </a:lstStyle>
          <a:p>
            <a:pPr lvl="0"/>
            <a:endParaRPr lang="en-US"/>
          </a:p>
        </p:txBody>
      </p:sp>
      <p:sp>
        <p:nvSpPr>
          <p:cNvPr id="5" name="投影片編號版面配置區 4"/>
          <p:cNvSpPr txBox="1">
            <a:spLocks noGrp="1"/>
          </p:cNvSpPr>
          <p:nvPr>
            <p:ph type="sldNum" sz="quarter" idx="8"/>
          </p:nvPr>
        </p:nvSpPr>
        <p:spPr/>
        <p:txBody>
          <a:bodyPr/>
          <a:lstStyle>
            <a:lvl1pPr>
              <a:defRPr/>
            </a:lvl1pPr>
          </a:lstStyle>
          <a:p>
            <a:pPr lvl="0"/>
            <a:fld id="{C73CCA10-4506-4689-B9C6-7A25C650BAFF}" type="slidenum">
              <a:t>‹#›</a:t>
            </a:fld>
            <a:endParaRPr lang="en-US"/>
          </a:p>
        </p:txBody>
      </p:sp>
    </p:spTree>
    <p:extLst>
      <p:ext uri="{BB962C8B-B14F-4D97-AF65-F5344CB8AC3E}">
        <p14:creationId xmlns:p14="http://schemas.microsoft.com/office/powerpoint/2010/main" val="205626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pPr lvl="0"/>
            <a:endParaRPr lang="en-US"/>
          </a:p>
        </p:txBody>
      </p:sp>
      <p:sp>
        <p:nvSpPr>
          <p:cNvPr id="3" name="頁尾版面配置區 2"/>
          <p:cNvSpPr txBox="1">
            <a:spLocks noGrp="1"/>
          </p:cNvSpPr>
          <p:nvPr>
            <p:ph type="ftr" sz="quarter" idx="9"/>
          </p:nvPr>
        </p:nvSpPr>
        <p:spPr/>
        <p:txBody>
          <a:bodyPr/>
          <a:lstStyle>
            <a:lvl1pPr>
              <a:defRPr/>
            </a:lvl1pPr>
          </a:lstStyle>
          <a:p>
            <a:pPr lvl="0"/>
            <a:endParaRPr lang="en-US"/>
          </a:p>
        </p:txBody>
      </p:sp>
      <p:sp>
        <p:nvSpPr>
          <p:cNvPr id="4" name="投影片編號版面配置區 3"/>
          <p:cNvSpPr txBox="1">
            <a:spLocks noGrp="1"/>
          </p:cNvSpPr>
          <p:nvPr>
            <p:ph type="sldNum" sz="quarter" idx="8"/>
          </p:nvPr>
        </p:nvSpPr>
        <p:spPr/>
        <p:txBody>
          <a:bodyPr/>
          <a:lstStyle>
            <a:lvl1pPr>
              <a:defRPr/>
            </a:lvl1pPr>
          </a:lstStyle>
          <a:p>
            <a:pPr lvl="0"/>
            <a:fld id="{DA413963-2284-408C-A1F3-BA9C90A14B4D}" type="slidenum">
              <a:t>‹#›</a:t>
            </a:fld>
            <a:endParaRPr lang="en-US"/>
          </a:p>
        </p:txBody>
      </p:sp>
    </p:spTree>
    <p:extLst>
      <p:ext uri="{BB962C8B-B14F-4D97-AF65-F5344CB8AC3E}">
        <p14:creationId xmlns:p14="http://schemas.microsoft.com/office/powerpoint/2010/main" val="356610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內容版面配置區 2"/>
          <p:cNvSpPr txBox="1">
            <a:spLocks noGrp="1"/>
          </p:cNvSpPr>
          <p:nvPr>
            <p:ph idx="1"/>
          </p:nvPr>
        </p:nvSpPr>
        <p:spPr>
          <a:xfrm>
            <a:off x="4286249" y="1089022"/>
            <a:ext cx="5102223" cy="5372100"/>
          </a:xfrm>
        </p:spPr>
        <p:txBody>
          <a:bodyPr/>
          <a:lstStyle>
            <a:lvl1pPr>
              <a:defRPr/>
            </a:lvl1pPr>
            <a:lvl2pPr>
              <a:defRPr sz="2800"/>
            </a:lvl2pPr>
            <a:lvl3pPr>
              <a:defRPr sz="2400"/>
            </a:lvl3pPr>
            <a:lvl4pPr>
              <a:defRPr sz="2000"/>
            </a:lvl4pPr>
            <a:lvl5pPr>
              <a:defRPr sz="2000"/>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8059FB30-6DA3-498A-B3E4-39789FBB385A}" type="slidenum">
              <a:t>‹#›</a:t>
            </a:fld>
            <a:endParaRPr lang="en-US"/>
          </a:p>
        </p:txBody>
      </p:sp>
    </p:spTree>
    <p:extLst>
      <p:ext uri="{BB962C8B-B14F-4D97-AF65-F5344CB8AC3E}">
        <p14:creationId xmlns:p14="http://schemas.microsoft.com/office/powerpoint/2010/main" val="295267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圖片版面配置區 2"/>
          <p:cNvSpPr txBox="1">
            <a:spLocks noGrp="1"/>
          </p:cNvSpPr>
          <p:nvPr>
            <p:ph type="pic" idx="1"/>
          </p:nvPr>
        </p:nvSpPr>
        <p:spPr>
          <a:xfrm>
            <a:off x="4286249" y="1089022"/>
            <a:ext cx="5102223" cy="5372100"/>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62DDE591-0FAF-4F51-A0C1-3BEDC4250AEC}" type="slidenum">
              <a:t>‹#›</a:t>
            </a:fld>
            <a:endParaRPr lang="en-US"/>
          </a:p>
        </p:txBody>
      </p:sp>
    </p:spTree>
    <p:extLst>
      <p:ext uri="{BB962C8B-B14F-4D97-AF65-F5344CB8AC3E}">
        <p14:creationId xmlns:p14="http://schemas.microsoft.com/office/powerpoint/2010/main" val="124761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30523178-8C3C-4D5B-987E-9C6DE9B05220}" type="slidenum">
              <a:t>‹#›</a:t>
            </a:fld>
            <a:endParaRPr lang="en-US"/>
          </a:p>
        </p:txBody>
      </p:sp>
    </p:spTree>
    <p:extLst>
      <p:ext uri="{BB962C8B-B14F-4D97-AF65-F5344CB8AC3E}">
        <p14:creationId xmlns:p14="http://schemas.microsoft.com/office/powerpoint/2010/main" val="346170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7308854" y="301623"/>
            <a:ext cx="2266953" cy="5851529"/>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503240" y="301623"/>
            <a:ext cx="6653210" cy="5851529"/>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0683D96B-BEA4-46BB-A345-50D7E40AC1BE}" type="slidenum">
              <a:t>‹#›</a:t>
            </a:fld>
            <a:endParaRPr lang="en-US"/>
          </a:p>
        </p:txBody>
      </p:sp>
    </p:spTree>
    <p:extLst>
      <p:ext uri="{BB962C8B-B14F-4D97-AF65-F5344CB8AC3E}">
        <p14:creationId xmlns:p14="http://schemas.microsoft.com/office/powerpoint/2010/main" val="307590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503998" y="301322"/>
            <a:ext cx="9071643" cy="1262155"/>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503998" y="1769043"/>
            <a:ext cx="9071643" cy="4384438"/>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503998" y="6887160"/>
            <a:ext cx="2348279" cy="521281"/>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頁尾版面配置區 4"/>
          <p:cNvSpPr txBox="1">
            <a:spLocks noGrp="1"/>
          </p:cNvSpPr>
          <p:nvPr>
            <p:ph type="ftr" sz="quarter" idx="3"/>
          </p:nvPr>
        </p:nvSpPr>
        <p:spPr>
          <a:xfrm>
            <a:off x="3447361" y="6887160"/>
            <a:ext cx="3194995" cy="521281"/>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投影片編號版面配置區 5"/>
          <p:cNvSpPr txBox="1">
            <a:spLocks noGrp="1"/>
          </p:cNvSpPr>
          <p:nvPr>
            <p:ph type="sldNum" sz="quarter" idx="4"/>
          </p:nvPr>
        </p:nvSpPr>
        <p:spPr>
          <a:xfrm>
            <a:off x="7227362" y="6887160"/>
            <a:ext cx="2348279" cy="521281"/>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FA3188D1-A64F-4C0D-9118-94DC8B17CC66}"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914400" rtl="0" fontAlgn="auto" hangingPunct="0">
        <a:lnSpc>
          <a:spcPct val="100000"/>
        </a:lnSpc>
        <a:spcBef>
          <a:spcPts val="0"/>
        </a:spcBef>
        <a:spcAft>
          <a:spcPts val="0"/>
        </a:spcAft>
        <a:buNone/>
        <a:tabLst/>
        <a:defRPr lang="en-US" sz="44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914400" rtl="0" fontAlgn="auto" hangingPunct="0">
        <a:lnSpc>
          <a:spcPct val="100000"/>
        </a:lnSpc>
        <a:spcBef>
          <a:spcPts val="1415"/>
        </a:spcBef>
        <a:spcAft>
          <a:spcPts val="0"/>
        </a:spcAft>
        <a:buNone/>
        <a:tabLst/>
        <a:defRPr lang="zh-TW" sz="32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zh-TW" sz="2400" b="0" i="0" u="none" strike="noStrike" kern="1200" cap="none" spc="0" baseline="0">
          <a:solidFill>
            <a:srgbClr val="000000"/>
          </a:solidFill>
          <a:uFillTx/>
          <a:latin typeface="Calibri"/>
          <a:ea typeface="新細明體" pitchFamily="18"/>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zh-TW" sz="2000" b="0" i="0" u="none" strike="noStrike" kern="1200" cap="none" spc="0" baseline="0">
          <a:solidFill>
            <a:srgbClr val="000000"/>
          </a:solidFill>
          <a:uFillTx/>
          <a:latin typeface="Calibri"/>
          <a:ea typeface="新細明體" pitchFamily="18"/>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576355" y="2989593"/>
            <a:ext cx="9071643" cy="1661993"/>
          </a:xfrm>
        </p:spPr>
        <p:txBody>
          <a:bodyPr>
            <a:spAutoFit/>
          </a:bodyPr>
          <a:lstStyle/>
          <a:p>
            <a:pPr lvl="0"/>
            <a:r>
              <a:rPr lang="en-US" altLang="zh-TW" sz="2700" b="1" dirty="0">
                <a:solidFill>
                  <a:srgbClr val="898989"/>
                </a:solidFill>
                <a:latin typeface="Sitka Subheading" panose="02000505000000020004" pitchFamily="2" charset="0"/>
                <a:ea typeface="新細明體" pitchFamily="2"/>
              </a:rPr>
              <a:t>M. </a:t>
            </a:r>
            <a:r>
              <a:rPr lang="en-US" altLang="zh-TW" sz="2700" b="1" dirty="0" err="1">
                <a:solidFill>
                  <a:srgbClr val="898989"/>
                </a:solidFill>
                <a:latin typeface="Sitka Subheading" panose="02000505000000020004" pitchFamily="2" charset="0"/>
                <a:ea typeface="新細明體" pitchFamily="2"/>
              </a:rPr>
              <a:t>Calonder</a:t>
            </a:r>
            <a:r>
              <a:rPr lang="en-US" altLang="zh-TW" sz="2700" b="1" dirty="0">
                <a:solidFill>
                  <a:srgbClr val="898989"/>
                </a:solidFill>
                <a:latin typeface="Sitka Subheading" panose="02000505000000020004" pitchFamily="2" charset="0"/>
                <a:ea typeface="新細明體" pitchFamily="2"/>
              </a:rPr>
              <a:t>, V. </a:t>
            </a:r>
            <a:r>
              <a:rPr lang="en-US" altLang="zh-TW" sz="2700" b="1" dirty="0" err="1">
                <a:solidFill>
                  <a:srgbClr val="898989"/>
                </a:solidFill>
                <a:latin typeface="Sitka Subheading" panose="02000505000000020004" pitchFamily="2" charset="0"/>
                <a:ea typeface="新細明體" pitchFamily="2"/>
              </a:rPr>
              <a:t>Lepetit</a:t>
            </a:r>
            <a:r>
              <a:rPr lang="en-US" altLang="zh-TW" sz="2700" b="1" dirty="0">
                <a:solidFill>
                  <a:srgbClr val="898989"/>
                </a:solidFill>
                <a:latin typeface="Sitka Subheading" panose="02000505000000020004" pitchFamily="2" charset="0"/>
                <a:ea typeface="新細明體" pitchFamily="2"/>
              </a:rPr>
              <a:t>, C. </a:t>
            </a:r>
            <a:r>
              <a:rPr lang="en-US" altLang="zh-TW" sz="2700" b="1" dirty="0" err="1">
                <a:solidFill>
                  <a:srgbClr val="898989"/>
                </a:solidFill>
                <a:latin typeface="Sitka Subheading" panose="02000505000000020004" pitchFamily="2" charset="0"/>
                <a:ea typeface="新細明體" pitchFamily="2"/>
              </a:rPr>
              <a:t>Strecha</a:t>
            </a:r>
            <a:r>
              <a:rPr lang="en-US" altLang="zh-TW" sz="2700" b="1" dirty="0">
                <a:solidFill>
                  <a:srgbClr val="898989"/>
                </a:solidFill>
                <a:latin typeface="Sitka Subheading" panose="02000505000000020004" pitchFamily="2" charset="0"/>
                <a:ea typeface="新細明體" pitchFamily="2"/>
              </a:rPr>
              <a:t>, and P. </a:t>
            </a:r>
            <a:r>
              <a:rPr lang="en-US" altLang="zh-TW" sz="2700" b="1" dirty="0" err="1">
                <a:solidFill>
                  <a:srgbClr val="898989"/>
                </a:solidFill>
                <a:latin typeface="Sitka Subheading" panose="02000505000000020004" pitchFamily="2" charset="0"/>
                <a:ea typeface="新細明體" pitchFamily="2"/>
              </a:rPr>
              <a:t>Fua</a:t>
            </a:r>
            <a:r>
              <a:rPr lang="en-US" altLang="zh-TW" sz="2700" b="1" dirty="0">
                <a:solidFill>
                  <a:srgbClr val="898989"/>
                </a:solidFill>
                <a:latin typeface="Sitka Subheading" panose="02000505000000020004" pitchFamily="2" charset="0"/>
                <a:ea typeface="新細明體" pitchFamily="2"/>
              </a:rPr>
              <a:t>. </a:t>
            </a:r>
            <a:br>
              <a:rPr lang="en-US" altLang="zh-TW" sz="2700" b="1" dirty="0">
                <a:solidFill>
                  <a:srgbClr val="898989"/>
                </a:solidFill>
                <a:latin typeface="Sitka Subheading" panose="02000505000000020004" pitchFamily="2" charset="0"/>
                <a:ea typeface="新細明體" pitchFamily="2"/>
              </a:rPr>
            </a:br>
            <a:r>
              <a:rPr lang="en-US" altLang="zh-TW" sz="2700" b="1" dirty="0">
                <a:solidFill>
                  <a:srgbClr val="898989"/>
                </a:solidFill>
                <a:latin typeface="Sitka Subheading" panose="02000505000000020004" pitchFamily="2" charset="0"/>
                <a:ea typeface="新細明體" pitchFamily="2"/>
              </a:rPr>
              <a:t>Computer Vision - ECCV 2010, 11th European Conference on Computer Vision, Heraklion, Crete, Greece, September 5-11, 2010, Proceedings, Part IV.</a:t>
            </a:r>
            <a:endParaRPr lang="en-US" sz="2700" b="1" dirty="0">
              <a:solidFill>
                <a:srgbClr val="898989"/>
              </a:solidFill>
              <a:latin typeface="Sitka Subheading" panose="02000505000000020004" pitchFamily="2" charset="0"/>
              <a:ea typeface="新細明體" pitchFamily="2"/>
            </a:endParaRPr>
          </a:p>
        </p:txBody>
      </p:sp>
      <p:sp>
        <p:nvSpPr>
          <p:cNvPr id="3" name="文字版面配置區 2"/>
          <p:cNvSpPr txBox="1">
            <a:spLocks noGrp="1"/>
          </p:cNvSpPr>
          <p:nvPr>
            <p:ph type="body" idx="4294967295"/>
          </p:nvPr>
        </p:nvSpPr>
        <p:spPr>
          <a:xfrm>
            <a:off x="576355" y="935998"/>
            <a:ext cx="9071643" cy="1491891"/>
          </a:xfrm>
        </p:spPr>
        <p:txBody>
          <a:bodyPr anchorCtr="1"/>
          <a:lstStyle/>
          <a:p>
            <a:pPr lvl="0" algn="ctr"/>
            <a:r>
              <a:rPr lang="en-US" sz="4000" b="1" dirty="0">
                <a:latin typeface="Cambria Math" panose="02040503050406030204" pitchFamily="18" charset="0"/>
                <a:ea typeface="Cambria Math" panose="02040503050406030204" pitchFamily="18" charset="0"/>
                <a:cs typeface="Ebrima" panose="02000000000000000000" pitchFamily="2" charset="0"/>
              </a:rPr>
              <a:t>BRIEF: Binary Robust Independent Elementary Features</a:t>
            </a:r>
          </a:p>
        </p:txBody>
      </p:sp>
      <p:sp>
        <p:nvSpPr>
          <p:cNvPr id="4" name="文字版面配置區 3"/>
          <p:cNvSpPr txBox="1">
            <a:spLocks noGrp="1"/>
          </p:cNvSpPr>
          <p:nvPr>
            <p:ph type="body" idx="4294967295"/>
          </p:nvPr>
        </p:nvSpPr>
        <p:spPr>
          <a:xfrm>
            <a:off x="704380" y="5920800"/>
            <a:ext cx="9071643" cy="1159806"/>
          </a:xfrm>
        </p:spPr>
        <p:txBody>
          <a:bodyPr/>
          <a:lstStyle/>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Wei-</a:t>
            </a:r>
            <a:r>
              <a:rPr lang="en-US" altLang="zh-TW" dirty="0" err="1">
                <a:highlight>
                  <a:scrgbClr r="0" g="0" b="0">
                    <a:alpha val="0"/>
                  </a:scrgbClr>
                </a:highlight>
                <a:latin typeface="Liberation Sans Narrow" pitchFamily="34"/>
                <a:ea typeface="微軟正黑體" pitchFamily="34"/>
                <a:cs typeface="Mangal" pitchFamily="2"/>
              </a:rPr>
              <a:t>Hao</a:t>
            </a:r>
            <a:r>
              <a:rPr lang="en-US" altLang="zh-TW" dirty="0">
                <a:highlight>
                  <a:scrgbClr r="0" g="0" b="0">
                    <a:alpha val="0"/>
                  </a:scrgbClr>
                </a:highlight>
                <a:latin typeface="Liberation Sans Narrow" pitchFamily="34"/>
                <a:ea typeface="微軟正黑體" pitchFamily="34"/>
                <a:cs typeface="Mangal" pitchFamily="2"/>
              </a:rPr>
              <a:t> Fu</a:t>
            </a:r>
            <a:endParaRPr lang="en-US" dirty="0">
              <a:highlight>
                <a:scrgbClr r="0" g="0" b="0">
                  <a:alpha val="0"/>
                </a:scrgbClr>
              </a:highlight>
              <a:latin typeface="Liberation Sans Narrow" pitchFamily="34"/>
              <a:ea typeface="微軟正黑體" pitchFamily="34"/>
              <a:cs typeface="Mangal" pitchFamily="2"/>
            </a:endParaRPr>
          </a:p>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dirty="0">
                <a:highlight>
                  <a:scrgbClr r="0" g="0" b="0">
                    <a:alpha val="0"/>
                  </a:scrgbClr>
                </a:highlight>
                <a:latin typeface="Liberation Sans Narrow" pitchFamily="34"/>
                <a:ea typeface="微軟正黑體" pitchFamily="34"/>
                <a:cs typeface="Mangal" pitchFamily="2"/>
              </a:rPr>
              <a:t>2016/ </a:t>
            </a:r>
            <a:r>
              <a:rPr lang="en-US" altLang="zh-TW" dirty="0">
                <a:highlight>
                  <a:scrgbClr r="0" g="0" b="0">
                    <a:alpha val="0"/>
                  </a:scrgbClr>
                </a:highlight>
                <a:latin typeface="Liberation Sans Narrow" pitchFamily="34"/>
                <a:ea typeface="微軟正黑體" pitchFamily="34"/>
                <a:cs typeface="Mangal" pitchFamily="2"/>
              </a:rPr>
              <a:t>10</a:t>
            </a:r>
            <a:r>
              <a:rPr lang="en-US" dirty="0">
                <a:highlight>
                  <a:scrgbClr r="0" g="0" b="0">
                    <a:alpha val="0"/>
                  </a:scrgbClr>
                </a:highlight>
                <a:latin typeface="Liberation Sans Narrow" pitchFamily="34"/>
                <a:ea typeface="微軟正黑體" pitchFamily="34"/>
                <a:cs typeface="Mangal" pitchFamily="2"/>
              </a:rPr>
              <a:t>/</a:t>
            </a:r>
            <a:r>
              <a:rPr lang="zh-TW" altLang="en-US" dirty="0">
                <a:highlight>
                  <a:scrgbClr r="0" g="0" b="0">
                    <a:alpha val="0"/>
                  </a:scrgbClr>
                </a:highlight>
                <a:latin typeface="Liberation Sans Narrow" pitchFamily="34"/>
                <a:ea typeface="微軟正黑體" pitchFamily="34"/>
                <a:cs typeface="Mangal" pitchFamily="2"/>
              </a:rPr>
              <a:t> </a:t>
            </a:r>
            <a:r>
              <a:rPr lang="en-US" altLang="zh-TW" dirty="0">
                <a:highlight>
                  <a:scrgbClr r="0" g="0" b="0">
                    <a:alpha val="0"/>
                  </a:scrgbClr>
                </a:highlight>
                <a:latin typeface="Liberation Sans Narrow" pitchFamily="34"/>
                <a:ea typeface="微軟正黑體" pitchFamily="34"/>
                <a:cs typeface="Mangal" pitchFamily="2"/>
              </a:rPr>
              <a:t>05</a:t>
            </a:r>
            <a:endParaRPr lang="en-US" dirty="0">
              <a:highlight>
                <a:scrgbClr r="0" g="0" b="0">
                  <a:alpha val="0"/>
                </a:scrgbClr>
              </a:highlight>
              <a:latin typeface="Liberation Sans Narrow" pitchFamily="34"/>
              <a:ea typeface="微軟正黑體" pitchFamily="34"/>
              <a:cs typeface="Mangal" pitchFamily="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Abstract</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r>
              <a:rPr lang="en-US" altLang="zh-TW" sz="3000" dirty="0">
                <a:latin typeface="Cambria Math" panose="02040503050406030204" pitchFamily="18" charset="0"/>
                <a:ea typeface="Cambria Math" panose="02040503050406030204" pitchFamily="18" charset="0"/>
                <a:cs typeface="Ebrima" panose="02000000000000000000" pitchFamily="2" charset="0"/>
              </a:rPr>
              <a:t>We propose to use binary strings as an efficient feature point descriptor, which we call BRIEF. We show that it is highly discriminative even when using relatively few bits and can be computed using simple intensity difference tests. Furthermore, the descriptor similarity can be evaluated using the Hamming distance, which is very efficient to compute, instead of the L2 norm as is usually done. As a result, BRIEF is very fast both to build and to match. We compare it against SURF and U-SURF on standard benchmarks and show that it yields a similar or better recognition performance, while running in a fraction of the time required by either.</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a:t>
            </a:fld>
            <a:endParaRPr lang="zh-TW" altLang="en-US"/>
          </a:p>
        </p:txBody>
      </p:sp>
    </p:spTree>
    <p:extLst>
      <p:ext uri="{BB962C8B-B14F-4D97-AF65-F5344CB8AC3E}">
        <p14:creationId xmlns:p14="http://schemas.microsoft.com/office/powerpoint/2010/main" val="2128211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Key point</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sz="3000" b="1" dirty="0">
                <a:latin typeface="Cambria Math" panose="02040503050406030204" pitchFamily="18" charset="0"/>
                <a:ea typeface="Cambria Math" panose="02040503050406030204" pitchFamily="18" charset="0"/>
                <a:cs typeface="Ebrima" panose="02000000000000000000" pitchFamily="2" charset="0"/>
              </a:rPr>
              <a:t>What are </a:t>
            </a:r>
            <a:r>
              <a:rPr lang="en-US" altLang="zh-TW" sz="3000" b="1" dirty="0">
                <a:solidFill>
                  <a:srgbClr val="FF0000"/>
                </a:solidFill>
                <a:latin typeface="Cambria Math" panose="02040503050406030204" pitchFamily="18" charset="0"/>
                <a:ea typeface="Cambria Math" panose="02040503050406030204" pitchFamily="18" charset="0"/>
                <a:cs typeface="Ebrima" panose="02000000000000000000" pitchFamily="2" charset="0"/>
              </a:rPr>
              <a:t>key points</a:t>
            </a:r>
            <a:r>
              <a:rPr lang="en-US" altLang="zh-TW" sz="3000" b="1" dirty="0">
                <a:latin typeface="Cambria Math" panose="02040503050406030204" pitchFamily="18" charset="0"/>
                <a:ea typeface="Cambria Math" panose="02040503050406030204" pitchFamily="18" charset="0"/>
                <a:cs typeface="Ebrima" panose="02000000000000000000" pitchFamily="2" charset="0"/>
              </a:rPr>
              <a:t>?</a:t>
            </a:r>
          </a:p>
          <a:p>
            <a:r>
              <a:rPr lang="en-US" altLang="zh-TW" sz="3000" dirty="0">
                <a:solidFill>
                  <a:srgbClr val="FF0000"/>
                </a:solidFill>
                <a:latin typeface="Cambria Math" panose="02040503050406030204" pitchFamily="18" charset="0"/>
                <a:ea typeface="Cambria Math" panose="02040503050406030204" pitchFamily="18" charset="0"/>
                <a:cs typeface="Ebrima" panose="02000000000000000000" pitchFamily="2" charset="0"/>
              </a:rPr>
              <a:t>Key points </a:t>
            </a:r>
            <a:r>
              <a:rPr lang="en-US" altLang="zh-TW" sz="3000" dirty="0">
                <a:latin typeface="Cambria Math" panose="02040503050406030204" pitchFamily="18" charset="0"/>
                <a:ea typeface="Cambria Math" panose="02040503050406030204" pitchFamily="18" charset="0"/>
                <a:cs typeface="Ebrima" panose="02000000000000000000" pitchFamily="2" charset="0"/>
              </a:rPr>
              <a:t>are the same with interest points. They are some special points that can show the image’s feature.</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3</a:t>
            </a:fld>
            <a:endParaRPr lang="zh-TW" altLang="en-US" dirty="0"/>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7839" y="3752193"/>
            <a:ext cx="3518166" cy="2976452"/>
          </a:xfrm>
          <a:prstGeom prst="rect">
            <a:avLst/>
          </a:prstGeom>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9427" y="3752193"/>
            <a:ext cx="3518166" cy="2976452"/>
          </a:xfrm>
          <a:prstGeom prst="rect">
            <a:avLst/>
          </a:prstGeom>
        </p:spPr>
      </p:pic>
    </p:spTree>
    <p:extLst>
      <p:ext uri="{BB962C8B-B14F-4D97-AF65-F5344CB8AC3E}">
        <p14:creationId xmlns:p14="http://schemas.microsoft.com/office/powerpoint/2010/main" val="3586501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Descriptor</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sz="3000" b="1" dirty="0">
                <a:latin typeface="Cambria Math" panose="02040503050406030204" pitchFamily="18" charset="0"/>
                <a:ea typeface="Cambria Math" panose="02040503050406030204" pitchFamily="18" charset="0"/>
                <a:cs typeface="Ebrima" panose="02000000000000000000" pitchFamily="2" charset="0"/>
              </a:rPr>
              <a:t>How to descript a key point?</a:t>
            </a:r>
          </a:p>
          <a:p>
            <a:r>
              <a:rPr lang="en-US" altLang="zh-TW" sz="3000" dirty="0">
                <a:latin typeface="Cambria Math" panose="02040503050406030204" pitchFamily="18" charset="0"/>
                <a:ea typeface="Cambria Math" panose="02040503050406030204" pitchFamily="18" charset="0"/>
                <a:cs typeface="Ebrima" panose="02000000000000000000" pitchFamily="2" charset="0"/>
              </a:rPr>
              <a:t>Use a </a:t>
            </a:r>
            <a:r>
              <a:rPr lang="en-US" altLang="zh-TW" sz="3000" dirty="0">
                <a:solidFill>
                  <a:srgbClr val="FF0000"/>
                </a:solidFill>
                <a:latin typeface="Cambria Math" panose="02040503050406030204" pitchFamily="18" charset="0"/>
                <a:ea typeface="Cambria Math" panose="02040503050406030204" pitchFamily="18" charset="0"/>
                <a:cs typeface="Ebrima" panose="02000000000000000000" pitchFamily="2" charset="0"/>
              </a:rPr>
              <a:t>descriptor</a:t>
            </a:r>
            <a:r>
              <a:rPr lang="en-US" altLang="zh-TW" sz="3000" dirty="0">
                <a:latin typeface="Cambria Math" panose="02040503050406030204" pitchFamily="18" charset="0"/>
                <a:ea typeface="Cambria Math" panose="02040503050406030204" pitchFamily="18" charset="0"/>
                <a:cs typeface="Ebrima" panose="02000000000000000000" pitchFamily="2" charset="0"/>
              </a:rPr>
              <a:t> to descript a key point.</a:t>
            </a:r>
          </a:p>
          <a:p>
            <a:r>
              <a:rPr lang="en-US" altLang="zh-TW" sz="3000" dirty="0">
                <a:latin typeface="Cambria Math" panose="02040503050406030204" pitchFamily="18" charset="0"/>
                <a:ea typeface="Cambria Math" panose="02040503050406030204" pitchFamily="18" charset="0"/>
                <a:cs typeface="Ebrima" panose="02000000000000000000" pitchFamily="2" charset="0"/>
              </a:rPr>
              <a:t>This paper use a method-”</a:t>
            </a:r>
            <a:r>
              <a:rPr lang="en-US" altLang="zh-TW" sz="3000" b="1" dirty="0">
                <a:solidFill>
                  <a:srgbClr val="FF0000"/>
                </a:solidFill>
                <a:latin typeface="Cambria Math" panose="02040503050406030204" pitchFamily="18" charset="0"/>
                <a:ea typeface="Cambria Math" panose="02040503050406030204" pitchFamily="18" charset="0"/>
                <a:cs typeface="Ebrima" panose="02000000000000000000" pitchFamily="2" charset="0"/>
              </a:rPr>
              <a:t>Binary Robust Independent Elementary Feature</a:t>
            </a:r>
            <a:r>
              <a:rPr lang="en-US" altLang="zh-TW" sz="3000" dirty="0">
                <a:latin typeface="Cambria Math" panose="02040503050406030204" pitchFamily="18" charset="0"/>
                <a:ea typeface="Cambria Math" panose="02040503050406030204" pitchFamily="18" charset="0"/>
                <a:cs typeface="Ebrima" panose="02000000000000000000" pitchFamily="2" charset="0"/>
              </a:rPr>
              <a:t>”.</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4</a:t>
            </a:fld>
            <a:endParaRPr lang="zh-TW" altLang="en-US" dirty="0"/>
          </a:p>
        </p:txBody>
      </p:sp>
    </p:spTree>
    <p:extLst>
      <p:ext uri="{BB962C8B-B14F-4D97-AF65-F5344CB8AC3E}">
        <p14:creationId xmlns:p14="http://schemas.microsoft.com/office/powerpoint/2010/main" val="307713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BRIEF(1/3)</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r>
              <a:rPr lang="en-US" altLang="zh-TW" sz="3000" dirty="0">
                <a:latin typeface="Cambria Math" panose="02040503050406030204" pitchFamily="18" charset="0"/>
                <a:ea typeface="Cambria Math" panose="02040503050406030204" pitchFamily="18" charset="0"/>
                <a:cs typeface="Ebrima" panose="02000000000000000000" pitchFamily="2" charset="0"/>
              </a:rPr>
              <a:t>First, find the key points. In this paper, they use </a:t>
            </a:r>
            <a:r>
              <a:rPr lang="en-US" altLang="zh-TW" sz="3000" dirty="0" err="1">
                <a:latin typeface="Cambria Math" panose="02040503050406030204" pitchFamily="18" charset="0"/>
                <a:ea typeface="Cambria Math" panose="02040503050406030204" pitchFamily="18" charset="0"/>
                <a:cs typeface="Ebrima" panose="02000000000000000000" pitchFamily="2" charset="0"/>
              </a:rPr>
              <a:t>CenSurE</a:t>
            </a:r>
            <a:r>
              <a:rPr lang="en-US" altLang="zh-TW" sz="3000" dirty="0">
                <a:latin typeface="Cambria Math" panose="02040503050406030204" pitchFamily="18" charset="0"/>
                <a:ea typeface="Cambria Math" panose="02040503050406030204" pitchFamily="18" charset="0"/>
                <a:cs typeface="Ebrima" panose="02000000000000000000" pitchFamily="2" charset="0"/>
              </a:rPr>
              <a:t>.</a:t>
            </a:r>
          </a:p>
          <a:p>
            <a:r>
              <a:rPr lang="en-US" altLang="zh-TW" sz="3000" dirty="0">
                <a:latin typeface="Cambria Math" panose="02040503050406030204" pitchFamily="18" charset="0"/>
                <a:ea typeface="Cambria Math" panose="02040503050406030204" pitchFamily="18" charset="0"/>
                <a:cs typeface="Ebrima" panose="02000000000000000000" pitchFamily="2" charset="0"/>
              </a:rPr>
              <a:t>Second, they use a S*S patch surrounding with the key points, and generate some pairs of points.</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5</a:t>
            </a:fld>
            <a:endParaRPr lang="zh-TW" altLang="en-US" dirty="0"/>
          </a:p>
        </p:txBody>
      </p:sp>
      <p:grpSp>
        <p:nvGrpSpPr>
          <p:cNvPr id="46" name="群組 45"/>
          <p:cNvGrpSpPr/>
          <p:nvPr/>
        </p:nvGrpSpPr>
        <p:grpSpPr>
          <a:xfrm>
            <a:off x="507308" y="4322327"/>
            <a:ext cx="2225239" cy="2017985"/>
            <a:chOff x="378363" y="3894084"/>
            <a:chExt cx="2225239" cy="2017985"/>
          </a:xfrm>
        </p:grpSpPr>
        <p:sp>
          <p:nvSpPr>
            <p:cNvPr id="5" name="矩形 4"/>
            <p:cNvSpPr>
              <a:spLocks noChangeAspect="1"/>
            </p:cNvSpPr>
            <p:nvPr/>
          </p:nvSpPr>
          <p:spPr>
            <a:xfrm>
              <a:off x="378363" y="3894084"/>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599090" y="5407569"/>
              <a:ext cx="343038" cy="3153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1839311" y="4240924"/>
              <a:ext cx="343038" cy="3153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6" name="直線接點 25"/>
            <p:cNvCxnSpPr>
              <a:stCxn id="24" idx="3"/>
              <a:endCxn id="23" idx="7"/>
            </p:cNvCxnSpPr>
            <p:nvPr/>
          </p:nvCxnSpPr>
          <p:spPr>
            <a:xfrm flipH="1">
              <a:off x="891891" y="4510061"/>
              <a:ext cx="997657" cy="943685"/>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47" name="群組 46"/>
          <p:cNvGrpSpPr/>
          <p:nvPr/>
        </p:nvGrpSpPr>
        <p:grpSpPr>
          <a:xfrm>
            <a:off x="7454835" y="4322326"/>
            <a:ext cx="2225239" cy="2017985"/>
            <a:chOff x="2756002" y="3894084"/>
            <a:chExt cx="2225239" cy="2017985"/>
          </a:xfrm>
        </p:grpSpPr>
        <p:sp>
          <p:nvSpPr>
            <p:cNvPr id="15" name="矩形 14"/>
            <p:cNvSpPr>
              <a:spLocks noChangeAspect="1"/>
            </p:cNvSpPr>
            <p:nvPr/>
          </p:nvSpPr>
          <p:spPr>
            <a:xfrm>
              <a:off x="2756002" y="3894084"/>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2986690" y="5070358"/>
              <a:ext cx="343038" cy="31531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p:cNvSpPr/>
            <p:nvPr/>
          </p:nvSpPr>
          <p:spPr>
            <a:xfrm>
              <a:off x="4320190" y="4666589"/>
              <a:ext cx="343038" cy="31531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5" name="直線接點 34"/>
            <p:cNvCxnSpPr>
              <a:stCxn id="33" idx="2"/>
              <a:endCxn id="32" idx="6"/>
            </p:cNvCxnSpPr>
            <p:nvPr/>
          </p:nvCxnSpPr>
          <p:spPr>
            <a:xfrm flipH="1">
              <a:off x="3329728" y="4824246"/>
              <a:ext cx="990462" cy="403769"/>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48" name="群組 47"/>
          <p:cNvGrpSpPr/>
          <p:nvPr/>
        </p:nvGrpSpPr>
        <p:grpSpPr>
          <a:xfrm>
            <a:off x="2800786" y="4322327"/>
            <a:ext cx="2225239" cy="2017985"/>
            <a:chOff x="5118528" y="3894085"/>
            <a:chExt cx="2225239" cy="2017985"/>
          </a:xfrm>
        </p:grpSpPr>
        <p:sp>
          <p:nvSpPr>
            <p:cNvPr id="18" name="矩形 17"/>
            <p:cNvSpPr>
              <a:spLocks noChangeAspect="1"/>
            </p:cNvSpPr>
            <p:nvPr/>
          </p:nvSpPr>
          <p:spPr>
            <a:xfrm>
              <a:off x="5118528" y="3894085"/>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p:cNvSpPr/>
            <p:nvPr/>
          </p:nvSpPr>
          <p:spPr>
            <a:xfrm>
              <a:off x="5173558" y="4083267"/>
              <a:ext cx="343038" cy="31531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p:cNvSpPr/>
            <p:nvPr/>
          </p:nvSpPr>
          <p:spPr>
            <a:xfrm>
              <a:off x="6231147" y="5453746"/>
              <a:ext cx="343038" cy="31531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40"/>
            <p:cNvCxnSpPr>
              <a:stCxn id="38" idx="5"/>
              <a:endCxn id="39" idx="1"/>
            </p:cNvCxnSpPr>
            <p:nvPr/>
          </p:nvCxnSpPr>
          <p:spPr>
            <a:xfrm>
              <a:off x="5466359" y="4352404"/>
              <a:ext cx="815025" cy="1147519"/>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49" name="群組 48"/>
          <p:cNvGrpSpPr/>
          <p:nvPr/>
        </p:nvGrpSpPr>
        <p:grpSpPr>
          <a:xfrm>
            <a:off x="5121424" y="4322327"/>
            <a:ext cx="2225239" cy="2017985"/>
            <a:chOff x="7469891" y="3894084"/>
            <a:chExt cx="2225239" cy="2017985"/>
          </a:xfrm>
        </p:grpSpPr>
        <p:sp>
          <p:nvSpPr>
            <p:cNvPr id="21" name="矩形 20"/>
            <p:cNvSpPr>
              <a:spLocks noChangeAspect="1"/>
            </p:cNvSpPr>
            <p:nvPr/>
          </p:nvSpPr>
          <p:spPr>
            <a:xfrm>
              <a:off x="7469891" y="3894084"/>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橢圓 41"/>
            <p:cNvSpPr/>
            <p:nvPr/>
          </p:nvSpPr>
          <p:spPr>
            <a:xfrm>
              <a:off x="7650058" y="4534585"/>
              <a:ext cx="343038" cy="315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42"/>
            <p:cNvSpPr/>
            <p:nvPr/>
          </p:nvSpPr>
          <p:spPr>
            <a:xfrm>
              <a:off x="9021658" y="5026130"/>
              <a:ext cx="343038" cy="315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5" name="直線接點 44"/>
            <p:cNvCxnSpPr>
              <a:stCxn id="42" idx="5"/>
              <a:endCxn id="43" idx="1"/>
            </p:cNvCxnSpPr>
            <p:nvPr/>
          </p:nvCxnSpPr>
          <p:spPr>
            <a:xfrm>
              <a:off x="7942859" y="4803722"/>
              <a:ext cx="1129036" cy="26858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0" name="群組 49"/>
          <p:cNvGrpSpPr/>
          <p:nvPr/>
        </p:nvGrpSpPr>
        <p:grpSpPr>
          <a:xfrm>
            <a:off x="3885004" y="4322327"/>
            <a:ext cx="2226575" cy="2018027"/>
            <a:chOff x="2756001" y="3908489"/>
            <a:chExt cx="2226575" cy="2018027"/>
          </a:xfrm>
        </p:grpSpPr>
        <p:grpSp>
          <p:nvGrpSpPr>
            <p:cNvPr id="51" name="群組 50"/>
            <p:cNvGrpSpPr/>
            <p:nvPr/>
          </p:nvGrpSpPr>
          <p:grpSpPr>
            <a:xfrm>
              <a:off x="2756002" y="3908490"/>
              <a:ext cx="2225239" cy="2017985"/>
              <a:chOff x="378363" y="3887906"/>
              <a:chExt cx="2225239" cy="2017985"/>
            </a:xfrm>
          </p:grpSpPr>
          <p:sp>
            <p:nvSpPr>
              <p:cNvPr id="67" name="矩形 66"/>
              <p:cNvSpPr>
                <a:spLocks noChangeAspect="1"/>
              </p:cNvSpPr>
              <p:nvPr/>
            </p:nvSpPr>
            <p:spPr>
              <a:xfrm>
                <a:off x="378363" y="3887906"/>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橢圓 67"/>
              <p:cNvSpPr/>
              <p:nvPr/>
            </p:nvSpPr>
            <p:spPr>
              <a:xfrm>
                <a:off x="599090" y="5407569"/>
                <a:ext cx="343038" cy="3153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橢圓 68"/>
              <p:cNvSpPr/>
              <p:nvPr/>
            </p:nvSpPr>
            <p:spPr>
              <a:xfrm>
                <a:off x="1839311" y="4240924"/>
                <a:ext cx="343038" cy="3153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0" name="直線接點 69"/>
              <p:cNvCxnSpPr>
                <a:stCxn id="69" idx="3"/>
                <a:endCxn id="68" idx="7"/>
              </p:cNvCxnSpPr>
              <p:nvPr/>
            </p:nvCxnSpPr>
            <p:spPr>
              <a:xfrm flipH="1">
                <a:off x="891891" y="4510061"/>
                <a:ext cx="997657" cy="943685"/>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52" name="群組 51"/>
            <p:cNvGrpSpPr/>
            <p:nvPr/>
          </p:nvGrpSpPr>
          <p:grpSpPr>
            <a:xfrm>
              <a:off x="2757336" y="3908531"/>
              <a:ext cx="2225239" cy="2017985"/>
              <a:chOff x="2757336" y="3895831"/>
              <a:chExt cx="2225239" cy="2017985"/>
            </a:xfrm>
          </p:grpSpPr>
          <p:sp>
            <p:nvSpPr>
              <p:cNvPr id="63" name="矩形 62"/>
              <p:cNvSpPr>
                <a:spLocks noChangeAspect="1"/>
              </p:cNvSpPr>
              <p:nvPr/>
            </p:nvSpPr>
            <p:spPr>
              <a:xfrm>
                <a:off x="2757336" y="3895831"/>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橢圓 63"/>
              <p:cNvSpPr/>
              <p:nvPr/>
            </p:nvSpPr>
            <p:spPr>
              <a:xfrm>
                <a:off x="2986690" y="5070358"/>
                <a:ext cx="343038" cy="31531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橢圓 64"/>
              <p:cNvSpPr/>
              <p:nvPr/>
            </p:nvSpPr>
            <p:spPr>
              <a:xfrm>
                <a:off x="4320190" y="4666589"/>
                <a:ext cx="343038" cy="31531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6" name="直線接點 65"/>
              <p:cNvCxnSpPr>
                <a:stCxn id="65" idx="2"/>
                <a:endCxn id="64" idx="6"/>
              </p:cNvCxnSpPr>
              <p:nvPr/>
            </p:nvCxnSpPr>
            <p:spPr>
              <a:xfrm flipH="1">
                <a:off x="3329728" y="4824246"/>
                <a:ext cx="990462" cy="403769"/>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53" name="群組 52"/>
            <p:cNvGrpSpPr/>
            <p:nvPr/>
          </p:nvGrpSpPr>
          <p:grpSpPr>
            <a:xfrm>
              <a:off x="2756001" y="3908530"/>
              <a:ext cx="2225239" cy="2017985"/>
              <a:chOff x="5117191" y="3895830"/>
              <a:chExt cx="2225239" cy="2017985"/>
            </a:xfrm>
          </p:grpSpPr>
          <p:sp>
            <p:nvSpPr>
              <p:cNvPr id="59" name="矩形 58"/>
              <p:cNvSpPr>
                <a:spLocks noChangeAspect="1"/>
              </p:cNvSpPr>
              <p:nvPr/>
            </p:nvSpPr>
            <p:spPr>
              <a:xfrm>
                <a:off x="5117191" y="3895830"/>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橢圓 59"/>
              <p:cNvSpPr/>
              <p:nvPr/>
            </p:nvSpPr>
            <p:spPr>
              <a:xfrm>
                <a:off x="5173558" y="4083267"/>
                <a:ext cx="343038" cy="31531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橢圓 60"/>
              <p:cNvSpPr/>
              <p:nvPr/>
            </p:nvSpPr>
            <p:spPr>
              <a:xfrm>
                <a:off x="6231147" y="5453746"/>
                <a:ext cx="343038" cy="31531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2" name="直線接點 61"/>
              <p:cNvCxnSpPr>
                <a:stCxn id="60" idx="5"/>
                <a:endCxn id="61" idx="1"/>
              </p:cNvCxnSpPr>
              <p:nvPr/>
            </p:nvCxnSpPr>
            <p:spPr>
              <a:xfrm>
                <a:off x="5466359" y="4352404"/>
                <a:ext cx="815025" cy="1147519"/>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54" name="群組 53"/>
            <p:cNvGrpSpPr/>
            <p:nvPr/>
          </p:nvGrpSpPr>
          <p:grpSpPr>
            <a:xfrm>
              <a:off x="2757337" y="3908489"/>
              <a:ext cx="2225239" cy="2017985"/>
              <a:chOff x="7469890" y="3885403"/>
              <a:chExt cx="2225239" cy="2017985"/>
            </a:xfrm>
          </p:grpSpPr>
          <p:sp>
            <p:nvSpPr>
              <p:cNvPr id="55" name="矩形 54"/>
              <p:cNvSpPr>
                <a:spLocks noChangeAspect="1"/>
              </p:cNvSpPr>
              <p:nvPr/>
            </p:nvSpPr>
            <p:spPr>
              <a:xfrm>
                <a:off x="7469890" y="3885403"/>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橢圓 55"/>
              <p:cNvSpPr/>
              <p:nvPr/>
            </p:nvSpPr>
            <p:spPr>
              <a:xfrm>
                <a:off x="7650058" y="4534585"/>
                <a:ext cx="343038" cy="315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橢圓 56"/>
              <p:cNvSpPr/>
              <p:nvPr/>
            </p:nvSpPr>
            <p:spPr>
              <a:xfrm>
                <a:off x="9021658" y="5026130"/>
                <a:ext cx="343038" cy="315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8" name="直線接點 57"/>
              <p:cNvCxnSpPr>
                <a:stCxn id="56" idx="5"/>
                <a:endCxn id="57" idx="1"/>
              </p:cNvCxnSpPr>
              <p:nvPr/>
            </p:nvCxnSpPr>
            <p:spPr>
              <a:xfrm>
                <a:off x="7942859" y="4803722"/>
                <a:ext cx="1129036" cy="26858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7" name="文字方塊 6"/>
          <p:cNvSpPr txBox="1"/>
          <p:nvPr/>
        </p:nvSpPr>
        <p:spPr>
          <a:xfrm>
            <a:off x="1457062" y="3870162"/>
            <a:ext cx="325730" cy="461665"/>
          </a:xfrm>
          <a:prstGeom prst="rect">
            <a:avLst/>
          </a:prstGeom>
          <a:noFill/>
        </p:spPr>
        <p:txBody>
          <a:bodyPr wrap="none" rtlCol="0">
            <a:spAutoFit/>
          </a:bodyPr>
          <a:lstStyle/>
          <a:p>
            <a:r>
              <a:rPr lang="en-US" altLang="zh-TW" sz="2400" dirty="0">
                <a:solidFill>
                  <a:srgbClr val="00B0F0"/>
                </a:solidFill>
              </a:rPr>
              <a:t>S</a:t>
            </a:r>
            <a:endParaRPr lang="zh-TW" altLang="en-US" sz="2400" dirty="0">
              <a:solidFill>
                <a:srgbClr val="00B0F0"/>
              </a:solidFill>
            </a:endParaRPr>
          </a:p>
        </p:txBody>
      </p:sp>
      <p:sp>
        <p:nvSpPr>
          <p:cNvPr id="72" name="文字方塊 71"/>
          <p:cNvSpPr txBox="1"/>
          <p:nvPr/>
        </p:nvSpPr>
        <p:spPr>
          <a:xfrm>
            <a:off x="88185" y="5120485"/>
            <a:ext cx="325730" cy="461665"/>
          </a:xfrm>
          <a:prstGeom prst="rect">
            <a:avLst/>
          </a:prstGeom>
          <a:noFill/>
        </p:spPr>
        <p:txBody>
          <a:bodyPr wrap="none" rtlCol="0">
            <a:spAutoFit/>
          </a:bodyPr>
          <a:lstStyle/>
          <a:p>
            <a:r>
              <a:rPr lang="en-US" altLang="zh-TW" sz="2400" dirty="0">
                <a:solidFill>
                  <a:srgbClr val="00B0F0"/>
                </a:solidFill>
              </a:rPr>
              <a:t>S</a:t>
            </a:r>
            <a:endParaRPr lang="zh-TW" altLang="en-US" sz="2400" dirty="0">
              <a:solidFill>
                <a:srgbClr val="00B0F0"/>
              </a:solidFill>
            </a:endParaRPr>
          </a:p>
        </p:txBody>
      </p:sp>
    </p:spTree>
    <p:extLst>
      <p:ext uri="{BB962C8B-B14F-4D97-AF65-F5344CB8AC3E}">
        <p14:creationId xmlns:p14="http://schemas.microsoft.com/office/powerpoint/2010/main" val="120671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6"/>
                                        </p:tgtEl>
                                      </p:cBhvr>
                                    </p:animEffect>
                                    <p:set>
                                      <p:cBhvr>
                                        <p:cTn id="7" dur="1" fill="hold">
                                          <p:stCondLst>
                                            <p:cond delay="499"/>
                                          </p:stCondLst>
                                        </p:cTn>
                                        <p:tgtEl>
                                          <p:spTgt spid="46"/>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48"/>
                                        </p:tgtEl>
                                      </p:cBhvr>
                                    </p:animEffect>
                                    <p:set>
                                      <p:cBhvr>
                                        <p:cTn id="10" dur="1" fill="hold">
                                          <p:stCondLst>
                                            <p:cond delay="499"/>
                                          </p:stCondLst>
                                        </p:cTn>
                                        <p:tgtEl>
                                          <p:spTgt spid="48"/>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49"/>
                                        </p:tgtEl>
                                      </p:cBhvr>
                                    </p:animEffect>
                                    <p:set>
                                      <p:cBhvr>
                                        <p:cTn id="13" dur="1" fill="hold">
                                          <p:stCondLst>
                                            <p:cond delay="499"/>
                                          </p:stCondLst>
                                        </p:cTn>
                                        <p:tgtEl>
                                          <p:spTgt spid="4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47"/>
                                        </p:tgtEl>
                                      </p:cBhvr>
                                    </p:animEffect>
                                    <p:set>
                                      <p:cBhvr>
                                        <p:cTn id="16" dur="1" fill="hold">
                                          <p:stCondLst>
                                            <p:cond delay="499"/>
                                          </p:stCondLst>
                                        </p:cTn>
                                        <p:tgtEl>
                                          <p:spTgt spid="47"/>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72"/>
                                        </p:tgtEl>
                                      </p:cBhvr>
                                    </p:animEffect>
                                    <p:set>
                                      <p:cBhvr>
                                        <p:cTn id="19" dur="1" fill="hold">
                                          <p:stCondLst>
                                            <p:cond delay="499"/>
                                          </p:stCondLst>
                                        </p:cTn>
                                        <p:tgtEl>
                                          <p:spTgt spid="72"/>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群組 38"/>
          <p:cNvGrpSpPr/>
          <p:nvPr/>
        </p:nvGrpSpPr>
        <p:grpSpPr>
          <a:xfrm>
            <a:off x="7454835" y="3816355"/>
            <a:ext cx="2225239" cy="2033231"/>
            <a:chOff x="3105807" y="3679427"/>
            <a:chExt cx="3527005" cy="3125337"/>
          </a:xfrm>
        </p:grpSpPr>
        <p:sp>
          <p:nvSpPr>
            <p:cNvPr id="40" name="矩形 39"/>
            <p:cNvSpPr/>
            <p:nvPr/>
          </p:nvSpPr>
          <p:spPr>
            <a:xfrm>
              <a:off x="3105807" y="3689131"/>
              <a:ext cx="3515710" cy="31058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手繪多邊形 40"/>
            <p:cNvSpPr/>
            <p:nvPr/>
          </p:nvSpPr>
          <p:spPr>
            <a:xfrm>
              <a:off x="4176215" y="3679427"/>
              <a:ext cx="2456597" cy="3125337"/>
            </a:xfrm>
            <a:custGeom>
              <a:avLst/>
              <a:gdLst>
                <a:gd name="connsiteX0" fmla="*/ 2442949 w 2456597"/>
                <a:gd name="connsiteY0" fmla="*/ 859808 h 3125337"/>
                <a:gd name="connsiteX1" fmla="*/ 2456597 w 2456597"/>
                <a:gd name="connsiteY1" fmla="*/ 3125337 h 3125337"/>
                <a:gd name="connsiteX2" fmla="*/ 191069 w 2456597"/>
                <a:gd name="connsiteY2" fmla="*/ 3125337 h 3125337"/>
                <a:gd name="connsiteX3" fmla="*/ 0 w 2456597"/>
                <a:gd name="connsiteY3" fmla="*/ 2183641 h 3125337"/>
                <a:gd name="connsiteX4" fmla="*/ 1132764 w 2456597"/>
                <a:gd name="connsiteY4" fmla="*/ 1241946 h 3125337"/>
                <a:gd name="connsiteX5" fmla="*/ 1351128 w 2456597"/>
                <a:gd name="connsiteY5" fmla="*/ 0 h 3125337"/>
                <a:gd name="connsiteX6" fmla="*/ 2456597 w 2456597"/>
                <a:gd name="connsiteY6" fmla="*/ 13647 h 3125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6597" h="3125337">
                  <a:moveTo>
                    <a:pt x="2442949" y="859808"/>
                  </a:moveTo>
                  <a:cubicBezTo>
                    <a:pt x="2447498" y="1614984"/>
                    <a:pt x="2452048" y="2370161"/>
                    <a:pt x="2456597" y="3125337"/>
                  </a:cubicBezTo>
                  <a:lnTo>
                    <a:pt x="191069" y="3125337"/>
                  </a:lnTo>
                  <a:lnTo>
                    <a:pt x="0" y="2183641"/>
                  </a:lnTo>
                  <a:lnTo>
                    <a:pt x="1132764" y="1241946"/>
                  </a:lnTo>
                  <a:lnTo>
                    <a:pt x="1351128" y="0"/>
                  </a:lnTo>
                  <a:lnTo>
                    <a:pt x="2456597" y="13647"/>
                  </a:lnTo>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6" name="群組 35"/>
          <p:cNvGrpSpPr/>
          <p:nvPr/>
        </p:nvGrpSpPr>
        <p:grpSpPr>
          <a:xfrm>
            <a:off x="5121423" y="3812658"/>
            <a:ext cx="2225239" cy="2033231"/>
            <a:chOff x="3105807" y="3679427"/>
            <a:chExt cx="3527005" cy="3125337"/>
          </a:xfrm>
        </p:grpSpPr>
        <p:sp>
          <p:nvSpPr>
            <p:cNvPr id="37" name="矩形 36"/>
            <p:cNvSpPr/>
            <p:nvPr/>
          </p:nvSpPr>
          <p:spPr>
            <a:xfrm>
              <a:off x="3105807" y="3689131"/>
              <a:ext cx="3515710" cy="31058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手繪多邊形 37"/>
            <p:cNvSpPr/>
            <p:nvPr/>
          </p:nvSpPr>
          <p:spPr>
            <a:xfrm>
              <a:off x="4176215" y="3679427"/>
              <a:ext cx="2456597" cy="3125337"/>
            </a:xfrm>
            <a:custGeom>
              <a:avLst/>
              <a:gdLst>
                <a:gd name="connsiteX0" fmla="*/ 2442949 w 2456597"/>
                <a:gd name="connsiteY0" fmla="*/ 859808 h 3125337"/>
                <a:gd name="connsiteX1" fmla="*/ 2456597 w 2456597"/>
                <a:gd name="connsiteY1" fmla="*/ 3125337 h 3125337"/>
                <a:gd name="connsiteX2" fmla="*/ 191069 w 2456597"/>
                <a:gd name="connsiteY2" fmla="*/ 3125337 h 3125337"/>
                <a:gd name="connsiteX3" fmla="*/ 0 w 2456597"/>
                <a:gd name="connsiteY3" fmla="*/ 2183641 h 3125337"/>
                <a:gd name="connsiteX4" fmla="*/ 1132764 w 2456597"/>
                <a:gd name="connsiteY4" fmla="*/ 1241946 h 3125337"/>
                <a:gd name="connsiteX5" fmla="*/ 1351128 w 2456597"/>
                <a:gd name="connsiteY5" fmla="*/ 0 h 3125337"/>
                <a:gd name="connsiteX6" fmla="*/ 2456597 w 2456597"/>
                <a:gd name="connsiteY6" fmla="*/ 13647 h 3125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6597" h="3125337">
                  <a:moveTo>
                    <a:pt x="2442949" y="859808"/>
                  </a:moveTo>
                  <a:cubicBezTo>
                    <a:pt x="2447498" y="1614984"/>
                    <a:pt x="2452048" y="2370161"/>
                    <a:pt x="2456597" y="3125337"/>
                  </a:cubicBezTo>
                  <a:lnTo>
                    <a:pt x="191069" y="3125337"/>
                  </a:lnTo>
                  <a:lnTo>
                    <a:pt x="0" y="2183641"/>
                  </a:lnTo>
                  <a:lnTo>
                    <a:pt x="1132764" y="1241946"/>
                  </a:lnTo>
                  <a:lnTo>
                    <a:pt x="1351128" y="0"/>
                  </a:lnTo>
                  <a:lnTo>
                    <a:pt x="2456597" y="13647"/>
                  </a:lnTo>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3" name="群組 32"/>
          <p:cNvGrpSpPr/>
          <p:nvPr/>
        </p:nvGrpSpPr>
        <p:grpSpPr>
          <a:xfrm>
            <a:off x="2800786" y="3817891"/>
            <a:ext cx="2225239" cy="2033231"/>
            <a:chOff x="3105807" y="3684896"/>
            <a:chExt cx="3527005" cy="3125337"/>
          </a:xfrm>
        </p:grpSpPr>
        <p:sp>
          <p:nvSpPr>
            <p:cNvPr id="34" name="矩形 33"/>
            <p:cNvSpPr/>
            <p:nvPr/>
          </p:nvSpPr>
          <p:spPr>
            <a:xfrm>
              <a:off x="3105807" y="3689131"/>
              <a:ext cx="3515710" cy="31058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手繪多邊形 34"/>
            <p:cNvSpPr/>
            <p:nvPr/>
          </p:nvSpPr>
          <p:spPr>
            <a:xfrm>
              <a:off x="4176215" y="3684896"/>
              <a:ext cx="2456597" cy="3125337"/>
            </a:xfrm>
            <a:custGeom>
              <a:avLst/>
              <a:gdLst>
                <a:gd name="connsiteX0" fmla="*/ 2442949 w 2456597"/>
                <a:gd name="connsiteY0" fmla="*/ 859808 h 3125337"/>
                <a:gd name="connsiteX1" fmla="*/ 2456597 w 2456597"/>
                <a:gd name="connsiteY1" fmla="*/ 3125337 h 3125337"/>
                <a:gd name="connsiteX2" fmla="*/ 191069 w 2456597"/>
                <a:gd name="connsiteY2" fmla="*/ 3125337 h 3125337"/>
                <a:gd name="connsiteX3" fmla="*/ 0 w 2456597"/>
                <a:gd name="connsiteY3" fmla="*/ 2183641 h 3125337"/>
                <a:gd name="connsiteX4" fmla="*/ 1132764 w 2456597"/>
                <a:gd name="connsiteY4" fmla="*/ 1241946 h 3125337"/>
                <a:gd name="connsiteX5" fmla="*/ 1351128 w 2456597"/>
                <a:gd name="connsiteY5" fmla="*/ 0 h 3125337"/>
                <a:gd name="connsiteX6" fmla="*/ 2456597 w 2456597"/>
                <a:gd name="connsiteY6" fmla="*/ 13647 h 3125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6597" h="3125337">
                  <a:moveTo>
                    <a:pt x="2442949" y="859808"/>
                  </a:moveTo>
                  <a:cubicBezTo>
                    <a:pt x="2447498" y="1614984"/>
                    <a:pt x="2452048" y="2370161"/>
                    <a:pt x="2456597" y="3125337"/>
                  </a:cubicBezTo>
                  <a:lnTo>
                    <a:pt x="191069" y="3125337"/>
                  </a:lnTo>
                  <a:lnTo>
                    <a:pt x="0" y="2183641"/>
                  </a:lnTo>
                  <a:lnTo>
                    <a:pt x="1132764" y="1241946"/>
                  </a:lnTo>
                  <a:lnTo>
                    <a:pt x="1351128" y="0"/>
                  </a:lnTo>
                  <a:lnTo>
                    <a:pt x="2456597" y="13647"/>
                  </a:lnTo>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BRIEF(2/3)</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r>
              <a:rPr lang="en-US" altLang="zh-TW" sz="3000" dirty="0">
                <a:latin typeface="Cambria Math" panose="02040503050406030204" pitchFamily="18" charset="0"/>
                <a:ea typeface="Cambria Math" panose="02040503050406030204" pitchFamily="18" charset="0"/>
                <a:cs typeface="Ebrima" panose="02000000000000000000" pitchFamily="2" charset="0"/>
              </a:rPr>
              <a:t>Use the patch and pairs of points to scan key points, if p(x)&gt;p(y</a:t>
            </a:r>
            <a:r>
              <a:rPr lang="en-US" altLang="zh-TW" sz="3000" b="1" dirty="0">
                <a:latin typeface="Cambria Math" panose="02040503050406030204" pitchFamily="18" charset="0"/>
                <a:ea typeface="Cambria Math" panose="02040503050406030204" pitchFamily="18" charset="0"/>
                <a:cs typeface="Ebrima" panose="02000000000000000000" pitchFamily="2" charset="0"/>
              </a:rPr>
              <a:t>) then </a:t>
            </a:r>
            <a:r>
              <a:rPr lang="en-US" altLang="zh-TW" sz="3000" dirty="0">
                <a:latin typeface="Cambria Math" panose="02040503050406030204" pitchFamily="18" charset="0"/>
                <a:ea typeface="Cambria Math" panose="02040503050406030204" pitchFamily="18" charset="0"/>
                <a:cs typeface="Ebrima" panose="02000000000000000000" pitchFamily="2" charset="0"/>
              </a:rPr>
              <a:t>records 1, else records 0.</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6</a:t>
            </a:fld>
            <a:endParaRPr lang="zh-TW" altLang="en-US" dirty="0"/>
          </a:p>
        </p:txBody>
      </p:sp>
      <p:grpSp>
        <p:nvGrpSpPr>
          <p:cNvPr id="12" name="群組 11"/>
          <p:cNvGrpSpPr/>
          <p:nvPr/>
        </p:nvGrpSpPr>
        <p:grpSpPr>
          <a:xfrm>
            <a:off x="507308" y="3816217"/>
            <a:ext cx="2225239" cy="2033231"/>
            <a:chOff x="3105807" y="3684896"/>
            <a:chExt cx="3527005" cy="3125337"/>
          </a:xfrm>
        </p:grpSpPr>
        <p:sp>
          <p:nvSpPr>
            <p:cNvPr id="5" name="矩形 4"/>
            <p:cNvSpPr/>
            <p:nvPr/>
          </p:nvSpPr>
          <p:spPr>
            <a:xfrm>
              <a:off x="3105807" y="3689131"/>
              <a:ext cx="3515710" cy="310580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手繪多邊形 10"/>
            <p:cNvSpPr/>
            <p:nvPr/>
          </p:nvSpPr>
          <p:spPr>
            <a:xfrm>
              <a:off x="4176215" y="3684896"/>
              <a:ext cx="2456597" cy="3125337"/>
            </a:xfrm>
            <a:custGeom>
              <a:avLst/>
              <a:gdLst>
                <a:gd name="connsiteX0" fmla="*/ 2442949 w 2456597"/>
                <a:gd name="connsiteY0" fmla="*/ 859808 h 3125337"/>
                <a:gd name="connsiteX1" fmla="*/ 2456597 w 2456597"/>
                <a:gd name="connsiteY1" fmla="*/ 3125337 h 3125337"/>
                <a:gd name="connsiteX2" fmla="*/ 191069 w 2456597"/>
                <a:gd name="connsiteY2" fmla="*/ 3125337 h 3125337"/>
                <a:gd name="connsiteX3" fmla="*/ 0 w 2456597"/>
                <a:gd name="connsiteY3" fmla="*/ 2183641 h 3125337"/>
                <a:gd name="connsiteX4" fmla="*/ 1132764 w 2456597"/>
                <a:gd name="connsiteY4" fmla="*/ 1241946 h 3125337"/>
                <a:gd name="connsiteX5" fmla="*/ 1351128 w 2456597"/>
                <a:gd name="connsiteY5" fmla="*/ 0 h 3125337"/>
                <a:gd name="connsiteX6" fmla="*/ 2456597 w 2456597"/>
                <a:gd name="connsiteY6" fmla="*/ 13647 h 3125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6597" h="3125337">
                  <a:moveTo>
                    <a:pt x="2442949" y="859808"/>
                  </a:moveTo>
                  <a:cubicBezTo>
                    <a:pt x="2447498" y="1614984"/>
                    <a:pt x="2452048" y="2370161"/>
                    <a:pt x="2456597" y="3125337"/>
                  </a:cubicBezTo>
                  <a:lnTo>
                    <a:pt x="191069" y="3125337"/>
                  </a:lnTo>
                  <a:lnTo>
                    <a:pt x="0" y="2183641"/>
                  </a:lnTo>
                  <a:lnTo>
                    <a:pt x="1132764" y="1241946"/>
                  </a:lnTo>
                  <a:lnTo>
                    <a:pt x="1351128" y="0"/>
                  </a:lnTo>
                  <a:lnTo>
                    <a:pt x="2456597" y="13647"/>
                  </a:lnTo>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13" name="群組 12"/>
          <p:cNvGrpSpPr/>
          <p:nvPr/>
        </p:nvGrpSpPr>
        <p:grpSpPr>
          <a:xfrm>
            <a:off x="507308" y="3817815"/>
            <a:ext cx="2225239" cy="2017985"/>
            <a:chOff x="378363" y="3894084"/>
            <a:chExt cx="2225239" cy="2017985"/>
          </a:xfrm>
        </p:grpSpPr>
        <p:sp>
          <p:nvSpPr>
            <p:cNvPr id="14" name="矩形 13"/>
            <p:cNvSpPr>
              <a:spLocks noChangeAspect="1"/>
            </p:cNvSpPr>
            <p:nvPr/>
          </p:nvSpPr>
          <p:spPr>
            <a:xfrm>
              <a:off x="378363" y="3894084"/>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599090" y="5407569"/>
              <a:ext cx="343038" cy="3153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1839311" y="4240924"/>
              <a:ext cx="343038" cy="3153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直線接點 16"/>
            <p:cNvCxnSpPr>
              <a:stCxn id="16" idx="3"/>
              <a:endCxn id="15" idx="7"/>
            </p:cNvCxnSpPr>
            <p:nvPr/>
          </p:nvCxnSpPr>
          <p:spPr>
            <a:xfrm flipH="1">
              <a:off x="891891" y="4510061"/>
              <a:ext cx="997657" cy="943685"/>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8" name="群組 17"/>
          <p:cNvGrpSpPr/>
          <p:nvPr/>
        </p:nvGrpSpPr>
        <p:grpSpPr>
          <a:xfrm>
            <a:off x="7454835" y="3817814"/>
            <a:ext cx="2225239" cy="2017985"/>
            <a:chOff x="2756002" y="3894084"/>
            <a:chExt cx="2225239" cy="2017985"/>
          </a:xfrm>
        </p:grpSpPr>
        <p:sp>
          <p:nvSpPr>
            <p:cNvPr id="19" name="矩形 18"/>
            <p:cNvSpPr>
              <a:spLocks noChangeAspect="1"/>
            </p:cNvSpPr>
            <p:nvPr/>
          </p:nvSpPr>
          <p:spPr>
            <a:xfrm>
              <a:off x="2756002" y="3894084"/>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2986690" y="5070358"/>
              <a:ext cx="343038" cy="31531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p:cNvSpPr/>
            <p:nvPr/>
          </p:nvSpPr>
          <p:spPr>
            <a:xfrm>
              <a:off x="4320190" y="4666589"/>
              <a:ext cx="343038" cy="31531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 name="直線接點 21"/>
            <p:cNvCxnSpPr>
              <a:stCxn id="21" idx="2"/>
              <a:endCxn id="20" idx="6"/>
            </p:cNvCxnSpPr>
            <p:nvPr/>
          </p:nvCxnSpPr>
          <p:spPr>
            <a:xfrm flipH="1">
              <a:off x="3329728" y="4824246"/>
              <a:ext cx="990462" cy="403769"/>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23" name="群組 22"/>
          <p:cNvGrpSpPr/>
          <p:nvPr/>
        </p:nvGrpSpPr>
        <p:grpSpPr>
          <a:xfrm>
            <a:off x="2800786" y="3817815"/>
            <a:ext cx="2225239" cy="2017985"/>
            <a:chOff x="5118528" y="3894085"/>
            <a:chExt cx="2225239" cy="2017985"/>
          </a:xfrm>
        </p:grpSpPr>
        <p:sp>
          <p:nvSpPr>
            <p:cNvPr id="24" name="矩形 23"/>
            <p:cNvSpPr>
              <a:spLocks noChangeAspect="1"/>
            </p:cNvSpPr>
            <p:nvPr/>
          </p:nvSpPr>
          <p:spPr>
            <a:xfrm>
              <a:off x="5118528" y="3894085"/>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p:nvSpPr>
          <p:spPr>
            <a:xfrm>
              <a:off x="5173558" y="4083267"/>
              <a:ext cx="343038" cy="31531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6231147" y="5453746"/>
              <a:ext cx="343038" cy="31531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接點 26"/>
            <p:cNvCxnSpPr>
              <a:stCxn id="25" idx="5"/>
              <a:endCxn id="26" idx="1"/>
            </p:cNvCxnSpPr>
            <p:nvPr/>
          </p:nvCxnSpPr>
          <p:spPr>
            <a:xfrm>
              <a:off x="5466359" y="4352404"/>
              <a:ext cx="815025" cy="1147519"/>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8" name="群組 27"/>
          <p:cNvGrpSpPr/>
          <p:nvPr/>
        </p:nvGrpSpPr>
        <p:grpSpPr>
          <a:xfrm>
            <a:off x="5121424" y="3817815"/>
            <a:ext cx="2225239" cy="2017985"/>
            <a:chOff x="7469891" y="3894084"/>
            <a:chExt cx="2225239" cy="2017985"/>
          </a:xfrm>
        </p:grpSpPr>
        <p:sp>
          <p:nvSpPr>
            <p:cNvPr id="29" name="矩形 28"/>
            <p:cNvSpPr>
              <a:spLocks noChangeAspect="1"/>
            </p:cNvSpPr>
            <p:nvPr/>
          </p:nvSpPr>
          <p:spPr>
            <a:xfrm>
              <a:off x="7469891" y="3894084"/>
              <a:ext cx="2225239" cy="2017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7650058" y="4534585"/>
              <a:ext cx="343038" cy="315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9021658" y="5026130"/>
              <a:ext cx="343038" cy="315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2" name="直線接點 31"/>
            <p:cNvCxnSpPr>
              <a:stCxn id="30" idx="5"/>
              <a:endCxn id="31" idx="1"/>
            </p:cNvCxnSpPr>
            <p:nvPr/>
          </p:nvCxnSpPr>
          <p:spPr>
            <a:xfrm>
              <a:off x="7942859" y="4803722"/>
              <a:ext cx="1129036" cy="26858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2" name="文字方塊 41"/>
          <p:cNvSpPr txBox="1"/>
          <p:nvPr/>
        </p:nvSpPr>
        <p:spPr>
          <a:xfrm>
            <a:off x="1423399" y="5958287"/>
            <a:ext cx="393056" cy="584775"/>
          </a:xfrm>
          <a:prstGeom prst="rect">
            <a:avLst/>
          </a:prstGeom>
          <a:noFill/>
        </p:spPr>
        <p:txBody>
          <a:bodyPr wrap="none" rtlCol="0">
            <a:spAutoFit/>
          </a:bodyPr>
          <a:lstStyle/>
          <a:p>
            <a:r>
              <a:rPr lang="en-US" altLang="zh-TW" sz="3200" dirty="0">
                <a:solidFill>
                  <a:srgbClr val="FF0000"/>
                </a:solidFill>
              </a:rPr>
              <a:t>0</a:t>
            </a:r>
            <a:endParaRPr lang="zh-TW" altLang="en-US" sz="3200" dirty="0">
              <a:solidFill>
                <a:srgbClr val="FF0000"/>
              </a:solidFill>
            </a:endParaRPr>
          </a:p>
        </p:txBody>
      </p:sp>
      <p:sp>
        <p:nvSpPr>
          <p:cNvPr id="43" name="文字方塊 42"/>
          <p:cNvSpPr txBox="1"/>
          <p:nvPr/>
        </p:nvSpPr>
        <p:spPr>
          <a:xfrm>
            <a:off x="3716877" y="5958286"/>
            <a:ext cx="393056" cy="584775"/>
          </a:xfrm>
          <a:prstGeom prst="rect">
            <a:avLst/>
          </a:prstGeom>
          <a:noFill/>
        </p:spPr>
        <p:txBody>
          <a:bodyPr wrap="none" rtlCol="0">
            <a:spAutoFit/>
          </a:bodyPr>
          <a:lstStyle/>
          <a:p>
            <a:r>
              <a:rPr lang="en-US" altLang="zh-TW" sz="3200" dirty="0">
                <a:solidFill>
                  <a:srgbClr val="FF0000"/>
                </a:solidFill>
              </a:rPr>
              <a:t>0</a:t>
            </a:r>
            <a:endParaRPr lang="zh-TW" altLang="en-US" sz="3200" dirty="0">
              <a:solidFill>
                <a:srgbClr val="FF0000"/>
              </a:solidFill>
            </a:endParaRPr>
          </a:p>
        </p:txBody>
      </p:sp>
      <p:sp>
        <p:nvSpPr>
          <p:cNvPr id="44" name="文字方塊 43"/>
          <p:cNvSpPr txBox="1"/>
          <p:nvPr/>
        </p:nvSpPr>
        <p:spPr>
          <a:xfrm>
            <a:off x="5962382" y="5958285"/>
            <a:ext cx="393056" cy="584775"/>
          </a:xfrm>
          <a:prstGeom prst="rect">
            <a:avLst/>
          </a:prstGeom>
          <a:noFill/>
        </p:spPr>
        <p:txBody>
          <a:bodyPr wrap="none" rtlCol="0">
            <a:spAutoFit/>
          </a:bodyPr>
          <a:lstStyle/>
          <a:p>
            <a:r>
              <a:rPr lang="en-US" altLang="zh-TW" sz="3200" dirty="0">
                <a:solidFill>
                  <a:srgbClr val="FF0000"/>
                </a:solidFill>
              </a:rPr>
              <a:t>0</a:t>
            </a:r>
            <a:endParaRPr lang="zh-TW" altLang="en-US" sz="3200" dirty="0">
              <a:solidFill>
                <a:srgbClr val="FF0000"/>
              </a:solidFill>
            </a:endParaRPr>
          </a:p>
        </p:txBody>
      </p:sp>
      <p:sp>
        <p:nvSpPr>
          <p:cNvPr id="45" name="文字方塊 44"/>
          <p:cNvSpPr txBox="1"/>
          <p:nvPr/>
        </p:nvSpPr>
        <p:spPr>
          <a:xfrm>
            <a:off x="8370926" y="5958284"/>
            <a:ext cx="393056" cy="584775"/>
          </a:xfrm>
          <a:prstGeom prst="rect">
            <a:avLst/>
          </a:prstGeom>
          <a:noFill/>
        </p:spPr>
        <p:txBody>
          <a:bodyPr wrap="none" rtlCol="0">
            <a:spAutoFit/>
          </a:bodyPr>
          <a:lstStyle/>
          <a:p>
            <a:r>
              <a:rPr lang="en-US" altLang="zh-TW" sz="3200" dirty="0">
                <a:solidFill>
                  <a:srgbClr val="FF0000"/>
                </a:solidFill>
              </a:rPr>
              <a:t>0</a:t>
            </a:r>
            <a:endParaRPr lang="zh-TW" altLang="en-US" sz="3200" dirty="0">
              <a:solidFill>
                <a:srgbClr val="FF0000"/>
              </a:solidFill>
            </a:endParaRPr>
          </a:p>
        </p:txBody>
      </p:sp>
      <p:sp>
        <p:nvSpPr>
          <p:cNvPr id="6" name="文字方塊 5"/>
          <p:cNvSpPr txBox="1"/>
          <p:nvPr/>
        </p:nvSpPr>
        <p:spPr>
          <a:xfrm>
            <a:off x="716720" y="4815130"/>
            <a:ext cx="362600" cy="584775"/>
          </a:xfrm>
          <a:prstGeom prst="rect">
            <a:avLst/>
          </a:prstGeom>
          <a:noFill/>
        </p:spPr>
        <p:txBody>
          <a:bodyPr wrap="none" rtlCol="0">
            <a:spAutoFit/>
          </a:bodyPr>
          <a:lstStyle/>
          <a:p>
            <a:r>
              <a:rPr lang="en-US" altLang="zh-TW" sz="3200" dirty="0">
                <a:solidFill>
                  <a:srgbClr val="FF0000"/>
                </a:solidFill>
              </a:rPr>
              <a:t>x</a:t>
            </a:r>
            <a:endParaRPr lang="zh-TW" altLang="en-US" sz="3200" dirty="0">
              <a:solidFill>
                <a:srgbClr val="FF0000"/>
              </a:solidFill>
            </a:endParaRPr>
          </a:p>
        </p:txBody>
      </p:sp>
      <p:sp>
        <p:nvSpPr>
          <p:cNvPr id="7" name="文字方塊 6"/>
          <p:cNvSpPr txBox="1"/>
          <p:nvPr/>
        </p:nvSpPr>
        <p:spPr>
          <a:xfrm>
            <a:off x="1957595" y="3579081"/>
            <a:ext cx="370614" cy="584775"/>
          </a:xfrm>
          <a:prstGeom prst="rect">
            <a:avLst/>
          </a:prstGeom>
          <a:noFill/>
        </p:spPr>
        <p:txBody>
          <a:bodyPr wrap="none" rtlCol="0">
            <a:spAutoFit/>
          </a:bodyPr>
          <a:lstStyle/>
          <a:p>
            <a:r>
              <a:rPr lang="en-US" altLang="zh-TW" sz="3200" dirty="0">
                <a:solidFill>
                  <a:srgbClr val="FF0000"/>
                </a:solidFill>
              </a:rPr>
              <a:t>y</a:t>
            </a:r>
            <a:endParaRPr lang="zh-TW" altLang="en-US" sz="3200" dirty="0">
              <a:solidFill>
                <a:srgbClr val="FF0000"/>
              </a:solidFill>
            </a:endParaRPr>
          </a:p>
        </p:txBody>
      </p:sp>
    </p:spTree>
    <p:extLst>
      <p:ext uri="{BB962C8B-B14F-4D97-AF65-F5344CB8AC3E}">
        <p14:creationId xmlns:p14="http://schemas.microsoft.com/office/powerpoint/2010/main" val="840867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BRIEF(3/3)</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r>
              <a:rPr lang="en-US" altLang="zh-TW" sz="3000" dirty="0">
                <a:latin typeface="Cambria Math" panose="02040503050406030204" pitchFamily="18" charset="0"/>
                <a:ea typeface="Cambria Math" panose="02040503050406030204" pitchFamily="18" charset="0"/>
                <a:cs typeface="Ebrima" panose="02000000000000000000" pitchFamily="2" charset="0"/>
              </a:rPr>
              <a:t>When every key points have a bit string, then they can use XOR to match each others.</a:t>
            </a:r>
          </a:p>
          <a:p>
            <a:pPr algn="ctr"/>
            <a:r>
              <a:rPr lang="en-US" altLang="zh-TW" sz="3000" dirty="0">
                <a:latin typeface="Cambria Math" panose="02040503050406030204" pitchFamily="18" charset="0"/>
                <a:ea typeface="Cambria Math" panose="02040503050406030204" pitchFamily="18" charset="0"/>
                <a:cs typeface="Ebrima" panose="02000000000000000000" pitchFamily="2" charset="0"/>
              </a:rPr>
              <a:t>	A	=10010</a:t>
            </a:r>
          </a:p>
          <a:p>
            <a:pPr algn="ctr"/>
            <a:r>
              <a:rPr lang="en-US" altLang="zh-TW" sz="3000" dirty="0">
                <a:latin typeface="Cambria Math" panose="02040503050406030204" pitchFamily="18" charset="0"/>
                <a:ea typeface="Cambria Math" panose="02040503050406030204" pitchFamily="18" charset="0"/>
                <a:cs typeface="Ebrima" panose="02000000000000000000" pitchFamily="2" charset="0"/>
              </a:rPr>
              <a:t>	B	=11101</a:t>
            </a:r>
          </a:p>
          <a:p>
            <a:pPr algn="ctr"/>
            <a:r>
              <a:rPr lang="en-US" altLang="zh-TW" sz="3000" dirty="0">
                <a:latin typeface="Cambria Math" panose="02040503050406030204" pitchFamily="18" charset="0"/>
                <a:ea typeface="Cambria Math" panose="02040503050406030204" pitchFamily="18" charset="0"/>
                <a:cs typeface="Ebrima" panose="02000000000000000000" pitchFamily="2" charset="0"/>
              </a:rPr>
              <a:t>XOR(A, B)	=01111</a:t>
            </a:r>
          </a:p>
          <a:p>
            <a:r>
              <a:rPr lang="en-US" altLang="zh-TW" sz="3000" dirty="0">
                <a:latin typeface="Cambria Math" panose="02040503050406030204" pitchFamily="18" charset="0"/>
                <a:ea typeface="Cambria Math" panose="02040503050406030204" pitchFamily="18" charset="0"/>
                <a:cs typeface="Ebrima" panose="02000000000000000000" pitchFamily="2" charset="0"/>
              </a:rPr>
              <a:t>Hamming Distance=4, if the larger the number, they are more and more different.</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7</a:t>
            </a:fld>
            <a:endParaRPr lang="zh-TW" altLang="en-US" dirty="0"/>
          </a:p>
        </p:txBody>
      </p:sp>
    </p:spTree>
    <p:extLst>
      <p:ext uri="{BB962C8B-B14F-4D97-AF65-F5344CB8AC3E}">
        <p14:creationId xmlns:p14="http://schemas.microsoft.com/office/powerpoint/2010/main" val="684931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Pairs of points(1/2)</a:t>
            </a:r>
            <a:endParaRPr lang="zh-TW" altLang="en-US" dirty="0">
              <a:latin typeface="Ebrima" panose="02000000000000000000" pitchFamily="2" charset="0"/>
              <a:cs typeface="Ebrima" panose="02000000000000000000" pitchFamily="2"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sz="3000" b="1" dirty="0">
                    <a:latin typeface="Cambria Math" panose="02040503050406030204" pitchFamily="18" charset="0"/>
                    <a:ea typeface="Cambria Math" panose="02040503050406030204" pitchFamily="18" charset="0"/>
                    <a:cs typeface="Ebrima" panose="02000000000000000000" pitchFamily="2" charset="0"/>
                  </a:rPr>
                  <a:t>How to generate a pair?</a:t>
                </a:r>
              </a:p>
              <a:p>
                <a:pPr marL="514350" indent="-514350">
                  <a:buFont typeface="+mj-lt"/>
                  <a:buAutoNum type="arabicParenR"/>
                </a:pPr>
                <a:r>
                  <a:rPr lang="en-US" altLang="zh-TW" sz="2800" dirty="0">
                    <a:latin typeface="Cambria Math" panose="02040503050406030204" pitchFamily="18" charset="0"/>
                    <a:ea typeface="Cambria Math" panose="02040503050406030204" pitchFamily="18" charset="0"/>
                    <a:cs typeface="Ebrima" panose="02000000000000000000" pitchFamily="2" charset="0"/>
                  </a:rPr>
                  <a:t>(X, Y) ~ </a:t>
                </a:r>
                <a:r>
                  <a:rPr lang="en-US" altLang="zh-TW" sz="2800" dirty="0" err="1">
                    <a:latin typeface="Cambria Math" panose="02040503050406030204" pitchFamily="18" charset="0"/>
                    <a:ea typeface="Cambria Math" panose="02040503050406030204" pitchFamily="18" charset="0"/>
                    <a:cs typeface="Ebrima" panose="02000000000000000000" pitchFamily="2" charset="0"/>
                  </a:rPr>
                  <a:t>i.i.d</a:t>
                </a:r>
                <a:r>
                  <a:rPr lang="en-US" altLang="zh-TW" sz="2800" dirty="0">
                    <a:latin typeface="Cambria Math" panose="02040503050406030204" pitchFamily="18" charset="0"/>
                    <a:ea typeface="Cambria Math" panose="02040503050406030204" pitchFamily="18" charset="0"/>
                    <a:cs typeface="Ebrima" panose="02000000000000000000" pitchFamily="2" charset="0"/>
                  </a:rPr>
                  <a:t>. Uniform(</a:t>
                </a:r>
                <a14:m>
                  <m:oMath xmlns:m="http://schemas.openxmlformats.org/officeDocument/2006/math">
                    <m:r>
                      <a:rPr lang="en-US" altLang="zh-TW" sz="2800" b="0" i="0" smtClean="0">
                        <a:latin typeface="Cambria Math"/>
                        <a:ea typeface="Cambria Math" panose="02040503050406030204" pitchFamily="18" charset="0"/>
                        <a:cs typeface="Ebrima" panose="02000000000000000000" pitchFamily="2" charset="0"/>
                      </a:rPr>
                      <m:t>−</m:t>
                    </m:r>
                    <m:f>
                      <m:fPr>
                        <m:ctrlPr>
                          <a:rPr lang="en-US" altLang="zh-TW" sz="2800" i="1" smtClean="0">
                            <a:latin typeface="Cambria Math" panose="02040503050406030204" pitchFamily="18" charset="0"/>
                            <a:ea typeface="Cambria Math" panose="02040503050406030204" pitchFamily="18" charset="0"/>
                            <a:cs typeface="Ebrima" panose="02000000000000000000" pitchFamily="2" charset="0"/>
                          </a:rPr>
                        </m:ctrlPr>
                      </m:fPr>
                      <m:num>
                        <m:r>
                          <a:rPr lang="en-US" altLang="zh-TW" sz="2800" b="0" i="1" smtClean="0">
                            <a:latin typeface="Cambria Math"/>
                            <a:ea typeface="Cambria Math" panose="02040503050406030204" pitchFamily="18" charset="0"/>
                            <a:cs typeface="Ebrima" panose="02000000000000000000" pitchFamily="2" charset="0"/>
                          </a:rPr>
                          <m:t>𝑆</m:t>
                        </m:r>
                      </m:num>
                      <m:den>
                        <m:r>
                          <a:rPr lang="en-US" altLang="zh-TW" sz="2800" b="0" i="1" smtClean="0">
                            <a:latin typeface="Cambria Math"/>
                            <a:ea typeface="Cambria Math" panose="02040503050406030204" pitchFamily="18" charset="0"/>
                            <a:cs typeface="Ebrima" panose="02000000000000000000" pitchFamily="2" charset="0"/>
                          </a:rPr>
                          <m:t>2</m:t>
                        </m:r>
                      </m:den>
                    </m:f>
                    <m:r>
                      <a:rPr lang="en-US" altLang="zh-TW" sz="2800" b="0" i="1" smtClean="0">
                        <a:latin typeface="Cambria Math"/>
                        <a:ea typeface="Cambria Math" panose="02040503050406030204" pitchFamily="18" charset="0"/>
                        <a:cs typeface="Ebrima" panose="02000000000000000000" pitchFamily="2" charset="0"/>
                      </a:rPr>
                      <m:t>, </m:t>
                    </m:r>
                    <m:f>
                      <m:fPr>
                        <m:ctrlPr>
                          <a:rPr lang="en-US" altLang="zh-TW" sz="2800" b="0" i="1" smtClean="0">
                            <a:latin typeface="Cambria Math" panose="02040503050406030204" pitchFamily="18" charset="0"/>
                            <a:ea typeface="Cambria Math" panose="02040503050406030204" pitchFamily="18" charset="0"/>
                            <a:cs typeface="Ebrima" panose="02000000000000000000" pitchFamily="2" charset="0"/>
                          </a:rPr>
                        </m:ctrlPr>
                      </m:fPr>
                      <m:num>
                        <m:r>
                          <a:rPr lang="en-US" altLang="zh-TW" sz="2800" b="0" i="1" smtClean="0">
                            <a:latin typeface="Cambria Math"/>
                            <a:ea typeface="Cambria Math" panose="02040503050406030204" pitchFamily="18" charset="0"/>
                            <a:cs typeface="Ebrima" panose="02000000000000000000" pitchFamily="2" charset="0"/>
                          </a:rPr>
                          <m:t>𝑆</m:t>
                        </m:r>
                      </m:num>
                      <m:den>
                        <m:r>
                          <a:rPr lang="en-US" altLang="zh-TW" sz="2800" b="0" i="1" smtClean="0">
                            <a:latin typeface="Cambria Math"/>
                            <a:ea typeface="Cambria Math" panose="02040503050406030204" pitchFamily="18" charset="0"/>
                            <a:cs typeface="Ebrima" panose="02000000000000000000" pitchFamily="2" charset="0"/>
                          </a:rPr>
                          <m:t>2</m:t>
                        </m:r>
                      </m:den>
                    </m:f>
                  </m:oMath>
                </a14:m>
                <a:r>
                  <a:rPr lang="en-US" altLang="zh-TW" sz="2800" dirty="0">
                    <a:latin typeface="Cambria Math" panose="02040503050406030204" pitchFamily="18" charset="0"/>
                    <a:ea typeface="Cambria Math" panose="02040503050406030204" pitchFamily="18" charset="0"/>
                    <a:cs typeface="Ebrima" panose="02000000000000000000" pitchFamily="2" charset="0"/>
                  </a:rPr>
                  <a:t>)</a:t>
                </a:r>
              </a:p>
              <a:p>
                <a:pPr marL="514350" indent="-514350">
                  <a:buFont typeface="+mj-lt"/>
                  <a:buAutoNum type="arabicParenR"/>
                </a:pPr>
                <a:r>
                  <a:rPr lang="en-US" altLang="zh-TW" sz="2800" dirty="0">
                    <a:latin typeface="Cambria Math" panose="02040503050406030204" pitchFamily="18" charset="0"/>
                    <a:ea typeface="Cambria Math" panose="02040503050406030204" pitchFamily="18" charset="0"/>
                    <a:cs typeface="Ebrima" panose="02000000000000000000" pitchFamily="2" charset="0"/>
                  </a:rPr>
                  <a:t>(X, Y) ~ </a:t>
                </a:r>
                <a:r>
                  <a:rPr lang="en-US" altLang="zh-TW" sz="2800" dirty="0" err="1">
                    <a:latin typeface="Cambria Math" panose="02040503050406030204" pitchFamily="18" charset="0"/>
                    <a:ea typeface="Cambria Math" panose="02040503050406030204" pitchFamily="18" charset="0"/>
                    <a:cs typeface="Ebrima" panose="02000000000000000000" pitchFamily="2" charset="0"/>
                  </a:rPr>
                  <a:t>i.i.d</a:t>
                </a:r>
                <a:r>
                  <a:rPr lang="en-US" altLang="zh-TW" sz="2800" dirty="0">
                    <a:latin typeface="Cambria Math" panose="02040503050406030204" pitchFamily="18" charset="0"/>
                    <a:ea typeface="Cambria Math" panose="02040503050406030204" pitchFamily="18" charset="0"/>
                    <a:cs typeface="Ebrima" panose="02000000000000000000" pitchFamily="2" charset="0"/>
                  </a:rPr>
                  <a:t>. Gaussian(0, </a:t>
                </a:r>
                <a14:m>
                  <m:oMath xmlns:m="http://schemas.openxmlformats.org/officeDocument/2006/math">
                    <m:f>
                      <m:fPr>
                        <m:ctrlPr>
                          <a:rPr lang="en-US" altLang="zh-TW" sz="2800" i="1" smtClean="0">
                            <a:latin typeface="Cambria Math" panose="02040503050406030204" pitchFamily="18" charset="0"/>
                            <a:ea typeface="Cambria Math" panose="02040503050406030204" pitchFamily="18" charset="0"/>
                            <a:cs typeface="Ebrima" panose="02000000000000000000" pitchFamily="2" charset="0"/>
                          </a:rPr>
                        </m:ctrlPr>
                      </m:fPr>
                      <m:num>
                        <m:r>
                          <a:rPr lang="en-US" altLang="zh-TW" sz="2800" b="0" i="1" smtClean="0">
                            <a:latin typeface="Cambria Math"/>
                            <a:ea typeface="Cambria Math" panose="02040503050406030204" pitchFamily="18" charset="0"/>
                            <a:cs typeface="Ebrima" panose="02000000000000000000" pitchFamily="2" charset="0"/>
                          </a:rPr>
                          <m:t>1</m:t>
                        </m:r>
                      </m:num>
                      <m:den>
                        <m:r>
                          <a:rPr lang="en-US" altLang="zh-TW" sz="2800" b="0" i="1" smtClean="0">
                            <a:latin typeface="Cambria Math"/>
                            <a:ea typeface="Cambria Math" panose="02040503050406030204" pitchFamily="18" charset="0"/>
                            <a:cs typeface="Ebrima" panose="02000000000000000000" pitchFamily="2" charset="0"/>
                          </a:rPr>
                          <m:t>25</m:t>
                        </m:r>
                      </m:den>
                    </m:f>
                    <m:sSup>
                      <m:sSupPr>
                        <m:ctrlPr>
                          <a:rPr lang="en-US" altLang="zh-TW" sz="2800" i="1" smtClean="0">
                            <a:latin typeface="Cambria Math" panose="02040503050406030204" pitchFamily="18" charset="0"/>
                            <a:ea typeface="Cambria Math" panose="02040503050406030204" pitchFamily="18" charset="0"/>
                            <a:cs typeface="Ebrima" panose="02000000000000000000" pitchFamily="2" charset="0"/>
                          </a:rPr>
                        </m:ctrlPr>
                      </m:sSupPr>
                      <m:e>
                        <m:r>
                          <a:rPr lang="en-US" altLang="zh-TW" sz="2800" b="0" i="1" smtClean="0">
                            <a:latin typeface="Cambria Math"/>
                            <a:ea typeface="Cambria Math" panose="02040503050406030204" pitchFamily="18" charset="0"/>
                            <a:cs typeface="Ebrima" panose="02000000000000000000" pitchFamily="2" charset="0"/>
                          </a:rPr>
                          <m:t>𝑆</m:t>
                        </m:r>
                      </m:e>
                      <m:sup>
                        <m:r>
                          <a:rPr lang="en-US" altLang="zh-TW" sz="2800" b="0" i="1" smtClean="0">
                            <a:latin typeface="Cambria Math"/>
                            <a:ea typeface="Cambria Math" panose="02040503050406030204" pitchFamily="18" charset="0"/>
                            <a:cs typeface="Ebrima" panose="02000000000000000000" pitchFamily="2" charset="0"/>
                          </a:rPr>
                          <m:t>2</m:t>
                        </m:r>
                      </m:sup>
                    </m:sSup>
                  </m:oMath>
                </a14:m>
                <a:r>
                  <a:rPr lang="en-US" altLang="zh-TW" sz="2800" dirty="0">
                    <a:latin typeface="Cambria Math" panose="02040503050406030204" pitchFamily="18" charset="0"/>
                    <a:ea typeface="Cambria Math" panose="02040503050406030204" pitchFamily="18" charset="0"/>
                    <a:cs typeface="Ebrima" panose="02000000000000000000" pitchFamily="2" charset="0"/>
                  </a:rPr>
                  <a:t>)</a:t>
                </a:r>
              </a:p>
              <a:p>
                <a:pPr marL="514350" indent="-514350">
                  <a:buFont typeface="+mj-lt"/>
                  <a:buAutoNum type="arabicParenR"/>
                </a:pPr>
                <a:r>
                  <a:rPr lang="en-US" altLang="zh-TW" sz="2800" dirty="0">
                    <a:latin typeface="Cambria Math" panose="02040503050406030204" pitchFamily="18" charset="0"/>
                    <a:ea typeface="Cambria Math" panose="02040503050406030204" pitchFamily="18" charset="0"/>
                    <a:cs typeface="Ebrima" panose="02000000000000000000" pitchFamily="2" charset="0"/>
                  </a:rPr>
                  <a:t>X ~ </a:t>
                </a:r>
                <a:r>
                  <a:rPr lang="en-US" altLang="zh-TW" sz="2800" dirty="0" err="1">
                    <a:latin typeface="Cambria Math" panose="02040503050406030204" pitchFamily="18" charset="0"/>
                    <a:ea typeface="Cambria Math" panose="02040503050406030204" pitchFamily="18" charset="0"/>
                    <a:cs typeface="Ebrima" panose="02000000000000000000" pitchFamily="2" charset="0"/>
                  </a:rPr>
                  <a:t>i.i.d</a:t>
                </a:r>
                <a:r>
                  <a:rPr lang="en-US" altLang="zh-TW" sz="2800" dirty="0">
                    <a:latin typeface="Cambria Math" panose="02040503050406030204" pitchFamily="18" charset="0"/>
                    <a:ea typeface="Cambria Math" panose="02040503050406030204" pitchFamily="18" charset="0"/>
                    <a:cs typeface="Ebrima" panose="02000000000000000000" pitchFamily="2" charset="0"/>
                  </a:rPr>
                  <a:t> Gaussian(</a:t>
                </a:r>
                <a14:m>
                  <m:oMath xmlns:m="http://schemas.openxmlformats.org/officeDocument/2006/math">
                    <m:r>
                      <a:rPr lang="en-US" altLang="zh-TW" sz="2800" b="0" i="1" smtClean="0">
                        <a:latin typeface="Cambria Math"/>
                        <a:ea typeface="Cambria Math" panose="02040503050406030204" pitchFamily="18" charset="0"/>
                        <a:cs typeface="Ebrima" panose="02000000000000000000" pitchFamily="2" charset="0"/>
                      </a:rPr>
                      <m:t>0, </m:t>
                    </m:r>
                    <m:f>
                      <m:fPr>
                        <m:ctrlPr>
                          <a:rPr lang="en-US" altLang="zh-TW" sz="2800" b="0" i="1" smtClean="0">
                            <a:latin typeface="Cambria Math" panose="02040503050406030204" pitchFamily="18" charset="0"/>
                            <a:ea typeface="Cambria Math" panose="02040503050406030204" pitchFamily="18" charset="0"/>
                            <a:cs typeface="Ebrima" panose="02000000000000000000" pitchFamily="2" charset="0"/>
                          </a:rPr>
                        </m:ctrlPr>
                      </m:fPr>
                      <m:num>
                        <m:r>
                          <a:rPr lang="en-US" altLang="zh-TW" sz="2800" b="0" i="1" smtClean="0">
                            <a:latin typeface="Cambria Math"/>
                            <a:ea typeface="Cambria Math" panose="02040503050406030204" pitchFamily="18" charset="0"/>
                            <a:cs typeface="Ebrima" panose="02000000000000000000" pitchFamily="2" charset="0"/>
                          </a:rPr>
                          <m:t>1</m:t>
                        </m:r>
                      </m:num>
                      <m:den>
                        <m:r>
                          <a:rPr lang="en-US" altLang="zh-TW" sz="2800" b="0" i="1" smtClean="0">
                            <a:latin typeface="Cambria Math"/>
                            <a:ea typeface="Cambria Math" panose="02040503050406030204" pitchFamily="18" charset="0"/>
                            <a:cs typeface="Ebrima" panose="02000000000000000000" pitchFamily="2" charset="0"/>
                          </a:rPr>
                          <m:t>25</m:t>
                        </m:r>
                      </m:den>
                    </m:f>
                    <m:sSup>
                      <m:sSupPr>
                        <m:ctrlPr>
                          <a:rPr lang="en-US" altLang="zh-TW" sz="2800" b="0" i="1" smtClean="0">
                            <a:latin typeface="Cambria Math" panose="02040503050406030204" pitchFamily="18" charset="0"/>
                            <a:ea typeface="Cambria Math" panose="02040503050406030204" pitchFamily="18" charset="0"/>
                            <a:cs typeface="Ebrima" panose="02000000000000000000" pitchFamily="2" charset="0"/>
                          </a:rPr>
                        </m:ctrlPr>
                      </m:sSupPr>
                      <m:e>
                        <m:r>
                          <a:rPr lang="en-US" altLang="zh-TW" sz="2800" b="0" i="1" smtClean="0">
                            <a:latin typeface="Cambria Math"/>
                            <a:ea typeface="Cambria Math" panose="02040503050406030204" pitchFamily="18" charset="0"/>
                            <a:cs typeface="Ebrima" panose="02000000000000000000" pitchFamily="2" charset="0"/>
                          </a:rPr>
                          <m:t>𝑆</m:t>
                        </m:r>
                      </m:e>
                      <m:sup>
                        <m:r>
                          <a:rPr lang="en-US" altLang="zh-TW" sz="2800" b="0" i="1" smtClean="0">
                            <a:latin typeface="Cambria Math"/>
                            <a:ea typeface="Cambria Math" panose="02040503050406030204" pitchFamily="18" charset="0"/>
                            <a:cs typeface="Ebrima" panose="02000000000000000000" pitchFamily="2" charset="0"/>
                          </a:rPr>
                          <m:t>2</m:t>
                        </m:r>
                      </m:sup>
                    </m:sSup>
                    <m:r>
                      <a:rPr lang="en-US" altLang="zh-TW" sz="2800" b="0" i="1" smtClean="0">
                        <a:latin typeface="Cambria Math"/>
                        <a:ea typeface="Cambria Math" panose="02040503050406030204" pitchFamily="18" charset="0"/>
                        <a:cs typeface="Ebrima" panose="02000000000000000000" pitchFamily="2" charset="0"/>
                      </a:rPr>
                      <m:t>)</m:t>
                    </m:r>
                  </m:oMath>
                </a14:m>
                <a:r>
                  <a:rPr lang="en-US" altLang="zh-TW" sz="2800" dirty="0">
                    <a:latin typeface="Cambria Math" panose="02040503050406030204" pitchFamily="18" charset="0"/>
                    <a:ea typeface="Cambria Math" panose="02040503050406030204" pitchFamily="18" charset="0"/>
                    <a:cs typeface="Ebrima" panose="02000000000000000000" pitchFamily="2" charset="0"/>
                  </a:rPr>
                  <a:t>, Y ~ </a:t>
                </a:r>
                <a:r>
                  <a:rPr lang="en-US" altLang="zh-TW" sz="2800" dirty="0" err="1">
                    <a:latin typeface="Cambria Math" panose="02040503050406030204" pitchFamily="18" charset="0"/>
                    <a:ea typeface="Cambria Math" panose="02040503050406030204" pitchFamily="18" charset="0"/>
                    <a:cs typeface="Ebrima" panose="02000000000000000000" pitchFamily="2" charset="0"/>
                  </a:rPr>
                  <a:t>i.i.d</a:t>
                </a:r>
                <a:r>
                  <a:rPr lang="en-US" altLang="zh-TW" sz="2800" dirty="0">
                    <a:latin typeface="Cambria Math" panose="02040503050406030204" pitchFamily="18" charset="0"/>
                    <a:ea typeface="Cambria Math" panose="02040503050406030204" pitchFamily="18" charset="0"/>
                    <a:cs typeface="Ebrima" panose="02000000000000000000" pitchFamily="2" charset="0"/>
                  </a:rPr>
                  <a:t> Gaussian(</a:t>
                </a:r>
                <a14:m>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cs typeface="Ebrima" panose="02000000000000000000" pitchFamily="2" charset="0"/>
                          </a:rPr>
                        </m:ctrlPr>
                      </m:sSubPr>
                      <m:e>
                        <m:r>
                          <a:rPr lang="en-US" altLang="zh-TW" sz="2800" b="0" i="1" smtClean="0">
                            <a:latin typeface="Cambria Math"/>
                            <a:ea typeface="Cambria Math" panose="02040503050406030204" pitchFamily="18" charset="0"/>
                            <a:cs typeface="Ebrima" panose="02000000000000000000" pitchFamily="2" charset="0"/>
                          </a:rPr>
                          <m:t>𝑥</m:t>
                        </m:r>
                      </m:e>
                      <m:sub>
                        <m:r>
                          <a:rPr lang="en-US" altLang="zh-TW" sz="2800" b="0" i="1" smtClean="0">
                            <a:latin typeface="Cambria Math"/>
                            <a:ea typeface="Cambria Math" panose="02040503050406030204" pitchFamily="18" charset="0"/>
                            <a:cs typeface="Ebrima" panose="02000000000000000000" pitchFamily="2" charset="0"/>
                          </a:rPr>
                          <m:t>𝑖</m:t>
                        </m:r>
                      </m:sub>
                    </m:sSub>
                    <m:r>
                      <a:rPr lang="en-US" altLang="zh-TW" sz="2800" b="0" i="1" smtClean="0">
                        <a:latin typeface="Cambria Math"/>
                        <a:ea typeface="Cambria Math" panose="02040503050406030204" pitchFamily="18" charset="0"/>
                        <a:cs typeface="Ebrima" panose="02000000000000000000" pitchFamily="2" charset="0"/>
                      </a:rPr>
                      <m:t>, </m:t>
                    </m:r>
                    <m:f>
                      <m:fPr>
                        <m:ctrlPr>
                          <a:rPr lang="en-US" altLang="zh-TW" sz="2800" b="0" i="1" smtClean="0">
                            <a:latin typeface="Cambria Math" panose="02040503050406030204" pitchFamily="18" charset="0"/>
                            <a:ea typeface="Cambria Math" panose="02040503050406030204" pitchFamily="18" charset="0"/>
                            <a:cs typeface="Ebrima" panose="02000000000000000000" pitchFamily="2" charset="0"/>
                          </a:rPr>
                        </m:ctrlPr>
                      </m:fPr>
                      <m:num>
                        <m:r>
                          <a:rPr lang="en-US" altLang="zh-TW" sz="2800" b="0" i="1" smtClean="0">
                            <a:latin typeface="Cambria Math"/>
                            <a:ea typeface="Cambria Math" panose="02040503050406030204" pitchFamily="18" charset="0"/>
                            <a:cs typeface="Ebrima" panose="02000000000000000000" pitchFamily="2" charset="0"/>
                          </a:rPr>
                          <m:t>1</m:t>
                        </m:r>
                      </m:num>
                      <m:den>
                        <m:r>
                          <a:rPr lang="en-US" altLang="zh-TW" sz="2800" b="0" i="1" smtClean="0">
                            <a:latin typeface="Cambria Math"/>
                            <a:ea typeface="Cambria Math" panose="02040503050406030204" pitchFamily="18" charset="0"/>
                            <a:cs typeface="Ebrima" panose="02000000000000000000" pitchFamily="2" charset="0"/>
                          </a:rPr>
                          <m:t>100</m:t>
                        </m:r>
                      </m:den>
                    </m:f>
                    <m:sSup>
                      <m:sSupPr>
                        <m:ctrlPr>
                          <a:rPr lang="en-US" altLang="zh-TW" sz="2800" b="0" i="1" smtClean="0">
                            <a:latin typeface="Cambria Math" panose="02040503050406030204" pitchFamily="18" charset="0"/>
                            <a:ea typeface="Cambria Math" panose="02040503050406030204" pitchFamily="18" charset="0"/>
                            <a:cs typeface="Ebrima" panose="02000000000000000000" pitchFamily="2" charset="0"/>
                          </a:rPr>
                        </m:ctrlPr>
                      </m:sSupPr>
                      <m:e>
                        <m:r>
                          <a:rPr lang="en-US" altLang="zh-TW" sz="2800" b="0" i="1" smtClean="0">
                            <a:latin typeface="Cambria Math"/>
                            <a:ea typeface="Cambria Math" panose="02040503050406030204" pitchFamily="18" charset="0"/>
                            <a:cs typeface="Ebrima" panose="02000000000000000000" pitchFamily="2" charset="0"/>
                          </a:rPr>
                          <m:t>𝑆</m:t>
                        </m:r>
                      </m:e>
                      <m:sup>
                        <m:r>
                          <a:rPr lang="en-US" altLang="zh-TW" sz="2800" b="0" i="1" smtClean="0">
                            <a:latin typeface="Cambria Math"/>
                            <a:ea typeface="Cambria Math" panose="02040503050406030204" pitchFamily="18" charset="0"/>
                            <a:cs typeface="Ebrima" panose="02000000000000000000" pitchFamily="2" charset="0"/>
                          </a:rPr>
                          <m:t>2</m:t>
                        </m:r>
                      </m:sup>
                    </m:sSup>
                    <m:r>
                      <a:rPr lang="en-US" altLang="zh-TW" sz="2800" b="0" i="1" smtClean="0">
                        <a:latin typeface="Cambria Math"/>
                        <a:ea typeface="Cambria Math" panose="02040503050406030204" pitchFamily="18" charset="0"/>
                        <a:cs typeface="Ebrima" panose="02000000000000000000" pitchFamily="2" charset="0"/>
                      </a:rPr>
                      <m:t>)</m:t>
                    </m:r>
                  </m:oMath>
                </a14:m>
                <a:endParaRPr lang="en-US" altLang="zh-TW" sz="2800" b="0" dirty="0">
                  <a:latin typeface="Cambria Math" panose="02040503050406030204" pitchFamily="18" charset="0"/>
                  <a:ea typeface="Cambria Math" panose="02040503050406030204" pitchFamily="18" charset="0"/>
                  <a:cs typeface="Ebrima" panose="02000000000000000000" pitchFamily="2" charset="0"/>
                </a:endParaRPr>
              </a:p>
              <a:p>
                <a:pPr marL="514350" indent="-514350">
                  <a:buFont typeface="+mj-lt"/>
                  <a:buAutoNum type="arabicParenR"/>
                </a:pPr>
                <a:r>
                  <a:rPr lang="en-US" altLang="zh-TW" sz="2800" dirty="0">
                    <a:latin typeface="Cambria Math" panose="02040503050406030204" pitchFamily="18" charset="0"/>
                    <a:ea typeface="Cambria Math" panose="02040503050406030204" pitchFamily="18" charset="0"/>
                    <a:cs typeface="Ebrima" panose="02000000000000000000" pitchFamily="2" charset="0"/>
                  </a:rPr>
                  <a:t>(X, Y) are randomly sampled from discrete locations of a coarse polar grid introducing a spatial quantization.</a:t>
                </a:r>
              </a:p>
              <a:p>
                <a:pPr marL="514350" indent="-514350">
                  <a:buFont typeface="+mj-lt"/>
                  <a:buAutoNum type="arabicParenR"/>
                </a:pPr>
                <a:r>
                  <a:rPr lang="en-US" altLang="zh-TW" sz="2800" dirty="0">
                    <a:latin typeface="Cambria Math" panose="02040503050406030204" pitchFamily="18" charset="0"/>
                    <a:ea typeface="Cambria Math" panose="02040503050406030204" pitchFamily="18" charset="0"/>
                    <a:cs typeface="Ebrima" panose="02000000000000000000" pitchFamily="2" charset="0"/>
                  </a:rPr>
                  <a:t>X=(0, 0), Y are takes all possible values on a coarse polar grid containing </a:t>
                </a:r>
                <a14:m>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cs typeface="Ebrima" panose="02000000000000000000" pitchFamily="2" charset="0"/>
                          </a:rPr>
                        </m:ctrlPr>
                      </m:sSubPr>
                      <m:e>
                        <m:r>
                          <a:rPr lang="en-US" altLang="zh-TW" sz="2800" b="0" i="1" smtClean="0">
                            <a:latin typeface="Cambria Math"/>
                            <a:ea typeface="Cambria Math" panose="02040503050406030204" pitchFamily="18" charset="0"/>
                            <a:cs typeface="Ebrima" panose="02000000000000000000" pitchFamily="2" charset="0"/>
                          </a:rPr>
                          <m:t>𝑛</m:t>
                        </m:r>
                      </m:e>
                      <m:sub>
                        <m:r>
                          <a:rPr lang="en-US" altLang="zh-TW" sz="2800" b="0" i="1" smtClean="0">
                            <a:latin typeface="Cambria Math"/>
                            <a:ea typeface="Cambria Math" panose="02040503050406030204" pitchFamily="18" charset="0"/>
                            <a:cs typeface="Ebrima" panose="02000000000000000000" pitchFamily="2" charset="0"/>
                          </a:rPr>
                          <m:t>𝑑</m:t>
                        </m:r>
                      </m:sub>
                    </m:sSub>
                    <m:r>
                      <a:rPr lang="en-US" altLang="zh-TW" sz="2800" b="0" i="1" smtClean="0">
                        <a:latin typeface="Cambria Math"/>
                        <a:ea typeface="Cambria Math" panose="02040503050406030204" pitchFamily="18" charset="0"/>
                        <a:cs typeface="Ebrima" panose="02000000000000000000" pitchFamily="2" charset="0"/>
                      </a:rPr>
                      <m:t> </m:t>
                    </m:r>
                  </m:oMath>
                </a14:m>
                <a:r>
                  <a:rPr lang="en-US" altLang="zh-TW" sz="2800" dirty="0">
                    <a:latin typeface="Cambria Math" panose="02040503050406030204" pitchFamily="18" charset="0"/>
                    <a:ea typeface="Cambria Math" panose="02040503050406030204" pitchFamily="18" charset="0"/>
                    <a:cs typeface="Ebrima" panose="02000000000000000000" pitchFamily="2" charset="0"/>
                  </a:rPr>
                  <a:t>points.</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l="-2419" t="-2782" r="-2621" b="-16134"/>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8</a:t>
            </a:fld>
            <a:endParaRPr lang="zh-TW" altLang="en-US" dirty="0"/>
          </a:p>
        </p:txBody>
      </p:sp>
      <p:grpSp>
        <p:nvGrpSpPr>
          <p:cNvPr id="25" name="群組 24"/>
          <p:cNvGrpSpPr/>
          <p:nvPr/>
        </p:nvGrpSpPr>
        <p:grpSpPr>
          <a:xfrm>
            <a:off x="299060" y="2236965"/>
            <a:ext cx="1153551" cy="1342739"/>
            <a:chOff x="6274191" y="2630659"/>
            <a:chExt cx="1153551" cy="1342739"/>
          </a:xfrm>
        </p:grpSpPr>
        <p:cxnSp>
          <p:nvCxnSpPr>
            <p:cNvPr id="8" name="直線接點 7"/>
            <p:cNvCxnSpPr/>
            <p:nvPr/>
          </p:nvCxnSpPr>
          <p:spPr>
            <a:xfrm>
              <a:off x="6274191" y="3305908"/>
              <a:ext cx="272724" cy="620356"/>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flipV="1">
              <a:off x="6546915" y="2630659"/>
              <a:ext cx="880827" cy="1342739"/>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934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Pairs of points(2/2)</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endParaRPr lang="en-US" altLang="zh-TW" sz="2800" dirty="0">
              <a:latin typeface="Cambria Math" panose="02040503050406030204" pitchFamily="18" charset="0"/>
              <a:ea typeface="Cambria Math" panose="02040503050406030204" pitchFamily="18"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9</a:t>
            </a:fld>
            <a:endParaRPr lang="zh-TW"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829" y="1468712"/>
            <a:ext cx="7858343" cy="59021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3578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Experiment Result(1/5)</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sz="2800" dirty="0">
                <a:latin typeface="Cambria Math" panose="02040503050406030204" pitchFamily="18" charset="0"/>
                <a:ea typeface="Cambria Math" panose="02040503050406030204" pitchFamily="18" charset="0"/>
                <a:cs typeface="Ebrima" panose="02000000000000000000" pitchFamily="2" charset="0"/>
              </a:rPr>
              <a:t>Dataset</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10</a:t>
            </a:fld>
            <a:endParaRPr lang="zh-TW"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493" y="2279815"/>
            <a:ext cx="7533735" cy="5003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8948" y="2312086"/>
            <a:ext cx="7533735" cy="4924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170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Experiment Result(2/5)</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endParaRPr lang="en-US" altLang="zh-TW" sz="2800" dirty="0">
              <a:latin typeface="Cambria Math" panose="02040503050406030204" pitchFamily="18" charset="0"/>
              <a:ea typeface="Cambria Math" panose="02040503050406030204" pitchFamily="18"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11</a:t>
            </a:fld>
            <a:endParaRPr lang="zh-TW" altLang="en-US"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412" y="1471830"/>
            <a:ext cx="7914289" cy="57358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983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Experiment Result(3/5)</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endParaRPr lang="en-US" altLang="zh-TW" sz="2800" dirty="0">
              <a:latin typeface="Cambria Math" panose="02040503050406030204" pitchFamily="18" charset="0"/>
              <a:ea typeface="Cambria Math" panose="02040503050406030204" pitchFamily="18"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12</a:t>
            </a:fld>
            <a:endParaRPr lang="zh-TW" alt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0800" y="1472400"/>
            <a:ext cx="7898525" cy="573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9036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cs typeface="Ebrima" panose="02000000000000000000" pitchFamily="2" charset="0"/>
              </a:rPr>
              <a:t>Experiment Result(4/5)</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endParaRPr lang="en-US" altLang="zh-TW" sz="2800" dirty="0">
              <a:latin typeface="Cambria Math" panose="02040503050406030204" pitchFamily="18" charset="0"/>
              <a:ea typeface="Cambria Math" panose="02040503050406030204" pitchFamily="18"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13</a:t>
            </a:fld>
            <a:endParaRPr lang="zh-TW" alt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0800" y="1472400"/>
            <a:ext cx="7793705" cy="573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9036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a:latin typeface="Ebrima" panose="02000000000000000000" pitchFamily="2" charset="0"/>
                <a:cs typeface="Ebrima" panose="02000000000000000000" pitchFamily="2" charset="0"/>
              </a:rPr>
              <a:t>Experiment Result(5/5)</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endParaRPr lang="en-US" altLang="zh-TW" sz="2800" dirty="0">
              <a:latin typeface="Cambria Math" panose="02040503050406030204" pitchFamily="18" charset="0"/>
              <a:ea typeface="Cambria Math" panose="02040503050406030204" pitchFamily="18"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14</a:t>
            </a:fld>
            <a:endParaRPr lang="zh-TW" alt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0800" y="1472400"/>
            <a:ext cx="7919274" cy="573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9036069"/>
      </p:ext>
    </p:extLst>
  </p:cSld>
  <p:clrMapOvr>
    <a:masterClrMapping/>
  </p:clrMapOvr>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9918</TotalTime>
  <Words>371</Words>
  <Application>Microsoft Office PowerPoint</Application>
  <PresentationFormat>自訂</PresentationFormat>
  <Paragraphs>70</Paragraphs>
  <Slides>14</Slides>
  <Notes>11</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14</vt:i4>
      </vt:variant>
    </vt:vector>
  </HeadingPairs>
  <TitlesOfParts>
    <vt:vector size="27" baseType="lpstr">
      <vt:lpstr>Liberation Sans</vt:lpstr>
      <vt:lpstr>Liberation Sans Narrow</vt:lpstr>
      <vt:lpstr>Liberation Serif</vt:lpstr>
      <vt:lpstr>Mangal</vt:lpstr>
      <vt:lpstr>微軟正黑體</vt:lpstr>
      <vt:lpstr>新細明體</vt:lpstr>
      <vt:lpstr>Arial</vt:lpstr>
      <vt:lpstr>Calibri</vt:lpstr>
      <vt:lpstr>Cambria Math</vt:lpstr>
      <vt:lpstr>Ebrima</vt:lpstr>
      <vt:lpstr>Sitka Subheading</vt:lpstr>
      <vt:lpstr>Tahoma</vt:lpstr>
      <vt:lpstr>預設</vt:lpstr>
      <vt:lpstr>M. Calonder, V. Lepetit, C. Strecha, and P. Fua.  Computer Vision - ECCV 2010, 11th European Conference on Computer Vision, Heraklion, Crete, Greece, September 5-11, 2010, Proceedings, Part IV.</vt:lpstr>
      <vt:lpstr>Abstract</vt:lpstr>
      <vt:lpstr>Key point</vt:lpstr>
      <vt:lpstr>Descriptor</vt:lpstr>
      <vt:lpstr>BRIEF(1/3)</vt:lpstr>
      <vt:lpstr>BRIEF(2/3)</vt:lpstr>
      <vt:lpstr>BRIEF(3/3)</vt:lpstr>
      <vt:lpstr>Pairs of points(1/2)</vt:lpstr>
      <vt:lpstr>Pairs of points(2/2)</vt:lpstr>
      <vt:lpstr>Experiment Result(1/5)</vt:lpstr>
      <vt:lpstr>Experiment Result(2/5)</vt:lpstr>
      <vt:lpstr>Experiment Result(3/5)</vt:lpstr>
      <vt:lpstr>Experiment Result(4/5)</vt:lpstr>
      <vt:lpstr>Experiment Result(5/5)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Communications of the ACM June 1975 Volume 18 Number 6 D.S. Hirschberg Princeton University</dc:title>
  <dc:creator>Shecil</dc:creator>
  <cp:lastModifiedBy>whfu</cp:lastModifiedBy>
  <cp:revision>165</cp:revision>
  <dcterms:created xsi:type="dcterms:W3CDTF">2015-10-08T13:19:19Z</dcterms:created>
  <dcterms:modified xsi:type="dcterms:W3CDTF">2016-10-05T09:10:23Z</dcterms:modified>
</cp:coreProperties>
</file>