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78"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147D54-78F2-4BB5-A374-4DD680D236A7}" type="datetimeFigureOut">
              <a:rPr lang="zh-TW" altLang="en-US" smtClean="0"/>
              <a:t>2016/10/5</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1B216D-35E9-4CC2-AC21-4DFD1D44118D}" type="slidenum">
              <a:rPr lang="zh-TW" altLang="en-US" smtClean="0"/>
              <a:t>‹#›</a:t>
            </a:fld>
            <a:endParaRPr lang="zh-TW" altLang="en-US"/>
          </a:p>
        </p:txBody>
      </p:sp>
    </p:spTree>
    <p:extLst>
      <p:ext uri="{BB962C8B-B14F-4D97-AF65-F5344CB8AC3E}">
        <p14:creationId xmlns:p14="http://schemas.microsoft.com/office/powerpoint/2010/main" val="4116979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http://alumni.cs.ucr.edu/~ratana/</a:t>
            </a:r>
          </a:p>
          <a:p>
            <a:r>
              <a:rPr lang="zh-TW" altLang="en-US" dirty="0"/>
              <a:t>被引用</a:t>
            </a:r>
            <a:r>
              <a:rPr lang="en-US" altLang="zh-TW" dirty="0"/>
              <a:t>267</a:t>
            </a:r>
            <a:r>
              <a:rPr lang="zh-TW" altLang="en-US" dirty="0"/>
              <a:t>次</a:t>
            </a:r>
          </a:p>
        </p:txBody>
      </p:sp>
      <p:sp>
        <p:nvSpPr>
          <p:cNvPr id="4" name="投影片編號版面配置區 3"/>
          <p:cNvSpPr>
            <a:spLocks noGrp="1"/>
          </p:cNvSpPr>
          <p:nvPr>
            <p:ph type="sldNum" sz="quarter" idx="10"/>
          </p:nvPr>
        </p:nvSpPr>
        <p:spPr/>
        <p:txBody>
          <a:bodyPr/>
          <a:lstStyle/>
          <a:p>
            <a:fld id="{F91B216D-35E9-4CC2-AC21-4DFD1D44118D}" type="slidenum">
              <a:rPr lang="zh-TW" altLang="en-US" smtClean="0"/>
              <a:t>1</a:t>
            </a:fld>
            <a:endParaRPr lang="zh-TW" altLang="en-US"/>
          </a:p>
        </p:txBody>
      </p:sp>
    </p:spTree>
    <p:extLst>
      <p:ext uri="{BB962C8B-B14F-4D97-AF65-F5344CB8AC3E}">
        <p14:creationId xmlns:p14="http://schemas.microsoft.com/office/powerpoint/2010/main" val="2973703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92D18AE-3547-4DC8-B93E-6E4F9153274C}" type="datetimeFigureOut">
              <a:rPr lang="zh-TW" altLang="en-US" smtClean="0"/>
              <a:t>2016/10/5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E98538-B74A-4BE2-93F5-185A29C76F90}" type="slidenum">
              <a:rPr lang="zh-TW" altLang="en-US" smtClean="0"/>
              <a:t>‹#›</a:t>
            </a:fld>
            <a:endParaRPr lang="zh-TW" altLang="en-US"/>
          </a:p>
        </p:txBody>
      </p:sp>
    </p:spTree>
    <p:extLst>
      <p:ext uri="{BB962C8B-B14F-4D97-AF65-F5344CB8AC3E}">
        <p14:creationId xmlns:p14="http://schemas.microsoft.com/office/powerpoint/2010/main" val="2702725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92D18AE-3547-4DC8-B93E-6E4F9153274C}" type="datetimeFigureOut">
              <a:rPr lang="zh-TW" altLang="en-US" smtClean="0"/>
              <a:t>2016/10/5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E98538-B74A-4BE2-93F5-185A29C76F90}" type="slidenum">
              <a:rPr lang="zh-TW" altLang="en-US" smtClean="0"/>
              <a:t>‹#›</a:t>
            </a:fld>
            <a:endParaRPr lang="zh-TW" altLang="en-US"/>
          </a:p>
        </p:txBody>
      </p:sp>
    </p:spTree>
    <p:extLst>
      <p:ext uri="{BB962C8B-B14F-4D97-AF65-F5344CB8AC3E}">
        <p14:creationId xmlns:p14="http://schemas.microsoft.com/office/powerpoint/2010/main" val="1898899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592D18AE-3547-4DC8-B93E-6E4F9153274C}" type="datetimeFigureOut">
              <a:rPr lang="zh-TW" altLang="en-US" smtClean="0"/>
              <a:t>2016/10/5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E98538-B74A-4BE2-93F5-185A29C76F90}" type="slidenum">
              <a:rPr lang="zh-TW" altLang="en-US" smtClean="0"/>
              <a:t>‹#›</a:t>
            </a:fld>
            <a:endParaRPr lang="zh-TW" altLang="en-US"/>
          </a:p>
        </p:txBody>
      </p:sp>
    </p:spTree>
    <p:extLst>
      <p:ext uri="{BB962C8B-B14F-4D97-AF65-F5344CB8AC3E}">
        <p14:creationId xmlns:p14="http://schemas.microsoft.com/office/powerpoint/2010/main" val="3692947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92D18AE-3547-4DC8-B93E-6E4F9153274C}" type="datetimeFigureOut">
              <a:rPr lang="zh-TW" altLang="en-US" smtClean="0"/>
              <a:t>2016/10/5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E98538-B74A-4BE2-93F5-185A29C76F90}" type="slidenum">
              <a:rPr lang="zh-TW" altLang="en-US" smtClean="0"/>
              <a:t>‹#›</a:t>
            </a:fld>
            <a:endParaRPr lang="zh-TW" altLang="en-US"/>
          </a:p>
        </p:txBody>
      </p:sp>
    </p:spTree>
    <p:extLst>
      <p:ext uri="{BB962C8B-B14F-4D97-AF65-F5344CB8AC3E}">
        <p14:creationId xmlns:p14="http://schemas.microsoft.com/office/powerpoint/2010/main" val="1235449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92D18AE-3547-4DC8-B93E-6E4F9153274C}" type="datetimeFigureOut">
              <a:rPr lang="zh-TW" altLang="en-US" smtClean="0"/>
              <a:t>2016/10/5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0E98538-B74A-4BE2-93F5-185A29C76F90}" type="slidenum">
              <a:rPr lang="zh-TW" altLang="en-US" smtClean="0"/>
              <a:t>‹#›</a:t>
            </a:fld>
            <a:endParaRPr lang="zh-TW" altLang="en-US"/>
          </a:p>
        </p:txBody>
      </p:sp>
    </p:spTree>
    <p:extLst>
      <p:ext uri="{BB962C8B-B14F-4D97-AF65-F5344CB8AC3E}">
        <p14:creationId xmlns:p14="http://schemas.microsoft.com/office/powerpoint/2010/main" val="3622419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92D18AE-3547-4DC8-B93E-6E4F9153274C}" type="datetimeFigureOut">
              <a:rPr lang="zh-TW" altLang="en-US" smtClean="0"/>
              <a:t>2016/10/5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0E98538-B74A-4BE2-93F5-185A29C76F90}" type="slidenum">
              <a:rPr lang="zh-TW" altLang="en-US" smtClean="0"/>
              <a:t>‹#›</a:t>
            </a:fld>
            <a:endParaRPr lang="zh-TW" altLang="en-US"/>
          </a:p>
        </p:txBody>
      </p:sp>
    </p:spTree>
    <p:extLst>
      <p:ext uri="{BB962C8B-B14F-4D97-AF65-F5344CB8AC3E}">
        <p14:creationId xmlns:p14="http://schemas.microsoft.com/office/powerpoint/2010/main" val="1158559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92D18AE-3547-4DC8-B93E-6E4F9153274C}" type="datetimeFigureOut">
              <a:rPr lang="zh-TW" altLang="en-US" smtClean="0"/>
              <a:t>2016/10/5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0E98538-B74A-4BE2-93F5-185A29C76F90}" type="slidenum">
              <a:rPr lang="zh-TW" altLang="en-US" smtClean="0"/>
              <a:t>‹#›</a:t>
            </a:fld>
            <a:endParaRPr lang="zh-TW" altLang="en-US"/>
          </a:p>
        </p:txBody>
      </p:sp>
    </p:spTree>
    <p:extLst>
      <p:ext uri="{BB962C8B-B14F-4D97-AF65-F5344CB8AC3E}">
        <p14:creationId xmlns:p14="http://schemas.microsoft.com/office/powerpoint/2010/main" val="2346180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592D18AE-3547-4DC8-B93E-6E4F9153274C}" type="datetimeFigureOut">
              <a:rPr lang="zh-TW" altLang="en-US" smtClean="0"/>
              <a:t>2016/10/5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E98538-B74A-4BE2-93F5-185A29C76F90}" type="slidenum">
              <a:rPr lang="zh-TW" altLang="en-US" smtClean="0"/>
              <a:t>‹#›</a:t>
            </a:fld>
            <a:endParaRPr lang="zh-TW" altLang="en-US"/>
          </a:p>
        </p:txBody>
      </p:sp>
    </p:spTree>
    <p:extLst>
      <p:ext uri="{BB962C8B-B14F-4D97-AF65-F5344CB8AC3E}">
        <p14:creationId xmlns:p14="http://schemas.microsoft.com/office/powerpoint/2010/main" val="2091797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592D18AE-3547-4DC8-B93E-6E4F9153274C}" type="datetimeFigureOut">
              <a:rPr lang="zh-TW" altLang="en-US" smtClean="0"/>
              <a:t>2016/10/5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E98538-B74A-4BE2-93F5-185A29C76F90}" type="slidenum">
              <a:rPr lang="zh-TW" altLang="en-US" smtClean="0"/>
              <a:t>‹#›</a:t>
            </a:fld>
            <a:endParaRPr lang="zh-TW" altLang="en-US"/>
          </a:p>
        </p:txBody>
      </p:sp>
    </p:spTree>
    <p:extLst>
      <p:ext uri="{BB962C8B-B14F-4D97-AF65-F5344CB8AC3E}">
        <p14:creationId xmlns:p14="http://schemas.microsoft.com/office/powerpoint/2010/main" val="1658790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92D18AE-3547-4DC8-B93E-6E4F9153274C}" type="datetimeFigureOut">
              <a:rPr lang="zh-TW" altLang="en-US" smtClean="0"/>
              <a:t>2016/10/5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E98538-B74A-4BE2-93F5-185A29C76F90}" type="slidenum">
              <a:rPr lang="zh-TW" altLang="en-US" smtClean="0"/>
              <a:t>‹#›</a:t>
            </a:fld>
            <a:endParaRPr lang="zh-TW" altLang="en-US"/>
          </a:p>
        </p:txBody>
      </p:sp>
    </p:spTree>
    <p:extLst>
      <p:ext uri="{BB962C8B-B14F-4D97-AF65-F5344CB8AC3E}">
        <p14:creationId xmlns:p14="http://schemas.microsoft.com/office/powerpoint/2010/main" val="4064906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92D18AE-3547-4DC8-B93E-6E4F9153274C}" type="datetimeFigureOut">
              <a:rPr lang="zh-TW" altLang="en-US" smtClean="0"/>
              <a:t>2016/10/5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E98538-B74A-4BE2-93F5-185A29C76F90}" type="slidenum">
              <a:rPr lang="zh-TW" altLang="en-US" smtClean="0"/>
              <a:t>‹#›</a:t>
            </a:fld>
            <a:endParaRPr lang="zh-TW" altLang="en-US"/>
          </a:p>
        </p:txBody>
      </p:sp>
    </p:spTree>
    <p:extLst>
      <p:ext uri="{BB962C8B-B14F-4D97-AF65-F5344CB8AC3E}">
        <p14:creationId xmlns:p14="http://schemas.microsoft.com/office/powerpoint/2010/main" val="3180369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2D18AE-3547-4DC8-B93E-6E4F9153274C}" type="datetimeFigureOut">
              <a:rPr lang="zh-TW" altLang="en-US" smtClean="0"/>
              <a:t>2016/10/5</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E98538-B74A-4BE2-93F5-185A29C76F90}" type="slidenum">
              <a:rPr lang="zh-TW" altLang="en-US" smtClean="0"/>
              <a:t>‹#›</a:t>
            </a:fld>
            <a:endParaRPr lang="zh-TW" altLang="en-US"/>
          </a:p>
        </p:txBody>
      </p:sp>
    </p:spTree>
    <p:extLst>
      <p:ext uri="{BB962C8B-B14F-4D97-AF65-F5344CB8AC3E}">
        <p14:creationId xmlns:p14="http://schemas.microsoft.com/office/powerpoint/2010/main" val="729211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394394"/>
            <a:ext cx="9144000" cy="1558693"/>
          </a:xfrm>
        </p:spPr>
        <p:txBody>
          <a:bodyPr>
            <a:normAutofit fontScale="90000"/>
          </a:bodyPr>
          <a:lstStyle/>
          <a:p>
            <a:r>
              <a:rPr lang="zh-TW" altLang="en-US" dirty="0"/>
              <a:t/>
            </a:r>
            <a:br>
              <a:rPr lang="zh-TW" altLang="en-US" dirty="0"/>
            </a:br>
            <a:r>
              <a:rPr lang="en-US" altLang="zh-TW" dirty="0"/>
              <a:t> </a:t>
            </a:r>
            <a:r>
              <a:rPr lang="en-US" altLang="zh-TW" sz="4400" dirty="0"/>
              <a:t>Making Time-series Classification more accurate Using Learned Constraints </a:t>
            </a:r>
            <a:endParaRPr lang="zh-TW" altLang="en-US" sz="4400" dirty="0"/>
          </a:p>
        </p:txBody>
      </p:sp>
      <p:sp>
        <p:nvSpPr>
          <p:cNvPr id="3" name="副標題 2"/>
          <p:cNvSpPr>
            <a:spLocks noGrp="1"/>
          </p:cNvSpPr>
          <p:nvPr>
            <p:ph type="subTitle" idx="1"/>
          </p:nvPr>
        </p:nvSpPr>
        <p:spPr>
          <a:xfrm>
            <a:off x="1524000" y="2598862"/>
            <a:ext cx="9144000" cy="2195080"/>
          </a:xfrm>
        </p:spPr>
        <p:txBody>
          <a:bodyPr>
            <a:normAutofit/>
          </a:bodyPr>
          <a:lstStyle/>
          <a:p>
            <a:endParaRPr lang="zh-TW" altLang="en-US" dirty="0"/>
          </a:p>
          <a:p>
            <a:r>
              <a:rPr lang="en-US" altLang="zh-TW" dirty="0"/>
              <a:t> </a:t>
            </a:r>
            <a:r>
              <a:rPr lang="en-US" altLang="zh-TW" dirty="0" err="1"/>
              <a:t>Chotirat</a:t>
            </a:r>
            <a:r>
              <a:rPr lang="en-US" altLang="zh-TW" dirty="0"/>
              <a:t> Ann </a:t>
            </a:r>
            <a:r>
              <a:rPr lang="en-US" altLang="zh-TW" dirty="0" err="1"/>
              <a:t>Ratanamahatana</a:t>
            </a:r>
            <a:endParaRPr lang="en-US" altLang="zh-TW" dirty="0"/>
          </a:p>
          <a:p>
            <a:r>
              <a:rPr lang="en-US" altLang="zh-TW" dirty="0" err="1"/>
              <a:t>Eamonn</a:t>
            </a:r>
            <a:r>
              <a:rPr lang="en-US" altLang="zh-TW" dirty="0"/>
              <a:t> Keogh </a:t>
            </a:r>
          </a:p>
          <a:p>
            <a:r>
              <a:rPr lang="en-US" altLang="zh-TW" dirty="0"/>
              <a:t>Society for Industry and Applied Mathematics(SIAM)</a:t>
            </a:r>
            <a:r>
              <a:rPr lang="zh-TW" altLang="en-US" dirty="0"/>
              <a:t> </a:t>
            </a:r>
            <a:r>
              <a:rPr lang="en-US" altLang="zh-TW" dirty="0"/>
              <a:t>International Conference On Data Mining, 2004</a:t>
            </a:r>
          </a:p>
          <a:p>
            <a:endParaRPr lang="en-US" altLang="zh-TW" dirty="0"/>
          </a:p>
          <a:p>
            <a:endParaRPr lang="en-US" altLang="zh-TW" dirty="0"/>
          </a:p>
          <a:p>
            <a:endParaRPr lang="zh-TW" altLang="en-US" dirty="0"/>
          </a:p>
        </p:txBody>
      </p:sp>
      <p:sp>
        <p:nvSpPr>
          <p:cNvPr id="6" name="標題 1"/>
          <p:cNvSpPr txBox="1">
            <a:spLocks/>
          </p:cNvSpPr>
          <p:nvPr/>
        </p:nvSpPr>
        <p:spPr>
          <a:xfrm>
            <a:off x="1845075" y="4930242"/>
            <a:ext cx="9144000" cy="1558693"/>
          </a:xfrm>
          <a:prstGeom prst="rect">
            <a:avLst/>
          </a:prstGeom>
        </p:spPr>
        <p:txBody>
          <a:bodyPr vert="horz" lIns="91440" tIns="45720" rIns="91440" bIns="4572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TW" altLang="en-US" dirty="0"/>
              <a:t/>
            </a:r>
            <a:br>
              <a:rPr lang="zh-TW" altLang="en-US" dirty="0"/>
            </a:br>
            <a:r>
              <a:rPr lang="en-US" altLang="zh-TW" dirty="0"/>
              <a:t> </a:t>
            </a:r>
            <a:r>
              <a:rPr lang="en-US" altLang="zh-TW" sz="2900" dirty="0"/>
              <a:t>Presenter : Shu-Kai, Hung</a:t>
            </a:r>
          </a:p>
          <a:p>
            <a:r>
              <a:rPr lang="en-US" altLang="zh-TW" sz="2900" dirty="0"/>
              <a:t>Date </a:t>
            </a:r>
            <a:r>
              <a:rPr lang="en-US" altLang="zh-TW" sz="2900"/>
              <a:t>: </a:t>
            </a:r>
            <a:r>
              <a:rPr lang="en-US" altLang="zh-TW" sz="2900" smtClean="0"/>
              <a:t>2016/10/5</a:t>
            </a:r>
            <a:endParaRPr lang="zh-TW" altLang="en-US" sz="2900" dirty="0"/>
          </a:p>
          <a:p>
            <a:endParaRPr lang="zh-TW" altLang="en-US" sz="4400" dirty="0"/>
          </a:p>
        </p:txBody>
      </p:sp>
    </p:spTree>
    <p:extLst>
      <p:ext uri="{BB962C8B-B14F-4D97-AF65-F5344CB8AC3E}">
        <p14:creationId xmlns:p14="http://schemas.microsoft.com/office/powerpoint/2010/main" val="179246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160938"/>
            <a:ext cx="10515600" cy="1325563"/>
          </a:xfrm>
        </p:spPr>
        <p:txBody>
          <a:bodyPr/>
          <a:lstStyle/>
          <a:p>
            <a:r>
              <a:rPr lang="en-US" altLang="zh-TW" dirty="0"/>
              <a:t>Abstract</a:t>
            </a:r>
            <a:endParaRPr lang="zh-TW" altLang="en-US" dirty="0"/>
          </a:p>
        </p:txBody>
      </p:sp>
      <p:sp>
        <p:nvSpPr>
          <p:cNvPr id="3" name="內容版面配置區 2"/>
          <p:cNvSpPr>
            <a:spLocks noGrp="1"/>
          </p:cNvSpPr>
          <p:nvPr>
            <p:ph idx="1"/>
          </p:nvPr>
        </p:nvSpPr>
        <p:spPr>
          <a:xfrm>
            <a:off x="838200" y="1088778"/>
            <a:ext cx="10515600" cy="5516207"/>
          </a:xfrm>
        </p:spPr>
        <p:txBody>
          <a:bodyPr>
            <a:normAutofit fontScale="92500" lnSpcReduction="10000"/>
          </a:bodyPr>
          <a:lstStyle/>
          <a:p>
            <a:endParaRPr lang="zh-TW" altLang="en-US" dirty="0"/>
          </a:p>
          <a:p>
            <a:pPr marL="0" indent="0">
              <a:buNone/>
            </a:pPr>
            <a:r>
              <a:rPr lang="en-US" altLang="zh-TW" dirty="0"/>
              <a:t> It has long been known that Dynamic Time Warping (DTW) is superior to Euclidean distance for classification and clustering of time series. However, until lately, most research has utilized Euclidean distance because it is more efficiently calculated. A recently introduced technique that greatly mitigates DTWs demanding CPU time has sparked a flurry of research activity. However, the technique and its many extensions still only allow DTW to be applied to moderately large datasets. In addition, almost all of the research on DTW has focused exclusively on speeding up its calculation. there has been little work done on improving its accuracy. In this work, we target the accuracy aspect of DTW performance and introduce a new framework that learns arbitrary constraints on the warping path of the DTW calculation. Apart from improving the accuracy of classification, our technique as a side effect speeds up DTW by a wide margin as well. We show the utility of our approach on datasets from diverse domains and demonstrate significant gains in accuracy and efficiency. </a:t>
            </a:r>
            <a:endParaRPr lang="zh-TW" altLang="en-US" dirty="0"/>
          </a:p>
        </p:txBody>
      </p:sp>
    </p:spTree>
    <p:extLst>
      <p:ext uri="{BB962C8B-B14F-4D97-AF65-F5344CB8AC3E}">
        <p14:creationId xmlns:p14="http://schemas.microsoft.com/office/powerpoint/2010/main" val="1510542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7843" y="136102"/>
            <a:ext cx="10515600" cy="700195"/>
          </a:xfrm>
        </p:spPr>
        <p:txBody>
          <a:bodyPr/>
          <a:lstStyle/>
          <a:p>
            <a:r>
              <a:rPr lang="en-US" altLang="zh-TW" b="1" dirty="0"/>
              <a:t>Dynamic Time Warping</a:t>
            </a:r>
            <a:endParaRPr lang="zh-TW" altLang="en-US" b="1"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275208" y="1065320"/>
                <a:ext cx="11620870" cy="5557422"/>
              </a:xfrm>
            </p:spPr>
            <p:txBody>
              <a:bodyPr/>
              <a:lstStyle/>
              <a:p>
                <a:r>
                  <a:rPr lang="en-US" altLang="zh-TW" dirty="0"/>
                  <a:t>Q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𝑞</m:t>
                        </m:r>
                      </m:e>
                      <m:sub>
                        <m:r>
                          <a:rPr lang="en-US" altLang="zh-TW" b="0" i="1" smtClean="0">
                            <a:latin typeface="Cambria Math" panose="02040503050406030204" pitchFamily="18" charset="0"/>
                          </a:rPr>
                          <m:t>1</m:t>
                        </m:r>
                      </m:sub>
                    </m:s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𝑞</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𝑞</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𝑞</m:t>
                        </m:r>
                      </m:e>
                      <m:sub>
                        <m:r>
                          <a:rPr lang="en-US" altLang="zh-TW" b="0" i="1" smtClean="0">
                            <a:latin typeface="Cambria Math" panose="02040503050406030204" pitchFamily="18" charset="0"/>
                          </a:rPr>
                          <m:t>𝑛</m:t>
                        </m:r>
                      </m:sub>
                    </m:sSub>
                  </m:oMath>
                </a14:m>
                <a:r>
                  <a:rPr lang="zh-TW" altLang="en-US" dirty="0"/>
                  <a:t> </a:t>
                </a:r>
                <a:r>
                  <a:rPr lang="en-US" altLang="zh-TW" dirty="0"/>
                  <a:t>ex : Q = 1 3 2 4 5 0</a:t>
                </a:r>
              </a:p>
              <a:p>
                <a:r>
                  <a:rPr lang="en-US" altLang="zh-TW" dirty="0"/>
                  <a:t>C =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1</m:t>
                        </m:r>
                      </m:sub>
                    </m:s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𝑞</m:t>
                        </m:r>
                      </m:e>
                      <m:sub>
                        <m:r>
                          <a:rPr lang="en-US" altLang="zh-TW" b="0" i="1" smtClean="0">
                            <a:latin typeface="Cambria Math" panose="02040503050406030204" pitchFamily="18" charset="0"/>
                          </a:rPr>
                          <m:t>𝑚</m:t>
                        </m:r>
                      </m:sub>
                    </m:sSub>
                  </m:oMath>
                </a14:m>
                <a:r>
                  <a:rPr lang="zh-TW" altLang="en-US" dirty="0"/>
                  <a:t> </a:t>
                </a:r>
                <a:r>
                  <a:rPr lang="en-US" altLang="zh-TW" dirty="0"/>
                  <a:t>ex : C  = 1 2 2 3 4 </a:t>
                </a:r>
              </a:p>
              <a:p>
                <a14:m>
                  <m:oMath xmlns:m="http://schemas.openxmlformats.org/officeDocument/2006/math">
                    <m:r>
                      <a:rPr lang="en-US" altLang="zh-TW" b="0" i="1" smtClean="0">
                        <a:latin typeface="Cambria Math" panose="02040503050406030204" pitchFamily="18" charset="0"/>
                      </a:rPr>
                      <m:t>𝑑</m:t>
                    </m:r>
                    <m:d>
                      <m:dPr>
                        <m:ctrlPr>
                          <a:rPr lang="en-US" altLang="zh-TW" b="0" i="1" smtClean="0">
                            <a:latin typeface="Cambria Math" panose="02040503050406030204" pitchFamily="18" charset="0"/>
                          </a:rPr>
                        </m:ctrlPr>
                      </m:d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𝑞</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𝑗</m:t>
                            </m:r>
                          </m:sub>
                        </m:sSub>
                      </m:e>
                    </m:d>
                    <m:r>
                      <a:rPr lang="en-US" altLang="zh-TW" b="0" i="1" smtClean="0">
                        <a:latin typeface="Cambria Math" panose="02040503050406030204" pitchFamily="18" charset="0"/>
                      </a:rPr>
                      <m:t>= </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𝑞</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e>
                      <m:sup>
                        <m:r>
                          <a:rPr lang="en-US" altLang="zh-TW" b="0" i="1" smtClean="0">
                            <a:latin typeface="Cambria Math" panose="02040503050406030204" pitchFamily="18" charset="0"/>
                          </a:rPr>
                          <m:t>2</m:t>
                        </m:r>
                      </m:sup>
                    </m:sSup>
                  </m:oMath>
                </a14:m>
                <a:endParaRPr lang="en-US" altLang="zh-TW" dirty="0"/>
              </a:p>
              <a:p>
                <a:r>
                  <a:rPr lang="en-US" altLang="zh-TW" dirty="0"/>
                  <a:t>The </a:t>
                </a:r>
                <a14:m>
                  <m:oMath xmlns:m="http://schemas.openxmlformats.org/officeDocument/2006/math">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𝑘</m:t>
                        </m:r>
                      </m:e>
                      <m:sup>
                        <m:r>
                          <a:rPr lang="en-US" altLang="zh-TW" b="0" i="1" smtClean="0">
                            <a:latin typeface="Cambria Math" panose="02040503050406030204" pitchFamily="18" charset="0"/>
                          </a:rPr>
                          <m:t>𝑡h</m:t>
                        </m:r>
                      </m:sup>
                    </m:sSup>
                    <m:r>
                      <a:rPr lang="en-US" altLang="zh-TW" b="0" i="1" smtClean="0">
                        <a:latin typeface="Cambria Math" panose="02040503050406030204" pitchFamily="18" charset="0"/>
                      </a:rPr>
                      <m:t> </m:t>
                    </m:r>
                    <m:r>
                      <a:rPr lang="en-US" altLang="zh-TW" b="0" i="1" smtClean="0">
                        <a:latin typeface="Cambria Math" panose="02040503050406030204" pitchFamily="18" charset="0"/>
                      </a:rPr>
                      <m:t>𝑜𝑓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𝑊</m:t>
                    </m:r>
                    <m:r>
                      <m:rPr>
                        <m:nor/>
                      </m:rPr>
                      <a:rPr lang="en-US" altLang="zh-TW" b="0" i="0" smtClean="0">
                        <a:latin typeface="Cambria Math" panose="02040503050406030204" pitchFamily="18" charset="0"/>
                      </a:rPr>
                      <m:t> </m:t>
                    </m:r>
                    <m:r>
                      <m:rPr>
                        <m:nor/>
                      </m:rPr>
                      <a:rPr lang="en-US" altLang="zh-TW"/>
                      <m:t>is</m:t>
                    </m:r>
                    <m:r>
                      <m:rPr>
                        <m:nor/>
                      </m:rPr>
                      <a:rPr lang="en-US" altLang="zh-TW"/>
                      <m:t> </m:t>
                    </m:r>
                    <m:r>
                      <m:rPr>
                        <m:nor/>
                      </m:rPr>
                      <a:rPr lang="en-US" altLang="zh-TW"/>
                      <m:t>defined</m:t>
                    </m:r>
                    <m:r>
                      <m:rPr>
                        <m:nor/>
                      </m:rPr>
                      <a:rPr lang="en-US" altLang="zh-TW"/>
                      <m:t> </m:t>
                    </m:r>
                    <m:r>
                      <m:rPr>
                        <m:nor/>
                      </m:rPr>
                      <a:rPr lang="en-US" altLang="zh-TW"/>
                      <m:t>as</m:t>
                    </m:r>
                    <m:r>
                      <a:rPr lang="en-US" altLang="zh-TW" b="0" i="1" smtClean="0">
                        <a:latin typeface="Cambria Math" panose="02040503050406030204" pitchFamily="18" charset="0"/>
                      </a:rPr>
                      <m:t> </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𝑊</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m:t>
                        </m:r>
                      </m:e>
                      <m:sub>
                        <m:r>
                          <a:rPr lang="en-US" altLang="zh-TW" b="0" i="1" smtClean="0">
                            <a:latin typeface="Cambria Math" panose="02040503050406030204" pitchFamily="18" charset="0"/>
                          </a:rPr>
                          <m:t>𝑘</m:t>
                        </m:r>
                      </m:sub>
                    </m:sSub>
                  </m:oMath>
                </a14:m>
                <a:endParaRPr lang="en-US" altLang="zh-TW" dirty="0"/>
              </a:p>
              <a:p>
                <a:pPr marL="0" indent="0">
                  <a:buNone/>
                </a:pPr>
                <a:r>
                  <a:rPr lang="en-US" altLang="zh-TW" dirty="0"/>
                  <a:t>=&gt;</a:t>
                </a:r>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275208" y="1065320"/>
                <a:ext cx="11620870" cy="5557422"/>
              </a:xfrm>
              <a:blipFill>
                <a:blip r:embed="rId2"/>
                <a:stretch>
                  <a:fillRect l="-1049" t="-1866"/>
                </a:stretch>
              </a:blipFill>
            </p:spPr>
            <p:txBody>
              <a:bodyPr/>
              <a:lstStyle/>
              <a:p>
                <a:r>
                  <a:rPr lang="zh-TW"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4092383950"/>
              </p:ext>
            </p:extLst>
          </p:nvPr>
        </p:nvGraphicFramePr>
        <p:xfrm>
          <a:off x="6698200" y="1455556"/>
          <a:ext cx="4425150" cy="3827411"/>
        </p:xfrm>
        <a:graphic>
          <a:graphicData uri="http://schemas.openxmlformats.org/drawingml/2006/table">
            <a:tbl>
              <a:tblPr firstRow="1" bandRow="1">
                <a:tableStyleId>{5940675A-B579-460E-94D1-54222C63F5DA}</a:tableStyleId>
              </a:tblPr>
              <a:tblGrid>
                <a:gridCol w="737525">
                  <a:extLst>
                    <a:ext uri="{9D8B030D-6E8A-4147-A177-3AD203B41FA5}">
                      <a16:colId xmlns:a16="http://schemas.microsoft.com/office/drawing/2014/main" xmlns="" val="1220981271"/>
                    </a:ext>
                  </a:extLst>
                </a:gridCol>
                <a:gridCol w="737525">
                  <a:extLst>
                    <a:ext uri="{9D8B030D-6E8A-4147-A177-3AD203B41FA5}">
                      <a16:colId xmlns:a16="http://schemas.microsoft.com/office/drawing/2014/main" xmlns="" val="3003695940"/>
                    </a:ext>
                  </a:extLst>
                </a:gridCol>
                <a:gridCol w="737525">
                  <a:extLst>
                    <a:ext uri="{9D8B030D-6E8A-4147-A177-3AD203B41FA5}">
                      <a16:colId xmlns:a16="http://schemas.microsoft.com/office/drawing/2014/main" xmlns="" val="3271183314"/>
                    </a:ext>
                  </a:extLst>
                </a:gridCol>
                <a:gridCol w="737525">
                  <a:extLst>
                    <a:ext uri="{9D8B030D-6E8A-4147-A177-3AD203B41FA5}">
                      <a16:colId xmlns:a16="http://schemas.microsoft.com/office/drawing/2014/main" xmlns="" val="1074734319"/>
                    </a:ext>
                  </a:extLst>
                </a:gridCol>
                <a:gridCol w="737525">
                  <a:extLst>
                    <a:ext uri="{9D8B030D-6E8A-4147-A177-3AD203B41FA5}">
                      <a16:colId xmlns:a16="http://schemas.microsoft.com/office/drawing/2014/main" xmlns="" val="380802216"/>
                    </a:ext>
                  </a:extLst>
                </a:gridCol>
                <a:gridCol w="737525">
                  <a:extLst>
                    <a:ext uri="{9D8B030D-6E8A-4147-A177-3AD203B41FA5}">
                      <a16:colId xmlns:a16="http://schemas.microsoft.com/office/drawing/2014/main" xmlns="" val="1945538904"/>
                    </a:ext>
                  </a:extLst>
                </a:gridCol>
              </a:tblGrid>
              <a:tr h="546773">
                <a:tc>
                  <a:txBody>
                    <a:bodyPr/>
                    <a:lstStyle/>
                    <a:p>
                      <a:pPr algn="ctr"/>
                      <a:endParaRPr lang="zh-TW" altLang="en-US" dirty="0"/>
                    </a:p>
                  </a:txBody>
                  <a:tcPr/>
                </a:tc>
                <a:tc>
                  <a:txBody>
                    <a:bodyPr/>
                    <a:lstStyle/>
                    <a:p>
                      <a:pPr algn="ctr"/>
                      <a:r>
                        <a:rPr lang="en-US" altLang="zh-TW" dirty="0">
                          <a:solidFill>
                            <a:schemeClr val="accent2"/>
                          </a:solidFill>
                        </a:rPr>
                        <a:t>1</a:t>
                      </a:r>
                      <a:endParaRPr lang="zh-TW" altLang="en-US" dirty="0">
                        <a:solidFill>
                          <a:schemeClr val="accent2"/>
                        </a:solidFill>
                      </a:endParaRPr>
                    </a:p>
                  </a:txBody>
                  <a:tcPr/>
                </a:tc>
                <a:tc>
                  <a:txBody>
                    <a:bodyPr/>
                    <a:lstStyle/>
                    <a:p>
                      <a:pPr algn="ctr"/>
                      <a:r>
                        <a:rPr lang="en-US" altLang="zh-TW" dirty="0">
                          <a:solidFill>
                            <a:schemeClr val="accent2"/>
                          </a:solidFill>
                        </a:rPr>
                        <a:t>2</a:t>
                      </a:r>
                      <a:endParaRPr lang="zh-TW" altLang="en-US" dirty="0">
                        <a:solidFill>
                          <a:schemeClr val="accent2"/>
                        </a:solidFill>
                      </a:endParaRPr>
                    </a:p>
                  </a:txBody>
                  <a:tcPr/>
                </a:tc>
                <a:tc>
                  <a:txBody>
                    <a:bodyPr/>
                    <a:lstStyle/>
                    <a:p>
                      <a:pPr algn="ctr"/>
                      <a:r>
                        <a:rPr lang="en-US" altLang="zh-TW" dirty="0">
                          <a:solidFill>
                            <a:schemeClr val="accent2"/>
                          </a:solidFill>
                        </a:rPr>
                        <a:t>2</a:t>
                      </a:r>
                      <a:endParaRPr lang="zh-TW" altLang="en-US" dirty="0">
                        <a:solidFill>
                          <a:schemeClr val="accent2"/>
                        </a:solidFill>
                      </a:endParaRPr>
                    </a:p>
                  </a:txBody>
                  <a:tcPr/>
                </a:tc>
                <a:tc>
                  <a:txBody>
                    <a:bodyPr/>
                    <a:lstStyle/>
                    <a:p>
                      <a:pPr algn="ctr"/>
                      <a:r>
                        <a:rPr lang="en-US" altLang="zh-TW" dirty="0">
                          <a:solidFill>
                            <a:schemeClr val="accent2"/>
                          </a:solidFill>
                        </a:rPr>
                        <a:t>3</a:t>
                      </a:r>
                      <a:endParaRPr lang="zh-TW" altLang="en-US" dirty="0">
                        <a:solidFill>
                          <a:schemeClr val="accent2"/>
                        </a:solidFill>
                      </a:endParaRPr>
                    </a:p>
                  </a:txBody>
                  <a:tcPr/>
                </a:tc>
                <a:tc>
                  <a:txBody>
                    <a:bodyPr/>
                    <a:lstStyle/>
                    <a:p>
                      <a:pPr algn="ctr"/>
                      <a:r>
                        <a:rPr lang="en-US" altLang="zh-TW" dirty="0">
                          <a:solidFill>
                            <a:schemeClr val="accent2"/>
                          </a:solidFill>
                        </a:rPr>
                        <a:t>4</a:t>
                      </a:r>
                      <a:endParaRPr lang="zh-TW" altLang="en-US" dirty="0">
                        <a:solidFill>
                          <a:schemeClr val="accent2"/>
                        </a:solidFill>
                      </a:endParaRPr>
                    </a:p>
                  </a:txBody>
                  <a:tcPr/>
                </a:tc>
                <a:extLst>
                  <a:ext uri="{0D108BD9-81ED-4DB2-BD59-A6C34878D82A}">
                    <a16:rowId xmlns:a16="http://schemas.microsoft.com/office/drawing/2014/main" xmlns="" val="3597104618"/>
                  </a:ext>
                </a:extLst>
              </a:tr>
              <a:tr h="546773">
                <a:tc>
                  <a:txBody>
                    <a:bodyPr/>
                    <a:lstStyle/>
                    <a:p>
                      <a:pPr algn="ctr"/>
                      <a:r>
                        <a:rPr lang="en-US" altLang="zh-TW" dirty="0">
                          <a:solidFill>
                            <a:schemeClr val="accent2"/>
                          </a:solidFill>
                        </a:rPr>
                        <a:t>1</a:t>
                      </a:r>
                      <a:endParaRPr lang="zh-TW" altLang="en-US" dirty="0">
                        <a:solidFill>
                          <a:schemeClr val="accent2"/>
                        </a:solidFill>
                      </a:endParaRPr>
                    </a:p>
                  </a:txBody>
                  <a:tcPr/>
                </a:tc>
                <a:tc>
                  <a:txBody>
                    <a:bodyPr/>
                    <a:lstStyle/>
                    <a:p>
                      <a:pPr algn="ctr"/>
                      <a:r>
                        <a:rPr lang="en-US" altLang="zh-TW" dirty="0">
                          <a:solidFill>
                            <a:schemeClr val="tx1"/>
                          </a:solidFill>
                        </a:rPr>
                        <a:t>0</a:t>
                      </a:r>
                      <a:endParaRPr lang="zh-TW" altLang="en-US" dirty="0">
                        <a:solidFill>
                          <a:schemeClr val="tx1"/>
                        </a:solidFill>
                      </a:endParaRPr>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9</a:t>
                      </a:r>
                      <a:endParaRPr lang="zh-TW" altLang="en-US" dirty="0"/>
                    </a:p>
                  </a:txBody>
                  <a:tcPr/>
                </a:tc>
                <a:extLst>
                  <a:ext uri="{0D108BD9-81ED-4DB2-BD59-A6C34878D82A}">
                    <a16:rowId xmlns:a16="http://schemas.microsoft.com/office/drawing/2014/main" xmlns="" val="2254922071"/>
                  </a:ext>
                </a:extLst>
              </a:tr>
              <a:tr h="546773">
                <a:tc>
                  <a:txBody>
                    <a:bodyPr/>
                    <a:lstStyle/>
                    <a:p>
                      <a:pPr algn="ctr"/>
                      <a:r>
                        <a:rPr lang="en-US" altLang="zh-TW" dirty="0">
                          <a:solidFill>
                            <a:schemeClr val="accent2"/>
                          </a:solidFill>
                        </a:rPr>
                        <a:t>3</a:t>
                      </a:r>
                      <a:endParaRPr lang="zh-TW" altLang="en-US" dirty="0">
                        <a:solidFill>
                          <a:schemeClr val="accent2"/>
                        </a:solidFill>
                      </a:endParaRPr>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a16="http://schemas.microsoft.com/office/drawing/2014/main" xmlns="" val="1466694822"/>
                  </a:ext>
                </a:extLst>
              </a:tr>
              <a:tr h="546773">
                <a:tc>
                  <a:txBody>
                    <a:bodyPr/>
                    <a:lstStyle/>
                    <a:p>
                      <a:pPr algn="ctr"/>
                      <a:r>
                        <a:rPr lang="en-US" altLang="zh-TW" dirty="0">
                          <a:solidFill>
                            <a:schemeClr val="accent2"/>
                          </a:solidFill>
                        </a:rPr>
                        <a:t>2</a:t>
                      </a:r>
                      <a:endParaRPr lang="zh-TW" altLang="en-US" dirty="0">
                        <a:solidFill>
                          <a:schemeClr val="accent2"/>
                        </a:solidFill>
                      </a:endParaRPr>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extLst>
                  <a:ext uri="{0D108BD9-81ED-4DB2-BD59-A6C34878D82A}">
                    <a16:rowId xmlns:a16="http://schemas.microsoft.com/office/drawing/2014/main" xmlns="" val="614702130"/>
                  </a:ext>
                </a:extLst>
              </a:tr>
              <a:tr h="546773">
                <a:tc>
                  <a:txBody>
                    <a:bodyPr/>
                    <a:lstStyle/>
                    <a:p>
                      <a:pPr algn="ctr"/>
                      <a:r>
                        <a:rPr lang="en-US" altLang="zh-TW" dirty="0">
                          <a:solidFill>
                            <a:schemeClr val="accent2"/>
                          </a:solidFill>
                        </a:rPr>
                        <a:t>4</a:t>
                      </a:r>
                      <a:endParaRPr lang="zh-TW" altLang="en-US" dirty="0">
                        <a:solidFill>
                          <a:schemeClr val="accent2"/>
                        </a:solidFill>
                      </a:endParaRPr>
                    </a:p>
                  </a:txBody>
                  <a:tcPr/>
                </a:tc>
                <a:tc>
                  <a:txBody>
                    <a:bodyPr/>
                    <a:lstStyle/>
                    <a:p>
                      <a:pPr algn="ctr"/>
                      <a:r>
                        <a:rPr lang="en-US" altLang="zh-TW" dirty="0"/>
                        <a:t>9</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xmlns="" val="1603679075"/>
                  </a:ext>
                </a:extLst>
              </a:tr>
              <a:tr h="546773">
                <a:tc>
                  <a:txBody>
                    <a:bodyPr/>
                    <a:lstStyle/>
                    <a:p>
                      <a:pPr algn="ctr"/>
                      <a:r>
                        <a:rPr lang="en-US" altLang="zh-TW" dirty="0">
                          <a:solidFill>
                            <a:schemeClr val="accent2"/>
                          </a:solidFill>
                        </a:rPr>
                        <a:t>5</a:t>
                      </a:r>
                      <a:endParaRPr lang="zh-TW" altLang="en-US" dirty="0">
                        <a:solidFill>
                          <a:schemeClr val="accent2"/>
                        </a:solidFill>
                      </a:endParaRPr>
                    </a:p>
                  </a:txBody>
                  <a:tcPr/>
                </a:tc>
                <a:tc>
                  <a:txBody>
                    <a:bodyPr/>
                    <a:lstStyle/>
                    <a:p>
                      <a:pPr algn="ctr"/>
                      <a:r>
                        <a:rPr lang="en-US" altLang="zh-TW" dirty="0"/>
                        <a:t>16</a:t>
                      </a:r>
                      <a:endParaRPr lang="zh-TW" altLang="en-US" dirty="0"/>
                    </a:p>
                  </a:txBody>
                  <a:tcPr/>
                </a:tc>
                <a:tc>
                  <a:txBody>
                    <a:bodyPr/>
                    <a:lstStyle/>
                    <a:p>
                      <a:pPr algn="ctr"/>
                      <a:r>
                        <a:rPr lang="en-US" altLang="zh-TW" dirty="0"/>
                        <a:t>9</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a16="http://schemas.microsoft.com/office/drawing/2014/main" xmlns="" val="3338566113"/>
                  </a:ext>
                </a:extLst>
              </a:tr>
              <a:tr h="546773">
                <a:tc>
                  <a:txBody>
                    <a:bodyPr/>
                    <a:lstStyle/>
                    <a:p>
                      <a:pPr algn="ctr"/>
                      <a:r>
                        <a:rPr lang="en-US" altLang="zh-TW" dirty="0">
                          <a:solidFill>
                            <a:schemeClr val="accent2"/>
                          </a:solidFill>
                        </a:rPr>
                        <a:t>0</a:t>
                      </a:r>
                      <a:endParaRPr lang="zh-TW" altLang="en-US" dirty="0">
                        <a:solidFill>
                          <a:schemeClr val="accent2"/>
                        </a:solidFill>
                      </a:endParaRPr>
                    </a:p>
                  </a:txBody>
                  <a:tcPr/>
                </a:tc>
                <a:tc>
                  <a:txBody>
                    <a:bodyPr/>
                    <a:lstStyle/>
                    <a:p>
                      <a:pPr algn="ctr"/>
                      <a:r>
                        <a:rPr lang="en-US" altLang="zh-TW" dirty="0"/>
                        <a:t>4</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a16="http://schemas.microsoft.com/office/drawing/2014/main" xmlns="" val="671963369"/>
                  </a:ext>
                </a:extLst>
              </a:tr>
            </a:tbl>
          </a:graphicData>
        </a:graphic>
      </p:graphicFrame>
      <p:cxnSp>
        <p:nvCxnSpPr>
          <p:cNvPr id="6" name="直線單箭頭接點 5"/>
          <p:cNvCxnSpPr/>
          <p:nvPr/>
        </p:nvCxnSpPr>
        <p:spPr>
          <a:xfrm flipV="1">
            <a:off x="8684394" y="2777428"/>
            <a:ext cx="452761" cy="8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7"/>
          <p:cNvCxnSpPr/>
          <p:nvPr/>
        </p:nvCxnSpPr>
        <p:spPr>
          <a:xfrm>
            <a:off x="10803495" y="4532610"/>
            <a:ext cx="925" cy="371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a:off x="10072917" y="3472648"/>
            <a:ext cx="925" cy="371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a:off x="10232357" y="3929973"/>
            <a:ext cx="273173" cy="290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a:off x="9458918" y="2898955"/>
            <a:ext cx="273173" cy="290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a:off x="8014759" y="2446649"/>
            <a:ext cx="273173" cy="290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圖片 14"/>
          <p:cNvPicPr>
            <a:picLocks noChangeAspect="1"/>
          </p:cNvPicPr>
          <p:nvPr/>
        </p:nvPicPr>
        <p:blipFill>
          <a:blip r:embed="rId3"/>
          <a:stretch>
            <a:fillRect/>
          </a:stretch>
        </p:blipFill>
        <p:spPr>
          <a:xfrm>
            <a:off x="838200" y="3189131"/>
            <a:ext cx="5577840" cy="706539"/>
          </a:xfrm>
          <a:prstGeom prst="rect">
            <a:avLst/>
          </a:prstGeom>
        </p:spPr>
      </p:pic>
      <p:pic>
        <p:nvPicPr>
          <p:cNvPr id="16" name="圖片 15"/>
          <p:cNvPicPr>
            <a:picLocks noChangeAspect="1"/>
          </p:cNvPicPr>
          <p:nvPr/>
        </p:nvPicPr>
        <p:blipFill>
          <a:blip r:embed="rId4"/>
          <a:stretch>
            <a:fillRect/>
          </a:stretch>
        </p:blipFill>
        <p:spPr>
          <a:xfrm>
            <a:off x="549048" y="4051598"/>
            <a:ext cx="3648075" cy="962025"/>
          </a:xfrm>
          <a:prstGeom prst="rect">
            <a:avLst/>
          </a:prstGeom>
        </p:spPr>
      </p:pic>
      <p:pic>
        <p:nvPicPr>
          <p:cNvPr id="5" name="圖片 4"/>
          <p:cNvPicPr>
            <a:picLocks noChangeAspect="1"/>
          </p:cNvPicPr>
          <p:nvPr/>
        </p:nvPicPr>
        <p:blipFill>
          <a:blip r:embed="rId5"/>
          <a:stretch>
            <a:fillRect/>
          </a:stretch>
        </p:blipFill>
        <p:spPr>
          <a:xfrm>
            <a:off x="354550" y="4894983"/>
            <a:ext cx="6343650" cy="695325"/>
          </a:xfrm>
          <a:prstGeom prst="rect">
            <a:avLst/>
          </a:prstGeom>
        </p:spPr>
      </p:pic>
    </p:spTree>
    <p:extLst>
      <p:ext uri="{BB962C8B-B14F-4D97-AF65-F5344CB8AC3E}">
        <p14:creationId xmlns:p14="http://schemas.microsoft.com/office/powerpoint/2010/main" val="3308482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169817"/>
            <a:ext cx="10515600" cy="735706"/>
          </a:xfrm>
        </p:spPr>
        <p:txBody>
          <a:bodyPr/>
          <a:lstStyle/>
          <a:p>
            <a:r>
              <a:rPr lang="en-US" altLang="zh-TW" dirty="0"/>
              <a:t>DTW</a:t>
            </a:r>
            <a:r>
              <a:rPr lang="zh-TW" altLang="en-US" dirty="0"/>
              <a:t> </a:t>
            </a:r>
            <a:r>
              <a:rPr lang="en-US" altLang="zh-TW" dirty="0"/>
              <a:t>condition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18099" y="905523"/>
                <a:ext cx="10515600" cy="5362112"/>
              </a:xfrm>
            </p:spPr>
            <p:txBody>
              <a:bodyPr>
                <a:normAutofit lnSpcReduction="10000"/>
              </a:bodyPr>
              <a:lstStyle/>
              <a:p>
                <a:r>
                  <a:rPr lang="en-US" altLang="zh-TW" b="1" dirty="0"/>
                  <a:t>Boundary conditions  : </a:t>
                </a:r>
                <a:r>
                  <a:rPr lang="en-US" altLang="zh-TW" dirty="0"/>
                  <a:t>The path must start in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1</m:t>
                        </m:r>
                      </m:sub>
                    </m:sSub>
                  </m:oMath>
                </a14:m>
                <a:r>
                  <a:rPr lang="en-US" altLang="zh-TW" baseline="30000" dirty="0"/>
                  <a:t> </a:t>
                </a:r>
                <a:r>
                  <a:rPr lang="en-US" altLang="zh-TW" dirty="0"/>
                  <a:t>= (1,1) and end in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𝑊</m:t>
                        </m:r>
                      </m:e>
                      <m:sub>
                        <m:r>
                          <a:rPr lang="en-US" altLang="zh-TW" b="0" i="1" smtClean="0">
                            <a:latin typeface="Cambria Math" panose="02040503050406030204" pitchFamily="18" charset="0"/>
                          </a:rPr>
                          <m:t>𝑘</m:t>
                        </m:r>
                      </m:sub>
                    </m:sSub>
                  </m:oMath>
                </a14:m>
                <a:r>
                  <a:rPr lang="en-US" altLang="zh-TW" baseline="30000" dirty="0"/>
                  <a:t> </a:t>
                </a:r>
                <a:r>
                  <a:rPr lang="en-US" altLang="zh-TW" dirty="0"/>
                  <a:t>= (</a:t>
                </a:r>
                <a:r>
                  <a:rPr lang="en-US" altLang="zh-TW" dirty="0" err="1"/>
                  <a:t>m,n</a:t>
                </a:r>
                <a:r>
                  <a:rPr lang="en-US" altLang="zh-TW" dirty="0"/>
                  <a:t>) </a:t>
                </a:r>
                <a:endParaRPr lang="en-US" altLang="zh-TW" b="1" dirty="0"/>
              </a:p>
              <a:p>
                <a:r>
                  <a:rPr lang="en-US" altLang="zh-TW" b="1" dirty="0"/>
                  <a:t>Continuity condition : </a:t>
                </a:r>
                <a:r>
                  <a:rPr lang="en-US" altLang="zh-TW" dirty="0"/>
                  <a:t>both </a:t>
                </a:r>
                <a:r>
                  <a:rPr lang="en-US" altLang="zh-TW" dirty="0" err="1"/>
                  <a:t>i</a:t>
                </a:r>
                <a:r>
                  <a:rPr lang="en-US" altLang="zh-TW" dirty="0"/>
                  <a:t> and j indexes can only increase by 0 or 1 on each step along the path. </a:t>
                </a:r>
                <a:endParaRPr lang="en-US" altLang="zh-TW" b="1" dirty="0"/>
              </a:p>
              <a:p>
                <a:r>
                  <a:rPr lang="en-US" altLang="zh-TW" b="1" dirty="0"/>
                  <a:t>Monotonic condition : </a:t>
                </a:r>
                <a:r>
                  <a:rPr lang="en-US" altLang="zh-TW" dirty="0"/>
                  <a:t>both </a:t>
                </a:r>
                <a:r>
                  <a:rPr lang="en-US" altLang="zh-TW" dirty="0" err="1"/>
                  <a:t>i</a:t>
                </a:r>
                <a:r>
                  <a:rPr lang="en-US" altLang="zh-TW" dirty="0"/>
                  <a:t> and j indexes either stay the same or increase. </a:t>
                </a:r>
                <a:endParaRPr lang="en-US" altLang="zh-TW" b="1" dirty="0"/>
              </a:p>
              <a:p>
                <a:r>
                  <a:rPr lang="en-US" altLang="zh-TW" b="1" dirty="0"/>
                  <a:t>Slope constraint condition :</a:t>
                </a:r>
                <a:r>
                  <a:rPr lang="en-US" altLang="zh-TW" dirty="0"/>
                  <a:t>The path should not be too steep or too shallow. The condition is expressed as a ratio a/b, where b is the number of steps in the x direction and a is the number in the y direction. </a:t>
                </a:r>
                <a:endParaRPr lang="en-US" altLang="zh-TW" b="1" dirty="0"/>
              </a:p>
              <a:p>
                <a:r>
                  <a:rPr lang="en-US" altLang="zh-TW" b="1" dirty="0">
                    <a:solidFill>
                      <a:srgbClr val="FF0000"/>
                    </a:solidFill>
                  </a:rPr>
                  <a:t>Adjustment Window condition </a:t>
                </a:r>
                <a:r>
                  <a:rPr lang="en-US" altLang="zh-TW" b="1" dirty="0"/>
                  <a:t>: </a:t>
                </a:r>
                <a:r>
                  <a:rPr lang="en-US" altLang="zh-TW" dirty="0"/>
                  <a:t>The distance that the path is allowed to wander is limited to a window (or “band”) of size r, directly above and to the right of the diagonal. </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18099" y="905523"/>
                <a:ext cx="10515600" cy="5362112"/>
              </a:xfrm>
              <a:blipFill>
                <a:blip r:embed="rId2"/>
                <a:stretch>
                  <a:fillRect l="-1043" t="-2617" r="-162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57425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169818"/>
            <a:ext cx="10515600" cy="788972"/>
          </a:xfrm>
        </p:spPr>
        <p:txBody>
          <a:bodyPr/>
          <a:lstStyle/>
          <a:p>
            <a:r>
              <a:rPr lang="en-US" altLang="zh-TW" b="1" dirty="0"/>
              <a:t>General model of global constraints. </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074198"/>
                <a:ext cx="10515600" cy="5530787"/>
              </a:xfrm>
            </p:spPr>
            <p:txBody>
              <a:bodyPr/>
              <a:lstStyle/>
              <a:p>
                <a:pPr marL="0" indent="0">
                  <a:buNone/>
                </a:pPr>
                <a:r>
                  <a:rPr lang="en-US" altLang="zh-TW" dirty="0"/>
                  <a:t>global constraint as constraining the indices of the warping path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𝑊</m:t>
                        </m:r>
                      </m:e>
                      <m:sub>
                        <m:r>
                          <a:rPr lang="en-US" altLang="zh-TW" b="0" i="1" smtClean="0">
                            <a:latin typeface="Cambria Math" panose="02040503050406030204" pitchFamily="18" charset="0"/>
                          </a:rPr>
                          <m:t>𝑘</m:t>
                        </m:r>
                      </m:sub>
                    </m:sSub>
                    <m:r>
                      <a:rPr lang="zh-TW" altLang="en-US" i="1" smtClean="0">
                        <a:latin typeface="Cambria Math" panose="02040503050406030204" pitchFamily="18" charset="0"/>
                      </a:rPr>
                      <m:t> </m:t>
                    </m:r>
                  </m:oMath>
                </a14:m>
                <a:r>
                  <a:rPr lang="en-US" altLang="zh-TW" dirty="0"/>
                  <a:t>=</a:t>
                </a:r>
                <a:r>
                  <a:rPr lang="zh-TW" altLang="en-US" dirty="0"/>
                  <a:t> </a:t>
                </a:r>
                <a14:m>
                  <m:oMath xmlns:m="http://schemas.openxmlformats.org/officeDocument/2006/math">
                    <m:sSub>
                      <m:sSubPr>
                        <m:ctrlPr>
                          <a:rPr lang="en-US" altLang="zh-TW" i="1">
                            <a:latin typeface="Cambria Math" panose="02040503050406030204" pitchFamily="18" charset="0"/>
                          </a:rPr>
                        </m:ctrlPr>
                      </m:sSubPr>
                      <m:e>
                        <m:r>
                          <a:rPr lang="en-US" altLang="zh-TW"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i="1">
                            <a:latin typeface="Cambria Math" panose="02040503050406030204" pitchFamily="18" charset="0"/>
                          </a:rPr>
                          <m:t>)</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 ,</m:t>
                    </m:r>
                    <m:r>
                      <m:rPr>
                        <m:nor/>
                      </m:rPr>
                      <a:rPr lang="en-US" altLang="zh-TW"/>
                      <m:t>such</m:t>
                    </m:r>
                    <m:r>
                      <m:rPr>
                        <m:nor/>
                      </m:rPr>
                      <a:rPr lang="en-US" altLang="zh-TW"/>
                      <m:t> </m:t>
                    </m:r>
                    <m:r>
                      <m:rPr>
                        <m:nor/>
                      </m:rPr>
                      <a:rPr lang="en-US" altLang="zh-TW"/>
                      <m:t>that</m:t>
                    </m:r>
                    <m:r>
                      <m:rPr>
                        <m:nor/>
                      </m:rPr>
                      <a:rPr lang="en-US" altLang="zh-TW"/>
                      <m:t> </m:t>
                    </m:r>
                    <m:r>
                      <m:rPr>
                        <m:nor/>
                      </m:rPr>
                      <a:rPr lang="en-US" altLang="zh-TW"/>
                      <m:t>j</m:t>
                    </m:r>
                    <m:r>
                      <m:rPr>
                        <m:nor/>
                      </m:rPr>
                      <a:rPr lang="en-US" altLang="zh-TW"/>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i="1">
                            <a:latin typeface="Cambria Math" panose="02040503050406030204" pitchFamily="18" charset="0"/>
                          </a:rPr>
                          <m:t>𝑖</m:t>
                        </m:r>
                      </m:sub>
                    </m:sSub>
                    <m:r>
                      <m:rPr>
                        <m:nor/>
                      </m:rPr>
                      <a:rPr lang="en-US" altLang="zh-TW"/>
                      <m:t>≤ </m:t>
                    </m:r>
                    <m:r>
                      <m:rPr>
                        <m:nor/>
                      </m:rPr>
                      <a:rPr lang="en-US" altLang="zh-TW"/>
                      <m:t>i</m:t>
                    </m:r>
                    <m:r>
                      <m:rPr>
                        <m:nor/>
                      </m:rPr>
                      <a:rPr lang="en-US" altLang="zh-TW"/>
                      <m:t> ≤ </m:t>
                    </m:r>
                    <m:r>
                      <m:rPr>
                        <m:nor/>
                      </m:rPr>
                      <a:rPr lang="en-US" altLang="zh-TW"/>
                      <m:t>j</m:t>
                    </m:r>
                    <m:r>
                      <m:rPr>
                        <m:nor/>
                      </m:rPr>
                      <a:rPr lang="en-US" altLang="zh-TW"/>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i="1">
                            <a:latin typeface="Cambria Math" panose="02040503050406030204" pitchFamily="18" charset="0"/>
                          </a:rPr>
                          <m:t>𝑖</m:t>
                        </m:r>
                      </m:sub>
                    </m:sSub>
                    <m:r>
                      <m:rPr>
                        <m:nor/>
                      </m:rPr>
                      <a:rPr lang="en-US" altLang="zh-TW"/>
                      <m:t>, </m:t>
                    </m:r>
                    <m:r>
                      <m:rPr>
                        <m:nor/>
                      </m:rPr>
                      <a:rPr lang="en-US" altLang="zh-TW"/>
                      <m:t>where</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 </m:t>
                        </m:r>
                        <m:r>
                          <a:rPr lang="en-US" altLang="zh-TW" b="0" i="1" smtClean="0">
                            <a:latin typeface="Cambria Math" panose="02040503050406030204" pitchFamily="18" charset="0"/>
                          </a:rPr>
                          <m:t>𝑅</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r>
                      <m:rPr>
                        <m:nor/>
                      </m:rPr>
                      <a:rPr lang="en-US" altLang="zh-TW"/>
                      <m:t>is</m:t>
                    </m:r>
                    <m:r>
                      <m:rPr>
                        <m:nor/>
                      </m:rPr>
                      <a:rPr lang="en-US" altLang="zh-TW"/>
                      <m:t> </m:t>
                    </m:r>
                    <m:r>
                      <m:rPr>
                        <m:nor/>
                      </m:rPr>
                      <a:rPr lang="en-US" altLang="zh-TW"/>
                      <m:t>a</m:t>
                    </m:r>
                    <m:r>
                      <m:rPr>
                        <m:nor/>
                      </m:rPr>
                      <a:rPr lang="en-US" altLang="zh-TW"/>
                      <m:t> </m:t>
                    </m:r>
                    <m:r>
                      <m:rPr>
                        <m:nor/>
                      </m:rPr>
                      <a:rPr lang="en-US" altLang="zh-TW"/>
                      <m:t>term</m:t>
                    </m:r>
                    <m:r>
                      <m:rPr>
                        <m:nor/>
                      </m:rPr>
                      <a:rPr lang="en-US" altLang="zh-TW"/>
                      <m:t> </m:t>
                    </m:r>
                    <m:r>
                      <m:rPr>
                        <m:nor/>
                      </m:rPr>
                      <a:rPr lang="en-US" altLang="zh-TW"/>
                      <m:t>defining</m:t>
                    </m:r>
                    <m:r>
                      <m:rPr>
                        <m:nor/>
                      </m:rPr>
                      <a:rPr lang="en-US" altLang="zh-TW"/>
                      <m:t> </m:t>
                    </m:r>
                    <m:r>
                      <m:rPr>
                        <m:nor/>
                      </m:rPr>
                      <a:rPr lang="en-US" altLang="zh-TW"/>
                      <m:t>the</m:t>
                    </m:r>
                    <m:r>
                      <m:rPr>
                        <m:nor/>
                      </m:rPr>
                      <a:rPr lang="en-US" altLang="zh-TW"/>
                      <m:t> </m:t>
                    </m:r>
                    <m:r>
                      <m:rPr>
                        <m:nor/>
                      </m:rPr>
                      <a:rPr lang="en-US" altLang="zh-TW"/>
                      <m:t>allowed</m:t>
                    </m:r>
                    <m:r>
                      <m:rPr>
                        <m:nor/>
                      </m:rPr>
                      <a:rPr lang="en-US" altLang="zh-TW"/>
                      <m:t> </m:t>
                    </m:r>
                    <m:r>
                      <m:rPr>
                        <m:nor/>
                      </m:rPr>
                      <a:rPr lang="en-US" altLang="zh-TW"/>
                      <m:t>range</m:t>
                    </m:r>
                    <m:r>
                      <m:rPr>
                        <m:nor/>
                      </m:rPr>
                      <a:rPr lang="en-US" altLang="zh-TW"/>
                      <m:t> </m:t>
                    </m:r>
                    <m:r>
                      <m:rPr>
                        <m:nor/>
                      </m:rPr>
                      <a:rPr lang="en-US" altLang="zh-TW"/>
                      <m:t>of</m:t>
                    </m:r>
                    <m:r>
                      <m:rPr>
                        <m:nor/>
                      </m:rPr>
                      <a:rPr lang="en-US" altLang="zh-TW"/>
                      <m:t> </m:t>
                    </m:r>
                    <m:r>
                      <m:rPr>
                        <m:nor/>
                      </m:rPr>
                      <a:rPr lang="en-US" altLang="zh-TW"/>
                      <m:t>warping</m:t>
                    </m:r>
                    <m:r>
                      <m:rPr>
                        <m:nor/>
                      </m:rPr>
                      <a:rPr lang="en-US" altLang="zh-TW"/>
                      <m:t>, </m:t>
                    </m:r>
                    <m:r>
                      <m:rPr>
                        <m:nor/>
                      </m:rPr>
                      <a:rPr lang="en-US" altLang="zh-TW"/>
                      <m:t>for</m:t>
                    </m:r>
                    <m:r>
                      <m:rPr>
                        <m:nor/>
                      </m:rPr>
                      <a:rPr lang="en-US" altLang="zh-TW"/>
                      <m:t> </m:t>
                    </m:r>
                    <m:r>
                      <m:rPr>
                        <m:nor/>
                      </m:rPr>
                      <a:rPr lang="en-US" altLang="zh-TW"/>
                      <m:t>a</m:t>
                    </m:r>
                    <m:r>
                      <m:rPr>
                        <m:nor/>
                      </m:rPr>
                      <a:rPr lang="en-US" altLang="zh-TW"/>
                      <m:t> </m:t>
                    </m:r>
                    <m:r>
                      <m:rPr>
                        <m:nor/>
                      </m:rPr>
                      <a:rPr lang="en-US" altLang="zh-TW"/>
                      <m:t>given</m:t>
                    </m:r>
                    <m:r>
                      <m:rPr>
                        <m:nor/>
                      </m:rPr>
                      <a:rPr lang="en-US" altLang="zh-TW"/>
                      <m:t> </m:t>
                    </m:r>
                    <m:r>
                      <m:rPr>
                        <m:nor/>
                      </m:rPr>
                      <a:rPr lang="en-US" altLang="zh-TW"/>
                      <m:t>point</m:t>
                    </m:r>
                    <m:r>
                      <m:rPr>
                        <m:nor/>
                      </m:rPr>
                      <a:rPr lang="en-US" altLang="zh-TW"/>
                      <m:t> </m:t>
                    </m:r>
                    <m:r>
                      <m:rPr>
                        <m:nor/>
                      </m:rPr>
                      <a:rPr lang="en-US" altLang="zh-TW"/>
                      <m:t>in</m:t>
                    </m:r>
                    <m:r>
                      <m:rPr>
                        <m:nor/>
                      </m:rPr>
                      <a:rPr lang="en-US" altLang="zh-TW"/>
                      <m:t> </m:t>
                    </m:r>
                    <m:r>
                      <m:rPr>
                        <m:nor/>
                      </m:rPr>
                      <a:rPr lang="en-US" altLang="zh-TW"/>
                      <m:t>a</m:t>
                    </m:r>
                    <m:r>
                      <m:rPr>
                        <m:nor/>
                      </m:rPr>
                      <a:rPr lang="en-US" altLang="zh-TW"/>
                      <m:t> </m:t>
                    </m:r>
                    <m:r>
                      <m:rPr>
                        <m:nor/>
                      </m:rPr>
                      <a:rPr lang="en-US" altLang="zh-TW"/>
                      <m:t>sequence</m:t>
                    </m:r>
                  </m:oMath>
                </a14:m>
                <a:endParaRPr lang="en-US" altLang="zh-TW" dirty="0"/>
              </a:p>
              <a:p>
                <a:pPr marL="0" indent="0">
                  <a:buNone/>
                </a:pPr>
                <a:r>
                  <a:rPr lang="en-US" altLang="zh-TW" dirty="0"/>
                  <a:t>where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i="1">
                            <a:latin typeface="Cambria Math" panose="02040503050406030204" pitchFamily="18" charset="0"/>
                          </a:rPr>
                          <m:t>𝑖</m:t>
                        </m:r>
                      </m:sub>
                    </m:sSub>
                  </m:oMath>
                </a14:m>
                <a:r>
                  <a:rPr lang="en-US" altLang="zh-TW" dirty="0"/>
                  <a:t> is the height above the diagonal in the y direction, as well as the width to the right of the diagonal in the x direction. </a:t>
                </a:r>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074198"/>
                <a:ext cx="10515600" cy="5530787"/>
              </a:xfrm>
              <a:blipFill>
                <a:blip r:embed="rId2"/>
                <a:stretch>
                  <a:fillRect l="-1217" t="-1764"/>
                </a:stretch>
              </a:blipFill>
            </p:spPr>
            <p:txBody>
              <a:bodyPr/>
              <a:lstStyle/>
              <a:p>
                <a:r>
                  <a:rPr lang="zh-TW" altLang="en-US">
                    <a:noFill/>
                  </a:rPr>
                  <a:t> </a:t>
                </a:r>
              </a:p>
            </p:txBody>
          </p:sp>
        </mc:Fallback>
      </mc:AlternateContent>
      <p:pic>
        <p:nvPicPr>
          <p:cNvPr id="4" name="圖片 3"/>
          <p:cNvPicPr>
            <a:picLocks noChangeAspect="1"/>
          </p:cNvPicPr>
          <p:nvPr/>
        </p:nvPicPr>
        <p:blipFill>
          <a:blip r:embed="rId3"/>
          <a:stretch>
            <a:fillRect/>
          </a:stretch>
        </p:blipFill>
        <p:spPr>
          <a:xfrm>
            <a:off x="2172278" y="3238404"/>
            <a:ext cx="7210425" cy="3686175"/>
          </a:xfrm>
          <a:prstGeom prst="rect">
            <a:avLst/>
          </a:prstGeom>
        </p:spPr>
      </p:pic>
    </p:spTree>
    <p:extLst>
      <p:ext uri="{BB962C8B-B14F-4D97-AF65-F5344CB8AC3E}">
        <p14:creationId xmlns:p14="http://schemas.microsoft.com/office/powerpoint/2010/main" val="933045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838200" y="0"/>
            <a:ext cx="10515600" cy="6176963"/>
          </a:xfrm>
        </p:spPr>
        <p:txBody>
          <a:bodyPr/>
          <a:lstStyle/>
          <a:p>
            <a:r>
              <a:rPr lang="en-US" altLang="zh-TW" dirty="0" err="1"/>
              <a:t>Sakoe</a:t>
            </a:r>
            <a:r>
              <a:rPr lang="en-US" altLang="zh-TW" dirty="0"/>
              <a:t>-Chiba Band</a:t>
            </a:r>
          </a:p>
          <a:p>
            <a:endParaRPr lang="en-US" altLang="zh-TW" dirty="0"/>
          </a:p>
          <a:p>
            <a:endParaRPr lang="en-US" altLang="zh-TW" dirty="0"/>
          </a:p>
          <a:p>
            <a:endParaRPr lang="en-US" altLang="zh-TW" dirty="0"/>
          </a:p>
          <a:p>
            <a:endParaRPr lang="en-US" altLang="zh-TW" dirty="0"/>
          </a:p>
          <a:p>
            <a:endParaRPr lang="en-US" altLang="zh-TW" dirty="0"/>
          </a:p>
          <a:p>
            <a:r>
              <a:rPr lang="en-US" altLang="zh-TW" dirty="0" err="1"/>
              <a:t>Itakura</a:t>
            </a:r>
            <a:r>
              <a:rPr lang="en-US" altLang="zh-TW" dirty="0"/>
              <a:t> Parallelogram </a:t>
            </a:r>
          </a:p>
          <a:p>
            <a:endParaRPr lang="en-US" altLang="zh-TW" dirty="0"/>
          </a:p>
          <a:p>
            <a:pPr marL="0" indent="0">
              <a:buNone/>
            </a:pPr>
            <a:r>
              <a:rPr lang="en-US" altLang="zh-TW" dirty="0"/>
              <a:t> </a:t>
            </a:r>
            <a:endParaRPr lang="zh-TW" altLang="en-US" dirty="0"/>
          </a:p>
        </p:txBody>
      </p:sp>
      <p:pic>
        <p:nvPicPr>
          <p:cNvPr id="4" name="圖片 3"/>
          <p:cNvPicPr>
            <a:picLocks noChangeAspect="1"/>
          </p:cNvPicPr>
          <p:nvPr/>
        </p:nvPicPr>
        <p:blipFill>
          <a:blip r:embed="rId2"/>
          <a:stretch>
            <a:fillRect/>
          </a:stretch>
        </p:blipFill>
        <p:spPr>
          <a:xfrm>
            <a:off x="838200" y="729537"/>
            <a:ext cx="5400675" cy="1200150"/>
          </a:xfrm>
          <a:prstGeom prst="rect">
            <a:avLst/>
          </a:prstGeom>
        </p:spPr>
      </p:pic>
      <p:pic>
        <p:nvPicPr>
          <p:cNvPr id="5" name="圖片 4"/>
          <p:cNvPicPr>
            <a:picLocks noChangeAspect="1"/>
          </p:cNvPicPr>
          <p:nvPr/>
        </p:nvPicPr>
        <p:blipFill>
          <a:blip r:embed="rId3"/>
          <a:stretch>
            <a:fillRect/>
          </a:stretch>
        </p:blipFill>
        <p:spPr>
          <a:xfrm>
            <a:off x="6759784" y="77758"/>
            <a:ext cx="3019152" cy="3289020"/>
          </a:xfrm>
          <a:prstGeom prst="rect">
            <a:avLst/>
          </a:prstGeom>
        </p:spPr>
      </p:pic>
      <p:pic>
        <p:nvPicPr>
          <p:cNvPr id="6" name="圖片 5"/>
          <p:cNvPicPr>
            <a:picLocks noChangeAspect="1"/>
          </p:cNvPicPr>
          <p:nvPr/>
        </p:nvPicPr>
        <p:blipFill>
          <a:blip r:embed="rId4"/>
          <a:stretch>
            <a:fillRect/>
          </a:stretch>
        </p:blipFill>
        <p:spPr>
          <a:xfrm>
            <a:off x="838200" y="3940186"/>
            <a:ext cx="5553075" cy="1247775"/>
          </a:xfrm>
          <a:prstGeom prst="rect">
            <a:avLst/>
          </a:prstGeom>
        </p:spPr>
      </p:pic>
      <p:pic>
        <p:nvPicPr>
          <p:cNvPr id="7" name="圖片 6"/>
          <p:cNvPicPr>
            <a:picLocks noChangeAspect="1"/>
          </p:cNvPicPr>
          <p:nvPr/>
        </p:nvPicPr>
        <p:blipFill>
          <a:blip r:embed="rId5"/>
          <a:stretch>
            <a:fillRect/>
          </a:stretch>
        </p:blipFill>
        <p:spPr>
          <a:xfrm>
            <a:off x="6759784" y="3444536"/>
            <a:ext cx="3201046" cy="3330120"/>
          </a:xfrm>
          <a:prstGeom prst="rect">
            <a:avLst/>
          </a:prstGeom>
        </p:spPr>
      </p:pic>
    </p:spTree>
    <p:extLst>
      <p:ext uri="{BB962C8B-B14F-4D97-AF65-F5344CB8AC3E}">
        <p14:creationId xmlns:p14="http://schemas.microsoft.com/office/powerpoint/2010/main" val="4033103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258594"/>
            <a:ext cx="10515600" cy="735706"/>
          </a:xfrm>
        </p:spPr>
        <p:txBody>
          <a:bodyPr/>
          <a:lstStyle/>
          <a:p>
            <a:r>
              <a:rPr lang="en-US" altLang="zh-TW" b="1" dirty="0" err="1"/>
              <a:t>Ratanamahatana</a:t>
            </a:r>
            <a:r>
              <a:rPr lang="en-US" altLang="zh-TW" b="1" dirty="0"/>
              <a:t>-Keogh Band (R-K Band). </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355107" y="1100831"/>
                <a:ext cx="10998693" cy="5530788"/>
              </a:xfrm>
            </p:spPr>
            <p:txBody>
              <a:bodyPr>
                <a:normAutofit/>
              </a:bodyPr>
              <a:lstStyle/>
              <a:p>
                <a:pPr marL="0" indent="0">
                  <a:buNone/>
                </a:pPr>
                <a:r>
                  <a:rPr lang="en-US" altLang="zh-TW" dirty="0"/>
                  <a:t>define any arbitrary global constraint with the vector R. </a:t>
                </a:r>
              </a:p>
              <a:p>
                <a:pPr marL="0" indent="0">
                  <a:buNone/>
                </a:pPr>
                <a:r>
                  <a:rPr lang="en-US" altLang="zh-TW" dirty="0"/>
                  <a:t>Euclidean distance can be defined in terms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i="1">
                            <a:latin typeface="Cambria Math" panose="02040503050406030204" pitchFamily="18" charset="0"/>
                          </a:rPr>
                          <m:t>𝑖</m:t>
                        </m:r>
                      </m:sub>
                    </m:sSub>
                  </m:oMath>
                </a14:m>
                <a:r>
                  <a:rPr lang="en-US" altLang="zh-TW" baseline="30000" dirty="0"/>
                  <a:t> </a:t>
                </a:r>
                <a:r>
                  <a:rPr lang="en-US" altLang="zh-TW" dirty="0"/>
                  <a:t>= 0; 1 ≤ </a:t>
                </a:r>
                <a:r>
                  <a:rPr lang="en-US" altLang="zh-TW" dirty="0" err="1"/>
                  <a:t>i</a:t>
                </a:r>
                <a:r>
                  <a:rPr lang="en-US" altLang="zh-TW" dirty="0"/>
                  <a:t> ≤ m </a:t>
                </a:r>
              </a:p>
              <a:p>
                <a:pPr marL="0" indent="0">
                  <a:buNone/>
                </a:pPr>
                <a:endParaRPr lang="en-US" altLang="zh-TW" dirty="0"/>
              </a:p>
              <a:p>
                <a:pPr marL="0" indent="0">
                  <a:buNone/>
                </a:pPr>
                <a:r>
                  <a:rPr lang="en-US" altLang="zh-TW" b="1" dirty="0"/>
                  <a:t>Are we better off with wider band? (</a:t>
                </a:r>
                <a:r>
                  <a:rPr lang="en-US" altLang="zh-TW" dirty="0" err="1"/>
                  <a:t>Sakoe</a:t>
                </a:r>
                <a:r>
                  <a:rPr lang="en-US" altLang="zh-TW" dirty="0"/>
                  <a:t>-Chiba Band</a:t>
                </a:r>
                <a:r>
                  <a:rPr lang="en-US" altLang="zh-TW" b="1" dirty="0"/>
                  <a:t>)</a:t>
                </a:r>
              </a:p>
              <a:p>
                <a:pPr marL="0" indent="0">
                  <a:buNone/>
                </a:pPr>
                <a:endParaRPr lang="en-US" altLang="zh-TW" b="1" dirty="0"/>
              </a:p>
              <a:p>
                <a:pPr marL="0" indent="0">
                  <a:buNone/>
                </a:pPr>
                <a:endParaRPr lang="en-US" altLang="zh-TW" dirty="0"/>
              </a:p>
              <a:p>
                <a:pPr marL="0" indent="0">
                  <a:buNone/>
                </a:pPr>
                <a:endParaRPr lang="en-US" altLang="zh-TW" dirty="0"/>
              </a:p>
              <a:p>
                <a:pPr marL="0" indent="0">
                  <a:buNone/>
                </a:pPr>
                <a:endParaRPr lang="en-US" altLang="zh-TW" dirty="0"/>
              </a:p>
              <a:p>
                <a:pPr marL="0" indent="0">
                  <a:buNone/>
                </a:pPr>
                <a:endParaRPr lang="en-US" altLang="zh-TW" dirty="0"/>
              </a:p>
              <a:p>
                <a:pPr marL="0" indent="0">
                  <a:buNone/>
                </a:pPr>
                <a:r>
                  <a:rPr lang="en-US" altLang="zh-TW" dirty="0"/>
                  <a:t>Need to learn its wider(learn its function)</a:t>
                </a:r>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355107" y="1100831"/>
                <a:ext cx="10998693" cy="5530788"/>
              </a:xfrm>
              <a:blipFill>
                <a:blip r:embed="rId2"/>
                <a:stretch>
                  <a:fillRect l="-1108" t="-1874"/>
                </a:stretch>
              </a:blipFill>
            </p:spPr>
            <p:txBody>
              <a:bodyPr/>
              <a:lstStyle/>
              <a:p>
                <a:r>
                  <a:rPr lang="zh-TW" altLang="en-US">
                    <a:noFill/>
                  </a:rPr>
                  <a:t> </a:t>
                </a:r>
              </a:p>
            </p:txBody>
          </p:sp>
        </mc:Fallback>
      </mc:AlternateContent>
      <p:pic>
        <p:nvPicPr>
          <p:cNvPr id="4" name="圖片 3"/>
          <p:cNvPicPr>
            <a:picLocks noChangeAspect="1"/>
          </p:cNvPicPr>
          <p:nvPr/>
        </p:nvPicPr>
        <p:blipFill>
          <a:blip r:embed="rId3"/>
          <a:stretch>
            <a:fillRect/>
          </a:stretch>
        </p:blipFill>
        <p:spPr>
          <a:xfrm>
            <a:off x="569742" y="3260139"/>
            <a:ext cx="10181115" cy="2095500"/>
          </a:xfrm>
          <a:prstGeom prst="rect">
            <a:avLst/>
          </a:prstGeom>
        </p:spPr>
      </p:pic>
    </p:spTree>
    <p:extLst>
      <p:ext uri="{BB962C8B-B14F-4D97-AF65-F5344CB8AC3E}">
        <p14:creationId xmlns:p14="http://schemas.microsoft.com/office/powerpoint/2010/main" val="2278961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6"/>
            <a:ext cx="10515600" cy="1055302"/>
          </a:xfrm>
        </p:spPr>
        <p:txBody>
          <a:bodyPr/>
          <a:lstStyle/>
          <a:p>
            <a:r>
              <a:rPr lang="en-US" altLang="zh-TW" b="1" dirty="0"/>
              <a:t>lower bounding distance measure </a:t>
            </a:r>
            <a:endParaRPr lang="zh-TW" altLang="en-US" b="1" dirty="0"/>
          </a:p>
        </p:txBody>
      </p:sp>
      <p:sp>
        <p:nvSpPr>
          <p:cNvPr id="3" name="內容版面配置區 2"/>
          <p:cNvSpPr>
            <a:spLocks noGrp="1"/>
          </p:cNvSpPr>
          <p:nvPr>
            <p:ph idx="1"/>
          </p:nvPr>
        </p:nvSpPr>
        <p:spPr>
          <a:xfrm>
            <a:off x="838200" y="1340528"/>
            <a:ext cx="10515600" cy="4836435"/>
          </a:xfrm>
        </p:spPr>
        <p:txBody>
          <a:bodyPr>
            <a:normAutofit lnSpcReduction="10000"/>
          </a:bodyPr>
          <a:lstStyle/>
          <a:p>
            <a:r>
              <a:rPr lang="en-US" altLang="zh-TW" dirty="0" err="1"/>
              <a:t>LB_Keogh</a:t>
            </a:r>
            <a:r>
              <a:rPr lang="en-US" altLang="zh-TW" dirty="0"/>
              <a:t>(Under </a:t>
            </a:r>
            <a:r>
              <a:rPr lang="en-US" altLang="zh-TW" dirty="0" err="1"/>
              <a:t>Sakoe</a:t>
            </a:r>
            <a:r>
              <a:rPr lang="en-US" altLang="zh-TW" dirty="0"/>
              <a:t>-Chiba Band) </a:t>
            </a:r>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en-US" altLang="zh-TW" dirty="0" err="1"/>
              <a:t>LB_Keogh</a:t>
            </a:r>
            <a:r>
              <a:rPr lang="en-US" altLang="zh-TW" dirty="0"/>
              <a:t>(Q,C) ≤ DTW(Q,C)</a:t>
            </a:r>
            <a:endParaRPr lang="zh-TW" altLang="en-US" dirty="0"/>
          </a:p>
        </p:txBody>
      </p:sp>
      <p:pic>
        <p:nvPicPr>
          <p:cNvPr id="4" name="圖片 3"/>
          <p:cNvPicPr>
            <a:picLocks noChangeAspect="1"/>
          </p:cNvPicPr>
          <p:nvPr/>
        </p:nvPicPr>
        <p:blipFill>
          <a:blip r:embed="rId2"/>
          <a:stretch>
            <a:fillRect/>
          </a:stretch>
        </p:blipFill>
        <p:spPr>
          <a:xfrm>
            <a:off x="225826" y="2015001"/>
            <a:ext cx="3114675" cy="3567389"/>
          </a:xfrm>
          <a:prstGeom prst="rect">
            <a:avLst/>
          </a:prstGeom>
        </p:spPr>
      </p:pic>
      <p:pic>
        <p:nvPicPr>
          <p:cNvPr id="5" name="圖片 4"/>
          <p:cNvPicPr>
            <a:picLocks noChangeAspect="1"/>
          </p:cNvPicPr>
          <p:nvPr/>
        </p:nvPicPr>
        <p:blipFill>
          <a:blip r:embed="rId3"/>
          <a:stretch>
            <a:fillRect/>
          </a:stretch>
        </p:blipFill>
        <p:spPr>
          <a:xfrm>
            <a:off x="3484070" y="2198056"/>
            <a:ext cx="3714750" cy="3201278"/>
          </a:xfrm>
          <a:prstGeom prst="rect">
            <a:avLst/>
          </a:prstGeom>
        </p:spPr>
      </p:pic>
      <p:pic>
        <p:nvPicPr>
          <p:cNvPr id="6" name="圖片 5"/>
          <p:cNvPicPr>
            <a:picLocks noChangeAspect="1"/>
          </p:cNvPicPr>
          <p:nvPr/>
        </p:nvPicPr>
        <p:blipFill>
          <a:blip r:embed="rId4"/>
          <a:stretch>
            <a:fillRect/>
          </a:stretch>
        </p:blipFill>
        <p:spPr>
          <a:xfrm>
            <a:off x="8126536" y="1992250"/>
            <a:ext cx="3076575" cy="1000125"/>
          </a:xfrm>
          <a:prstGeom prst="rect">
            <a:avLst/>
          </a:prstGeom>
        </p:spPr>
      </p:pic>
      <p:pic>
        <p:nvPicPr>
          <p:cNvPr id="7" name="圖片 6"/>
          <p:cNvPicPr>
            <a:picLocks noChangeAspect="1"/>
          </p:cNvPicPr>
          <p:nvPr/>
        </p:nvPicPr>
        <p:blipFill>
          <a:blip r:embed="rId5"/>
          <a:stretch>
            <a:fillRect/>
          </a:stretch>
        </p:blipFill>
        <p:spPr>
          <a:xfrm>
            <a:off x="7349509" y="3411735"/>
            <a:ext cx="4842491" cy="1112083"/>
          </a:xfrm>
          <a:prstGeom prst="rect">
            <a:avLst/>
          </a:prstGeom>
        </p:spPr>
      </p:pic>
    </p:spTree>
    <p:extLst>
      <p:ext uri="{BB962C8B-B14F-4D97-AF65-F5344CB8AC3E}">
        <p14:creationId xmlns:p14="http://schemas.microsoft.com/office/powerpoint/2010/main" val="2679525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01841" y="169816"/>
            <a:ext cx="11051959" cy="1325563"/>
          </a:xfrm>
        </p:spPr>
        <p:txBody>
          <a:bodyPr/>
          <a:lstStyle/>
          <a:p>
            <a:r>
              <a:rPr lang="en-US" altLang="zh-TW" b="1" dirty="0"/>
              <a:t>Learning multiple </a:t>
            </a:r>
            <a:r>
              <a:rPr lang="en-US" altLang="zh-TW" b="1" dirty="0" err="1"/>
              <a:t>Ratanamahatana</a:t>
            </a:r>
            <a:r>
              <a:rPr lang="en-US" altLang="zh-TW" b="1" dirty="0"/>
              <a:t>-Keogh bands for classification </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381740" y="1589102"/>
                <a:ext cx="11505460" cy="5109409"/>
              </a:xfrm>
            </p:spPr>
            <p:txBody>
              <a:bodyPr>
                <a:normAutofit fontScale="85000" lnSpcReduction="20000"/>
              </a:bodyPr>
              <a:lstStyle/>
              <a:p>
                <a:r>
                  <a:rPr lang="en-US" altLang="zh-TW" b="1" dirty="0"/>
                  <a:t>initial state </a:t>
                </a:r>
              </a:p>
              <a:p>
                <a:pPr>
                  <a:buFont typeface="Wingdings" panose="05000000000000000000" pitchFamily="2" charset="2"/>
                  <a:buChar char="u"/>
                </a:pPr>
                <a:r>
                  <a:rPr lang="en-US" altLang="zh-TW" b="1" dirty="0"/>
                  <a:t>	</a:t>
                </a:r>
                <a:r>
                  <a:rPr lang="en-US" altLang="zh-TW" dirty="0"/>
                  <a:t>Forward Search: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i="1">
                            <a:latin typeface="Cambria Math" panose="02040503050406030204" pitchFamily="18" charset="0"/>
                          </a:rPr>
                          <m:t>𝑖</m:t>
                        </m:r>
                      </m:sub>
                    </m:sSub>
                  </m:oMath>
                </a14:m>
                <a:r>
                  <a:rPr lang="en-US" altLang="zh-TW" dirty="0"/>
                  <a:t>= 0 </a:t>
                </a:r>
              </a:p>
              <a:p>
                <a:pPr>
                  <a:buFont typeface="Wingdings" panose="05000000000000000000" pitchFamily="2" charset="2"/>
                  <a:buChar char="u"/>
                </a:pPr>
                <a:r>
                  <a:rPr lang="en-US" altLang="zh-TW" dirty="0"/>
                  <a:t>	Backward Search: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i="1">
                            <a:latin typeface="Cambria Math" panose="02040503050406030204" pitchFamily="18" charset="0"/>
                          </a:rPr>
                          <m:t>𝑖</m:t>
                        </m:r>
                      </m:sub>
                    </m:sSub>
                  </m:oMath>
                </a14:m>
                <a:r>
                  <a:rPr lang="en-US" altLang="zh-TW" dirty="0"/>
                  <a:t>= m </a:t>
                </a:r>
                <a:endParaRPr lang="zh-TW" altLang="en-US" dirty="0"/>
              </a:p>
              <a:p>
                <a:r>
                  <a:rPr lang="en-US" altLang="zh-TW" b="1" dirty="0"/>
                  <a:t>heuristic function 		</a:t>
                </a:r>
              </a:p>
              <a:p>
                <a:pPr>
                  <a:buFont typeface="Wingdings" panose="05000000000000000000" pitchFamily="2" charset="2"/>
                  <a:buChar char="u"/>
                </a:pPr>
                <a:r>
                  <a:rPr lang="en-US" altLang="zh-TW" b="1" dirty="0"/>
                  <a:t>	</a:t>
                </a:r>
                <a:r>
                  <a:rPr lang="en-US" altLang="zh-TW" dirty="0"/>
                  <a:t>Accuracy metric </a:t>
                </a:r>
              </a:p>
              <a:p>
                <a:pPr>
                  <a:buFont typeface="Wingdings" panose="05000000000000000000" pitchFamily="2" charset="2"/>
                  <a:buChar char="u"/>
                </a:pPr>
                <a:r>
                  <a:rPr lang="en-US" altLang="zh-TW" dirty="0"/>
                  <a:t>	Distance metric </a:t>
                </a:r>
                <a:endParaRPr lang="zh-TW" altLang="en-US" dirty="0"/>
              </a:p>
              <a:p>
                <a:r>
                  <a:rPr lang="en-US" altLang="zh-TW" b="1" dirty="0"/>
                  <a:t>operators </a:t>
                </a:r>
              </a:p>
              <a:p>
                <a:pPr>
                  <a:buFont typeface="Wingdings" panose="05000000000000000000" pitchFamily="2" charset="2"/>
                  <a:buChar char="u"/>
                </a:pPr>
                <a:r>
                  <a:rPr lang="en-US" altLang="zh-TW" dirty="0"/>
                  <a:t>If improvement is made, continue working on the same piece of envelope</a:t>
                </a:r>
              </a:p>
              <a:p>
                <a:endParaRPr lang="zh-TW" altLang="en-US" dirty="0"/>
              </a:p>
              <a:p>
                <a:pPr>
                  <a:buFont typeface="Wingdings" panose="05000000000000000000" pitchFamily="2" charset="2"/>
                  <a:buChar char="u"/>
                </a:pPr>
                <a:r>
                  <a:rPr lang="en-US" altLang="zh-TW" dirty="0"/>
                  <a:t>If no improvement is made, first the modification to the envelope needs to be undone, then redo the modification on the left half (start:mid-1) and the right half (mid:end) individually. </a:t>
                </a:r>
              </a:p>
              <a:p>
                <a:pPr>
                  <a:buFont typeface="Wingdings" panose="05000000000000000000" pitchFamily="2" charset="2"/>
                  <a:buChar char="u"/>
                </a:pPr>
                <a:endParaRPr lang="en-US" altLang="zh-TW" dirty="0"/>
              </a:p>
              <a:p>
                <a:pPr marL="0" indent="0">
                  <a:buNone/>
                </a:pPr>
                <a:r>
                  <a:rPr lang="en-US" altLang="zh-TW" dirty="0"/>
                  <a:t> </a:t>
                </a:r>
              </a:p>
              <a:p>
                <a:pPr marL="0" indent="0">
                  <a:buNone/>
                </a:pPr>
                <a:endParaRPr lang="en-US" altLang="zh-TW" dirty="0"/>
              </a:p>
              <a:p>
                <a:pPr marL="0" indent="0">
                  <a:buNone/>
                </a:pPr>
                <a:endParaRPr lang="en-US" altLang="zh-TW" dirty="0"/>
              </a:p>
              <a:p>
                <a:pPr marL="0" indent="0">
                  <a:buNone/>
                </a:pPr>
                <a:endParaRPr lang="en-US" altLang="zh-TW" dirty="0"/>
              </a:p>
              <a:p>
                <a:pPr marL="0" indent="0">
                  <a:buNone/>
                </a:pPr>
                <a:endParaRPr lang="en-US" altLang="zh-TW" dirty="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381740" y="1589102"/>
                <a:ext cx="11505460" cy="5109409"/>
              </a:xfrm>
              <a:blipFill>
                <a:blip r:embed="rId2"/>
                <a:stretch>
                  <a:fillRect l="-742" t="-274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20644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36359" y="88777"/>
            <a:ext cx="10515600" cy="1056443"/>
          </a:xfrm>
        </p:spPr>
        <p:txBody>
          <a:bodyPr/>
          <a:lstStyle/>
          <a:p>
            <a:r>
              <a:rPr lang="en-US" altLang="zh-TW" dirty="0"/>
              <a:t>Forward Search</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3800758" y="909960"/>
            <a:ext cx="8496112" cy="5509504"/>
          </a:xfrm>
          <a:prstGeom prst="rect">
            <a:avLst/>
          </a:prstGeom>
        </p:spPr>
      </p:pic>
      <p:sp>
        <p:nvSpPr>
          <p:cNvPr id="5" name="文字方塊 4"/>
          <p:cNvSpPr txBox="1"/>
          <p:nvPr/>
        </p:nvSpPr>
        <p:spPr>
          <a:xfrm>
            <a:off x="7608073" y="4345900"/>
            <a:ext cx="1127464" cy="523220"/>
          </a:xfrm>
          <a:prstGeom prst="rect">
            <a:avLst/>
          </a:prstGeom>
          <a:noFill/>
        </p:spPr>
        <p:txBody>
          <a:bodyPr wrap="square" rtlCol="0">
            <a:spAutoFit/>
          </a:bodyPr>
          <a:lstStyle/>
          <a:p>
            <a:r>
              <a:rPr lang="en-US" altLang="zh-TW" sz="1400" dirty="0"/>
              <a:t>Left half modification</a:t>
            </a:r>
            <a:endParaRPr lang="zh-TW" altLang="en-US" sz="1400" dirty="0"/>
          </a:p>
        </p:txBody>
      </p:sp>
      <p:sp>
        <p:nvSpPr>
          <p:cNvPr id="6" name="文字方塊 5"/>
          <p:cNvSpPr txBox="1"/>
          <p:nvPr/>
        </p:nvSpPr>
        <p:spPr>
          <a:xfrm>
            <a:off x="10130811" y="4354778"/>
            <a:ext cx="1127464" cy="523220"/>
          </a:xfrm>
          <a:prstGeom prst="rect">
            <a:avLst/>
          </a:prstGeom>
          <a:noFill/>
        </p:spPr>
        <p:txBody>
          <a:bodyPr wrap="square" rtlCol="0">
            <a:spAutoFit/>
          </a:bodyPr>
          <a:lstStyle/>
          <a:p>
            <a:r>
              <a:rPr lang="en-US" altLang="zh-TW" sz="1400" dirty="0"/>
              <a:t>Right half modification</a:t>
            </a:r>
            <a:endParaRPr lang="zh-TW" altLang="en-US" sz="1400" dirty="0"/>
          </a:p>
        </p:txBody>
      </p:sp>
      <p:sp>
        <p:nvSpPr>
          <p:cNvPr id="7" name="文字方塊 6"/>
          <p:cNvSpPr txBox="1"/>
          <p:nvPr/>
        </p:nvSpPr>
        <p:spPr>
          <a:xfrm>
            <a:off x="536359" y="1056443"/>
            <a:ext cx="2957379" cy="5632311"/>
          </a:xfrm>
          <a:prstGeom prst="rect">
            <a:avLst/>
          </a:prstGeom>
          <a:noFill/>
        </p:spPr>
        <p:txBody>
          <a:bodyPr wrap="square" rtlCol="0">
            <a:spAutoFit/>
          </a:bodyPr>
          <a:lstStyle/>
          <a:p>
            <a:pPr marL="285750" indent="-285750">
              <a:buFont typeface="Arial" panose="020B0604020202020204" pitchFamily="34" charset="0"/>
              <a:buChar char="•"/>
            </a:pPr>
            <a:endParaRPr lang="zh-TW" altLang="en-US" dirty="0"/>
          </a:p>
          <a:p>
            <a:r>
              <a:rPr lang="en-US" altLang="zh-TW" b="1" dirty="0"/>
              <a:t>terminal test</a:t>
            </a:r>
            <a:r>
              <a:rPr lang="en-US" altLang="zh-TW" dirty="0"/>
              <a:t>:</a:t>
            </a:r>
          </a:p>
          <a:p>
            <a:pPr marL="285750" indent="-285750">
              <a:buFont typeface="Arial" panose="020B0604020202020204" pitchFamily="34" charset="0"/>
              <a:buChar char="•"/>
            </a:pPr>
            <a:endParaRPr lang="zh-TW" altLang="en-US" dirty="0"/>
          </a:p>
          <a:p>
            <a:r>
              <a:rPr lang="en-US" altLang="zh-TW" dirty="0"/>
              <a:t>Forward Search: The search is complete when one of the following is true: </a:t>
            </a:r>
          </a:p>
          <a:p>
            <a:pPr marL="285750" indent="-285750">
              <a:buFont typeface="Arial" panose="020B0604020202020204" pitchFamily="34" charset="0"/>
              <a:buChar char="•"/>
            </a:pPr>
            <a:endParaRPr lang="en-US" altLang="zh-TW" b="1" dirty="0"/>
          </a:p>
          <a:p>
            <a:pPr marL="285750" indent="-285750">
              <a:buFont typeface="Arial" panose="020B0604020202020204" pitchFamily="34" charset="0"/>
              <a:buChar char="•"/>
            </a:pPr>
            <a:endParaRPr lang="zh-TW" altLang="en-US" dirty="0"/>
          </a:p>
          <a:p>
            <a:pPr marL="285750" indent="-285750">
              <a:buFont typeface="Arial" panose="020B0604020202020204" pitchFamily="34" charset="0"/>
              <a:buChar char="•"/>
            </a:pPr>
            <a:r>
              <a:rPr lang="en-US" altLang="zh-TW" dirty="0"/>
              <a:t>No improvement can be made. </a:t>
            </a:r>
          </a:p>
          <a:p>
            <a:pPr marL="285750" indent="-285750">
              <a:buFont typeface="Arial" panose="020B0604020202020204" pitchFamily="34" charset="0"/>
              <a:buChar char="•"/>
            </a:pPr>
            <a:r>
              <a:rPr lang="en-US" altLang="zh-TW" dirty="0"/>
              <a:t> The envelope’s width reaches m </a:t>
            </a:r>
          </a:p>
          <a:p>
            <a:pPr marL="285750" indent="-285750">
              <a:buFont typeface="Arial" panose="020B0604020202020204" pitchFamily="34" charset="0"/>
              <a:buChar char="•"/>
            </a:pPr>
            <a:r>
              <a:rPr lang="en-US" altLang="zh-TW" dirty="0"/>
              <a:t> When a condition end-start+1 ≤ threshold is met for all the pieces of the envelope </a:t>
            </a:r>
          </a:p>
          <a:p>
            <a:pPr marL="285750" indent="-285750">
              <a:buFont typeface="Arial" panose="020B0604020202020204" pitchFamily="34" charset="0"/>
              <a:buChar char="•"/>
            </a:pPr>
            <a:endParaRPr lang="en-US" altLang="zh-TW" b="1" dirty="0"/>
          </a:p>
          <a:p>
            <a:pPr marL="285750" indent="-285750">
              <a:buFont typeface="Arial" panose="020B0604020202020204" pitchFamily="34" charset="0"/>
              <a:buChar char="•"/>
            </a:pPr>
            <a:endParaRPr lang="en-US" altLang="zh-TW" b="1" dirty="0"/>
          </a:p>
          <a:p>
            <a:r>
              <a:rPr lang="en-US" altLang="zh-TW" b="1" dirty="0"/>
              <a:t> </a:t>
            </a:r>
            <a:endParaRPr lang="en-US" altLang="zh-TW" dirty="0"/>
          </a:p>
          <a:p>
            <a:pPr marL="285750" indent="-285750">
              <a:buFont typeface="Arial" panose="020B0604020202020204" pitchFamily="34" charset="0"/>
              <a:buChar char="•"/>
            </a:pPr>
            <a:endParaRPr lang="zh-TW" altLang="en-US" dirty="0"/>
          </a:p>
        </p:txBody>
      </p:sp>
    </p:spTree>
    <p:extLst>
      <p:ext uri="{BB962C8B-B14F-4D97-AF65-F5344CB8AC3E}">
        <p14:creationId xmlns:p14="http://schemas.microsoft.com/office/powerpoint/2010/main" val="618209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762339"/>
          </a:xfrm>
        </p:spPr>
        <p:txBody>
          <a:bodyPr/>
          <a:lstStyle/>
          <a:p>
            <a:r>
              <a:rPr lang="en-US" altLang="zh-TW" b="1" dirty="0"/>
              <a:t>Local maximum</a:t>
            </a:r>
            <a:endParaRPr lang="zh-TW" altLang="en-US" b="1" dirty="0"/>
          </a:p>
        </p:txBody>
      </p:sp>
      <p:sp>
        <p:nvSpPr>
          <p:cNvPr id="3" name="內容版面配置區 2"/>
          <p:cNvSpPr>
            <a:spLocks noGrp="1"/>
          </p:cNvSpPr>
          <p:nvPr>
            <p:ph idx="1"/>
          </p:nvPr>
        </p:nvSpPr>
        <p:spPr>
          <a:xfrm>
            <a:off x="838200" y="1127464"/>
            <a:ext cx="10515600" cy="5049499"/>
          </a:xfrm>
        </p:spPr>
        <p:txBody>
          <a:bodyPr/>
          <a:lstStyle/>
          <a:p>
            <a:endParaRPr lang="zh-TW" altLang="en-US" dirty="0"/>
          </a:p>
          <a:p>
            <a:r>
              <a:rPr lang="en-US" altLang="zh-TW" dirty="0"/>
              <a:t>Forward search with Accuracy metric. </a:t>
            </a:r>
          </a:p>
          <a:p>
            <a:endParaRPr lang="en-US" altLang="zh-TW" dirty="0"/>
          </a:p>
          <a:p>
            <a:r>
              <a:rPr lang="en-US" altLang="zh-TW" dirty="0"/>
              <a:t>Forward search with Distance metric. </a:t>
            </a:r>
          </a:p>
          <a:p>
            <a:endParaRPr lang="en-US" altLang="zh-TW" dirty="0"/>
          </a:p>
          <a:p>
            <a:r>
              <a:rPr lang="en-US" altLang="zh-TW" dirty="0"/>
              <a:t>Backward search with Accuracy metric.</a:t>
            </a:r>
          </a:p>
          <a:p>
            <a:endParaRPr lang="en-US" altLang="zh-TW" dirty="0"/>
          </a:p>
          <a:p>
            <a:r>
              <a:rPr lang="en-US" altLang="zh-TW" dirty="0"/>
              <a:t>Backward search with Distance metric. </a:t>
            </a:r>
          </a:p>
          <a:p>
            <a:endParaRPr lang="zh-TW" altLang="en-US" dirty="0"/>
          </a:p>
        </p:txBody>
      </p:sp>
    </p:spTree>
    <p:extLst>
      <p:ext uri="{BB962C8B-B14F-4D97-AF65-F5344CB8AC3E}">
        <p14:creationId xmlns:p14="http://schemas.microsoft.com/office/powerpoint/2010/main" val="634391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664632" y="1027905"/>
            <a:ext cx="10515600" cy="1528863"/>
          </a:xfrm>
          <a:prstGeom prst="rect">
            <a:avLst/>
          </a:prstGeom>
        </p:spPr>
      </p:pic>
      <p:pic>
        <p:nvPicPr>
          <p:cNvPr id="6" name="圖片 5"/>
          <p:cNvPicPr>
            <a:picLocks noChangeAspect="1"/>
          </p:cNvPicPr>
          <p:nvPr/>
        </p:nvPicPr>
        <p:blipFill>
          <a:blip r:embed="rId3"/>
          <a:stretch>
            <a:fillRect/>
          </a:stretch>
        </p:blipFill>
        <p:spPr>
          <a:xfrm>
            <a:off x="967666" y="2836535"/>
            <a:ext cx="9871969" cy="2845174"/>
          </a:xfrm>
          <a:prstGeom prst="rect">
            <a:avLst/>
          </a:prstGeom>
        </p:spPr>
      </p:pic>
    </p:spTree>
    <p:extLst>
      <p:ext uri="{BB962C8B-B14F-4D97-AF65-F5344CB8AC3E}">
        <p14:creationId xmlns:p14="http://schemas.microsoft.com/office/powerpoint/2010/main" val="330067069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11223</TotalTime>
  <Words>425</Words>
  <Application>Microsoft Office PowerPoint</Application>
  <PresentationFormat>寬螢幕</PresentationFormat>
  <Paragraphs>141</Paragraphs>
  <Slides>12</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12</vt:i4>
      </vt:variant>
    </vt:vector>
  </HeadingPairs>
  <TitlesOfParts>
    <vt:vector size="19" baseType="lpstr">
      <vt:lpstr>新細明體</vt:lpstr>
      <vt:lpstr>Arial</vt:lpstr>
      <vt:lpstr>Calibri</vt:lpstr>
      <vt:lpstr>Calibri Light</vt:lpstr>
      <vt:lpstr>Cambria Math</vt:lpstr>
      <vt:lpstr>Wingdings</vt:lpstr>
      <vt:lpstr>Office 佈景主題</vt:lpstr>
      <vt:lpstr>  Making Time-series Classification more accurate Using Learned Constraints </vt:lpstr>
      <vt:lpstr>Abstract</vt:lpstr>
      <vt:lpstr>Dynamic Time Warping</vt:lpstr>
      <vt:lpstr>DTW condition</vt:lpstr>
      <vt:lpstr>General model of global constraints. </vt:lpstr>
      <vt:lpstr>PowerPoint 簡報</vt:lpstr>
      <vt:lpstr>Ratanamahatana-Keogh Band (R-K Band). </vt:lpstr>
      <vt:lpstr>lower bounding distance measure </vt:lpstr>
      <vt:lpstr>Learning multiple Ratanamahatana-Keogh bands for classification </vt:lpstr>
      <vt:lpstr>Forward Search</vt:lpstr>
      <vt:lpstr>Local maximum</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Making Time-series Classification more accurate Using Learned Constraints </dc:title>
  <dc:creator>andy</dc:creator>
  <cp:lastModifiedBy>andy</cp:lastModifiedBy>
  <cp:revision>34</cp:revision>
  <dcterms:created xsi:type="dcterms:W3CDTF">2016-09-13T14:41:00Z</dcterms:created>
  <dcterms:modified xsi:type="dcterms:W3CDTF">2016-10-05T09:35:18Z</dcterms:modified>
</cp:coreProperties>
</file>