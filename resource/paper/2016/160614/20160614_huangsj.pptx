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2" r:id="rId7"/>
    <p:sldId id="283" r:id="rId8"/>
    <p:sldId id="264" r:id="rId9"/>
    <p:sldId id="269" r:id="rId10"/>
    <p:sldId id="266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67" r:id="rId20"/>
    <p:sldId id="272" r:id="rId21"/>
    <p:sldId id="273" r:id="rId22"/>
    <p:sldId id="268" r:id="rId23"/>
    <p:sldId id="270" r:id="rId24"/>
    <p:sldId id="271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70" autoAdjust="0"/>
    <p:restoredTop sz="86453" autoAdjust="0"/>
  </p:normalViewPr>
  <p:slideViewPr>
    <p:cSldViewPr snapToGrid="0">
      <p:cViewPr varScale="1">
        <p:scale>
          <a:sx n="91" d="100"/>
          <a:sy n="91" d="100"/>
        </p:scale>
        <p:origin x="108" y="366"/>
      </p:cViewPr>
      <p:guideLst/>
    </p:cSldViewPr>
  </p:slideViewPr>
  <p:outlineViewPr>
    <p:cViewPr>
      <p:scale>
        <a:sx n="33" d="100"/>
        <a:sy n="33" d="100"/>
      </p:scale>
      <p:origin x="0" y="-1303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D7B7-7392-447C-92F0-FA3225ED334C}" type="datetimeFigureOut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4AB2-D39E-4755-BD26-22E0E67DF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342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D7B7-7392-447C-92F0-FA3225ED334C}" type="datetimeFigureOut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4AB2-D39E-4755-BD26-22E0E67DF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48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D7B7-7392-447C-92F0-FA3225ED334C}" type="datetimeFigureOut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4AB2-D39E-4755-BD26-22E0E67DF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08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D7B7-7392-447C-92F0-FA3225ED334C}" type="datetimeFigureOut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4AB2-D39E-4755-BD26-22E0E67DF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7484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D7B7-7392-447C-92F0-FA3225ED334C}" type="datetimeFigureOut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4AB2-D39E-4755-BD26-22E0E67DF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966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D7B7-7392-447C-92F0-FA3225ED334C}" type="datetimeFigureOut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4AB2-D39E-4755-BD26-22E0E67DF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3729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D7B7-7392-447C-92F0-FA3225ED334C}" type="datetimeFigureOut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4AB2-D39E-4755-BD26-22E0E67DF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8702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D7B7-7392-447C-92F0-FA3225ED334C}" type="datetimeFigureOut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4AB2-D39E-4755-BD26-22E0E67DF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5406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D7B7-7392-447C-92F0-FA3225ED334C}" type="datetimeFigureOut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4AB2-D39E-4755-BD26-22E0E67DF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2833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D7B7-7392-447C-92F0-FA3225ED334C}" type="datetimeFigureOut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4AB2-D39E-4755-BD26-22E0E67DF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9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D7B7-7392-447C-92F0-FA3225ED334C}" type="datetimeFigureOut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54AB2-D39E-4755-BD26-22E0E67DF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7858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CD7B7-7392-447C-92F0-FA3225ED334C}" type="datetimeFigureOut">
              <a:rPr lang="zh-TW" altLang="en-US" smtClean="0"/>
              <a:t>2016/6/14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54AB2-D39E-4755-BD26-22E0E67DF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21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39825" y="525463"/>
            <a:ext cx="9912350" cy="23876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The use of data mining and neural networks for forecasting stock market returns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424238"/>
            <a:ext cx="9144000" cy="1655762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sz="3000" dirty="0" smtClean="0"/>
              <a:t>David </a:t>
            </a:r>
            <a:r>
              <a:rPr lang="en-US" altLang="zh-TW" sz="3000" dirty="0" err="1" smtClean="0"/>
              <a:t>Enke</a:t>
            </a:r>
            <a:r>
              <a:rPr lang="en-US" altLang="zh-TW" sz="3000" dirty="0" smtClean="0"/>
              <a:t>, </a:t>
            </a:r>
            <a:r>
              <a:rPr lang="en-US" altLang="zh-TW" sz="3000" dirty="0" err="1" smtClean="0"/>
              <a:t>Suraphan</a:t>
            </a:r>
            <a:r>
              <a:rPr lang="en-US" altLang="zh-TW" sz="3000" dirty="0" smtClean="0"/>
              <a:t> </a:t>
            </a:r>
            <a:r>
              <a:rPr lang="en-US" altLang="zh-TW" sz="3000" dirty="0" err="1" smtClean="0"/>
              <a:t>Thawornwong</a:t>
            </a:r>
            <a:endParaRPr lang="en-US" altLang="zh-TW" sz="3000" dirty="0" smtClean="0"/>
          </a:p>
          <a:p>
            <a:r>
              <a:rPr lang="en-US" altLang="zh-TW" sz="3000" dirty="0" smtClean="0"/>
              <a:t>University </a:t>
            </a:r>
            <a:r>
              <a:rPr lang="en-US" altLang="zh-TW" sz="3000" smtClean="0"/>
              <a:t>of Missouri, </a:t>
            </a:r>
            <a:r>
              <a:rPr lang="en-US" altLang="zh-TW" sz="3000" dirty="0" smtClean="0"/>
              <a:t>USA</a:t>
            </a:r>
            <a:endParaRPr lang="en-US" altLang="zh-TW" sz="3000" dirty="0" smtClean="0"/>
          </a:p>
          <a:p>
            <a:endParaRPr lang="en-US" altLang="zh-TW" sz="3000" dirty="0"/>
          </a:p>
          <a:p>
            <a:r>
              <a:rPr lang="en-US" altLang="zh-TW" sz="3000" dirty="0"/>
              <a:t>Expert Systems with Applications </a:t>
            </a:r>
            <a:r>
              <a:rPr lang="en-US" altLang="zh-TW" sz="3000" dirty="0" smtClean="0"/>
              <a:t>29, pp.927–940,</a:t>
            </a:r>
            <a:r>
              <a:rPr lang="en-US" altLang="zh-TW" sz="3000" dirty="0"/>
              <a:t> </a:t>
            </a:r>
            <a:r>
              <a:rPr lang="en-US" altLang="zh-TW" sz="3000" dirty="0" smtClean="0"/>
              <a:t>2005</a:t>
            </a:r>
            <a:endParaRPr lang="zh-TW" altLang="en-US" sz="3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3841750" y="5722883"/>
            <a:ext cx="4508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 smtClean="0"/>
              <a:t>Presenter : Shih-</a:t>
            </a:r>
            <a:r>
              <a:rPr lang="en-US" altLang="zh-TW" sz="3000" dirty="0" err="1" smtClean="0"/>
              <a:t>jhan</a:t>
            </a:r>
            <a:r>
              <a:rPr lang="en-US" altLang="zh-TW" sz="3000" dirty="0" smtClean="0"/>
              <a:t> Huang</a:t>
            </a:r>
          </a:p>
          <a:p>
            <a:r>
              <a:rPr lang="en-US" altLang="zh-TW" sz="3000" dirty="0" smtClean="0"/>
              <a:t>Date : 2016/6/14</a:t>
            </a:r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14390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49225"/>
            <a:ext cx="10515600" cy="1325563"/>
          </a:xfrm>
        </p:spPr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2300" y="1260476"/>
            <a:ext cx="11023600" cy="530542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zh-TW" altLang="en-US" dirty="0" smtClean="0"/>
              <a:t>　</a:t>
            </a:r>
            <a:r>
              <a:rPr lang="en-US" altLang="zh-TW" dirty="0" smtClean="0"/>
              <a:t>It </a:t>
            </a:r>
            <a:r>
              <a:rPr lang="en-US" altLang="zh-TW" dirty="0"/>
              <a:t>has been widely accepted by many studies that non-linearity exists in the financial markets and that neural networks can be </a:t>
            </a:r>
            <a:r>
              <a:rPr lang="en-US" altLang="zh-TW" dirty="0" smtClean="0"/>
              <a:t>effectively used </a:t>
            </a:r>
            <a:r>
              <a:rPr lang="en-US" altLang="zh-TW" dirty="0"/>
              <a:t>to uncover this relationship. </a:t>
            </a:r>
            <a:r>
              <a:rPr lang="en-US" altLang="zh-TW" dirty="0" err="1" smtClean="0"/>
              <a:t>Unfortunately,many</a:t>
            </a:r>
            <a:r>
              <a:rPr lang="en-US" altLang="zh-TW" dirty="0" smtClean="0"/>
              <a:t> </a:t>
            </a:r>
            <a:r>
              <a:rPr lang="en-US" altLang="zh-TW" dirty="0"/>
              <a:t>of these studies fail to </a:t>
            </a:r>
            <a:r>
              <a:rPr lang="en-US" altLang="zh-TW" dirty="0" smtClean="0"/>
              <a:t>consider alternative </a:t>
            </a:r>
            <a:r>
              <a:rPr lang="en-US" altLang="zh-TW" dirty="0"/>
              <a:t>forecasting </a:t>
            </a:r>
            <a:r>
              <a:rPr lang="en-US" altLang="zh-TW" dirty="0" err="1" smtClean="0"/>
              <a:t>techniques,the</a:t>
            </a:r>
            <a:r>
              <a:rPr lang="en-US" altLang="zh-TW" dirty="0" smtClean="0"/>
              <a:t> </a:t>
            </a:r>
            <a:r>
              <a:rPr lang="en-US" altLang="zh-TW" dirty="0"/>
              <a:t>relevance </a:t>
            </a:r>
            <a:r>
              <a:rPr lang="en-US" altLang="zh-TW" dirty="0" smtClean="0"/>
              <a:t>of input </a:t>
            </a:r>
            <a:r>
              <a:rPr lang="en-US" altLang="zh-TW" dirty="0"/>
              <a:t>variables, or the performance of the models when using different trading strategies. This paper introduces an information gain </a:t>
            </a:r>
            <a:r>
              <a:rPr lang="en-US" altLang="zh-TW" dirty="0" smtClean="0"/>
              <a:t>technique used </a:t>
            </a:r>
            <a:r>
              <a:rPr lang="en-US" altLang="zh-TW" dirty="0"/>
              <a:t>in machine learning for data mining to evaluate the predictive relationships of numerous financial and economic variables. </a:t>
            </a:r>
            <a:r>
              <a:rPr lang="en-US" altLang="zh-TW" dirty="0" smtClean="0"/>
              <a:t>Neural network </a:t>
            </a:r>
            <a:r>
              <a:rPr lang="en-US" altLang="zh-TW" dirty="0"/>
              <a:t>models for level estimation and classification are then examined for their ability to provide an effective forecast of future </a:t>
            </a:r>
            <a:r>
              <a:rPr lang="en-US" altLang="zh-TW" dirty="0" smtClean="0"/>
              <a:t>values. A </a:t>
            </a:r>
            <a:r>
              <a:rPr lang="en-US" altLang="zh-TW" dirty="0"/>
              <a:t>cross-validation technique is also employed to improve the generalization ability of several models. The results show that the </a:t>
            </a:r>
            <a:r>
              <a:rPr lang="en-US" altLang="zh-TW" dirty="0" smtClean="0"/>
              <a:t>trading strategies </a:t>
            </a:r>
            <a:r>
              <a:rPr lang="en-US" altLang="zh-TW" dirty="0"/>
              <a:t>guided by the classification models generate higher risk-adjusted profits than the buy-and-hold </a:t>
            </a:r>
            <a:r>
              <a:rPr lang="en-US" altLang="zh-TW" dirty="0" err="1" smtClean="0"/>
              <a:t>strategy,as</a:t>
            </a:r>
            <a:r>
              <a:rPr lang="en-US" altLang="zh-TW" dirty="0" smtClean="0"/>
              <a:t> </a:t>
            </a:r>
            <a:r>
              <a:rPr lang="en-US" altLang="zh-TW" dirty="0"/>
              <a:t>well as those guided </a:t>
            </a:r>
            <a:r>
              <a:rPr lang="en-US" altLang="zh-TW" dirty="0" smtClean="0"/>
              <a:t>by the </a:t>
            </a:r>
            <a:r>
              <a:rPr lang="en-US" altLang="zh-TW" dirty="0"/>
              <a:t>level-estimation based forecasts of the neural network and linear regression models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9474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Preprocess</a:t>
            </a:r>
            <a:r>
              <a:rPr lang="zh-TW" altLang="en-US" b="1" dirty="0" smtClean="0"/>
              <a:t>：</a:t>
            </a:r>
            <a:r>
              <a:rPr lang="en-US" altLang="zh-TW" dirty="0" smtClean="0"/>
              <a:t>Data selection (for input layer)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8844" y="1690688"/>
            <a:ext cx="11774311" cy="4320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15 variables were selected by the information gain data mining analysis.(</a:t>
            </a:r>
            <a:r>
              <a:rPr lang="en-US" altLang="zh-TW" dirty="0"/>
              <a:t>15/31</a:t>
            </a:r>
            <a:r>
              <a:rPr lang="en-US" altLang="zh-TW" dirty="0" smtClean="0"/>
              <a:t>)</a:t>
            </a:r>
          </a:p>
          <a:p>
            <a:pPr marL="0" indent="0">
              <a:buNone/>
            </a:pPr>
            <a:r>
              <a:rPr lang="en-US" altLang="zh-TW" dirty="0" smtClean="0"/>
              <a:t>M1</a:t>
            </a:r>
            <a:r>
              <a:rPr lang="zh-TW" altLang="en-US" dirty="0" smtClean="0"/>
              <a:t>、</a:t>
            </a:r>
            <a:r>
              <a:rPr lang="en-US" altLang="zh-TW" dirty="0" smtClean="0"/>
              <a:t>T3</a:t>
            </a:r>
            <a:r>
              <a:rPr lang="zh-TW" altLang="en-US" dirty="0" smtClean="0"/>
              <a:t>、</a:t>
            </a:r>
            <a:r>
              <a:rPr lang="en-US" altLang="zh-TW" dirty="0" smtClean="0"/>
              <a:t>T6</a:t>
            </a:r>
            <a:r>
              <a:rPr lang="zh-TW" altLang="en-US" dirty="0" smtClean="0"/>
              <a:t>、</a:t>
            </a:r>
            <a:r>
              <a:rPr lang="en-US" altLang="zh-TW" dirty="0" smtClean="0"/>
              <a:t>T120</a:t>
            </a:r>
            <a:r>
              <a:rPr lang="zh-TW" altLang="en-US" dirty="0" smtClean="0"/>
              <a:t>、</a:t>
            </a:r>
            <a:r>
              <a:rPr lang="en-US" altLang="zh-TW" dirty="0" smtClean="0"/>
              <a:t>CD1</a:t>
            </a:r>
            <a:r>
              <a:rPr lang="zh-TW" altLang="en-US" dirty="0" smtClean="0"/>
              <a:t>、</a:t>
            </a:r>
            <a:r>
              <a:rPr lang="en-US" altLang="zh-TW" dirty="0" smtClean="0"/>
              <a:t>CD3</a:t>
            </a:r>
            <a:r>
              <a:rPr lang="zh-TW" altLang="en-US" dirty="0" smtClean="0"/>
              <a:t>、</a:t>
            </a:r>
            <a:r>
              <a:rPr lang="en-US" altLang="zh-TW" dirty="0" smtClean="0"/>
              <a:t>CD6</a:t>
            </a:r>
            <a:r>
              <a:rPr lang="zh-TW" altLang="en-US" dirty="0" smtClean="0"/>
              <a:t>、</a:t>
            </a:r>
            <a:r>
              <a:rPr lang="en-US" altLang="zh-TW" dirty="0" smtClean="0"/>
              <a:t>SP</a:t>
            </a:r>
            <a:r>
              <a:rPr lang="zh-TW" altLang="en-US" dirty="0"/>
              <a:t>、</a:t>
            </a:r>
            <a:r>
              <a:rPr lang="en-US" altLang="zh-TW" dirty="0" smtClean="0"/>
              <a:t>TE2</a:t>
            </a:r>
            <a:r>
              <a:rPr lang="zh-TW" altLang="en-US" dirty="0" smtClean="0"/>
              <a:t>、</a:t>
            </a:r>
            <a:r>
              <a:rPr lang="en-US" altLang="zh-TW" dirty="0" smtClean="0"/>
              <a:t>TE3</a:t>
            </a:r>
            <a:r>
              <a:rPr lang="zh-TW" altLang="en-US" dirty="0" smtClean="0"/>
              <a:t>、</a:t>
            </a:r>
            <a:r>
              <a:rPr lang="en-US" altLang="zh-TW" dirty="0" smtClean="0"/>
              <a:t>TE4</a:t>
            </a:r>
            <a:r>
              <a:rPr lang="zh-TW" altLang="en-US" dirty="0" smtClean="0"/>
              <a:t>、</a:t>
            </a:r>
            <a:r>
              <a:rPr lang="en-US" altLang="zh-TW" dirty="0" smtClean="0"/>
              <a:t>DE2</a:t>
            </a:r>
            <a:r>
              <a:rPr lang="zh-TW" altLang="en-US" dirty="0" smtClean="0"/>
              <a:t>、</a:t>
            </a:r>
            <a:r>
              <a:rPr lang="en-US" altLang="zh-TW" dirty="0" smtClean="0"/>
              <a:t>DE3</a:t>
            </a:r>
            <a:r>
              <a:rPr lang="zh-TW" altLang="en-US" dirty="0" smtClean="0"/>
              <a:t>、</a:t>
            </a:r>
            <a:r>
              <a:rPr lang="en-US" altLang="zh-TW" dirty="0" smtClean="0"/>
              <a:t>DE5</a:t>
            </a:r>
            <a:r>
              <a:rPr lang="zh-TW" altLang="en-US" dirty="0" smtClean="0"/>
              <a:t>、</a:t>
            </a:r>
            <a:r>
              <a:rPr lang="en-US" altLang="zh-TW" dirty="0" smtClean="0"/>
              <a:t>DE7</a:t>
            </a:r>
          </a:p>
          <a:p>
            <a:endParaRPr lang="en-US" altLang="zh-TW" dirty="0"/>
          </a:p>
          <a:p>
            <a:pPr>
              <a:lnSpc>
                <a:spcPct val="120000"/>
              </a:lnSpc>
            </a:pPr>
            <a:r>
              <a:rPr lang="zh-TW" altLang="en-US" dirty="0" smtClean="0"/>
              <a:t>前處理：</a:t>
            </a:r>
            <a:r>
              <a:rPr lang="en-US" altLang="zh-TW" dirty="0" smtClean="0"/>
              <a:t>Normalizing (-1 </a:t>
            </a:r>
            <a:r>
              <a:rPr lang="zh-TW" altLang="en-US" dirty="0" smtClean="0"/>
              <a:t>～ </a:t>
            </a:r>
            <a:r>
              <a:rPr lang="en-US" altLang="zh-TW" dirty="0" smtClean="0"/>
              <a:t>+1)</a:t>
            </a:r>
            <a:r>
              <a:rPr lang="zh-TW" altLang="en-US" dirty="0" smtClean="0"/>
              <a:t> </a:t>
            </a:r>
            <a:r>
              <a:rPr lang="en-US" altLang="zh-TW" dirty="0"/>
              <a:t> </a:t>
            </a:r>
            <a:r>
              <a:rPr lang="en-US" altLang="zh-TW" dirty="0" smtClean="0"/>
              <a:t> 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</a:t>
            </a:r>
            <a:r>
              <a:rPr lang="zh-TW" altLang="en-US" dirty="0" smtClean="0"/>
              <a:t>→變數數值範圍縮小，可避免訓練時產生較大的誤差。</a:t>
            </a:r>
            <a:endParaRPr lang="en-US" altLang="zh-TW" dirty="0" smtClean="0"/>
          </a:p>
          <a:p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(</a:t>
            </a:r>
            <a:r>
              <a:rPr lang="zh-TW" altLang="en-US" dirty="0" smtClean="0"/>
              <a:t>參數的選擇對於整個</a:t>
            </a:r>
            <a:r>
              <a:rPr lang="en-US" altLang="zh-TW" dirty="0" smtClean="0"/>
              <a:t>model</a:t>
            </a:r>
            <a:r>
              <a:rPr lang="zh-TW" altLang="en-US" dirty="0" smtClean="0"/>
              <a:t>的預測結果好壞影響很大。</a:t>
            </a:r>
            <a:r>
              <a:rPr lang="en-US" altLang="zh-TW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9457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0778" y="4434"/>
            <a:ext cx="3225800" cy="687114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567" y="-13140"/>
            <a:ext cx="3434344" cy="688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31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solidFill>
                  <a:srgbClr val="0070C0"/>
                </a:solidFill>
              </a:rPr>
              <a:t>Level</a:t>
            </a:r>
            <a:r>
              <a:rPr lang="en-US" altLang="zh-TW" dirty="0" smtClean="0"/>
              <a:t>  </a:t>
            </a:r>
            <a:r>
              <a:rPr lang="en-US" altLang="zh-TW" dirty="0" err="1" smtClean="0"/>
              <a:t>v.s</a:t>
            </a:r>
            <a:r>
              <a:rPr lang="en-US" altLang="zh-TW" dirty="0" smtClean="0"/>
              <a:t>. </a:t>
            </a:r>
            <a:r>
              <a:rPr lang="en-US" altLang="zh-TW" b="1" dirty="0" smtClean="0">
                <a:solidFill>
                  <a:srgbClr val="0070C0"/>
                </a:solidFill>
              </a:rPr>
              <a:t>Classification</a:t>
            </a:r>
            <a:endParaRPr lang="zh-TW" altLang="en-US" b="1" dirty="0">
              <a:solidFill>
                <a:srgbClr val="0070C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Level estimation model</a:t>
            </a:r>
            <a:r>
              <a:rPr lang="zh-TW" altLang="en-US" dirty="0" smtClean="0">
                <a:sym typeface="Wingdings" panose="05000000000000000000" pitchFamily="2" charset="2"/>
              </a:rPr>
              <a:t>：</a:t>
            </a:r>
            <a:r>
              <a:rPr lang="en-US" altLang="zh-TW" dirty="0" smtClean="0">
                <a:sym typeface="Wingdings" panose="05000000000000000000" pitchFamily="2" charset="2"/>
              </a:rPr>
              <a:t>(use </a:t>
            </a:r>
            <a:r>
              <a:rPr lang="en-US" altLang="zh-TW" b="1" dirty="0" smtClean="0">
                <a:sym typeface="Wingdings" panose="05000000000000000000" pitchFamily="2" charset="2"/>
              </a:rPr>
              <a:t>G</a:t>
            </a:r>
            <a:r>
              <a:rPr lang="en-US" altLang="zh-TW" dirty="0" smtClean="0">
                <a:sym typeface="Wingdings" panose="05000000000000000000" pitchFamily="2" charset="2"/>
              </a:rPr>
              <a:t>eneral </a:t>
            </a:r>
            <a:r>
              <a:rPr lang="en-US" altLang="zh-TW" b="1" dirty="0" smtClean="0">
                <a:sym typeface="Wingdings" panose="05000000000000000000" pitchFamily="2" charset="2"/>
              </a:rPr>
              <a:t>R</a:t>
            </a:r>
            <a:r>
              <a:rPr lang="en-US" altLang="zh-TW" dirty="0" smtClean="0">
                <a:sym typeface="Wingdings" panose="05000000000000000000" pitchFamily="2" charset="2"/>
              </a:rPr>
              <a:t>egression </a:t>
            </a:r>
            <a:r>
              <a:rPr lang="en-US" altLang="zh-TW" b="1" dirty="0" smtClean="0">
                <a:sym typeface="Wingdings" panose="05000000000000000000" pitchFamily="2" charset="2"/>
              </a:rPr>
              <a:t>N</a:t>
            </a:r>
            <a:r>
              <a:rPr lang="en-US" altLang="zh-TW" dirty="0" smtClean="0">
                <a:sym typeface="Wingdings" panose="05000000000000000000" pitchFamily="2" charset="2"/>
              </a:rPr>
              <a:t>eural </a:t>
            </a:r>
            <a:r>
              <a:rPr lang="en-US" altLang="zh-TW" b="1" dirty="0" smtClean="0">
                <a:sym typeface="Wingdings" panose="05000000000000000000" pitchFamily="2" charset="2"/>
              </a:rPr>
              <a:t>N</a:t>
            </a:r>
            <a:r>
              <a:rPr lang="en-US" altLang="zh-TW" dirty="0" smtClean="0">
                <a:sym typeface="Wingdings" panose="05000000000000000000" pitchFamily="2" charset="2"/>
              </a:rPr>
              <a:t>etwork)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　</a:t>
            </a:r>
            <a:r>
              <a:rPr lang="en-US" altLang="zh-TW" dirty="0" smtClean="0"/>
              <a:t>Estimate the value(level) of excess stock returns on the S&amp;P 500 index portfolio.</a:t>
            </a:r>
          </a:p>
          <a:p>
            <a:endParaRPr lang="en-US" altLang="zh-TW" dirty="0"/>
          </a:p>
          <a:p>
            <a:r>
              <a:rPr lang="en-US" altLang="zh-TW" dirty="0" smtClean="0"/>
              <a:t>Classification model</a:t>
            </a:r>
            <a:r>
              <a:rPr lang="zh-TW" altLang="en-US" dirty="0" smtClean="0">
                <a:sym typeface="Wingdings" panose="05000000000000000000" pitchFamily="2" charset="2"/>
              </a:rPr>
              <a:t>：</a:t>
            </a:r>
            <a:r>
              <a:rPr lang="en-US" altLang="zh-TW" dirty="0" smtClean="0">
                <a:sym typeface="Wingdings" panose="05000000000000000000" pitchFamily="2" charset="2"/>
              </a:rPr>
              <a:t>(use </a:t>
            </a:r>
            <a:r>
              <a:rPr lang="en-US" altLang="zh-TW" b="1" dirty="0" smtClean="0">
                <a:sym typeface="Wingdings" panose="05000000000000000000" pitchFamily="2" charset="2"/>
              </a:rPr>
              <a:t>P</a:t>
            </a:r>
            <a:r>
              <a:rPr lang="en-US" altLang="zh-TW" dirty="0" smtClean="0">
                <a:sym typeface="Wingdings" panose="05000000000000000000" pitchFamily="2" charset="2"/>
              </a:rPr>
              <a:t>robabilistic </a:t>
            </a:r>
            <a:r>
              <a:rPr lang="en-US" altLang="zh-TW" b="1" dirty="0" smtClean="0">
                <a:sym typeface="Wingdings" panose="05000000000000000000" pitchFamily="2" charset="2"/>
              </a:rPr>
              <a:t>N</a:t>
            </a:r>
            <a:r>
              <a:rPr lang="en-US" altLang="zh-TW" dirty="0" smtClean="0">
                <a:sym typeface="Wingdings" panose="05000000000000000000" pitchFamily="2" charset="2"/>
              </a:rPr>
              <a:t>eural </a:t>
            </a:r>
            <a:r>
              <a:rPr lang="en-US" altLang="zh-TW" b="1" dirty="0" smtClean="0">
                <a:sym typeface="Wingdings" panose="05000000000000000000" pitchFamily="2" charset="2"/>
              </a:rPr>
              <a:t>N</a:t>
            </a:r>
            <a:r>
              <a:rPr lang="en-US" altLang="zh-TW" dirty="0" smtClean="0">
                <a:sym typeface="Wingdings" panose="05000000000000000000" pitchFamily="2" charset="2"/>
              </a:rPr>
              <a:t>etwork)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　</a:t>
            </a:r>
            <a:r>
              <a:rPr lang="en-US" altLang="zh-TW" dirty="0" smtClean="0"/>
              <a:t>Classify </a:t>
            </a:r>
            <a:r>
              <a:rPr lang="en-US" altLang="zh-TW" dirty="0"/>
              <a:t>the </a:t>
            </a:r>
            <a:r>
              <a:rPr lang="en-US" altLang="zh-TW" dirty="0" smtClean="0"/>
              <a:t>direction(sign) </a:t>
            </a:r>
            <a:r>
              <a:rPr lang="en-US" altLang="zh-TW" dirty="0"/>
              <a:t>of excess stock returns on the S&amp;P 500 index portfolio.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4948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Neural network models for level estimation</a:t>
            </a:r>
            <a:br>
              <a:rPr lang="en-US" altLang="zh-TW" dirty="0"/>
            </a:br>
            <a:r>
              <a:rPr lang="en-US" altLang="zh-TW" dirty="0"/>
              <a:t> – use GRNN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77437" y="1576243"/>
            <a:ext cx="10515600" cy="4351338"/>
          </a:xfrm>
        </p:spPr>
        <p:txBody>
          <a:bodyPr/>
          <a:lstStyle/>
          <a:p>
            <a:r>
              <a:rPr lang="zh-TW" altLang="en-US" dirty="0"/>
              <a:t>分為三層：輸入層、隱藏層、</a:t>
            </a:r>
            <a:r>
              <a:rPr lang="zh-TW" altLang="en-US" b="1" dirty="0">
                <a:solidFill>
                  <a:srgbClr val="0070C0"/>
                </a:solidFill>
              </a:rPr>
              <a:t>輸出層</a:t>
            </a:r>
            <a:r>
              <a:rPr lang="en-US" altLang="zh-TW" b="1" dirty="0">
                <a:solidFill>
                  <a:srgbClr val="0070C0"/>
                </a:solidFill>
              </a:rPr>
              <a:t>(value of level)</a:t>
            </a:r>
            <a:r>
              <a:rPr lang="zh-TW" altLang="en-US" dirty="0"/>
              <a:t>。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962" y="3449669"/>
            <a:ext cx="3859628" cy="294066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9" y="3928597"/>
            <a:ext cx="3402143" cy="191215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47" y="5840751"/>
            <a:ext cx="6725589" cy="106694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093538" y="5113177"/>
            <a:ext cx="1033153" cy="510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右箭號 7"/>
          <p:cNvSpPr/>
          <p:nvPr/>
        </p:nvSpPr>
        <p:spPr>
          <a:xfrm>
            <a:off x="6940393" y="4686463"/>
            <a:ext cx="901007" cy="671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6736139" y="4128747"/>
            <a:ext cx="954107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30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簡化</a:t>
            </a:r>
            <a:endParaRPr lang="zh-TW" altLang="en-US" sz="30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0" name="內容版面配置區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9" y="2038348"/>
            <a:ext cx="4236010" cy="230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70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85" y="-185165"/>
            <a:ext cx="6215744" cy="7043165"/>
          </a:xfrm>
        </p:spPr>
      </p:pic>
      <p:pic>
        <p:nvPicPr>
          <p:cNvPr id="4" name="內容版面配置區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299" y="2013078"/>
            <a:ext cx="5521026" cy="299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03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9871" y="296189"/>
            <a:ext cx="2475016" cy="1325563"/>
          </a:xfrm>
        </p:spPr>
        <p:txBody>
          <a:bodyPr/>
          <a:lstStyle/>
          <a:p>
            <a:r>
              <a:rPr lang="en-US" altLang="zh-TW" dirty="0" smtClean="0"/>
              <a:t>GRNN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468" y="2624620"/>
            <a:ext cx="5756276" cy="312606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51" y="2717319"/>
            <a:ext cx="3437993" cy="114162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51" y="4837724"/>
            <a:ext cx="3846068" cy="1072074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7195354" y="5967151"/>
            <a:ext cx="6016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/>
              <a:t>註：</a:t>
            </a:r>
            <a:endParaRPr lang="en-US" altLang="zh-TW" b="1" dirty="0" smtClean="0"/>
          </a:p>
          <a:p>
            <a:r>
              <a:rPr lang="en-US" altLang="zh-TW" b="1" dirty="0" smtClean="0"/>
              <a:t>         RMSE</a:t>
            </a:r>
            <a:r>
              <a:rPr lang="zh-TW" altLang="en-US" dirty="0" smtClean="0"/>
              <a:t>：</a:t>
            </a:r>
            <a:r>
              <a:rPr lang="en-US" altLang="zh-TW" dirty="0" smtClean="0"/>
              <a:t>root-mean squared error</a:t>
            </a:r>
          </a:p>
          <a:p>
            <a:r>
              <a:rPr lang="en-US" altLang="zh-TW" b="1" dirty="0" smtClean="0"/>
              <a:t>         WER</a:t>
            </a:r>
            <a:r>
              <a:rPr lang="zh-TW" altLang="en-US" dirty="0" smtClean="0"/>
              <a:t>：</a:t>
            </a:r>
            <a:r>
              <a:rPr lang="en-US" altLang="zh-TW" dirty="0" smtClean="0"/>
              <a:t>weighted excess return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61751" y="3725476"/>
            <a:ext cx="4966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y</a:t>
            </a:r>
            <a:r>
              <a:rPr lang="en-US" altLang="zh-TW" baseline="-25000" dirty="0" err="1" smtClean="0"/>
              <a:t>i</a:t>
            </a:r>
            <a:r>
              <a:rPr lang="en-US" altLang="zh-TW" dirty="0" smtClean="0"/>
              <a:t> : predicted </a:t>
            </a:r>
            <a:r>
              <a:rPr lang="en-US" altLang="zh-TW" dirty="0"/>
              <a:t>excess stock </a:t>
            </a:r>
            <a:r>
              <a:rPr lang="en-US" altLang="zh-TW" dirty="0" smtClean="0"/>
              <a:t>return</a:t>
            </a:r>
            <a:br>
              <a:rPr lang="en-US" altLang="zh-TW" dirty="0" smtClean="0"/>
            </a:br>
            <a:r>
              <a:rPr lang="en-US" altLang="zh-TW" dirty="0" err="1" smtClean="0"/>
              <a:t>t</a:t>
            </a:r>
            <a:r>
              <a:rPr lang="en-US" altLang="zh-TW" baseline="-25000" dirty="0" err="1" smtClean="0"/>
              <a:t>i</a:t>
            </a:r>
            <a:r>
              <a:rPr lang="en-US" altLang="zh-TW" dirty="0" smtClean="0"/>
              <a:t> : actual excess </a:t>
            </a:r>
            <a:r>
              <a:rPr lang="en-US" altLang="zh-TW" dirty="0"/>
              <a:t>stock </a:t>
            </a:r>
            <a:r>
              <a:rPr lang="en-US" altLang="zh-TW" dirty="0" smtClean="0"/>
              <a:t>return</a:t>
            </a:r>
            <a:br>
              <a:rPr lang="en-US" altLang="zh-TW" dirty="0" smtClean="0"/>
            </a:br>
            <a:r>
              <a:rPr lang="en-US" altLang="zh-TW" dirty="0" smtClean="0"/>
              <a:t>n : the </a:t>
            </a:r>
            <a:r>
              <a:rPr lang="en-US" altLang="zh-TW" dirty="0"/>
              <a:t>number of validation </a:t>
            </a:r>
            <a:r>
              <a:rPr lang="en-US" altLang="zh-TW" dirty="0" smtClean="0"/>
              <a:t>cases</a:t>
            </a:r>
          </a:p>
          <a:p>
            <a:r>
              <a:rPr lang="en-US" altLang="zh-TW" dirty="0" smtClean="0"/>
              <a:t>      (40 months in each fold for </a:t>
            </a:r>
            <a:r>
              <a:rPr lang="en-US" altLang="zh-TW" dirty="0"/>
              <a:t>this study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275160" y="1851747"/>
            <a:ext cx="26481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u="sng" dirty="0" smtClean="0">
                <a:solidFill>
                  <a:srgbClr val="0070C0"/>
                </a:solidFill>
              </a:rPr>
              <a:t>Validation</a:t>
            </a:r>
            <a:endParaRPr lang="zh-TW" altLang="en-US" sz="3000" b="1" u="sng" dirty="0">
              <a:solidFill>
                <a:srgbClr val="0070C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61751" y="5791377"/>
            <a:ext cx="65629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 smtClean="0"/>
              <a:t>y1</a:t>
            </a:r>
            <a:r>
              <a:rPr lang="en-US" altLang="zh-TW" b="1" dirty="0"/>
              <a:t>, y2, y3, y4, </a:t>
            </a:r>
            <a:r>
              <a:rPr lang="en-US" altLang="zh-TW" b="1" dirty="0" smtClean="0"/>
              <a:t>y5 </a:t>
            </a:r>
            <a:r>
              <a:rPr lang="en-US" altLang="zh-TW" dirty="0" smtClean="0"/>
              <a:t>: the </a:t>
            </a:r>
            <a:r>
              <a:rPr lang="en-US" altLang="zh-TW" dirty="0"/>
              <a:t>predicted excess stock</a:t>
            </a:r>
          </a:p>
          <a:p>
            <a:r>
              <a:rPr lang="en-US" altLang="zh-TW" dirty="0"/>
              <a:t>returns of the five neural network models developed from</a:t>
            </a:r>
          </a:p>
          <a:p>
            <a:r>
              <a:rPr lang="en-US" altLang="zh-TW" dirty="0"/>
              <a:t>the five-fold cross-validation experiment.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865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489" y="1903153"/>
            <a:ext cx="7717933" cy="3392209"/>
          </a:xfrm>
        </p:spPr>
      </p:pic>
    </p:spTree>
    <p:extLst>
      <p:ext uri="{BB962C8B-B14F-4D97-AF65-F5344CB8AC3E}">
        <p14:creationId xmlns:p14="http://schemas.microsoft.com/office/powerpoint/2010/main" val="232174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71639" y="308680"/>
            <a:ext cx="11648722" cy="1325563"/>
          </a:xfrm>
        </p:spPr>
        <p:txBody>
          <a:bodyPr/>
          <a:lstStyle/>
          <a:p>
            <a:r>
              <a:rPr lang="en-US" altLang="zh-TW" dirty="0"/>
              <a:t>Neural network models for </a:t>
            </a:r>
            <a:r>
              <a:rPr lang="en-US" altLang="zh-TW" dirty="0" smtClean="0"/>
              <a:t>classification - use PNN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1639" y="1634243"/>
            <a:ext cx="10515600" cy="4732690"/>
          </a:xfrm>
        </p:spPr>
        <p:txBody>
          <a:bodyPr>
            <a:normAutofit fontScale="92500" lnSpcReduction="20000"/>
          </a:bodyPr>
          <a:lstStyle/>
          <a:p>
            <a:pPr marL="285750" indent="-285750"/>
            <a:r>
              <a:rPr lang="en-US" altLang="zh-TW" dirty="0" smtClean="0"/>
              <a:t>PNN</a:t>
            </a:r>
            <a:r>
              <a:rPr lang="zh-TW" altLang="en-US" dirty="0"/>
              <a:t>基本原理是由機率模型所啟發 </a:t>
            </a:r>
            <a:r>
              <a:rPr lang="en-US" altLang="zh-TW" dirty="0"/>
              <a:t>(Ex:</a:t>
            </a:r>
            <a:r>
              <a:rPr lang="zh-TW" altLang="en-US" dirty="0"/>
              <a:t>貝氏分類</a:t>
            </a:r>
            <a:r>
              <a:rPr lang="en-US" altLang="zh-TW" dirty="0" smtClean="0"/>
              <a:t>)</a:t>
            </a:r>
          </a:p>
          <a:p>
            <a:pPr marL="285750" indent="-285750"/>
            <a:endParaRPr lang="en-US" altLang="zh-TW" dirty="0"/>
          </a:p>
          <a:p>
            <a:pPr marL="285750" indent="-285750"/>
            <a:r>
              <a:rPr lang="zh-TW" altLang="en-US" dirty="0"/>
              <a:t>假設有一分類問題，其類別有ｋ個：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藉由訓練樣本集合Ｘ，找出每個類別</a:t>
            </a:r>
            <a:r>
              <a:rPr lang="en-US" altLang="zh-TW" dirty="0" err="1"/>
              <a:t>c</a:t>
            </a:r>
            <a:r>
              <a:rPr lang="en-US" altLang="zh-TW" baseline="-25000" dirty="0" err="1"/>
              <a:t>j</a:t>
            </a:r>
            <a:r>
              <a:rPr lang="zh-TW" altLang="en-US" dirty="0"/>
              <a:t>的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b="1" dirty="0">
                <a:solidFill>
                  <a:srgbClr val="00B0F0"/>
                </a:solidFill>
              </a:rPr>
              <a:t>機率密度函數</a:t>
            </a:r>
            <a:r>
              <a:rPr lang="zh-TW" altLang="en-US" dirty="0"/>
              <a:t>　</a:t>
            </a:r>
            <a:r>
              <a:rPr lang="en-US" altLang="zh-TW" sz="3200" dirty="0"/>
              <a:t>f</a:t>
            </a:r>
            <a:r>
              <a:rPr lang="en-US" altLang="zh-TW" sz="3200" baseline="-25000" dirty="0"/>
              <a:t>j</a:t>
            </a:r>
            <a:r>
              <a:rPr lang="en-US" altLang="zh-TW" sz="3200" dirty="0"/>
              <a:t>(X)</a:t>
            </a:r>
            <a:r>
              <a:rPr lang="zh-TW" altLang="en-US" sz="3200" dirty="0"/>
              <a:t>，</a:t>
            </a:r>
            <a:r>
              <a:rPr lang="en-US" altLang="zh-TW" sz="3200" dirty="0"/>
              <a:t>j=1,…,</a:t>
            </a:r>
            <a:r>
              <a:rPr lang="en-US" altLang="zh-TW" sz="3200" dirty="0" smtClean="0"/>
              <a:t>k</a:t>
            </a:r>
          </a:p>
          <a:p>
            <a:pPr marL="0" indent="0">
              <a:buNone/>
            </a:pPr>
            <a:endParaRPr lang="en-US" altLang="zh-TW" sz="3200" dirty="0" smtClean="0"/>
          </a:p>
          <a:p>
            <a:r>
              <a:rPr lang="zh-TW" altLang="en-US" sz="3200" dirty="0"/>
              <a:t>未來若有新的待分類資料Ｘ</a:t>
            </a:r>
            <a:r>
              <a:rPr lang="en-US" altLang="zh-TW" sz="3200" dirty="0"/>
              <a:t>’</a:t>
            </a:r>
            <a:r>
              <a:rPr lang="zh-TW" altLang="en-US" sz="3200" dirty="0"/>
              <a:t>進入該網路，則將該待分類資料代入各類別的機率密度函數，計算Ｘ</a:t>
            </a:r>
            <a:r>
              <a:rPr lang="en-US" altLang="zh-TW" sz="3200" dirty="0"/>
              <a:t>’</a:t>
            </a:r>
            <a:r>
              <a:rPr lang="zh-TW" altLang="en-US" sz="3200" dirty="0"/>
              <a:t>屬於各類別的機率值</a:t>
            </a:r>
            <a:endParaRPr lang="en-US" altLang="zh-TW" sz="3200" dirty="0"/>
          </a:p>
          <a:p>
            <a:r>
              <a:rPr lang="en-US" altLang="zh-TW" sz="3200" dirty="0"/>
              <a:t>P(</a:t>
            </a:r>
            <a:r>
              <a:rPr lang="en-US" altLang="zh-TW" sz="3200" dirty="0" err="1"/>
              <a:t>c</a:t>
            </a:r>
            <a:r>
              <a:rPr lang="en-US" altLang="zh-TW" sz="3200" baseline="-25000" dirty="0" err="1"/>
              <a:t>j</a:t>
            </a:r>
            <a:r>
              <a:rPr lang="en-US" altLang="zh-TW" sz="3200" dirty="0" err="1"/>
              <a:t>|X</a:t>
            </a:r>
            <a:r>
              <a:rPr lang="en-US" altLang="zh-TW" sz="3200" dirty="0"/>
              <a:t>) = f</a:t>
            </a:r>
            <a:r>
              <a:rPr lang="en-US" altLang="zh-TW" sz="3200" baseline="-25000" dirty="0"/>
              <a:t>j</a:t>
            </a:r>
            <a:r>
              <a:rPr lang="en-US" altLang="zh-TW" sz="3200" dirty="0"/>
              <a:t>(X’)</a:t>
            </a:r>
            <a:r>
              <a:rPr lang="zh-TW" altLang="en-US" sz="3200" dirty="0"/>
              <a:t>，</a:t>
            </a:r>
            <a:r>
              <a:rPr lang="en-US" altLang="zh-TW" sz="3200" dirty="0"/>
              <a:t>j = 1,…,k</a:t>
            </a:r>
          </a:p>
          <a:p>
            <a:endParaRPr lang="en-US" altLang="zh-TW" sz="3200" dirty="0"/>
          </a:p>
          <a:p>
            <a:r>
              <a:rPr lang="zh-TW" altLang="en-US" sz="3200" dirty="0"/>
              <a:t>具有</a:t>
            </a:r>
            <a:r>
              <a:rPr lang="zh-TW" altLang="en-US" sz="3200" b="1" dirty="0">
                <a:solidFill>
                  <a:srgbClr val="00B0F0"/>
                </a:solidFill>
              </a:rPr>
              <a:t>最大機率值</a:t>
            </a:r>
            <a:r>
              <a:rPr lang="zh-TW" altLang="en-US" sz="3200" dirty="0"/>
              <a:t>之類別，即為資料Ｘ</a:t>
            </a:r>
            <a:r>
              <a:rPr lang="en-US" altLang="zh-TW" sz="3200" dirty="0"/>
              <a:t>’</a:t>
            </a:r>
            <a:r>
              <a:rPr lang="zh-TW" altLang="en-US" sz="3200" dirty="0"/>
              <a:t>的所屬類別。</a:t>
            </a:r>
            <a:endParaRPr lang="en-US" altLang="zh-TW" sz="3200" dirty="0"/>
          </a:p>
          <a:p>
            <a:pPr marL="0" indent="0">
              <a:buNone/>
            </a:pPr>
            <a:endParaRPr lang="en-US" altLang="zh-TW" sz="3200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5434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62466" y="84936"/>
            <a:ext cx="10992555" cy="5150909"/>
          </a:xfrm>
        </p:spPr>
        <p:txBody>
          <a:bodyPr/>
          <a:lstStyle/>
          <a:p>
            <a:endParaRPr lang="en-US" altLang="zh-TW" dirty="0"/>
          </a:p>
          <a:p>
            <a:r>
              <a:rPr lang="zh-TW" altLang="en-US" dirty="0"/>
              <a:t>分為三層：輸入層、隱藏層、</a:t>
            </a:r>
            <a:r>
              <a:rPr lang="zh-TW" altLang="en-US" b="1" dirty="0">
                <a:solidFill>
                  <a:srgbClr val="0070C0"/>
                </a:solidFill>
              </a:rPr>
              <a:t>輸出層</a:t>
            </a:r>
            <a:r>
              <a:rPr lang="en-US" altLang="zh-TW" b="1" dirty="0">
                <a:solidFill>
                  <a:srgbClr val="0070C0"/>
                </a:solidFill>
              </a:rPr>
              <a:t>(signs of direction)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zh-TW" altLang="en-US" dirty="0"/>
          </a:p>
          <a:p>
            <a:r>
              <a:rPr lang="zh-TW" altLang="en-US" dirty="0"/>
              <a:t>假設樣本空間中有</a:t>
            </a:r>
            <a:r>
              <a:rPr lang="en-US" altLang="zh-TW" dirty="0"/>
              <a:t>n </a:t>
            </a:r>
            <a:r>
              <a:rPr lang="zh-TW" altLang="en-US" dirty="0"/>
              <a:t>筆訓練樣本</a:t>
            </a:r>
            <a:r>
              <a:rPr lang="zh-TW" altLang="en-US" dirty="0" smtClean="0"/>
              <a:t>，</a:t>
            </a:r>
            <a:endParaRPr lang="en-US" altLang="zh-TW" dirty="0"/>
          </a:p>
          <a:p>
            <a:r>
              <a:rPr lang="en-US" altLang="zh-TW" dirty="0" smtClean="0"/>
              <a:t>k </a:t>
            </a:r>
            <a:r>
              <a:rPr lang="zh-TW" altLang="en-US" dirty="0"/>
              <a:t>個類別</a:t>
            </a:r>
            <a:r>
              <a:rPr lang="en-US" altLang="zh-TW" b="1" dirty="0">
                <a:solidFill>
                  <a:srgbClr val="00B0F0"/>
                </a:solidFill>
              </a:rPr>
              <a:t>C = {</a:t>
            </a:r>
            <a:r>
              <a:rPr lang="en-US" altLang="zh-TW" b="1" i="1" dirty="0">
                <a:solidFill>
                  <a:srgbClr val="00B0F0"/>
                </a:solidFill>
              </a:rPr>
              <a:t>c</a:t>
            </a:r>
            <a:r>
              <a:rPr lang="en-US" altLang="zh-TW" b="1" baseline="-25000" dirty="0">
                <a:solidFill>
                  <a:srgbClr val="00B0F0"/>
                </a:solidFill>
              </a:rPr>
              <a:t>1</a:t>
            </a:r>
            <a:r>
              <a:rPr lang="en-US" altLang="zh-TW" b="1" dirty="0">
                <a:solidFill>
                  <a:srgbClr val="00B0F0"/>
                </a:solidFill>
              </a:rPr>
              <a:t> , </a:t>
            </a:r>
            <a:r>
              <a:rPr lang="en-US" altLang="zh-TW" b="1" i="1" dirty="0">
                <a:solidFill>
                  <a:srgbClr val="00B0F0"/>
                </a:solidFill>
              </a:rPr>
              <a:t>c</a:t>
            </a:r>
            <a:r>
              <a:rPr lang="en-US" altLang="zh-TW" b="1" baseline="-25000" dirty="0">
                <a:solidFill>
                  <a:srgbClr val="00B0F0"/>
                </a:solidFill>
              </a:rPr>
              <a:t>2</a:t>
            </a:r>
            <a:r>
              <a:rPr lang="en-US" altLang="zh-TW" b="1" dirty="0">
                <a:solidFill>
                  <a:srgbClr val="00B0F0"/>
                </a:solidFill>
              </a:rPr>
              <a:t> , …, </a:t>
            </a:r>
            <a:r>
              <a:rPr lang="en-US" altLang="zh-TW" b="1" i="1" dirty="0" err="1">
                <a:solidFill>
                  <a:srgbClr val="00B0F0"/>
                </a:solidFill>
              </a:rPr>
              <a:t>c</a:t>
            </a:r>
            <a:r>
              <a:rPr lang="en-US" altLang="zh-TW" b="1" baseline="-25000" dirty="0" err="1">
                <a:solidFill>
                  <a:srgbClr val="00B0F0"/>
                </a:solidFill>
              </a:rPr>
              <a:t>k</a:t>
            </a:r>
            <a:r>
              <a:rPr lang="en-US" altLang="zh-TW" b="1" dirty="0">
                <a:solidFill>
                  <a:srgbClr val="00B0F0"/>
                </a:solidFill>
              </a:rPr>
              <a:t> } </a:t>
            </a:r>
            <a:r>
              <a:rPr lang="zh-TW" altLang="en-US" dirty="0"/>
              <a:t>，每個類別內可有</a:t>
            </a:r>
            <a:r>
              <a:rPr lang="en-US" altLang="zh-TW" i="1" dirty="0"/>
              <a:t>z </a:t>
            </a:r>
            <a:r>
              <a:rPr lang="zh-TW" altLang="en-US" dirty="0"/>
              <a:t>筆樣本</a:t>
            </a:r>
            <a:r>
              <a:rPr lang="en-US" altLang="zh-TW" dirty="0"/>
              <a:t>(1≤ </a:t>
            </a:r>
            <a:r>
              <a:rPr lang="en-US" altLang="zh-TW" i="1" dirty="0"/>
              <a:t>z </a:t>
            </a:r>
            <a:r>
              <a:rPr lang="zh-TW" altLang="en-US" dirty="0"/>
              <a:t>≤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這</a:t>
            </a:r>
            <a:r>
              <a:rPr lang="en-US" altLang="zh-TW" dirty="0" smtClean="0"/>
              <a:t>n</a:t>
            </a:r>
            <a:r>
              <a:rPr lang="zh-TW" altLang="en-US" dirty="0" smtClean="0"/>
              <a:t>筆</a:t>
            </a:r>
            <a:r>
              <a:rPr lang="zh-TW" altLang="en-US" dirty="0"/>
              <a:t>樣本是由</a:t>
            </a:r>
            <a:r>
              <a:rPr lang="en-US" altLang="zh-TW" dirty="0" smtClean="0"/>
              <a:t>m</a:t>
            </a:r>
            <a:r>
              <a:rPr lang="zh-TW" altLang="en-US" dirty="0" smtClean="0"/>
              <a:t>個</a:t>
            </a:r>
            <a:r>
              <a:rPr lang="zh-TW" altLang="en-US" dirty="0"/>
              <a:t>變數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m </a:t>
            </a:r>
            <a:r>
              <a:rPr lang="zh-TW" altLang="en-US" dirty="0" smtClean="0"/>
              <a:t>維</a:t>
            </a:r>
            <a:r>
              <a:rPr lang="en-US" altLang="zh-TW" dirty="0" smtClean="0"/>
              <a:t>) </a:t>
            </a:r>
            <a:r>
              <a:rPr lang="zh-TW" altLang="en-US" dirty="0" smtClean="0"/>
              <a:t>，</a:t>
            </a:r>
            <a:r>
              <a:rPr lang="en-US" altLang="zh-TW" b="1" i="1" dirty="0" smtClean="0">
                <a:solidFill>
                  <a:srgbClr val="00B0F0"/>
                </a:solidFill>
              </a:rPr>
              <a:t>X</a:t>
            </a:r>
            <a:r>
              <a:rPr lang="en-US" altLang="zh-TW" b="1" dirty="0">
                <a:solidFill>
                  <a:srgbClr val="00B0F0"/>
                </a:solidFill>
              </a:rPr>
              <a:t>={</a:t>
            </a:r>
            <a:r>
              <a:rPr lang="en-US" altLang="zh-TW" b="1" i="1" dirty="0">
                <a:solidFill>
                  <a:srgbClr val="00B0F0"/>
                </a:solidFill>
              </a:rPr>
              <a:t>x</a:t>
            </a:r>
            <a:r>
              <a:rPr lang="en-US" altLang="zh-TW" b="1" baseline="-25000" dirty="0">
                <a:solidFill>
                  <a:srgbClr val="00B0F0"/>
                </a:solidFill>
              </a:rPr>
              <a:t>1</a:t>
            </a:r>
            <a:r>
              <a:rPr lang="en-US" altLang="zh-TW" b="1" dirty="0">
                <a:solidFill>
                  <a:srgbClr val="00B0F0"/>
                </a:solidFill>
              </a:rPr>
              <a:t> , </a:t>
            </a:r>
            <a:r>
              <a:rPr lang="en-US" altLang="zh-TW" b="1" i="1" dirty="0">
                <a:solidFill>
                  <a:srgbClr val="00B0F0"/>
                </a:solidFill>
              </a:rPr>
              <a:t>x</a:t>
            </a:r>
            <a:r>
              <a:rPr lang="en-US" altLang="zh-TW" b="1" baseline="-25000" dirty="0">
                <a:solidFill>
                  <a:srgbClr val="00B0F0"/>
                </a:solidFill>
              </a:rPr>
              <a:t>2</a:t>
            </a:r>
            <a:r>
              <a:rPr lang="en-US" altLang="zh-TW" b="1" dirty="0">
                <a:solidFill>
                  <a:srgbClr val="00B0F0"/>
                </a:solidFill>
              </a:rPr>
              <a:t> , …, </a:t>
            </a:r>
            <a:r>
              <a:rPr lang="en-US" altLang="zh-TW" b="1" i="1" dirty="0" err="1">
                <a:solidFill>
                  <a:srgbClr val="00B0F0"/>
                </a:solidFill>
              </a:rPr>
              <a:t>x</a:t>
            </a:r>
            <a:r>
              <a:rPr lang="en-US" altLang="zh-TW" b="1" baseline="-25000" dirty="0" err="1">
                <a:solidFill>
                  <a:srgbClr val="00B0F0"/>
                </a:solidFill>
              </a:rPr>
              <a:t>m</a:t>
            </a:r>
            <a:r>
              <a:rPr lang="en-US" altLang="zh-TW" b="1" dirty="0">
                <a:solidFill>
                  <a:srgbClr val="00B0F0"/>
                </a:solidFill>
              </a:rPr>
              <a:t> } </a:t>
            </a:r>
            <a:r>
              <a:rPr lang="zh-TW" altLang="en-US" dirty="0"/>
              <a:t>所組成。</a:t>
            </a:r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內容版面配置區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878" y="3334278"/>
            <a:ext cx="4973788" cy="339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414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 smtClean="0"/>
              <a:t>PNN</a:t>
            </a:r>
            <a:r>
              <a:rPr lang="zh-TW" altLang="en-US" dirty="0" smtClean="0"/>
              <a:t>中</a:t>
            </a:r>
            <a:r>
              <a:rPr lang="zh-TW" altLang="en-US" dirty="0"/>
              <a:t>，</a:t>
            </a:r>
            <a:r>
              <a:rPr lang="zh-TW" altLang="en-US" b="1" dirty="0"/>
              <a:t>每一個訓練樣本在</a:t>
            </a:r>
            <a:r>
              <a:rPr lang="zh-TW" altLang="en-US" b="1" dirty="0" smtClean="0"/>
              <a:t>每個</a:t>
            </a:r>
            <a:r>
              <a:rPr lang="zh-TW" altLang="en-US" b="1" dirty="0"/>
              <a:t>不同的分類上皆可形成機率密度函</a:t>
            </a:r>
            <a:r>
              <a:rPr lang="zh-TW" altLang="en-US" b="1" dirty="0" smtClean="0"/>
              <a:t>數。</a:t>
            </a:r>
            <a:endParaRPr lang="en-US" altLang="zh-TW" b="1" dirty="0" smtClean="0"/>
          </a:p>
          <a:p>
            <a:endParaRPr lang="en-US" altLang="zh-TW" b="1" dirty="0" smtClean="0"/>
          </a:p>
          <a:p>
            <a:r>
              <a:rPr lang="zh-TW" altLang="en-US" dirty="0" smtClean="0"/>
              <a:t>實際上，無法</a:t>
            </a:r>
            <a:r>
              <a:rPr lang="zh-TW" altLang="en-US" dirty="0"/>
              <a:t>事先了解訓練樣本的真實機率密度函數。</a:t>
            </a:r>
          </a:p>
          <a:p>
            <a:pPr marL="0" indent="0">
              <a:buNone/>
            </a:pPr>
            <a:r>
              <a:rPr lang="zh-TW" altLang="en-US" dirty="0" smtClean="0"/>
              <a:t>所以每個</a:t>
            </a:r>
            <a:r>
              <a:rPr lang="zh-TW" altLang="en-US" dirty="0"/>
              <a:t>訓練樣本於不同的類別上</a:t>
            </a:r>
            <a:r>
              <a:rPr lang="zh-TW" altLang="en-US" dirty="0" smtClean="0"/>
              <a:t>，必須</a:t>
            </a:r>
            <a:r>
              <a:rPr lang="zh-TW" altLang="en-US" dirty="0"/>
              <a:t>假設一個機率密度函數</a:t>
            </a:r>
            <a:r>
              <a:rPr lang="zh-TW" altLang="en-US" dirty="0" smtClean="0"/>
              <a:t>，為了方便運算，</a:t>
            </a:r>
            <a:r>
              <a:rPr lang="zh-TW" altLang="en-US" dirty="0"/>
              <a:t>所有的機率密度函數皆為相同的</a:t>
            </a:r>
            <a:r>
              <a:rPr lang="zh-TW" altLang="en-US" dirty="0" smtClean="0"/>
              <a:t>形式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sz="2500" dirty="0" smtClean="0"/>
              <a:t>(</a:t>
            </a:r>
            <a:r>
              <a:rPr lang="zh-TW" altLang="en-US" sz="2500" dirty="0" smtClean="0"/>
              <a:t>例：</a:t>
            </a:r>
            <a:r>
              <a:rPr lang="zh-TW" altLang="en-US" sz="2500" dirty="0"/>
              <a:t>常態</a:t>
            </a:r>
            <a:r>
              <a:rPr lang="zh-TW" altLang="en-US" sz="2500" dirty="0" smtClean="0"/>
              <a:t>分配</a:t>
            </a:r>
            <a:r>
              <a:rPr lang="en-US" altLang="zh-TW" sz="2500" dirty="0" smtClean="0"/>
              <a:t>)</a:t>
            </a:r>
            <a:endParaRPr lang="zh-TW" altLang="en-US" sz="25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5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68866" y="372091"/>
            <a:ext cx="10515600" cy="1325563"/>
          </a:xfrm>
        </p:spPr>
        <p:txBody>
          <a:bodyPr/>
          <a:lstStyle/>
          <a:p>
            <a:r>
              <a:rPr lang="en-US" altLang="zh-TW" dirty="0" smtClean="0"/>
              <a:t>PNN</a:t>
            </a:r>
            <a:r>
              <a:rPr lang="zh-TW" altLang="en-US" dirty="0" smtClean="0"/>
              <a:t>機率密度函數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489" y="2210594"/>
            <a:ext cx="5953956" cy="2038635"/>
          </a:xfrm>
        </p:spPr>
      </p:pic>
      <p:sp>
        <p:nvSpPr>
          <p:cNvPr id="5" name="文字方塊 4"/>
          <p:cNvSpPr txBox="1"/>
          <p:nvPr/>
        </p:nvSpPr>
        <p:spPr>
          <a:xfrm>
            <a:off x="1286932" y="4617156"/>
            <a:ext cx="68975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j : </a:t>
            </a:r>
            <a:r>
              <a:rPr lang="zh-TW" altLang="en-US" dirty="0" smtClean="0"/>
              <a:t>第</a:t>
            </a:r>
            <a:r>
              <a:rPr lang="en-US" altLang="zh-TW" dirty="0" smtClean="0"/>
              <a:t>j</a:t>
            </a:r>
            <a:r>
              <a:rPr lang="zh-TW" altLang="en-US" dirty="0" smtClean="0"/>
              <a:t>類別</a:t>
            </a:r>
            <a:endParaRPr lang="en-US" altLang="zh-TW" dirty="0" smtClean="0"/>
          </a:p>
          <a:p>
            <a:r>
              <a:rPr lang="en-US" altLang="zh-TW" dirty="0" smtClean="0"/>
              <a:t>     u : </a:t>
            </a:r>
            <a:r>
              <a:rPr lang="zh-TW" altLang="en-US" dirty="0" smtClean="0"/>
              <a:t>第</a:t>
            </a:r>
            <a:r>
              <a:rPr lang="en-US" altLang="zh-TW" dirty="0" smtClean="0"/>
              <a:t>u</a:t>
            </a:r>
            <a:r>
              <a:rPr lang="zh-TW" altLang="en-US" dirty="0" smtClean="0"/>
              <a:t>個樣本</a:t>
            </a:r>
            <a:r>
              <a:rPr lang="en-US" altLang="zh-TW" dirty="0" smtClean="0"/>
              <a:t>   </a:t>
            </a:r>
            <a:endParaRPr lang="zh-TW" altLang="en-US" dirty="0"/>
          </a:p>
          <a:p>
            <a:r>
              <a:rPr lang="en-US" altLang="zh-TW" dirty="0" smtClean="0"/>
              <a:t>     </a:t>
            </a:r>
            <a:r>
              <a:rPr lang="el-GR" altLang="zh-TW" dirty="0" smtClean="0"/>
              <a:t>σ</a:t>
            </a:r>
            <a:r>
              <a:rPr lang="en-US" altLang="zh-TW" dirty="0" smtClean="0"/>
              <a:t>  : </a:t>
            </a:r>
            <a:r>
              <a:rPr lang="zh-TW" altLang="en-US" dirty="0" smtClean="0"/>
              <a:t>平滑參數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     </a:t>
            </a:r>
            <a:r>
              <a:rPr lang="en-US" altLang="zh-TW" dirty="0" err="1" smtClean="0"/>
              <a:t>n</a:t>
            </a:r>
            <a:r>
              <a:rPr lang="en-US" altLang="zh-TW" baseline="-25000" dirty="0" err="1" smtClean="0"/>
              <a:t>j</a:t>
            </a:r>
            <a:r>
              <a:rPr lang="en-US" altLang="zh-TW" baseline="-25000" dirty="0" smtClean="0"/>
              <a:t> </a:t>
            </a:r>
            <a:r>
              <a:rPr lang="en-US" altLang="zh-TW" dirty="0" smtClean="0"/>
              <a:t>: </a:t>
            </a:r>
            <a:r>
              <a:rPr lang="zh-TW" altLang="en-US" dirty="0" smtClean="0"/>
              <a:t>第</a:t>
            </a:r>
            <a:r>
              <a:rPr lang="en-US" altLang="zh-TW" dirty="0" smtClean="0"/>
              <a:t>j</a:t>
            </a:r>
            <a:r>
              <a:rPr lang="zh-TW" altLang="en-US" dirty="0" smtClean="0"/>
              <a:t>個類別的樣本數</a:t>
            </a:r>
            <a:endParaRPr lang="en-US" altLang="zh-TW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k </a:t>
            </a:r>
            <a:r>
              <a:rPr lang="zh-TW" altLang="en-US" dirty="0"/>
              <a:t>個類別</a:t>
            </a:r>
            <a:r>
              <a:rPr lang="en-US" altLang="zh-TW" b="1" dirty="0">
                <a:solidFill>
                  <a:srgbClr val="00B0F0"/>
                </a:solidFill>
              </a:rPr>
              <a:t>C = {</a:t>
            </a:r>
            <a:r>
              <a:rPr lang="en-US" altLang="zh-TW" b="1" i="1" dirty="0">
                <a:solidFill>
                  <a:srgbClr val="00B0F0"/>
                </a:solidFill>
              </a:rPr>
              <a:t>c</a:t>
            </a:r>
            <a:r>
              <a:rPr lang="en-US" altLang="zh-TW" b="1" baseline="-25000" dirty="0">
                <a:solidFill>
                  <a:srgbClr val="00B0F0"/>
                </a:solidFill>
              </a:rPr>
              <a:t>1</a:t>
            </a:r>
            <a:r>
              <a:rPr lang="en-US" altLang="zh-TW" b="1" dirty="0">
                <a:solidFill>
                  <a:srgbClr val="00B0F0"/>
                </a:solidFill>
              </a:rPr>
              <a:t> , </a:t>
            </a:r>
            <a:r>
              <a:rPr lang="en-US" altLang="zh-TW" b="1" i="1" dirty="0">
                <a:solidFill>
                  <a:srgbClr val="00B0F0"/>
                </a:solidFill>
              </a:rPr>
              <a:t>c</a:t>
            </a:r>
            <a:r>
              <a:rPr lang="en-US" altLang="zh-TW" b="1" baseline="-25000" dirty="0">
                <a:solidFill>
                  <a:srgbClr val="00B0F0"/>
                </a:solidFill>
              </a:rPr>
              <a:t>2</a:t>
            </a:r>
            <a:r>
              <a:rPr lang="en-US" altLang="zh-TW" b="1" dirty="0">
                <a:solidFill>
                  <a:srgbClr val="00B0F0"/>
                </a:solidFill>
              </a:rPr>
              <a:t> , …, </a:t>
            </a:r>
            <a:r>
              <a:rPr lang="en-US" altLang="zh-TW" b="1" i="1" dirty="0" err="1">
                <a:solidFill>
                  <a:srgbClr val="00B0F0"/>
                </a:solidFill>
              </a:rPr>
              <a:t>c</a:t>
            </a:r>
            <a:r>
              <a:rPr lang="en-US" altLang="zh-TW" b="1" baseline="-25000" dirty="0" err="1">
                <a:solidFill>
                  <a:srgbClr val="00B0F0"/>
                </a:solidFill>
              </a:rPr>
              <a:t>k</a:t>
            </a:r>
            <a:r>
              <a:rPr lang="en-US" altLang="zh-TW" b="1" dirty="0">
                <a:solidFill>
                  <a:srgbClr val="00B0F0"/>
                </a:solidFill>
              </a:rPr>
              <a:t> } </a:t>
            </a:r>
            <a:r>
              <a:rPr lang="zh-TW" altLang="en-US" dirty="0"/>
              <a:t>，每個類別內可有</a:t>
            </a:r>
            <a:r>
              <a:rPr lang="en-US" altLang="zh-TW" i="1" dirty="0"/>
              <a:t>z </a:t>
            </a:r>
            <a:r>
              <a:rPr lang="zh-TW" altLang="en-US" dirty="0"/>
              <a:t>筆樣本</a:t>
            </a:r>
            <a:r>
              <a:rPr lang="en-US" altLang="zh-TW" dirty="0"/>
              <a:t>(1≤ </a:t>
            </a:r>
            <a:r>
              <a:rPr lang="en-US" altLang="zh-TW" i="1" dirty="0"/>
              <a:t>z </a:t>
            </a:r>
            <a:r>
              <a:rPr lang="zh-TW" altLang="en-US" dirty="0"/>
              <a:t>≤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668866" y="1896381"/>
            <a:ext cx="346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經過整理簡化過可得下列函數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8777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範例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  <a:p>
            <a:r>
              <a:rPr lang="zh-TW" altLang="en-US" dirty="0"/>
              <a:t>假設有一個</a:t>
            </a:r>
            <a:r>
              <a:rPr lang="en-US" altLang="zh-TW" dirty="0"/>
              <a:t>XOR</a:t>
            </a:r>
            <a:r>
              <a:rPr lang="zh-TW" altLang="en-US" dirty="0"/>
              <a:t>分類問題，以</a:t>
            </a:r>
            <a:r>
              <a:rPr lang="en-US" altLang="zh-TW" dirty="0"/>
              <a:t>PNN</a:t>
            </a:r>
            <a:r>
              <a:rPr lang="zh-TW" altLang="en-US" dirty="0"/>
              <a:t>網路解此問題</a:t>
            </a:r>
          </a:p>
          <a:p>
            <a:pPr marL="0" indent="0">
              <a:buNone/>
            </a:pPr>
            <a:r>
              <a:rPr lang="zh-TW" altLang="en-US" dirty="0" smtClean="0"/>
              <a:t>設定</a:t>
            </a:r>
            <a:r>
              <a:rPr lang="zh-TW" altLang="en-US" dirty="0"/>
              <a:t>網路參數採四個隱藏層處理單元，其網路結構如下圖所示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r>
              <a:rPr lang="zh-TW" altLang="en-US" dirty="0" smtClean="0"/>
              <a:t>平滑參數 </a:t>
            </a:r>
            <a:r>
              <a:rPr lang="el-GR" altLang="zh-TW" dirty="0" smtClean="0"/>
              <a:t>σ</a:t>
            </a:r>
            <a:r>
              <a:rPr lang="zh-TW" altLang="en-US" dirty="0"/>
              <a:t> </a:t>
            </a:r>
            <a:r>
              <a:rPr lang="en-US" altLang="zh-TW" dirty="0" smtClean="0"/>
              <a:t>= 0.5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真值表如下所示：</a:t>
            </a:r>
            <a:endParaRPr lang="zh-TW" altLang="en-US" dirty="0"/>
          </a:p>
          <a:p>
            <a:endParaRPr lang="zh-TW" altLang="en-US" dirty="0"/>
          </a:p>
          <a:p>
            <a:pPr marL="0" indent="0">
              <a:buNone/>
            </a:pPr>
            <a:r>
              <a:rPr lang="zh-TW" altLang="en-US" dirty="0"/>
              <a:t>	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043" y="3583203"/>
            <a:ext cx="4445957" cy="214026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823" y="4856133"/>
            <a:ext cx="4361576" cy="191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9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/>
              <a:t>輸入</a:t>
            </a:r>
            <a:r>
              <a:rPr lang="zh-TW" altLang="en-US" dirty="0"/>
              <a:t>層與隱藏層間的加權值給定如下</a:t>
            </a:r>
            <a:r>
              <a:rPr lang="zh-TW" altLang="en-US" dirty="0" smtClean="0"/>
              <a:t>：</a:t>
            </a:r>
            <a:endParaRPr lang="en-US" altLang="zh-TW" i="1" dirty="0" smtClean="0"/>
          </a:p>
          <a:p>
            <a:pPr lvl="1"/>
            <a:r>
              <a:rPr lang="en-US" altLang="zh-TW" i="1" dirty="0" smtClean="0"/>
              <a:t>w_xh</a:t>
            </a:r>
            <a:r>
              <a:rPr lang="en-US" altLang="zh-TW" sz="1400" dirty="0" smtClean="0"/>
              <a:t>11 </a:t>
            </a:r>
            <a:r>
              <a:rPr lang="en-US" altLang="zh-TW" dirty="0"/>
              <a:t>= -1 </a:t>
            </a:r>
            <a:r>
              <a:rPr lang="en-US" altLang="zh-TW" i="1" dirty="0"/>
              <a:t>w_xh</a:t>
            </a:r>
            <a:r>
              <a:rPr lang="en-US" altLang="zh-TW" sz="1400" dirty="0"/>
              <a:t>21 </a:t>
            </a:r>
            <a:r>
              <a:rPr lang="en-US" altLang="zh-TW" dirty="0"/>
              <a:t>= -1</a:t>
            </a:r>
          </a:p>
          <a:p>
            <a:pPr lvl="1"/>
            <a:r>
              <a:rPr lang="en-US" altLang="zh-TW" i="1" dirty="0"/>
              <a:t>w_xh</a:t>
            </a:r>
            <a:r>
              <a:rPr lang="en-US" altLang="zh-TW" sz="1400" dirty="0"/>
              <a:t>12 </a:t>
            </a:r>
            <a:r>
              <a:rPr lang="en-US" altLang="zh-TW" dirty="0"/>
              <a:t>= -1 </a:t>
            </a:r>
            <a:r>
              <a:rPr lang="en-US" altLang="zh-TW" i="1" dirty="0"/>
              <a:t>w_xh</a:t>
            </a:r>
            <a:r>
              <a:rPr lang="en-US" altLang="zh-TW" sz="1400" dirty="0"/>
              <a:t>22 </a:t>
            </a:r>
            <a:r>
              <a:rPr lang="en-US" altLang="zh-TW" dirty="0"/>
              <a:t>= 1</a:t>
            </a:r>
          </a:p>
          <a:p>
            <a:pPr lvl="1"/>
            <a:r>
              <a:rPr lang="en-US" altLang="zh-TW" i="1" dirty="0"/>
              <a:t>w_xh</a:t>
            </a:r>
            <a:r>
              <a:rPr lang="en-US" altLang="zh-TW" sz="1400" dirty="0"/>
              <a:t>13 </a:t>
            </a:r>
            <a:r>
              <a:rPr lang="en-US" altLang="zh-TW" dirty="0"/>
              <a:t>= 1 </a:t>
            </a:r>
            <a:r>
              <a:rPr lang="en-US" altLang="zh-TW" i="1" dirty="0"/>
              <a:t>w_xh</a:t>
            </a:r>
            <a:r>
              <a:rPr lang="en-US" altLang="zh-TW" sz="1400" dirty="0"/>
              <a:t>23 </a:t>
            </a:r>
            <a:r>
              <a:rPr lang="en-US" altLang="zh-TW" dirty="0"/>
              <a:t>= -1</a:t>
            </a:r>
          </a:p>
          <a:p>
            <a:pPr lvl="1"/>
            <a:r>
              <a:rPr lang="en-US" altLang="zh-TW" i="1" dirty="0"/>
              <a:t>w_xh</a:t>
            </a:r>
            <a:r>
              <a:rPr lang="en-US" altLang="zh-TW" sz="1400" dirty="0"/>
              <a:t>14 </a:t>
            </a:r>
            <a:r>
              <a:rPr lang="en-US" altLang="zh-TW" dirty="0"/>
              <a:t>= 1 </a:t>
            </a:r>
            <a:r>
              <a:rPr lang="en-US" altLang="zh-TW" i="1" dirty="0"/>
              <a:t>w_xh</a:t>
            </a:r>
            <a:r>
              <a:rPr lang="en-US" altLang="zh-TW" sz="1400" dirty="0"/>
              <a:t>24 </a:t>
            </a:r>
            <a:r>
              <a:rPr lang="en-US" altLang="zh-TW" dirty="0"/>
              <a:t>= </a:t>
            </a:r>
            <a:r>
              <a:rPr lang="en-US" altLang="zh-TW" dirty="0" smtClean="0"/>
              <a:t>1</a:t>
            </a:r>
          </a:p>
          <a:p>
            <a:endParaRPr lang="zh-TW" altLang="en-US" dirty="0"/>
          </a:p>
          <a:p>
            <a:r>
              <a:rPr lang="zh-TW" altLang="en-US" dirty="0"/>
              <a:t>隱藏層與輸出層間的加權值給定如下</a:t>
            </a:r>
            <a:r>
              <a:rPr lang="zh-TW" altLang="en-US" dirty="0" smtClean="0"/>
              <a:t>：</a:t>
            </a:r>
            <a:endParaRPr lang="zh-TW" altLang="en-US" dirty="0"/>
          </a:p>
          <a:p>
            <a:pPr lvl="1"/>
            <a:r>
              <a:rPr lang="en-US" altLang="zh-TW" i="1" dirty="0"/>
              <a:t>w_hy</a:t>
            </a:r>
            <a:r>
              <a:rPr lang="en-US" altLang="zh-TW" sz="1400" dirty="0"/>
              <a:t>11 </a:t>
            </a:r>
            <a:r>
              <a:rPr lang="en-US" altLang="zh-TW" dirty="0"/>
              <a:t>= 0 </a:t>
            </a:r>
            <a:r>
              <a:rPr lang="en-US" altLang="zh-TW" i="1" dirty="0"/>
              <a:t>w_hy</a:t>
            </a:r>
            <a:r>
              <a:rPr lang="en-US" altLang="zh-TW" sz="1400" dirty="0"/>
              <a:t>12 </a:t>
            </a:r>
            <a:r>
              <a:rPr lang="en-US" altLang="zh-TW" dirty="0"/>
              <a:t>= 1</a:t>
            </a:r>
          </a:p>
          <a:p>
            <a:pPr lvl="1"/>
            <a:r>
              <a:rPr lang="en-US" altLang="zh-TW" i="1" dirty="0"/>
              <a:t>w_hy</a:t>
            </a:r>
            <a:r>
              <a:rPr lang="en-US" altLang="zh-TW" sz="1400" dirty="0"/>
              <a:t>21 </a:t>
            </a:r>
            <a:r>
              <a:rPr lang="en-US" altLang="zh-TW" dirty="0"/>
              <a:t>= 1 </a:t>
            </a:r>
            <a:r>
              <a:rPr lang="en-US" altLang="zh-TW" i="1" dirty="0"/>
              <a:t>w_hy</a:t>
            </a:r>
            <a:r>
              <a:rPr lang="en-US" altLang="zh-TW" sz="1400" dirty="0"/>
              <a:t>22 </a:t>
            </a:r>
            <a:r>
              <a:rPr lang="en-US" altLang="zh-TW" dirty="0"/>
              <a:t>= 0</a:t>
            </a:r>
          </a:p>
          <a:p>
            <a:pPr lvl="1"/>
            <a:r>
              <a:rPr lang="en-US" altLang="zh-TW" i="1" dirty="0"/>
              <a:t>w_hy</a:t>
            </a:r>
            <a:r>
              <a:rPr lang="en-US" altLang="zh-TW" sz="1400" dirty="0"/>
              <a:t>31 </a:t>
            </a:r>
            <a:r>
              <a:rPr lang="en-US" altLang="zh-TW" dirty="0"/>
              <a:t>= 1 </a:t>
            </a:r>
            <a:r>
              <a:rPr lang="en-US" altLang="zh-TW" i="1" dirty="0"/>
              <a:t>w_hy</a:t>
            </a:r>
            <a:r>
              <a:rPr lang="en-US" altLang="zh-TW" sz="1400" dirty="0"/>
              <a:t>32 </a:t>
            </a:r>
            <a:r>
              <a:rPr lang="en-US" altLang="zh-TW" dirty="0"/>
              <a:t>= 0</a:t>
            </a:r>
          </a:p>
          <a:p>
            <a:pPr lvl="1"/>
            <a:r>
              <a:rPr lang="en-US" altLang="zh-TW" i="1" dirty="0"/>
              <a:t>w_hy</a:t>
            </a:r>
            <a:r>
              <a:rPr lang="en-US" altLang="zh-TW" sz="1400" dirty="0"/>
              <a:t>41 </a:t>
            </a:r>
            <a:r>
              <a:rPr lang="en-US" altLang="zh-TW" dirty="0"/>
              <a:t>= 0 </a:t>
            </a:r>
            <a:r>
              <a:rPr lang="en-US" altLang="zh-TW" i="1" dirty="0"/>
              <a:t>w_hy</a:t>
            </a:r>
            <a:r>
              <a:rPr lang="en-US" altLang="zh-TW" sz="1400" dirty="0"/>
              <a:t>42 </a:t>
            </a:r>
            <a:r>
              <a:rPr lang="en-US" altLang="zh-TW" dirty="0"/>
              <a:t>= 1</a:t>
            </a:r>
          </a:p>
          <a:p>
            <a:pPr lvl="1"/>
            <a:endParaRPr lang="zh-TW" altLang="en-US" dirty="0"/>
          </a:p>
          <a:p>
            <a:pPr lvl="1"/>
            <a:endParaRPr lang="zh-TW" altLang="en-US" dirty="0"/>
          </a:p>
          <a:p>
            <a:endParaRPr lang="en-US" altLang="zh-TW" dirty="0"/>
          </a:p>
          <a:p>
            <a:pPr lvl="1"/>
            <a:endParaRPr lang="zh-TW" altLang="en-US" dirty="0"/>
          </a:p>
          <a:p>
            <a:pPr lvl="1"/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866" y="4443446"/>
            <a:ext cx="4784084" cy="211754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4929" y="1996936"/>
            <a:ext cx="4445957" cy="214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356" y="2719919"/>
            <a:ext cx="4981783" cy="3123294"/>
          </a:xfrm>
        </p:spPr>
      </p:pic>
      <p:sp>
        <p:nvSpPr>
          <p:cNvPr id="5" name="文字方塊 4"/>
          <p:cNvSpPr txBox="1"/>
          <p:nvPr/>
        </p:nvSpPr>
        <p:spPr>
          <a:xfrm>
            <a:off x="790222" y="388349"/>
            <a:ext cx="8974666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300" dirty="0" smtClean="0"/>
              <a:t>輸入</a:t>
            </a:r>
            <a:r>
              <a:rPr lang="zh-TW" altLang="en-US" sz="2300" dirty="0"/>
              <a:t>一組測試</a:t>
            </a:r>
            <a:r>
              <a:rPr lang="en-US" altLang="zh-TW" sz="2300" dirty="0"/>
              <a:t>(</a:t>
            </a:r>
            <a:r>
              <a:rPr lang="zh-TW" altLang="en-US" sz="2300" dirty="0"/>
              <a:t>待推</a:t>
            </a:r>
            <a:r>
              <a:rPr lang="en-US" altLang="zh-TW" sz="2300" dirty="0"/>
              <a:t>)</a:t>
            </a:r>
            <a:r>
              <a:rPr lang="zh-TW" altLang="en-US" sz="2300" dirty="0"/>
              <a:t>範例</a:t>
            </a:r>
            <a:r>
              <a:rPr lang="en-US" altLang="zh-TW" sz="2300" i="1" dirty="0"/>
              <a:t>x</a:t>
            </a:r>
            <a:r>
              <a:rPr lang="en-US" altLang="zh-TW" sz="2300" dirty="0"/>
              <a:t>1 = -1</a:t>
            </a:r>
            <a:r>
              <a:rPr lang="zh-TW" altLang="en-US" sz="2300" dirty="0"/>
              <a:t>，</a:t>
            </a:r>
            <a:r>
              <a:rPr lang="en-US" altLang="zh-TW" sz="2300" i="1" dirty="0"/>
              <a:t>x</a:t>
            </a:r>
            <a:r>
              <a:rPr lang="en-US" altLang="zh-TW" sz="2300" dirty="0"/>
              <a:t>2 = -1</a:t>
            </a:r>
            <a:r>
              <a:rPr lang="zh-TW" altLang="en-US" sz="2300" dirty="0"/>
              <a:t>，</a:t>
            </a:r>
            <a:r>
              <a:rPr lang="en-US" altLang="zh-TW" sz="2300" dirty="0"/>
              <a:t>PNN</a:t>
            </a:r>
            <a:r>
              <a:rPr lang="zh-TW" altLang="en-US" sz="2300" dirty="0"/>
              <a:t>網路的計算過程如下：</a:t>
            </a:r>
          </a:p>
          <a:p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790222" y="973323"/>
            <a:ext cx="675075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TW" altLang="en-US" sz="1100" dirty="0">
              <a:solidFill>
                <a:srgbClr val="000000"/>
              </a:solidFill>
              <a:latin typeface="DFPLiKingHei-XB"/>
            </a:endParaRPr>
          </a:p>
          <a:p>
            <a:r>
              <a:rPr lang="en-US" altLang="zh-TW" sz="2300" b="1" dirty="0" smtClean="0">
                <a:solidFill>
                  <a:srgbClr val="000000"/>
                </a:solidFill>
                <a:latin typeface="DFPLiKingHei-XB"/>
              </a:rPr>
              <a:t>1.</a:t>
            </a:r>
            <a:r>
              <a:rPr lang="zh-TW" altLang="en-US" sz="2300" b="1" dirty="0" smtClean="0">
                <a:solidFill>
                  <a:srgbClr val="000000"/>
                </a:solidFill>
                <a:latin typeface="DFPLiKingHei-XB"/>
              </a:rPr>
              <a:t>計算</a:t>
            </a:r>
            <a:r>
              <a:rPr lang="zh-TW" altLang="en-US" sz="2300" b="1" dirty="0">
                <a:solidFill>
                  <a:srgbClr val="000000"/>
                </a:solidFill>
                <a:latin typeface="DFPLiKingHei-XB"/>
              </a:rPr>
              <a:t>隱藏層處理單元輸出值</a:t>
            </a:r>
            <a:r>
              <a:rPr lang="en-US" altLang="zh-TW" sz="2300" b="1" dirty="0">
                <a:solidFill>
                  <a:srgbClr val="000000"/>
                </a:solidFill>
                <a:latin typeface="DFPLiKingHei-XB"/>
              </a:rPr>
              <a:t>H = {</a:t>
            </a:r>
            <a:r>
              <a:rPr lang="en-US" altLang="zh-TW" sz="23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TW" sz="23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2300" b="1" dirty="0">
                <a:solidFill>
                  <a:srgbClr val="000000"/>
                </a:solidFill>
                <a:latin typeface="DFPLiKingHei-XB"/>
              </a:rPr>
              <a:t>, </a:t>
            </a:r>
            <a:r>
              <a:rPr lang="en-US" altLang="zh-TW" sz="23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TW" sz="23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sz="2300" b="1" dirty="0">
                <a:solidFill>
                  <a:srgbClr val="000000"/>
                </a:solidFill>
                <a:latin typeface="DFPLiKingHei-XB"/>
              </a:rPr>
              <a:t>, </a:t>
            </a:r>
            <a:r>
              <a:rPr lang="en-US" altLang="zh-TW" sz="23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TW" sz="23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2300" b="1" dirty="0">
                <a:solidFill>
                  <a:srgbClr val="000000"/>
                </a:solidFill>
                <a:latin typeface="DFPLiKingHei-XB"/>
              </a:rPr>
              <a:t>, </a:t>
            </a:r>
            <a:r>
              <a:rPr lang="en-US" altLang="zh-TW" sz="23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TW" sz="23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TW" sz="2300" b="1" dirty="0">
                <a:solidFill>
                  <a:srgbClr val="000000"/>
                </a:solidFill>
                <a:latin typeface="DFPLiKingHei-XB"/>
              </a:rPr>
              <a:t>}</a:t>
            </a:r>
            <a:r>
              <a:rPr lang="zh-TW" altLang="en-US" sz="2300" b="1" dirty="0" smtClean="0">
                <a:solidFill>
                  <a:srgbClr val="000000"/>
                </a:solidFill>
                <a:latin typeface="DFPLiKingHei-XB"/>
              </a:rPr>
              <a:t>。</a:t>
            </a:r>
            <a:endParaRPr lang="en-US" altLang="zh-TW" sz="2300" b="1" dirty="0" smtClean="0">
              <a:solidFill>
                <a:srgbClr val="000000"/>
              </a:solidFill>
              <a:latin typeface="DFPLiKingHei-XB"/>
            </a:endParaRPr>
          </a:p>
          <a:p>
            <a:pPr marL="342900" indent="-342900">
              <a:buAutoNum type="arabicParenR"/>
            </a:pPr>
            <a:endParaRPr lang="en-US" altLang="zh-TW" dirty="0">
              <a:solidFill>
                <a:srgbClr val="000000"/>
              </a:solidFill>
              <a:latin typeface="DFPLiKingHei-XB"/>
            </a:endParaRPr>
          </a:p>
          <a:p>
            <a:pPr marL="342900" indent="-342900">
              <a:buAutoNum type="arabicParenR"/>
            </a:pPr>
            <a:endParaRPr lang="en-US" altLang="zh-TW" dirty="0" smtClean="0">
              <a:solidFill>
                <a:srgbClr val="000000"/>
              </a:solidFill>
              <a:latin typeface="DFPLiKingHei-XB"/>
            </a:endParaRPr>
          </a:p>
          <a:p>
            <a:pPr marL="342900" indent="-342900">
              <a:buAutoNum type="arabicParenR"/>
            </a:pPr>
            <a:endParaRPr lang="en-US" altLang="zh-TW" dirty="0">
              <a:solidFill>
                <a:srgbClr val="000000"/>
              </a:solidFill>
              <a:latin typeface="DFPLiKingHei-XB"/>
            </a:endParaRPr>
          </a:p>
          <a:p>
            <a:pPr marL="342900" indent="-342900">
              <a:buAutoNum type="arabicParenR"/>
            </a:pPr>
            <a:endParaRPr lang="en-US" altLang="zh-TW" dirty="0" smtClean="0">
              <a:solidFill>
                <a:srgbClr val="000000"/>
              </a:solidFill>
              <a:latin typeface="DFPLiKingHei-XB"/>
            </a:endParaRPr>
          </a:p>
          <a:p>
            <a:pPr marL="342900" indent="-342900">
              <a:buAutoNum type="arabicParenR"/>
            </a:pPr>
            <a:endParaRPr lang="en-US" altLang="zh-TW" dirty="0">
              <a:solidFill>
                <a:srgbClr val="000000"/>
              </a:solidFill>
              <a:latin typeface="DFPLiKingHei-XB"/>
            </a:endParaRPr>
          </a:p>
          <a:p>
            <a:pPr marL="342900" indent="-342900">
              <a:buAutoNum type="arabicParenR"/>
            </a:pPr>
            <a:endParaRPr lang="en-US" altLang="zh-TW" dirty="0" smtClean="0">
              <a:solidFill>
                <a:srgbClr val="000000"/>
              </a:solidFill>
              <a:latin typeface="DFPLiKingHei-XB"/>
            </a:endParaRPr>
          </a:p>
          <a:p>
            <a:pPr marL="342900" indent="-342900">
              <a:buAutoNum type="arabicParenR"/>
            </a:pPr>
            <a:endParaRPr lang="en-US" altLang="zh-TW" dirty="0">
              <a:solidFill>
                <a:srgbClr val="000000"/>
              </a:solidFill>
              <a:latin typeface="DFPLiKingHei-XB"/>
            </a:endParaRPr>
          </a:p>
          <a:p>
            <a:pPr marL="342900" indent="-342900">
              <a:buAutoNum type="arabicParenR"/>
            </a:pPr>
            <a:endParaRPr lang="en-US" altLang="zh-TW" dirty="0" smtClean="0">
              <a:solidFill>
                <a:srgbClr val="000000"/>
              </a:solidFill>
              <a:latin typeface="DFPLiKingHei-XB"/>
            </a:endParaRPr>
          </a:p>
          <a:p>
            <a:pPr marL="342900" indent="-342900">
              <a:buAutoNum type="arabicParenR"/>
            </a:pPr>
            <a:endParaRPr lang="en-US" altLang="zh-TW" dirty="0">
              <a:solidFill>
                <a:srgbClr val="000000"/>
              </a:solidFill>
              <a:latin typeface="DFPLiKingHei-XB"/>
            </a:endParaRPr>
          </a:p>
          <a:p>
            <a:pPr marL="342900" indent="-342900">
              <a:buAutoNum type="arabicParenR"/>
            </a:pPr>
            <a:endParaRPr lang="en-US" altLang="zh-TW" dirty="0" smtClean="0">
              <a:solidFill>
                <a:srgbClr val="000000"/>
              </a:solidFill>
              <a:latin typeface="DFPLiKingHei-XB"/>
            </a:endParaRPr>
          </a:p>
          <a:p>
            <a:endParaRPr lang="en-US" altLang="zh-TW" i="1" dirty="0" smtClean="0"/>
          </a:p>
          <a:p>
            <a:endParaRPr lang="en-US" altLang="zh-TW" i="1" dirty="0"/>
          </a:p>
          <a:p>
            <a:r>
              <a:rPr lang="en-US" altLang="zh-TW" sz="2300" i="1" dirty="0" smtClean="0"/>
              <a:t>h</a:t>
            </a:r>
            <a:r>
              <a:rPr lang="en-US" altLang="zh-TW" sz="2300" dirty="0" smtClean="0"/>
              <a:t>1 </a:t>
            </a:r>
            <a:r>
              <a:rPr lang="en-US" altLang="zh-TW" sz="2300" dirty="0"/>
              <a:t>= </a:t>
            </a:r>
            <a:r>
              <a:rPr lang="en-US" altLang="zh-TW" sz="2300" dirty="0" err="1"/>
              <a:t>exp</a:t>
            </a:r>
            <a:r>
              <a:rPr lang="en-US" altLang="zh-TW" sz="2300" dirty="0"/>
              <a:t>(- </a:t>
            </a:r>
            <a:r>
              <a:rPr lang="en-US" altLang="zh-TW" sz="2300" i="1" dirty="0"/>
              <a:t>net</a:t>
            </a:r>
            <a:r>
              <a:rPr lang="en-US" altLang="zh-TW" sz="2300" baseline="-25000" dirty="0"/>
              <a:t>1</a:t>
            </a:r>
            <a:r>
              <a:rPr lang="en-US" altLang="zh-TW" sz="2300" dirty="0"/>
              <a:t> /2</a:t>
            </a:r>
            <a:r>
              <a:rPr lang="el-GR" altLang="zh-TW" sz="2300" dirty="0"/>
              <a:t>σ</a:t>
            </a:r>
            <a:r>
              <a:rPr lang="el-GR" altLang="zh-TW" sz="2300" baseline="30000" dirty="0"/>
              <a:t>2</a:t>
            </a:r>
            <a:r>
              <a:rPr lang="el-GR" altLang="zh-TW" sz="2300" dirty="0"/>
              <a:t>) = </a:t>
            </a:r>
            <a:r>
              <a:rPr lang="en-US" altLang="zh-TW" sz="2300" dirty="0" err="1"/>
              <a:t>exp</a:t>
            </a:r>
            <a:r>
              <a:rPr lang="en-US" altLang="zh-TW" sz="2300" dirty="0"/>
              <a:t>(-0/2) = 1</a:t>
            </a:r>
          </a:p>
          <a:p>
            <a:r>
              <a:rPr lang="en-US" altLang="zh-TW" sz="2300" i="1" dirty="0"/>
              <a:t>h</a:t>
            </a:r>
            <a:r>
              <a:rPr lang="en-US" altLang="zh-TW" sz="2300" dirty="0"/>
              <a:t>2 = </a:t>
            </a:r>
            <a:r>
              <a:rPr lang="en-US" altLang="zh-TW" sz="2300" dirty="0" err="1"/>
              <a:t>exp</a:t>
            </a:r>
            <a:r>
              <a:rPr lang="en-US" altLang="zh-TW" sz="2300" dirty="0"/>
              <a:t>(- </a:t>
            </a:r>
            <a:r>
              <a:rPr lang="en-US" altLang="zh-TW" sz="2300" i="1" dirty="0"/>
              <a:t>net</a:t>
            </a:r>
            <a:r>
              <a:rPr lang="en-US" altLang="zh-TW" sz="2300" baseline="-25000" dirty="0"/>
              <a:t>2</a:t>
            </a:r>
            <a:r>
              <a:rPr lang="en-US" altLang="zh-TW" sz="2300" dirty="0"/>
              <a:t> /2</a:t>
            </a:r>
            <a:r>
              <a:rPr lang="el-GR" altLang="zh-TW" sz="2300" dirty="0"/>
              <a:t>σ</a:t>
            </a:r>
            <a:r>
              <a:rPr lang="el-GR" altLang="zh-TW" sz="2300" baseline="30000" dirty="0"/>
              <a:t>2</a:t>
            </a:r>
            <a:r>
              <a:rPr lang="el-GR" altLang="zh-TW" sz="2300" dirty="0"/>
              <a:t>) = </a:t>
            </a:r>
            <a:r>
              <a:rPr lang="en-US" altLang="zh-TW" sz="2300" dirty="0" err="1"/>
              <a:t>exp</a:t>
            </a:r>
            <a:r>
              <a:rPr lang="en-US" altLang="zh-TW" sz="2300" dirty="0"/>
              <a:t>(-4/2) = 0.135</a:t>
            </a:r>
          </a:p>
          <a:p>
            <a:r>
              <a:rPr lang="en-US" altLang="zh-TW" sz="2300" i="1" dirty="0"/>
              <a:t>h</a:t>
            </a:r>
            <a:r>
              <a:rPr lang="en-US" altLang="zh-TW" sz="2300" dirty="0"/>
              <a:t>3 = </a:t>
            </a:r>
            <a:r>
              <a:rPr lang="en-US" altLang="zh-TW" sz="2300" dirty="0" err="1"/>
              <a:t>exp</a:t>
            </a:r>
            <a:r>
              <a:rPr lang="en-US" altLang="zh-TW" sz="2300" dirty="0"/>
              <a:t>(- </a:t>
            </a:r>
            <a:r>
              <a:rPr lang="en-US" altLang="zh-TW" sz="2300" i="1" dirty="0"/>
              <a:t>net</a:t>
            </a:r>
            <a:r>
              <a:rPr lang="en-US" altLang="zh-TW" sz="2300" baseline="-25000" dirty="0"/>
              <a:t>3</a:t>
            </a:r>
            <a:r>
              <a:rPr lang="en-US" altLang="zh-TW" sz="2300" dirty="0"/>
              <a:t> /2</a:t>
            </a:r>
            <a:r>
              <a:rPr lang="el-GR" altLang="zh-TW" sz="2300" dirty="0"/>
              <a:t>σ</a:t>
            </a:r>
            <a:r>
              <a:rPr lang="el-GR" altLang="zh-TW" sz="2300" baseline="30000" dirty="0"/>
              <a:t>2</a:t>
            </a:r>
            <a:r>
              <a:rPr lang="el-GR" altLang="zh-TW" sz="2300" dirty="0"/>
              <a:t>) = </a:t>
            </a:r>
            <a:r>
              <a:rPr lang="en-US" altLang="zh-TW" sz="2300" dirty="0" err="1"/>
              <a:t>exp</a:t>
            </a:r>
            <a:r>
              <a:rPr lang="en-US" altLang="zh-TW" sz="2300" dirty="0"/>
              <a:t>(-4/2) = 0.135</a:t>
            </a:r>
          </a:p>
          <a:p>
            <a:r>
              <a:rPr lang="en-US" altLang="zh-TW" sz="2300" i="1" dirty="0"/>
              <a:t>h</a:t>
            </a:r>
            <a:r>
              <a:rPr lang="en-US" altLang="zh-TW" sz="2300" dirty="0"/>
              <a:t>4 = </a:t>
            </a:r>
            <a:r>
              <a:rPr lang="en-US" altLang="zh-TW" sz="2300" dirty="0" err="1"/>
              <a:t>exp</a:t>
            </a:r>
            <a:r>
              <a:rPr lang="en-US" altLang="zh-TW" sz="2300" dirty="0"/>
              <a:t>(- </a:t>
            </a:r>
            <a:r>
              <a:rPr lang="en-US" altLang="zh-TW" sz="2300" i="1" dirty="0"/>
              <a:t>net</a:t>
            </a:r>
            <a:r>
              <a:rPr lang="en-US" altLang="zh-TW" sz="2300" baseline="-25000" dirty="0"/>
              <a:t>4</a:t>
            </a:r>
            <a:r>
              <a:rPr lang="en-US" altLang="zh-TW" sz="2300" dirty="0"/>
              <a:t> /2</a:t>
            </a:r>
            <a:r>
              <a:rPr lang="el-GR" altLang="zh-TW" sz="2300" dirty="0"/>
              <a:t>σ</a:t>
            </a:r>
            <a:r>
              <a:rPr lang="el-GR" altLang="zh-TW" sz="2300" baseline="30000" dirty="0"/>
              <a:t>2</a:t>
            </a:r>
            <a:r>
              <a:rPr lang="el-GR" altLang="zh-TW" sz="2300" dirty="0"/>
              <a:t>) = </a:t>
            </a:r>
            <a:r>
              <a:rPr lang="en-US" altLang="zh-TW" sz="2300" dirty="0" err="1"/>
              <a:t>exp</a:t>
            </a:r>
            <a:r>
              <a:rPr lang="en-US" altLang="zh-TW" sz="2300" dirty="0"/>
              <a:t>(-8/2) = 0.0183</a:t>
            </a:r>
            <a:endParaRPr lang="zh-TW" altLang="en-US" sz="2300" dirty="0">
              <a:solidFill>
                <a:srgbClr val="000000"/>
              </a:solidFill>
              <a:latin typeface="DFPLiKingHei-XB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22" y="1696598"/>
            <a:ext cx="5549250" cy="294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45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2111" y="22912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2.</a:t>
            </a:r>
            <a:r>
              <a:rPr lang="zh-TW" altLang="en-US" dirty="0" smtClean="0"/>
              <a:t>計算</a:t>
            </a:r>
            <a:r>
              <a:rPr lang="zh-TW" altLang="en-US" dirty="0"/>
              <a:t>輸出層輸出向量</a:t>
            </a:r>
            <a:r>
              <a:rPr lang="en-US" altLang="zh-TW" dirty="0"/>
              <a:t>Y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33" y="744338"/>
            <a:ext cx="8125178" cy="5109834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01133" y="5610578"/>
            <a:ext cx="82747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sz="2300" dirty="0">
              <a:solidFill>
                <a:srgbClr val="0070C0"/>
              </a:solidFill>
            </a:endParaRPr>
          </a:p>
          <a:p>
            <a:r>
              <a:rPr lang="zh-TW" altLang="en-US" sz="2300" b="1" dirty="0">
                <a:solidFill>
                  <a:srgbClr val="0070C0"/>
                </a:solidFill>
              </a:rPr>
              <a:t>因</a:t>
            </a:r>
            <a:r>
              <a:rPr lang="en-US" altLang="zh-TW" sz="2300" b="1" i="1" dirty="0">
                <a:solidFill>
                  <a:srgbClr val="0070C0"/>
                </a:solidFill>
              </a:rPr>
              <a:t>net</a:t>
            </a:r>
            <a:r>
              <a:rPr lang="en-US" altLang="zh-TW" sz="2300" b="1" baseline="-25000" dirty="0">
                <a:solidFill>
                  <a:srgbClr val="0070C0"/>
                </a:solidFill>
              </a:rPr>
              <a:t>2</a:t>
            </a:r>
            <a:r>
              <a:rPr lang="en-US" altLang="zh-TW" sz="2300" b="1" dirty="0">
                <a:solidFill>
                  <a:srgbClr val="0070C0"/>
                </a:solidFill>
              </a:rPr>
              <a:t> </a:t>
            </a:r>
            <a:r>
              <a:rPr lang="zh-TW" altLang="en-US" sz="2300" b="1" dirty="0">
                <a:solidFill>
                  <a:srgbClr val="0070C0"/>
                </a:solidFill>
              </a:rPr>
              <a:t>最大，故</a:t>
            </a:r>
            <a:r>
              <a:rPr lang="en-US" altLang="zh-TW" sz="2300" b="1" i="1" dirty="0">
                <a:solidFill>
                  <a:srgbClr val="0070C0"/>
                </a:solidFill>
              </a:rPr>
              <a:t>y</a:t>
            </a:r>
            <a:r>
              <a:rPr lang="en-US" altLang="zh-TW" sz="2300" b="1" baseline="-25000" dirty="0">
                <a:solidFill>
                  <a:srgbClr val="0070C0"/>
                </a:solidFill>
              </a:rPr>
              <a:t>1</a:t>
            </a:r>
            <a:r>
              <a:rPr lang="en-US" altLang="zh-TW" sz="2300" b="1" dirty="0">
                <a:solidFill>
                  <a:srgbClr val="0070C0"/>
                </a:solidFill>
              </a:rPr>
              <a:t> = 0</a:t>
            </a:r>
            <a:r>
              <a:rPr lang="zh-TW" altLang="en-US" sz="2300" b="1" dirty="0">
                <a:solidFill>
                  <a:srgbClr val="0070C0"/>
                </a:solidFill>
              </a:rPr>
              <a:t>，</a:t>
            </a:r>
            <a:r>
              <a:rPr lang="en-US" altLang="zh-TW" sz="2300" b="1" i="1" dirty="0">
                <a:solidFill>
                  <a:srgbClr val="0070C0"/>
                </a:solidFill>
              </a:rPr>
              <a:t>y</a:t>
            </a:r>
            <a:r>
              <a:rPr lang="en-US" altLang="zh-TW" sz="2300" b="1" baseline="-25000" dirty="0">
                <a:solidFill>
                  <a:srgbClr val="0070C0"/>
                </a:solidFill>
              </a:rPr>
              <a:t>2</a:t>
            </a:r>
            <a:r>
              <a:rPr lang="en-US" altLang="zh-TW" sz="2300" b="1" dirty="0">
                <a:solidFill>
                  <a:srgbClr val="0070C0"/>
                </a:solidFill>
              </a:rPr>
              <a:t> = 1</a:t>
            </a:r>
            <a:r>
              <a:rPr lang="zh-TW" altLang="en-US" sz="2300" b="1" dirty="0">
                <a:solidFill>
                  <a:srgbClr val="0070C0"/>
                </a:solidFill>
              </a:rPr>
              <a:t>。與目標輸出向量完全相同。</a:t>
            </a:r>
          </a:p>
          <a:p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592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49489" y="1024114"/>
            <a:ext cx="10515600" cy="4351338"/>
          </a:xfrm>
        </p:spPr>
        <p:txBody>
          <a:bodyPr/>
          <a:lstStyle/>
          <a:p>
            <a:r>
              <a:rPr lang="zh-TW" altLang="en-US" dirty="0" smtClean="0"/>
              <a:t>其它三</a:t>
            </a:r>
            <a:r>
              <a:rPr lang="zh-TW" altLang="en-US" dirty="0"/>
              <a:t>個範例的學習過程如下表所示。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386" y="2599903"/>
            <a:ext cx="9815159" cy="226091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5812321" y="1706210"/>
            <a:ext cx="4334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DFPLiKingHei-XB"/>
              </a:rPr>
              <a:t>隱藏層處理單元輸出值</a:t>
            </a:r>
            <a:r>
              <a:rPr lang="en-US" altLang="zh-TW" dirty="0">
                <a:solidFill>
                  <a:srgbClr val="0070C0"/>
                </a:solidFill>
                <a:latin typeface="DFPLiKingHei-XB"/>
              </a:rPr>
              <a:t>H = {</a:t>
            </a:r>
            <a:r>
              <a:rPr lang="en-US" altLang="zh-TW" i="1" dirty="0">
                <a:solidFill>
                  <a:srgbClr val="0070C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dirty="0">
                <a:solidFill>
                  <a:srgbClr val="0070C0"/>
                </a:solidFill>
                <a:latin typeface="DFPLiKingHei-XB"/>
              </a:rPr>
              <a:t>, </a:t>
            </a:r>
            <a:r>
              <a:rPr lang="en-US" altLang="zh-TW" i="1" dirty="0">
                <a:solidFill>
                  <a:srgbClr val="0070C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TW" dirty="0">
                <a:solidFill>
                  <a:srgbClr val="0070C0"/>
                </a:solidFill>
                <a:latin typeface="DFPLiKingHei-XB"/>
              </a:rPr>
              <a:t>, </a:t>
            </a:r>
            <a:r>
              <a:rPr lang="en-US" altLang="zh-TW" i="1" dirty="0">
                <a:solidFill>
                  <a:srgbClr val="0070C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dirty="0">
                <a:solidFill>
                  <a:srgbClr val="0070C0"/>
                </a:solidFill>
                <a:latin typeface="DFPLiKingHei-XB"/>
              </a:rPr>
              <a:t>, </a:t>
            </a:r>
            <a:r>
              <a:rPr lang="en-US" altLang="zh-TW" i="1" dirty="0">
                <a:solidFill>
                  <a:srgbClr val="0070C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TW" dirty="0">
                <a:solidFill>
                  <a:srgbClr val="0070C0"/>
                </a:solidFill>
                <a:latin typeface="DFPLiKingHei-XB"/>
              </a:rPr>
              <a:t>}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7" name="左大括弧 6"/>
          <p:cNvSpPr/>
          <p:nvPr/>
        </p:nvSpPr>
        <p:spPr>
          <a:xfrm rot="5400000">
            <a:off x="7289709" y="716115"/>
            <a:ext cx="406400" cy="3361176"/>
          </a:xfrm>
          <a:prstGeom prst="leftBrace">
            <a:avLst>
              <a:gd name="adj1" fmla="val 204950"/>
              <a:gd name="adj2" fmla="val 48683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262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00264"/>
            <a:ext cx="9050867" cy="420608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33" y="389002"/>
            <a:ext cx="4922308" cy="1091371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5416138" y="389002"/>
            <a:ext cx="59376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y</a:t>
            </a:r>
            <a:r>
              <a:rPr lang="en-US" altLang="zh-TW" b="1" dirty="0" smtClean="0"/>
              <a:t>1, y2 </a:t>
            </a:r>
            <a:r>
              <a:rPr lang="en-US" altLang="zh-TW" dirty="0" smtClean="0"/>
              <a:t>: the </a:t>
            </a:r>
            <a:r>
              <a:rPr lang="en-US" altLang="zh-TW" dirty="0"/>
              <a:t>predicted classes of excess </a:t>
            </a:r>
            <a:r>
              <a:rPr lang="en-US" altLang="zh-TW" dirty="0" smtClean="0"/>
              <a:t>stock return </a:t>
            </a:r>
            <a:r>
              <a:rPr lang="en-US" altLang="zh-TW" dirty="0"/>
              <a:t>of </a:t>
            </a:r>
            <a:endParaRPr lang="en-US" altLang="zh-TW" dirty="0" smtClean="0"/>
          </a:p>
          <a:p>
            <a:r>
              <a:rPr lang="en-US" altLang="zh-TW" dirty="0"/>
              <a:t> </a:t>
            </a:r>
            <a:r>
              <a:rPr lang="en-US" altLang="zh-TW" dirty="0" smtClean="0"/>
              <a:t>    the </a:t>
            </a:r>
            <a:r>
              <a:rPr lang="en-US" altLang="zh-TW" dirty="0"/>
              <a:t>two output </a:t>
            </a:r>
            <a:r>
              <a:rPr lang="en-US" altLang="zh-TW" dirty="0" smtClean="0"/>
              <a:t>neurons.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t</a:t>
            </a:r>
            <a:r>
              <a:rPr lang="en-US" altLang="zh-TW" b="1" dirty="0" smtClean="0"/>
              <a:t>1, t2 </a:t>
            </a:r>
            <a:r>
              <a:rPr lang="en-US" altLang="zh-TW" dirty="0" smtClean="0"/>
              <a:t>: the actual classes </a:t>
            </a:r>
            <a:r>
              <a:rPr lang="en-US" altLang="zh-TW" dirty="0"/>
              <a:t>of excess stock </a:t>
            </a:r>
            <a:r>
              <a:rPr lang="en-US" altLang="zh-TW" dirty="0" smtClean="0"/>
              <a:t>return.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 smtClean="0"/>
              <a:t>n</a:t>
            </a:r>
            <a:r>
              <a:rPr lang="en-US" altLang="zh-TW" dirty="0" smtClean="0"/>
              <a:t> : the </a:t>
            </a:r>
            <a:r>
              <a:rPr lang="en-US" altLang="zh-TW" dirty="0"/>
              <a:t>number </a:t>
            </a:r>
            <a:r>
              <a:rPr lang="en-US" altLang="zh-TW" dirty="0" smtClean="0"/>
              <a:t>of validation </a:t>
            </a:r>
            <a:r>
              <a:rPr lang="en-US" altLang="zh-TW" dirty="0"/>
              <a:t>cases</a:t>
            </a:r>
            <a:r>
              <a:rPr lang="en-US" altLang="zh-TW" dirty="0" smtClean="0"/>
              <a:t>.(40 in this study)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0789" y="165864"/>
            <a:ext cx="264819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300" b="1" dirty="0" smtClean="0">
                <a:solidFill>
                  <a:srgbClr val="0070C0"/>
                </a:solidFill>
              </a:rPr>
              <a:t>Validation</a:t>
            </a:r>
            <a:r>
              <a:rPr lang="zh-TW" altLang="en-US" sz="2300" b="1" dirty="0" smtClean="0">
                <a:solidFill>
                  <a:srgbClr val="0070C0"/>
                </a:solidFill>
              </a:rPr>
              <a:t>：</a:t>
            </a:r>
            <a:endParaRPr lang="zh-TW" altLang="en-US" sz="23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15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1" dirty="0"/>
              <a:t>K</a:t>
            </a:r>
            <a:r>
              <a:rPr lang="en-US" altLang="zh-TW" b="1" dirty="0"/>
              <a:t>-fold </a:t>
            </a:r>
            <a:r>
              <a:rPr lang="en-US" altLang="zh-TW" b="1" dirty="0" smtClean="0"/>
              <a:t>cross-validation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　　初始採樣分割成</a:t>
            </a:r>
            <a:r>
              <a:rPr lang="en-US" altLang="zh-TW" dirty="0" smtClean="0"/>
              <a:t>K</a:t>
            </a:r>
            <a:r>
              <a:rPr lang="zh-TW" altLang="en-US" dirty="0" smtClean="0"/>
              <a:t>個子樣本，</a:t>
            </a:r>
            <a:r>
              <a:rPr lang="zh-TW" altLang="en-US" b="1" dirty="0" smtClean="0">
                <a:solidFill>
                  <a:srgbClr val="0070C0"/>
                </a:solidFill>
              </a:rPr>
              <a:t>一個</a:t>
            </a:r>
            <a:r>
              <a:rPr lang="zh-TW" altLang="en-US" dirty="0" smtClean="0"/>
              <a:t>單獨的子樣本被</a:t>
            </a:r>
            <a:r>
              <a:rPr lang="zh-TW" altLang="en-US" b="1" dirty="0" smtClean="0">
                <a:solidFill>
                  <a:srgbClr val="0070C0"/>
                </a:solidFill>
              </a:rPr>
              <a:t>保留作為驗證模型</a:t>
            </a:r>
            <a:r>
              <a:rPr lang="zh-TW" altLang="en-US" dirty="0" smtClean="0"/>
              <a:t>的數據，其他</a:t>
            </a:r>
            <a:r>
              <a:rPr lang="en-US" altLang="zh-TW" b="1" dirty="0" smtClean="0">
                <a:solidFill>
                  <a:srgbClr val="0070C0"/>
                </a:solidFill>
              </a:rPr>
              <a:t>K-1</a:t>
            </a:r>
            <a:r>
              <a:rPr lang="zh-TW" altLang="en-US" b="1" dirty="0" smtClean="0">
                <a:solidFill>
                  <a:srgbClr val="0070C0"/>
                </a:solidFill>
              </a:rPr>
              <a:t>個</a:t>
            </a:r>
            <a:r>
              <a:rPr lang="zh-TW" altLang="en-US" dirty="0" smtClean="0"/>
              <a:t>樣本</a:t>
            </a:r>
            <a:r>
              <a:rPr lang="zh-TW" altLang="en-US" b="1" dirty="0" smtClean="0">
                <a:solidFill>
                  <a:srgbClr val="0070C0"/>
                </a:solidFill>
              </a:rPr>
              <a:t>用來訓練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 smtClean="0"/>
              <a:t>　　交叉驗證</a:t>
            </a:r>
            <a:r>
              <a:rPr lang="zh-TW" altLang="en-US" b="1" dirty="0" smtClean="0">
                <a:solidFill>
                  <a:srgbClr val="0070C0"/>
                </a:solidFill>
              </a:rPr>
              <a:t>重複</a:t>
            </a:r>
            <a:r>
              <a:rPr lang="en-US" altLang="zh-TW" b="1" dirty="0" smtClean="0">
                <a:solidFill>
                  <a:srgbClr val="0070C0"/>
                </a:solidFill>
              </a:rPr>
              <a:t>K</a:t>
            </a:r>
            <a:r>
              <a:rPr lang="zh-TW" altLang="en-US" b="1" dirty="0" smtClean="0">
                <a:solidFill>
                  <a:srgbClr val="0070C0"/>
                </a:solidFill>
              </a:rPr>
              <a:t>次</a:t>
            </a:r>
            <a:r>
              <a:rPr lang="zh-TW" altLang="en-US" dirty="0" smtClean="0"/>
              <a:t>，每個子樣本驗證一次，平均</a:t>
            </a:r>
            <a:r>
              <a:rPr lang="en-US" altLang="zh-TW" dirty="0" smtClean="0"/>
              <a:t>K</a:t>
            </a:r>
            <a:r>
              <a:rPr lang="zh-TW" altLang="en-US" dirty="0" smtClean="0"/>
              <a:t>次的結果，最終得到一個單一估測。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 smtClean="0"/>
              <a:t>　　這個方法的優勢在於，同時重複運用隨機產生的子樣本進行訓練和驗證，每次的結果驗證一次，基本來說</a:t>
            </a:r>
            <a:r>
              <a:rPr lang="zh-TW" altLang="en-US" b="1" dirty="0" smtClean="0">
                <a:solidFill>
                  <a:srgbClr val="0070C0"/>
                </a:solidFill>
              </a:rPr>
              <a:t>可增加準確性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7502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4733" y="835377"/>
            <a:ext cx="4501444" cy="1325563"/>
          </a:xfrm>
        </p:spPr>
        <p:txBody>
          <a:bodyPr/>
          <a:lstStyle/>
          <a:p>
            <a:r>
              <a:rPr lang="en-US" altLang="zh-TW" dirty="0" smtClean="0"/>
              <a:t>3-fold </a:t>
            </a:r>
            <a:br>
              <a:rPr lang="en-US" altLang="zh-TW" dirty="0" smtClean="0"/>
            </a:br>
            <a:r>
              <a:rPr lang="en-US" altLang="zh-TW" dirty="0" smtClean="0"/>
              <a:t>cross-validation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376" y="132203"/>
            <a:ext cx="6795913" cy="6396154"/>
          </a:xfrm>
        </p:spPr>
      </p:pic>
    </p:spTree>
    <p:extLst>
      <p:ext uri="{BB962C8B-B14F-4D97-AF65-F5344CB8AC3E}">
        <p14:creationId xmlns:p14="http://schemas.microsoft.com/office/powerpoint/2010/main" val="130441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 result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5"/>
          <a:stretch/>
        </p:blipFill>
        <p:spPr>
          <a:xfrm>
            <a:off x="917223" y="2158542"/>
            <a:ext cx="7255089" cy="4302014"/>
          </a:xfrm>
        </p:spPr>
      </p:pic>
      <p:sp>
        <p:nvSpPr>
          <p:cNvPr id="5" name="文字方塊 4"/>
          <p:cNvSpPr txBox="1"/>
          <p:nvPr/>
        </p:nvSpPr>
        <p:spPr>
          <a:xfrm>
            <a:off x="6096000" y="150743"/>
            <a:ext cx="60169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/>
              <a:t>註：</a:t>
            </a:r>
            <a:endParaRPr lang="en-US" altLang="zh-TW" b="1" dirty="0" smtClean="0"/>
          </a:p>
          <a:p>
            <a:r>
              <a:rPr lang="en-US" altLang="zh-TW" b="1" dirty="0" smtClean="0"/>
              <a:t>CORR</a:t>
            </a:r>
            <a:r>
              <a:rPr lang="zh-TW" altLang="en-US" dirty="0" smtClean="0"/>
              <a:t>：</a:t>
            </a:r>
            <a:r>
              <a:rPr lang="en-US" altLang="zh-TW" dirty="0" smtClean="0"/>
              <a:t>refers to the </a:t>
            </a:r>
            <a:r>
              <a:rPr lang="en-US" altLang="zh-TW" b="1" dirty="0" smtClean="0"/>
              <a:t>Pearson correlation</a:t>
            </a:r>
            <a:r>
              <a:rPr lang="en-US" altLang="zh-TW" dirty="0" smtClean="0"/>
              <a:t> coefficient between the actual and predicted signs of excess stock return.</a:t>
            </a:r>
          </a:p>
          <a:p>
            <a:r>
              <a:rPr lang="en-US" altLang="zh-TW" b="1" dirty="0" smtClean="0"/>
              <a:t>SIGN</a:t>
            </a:r>
            <a:r>
              <a:rPr lang="zh-TW" altLang="en-US" dirty="0" smtClean="0"/>
              <a:t>：</a:t>
            </a:r>
            <a:r>
              <a:rPr lang="en-US" altLang="zh-TW" dirty="0" smtClean="0"/>
              <a:t>denotes the proportion of times the </a:t>
            </a:r>
            <a:r>
              <a:rPr lang="en-US" altLang="zh-TW" u="sng" dirty="0" smtClean="0"/>
              <a:t>predicted signs</a:t>
            </a:r>
            <a:r>
              <a:rPr lang="en-US" altLang="zh-TW" dirty="0" smtClean="0"/>
              <a:t> of excess stock returns are </a:t>
            </a:r>
            <a:r>
              <a:rPr lang="en-US" altLang="zh-TW" b="1" dirty="0" smtClean="0"/>
              <a:t>correctly classified</a:t>
            </a:r>
          </a:p>
          <a:p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2946399" y="5249333"/>
            <a:ext cx="4763911" cy="5531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90367" y="1881134"/>
            <a:ext cx="3002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Table: Performance measures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373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Simulated trading results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44" y="1988151"/>
            <a:ext cx="11287791" cy="3667581"/>
          </a:xfrm>
        </p:spPr>
      </p:pic>
    </p:spTree>
    <p:extLst>
      <p:ext uri="{BB962C8B-B14F-4D97-AF65-F5344CB8AC3E}">
        <p14:creationId xmlns:p14="http://schemas.microsoft.com/office/powerpoint/2010/main" val="427235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各交易策略累積收益比較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351" y="1690688"/>
            <a:ext cx="6575781" cy="4616855"/>
          </a:xfrm>
        </p:spPr>
      </p:pic>
    </p:spTree>
    <p:extLst>
      <p:ext uri="{BB962C8B-B14F-4D97-AF65-F5344CB8AC3E}">
        <p14:creationId xmlns:p14="http://schemas.microsoft.com/office/powerpoint/2010/main" val="249393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1236</TotalTime>
  <Words>888</Words>
  <Application>Microsoft Office PowerPoint</Application>
  <PresentationFormat>寬螢幕</PresentationFormat>
  <Paragraphs>133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2" baseType="lpstr">
      <vt:lpstr>DFPLiKingHei-XB</vt:lpstr>
      <vt:lpstr>新細明體</vt:lpstr>
      <vt:lpstr>Arial</vt:lpstr>
      <vt:lpstr>Calibri</vt:lpstr>
      <vt:lpstr>Calibri Light</vt:lpstr>
      <vt:lpstr>Times New Roman</vt:lpstr>
      <vt:lpstr>Wingdings</vt:lpstr>
      <vt:lpstr>Office 佈景主題</vt:lpstr>
      <vt:lpstr>The use of data mining and neural networks for forecasting stock market returns</vt:lpstr>
      <vt:lpstr>Abstract</vt:lpstr>
      <vt:lpstr>Preprocess：Data selection (for input layer)</vt:lpstr>
      <vt:lpstr>PowerPoint 簡報</vt:lpstr>
      <vt:lpstr>Level  v.s. Classification</vt:lpstr>
      <vt:lpstr>Neural network models for level estimation  – use GRNN</vt:lpstr>
      <vt:lpstr>PowerPoint 簡報</vt:lpstr>
      <vt:lpstr>GRNN</vt:lpstr>
      <vt:lpstr>PowerPoint 簡報</vt:lpstr>
      <vt:lpstr>Neural network models for classification - use PNN</vt:lpstr>
      <vt:lpstr>PowerPoint 簡報</vt:lpstr>
      <vt:lpstr>PowerPoint 簡報</vt:lpstr>
      <vt:lpstr>PNN機率密度函數</vt:lpstr>
      <vt:lpstr>範例</vt:lpstr>
      <vt:lpstr>PowerPoint 簡報</vt:lpstr>
      <vt:lpstr>PowerPoint 簡報</vt:lpstr>
      <vt:lpstr>PowerPoint 簡報</vt:lpstr>
      <vt:lpstr>PowerPoint 簡報</vt:lpstr>
      <vt:lpstr>PowerPoint 簡報</vt:lpstr>
      <vt:lpstr>K-fold cross-validation</vt:lpstr>
      <vt:lpstr>3-fold  cross-validation</vt:lpstr>
      <vt:lpstr>Experiment result</vt:lpstr>
      <vt:lpstr>Simulated trading results</vt:lpstr>
      <vt:lpstr>各交易策略累積收益比較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use of data mining and neural networks for forecasting stock market returns</dc:title>
  <dc:creator>jhan</dc:creator>
  <cp:lastModifiedBy>pplab-class</cp:lastModifiedBy>
  <cp:revision>43</cp:revision>
  <dcterms:created xsi:type="dcterms:W3CDTF">2016-06-07T09:38:17Z</dcterms:created>
  <dcterms:modified xsi:type="dcterms:W3CDTF">2016-06-14T12:46:52Z</dcterms:modified>
</cp:coreProperties>
</file>