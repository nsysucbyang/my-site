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14" autoAdjust="0"/>
    <p:restoredTop sz="94660"/>
  </p:normalViewPr>
  <p:slideViewPr>
    <p:cSldViewPr snapToGrid="0">
      <p:cViewPr varScale="1">
        <p:scale>
          <a:sx n="86" d="100"/>
          <a:sy n="86" d="100"/>
        </p:scale>
        <p:origin x="73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 smtClean="0"/>
              <a:t>按一下以編輯母片副標題樣式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49F977-BD6B-4F28-B26B-9A66DEEAE5E0}" type="datetimeFigureOut">
              <a:rPr lang="zh-TW" altLang="en-US" smtClean="0"/>
              <a:t>2016/6/27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81FB7-D842-465D-A847-350AC573A3A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361069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49F977-BD6B-4F28-B26B-9A66DEEAE5E0}" type="datetimeFigureOut">
              <a:rPr lang="zh-TW" altLang="en-US" smtClean="0"/>
              <a:t>2016/6/27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81FB7-D842-465D-A847-350AC573A3A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040839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49F977-BD6B-4F28-B26B-9A66DEEAE5E0}" type="datetimeFigureOut">
              <a:rPr lang="zh-TW" altLang="en-US" smtClean="0"/>
              <a:t>2016/6/27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81FB7-D842-465D-A847-350AC573A3A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672073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49F977-BD6B-4F28-B26B-9A66DEEAE5E0}" type="datetimeFigureOut">
              <a:rPr lang="zh-TW" altLang="en-US" smtClean="0"/>
              <a:t>2016/6/27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81FB7-D842-465D-A847-350AC573A3A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849436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49F977-BD6B-4F28-B26B-9A66DEEAE5E0}" type="datetimeFigureOut">
              <a:rPr lang="zh-TW" altLang="en-US" smtClean="0"/>
              <a:t>2016/6/27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81FB7-D842-465D-A847-350AC573A3A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568847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49F977-BD6B-4F28-B26B-9A66DEEAE5E0}" type="datetimeFigureOut">
              <a:rPr lang="zh-TW" altLang="en-US" smtClean="0"/>
              <a:t>2016/6/27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81FB7-D842-465D-A847-350AC573A3A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091491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49F977-BD6B-4F28-B26B-9A66DEEAE5E0}" type="datetimeFigureOut">
              <a:rPr lang="zh-TW" altLang="en-US" smtClean="0"/>
              <a:t>2016/6/27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81FB7-D842-465D-A847-350AC573A3A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559971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49F977-BD6B-4F28-B26B-9A66DEEAE5E0}" type="datetimeFigureOut">
              <a:rPr lang="zh-TW" altLang="en-US" smtClean="0"/>
              <a:t>2016/6/27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81FB7-D842-465D-A847-350AC573A3A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158840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 smtClean="0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49F977-BD6B-4F28-B26B-9A66DEEAE5E0}" type="datetimeFigureOut">
              <a:rPr lang="zh-TW" altLang="en-US" smtClean="0"/>
              <a:t>2016/6/27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81FB7-D842-465D-A847-350AC573A3A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103918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49F977-BD6B-4F28-B26B-9A66DEEAE5E0}" type="datetimeFigureOut">
              <a:rPr lang="zh-TW" altLang="en-US" smtClean="0"/>
              <a:t>2016/6/27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81FB7-D842-465D-A847-350AC573A3A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548902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49F977-BD6B-4F28-B26B-9A66DEEAE5E0}" type="datetimeFigureOut">
              <a:rPr lang="zh-TW" altLang="en-US" smtClean="0"/>
              <a:t>2016/6/27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81FB7-D842-465D-A847-350AC573A3A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151380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49F977-BD6B-4F28-B26B-9A66DEEAE5E0}" type="datetimeFigureOut">
              <a:rPr lang="zh-TW" altLang="en-US" smtClean="0"/>
              <a:t>2016/6/27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781FB7-D842-465D-A847-350AC573A3A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428195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0" y="756603"/>
            <a:ext cx="9144000" cy="2387600"/>
          </a:xfrm>
        </p:spPr>
        <p:txBody>
          <a:bodyPr anchor="t">
            <a:normAutofit/>
          </a:bodyPr>
          <a:lstStyle/>
          <a:p>
            <a:r>
              <a:rPr lang="en-US" altLang="zh-TW" sz="5400" dirty="0"/>
              <a:t>Constructing </a:t>
            </a:r>
            <a:r>
              <a:rPr lang="en-US" altLang="zh-TW" sz="5400" dirty="0" smtClean="0"/>
              <a:t>Optimal Binary Decision Trees </a:t>
            </a:r>
            <a:r>
              <a:rPr lang="en-US" altLang="zh-TW" sz="5400" dirty="0"/>
              <a:t>is </a:t>
            </a:r>
            <a:r>
              <a:rPr lang="en-US" altLang="zh-TW" sz="5400" dirty="0" smtClean="0"/>
              <a:t>NP-Complete</a:t>
            </a:r>
            <a:endParaRPr lang="en-US" altLang="zh-TW" sz="5400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143000" y="3297238"/>
            <a:ext cx="6858000" cy="1655762"/>
          </a:xfrm>
        </p:spPr>
        <p:txBody>
          <a:bodyPr/>
          <a:lstStyle/>
          <a:p>
            <a:r>
              <a:rPr lang="en-US" altLang="zh-TW" dirty="0"/>
              <a:t>Information Processing </a:t>
            </a:r>
            <a:r>
              <a:rPr lang="en-US" altLang="zh-TW" dirty="0" smtClean="0"/>
              <a:t>Letters, </a:t>
            </a:r>
            <a:r>
              <a:rPr lang="en-US" altLang="zh-TW" dirty="0" smtClean="0"/>
              <a:t>Vol. </a:t>
            </a:r>
            <a:r>
              <a:rPr lang="en-US" altLang="zh-TW" dirty="0" smtClean="0"/>
              <a:t>5, pp.15-17 (1976)</a:t>
            </a:r>
            <a:endParaRPr lang="zh-TW" altLang="en-US" dirty="0"/>
          </a:p>
        </p:txBody>
      </p:sp>
      <p:sp>
        <p:nvSpPr>
          <p:cNvPr id="4" name="文字方塊 3"/>
          <p:cNvSpPr txBox="1"/>
          <p:nvPr/>
        </p:nvSpPr>
        <p:spPr>
          <a:xfrm>
            <a:off x="2998973" y="5715635"/>
            <a:ext cx="314605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sz="2000" dirty="0"/>
              <a:t>Presenter: </a:t>
            </a:r>
            <a:r>
              <a:rPr lang="en-US" altLang="zh-TW" sz="2000" dirty="0" err="1"/>
              <a:t>Shiou-Zong</a:t>
            </a:r>
            <a:r>
              <a:rPr lang="en-US" altLang="zh-TW" sz="2000" dirty="0"/>
              <a:t> </a:t>
            </a:r>
            <a:r>
              <a:rPr lang="en-US" altLang="zh-TW" sz="2000" dirty="0" err="1"/>
              <a:t>Chiou</a:t>
            </a:r>
            <a:endParaRPr lang="en-US" altLang="zh-TW" sz="2000" dirty="0"/>
          </a:p>
          <a:p>
            <a:r>
              <a:rPr lang="en-US" altLang="zh-TW" sz="2000" dirty="0" smtClean="0"/>
              <a:t>Date:2016/06/27</a:t>
            </a:r>
            <a:endParaRPr lang="zh-TW" altLang="en-US" sz="2000" dirty="0"/>
          </a:p>
        </p:txBody>
      </p:sp>
    </p:spTree>
    <p:extLst>
      <p:ext uri="{BB962C8B-B14F-4D97-AF65-F5344CB8AC3E}">
        <p14:creationId xmlns:p14="http://schemas.microsoft.com/office/powerpoint/2010/main" val="30759511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Abstract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TW" dirty="0" smtClean="0"/>
              <a:t>We demonstrate that constructing optimal binary decision trees is np-complete problem, where an optimal tree is one which minimizes the expected number of tests required to identify the unknown object. 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315880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Decision Tree Problem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…,</m:t>
                            </m:r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altLang="zh-TW" dirty="0" smtClean="0"/>
                  <a:t> is a finite set of objects.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zh-TW" altLang="en-US" i="1" smtClean="0">
                        <a:latin typeface="Cambria Math" panose="02040503050406030204" pitchFamily="18" charset="0"/>
                      </a:rPr>
                      <m:t>𝒯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={</m:t>
                    </m:r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TW" i="1" smtClean="0">
                            <a:latin typeface="Cambria Math" panose="02040503050406030204" pitchFamily="18" charset="0"/>
                          </a:rPr>
                          <m:t>T</m:t>
                        </m:r>
                      </m:e>
                      <m:sub>
                        <m:r>
                          <a:rPr lang="en-US" altLang="zh-TW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TW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TW" i="1" smtClean="0">
                            <a:latin typeface="Cambria Math" panose="02040503050406030204" pitchFamily="18" charset="0"/>
                          </a:rPr>
                          <m:t>T</m:t>
                        </m:r>
                      </m:e>
                      <m:sub>
                        <m:r>
                          <a:rPr lang="en-US" altLang="zh-TW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TW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…,</m:t>
                    </m:r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zh-TW" altLang="en-US" dirty="0" smtClean="0"/>
                  <a:t> </a:t>
                </a:r>
                <a:r>
                  <a:rPr lang="en-US" altLang="zh-TW" dirty="0" smtClean="0"/>
                  <a:t>is a finite set of tests.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altLang="zh-TW" dirty="0" smtClean="0"/>
                  <a:t> is the length of the path from root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TW" dirty="0" smtClean="0"/>
                  <a:t>.</a:t>
                </a:r>
              </a:p>
              <a:p>
                <a:pPr marL="0" indent="0">
                  <a:buNone/>
                </a:pPr>
                <a:r>
                  <a:rPr lang="en-US" altLang="zh-TW" dirty="0" smtClean="0"/>
                  <a:t>The cost of the tree is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bHide m:val="on"/>
                        <m:supHide m:val="on"/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𝑝</m:t>
                        </m:r>
                        <m:d>
                          <m:d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e>
                    </m:nary>
                  </m:oMath>
                </a14:m>
                <a:r>
                  <a:rPr lang="en-US" altLang="zh-TW" dirty="0" smtClean="0"/>
                  <a:t>.</a:t>
                </a:r>
                <a:endParaRPr lang="zh-TW" altLang="en-US" dirty="0"/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546" t="-224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620713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Decision Tree Problem</a:t>
            </a:r>
            <a:endParaRPr lang="zh-TW" altLang="en-US" dirty="0"/>
          </a:p>
        </p:txBody>
      </p:sp>
      <p:pic>
        <p:nvPicPr>
          <p:cNvPr id="20" name="內容版面配置區 19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768" y="1825625"/>
            <a:ext cx="7104463" cy="4351338"/>
          </a:xfrm>
        </p:spPr>
      </p:pic>
    </p:spTree>
    <p:extLst>
      <p:ext uri="{BB962C8B-B14F-4D97-AF65-F5344CB8AC3E}">
        <p14:creationId xmlns:p14="http://schemas.microsoft.com/office/powerpoint/2010/main" val="18397827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標題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altLang="zh-TW" dirty="0" smtClean="0"/>
                  <a:t>EC3</a:t>
                </a:r>
                <a14:m>
                  <m:oMath xmlns:m="http://schemas.openxmlformats.org/officeDocument/2006/math">
                    <m:r>
                      <a:rPr lang="en-US" altLang="zh-TW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∝</m:t>
                    </m:r>
                  </m:oMath>
                </a14:m>
                <a:r>
                  <a:rPr lang="en-US" altLang="zh-TW" dirty="0" smtClean="0"/>
                  <a:t>DT</a:t>
                </a:r>
                <a:endParaRPr lang="zh-TW" altLang="en-US" dirty="0"/>
              </a:p>
            </p:txBody>
          </p:sp>
        </mc:Choice>
        <mc:Fallback xmlns="">
          <p:sp>
            <p:nvSpPr>
              <p:cNvPr id="2" name="標題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 rotWithShape="0">
                <a:blip r:embed="rId2"/>
                <a:stretch>
                  <a:fillRect l="-309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內容版面配置區 4"/>
              <p:cNvSpPr>
                <a:spLocks noGrp="1"/>
              </p:cNvSpPr>
              <p:nvPr>
                <p:ph idx="1"/>
              </p:nvPr>
            </p:nvSpPr>
            <p:spPr>
              <a:xfrm>
                <a:off x="188976" y="1813433"/>
                <a:ext cx="8766048" cy="435133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altLang="zh-TW" dirty="0" smtClean="0"/>
                  <a:t>Instance of EC3:</a:t>
                </a:r>
                <a:endParaRPr lang="en-US" altLang="zh-TW" b="0" i="1" dirty="0" smtClean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={1,2,3,4,5,6,7,8,9}</m:t>
                    </m:r>
                  </m:oMath>
                </a14:m>
                <a:r>
                  <a:rPr lang="en-US" altLang="zh-TW" dirty="0" smtClean="0"/>
                  <a:t> 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zh-TW" altLang="en-US" i="1">
                        <a:latin typeface="Cambria Math" panose="02040503050406030204" pitchFamily="18" charset="0"/>
                      </a:rPr>
                      <m:t>𝒯</m:t>
                    </m:r>
                    <m:r>
                      <a:rPr lang="en-US" altLang="zh-TW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{</m:t>
                    </m:r>
                    <m:d>
                      <m:d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1,2,3</m:t>
                        </m:r>
                      </m:e>
                    </m:d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,</m:t>
                    </m:r>
                    <m:d>
                      <m:d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4,5,6</m:t>
                        </m:r>
                      </m:e>
                    </m:d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,</m:t>
                    </m:r>
                    <m:d>
                      <m:d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7,8,9</m:t>
                        </m:r>
                      </m:e>
                    </m:d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,(1,3,5)}</m:t>
                    </m:r>
                  </m:oMath>
                </a14:m>
                <a:r>
                  <a:rPr lang="zh-TW" altLang="en-US" dirty="0" smtClean="0"/>
                  <a:t> </a:t>
                </a:r>
                <a:endParaRPr lang="en-US" altLang="zh-TW" dirty="0" smtClean="0"/>
              </a:p>
              <a:p>
                <a:pPr marL="0" indent="0">
                  <a:buNone/>
                </a:pPr>
                <a:endParaRPr lang="en-US" altLang="zh-TW" dirty="0" smtClean="0"/>
              </a:p>
              <a:p>
                <a:pPr marL="0" indent="0">
                  <a:buNone/>
                </a:pPr>
                <a:r>
                  <a:rPr lang="en-US" altLang="zh-TW" dirty="0" smtClean="0"/>
                  <a:t>Instance of DT: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altLang="zh-TW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′</m:t>
                    </m:r>
                    <m:r>
                      <a:rPr lang="en-US" altLang="zh-TW" i="1">
                        <a:latin typeface="Cambria Math" panose="02040503050406030204" pitchFamily="18" charset="0"/>
                      </a:rPr>
                      <m:t>={1,2,3,4,5,6,7,8,9}</m:t>
                    </m:r>
                    <m:r>
                      <a:rPr lang="en-US" altLang="zh-TW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∪</m:t>
                    </m:r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{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𝑐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altLang="zh-TW" dirty="0"/>
                  <a:t> 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TW" altLang="en-US" i="1">
                            <a:latin typeface="Cambria Math" panose="02040503050406030204" pitchFamily="18" charset="0"/>
                          </a:rPr>
                          <m:t>𝒯</m:t>
                        </m:r>
                      </m:e>
                      <m:sup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zh-TW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1,2,3</m:t>
                            </m:r>
                          </m:e>
                        </m:d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,</m:t>
                        </m:r>
                        <m:d>
                          <m:d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4,5,6</m:t>
                            </m:r>
                          </m:e>
                        </m:d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,</m:t>
                        </m:r>
                        <m:d>
                          <m:d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7,8,9</m:t>
                            </m:r>
                          </m:e>
                        </m:d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,</m:t>
                        </m:r>
                        <m:d>
                          <m:d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1,3,5</m:t>
                            </m:r>
                          </m:e>
                        </m:d>
                      </m:e>
                    </m:d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∪</m:t>
                    </m:r>
                  </m:oMath>
                </a14:m>
                <a:r>
                  <a:rPr lang="en-US" altLang="zh-TW" b="0" i="1" dirty="0" smtClean="0">
                    <a:latin typeface="Cambria Math" panose="02040503050406030204" pitchFamily="18" charset="0"/>
                  </a:rPr>
                  <a:t> </a:t>
                </a:r>
              </a:p>
              <a:p>
                <a:pPr marL="0" indent="0">
                  <a:buNone/>
                </a:pPr>
                <a:r>
                  <a:rPr lang="en-US" altLang="zh-TW" b="0" dirty="0" smtClean="0"/>
                  <a:t>	</a:t>
                </a: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{</m:t>
                    </m:r>
                    <m:d>
                      <m:dPr>
                        <m:ctrlPr>
                          <a:rPr lang="en-US" altLang="zh-TW" b="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altLang="zh-TW" i="1">
                        <a:latin typeface="Cambria Math" panose="02040503050406030204" pitchFamily="18" charset="0"/>
                      </a:rPr>
                      <m:t>,</m:t>
                    </m:r>
                    <m:d>
                      <m:dPr>
                        <m:ctrlPr>
                          <a:rPr lang="en-US" altLang="zh-TW" b="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  <m:r>
                      <a:rPr lang="en-US" altLang="zh-TW" i="1">
                        <a:latin typeface="Cambria Math" panose="02040503050406030204" pitchFamily="18" charset="0"/>
                      </a:rPr>
                      <m:t>,</m:t>
                    </m:r>
                    <m:d>
                      <m:dPr>
                        <m:ctrlPr>
                          <a:rPr lang="en-US" altLang="zh-TW" b="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d>
                    <m:r>
                      <a:rPr lang="en-US" altLang="zh-TW" i="1">
                        <a:latin typeface="Cambria Math" panose="02040503050406030204" pitchFamily="18" charset="0"/>
                      </a:rPr>
                      <m:t>,</m:t>
                    </m:r>
                    <m:d>
                      <m:dPr>
                        <m:ctrlPr>
                          <a:rPr lang="en-US" altLang="zh-TW" b="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e>
                    </m:d>
                    <m:r>
                      <a:rPr lang="en-US" altLang="zh-TW" i="1">
                        <a:latin typeface="Cambria Math" panose="02040503050406030204" pitchFamily="18" charset="0"/>
                      </a:rPr>
                      <m:t>,</m:t>
                    </m:r>
                    <m:d>
                      <m:dPr>
                        <m:ctrlPr>
                          <a:rPr lang="en-US" altLang="zh-TW" b="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d>
                    <m:r>
                      <a:rPr lang="en-US" altLang="zh-TW" i="1">
                        <a:latin typeface="Cambria Math" panose="02040503050406030204" pitchFamily="18" charset="0"/>
                      </a:rPr>
                      <m:t>,</m:t>
                    </m:r>
                    <m:d>
                      <m:dPr>
                        <m:ctrlPr>
                          <a:rPr lang="en-US" altLang="zh-TW" b="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e>
                    </m:d>
                    <m:r>
                      <a:rPr lang="en-US" altLang="zh-TW" i="1">
                        <a:latin typeface="Cambria Math" panose="02040503050406030204" pitchFamily="18" charset="0"/>
                      </a:rPr>
                      <m:t>,</m:t>
                    </m:r>
                    <m:d>
                      <m:dPr>
                        <m:ctrlPr>
                          <a:rPr lang="en-US" altLang="zh-TW" b="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7</m:t>
                        </m:r>
                      </m:e>
                    </m:d>
                    <m:r>
                      <a:rPr lang="en-US" altLang="zh-TW" i="1">
                        <a:latin typeface="Cambria Math" panose="02040503050406030204" pitchFamily="18" charset="0"/>
                      </a:rPr>
                      <m:t>,</m:t>
                    </m:r>
                    <m:d>
                      <m:dPr>
                        <m:ctrlPr>
                          <a:rPr lang="en-US" altLang="zh-TW" b="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8</m:t>
                        </m:r>
                      </m:e>
                    </m:d>
                    <m:r>
                      <a:rPr lang="en-US" altLang="zh-TW" i="1">
                        <a:latin typeface="Cambria Math" panose="02040503050406030204" pitchFamily="18" charset="0"/>
                      </a:rPr>
                      <m:t>,</m:t>
                    </m:r>
                    <m:d>
                      <m:dPr>
                        <m:ctrlPr>
                          <a:rPr lang="en-US" altLang="zh-TW" b="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9</m:t>
                        </m:r>
                      </m:e>
                    </m:d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,</m:t>
                    </m:r>
                    <m:d>
                      <m:d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,</m:t>
                    </m:r>
                    <m:d>
                      <m:d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,(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)}</m:t>
                    </m:r>
                  </m:oMath>
                </a14:m>
                <a:r>
                  <a:rPr lang="zh-TW" altLang="en-US" dirty="0"/>
                  <a:t> </a:t>
                </a:r>
                <a:endParaRPr lang="en-US" altLang="zh-TW" dirty="0"/>
              </a:p>
              <a:p>
                <a:pPr marL="0" indent="0">
                  <a:buNone/>
                </a:pPr>
                <a:endParaRPr lang="zh-TW" altLang="en-US" dirty="0"/>
              </a:p>
            </p:txBody>
          </p:sp>
        </mc:Choice>
        <mc:Fallback xmlns="">
          <p:sp>
            <p:nvSpPr>
              <p:cNvPr id="5" name="內容版面配置區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88976" y="1813433"/>
                <a:ext cx="8766048" cy="4351338"/>
              </a:xfrm>
              <a:blipFill rotWithShape="0">
                <a:blip r:embed="rId3"/>
                <a:stretch>
                  <a:fillRect l="-1391" t="-224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766551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標題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altLang="zh-TW" dirty="0"/>
                  <a:t>EC3</a:t>
                </a:r>
                <a14:m>
                  <m:oMath xmlns:m="http://schemas.openxmlformats.org/officeDocument/2006/math"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∝</m:t>
                    </m:r>
                  </m:oMath>
                </a14:m>
                <a:r>
                  <a:rPr lang="en-US" altLang="zh-TW" dirty="0"/>
                  <a:t>DT</a:t>
                </a:r>
                <a:endParaRPr lang="zh-TW" altLang="en-US" dirty="0"/>
              </a:p>
            </p:txBody>
          </p:sp>
        </mc:Choice>
        <mc:Fallback xmlns="">
          <p:sp>
            <p:nvSpPr>
              <p:cNvPr id="2" name="標題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 rotWithShape="0">
                <a:blip r:embed="rId2"/>
                <a:stretch>
                  <a:fillRect l="-309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內容版面配置區 4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" y="1690689"/>
            <a:ext cx="9144001" cy="4195132"/>
          </a:xfrm>
        </p:spPr>
      </p:pic>
    </p:spTree>
    <p:extLst>
      <p:ext uri="{BB962C8B-B14F-4D97-AF65-F5344CB8AC3E}">
        <p14:creationId xmlns:p14="http://schemas.microsoft.com/office/powerpoint/2010/main" val="18439776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altLang="zh-TW" b="0" i="1" dirty="0" smtClean="0">
                    <a:latin typeface="Cambria Math" panose="02040503050406030204" pitchFamily="18" charset="0"/>
                  </a:rPr>
                  <a:t> 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altLang="zh-TW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  <m:r>
                      <a:rPr lang="en-US" altLang="zh-TW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en-US" altLang="zh-TW" i="1" dirty="0" smtClean="0">
                    <a:latin typeface="Cambria Math" panose="02040503050406030204" pitchFamily="18" charset="0"/>
                  </a:rPr>
                  <a:t> </a:t>
                </a:r>
                <a:endParaRPr lang="en-US" altLang="zh-TW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altLang="zh-TW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d>
                    <m:r>
                      <a:rPr lang="en-US" altLang="zh-TW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lang="en-US" altLang="zh-TW" b="0" i="1" dirty="0" smtClean="0">
                    <a:latin typeface="Cambria Math" panose="02040503050406030204" pitchFamily="18" charset="0"/>
                  </a:rPr>
                  <a:t> 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altLang="zh-TW" b="0" i="0" smtClean="0">
                                <a:latin typeface="Cambria Math" panose="02040503050406030204" pitchFamily="18" charset="0"/>
                              </a:rPr>
                              <m:t>min</m:t>
                            </m:r>
                          </m:e>
                          <m:lim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≤</m:t>
                            </m:r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≤3</m:t>
                            </m:r>
                          </m:lim>
                        </m:limLow>
                      </m:fName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  <m:d>
                              <m:dPr>
                                <m:ctrlP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e>
                            </m:d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  <m:d>
                              <m:dPr>
                                <m:ctrlP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e>
                            </m:d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𝑓𝑜𝑟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≥4</m:t>
                        </m:r>
                      </m:e>
                    </m:func>
                  </m:oMath>
                </a14:m>
                <a:r>
                  <a:rPr lang="zh-TW" altLang="en-US" dirty="0" smtClean="0"/>
                  <a:t> </a:t>
                </a:r>
                <a:endParaRPr lang="zh-TW" altLang="en-US" dirty="0"/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524049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 佈景主題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佈景主題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175</TotalTime>
  <Words>85</Words>
  <Application>Microsoft Office PowerPoint</Application>
  <PresentationFormat>如螢幕大小 (4:3)</PresentationFormat>
  <Paragraphs>26</Paragraphs>
  <Slides>7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7</vt:i4>
      </vt:variant>
    </vt:vector>
  </HeadingPairs>
  <TitlesOfParts>
    <vt:vector size="13" baseType="lpstr">
      <vt:lpstr>新細明體</vt:lpstr>
      <vt:lpstr>Arial</vt:lpstr>
      <vt:lpstr>Calibri</vt:lpstr>
      <vt:lpstr>Calibri Light</vt:lpstr>
      <vt:lpstr>Cambria Math</vt:lpstr>
      <vt:lpstr>Office 佈景主題</vt:lpstr>
      <vt:lpstr>Constructing Optimal Binary Decision Trees is NP-Complete</vt:lpstr>
      <vt:lpstr>Abstract</vt:lpstr>
      <vt:lpstr>Decision Tree Problem</vt:lpstr>
      <vt:lpstr>Decision Tree Problem</vt:lpstr>
      <vt:lpstr>EC3∝DT</vt:lpstr>
      <vt:lpstr>EC3∝DT</vt:lpstr>
      <vt:lpstr>PowerPoint 簡報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Constructing optimal binary decision trees is NP-complete</dc:title>
  <dc:creator>sizuka</dc:creator>
  <cp:lastModifiedBy>pplab-class</cp:lastModifiedBy>
  <cp:revision>13</cp:revision>
  <dcterms:created xsi:type="dcterms:W3CDTF">2016-06-26T17:07:06Z</dcterms:created>
  <dcterms:modified xsi:type="dcterms:W3CDTF">2016-06-27T08:36:56Z</dcterms:modified>
</cp:coreProperties>
</file>