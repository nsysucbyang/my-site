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0080625" cy="7559675"/>
  <p:notesSz cx="7559675" cy="106918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AEFF7"/>
          </a:solidFill>
        </a:fill>
      </a:tcStyle>
    </a:wholeTbl>
    <a:band1H>
      <a:tcStyle>
        <a:tcBdr/>
        <a:fill>
          <a:solidFill>
            <a:srgbClr val="D2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2DEEF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5B9BD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5B9BD5"/>
          </a:solidFill>
        </a:fill>
      </a:tcStyle>
    </a:firstRow>
  </a:tblStyle>
  <a:tblStyle styleId="{BC89EF96-8CEA-46FF-86C4-4CE0E7609802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5B9BD5"/>
          </a:solidFill>
        </a:fill>
      </a:tcStyle>
    </a:band1H>
    <a:band1V>
      <a:tcStyle>
        <a:tcBdr/>
        <a:fill>
          <a:solidFill>
            <a:srgbClr val="5B9BD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  <a:tblStyle styleId="{E8B1032C-EA38-4F05-BA0D-38AFFFC7BED3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70AD47"/>
          </a:solidFill>
        </a:fill>
      </a:tcStyle>
    </a:band1H>
    <a:band1V>
      <a:tcStyle>
        <a:tcBdr/>
        <a:fill>
          <a:solidFill>
            <a:srgbClr val="70AD47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DA37D80-6434-44D0-A028-1B22A696006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ED7D31"/>
          </a:solidFill>
        </a:fill>
      </a:tcStyle>
    </a:band1H>
    <a:band1V>
      <a:tcStyle>
        <a:tcBdr/>
        <a:fill>
          <a:solidFill>
            <a:srgbClr val="ED7D31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EB344D84-9AFB-497E-A393-DC336BA19D2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45" autoAdjust="0"/>
  </p:normalViewPr>
  <p:slideViewPr>
    <p:cSldViewPr snapToGrid="0">
      <p:cViewPr>
        <p:scale>
          <a:sx n="60" d="100"/>
          <a:sy n="60" d="100"/>
        </p:scale>
        <p:origin x="-1470" y="-84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0227E8C-9554-460F-B633-51D5AD774E1F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5513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17"/>
            <a:ext cx="5345280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備忘稿版面配置區 2"/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頁首版面配置區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78A57073-AB8B-4F7A-BB5E-FAEF8A970D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33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  <a:ea typeface="微軟正黑體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4E8A48-0BB3-4429-A23E-981E055DBE4D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新細明體" pitchFamily="2"/>
              <a:cs typeface="Tahoma" pitchFamily="2"/>
            </a:endParaRPr>
          </a:p>
        </p:txBody>
      </p:sp>
      <p:sp>
        <p:nvSpPr>
          <p:cNvPr id="3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4662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W: hyperplane</a:t>
            </a:r>
          </a:p>
          <a:p>
            <a:r>
              <a:rPr lang="en-US" altLang="zh-TW" dirty="0" smtClean="0"/>
              <a:t>C:</a:t>
            </a:r>
            <a:r>
              <a:rPr lang="en-US" altLang="zh-TW" baseline="0" dirty="0" smtClean="0"/>
              <a:t> constant=10</a:t>
            </a:r>
          </a:p>
          <a:p>
            <a:r>
              <a:rPr lang="en-US" altLang="zh-TW" baseline="0" dirty="0" err="1" smtClean="0"/>
              <a:t>yi</a:t>
            </a:r>
            <a:r>
              <a:rPr lang="en-US" altLang="zh-TW" baseline="0" dirty="0" smtClean="0"/>
              <a:t>: the binary label</a:t>
            </a:r>
          </a:p>
          <a:p>
            <a:r>
              <a:rPr lang="en-US" altLang="zh-TW" baseline="0" dirty="0" smtClean="0"/>
              <a:t>xi: </a:t>
            </a:r>
            <a:r>
              <a:rPr lang="en-US" altLang="zh-TW" baseline="0" dirty="0" err="1" smtClean="0"/>
              <a:t>superpixels</a:t>
            </a:r>
            <a:r>
              <a:rPr lang="en-US" altLang="zh-TW" baseline="0" dirty="0" smtClean="0"/>
              <a:t> descriptor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78A57073-AB8B-4F7A-BB5E-FAEF8A970D70}" type="slidenum">
              <a:rPr lang="en-US" altLang="zh-TW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981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ctrTitle"/>
          </p:nvPr>
        </p:nvSpPr>
        <p:spPr>
          <a:xfrm>
            <a:off x="1260472" y="1236661"/>
            <a:ext cx="7559673" cy="2632072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副標題 2"/>
          <p:cNvSpPr txBox="1">
            <a:spLocks noGrp="1"/>
          </p:cNvSpPr>
          <p:nvPr>
            <p:ph type="subTitle" idx="1"/>
          </p:nvPr>
        </p:nvSpPr>
        <p:spPr>
          <a:xfrm>
            <a:off x="1260472" y="3970333"/>
            <a:ext cx="7559673" cy="1825627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zh-TW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6BFC27-068B-4B72-92F7-9C821F0A3E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842836-F473-4F88-8FC5-E6506225DA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9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87391" y="1884358"/>
            <a:ext cx="8694736" cy="3144841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87391" y="5059366"/>
            <a:ext cx="8694736" cy="165258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06D477E-DD58-4DE2-94A6-FBA23A9245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2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240" y="1768477"/>
            <a:ext cx="4459291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5114925" y="1768477"/>
            <a:ext cx="4460872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2D141D-6966-43C1-8EB1-BB4818DFA3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8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403222"/>
            <a:ext cx="8694736" cy="1460497"/>
          </a:xfrm>
        </p:spPr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93736" y="1852610"/>
            <a:ext cx="4265611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693736" y="2760665"/>
            <a:ext cx="4265611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文字版面配置區 4"/>
          <p:cNvSpPr txBox="1">
            <a:spLocks noGrp="1"/>
          </p:cNvSpPr>
          <p:nvPr>
            <p:ph type="body" idx="3"/>
          </p:nvPr>
        </p:nvSpPr>
        <p:spPr>
          <a:xfrm>
            <a:off x="5103815" y="1852610"/>
            <a:ext cx="4284658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6" name="內容版面配置區 5"/>
          <p:cNvSpPr txBox="1">
            <a:spLocks noGrp="1"/>
          </p:cNvSpPr>
          <p:nvPr>
            <p:ph idx="4"/>
          </p:nvPr>
        </p:nvSpPr>
        <p:spPr>
          <a:xfrm>
            <a:off x="5103815" y="2760665"/>
            <a:ext cx="4284658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7" name="日期版面配置區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頁尾版面配置區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投影片編號版面配置區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382990-A4FF-4906-9C3D-CE47CFC3DCA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1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3CCA10-4506-4689-B9C6-7A25C650BA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頁尾版面配置區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投影片編號版面配置區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413963-2284-408C-A1F3-BA9C90A14B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0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59FB30-6DA3-498A-B3E4-39789FBB38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7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 txBox="1">
            <a:spLocks noGrp="1"/>
          </p:cNvSpPr>
          <p:nvPr>
            <p:ph type="pic"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DDE591-0FAF-4F51-A0C1-3BEDC4250A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1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523178-8C3C-4D5B-987E-9C6DE9B0522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04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 txBox="1">
            <a:spLocks noGrp="1"/>
          </p:cNvSpPr>
          <p:nvPr>
            <p:ph type="title" orient="vert"/>
          </p:nvPr>
        </p:nvSpPr>
        <p:spPr>
          <a:xfrm>
            <a:off x="7308854" y="301623"/>
            <a:ext cx="2266953" cy="5851529"/>
          </a:xfrm>
        </p:spPr>
        <p:txBody>
          <a:bodyPr vert="eaVert"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>
          <a:xfrm>
            <a:off x="503240" y="301623"/>
            <a:ext cx="6653210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83D96B-BEA4-46BB-A345-50D7E40AC1B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0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 txBox="1">
            <a:spLocks noGrp="1"/>
          </p:cNvSpPr>
          <p:nvPr>
            <p:ph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503998" y="1769043"/>
            <a:ext cx="9071643" cy="43844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2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3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4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FA3188D1-A64F-4C0D-9118-94DC8B17CC66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None/>
        <a:tabLst/>
        <a:defRPr lang="zh-TW" sz="32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4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0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 idx="4294967295"/>
          </p:nvPr>
        </p:nvSpPr>
        <p:spPr>
          <a:xfrm>
            <a:off x="576355" y="3397397"/>
            <a:ext cx="9071643" cy="846386"/>
          </a:xfrm>
        </p:spPr>
        <p:txBody>
          <a:bodyPr>
            <a:spAutoFit/>
          </a:bodyPr>
          <a:lstStyle/>
          <a:p>
            <a:pPr lvl="0"/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IEEE International Conference on Computer Vision, </a:t>
            </a: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2011,</a:t>
            </a:r>
            <a:r>
              <a:rPr lang="zh-TW" altLang="en-US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 </a:t>
            </a: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Y. Chai, V. </a:t>
            </a:r>
            <a:r>
              <a:rPr lang="en-US" altLang="zh-TW" sz="2700" b="1" dirty="0" err="1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Lempitsky</a:t>
            </a: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, </a:t>
            </a:r>
            <a:r>
              <a:rPr lang="en-US" altLang="zh-TW" sz="2700" b="1" dirty="0" smtClean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and A</a:t>
            </a: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. </a:t>
            </a: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Zisserman</a:t>
            </a:r>
            <a:endParaRPr lang="en-US" sz="2700" b="1" dirty="0">
              <a:solidFill>
                <a:srgbClr val="898989"/>
              </a:solidFill>
              <a:latin typeface="Sitka Subheading" panose="02000505000000020004" pitchFamily="2" charset="0"/>
              <a:ea typeface="新細明體" pitchFamily="2"/>
            </a:endParaRPr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4294967295"/>
          </p:nvPr>
        </p:nvSpPr>
        <p:spPr>
          <a:xfrm>
            <a:off x="576355" y="935998"/>
            <a:ext cx="9071643" cy="1491891"/>
          </a:xfrm>
        </p:spPr>
        <p:txBody>
          <a:bodyPr anchorCtr="1"/>
          <a:lstStyle/>
          <a:p>
            <a:pPr lvl="0" algn="ctr"/>
            <a:r>
              <a:rPr lang="en-US" sz="4000" b="1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BiCoS</a:t>
            </a:r>
            <a:r>
              <a:rPr lang="en-US" sz="40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: A Bi-level Co-Segmentation Method for Image Classification</a:t>
            </a:r>
            <a:endParaRPr lang="en-US" sz="4000" b="1" dirty="0">
              <a:latin typeface="Cambria Math" panose="02040503050406030204" pitchFamily="18" charset="0"/>
              <a:ea typeface="Cambria Math" panose="02040503050406030204" pitchFamily="18" charset="0"/>
              <a:cs typeface="Ebrima" panose="02000000000000000000" pitchFamily="2" charset="0"/>
            </a:endParaRPr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4294967295"/>
          </p:nvPr>
        </p:nvSpPr>
        <p:spPr>
          <a:xfrm>
            <a:off x="704380" y="5920800"/>
            <a:ext cx="9071643" cy="1159806"/>
          </a:xfrm>
        </p:spPr>
        <p:txBody>
          <a:bodyPr/>
          <a:lstStyle/>
          <a:p>
            <a:pPr lvl="1" algn="r" hangingPunct="0">
              <a:spcBef>
                <a:spcPts val="1415"/>
              </a:spcBef>
              <a:buNone/>
            </a:pP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Presenter</a:t>
            </a:r>
            <a:r>
              <a:rPr 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Wei-</a:t>
            </a:r>
            <a:r>
              <a:rPr lang="en-US" altLang="zh-TW" dirty="0" err="1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Hao</a:t>
            </a:r>
            <a:r>
              <a:rPr lang="en-US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Fu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  <a:p>
            <a:pPr lvl="1" algn="r" hangingPunct="0">
              <a:spcBef>
                <a:spcPts val="1415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Date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105/ 0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8</a:t>
            </a:r>
            <a:r>
              <a:rPr lang="en-US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/</a:t>
            </a:r>
            <a:r>
              <a:rPr lang="zh-TW" altLang="en-US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</a:t>
            </a:r>
            <a:r>
              <a:rPr lang="en-US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02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Abstract(1/2)</a:t>
            </a:r>
            <a:endParaRPr lang="zh-TW" altLang="en-US" dirty="0">
              <a:latin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The objective of this paper is the unsupervised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segmentation</a:t>
            </a:r>
            <a:r>
              <a:rPr lang="zh-TW" altLang="en-US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of </a:t>
            </a:r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image training sets into foreground and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background</a:t>
            </a:r>
            <a:r>
              <a:rPr lang="zh-TW" altLang="en-US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in </a:t>
            </a:r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order to improve image classification performance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.</a:t>
            </a:r>
          </a:p>
          <a:p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To</a:t>
            </a:r>
            <a:r>
              <a:rPr lang="zh-TW" altLang="en-US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this </a:t>
            </a:r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end we introduce a new scalable,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alternation-based algorithm</a:t>
            </a:r>
            <a:r>
              <a:rPr lang="zh-TW" altLang="en-US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for </a:t>
            </a:r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co-segmentation, </a:t>
            </a:r>
            <a:r>
              <a:rPr lang="en-US" altLang="zh-TW" sz="3000" dirty="0" err="1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BiCoS</a:t>
            </a:r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, which is simpler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than</a:t>
            </a:r>
            <a:r>
              <a:rPr lang="zh-TW" altLang="en-US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many </a:t>
            </a:r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of its predecessors, and yet has superior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performance</a:t>
            </a:r>
            <a:r>
              <a:rPr lang="zh-TW" altLang="en-US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on </a:t>
            </a:r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standard benchmark image datasets.</a:t>
            </a:r>
          </a:p>
          <a:p>
            <a:endParaRPr lang="en-US" altLang="zh-TW" dirty="0">
              <a:latin typeface="Cambria Math" panose="02040503050406030204" pitchFamily="18" charset="0"/>
              <a:ea typeface="Cambria Math" panose="02040503050406030204" pitchFamily="18" charset="0"/>
              <a:cs typeface="Ebrima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211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Abstract(2/2)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We argue that the reason for this success is that the </a:t>
            </a:r>
            <a:r>
              <a:rPr lang="en-US" altLang="zh-TW" sz="3000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cosegmentation</a:t>
            </a:r>
            <a:r>
              <a:rPr lang="zh-TW" altLang="en-US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task </a:t>
            </a:r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is represented at the appropriate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levels</a:t>
            </a:r>
            <a:r>
              <a:rPr lang="zh-TW" altLang="en-US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– </a:t>
            </a:r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pixels and color distributions for individual images,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and</a:t>
            </a:r>
            <a:r>
              <a:rPr lang="zh-TW" altLang="en-US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super-pixels </a:t>
            </a:r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with learnable features at the level of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sharing</a:t>
            </a:r>
            <a:r>
              <a:rPr lang="zh-TW" altLang="en-US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across </a:t>
            </a:r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the image set – together with powerful and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efficient</a:t>
            </a:r>
            <a:r>
              <a:rPr lang="zh-TW" altLang="en-US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inference algorithms (</a:t>
            </a:r>
            <a:r>
              <a:rPr lang="en-US" altLang="zh-TW" sz="3000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GrabCut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and SVM) for each level.</a:t>
            </a:r>
            <a:endParaRPr lang="en-US" altLang="zh-TW" sz="3000" dirty="0">
              <a:latin typeface="Cambria Math" panose="02040503050406030204" pitchFamily="18" charset="0"/>
              <a:ea typeface="Cambria Math" panose="02040503050406030204" pitchFamily="18" charset="0"/>
              <a:cs typeface="Ebrima" panose="02000000000000000000" pitchFamily="2" charset="0"/>
            </a:endParaRPr>
          </a:p>
          <a:p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We </a:t>
            </a:r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assess both the segmentation and classification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performance</a:t>
            </a:r>
            <a:r>
              <a:rPr lang="zh-TW" altLang="en-US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of </a:t>
            </a:r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the algorithm and compare to previous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results</a:t>
            </a:r>
            <a:r>
              <a:rPr lang="zh-TW" altLang="en-US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on </a:t>
            </a:r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Oxford Flowers 17 &amp; 102, Caltech-UCSD Birds-200,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the</a:t>
            </a:r>
            <a:r>
              <a:rPr lang="zh-TW" altLang="en-US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</a:t>
            </a:r>
            <a:r>
              <a:rPr lang="en-US" altLang="zh-TW" sz="30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Weizmann </a:t>
            </a:r>
            <a:r>
              <a:rPr lang="en-US" altLang="zh-TW" sz="3000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Horses, Caltech-4 benchmark datasets.</a:t>
            </a:r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64936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Image Segmentation</a:t>
            </a:r>
            <a:endParaRPr lang="zh-TW" alt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Partitioning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an image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into multiple segments.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  <a:cs typeface="Ebrima" panose="02000000000000000000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4" y="2846386"/>
            <a:ext cx="4141787" cy="414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73" y="2846385"/>
            <a:ext cx="4141787" cy="414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282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Co-Segmentation</a:t>
            </a:r>
            <a:endParaRPr lang="zh-TW" alt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Consider sets of images where the appearance of foreground and/or background share some similarities, and try to leverage these similarities to obtain accurate foreground-background segmentations either totally-unsupervised, or with a small amount of interactive supervision.</a:t>
            </a:r>
            <a:endParaRPr lang="zh-TW" altLang="en-US" dirty="0">
              <a:latin typeface="Cambria Math" panose="02040503050406030204" pitchFamily="18" charset="0"/>
              <a:ea typeface="Cambria Math" panose="02040503050406030204" pitchFamily="18" charset="0"/>
              <a:cs typeface="Ebrima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36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Bi-Level Co-Segmentation(</a:t>
            </a:r>
            <a:r>
              <a:rPr lang="en-US" altLang="zh-TW" dirty="0" err="1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BiCoS</a:t>
            </a:r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)</a:t>
            </a:r>
            <a:endParaRPr lang="zh-TW" alt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sz="3000" dirty="0" smtClean="0">
              <a:latin typeface="Cambria Math" panose="02040503050406030204" pitchFamily="18" charset="0"/>
              <a:ea typeface="Cambria Math" panose="02040503050406030204" pitchFamily="18" charset="0"/>
              <a:cs typeface="Ebrima" panose="02000000000000000000" pitchFamily="2" charset="0"/>
            </a:endParaRPr>
          </a:p>
          <a:p>
            <a:endParaRPr lang="en-US" altLang="zh-TW" sz="3000" dirty="0">
              <a:latin typeface="Cambria Math" panose="02040503050406030204" pitchFamily="18" charset="0"/>
              <a:ea typeface="Cambria Math" panose="02040503050406030204" pitchFamily="18" charset="0"/>
              <a:cs typeface="Ebrima" panose="02000000000000000000" pitchFamily="2" charset="0"/>
            </a:endParaRPr>
          </a:p>
          <a:p>
            <a:endParaRPr lang="en-US" altLang="zh-TW" sz="3000" dirty="0" smtClean="0">
              <a:latin typeface="Cambria Math" panose="02040503050406030204" pitchFamily="18" charset="0"/>
              <a:ea typeface="Cambria Math" panose="02040503050406030204" pitchFamily="18" charset="0"/>
              <a:cs typeface="Ebrima" panose="02000000000000000000" pitchFamily="2" charset="0"/>
            </a:endParaRPr>
          </a:p>
          <a:p>
            <a:endParaRPr lang="en-US" altLang="zh-TW" sz="3000" dirty="0">
              <a:latin typeface="Cambria Math" panose="02040503050406030204" pitchFamily="18" charset="0"/>
              <a:ea typeface="Cambria Math" panose="02040503050406030204" pitchFamily="18" charset="0"/>
              <a:cs typeface="Ebrima" panose="020000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Initialization at the image level</a:t>
            </a:r>
          </a:p>
          <a:p>
            <a:pPr marL="1200150" lvl="1" indent="-514350">
              <a:spcBef>
                <a:spcPts val="1800"/>
              </a:spcBef>
            </a:pP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Image level: </a:t>
            </a:r>
            <a:r>
              <a:rPr lang="en-US" altLang="zh-TW" sz="2800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GrabCut</a:t>
            </a:r>
            <a:endParaRPr lang="en-US" altLang="zh-TW" sz="2800" dirty="0" smtClean="0">
              <a:latin typeface="Cambria Math" panose="02040503050406030204" pitchFamily="18" charset="0"/>
              <a:ea typeface="Cambria Math" panose="02040503050406030204" pitchFamily="18" charset="0"/>
              <a:cs typeface="Ebrima" panose="020000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Propagation at the dataset level</a:t>
            </a:r>
          </a:p>
          <a:p>
            <a:pPr marL="1200150" lvl="1" indent="-514350">
              <a:spcBef>
                <a:spcPts val="1800"/>
              </a:spcBef>
            </a:pP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Dataset level: Co-Segmentation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Update at the image level</a:t>
            </a: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518879"/>
            <a:ext cx="9639300" cy="253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408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Image level: </a:t>
            </a:r>
            <a:r>
              <a:rPr lang="en-US" altLang="zh-TW" dirty="0" err="1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GrabCut</a:t>
            </a:r>
            <a:endParaRPr lang="zh-TW" alt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Use a mask to assign the foreground and the rest to background.</a:t>
            </a:r>
          </a:p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User can draw some pixels to improve the result.</a:t>
            </a:r>
          </a:p>
        </p:txBody>
      </p:sp>
      <p:pic>
        <p:nvPicPr>
          <p:cNvPr id="3076" name="Picture 4" descr="grabcut_output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824" y="3490803"/>
            <a:ext cx="7485539" cy="385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408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Dataset level: Co-Segmentation</a:t>
            </a:r>
            <a:endParaRPr lang="zh-TW" alt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Ebrima" panose="02000000000000000000" pitchFamily="2" charset="0"/>
                  </a:rPr>
                  <a:t>RGB descriptor -&gt;</a:t>
                </a:r>
                <a:r>
                  <a:rPr lang="zh-TW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Ebrima" panose="02000000000000000000" pitchFamily="2" charset="0"/>
                  </a:rPr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Ebrima" panose="02000000000000000000" pitchFamily="2" charset="0"/>
                  </a:rPr>
                  <a:t>super-pixel descriptor(D=1076)</a:t>
                </a:r>
              </a:p>
              <a:p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Ebrima" panose="02000000000000000000" pitchFamily="2" charset="0"/>
                  </a:rPr>
                  <a:t>Super-pixels are then classified into foreground and background using standard linear SVM training.</a:t>
                </a:r>
              </a:p>
              <a:p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Ebrima" panose="02000000000000000000" pitchFamily="2" charset="0"/>
                  </a:rPr>
                  <a:t>SVM optimization program: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/>
                              <a:ea typeface="Cambria Math" panose="02040503050406030204" pitchFamily="18" charset="0"/>
                              <a:cs typeface="Ebrima" panose="02000000000000000000" pitchFamily="2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/>
                              <a:ea typeface="Cambria Math" panose="02040503050406030204" pitchFamily="18" charset="0"/>
                              <a:cs typeface="Ebrima" panose="02000000000000000000" pitchFamily="2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/>
                              <a:ea typeface="Cambria Math" panose="02040503050406030204" pitchFamily="18" charset="0"/>
                              <a:cs typeface="Ebrima" panose="02000000000000000000" pitchFamily="2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i="1" smtClean="0">
                              <a:latin typeface="Cambria Math"/>
                              <a:ea typeface="Cambria Math" panose="02040503050406030204" pitchFamily="18" charset="0"/>
                              <a:cs typeface="Ebrima" panose="02000000000000000000" pitchFamily="2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TW" i="1" smtClean="0">
                                  <a:latin typeface="Cambria Math"/>
                                  <a:ea typeface="Cambria Math" panose="02040503050406030204" pitchFamily="18" charset="0"/>
                                  <a:cs typeface="Ebrima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/>
                                  <a:ea typeface="Cambria Math" panose="02040503050406030204" pitchFamily="18" charset="0"/>
                                  <a:cs typeface="Ebrima" panose="02000000000000000000" pitchFamily="2" charset="0"/>
                                </a:rPr>
                                <m:t>𝑤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/>
                              <a:ea typeface="Cambria Math" panose="02040503050406030204" pitchFamily="18" charset="0"/>
                              <a:cs typeface="Ebrima" panose="02000000000000000000" pitchFamily="2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/>
                          <a:ea typeface="Cambria Math" panose="02040503050406030204" pitchFamily="18" charset="0"/>
                          <a:cs typeface="Ebrima" panose="02000000000000000000" pitchFamily="2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/>
                          <a:ea typeface="Cambria Math" panose="02040503050406030204" pitchFamily="18" charset="0"/>
                          <a:cs typeface="Ebrima" panose="02000000000000000000" pitchFamily="2" charset="0"/>
                        </a:rPr>
                        <m:t>𝐶</m:t>
                      </m:r>
                      <m:nary>
                        <m:naryPr>
                          <m:chr m:val="∑"/>
                          <m:ctrlPr>
                            <a:rPr lang="en-US" altLang="zh-TW" b="0" i="1" smtClean="0">
                              <a:latin typeface="Cambria Math"/>
                              <a:ea typeface="Cambria Math" panose="02040503050406030204" pitchFamily="18" charset="0"/>
                              <a:cs typeface="Ebrima" panose="02000000000000000000" pitchFamily="2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/>
                              <a:ea typeface="Cambria Math" panose="02040503050406030204" pitchFamily="18" charset="0"/>
                              <a:cs typeface="Ebrima" panose="02000000000000000000" pitchFamily="2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/>
                              <a:ea typeface="Cambria Math" panose="02040503050406030204" pitchFamily="18" charset="0"/>
                              <a:cs typeface="Ebrima" panose="02000000000000000000" pitchFamily="2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/>
                              <a:ea typeface="Cambria Math" panose="02040503050406030204" pitchFamily="18" charset="0"/>
                              <a:cs typeface="Ebrima" panose="02000000000000000000" pitchFamily="2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zh-TW" b="0" i="1" smtClean="0">
                              <a:latin typeface="Cambria Math"/>
                              <a:ea typeface="Cambria Math" panose="02040503050406030204" pitchFamily="18" charset="0"/>
                              <a:cs typeface="Ebrima" panose="02000000000000000000" pitchFamily="2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/>
                                  <a:ea typeface="Cambria Math" panose="02040503050406030204" pitchFamily="18" charset="0"/>
                                  <a:cs typeface="Ebrima" panose="02000000000000000000" pitchFamily="2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/>
                                      <a:ea typeface="Cambria Math" panose="02040503050406030204" pitchFamily="18" charset="0"/>
                                      <a:cs typeface="Ebrima" panose="020000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 panose="02040503050406030204" pitchFamily="18" charset="0"/>
                                      <a:cs typeface="Ebrima" panose="02000000000000000000" pitchFamily="2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 panose="02040503050406030204" pitchFamily="18" charset="0"/>
                                      <a:cs typeface="Ebrima" panose="02000000000000000000" pitchFamily="2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 smtClean="0">
                                  <a:latin typeface="Cambria Math"/>
                                  <a:ea typeface="Cambria Math" panose="02040503050406030204" pitchFamily="18" charset="0"/>
                                  <a:cs typeface="Ebrima" panose="02000000000000000000" pitchFamily="2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altLang="zh-TW" i="1" smtClean="0">
                                      <a:latin typeface="Cambria Math"/>
                                      <a:ea typeface="Cambria Math" panose="02040503050406030204" pitchFamily="18" charset="0"/>
                                      <a:cs typeface="Ebrima" panose="02000000000000000000" pitchFamily="2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 panose="02040503050406030204" pitchFamily="18" charset="0"/>
                                      <a:cs typeface="Ebrima" panose="02000000000000000000" pitchFamily="2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 panose="02040503050406030204" pitchFamily="18" charset="0"/>
                                      <a:cs typeface="Ebrima" panose="02000000000000000000" pitchFamily="2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TW" i="1" smtClean="0">
                                      <a:latin typeface="Cambria Math"/>
                                      <a:ea typeface="Cambria Math" panose="02040503050406030204" pitchFamily="18" charset="0"/>
                                      <a:cs typeface="Ebrima" panose="020000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 panose="02040503050406030204" pitchFamily="18" charset="0"/>
                                      <a:cs typeface="Ebrima" panose="02000000000000000000" pitchFamily="2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 panose="02040503050406030204" pitchFamily="18" charset="0"/>
                                      <a:cs typeface="Ebrima" panose="02000000000000000000" pitchFamily="2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b="0" i="1" smtClean="0">
                              <a:latin typeface="Cambria Math"/>
                              <a:ea typeface="Cambria Math" panose="02040503050406030204" pitchFamily="18" charset="0"/>
                              <a:cs typeface="Ebrima" panose="02000000000000000000" pitchFamily="2" charset="0"/>
                            </a:rPr>
                            <m:t>→</m:t>
                          </m:r>
                          <m:func>
                            <m:funcPr>
                              <m:ctrlPr>
                                <a:rPr lang="en-US" altLang="zh-TW" b="0" i="1" smtClean="0">
                                  <a:latin typeface="Cambria Math"/>
                                  <a:ea typeface="Cambria Math" panose="02040503050406030204" pitchFamily="18" charset="0"/>
                                  <a:cs typeface="Ebrima" panose="02000000000000000000" pitchFamily="2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b="0" i="1" smtClean="0">
                                      <a:latin typeface="Cambria Math"/>
                                      <a:ea typeface="Cambria Math" panose="02040503050406030204" pitchFamily="18" charset="0"/>
                                      <a:cs typeface="Ebrima" panose="02000000000000000000" pitchFamily="2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/>
                                      <a:ea typeface="Cambria Math" panose="02040503050406030204" pitchFamily="18" charset="0"/>
                                      <a:cs typeface="Ebrima" panose="02000000000000000000" pitchFamily="2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 panose="02040503050406030204" pitchFamily="18" charset="0"/>
                                      <a:cs typeface="Ebrima" panose="02000000000000000000" pitchFamily="2" charset="0"/>
                                    </a:rPr>
                                    <m:t>𝑤</m:t>
                                  </m:r>
                                </m:lim>
                              </m:limLow>
                            </m:fName>
                            <m:e/>
                          </m:func>
                        </m:e>
                      </m:nary>
                    </m:oMath>
                  </m:oMathPara>
                </a14:m>
                <a:endParaRPr lang="en-US" altLang="zh-TW" b="0" i="1" dirty="0" smtClean="0">
                  <a:latin typeface="Cambria Math"/>
                  <a:ea typeface="Cambria Math" panose="02040503050406030204" pitchFamily="18" charset="0"/>
                  <a:cs typeface="Ebrima" panose="02000000000000000000" pitchFamily="2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  <a:ea typeface="Cambria Math" panose="02040503050406030204" pitchFamily="18" charset="0"/>
                          <a:cs typeface="Ebrima" panose="02000000000000000000" pitchFamily="2" charset="0"/>
                        </a:rPr>
                        <m:t>𝑙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/>
                              <a:ea typeface="Cambria Math" panose="02040503050406030204" pitchFamily="18" charset="0"/>
                              <a:cs typeface="Ebrima" panose="02000000000000000000" pitchFamily="2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/>
                              <a:ea typeface="Cambria Math" panose="02040503050406030204" pitchFamily="18" charset="0"/>
                              <a:cs typeface="Ebrima" panose="02000000000000000000" pitchFamily="2" charset="0"/>
                            </a:rPr>
                            <m:t>𝑡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  <a:ea typeface="Cambria Math" panose="02040503050406030204" pitchFamily="18" charset="0"/>
                          <a:cs typeface="Ebrima" panose="02000000000000000000" pitchFamily="2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/>
                          <a:ea typeface="Cambria Math" panose="02040503050406030204" pitchFamily="18" charset="0"/>
                          <a:cs typeface="Ebrima" panose="02000000000000000000" pitchFamily="2" charset="0"/>
                        </a:rPr>
                        <m:t>max</m:t>
                      </m:r>
                      <m:r>
                        <a:rPr lang="en-US" altLang="zh-TW" b="0" i="1" smtClean="0">
                          <a:latin typeface="Cambria Math"/>
                          <a:ea typeface="Cambria Math" panose="02040503050406030204" pitchFamily="18" charset="0"/>
                          <a:cs typeface="Ebrima" panose="02000000000000000000" pitchFamily="2" charset="0"/>
                        </a:rPr>
                        <m:t>⁡(0, 1−</m:t>
                      </m:r>
                      <m:r>
                        <a:rPr lang="en-US" altLang="zh-TW" b="0" i="1" smtClean="0">
                          <a:latin typeface="Cambria Math"/>
                          <a:ea typeface="Cambria Math" panose="02040503050406030204" pitchFamily="18" charset="0"/>
                          <a:cs typeface="Ebrima" panose="02000000000000000000" pitchFamily="2" charset="0"/>
                        </a:rPr>
                        <m:t>𝑡</m:t>
                      </m:r>
                      <m:r>
                        <a:rPr lang="en-US" altLang="zh-TW" b="0" i="1" smtClean="0">
                          <a:latin typeface="Cambria Math"/>
                          <a:ea typeface="Cambria Math" panose="02040503050406030204" pitchFamily="18" charset="0"/>
                          <a:cs typeface="Ebrima" panose="02000000000000000000" pitchFamily="2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Ebrima" panose="02000000000000000000" pitchFamily="2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2755" t="-2782" r="-22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626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Result</a:t>
            </a:r>
            <a:endParaRPr lang="zh-TW" alt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Oxford Flowers 102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1" y="2384426"/>
            <a:ext cx="9944100" cy="489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254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5788</TotalTime>
  <Words>401</Words>
  <Application>Microsoft Office PowerPoint</Application>
  <PresentationFormat>自訂</PresentationFormat>
  <Paragraphs>41</Paragraphs>
  <Slides>9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預設</vt:lpstr>
      <vt:lpstr>IEEE International Conference on Computer Vision, 2011, Y. Chai, V. Lempitsky, and A. Zisserman</vt:lpstr>
      <vt:lpstr>Abstract(1/2)</vt:lpstr>
      <vt:lpstr>Abstract(2/2)</vt:lpstr>
      <vt:lpstr>Image Segmentation</vt:lpstr>
      <vt:lpstr>Co-Segmentation</vt:lpstr>
      <vt:lpstr>Bi-Level Co-Segmentation(BiCoS)</vt:lpstr>
      <vt:lpstr>Image level: GrabCut</vt:lpstr>
      <vt:lpstr>Dataset level: Co-Segmentation</vt:lpstr>
      <vt:lpstr>Result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Communications of the ACM June 1975 Volume 18 Number 6 D.S. Hirschberg Princeton University</dc:title>
  <dc:creator>Shecil</dc:creator>
  <cp:lastModifiedBy>ASUS</cp:lastModifiedBy>
  <cp:revision>119</cp:revision>
  <dcterms:created xsi:type="dcterms:W3CDTF">2015-10-08T13:19:19Z</dcterms:created>
  <dcterms:modified xsi:type="dcterms:W3CDTF">2016-08-02T07:25:02Z</dcterms:modified>
</cp:coreProperties>
</file>