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46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37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075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6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58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79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24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1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460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993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8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5F0AE-DBB8-464C-8E93-282F3DDA85A6}" type="datetimeFigureOut">
              <a:rPr lang="zh-TW" altLang="en-US" smtClean="0"/>
              <a:t>2016/12/22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93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7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0.png"/><Relationship Id="rId5" Type="http://schemas.openxmlformats.org/officeDocument/2006/relationships/image" Target="../media/image42.png"/><Relationship Id="rId10" Type="http://schemas.openxmlformats.org/officeDocument/2006/relationships/image" Target="../media/image7.png"/><Relationship Id="rId4" Type="http://schemas.openxmlformats.org/officeDocument/2006/relationships/image" Target="../media/image41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-57664" y="378940"/>
            <a:ext cx="9201664" cy="2387600"/>
          </a:xfrm>
        </p:spPr>
        <p:txBody>
          <a:bodyPr>
            <a:noAutofit/>
          </a:bodyPr>
          <a:lstStyle/>
          <a:p>
            <a:r>
              <a:rPr lang="en-US" altLang="zh-TW" sz="4800" dirty="0" smtClean="0"/>
              <a:t>The Complexity and </a:t>
            </a:r>
            <a:r>
              <a:rPr lang="en-US" altLang="zh-TW" sz="4800" dirty="0" err="1" smtClean="0"/>
              <a:t>Approximability</a:t>
            </a:r>
            <a:r>
              <a:rPr lang="en-US" altLang="zh-TW" sz="4800" dirty="0" smtClean="0"/>
              <a:t> of Finding Maximum Feasible Subsystems of </a:t>
            </a:r>
            <a:r>
              <a:rPr lang="en-US" altLang="zh-TW" sz="4400" dirty="0" smtClean="0"/>
              <a:t>Linear</a:t>
            </a:r>
            <a:r>
              <a:rPr lang="en-US" altLang="zh-TW" sz="4800" dirty="0" smtClean="0"/>
              <a:t> Relations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271843"/>
            <a:ext cx="6858000" cy="1655762"/>
          </a:xfrm>
        </p:spPr>
        <p:txBody>
          <a:bodyPr>
            <a:normAutofit/>
          </a:bodyPr>
          <a:lstStyle/>
          <a:p>
            <a:r>
              <a:rPr lang="it-IT" altLang="zh-TW" dirty="0" smtClean="0"/>
              <a:t>Edoardo Amaldi,</a:t>
            </a:r>
          </a:p>
          <a:p>
            <a:r>
              <a:rPr lang="it-IT" altLang="zh-TW" dirty="0" smtClean="0"/>
              <a:t>Viggo Kann</a:t>
            </a:r>
          </a:p>
          <a:p>
            <a:r>
              <a:rPr lang="en-US" altLang="zh-TW" sz="2000" dirty="0" smtClean="0"/>
              <a:t>Theoretical Computer Science, Vol.147, pp.181-210 (1995)</a:t>
            </a:r>
            <a:endParaRPr lang="zh-TW" altLang="en-US" sz="2000" dirty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998973" y="4927605"/>
            <a:ext cx="3146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Presenter: </a:t>
            </a:r>
            <a:r>
              <a:rPr lang="en-US" altLang="zh-TW" sz="2000" dirty="0" err="1"/>
              <a:t>Shiou-Zong</a:t>
            </a:r>
            <a:r>
              <a:rPr lang="en-US" altLang="zh-TW" sz="2000" dirty="0"/>
              <a:t> </a:t>
            </a:r>
            <a:r>
              <a:rPr lang="en-US" altLang="zh-TW" sz="2000" dirty="0" err="1"/>
              <a:t>Chiou</a:t>
            </a:r>
            <a:endParaRPr lang="en-US" altLang="zh-TW" sz="2000" dirty="0"/>
          </a:p>
          <a:p>
            <a:r>
              <a:rPr lang="en-US" altLang="zh-TW" sz="2000" dirty="0" smtClean="0"/>
              <a:t>Date:2016/12/22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9732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99677" y="1825625"/>
                <a:ext cx="8144647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We study the combinatorial problem which consists, given a system of linear relations, of finding a maximum feasible subsystem, that is a solution satisfying as many relations as possible.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The computational complexity of this general problem, named MAX FLS, is investigated for the four types of relations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TW" dirty="0" smtClean="0"/>
                  <a:t>. Various constrained versions of MAX FLS, where a subset of relations must be satisfied or where the variables take bounded discrete values, are also considered.</a:t>
                </a:r>
                <a:r>
                  <a:rPr lang="en-US" altLang="zh-TW" dirty="0"/>
                  <a:t> We establish the complexity of solving these problems optimally and, whenever they are intractable, we determine their degree of </a:t>
                </a:r>
                <a:r>
                  <a:rPr lang="en-US" altLang="zh-TW" dirty="0" err="1"/>
                  <a:t>approximability</a:t>
                </a:r>
                <a:r>
                  <a:rPr lang="en-US" altLang="zh-TW" dirty="0"/>
                  <a:t>. </a:t>
                </a: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9677" y="1825625"/>
                <a:ext cx="8144647" cy="4351338"/>
              </a:xfrm>
              <a:blipFill rotWithShape="0">
                <a:blip r:embed="rId3"/>
                <a:stretch>
                  <a:fillRect l="-1347" t="-2101" r="-17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028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04940" y="1825625"/>
                <a:ext cx="833412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MAX FLS with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 smtClean="0"/>
                  <a:t> or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 smtClean="0"/>
                  <a:t>relations is NP-hard even when restricted to homogeneous systems with bipolar coefficients, whereas it can be solved in polynomial time for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zh-TW" dirty="0" smtClean="0"/>
                  <a:t> relations with real coefficients. The various NP-hard versions of MAX FLS belong to different </a:t>
                </a:r>
                <a:r>
                  <a:rPr lang="en-US" altLang="zh-TW" dirty="0" err="1" smtClean="0"/>
                  <a:t>approximability</a:t>
                </a:r>
                <a:r>
                  <a:rPr lang="en-US" altLang="zh-TW" dirty="0" smtClean="0"/>
                  <a:t> classes depending on the type of relations and the additional constraints. We show that the range of </a:t>
                </a:r>
                <a:r>
                  <a:rPr lang="en-US" altLang="zh-TW" dirty="0" err="1" smtClean="0"/>
                  <a:t>approximability</a:t>
                </a:r>
                <a:r>
                  <a:rPr lang="en-US" altLang="zh-TW" dirty="0" smtClean="0"/>
                  <a:t> stretches from APX-complete problems which can be approximated within a constant but not within every constant unless P=NP, to NPO PB-complete ones that are as hard to approximate as all NP optimization problems with </a:t>
                </a:r>
                <a:r>
                  <a:rPr lang="en-US" altLang="zh-TW" dirty="0" err="1" smtClean="0"/>
                  <a:t>polynomially</a:t>
                </a:r>
                <a:r>
                  <a:rPr lang="en-US" altLang="zh-TW" dirty="0" smtClean="0"/>
                  <a:t> bounded objective functions.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4940" y="1825625"/>
                <a:ext cx="8334120" cy="4351338"/>
              </a:xfrm>
              <a:blipFill rotWithShape="0">
                <a:blip r:embed="rId2"/>
                <a:stretch>
                  <a:fillRect l="-1316" t="-2801" r="-21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85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While MAX FLS with equations and integer coefficients cannot be approximated within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sup>
                    </m:sSup>
                  </m:oMath>
                </a14:m>
                <a:r>
                  <a:rPr lang="en-US" altLang="zh-TW" dirty="0" smtClean="0"/>
                  <a:t> for some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TW" dirty="0" smtClean="0"/>
                  <a:t>,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dirty="0" smtClean="0"/>
                  <a:t> is the number of relations, the same problem over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𝐺𝐹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altLang="zh-TW" dirty="0" smtClean="0"/>
                  <a:t> for a prime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TW" dirty="0" smtClean="0"/>
                  <a:t> cam be approximated within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TW" dirty="0" smtClean="0"/>
                  <a:t> but not within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𝜀</m:t>
                        </m:r>
                      </m:sup>
                    </m:sSup>
                  </m:oMath>
                </a14:m>
                <a:r>
                  <a:rPr lang="en-US" altLang="zh-TW" dirty="0" smtClean="0"/>
                  <a:t> for some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TW" dirty="0" smtClean="0"/>
                  <a:t>. MAX FLS with strict or </a:t>
                </a:r>
                <a:r>
                  <a:rPr lang="en-US" altLang="zh-TW" dirty="0" err="1" smtClean="0"/>
                  <a:t>nonstrict</a:t>
                </a:r>
                <a:r>
                  <a:rPr lang="en-US" altLang="zh-TW" dirty="0" smtClean="0"/>
                  <a:t> inequalities can be approximated within 2 but within </a:t>
                </a:r>
                <a:r>
                  <a:rPr lang="en-US" altLang="zh-TW" dirty="0"/>
                  <a:t>e</a:t>
                </a:r>
                <a:r>
                  <a:rPr lang="en-US" altLang="zh-TW" dirty="0" smtClean="0"/>
                  <a:t>very constant factor. Our results also provide strong bounds on the </a:t>
                </a:r>
                <a:r>
                  <a:rPr lang="en-US" altLang="zh-TW" dirty="0" err="1" smtClean="0"/>
                  <a:t>approximability</a:t>
                </a:r>
                <a:r>
                  <a:rPr lang="en-US" altLang="zh-TW" dirty="0" smtClean="0"/>
                  <a:t> of two variants of MAX FLS with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altLang="zh-TW" dirty="0" smtClean="0"/>
                  <a:t> relations that arise when training </a:t>
                </a:r>
                <a:r>
                  <a:rPr lang="en-US" altLang="zh-TW" dirty="0" err="1" smtClean="0"/>
                  <a:t>perceptrons</a:t>
                </a:r>
                <a:r>
                  <a:rPr lang="en-US" altLang="zh-TW" dirty="0" smtClean="0"/>
                  <a:t>, which are the building blocks of artificial neural networks, and when designing linear classifiers.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391" t="-2101" r="-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965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𝐹𝐿𝑆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</m:e>
                      <m:sup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ℜ</m:t>
                        </m:r>
                      </m:sup>
                    </m:sSup>
                  </m:oMath>
                </a14:m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ℜ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=,≥,&gt;,≠</m:t>
                        </m:r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mr>
                      <m:m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</m:m>
                  </m:oMath>
                </a14:m>
                <a:r>
                  <a:rPr lang="en-US" altLang="zh-TW" dirty="0" smtClean="0"/>
                  <a:t>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26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𝐹𝐿𝑆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sup>
                    </m:sSup>
                  </m:oMath>
                </a14:m>
                <a:r>
                  <a:rPr lang="zh-TW" altLang="en-US" dirty="0"/>
                  <a:t> </a:t>
                </a: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b="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642832" y="1825625"/>
                <a:ext cx="2539092" cy="3721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832" y="1825625"/>
                <a:ext cx="2539092" cy="37216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5809543" y="1825625"/>
                <a:ext cx="2372381" cy="3709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543" y="1825625"/>
                <a:ext cx="2372381" cy="370973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接點 6"/>
          <p:cNvCxnSpPr/>
          <p:nvPr/>
        </p:nvCxnSpPr>
        <p:spPr>
          <a:xfrm>
            <a:off x="5642832" y="3416688"/>
            <a:ext cx="2705803" cy="258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5642831" y="4476023"/>
            <a:ext cx="2705803" cy="2582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67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𝐹𝐿𝑆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=</m:t>
                        </m:r>
                      </m:sup>
                    </m:sSup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h𝑜𝑚𝑜𝑔𝑒𝑛𝑒𝑜𝑢𝑠</m:t>
                    </m:r>
                  </m:oMath>
                </a14:m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zh-TW" altLang="en-US" dirty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zh-TW" altLang="en-US" dirty="0"/>
                  <a:t> 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84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𝐹𝐿𝑆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</m:e>
                      <m:sup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</m:sup>
                    </m:sSup>
                  </m:oMath>
                </a14:m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h𝑜𝑚𝑜𝑔𝑒𝑛𝑒𝑜𝑢𝑠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𝐹𝐿𝑆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=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𝐹𝐿𝑆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</m:sup>
                    </m:sSup>
                  </m:oMath>
                </a14:m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𝑟𝑜𝑤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𝑟𝑜𝑤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𝑟𝑜𝑤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5951828" y="2799586"/>
                <a:ext cx="2563522" cy="2403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𝑟𝑜𝑤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𝑟𝑜𝑤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𝑟𝑜𝑤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𝑟𝑜𝑤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𝑟𝑜𝑤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𝑟𝑜𝑤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828" y="2799586"/>
                <a:ext cx="2563522" cy="240341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5244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𝐹𝐿𝑆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&gt;</m:t>
                        </m:r>
                      </m:sup>
                    </m:sSup>
                  </m:oMath>
                </a14:m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h𝑜𝑚𝑜𝑔𝑒𝑛𝑒𝑜𝑢𝑠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35"/>
          <p:cNvGrpSpPr/>
          <p:nvPr/>
        </p:nvGrpSpPr>
        <p:grpSpPr>
          <a:xfrm>
            <a:off x="628650" y="1825625"/>
            <a:ext cx="2524695" cy="2709817"/>
            <a:chOff x="370444" y="1511003"/>
            <a:chExt cx="2524695" cy="2709817"/>
          </a:xfrm>
        </p:grpSpPr>
        <p:grpSp>
          <p:nvGrpSpPr>
            <p:cNvPr id="30" name="群組 29"/>
            <p:cNvGrpSpPr/>
            <p:nvPr/>
          </p:nvGrpSpPr>
          <p:grpSpPr>
            <a:xfrm>
              <a:off x="628650" y="1825625"/>
              <a:ext cx="2014151" cy="2030627"/>
              <a:chOff x="848498" y="2652584"/>
              <a:chExt cx="2014151" cy="2030627"/>
            </a:xfrm>
          </p:grpSpPr>
          <p:sp>
            <p:nvSpPr>
              <p:cNvPr id="4" name="橢圓 3"/>
              <p:cNvSpPr/>
              <p:nvPr/>
            </p:nvSpPr>
            <p:spPr>
              <a:xfrm>
                <a:off x="1046206" y="2866768"/>
                <a:ext cx="214184" cy="21418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" name="橢圓 4"/>
              <p:cNvSpPr/>
              <p:nvPr/>
            </p:nvSpPr>
            <p:spPr>
              <a:xfrm>
                <a:off x="2196929" y="2652584"/>
                <a:ext cx="214184" cy="21418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" name="橢圓 5"/>
              <p:cNvSpPr/>
              <p:nvPr/>
            </p:nvSpPr>
            <p:spPr>
              <a:xfrm>
                <a:off x="848498" y="3743154"/>
                <a:ext cx="214184" cy="21418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" name="橢圓 6"/>
              <p:cNvSpPr/>
              <p:nvPr/>
            </p:nvSpPr>
            <p:spPr>
              <a:xfrm>
                <a:off x="1941556" y="4469027"/>
                <a:ext cx="214184" cy="21418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2648465" y="3504257"/>
                <a:ext cx="214184" cy="21418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0" name="直線接點 9"/>
              <p:cNvCxnSpPr>
                <a:stCxn id="8" idx="1"/>
                <a:endCxn id="5" idx="5"/>
              </p:cNvCxnSpPr>
              <p:nvPr/>
            </p:nvCxnSpPr>
            <p:spPr>
              <a:xfrm flipH="1" flipV="1">
                <a:off x="2379746" y="2835401"/>
                <a:ext cx="300086" cy="70022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接點 11"/>
              <p:cNvCxnSpPr>
                <a:endCxn id="5" idx="2"/>
              </p:cNvCxnSpPr>
              <p:nvPr/>
            </p:nvCxnSpPr>
            <p:spPr>
              <a:xfrm flipV="1">
                <a:off x="1260390" y="2759676"/>
                <a:ext cx="936539" cy="21293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接點 14"/>
              <p:cNvCxnSpPr>
                <a:stCxn id="4" idx="3"/>
                <a:endCxn id="6" idx="0"/>
              </p:cNvCxnSpPr>
              <p:nvPr/>
            </p:nvCxnSpPr>
            <p:spPr>
              <a:xfrm flipH="1">
                <a:off x="955590" y="3049585"/>
                <a:ext cx="121983" cy="69356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/>
              <p:cNvCxnSpPr>
                <a:stCxn id="7" idx="1"/>
                <a:endCxn id="6" idx="5"/>
              </p:cNvCxnSpPr>
              <p:nvPr/>
            </p:nvCxnSpPr>
            <p:spPr>
              <a:xfrm flipH="1" flipV="1">
                <a:off x="1031315" y="3925971"/>
                <a:ext cx="941608" cy="57442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接點 20"/>
              <p:cNvCxnSpPr>
                <a:stCxn id="7" idx="0"/>
                <a:endCxn id="5" idx="4"/>
              </p:cNvCxnSpPr>
              <p:nvPr/>
            </p:nvCxnSpPr>
            <p:spPr>
              <a:xfrm flipV="1">
                <a:off x="2048648" y="2866768"/>
                <a:ext cx="255373" cy="160225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/>
              <p:cNvCxnSpPr>
                <a:stCxn id="8" idx="2"/>
                <a:endCxn id="4" idx="5"/>
              </p:cNvCxnSpPr>
              <p:nvPr/>
            </p:nvCxnSpPr>
            <p:spPr>
              <a:xfrm flipH="1" flipV="1">
                <a:off x="1229023" y="3049585"/>
                <a:ext cx="1419442" cy="56176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文字方塊 30"/>
            <p:cNvSpPr txBox="1"/>
            <p:nvPr/>
          </p:nvSpPr>
          <p:spPr>
            <a:xfrm>
              <a:off x="1933330" y="151100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1</a:t>
              </a:r>
              <a:endParaRPr lang="zh-TW" altLang="en-US" dirty="0"/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2593453" y="25997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2</a:t>
              </a:r>
              <a:endParaRPr lang="zh-TW" altLang="en-US" dirty="0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1702420" y="385148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3</a:t>
              </a:r>
              <a:endParaRPr lang="zh-TW" altLang="en-US" dirty="0"/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370444" y="283862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4</a:t>
              </a:r>
              <a:endParaRPr lang="zh-TW" altLang="en-US" dirty="0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640285" y="169862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5</a:t>
              </a:r>
              <a:endParaRPr lang="zh-TW" altLang="en-US" dirty="0"/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893036" y="2142629"/>
            <a:ext cx="1552316" cy="1298898"/>
            <a:chOff x="893036" y="2142629"/>
            <a:chExt cx="1552316" cy="1298898"/>
          </a:xfrm>
        </p:grpSpPr>
        <p:sp>
          <p:nvSpPr>
            <p:cNvPr id="37" name="橢圓 36"/>
            <p:cNvSpPr/>
            <p:nvPr/>
          </p:nvSpPr>
          <p:spPr>
            <a:xfrm>
              <a:off x="893036" y="3227343"/>
              <a:ext cx="214184" cy="21418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F0000"/>
                </a:solidFill>
              </a:endParaRPr>
            </a:p>
          </p:txBody>
        </p:sp>
        <p:sp>
          <p:nvSpPr>
            <p:cNvPr id="38" name="橢圓 37"/>
            <p:cNvSpPr/>
            <p:nvPr/>
          </p:nvSpPr>
          <p:spPr>
            <a:xfrm>
              <a:off x="2231168" y="2142629"/>
              <a:ext cx="214184" cy="21418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/>
              <p:cNvSpPr txBox="1"/>
              <p:nvPr/>
            </p:nvSpPr>
            <p:spPr>
              <a:xfrm>
                <a:off x="3905265" y="1669960"/>
                <a:ext cx="4479368" cy="45070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eqArr>
                                <m:eqArr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TW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3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TW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TW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2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TW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  <m:e>
                                        <m:m>
                                          <m:mPr>
                                            <m:mcs>
                                              <m:mc>
                                                <m:mcPr>
                                                  <m:count m:val="3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altLang="zh-TW" sz="2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altLang="zh-TW" sz="2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mr>
                                  </m:m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TW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altLang="zh-TW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&gt;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65" y="1669960"/>
                <a:ext cx="4479368" cy="450700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74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𝐴𝑃𝑋</m:t>
                    </m:r>
                  </m:oMath>
                </a14:m>
                <a:r>
                  <a:rPr lang="en-US" altLang="zh-TW" dirty="0" smtClean="0"/>
                  <a:t> Proof for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𝐹𝐿𝑆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=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45126" y="1833863"/>
                <a:ext cx="7886700" cy="4351338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b="0" dirty="0" smtClean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126" y="1833863"/>
                <a:ext cx="7886700" cy="4351338"/>
              </a:xfr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491611" y="1766565"/>
                <a:ext cx="3985963" cy="50174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611" y="1766565"/>
                <a:ext cx="3985963" cy="501746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628650" y="3806959"/>
                <a:ext cx="2419573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TW" sz="2800" dirty="0" smtClean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800" dirty="0" smtClean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2800" dirty="0" smtClean="0"/>
                  <a:t> </a:t>
                </a:r>
                <a:endParaRPr lang="zh-TW" alt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2800" dirty="0" smtClean="0"/>
                  <a:t> </a:t>
                </a:r>
                <a:endParaRPr lang="zh-TW" alt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TW" altLang="en-US" sz="2800" dirty="0" smtClean="0"/>
                  <a:t> </a:t>
                </a:r>
                <a:endParaRPr lang="zh-TW" alt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TW" altLang="en-US" sz="2800" dirty="0" smtClean="0"/>
                  <a:t>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806959"/>
                <a:ext cx="2419573" cy="267765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4713457" y="4275297"/>
            <a:ext cx="3542270" cy="2499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803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𝐴𝑃𝑋</m:t>
                    </m:r>
                  </m:oMath>
                </a14:m>
                <a:r>
                  <a:rPr lang="en-US" altLang="zh-TW" dirty="0"/>
                  <a:t> Proof for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𝑀𝐴𝑋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𝐹𝐿𝑆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2"/>
              <p:cNvSpPr txBox="1">
                <a:spLocks/>
              </p:cNvSpPr>
              <p:nvPr/>
            </p:nvSpPr>
            <p:spPr>
              <a:xfrm>
                <a:off x="645126" y="1833863"/>
                <a:ext cx="78867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ba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26" y="1833863"/>
                <a:ext cx="7886700" cy="435133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28650" y="3806959"/>
                <a:ext cx="2327881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TW" sz="2800" dirty="0" smtClean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800" dirty="0" smtClean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2800" dirty="0" smtClean="0"/>
                  <a:t> </a:t>
                </a:r>
                <a:endParaRPr lang="zh-TW" alt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2800" dirty="0" smtClean="0"/>
                  <a:t> </a:t>
                </a:r>
                <a:endParaRPr lang="zh-TW" alt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TW" altLang="en-US" sz="2800" dirty="0" smtClean="0"/>
                  <a:t> </a:t>
                </a:r>
                <a:endParaRPr lang="zh-TW" alt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TW" altLang="en-US" sz="2800" dirty="0" smtClean="0"/>
                  <a:t> 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806959"/>
                <a:ext cx="2327881" cy="26776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4085115" y="4009532"/>
                <a:ext cx="25971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sz="2800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115" y="4009532"/>
                <a:ext cx="2597186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3890403" y="4497202"/>
                <a:ext cx="1363194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403" y="4497202"/>
                <a:ext cx="1363194" cy="86177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4264496" y="4404869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496" y="4404869"/>
                <a:ext cx="4572000" cy="95410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3711022" y="5624782"/>
                <a:ext cx="1630896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28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022" y="5624782"/>
                <a:ext cx="1630896" cy="86177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4085115" y="5532449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115" y="5532449"/>
                <a:ext cx="4572000" cy="95410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單箭頭接點 11"/>
          <p:cNvCxnSpPr/>
          <p:nvPr/>
        </p:nvCxnSpPr>
        <p:spPr>
          <a:xfrm>
            <a:off x="2859175" y="4264655"/>
            <a:ext cx="1225940" cy="3974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endCxn id="7" idx="1"/>
          </p:cNvCxnSpPr>
          <p:nvPr/>
        </p:nvCxnSpPr>
        <p:spPr>
          <a:xfrm flipV="1">
            <a:off x="1730591" y="4928089"/>
            <a:ext cx="2159812" cy="166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接點 17"/>
          <p:cNvCxnSpPr/>
          <p:nvPr/>
        </p:nvCxnSpPr>
        <p:spPr>
          <a:xfrm flipV="1">
            <a:off x="1861751" y="4879695"/>
            <a:ext cx="5329881" cy="479282"/>
          </a:xfrm>
          <a:prstGeom prst="bentConnector3">
            <a:avLst>
              <a:gd name="adj1" fmla="val 105951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39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2-Approximation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2798291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</m:oMath>
                </a14:m>
                <a:r>
                  <a:rPr lang="en-US" altLang="zh-TW" dirty="0" smtClean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&gt;5</m:t>
                    </m:r>
                  </m:oMath>
                </a14:m>
                <a:r>
                  <a:rPr lang="en-US" altLang="zh-TW" b="0" dirty="0" smtClean="0"/>
                  <a:t> </a:t>
                </a:r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&gt;6</m:t>
                    </m:r>
                  </m:oMath>
                </a14:m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2798291" cy="4351338"/>
              </a:xfr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2"/>
              <p:cNvSpPr txBox="1">
                <a:spLocks/>
              </p:cNvSpPr>
              <p:nvPr/>
            </p:nvSpPr>
            <p:spPr>
              <a:xfrm>
                <a:off x="5717059" y="1690689"/>
                <a:ext cx="2798291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dirty="0" smtClean="0"/>
                  <a:t>3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dirty="0" smtClean="0"/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&gt;6</m:t>
                    </m:r>
                  </m:oMath>
                </a14:m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059" y="1690689"/>
                <a:ext cx="2798291" cy="4351338"/>
              </a:xfrm>
              <a:prstGeom prst="rect">
                <a:avLst/>
              </a:prstGeom>
              <a:blipFill rotWithShape="0">
                <a:blip r:embed="rId5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28650" y="1690689"/>
                <a:ext cx="4572000" cy="138499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altLang="zh-TW" sz="28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&gt;3</m:t>
                    </m:r>
                  </m:oMath>
                </a14:m>
                <a:r>
                  <a:rPr lang="zh-TW" altLang="en-US" sz="2800" dirty="0"/>
                  <a:t> </a:t>
                </a:r>
                <a:endParaRPr lang="en-US" altLang="zh-TW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&gt;6</m:t>
                    </m:r>
                  </m:oMath>
                </a14:m>
                <a:r>
                  <a:rPr lang="zh-TW" altLang="en-US" sz="2800" dirty="0"/>
                  <a:t> 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4572000" cy="138499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717059" y="1690689"/>
                <a:ext cx="4572000" cy="181588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r>
                  <a:rPr lang="en-US" altLang="zh-TW" sz="2800" dirty="0" smtClean="0"/>
                  <a:t> </a:t>
                </a:r>
              </a:p>
              <a:p>
                <a:endParaRPr lang="en-US" altLang="zh-TW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zh-TW" altLang="en-US" sz="2800" dirty="0"/>
                  <a:t> </a:t>
                </a:r>
                <a:endParaRPr lang="en-US" altLang="zh-TW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&gt;6</m:t>
                    </m:r>
                  </m:oMath>
                </a14:m>
                <a:r>
                  <a:rPr lang="zh-TW" altLang="en-US" sz="2800" dirty="0"/>
                  <a:t> 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059" y="1690689"/>
                <a:ext cx="4572000" cy="18158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628650" y="1690689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zh-TW" altLang="en-US" sz="2800" dirty="0"/>
                  <a:t> </a:t>
                </a:r>
                <a:endParaRPr lang="en-US" altLang="zh-TW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&gt;6</m:t>
                    </m:r>
                  </m:oMath>
                </a14:m>
                <a:r>
                  <a:rPr lang="zh-TW" altLang="en-US" sz="2800" dirty="0"/>
                  <a:t> </a:t>
                </a: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690689"/>
                <a:ext cx="4572000" cy="95410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5717059" y="1690689"/>
                <a:ext cx="4572000" cy="181588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altLang="zh-TW" sz="280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endParaRPr lang="en-US" altLang="zh-TW" sz="28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&gt;−1</m:t>
                    </m:r>
                  </m:oMath>
                </a14:m>
                <a:r>
                  <a:rPr lang="zh-TW" altLang="en-US" sz="2800" dirty="0"/>
                  <a:t> </a:t>
                </a:r>
                <a:endParaRPr lang="en-US" altLang="zh-TW" sz="2800" dirty="0"/>
              </a:p>
              <a:p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&gt;−2</m:t>
                    </m:r>
                  </m:oMath>
                </a14:m>
                <a:r>
                  <a:rPr lang="zh-TW" altLang="en-US" sz="2800" dirty="0"/>
                  <a:t> </a:t>
                </a: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059" y="1690689"/>
                <a:ext cx="4572000" cy="181588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639462" y="1644523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&gt;−1</m:t>
                    </m:r>
                  </m:oMath>
                </a14:m>
                <a:r>
                  <a:rPr lang="zh-TW" altLang="en-US" sz="2800" dirty="0"/>
                  <a:t> </a:t>
                </a:r>
                <a:endParaRPr lang="en-US" altLang="zh-TW" sz="2800" dirty="0"/>
              </a:p>
              <a:p>
                <a14:m>
                  <m:oMath xmlns:m="http://schemas.openxmlformats.org/officeDocument/2006/math">
                    <m:r>
                      <a:rPr lang="en-US" altLang="zh-TW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i="1">
                        <a:latin typeface="Cambria Math" panose="02040503050406030204" pitchFamily="18" charset="0"/>
                      </a:rPr>
                      <m:t>&gt;−2</m:t>
                    </m:r>
                  </m:oMath>
                </a14:m>
                <a:r>
                  <a:rPr lang="zh-TW" altLang="en-US" sz="2800" dirty="0"/>
                  <a:t> </a:t>
                </a: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62" y="1644523"/>
                <a:ext cx="4572000" cy="95410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5706247" y="1690689"/>
                <a:ext cx="4572000" cy="52322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zh-TW" altLang="en-US" sz="2800" dirty="0" smtClean="0"/>
                  <a:t> 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247" y="1690689"/>
                <a:ext cx="4572000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94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4" grpId="1"/>
      <p:bldP spid="5" grpId="0"/>
      <p:bldP spid="5" grpId="1"/>
      <p:bldP spid="6" grpId="0"/>
      <p:bldP spid="6" grpId="1"/>
      <p:bldP spid="8" grpId="0"/>
      <p:bldP spid="8" grpId="1"/>
      <p:bldP spid="9" grpId="0"/>
      <p:bldP spid="9" grpId="1"/>
      <p:bldP spid="7" grpId="0"/>
      <p:bldP spid="10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5404</TotalTime>
  <Words>295</Words>
  <Application>Microsoft Office PowerPoint</Application>
  <PresentationFormat>如螢幕大小 (4:3)</PresentationFormat>
  <Paragraphs>108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Office 佈景主題</vt:lpstr>
      <vt:lpstr>The Complexity and Approximability of Finding Maximum Feasible Subsystems of Linear Relations</vt:lpstr>
      <vt:lpstr>Abstract</vt:lpstr>
      <vt:lpstr>Abstract</vt:lpstr>
      <vt:lpstr>Abstract</vt:lpstr>
      <vt:lpstr>MAX 〖FLS" " 〗^R </vt:lpstr>
      <vt:lpstr>MAX 〖FLS" " 〗^= </vt:lpstr>
      <vt:lpstr>MAX 〖FLS" " 〗^=  homogeneous </vt:lpstr>
      <vt:lpstr>MAX 〖FLS" " 〗^≥ homogeneous</vt:lpstr>
      <vt:lpstr>MAX 〖FLS" " 〗^&gt; homogeneous</vt:lpstr>
      <vt:lpstr>APX Proof for MAX 〖FLS" " 〗^=</vt:lpstr>
      <vt:lpstr>APX Proof for MAX 〖FLS" " 〗^≥</vt:lpstr>
      <vt:lpstr>2-Approximation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APX-completeness results for cubic graphs</dc:title>
  <dc:creator>sizuka</dc:creator>
  <cp:lastModifiedBy>sizuka</cp:lastModifiedBy>
  <cp:revision>50</cp:revision>
  <dcterms:created xsi:type="dcterms:W3CDTF">2016-06-06T14:33:25Z</dcterms:created>
  <dcterms:modified xsi:type="dcterms:W3CDTF">2016-12-22T05:04:20Z</dcterms:modified>
</cp:coreProperties>
</file>