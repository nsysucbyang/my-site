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58" r:id="rId3"/>
    <p:sldId id="259" r:id="rId4"/>
    <p:sldId id="260" r:id="rId5"/>
    <p:sldId id="261" r:id="rId6"/>
    <p:sldId id="266" r:id="rId7"/>
    <p:sldId id="267" r:id="rId8"/>
    <p:sldId id="262" r:id="rId9"/>
    <p:sldId id="263" r:id="rId10"/>
    <p:sldId id="264" r:id="rId11"/>
    <p:sldId id="265" r:id="rId1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中等深淺樣式 3 - 輔色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9631B5-78F2-41C9-869B-9F39066F8104}" styleName="中等深淺樣式 3 - 輔色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5BE263C-DBD7-4A20-BB59-AAB30ACAA65A}" styleName="中等深淺樣式 3 - 輔色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1E171933-4619-4E11-9A3F-F7608DF75F80}" styleName="中等深淺樣式 1 - 輔色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C4B1156A-380E-4F78-BDF5-A606A8083BF9}" styleName="中等深淺樣式 4 - 輔色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79" d="100"/>
          <a:sy n="79" d="100"/>
        </p:scale>
        <p:origin x="19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2716F5-4889-444D-A115-324C6BA44605}" type="datetimeFigureOut">
              <a:rPr lang="zh-TW" altLang="en-US" smtClean="0"/>
              <a:t>2016/12/22</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3AA4CC-4197-4A4E-8190-C63859CFF0C4}" type="slidenum">
              <a:rPr lang="zh-TW" altLang="en-US" smtClean="0"/>
              <a:t>‹#›</a:t>
            </a:fld>
            <a:endParaRPr lang="zh-TW" altLang="en-US"/>
          </a:p>
        </p:txBody>
      </p:sp>
    </p:spTree>
    <p:extLst>
      <p:ext uri="{BB962C8B-B14F-4D97-AF65-F5344CB8AC3E}">
        <p14:creationId xmlns:p14="http://schemas.microsoft.com/office/powerpoint/2010/main" val="3990526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6"/>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044E8A48-0BB3-4429-A23E-981E055DBE4D}" type="slidenum">
              <a:rPr kern="0">
                <a:solidFill>
                  <a:srgbClr val="000000"/>
                </a:solidFill>
              </a:rPr>
              <a:pPr algn="r" hangingPunct="0">
                <a:defRPr sz="1800" b="0" i="0" u="none" strike="noStrike" kern="0" cap="none" spc="0" baseline="0">
                  <a:solidFill>
                    <a:srgbClr val="000000"/>
                  </a:solidFill>
                  <a:uFillTx/>
                </a:defRPr>
              </a:pPr>
              <a:t>1</a:t>
            </a:fld>
            <a:endParaRPr lang="en-US" sz="1400">
              <a:solidFill>
                <a:srgbClr val="000000"/>
              </a:solidFill>
              <a:latin typeface="Liberation Serif" pitchFamily="18"/>
              <a:ea typeface="新細明體" pitchFamily="2"/>
              <a:cs typeface="Tahoma" pitchFamily="2"/>
            </a:endParaRPr>
          </a:p>
        </p:txBody>
      </p:sp>
      <p:sp>
        <p:nvSpPr>
          <p:cNvPr id="3" name="投影片圖像版面配置區 1"/>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備忘稿版面配置區 2"/>
          <p:cNvSpPr txBox="1">
            <a:spLocks noGrp="1"/>
          </p:cNvSpPr>
          <p:nvPr>
            <p:ph type="body" sz="quarter" idx="1"/>
          </p:nvPr>
        </p:nvSpPr>
        <p:spPr/>
        <p:txBody>
          <a:bodyPr/>
          <a:lstStyle/>
          <a:p>
            <a:endParaRPr lang="zh-TW" altLang="en-US"/>
          </a:p>
        </p:txBody>
      </p:sp>
    </p:spTree>
    <p:extLst>
      <p:ext uri="{BB962C8B-B14F-4D97-AF65-F5344CB8AC3E}">
        <p14:creationId xmlns:p14="http://schemas.microsoft.com/office/powerpoint/2010/main" val="1873625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83308494-D09C-4163-A279-DEAA5259EAB0}" type="datetimeFigureOut">
              <a:rPr lang="zh-TW" altLang="en-US" smtClean="0"/>
              <a:t>2016/12/22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1D8FCA5-C013-469D-96FD-8C7519FAE67F}" type="slidenum">
              <a:rPr lang="zh-TW" altLang="en-US" smtClean="0"/>
              <a:t>‹#›</a:t>
            </a:fld>
            <a:endParaRPr lang="zh-TW" altLang="en-US"/>
          </a:p>
        </p:txBody>
      </p:sp>
    </p:spTree>
    <p:extLst>
      <p:ext uri="{BB962C8B-B14F-4D97-AF65-F5344CB8AC3E}">
        <p14:creationId xmlns:p14="http://schemas.microsoft.com/office/powerpoint/2010/main" val="2755697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3308494-D09C-4163-A279-DEAA5259EAB0}" type="datetimeFigureOut">
              <a:rPr lang="zh-TW" altLang="en-US" smtClean="0"/>
              <a:t>2016/12/22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1D8FCA5-C013-469D-96FD-8C7519FAE67F}" type="slidenum">
              <a:rPr lang="zh-TW" altLang="en-US" smtClean="0"/>
              <a:t>‹#›</a:t>
            </a:fld>
            <a:endParaRPr lang="zh-TW" altLang="en-US"/>
          </a:p>
        </p:txBody>
      </p:sp>
    </p:spTree>
    <p:extLst>
      <p:ext uri="{BB962C8B-B14F-4D97-AF65-F5344CB8AC3E}">
        <p14:creationId xmlns:p14="http://schemas.microsoft.com/office/powerpoint/2010/main" val="2090952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fld id="{83308494-D09C-4163-A279-DEAA5259EAB0}" type="datetimeFigureOut">
              <a:rPr lang="zh-TW" altLang="en-US" smtClean="0"/>
              <a:t>2016/12/22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1D8FCA5-C013-469D-96FD-8C7519FAE67F}" type="slidenum">
              <a:rPr lang="zh-TW" altLang="en-US" smtClean="0"/>
              <a:t>‹#›</a:t>
            </a:fld>
            <a:endParaRPr lang="zh-TW" altLang="en-US"/>
          </a:p>
        </p:txBody>
      </p:sp>
    </p:spTree>
    <p:extLst>
      <p:ext uri="{BB962C8B-B14F-4D97-AF65-F5344CB8AC3E}">
        <p14:creationId xmlns:p14="http://schemas.microsoft.com/office/powerpoint/2010/main" val="3323079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83308494-D09C-4163-A279-DEAA5259EAB0}" type="datetimeFigureOut">
              <a:rPr lang="zh-TW" altLang="en-US" smtClean="0"/>
              <a:t>2016/12/22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41D8FCA5-C013-469D-96FD-8C7519FAE67F}" type="slidenum">
              <a:rPr lang="zh-TW" altLang="en-US" smtClean="0"/>
              <a:t>‹#›</a:t>
            </a:fld>
            <a:endParaRPr lang="zh-TW" altLang="en-US"/>
          </a:p>
        </p:txBody>
      </p:sp>
    </p:spTree>
    <p:extLst>
      <p:ext uri="{BB962C8B-B14F-4D97-AF65-F5344CB8AC3E}">
        <p14:creationId xmlns:p14="http://schemas.microsoft.com/office/powerpoint/2010/main" val="3432347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83308494-D09C-4163-A279-DEAA5259EAB0}" type="datetimeFigureOut">
              <a:rPr lang="zh-TW" altLang="en-US" smtClean="0"/>
              <a:t>2016/12/22</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41D8FCA5-C013-469D-96FD-8C7519FAE67F}" type="slidenum">
              <a:rPr lang="zh-TW" altLang="en-US" smtClean="0"/>
              <a:t>‹#›</a:t>
            </a:fld>
            <a:endParaRPr lang="zh-TW" altLang="en-US"/>
          </a:p>
        </p:txBody>
      </p:sp>
    </p:spTree>
    <p:extLst>
      <p:ext uri="{BB962C8B-B14F-4D97-AF65-F5344CB8AC3E}">
        <p14:creationId xmlns:p14="http://schemas.microsoft.com/office/powerpoint/2010/main" val="14017114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83308494-D09C-4163-A279-DEAA5259EAB0}" type="datetimeFigureOut">
              <a:rPr lang="zh-TW" altLang="en-US" smtClean="0"/>
              <a:t>2016/12/22</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41D8FCA5-C013-469D-96FD-8C7519FAE67F}" type="slidenum">
              <a:rPr lang="zh-TW" altLang="en-US" smtClean="0"/>
              <a:t>‹#›</a:t>
            </a:fld>
            <a:endParaRPr lang="zh-TW" altLang="en-US"/>
          </a:p>
        </p:txBody>
      </p:sp>
    </p:spTree>
    <p:extLst>
      <p:ext uri="{BB962C8B-B14F-4D97-AF65-F5344CB8AC3E}">
        <p14:creationId xmlns:p14="http://schemas.microsoft.com/office/powerpoint/2010/main" val="1648068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83308494-D09C-4163-A279-DEAA5259EAB0}" type="datetimeFigureOut">
              <a:rPr lang="zh-TW" altLang="en-US" smtClean="0"/>
              <a:t>2016/12/22</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41D8FCA5-C013-469D-96FD-8C7519FAE67F}" type="slidenum">
              <a:rPr lang="zh-TW" altLang="en-US" smtClean="0"/>
              <a:t>‹#›</a:t>
            </a:fld>
            <a:endParaRPr lang="zh-TW" altLang="en-US"/>
          </a:p>
        </p:txBody>
      </p:sp>
    </p:spTree>
    <p:extLst>
      <p:ext uri="{BB962C8B-B14F-4D97-AF65-F5344CB8AC3E}">
        <p14:creationId xmlns:p14="http://schemas.microsoft.com/office/powerpoint/2010/main" val="525028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83308494-D09C-4163-A279-DEAA5259EAB0}" type="datetimeFigureOut">
              <a:rPr lang="zh-TW" altLang="en-US" smtClean="0"/>
              <a:t>2016/12/22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41D8FCA5-C013-469D-96FD-8C7519FAE67F}" type="slidenum">
              <a:rPr lang="zh-TW" altLang="en-US" smtClean="0"/>
              <a:t>‹#›</a:t>
            </a:fld>
            <a:endParaRPr lang="zh-TW" altLang="en-US"/>
          </a:p>
        </p:txBody>
      </p:sp>
    </p:spTree>
    <p:extLst>
      <p:ext uri="{BB962C8B-B14F-4D97-AF65-F5344CB8AC3E}">
        <p14:creationId xmlns:p14="http://schemas.microsoft.com/office/powerpoint/2010/main" val="37255715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83308494-D09C-4163-A279-DEAA5259EAB0}" type="datetimeFigureOut">
              <a:rPr lang="zh-TW" altLang="en-US" smtClean="0"/>
              <a:t>2016/12/22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41D8FCA5-C013-469D-96FD-8C7519FAE67F}" type="slidenum">
              <a:rPr lang="zh-TW" altLang="en-US" smtClean="0"/>
              <a:t>‹#›</a:t>
            </a:fld>
            <a:endParaRPr lang="zh-TW" altLang="en-US"/>
          </a:p>
        </p:txBody>
      </p:sp>
    </p:spTree>
    <p:extLst>
      <p:ext uri="{BB962C8B-B14F-4D97-AF65-F5344CB8AC3E}">
        <p14:creationId xmlns:p14="http://schemas.microsoft.com/office/powerpoint/2010/main" val="1838242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3308494-D09C-4163-A279-DEAA5259EAB0}" type="datetimeFigureOut">
              <a:rPr lang="zh-TW" altLang="en-US" smtClean="0"/>
              <a:t>2016/12/22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1D8FCA5-C013-469D-96FD-8C7519FAE67F}" type="slidenum">
              <a:rPr lang="zh-TW" altLang="en-US" smtClean="0"/>
              <a:t>‹#›</a:t>
            </a:fld>
            <a:endParaRPr lang="zh-TW" altLang="en-US"/>
          </a:p>
        </p:txBody>
      </p:sp>
    </p:spTree>
    <p:extLst>
      <p:ext uri="{BB962C8B-B14F-4D97-AF65-F5344CB8AC3E}">
        <p14:creationId xmlns:p14="http://schemas.microsoft.com/office/powerpoint/2010/main" val="3189339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3308494-D09C-4163-A279-DEAA5259EAB0}" type="datetimeFigureOut">
              <a:rPr lang="zh-TW" altLang="en-US" smtClean="0"/>
              <a:t>2016/12/22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1D8FCA5-C013-469D-96FD-8C7519FAE67F}" type="slidenum">
              <a:rPr lang="zh-TW" altLang="en-US" smtClean="0"/>
              <a:t>‹#›</a:t>
            </a:fld>
            <a:endParaRPr lang="zh-TW" altLang="en-US"/>
          </a:p>
        </p:txBody>
      </p:sp>
    </p:spTree>
    <p:extLst>
      <p:ext uri="{BB962C8B-B14F-4D97-AF65-F5344CB8AC3E}">
        <p14:creationId xmlns:p14="http://schemas.microsoft.com/office/powerpoint/2010/main" val="3301063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308494-D09C-4163-A279-DEAA5259EAB0}" type="datetimeFigureOut">
              <a:rPr lang="zh-TW" altLang="en-US" smtClean="0"/>
              <a:t>2016/12/22</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D8FCA5-C013-469D-96FD-8C7519FAE67F}" type="slidenum">
              <a:rPr lang="zh-TW" altLang="en-US" smtClean="0"/>
              <a:t>‹#›</a:t>
            </a:fld>
            <a:endParaRPr lang="zh-TW" altLang="en-US"/>
          </a:p>
        </p:txBody>
      </p:sp>
    </p:spTree>
    <p:extLst>
      <p:ext uri="{BB962C8B-B14F-4D97-AF65-F5344CB8AC3E}">
        <p14:creationId xmlns:p14="http://schemas.microsoft.com/office/powerpoint/2010/main" val="21356301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0.png"/><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70.png"/></Relationships>
</file>

<file path=ppt/slides/_rels/slide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txBox="1">
            <a:spLocks noGrp="1"/>
          </p:cNvSpPr>
          <p:nvPr>
            <p:ph type="title" idx="4294967295"/>
          </p:nvPr>
        </p:nvSpPr>
        <p:spPr>
          <a:xfrm>
            <a:off x="813730" y="2771027"/>
            <a:ext cx="10201013" cy="1449115"/>
          </a:xfrm>
        </p:spPr>
        <p:txBody>
          <a:bodyPr wrap="square">
            <a:spAutoFit/>
          </a:bodyPr>
          <a:lstStyle/>
          <a:p>
            <a:pPr lvl="0" algn="ctr"/>
            <a:r>
              <a:rPr lang="en-US" altLang="zh-TW" sz="2449" b="1" dirty="0">
                <a:solidFill>
                  <a:srgbClr val="898989"/>
                </a:solidFill>
                <a:highlight>
                  <a:scrgbClr r="0" g="0" b="0">
                    <a:alpha val="0"/>
                  </a:scrgbClr>
                </a:highlight>
                <a:latin typeface="Liberation Sans Narrow" pitchFamily="34"/>
                <a:ea typeface="新細明體" pitchFamily="2"/>
                <a:cs typeface="Mangal" pitchFamily="2"/>
              </a:rPr>
              <a:t> In Proceedings of the 1st International</a:t>
            </a:r>
            <a:br>
              <a:rPr lang="en-US" altLang="zh-TW" sz="2449" b="1" dirty="0">
                <a:solidFill>
                  <a:srgbClr val="898989"/>
                </a:solidFill>
                <a:highlight>
                  <a:scrgbClr r="0" g="0" b="0">
                    <a:alpha val="0"/>
                  </a:scrgbClr>
                </a:highlight>
                <a:latin typeface="Liberation Sans Narrow" pitchFamily="34"/>
                <a:ea typeface="新細明體" pitchFamily="2"/>
                <a:cs typeface="Mangal" pitchFamily="2"/>
              </a:rPr>
            </a:br>
            <a:r>
              <a:rPr lang="en-US" altLang="zh-TW" sz="2449" b="1" dirty="0">
                <a:solidFill>
                  <a:srgbClr val="898989"/>
                </a:solidFill>
                <a:highlight>
                  <a:scrgbClr r="0" g="0" b="0">
                    <a:alpha val="0"/>
                  </a:scrgbClr>
                </a:highlight>
                <a:latin typeface="Liberation Sans Narrow" pitchFamily="34"/>
                <a:ea typeface="新細明體" pitchFamily="2"/>
                <a:cs typeface="Mangal" pitchFamily="2"/>
              </a:rPr>
              <a:t>Workshop on Multiple Classifier Systems (MCS), 1-15, Cagliari, </a:t>
            </a:r>
            <a:r>
              <a:rPr lang="en-US" altLang="zh-TW" sz="2449" b="1" dirty="0" smtClean="0">
                <a:solidFill>
                  <a:srgbClr val="898989"/>
                </a:solidFill>
                <a:highlight>
                  <a:scrgbClr r="0" g="0" b="0">
                    <a:alpha val="0"/>
                  </a:scrgbClr>
                </a:highlight>
                <a:latin typeface="Liberation Sans Narrow" pitchFamily="34"/>
                <a:ea typeface="新細明體" pitchFamily="2"/>
                <a:cs typeface="Mangal" pitchFamily="2"/>
              </a:rPr>
              <a:t>Italy, 2000.</a:t>
            </a:r>
            <a:r>
              <a:rPr lang="en-US" altLang="zh-TW" sz="2449" b="1" dirty="0">
                <a:solidFill>
                  <a:srgbClr val="898989"/>
                </a:solidFill>
                <a:latin typeface="Liberation Sans Narrow" pitchFamily="34"/>
                <a:ea typeface="新細明體" pitchFamily="2"/>
              </a:rPr>
              <a:t/>
            </a:r>
            <a:br>
              <a:rPr lang="en-US" altLang="zh-TW" sz="2449" b="1" dirty="0">
                <a:solidFill>
                  <a:srgbClr val="898989"/>
                </a:solidFill>
                <a:latin typeface="Liberation Sans Narrow" pitchFamily="34"/>
                <a:ea typeface="新細明體" pitchFamily="2"/>
              </a:rPr>
            </a:br>
            <a:endParaRPr lang="en-US" sz="2449" b="1" dirty="0">
              <a:solidFill>
                <a:srgbClr val="898989"/>
              </a:solidFill>
              <a:latin typeface="Liberation Sans Narrow" pitchFamily="34"/>
              <a:ea typeface="新細明體" pitchFamily="2"/>
            </a:endParaRPr>
          </a:p>
        </p:txBody>
      </p:sp>
      <p:sp>
        <p:nvSpPr>
          <p:cNvPr id="3" name="文字版面配置區 2"/>
          <p:cNvSpPr txBox="1">
            <a:spLocks noGrp="1"/>
          </p:cNvSpPr>
          <p:nvPr>
            <p:ph type="body" idx="4294967295"/>
          </p:nvPr>
        </p:nvSpPr>
        <p:spPr>
          <a:xfrm>
            <a:off x="395416" y="849121"/>
            <a:ext cx="11582399" cy="1897136"/>
          </a:xfrm>
        </p:spPr>
        <p:txBody>
          <a:bodyPr anchorCtr="1">
            <a:normAutofit/>
          </a:bodyPr>
          <a:lstStyle/>
          <a:p>
            <a:pPr marL="0" lvl="0" indent="0" algn="ctr">
              <a:buNone/>
            </a:pPr>
            <a:r>
              <a:rPr lang="en-US" sz="4800" dirty="0"/>
              <a:t>Ensemble Methods in Machine Learning</a:t>
            </a:r>
            <a:endParaRPr lang="en-US" sz="4800" b="1" dirty="0"/>
          </a:p>
        </p:txBody>
      </p:sp>
      <p:sp>
        <p:nvSpPr>
          <p:cNvPr id="4" name="文字版面配置區 3"/>
          <p:cNvSpPr txBox="1">
            <a:spLocks noGrp="1"/>
          </p:cNvSpPr>
          <p:nvPr>
            <p:ph type="body" idx="4294967295"/>
          </p:nvPr>
        </p:nvSpPr>
        <p:spPr>
          <a:xfrm>
            <a:off x="2162522" y="4515041"/>
            <a:ext cx="8229630" cy="1897136"/>
          </a:xfrm>
        </p:spPr>
        <p:txBody>
          <a:bodyPr>
            <a:normAutofit lnSpcReduction="10000"/>
          </a:bodyPr>
          <a:lstStyle/>
          <a:p>
            <a:pPr lvl="1" algn="r" hangingPunct="0">
              <a:spcBef>
                <a:spcPts val="1284"/>
              </a:spcBef>
              <a:buNone/>
            </a:pPr>
            <a:endParaRPr lang="en-US" sz="2903" dirty="0">
              <a:highlight>
                <a:scrgbClr r="0" g="0" b="0">
                  <a:alpha val="0"/>
                </a:scrgbClr>
              </a:highlight>
              <a:latin typeface="Liberation Sans" pitchFamily="18"/>
              <a:ea typeface="微軟正黑體" pitchFamily="2"/>
              <a:cs typeface="Mangal" pitchFamily="2"/>
            </a:endParaRPr>
          </a:p>
          <a:p>
            <a:pPr lvl="1" algn="r" hangingPunct="0">
              <a:spcBef>
                <a:spcPts val="1284"/>
              </a:spcBef>
              <a:buNone/>
            </a:pPr>
            <a:endParaRPr lang="en-US" sz="2903" dirty="0">
              <a:highlight>
                <a:scrgbClr r="0" g="0" b="0">
                  <a:alpha val="0"/>
                </a:scrgbClr>
              </a:highlight>
              <a:latin typeface="Liberation Sans" pitchFamily="18"/>
              <a:ea typeface="微軟正黑體" pitchFamily="2"/>
              <a:cs typeface="Mangal" pitchFamily="2"/>
            </a:endParaRPr>
          </a:p>
          <a:p>
            <a:pPr lvl="1" algn="r" hangingPunct="0">
              <a:spcBef>
                <a:spcPts val="1284"/>
              </a:spcBef>
              <a:buNone/>
            </a:pPr>
            <a:r>
              <a:rPr lang="en-US" dirty="0">
                <a:highlight>
                  <a:scrgbClr r="0" g="0" b="0">
                    <a:alpha val="0"/>
                  </a:scrgbClr>
                </a:highlight>
                <a:latin typeface="Liberation Sans Narrow" pitchFamily="34"/>
                <a:ea typeface="微軟正黑體" pitchFamily="34"/>
                <a:cs typeface="Mangal" pitchFamily="2"/>
              </a:rPr>
              <a:t>Presenter</a:t>
            </a:r>
            <a:r>
              <a:rPr lang="zh-TW" dirty="0">
                <a:highlight>
                  <a:scrgbClr r="0" g="0" b="0">
                    <a:alpha val="0"/>
                  </a:scrgbClr>
                </a:highlight>
                <a:latin typeface="Liberation Sans Narrow" pitchFamily="34"/>
                <a:ea typeface="微軟正黑體" pitchFamily="34"/>
                <a:cs typeface="Mangal" pitchFamily="2"/>
              </a:rPr>
              <a:t>：</a:t>
            </a:r>
            <a:r>
              <a:rPr lang="en-US" dirty="0" err="1">
                <a:highlight>
                  <a:scrgbClr r="0" g="0" b="0">
                    <a:alpha val="0"/>
                  </a:scrgbClr>
                </a:highlight>
                <a:latin typeface="Liberation Sans Narrow" pitchFamily="34"/>
                <a:ea typeface="微軟正黑體" pitchFamily="34"/>
                <a:cs typeface="Mangal" pitchFamily="2"/>
              </a:rPr>
              <a:t>Jyun-Hao</a:t>
            </a:r>
            <a:r>
              <a:rPr lang="en-US" dirty="0">
                <a:highlight>
                  <a:scrgbClr r="0" g="0" b="0">
                    <a:alpha val="0"/>
                  </a:scrgbClr>
                </a:highlight>
                <a:latin typeface="Liberation Sans Narrow" pitchFamily="34"/>
                <a:ea typeface="微軟正黑體" pitchFamily="34"/>
                <a:cs typeface="Mangal" pitchFamily="2"/>
              </a:rPr>
              <a:t> Lai</a:t>
            </a:r>
          </a:p>
          <a:p>
            <a:pPr lvl="1" algn="r" hangingPunct="0">
              <a:spcBef>
                <a:spcPts val="1284"/>
              </a:spcBef>
              <a:buNone/>
            </a:pPr>
            <a:r>
              <a:rPr lang="en-US" dirty="0">
                <a:highlight>
                  <a:scrgbClr r="0" g="0" b="0">
                    <a:alpha val="0"/>
                  </a:scrgbClr>
                </a:highlight>
                <a:latin typeface="Liberation Sans Narrow" pitchFamily="34"/>
                <a:ea typeface="微軟正黑體" pitchFamily="34"/>
                <a:cs typeface="Mangal" pitchFamily="2"/>
              </a:rPr>
              <a:t>Date</a:t>
            </a:r>
            <a:r>
              <a:rPr lang="zh-TW" dirty="0">
                <a:highlight>
                  <a:scrgbClr r="0" g="0" b="0">
                    <a:alpha val="0"/>
                  </a:scrgbClr>
                </a:highlight>
                <a:latin typeface="Liberation Sans Narrow" pitchFamily="34"/>
                <a:ea typeface="微軟正黑體" pitchFamily="34"/>
                <a:cs typeface="Mangal" pitchFamily="2"/>
              </a:rPr>
              <a:t>：</a:t>
            </a:r>
            <a:r>
              <a:rPr lang="en-US" altLang="zh-TW" dirty="0">
                <a:highlight>
                  <a:scrgbClr r="0" g="0" b="0">
                    <a:alpha val="0"/>
                  </a:scrgbClr>
                </a:highlight>
                <a:latin typeface="Liberation Sans Narrow" pitchFamily="34"/>
                <a:ea typeface="微軟正黑體" pitchFamily="34"/>
                <a:cs typeface="Mangal" pitchFamily="2"/>
              </a:rPr>
              <a:t>2016</a:t>
            </a:r>
            <a:r>
              <a:rPr lang="en-US" dirty="0">
                <a:highlight>
                  <a:scrgbClr r="0" g="0" b="0">
                    <a:alpha val="0"/>
                  </a:scrgbClr>
                </a:highlight>
                <a:latin typeface="Liberation Sans Narrow" pitchFamily="34"/>
                <a:ea typeface="微軟正黑體" pitchFamily="34"/>
                <a:cs typeface="Mangal" pitchFamily="2"/>
              </a:rPr>
              <a:t> / 12 / 22</a:t>
            </a:r>
          </a:p>
        </p:txBody>
      </p:sp>
      <p:sp>
        <p:nvSpPr>
          <p:cNvPr id="5" name="文字方塊 4"/>
          <p:cNvSpPr txBox="1"/>
          <p:nvPr/>
        </p:nvSpPr>
        <p:spPr>
          <a:xfrm>
            <a:off x="4244548" y="4048177"/>
            <a:ext cx="3339376" cy="469231"/>
          </a:xfrm>
          <a:prstGeom prst="rect">
            <a:avLst/>
          </a:prstGeom>
          <a:noFill/>
        </p:spPr>
        <p:txBody>
          <a:bodyPr wrap="none" rtlCol="0">
            <a:spAutoFit/>
          </a:bodyPr>
          <a:lstStyle/>
          <a:p>
            <a:r>
              <a:rPr lang="en-US" altLang="zh-TW" sz="2449" b="1" dirty="0">
                <a:solidFill>
                  <a:srgbClr val="898989"/>
                </a:solidFill>
                <a:highlight>
                  <a:scrgbClr r="0" g="0" b="0">
                    <a:alpha val="0"/>
                  </a:scrgbClr>
                </a:highlight>
                <a:latin typeface="Liberation Sans Narrow" pitchFamily="34"/>
                <a:ea typeface="新細明體" pitchFamily="2"/>
                <a:cs typeface="Mangal" pitchFamily="2"/>
              </a:rPr>
              <a:t>Thomas G. </a:t>
            </a:r>
            <a:r>
              <a:rPr lang="en-US" altLang="zh-TW" sz="2449" b="1" dirty="0" err="1">
                <a:solidFill>
                  <a:srgbClr val="898989"/>
                </a:solidFill>
                <a:highlight>
                  <a:scrgbClr r="0" g="0" b="0">
                    <a:alpha val="0"/>
                  </a:scrgbClr>
                </a:highlight>
                <a:latin typeface="Liberation Sans Narrow" pitchFamily="34"/>
                <a:ea typeface="新細明體" pitchFamily="2"/>
                <a:cs typeface="Mangal" pitchFamily="2"/>
              </a:rPr>
              <a:t>Dietterich</a:t>
            </a:r>
            <a:endParaRPr lang="zh-TW" altLang="en-US" sz="2449" b="1" dirty="0">
              <a:solidFill>
                <a:srgbClr val="898989"/>
              </a:solidFill>
              <a:highlight>
                <a:scrgbClr r="0" g="0" b="0">
                  <a:alpha val="0"/>
                </a:scrgbClr>
              </a:highlight>
              <a:latin typeface="Liberation Sans Narrow" pitchFamily="34"/>
              <a:ea typeface="新細明體" pitchFamily="2"/>
              <a:cs typeface="Mangal" pitchFamily="2"/>
            </a:endParaRPr>
          </a:p>
        </p:txBody>
      </p:sp>
    </p:spTree>
    <p:extLst>
      <p:ext uri="{BB962C8B-B14F-4D97-AF65-F5344CB8AC3E}">
        <p14:creationId xmlns:p14="http://schemas.microsoft.com/office/powerpoint/2010/main" val="2774945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09560" y="68562"/>
            <a:ext cx="10515600" cy="1325563"/>
          </a:xfrm>
        </p:spPr>
        <p:txBody>
          <a:bodyPr/>
          <a:lstStyle/>
          <a:p>
            <a:r>
              <a:rPr lang="en-US" altLang="zh-TW" b="1" dirty="0"/>
              <a:t>Abstract</a:t>
            </a:r>
            <a:endParaRPr lang="zh-TW" altLang="en-US" dirty="0"/>
          </a:p>
        </p:txBody>
      </p:sp>
      <p:sp>
        <p:nvSpPr>
          <p:cNvPr id="3" name="內容版面配置區 2"/>
          <p:cNvSpPr>
            <a:spLocks noGrp="1"/>
          </p:cNvSpPr>
          <p:nvPr>
            <p:ph idx="1"/>
          </p:nvPr>
        </p:nvSpPr>
        <p:spPr>
          <a:xfrm>
            <a:off x="609560" y="1228166"/>
            <a:ext cx="11384732" cy="5013243"/>
          </a:xfrm>
        </p:spPr>
        <p:txBody>
          <a:bodyPr>
            <a:normAutofit/>
          </a:bodyPr>
          <a:lstStyle/>
          <a:p>
            <a:pPr marL="0" indent="0">
              <a:buNone/>
            </a:pPr>
            <a:r>
              <a:rPr lang="en-US" altLang="zh-TW" sz="3300" dirty="0">
                <a:latin typeface="Cambria Math" panose="02040503050406030204" pitchFamily="18" charset="0"/>
              </a:rPr>
              <a:t>Ensemble methods are learning algorithms that construct a set of classifiers and then classify new data points by taking a vote of their predictions. The original ensemble method is Bayesian averaging, but more recent algorithms include error-correcting output coding,  bagging and boosting. This paper reviews these methods and explains why ensembles can often perform better than any single classifier. Some previous studies comparing ensemble methods are reviewed and some new experiments are presented to uncover the reasons that </a:t>
            </a:r>
            <a:r>
              <a:rPr lang="en-US" altLang="zh-TW" sz="3300" dirty="0" err="1">
                <a:latin typeface="Cambria Math" panose="02040503050406030204" pitchFamily="18" charset="0"/>
              </a:rPr>
              <a:t>Adaboost</a:t>
            </a:r>
            <a:r>
              <a:rPr lang="en-US" altLang="zh-TW" sz="3300" dirty="0">
                <a:latin typeface="Cambria Math" panose="02040503050406030204" pitchFamily="18" charset="0"/>
              </a:rPr>
              <a:t> does not </a:t>
            </a:r>
            <a:r>
              <a:rPr lang="en-US" altLang="zh-TW" sz="3300" dirty="0" err="1">
                <a:latin typeface="Cambria Math" panose="02040503050406030204" pitchFamily="18" charset="0"/>
              </a:rPr>
              <a:t>overfit</a:t>
            </a:r>
            <a:r>
              <a:rPr lang="en-US" altLang="zh-TW" sz="3300" dirty="0">
                <a:latin typeface="Cambria Math" panose="02040503050406030204" pitchFamily="18" charset="0"/>
              </a:rPr>
              <a:t> rapidly.</a:t>
            </a:r>
          </a:p>
          <a:p>
            <a:pPr marL="0" indent="0">
              <a:buNone/>
            </a:pPr>
            <a:endParaRPr lang="en-US" altLang="zh-TW" sz="3200" dirty="0">
              <a:latin typeface="Cambria Math" panose="02040503050406030204" pitchFamily="18" charset="0"/>
            </a:endParaRPr>
          </a:p>
        </p:txBody>
      </p:sp>
    </p:spTree>
    <p:extLst>
      <p:ext uri="{BB962C8B-B14F-4D97-AF65-F5344CB8AC3E}">
        <p14:creationId xmlns:p14="http://schemas.microsoft.com/office/powerpoint/2010/main" val="2029115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179172" y="169819"/>
            <a:ext cx="11823357" cy="1238851"/>
          </a:xfrm>
        </p:spPr>
        <p:txBody>
          <a:bodyPr/>
          <a:lstStyle/>
          <a:p>
            <a:pPr marL="0" indent="0">
              <a:buNone/>
            </a:pPr>
            <a:r>
              <a:rPr lang="zh-TW" altLang="en-US" dirty="0">
                <a:latin typeface="微軟正黑體" panose="020B0604030504040204" pitchFamily="34" charset="-120"/>
                <a:ea typeface="微軟正黑體" panose="020B0604030504040204" pitchFamily="34" charset="-120"/>
              </a:rPr>
              <a:t>考慮一個簡單的例子，在一個二元分類的任務當中，假設有三個分類器在測試樣本的表現如下圖</a:t>
            </a:r>
            <a:r>
              <a:rPr lang="zh-TW" altLang="en-US" dirty="0">
                <a:latin typeface="PMingLiU" panose="02020500000000000000" pitchFamily="18" charset="-120"/>
                <a:ea typeface="PMingLiU" panose="02020500000000000000" pitchFamily="18" charset="-120"/>
              </a:rPr>
              <a:t>：</a:t>
            </a:r>
            <a:endParaRPr lang="zh-TW" altLang="en-US" dirty="0">
              <a:latin typeface="微軟正黑體" panose="020B0604030504040204" pitchFamily="34" charset="-120"/>
              <a:ea typeface="微軟正黑體" panose="020B0604030504040204" pitchFamily="34"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207853661"/>
              </p:ext>
            </p:extLst>
          </p:nvPr>
        </p:nvGraphicFramePr>
        <p:xfrm>
          <a:off x="179172" y="1845274"/>
          <a:ext cx="3451656" cy="2259021"/>
        </p:xfrm>
        <a:graphic>
          <a:graphicData uri="http://schemas.openxmlformats.org/drawingml/2006/table">
            <a:tbl>
              <a:tblPr firstRow="1" bandRow="1">
                <a:tableStyleId>{6E25E649-3F16-4E02-A733-19D2CDBF48F0}</a:tableStyleId>
              </a:tblPr>
              <a:tblGrid>
                <a:gridCol w="862914">
                  <a:extLst>
                    <a:ext uri="{9D8B030D-6E8A-4147-A177-3AD203B41FA5}">
                      <a16:colId xmlns:a16="http://schemas.microsoft.com/office/drawing/2014/main" xmlns="" val="20000"/>
                    </a:ext>
                  </a:extLst>
                </a:gridCol>
                <a:gridCol w="862914">
                  <a:extLst>
                    <a:ext uri="{9D8B030D-6E8A-4147-A177-3AD203B41FA5}">
                      <a16:colId xmlns:a16="http://schemas.microsoft.com/office/drawing/2014/main" xmlns="" val="20001"/>
                    </a:ext>
                  </a:extLst>
                </a:gridCol>
                <a:gridCol w="862914">
                  <a:extLst>
                    <a:ext uri="{9D8B030D-6E8A-4147-A177-3AD203B41FA5}">
                      <a16:colId xmlns:a16="http://schemas.microsoft.com/office/drawing/2014/main" xmlns="" val="20002"/>
                    </a:ext>
                  </a:extLst>
                </a:gridCol>
                <a:gridCol w="862914">
                  <a:extLst>
                    <a:ext uri="{9D8B030D-6E8A-4147-A177-3AD203B41FA5}">
                      <a16:colId xmlns:a16="http://schemas.microsoft.com/office/drawing/2014/main" xmlns="" val="20003"/>
                    </a:ext>
                  </a:extLst>
                </a:gridCol>
              </a:tblGrid>
              <a:tr h="576573">
                <a:tc>
                  <a:txBody>
                    <a:bodyPr/>
                    <a:lstStyle/>
                    <a:p>
                      <a:endParaRPr lang="zh-TW" altLang="en-US" dirty="0"/>
                    </a:p>
                  </a:txBody>
                  <a:tcPr/>
                </a:tc>
                <a:tc>
                  <a:txBody>
                    <a:bodyPr/>
                    <a:lstStyle/>
                    <a:p>
                      <a:pPr algn="ctr"/>
                      <a:r>
                        <a:rPr lang="zh-TW" altLang="en-US" sz="1800" dirty="0"/>
                        <a:t>測試資料</a:t>
                      </a:r>
                      <a:r>
                        <a:rPr lang="en-US" altLang="zh-TW" sz="1800" dirty="0"/>
                        <a:t>1</a:t>
                      </a:r>
                      <a:endParaRPr lang="zh-TW" altLang="en-US" sz="1800" dirty="0"/>
                    </a:p>
                  </a:txBody>
                  <a:tcPr/>
                </a:tc>
                <a:tc>
                  <a:txBody>
                    <a:bodyPr/>
                    <a:lstStyle/>
                    <a:p>
                      <a:pPr algn="ctr"/>
                      <a:r>
                        <a:rPr lang="zh-TW" altLang="en-US" dirty="0"/>
                        <a:t>測試資料</a:t>
                      </a:r>
                      <a:r>
                        <a:rPr lang="en-US" altLang="zh-TW" dirty="0"/>
                        <a:t>2</a:t>
                      </a:r>
                      <a:endParaRPr lang="zh-TW" altLang="en-US" dirty="0"/>
                    </a:p>
                  </a:txBody>
                  <a:tcPr/>
                </a:tc>
                <a:tc>
                  <a:txBody>
                    <a:bodyPr/>
                    <a:lstStyle/>
                    <a:p>
                      <a:pPr algn="ctr"/>
                      <a:r>
                        <a:rPr lang="zh-TW" altLang="en-US" dirty="0"/>
                        <a:t>測試資料</a:t>
                      </a:r>
                      <a:r>
                        <a:rPr lang="en-US" altLang="zh-TW" dirty="0"/>
                        <a:t>3</a:t>
                      </a:r>
                      <a:endParaRPr lang="zh-TW" altLang="en-US" dirty="0"/>
                    </a:p>
                  </a:txBody>
                  <a:tcPr/>
                </a:tc>
                <a:extLst>
                  <a:ext uri="{0D108BD9-81ED-4DB2-BD59-A6C34878D82A}">
                    <a16:rowId xmlns:a16="http://schemas.microsoft.com/office/drawing/2014/main" xmlns="" val="10000"/>
                  </a:ext>
                </a:extLst>
              </a:tr>
              <a:tr h="329470">
                <a:tc>
                  <a:txBody>
                    <a:bodyPr/>
                    <a:lstStyle/>
                    <a:p>
                      <a:pPr algn="ctr"/>
                      <a:r>
                        <a:rPr lang="en-US" altLang="zh-TW" dirty="0"/>
                        <a:t>h1</a:t>
                      </a:r>
                      <a:endParaRPr lang="zh-TW" altLang="en-US" dirty="0"/>
                    </a:p>
                  </a:txBody>
                  <a:tcPr/>
                </a:tc>
                <a:tc>
                  <a:txBody>
                    <a:bodyPr/>
                    <a:lstStyle/>
                    <a:p>
                      <a:pPr algn="ctr"/>
                      <a:r>
                        <a:rPr lang="en-US" altLang="zh-TW" b="1" dirty="0"/>
                        <a:t>O</a:t>
                      </a:r>
                      <a:endParaRPr lang="zh-TW" altLang="en-US" b="1" dirty="0"/>
                    </a:p>
                  </a:txBody>
                  <a:tcPr/>
                </a:tc>
                <a:tc>
                  <a:txBody>
                    <a:bodyPr/>
                    <a:lstStyle/>
                    <a:p>
                      <a:pPr algn="ctr"/>
                      <a:r>
                        <a:rPr lang="en-US" altLang="zh-TW" b="1" dirty="0"/>
                        <a:t>O</a:t>
                      </a:r>
                      <a:endParaRPr lang="zh-TW" altLang="en-US" b="1" dirty="0"/>
                    </a:p>
                  </a:txBody>
                  <a:tcPr/>
                </a:tc>
                <a:tc>
                  <a:txBody>
                    <a:bodyPr/>
                    <a:lstStyle/>
                    <a:p>
                      <a:pPr algn="ctr"/>
                      <a:r>
                        <a:rPr lang="en-US" altLang="zh-TW" b="1" dirty="0">
                          <a:solidFill>
                            <a:srgbClr val="FF0000"/>
                          </a:solidFill>
                        </a:rPr>
                        <a:t>X</a:t>
                      </a:r>
                      <a:endParaRPr lang="zh-TW" altLang="en-US" b="1" dirty="0">
                        <a:solidFill>
                          <a:srgbClr val="FF0000"/>
                        </a:solidFill>
                      </a:endParaRPr>
                    </a:p>
                  </a:txBody>
                  <a:tcPr/>
                </a:tc>
                <a:extLst>
                  <a:ext uri="{0D108BD9-81ED-4DB2-BD59-A6C34878D82A}">
                    <a16:rowId xmlns:a16="http://schemas.microsoft.com/office/drawing/2014/main" xmlns="" val="10001"/>
                  </a:ext>
                </a:extLst>
              </a:tr>
              <a:tr h="32947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h2</a:t>
                      </a:r>
                      <a:endParaRPr lang="zh-TW" altLang="en-US" dirty="0"/>
                    </a:p>
                  </a:txBody>
                  <a:tcPr/>
                </a:tc>
                <a:tc>
                  <a:txBody>
                    <a:bodyPr/>
                    <a:lstStyle/>
                    <a:p>
                      <a:pPr algn="ctr"/>
                      <a:r>
                        <a:rPr lang="en-US" altLang="zh-TW" b="1" dirty="0">
                          <a:solidFill>
                            <a:srgbClr val="FF0000"/>
                          </a:solidFill>
                        </a:rPr>
                        <a:t>X</a:t>
                      </a:r>
                      <a:endParaRPr lang="zh-TW" altLang="en-US" b="1" dirty="0">
                        <a:solidFill>
                          <a:srgbClr val="FF0000"/>
                        </a:solidFill>
                      </a:endParaRPr>
                    </a:p>
                  </a:txBody>
                  <a:tcPr/>
                </a:tc>
                <a:tc>
                  <a:txBody>
                    <a:bodyPr/>
                    <a:lstStyle/>
                    <a:p>
                      <a:pPr algn="ctr"/>
                      <a:r>
                        <a:rPr lang="en-US" altLang="zh-TW" b="1" dirty="0"/>
                        <a:t>O</a:t>
                      </a:r>
                      <a:endParaRPr lang="zh-TW" altLang="en-US" b="1" dirty="0"/>
                    </a:p>
                  </a:txBody>
                  <a:tcPr/>
                </a:tc>
                <a:tc>
                  <a:txBody>
                    <a:bodyPr/>
                    <a:lstStyle/>
                    <a:p>
                      <a:pPr algn="ctr"/>
                      <a:r>
                        <a:rPr lang="en-US" altLang="zh-TW" b="1" dirty="0"/>
                        <a:t>O</a:t>
                      </a:r>
                      <a:endParaRPr lang="zh-TW" altLang="en-US" b="1" dirty="0"/>
                    </a:p>
                  </a:txBody>
                  <a:tcPr/>
                </a:tc>
                <a:extLst>
                  <a:ext uri="{0D108BD9-81ED-4DB2-BD59-A6C34878D82A}">
                    <a16:rowId xmlns:a16="http://schemas.microsoft.com/office/drawing/2014/main" xmlns="" val="10002"/>
                  </a:ext>
                </a:extLst>
              </a:tr>
              <a:tr h="32947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h3</a:t>
                      </a:r>
                      <a:endParaRPr lang="zh-TW" altLang="en-US" dirty="0"/>
                    </a:p>
                  </a:txBody>
                  <a:tcPr/>
                </a:tc>
                <a:tc>
                  <a:txBody>
                    <a:bodyPr/>
                    <a:lstStyle/>
                    <a:p>
                      <a:pPr algn="ctr"/>
                      <a:r>
                        <a:rPr lang="en-US" altLang="zh-TW" b="1" dirty="0"/>
                        <a:t>O</a:t>
                      </a:r>
                      <a:endParaRPr lang="zh-TW" altLang="en-US" b="1" dirty="0"/>
                    </a:p>
                  </a:txBody>
                  <a:tcPr/>
                </a:tc>
                <a:tc>
                  <a:txBody>
                    <a:bodyPr/>
                    <a:lstStyle/>
                    <a:p>
                      <a:pPr algn="ctr"/>
                      <a:r>
                        <a:rPr lang="en-US" altLang="zh-TW" b="1" dirty="0">
                          <a:solidFill>
                            <a:srgbClr val="FF0000"/>
                          </a:solidFill>
                        </a:rPr>
                        <a:t>X</a:t>
                      </a:r>
                      <a:endParaRPr lang="zh-TW" altLang="en-US" b="1" dirty="0">
                        <a:solidFill>
                          <a:srgbClr val="FF0000"/>
                        </a:solidFill>
                      </a:endParaRPr>
                    </a:p>
                  </a:txBody>
                  <a:tcPr/>
                </a:tc>
                <a:tc>
                  <a:txBody>
                    <a:bodyPr/>
                    <a:lstStyle/>
                    <a:p>
                      <a:pPr algn="ctr"/>
                      <a:r>
                        <a:rPr lang="en-US" altLang="zh-TW" b="1" dirty="0"/>
                        <a:t>O</a:t>
                      </a:r>
                      <a:endParaRPr lang="zh-TW" altLang="en-US" b="1" dirty="0"/>
                    </a:p>
                  </a:txBody>
                  <a:tcPr/>
                </a:tc>
                <a:extLst>
                  <a:ext uri="{0D108BD9-81ED-4DB2-BD59-A6C34878D82A}">
                    <a16:rowId xmlns:a16="http://schemas.microsoft.com/office/drawing/2014/main" xmlns="" val="10003"/>
                  </a:ext>
                </a:extLst>
              </a:tr>
              <a:tr h="521661">
                <a:tc>
                  <a:txBody>
                    <a:bodyPr/>
                    <a:lstStyle/>
                    <a:p>
                      <a:pPr algn="ctr"/>
                      <a:r>
                        <a:rPr lang="zh-TW" altLang="en-US" sz="1600" dirty="0">
                          <a:latin typeface="微軟正黑體" panose="020B0604030504040204" pitchFamily="34" charset="-120"/>
                          <a:ea typeface="微軟正黑體" panose="020B0604030504040204" pitchFamily="34" charset="-120"/>
                        </a:rPr>
                        <a:t>整體</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1" dirty="0"/>
                        <a:t>O</a:t>
                      </a:r>
                      <a:endParaRPr lang="zh-TW" alt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1" dirty="0"/>
                        <a:t>O</a:t>
                      </a:r>
                      <a:endParaRPr lang="zh-TW" altLang="en-US" b="1" dirty="0"/>
                    </a:p>
                  </a:txBody>
                  <a:tcPr/>
                </a:tc>
                <a:tc>
                  <a:txBody>
                    <a:bodyPr/>
                    <a:lstStyle/>
                    <a:p>
                      <a:pPr algn="ctr"/>
                      <a:r>
                        <a:rPr lang="en-US" altLang="zh-TW" b="1" dirty="0"/>
                        <a:t>O</a:t>
                      </a:r>
                      <a:endParaRPr lang="zh-TW" altLang="en-US" b="1" dirty="0"/>
                    </a:p>
                  </a:txBody>
                  <a:tcPr/>
                </a:tc>
                <a:extLst>
                  <a:ext uri="{0D108BD9-81ED-4DB2-BD59-A6C34878D82A}">
                    <a16:rowId xmlns:a16="http://schemas.microsoft.com/office/drawing/2014/main" xmlns="" val="10004"/>
                  </a:ext>
                </a:extLst>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977936886"/>
              </p:ext>
            </p:extLst>
          </p:nvPr>
        </p:nvGraphicFramePr>
        <p:xfrm>
          <a:off x="4365022" y="1828799"/>
          <a:ext cx="3451656" cy="2103120"/>
        </p:xfrm>
        <a:graphic>
          <a:graphicData uri="http://schemas.openxmlformats.org/drawingml/2006/table">
            <a:tbl>
              <a:tblPr firstRow="1" bandRow="1">
                <a:tableStyleId>{6E25E649-3F16-4E02-A733-19D2CDBF48F0}</a:tableStyleId>
              </a:tblPr>
              <a:tblGrid>
                <a:gridCol w="862914">
                  <a:extLst>
                    <a:ext uri="{9D8B030D-6E8A-4147-A177-3AD203B41FA5}">
                      <a16:colId xmlns:a16="http://schemas.microsoft.com/office/drawing/2014/main" xmlns="" val="20000"/>
                    </a:ext>
                  </a:extLst>
                </a:gridCol>
                <a:gridCol w="862914">
                  <a:extLst>
                    <a:ext uri="{9D8B030D-6E8A-4147-A177-3AD203B41FA5}">
                      <a16:colId xmlns:a16="http://schemas.microsoft.com/office/drawing/2014/main" xmlns="" val="20001"/>
                    </a:ext>
                  </a:extLst>
                </a:gridCol>
                <a:gridCol w="862914">
                  <a:extLst>
                    <a:ext uri="{9D8B030D-6E8A-4147-A177-3AD203B41FA5}">
                      <a16:colId xmlns:a16="http://schemas.microsoft.com/office/drawing/2014/main" xmlns="" val="20002"/>
                    </a:ext>
                  </a:extLst>
                </a:gridCol>
                <a:gridCol w="862914">
                  <a:extLst>
                    <a:ext uri="{9D8B030D-6E8A-4147-A177-3AD203B41FA5}">
                      <a16:colId xmlns:a16="http://schemas.microsoft.com/office/drawing/2014/main" xmlns="" val="20003"/>
                    </a:ext>
                  </a:extLst>
                </a:gridCol>
              </a:tblGrid>
              <a:tr h="640080">
                <a:tc>
                  <a:txBody>
                    <a:bodyPr/>
                    <a:lstStyle/>
                    <a:p>
                      <a:endParaRPr lang="zh-TW" altLang="en-US" dirty="0"/>
                    </a:p>
                  </a:txBody>
                  <a:tcPr/>
                </a:tc>
                <a:tc>
                  <a:txBody>
                    <a:bodyPr/>
                    <a:lstStyle/>
                    <a:p>
                      <a:pPr algn="ctr"/>
                      <a:r>
                        <a:rPr lang="zh-TW" altLang="en-US" dirty="0"/>
                        <a:t>測試資料</a:t>
                      </a:r>
                      <a:r>
                        <a:rPr lang="en-US" altLang="zh-TW" dirty="0"/>
                        <a:t>1</a:t>
                      </a:r>
                      <a:endParaRPr lang="zh-TW" altLang="en-US" dirty="0"/>
                    </a:p>
                  </a:txBody>
                  <a:tcPr/>
                </a:tc>
                <a:tc>
                  <a:txBody>
                    <a:bodyPr/>
                    <a:lstStyle/>
                    <a:p>
                      <a:pPr algn="ctr"/>
                      <a:r>
                        <a:rPr lang="zh-TW" altLang="en-US" dirty="0"/>
                        <a:t>測試資料</a:t>
                      </a:r>
                      <a:r>
                        <a:rPr lang="en-US" altLang="zh-TW" dirty="0"/>
                        <a:t>2</a:t>
                      </a:r>
                      <a:endParaRPr lang="zh-TW" altLang="en-US" dirty="0"/>
                    </a:p>
                  </a:txBody>
                  <a:tcPr/>
                </a:tc>
                <a:tc>
                  <a:txBody>
                    <a:bodyPr/>
                    <a:lstStyle/>
                    <a:p>
                      <a:pPr algn="ctr"/>
                      <a:r>
                        <a:rPr lang="zh-TW" altLang="en-US" dirty="0"/>
                        <a:t>測試資料</a:t>
                      </a:r>
                      <a:r>
                        <a:rPr lang="en-US" altLang="zh-TW" dirty="0"/>
                        <a:t>3</a:t>
                      </a:r>
                      <a:endParaRPr lang="zh-TW" altLang="en-US" dirty="0"/>
                    </a:p>
                  </a:txBody>
                  <a:tcPr/>
                </a:tc>
                <a:extLst>
                  <a:ext uri="{0D108BD9-81ED-4DB2-BD59-A6C34878D82A}">
                    <a16:rowId xmlns:a16="http://schemas.microsoft.com/office/drawing/2014/main" xmlns="" val="10000"/>
                  </a:ext>
                </a:extLst>
              </a:tr>
              <a:tr h="365760">
                <a:tc>
                  <a:txBody>
                    <a:bodyPr/>
                    <a:lstStyle/>
                    <a:p>
                      <a:pPr algn="ctr"/>
                      <a:r>
                        <a:rPr lang="en-US" altLang="zh-TW" dirty="0"/>
                        <a:t>h1</a:t>
                      </a:r>
                      <a:endParaRPr lang="zh-TW" altLang="en-US" dirty="0"/>
                    </a:p>
                  </a:txBody>
                  <a:tcPr/>
                </a:tc>
                <a:tc>
                  <a:txBody>
                    <a:bodyPr/>
                    <a:lstStyle/>
                    <a:p>
                      <a:pPr algn="ctr"/>
                      <a:r>
                        <a:rPr lang="en-US" altLang="zh-TW" b="1" dirty="0"/>
                        <a:t>O</a:t>
                      </a:r>
                      <a:endParaRPr lang="zh-TW" altLang="en-US" b="1" dirty="0"/>
                    </a:p>
                  </a:txBody>
                  <a:tcPr/>
                </a:tc>
                <a:tc>
                  <a:txBody>
                    <a:bodyPr/>
                    <a:lstStyle/>
                    <a:p>
                      <a:pPr algn="ctr"/>
                      <a:r>
                        <a:rPr lang="en-US" altLang="zh-TW" b="1" dirty="0"/>
                        <a:t>O</a:t>
                      </a:r>
                      <a:endParaRPr lang="zh-TW" altLang="en-US" b="1" dirty="0"/>
                    </a:p>
                  </a:txBody>
                  <a:tcPr/>
                </a:tc>
                <a:tc>
                  <a:txBody>
                    <a:bodyPr/>
                    <a:lstStyle/>
                    <a:p>
                      <a:pPr algn="ctr"/>
                      <a:r>
                        <a:rPr lang="en-US" altLang="zh-TW" b="1" dirty="0">
                          <a:solidFill>
                            <a:srgbClr val="FF0000"/>
                          </a:solidFill>
                        </a:rPr>
                        <a:t>X</a:t>
                      </a:r>
                      <a:endParaRPr lang="zh-TW" altLang="en-US" b="1" dirty="0">
                        <a:solidFill>
                          <a:srgbClr val="FF0000"/>
                        </a:solidFill>
                      </a:endParaRPr>
                    </a:p>
                  </a:txBody>
                  <a:tcPr/>
                </a:tc>
                <a:extLst>
                  <a:ext uri="{0D108BD9-81ED-4DB2-BD59-A6C34878D82A}">
                    <a16:rowId xmlns:a16="http://schemas.microsoft.com/office/drawing/2014/main" xmlns="" val="10001"/>
                  </a:ext>
                </a:extLst>
              </a:tr>
              <a:tr h="3657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h2</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1" dirty="0"/>
                        <a:t>O</a:t>
                      </a:r>
                      <a:endParaRPr lang="zh-TW" altLang="en-US" b="1" dirty="0"/>
                    </a:p>
                  </a:txBody>
                  <a:tcPr/>
                </a:tc>
                <a:tc>
                  <a:txBody>
                    <a:bodyPr/>
                    <a:lstStyle/>
                    <a:p>
                      <a:pPr algn="ctr"/>
                      <a:r>
                        <a:rPr lang="en-US" altLang="zh-TW" b="1" dirty="0"/>
                        <a:t>O</a:t>
                      </a:r>
                      <a:endParaRPr lang="zh-TW" altLang="en-US" b="1" dirty="0"/>
                    </a:p>
                  </a:txBody>
                  <a:tcPr/>
                </a:tc>
                <a:tc>
                  <a:txBody>
                    <a:bodyPr/>
                    <a:lstStyle/>
                    <a:p>
                      <a:pPr algn="ctr"/>
                      <a:r>
                        <a:rPr lang="en-US" altLang="zh-TW" b="1" dirty="0">
                          <a:solidFill>
                            <a:srgbClr val="FF0000"/>
                          </a:solidFill>
                        </a:rPr>
                        <a:t>X</a:t>
                      </a:r>
                      <a:endParaRPr lang="zh-TW" altLang="en-US" b="1" dirty="0">
                        <a:solidFill>
                          <a:srgbClr val="FF0000"/>
                        </a:solidFill>
                      </a:endParaRPr>
                    </a:p>
                  </a:txBody>
                  <a:tcPr/>
                </a:tc>
                <a:extLst>
                  <a:ext uri="{0D108BD9-81ED-4DB2-BD59-A6C34878D82A}">
                    <a16:rowId xmlns:a16="http://schemas.microsoft.com/office/drawing/2014/main" xmlns="" val="10002"/>
                  </a:ext>
                </a:extLst>
              </a:tr>
              <a:tr h="3657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h3</a:t>
                      </a:r>
                      <a:endParaRPr lang="zh-TW" altLang="en-US" dirty="0"/>
                    </a:p>
                  </a:txBody>
                  <a:tcPr/>
                </a:tc>
                <a:tc>
                  <a:txBody>
                    <a:bodyPr/>
                    <a:lstStyle/>
                    <a:p>
                      <a:pPr algn="ctr"/>
                      <a:r>
                        <a:rPr lang="en-US" altLang="zh-TW" b="1" dirty="0"/>
                        <a:t>O</a:t>
                      </a:r>
                      <a:endParaRPr lang="zh-TW" altLang="en-US" b="1" dirty="0"/>
                    </a:p>
                  </a:txBody>
                  <a:tcPr/>
                </a:tc>
                <a:tc>
                  <a:txBody>
                    <a:bodyPr/>
                    <a:lstStyle/>
                    <a:p>
                      <a:pPr algn="ctr"/>
                      <a:r>
                        <a:rPr lang="en-US" altLang="zh-TW" b="1" dirty="0"/>
                        <a:t>O</a:t>
                      </a:r>
                      <a:endParaRPr lang="zh-TW" altLang="en-US" b="1" dirty="0"/>
                    </a:p>
                  </a:txBody>
                  <a:tcPr/>
                </a:tc>
                <a:tc>
                  <a:txBody>
                    <a:bodyPr/>
                    <a:lstStyle/>
                    <a:p>
                      <a:pPr algn="ctr"/>
                      <a:r>
                        <a:rPr lang="en-US" altLang="zh-TW" b="1" dirty="0">
                          <a:solidFill>
                            <a:srgbClr val="FF0000"/>
                          </a:solidFill>
                        </a:rPr>
                        <a:t>X</a:t>
                      </a:r>
                      <a:endParaRPr lang="zh-TW" altLang="en-US" b="1" dirty="0">
                        <a:solidFill>
                          <a:srgbClr val="FF0000"/>
                        </a:solidFill>
                      </a:endParaRPr>
                    </a:p>
                  </a:txBody>
                  <a:tcPr/>
                </a:tc>
                <a:extLst>
                  <a:ext uri="{0D108BD9-81ED-4DB2-BD59-A6C34878D82A}">
                    <a16:rowId xmlns:a16="http://schemas.microsoft.com/office/drawing/2014/main" xmlns="" val="10003"/>
                  </a:ext>
                </a:extLst>
              </a:tr>
              <a:tr h="365760">
                <a:tc>
                  <a:txBody>
                    <a:bodyPr/>
                    <a:lstStyle/>
                    <a:p>
                      <a:pPr marL="0" algn="ctr" defTabSz="914400" rtl="0" eaLnBrk="1" latinLnBrk="0" hangingPunct="1"/>
                      <a:r>
                        <a:rPr lang="zh-TW" altLang="en-US" sz="1600" dirty="0">
                          <a:latin typeface="微軟正黑體" panose="020B0604030504040204" pitchFamily="34" charset="-120"/>
                          <a:ea typeface="微軟正黑體" panose="020B0604030504040204" pitchFamily="34" charset="-120"/>
                        </a:rPr>
                        <a:t>整體</a:t>
                      </a:r>
                      <a:endParaRPr lang="zh-TW" altLang="en-US" sz="1600" kern="1200" dirty="0">
                        <a:solidFill>
                          <a:schemeClr val="dk1"/>
                        </a:solidFill>
                        <a:latin typeface="微軟正黑體" panose="020B0604030504040204" pitchFamily="34" charset="-120"/>
                        <a:ea typeface="微軟正黑體" panose="020B0604030504040204" pitchFamily="34" charset="-120"/>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1" dirty="0"/>
                        <a:t>O</a:t>
                      </a:r>
                      <a:endParaRPr lang="zh-TW" alt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1" dirty="0"/>
                        <a:t>O</a:t>
                      </a:r>
                      <a:endParaRPr lang="zh-TW" altLang="en-US" b="1" dirty="0"/>
                    </a:p>
                  </a:txBody>
                  <a:tcPr/>
                </a:tc>
                <a:tc>
                  <a:txBody>
                    <a:bodyPr/>
                    <a:lstStyle/>
                    <a:p>
                      <a:pPr algn="ctr"/>
                      <a:r>
                        <a:rPr lang="en-US" altLang="zh-TW" b="1" dirty="0">
                          <a:solidFill>
                            <a:srgbClr val="FF0000"/>
                          </a:solidFill>
                        </a:rPr>
                        <a:t>X</a:t>
                      </a:r>
                      <a:endParaRPr lang="zh-TW" altLang="en-US" b="1" dirty="0">
                        <a:solidFill>
                          <a:srgbClr val="FF0000"/>
                        </a:solidFill>
                      </a:endParaRPr>
                    </a:p>
                  </a:txBody>
                  <a:tcPr/>
                </a:tc>
                <a:extLst>
                  <a:ext uri="{0D108BD9-81ED-4DB2-BD59-A6C34878D82A}">
                    <a16:rowId xmlns:a16="http://schemas.microsoft.com/office/drawing/2014/main" xmlns="" val="10004"/>
                  </a:ext>
                </a:extLst>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2383379526"/>
              </p:ext>
            </p:extLst>
          </p:nvPr>
        </p:nvGraphicFramePr>
        <p:xfrm>
          <a:off x="8550873" y="1828799"/>
          <a:ext cx="3451656" cy="2103120"/>
        </p:xfrm>
        <a:graphic>
          <a:graphicData uri="http://schemas.openxmlformats.org/drawingml/2006/table">
            <a:tbl>
              <a:tblPr firstRow="1" bandRow="1">
                <a:tableStyleId>{6E25E649-3F16-4E02-A733-19D2CDBF48F0}</a:tableStyleId>
              </a:tblPr>
              <a:tblGrid>
                <a:gridCol w="862914">
                  <a:extLst>
                    <a:ext uri="{9D8B030D-6E8A-4147-A177-3AD203B41FA5}">
                      <a16:colId xmlns:a16="http://schemas.microsoft.com/office/drawing/2014/main" xmlns="" val="20000"/>
                    </a:ext>
                  </a:extLst>
                </a:gridCol>
                <a:gridCol w="862914">
                  <a:extLst>
                    <a:ext uri="{9D8B030D-6E8A-4147-A177-3AD203B41FA5}">
                      <a16:colId xmlns:a16="http://schemas.microsoft.com/office/drawing/2014/main" xmlns="" val="20001"/>
                    </a:ext>
                  </a:extLst>
                </a:gridCol>
                <a:gridCol w="862914">
                  <a:extLst>
                    <a:ext uri="{9D8B030D-6E8A-4147-A177-3AD203B41FA5}">
                      <a16:colId xmlns:a16="http://schemas.microsoft.com/office/drawing/2014/main" xmlns="" val="20002"/>
                    </a:ext>
                  </a:extLst>
                </a:gridCol>
                <a:gridCol w="862914">
                  <a:extLst>
                    <a:ext uri="{9D8B030D-6E8A-4147-A177-3AD203B41FA5}">
                      <a16:colId xmlns:a16="http://schemas.microsoft.com/office/drawing/2014/main" xmlns="" val="20003"/>
                    </a:ext>
                  </a:extLst>
                </a:gridCol>
              </a:tblGrid>
              <a:tr h="640080">
                <a:tc>
                  <a:txBody>
                    <a:bodyPr/>
                    <a:lstStyle/>
                    <a:p>
                      <a:endParaRPr lang="zh-TW" altLang="en-US" dirty="0"/>
                    </a:p>
                  </a:txBody>
                  <a:tcPr/>
                </a:tc>
                <a:tc>
                  <a:txBody>
                    <a:bodyPr/>
                    <a:lstStyle/>
                    <a:p>
                      <a:pPr algn="ctr"/>
                      <a:r>
                        <a:rPr lang="zh-TW" altLang="en-US" dirty="0"/>
                        <a:t>測試資料</a:t>
                      </a:r>
                      <a:r>
                        <a:rPr lang="en-US" altLang="zh-TW" dirty="0"/>
                        <a:t>1</a:t>
                      </a:r>
                      <a:endParaRPr lang="zh-TW" altLang="en-US" dirty="0"/>
                    </a:p>
                  </a:txBody>
                  <a:tcPr/>
                </a:tc>
                <a:tc>
                  <a:txBody>
                    <a:bodyPr/>
                    <a:lstStyle/>
                    <a:p>
                      <a:pPr algn="ctr"/>
                      <a:r>
                        <a:rPr lang="zh-TW" altLang="en-US" dirty="0"/>
                        <a:t>測試資料</a:t>
                      </a:r>
                      <a:r>
                        <a:rPr lang="en-US" altLang="zh-TW" dirty="0"/>
                        <a:t>2</a:t>
                      </a:r>
                      <a:endParaRPr lang="zh-TW" altLang="en-US" dirty="0"/>
                    </a:p>
                  </a:txBody>
                  <a:tcPr/>
                </a:tc>
                <a:tc>
                  <a:txBody>
                    <a:bodyPr/>
                    <a:lstStyle/>
                    <a:p>
                      <a:pPr algn="ctr"/>
                      <a:r>
                        <a:rPr lang="zh-TW" altLang="en-US" dirty="0"/>
                        <a:t>測試資料</a:t>
                      </a:r>
                      <a:r>
                        <a:rPr lang="en-US" altLang="zh-TW" dirty="0"/>
                        <a:t>3</a:t>
                      </a:r>
                      <a:endParaRPr lang="zh-TW" altLang="en-US" dirty="0"/>
                    </a:p>
                  </a:txBody>
                  <a:tcPr/>
                </a:tc>
                <a:extLst>
                  <a:ext uri="{0D108BD9-81ED-4DB2-BD59-A6C34878D82A}">
                    <a16:rowId xmlns:a16="http://schemas.microsoft.com/office/drawing/2014/main" xmlns="" val="10000"/>
                  </a:ext>
                </a:extLst>
              </a:tr>
              <a:tr h="365760">
                <a:tc>
                  <a:txBody>
                    <a:bodyPr/>
                    <a:lstStyle/>
                    <a:p>
                      <a:pPr algn="ctr"/>
                      <a:r>
                        <a:rPr lang="en-US" altLang="zh-TW" dirty="0"/>
                        <a:t>h1</a:t>
                      </a:r>
                      <a:endParaRPr lang="zh-TW" altLang="en-US" dirty="0"/>
                    </a:p>
                  </a:txBody>
                  <a:tcPr/>
                </a:tc>
                <a:tc>
                  <a:txBody>
                    <a:bodyPr/>
                    <a:lstStyle/>
                    <a:p>
                      <a:pPr algn="ctr"/>
                      <a:r>
                        <a:rPr lang="en-US" altLang="zh-TW" b="1" dirty="0"/>
                        <a:t>O</a:t>
                      </a:r>
                      <a:endParaRPr lang="zh-TW" altLang="en-US" b="1" dirty="0"/>
                    </a:p>
                  </a:txBody>
                  <a:tcPr/>
                </a:tc>
                <a:tc>
                  <a:txBody>
                    <a:bodyPr/>
                    <a:lstStyle/>
                    <a:p>
                      <a:pPr algn="ctr"/>
                      <a:r>
                        <a:rPr lang="en-US" altLang="zh-TW" b="1" dirty="0">
                          <a:solidFill>
                            <a:srgbClr val="FF0000"/>
                          </a:solidFill>
                        </a:rPr>
                        <a:t>X</a:t>
                      </a:r>
                      <a:endParaRPr lang="zh-TW" altLang="en-US" b="1" dirty="0">
                        <a:solidFill>
                          <a:srgbClr val="FF0000"/>
                        </a:solidFill>
                      </a:endParaRPr>
                    </a:p>
                  </a:txBody>
                  <a:tcPr/>
                </a:tc>
                <a:tc>
                  <a:txBody>
                    <a:bodyPr/>
                    <a:lstStyle/>
                    <a:p>
                      <a:pPr algn="ctr"/>
                      <a:r>
                        <a:rPr lang="en-US" altLang="zh-TW" b="1" dirty="0">
                          <a:solidFill>
                            <a:srgbClr val="FF0000"/>
                          </a:solidFill>
                        </a:rPr>
                        <a:t>X</a:t>
                      </a:r>
                      <a:endParaRPr lang="zh-TW" altLang="en-US" b="1" dirty="0">
                        <a:solidFill>
                          <a:srgbClr val="FF0000"/>
                        </a:solidFill>
                      </a:endParaRPr>
                    </a:p>
                  </a:txBody>
                  <a:tcPr/>
                </a:tc>
                <a:extLst>
                  <a:ext uri="{0D108BD9-81ED-4DB2-BD59-A6C34878D82A}">
                    <a16:rowId xmlns:a16="http://schemas.microsoft.com/office/drawing/2014/main" xmlns="" val="10001"/>
                  </a:ext>
                </a:extLst>
              </a:tr>
              <a:tr h="3657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h2</a:t>
                      </a:r>
                      <a:endParaRPr lang="zh-TW" altLang="en-US" dirty="0"/>
                    </a:p>
                  </a:txBody>
                  <a:tcPr/>
                </a:tc>
                <a:tc>
                  <a:txBody>
                    <a:bodyPr/>
                    <a:lstStyle/>
                    <a:p>
                      <a:pPr algn="ctr"/>
                      <a:r>
                        <a:rPr lang="en-US" altLang="zh-TW" b="1" dirty="0">
                          <a:solidFill>
                            <a:srgbClr val="FF0000"/>
                          </a:solidFill>
                        </a:rPr>
                        <a:t>X</a:t>
                      </a:r>
                      <a:endParaRPr lang="zh-TW" altLang="en-US" b="1" dirty="0">
                        <a:solidFill>
                          <a:srgbClr val="FF0000"/>
                        </a:solidFill>
                      </a:endParaRPr>
                    </a:p>
                  </a:txBody>
                  <a:tcPr/>
                </a:tc>
                <a:tc>
                  <a:txBody>
                    <a:bodyPr/>
                    <a:lstStyle/>
                    <a:p>
                      <a:pPr algn="ctr"/>
                      <a:r>
                        <a:rPr lang="en-US" altLang="zh-TW" b="1" dirty="0"/>
                        <a:t>O</a:t>
                      </a:r>
                      <a:endParaRPr lang="zh-TW" altLang="en-US" b="1" dirty="0"/>
                    </a:p>
                  </a:txBody>
                  <a:tcPr/>
                </a:tc>
                <a:tc>
                  <a:txBody>
                    <a:bodyPr/>
                    <a:lstStyle/>
                    <a:p>
                      <a:pPr algn="ctr"/>
                      <a:r>
                        <a:rPr lang="en-US" altLang="zh-TW" b="1" dirty="0">
                          <a:solidFill>
                            <a:srgbClr val="FF0000"/>
                          </a:solidFill>
                        </a:rPr>
                        <a:t>X</a:t>
                      </a:r>
                      <a:endParaRPr lang="zh-TW" altLang="en-US" b="1" dirty="0">
                        <a:solidFill>
                          <a:srgbClr val="FF0000"/>
                        </a:solidFill>
                      </a:endParaRPr>
                    </a:p>
                  </a:txBody>
                  <a:tcPr/>
                </a:tc>
                <a:extLst>
                  <a:ext uri="{0D108BD9-81ED-4DB2-BD59-A6C34878D82A}">
                    <a16:rowId xmlns:a16="http://schemas.microsoft.com/office/drawing/2014/main" xmlns="" val="10002"/>
                  </a:ext>
                </a:extLst>
              </a:tr>
              <a:tr h="3657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h3</a:t>
                      </a:r>
                      <a:endParaRPr lang="zh-TW" altLang="en-US" dirty="0"/>
                    </a:p>
                  </a:txBody>
                  <a:tcPr/>
                </a:tc>
                <a:tc>
                  <a:txBody>
                    <a:bodyPr/>
                    <a:lstStyle/>
                    <a:p>
                      <a:pPr algn="ctr"/>
                      <a:r>
                        <a:rPr lang="en-US" altLang="zh-TW" b="1" dirty="0">
                          <a:solidFill>
                            <a:srgbClr val="FF0000"/>
                          </a:solidFill>
                        </a:rPr>
                        <a:t>X</a:t>
                      </a:r>
                      <a:endParaRPr lang="zh-TW" altLang="en-US" b="1" dirty="0">
                        <a:solidFill>
                          <a:srgbClr val="FF0000"/>
                        </a:solidFill>
                      </a:endParaRPr>
                    </a:p>
                  </a:txBody>
                  <a:tcPr/>
                </a:tc>
                <a:tc>
                  <a:txBody>
                    <a:bodyPr/>
                    <a:lstStyle/>
                    <a:p>
                      <a:pPr algn="ctr"/>
                      <a:r>
                        <a:rPr lang="en-US" altLang="zh-TW" b="1" dirty="0">
                          <a:solidFill>
                            <a:srgbClr val="FF0000"/>
                          </a:solidFill>
                        </a:rPr>
                        <a:t>X</a:t>
                      </a:r>
                      <a:endParaRPr lang="zh-TW" altLang="en-US" b="1" dirty="0">
                        <a:solidFill>
                          <a:srgbClr val="FF0000"/>
                        </a:solidFill>
                      </a:endParaRPr>
                    </a:p>
                  </a:txBody>
                  <a:tcPr/>
                </a:tc>
                <a:tc>
                  <a:txBody>
                    <a:bodyPr/>
                    <a:lstStyle/>
                    <a:p>
                      <a:pPr algn="ctr"/>
                      <a:r>
                        <a:rPr lang="en-US" altLang="zh-TW" b="1" dirty="0"/>
                        <a:t>O</a:t>
                      </a:r>
                      <a:endParaRPr lang="zh-TW" altLang="en-US" b="1" dirty="0"/>
                    </a:p>
                  </a:txBody>
                  <a:tcPr/>
                </a:tc>
                <a:extLst>
                  <a:ext uri="{0D108BD9-81ED-4DB2-BD59-A6C34878D82A}">
                    <a16:rowId xmlns:a16="http://schemas.microsoft.com/office/drawing/2014/main" xmlns="" val="10003"/>
                  </a:ext>
                </a:extLst>
              </a:tr>
              <a:tr h="365760">
                <a:tc>
                  <a:txBody>
                    <a:bodyPr/>
                    <a:lstStyle/>
                    <a:p>
                      <a:pPr marL="0" algn="ctr" defTabSz="914400" rtl="0" eaLnBrk="1" latinLnBrk="0" hangingPunct="1"/>
                      <a:r>
                        <a:rPr lang="zh-TW" altLang="en-US" sz="1600" dirty="0">
                          <a:latin typeface="微軟正黑體" panose="020B0604030504040204" pitchFamily="34" charset="-120"/>
                          <a:ea typeface="微軟正黑體" panose="020B0604030504040204" pitchFamily="34" charset="-120"/>
                        </a:rPr>
                        <a:t>整體</a:t>
                      </a:r>
                      <a:endParaRPr lang="zh-TW" altLang="en-US" sz="1600" kern="1200" dirty="0">
                        <a:solidFill>
                          <a:schemeClr val="dk1"/>
                        </a:solidFill>
                        <a:latin typeface="微軟正黑體" panose="020B0604030504040204" pitchFamily="34" charset="-120"/>
                        <a:ea typeface="微軟正黑體" panose="020B0604030504040204" pitchFamily="34" charset="-120"/>
                        <a:cs typeface="+mn-cs"/>
                      </a:endParaRPr>
                    </a:p>
                  </a:txBody>
                  <a:tcPr/>
                </a:tc>
                <a:tc>
                  <a:txBody>
                    <a:bodyPr/>
                    <a:lstStyle/>
                    <a:p>
                      <a:pPr algn="ctr"/>
                      <a:r>
                        <a:rPr lang="en-US" altLang="zh-TW" b="1" dirty="0">
                          <a:solidFill>
                            <a:srgbClr val="FF0000"/>
                          </a:solidFill>
                        </a:rPr>
                        <a:t>X</a:t>
                      </a:r>
                      <a:endParaRPr lang="zh-TW" altLang="en-US" b="1" dirty="0">
                        <a:solidFill>
                          <a:srgbClr val="FF0000"/>
                        </a:solidFill>
                      </a:endParaRPr>
                    </a:p>
                  </a:txBody>
                  <a:tcPr/>
                </a:tc>
                <a:tc>
                  <a:txBody>
                    <a:bodyPr/>
                    <a:lstStyle/>
                    <a:p>
                      <a:pPr algn="ctr"/>
                      <a:r>
                        <a:rPr lang="en-US" altLang="zh-TW" b="1" dirty="0">
                          <a:solidFill>
                            <a:srgbClr val="FF0000"/>
                          </a:solidFill>
                        </a:rPr>
                        <a:t>X</a:t>
                      </a:r>
                      <a:endParaRPr lang="zh-TW" altLang="en-US" b="1" dirty="0">
                        <a:solidFill>
                          <a:srgbClr val="FF0000"/>
                        </a:solidFill>
                      </a:endParaRPr>
                    </a:p>
                  </a:txBody>
                  <a:tcPr/>
                </a:tc>
                <a:tc>
                  <a:txBody>
                    <a:bodyPr/>
                    <a:lstStyle/>
                    <a:p>
                      <a:pPr algn="ctr"/>
                      <a:r>
                        <a:rPr lang="en-US" altLang="zh-TW" b="1" dirty="0">
                          <a:solidFill>
                            <a:srgbClr val="FF0000"/>
                          </a:solidFill>
                        </a:rPr>
                        <a:t>X</a:t>
                      </a:r>
                      <a:endParaRPr lang="zh-TW" altLang="en-US" b="1" dirty="0">
                        <a:solidFill>
                          <a:srgbClr val="FF0000"/>
                        </a:solidFill>
                      </a:endParaRPr>
                    </a:p>
                  </a:txBody>
                  <a:tcPr/>
                </a:tc>
                <a:extLst>
                  <a:ext uri="{0D108BD9-81ED-4DB2-BD59-A6C34878D82A}">
                    <a16:rowId xmlns:a16="http://schemas.microsoft.com/office/drawing/2014/main" xmlns="" val="10004"/>
                  </a:ext>
                </a:extLst>
              </a:tr>
            </a:tbl>
          </a:graphicData>
        </a:graphic>
      </p:graphicFrame>
      <p:sp>
        <p:nvSpPr>
          <p:cNvPr id="9" name="文字方塊 8"/>
          <p:cNvSpPr txBox="1"/>
          <p:nvPr/>
        </p:nvSpPr>
        <p:spPr>
          <a:xfrm>
            <a:off x="1225166" y="4188801"/>
            <a:ext cx="1359668" cy="369332"/>
          </a:xfrm>
          <a:prstGeom prst="rect">
            <a:avLst/>
          </a:prstGeom>
          <a:noFill/>
        </p:spPr>
        <p:txBody>
          <a:bodyPr wrap="none" rtlCol="0">
            <a:spAutoFit/>
          </a:bodyPr>
          <a:lstStyle/>
          <a:p>
            <a:r>
              <a:rPr lang="en-US" altLang="zh-TW" dirty="0"/>
              <a:t>(a)</a:t>
            </a:r>
            <a:r>
              <a:rPr lang="zh-TW" altLang="en-US" dirty="0"/>
              <a:t>提升效能</a:t>
            </a:r>
          </a:p>
        </p:txBody>
      </p:sp>
      <p:sp>
        <p:nvSpPr>
          <p:cNvPr id="10" name="文字方塊 9"/>
          <p:cNvSpPr txBox="1"/>
          <p:nvPr/>
        </p:nvSpPr>
        <p:spPr>
          <a:xfrm>
            <a:off x="5451302" y="4188801"/>
            <a:ext cx="1370888" cy="369332"/>
          </a:xfrm>
          <a:prstGeom prst="rect">
            <a:avLst/>
          </a:prstGeom>
          <a:noFill/>
        </p:spPr>
        <p:txBody>
          <a:bodyPr wrap="none" rtlCol="0">
            <a:spAutoFit/>
          </a:bodyPr>
          <a:lstStyle/>
          <a:p>
            <a:r>
              <a:rPr lang="en-US" altLang="zh-TW" dirty="0"/>
              <a:t>(b)</a:t>
            </a:r>
            <a:r>
              <a:rPr lang="zh-TW" altLang="en-US" dirty="0"/>
              <a:t>不起作用</a:t>
            </a:r>
          </a:p>
        </p:txBody>
      </p:sp>
      <p:sp>
        <p:nvSpPr>
          <p:cNvPr id="11" name="文字方塊 10"/>
          <p:cNvSpPr txBox="1"/>
          <p:nvPr/>
        </p:nvSpPr>
        <p:spPr>
          <a:xfrm>
            <a:off x="9982200" y="4167382"/>
            <a:ext cx="1128835" cy="369332"/>
          </a:xfrm>
          <a:prstGeom prst="rect">
            <a:avLst/>
          </a:prstGeom>
          <a:noFill/>
        </p:spPr>
        <p:txBody>
          <a:bodyPr wrap="none" rtlCol="0">
            <a:spAutoFit/>
          </a:bodyPr>
          <a:lstStyle/>
          <a:p>
            <a:r>
              <a:rPr lang="en-US" altLang="zh-TW" dirty="0"/>
              <a:t>(c)</a:t>
            </a:r>
            <a:r>
              <a:rPr lang="zh-TW" altLang="en-US" dirty="0"/>
              <a:t>負作用</a:t>
            </a:r>
          </a:p>
        </p:txBody>
      </p:sp>
      <p:sp>
        <p:nvSpPr>
          <p:cNvPr id="5" name="文字方塊 4"/>
          <p:cNvSpPr txBox="1"/>
          <p:nvPr/>
        </p:nvSpPr>
        <p:spPr>
          <a:xfrm>
            <a:off x="179172" y="5166804"/>
            <a:ext cx="11982768" cy="400110"/>
          </a:xfrm>
          <a:prstGeom prst="rect">
            <a:avLst/>
          </a:prstGeom>
          <a:noFill/>
        </p:spPr>
        <p:txBody>
          <a:bodyPr wrap="none" rtlCol="0">
            <a:spAutoFit/>
          </a:bodyPr>
          <a:lstStyle/>
          <a:p>
            <a:r>
              <a:rPr lang="zh-TW" altLang="en-US" sz="2000" dirty="0">
                <a:latin typeface="微軟正黑體" panose="020B0604030504040204" pitchFamily="34" charset="-120"/>
                <a:ea typeface="微軟正黑體" panose="020B0604030504040204" pitchFamily="34" charset="-120"/>
              </a:rPr>
              <a:t>此例子顯示出，要獲得好的分類效果，個別的分類器必須</a:t>
            </a:r>
            <a:r>
              <a:rPr lang="en-US" altLang="zh-TW" sz="2000" dirty="0">
                <a:latin typeface="微軟正黑體" panose="020B0604030504040204" pitchFamily="34" charset="-120"/>
                <a:ea typeface="微軟正黑體" panose="020B0604030504040204" pitchFamily="34" charset="-120"/>
              </a:rPr>
              <a:t>“</a:t>
            </a:r>
            <a:r>
              <a:rPr lang="zh-TW" altLang="en-US" sz="2000" b="1" dirty="0">
                <a:solidFill>
                  <a:srgbClr val="00B050"/>
                </a:solidFill>
                <a:latin typeface="微軟正黑體" panose="020B0604030504040204" pitchFamily="34" charset="-120"/>
                <a:ea typeface="微軟正黑體" panose="020B0604030504040204" pitchFamily="34" charset="-120"/>
              </a:rPr>
              <a:t>好而不同</a:t>
            </a:r>
            <a:r>
              <a:rPr lang="en-US" altLang="zh-TW" sz="2000" dirty="0">
                <a:latin typeface="微軟正黑體" panose="020B0604030504040204" pitchFamily="34" charset="-120"/>
                <a:ea typeface="微軟正黑體" panose="020B0604030504040204" pitchFamily="34" charset="-120"/>
              </a:rPr>
              <a:t>”</a:t>
            </a:r>
            <a:r>
              <a:rPr lang="zh-TW" altLang="en-US" sz="2000" dirty="0">
                <a:latin typeface="微軟正黑體" panose="020B0604030504040204" pitchFamily="34" charset="-120"/>
                <a:ea typeface="微軟正黑體" panose="020B0604030504040204" pitchFamily="34" charset="-120"/>
              </a:rPr>
              <a:t>，此外也必須要有一定的準確性。</a:t>
            </a:r>
          </a:p>
        </p:txBody>
      </p:sp>
    </p:spTree>
    <p:extLst>
      <p:ext uri="{BB962C8B-B14F-4D97-AF65-F5344CB8AC3E}">
        <p14:creationId xmlns:p14="http://schemas.microsoft.com/office/powerpoint/2010/main" val="10038790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216763" y="218767"/>
            <a:ext cx="11528394" cy="1273702"/>
          </a:xfrm>
        </p:spPr>
        <p:txBody>
          <a:bodyPr/>
          <a:lstStyle/>
          <a:p>
            <a:r>
              <a:rPr lang="zh-TW" altLang="en-US" b="1" dirty="0">
                <a:latin typeface="微軟正黑體" panose="020B0604030504040204" pitchFamily="34" charset="-120"/>
                <a:ea typeface="微軟正黑體" panose="020B0604030504040204" pitchFamily="34" charset="-120"/>
              </a:rPr>
              <a:t>論文提出了三個原因說明為甚麼整體學習是有效的，分別為：</a:t>
            </a:r>
            <a:r>
              <a:rPr lang="en-US" altLang="zh-TW" b="1" dirty="0">
                <a:latin typeface="微軟正黑體" panose="020B0604030504040204" pitchFamily="34" charset="-120"/>
                <a:ea typeface="微軟正黑體" panose="020B0604030504040204" pitchFamily="34" charset="-120"/>
              </a:rPr>
              <a:t/>
            </a:r>
            <a:br>
              <a:rPr lang="en-US" altLang="zh-TW" b="1" dirty="0">
                <a:latin typeface="微軟正黑體" panose="020B0604030504040204" pitchFamily="34" charset="-120"/>
                <a:ea typeface="微軟正黑體" panose="020B0604030504040204" pitchFamily="34" charset="-120"/>
              </a:rPr>
            </a:br>
            <a:r>
              <a:rPr lang="en-US" altLang="zh-TW" b="1" dirty="0">
                <a:solidFill>
                  <a:srgbClr val="0070C0"/>
                </a:solidFill>
                <a:latin typeface="微軟正黑體" panose="020B0604030504040204" pitchFamily="34" charset="-120"/>
                <a:ea typeface="微軟正黑體" panose="020B0604030504040204" pitchFamily="34" charset="-120"/>
              </a:rPr>
              <a:t>Statistical</a:t>
            </a:r>
            <a:r>
              <a:rPr lang="zh-TW" altLang="en-US" b="1" dirty="0">
                <a:latin typeface="微軟正黑體" panose="020B0604030504040204" pitchFamily="34" charset="-120"/>
                <a:ea typeface="微軟正黑體" panose="020B0604030504040204" pitchFamily="34" charset="-120"/>
              </a:rPr>
              <a:t>，</a:t>
            </a:r>
            <a:r>
              <a:rPr lang="en-US" altLang="zh-TW" b="1" dirty="0">
                <a:solidFill>
                  <a:srgbClr val="00B050"/>
                </a:solidFill>
                <a:latin typeface="微軟正黑體" panose="020B0604030504040204" pitchFamily="34" charset="-120"/>
                <a:ea typeface="微軟正黑體" panose="020B0604030504040204" pitchFamily="34" charset="-120"/>
              </a:rPr>
              <a:t>Computational</a:t>
            </a:r>
            <a:r>
              <a:rPr lang="zh-TW" altLang="en-US" b="1" dirty="0">
                <a:latin typeface="微軟正黑體" panose="020B0604030504040204" pitchFamily="34" charset="-120"/>
                <a:ea typeface="微軟正黑體" panose="020B0604030504040204" pitchFamily="34" charset="-120"/>
              </a:rPr>
              <a:t>，</a:t>
            </a:r>
            <a:r>
              <a:rPr lang="en-US" altLang="zh-TW" b="1" dirty="0">
                <a:solidFill>
                  <a:srgbClr val="7030A0"/>
                </a:solidFill>
                <a:latin typeface="微軟正黑體" panose="020B0604030504040204" pitchFamily="34" charset="-120"/>
                <a:ea typeface="微軟正黑體" panose="020B0604030504040204" pitchFamily="34" charset="-120"/>
              </a:rPr>
              <a:t>Representational</a:t>
            </a:r>
          </a:p>
        </p:txBody>
      </p:sp>
      <p:sp>
        <p:nvSpPr>
          <p:cNvPr id="4" name="文字方塊 3"/>
          <p:cNvSpPr txBox="1"/>
          <p:nvPr/>
        </p:nvSpPr>
        <p:spPr>
          <a:xfrm>
            <a:off x="594803" y="1681617"/>
            <a:ext cx="1727268" cy="553998"/>
          </a:xfrm>
          <a:prstGeom prst="rect">
            <a:avLst/>
          </a:prstGeom>
          <a:noFill/>
        </p:spPr>
        <p:txBody>
          <a:bodyPr wrap="none" rtlCol="0">
            <a:spAutoFit/>
          </a:bodyPr>
          <a:lstStyle/>
          <a:p>
            <a:r>
              <a:rPr lang="en-US" altLang="zh-TW" sz="3000" b="1" dirty="0">
                <a:solidFill>
                  <a:srgbClr val="0070C0"/>
                </a:solidFill>
              </a:rPr>
              <a:t>Statistical</a:t>
            </a:r>
            <a:endParaRPr lang="zh-TW" altLang="en-US" sz="3000" b="1" dirty="0">
              <a:solidFill>
                <a:srgbClr val="0070C0"/>
              </a:solidFill>
            </a:endParaRPr>
          </a:p>
        </p:txBody>
      </p:sp>
      <p:sp>
        <p:nvSpPr>
          <p:cNvPr id="5" name="矩形 4"/>
          <p:cNvSpPr/>
          <p:nvPr/>
        </p:nvSpPr>
        <p:spPr>
          <a:xfrm>
            <a:off x="594802" y="2363208"/>
            <a:ext cx="10697593" cy="1323439"/>
          </a:xfrm>
          <a:prstGeom prst="rect">
            <a:avLst/>
          </a:prstGeom>
        </p:spPr>
        <p:txBody>
          <a:bodyPr wrap="square">
            <a:spAutoFit/>
          </a:bodyPr>
          <a:lstStyle/>
          <a:p>
            <a:r>
              <a:rPr lang="zh-TW" altLang="en-US" sz="2000" dirty="0">
                <a:latin typeface="微軟正黑體" panose="020B0604030504040204" pitchFamily="34" charset="-120"/>
                <a:ea typeface="微軟正黑體" panose="020B0604030504040204" pitchFamily="34" charset="-120"/>
              </a:rPr>
              <a:t>由於在學習的過程當中往往搜索的假設空間</a:t>
            </a:r>
            <a:r>
              <a:rPr lang="en-US" altLang="zh-TW" sz="2000" dirty="0">
                <a:latin typeface="微軟正黑體" panose="020B0604030504040204" pitchFamily="34" charset="-120"/>
                <a:ea typeface="微軟正黑體" panose="020B0604030504040204" pitchFamily="34" charset="-120"/>
              </a:rPr>
              <a:t>(hypothesis)</a:t>
            </a:r>
            <a:r>
              <a:rPr lang="zh-TW" altLang="en-US" sz="2000" dirty="0">
                <a:latin typeface="微軟正黑體" panose="020B0604030504040204" pitchFamily="34" charset="-120"/>
                <a:ea typeface="微軟正黑體" panose="020B0604030504040204" pitchFamily="34" charset="-120"/>
              </a:rPr>
              <a:t>十分巨大，可能有多個假設在訓練集</a:t>
            </a:r>
            <a:r>
              <a:rPr lang="en-US" altLang="zh-TW" sz="2000" dirty="0">
                <a:latin typeface="微軟正黑體" panose="020B0604030504040204" pitchFamily="34" charset="-120"/>
                <a:ea typeface="微軟正黑體" panose="020B0604030504040204" pitchFamily="34" charset="-120"/>
              </a:rPr>
              <a:t>(training set)</a:t>
            </a:r>
            <a:r>
              <a:rPr lang="zh-TW" altLang="en-US" sz="2000" dirty="0">
                <a:latin typeface="微軟正黑體" panose="020B0604030504040204" pitchFamily="34" charset="-120"/>
                <a:ea typeface="微軟正黑體" panose="020B0604030504040204" pitchFamily="34" charset="-120"/>
              </a:rPr>
              <a:t>上達到同樣的效能，若使用單一個學習器可能會有泛化效能不佳的問題，因為滿足訓練集的假設不一定在實際會有好的表現，此時把多個假設集合起來能夠降低這種風險</a:t>
            </a:r>
            <a:r>
              <a:rPr lang="en-US" altLang="zh-TW" sz="2000" dirty="0">
                <a:latin typeface="微軟正黑體" panose="020B0604030504040204" pitchFamily="34" charset="-120"/>
                <a:ea typeface="微軟正黑體" panose="020B0604030504040204" pitchFamily="34" charset="-120"/>
              </a:rPr>
              <a:t>(</a:t>
            </a:r>
            <a:r>
              <a:rPr lang="zh-TW" altLang="en-US" sz="2000" dirty="0">
                <a:latin typeface="微軟正黑體" panose="020B0604030504040204" pitchFamily="34" charset="-120"/>
                <a:ea typeface="微軟正黑體" panose="020B0604030504040204" pitchFamily="34" charset="-120"/>
              </a:rPr>
              <a:t>可以理解為透過</a:t>
            </a:r>
            <a:r>
              <a:rPr lang="en-US" altLang="zh-TW" sz="2000" dirty="0">
                <a:latin typeface="微軟正黑體" panose="020B0604030504040204" pitchFamily="34" charset="-120"/>
                <a:ea typeface="微軟正黑體" panose="020B0604030504040204" pitchFamily="34" charset="-120"/>
              </a:rPr>
              <a:t>ensemble</a:t>
            </a:r>
            <a:r>
              <a:rPr lang="zh-TW" altLang="en-US" sz="2000" dirty="0">
                <a:latin typeface="微軟正黑體" panose="020B0604030504040204" pitchFamily="34" charset="-120"/>
                <a:ea typeface="微軟正黑體" panose="020B0604030504040204" pitchFamily="34" charset="-120"/>
              </a:rPr>
              <a:t>使誤差得到一定程度的抵銷</a:t>
            </a:r>
            <a:r>
              <a:rPr lang="en-US" altLang="zh-TW" sz="2000" dirty="0">
                <a:latin typeface="微軟正黑體" panose="020B0604030504040204" pitchFamily="34" charset="-120"/>
                <a:ea typeface="微軟正黑體" panose="020B0604030504040204" pitchFamily="34" charset="-120"/>
              </a:rPr>
              <a:t>)</a:t>
            </a:r>
            <a:endParaRPr lang="zh-TW" altLang="en-US" sz="2000" dirty="0">
              <a:latin typeface="微軟正黑體" panose="020B0604030504040204" pitchFamily="34" charset="-120"/>
              <a:ea typeface="微軟正黑體" panose="020B0604030504040204" pitchFamily="34" charset="-120"/>
            </a:endParaRPr>
          </a:p>
        </p:txBody>
      </p:sp>
      <p:pic>
        <p:nvPicPr>
          <p:cNvPr id="6" name="圖片 5"/>
          <p:cNvPicPr>
            <a:picLocks noChangeAspect="1"/>
          </p:cNvPicPr>
          <p:nvPr/>
        </p:nvPicPr>
        <p:blipFill>
          <a:blip r:embed="rId2"/>
          <a:stretch>
            <a:fillRect/>
          </a:stretch>
        </p:blipFill>
        <p:spPr>
          <a:xfrm>
            <a:off x="8069801" y="3437156"/>
            <a:ext cx="3586579" cy="3323189"/>
          </a:xfrm>
          <a:prstGeom prst="rect">
            <a:avLst/>
          </a:prstGeom>
        </p:spPr>
      </p:pic>
    </p:spTree>
    <p:extLst>
      <p:ext uri="{BB962C8B-B14F-4D97-AF65-F5344CB8AC3E}">
        <p14:creationId xmlns:p14="http://schemas.microsoft.com/office/powerpoint/2010/main" val="1864600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45472" y="290927"/>
            <a:ext cx="2970685" cy="553998"/>
          </a:xfrm>
          <a:prstGeom prst="rect">
            <a:avLst/>
          </a:prstGeom>
        </p:spPr>
        <p:txBody>
          <a:bodyPr wrap="none">
            <a:spAutoFit/>
          </a:bodyPr>
          <a:lstStyle/>
          <a:p>
            <a:r>
              <a:rPr lang="en-US" altLang="zh-TW" sz="3000" b="1" dirty="0">
                <a:solidFill>
                  <a:srgbClr val="00B050"/>
                </a:solidFill>
                <a:latin typeface="微軟正黑體" panose="020B0604030504040204" pitchFamily="34" charset="-120"/>
                <a:ea typeface="微軟正黑體" panose="020B0604030504040204" pitchFamily="34" charset="-120"/>
              </a:rPr>
              <a:t>Computational</a:t>
            </a:r>
            <a:endParaRPr lang="zh-TW" altLang="en-US" sz="3000" dirty="0"/>
          </a:p>
        </p:txBody>
      </p:sp>
      <p:sp>
        <p:nvSpPr>
          <p:cNvPr id="5" name="文字方塊 4"/>
          <p:cNvSpPr txBox="1"/>
          <p:nvPr/>
        </p:nvSpPr>
        <p:spPr>
          <a:xfrm>
            <a:off x="245472" y="1007987"/>
            <a:ext cx="8797601" cy="707886"/>
          </a:xfrm>
          <a:prstGeom prst="rect">
            <a:avLst/>
          </a:prstGeom>
          <a:noFill/>
        </p:spPr>
        <p:txBody>
          <a:bodyPr wrap="none" rtlCol="0">
            <a:spAutoFit/>
          </a:bodyPr>
          <a:lstStyle/>
          <a:p>
            <a:r>
              <a:rPr lang="zh-TW" altLang="en-US" sz="2000" dirty="0">
                <a:latin typeface="微軟正黑體" panose="020B0604030504040204" pitchFamily="34" charset="-120"/>
                <a:ea typeface="微軟正黑體" panose="020B0604030504040204" pitchFamily="34" charset="-120"/>
              </a:rPr>
              <a:t>從計算的方面來看，機器學習演算法可能會陷入局部極小</a:t>
            </a:r>
            <a:r>
              <a:rPr lang="en-US" altLang="zh-TW" sz="2000" dirty="0">
                <a:latin typeface="微軟正黑體" panose="020B0604030504040204" pitchFamily="34" charset="-120"/>
                <a:ea typeface="微軟正黑體" panose="020B0604030504040204" pitchFamily="34" charset="-120"/>
              </a:rPr>
              <a:t>(local minimum)</a:t>
            </a:r>
            <a:r>
              <a:rPr lang="zh-TW" altLang="en-US" sz="2000" dirty="0">
                <a:latin typeface="微軟正黑體" panose="020B0604030504040204" pitchFamily="34" charset="-120"/>
                <a:ea typeface="微軟正黑體" panose="020B0604030504040204" pitchFamily="34" charset="-120"/>
              </a:rPr>
              <a:t>，</a:t>
            </a:r>
            <a:endParaRPr lang="en-US" altLang="zh-TW" sz="2000" dirty="0">
              <a:latin typeface="微軟正黑體" panose="020B0604030504040204" pitchFamily="34" charset="-120"/>
              <a:ea typeface="微軟正黑體" panose="020B0604030504040204" pitchFamily="34" charset="-120"/>
            </a:endParaRPr>
          </a:p>
          <a:p>
            <a:r>
              <a:rPr lang="zh-TW" altLang="en-US" sz="2000" dirty="0">
                <a:latin typeface="微軟正黑體" panose="020B0604030504040204" pitchFamily="34" charset="-120"/>
                <a:ea typeface="微軟正黑體" panose="020B0604030504040204" pitchFamily="34" charset="-120"/>
              </a:rPr>
              <a:t>而局部極小所對應的泛化性能可能也會很糟糕</a:t>
            </a:r>
          </a:p>
        </p:txBody>
      </p:sp>
      <p:sp>
        <p:nvSpPr>
          <p:cNvPr id="6" name="矩形 5"/>
          <p:cNvSpPr/>
          <p:nvPr/>
        </p:nvSpPr>
        <p:spPr>
          <a:xfrm>
            <a:off x="360882" y="4132101"/>
            <a:ext cx="3331874" cy="553998"/>
          </a:xfrm>
          <a:prstGeom prst="rect">
            <a:avLst/>
          </a:prstGeom>
        </p:spPr>
        <p:txBody>
          <a:bodyPr wrap="none">
            <a:spAutoFit/>
          </a:bodyPr>
          <a:lstStyle/>
          <a:p>
            <a:r>
              <a:rPr lang="en-US" altLang="zh-TW" sz="3000" b="1" dirty="0">
                <a:solidFill>
                  <a:srgbClr val="7030A0"/>
                </a:solidFill>
                <a:latin typeface="微軟正黑體" panose="020B0604030504040204" pitchFamily="34" charset="-120"/>
                <a:ea typeface="微軟正黑體" panose="020B0604030504040204" pitchFamily="34" charset="-120"/>
              </a:rPr>
              <a:t>Representational</a:t>
            </a:r>
            <a:endParaRPr lang="zh-TW" altLang="en-US" sz="3000" dirty="0"/>
          </a:p>
        </p:txBody>
      </p:sp>
      <p:pic>
        <p:nvPicPr>
          <p:cNvPr id="7" name="圖片 6"/>
          <p:cNvPicPr>
            <a:picLocks noChangeAspect="1"/>
          </p:cNvPicPr>
          <p:nvPr/>
        </p:nvPicPr>
        <p:blipFill>
          <a:blip r:embed="rId2"/>
          <a:stretch>
            <a:fillRect/>
          </a:stretch>
        </p:blipFill>
        <p:spPr>
          <a:xfrm>
            <a:off x="8678854" y="500323"/>
            <a:ext cx="2638233" cy="2657248"/>
          </a:xfrm>
          <a:prstGeom prst="rect">
            <a:avLst/>
          </a:prstGeom>
        </p:spPr>
      </p:pic>
      <p:sp>
        <p:nvSpPr>
          <p:cNvPr id="8" name="文字方塊 7"/>
          <p:cNvSpPr txBox="1"/>
          <p:nvPr/>
        </p:nvSpPr>
        <p:spPr>
          <a:xfrm>
            <a:off x="360882" y="5113538"/>
            <a:ext cx="7622600" cy="1015663"/>
          </a:xfrm>
          <a:prstGeom prst="rect">
            <a:avLst/>
          </a:prstGeom>
          <a:noFill/>
        </p:spPr>
        <p:txBody>
          <a:bodyPr wrap="none" rtlCol="0">
            <a:spAutoFit/>
          </a:bodyPr>
          <a:lstStyle/>
          <a:p>
            <a:r>
              <a:rPr lang="zh-TW" altLang="en-US" sz="2000" dirty="0">
                <a:latin typeface="微軟正黑體" panose="020B0604030504040204" pitchFamily="34" charset="-120"/>
                <a:ea typeface="微軟正黑體" panose="020B0604030504040204" pitchFamily="34" charset="-120"/>
              </a:rPr>
              <a:t>從表現的方面來看，某些學習任務的真實情況，可能不在當前的</a:t>
            </a:r>
            <a:endParaRPr lang="en-US" altLang="zh-TW" sz="2000" dirty="0">
              <a:latin typeface="微軟正黑體" panose="020B0604030504040204" pitchFamily="34" charset="-120"/>
              <a:ea typeface="微軟正黑體" panose="020B0604030504040204" pitchFamily="34" charset="-120"/>
            </a:endParaRPr>
          </a:p>
          <a:p>
            <a:r>
              <a:rPr lang="zh-TW" altLang="en-US" sz="2000" dirty="0">
                <a:latin typeface="微軟正黑體" panose="020B0604030504040204" pitchFamily="34" charset="-120"/>
                <a:ea typeface="微軟正黑體" panose="020B0604030504040204" pitchFamily="34" charset="-120"/>
              </a:rPr>
              <a:t>學習演算法所可慮的假設空間中，透過結合多個學習器，由於相應</a:t>
            </a:r>
            <a:endParaRPr lang="en-US" altLang="zh-TW" sz="2000" dirty="0">
              <a:latin typeface="微軟正黑體" panose="020B0604030504040204" pitchFamily="34" charset="-120"/>
              <a:ea typeface="微軟正黑體" panose="020B0604030504040204" pitchFamily="34" charset="-120"/>
            </a:endParaRPr>
          </a:p>
          <a:p>
            <a:r>
              <a:rPr lang="zh-TW" altLang="en-US" sz="2000" dirty="0">
                <a:latin typeface="微軟正黑體" panose="020B0604030504040204" pitchFamily="34" charset="-120"/>
                <a:ea typeface="微軟正黑體" panose="020B0604030504040204" pitchFamily="34" charset="-120"/>
              </a:rPr>
              <a:t>的假設空間有所擴大，有可能會學到更好的近似。</a:t>
            </a:r>
          </a:p>
        </p:txBody>
      </p:sp>
      <p:pic>
        <p:nvPicPr>
          <p:cNvPr id="9" name="圖片 8"/>
          <p:cNvPicPr>
            <a:picLocks noChangeAspect="1"/>
          </p:cNvPicPr>
          <p:nvPr/>
        </p:nvPicPr>
        <p:blipFill>
          <a:blip r:embed="rId3"/>
          <a:stretch>
            <a:fillRect/>
          </a:stretch>
        </p:blipFill>
        <p:spPr>
          <a:xfrm>
            <a:off x="8503670" y="3751520"/>
            <a:ext cx="2988600" cy="2724035"/>
          </a:xfrm>
          <a:prstGeom prst="rect">
            <a:avLst/>
          </a:prstGeom>
        </p:spPr>
      </p:pic>
      <p:grpSp>
        <p:nvGrpSpPr>
          <p:cNvPr id="10" name="群組 9"/>
          <p:cNvGrpSpPr/>
          <p:nvPr/>
        </p:nvGrpSpPr>
        <p:grpSpPr>
          <a:xfrm>
            <a:off x="4547579" y="71470"/>
            <a:ext cx="7644421" cy="6475633"/>
            <a:chOff x="2300679" y="367871"/>
            <a:chExt cx="7061503" cy="5762285"/>
          </a:xfrm>
        </p:grpSpPr>
        <p:sp>
          <p:nvSpPr>
            <p:cNvPr id="3" name="文字方塊 2"/>
            <p:cNvSpPr txBox="1"/>
            <p:nvPr/>
          </p:nvSpPr>
          <p:spPr>
            <a:xfrm>
              <a:off x="4603644" y="367871"/>
              <a:ext cx="2742226" cy="400110"/>
            </a:xfrm>
            <a:prstGeom prst="rect">
              <a:avLst/>
            </a:prstGeom>
            <a:noFill/>
          </p:spPr>
          <p:txBody>
            <a:bodyPr wrap="none" rtlCol="0">
              <a:spAutoFit/>
            </a:bodyPr>
            <a:lstStyle/>
            <a:p>
              <a:r>
                <a:rPr lang="zh-TW" altLang="en-US" sz="2000" b="1" dirty="0">
                  <a:solidFill>
                    <a:srgbClr val="C00000"/>
                  </a:solidFill>
                  <a:latin typeface="微軟正黑體" panose="020B0604030504040204" pitchFamily="34" charset="-120"/>
                  <a:ea typeface="微軟正黑體" panose="020B0604030504040204" pitchFamily="34" charset="-120"/>
                </a:rPr>
                <a:t>戰爭迷霧</a:t>
              </a:r>
              <a:r>
                <a:rPr lang="en-US" altLang="zh-TW" sz="2000" b="1" dirty="0">
                  <a:solidFill>
                    <a:srgbClr val="C00000"/>
                  </a:solidFill>
                  <a:latin typeface="微軟正黑體" panose="020B0604030504040204" pitchFamily="34" charset="-120"/>
                  <a:ea typeface="微軟正黑體" panose="020B0604030504040204" pitchFamily="34" charset="-120"/>
                </a:rPr>
                <a:t>(Fog of War)</a:t>
              </a:r>
              <a:endParaRPr lang="zh-TW" altLang="en-US" sz="2000" b="1" dirty="0">
                <a:solidFill>
                  <a:srgbClr val="C00000"/>
                </a:solidFill>
                <a:latin typeface="微軟正黑體" panose="020B0604030504040204" pitchFamily="34" charset="-120"/>
                <a:ea typeface="微軟正黑體" panose="020B0604030504040204" pitchFamily="34" charset="-120"/>
              </a:endParaRPr>
            </a:p>
          </p:txBody>
        </p:sp>
        <p:pic>
          <p:nvPicPr>
            <p:cNvPr id="2" name="圖片 1"/>
            <p:cNvPicPr>
              <a:picLocks noChangeAspect="1"/>
            </p:cNvPicPr>
            <p:nvPr/>
          </p:nvPicPr>
          <p:blipFill>
            <a:blip r:embed="rId4"/>
            <a:stretch>
              <a:fillRect/>
            </a:stretch>
          </p:blipFill>
          <p:spPr>
            <a:xfrm>
              <a:off x="2300679" y="844925"/>
              <a:ext cx="7061503" cy="5285231"/>
            </a:xfrm>
            <a:prstGeom prst="rect">
              <a:avLst/>
            </a:prstGeom>
          </p:spPr>
        </p:pic>
      </p:grpSp>
    </p:spTree>
    <p:extLst>
      <p:ext uri="{BB962C8B-B14F-4D97-AF65-F5344CB8AC3E}">
        <p14:creationId xmlns:p14="http://schemas.microsoft.com/office/powerpoint/2010/main" val="3058444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xit" presetSubtype="4" fill="hold" nodeType="clickEffect">
                                  <p:stCondLst>
                                    <p:cond delay="0"/>
                                  </p:stCondLst>
                                  <p:childTnLst>
                                    <p:animEffect transition="out" filter="wipe(down)">
                                      <p:cBhvr>
                                        <p:cTn id="12" dur="500"/>
                                        <p:tgtEl>
                                          <p:spTgt spid="10"/>
                                        </p:tgtEl>
                                      </p:cBhvr>
                                    </p:animEffect>
                                    <p:set>
                                      <p:cBhvr>
                                        <p:cTn id="13"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文字方塊 3"/>
              <p:cNvSpPr txBox="1"/>
              <p:nvPr/>
            </p:nvSpPr>
            <p:spPr>
              <a:xfrm>
                <a:off x="2832542" y="1402875"/>
                <a:ext cx="7997702" cy="4344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600" b="0" i="1" smtClean="0">
                          <a:latin typeface="Cambria Math" panose="02040503050406030204" pitchFamily="18" charset="0"/>
                        </a:rPr>
                        <m:t>𝐺</m:t>
                      </m:r>
                      <m:d>
                        <m:dPr>
                          <m:ctrlPr>
                            <a:rPr lang="en-US" altLang="zh-TW" sz="2600" b="0" i="1" smtClean="0">
                              <a:latin typeface="Cambria Math" panose="02040503050406030204" pitchFamily="18" charset="0"/>
                            </a:rPr>
                          </m:ctrlPr>
                        </m:dPr>
                        <m:e>
                          <m:r>
                            <a:rPr lang="en-US" altLang="zh-TW" sz="2600" b="0" i="1" smtClean="0">
                              <a:latin typeface="Cambria Math" panose="02040503050406030204" pitchFamily="18" charset="0"/>
                            </a:rPr>
                            <m:t>𝑥</m:t>
                          </m:r>
                        </m:e>
                      </m:d>
                      <m:r>
                        <a:rPr lang="en-US" altLang="zh-TW" sz="2600" b="0" i="1" smtClean="0">
                          <a:latin typeface="Cambria Math" panose="02040503050406030204" pitchFamily="18" charset="0"/>
                        </a:rPr>
                        <m:t>=</m:t>
                      </m:r>
                      <m:sSub>
                        <m:sSubPr>
                          <m:ctrlPr>
                            <a:rPr lang="en-US" altLang="zh-TW" sz="2600" b="0" i="1" smtClean="0">
                              <a:latin typeface="Cambria Math" panose="02040503050406030204" pitchFamily="18" charset="0"/>
                            </a:rPr>
                          </m:ctrlPr>
                        </m:sSubPr>
                        <m:e>
                          <m:r>
                            <a:rPr lang="en-US" altLang="zh-TW" sz="2600" b="0" i="1" smtClean="0">
                              <a:latin typeface="Cambria Math" panose="02040503050406030204" pitchFamily="18" charset="0"/>
                            </a:rPr>
                            <m:t>𝑔</m:t>
                          </m:r>
                        </m:e>
                        <m:sub>
                          <m:sSub>
                            <m:sSubPr>
                              <m:ctrlPr>
                                <a:rPr lang="en-US" altLang="zh-TW" sz="2600" b="0" i="1" smtClean="0">
                                  <a:latin typeface="Cambria Math" panose="02040503050406030204" pitchFamily="18" charset="0"/>
                                </a:rPr>
                              </m:ctrlPr>
                            </m:sSubPr>
                            <m:e>
                              <m:r>
                                <a:rPr lang="en-US" altLang="zh-TW" sz="2600" b="0" i="1" smtClean="0">
                                  <a:latin typeface="Cambria Math" panose="02040503050406030204" pitchFamily="18" charset="0"/>
                                </a:rPr>
                                <m:t>𝑡</m:t>
                              </m:r>
                            </m:e>
                            <m:sub>
                              <m:r>
                                <a:rPr lang="en-US" altLang="zh-TW" sz="2600" b="0" i="1" smtClean="0">
                                  <a:latin typeface="Cambria Math" panose="02040503050406030204" pitchFamily="18" charset="0"/>
                                </a:rPr>
                                <m:t>∗</m:t>
                              </m:r>
                            </m:sub>
                          </m:sSub>
                        </m:sub>
                      </m:sSub>
                      <m:d>
                        <m:dPr>
                          <m:ctrlPr>
                            <a:rPr lang="en-US" altLang="zh-TW" sz="2600" b="0" i="1" smtClean="0">
                              <a:latin typeface="Cambria Math" panose="02040503050406030204" pitchFamily="18" charset="0"/>
                            </a:rPr>
                          </m:ctrlPr>
                        </m:dPr>
                        <m:e>
                          <m:r>
                            <a:rPr lang="en-US" altLang="zh-TW" sz="2600" b="0" i="1" smtClean="0">
                              <a:latin typeface="Cambria Math" panose="02040503050406030204" pitchFamily="18" charset="0"/>
                            </a:rPr>
                            <m:t>𝑥</m:t>
                          </m:r>
                        </m:e>
                      </m:d>
                      <m:r>
                        <a:rPr lang="en-US" altLang="zh-TW" sz="2600" b="0" i="1" smtClean="0">
                          <a:latin typeface="Cambria Math" panose="02040503050406030204" pitchFamily="18" charset="0"/>
                        </a:rPr>
                        <m:t> </m:t>
                      </m:r>
                      <m:r>
                        <a:rPr lang="en-US" altLang="zh-TW" sz="2600" b="0" i="1" smtClean="0">
                          <a:latin typeface="Cambria Math" panose="02040503050406030204" pitchFamily="18" charset="0"/>
                        </a:rPr>
                        <m:t>         </m:t>
                      </m:r>
                      <m:r>
                        <a:rPr lang="en-US" altLang="zh-TW" sz="2600" b="0" i="1" smtClean="0">
                          <a:latin typeface="Cambria Math" panose="02040503050406030204" pitchFamily="18" charset="0"/>
                        </a:rPr>
                        <m:t>𝑤𝑖𝑡h</m:t>
                      </m:r>
                      <m:r>
                        <a:rPr lang="en-US" altLang="zh-TW" sz="2600" b="0" i="1" smtClean="0">
                          <a:latin typeface="Cambria Math" panose="02040503050406030204" pitchFamily="18" charset="0"/>
                        </a:rPr>
                        <m:t> </m:t>
                      </m:r>
                      <m:sSub>
                        <m:sSubPr>
                          <m:ctrlPr>
                            <a:rPr lang="en-US" altLang="zh-TW" sz="2600" b="0" i="1" smtClean="0">
                              <a:latin typeface="Cambria Math" panose="02040503050406030204" pitchFamily="18" charset="0"/>
                            </a:rPr>
                          </m:ctrlPr>
                        </m:sSubPr>
                        <m:e>
                          <m:r>
                            <a:rPr lang="en-US" altLang="zh-TW" sz="2600" b="0" i="1" smtClean="0">
                              <a:latin typeface="Cambria Math" panose="02040503050406030204" pitchFamily="18" charset="0"/>
                            </a:rPr>
                            <m:t>𝑡</m:t>
                          </m:r>
                        </m:e>
                        <m:sub>
                          <m:r>
                            <a:rPr lang="en-US" altLang="zh-TW" sz="2600" b="0" i="1" smtClean="0">
                              <a:latin typeface="Cambria Math" panose="02040503050406030204" pitchFamily="18" charset="0"/>
                            </a:rPr>
                            <m:t>∗</m:t>
                          </m:r>
                        </m:sub>
                      </m:sSub>
                      <m:r>
                        <a:rPr lang="en-US" altLang="zh-TW" sz="2600" b="0" i="1" smtClean="0">
                          <a:latin typeface="Cambria Math" panose="02040503050406030204" pitchFamily="18" charset="0"/>
                        </a:rPr>
                        <m:t>=</m:t>
                      </m:r>
                      <m:sSub>
                        <m:sSubPr>
                          <m:ctrlPr>
                            <a:rPr lang="en-US" altLang="zh-TW" sz="2600" b="0" i="1" smtClean="0">
                              <a:latin typeface="Cambria Math" panose="02040503050406030204" pitchFamily="18" charset="0"/>
                            </a:rPr>
                          </m:ctrlPr>
                        </m:sSubPr>
                        <m:e>
                          <m:r>
                            <a:rPr lang="en-US" altLang="zh-TW" sz="2600" b="0" i="1" smtClean="0">
                              <a:latin typeface="Cambria Math" panose="02040503050406030204" pitchFamily="18" charset="0"/>
                            </a:rPr>
                            <m:t>𝑎𝑟𝑔𝑚𝑖𝑛</m:t>
                          </m:r>
                        </m:e>
                        <m:sub>
                          <m:r>
                            <a:rPr lang="en-US" altLang="zh-TW" sz="2600" b="0" i="1" smtClean="0">
                              <a:latin typeface="Cambria Math" panose="02040503050406030204" pitchFamily="18" charset="0"/>
                            </a:rPr>
                            <m:t>𝑡</m:t>
                          </m:r>
                          <m:r>
                            <a:rPr lang="en-US" altLang="zh-TW" sz="2600" b="0" i="1" smtClean="0">
                              <a:latin typeface="Cambria Math" panose="02040503050406030204" pitchFamily="18" charset="0"/>
                              <a:ea typeface="Cambria Math" panose="02040503050406030204" pitchFamily="18" charset="0"/>
                            </a:rPr>
                            <m:t>∈</m:t>
                          </m:r>
                          <m:d>
                            <m:dPr>
                              <m:begChr m:val="{"/>
                              <m:endChr m:val="}"/>
                              <m:ctrlPr>
                                <a:rPr lang="en-US" altLang="zh-TW" sz="2600" b="0" i="1" smtClean="0">
                                  <a:latin typeface="Cambria Math" panose="02040503050406030204" pitchFamily="18" charset="0"/>
                                  <a:ea typeface="Cambria Math" panose="02040503050406030204" pitchFamily="18" charset="0"/>
                                </a:rPr>
                              </m:ctrlPr>
                            </m:dPr>
                            <m:e>
                              <m:r>
                                <a:rPr lang="en-US" altLang="zh-TW" sz="2600" b="0" i="1" smtClean="0">
                                  <a:latin typeface="Cambria Math" panose="02040503050406030204" pitchFamily="18" charset="0"/>
                                  <a:ea typeface="Cambria Math" panose="02040503050406030204" pitchFamily="18" charset="0"/>
                                </a:rPr>
                                <m:t>1, 2, 3,…,</m:t>
                              </m:r>
                              <m:r>
                                <a:rPr lang="en-US" altLang="zh-TW" sz="2600" b="0" i="1" smtClean="0">
                                  <a:latin typeface="Cambria Math" panose="02040503050406030204" pitchFamily="18" charset="0"/>
                                  <a:ea typeface="Cambria Math" panose="02040503050406030204" pitchFamily="18" charset="0"/>
                                </a:rPr>
                                <m:t>𝑇</m:t>
                              </m:r>
                            </m:e>
                          </m:d>
                        </m:sub>
                      </m:sSub>
                      <m:sSub>
                        <m:sSubPr>
                          <m:ctrlPr>
                            <a:rPr lang="en-US" altLang="zh-TW" sz="2600" b="0" i="1" smtClean="0">
                              <a:latin typeface="Cambria Math" panose="02040503050406030204" pitchFamily="18" charset="0"/>
                            </a:rPr>
                          </m:ctrlPr>
                        </m:sSubPr>
                        <m:e>
                          <m:r>
                            <a:rPr lang="en-US" altLang="zh-TW" sz="2600" b="0" i="1" smtClean="0">
                              <a:latin typeface="Cambria Math" panose="02040503050406030204" pitchFamily="18" charset="0"/>
                            </a:rPr>
                            <m:t>𝐸</m:t>
                          </m:r>
                        </m:e>
                        <m:sub>
                          <m:r>
                            <a:rPr lang="en-US" altLang="zh-TW" sz="2600" b="0" i="1" smtClean="0">
                              <a:latin typeface="Cambria Math" panose="02040503050406030204" pitchFamily="18" charset="0"/>
                            </a:rPr>
                            <m:t>𝑣𝑎𝑙</m:t>
                          </m:r>
                        </m:sub>
                      </m:sSub>
                      <m:r>
                        <a:rPr lang="en-US" altLang="zh-TW" sz="2600" b="0" i="1" smtClean="0">
                          <a:latin typeface="Cambria Math" panose="02040503050406030204" pitchFamily="18" charset="0"/>
                        </a:rPr>
                        <m:t>(</m:t>
                      </m:r>
                      <m:sSub>
                        <m:sSubPr>
                          <m:ctrlPr>
                            <a:rPr lang="en-US" altLang="zh-TW" sz="2600" i="1">
                              <a:latin typeface="Cambria Math" panose="02040503050406030204" pitchFamily="18" charset="0"/>
                            </a:rPr>
                          </m:ctrlPr>
                        </m:sSubPr>
                        <m:e>
                          <m:r>
                            <a:rPr lang="en-US" altLang="zh-TW" sz="2600" i="1">
                              <a:latin typeface="Cambria Math" panose="02040503050406030204" pitchFamily="18" charset="0"/>
                            </a:rPr>
                            <m:t>𝑔</m:t>
                          </m:r>
                        </m:e>
                        <m:sub>
                          <m:r>
                            <a:rPr lang="en-US" altLang="zh-TW" sz="2600" b="0" i="1" smtClean="0">
                              <a:latin typeface="Cambria Math" panose="02040503050406030204" pitchFamily="18" charset="0"/>
                            </a:rPr>
                            <m:t>𝑡</m:t>
                          </m:r>
                        </m:sub>
                      </m:sSub>
                      <m:r>
                        <a:rPr lang="en-US" altLang="zh-TW" sz="2600" b="0" i="1" smtClean="0">
                          <a:latin typeface="Cambria Math" panose="02040503050406030204" pitchFamily="18" charset="0"/>
                        </a:rPr>
                        <m:t>)</m:t>
                      </m:r>
                    </m:oMath>
                  </m:oMathPara>
                </a14:m>
                <a:endParaRPr lang="zh-TW" altLang="en-US" sz="2600" dirty="0"/>
              </a:p>
            </p:txBody>
          </p:sp>
        </mc:Choice>
        <mc:Fallback>
          <p:sp>
            <p:nvSpPr>
              <p:cNvPr id="4" name="文字方塊 3"/>
              <p:cNvSpPr txBox="1">
                <a:spLocks noRot="1" noChangeAspect="1" noMove="1" noResize="1" noEditPoints="1" noAdjustHandles="1" noChangeArrowheads="1" noChangeShapeType="1" noTextEdit="1"/>
              </p:cNvSpPr>
              <p:nvPr/>
            </p:nvSpPr>
            <p:spPr>
              <a:xfrm>
                <a:off x="2832542" y="1402875"/>
                <a:ext cx="7997702" cy="434478"/>
              </a:xfrm>
              <a:prstGeom prst="rect">
                <a:avLst/>
              </a:prstGeom>
              <a:blipFill rotWithShape="0">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2832542" y="3051309"/>
                <a:ext cx="4547014" cy="9113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600" i="1" smtClean="0">
                          <a:latin typeface="Cambria Math" panose="02040503050406030204" pitchFamily="18" charset="0"/>
                        </a:rPr>
                        <m:t>𝐺</m:t>
                      </m:r>
                      <m:d>
                        <m:dPr>
                          <m:ctrlPr>
                            <a:rPr lang="en-US" altLang="zh-TW" sz="2600" i="1">
                              <a:latin typeface="Cambria Math" panose="02040503050406030204" pitchFamily="18" charset="0"/>
                            </a:rPr>
                          </m:ctrlPr>
                        </m:dPr>
                        <m:e>
                          <m:r>
                            <a:rPr lang="en-US" altLang="zh-TW" sz="2600" i="1">
                              <a:latin typeface="Cambria Math" panose="02040503050406030204" pitchFamily="18" charset="0"/>
                            </a:rPr>
                            <m:t>𝑥</m:t>
                          </m:r>
                        </m:e>
                      </m:d>
                      <m:r>
                        <a:rPr lang="en-US" altLang="zh-TW" sz="2600" i="1">
                          <a:latin typeface="Cambria Math" panose="02040503050406030204" pitchFamily="18" charset="0"/>
                        </a:rPr>
                        <m:t>=</m:t>
                      </m:r>
                      <m:r>
                        <a:rPr lang="en-US" altLang="zh-TW" sz="2600" b="0" i="1" smtClean="0">
                          <a:latin typeface="Cambria Math" panose="02040503050406030204" pitchFamily="18" charset="0"/>
                        </a:rPr>
                        <m:t>𝑠𝑖𝑔𝑛</m:t>
                      </m:r>
                      <m:r>
                        <a:rPr lang="en-US" altLang="zh-TW" sz="2600" b="0" i="1" smtClean="0">
                          <a:latin typeface="Cambria Math" panose="02040503050406030204" pitchFamily="18" charset="0"/>
                        </a:rPr>
                        <m:t>(</m:t>
                      </m:r>
                      <m:nary>
                        <m:naryPr>
                          <m:chr m:val="∑"/>
                          <m:limLoc m:val="subSup"/>
                          <m:ctrlPr>
                            <a:rPr lang="en-US" altLang="zh-TW" sz="2600" b="0" i="1" smtClean="0">
                              <a:latin typeface="Cambria Math" panose="02040503050406030204" pitchFamily="18" charset="0"/>
                            </a:rPr>
                          </m:ctrlPr>
                        </m:naryPr>
                        <m:sub>
                          <m:r>
                            <m:rPr>
                              <m:brk m:alnAt="25"/>
                            </m:rPr>
                            <a:rPr lang="en-US" altLang="zh-TW" sz="2600" b="0" i="1" smtClean="0">
                              <a:latin typeface="Cambria Math" panose="02040503050406030204" pitchFamily="18" charset="0"/>
                            </a:rPr>
                            <m:t>𝑡</m:t>
                          </m:r>
                          <m:r>
                            <a:rPr lang="en-US" altLang="zh-TW" sz="2600" b="0" i="1" smtClean="0">
                              <a:latin typeface="Cambria Math" panose="02040503050406030204" pitchFamily="18" charset="0"/>
                            </a:rPr>
                            <m:t>=1</m:t>
                          </m:r>
                        </m:sub>
                        <m:sup>
                          <m:r>
                            <a:rPr lang="en-US" altLang="zh-TW" sz="2600" b="0" i="1" smtClean="0">
                              <a:latin typeface="Cambria Math" panose="02040503050406030204" pitchFamily="18" charset="0"/>
                            </a:rPr>
                            <m:t>𝑇</m:t>
                          </m:r>
                        </m:sup>
                        <m:e>
                          <m:r>
                            <a:rPr lang="en-US" altLang="zh-TW" sz="2600" b="0" i="1" smtClean="0">
                              <a:solidFill>
                                <a:srgbClr val="FF0000"/>
                              </a:solidFill>
                              <a:latin typeface="Cambria Math" panose="02040503050406030204" pitchFamily="18" charset="0"/>
                            </a:rPr>
                            <m:t>1</m:t>
                          </m:r>
                          <m:r>
                            <a:rPr lang="en-US" altLang="zh-TW" sz="2600" b="0" i="1" smtClean="0">
                              <a:latin typeface="Cambria Math" panose="02040503050406030204" pitchFamily="18" charset="0"/>
                              <a:ea typeface="Cambria Math" panose="02040503050406030204" pitchFamily="18" charset="0"/>
                            </a:rPr>
                            <m:t>×</m:t>
                          </m:r>
                          <m:sSub>
                            <m:sSubPr>
                              <m:ctrlPr>
                                <a:rPr lang="en-US" altLang="zh-TW" sz="2600" b="0" i="1" smtClean="0">
                                  <a:latin typeface="Cambria Math" panose="02040503050406030204" pitchFamily="18" charset="0"/>
                                  <a:ea typeface="Cambria Math" panose="02040503050406030204" pitchFamily="18" charset="0"/>
                                </a:rPr>
                              </m:ctrlPr>
                            </m:sSubPr>
                            <m:e>
                              <m:r>
                                <a:rPr lang="en-US" altLang="zh-TW" sz="2600" b="0" i="1" smtClean="0">
                                  <a:latin typeface="Cambria Math" panose="02040503050406030204" pitchFamily="18" charset="0"/>
                                  <a:ea typeface="Cambria Math" panose="02040503050406030204" pitchFamily="18" charset="0"/>
                                </a:rPr>
                                <m:t>𝑔</m:t>
                              </m:r>
                            </m:e>
                            <m:sub>
                              <m:r>
                                <a:rPr lang="en-US" altLang="zh-TW" sz="2600" b="0" i="1" smtClean="0">
                                  <a:latin typeface="Cambria Math" panose="02040503050406030204" pitchFamily="18" charset="0"/>
                                  <a:ea typeface="Cambria Math" panose="02040503050406030204" pitchFamily="18" charset="0"/>
                                </a:rPr>
                                <m:t>𝑡</m:t>
                              </m:r>
                            </m:sub>
                          </m:sSub>
                          <m:r>
                            <a:rPr lang="en-US" altLang="zh-TW" sz="2600" b="0" i="1" smtClean="0">
                              <a:latin typeface="Cambria Math" panose="02040503050406030204" pitchFamily="18" charset="0"/>
                              <a:ea typeface="Cambria Math" panose="02040503050406030204" pitchFamily="18" charset="0"/>
                            </a:rPr>
                            <m:t>(</m:t>
                          </m:r>
                          <m:r>
                            <a:rPr lang="en-US" altLang="zh-TW" sz="2600" b="0" i="1" smtClean="0">
                              <a:latin typeface="Cambria Math" panose="02040503050406030204" pitchFamily="18" charset="0"/>
                              <a:ea typeface="Cambria Math" panose="02040503050406030204" pitchFamily="18" charset="0"/>
                            </a:rPr>
                            <m:t>𝑥</m:t>
                          </m:r>
                          <m:r>
                            <a:rPr lang="en-US" altLang="zh-TW" sz="2600" b="0" i="1" smtClean="0">
                              <a:latin typeface="Cambria Math" panose="02040503050406030204" pitchFamily="18" charset="0"/>
                              <a:ea typeface="Cambria Math" panose="02040503050406030204" pitchFamily="18" charset="0"/>
                            </a:rPr>
                            <m:t>)</m:t>
                          </m:r>
                        </m:e>
                      </m:nary>
                      <m:r>
                        <a:rPr lang="en-US" altLang="zh-TW" sz="2600" b="0" i="1" smtClean="0">
                          <a:latin typeface="Cambria Math" panose="02040503050406030204" pitchFamily="18" charset="0"/>
                        </a:rPr>
                        <m:t>)</m:t>
                      </m:r>
                    </m:oMath>
                  </m:oMathPara>
                </a14:m>
                <a:endParaRPr lang="zh-TW" altLang="en-US" sz="2600" dirty="0"/>
              </a:p>
            </p:txBody>
          </p:sp>
        </mc:Choice>
        <mc:Fallback xmlns="">
          <p:sp>
            <p:nvSpPr>
              <p:cNvPr id="5" name="矩形 4"/>
              <p:cNvSpPr>
                <a:spLocks noRot="1" noChangeAspect="1" noMove="1" noResize="1" noEditPoints="1" noAdjustHandles="1" noChangeArrowheads="1" noChangeShapeType="1" noTextEdit="1"/>
              </p:cNvSpPr>
              <p:nvPr/>
            </p:nvSpPr>
            <p:spPr>
              <a:xfrm>
                <a:off x="2832542" y="3051309"/>
                <a:ext cx="4547014" cy="911340"/>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2832542" y="5046501"/>
                <a:ext cx="4690836" cy="9113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600" i="1" smtClean="0">
                          <a:latin typeface="Cambria Math" panose="02040503050406030204" pitchFamily="18" charset="0"/>
                        </a:rPr>
                        <m:t>𝐺</m:t>
                      </m:r>
                      <m:d>
                        <m:dPr>
                          <m:ctrlPr>
                            <a:rPr lang="en-US" altLang="zh-TW" sz="2600" i="1">
                              <a:latin typeface="Cambria Math" panose="02040503050406030204" pitchFamily="18" charset="0"/>
                            </a:rPr>
                          </m:ctrlPr>
                        </m:dPr>
                        <m:e>
                          <m:r>
                            <a:rPr lang="en-US" altLang="zh-TW" sz="2600" i="1">
                              <a:latin typeface="Cambria Math" panose="02040503050406030204" pitchFamily="18" charset="0"/>
                            </a:rPr>
                            <m:t>𝑥</m:t>
                          </m:r>
                        </m:e>
                      </m:d>
                      <m:r>
                        <a:rPr lang="en-US" altLang="zh-TW" sz="2600" i="1">
                          <a:latin typeface="Cambria Math" panose="02040503050406030204" pitchFamily="18" charset="0"/>
                        </a:rPr>
                        <m:t>=</m:t>
                      </m:r>
                      <m:r>
                        <a:rPr lang="en-US" altLang="zh-TW" sz="2600" b="0" i="1" smtClean="0">
                          <a:latin typeface="Cambria Math" panose="02040503050406030204" pitchFamily="18" charset="0"/>
                        </a:rPr>
                        <m:t>𝑠𝑖𝑔𝑛</m:t>
                      </m:r>
                      <m:r>
                        <a:rPr lang="en-US" altLang="zh-TW" sz="2600" b="0" i="1" smtClean="0">
                          <a:latin typeface="Cambria Math" panose="02040503050406030204" pitchFamily="18" charset="0"/>
                        </a:rPr>
                        <m:t>(</m:t>
                      </m:r>
                      <m:nary>
                        <m:naryPr>
                          <m:chr m:val="∑"/>
                          <m:limLoc m:val="subSup"/>
                          <m:ctrlPr>
                            <a:rPr lang="en-US" altLang="zh-TW" sz="2600" b="0" i="1" smtClean="0">
                              <a:latin typeface="Cambria Math" panose="02040503050406030204" pitchFamily="18" charset="0"/>
                            </a:rPr>
                          </m:ctrlPr>
                        </m:naryPr>
                        <m:sub>
                          <m:r>
                            <m:rPr>
                              <m:brk m:alnAt="25"/>
                            </m:rPr>
                            <a:rPr lang="en-US" altLang="zh-TW" sz="2600" b="0" i="1" smtClean="0">
                              <a:latin typeface="Cambria Math" panose="02040503050406030204" pitchFamily="18" charset="0"/>
                            </a:rPr>
                            <m:t>𝑡</m:t>
                          </m:r>
                          <m:r>
                            <a:rPr lang="en-US" altLang="zh-TW" sz="2600" b="0" i="1" smtClean="0">
                              <a:latin typeface="Cambria Math" panose="02040503050406030204" pitchFamily="18" charset="0"/>
                            </a:rPr>
                            <m:t>=1</m:t>
                          </m:r>
                        </m:sub>
                        <m:sup>
                          <m:r>
                            <a:rPr lang="en-US" altLang="zh-TW" sz="2600" b="0" i="1" smtClean="0">
                              <a:latin typeface="Cambria Math" panose="02040503050406030204" pitchFamily="18" charset="0"/>
                            </a:rPr>
                            <m:t>𝑇</m:t>
                          </m:r>
                        </m:sup>
                        <m:e>
                          <m:sSub>
                            <m:sSubPr>
                              <m:ctrlPr>
                                <a:rPr lang="en-US" altLang="zh-TW" sz="2600" b="0" i="1" smtClean="0">
                                  <a:solidFill>
                                    <a:srgbClr val="FF0000"/>
                                  </a:solidFill>
                                  <a:latin typeface="Cambria Math" panose="02040503050406030204" pitchFamily="18" charset="0"/>
                                </a:rPr>
                              </m:ctrlPr>
                            </m:sSubPr>
                            <m:e>
                              <m:r>
                                <a:rPr lang="zh-TW" altLang="en-US" sz="2600" b="0" i="1" smtClean="0">
                                  <a:solidFill>
                                    <a:srgbClr val="FF0000"/>
                                  </a:solidFill>
                                  <a:latin typeface="Cambria Math" panose="02040503050406030204" pitchFamily="18" charset="0"/>
                                </a:rPr>
                                <m:t>𝛼</m:t>
                              </m:r>
                            </m:e>
                            <m:sub>
                              <m:r>
                                <a:rPr lang="en-US" altLang="zh-TW" sz="2600" b="0" i="1" smtClean="0">
                                  <a:solidFill>
                                    <a:srgbClr val="FF0000"/>
                                  </a:solidFill>
                                  <a:latin typeface="Cambria Math" panose="02040503050406030204" pitchFamily="18" charset="0"/>
                                </a:rPr>
                                <m:t>𝑡</m:t>
                              </m:r>
                            </m:sub>
                          </m:sSub>
                          <m:r>
                            <a:rPr lang="en-US" altLang="zh-TW" sz="2600" b="0" i="1" smtClean="0">
                              <a:latin typeface="Cambria Math" panose="02040503050406030204" pitchFamily="18" charset="0"/>
                              <a:ea typeface="Cambria Math" panose="02040503050406030204" pitchFamily="18" charset="0"/>
                            </a:rPr>
                            <m:t>×</m:t>
                          </m:r>
                          <m:sSub>
                            <m:sSubPr>
                              <m:ctrlPr>
                                <a:rPr lang="en-US" altLang="zh-TW" sz="2600" b="0" i="1" smtClean="0">
                                  <a:latin typeface="Cambria Math" panose="02040503050406030204" pitchFamily="18" charset="0"/>
                                  <a:ea typeface="Cambria Math" panose="02040503050406030204" pitchFamily="18" charset="0"/>
                                </a:rPr>
                              </m:ctrlPr>
                            </m:sSubPr>
                            <m:e>
                              <m:r>
                                <a:rPr lang="en-US" altLang="zh-TW" sz="2600" b="0" i="1" smtClean="0">
                                  <a:latin typeface="Cambria Math" panose="02040503050406030204" pitchFamily="18" charset="0"/>
                                  <a:ea typeface="Cambria Math" panose="02040503050406030204" pitchFamily="18" charset="0"/>
                                </a:rPr>
                                <m:t>𝑔</m:t>
                              </m:r>
                            </m:e>
                            <m:sub>
                              <m:r>
                                <a:rPr lang="en-US" altLang="zh-TW" sz="2600" b="0" i="1" smtClean="0">
                                  <a:latin typeface="Cambria Math" panose="02040503050406030204" pitchFamily="18" charset="0"/>
                                  <a:ea typeface="Cambria Math" panose="02040503050406030204" pitchFamily="18" charset="0"/>
                                </a:rPr>
                                <m:t>𝑡</m:t>
                              </m:r>
                            </m:sub>
                          </m:sSub>
                          <m:r>
                            <a:rPr lang="en-US" altLang="zh-TW" sz="2600" b="0" i="1" smtClean="0">
                              <a:latin typeface="Cambria Math" panose="02040503050406030204" pitchFamily="18" charset="0"/>
                              <a:ea typeface="Cambria Math" panose="02040503050406030204" pitchFamily="18" charset="0"/>
                            </a:rPr>
                            <m:t>(</m:t>
                          </m:r>
                          <m:r>
                            <a:rPr lang="en-US" altLang="zh-TW" sz="2600" b="0" i="1" smtClean="0">
                              <a:latin typeface="Cambria Math" panose="02040503050406030204" pitchFamily="18" charset="0"/>
                              <a:ea typeface="Cambria Math" panose="02040503050406030204" pitchFamily="18" charset="0"/>
                            </a:rPr>
                            <m:t>𝑥</m:t>
                          </m:r>
                          <m:r>
                            <a:rPr lang="en-US" altLang="zh-TW" sz="2600" b="0" i="1" smtClean="0">
                              <a:latin typeface="Cambria Math" panose="02040503050406030204" pitchFamily="18" charset="0"/>
                              <a:ea typeface="Cambria Math" panose="02040503050406030204" pitchFamily="18" charset="0"/>
                            </a:rPr>
                            <m:t>)</m:t>
                          </m:r>
                        </m:e>
                      </m:nary>
                      <m:r>
                        <a:rPr lang="en-US" altLang="zh-TW" sz="2600" b="0" i="1" smtClean="0">
                          <a:latin typeface="Cambria Math" panose="02040503050406030204" pitchFamily="18" charset="0"/>
                        </a:rPr>
                        <m:t>)</m:t>
                      </m:r>
                    </m:oMath>
                  </m:oMathPara>
                </a14:m>
                <a:endParaRPr lang="zh-TW" altLang="en-US" sz="2600" dirty="0"/>
              </a:p>
            </p:txBody>
          </p:sp>
        </mc:Choice>
        <mc:Fallback xmlns="">
          <p:sp>
            <p:nvSpPr>
              <p:cNvPr id="6" name="矩形 5"/>
              <p:cNvSpPr>
                <a:spLocks noRot="1" noChangeAspect="1" noMove="1" noResize="1" noEditPoints="1" noAdjustHandles="1" noChangeArrowheads="1" noChangeShapeType="1" noTextEdit="1"/>
              </p:cNvSpPr>
              <p:nvPr/>
            </p:nvSpPr>
            <p:spPr>
              <a:xfrm>
                <a:off x="2832542" y="5046501"/>
                <a:ext cx="4690836" cy="911340"/>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p:cNvSpPr txBox="1"/>
              <p:nvPr/>
            </p:nvSpPr>
            <p:spPr>
              <a:xfrm>
                <a:off x="8371642" y="5363037"/>
                <a:ext cx="1559273" cy="430887"/>
              </a:xfrm>
              <a:prstGeom prst="rect">
                <a:avLst/>
              </a:prstGeom>
              <a:noFill/>
            </p:spPr>
            <p:txBody>
              <a:bodyPr wrap="none" rtlCol="0">
                <a:spAutoFit/>
              </a:bodyPr>
              <a:lstStyle/>
              <a:p>
                <a:r>
                  <a:rPr lang="en-US" altLang="zh-TW" sz="2200" dirty="0"/>
                  <a:t>with </a:t>
                </a:r>
                <a14:m>
                  <m:oMath xmlns:m="http://schemas.openxmlformats.org/officeDocument/2006/math">
                    <m:sSub>
                      <m:sSubPr>
                        <m:ctrlPr>
                          <a:rPr lang="en-US" altLang="zh-TW" sz="2200" i="1">
                            <a:solidFill>
                              <a:srgbClr val="FF0000"/>
                            </a:solidFill>
                            <a:latin typeface="Cambria Math" panose="02040503050406030204" pitchFamily="18" charset="0"/>
                          </a:rPr>
                        </m:ctrlPr>
                      </m:sSubPr>
                      <m:e>
                        <m:r>
                          <a:rPr lang="zh-TW" altLang="en-US" sz="2200" i="1">
                            <a:solidFill>
                              <a:srgbClr val="FF0000"/>
                            </a:solidFill>
                            <a:latin typeface="Cambria Math" panose="02040503050406030204" pitchFamily="18" charset="0"/>
                          </a:rPr>
                          <m:t>𝛼</m:t>
                        </m:r>
                      </m:e>
                      <m:sub>
                        <m:r>
                          <a:rPr lang="en-US" altLang="zh-TW" sz="2200" i="1">
                            <a:solidFill>
                              <a:srgbClr val="FF0000"/>
                            </a:solidFill>
                            <a:latin typeface="Cambria Math" panose="02040503050406030204" pitchFamily="18" charset="0"/>
                          </a:rPr>
                          <m:t>𝑡</m:t>
                        </m:r>
                      </m:sub>
                    </m:sSub>
                    <m:r>
                      <a:rPr lang="en-US" altLang="zh-TW" sz="2200" i="1" smtClean="0">
                        <a:solidFill>
                          <a:srgbClr val="FF0000"/>
                        </a:solidFill>
                        <a:latin typeface="Cambria Math" panose="02040503050406030204" pitchFamily="18" charset="0"/>
                        <a:ea typeface="Cambria Math" panose="02040503050406030204" pitchFamily="18" charset="0"/>
                      </a:rPr>
                      <m:t>≥</m:t>
                    </m:r>
                    <m:r>
                      <a:rPr lang="en-US" altLang="zh-TW" sz="2200" b="0" i="1" smtClean="0">
                        <a:solidFill>
                          <a:srgbClr val="FF0000"/>
                        </a:solidFill>
                        <a:latin typeface="Cambria Math" panose="02040503050406030204" pitchFamily="18" charset="0"/>
                        <a:ea typeface="Cambria Math" panose="02040503050406030204" pitchFamily="18" charset="0"/>
                      </a:rPr>
                      <m:t>0</m:t>
                    </m:r>
                  </m:oMath>
                </a14:m>
                <a:endParaRPr lang="zh-TW" altLang="en-US" sz="2200"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8371642" y="5363037"/>
                <a:ext cx="1559273" cy="430887"/>
              </a:xfrm>
              <a:prstGeom prst="rect">
                <a:avLst/>
              </a:prstGeom>
              <a:blipFill>
                <a:blip r:embed="rId5"/>
                <a:stretch>
                  <a:fillRect l="-5078" t="-10000" b="-28571"/>
                </a:stretch>
              </a:blipFill>
            </p:spPr>
            <p:txBody>
              <a:bodyPr/>
              <a:lstStyle/>
              <a:p>
                <a:r>
                  <a:rPr lang="zh-TW" altLang="en-US">
                    <a:noFill/>
                  </a:rPr>
                  <a:t> </a:t>
                </a:r>
              </a:p>
            </p:txBody>
          </p:sp>
        </mc:Fallback>
      </mc:AlternateContent>
      <p:sp>
        <p:nvSpPr>
          <p:cNvPr id="8" name="文字方塊 7"/>
          <p:cNvSpPr txBox="1"/>
          <p:nvPr/>
        </p:nvSpPr>
        <p:spPr>
          <a:xfrm>
            <a:off x="186431" y="648070"/>
            <a:ext cx="1120820" cy="553998"/>
          </a:xfrm>
          <a:prstGeom prst="rect">
            <a:avLst/>
          </a:prstGeom>
          <a:noFill/>
        </p:spPr>
        <p:txBody>
          <a:bodyPr wrap="none" rtlCol="0">
            <a:spAutoFit/>
          </a:bodyPr>
          <a:lstStyle/>
          <a:p>
            <a:r>
              <a:rPr lang="en-US" altLang="zh-TW" sz="3000" dirty="0">
                <a:solidFill>
                  <a:srgbClr val="00B050"/>
                </a:solidFill>
              </a:rPr>
              <a:t>Select</a:t>
            </a:r>
            <a:endParaRPr lang="zh-TW" altLang="en-US" sz="3000" dirty="0">
              <a:solidFill>
                <a:srgbClr val="00B050"/>
              </a:solidFill>
            </a:endParaRPr>
          </a:p>
        </p:txBody>
      </p:sp>
      <p:sp>
        <p:nvSpPr>
          <p:cNvPr id="9" name="文字方塊 8"/>
          <p:cNvSpPr txBox="1"/>
          <p:nvPr/>
        </p:nvSpPr>
        <p:spPr>
          <a:xfrm>
            <a:off x="186431" y="2641308"/>
            <a:ext cx="1739515" cy="553998"/>
          </a:xfrm>
          <a:prstGeom prst="rect">
            <a:avLst/>
          </a:prstGeom>
          <a:noFill/>
        </p:spPr>
        <p:txBody>
          <a:bodyPr wrap="none" rtlCol="0">
            <a:spAutoFit/>
          </a:bodyPr>
          <a:lstStyle/>
          <a:p>
            <a:r>
              <a:rPr lang="en-US" altLang="zh-TW" sz="3000" dirty="0">
                <a:solidFill>
                  <a:srgbClr val="00B050"/>
                </a:solidFill>
              </a:rPr>
              <a:t>Uniformly</a:t>
            </a:r>
            <a:endParaRPr lang="zh-TW" altLang="en-US" sz="3000" dirty="0">
              <a:solidFill>
                <a:srgbClr val="00B050"/>
              </a:solidFill>
            </a:endParaRPr>
          </a:p>
        </p:txBody>
      </p:sp>
      <p:sp>
        <p:nvSpPr>
          <p:cNvPr id="10" name="文字方塊 9"/>
          <p:cNvSpPr txBox="1"/>
          <p:nvPr/>
        </p:nvSpPr>
        <p:spPr>
          <a:xfrm>
            <a:off x="186431" y="4634546"/>
            <a:ext cx="2510559" cy="553998"/>
          </a:xfrm>
          <a:prstGeom prst="rect">
            <a:avLst/>
          </a:prstGeom>
          <a:noFill/>
        </p:spPr>
        <p:txBody>
          <a:bodyPr wrap="none" rtlCol="0">
            <a:spAutoFit/>
          </a:bodyPr>
          <a:lstStyle/>
          <a:p>
            <a:r>
              <a:rPr lang="en-US" altLang="zh-TW" sz="3000" dirty="0">
                <a:solidFill>
                  <a:srgbClr val="00B050"/>
                </a:solidFill>
              </a:rPr>
              <a:t>Non-Uniformly</a:t>
            </a:r>
            <a:endParaRPr lang="zh-TW" altLang="en-US" sz="3000" dirty="0">
              <a:solidFill>
                <a:srgbClr val="00B050"/>
              </a:solidFill>
            </a:endParaRPr>
          </a:p>
        </p:txBody>
      </p:sp>
    </p:spTree>
    <p:extLst>
      <p:ext uri="{BB962C8B-B14F-4D97-AF65-F5344CB8AC3E}">
        <p14:creationId xmlns:p14="http://schemas.microsoft.com/office/powerpoint/2010/main" val="23385245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6"/>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white">
          <a:xfrm>
            <a:off x="0" y="0"/>
            <a:ext cx="12192000" cy="6858000"/>
          </a:xfrm>
          <a:prstGeom prst="rect">
            <a:avLst/>
          </a:prstGeom>
          <a:solidFill>
            <a:schemeClr val="bg1"/>
          </a:solidFill>
          <a:ln>
            <a:noFill/>
          </a:ln>
          <a:effectLst/>
        </p:spPr>
      </p:sp>
      <p:pic>
        <p:nvPicPr>
          <p:cNvPr id="5" name="圖片 4"/>
          <p:cNvPicPr>
            <a:picLocks noChangeAspect="1"/>
          </p:cNvPicPr>
          <p:nvPr/>
        </p:nvPicPr>
        <p:blipFill>
          <a:blip r:embed="rId2"/>
          <a:stretch>
            <a:fillRect/>
          </a:stretch>
        </p:blipFill>
        <p:spPr>
          <a:xfrm>
            <a:off x="4886676" y="1779283"/>
            <a:ext cx="7015386" cy="3735692"/>
          </a:xfrm>
          <a:prstGeom prst="rect">
            <a:avLst/>
          </a:prstGeom>
        </p:spPr>
      </p:pic>
      <p:cxnSp>
        <p:nvCxnSpPr>
          <p:cNvPr id="8" name="Straight Connector 7"/>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4654296" y="1573887"/>
            <a:ext cx="0" cy="3710227"/>
          </a:xfrm>
          <a:prstGeom prst="line">
            <a:avLst/>
          </a:prstGeom>
          <a:ln w="19050">
            <a:solidFill>
              <a:srgbClr val="4E4E4E"/>
            </a:solidFill>
          </a:ln>
        </p:spPr>
        <p:style>
          <a:lnRef idx="1">
            <a:schemeClr val="accent1"/>
          </a:lnRef>
          <a:fillRef idx="0">
            <a:schemeClr val="accent1"/>
          </a:fillRef>
          <a:effectRef idx="0">
            <a:schemeClr val="accent1"/>
          </a:effectRef>
          <a:fontRef idx="minor">
            <a:schemeClr val="tx1"/>
          </a:fontRef>
        </p:style>
      </p:cxnSp>
      <p:pic>
        <p:nvPicPr>
          <p:cNvPr id="4" name="圖片 3"/>
          <p:cNvPicPr>
            <a:picLocks noChangeAspect="1"/>
          </p:cNvPicPr>
          <p:nvPr/>
        </p:nvPicPr>
        <p:blipFill>
          <a:blip r:embed="rId3"/>
          <a:stretch>
            <a:fillRect/>
          </a:stretch>
        </p:blipFill>
        <p:spPr>
          <a:xfrm>
            <a:off x="270543" y="1379808"/>
            <a:ext cx="4093815" cy="4135167"/>
          </a:xfrm>
          <a:prstGeom prst="rect">
            <a:avLst/>
          </a:prstGeom>
        </p:spPr>
      </p:pic>
    </p:spTree>
    <p:extLst>
      <p:ext uri="{BB962C8B-B14F-4D97-AF65-F5344CB8AC3E}">
        <p14:creationId xmlns:p14="http://schemas.microsoft.com/office/powerpoint/2010/main" val="34299239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243840" y="179705"/>
            <a:ext cx="10515600" cy="612621"/>
          </a:xfrm>
        </p:spPr>
        <p:txBody>
          <a:bodyPr/>
          <a:lstStyle/>
          <a:p>
            <a:pPr marL="0" indent="0">
              <a:buNone/>
            </a:pPr>
            <a:r>
              <a:rPr lang="en-US" altLang="zh-TW" dirty="0">
                <a:solidFill>
                  <a:srgbClr val="C00000"/>
                </a:solidFill>
              </a:rPr>
              <a:t>Manipulating the Training Examples</a:t>
            </a:r>
            <a:endParaRPr lang="zh-TW" altLang="en-US" dirty="0">
              <a:solidFill>
                <a:srgbClr val="C00000"/>
              </a:solidFill>
            </a:endParaRPr>
          </a:p>
        </p:txBody>
      </p:sp>
      <p:sp>
        <p:nvSpPr>
          <p:cNvPr id="4" name="文字方塊 3"/>
          <p:cNvSpPr txBox="1"/>
          <p:nvPr/>
        </p:nvSpPr>
        <p:spPr>
          <a:xfrm>
            <a:off x="243840" y="841248"/>
            <a:ext cx="10110460" cy="646331"/>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給定訓練樣本，可以從中產生出不同的訓練子集，再利用不同的訓練集合，訓練出不同的分類器，</a:t>
            </a:r>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而操作訓練集最直接的方法叫做</a:t>
            </a:r>
            <a:r>
              <a:rPr lang="en-US" altLang="zh-TW" dirty="0">
                <a:latin typeface="微軟正黑體" panose="020B0604030504040204" pitchFamily="34" charset="-120"/>
                <a:ea typeface="微軟正黑體" panose="020B0604030504040204" pitchFamily="34" charset="-120"/>
              </a:rPr>
              <a:t>Bagging</a:t>
            </a:r>
            <a:endParaRPr lang="zh-TW" altLang="en-US" dirty="0">
              <a:latin typeface="微軟正黑體" panose="020B0604030504040204" pitchFamily="34" charset="-120"/>
              <a:ea typeface="微軟正黑體" panose="020B0604030504040204" pitchFamily="34" charset="-120"/>
            </a:endParaRPr>
          </a:p>
        </p:txBody>
      </p:sp>
      <p:sp>
        <p:nvSpPr>
          <p:cNvPr id="5" name="文字方塊 4"/>
          <p:cNvSpPr txBox="1"/>
          <p:nvPr/>
        </p:nvSpPr>
        <p:spPr>
          <a:xfrm>
            <a:off x="338328" y="1834868"/>
            <a:ext cx="1694695" cy="553998"/>
          </a:xfrm>
          <a:prstGeom prst="rect">
            <a:avLst/>
          </a:prstGeom>
          <a:noFill/>
        </p:spPr>
        <p:txBody>
          <a:bodyPr wrap="none" rtlCol="0">
            <a:spAutoFit/>
          </a:bodyPr>
          <a:lstStyle/>
          <a:p>
            <a:r>
              <a:rPr lang="en-US" altLang="zh-TW" sz="3000" dirty="0">
                <a:solidFill>
                  <a:schemeClr val="accent5">
                    <a:lumMod val="50000"/>
                  </a:schemeClr>
                </a:solidFill>
                <a:latin typeface="微軟正黑體" panose="020B0604030504040204" pitchFamily="34" charset="-120"/>
                <a:ea typeface="微軟正黑體" panose="020B0604030504040204" pitchFamily="34" charset="-120"/>
              </a:rPr>
              <a:t>Bagging</a:t>
            </a:r>
            <a:endParaRPr lang="zh-TW" altLang="en-US" sz="3000" dirty="0">
              <a:solidFill>
                <a:schemeClr val="accent5">
                  <a:lumMod val="50000"/>
                </a:schemeClr>
              </a:solidFill>
              <a:latin typeface="微軟正黑體" panose="020B0604030504040204" pitchFamily="34" charset="-120"/>
              <a:ea typeface="微軟正黑體" panose="020B0604030504040204" pitchFamily="34" charset="-120"/>
            </a:endParaRPr>
          </a:p>
        </p:txBody>
      </p:sp>
      <p:sp>
        <p:nvSpPr>
          <p:cNvPr id="8" name="文字方塊 7"/>
          <p:cNvSpPr txBox="1"/>
          <p:nvPr/>
        </p:nvSpPr>
        <p:spPr>
          <a:xfrm>
            <a:off x="338328" y="2542032"/>
            <a:ext cx="6492240" cy="1200329"/>
          </a:xfrm>
          <a:prstGeom prst="rect">
            <a:avLst/>
          </a:prstGeom>
          <a:noFill/>
        </p:spPr>
        <p:txBody>
          <a:bodyPr wrap="square" rtlCol="0">
            <a:spAutoFit/>
          </a:bodyPr>
          <a:lstStyle/>
          <a:p>
            <a:r>
              <a:rPr lang="zh-TW" altLang="en-US" dirty="0">
                <a:latin typeface="微軟正黑體" panose="020B0604030504040204" pitchFamily="34" charset="-120"/>
                <a:ea typeface="微軟正黑體" panose="020B0604030504040204" pitchFamily="34" charset="-120"/>
              </a:rPr>
              <a:t>給定含有</a:t>
            </a:r>
            <a:r>
              <a:rPr lang="en-US" altLang="zh-TW" dirty="0">
                <a:latin typeface="微軟正黑體" panose="020B0604030504040204" pitchFamily="34" charset="-120"/>
                <a:ea typeface="微軟正黑體" panose="020B0604030504040204" pitchFamily="34" charset="-120"/>
              </a:rPr>
              <a:t>m</a:t>
            </a:r>
            <a:r>
              <a:rPr lang="zh-TW" altLang="en-US" dirty="0">
                <a:latin typeface="微軟正黑體" panose="020B0604030504040204" pitchFamily="34" charset="-120"/>
                <a:ea typeface="微軟正黑體" panose="020B0604030504040204" pitchFamily="34" charset="-120"/>
              </a:rPr>
              <a:t>個樣本的資料集</a:t>
            </a:r>
            <a:r>
              <a:rPr lang="en-US" altLang="zh-TW" dirty="0">
                <a:latin typeface="微軟正黑體" panose="020B0604030504040204" pitchFamily="34" charset="-120"/>
                <a:ea typeface="微軟正黑體" panose="020B0604030504040204" pitchFamily="34" charset="-120"/>
              </a:rPr>
              <a:t>D (Data set)</a:t>
            </a:r>
            <a:r>
              <a:rPr lang="zh-TW" altLang="en-US" dirty="0">
                <a:latin typeface="微軟正黑體" panose="020B0604030504040204" pitchFamily="34" charset="-120"/>
                <a:ea typeface="微軟正黑體" panose="020B0604030504040204" pitchFamily="34" charset="-120"/>
              </a:rPr>
              <a:t>，從中隨機挑選一個樣本，挑選後放回，重複執行</a:t>
            </a:r>
            <a:r>
              <a:rPr lang="en-US" altLang="zh-TW" dirty="0">
                <a:latin typeface="微軟正黑體" panose="020B0604030504040204" pitchFamily="34" charset="-120"/>
                <a:ea typeface="微軟正黑體" panose="020B0604030504040204" pitchFamily="34" charset="-120"/>
              </a:rPr>
              <a:t>m</a:t>
            </a:r>
            <a:r>
              <a:rPr lang="zh-TW" altLang="en-US" dirty="0">
                <a:latin typeface="微軟正黑體" panose="020B0604030504040204" pitchFamily="34" charset="-120"/>
                <a:ea typeface="微軟正黑體" panose="020B0604030504040204" pitchFamily="34" charset="-120"/>
              </a:rPr>
              <a:t>次後產生資料集</a:t>
            </a:r>
            <a:r>
              <a:rPr lang="en-US" altLang="zh-TW" dirty="0">
                <a:latin typeface="微軟正黑體" panose="020B0604030504040204" pitchFamily="34" charset="-120"/>
                <a:ea typeface="微軟正黑體" panose="020B0604030504040204" pitchFamily="34" charset="-120"/>
              </a:rPr>
              <a:t>D’</a:t>
            </a:r>
            <a:r>
              <a:rPr lang="zh-TW" altLang="en-US" dirty="0">
                <a:latin typeface="微軟正黑體" panose="020B0604030504040204" pitchFamily="34" charset="-120"/>
                <a:ea typeface="微軟正黑體" panose="020B0604030504040204" pitchFamily="34" charset="-120"/>
              </a:rPr>
              <a:t>，顯然</a:t>
            </a:r>
            <a:r>
              <a:rPr lang="en-US" altLang="zh-TW" dirty="0">
                <a:latin typeface="微軟正黑體" panose="020B0604030504040204" pitchFamily="34" charset="-120"/>
                <a:ea typeface="微軟正黑體" panose="020B0604030504040204" pitchFamily="34" charset="-120"/>
              </a:rPr>
              <a:t>D’</a:t>
            </a:r>
            <a:r>
              <a:rPr lang="zh-TW" altLang="en-US" dirty="0">
                <a:latin typeface="微軟正黑體" panose="020B0604030504040204" pitchFamily="34" charset="-120"/>
                <a:ea typeface="微軟正黑體" panose="020B0604030504040204" pitchFamily="34" charset="-120"/>
              </a:rPr>
              <a:t>中</a:t>
            </a:r>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的資料有一些可能會重複出現，有一些甚至不出現，</a:t>
            </a:r>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我們可以對沒有被採樣到的樣本做一個簡單的估計。</a:t>
            </a:r>
          </a:p>
        </p:txBody>
      </p:sp>
      <mc:AlternateContent xmlns:mc="http://schemas.openxmlformats.org/markup-compatibility/2006" xmlns:a14="http://schemas.microsoft.com/office/drawing/2010/main">
        <mc:Choice Requires="a14">
          <p:sp>
            <p:nvSpPr>
              <p:cNvPr id="10" name="文字方塊 9"/>
              <p:cNvSpPr txBox="1"/>
              <p:nvPr/>
            </p:nvSpPr>
            <p:spPr>
              <a:xfrm>
                <a:off x="1906524" y="4396800"/>
                <a:ext cx="3534173" cy="8000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altLang="zh-TW" sz="2200" i="1" smtClean="0">
                              <a:latin typeface="Cambria Math" panose="02040503050406030204" pitchFamily="18" charset="0"/>
                            </a:rPr>
                          </m:ctrlPr>
                        </m:funcPr>
                        <m:fName>
                          <m:limLow>
                            <m:limLowPr>
                              <m:ctrlPr>
                                <a:rPr lang="en-US" altLang="zh-TW" sz="2200" i="1" smtClean="0">
                                  <a:latin typeface="Cambria Math" panose="02040503050406030204" pitchFamily="18" charset="0"/>
                                </a:rPr>
                              </m:ctrlPr>
                            </m:limLowPr>
                            <m:e>
                              <m:r>
                                <m:rPr>
                                  <m:sty m:val="p"/>
                                </m:rPr>
                                <a:rPr lang="en-US" altLang="zh-TW" sz="2200" i="0" smtClean="0">
                                  <a:latin typeface="Cambria Math" panose="02040503050406030204" pitchFamily="18" charset="0"/>
                                </a:rPr>
                                <m:t>lim</m:t>
                              </m:r>
                            </m:e>
                            <m:lim>
                              <m:r>
                                <a:rPr lang="en-US" altLang="zh-TW" sz="2200" b="0" i="1" smtClean="0">
                                  <a:latin typeface="Cambria Math" panose="02040503050406030204" pitchFamily="18" charset="0"/>
                                </a:rPr>
                                <m:t>𝑚</m:t>
                              </m:r>
                              <m:r>
                                <a:rPr lang="en-US" altLang="zh-TW" sz="2200" b="0" i="1" smtClean="0">
                                  <a:latin typeface="Cambria Math" panose="02040503050406030204" pitchFamily="18" charset="0"/>
                                  <a:ea typeface="Cambria Math" panose="02040503050406030204" pitchFamily="18" charset="0"/>
                                </a:rPr>
                                <m:t>↦∞</m:t>
                              </m:r>
                            </m:lim>
                          </m:limLow>
                        </m:fName>
                        <m:e>
                          <m:sSup>
                            <m:sSupPr>
                              <m:ctrlPr>
                                <a:rPr lang="en-US" altLang="zh-TW" sz="2200" i="1" smtClean="0">
                                  <a:latin typeface="Cambria Math" panose="02040503050406030204" pitchFamily="18" charset="0"/>
                                </a:rPr>
                              </m:ctrlPr>
                            </m:sSupPr>
                            <m:e>
                              <m:d>
                                <m:dPr>
                                  <m:ctrlPr>
                                    <a:rPr lang="en-US" altLang="zh-TW" sz="2200" i="1">
                                      <a:latin typeface="Cambria Math" panose="02040503050406030204" pitchFamily="18" charset="0"/>
                                    </a:rPr>
                                  </m:ctrlPr>
                                </m:dPr>
                                <m:e>
                                  <m:r>
                                    <a:rPr lang="en-US" altLang="zh-TW" sz="2200" i="1">
                                      <a:latin typeface="Cambria Math" panose="02040503050406030204" pitchFamily="18" charset="0"/>
                                    </a:rPr>
                                    <m:t>1−</m:t>
                                  </m:r>
                                  <m:f>
                                    <m:fPr>
                                      <m:ctrlPr>
                                        <a:rPr lang="en-US" altLang="zh-TW" sz="2200" i="1">
                                          <a:latin typeface="Cambria Math" panose="02040503050406030204" pitchFamily="18" charset="0"/>
                                        </a:rPr>
                                      </m:ctrlPr>
                                    </m:fPr>
                                    <m:num>
                                      <m:r>
                                        <a:rPr lang="en-US" altLang="zh-TW" sz="2200" i="1">
                                          <a:latin typeface="Cambria Math" panose="02040503050406030204" pitchFamily="18" charset="0"/>
                                        </a:rPr>
                                        <m:t>1</m:t>
                                      </m:r>
                                    </m:num>
                                    <m:den>
                                      <m:r>
                                        <a:rPr lang="en-US" altLang="zh-TW" sz="2200" i="1">
                                          <a:latin typeface="Cambria Math" panose="02040503050406030204" pitchFamily="18" charset="0"/>
                                        </a:rPr>
                                        <m:t>𝑚</m:t>
                                      </m:r>
                                    </m:den>
                                  </m:f>
                                </m:e>
                              </m:d>
                            </m:e>
                            <m:sup>
                              <m:r>
                                <a:rPr lang="en-US" altLang="zh-TW" sz="2200" b="0" i="1" smtClean="0">
                                  <a:latin typeface="Cambria Math" panose="02040503050406030204" pitchFamily="18" charset="0"/>
                                </a:rPr>
                                <m:t>𝑚</m:t>
                              </m:r>
                            </m:sup>
                          </m:sSup>
                          <m:r>
                            <a:rPr lang="en-US" altLang="zh-TW" sz="2200" i="1">
                              <a:latin typeface="Cambria Math" panose="02040503050406030204" pitchFamily="18" charset="0"/>
                              <a:ea typeface="Cambria Math" panose="02040503050406030204" pitchFamily="18" charset="0"/>
                            </a:rPr>
                            <m:t>→</m:t>
                          </m:r>
                          <m:f>
                            <m:fPr>
                              <m:ctrlPr>
                                <a:rPr lang="en-US" altLang="zh-TW" sz="2200" i="1" smtClean="0">
                                  <a:latin typeface="Cambria Math" panose="02040503050406030204" pitchFamily="18" charset="0"/>
                                  <a:ea typeface="Cambria Math" panose="02040503050406030204" pitchFamily="18" charset="0"/>
                                </a:rPr>
                              </m:ctrlPr>
                            </m:fPr>
                            <m:num>
                              <m:r>
                                <a:rPr lang="en-US" altLang="zh-TW" sz="2200" b="0" i="1" smtClean="0">
                                  <a:latin typeface="Cambria Math" panose="02040503050406030204" pitchFamily="18" charset="0"/>
                                  <a:ea typeface="Cambria Math" panose="02040503050406030204" pitchFamily="18" charset="0"/>
                                </a:rPr>
                                <m:t>1</m:t>
                              </m:r>
                            </m:num>
                            <m:den>
                              <m:r>
                                <a:rPr lang="en-US" altLang="zh-TW" sz="2200" b="0" i="1" smtClean="0">
                                  <a:latin typeface="Cambria Math" panose="02040503050406030204" pitchFamily="18" charset="0"/>
                                  <a:ea typeface="Cambria Math" panose="02040503050406030204" pitchFamily="18" charset="0"/>
                                </a:rPr>
                                <m:t>𝑒</m:t>
                              </m:r>
                            </m:den>
                          </m:f>
                          <m:r>
                            <a:rPr lang="en-US" altLang="zh-TW" sz="2200" i="1" smtClean="0">
                              <a:latin typeface="Cambria Math" panose="02040503050406030204" pitchFamily="18" charset="0"/>
                              <a:ea typeface="Cambria Math" panose="02040503050406030204" pitchFamily="18" charset="0"/>
                            </a:rPr>
                            <m:t>≈</m:t>
                          </m:r>
                          <m:r>
                            <a:rPr lang="en-US" altLang="zh-TW" sz="2200" b="0" i="1" smtClean="0">
                              <a:latin typeface="Cambria Math" panose="02040503050406030204" pitchFamily="18" charset="0"/>
                              <a:ea typeface="Cambria Math" panose="02040503050406030204" pitchFamily="18" charset="0"/>
                            </a:rPr>
                            <m:t>0.368</m:t>
                          </m:r>
                        </m:e>
                      </m:func>
                    </m:oMath>
                  </m:oMathPara>
                </a14:m>
                <a:endParaRPr lang="zh-TW" altLang="en-US" sz="2200" dirty="0"/>
              </a:p>
            </p:txBody>
          </p:sp>
        </mc:Choice>
        <mc:Fallback xmlns="">
          <p:sp>
            <p:nvSpPr>
              <p:cNvPr id="10" name="文字方塊 9"/>
              <p:cNvSpPr txBox="1">
                <a:spLocks noRot="1" noChangeAspect="1" noMove="1" noResize="1" noEditPoints="1" noAdjustHandles="1" noChangeArrowheads="1" noChangeShapeType="1" noTextEdit="1"/>
              </p:cNvSpPr>
              <p:nvPr/>
            </p:nvSpPr>
            <p:spPr>
              <a:xfrm>
                <a:off x="1906524" y="4396800"/>
                <a:ext cx="3534173" cy="800027"/>
              </a:xfrm>
              <a:prstGeom prst="rect">
                <a:avLst/>
              </a:prstGeom>
              <a:blipFill>
                <a:blip r:embed="rId2"/>
                <a:stretch>
                  <a:fillRect/>
                </a:stretch>
              </a:blipFill>
            </p:spPr>
            <p:txBody>
              <a:bodyPr/>
              <a:lstStyle/>
              <a:p>
                <a:r>
                  <a:rPr lang="zh-TW" altLang="en-US">
                    <a:noFill/>
                  </a:rPr>
                  <a:t> </a:t>
                </a:r>
              </a:p>
            </p:txBody>
          </p:sp>
        </mc:Fallback>
      </mc:AlternateContent>
      <p:graphicFrame>
        <p:nvGraphicFramePr>
          <p:cNvPr id="11" name="表格 10"/>
          <p:cNvGraphicFramePr>
            <a:graphicFrameLocks noGrp="1"/>
          </p:cNvGraphicFramePr>
          <p:nvPr>
            <p:extLst>
              <p:ext uri="{D42A27DB-BD31-4B8C-83A1-F6EECF244321}">
                <p14:modId xmlns:p14="http://schemas.microsoft.com/office/powerpoint/2010/main" val="3263327764"/>
              </p:ext>
            </p:extLst>
          </p:nvPr>
        </p:nvGraphicFramePr>
        <p:xfrm>
          <a:off x="7007228" y="1536501"/>
          <a:ext cx="4873876" cy="4167558"/>
        </p:xfrm>
        <a:graphic>
          <a:graphicData uri="http://schemas.openxmlformats.org/drawingml/2006/table">
            <a:tbl>
              <a:tblPr firstRow="1" bandRow="1">
                <a:tableStyleId>{C4B1156A-380E-4F78-BDF5-A606A8083BF9}</a:tableStyleId>
              </a:tblPr>
              <a:tblGrid>
                <a:gridCol w="1218469">
                  <a:extLst>
                    <a:ext uri="{9D8B030D-6E8A-4147-A177-3AD203B41FA5}">
                      <a16:colId xmlns:a16="http://schemas.microsoft.com/office/drawing/2014/main" xmlns="" val="4085507735"/>
                    </a:ext>
                  </a:extLst>
                </a:gridCol>
                <a:gridCol w="1218469">
                  <a:extLst>
                    <a:ext uri="{9D8B030D-6E8A-4147-A177-3AD203B41FA5}">
                      <a16:colId xmlns:a16="http://schemas.microsoft.com/office/drawing/2014/main" xmlns="" val="3347798397"/>
                    </a:ext>
                  </a:extLst>
                </a:gridCol>
                <a:gridCol w="1218469">
                  <a:extLst>
                    <a:ext uri="{9D8B030D-6E8A-4147-A177-3AD203B41FA5}">
                      <a16:colId xmlns:a16="http://schemas.microsoft.com/office/drawing/2014/main" xmlns="" val="2338915564"/>
                    </a:ext>
                  </a:extLst>
                </a:gridCol>
                <a:gridCol w="1218469">
                  <a:extLst>
                    <a:ext uri="{9D8B030D-6E8A-4147-A177-3AD203B41FA5}">
                      <a16:colId xmlns:a16="http://schemas.microsoft.com/office/drawing/2014/main" xmlns="" val="2717545351"/>
                    </a:ext>
                  </a:extLst>
                </a:gridCol>
              </a:tblGrid>
              <a:tr h="725268">
                <a:tc>
                  <a:txBody>
                    <a:bodyPr/>
                    <a:lstStyle/>
                    <a:p>
                      <a:pPr algn="ctr"/>
                      <a:r>
                        <a:rPr lang="en-US" altLang="zh-TW" dirty="0"/>
                        <a:t>Sample</a:t>
                      </a:r>
                    </a:p>
                    <a:p>
                      <a:pPr algn="ctr"/>
                      <a:r>
                        <a:rPr lang="en-US" altLang="zh-TW" dirty="0"/>
                        <a:t>Indices</a:t>
                      </a:r>
                      <a:endParaRPr lang="zh-TW" altLang="en-US" dirty="0"/>
                    </a:p>
                  </a:txBody>
                  <a:tcPr/>
                </a:tc>
                <a:tc>
                  <a:txBody>
                    <a:bodyPr/>
                    <a:lstStyle/>
                    <a:p>
                      <a:pPr algn="ctr"/>
                      <a:r>
                        <a:rPr lang="en-US" altLang="zh-TW" dirty="0"/>
                        <a:t>Bagging</a:t>
                      </a:r>
                    </a:p>
                    <a:p>
                      <a:pPr algn="ctr"/>
                      <a:r>
                        <a:rPr lang="en-US" altLang="zh-TW" dirty="0"/>
                        <a:t>Round 1</a:t>
                      </a:r>
                      <a:endParaRPr lang="zh-TW" altLang="en-US" dirty="0"/>
                    </a:p>
                  </a:txBody>
                  <a:tcPr/>
                </a:tc>
                <a:tc>
                  <a:txBody>
                    <a:bodyPr/>
                    <a:lstStyle/>
                    <a:p>
                      <a:pPr algn="ctr"/>
                      <a:r>
                        <a:rPr lang="en-US" altLang="zh-TW" dirty="0"/>
                        <a:t>Bagging </a:t>
                      </a:r>
                    </a:p>
                    <a:p>
                      <a:pPr algn="ctr"/>
                      <a:r>
                        <a:rPr lang="en-US" altLang="zh-TW" dirty="0"/>
                        <a:t>round2</a:t>
                      </a:r>
                      <a:endParaRPr lang="zh-TW" altLang="en-US" dirty="0"/>
                    </a:p>
                  </a:txBody>
                  <a:tcPr/>
                </a:tc>
                <a:tc>
                  <a:txBody>
                    <a:bodyPr/>
                    <a:lstStyle/>
                    <a:p>
                      <a:pPr algn="ctr"/>
                      <a:r>
                        <a:rPr lang="en-US" altLang="zh-TW" dirty="0"/>
                        <a:t>…</a:t>
                      </a:r>
                      <a:endParaRPr lang="zh-TW" altLang="en-US" dirty="0"/>
                    </a:p>
                  </a:txBody>
                  <a:tcPr/>
                </a:tc>
                <a:extLst>
                  <a:ext uri="{0D108BD9-81ED-4DB2-BD59-A6C34878D82A}">
                    <a16:rowId xmlns:a16="http://schemas.microsoft.com/office/drawing/2014/main" xmlns="" val="3222244441"/>
                  </a:ext>
                </a:extLst>
              </a:tr>
              <a:tr h="573715">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a:t>
                      </a:r>
                      <a:endParaRPr lang="zh-TW" altLang="en-US" dirty="0"/>
                    </a:p>
                  </a:txBody>
                  <a:tcPr/>
                </a:tc>
                <a:extLst>
                  <a:ext uri="{0D108BD9-81ED-4DB2-BD59-A6C34878D82A}">
                    <a16:rowId xmlns:a16="http://schemas.microsoft.com/office/drawing/2014/main" xmlns="" val="900558081"/>
                  </a:ext>
                </a:extLst>
              </a:tr>
              <a:tr h="573715">
                <a:tc>
                  <a:txBody>
                    <a:bodyPr/>
                    <a:lstStyle/>
                    <a:p>
                      <a:pPr algn="ctr"/>
                      <a:r>
                        <a:rPr lang="en-US" altLang="zh-TW" dirty="0"/>
                        <a:t>2</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a:t>
                      </a:r>
                      <a:endParaRPr lang="zh-TW" altLang="en-US" dirty="0"/>
                    </a:p>
                  </a:txBody>
                  <a:tcPr/>
                </a:tc>
                <a:extLst>
                  <a:ext uri="{0D108BD9-81ED-4DB2-BD59-A6C34878D82A}">
                    <a16:rowId xmlns:a16="http://schemas.microsoft.com/office/drawing/2014/main" xmlns="" val="1883959762"/>
                  </a:ext>
                </a:extLst>
              </a:tr>
              <a:tr h="573715">
                <a:tc>
                  <a:txBody>
                    <a:bodyPr/>
                    <a:lstStyle/>
                    <a:p>
                      <a:pPr algn="ctr"/>
                      <a:r>
                        <a:rPr lang="en-US" altLang="zh-TW" dirty="0"/>
                        <a:t>3</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a:t>
                      </a:r>
                      <a:endParaRPr lang="zh-TW" altLang="en-US" dirty="0"/>
                    </a:p>
                  </a:txBody>
                  <a:tcPr/>
                </a:tc>
                <a:extLst>
                  <a:ext uri="{0D108BD9-81ED-4DB2-BD59-A6C34878D82A}">
                    <a16:rowId xmlns:a16="http://schemas.microsoft.com/office/drawing/2014/main" xmlns="" val="123264102"/>
                  </a:ext>
                </a:extLst>
              </a:tr>
              <a:tr h="573715">
                <a:tc>
                  <a:txBody>
                    <a:bodyPr/>
                    <a:lstStyle/>
                    <a:p>
                      <a:pPr algn="ctr"/>
                      <a:r>
                        <a:rPr lang="en-US" altLang="zh-TW" dirty="0"/>
                        <a:t>4</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a:t>
                      </a:r>
                      <a:endParaRPr lang="zh-TW" altLang="en-US" dirty="0"/>
                    </a:p>
                  </a:txBody>
                  <a:tcPr/>
                </a:tc>
                <a:extLst>
                  <a:ext uri="{0D108BD9-81ED-4DB2-BD59-A6C34878D82A}">
                    <a16:rowId xmlns:a16="http://schemas.microsoft.com/office/drawing/2014/main" xmlns="" val="2755496931"/>
                  </a:ext>
                </a:extLst>
              </a:tr>
              <a:tr h="573715">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a:t>
                      </a:r>
                      <a:endParaRPr lang="zh-TW" altLang="en-US" dirty="0"/>
                    </a:p>
                  </a:txBody>
                  <a:tcPr/>
                </a:tc>
                <a:extLst>
                  <a:ext uri="{0D108BD9-81ED-4DB2-BD59-A6C34878D82A}">
                    <a16:rowId xmlns:a16="http://schemas.microsoft.com/office/drawing/2014/main" xmlns="" val="1140502168"/>
                  </a:ext>
                </a:extLst>
              </a:tr>
              <a:tr h="573715">
                <a:tc>
                  <a:txBody>
                    <a:bodyPr/>
                    <a:lstStyle/>
                    <a:p>
                      <a:pPr algn="ctr"/>
                      <a:r>
                        <a:rPr lang="en-US" altLang="zh-TW" dirty="0"/>
                        <a:t>6</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a:t>
                      </a:r>
                      <a:endParaRPr lang="zh-TW" altLang="en-US" dirty="0"/>
                    </a:p>
                  </a:txBody>
                  <a:tcPr/>
                </a:tc>
                <a:extLst>
                  <a:ext uri="{0D108BD9-81ED-4DB2-BD59-A6C34878D82A}">
                    <a16:rowId xmlns:a16="http://schemas.microsoft.com/office/drawing/2014/main" xmlns="" val="142731209"/>
                  </a:ext>
                </a:extLst>
              </a:tr>
            </a:tbl>
          </a:graphicData>
        </a:graphic>
      </p:graphicFrame>
      <p:sp>
        <p:nvSpPr>
          <p:cNvPr id="14" name="箭號: 向右 13"/>
          <p:cNvSpPr/>
          <p:nvPr/>
        </p:nvSpPr>
        <p:spPr>
          <a:xfrm rot="5400000">
            <a:off x="8705088" y="5734693"/>
            <a:ext cx="274320" cy="310896"/>
          </a:xfrm>
          <a:prstGeom prst="rightArrow">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5" name="箭號: 向右 14"/>
          <p:cNvSpPr/>
          <p:nvPr/>
        </p:nvSpPr>
        <p:spPr>
          <a:xfrm rot="5400000">
            <a:off x="9912096" y="5734693"/>
            <a:ext cx="274320" cy="310896"/>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6" name="箭號: 向右 15"/>
          <p:cNvSpPr/>
          <p:nvPr/>
        </p:nvSpPr>
        <p:spPr>
          <a:xfrm rot="5400000">
            <a:off x="11119104" y="5734693"/>
            <a:ext cx="274320" cy="310896"/>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7" name="文字方塊 16"/>
              <p:cNvSpPr txBox="1"/>
              <p:nvPr/>
            </p:nvSpPr>
            <p:spPr>
              <a:xfrm>
                <a:off x="8686800" y="6207811"/>
                <a:ext cx="30771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𝑪</m:t>
                          </m:r>
                        </m:e>
                        <m:sub>
                          <m:r>
                            <a:rPr lang="en-US" altLang="zh-TW" b="1" i="1" smtClean="0">
                              <a:latin typeface="Cambria Math" panose="02040503050406030204" pitchFamily="18" charset="0"/>
                            </a:rPr>
                            <m:t>𝟏</m:t>
                          </m:r>
                        </m:sub>
                      </m:sSub>
                    </m:oMath>
                  </m:oMathPara>
                </a14:m>
                <a:endParaRPr lang="zh-TW" altLang="en-US" b="1" dirty="0"/>
              </a:p>
            </p:txBody>
          </p:sp>
        </mc:Choice>
        <mc:Fallback xmlns="">
          <p:sp>
            <p:nvSpPr>
              <p:cNvPr id="17" name="文字方塊 16"/>
              <p:cNvSpPr txBox="1">
                <a:spLocks noRot="1" noChangeAspect="1" noMove="1" noResize="1" noEditPoints="1" noAdjustHandles="1" noChangeArrowheads="1" noChangeShapeType="1" noTextEdit="1"/>
              </p:cNvSpPr>
              <p:nvPr/>
            </p:nvSpPr>
            <p:spPr>
              <a:xfrm>
                <a:off x="8686800" y="6207811"/>
                <a:ext cx="307713" cy="276999"/>
              </a:xfrm>
              <a:prstGeom prst="rect">
                <a:avLst/>
              </a:prstGeom>
              <a:blipFill>
                <a:blip r:embed="rId3"/>
                <a:stretch>
                  <a:fillRect l="-18000" r="-10000" b="-1521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文字方塊 17"/>
              <p:cNvSpPr txBox="1"/>
              <p:nvPr/>
            </p:nvSpPr>
            <p:spPr>
              <a:xfrm>
                <a:off x="9909634" y="6207811"/>
                <a:ext cx="30771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𝑪</m:t>
                          </m:r>
                        </m:e>
                        <m:sub>
                          <m:r>
                            <a:rPr lang="en-US" altLang="zh-TW" b="1" i="1" smtClean="0">
                              <a:latin typeface="Cambria Math" panose="02040503050406030204" pitchFamily="18" charset="0"/>
                            </a:rPr>
                            <m:t>𝟐</m:t>
                          </m:r>
                        </m:sub>
                      </m:sSub>
                    </m:oMath>
                  </m:oMathPara>
                </a14:m>
                <a:endParaRPr lang="zh-TW" altLang="en-US" b="1" dirty="0"/>
              </a:p>
            </p:txBody>
          </p:sp>
        </mc:Choice>
        <mc:Fallback xmlns="">
          <p:sp>
            <p:nvSpPr>
              <p:cNvPr id="18" name="文字方塊 17"/>
              <p:cNvSpPr txBox="1">
                <a:spLocks noRot="1" noChangeAspect="1" noMove="1" noResize="1" noEditPoints="1" noAdjustHandles="1" noChangeArrowheads="1" noChangeShapeType="1" noTextEdit="1"/>
              </p:cNvSpPr>
              <p:nvPr/>
            </p:nvSpPr>
            <p:spPr>
              <a:xfrm>
                <a:off x="9909634" y="6207811"/>
                <a:ext cx="307713" cy="276999"/>
              </a:xfrm>
              <a:prstGeom prst="rect">
                <a:avLst/>
              </a:prstGeom>
              <a:blipFill>
                <a:blip r:embed="rId4"/>
                <a:stretch>
                  <a:fillRect l="-20000" r="-10000" b="-1521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p:cNvSpPr txBox="1"/>
              <p:nvPr/>
            </p:nvSpPr>
            <p:spPr>
              <a:xfrm>
                <a:off x="11132469" y="6207811"/>
                <a:ext cx="36221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𝑪</m:t>
                          </m:r>
                        </m:e>
                        <m:sub>
                          <m:r>
                            <a:rPr lang="en-US" altLang="zh-TW" b="1" i="1" smtClean="0">
                              <a:latin typeface="Cambria Math" panose="02040503050406030204" pitchFamily="18" charset="0"/>
                            </a:rPr>
                            <m:t>𝒎</m:t>
                          </m:r>
                        </m:sub>
                      </m:sSub>
                    </m:oMath>
                  </m:oMathPara>
                </a14:m>
                <a:endParaRPr lang="zh-TW" altLang="en-US" b="1" dirty="0"/>
              </a:p>
            </p:txBody>
          </p:sp>
        </mc:Choice>
        <mc:Fallback xmlns="">
          <p:sp>
            <p:nvSpPr>
              <p:cNvPr id="19" name="文字方塊 18"/>
              <p:cNvSpPr txBox="1">
                <a:spLocks noRot="1" noChangeAspect="1" noMove="1" noResize="1" noEditPoints="1" noAdjustHandles="1" noChangeArrowheads="1" noChangeShapeType="1" noTextEdit="1"/>
              </p:cNvSpPr>
              <p:nvPr/>
            </p:nvSpPr>
            <p:spPr>
              <a:xfrm>
                <a:off x="11132469" y="6207811"/>
                <a:ext cx="362215" cy="276999"/>
              </a:xfrm>
              <a:prstGeom prst="rect">
                <a:avLst/>
              </a:prstGeom>
              <a:blipFill>
                <a:blip r:embed="rId5"/>
                <a:stretch>
                  <a:fillRect l="-13333" r="-3333" b="-1087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9337644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172375" y="192133"/>
            <a:ext cx="10515600" cy="553591"/>
          </a:xfrm>
        </p:spPr>
        <p:txBody>
          <a:bodyPr/>
          <a:lstStyle/>
          <a:p>
            <a:pPr marL="0" indent="0">
              <a:buNone/>
            </a:pPr>
            <a:r>
              <a:rPr lang="en-US" altLang="zh-TW" dirty="0">
                <a:solidFill>
                  <a:srgbClr val="C00000"/>
                </a:solidFill>
              </a:rPr>
              <a:t>Manipulating the Input Features</a:t>
            </a:r>
            <a:endParaRPr lang="zh-TW" altLang="en-US" dirty="0">
              <a:solidFill>
                <a:srgbClr val="C00000"/>
              </a:solidFill>
            </a:endParaRPr>
          </a:p>
        </p:txBody>
      </p:sp>
      <p:sp>
        <p:nvSpPr>
          <p:cNvPr id="4" name="文字方塊 3"/>
          <p:cNvSpPr txBox="1"/>
          <p:nvPr/>
        </p:nvSpPr>
        <p:spPr>
          <a:xfrm>
            <a:off x="172375" y="781234"/>
            <a:ext cx="10578473" cy="646331"/>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訓練樣本通常由一組屬性描述，不同的子空間</a:t>
            </a:r>
            <a:r>
              <a:rPr lang="en-US" altLang="zh-TW" dirty="0">
                <a:latin typeface="微軟正黑體" panose="020B0604030504040204" pitchFamily="34" charset="-120"/>
                <a:ea typeface="微軟正黑體" panose="020B0604030504040204" pitchFamily="34" charset="-120"/>
              </a:rPr>
              <a:t>(subspace</a:t>
            </a:r>
            <a:r>
              <a:rPr lang="zh-TW" altLang="en-US" dirty="0">
                <a:latin typeface="微軟正黑體" panose="020B0604030504040204" pitchFamily="34" charset="-120"/>
                <a:ea typeface="微軟正黑體" panose="020B0604030504040204" pitchFamily="34" charset="-120"/>
              </a:rPr>
              <a:t>，即屬性的子集</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提供了觀察資料不同的視角，</a:t>
            </a:r>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顯然由不同的子空間訓練出來的分類器必然有所不同。</a:t>
            </a:r>
          </a:p>
        </p:txBody>
      </p:sp>
      <mc:AlternateContent xmlns:mc="http://schemas.openxmlformats.org/markup-compatibility/2006" xmlns:a14="http://schemas.microsoft.com/office/drawing/2010/main">
        <mc:Choice Requires="a14">
          <p:sp>
            <p:nvSpPr>
              <p:cNvPr id="5" name="文字方塊 4"/>
              <p:cNvSpPr txBox="1"/>
              <p:nvPr/>
            </p:nvSpPr>
            <p:spPr>
              <a:xfrm>
                <a:off x="2400670" y="1846555"/>
                <a:ext cx="7200113" cy="1246495"/>
              </a:xfrm>
              <a:prstGeom prst="rect">
                <a:avLst/>
              </a:prstGeom>
              <a:noFill/>
            </p:spPr>
            <p:txBody>
              <a:bodyPr wrap="none" rtlCol="0">
                <a:spAutoFit/>
              </a:bodyPr>
              <a:lstStyle/>
              <a:p>
                <a:r>
                  <a:rPr lang="en-US" altLang="zh-TW" sz="2500" b="1" dirty="0"/>
                  <a:t>Input</a:t>
                </a:r>
                <a:r>
                  <a:rPr lang="zh-TW" altLang="en-US" sz="2500" b="1" dirty="0"/>
                  <a:t>：</a:t>
                </a:r>
                <a14:m>
                  <m:oMath xmlns:m="http://schemas.openxmlformats.org/officeDocument/2006/math">
                    <m:r>
                      <a:rPr lang="zh-TW" altLang="en-US" sz="2500" b="1" i="1" smtClean="0">
                        <a:latin typeface="Cambria Math" panose="02040503050406030204" pitchFamily="18" charset="0"/>
                      </a:rPr>
                      <m:t>𝓓</m:t>
                    </m:r>
                    <m:r>
                      <a:rPr lang="en-US" altLang="zh-TW" sz="2500" b="1" i="0" smtClean="0">
                        <a:latin typeface="Cambria Math" panose="02040503050406030204" pitchFamily="18" charset="0"/>
                      </a:rPr>
                      <m:t>=</m:t>
                    </m:r>
                    <m:d>
                      <m:dPr>
                        <m:begChr m:val="{"/>
                        <m:endChr m:val="}"/>
                        <m:ctrlPr>
                          <a:rPr lang="en-US" altLang="zh-TW" sz="2500" b="1" i="1" smtClean="0">
                            <a:latin typeface="Cambria Math" panose="02040503050406030204" pitchFamily="18" charset="0"/>
                          </a:rPr>
                        </m:ctrlPr>
                      </m:dPr>
                      <m:e>
                        <m:d>
                          <m:dPr>
                            <m:ctrlPr>
                              <a:rPr lang="en-US" altLang="zh-TW" sz="2500" b="1" i="1" smtClean="0">
                                <a:latin typeface="Cambria Math" panose="02040503050406030204" pitchFamily="18" charset="0"/>
                              </a:rPr>
                            </m:ctrlPr>
                          </m:dPr>
                          <m:e>
                            <m:sSub>
                              <m:sSubPr>
                                <m:ctrlPr>
                                  <a:rPr lang="en-US" altLang="zh-TW" sz="2500" b="1" i="1" smtClean="0">
                                    <a:latin typeface="Cambria Math" panose="02040503050406030204" pitchFamily="18" charset="0"/>
                                  </a:rPr>
                                </m:ctrlPr>
                              </m:sSubPr>
                              <m:e>
                                <m:r>
                                  <a:rPr lang="en-US" altLang="zh-TW" sz="2500" b="1" i="1" smtClean="0">
                                    <a:latin typeface="Cambria Math" panose="02040503050406030204" pitchFamily="18" charset="0"/>
                                  </a:rPr>
                                  <m:t>𝒙</m:t>
                                </m:r>
                              </m:e>
                              <m:sub>
                                <m:r>
                                  <a:rPr lang="en-US" altLang="zh-TW" sz="2500" b="1" i="1" smtClean="0">
                                    <a:latin typeface="Cambria Math" panose="02040503050406030204" pitchFamily="18" charset="0"/>
                                  </a:rPr>
                                  <m:t>𝟏</m:t>
                                </m:r>
                              </m:sub>
                            </m:sSub>
                            <m:r>
                              <a:rPr lang="en-US" altLang="zh-TW" sz="2500" b="1" i="1" smtClean="0">
                                <a:latin typeface="Cambria Math" panose="02040503050406030204" pitchFamily="18" charset="0"/>
                              </a:rPr>
                              <m:t>,</m:t>
                            </m:r>
                            <m:sSub>
                              <m:sSubPr>
                                <m:ctrlPr>
                                  <a:rPr lang="en-US" altLang="zh-TW" sz="2500" b="1" i="1">
                                    <a:latin typeface="Cambria Math" panose="02040503050406030204" pitchFamily="18" charset="0"/>
                                  </a:rPr>
                                </m:ctrlPr>
                              </m:sSubPr>
                              <m:e>
                                <m:r>
                                  <a:rPr lang="en-US" altLang="zh-TW" sz="2500" b="1" i="1" smtClean="0">
                                    <a:latin typeface="Cambria Math" panose="02040503050406030204" pitchFamily="18" charset="0"/>
                                  </a:rPr>
                                  <m:t>𝒚</m:t>
                                </m:r>
                              </m:e>
                              <m:sub>
                                <m:r>
                                  <a:rPr lang="en-US" altLang="zh-TW" sz="2500" b="1" i="1">
                                    <a:latin typeface="Cambria Math" panose="02040503050406030204" pitchFamily="18" charset="0"/>
                                  </a:rPr>
                                  <m:t>𝟏</m:t>
                                </m:r>
                              </m:sub>
                            </m:sSub>
                          </m:e>
                        </m:d>
                        <m:r>
                          <a:rPr lang="en-US" altLang="zh-TW" sz="2500" b="1" i="1" smtClean="0">
                            <a:latin typeface="Cambria Math" panose="02040503050406030204" pitchFamily="18" charset="0"/>
                          </a:rPr>
                          <m:t>,</m:t>
                        </m:r>
                        <m:d>
                          <m:dPr>
                            <m:ctrlPr>
                              <a:rPr lang="en-US" altLang="zh-TW" sz="2500" b="1" i="1">
                                <a:latin typeface="Cambria Math" panose="02040503050406030204" pitchFamily="18" charset="0"/>
                              </a:rPr>
                            </m:ctrlPr>
                          </m:dPr>
                          <m:e>
                            <m:sSub>
                              <m:sSubPr>
                                <m:ctrlPr>
                                  <a:rPr lang="en-US" altLang="zh-TW" sz="2500" b="1" i="1">
                                    <a:latin typeface="Cambria Math" panose="02040503050406030204" pitchFamily="18" charset="0"/>
                                  </a:rPr>
                                </m:ctrlPr>
                              </m:sSubPr>
                              <m:e>
                                <m:r>
                                  <a:rPr lang="en-US" altLang="zh-TW" sz="2500" b="1" i="1">
                                    <a:latin typeface="Cambria Math" panose="02040503050406030204" pitchFamily="18" charset="0"/>
                                  </a:rPr>
                                  <m:t>𝒙</m:t>
                                </m:r>
                              </m:e>
                              <m:sub>
                                <m:r>
                                  <a:rPr lang="en-US" altLang="zh-TW" sz="2500" b="1" i="1" smtClean="0">
                                    <a:latin typeface="Cambria Math" panose="02040503050406030204" pitchFamily="18" charset="0"/>
                                  </a:rPr>
                                  <m:t>𝟐</m:t>
                                </m:r>
                              </m:sub>
                            </m:sSub>
                            <m:r>
                              <a:rPr lang="en-US" altLang="zh-TW" sz="2500" b="1" i="1">
                                <a:latin typeface="Cambria Math" panose="02040503050406030204" pitchFamily="18" charset="0"/>
                              </a:rPr>
                              <m:t>,</m:t>
                            </m:r>
                            <m:sSub>
                              <m:sSubPr>
                                <m:ctrlPr>
                                  <a:rPr lang="en-US" altLang="zh-TW" sz="2500" b="1" i="1">
                                    <a:latin typeface="Cambria Math" panose="02040503050406030204" pitchFamily="18" charset="0"/>
                                  </a:rPr>
                                </m:ctrlPr>
                              </m:sSubPr>
                              <m:e>
                                <m:r>
                                  <a:rPr lang="en-US" altLang="zh-TW" sz="2500" b="1" i="1">
                                    <a:latin typeface="Cambria Math" panose="02040503050406030204" pitchFamily="18" charset="0"/>
                                  </a:rPr>
                                  <m:t>𝒚</m:t>
                                </m:r>
                              </m:e>
                              <m:sub>
                                <m:r>
                                  <a:rPr lang="en-US" altLang="zh-TW" sz="2500" b="1" i="1" smtClean="0">
                                    <a:latin typeface="Cambria Math" panose="02040503050406030204" pitchFamily="18" charset="0"/>
                                  </a:rPr>
                                  <m:t>𝟐</m:t>
                                </m:r>
                              </m:sub>
                            </m:sSub>
                          </m:e>
                        </m:d>
                        <m:r>
                          <a:rPr lang="en-US" altLang="zh-TW" sz="2500" b="1" i="1">
                            <a:latin typeface="Cambria Math" panose="02040503050406030204" pitchFamily="18" charset="0"/>
                          </a:rPr>
                          <m:t>,</m:t>
                        </m:r>
                        <m:d>
                          <m:dPr>
                            <m:ctrlPr>
                              <a:rPr lang="en-US" altLang="zh-TW" sz="2500" b="1" i="1">
                                <a:latin typeface="Cambria Math" panose="02040503050406030204" pitchFamily="18" charset="0"/>
                              </a:rPr>
                            </m:ctrlPr>
                          </m:dPr>
                          <m:e>
                            <m:sSub>
                              <m:sSubPr>
                                <m:ctrlPr>
                                  <a:rPr lang="en-US" altLang="zh-TW" sz="2500" b="1" i="1">
                                    <a:latin typeface="Cambria Math" panose="02040503050406030204" pitchFamily="18" charset="0"/>
                                  </a:rPr>
                                </m:ctrlPr>
                              </m:sSubPr>
                              <m:e>
                                <m:r>
                                  <a:rPr lang="en-US" altLang="zh-TW" sz="2500" b="1" i="1">
                                    <a:latin typeface="Cambria Math" panose="02040503050406030204" pitchFamily="18" charset="0"/>
                                  </a:rPr>
                                  <m:t>𝒙</m:t>
                                </m:r>
                              </m:e>
                              <m:sub>
                                <m:r>
                                  <a:rPr lang="en-US" altLang="zh-TW" sz="2500" b="1" i="1" smtClean="0">
                                    <a:latin typeface="Cambria Math" panose="02040503050406030204" pitchFamily="18" charset="0"/>
                                  </a:rPr>
                                  <m:t>𝟑</m:t>
                                </m:r>
                              </m:sub>
                            </m:sSub>
                            <m:r>
                              <a:rPr lang="en-US" altLang="zh-TW" sz="2500" b="1" i="1">
                                <a:latin typeface="Cambria Math" panose="02040503050406030204" pitchFamily="18" charset="0"/>
                              </a:rPr>
                              <m:t>,</m:t>
                            </m:r>
                            <m:sSub>
                              <m:sSubPr>
                                <m:ctrlPr>
                                  <a:rPr lang="en-US" altLang="zh-TW" sz="2500" b="1" i="1">
                                    <a:latin typeface="Cambria Math" panose="02040503050406030204" pitchFamily="18" charset="0"/>
                                  </a:rPr>
                                </m:ctrlPr>
                              </m:sSubPr>
                              <m:e>
                                <m:r>
                                  <a:rPr lang="en-US" altLang="zh-TW" sz="2500" b="1" i="1">
                                    <a:latin typeface="Cambria Math" panose="02040503050406030204" pitchFamily="18" charset="0"/>
                                  </a:rPr>
                                  <m:t>𝒚</m:t>
                                </m:r>
                              </m:e>
                              <m:sub>
                                <m:r>
                                  <a:rPr lang="en-US" altLang="zh-TW" sz="2500" b="1" i="1" smtClean="0">
                                    <a:latin typeface="Cambria Math" panose="02040503050406030204" pitchFamily="18" charset="0"/>
                                  </a:rPr>
                                  <m:t>𝟑</m:t>
                                </m:r>
                              </m:sub>
                            </m:sSub>
                          </m:e>
                        </m:d>
                        <m:r>
                          <a:rPr lang="en-US" altLang="zh-TW" sz="2500" b="1" i="1">
                            <a:latin typeface="Cambria Math" panose="02040503050406030204" pitchFamily="18" charset="0"/>
                          </a:rPr>
                          <m:t>,</m:t>
                        </m:r>
                        <m:r>
                          <a:rPr lang="en-US" altLang="zh-TW" sz="2500" b="1" i="1" smtClean="0">
                            <a:latin typeface="Cambria Math" panose="02040503050406030204" pitchFamily="18" charset="0"/>
                          </a:rPr>
                          <m:t> …</m:t>
                        </m:r>
                        <m:d>
                          <m:dPr>
                            <m:ctrlPr>
                              <a:rPr lang="en-US" altLang="zh-TW" sz="2500" b="1" i="1">
                                <a:latin typeface="Cambria Math" panose="02040503050406030204" pitchFamily="18" charset="0"/>
                              </a:rPr>
                            </m:ctrlPr>
                          </m:dPr>
                          <m:e>
                            <m:sSub>
                              <m:sSubPr>
                                <m:ctrlPr>
                                  <a:rPr lang="en-US" altLang="zh-TW" sz="2500" b="1" i="1">
                                    <a:latin typeface="Cambria Math" panose="02040503050406030204" pitchFamily="18" charset="0"/>
                                  </a:rPr>
                                </m:ctrlPr>
                              </m:sSubPr>
                              <m:e>
                                <m:r>
                                  <a:rPr lang="en-US" altLang="zh-TW" sz="2500" b="1" i="1">
                                    <a:latin typeface="Cambria Math" panose="02040503050406030204" pitchFamily="18" charset="0"/>
                                  </a:rPr>
                                  <m:t>𝒙</m:t>
                                </m:r>
                              </m:e>
                              <m:sub>
                                <m:r>
                                  <a:rPr lang="en-US" altLang="zh-TW" sz="2500" b="1" i="1" smtClean="0">
                                    <a:latin typeface="Cambria Math" panose="02040503050406030204" pitchFamily="18" charset="0"/>
                                  </a:rPr>
                                  <m:t>𝒏</m:t>
                                </m:r>
                              </m:sub>
                            </m:sSub>
                            <m:r>
                              <a:rPr lang="en-US" altLang="zh-TW" sz="2500" b="1" i="1">
                                <a:latin typeface="Cambria Math" panose="02040503050406030204" pitchFamily="18" charset="0"/>
                              </a:rPr>
                              <m:t>,</m:t>
                            </m:r>
                            <m:sSub>
                              <m:sSubPr>
                                <m:ctrlPr>
                                  <a:rPr lang="en-US" altLang="zh-TW" sz="2500" b="1" i="1">
                                    <a:latin typeface="Cambria Math" panose="02040503050406030204" pitchFamily="18" charset="0"/>
                                  </a:rPr>
                                </m:ctrlPr>
                              </m:sSubPr>
                              <m:e>
                                <m:r>
                                  <a:rPr lang="en-US" altLang="zh-TW" sz="2500" b="1" i="1">
                                    <a:latin typeface="Cambria Math" panose="02040503050406030204" pitchFamily="18" charset="0"/>
                                  </a:rPr>
                                  <m:t>𝒚</m:t>
                                </m:r>
                              </m:e>
                              <m:sub>
                                <m:r>
                                  <a:rPr lang="en-US" altLang="zh-TW" sz="2500" b="1" i="1" smtClean="0">
                                    <a:latin typeface="Cambria Math" panose="02040503050406030204" pitchFamily="18" charset="0"/>
                                  </a:rPr>
                                  <m:t>𝒏</m:t>
                                </m:r>
                              </m:sub>
                            </m:sSub>
                          </m:e>
                        </m:d>
                        <m:r>
                          <a:rPr lang="en-US" altLang="zh-TW" sz="2500" b="1" i="1">
                            <a:latin typeface="Cambria Math" panose="02040503050406030204" pitchFamily="18" charset="0"/>
                          </a:rPr>
                          <m:t>,</m:t>
                        </m:r>
                      </m:e>
                    </m:d>
                  </m:oMath>
                </a14:m>
                <a:endParaRPr lang="en-US" altLang="zh-TW" sz="2500" b="1" dirty="0"/>
              </a:p>
              <a:p>
                <a:r>
                  <a:rPr lang="en-US" altLang="zh-TW" sz="2500" b="1" dirty="0"/>
                  <a:t>              </a:t>
                </a:r>
                <a:r>
                  <a:rPr lang="zh-TW" altLang="en-US" sz="2500" b="1" dirty="0"/>
                  <a:t>學習演算法</a:t>
                </a:r>
                <a14:m>
                  <m:oMath xmlns:m="http://schemas.openxmlformats.org/officeDocument/2006/math">
                    <m:r>
                      <a:rPr lang="en-US" altLang="zh-TW" sz="2500" b="1" i="1" smtClean="0">
                        <a:latin typeface="Cambria Math" panose="02040503050406030204" pitchFamily="18" charset="0"/>
                        <a:ea typeface="Cambria Math" panose="02040503050406030204" pitchFamily="18" charset="0"/>
                      </a:rPr>
                      <m:t>𝓛</m:t>
                    </m:r>
                    <m:r>
                      <a:rPr lang="zh-TW" altLang="en-US" sz="2500" b="1" i="1">
                        <a:latin typeface="Cambria Math" panose="02040503050406030204" pitchFamily="18" charset="0"/>
                      </a:rPr>
                      <m:t>，</m:t>
                    </m:r>
                    <m:r>
                      <a:rPr lang="zh-TW" altLang="en-US" sz="2500" b="1" i="1" smtClean="0">
                        <a:latin typeface="Cambria Math" panose="02040503050406030204" pitchFamily="18" charset="0"/>
                      </a:rPr>
                      <m:t>子</m:t>
                    </m:r>
                    <m:r>
                      <a:rPr lang="zh-TW" altLang="en-US" sz="2500" b="1" i="1" dirty="0" smtClean="0">
                        <a:latin typeface="Cambria Math" panose="02040503050406030204" pitchFamily="18" charset="0"/>
                      </a:rPr>
                      <m:t>空間的屬性數</m:t>
                    </m:r>
                    <m:r>
                      <a:rPr lang="zh-TW" altLang="en-US" sz="2500" b="1" i="1" dirty="0" smtClean="0">
                        <a:latin typeface="Cambria Math" panose="02040503050406030204" pitchFamily="18" charset="0"/>
                      </a:rPr>
                      <m:t>𝓭</m:t>
                    </m:r>
                  </m:oMath>
                </a14:m>
                <a:r>
                  <a:rPr lang="en-US" altLang="zh-TW" sz="2500" b="1" dirty="0"/>
                  <a:t>’</a:t>
                </a:r>
              </a:p>
              <a:p>
                <a:r>
                  <a:rPr lang="en-US" altLang="zh-TW" sz="2500" b="1" dirty="0"/>
                  <a:t>               </a:t>
                </a:r>
                <a:endParaRPr lang="zh-TW" altLang="en-US" sz="2500" b="1"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2400670" y="1846555"/>
                <a:ext cx="7200113" cy="1246495"/>
              </a:xfrm>
              <a:prstGeom prst="rect">
                <a:avLst/>
              </a:prstGeom>
              <a:blipFill>
                <a:blip r:embed="rId2"/>
                <a:stretch>
                  <a:fillRect l="-1439" t="-490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p:cNvSpPr txBox="1"/>
              <p:nvPr/>
            </p:nvSpPr>
            <p:spPr>
              <a:xfrm>
                <a:off x="2400670" y="2929632"/>
                <a:ext cx="3299686" cy="2050626"/>
              </a:xfrm>
              <a:prstGeom prst="rect">
                <a:avLst/>
              </a:prstGeom>
              <a:noFill/>
            </p:spPr>
            <p:txBody>
              <a:bodyPr wrap="none" rtlCol="0">
                <a:spAutoFit/>
              </a:bodyPr>
              <a:lstStyle/>
              <a:p>
                <a:r>
                  <a:rPr lang="en-US" altLang="zh-TW" sz="2500" b="1" dirty="0"/>
                  <a:t>1. for t =1, 2, …, </a:t>
                </a:r>
                <a14:m>
                  <m:oMath xmlns:m="http://schemas.openxmlformats.org/officeDocument/2006/math">
                    <m:r>
                      <a:rPr lang="en-US" altLang="zh-TW" sz="2500" b="1" i="1" dirty="0" smtClean="0">
                        <a:latin typeface="Cambria Math" panose="02040503050406030204" pitchFamily="18" charset="0"/>
                      </a:rPr>
                      <m:t>𝑻</m:t>
                    </m:r>
                  </m:oMath>
                </a14:m>
                <a:r>
                  <a:rPr lang="en-US" altLang="zh-TW" sz="2500" b="1" dirty="0"/>
                  <a:t> do</a:t>
                </a:r>
              </a:p>
              <a:p>
                <a:r>
                  <a:rPr lang="en-US" altLang="zh-TW" sz="2500" b="1" dirty="0"/>
                  <a:t>2.          </a:t>
                </a:r>
                <a14:m>
                  <m:oMath xmlns:m="http://schemas.openxmlformats.org/officeDocument/2006/math">
                    <m:sSub>
                      <m:sSubPr>
                        <m:ctrlPr>
                          <a:rPr lang="en-US" altLang="zh-TW" sz="2500" b="1" i="1" smtClean="0">
                            <a:latin typeface="Cambria Math" panose="02040503050406030204" pitchFamily="18" charset="0"/>
                          </a:rPr>
                        </m:ctrlPr>
                      </m:sSubPr>
                      <m:e>
                        <m:r>
                          <a:rPr lang="en-US" altLang="zh-TW" sz="2500" b="1" i="1" smtClean="0">
                            <a:latin typeface="Cambria Math" panose="02040503050406030204" pitchFamily="18" charset="0"/>
                            <a:ea typeface="Cambria Math" panose="02040503050406030204" pitchFamily="18" charset="0"/>
                          </a:rPr>
                          <m:t>𝓕</m:t>
                        </m:r>
                      </m:e>
                      <m:sub>
                        <m:r>
                          <a:rPr lang="en-US" altLang="zh-TW" sz="2500" b="1" i="1" smtClean="0">
                            <a:latin typeface="Cambria Math" panose="02040503050406030204" pitchFamily="18" charset="0"/>
                          </a:rPr>
                          <m:t>𝒕</m:t>
                        </m:r>
                      </m:sub>
                    </m:sSub>
                    <m:r>
                      <a:rPr lang="en-US" altLang="zh-TW" sz="2500" b="1" i="1" smtClean="0">
                        <a:latin typeface="Cambria Math" panose="02040503050406030204" pitchFamily="18" charset="0"/>
                      </a:rPr>
                      <m:t>=</m:t>
                    </m:r>
                    <m:r>
                      <a:rPr lang="en-US" altLang="zh-TW" sz="2500" b="1" i="1" smtClean="0">
                        <a:latin typeface="Cambria Math" panose="02040503050406030204" pitchFamily="18" charset="0"/>
                      </a:rPr>
                      <m:t>𝑹𝑺</m:t>
                    </m:r>
                    <m:d>
                      <m:dPr>
                        <m:ctrlPr>
                          <a:rPr lang="en-US" altLang="zh-TW" sz="2500" b="1" i="1" smtClean="0">
                            <a:latin typeface="Cambria Math" panose="02040503050406030204" pitchFamily="18" charset="0"/>
                          </a:rPr>
                        </m:ctrlPr>
                      </m:dPr>
                      <m:e>
                        <m:r>
                          <a:rPr lang="zh-TW" altLang="en-US" sz="2500" b="1" i="1">
                            <a:latin typeface="Cambria Math" panose="02040503050406030204" pitchFamily="18" charset="0"/>
                          </a:rPr>
                          <m:t>𝓓</m:t>
                        </m:r>
                        <m:r>
                          <a:rPr lang="en-US" altLang="zh-TW" sz="2500" b="1" i="1" smtClean="0">
                            <a:latin typeface="Cambria Math" panose="02040503050406030204" pitchFamily="18" charset="0"/>
                          </a:rPr>
                          <m:t>,</m:t>
                        </m:r>
                        <m:r>
                          <a:rPr lang="zh-TW" altLang="en-US" sz="2500" b="1" i="1" dirty="0">
                            <a:latin typeface="Cambria Math" panose="02040503050406030204" pitchFamily="18" charset="0"/>
                          </a:rPr>
                          <m:t>𝓭</m:t>
                        </m:r>
                        <m:r>
                          <m:rPr>
                            <m:nor/>
                          </m:rPr>
                          <a:rPr lang="en-US" altLang="zh-TW" sz="2500" b="1" dirty="0"/>
                          <m:t>’</m:t>
                        </m:r>
                      </m:e>
                    </m:d>
                  </m:oMath>
                </a14:m>
                <a:endParaRPr lang="en-US" altLang="zh-TW" sz="2500" b="1" dirty="0"/>
              </a:p>
              <a:p>
                <a:r>
                  <a:rPr lang="en-US" altLang="zh-TW" sz="2500" b="1" dirty="0"/>
                  <a:t>3. </a:t>
                </a:r>
                <a14:m>
                  <m:oMath xmlns:m="http://schemas.openxmlformats.org/officeDocument/2006/math">
                    <m:sSub>
                      <m:sSubPr>
                        <m:ctrlPr>
                          <a:rPr lang="en-US" altLang="zh-TW" sz="2500" b="1" i="1">
                            <a:latin typeface="Cambria Math" panose="02040503050406030204" pitchFamily="18" charset="0"/>
                          </a:rPr>
                        </m:ctrlPr>
                      </m:sSubPr>
                      <m:e>
                        <m:r>
                          <a:rPr lang="en-US" altLang="zh-TW" sz="2500" b="1" i="1" smtClean="0">
                            <a:latin typeface="Cambria Math" panose="02040503050406030204" pitchFamily="18" charset="0"/>
                          </a:rPr>
                          <m:t>         </m:t>
                        </m:r>
                        <m:r>
                          <a:rPr lang="zh-TW" altLang="en-US" sz="2500" b="1" i="1">
                            <a:latin typeface="Cambria Math" panose="02040503050406030204" pitchFamily="18" charset="0"/>
                          </a:rPr>
                          <m:t>𝓓</m:t>
                        </m:r>
                      </m:e>
                      <m:sub>
                        <m:r>
                          <a:rPr lang="en-US" altLang="zh-TW" sz="2500" b="1" i="1">
                            <a:latin typeface="Cambria Math" panose="02040503050406030204" pitchFamily="18" charset="0"/>
                          </a:rPr>
                          <m:t>𝒕</m:t>
                        </m:r>
                      </m:sub>
                    </m:sSub>
                    <m:r>
                      <a:rPr lang="en-US" altLang="zh-TW" sz="2500" b="1" i="1">
                        <a:latin typeface="Cambria Math" panose="02040503050406030204" pitchFamily="18" charset="0"/>
                      </a:rPr>
                      <m:t>=</m:t>
                    </m:r>
                    <m:sSub>
                      <m:sSubPr>
                        <m:ctrlPr>
                          <a:rPr lang="en-US" altLang="zh-TW" sz="2500" b="1" i="1" smtClean="0">
                            <a:latin typeface="Cambria Math" panose="02040503050406030204" pitchFamily="18" charset="0"/>
                          </a:rPr>
                        </m:ctrlPr>
                      </m:sSubPr>
                      <m:e>
                        <m:r>
                          <a:rPr lang="en-US" altLang="zh-TW" sz="2500" b="1" i="1" smtClean="0">
                            <a:latin typeface="Cambria Math" panose="02040503050406030204" pitchFamily="18" charset="0"/>
                          </a:rPr>
                          <m:t>𝑴𝒂𝒑</m:t>
                        </m:r>
                      </m:e>
                      <m:sub>
                        <m:sSub>
                          <m:sSubPr>
                            <m:ctrlPr>
                              <a:rPr lang="en-US" altLang="zh-TW" sz="2500" b="1" i="1" smtClean="0">
                                <a:latin typeface="Cambria Math" panose="02040503050406030204" pitchFamily="18" charset="0"/>
                              </a:rPr>
                            </m:ctrlPr>
                          </m:sSubPr>
                          <m:e>
                            <m:r>
                              <a:rPr lang="en-US" altLang="zh-TW" sz="2500" b="1" i="1" smtClean="0">
                                <a:latin typeface="Cambria Math" panose="02040503050406030204" pitchFamily="18" charset="0"/>
                              </a:rPr>
                              <m:t>𝑭</m:t>
                            </m:r>
                          </m:e>
                          <m:sub>
                            <m:r>
                              <a:rPr lang="en-US" altLang="zh-TW" sz="2500" b="1" i="1" smtClean="0">
                                <a:latin typeface="Cambria Math" panose="02040503050406030204" pitchFamily="18" charset="0"/>
                              </a:rPr>
                              <m:t>𝒕</m:t>
                            </m:r>
                          </m:sub>
                        </m:sSub>
                      </m:sub>
                    </m:sSub>
                    <m:d>
                      <m:dPr>
                        <m:ctrlPr>
                          <a:rPr lang="en-US" altLang="zh-TW" sz="2500" b="1" i="1" smtClean="0">
                            <a:latin typeface="Cambria Math" panose="02040503050406030204" pitchFamily="18" charset="0"/>
                          </a:rPr>
                        </m:ctrlPr>
                      </m:dPr>
                      <m:e>
                        <m:r>
                          <a:rPr lang="zh-TW" altLang="en-US" sz="2500" b="1" i="1">
                            <a:latin typeface="Cambria Math" panose="02040503050406030204" pitchFamily="18" charset="0"/>
                          </a:rPr>
                          <m:t>𝓓</m:t>
                        </m:r>
                      </m:e>
                    </m:d>
                  </m:oMath>
                </a14:m>
                <a:endParaRPr lang="en-US" altLang="zh-TW" sz="2500" b="1" dirty="0"/>
              </a:p>
              <a:p>
                <a:r>
                  <a:rPr lang="en-US" altLang="zh-TW" sz="2500" b="1" dirty="0"/>
                  <a:t>4.          </a:t>
                </a:r>
                <a14:m>
                  <m:oMath xmlns:m="http://schemas.openxmlformats.org/officeDocument/2006/math">
                    <m:sSub>
                      <m:sSubPr>
                        <m:ctrlPr>
                          <a:rPr lang="en-US" altLang="zh-TW" sz="2500" b="1" i="1" smtClean="0">
                            <a:latin typeface="Cambria Math" panose="02040503050406030204" pitchFamily="18" charset="0"/>
                          </a:rPr>
                        </m:ctrlPr>
                      </m:sSubPr>
                      <m:e>
                        <m:r>
                          <a:rPr lang="zh-TW" altLang="en-US" sz="2500" b="1" i="1" smtClean="0">
                            <a:latin typeface="Cambria Math" panose="02040503050406030204" pitchFamily="18" charset="0"/>
                          </a:rPr>
                          <m:t>𝓱</m:t>
                        </m:r>
                      </m:e>
                      <m:sub>
                        <m:r>
                          <a:rPr lang="en-US" altLang="zh-TW" sz="2500" b="1" i="1" smtClean="0">
                            <a:latin typeface="Cambria Math" panose="02040503050406030204" pitchFamily="18" charset="0"/>
                          </a:rPr>
                          <m:t>𝒕</m:t>
                        </m:r>
                      </m:sub>
                    </m:sSub>
                    <m:r>
                      <a:rPr lang="en-US" altLang="zh-TW" sz="2500" b="1" i="1" smtClean="0">
                        <a:latin typeface="Cambria Math" panose="02040503050406030204" pitchFamily="18" charset="0"/>
                      </a:rPr>
                      <m:t>=</m:t>
                    </m:r>
                    <m:r>
                      <a:rPr lang="en-US" altLang="zh-TW" sz="2500" b="1" i="1">
                        <a:latin typeface="Cambria Math" panose="02040503050406030204" pitchFamily="18" charset="0"/>
                        <a:ea typeface="Cambria Math" panose="02040503050406030204" pitchFamily="18" charset="0"/>
                      </a:rPr>
                      <m:t>𝓛</m:t>
                    </m:r>
                  </m:oMath>
                </a14:m>
                <a:r>
                  <a:rPr lang="en-US" altLang="zh-TW" sz="2500" b="1" dirty="0"/>
                  <a:t>(</a:t>
                </a:r>
                <a14:m>
                  <m:oMath xmlns:m="http://schemas.openxmlformats.org/officeDocument/2006/math">
                    <m:sSub>
                      <m:sSubPr>
                        <m:ctrlPr>
                          <a:rPr lang="en-US" altLang="zh-TW" sz="2500" b="1" i="1">
                            <a:latin typeface="Cambria Math" panose="02040503050406030204" pitchFamily="18" charset="0"/>
                          </a:rPr>
                        </m:ctrlPr>
                      </m:sSubPr>
                      <m:e>
                        <m:r>
                          <a:rPr lang="zh-TW" altLang="en-US" sz="2500" b="1" i="1">
                            <a:latin typeface="Cambria Math" panose="02040503050406030204" pitchFamily="18" charset="0"/>
                          </a:rPr>
                          <m:t>𝓓</m:t>
                        </m:r>
                      </m:e>
                      <m:sub>
                        <m:r>
                          <a:rPr lang="en-US" altLang="zh-TW" sz="2500" b="1" i="1">
                            <a:latin typeface="Cambria Math" panose="02040503050406030204" pitchFamily="18" charset="0"/>
                          </a:rPr>
                          <m:t>𝒕</m:t>
                        </m:r>
                      </m:sub>
                    </m:sSub>
                  </m:oMath>
                </a14:m>
                <a:r>
                  <a:rPr lang="en-US" altLang="zh-TW" sz="2500" b="1" dirty="0"/>
                  <a:t>)</a:t>
                </a:r>
              </a:p>
              <a:p>
                <a:r>
                  <a:rPr lang="en-US" altLang="zh-TW" sz="2500" b="1" dirty="0"/>
                  <a:t>5. end for</a:t>
                </a:r>
              </a:p>
            </p:txBody>
          </p:sp>
        </mc:Choice>
        <mc:Fallback xmlns="">
          <p:sp>
            <p:nvSpPr>
              <p:cNvPr id="6" name="文字方塊 5"/>
              <p:cNvSpPr txBox="1">
                <a:spLocks noRot="1" noChangeAspect="1" noMove="1" noResize="1" noEditPoints="1" noAdjustHandles="1" noChangeArrowheads="1" noChangeShapeType="1" noTextEdit="1"/>
              </p:cNvSpPr>
              <p:nvPr/>
            </p:nvSpPr>
            <p:spPr>
              <a:xfrm>
                <a:off x="2400670" y="2929632"/>
                <a:ext cx="3299686" cy="2050626"/>
              </a:xfrm>
              <a:prstGeom prst="rect">
                <a:avLst/>
              </a:prstGeom>
              <a:blipFill>
                <a:blip r:embed="rId3"/>
                <a:stretch>
                  <a:fillRect l="-3142" t="-2381" b="-62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p:cNvSpPr txBox="1"/>
              <p:nvPr/>
            </p:nvSpPr>
            <p:spPr>
              <a:xfrm>
                <a:off x="2400670" y="5211192"/>
                <a:ext cx="7666907" cy="668068"/>
              </a:xfrm>
              <a:prstGeom prst="rect">
                <a:avLst/>
              </a:prstGeom>
              <a:noFill/>
            </p:spPr>
            <p:txBody>
              <a:bodyPr wrap="none" rtlCol="0">
                <a:spAutoFit/>
              </a:bodyPr>
              <a:lstStyle/>
              <a:p>
                <a:r>
                  <a:rPr lang="en-US" altLang="zh-TW" sz="2500" b="1" dirty="0"/>
                  <a:t>output</a:t>
                </a:r>
                <a:r>
                  <a:rPr lang="zh-TW" altLang="en-US" sz="2500" b="1" dirty="0"/>
                  <a:t>：</a:t>
                </a:r>
                <a14:m>
                  <m:oMath xmlns:m="http://schemas.openxmlformats.org/officeDocument/2006/math">
                    <m:r>
                      <a:rPr lang="en-US" altLang="zh-TW" sz="2500" b="1" i="1" smtClean="0">
                        <a:latin typeface="Cambria Math" panose="02040503050406030204" pitchFamily="18" charset="0"/>
                      </a:rPr>
                      <m:t>𝑯</m:t>
                    </m:r>
                    <m:d>
                      <m:dPr>
                        <m:ctrlPr>
                          <a:rPr lang="en-US" altLang="zh-TW" sz="2500" b="1" i="1" smtClean="0">
                            <a:latin typeface="Cambria Math" panose="02040503050406030204" pitchFamily="18" charset="0"/>
                          </a:rPr>
                        </m:ctrlPr>
                      </m:dPr>
                      <m:e>
                        <m:r>
                          <a:rPr lang="en-US" altLang="zh-TW" sz="2500" b="1" i="1" smtClean="0">
                            <a:latin typeface="Cambria Math" panose="02040503050406030204" pitchFamily="18" charset="0"/>
                          </a:rPr>
                          <m:t>𝒙</m:t>
                        </m:r>
                      </m:e>
                    </m:d>
                    <m:r>
                      <a:rPr lang="en-US" altLang="zh-TW" sz="2500" b="1" i="1" smtClean="0">
                        <a:latin typeface="Cambria Math" panose="02040503050406030204" pitchFamily="18" charset="0"/>
                      </a:rPr>
                      <m:t>=</m:t>
                    </m:r>
                    <m:r>
                      <a:rPr lang="en-US" altLang="zh-TW" sz="2500" b="1" i="1" smtClean="0">
                        <a:latin typeface="Cambria Math" panose="02040503050406030204" pitchFamily="18" charset="0"/>
                      </a:rPr>
                      <m:t>𝒂𝒓𝒈𝒎𝒂𝒙</m:t>
                    </m:r>
                    <m:nary>
                      <m:naryPr>
                        <m:chr m:val="∑"/>
                        <m:ctrlPr>
                          <a:rPr lang="en-US" altLang="zh-TW" sz="2500" b="1" i="1" smtClean="0">
                            <a:latin typeface="Cambria Math" panose="02040503050406030204" pitchFamily="18" charset="0"/>
                          </a:rPr>
                        </m:ctrlPr>
                      </m:naryPr>
                      <m:sub>
                        <m:r>
                          <m:rPr>
                            <m:brk m:alnAt="23"/>
                          </m:rPr>
                          <a:rPr lang="en-US" altLang="zh-TW" sz="2500" b="1" i="1" smtClean="0">
                            <a:latin typeface="Cambria Math" panose="02040503050406030204" pitchFamily="18" charset="0"/>
                          </a:rPr>
                          <m:t>𝒕</m:t>
                        </m:r>
                        <m:r>
                          <a:rPr lang="en-US" altLang="zh-TW" sz="2500" b="1" i="1" smtClean="0">
                            <a:latin typeface="Cambria Math" panose="02040503050406030204" pitchFamily="18" charset="0"/>
                          </a:rPr>
                          <m:t>=</m:t>
                        </m:r>
                        <m:r>
                          <a:rPr lang="en-US" altLang="zh-TW" sz="2500" b="1" i="1" smtClean="0">
                            <a:latin typeface="Cambria Math" panose="02040503050406030204" pitchFamily="18" charset="0"/>
                          </a:rPr>
                          <m:t>𝟏</m:t>
                        </m:r>
                      </m:sub>
                      <m:sup>
                        <m:r>
                          <a:rPr lang="en-US" altLang="zh-TW" sz="2500" b="1" i="1" smtClean="0">
                            <a:latin typeface="Cambria Math" panose="02040503050406030204" pitchFamily="18" charset="0"/>
                          </a:rPr>
                          <m:t>𝑻</m:t>
                        </m:r>
                      </m:sup>
                      <m:e>
                        <m:r>
                          <a:rPr lang="zh-TW" altLang="en-US" sz="2500" b="1" i="1" smtClean="0">
                            <a:latin typeface="Cambria Math" panose="02040503050406030204" pitchFamily="18" charset="0"/>
                          </a:rPr>
                          <m:t>𝕀</m:t>
                        </m:r>
                        <m:r>
                          <a:rPr lang="en-US" altLang="zh-TW" sz="2500" b="1" i="1" smtClean="0">
                            <a:latin typeface="Cambria Math" panose="02040503050406030204" pitchFamily="18" charset="0"/>
                          </a:rPr>
                          <m:t>(</m:t>
                        </m:r>
                        <m:sSub>
                          <m:sSubPr>
                            <m:ctrlPr>
                              <a:rPr lang="en-US" altLang="zh-TW" sz="2500" b="1" i="1">
                                <a:latin typeface="Cambria Math" panose="02040503050406030204" pitchFamily="18" charset="0"/>
                              </a:rPr>
                            </m:ctrlPr>
                          </m:sSubPr>
                          <m:e>
                            <m:r>
                              <a:rPr lang="zh-TW" altLang="en-US" sz="2500" b="1" i="1">
                                <a:latin typeface="Cambria Math" panose="02040503050406030204" pitchFamily="18" charset="0"/>
                              </a:rPr>
                              <m:t>𝓱</m:t>
                            </m:r>
                          </m:e>
                          <m:sub>
                            <m:r>
                              <a:rPr lang="en-US" altLang="zh-TW" sz="2500" b="1" i="1">
                                <a:latin typeface="Cambria Math" panose="02040503050406030204" pitchFamily="18" charset="0"/>
                              </a:rPr>
                              <m:t>𝒕</m:t>
                            </m:r>
                          </m:sub>
                        </m:sSub>
                        <m:d>
                          <m:dPr>
                            <m:ctrlPr>
                              <a:rPr lang="en-US" altLang="zh-TW" sz="2500" b="1" i="1" smtClean="0">
                                <a:latin typeface="Cambria Math" panose="02040503050406030204" pitchFamily="18" charset="0"/>
                              </a:rPr>
                            </m:ctrlPr>
                          </m:dPr>
                          <m:e>
                            <m:sSub>
                              <m:sSubPr>
                                <m:ctrlPr>
                                  <a:rPr lang="en-US" altLang="zh-TW" sz="2500" b="1" i="1">
                                    <a:latin typeface="Cambria Math" panose="02040503050406030204" pitchFamily="18" charset="0"/>
                                  </a:rPr>
                                </m:ctrlPr>
                              </m:sSubPr>
                              <m:e>
                                <m:r>
                                  <a:rPr lang="en-US" altLang="zh-TW" sz="2500" b="1" i="1">
                                    <a:latin typeface="Cambria Math" panose="02040503050406030204" pitchFamily="18" charset="0"/>
                                  </a:rPr>
                                  <m:t>𝑴𝒂𝒑</m:t>
                                </m:r>
                              </m:e>
                              <m:sub>
                                <m:sSub>
                                  <m:sSubPr>
                                    <m:ctrlPr>
                                      <a:rPr lang="en-US" altLang="zh-TW" sz="2500" b="1" i="1">
                                        <a:latin typeface="Cambria Math" panose="02040503050406030204" pitchFamily="18" charset="0"/>
                                      </a:rPr>
                                    </m:ctrlPr>
                                  </m:sSubPr>
                                  <m:e>
                                    <m:r>
                                      <a:rPr lang="en-US" altLang="zh-TW" sz="2500" b="1" i="1">
                                        <a:latin typeface="Cambria Math" panose="02040503050406030204" pitchFamily="18" charset="0"/>
                                      </a:rPr>
                                      <m:t>𝑭</m:t>
                                    </m:r>
                                  </m:e>
                                  <m:sub>
                                    <m:r>
                                      <a:rPr lang="en-US" altLang="zh-TW" sz="2500" b="1" i="1">
                                        <a:latin typeface="Cambria Math" panose="02040503050406030204" pitchFamily="18" charset="0"/>
                                      </a:rPr>
                                      <m:t>𝒕</m:t>
                                    </m:r>
                                  </m:sub>
                                </m:sSub>
                              </m:sub>
                            </m:sSub>
                            <m:d>
                              <m:dPr>
                                <m:ctrlPr>
                                  <a:rPr lang="en-US" altLang="zh-TW" sz="2500" b="1" i="1">
                                    <a:latin typeface="Cambria Math" panose="02040503050406030204" pitchFamily="18" charset="0"/>
                                  </a:rPr>
                                </m:ctrlPr>
                              </m:dPr>
                              <m:e>
                                <m:r>
                                  <a:rPr lang="en-US" altLang="zh-TW" sz="2500" b="1" i="1" smtClean="0">
                                    <a:latin typeface="Cambria Math" panose="02040503050406030204" pitchFamily="18" charset="0"/>
                                  </a:rPr>
                                  <m:t>𝒙</m:t>
                                </m:r>
                              </m:e>
                            </m:d>
                          </m:e>
                        </m:d>
                        <m:r>
                          <a:rPr lang="en-US" altLang="zh-TW" sz="2500" b="1" i="1" smtClean="0">
                            <a:latin typeface="Cambria Math" panose="02040503050406030204" pitchFamily="18" charset="0"/>
                          </a:rPr>
                          <m:t>=</m:t>
                        </m:r>
                        <m:r>
                          <a:rPr lang="en-US" altLang="zh-TW" sz="2500" b="1" i="1" smtClean="0">
                            <a:latin typeface="Cambria Math" panose="02040503050406030204" pitchFamily="18" charset="0"/>
                          </a:rPr>
                          <m:t>𝒚</m:t>
                        </m:r>
                        <m:r>
                          <a:rPr lang="en-US" altLang="zh-TW" sz="2500" b="1" i="1" smtClean="0">
                            <a:latin typeface="Cambria Math" panose="02040503050406030204" pitchFamily="18" charset="0"/>
                          </a:rPr>
                          <m:t>)</m:t>
                        </m:r>
                      </m:e>
                    </m:nary>
                  </m:oMath>
                </a14:m>
                <a:endParaRPr lang="zh-TW" altLang="en-US" sz="2500" b="1"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2400670" y="5211192"/>
                <a:ext cx="7666907" cy="668068"/>
              </a:xfrm>
              <a:prstGeom prst="rect">
                <a:avLst/>
              </a:prstGeom>
              <a:blipFill>
                <a:blip r:embed="rId4"/>
                <a:stretch>
                  <a:fillRect l="-1351" b="-825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75105545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207264" y="197993"/>
            <a:ext cx="10515600" cy="752983"/>
          </a:xfrm>
        </p:spPr>
        <p:txBody>
          <a:bodyPr/>
          <a:lstStyle/>
          <a:p>
            <a:pPr marL="0" indent="0">
              <a:buNone/>
            </a:pPr>
            <a:r>
              <a:rPr lang="en-US" altLang="zh-TW" dirty="0">
                <a:solidFill>
                  <a:srgbClr val="C00000"/>
                </a:solidFill>
              </a:rPr>
              <a:t>Manipulating the Output Targets</a:t>
            </a:r>
            <a:endParaRPr lang="zh-TW" altLang="en-US" dirty="0">
              <a:solidFill>
                <a:srgbClr val="C00000"/>
              </a:solidFill>
            </a:endParaRPr>
          </a:p>
        </p:txBody>
      </p:sp>
      <p:sp>
        <p:nvSpPr>
          <p:cNvPr id="2" name="文字方塊 1"/>
          <p:cNvSpPr txBox="1"/>
          <p:nvPr/>
        </p:nvSpPr>
        <p:spPr>
          <a:xfrm>
            <a:off x="207264" y="863965"/>
            <a:ext cx="5469767"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產生多樣性的第三個方法是去操作輸出的標籤</a:t>
            </a:r>
            <a:r>
              <a:rPr lang="en-US" altLang="zh-TW" dirty="0">
                <a:latin typeface="微軟正黑體" panose="020B0604030504040204" pitchFamily="34" charset="-120"/>
                <a:ea typeface="微軟正黑體" panose="020B0604030504040204" pitchFamily="34" charset="-120"/>
              </a:rPr>
              <a:t>(label)</a:t>
            </a:r>
            <a:endParaRPr lang="zh-TW" altLang="en-US" dirty="0">
              <a:latin typeface="微軟正黑體" panose="020B0604030504040204" pitchFamily="34" charset="-120"/>
              <a:ea typeface="微軟正黑體" panose="020B0604030504040204" pitchFamily="34" charset="-120"/>
            </a:endParaRPr>
          </a:p>
        </p:txBody>
      </p:sp>
      <p:sp>
        <p:nvSpPr>
          <p:cNvPr id="4" name="文字方塊 3"/>
          <p:cNvSpPr txBox="1"/>
          <p:nvPr/>
        </p:nvSpPr>
        <p:spPr>
          <a:xfrm>
            <a:off x="207264" y="1719458"/>
            <a:ext cx="5714898" cy="553998"/>
          </a:xfrm>
          <a:prstGeom prst="rect">
            <a:avLst/>
          </a:prstGeom>
          <a:noFill/>
        </p:spPr>
        <p:txBody>
          <a:bodyPr wrap="none" rtlCol="0">
            <a:spAutoFit/>
          </a:bodyPr>
          <a:lstStyle/>
          <a:p>
            <a:r>
              <a:rPr lang="en-US" altLang="zh-TW" sz="3000" dirty="0">
                <a:solidFill>
                  <a:schemeClr val="accent5">
                    <a:lumMod val="50000"/>
                  </a:schemeClr>
                </a:solidFill>
                <a:latin typeface="微軟正黑體" panose="020B0604030504040204" pitchFamily="34" charset="-120"/>
                <a:ea typeface="微軟正黑體" panose="020B0604030504040204" pitchFamily="34" charset="-120"/>
              </a:rPr>
              <a:t>error-correcting output coding</a:t>
            </a:r>
            <a:endParaRPr lang="zh-TW" altLang="en-US" sz="3000" dirty="0">
              <a:solidFill>
                <a:schemeClr val="accent5">
                  <a:lumMod val="50000"/>
                </a:schemeClr>
              </a:solidFill>
              <a:latin typeface="微軟正黑體" panose="020B0604030504040204" pitchFamily="34" charset="-120"/>
              <a:ea typeface="微軟正黑體" panose="020B0604030504040204" pitchFamily="34" charset="-120"/>
            </a:endParaRPr>
          </a:p>
        </p:txBody>
      </p:sp>
      <mc:AlternateContent xmlns:mc="http://schemas.openxmlformats.org/markup-compatibility/2006">
        <mc:Choice xmlns:a14="http://schemas.microsoft.com/office/drawing/2010/main" Requires="a14">
          <p:sp>
            <p:nvSpPr>
              <p:cNvPr id="5" name="文字方塊 4"/>
              <p:cNvSpPr txBox="1"/>
              <p:nvPr/>
            </p:nvSpPr>
            <p:spPr>
              <a:xfrm>
                <a:off x="207264" y="2672606"/>
                <a:ext cx="11519500" cy="923330"/>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假設類別的數量是</a:t>
                </a:r>
                <a14:m>
                  <m:oMath xmlns:m="http://schemas.openxmlformats.org/officeDocument/2006/math">
                    <m:r>
                      <a:rPr lang="en-US" altLang="zh-TW" b="0" i="1" smtClean="0">
                        <a:latin typeface="Cambria Math" panose="02040503050406030204" pitchFamily="18" charset="0"/>
                      </a:rPr>
                      <m:t>𝐶</m:t>
                    </m:r>
                    <m:r>
                      <a:rPr lang="en-US" altLang="zh-TW" i="1">
                        <a:latin typeface="Cambria Math" panose="02040503050406030204" pitchFamily="18" charset="0"/>
                      </a:rPr>
                      <m:t> </m:t>
                    </m:r>
                  </m:oMath>
                </a14:m>
                <a:r>
                  <a:rPr lang="zh-TW" altLang="en-US" dirty="0">
                    <a:latin typeface="微軟正黑體" panose="020B0604030504040204" pitchFamily="34" charset="-120"/>
                    <a:ea typeface="微軟正黑體" panose="020B0604030504040204" pitchFamily="34" charset="-120"/>
                  </a:rPr>
                  <a:t>，我們把</a:t>
                </a:r>
                <a:r>
                  <a:rPr lang="zh-TW" altLang="en-US" dirty="0" smtClean="0">
                    <a:latin typeface="微軟正黑體" panose="020B0604030504040204" pitchFamily="34" charset="-120"/>
                    <a:ea typeface="微軟正黑體" panose="020B0604030504040204" pitchFamily="34" charset="-120"/>
                  </a:rPr>
                  <a:t>它</a:t>
                </a:r>
                <a:r>
                  <a:rPr lang="zh-TW" altLang="en-US" dirty="0" smtClean="0">
                    <a:latin typeface="微軟正黑體" panose="020B0604030504040204" pitchFamily="34" charset="-120"/>
                    <a:ea typeface="微軟正黑體" panose="020B0604030504040204" pitchFamily="34" charset="-120"/>
                  </a:rPr>
                  <a:t>隨</a:t>
                </a:r>
                <a:r>
                  <a:rPr lang="zh-TW" altLang="en-US" dirty="0">
                    <a:latin typeface="微軟正黑體" panose="020B0604030504040204" pitchFamily="34" charset="-120"/>
                    <a:ea typeface="微軟正黑體" panose="020B0604030504040204" pitchFamily="34" charset="-120"/>
                  </a:rPr>
                  <a:t>機</a:t>
                </a:r>
                <a:r>
                  <a:rPr lang="zh-TW" altLang="en-US" dirty="0" smtClean="0">
                    <a:latin typeface="微軟正黑體" panose="020B0604030504040204" pitchFamily="34" charset="-120"/>
                    <a:ea typeface="微軟正黑體" panose="020B0604030504040204" pitchFamily="34" charset="-120"/>
                  </a:rPr>
                  <a:t>分</a:t>
                </a:r>
                <a:r>
                  <a:rPr lang="zh-TW" altLang="en-US" dirty="0">
                    <a:latin typeface="微軟正黑體" panose="020B0604030504040204" pitchFamily="34" charset="-120"/>
                    <a:ea typeface="微軟正黑體" panose="020B0604030504040204" pitchFamily="34" charset="-120"/>
                  </a:rPr>
                  <a:t>個成兩個子集合</a:t>
                </a:r>
                <a14:m>
                  <m:oMath xmlns:m="http://schemas.openxmlformats.org/officeDocument/2006/math">
                    <m:r>
                      <a:rPr lang="en-US" altLang="zh-TW" i="1">
                        <a:latin typeface="Cambria Math" panose="02040503050406030204" pitchFamily="18" charset="0"/>
                      </a:rPr>
                      <m:t>𝐴</m:t>
                    </m:r>
                    <m:r>
                      <a:rPr lang="en-US" altLang="zh-TW" i="1">
                        <a:latin typeface="Cambria Math" panose="02040503050406030204" pitchFamily="18" charset="0"/>
                      </a:rPr>
                      <m:t> </m:t>
                    </m:r>
                  </m:oMath>
                </a14:m>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 </a:t>
                </a:r>
                <a14:m>
                  <m:oMath xmlns:m="http://schemas.openxmlformats.org/officeDocument/2006/math">
                    <m:r>
                      <a:rPr lang="en-US" altLang="zh-TW" i="1">
                        <a:latin typeface="Cambria Math" panose="02040503050406030204" pitchFamily="18" charset="0"/>
                      </a:rPr>
                      <m:t>𝐵</m:t>
                    </m:r>
                    <m:r>
                      <a:rPr lang="en-US" altLang="zh-TW" i="1">
                        <a:latin typeface="Cambria Math" panose="02040503050406030204" pitchFamily="18" charset="0"/>
                      </a:rPr>
                      <m:t> </m:t>
                    </m:r>
                  </m:oMath>
                </a14:m>
                <a:r>
                  <a:rPr lang="zh-TW" altLang="en-US" dirty="0">
                    <a:latin typeface="微軟正黑體" panose="020B0604030504040204" pitchFamily="34" charset="-120"/>
                    <a:ea typeface="微軟正黑體" panose="020B0604030504040204" pitchFamily="34" charset="-120"/>
                  </a:rPr>
                  <a:t>，那麼被分到</a:t>
                </a:r>
                <a14:m>
                  <m:oMath xmlns:m="http://schemas.openxmlformats.org/officeDocument/2006/math">
                    <m:r>
                      <a:rPr lang="en-US" altLang="zh-TW" i="1">
                        <a:latin typeface="Cambria Math" panose="02040503050406030204" pitchFamily="18" charset="0"/>
                      </a:rPr>
                      <m:t>𝐴</m:t>
                    </m:r>
                  </m:oMath>
                </a14:m>
                <a:r>
                  <a:rPr lang="zh-TW" altLang="en-US" dirty="0">
                    <a:latin typeface="微軟正黑體" panose="020B0604030504040204" pitchFamily="34" charset="-120"/>
                    <a:ea typeface="微軟正黑體" panose="020B0604030504040204" pitchFamily="34" charset="-120"/>
                  </a:rPr>
                  <a:t>的類別就將其類別標籤重新標記為</a:t>
                </a:r>
                <a:r>
                  <a:rPr lang="en-US" altLang="zh-TW" dirty="0">
                    <a:latin typeface="微軟正黑體" panose="020B0604030504040204" pitchFamily="34" charset="-120"/>
                    <a:ea typeface="微軟正黑體" panose="020B0604030504040204" pitchFamily="34" charset="-120"/>
                  </a:rPr>
                  <a:t>0</a:t>
                </a:r>
              </a:p>
              <a:p>
                <a:r>
                  <a:rPr lang="zh-TW" altLang="en-US" dirty="0">
                    <a:latin typeface="微軟正黑體" panose="020B0604030504040204" pitchFamily="34" charset="-120"/>
                    <a:ea typeface="微軟正黑體" panose="020B0604030504040204" pitchFamily="34" charset="-120"/>
                  </a:rPr>
                  <a:t>反之，被分到</a:t>
                </a:r>
                <a14:m>
                  <m:oMath xmlns:m="http://schemas.openxmlformats.org/officeDocument/2006/math">
                    <m:r>
                      <a:rPr lang="en-US" altLang="zh-TW" i="1">
                        <a:latin typeface="Cambria Math" panose="02040503050406030204" pitchFamily="18" charset="0"/>
                      </a:rPr>
                      <m:t>𝐵</m:t>
                    </m:r>
                  </m:oMath>
                </a14:m>
                <a:r>
                  <a:rPr lang="zh-TW" altLang="en-US" dirty="0">
                    <a:latin typeface="微軟正黑體" panose="020B0604030504040204" pitchFamily="34" charset="-120"/>
                    <a:ea typeface="微軟正黑體" panose="020B0604030504040204" pitchFamily="34" charset="-120"/>
                  </a:rPr>
                  <a:t>子集合的類別，就將其標為</a:t>
                </a:r>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，透過新的標籤重新訓練分類器，重複</a:t>
                </a:r>
                <a:r>
                  <a:rPr lang="en-US" altLang="zh-TW" dirty="0">
                    <a:latin typeface="微軟正黑體" panose="020B0604030504040204" pitchFamily="34" charset="-120"/>
                    <a:ea typeface="微軟正黑體" panose="020B0604030504040204" pitchFamily="34" charset="-120"/>
                  </a:rPr>
                  <a:t>K</a:t>
                </a:r>
                <a:r>
                  <a:rPr lang="zh-TW" altLang="en-US" dirty="0">
                    <a:latin typeface="微軟正黑體" panose="020B0604030504040204" pitchFamily="34" charset="-120"/>
                    <a:ea typeface="微軟正黑體" panose="020B0604030504040204" pitchFamily="34" charset="-120"/>
                  </a:rPr>
                  <a:t>次，就可以得到</a:t>
                </a:r>
                <a14:m>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𝒽</m:t>
                        </m:r>
                      </m:e>
                      <m:sub>
                        <m:r>
                          <a:rPr lang="en-US" altLang="zh-TW" i="1">
                            <a:latin typeface="Cambria Math" panose="02040503050406030204" pitchFamily="18" charset="0"/>
                          </a:rPr>
                          <m:t>1</m:t>
                        </m:r>
                      </m:sub>
                    </m:sSub>
                  </m:oMath>
                </a14:m>
                <a:r>
                  <a:rPr lang="en-US" altLang="zh-TW" dirty="0">
                    <a:latin typeface="微軟正黑體" panose="020B0604030504040204" pitchFamily="34" charset="-120"/>
                    <a:ea typeface="微軟正黑體" panose="020B0604030504040204" pitchFamily="34" charset="-120"/>
                  </a:rPr>
                  <a:t>, </a:t>
                </a:r>
                <a14:m>
                  <m:oMath xmlns:m="http://schemas.openxmlformats.org/officeDocument/2006/math">
                    <m:r>
                      <a:rPr lang="en-US" altLang="zh-TW" b="0" i="0" smtClean="0">
                        <a:latin typeface="Cambria Math" panose="02040503050406030204" pitchFamily="18" charset="0"/>
                      </a:rPr>
                      <m:t> </m:t>
                    </m:r>
                    <m:sSub>
                      <m:sSubPr>
                        <m:ctrlPr>
                          <a:rPr lang="en-US" altLang="zh-TW" i="1">
                            <a:latin typeface="Cambria Math" panose="02040503050406030204" pitchFamily="18" charset="0"/>
                          </a:rPr>
                        </m:ctrlPr>
                      </m:sSubPr>
                      <m:e>
                        <m:r>
                          <a:rPr lang="zh-TW" altLang="en-US" i="1">
                            <a:latin typeface="Cambria Math" panose="02040503050406030204" pitchFamily="18" charset="0"/>
                          </a:rPr>
                          <m:t>𝒽</m:t>
                        </m:r>
                      </m:e>
                      <m:sub>
                        <m:r>
                          <a:rPr lang="en-US" altLang="zh-TW" b="0" i="1" smtClean="0">
                            <a:latin typeface="Cambria Math" panose="02040503050406030204" pitchFamily="18" charset="0"/>
                          </a:rPr>
                          <m:t>2</m:t>
                        </m:r>
                      </m:sub>
                    </m:sSub>
                  </m:oMath>
                </a14:m>
                <a:r>
                  <a:rPr lang="en-US" altLang="zh-TW" dirty="0">
                    <a:latin typeface="微軟正黑體" panose="020B0604030504040204" pitchFamily="34" charset="-120"/>
                    <a:ea typeface="微軟正黑體" panose="020B0604030504040204" pitchFamily="34" charset="-120"/>
                  </a:rPr>
                  <a:t>,</a:t>
                </a:r>
              </a:p>
              <a:p>
                <a:r>
                  <a:rPr lang="en-US" altLang="zh-TW" dirty="0">
                    <a:latin typeface="微軟正黑體" panose="020B0604030504040204" pitchFamily="34" charset="-120"/>
                    <a:ea typeface="微軟正黑體" panose="020B0604030504040204" pitchFamily="34" charset="-120"/>
                  </a:rPr>
                  <a:t> </a:t>
                </a:r>
                <a14:m>
                  <m:oMath xmlns:m="http://schemas.openxmlformats.org/officeDocument/2006/math">
                    <m:sSub>
                      <m:sSubPr>
                        <m:ctrlPr>
                          <a:rPr lang="en-US" altLang="zh-TW" i="1">
                            <a:latin typeface="Cambria Math" panose="02040503050406030204" pitchFamily="18" charset="0"/>
                          </a:rPr>
                        </m:ctrlPr>
                      </m:sSubPr>
                      <m:e>
                        <m:r>
                          <a:rPr lang="zh-TW" altLang="en-US" i="1">
                            <a:latin typeface="Cambria Math" panose="02040503050406030204" pitchFamily="18" charset="0"/>
                          </a:rPr>
                          <m:t>𝒽</m:t>
                        </m:r>
                      </m:e>
                      <m:sub>
                        <m:r>
                          <a:rPr lang="en-US" altLang="zh-TW" b="0" i="1" smtClean="0">
                            <a:latin typeface="Cambria Math" panose="02040503050406030204" pitchFamily="18" charset="0"/>
                          </a:rPr>
                          <m:t>3</m:t>
                        </m:r>
                      </m:sub>
                    </m:sSub>
                  </m:oMath>
                </a14:m>
                <a:r>
                  <a:rPr lang="en-US" altLang="zh-TW" dirty="0">
                    <a:latin typeface="微軟正黑體" panose="020B0604030504040204" pitchFamily="34" charset="-120"/>
                    <a:ea typeface="微軟正黑體" panose="020B0604030504040204" pitchFamily="34" charset="-120"/>
                  </a:rPr>
                  <a:t>, … </a:t>
                </a:r>
                <a14:m>
                  <m:oMath xmlns:m="http://schemas.openxmlformats.org/officeDocument/2006/math">
                    <m:sSub>
                      <m:sSubPr>
                        <m:ctrlPr>
                          <a:rPr lang="en-US" altLang="zh-TW" i="1">
                            <a:latin typeface="Cambria Math" panose="02040503050406030204" pitchFamily="18" charset="0"/>
                          </a:rPr>
                        </m:ctrlPr>
                      </m:sSubPr>
                      <m:e>
                        <m:r>
                          <a:rPr lang="zh-TW" altLang="en-US" i="1">
                            <a:latin typeface="Cambria Math" panose="02040503050406030204" pitchFamily="18" charset="0"/>
                          </a:rPr>
                          <m:t>𝒽</m:t>
                        </m:r>
                      </m:e>
                      <m:sub>
                        <m:r>
                          <a:rPr lang="en-US" altLang="zh-TW" b="0" i="1" smtClean="0">
                            <a:latin typeface="Cambria Math" panose="02040503050406030204" pitchFamily="18" charset="0"/>
                          </a:rPr>
                          <m:t>𝑘</m:t>
                        </m:r>
                      </m:sub>
                    </m:sSub>
                  </m:oMath>
                </a14:m>
                <a:r>
                  <a:rPr lang="zh-TW" altLang="en-US" dirty="0">
                    <a:latin typeface="微軟正黑體" panose="020B0604030504040204" pitchFamily="34" charset="-120"/>
                    <a:ea typeface="微軟正黑體" panose="020B0604030504040204" pitchFamily="34" charset="-120"/>
                  </a:rPr>
                  <a:t>等</a:t>
                </a:r>
                <a:r>
                  <a:rPr lang="en-US" altLang="zh-TW" dirty="0">
                    <a:latin typeface="微軟正黑體" panose="020B0604030504040204" pitchFamily="34" charset="-120"/>
                    <a:ea typeface="微軟正黑體" panose="020B0604030504040204" pitchFamily="34" charset="-120"/>
                  </a:rPr>
                  <a:t>K</a:t>
                </a:r>
                <a:r>
                  <a:rPr lang="zh-TW" altLang="en-US" dirty="0">
                    <a:latin typeface="微軟正黑體" panose="020B0604030504040204" pitchFamily="34" charset="-120"/>
                    <a:ea typeface="微軟正黑體" panose="020B0604030504040204" pitchFamily="34" charset="-120"/>
                  </a:rPr>
                  <a:t>個分類器得到的整體分類機制。</a:t>
                </a:r>
              </a:p>
            </p:txBody>
          </p:sp>
        </mc:Choice>
        <mc:Fallback>
          <p:sp>
            <p:nvSpPr>
              <p:cNvPr id="5" name="文字方塊 4"/>
              <p:cNvSpPr txBox="1">
                <a:spLocks noRot="1" noChangeAspect="1" noMove="1" noResize="1" noEditPoints="1" noAdjustHandles="1" noChangeArrowheads="1" noChangeShapeType="1" noTextEdit="1"/>
              </p:cNvSpPr>
              <p:nvPr/>
            </p:nvSpPr>
            <p:spPr>
              <a:xfrm>
                <a:off x="207264" y="2672606"/>
                <a:ext cx="11519500" cy="923330"/>
              </a:xfrm>
              <a:prstGeom prst="rect">
                <a:avLst/>
              </a:prstGeom>
              <a:blipFill rotWithShape="0">
                <a:blip r:embed="rId2"/>
                <a:stretch>
                  <a:fillRect l="-423" t="-3289" b="-9211"/>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 name="文字方塊 5"/>
              <p:cNvSpPr txBox="1"/>
              <p:nvPr/>
            </p:nvSpPr>
            <p:spPr>
              <a:xfrm>
                <a:off x="207264" y="3870904"/>
                <a:ext cx="10946908" cy="369332"/>
              </a:xfrm>
              <a:prstGeom prst="rect">
                <a:avLst/>
              </a:prstGeom>
              <a:noFill/>
            </p:spPr>
            <p:txBody>
              <a:bodyPr wrap="none" rtlCol="0">
                <a:spAutoFit/>
              </a:bodyPr>
              <a:lstStyle/>
              <a:p>
                <a:r>
                  <a:rPr lang="zh-TW" altLang="en-US" dirty="0" smtClean="0">
                    <a:latin typeface="微軟正黑體" panose="020B0604030504040204" pitchFamily="34" charset="-120"/>
                    <a:ea typeface="微軟正黑體" panose="020B0604030504040204" pitchFamily="34" charset="-120"/>
                  </a:rPr>
                  <a:t>現在，對於新的資料點</a:t>
                </a:r>
                <a14:m>
                  <m:oMath xmlns:m="http://schemas.openxmlformats.org/officeDocument/2006/math">
                    <m:r>
                      <a:rPr lang="en-US" altLang="zh-TW" i="1">
                        <a:latin typeface="Cambria Math" panose="02040503050406030204" pitchFamily="18" charset="0"/>
                      </a:rPr>
                      <m:t>𝑥</m:t>
                    </m:r>
                    <m:r>
                      <a:rPr lang="en-US" altLang="zh-TW" i="1">
                        <a:latin typeface="Cambria Math" panose="02040503050406030204" pitchFamily="18" charset="0"/>
                      </a:rPr>
                      <m:t> </m:t>
                    </m:r>
                  </m:oMath>
                </a14:m>
                <a:r>
                  <a:rPr lang="zh-TW" altLang="en-US" dirty="0">
                    <a:latin typeface="微軟正黑體" panose="020B0604030504040204" pitchFamily="34" charset="-120"/>
                    <a:ea typeface="微軟正黑體" panose="020B0604030504040204" pitchFamily="34" charset="-120"/>
                  </a:rPr>
                  <a:t>，如果</a:t>
                </a:r>
                <a14:m>
                  <m:oMath xmlns:m="http://schemas.openxmlformats.org/officeDocument/2006/math">
                    <m:sSub>
                      <m:sSubPr>
                        <m:ctrlPr>
                          <a:rPr lang="en-US" altLang="zh-TW" i="1" smtClean="0">
                            <a:latin typeface="Cambria Math" panose="02040503050406030204" pitchFamily="18" charset="0"/>
                          </a:rPr>
                        </m:ctrlPr>
                      </m:sSubPr>
                      <m:e>
                        <m:r>
                          <a:rPr lang="zh-TW" altLang="en-US" i="1">
                            <a:latin typeface="Cambria Math" panose="02040503050406030204" pitchFamily="18" charset="0"/>
                          </a:rPr>
                          <m:t>𝒽</m:t>
                        </m:r>
                      </m:e>
                      <m:sub>
                        <m:r>
                          <a:rPr lang="en-US" altLang="zh-TW" b="0" i="1" smtClean="0">
                            <a:latin typeface="Cambria Math" panose="02040503050406030204" pitchFamily="18" charset="0"/>
                          </a:rPr>
                          <m:t>𝑖</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r>
                      <a:rPr lang="en-US" altLang="zh-TW" b="0" i="1" smtClean="0">
                        <a:latin typeface="Cambria Math" panose="02040503050406030204" pitchFamily="18" charset="0"/>
                      </a:rPr>
                      <m:t>=−1</m:t>
                    </m:r>
                    <m:r>
                      <a:rPr lang="zh-TW" altLang="en-US" i="1">
                        <a:latin typeface="Cambria Math" panose="02040503050406030204" pitchFamily="18" charset="0"/>
                      </a:rPr>
                      <m:t>，</m:t>
                    </m:r>
                  </m:oMath>
                </a14:m>
                <a:r>
                  <a:rPr lang="zh-TW" altLang="en-US" dirty="0">
                    <a:latin typeface="微軟正黑體" panose="020B0604030504040204" pitchFamily="34" charset="-120"/>
                    <a:ea typeface="微軟正黑體" panose="020B0604030504040204" pitchFamily="34" charset="-120"/>
                  </a:rPr>
                  <a:t>那麼就在子集合</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𝐴</m:t>
                        </m:r>
                      </m:e>
                      <m:sub>
                        <m:r>
                          <a:rPr lang="en-US" altLang="zh-TW" b="0" i="1" smtClean="0">
                            <a:latin typeface="Cambria Math" panose="02040503050406030204" pitchFamily="18" charset="0"/>
                          </a:rPr>
                          <m:t>𝑖</m:t>
                        </m:r>
                      </m:sub>
                    </m:sSub>
                    <m:r>
                      <a:rPr lang="zh-TW" altLang="en-US" i="1">
                        <a:latin typeface="Cambria Math" panose="02040503050406030204" pitchFamily="18" charset="0"/>
                      </a:rPr>
                      <m:t>的所有類別</m:t>
                    </m:r>
                    <m:r>
                      <a:rPr lang="en-US" altLang="zh-TW" i="1">
                        <a:latin typeface="Cambria Math" panose="02040503050406030204" pitchFamily="18" charset="0"/>
                      </a:rPr>
                      <m:t>+1</m:t>
                    </m:r>
                    <m:r>
                      <a:rPr lang="zh-TW" altLang="en-US" i="1">
                        <a:latin typeface="Cambria Math" panose="02040503050406030204" pitchFamily="18" charset="0"/>
                      </a:rPr>
                      <m:t>票</m:t>
                    </m:r>
                    <m:r>
                      <a:rPr lang="zh-TW" altLang="en-US" i="1" smtClean="0">
                        <a:latin typeface="Cambria Math" panose="02040503050406030204" pitchFamily="18" charset="0"/>
                      </a:rPr>
                      <m:t>，</m:t>
                    </m:r>
                  </m:oMath>
                </a14:m>
                <a:r>
                  <a:rPr lang="zh-TW" altLang="en-US" dirty="0">
                    <a:latin typeface="微軟正黑體" panose="020B0604030504040204" pitchFamily="34" charset="-120"/>
                    <a:ea typeface="微軟正黑體" panose="020B0604030504040204" pitchFamily="34" charset="-120"/>
                  </a:rPr>
                  <a:t>反之若</a:t>
                </a:r>
                <a14:m>
                  <m:oMath xmlns:m="http://schemas.openxmlformats.org/officeDocument/2006/math">
                    <m:sSub>
                      <m:sSubPr>
                        <m:ctrlPr>
                          <a:rPr lang="en-US" altLang="zh-TW" i="1">
                            <a:latin typeface="Cambria Math" panose="02040503050406030204" pitchFamily="18" charset="0"/>
                          </a:rPr>
                        </m:ctrlPr>
                      </m:sSubPr>
                      <m:e>
                        <m:r>
                          <a:rPr lang="zh-TW" altLang="en-US" i="1">
                            <a:latin typeface="Cambria Math" panose="02040503050406030204" pitchFamily="18" charset="0"/>
                          </a:rPr>
                          <m:t>𝒽</m:t>
                        </m:r>
                      </m:e>
                      <m:sub>
                        <m:r>
                          <a:rPr lang="en-US" altLang="zh-TW" b="0" i="1" smtClean="0">
                            <a:latin typeface="Cambria Math" panose="02040503050406030204" pitchFamily="18" charset="0"/>
                          </a:rPr>
                          <m:t>𝑖</m:t>
                        </m:r>
                      </m:sub>
                    </m:sSub>
                    <m:d>
                      <m:dPr>
                        <m:ctrlPr>
                          <a:rPr lang="en-US" altLang="zh-TW" i="1">
                            <a:latin typeface="Cambria Math" panose="02040503050406030204" pitchFamily="18" charset="0"/>
                          </a:rPr>
                        </m:ctrlPr>
                      </m:dPr>
                      <m:e>
                        <m:r>
                          <a:rPr lang="en-US" altLang="zh-TW" i="1">
                            <a:latin typeface="Cambria Math" panose="02040503050406030204" pitchFamily="18" charset="0"/>
                          </a:rPr>
                          <m:t>𝑥</m:t>
                        </m:r>
                      </m:e>
                    </m:d>
                    <m:r>
                      <a:rPr lang="en-US" altLang="zh-TW" i="1">
                        <a:latin typeface="Cambria Math" panose="02040503050406030204" pitchFamily="18" charset="0"/>
                      </a:rPr>
                      <m:t>=</m:t>
                    </m:r>
                    <m:r>
                      <a:rPr lang="en-US" altLang="zh-TW" b="0" i="1" smtClean="0">
                        <a:latin typeface="Cambria Math" panose="02040503050406030204" pitchFamily="18" charset="0"/>
                      </a:rPr>
                      <m:t>+</m:t>
                    </m:r>
                    <m:r>
                      <a:rPr lang="en-US" altLang="zh-TW" i="1">
                        <a:latin typeface="Cambria Math" panose="02040503050406030204" pitchFamily="18" charset="0"/>
                      </a:rPr>
                      <m:t>1</m:t>
                    </m:r>
                    <m:r>
                      <a:rPr lang="zh-TW" altLang="en-US" i="1" smtClean="0">
                        <a:latin typeface="Cambria Math" panose="02040503050406030204" pitchFamily="18" charset="0"/>
                      </a:rPr>
                      <m:t>，</m:t>
                    </m:r>
                  </m:oMath>
                </a14:m>
                <a:endParaRPr lang="zh-TW" altLang="en-US" dirty="0">
                  <a:latin typeface="微軟正黑體" panose="020B0604030504040204" pitchFamily="34" charset="-120"/>
                  <a:ea typeface="微軟正黑體" panose="020B0604030504040204" pitchFamily="34" charset="-120"/>
                </a:endParaRPr>
              </a:p>
            </p:txBody>
          </p:sp>
        </mc:Choice>
        <mc:Fallback>
          <p:sp>
            <p:nvSpPr>
              <p:cNvPr id="6" name="文字方塊 5"/>
              <p:cNvSpPr txBox="1">
                <a:spLocks noRot="1" noChangeAspect="1" noMove="1" noResize="1" noEditPoints="1" noAdjustHandles="1" noChangeArrowheads="1" noChangeShapeType="1" noTextEdit="1"/>
              </p:cNvSpPr>
              <p:nvPr/>
            </p:nvSpPr>
            <p:spPr>
              <a:xfrm>
                <a:off x="207264" y="3870904"/>
                <a:ext cx="10946908" cy="369332"/>
              </a:xfrm>
              <a:prstGeom prst="rect">
                <a:avLst/>
              </a:prstGeom>
              <a:blipFill rotWithShape="0">
                <a:blip r:embed="rId3"/>
                <a:stretch>
                  <a:fillRect l="-445" t="-9836"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207264" y="4240236"/>
                <a:ext cx="9707466" cy="369332"/>
              </a:xfrm>
              <a:prstGeom prst="rect">
                <a:avLst/>
              </a:prstGeom>
            </p:spPr>
            <p:txBody>
              <a:bodyPr wrap="none">
                <a:spAutoFit/>
              </a:bodyPr>
              <a:lstStyle/>
              <a:p>
                <a:r>
                  <a:rPr lang="zh-TW" altLang="en-US" dirty="0">
                    <a:latin typeface="微軟正黑體" panose="020B0604030504040204" pitchFamily="34" charset="-120"/>
                    <a:ea typeface="微軟正黑體" panose="020B0604030504040204" pitchFamily="34" charset="-120"/>
                  </a:rPr>
                  <a:t>子集合</a:t>
                </a:r>
                <a14:m>
                  <m:oMath xmlns:m="http://schemas.openxmlformats.org/officeDocument/2006/math">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𝐵</m:t>
                        </m:r>
                      </m:e>
                      <m:sub>
                        <m:r>
                          <a:rPr lang="en-US" altLang="zh-TW" i="1">
                            <a:latin typeface="Cambria Math" panose="02040503050406030204" pitchFamily="18" charset="0"/>
                          </a:rPr>
                          <m:t>𝑖</m:t>
                        </m:r>
                      </m:sub>
                    </m:sSub>
                    <m:r>
                      <a:rPr lang="zh-TW" altLang="en-US" i="1">
                        <a:latin typeface="Cambria Math" panose="02040503050406030204" pitchFamily="18" charset="0"/>
                      </a:rPr>
                      <m:t>的所有類別</m:t>
                    </m:r>
                    <m:r>
                      <a:rPr lang="en-US" altLang="zh-TW" i="1">
                        <a:latin typeface="Cambria Math" panose="02040503050406030204" pitchFamily="18" charset="0"/>
                      </a:rPr>
                      <m:t>+1</m:t>
                    </m:r>
                    <m:r>
                      <a:rPr lang="zh-TW" altLang="en-US" i="1">
                        <a:latin typeface="Cambria Math" panose="02040503050406030204" pitchFamily="18" charset="0"/>
                      </a:rPr>
                      <m:t>票，</m:t>
                    </m:r>
                    <m:r>
                      <a:rPr lang="zh-TW" altLang="en-US" i="1" dirty="0">
                        <a:latin typeface="Cambria Math" panose="02040503050406030204" pitchFamily="18" charset="0"/>
                      </a:rPr>
                      <m:t>重複這樣的程序</m:t>
                    </m:r>
                  </m:oMath>
                </a14:m>
                <a:r>
                  <a:rPr lang="zh-TW" altLang="en-US" dirty="0">
                    <a:latin typeface="微軟正黑體" panose="020B0604030504040204" pitchFamily="34" charset="-120"/>
                    <a:ea typeface="微軟正黑體" panose="020B0604030504040204" pitchFamily="34" charset="-120"/>
                  </a:rPr>
                  <a:t>，最後經由投票的結果，最高的就是</a:t>
                </a:r>
                <a14:m>
                  <m:oMath xmlns:m="http://schemas.openxmlformats.org/officeDocument/2006/math">
                    <m:r>
                      <a:rPr lang="en-US" altLang="zh-TW" i="1">
                        <a:latin typeface="Cambria Math" panose="02040503050406030204" pitchFamily="18" charset="0"/>
                      </a:rPr>
                      <m:t>𝑥</m:t>
                    </m:r>
                  </m:oMath>
                </a14:m>
                <a:r>
                  <a:rPr lang="zh-TW" altLang="en-US" dirty="0">
                    <a:latin typeface="微軟正黑體" panose="020B0604030504040204" pitchFamily="34" charset="-120"/>
                    <a:ea typeface="微軟正黑體" panose="020B0604030504040204" pitchFamily="34" charset="-120"/>
                  </a:rPr>
                  <a:t>的類別。</a:t>
                </a:r>
              </a:p>
            </p:txBody>
          </p:sp>
        </mc:Choice>
        <mc:Fallback xmlns="">
          <p:sp>
            <p:nvSpPr>
              <p:cNvPr id="7" name="矩形 6"/>
              <p:cNvSpPr>
                <a:spLocks noRot="1" noChangeAspect="1" noMove="1" noResize="1" noEditPoints="1" noAdjustHandles="1" noChangeArrowheads="1" noChangeShapeType="1" noTextEdit="1"/>
              </p:cNvSpPr>
              <p:nvPr/>
            </p:nvSpPr>
            <p:spPr>
              <a:xfrm>
                <a:off x="207264" y="4240236"/>
                <a:ext cx="9707466" cy="369332"/>
              </a:xfrm>
              <a:prstGeom prst="rect">
                <a:avLst/>
              </a:prstGeom>
              <a:blipFill>
                <a:blip r:embed="rId4"/>
                <a:stretch>
                  <a:fillRect l="-503" t="-10000" b="-2666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0965952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內容版面配置區 5"/>
          <p:cNvSpPr>
            <a:spLocks noGrp="1"/>
          </p:cNvSpPr>
          <p:nvPr>
            <p:ph idx="1"/>
          </p:nvPr>
        </p:nvSpPr>
        <p:spPr>
          <a:xfrm>
            <a:off x="143256" y="207137"/>
            <a:ext cx="10515600" cy="679831"/>
          </a:xfrm>
        </p:spPr>
        <p:txBody>
          <a:bodyPr/>
          <a:lstStyle/>
          <a:p>
            <a:pPr marL="0" indent="0">
              <a:buNone/>
            </a:pPr>
            <a:r>
              <a:rPr lang="en-US" altLang="zh-TW" dirty="0">
                <a:solidFill>
                  <a:srgbClr val="C00000"/>
                </a:solidFill>
              </a:rPr>
              <a:t>Diversity measure</a:t>
            </a:r>
            <a:endParaRPr lang="zh-TW" altLang="en-US" dirty="0">
              <a:solidFill>
                <a:srgbClr val="C00000"/>
              </a:solidFill>
            </a:endParaRPr>
          </a:p>
        </p:txBody>
      </p:sp>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extLst>
                  <p:ext uri="{D42A27DB-BD31-4B8C-83A1-F6EECF244321}">
                    <p14:modId xmlns:p14="http://schemas.microsoft.com/office/powerpoint/2010/main" val="354899223"/>
                  </p:ext>
                </p:extLst>
              </p:nvPr>
            </p:nvGraphicFramePr>
            <p:xfrm>
              <a:off x="3071675" y="731183"/>
              <a:ext cx="6067392" cy="1613408"/>
            </p:xfrm>
            <a:graphic>
              <a:graphicData uri="http://schemas.openxmlformats.org/drawingml/2006/table">
                <a:tbl>
                  <a:tblPr firstRow="1" bandRow="1">
                    <a:tableStyleId>{5940675A-B579-460E-94D1-54222C63F5DA}</a:tableStyleId>
                  </a:tblPr>
                  <a:tblGrid>
                    <a:gridCol w="2022464">
                      <a:extLst>
                        <a:ext uri="{9D8B030D-6E8A-4147-A177-3AD203B41FA5}">
                          <a16:colId xmlns:a16="http://schemas.microsoft.com/office/drawing/2014/main" xmlns="" val="3106688017"/>
                        </a:ext>
                      </a:extLst>
                    </a:gridCol>
                    <a:gridCol w="2022464">
                      <a:extLst>
                        <a:ext uri="{9D8B030D-6E8A-4147-A177-3AD203B41FA5}">
                          <a16:colId xmlns:a16="http://schemas.microsoft.com/office/drawing/2014/main" xmlns="" val="804368089"/>
                        </a:ext>
                      </a:extLst>
                    </a:gridCol>
                    <a:gridCol w="2022464">
                      <a:extLst>
                        <a:ext uri="{9D8B030D-6E8A-4147-A177-3AD203B41FA5}">
                          <a16:colId xmlns:a16="http://schemas.microsoft.com/office/drawing/2014/main" xmlns="" val="4228306311"/>
                        </a:ext>
                      </a:extLst>
                    </a:gridCol>
                  </a:tblGrid>
                  <a:tr h="486664">
                    <a:tc>
                      <a:txBody>
                        <a:bodyPr/>
                        <a:lstStyle/>
                        <a:p>
                          <a:pPr algn="ctr"/>
                          <a:endParaRPr lang="zh-TW" altLang="en-US" sz="22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200" i="1" smtClean="0">
                                        <a:latin typeface="Cambria Math" panose="02040503050406030204" pitchFamily="18" charset="0"/>
                                      </a:rPr>
                                    </m:ctrlPr>
                                  </m:sSubPr>
                                  <m:e>
                                    <m:r>
                                      <a:rPr lang="zh-TW" altLang="en-US" sz="2200" i="1" smtClean="0">
                                        <a:latin typeface="Cambria Math" panose="02040503050406030204" pitchFamily="18" charset="0"/>
                                      </a:rPr>
                                      <m:t>𝒽</m:t>
                                    </m:r>
                                  </m:e>
                                  <m:sub>
                                    <m:r>
                                      <a:rPr lang="en-US" altLang="zh-TW" sz="2200" b="0" i="1" smtClean="0">
                                        <a:latin typeface="Cambria Math" panose="02040503050406030204" pitchFamily="18" charset="0"/>
                                      </a:rPr>
                                      <m:t>𝑖</m:t>
                                    </m:r>
                                  </m:sub>
                                </m:sSub>
                                <m:r>
                                  <a:rPr lang="en-US" altLang="zh-TW" sz="2200" b="0" i="1" smtClean="0">
                                    <a:latin typeface="Cambria Math" panose="02040503050406030204" pitchFamily="18" charset="0"/>
                                  </a:rPr>
                                  <m:t>=+1</m:t>
                                </m:r>
                              </m:oMath>
                            </m:oMathPara>
                          </a14:m>
                          <a:endParaRPr lang="zh-TW" altLang="en-US" sz="2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200" i="1" smtClean="0">
                                        <a:latin typeface="Cambria Math" panose="02040503050406030204" pitchFamily="18" charset="0"/>
                                      </a:rPr>
                                    </m:ctrlPr>
                                  </m:sSubPr>
                                  <m:e>
                                    <m:r>
                                      <a:rPr lang="zh-TW" altLang="en-US" sz="2200" i="1" smtClean="0">
                                        <a:latin typeface="Cambria Math" panose="02040503050406030204" pitchFamily="18" charset="0"/>
                                      </a:rPr>
                                      <m:t>𝒽</m:t>
                                    </m:r>
                                  </m:e>
                                  <m:sub>
                                    <m:r>
                                      <a:rPr lang="en-US" altLang="zh-TW" sz="2200" b="0" i="1" smtClean="0">
                                        <a:latin typeface="Cambria Math" panose="02040503050406030204" pitchFamily="18" charset="0"/>
                                      </a:rPr>
                                      <m:t>𝑗</m:t>
                                    </m:r>
                                  </m:sub>
                                </m:sSub>
                                <m:r>
                                  <a:rPr lang="en-US" altLang="zh-TW" sz="2200" b="0" i="1" smtClean="0">
                                    <a:latin typeface="Cambria Math" panose="02040503050406030204" pitchFamily="18" charset="0"/>
                                  </a:rPr>
                                  <m:t>=−1</m:t>
                                </m:r>
                              </m:oMath>
                            </m:oMathPara>
                          </a14:m>
                          <a:endParaRPr lang="zh-TW" altLang="en-US" sz="2200" dirty="0"/>
                        </a:p>
                      </a:txBody>
                      <a:tcPr/>
                    </a:tc>
                    <a:extLst>
                      <a:ext uri="{0D108BD9-81ED-4DB2-BD59-A6C34878D82A}">
                        <a16:rowId xmlns:a16="http://schemas.microsoft.com/office/drawing/2014/main" xmlns="" val="3109806160"/>
                      </a:ext>
                    </a:extLst>
                  </a:tr>
                  <a:tr h="6400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200" i="1" smtClean="0">
                                        <a:latin typeface="Cambria Math" panose="02040503050406030204" pitchFamily="18" charset="0"/>
                                      </a:rPr>
                                    </m:ctrlPr>
                                  </m:sSubPr>
                                  <m:e>
                                    <m:r>
                                      <a:rPr lang="zh-TW" altLang="en-US" sz="2200" i="1" smtClean="0">
                                        <a:latin typeface="Cambria Math" panose="02040503050406030204" pitchFamily="18" charset="0"/>
                                      </a:rPr>
                                      <m:t>𝒽</m:t>
                                    </m:r>
                                  </m:e>
                                  <m:sub>
                                    <m:r>
                                      <a:rPr lang="en-US" altLang="zh-TW" sz="2200" b="0" i="1" smtClean="0">
                                        <a:latin typeface="Cambria Math" panose="02040503050406030204" pitchFamily="18" charset="0"/>
                                      </a:rPr>
                                      <m:t>𝑖</m:t>
                                    </m:r>
                                  </m:sub>
                                </m:sSub>
                                <m:r>
                                  <a:rPr lang="en-US" altLang="zh-TW" sz="2200" b="0" i="1" smtClean="0">
                                    <a:latin typeface="Cambria Math" panose="02040503050406030204" pitchFamily="18" charset="0"/>
                                  </a:rPr>
                                  <m:t>=+1</m:t>
                                </m:r>
                              </m:oMath>
                            </m:oMathPara>
                          </a14:m>
                          <a:endParaRPr lang="en-US" altLang="zh-TW" sz="2200" b="0" dirty="0"/>
                        </a:p>
                      </a:txBody>
                      <a:tcPr/>
                    </a:tc>
                    <a:tc>
                      <a:txBody>
                        <a:bodyPr/>
                        <a:lstStyle/>
                        <a:p>
                          <a:pPr algn="ctr"/>
                          <a:r>
                            <a:rPr lang="en-US" altLang="zh-TW" sz="2200" dirty="0"/>
                            <a:t>a</a:t>
                          </a:r>
                          <a:endParaRPr lang="zh-TW" altLang="en-US" sz="2200" dirty="0"/>
                        </a:p>
                      </a:txBody>
                      <a:tcPr/>
                    </a:tc>
                    <a:tc>
                      <a:txBody>
                        <a:bodyPr/>
                        <a:lstStyle/>
                        <a:p>
                          <a:pPr algn="ctr"/>
                          <a:r>
                            <a:rPr lang="en-US" altLang="zh-TW" sz="2200" dirty="0"/>
                            <a:t>c</a:t>
                          </a:r>
                          <a:endParaRPr lang="zh-TW" altLang="en-US" sz="2200" dirty="0"/>
                        </a:p>
                      </a:txBody>
                      <a:tcPr/>
                    </a:tc>
                    <a:extLst>
                      <a:ext uri="{0D108BD9-81ED-4DB2-BD59-A6C34878D82A}">
                        <a16:rowId xmlns:a16="http://schemas.microsoft.com/office/drawing/2014/main" xmlns="" val="680666886"/>
                      </a:ext>
                    </a:extLst>
                  </a:tr>
                  <a:tr h="4866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200" i="1" smtClean="0">
                                        <a:latin typeface="Cambria Math" panose="02040503050406030204" pitchFamily="18" charset="0"/>
                                      </a:rPr>
                                    </m:ctrlPr>
                                  </m:sSubPr>
                                  <m:e>
                                    <m:r>
                                      <a:rPr lang="zh-TW" altLang="en-US" sz="2200" i="1" smtClean="0">
                                        <a:latin typeface="Cambria Math" panose="02040503050406030204" pitchFamily="18" charset="0"/>
                                      </a:rPr>
                                      <m:t>𝒽</m:t>
                                    </m:r>
                                  </m:e>
                                  <m:sub>
                                    <m:r>
                                      <a:rPr lang="en-US" altLang="zh-TW" sz="2200" b="0" i="1" smtClean="0">
                                        <a:latin typeface="Cambria Math" panose="02040503050406030204" pitchFamily="18" charset="0"/>
                                      </a:rPr>
                                      <m:t>𝑗</m:t>
                                    </m:r>
                                  </m:sub>
                                </m:sSub>
                                <m:r>
                                  <a:rPr lang="en-US" altLang="zh-TW" sz="2200" b="0" i="1" smtClean="0">
                                    <a:latin typeface="Cambria Math" panose="02040503050406030204" pitchFamily="18" charset="0"/>
                                  </a:rPr>
                                  <m:t>=−1</m:t>
                                </m:r>
                              </m:oMath>
                            </m:oMathPara>
                          </a14:m>
                          <a:endParaRPr lang="zh-TW" altLang="en-US" sz="2200" dirty="0"/>
                        </a:p>
                      </a:txBody>
                      <a:tcPr/>
                    </a:tc>
                    <a:tc>
                      <a:txBody>
                        <a:bodyPr/>
                        <a:lstStyle/>
                        <a:p>
                          <a:pPr algn="ctr"/>
                          <a:r>
                            <a:rPr lang="en-US" altLang="zh-TW" sz="2200" dirty="0"/>
                            <a:t>b</a:t>
                          </a:r>
                          <a:endParaRPr lang="zh-TW" altLang="en-US" sz="2200" dirty="0"/>
                        </a:p>
                      </a:txBody>
                      <a:tcPr/>
                    </a:tc>
                    <a:tc>
                      <a:txBody>
                        <a:bodyPr/>
                        <a:lstStyle/>
                        <a:p>
                          <a:pPr algn="ctr"/>
                          <a:r>
                            <a:rPr lang="en-US" altLang="zh-TW" sz="2200" dirty="0"/>
                            <a:t>d</a:t>
                          </a:r>
                          <a:endParaRPr lang="zh-TW" altLang="en-US" sz="2200" dirty="0"/>
                        </a:p>
                      </a:txBody>
                      <a:tcPr/>
                    </a:tc>
                    <a:extLst>
                      <a:ext uri="{0D108BD9-81ED-4DB2-BD59-A6C34878D82A}">
                        <a16:rowId xmlns:a16="http://schemas.microsoft.com/office/drawing/2014/main" xmlns="" val="1112073329"/>
                      </a:ext>
                    </a:extLst>
                  </a:tr>
                </a:tbl>
              </a:graphicData>
            </a:graphic>
          </p:graphicFrame>
        </mc:Choice>
        <mc:Fallback xmlns="">
          <p:graphicFrame>
            <p:nvGraphicFramePr>
              <p:cNvPr id="2" name="表格 1"/>
              <p:cNvGraphicFramePr>
                <a:graphicFrameLocks noGrp="1"/>
              </p:cNvGraphicFramePr>
              <p:nvPr>
                <p:extLst>
                  <p:ext uri="{D42A27DB-BD31-4B8C-83A1-F6EECF244321}">
                    <p14:modId xmlns:p14="http://schemas.microsoft.com/office/powerpoint/2010/main" val="354899223"/>
                  </p:ext>
                </p:extLst>
              </p:nvPr>
            </p:nvGraphicFramePr>
            <p:xfrm>
              <a:off x="3071675" y="731183"/>
              <a:ext cx="6067392" cy="1613408"/>
            </p:xfrm>
            <a:graphic>
              <a:graphicData uri="http://schemas.openxmlformats.org/drawingml/2006/table">
                <a:tbl>
                  <a:tblPr firstRow="1" bandRow="1">
                    <a:tableStyleId>{5940675A-B579-460E-94D1-54222C63F5DA}</a:tableStyleId>
                  </a:tblPr>
                  <a:tblGrid>
                    <a:gridCol w="2022464">
                      <a:extLst>
                        <a:ext uri="{9D8B030D-6E8A-4147-A177-3AD203B41FA5}">
                          <a16:colId xmlns:a16="http://schemas.microsoft.com/office/drawing/2014/main" val="3106688017"/>
                        </a:ext>
                      </a:extLst>
                    </a:gridCol>
                    <a:gridCol w="2022464">
                      <a:extLst>
                        <a:ext uri="{9D8B030D-6E8A-4147-A177-3AD203B41FA5}">
                          <a16:colId xmlns:a16="http://schemas.microsoft.com/office/drawing/2014/main" val="804368089"/>
                        </a:ext>
                      </a:extLst>
                    </a:gridCol>
                    <a:gridCol w="2022464">
                      <a:extLst>
                        <a:ext uri="{9D8B030D-6E8A-4147-A177-3AD203B41FA5}">
                          <a16:colId xmlns:a16="http://schemas.microsoft.com/office/drawing/2014/main" val="4228306311"/>
                        </a:ext>
                      </a:extLst>
                    </a:gridCol>
                  </a:tblGrid>
                  <a:tr h="486664">
                    <a:tc>
                      <a:txBody>
                        <a:bodyPr/>
                        <a:lstStyle/>
                        <a:p>
                          <a:pPr algn="ctr"/>
                          <a:endParaRPr lang="zh-TW" altLang="en-US" sz="2200" dirty="0"/>
                        </a:p>
                      </a:txBody>
                      <a:tcPr/>
                    </a:tc>
                    <a:tc>
                      <a:txBody>
                        <a:bodyPr/>
                        <a:lstStyle/>
                        <a:p>
                          <a:endParaRPr lang="zh-TW"/>
                        </a:p>
                      </a:txBody>
                      <a:tcPr>
                        <a:blipFill>
                          <a:blip r:embed="rId2"/>
                          <a:stretch>
                            <a:fillRect l="-100000" t="-1250" r="-100300" b="-245000"/>
                          </a:stretch>
                        </a:blipFill>
                      </a:tcPr>
                    </a:tc>
                    <a:tc>
                      <a:txBody>
                        <a:bodyPr/>
                        <a:lstStyle/>
                        <a:p>
                          <a:endParaRPr lang="zh-TW"/>
                        </a:p>
                      </a:txBody>
                      <a:tcPr>
                        <a:blipFill>
                          <a:blip r:embed="rId2"/>
                          <a:stretch>
                            <a:fillRect l="-200602" t="-1250" r="-602" b="-245000"/>
                          </a:stretch>
                        </a:blipFill>
                      </a:tcPr>
                    </a:tc>
                    <a:extLst>
                      <a:ext uri="{0D108BD9-81ED-4DB2-BD59-A6C34878D82A}">
                        <a16:rowId xmlns:a16="http://schemas.microsoft.com/office/drawing/2014/main" val="3109806160"/>
                      </a:ext>
                    </a:extLst>
                  </a:tr>
                  <a:tr h="640080">
                    <a:tc>
                      <a:txBody>
                        <a:bodyPr/>
                        <a:lstStyle/>
                        <a:p>
                          <a:endParaRPr lang="zh-TW"/>
                        </a:p>
                      </a:txBody>
                      <a:tcPr>
                        <a:blipFill>
                          <a:blip r:embed="rId2"/>
                          <a:stretch>
                            <a:fillRect l="-301" t="-76415" r="-200904" b="-84906"/>
                          </a:stretch>
                        </a:blipFill>
                      </a:tcPr>
                    </a:tc>
                    <a:tc>
                      <a:txBody>
                        <a:bodyPr/>
                        <a:lstStyle/>
                        <a:p>
                          <a:pPr algn="ctr"/>
                          <a:r>
                            <a:rPr lang="en-US" altLang="zh-TW" sz="2200" dirty="0"/>
                            <a:t>a</a:t>
                          </a:r>
                          <a:endParaRPr lang="zh-TW" altLang="en-US" sz="2200" dirty="0"/>
                        </a:p>
                      </a:txBody>
                      <a:tcPr/>
                    </a:tc>
                    <a:tc>
                      <a:txBody>
                        <a:bodyPr/>
                        <a:lstStyle/>
                        <a:p>
                          <a:pPr algn="ctr"/>
                          <a:r>
                            <a:rPr lang="en-US" altLang="zh-TW" sz="2200" dirty="0"/>
                            <a:t>c</a:t>
                          </a:r>
                          <a:endParaRPr lang="zh-TW" altLang="en-US" sz="2200" dirty="0"/>
                        </a:p>
                      </a:txBody>
                      <a:tcPr/>
                    </a:tc>
                    <a:extLst>
                      <a:ext uri="{0D108BD9-81ED-4DB2-BD59-A6C34878D82A}">
                        <a16:rowId xmlns:a16="http://schemas.microsoft.com/office/drawing/2014/main" val="680666886"/>
                      </a:ext>
                    </a:extLst>
                  </a:tr>
                  <a:tr h="486664">
                    <a:tc>
                      <a:txBody>
                        <a:bodyPr/>
                        <a:lstStyle/>
                        <a:p>
                          <a:endParaRPr lang="zh-TW"/>
                        </a:p>
                      </a:txBody>
                      <a:tcPr>
                        <a:blipFill>
                          <a:blip r:embed="rId2"/>
                          <a:stretch>
                            <a:fillRect l="-301" t="-233750" r="-200904" b="-12500"/>
                          </a:stretch>
                        </a:blipFill>
                      </a:tcPr>
                    </a:tc>
                    <a:tc>
                      <a:txBody>
                        <a:bodyPr/>
                        <a:lstStyle/>
                        <a:p>
                          <a:pPr algn="ctr"/>
                          <a:r>
                            <a:rPr lang="en-US" altLang="zh-TW" sz="2200" dirty="0"/>
                            <a:t>b</a:t>
                          </a:r>
                          <a:endParaRPr lang="zh-TW" altLang="en-US" sz="2200" dirty="0"/>
                        </a:p>
                      </a:txBody>
                      <a:tcPr/>
                    </a:tc>
                    <a:tc>
                      <a:txBody>
                        <a:bodyPr/>
                        <a:lstStyle/>
                        <a:p>
                          <a:pPr algn="ctr"/>
                          <a:r>
                            <a:rPr lang="en-US" altLang="zh-TW" sz="2200" dirty="0"/>
                            <a:t>d</a:t>
                          </a:r>
                          <a:endParaRPr lang="zh-TW" altLang="en-US" sz="2200" dirty="0"/>
                        </a:p>
                      </a:txBody>
                      <a:tcPr/>
                    </a:tc>
                    <a:extLst>
                      <a:ext uri="{0D108BD9-81ED-4DB2-BD59-A6C34878D82A}">
                        <a16:rowId xmlns:a16="http://schemas.microsoft.com/office/drawing/2014/main" val="1112073329"/>
                      </a:ext>
                    </a:extLst>
                  </a:tr>
                </a:tbl>
              </a:graphicData>
            </a:graphic>
          </p:graphicFrame>
        </mc:Fallback>
      </mc:AlternateContent>
      <p:sp>
        <p:nvSpPr>
          <p:cNvPr id="3" name="文字方塊 2"/>
          <p:cNvSpPr txBox="1"/>
          <p:nvPr/>
        </p:nvSpPr>
        <p:spPr>
          <a:xfrm>
            <a:off x="143256" y="2746422"/>
            <a:ext cx="3083152" cy="461665"/>
          </a:xfrm>
          <a:prstGeom prst="rect">
            <a:avLst/>
          </a:prstGeom>
          <a:noFill/>
        </p:spPr>
        <p:txBody>
          <a:bodyPr wrap="none" rtlCol="0">
            <a:spAutoFit/>
          </a:bodyPr>
          <a:lstStyle/>
          <a:p>
            <a:r>
              <a:rPr lang="en-US" altLang="zh-TW" sz="2400" dirty="0">
                <a:solidFill>
                  <a:srgbClr val="002060"/>
                </a:solidFill>
              </a:rPr>
              <a:t>Disagreement measure</a:t>
            </a:r>
            <a:endParaRPr lang="zh-TW" altLang="en-US" sz="2400" dirty="0">
              <a:solidFill>
                <a:srgbClr val="002060"/>
              </a:solidFill>
            </a:endParaRPr>
          </a:p>
        </p:txBody>
      </p:sp>
      <p:sp>
        <p:nvSpPr>
          <p:cNvPr id="5" name="文字方塊 4"/>
          <p:cNvSpPr txBox="1"/>
          <p:nvPr/>
        </p:nvSpPr>
        <p:spPr>
          <a:xfrm>
            <a:off x="143256" y="4791991"/>
            <a:ext cx="2741713" cy="461665"/>
          </a:xfrm>
          <a:prstGeom prst="rect">
            <a:avLst/>
          </a:prstGeom>
          <a:noFill/>
        </p:spPr>
        <p:txBody>
          <a:bodyPr wrap="none" rtlCol="0">
            <a:spAutoFit/>
          </a:bodyPr>
          <a:lstStyle/>
          <a:p>
            <a:r>
              <a:rPr lang="en-US" altLang="zh-TW" sz="2400" dirty="0">
                <a:solidFill>
                  <a:srgbClr val="002060"/>
                </a:solidFill>
              </a:rPr>
              <a:t>Correlation measure</a:t>
            </a:r>
            <a:endParaRPr lang="zh-TW" altLang="en-US" sz="2400" dirty="0">
              <a:solidFill>
                <a:srgbClr val="002060"/>
              </a:solidFill>
            </a:endParaRPr>
          </a:p>
        </p:txBody>
      </p:sp>
      <mc:AlternateContent xmlns:mc="http://schemas.openxmlformats.org/markup-compatibility/2006" xmlns:a14="http://schemas.microsoft.com/office/drawing/2010/main">
        <mc:Choice Requires="a14">
          <p:sp>
            <p:nvSpPr>
              <p:cNvPr id="4" name="文字方塊 3"/>
              <p:cNvSpPr txBox="1"/>
              <p:nvPr/>
            </p:nvSpPr>
            <p:spPr>
              <a:xfrm>
                <a:off x="1187879" y="3468416"/>
                <a:ext cx="1626920" cy="6428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200" i="1" smtClean="0">
                              <a:latin typeface="Cambria Math" panose="02040503050406030204" pitchFamily="18" charset="0"/>
                            </a:rPr>
                          </m:ctrlPr>
                        </m:sSubPr>
                        <m:e>
                          <m:r>
                            <a:rPr lang="en-US" altLang="zh-TW" sz="2200" b="0" i="1" smtClean="0">
                              <a:latin typeface="Cambria Math" panose="02040503050406030204" pitchFamily="18" charset="0"/>
                            </a:rPr>
                            <m:t>𝑑𝑖𝑠</m:t>
                          </m:r>
                        </m:e>
                        <m:sub>
                          <m:r>
                            <a:rPr lang="en-US" altLang="zh-TW" sz="2200" b="0" i="1" smtClean="0">
                              <a:latin typeface="Cambria Math" panose="02040503050406030204" pitchFamily="18" charset="0"/>
                            </a:rPr>
                            <m:t>𝑖𝑗</m:t>
                          </m:r>
                        </m:sub>
                      </m:sSub>
                      <m:r>
                        <a:rPr lang="en-US" altLang="zh-TW" sz="2200" b="0" i="1" smtClean="0">
                          <a:latin typeface="Cambria Math" panose="02040503050406030204" pitchFamily="18" charset="0"/>
                        </a:rPr>
                        <m:t>=</m:t>
                      </m:r>
                      <m:f>
                        <m:fPr>
                          <m:ctrlPr>
                            <a:rPr lang="en-US" altLang="zh-TW" sz="2200" b="0" i="1" smtClean="0">
                              <a:latin typeface="Cambria Math" panose="02040503050406030204" pitchFamily="18" charset="0"/>
                            </a:rPr>
                          </m:ctrlPr>
                        </m:fPr>
                        <m:num>
                          <m:r>
                            <a:rPr lang="en-US" altLang="zh-TW" sz="2200" b="0" i="1" smtClean="0">
                              <a:latin typeface="Cambria Math" panose="02040503050406030204" pitchFamily="18" charset="0"/>
                            </a:rPr>
                            <m:t>𝑏</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𝑐</m:t>
                          </m:r>
                        </m:num>
                        <m:den>
                          <m:r>
                            <a:rPr lang="en-US" altLang="zh-TW" sz="2200" b="0" i="1" smtClean="0">
                              <a:latin typeface="Cambria Math" panose="02040503050406030204" pitchFamily="18" charset="0"/>
                            </a:rPr>
                            <m:t>𝑚</m:t>
                          </m:r>
                        </m:den>
                      </m:f>
                    </m:oMath>
                  </m:oMathPara>
                </a14:m>
                <a:endParaRPr lang="zh-TW" altLang="en-US" sz="2200" dirty="0"/>
              </a:p>
            </p:txBody>
          </p:sp>
        </mc:Choice>
        <mc:Fallback xmlns="">
          <p:sp>
            <p:nvSpPr>
              <p:cNvPr id="4" name="文字方塊 3"/>
              <p:cNvSpPr txBox="1">
                <a:spLocks noRot="1" noChangeAspect="1" noMove="1" noResize="1" noEditPoints="1" noAdjustHandles="1" noChangeArrowheads="1" noChangeShapeType="1" noTextEdit="1"/>
              </p:cNvSpPr>
              <p:nvPr/>
            </p:nvSpPr>
            <p:spPr>
              <a:xfrm>
                <a:off x="1187879" y="3468416"/>
                <a:ext cx="1626920" cy="642805"/>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1187879" y="5695125"/>
                <a:ext cx="4705584" cy="8772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200" i="1" smtClean="0">
                              <a:latin typeface="Cambria Math" panose="02040503050406030204" pitchFamily="18" charset="0"/>
                            </a:rPr>
                          </m:ctrlPr>
                        </m:sSubPr>
                        <m:e>
                          <m:r>
                            <a:rPr lang="en-US" altLang="zh-TW" sz="2200" b="0" i="1" smtClean="0">
                              <a:latin typeface="Cambria Math" panose="02040503050406030204" pitchFamily="18" charset="0"/>
                            </a:rPr>
                            <m:t>𝑝</m:t>
                          </m:r>
                        </m:e>
                        <m:sub>
                          <m:r>
                            <a:rPr lang="en-US" altLang="zh-TW" sz="2200" i="1">
                              <a:latin typeface="Cambria Math" panose="02040503050406030204" pitchFamily="18" charset="0"/>
                            </a:rPr>
                            <m:t>𝑖𝑗</m:t>
                          </m:r>
                        </m:sub>
                      </m:sSub>
                      <m:r>
                        <a:rPr lang="en-US" altLang="zh-TW" sz="2200" i="1">
                          <a:latin typeface="Cambria Math" panose="02040503050406030204" pitchFamily="18" charset="0"/>
                        </a:rPr>
                        <m:t>=</m:t>
                      </m:r>
                      <m:f>
                        <m:fPr>
                          <m:ctrlPr>
                            <a:rPr lang="en-US" altLang="zh-TW" sz="2200" i="1">
                              <a:latin typeface="Cambria Math" panose="02040503050406030204" pitchFamily="18" charset="0"/>
                            </a:rPr>
                          </m:ctrlPr>
                        </m:fPr>
                        <m:num>
                          <m:r>
                            <a:rPr lang="en-US" altLang="zh-TW" sz="2200" b="0" i="1" smtClean="0">
                              <a:latin typeface="Cambria Math" panose="02040503050406030204" pitchFamily="18" charset="0"/>
                            </a:rPr>
                            <m:t>𝑎𝑑</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𝑏𝑐</m:t>
                          </m:r>
                        </m:num>
                        <m:den>
                          <m:rad>
                            <m:radPr>
                              <m:degHide m:val="on"/>
                              <m:ctrlPr>
                                <a:rPr lang="en-US" altLang="zh-TW" sz="2200" i="1" smtClean="0">
                                  <a:latin typeface="Cambria Math" panose="02040503050406030204" pitchFamily="18" charset="0"/>
                                </a:rPr>
                              </m:ctrlPr>
                            </m:radPr>
                            <m:deg/>
                            <m:e>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𝑎</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𝑏</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𝑎</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𝑐</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𝑐</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𝑑</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𝑏</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𝑑</m:t>
                              </m:r>
                              <m:r>
                                <a:rPr lang="en-US" altLang="zh-TW" sz="2200" b="0" i="1" smtClean="0">
                                  <a:latin typeface="Cambria Math" panose="02040503050406030204" pitchFamily="18" charset="0"/>
                                </a:rPr>
                                <m:t>)</m:t>
                              </m:r>
                            </m:e>
                          </m:rad>
                        </m:den>
                      </m:f>
                    </m:oMath>
                  </m:oMathPara>
                </a14:m>
                <a:endParaRPr lang="zh-TW" altLang="en-US" sz="2200" dirty="0"/>
              </a:p>
            </p:txBody>
          </p:sp>
        </mc:Choice>
        <mc:Fallback xmlns="">
          <p:sp>
            <p:nvSpPr>
              <p:cNvPr id="7" name="矩形 6"/>
              <p:cNvSpPr>
                <a:spLocks noRot="1" noChangeAspect="1" noMove="1" noResize="1" noEditPoints="1" noAdjustHandles="1" noChangeArrowheads="1" noChangeShapeType="1" noTextEdit="1"/>
              </p:cNvSpPr>
              <p:nvPr/>
            </p:nvSpPr>
            <p:spPr>
              <a:xfrm>
                <a:off x="1187879" y="5695125"/>
                <a:ext cx="4705584" cy="877228"/>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6892712" y="3468416"/>
                <a:ext cx="4315156" cy="424796"/>
              </a:xfrm>
              <a:prstGeom prst="rect">
                <a:avLst/>
              </a:prstGeom>
            </p:spPr>
            <p:txBody>
              <a:bodyPr wrap="none">
                <a:spAutoFit/>
              </a:bodyPr>
              <a:lstStyle/>
              <a:p>
                <a14:m>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𝑑𝑖𝑠</m:t>
                        </m:r>
                      </m:e>
                      <m:sub>
                        <m:r>
                          <a:rPr lang="en-US" altLang="zh-TW" sz="2000" i="1">
                            <a:latin typeface="Cambria Math" panose="02040503050406030204" pitchFamily="18" charset="0"/>
                          </a:rPr>
                          <m:t>𝑖𝑗</m:t>
                        </m:r>
                      </m:sub>
                    </m:sSub>
                    <m:r>
                      <a:rPr lang="zh-TW" altLang="en-US" sz="2000" i="1" smtClean="0">
                        <a:latin typeface="Cambria Math" panose="02040503050406030204" pitchFamily="18" charset="0"/>
                      </a:rPr>
                      <m:t>的</m:t>
                    </m:r>
                    <m:r>
                      <a:rPr lang="zh-TW" altLang="en-US" sz="2000" i="1" dirty="0" smtClean="0">
                        <a:latin typeface="Cambria Math" panose="02040503050406030204" pitchFamily="18" charset="0"/>
                      </a:rPr>
                      <m:t>值域</m:t>
                    </m:r>
                  </m:oMath>
                </a14:m>
                <a:r>
                  <a:rPr lang="zh-TW" altLang="en-US" sz="2000" dirty="0"/>
                  <a:t>為</a:t>
                </a:r>
                <a:r>
                  <a:rPr lang="en-US" altLang="zh-TW" sz="2000" dirty="0"/>
                  <a:t>[0, 1]</a:t>
                </a:r>
                <a:r>
                  <a:rPr lang="zh-TW" altLang="en-US" sz="2000" dirty="0"/>
                  <a:t>值越大多樣性越大</a:t>
                </a:r>
              </a:p>
            </p:txBody>
          </p:sp>
        </mc:Choice>
        <mc:Fallback xmlns="">
          <p:sp>
            <p:nvSpPr>
              <p:cNvPr id="9" name="矩形 8"/>
              <p:cNvSpPr>
                <a:spLocks noRot="1" noChangeAspect="1" noMove="1" noResize="1" noEditPoints="1" noAdjustHandles="1" noChangeArrowheads="1" noChangeShapeType="1" noTextEdit="1"/>
              </p:cNvSpPr>
              <p:nvPr/>
            </p:nvSpPr>
            <p:spPr>
              <a:xfrm>
                <a:off x="6892712" y="3468416"/>
                <a:ext cx="4315156" cy="424796"/>
              </a:xfrm>
              <a:prstGeom prst="rect">
                <a:avLst/>
              </a:prstGeom>
              <a:blipFill>
                <a:blip r:embed="rId5"/>
                <a:stretch>
                  <a:fillRect t="-8571" r="-847" b="-2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6892712" y="5695125"/>
                <a:ext cx="4983416" cy="732573"/>
              </a:xfrm>
              <a:prstGeom prst="rect">
                <a:avLst/>
              </a:prstGeom>
            </p:spPr>
            <p:txBody>
              <a:bodyPr wrap="none">
                <a:spAutoFit/>
              </a:bodyPr>
              <a:lstStyle/>
              <a:p>
                <a14:m>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𝑝</m:t>
                        </m:r>
                      </m:e>
                      <m:sub>
                        <m:r>
                          <a:rPr lang="en-US" altLang="zh-TW" sz="2000" i="1">
                            <a:latin typeface="Cambria Math" panose="02040503050406030204" pitchFamily="18" charset="0"/>
                          </a:rPr>
                          <m:t>𝑖𝑗</m:t>
                        </m:r>
                      </m:sub>
                    </m:sSub>
                    <m:r>
                      <a:rPr lang="zh-TW" altLang="en-US" sz="2000" i="1" smtClean="0">
                        <a:latin typeface="Cambria Math" panose="02040503050406030204" pitchFamily="18" charset="0"/>
                      </a:rPr>
                      <m:t>的</m:t>
                    </m:r>
                    <m:r>
                      <a:rPr lang="zh-TW" altLang="en-US" sz="2000" i="1" dirty="0" smtClean="0">
                        <a:latin typeface="Cambria Math" panose="02040503050406030204" pitchFamily="18" charset="0"/>
                      </a:rPr>
                      <m:t>值域</m:t>
                    </m:r>
                  </m:oMath>
                </a14:m>
                <a:r>
                  <a:rPr lang="zh-TW" altLang="en-US" sz="2000" dirty="0"/>
                  <a:t>為</a:t>
                </a:r>
                <a:r>
                  <a:rPr lang="en-US" altLang="zh-TW" sz="2000" dirty="0"/>
                  <a:t>[-1, 1]</a:t>
                </a:r>
                <a:r>
                  <a:rPr lang="zh-TW" altLang="en-US" sz="2000" dirty="0"/>
                  <a:t>若</a:t>
                </a:r>
                <a14:m>
                  <m:oMath xmlns:m="http://schemas.openxmlformats.org/officeDocument/2006/math">
                    <m:sSub>
                      <m:sSubPr>
                        <m:ctrlPr>
                          <a:rPr lang="en-US" altLang="zh-TW" sz="2000" i="1">
                            <a:latin typeface="Cambria Math" panose="02040503050406030204" pitchFamily="18" charset="0"/>
                          </a:rPr>
                        </m:ctrlPr>
                      </m:sSubPr>
                      <m:e>
                        <m:r>
                          <a:rPr lang="zh-TW" altLang="en-US" sz="2000" i="1">
                            <a:latin typeface="Cambria Math" panose="02040503050406030204" pitchFamily="18" charset="0"/>
                          </a:rPr>
                          <m:t>𝒽</m:t>
                        </m:r>
                      </m:e>
                      <m:sub>
                        <m:r>
                          <a:rPr lang="en-US" altLang="zh-TW" sz="2000" i="1">
                            <a:latin typeface="Cambria Math" panose="02040503050406030204" pitchFamily="18" charset="0"/>
                          </a:rPr>
                          <m:t>𝑖</m:t>
                        </m:r>
                      </m:sub>
                    </m:sSub>
                  </m:oMath>
                </a14:m>
                <a:r>
                  <a:rPr lang="zh-TW" altLang="en-US" sz="2000" dirty="0"/>
                  <a:t>，</a:t>
                </a:r>
                <a14:m>
                  <m:oMath xmlns:m="http://schemas.openxmlformats.org/officeDocument/2006/math">
                    <m:sSub>
                      <m:sSubPr>
                        <m:ctrlPr>
                          <a:rPr lang="en-US" altLang="zh-TW" sz="2000" i="1">
                            <a:latin typeface="Cambria Math" panose="02040503050406030204" pitchFamily="18" charset="0"/>
                          </a:rPr>
                        </m:ctrlPr>
                      </m:sSubPr>
                      <m:e>
                        <m:r>
                          <a:rPr lang="zh-TW" altLang="en-US" sz="2000" i="1">
                            <a:latin typeface="Cambria Math" panose="02040503050406030204" pitchFamily="18" charset="0"/>
                          </a:rPr>
                          <m:t>𝒽</m:t>
                        </m:r>
                      </m:e>
                      <m:sub>
                        <m:r>
                          <a:rPr lang="en-US" altLang="zh-TW" sz="2000" i="1">
                            <a:latin typeface="Cambria Math" panose="02040503050406030204" pitchFamily="18" charset="0"/>
                          </a:rPr>
                          <m:t>𝑗</m:t>
                        </m:r>
                      </m:sub>
                    </m:sSub>
                    <m:r>
                      <a:rPr lang="zh-TW" altLang="en-US" sz="2000" i="1" smtClean="0">
                        <a:latin typeface="Cambria Math" panose="02040503050406030204" pitchFamily="18" charset="0"/>
                      </a:rPr>
                      <m:t>無關</m:t>
                    </m:r>
                  </m:oMath>
                </a14:m>
                <a:r>
                  <a:rPr lang="zh-TW" altLang="en-US" sz="2000" dirty="0"/>
                  <a:t>則相關性</a:t>
                </a:r>
                <a:r>
                  <a:rPr lang="en-US" altLang="zh-TW" sz="2000" dirty="0"/>
                  <a:t>=0</a:t>
                </a:r>
              </a:p>
              <a:p>
                <a:r>
                  <a:rPr lang="zh-TW" altLang="en-US" sz="2000" dirty="0"/>
                  <a:t>若兩者正相關則值為正，負相關值為負</a:t>
                </a:r>
              </a:p>
            </p:txBody>
          </p:sp>
        </mc:Choice>
        <mc:Fallback xmlns="">
          <p:sp>
            <p:nvSpPr>
              <p:cNvPr id="10" name="矩形 9"/>
              <p:cNvSpPr>
                <a:spLocks noRot="1" noChangeAspect="1" noMove="1" noResize="1" noEditPoints="1" noAdjustHandles="1" noChangeArrowheads="1" noChangeShapeType="1" noTextEdit="1"/>
              </p:cNvSpPr>
              <p:nvPr/>
            </p:nvSpPr>
            <p:spPr>
              <a:xfrm>
                <a:off x="6892712" y="5695125"/>
                <a:ext cx="4983416" cy="732573"/>
              </a:xfrm>
              <a:prstGeom prst="rect">
                <a:avLst/>
              </a:prstGeom>
              <a:blipFill>
                <a:blip r:embed="rId6"/>
                <a:stretch>
                  <a:fillRect l="-1346" t="-4167" r="-612" b="-1333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03862183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1002</TotalTime>
  <Words>811</Words>
  <Application>Microsoft Office PowerPoint</Application>
  <PresentationFormat>寬螢幕</PresentationFormat>
  <Paragraphs>168</Paragraphs>
  <Slides>11</Slides>
  <Notes>1</Notes>
  <HiddenSlides>0</HiddenSlides>
  <MMClips>0</MMClips>
  <ScaleCrop>false</ScaleCrop>
  <HeadingPairs>
    <vt:vector size="6" baseType="variant">
      <vt:variant>
        <vt:lpstr>使用字型</vt:lpstr>
      </vt:variant>
      <vt:variant>
        <vt:i4>12</vt:i4>
      </vt:variant>
      <vt:variant>
        <vt:lpstr>佈景主題</vt:lpstr>
      </vt:variant>
      <vt:variant>
        <vt:i4>1</vt:i4>
      </vt:variant>
      <vt:variant>
        <vt:lpstr>投影片標題</vt:lpstr>
      </vt:variant>
      <vt:variant>
        <vt:i4>11</vt:i4>
      </vt:variant>
    </vt:vector>
  </HeadingPairs>
  <TitlesOfParts>
    <vt:vector size="24" baseType="lpstr">
      <vt:lpstr>Liberation Sans</vt:lpstr>
      <vt:lpstr>Liberation Sans Narrow</vt:lpstr>
      <vt:lpstr>Liberation Serif</vt:lpstr>
      <vt:lpstr>微軟正黑體</vt:lpstr>
      <vt:lpstr>PMingLiU</vt:lpstr>
      <vt:lpstr>PMingLiU</vt:lpstr>
      <vt:lpstr>Arial</vt:lpstr>
      <vt:lpstr>Calibri</vt:lpstr>
      <vt:lpstr>Calibri Light</vt:lpstr>
      <vt:lpstr>Cambria Math</vt:lpstr>
      <vt:lpstr>Mangal</vt:lpstr>
      <vt:lpstr>Tahoma</vt:lpstr>
      <vt:lpstr>Office 佈景主題</vt:lpstr>
      <vt:lpstr> In Proceedings of the 1st International Workshop on Multiple Classifier Systems (MCS), 1-15, Cagliari, Italy, 2000. </vt:lpstr>
      <vt:lpstr>Abstract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Expert Systems with Applications, Vol. 38 2758–2765 Wen Zhang , Taketoshi Yoshida , Xijin Tang (2011)  </dc:title>
  <dc:creator>Jyun-Hao Lai</dc:creator>
  <cp:lastModifiedBy>pplab-class</cp:lastModifiedBy>
  <cp:revision>104</cp:revision>
  <dcterms:created xsi:type="dcterms:W3CDTF">2016-09-20T07:36:42Z</dcterms:created>
  <dcterms:modified xsi:type="dcterms:W3CDTF">2016-12-22T11:15:14Z</dcterms:modified>
</cp:coreProperties>
</file>