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77" r:id="rId4"/>
    <p:sldId id="260" r:id="rId5"/>
    <p:sldId id="261" r:id="rId6"/>
    <p:sldId id="262" r:id="rId7"/>
    <p:sldId id="264" r:id="rId8"/>
    <p:sldId id="265" r:id="rId9"/>
    <p:sldId id="266" r:id="rId10"/>
    <p:sldId id="278" r:id="rId11"/>
    <p:sldId id="279" r:id="rId12"/>
    <p:sldId id="275" r:id="rId13"/>
    <p:sldId id="276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796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4613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033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28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828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529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253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0078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295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426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8476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318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D33D-6920-49C9-BD5B-0C0D85FA0340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3E486-6A60-4EDA-BC68-DE7B5D5D14C9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59C-A7EE-4402-A9E1-F5C768C7B964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40366-0D2E-4DBF-A4DB-63EF4915A4E1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DEB-A01D-4AF4-97EE-6BB7504F226E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82A2-4BD0-4708-B70C-B5887DEA0B1F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81FE-D062-4501-AF67-F6F13AB557C4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BBBC-FAB9-4F8E-B87C-E92E8C50AA1F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B5C7-F62C-4562-B6D8-707E3DE2FF75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2113-ABB1-4EA4-8AEB-6052D5EE5BEE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E917-8D65-4AD0-8E2F-50C5DBAAC474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F453C-B32A-44BE-9370-F66BE2CFC793}" type="datetime1">
              <a:rPr lang="zh-TW" altLang="en-US" smtClean="0"/>
              <a:t>2016/5/3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799" y="584141"/>
            <a:ext cx="7508383" cy="983808"/>
          </a:xfrm>
        </p:spPr>
        <p:txBody>
          <a:bodyPr>
            <a:normAutofit fontScale="90000"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Mining Association Rules in Big Data for E-healthcare Information System 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86445"/>
            <a:ext cx="8040190" cy="320549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N. </a:t>
            </a:r>
            <a:r>
              <a:rPr lang="en-US" altLang="zh-TW" dirty="0" err="1" smtClean="0"/>
              <a:t>Rajkumar</a:t>
            </a:r>
            <a:r>
              <a:rPr lang="en-US" altLang="zh-TW" dirty="0" smtClean="0"/>
              <a:t>, R. </a:t>
            </a:r>
            <a:r>
              <a:rPr lang="en-US" altLang="zh-TW" dirty="0" err="1" smtClean="0"/>
              <a:t>Vimal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Karthick</a:t>
            </a:r>
            <a:r>
              <a:rPr lang="en-US" altLang="zh-TW" dirty="0" smtClean="0"/>
              <a:t>, M. </a:t>
            </a:r>
            <a:r>
              <a:rPr lang="en-US" altLang="zh-TW" dirty="0" err="1" smtClean="0"/>
              <a:t>Nathiya</a:t>
            </a:r>
            <a:r>
              <a:rPr lang="en-US" altLang="zh-TW" dirty="0" smtClean="0"/>
              <a:t> and K. </a:t>
            </a:r>
            <a:r>
              <a:rPr lang="en-US" altLang="zh-TW" dirty="0" err="1" smtClean="0"/>
              <a:t>Silambarasan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Research Journal of Applied Sciences, Engineering and Technology 8(8): 1002-1008, 2014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Presenter: Chong-</a:t>
            </a:r>
            <a:r>
              <a:rPr lang="en-US" altLang="zh-TW" dirty="0" err="1" smtClean="0"/>
              <a:t>Xuan</a:t>
            </a:r>
            <a:r>
              <a:rPr lang="en-US" altLang="zh-TW" smtClean="0"/>
              <a:t> Lo</a:t>
            </a:r>
            <a:endParaRPr lang="en-US" altLang="zh-TW" dirty="0" smtClean="0"/>
          </a:p>
          <a:p>
            <a:r>
              <a:rPr lang="en-US" altLang="zh-TW" dirty="0" smtClean="0"/>
              <a:t>Date:2016/5/3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10990" y="2051949"/>
            <a:ext cx="6858000" cy="4383685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Big data related to large volume, multiple ways of growing data sets and autonomous sources. Now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quickly enlarged in many advanced domains, because of rapid growth in networking and data collection.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is defining the E-Healthcare Information System, which needs to make logical and structural method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knowledge. And also effectually preparing and controlling the data generated during the diagnosis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of medical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through sharing information among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-Healthcare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 devices.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52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10990" y="2051949"/>
            <a:ext cx="6858000" cy="4383685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is, A E-Healthcare Information System which is extensive, integrated knowledge system designed to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views of a hospital operation, such as medical data’s, administrative, financial, legal information’s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service processing. At last the analysis of result will be generated using Association Mining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processed from big data of hospital information datasets. Finally mining techniques result could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in terms of accuracy, precision, recall and positive rate. </a:t>
            </a: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797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3" y="695510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914144"/>
            <a:ext cx="7755717" cy="4559807"/>
          </a:xfrm>
        </p:spPr>
        <p:txBody>
          <a:bodyPr>
            <a:normAutofit/>
          </a:bodyPr>
          <a:lstStyle/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 I = 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be a  set 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items.</a:t>
            </a:r>
          </a:p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{t </a:t>
            </a: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 </a:t>
            </a: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… , t </a:t>
            </a: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be a set of transactions called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database.</a:t>
            </a:r>
          </a:p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transaction in D has a unique transaction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 and contains a subset of the items in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12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3" y="695510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4" y="1914144"/>
            <a:ext cx="7755717" cy="4559807"/>
          </a:xfrm>
        </p:spPr>
        <p:txBody>
          <a:bodyPr>
            <a:normAutofit/>
          </a:bodyPr>
          <a:lstStyle/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rule  is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implication of the form X  ⇒  Y where X, Y  ⊆   I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X∩Y  =  ∅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and Y are called antecedent (Left-Hand-Side or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LHS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consequent (Right-Hand-Side or RHS) of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52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57399" y="248621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3" y="1231392"/>
            <a:ext cx="7755717" cy="5421957"/>
          </a:xfrm>
        </p:spPr>
        <p:txBody>
          <a:bodyPr>
            <a:normAutofit fontScale="85000" lnSpcReduction="10000"/>
          </a:bodyPr>
          <a:lstStyle/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milk, bread, butter, beer,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diapers}</a:t>
            </a:r>
          </a:p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{butter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bread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=&gt; {milk}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/>
              <a:t>value of a rule =</a:t>
            </a:r>
            <a:r>
              <a:rPr lang="en-US" altLang="zh-TW" dirty="0" smtClean="0"/>
              <a:t>P(X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</a:t>
            </a:r>
            <a:r>
              <a:rPr lang="en-US" altLang="zh-TW" dirty="0" smtClean="0"/>
              <a:t> </a:t>
            </a:r>
            <a:r>
              <a:rPr lang="en-US" altLang="zh-TW" dirty="0" smtClean="0"/>
              <a:t>Y)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 support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1/5=0.2.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/>
              <a:t>The</a:t>
            </a:r>
            <a:r>
              <a:rPr lang="en-US" altLang="zh-TW" dirty="0"/>
              <a:t> </a:t>
            </a:r>
            <a:r>
              <a:rPr lang="en-US" altLang="zh-TW" b="1" dirty="0"/>
              <a:t>confidence</a:t>
            </a:r>
            <a:r>
              <a:rPr lang="en-US" altLang="zh-TW" dirty="0"/>
              <a:t>  value of a rule = P ( Y | X</a:t>
            </a:r>
            <a:r>
              <a:rPr lang="en-US" altLang="zh-TW" dirty="0" smtClean="0"/>
              <a:t>)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has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confidence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1/1=1.0.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3" y="1867953"/>
            <a:ext cx="4961592" cy="256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1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57399" y="248621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3" y="1747776"/>
            <a:ext cx="7755717" cy="452323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rules  are usually  required  to  satisfy  a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user-specified  minimum  support  and  a  user-specified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confidence at the same time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54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57399" y="248621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3" y="1734949"/>
            <a:ext cx="7755717" cy="452323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usually split up into two separate steps: 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minimum  support  is  applied  to  find  all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item sets(large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database. 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these frequent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 sets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minimum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are used to form rules. 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214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57399" y="248621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73023" y="984763"/>
                <a:ext cx="7755717" cy="5574533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 set  of  possible  item  sets  is  the  power  set over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and has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-1 .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 search is possible using the </a:t>
                </a:r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downward-closure property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of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</a:t>
                </a:r>
              </a:p>
              <a:p>
                <a:pPr marL="257175" indent="-257175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Any subset of a frequent </a:t>
                </a:r>
                <a:r>
                  <a:rPr lang="en-US" altLang="zh-TW" dirty="0" err="1"/>
                  <a:t>itemset</a:t>
                </a:r>
                <a:r>
                  <a:rPr lang="en-US" altLang="zh-TW" dirty="0"/>
                  <a:t> must be frequent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57175" indent="-257175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{butter, bread , milk}</a:t>
                </a:r>
                <a:r>
                  <a:rPr lang="en-US" altLang="zh-TW" dirty="0"/>
                  <a:t> is frequent, so is {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butter, bread </a:t>
                </a:r>
                <a:r>
                  <a:rPr lang="en-US" altLang="zh-TW" dirty="0"/>
                  <a:t>}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Exploiting this property, efficient algorithms (e.g., </a:t>
                </a:r>
                <a:r>
                  <a:rPr lang="en-US" altLang="zh-TW" dirty="0" err="1" smtClean="0"/>
                  <a:t>Apriori</a:t>
                </a:r>
                <a:r>
                  <a:rPr lang="en-US" altLang="zh-TW" baseline="30000" dirty="0"/>
                  <a:t> </a:t>
                </a:r>
                <a:r>
                  <a:rPr lang="en-US" altLang="zh-TW" dirty="0" smtClean="0"/>
                  <a:t>and </a:t>
                </a:r>
                <a:r>
                  <a:rPr lang="en-US" altLang="zh-TW" dirty="0" err="1" smtClean="0"/>
                  <a:t>Eclat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can find all frequent item-sets.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73023" y="984763"/>
                <a:ext cx="7755717" cy="5574533"/>
              </a:xfrm>
              <a:blipFill rotWithShape="0">
                <a:blip r:embed="rId3"/>
                <a:stretch>
                  <a:fillRect l="-10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70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57399" y="248621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3" y="984763"/>
            <a:ext cx="7755717" cy="5574533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database of transactions consist of following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minimum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/>
              <a:t>1.				    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272595"/>
              </p:ext>
            </p:extLst>
          </p:nvPr>
        </p:nvGraphicFramePr>
        <p:xfrm>
          <a:off x="2213606" y="1615145"/>
          <a:ext cx="1426577" cy="1650570"/>
        </p:xfrm>
        <a:graphic>
          <a:graphicData uri="http://schemas.openxmlformats.org/drawingml/2006/table">
            <a:tbl>
              <a:tblPr/>
              <a:tblGrid>
                <a:gridCol w="431344"/>
                <a:gridCol w="995233"/>
              </a:tblGrid>
              <a:tr h="3301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TID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Items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01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I1,I3,I4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301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I2,I3,I5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301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I1,I2,I3,I5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301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I2,I5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39285"/>
              </p:ext>
            </p:extLst>
          </p:nvPr>
        </p:nvGraphicFramePr>
        <p:xfrm>
          <a:off x="969940" y="4782747"/>
          <a:ext cx="1356906" cy="1645920"/>
        </p:xfrm>
        <a:graphic>
          <a:graphicData uri="http://schemas.openxmlformats.org/drawingml/2006/table">
            <a:tbl>
              <a:tblPr/>
              <a:tblGrid>
                <a:gridCol w="678453"/>
                <a:gridCol w="67845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item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support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{I1}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{I2}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{I3}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{I4}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{I5}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8" name="向右箭號 7"/>
          <p:cNvSpPr/>
          <p:nvPr/>
        </p:nvSpPr>
        <p:spPr>
          <a:xfrm>
            <a:off x="2629989" y="5468982"/>
            <a:ext cx="426720" cy="235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869965"/>
              </p:ext>
            </p:extLst>
          </p:nvPr>
        </p:nvGraphicFramePr>
        <p:xfrm>
          <a:off x="3327475" y="4900748"/>
          <a:ext cx="1356906" cy="1371600"/>
        </p:xfrm>
        <a:graphic>
          <a:graphicData uri="http://schemas.openxmlformats.org/drawingml/2006/table">
            <a:tbl>
              <a:tblPr/>
              <a:tblGrid>
                <a:gridCol w="678453"/>
                <a:gridCol w="67845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item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support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{I1}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{I2}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{I3}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{I5}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60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57399" y="248621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3023" y="984763"/>
            <a:ext cx="7755717" cy="557453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dirty="0" smtClean="0"/>
              <a:t>			    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12" name="向右箭號 11"/>
          <p:cNvSpPr/>
          <p:nvPr/>
        </p:nvSpPr>
        <p:spPr>
          <a:xfrm>
            <a:off x="3239589" y="2234215"/>
            <a:ext cx="426720" cy="235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592165"/>
              </p:ext>
            </p:extLst>
          </p:nvPr>
        </p:nvGraphicFramePr>
        <p:xfrm>
          <a:off x="1108162" y="4383225"/>
          <a:ext cx="1791792" cy="1371600"/>
        </p:xfrm>
        <a:graphic>
          <a:graphicData uri="http://schemas.openxmlformats.org/drawingml/2006/table">
            <a:tbl>
              <a:tblPr/>
              <a:tblGrid>
                <a:gridCol w="895896"/>
                <a:gridCol w="89589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item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support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{</a:t>
                      </a:r>
                      <a:r>
                        <a:rPr lang="en-US" sz="1200" dirty="0" smtClean="0">
                          <a:effectLst/>
                        </a:rPr>
                        <a:t>I1,</a:t>
                      </a:r>
                      <a:r>
                        <a:rPr lang="en-US" altLang="zh-TW" sz="1200" dirty="0" smtClean="0">
                          <a:effectLst/>
                        </a:rPr>
                        <a:t>I2,</a:t>
                      </a:r>
                      <a:r>
                        <a:rPr lang="en-US" sz="1200" dirty="0" smtClean="0">
                          <a:effectLst/>
                        </a:rPr>
                        <a:t>I3</a:t>
                      </a:r>
                      <a:r>
                        <a:rPr lang="en-US" sz="1200" dirty="0">
                          <a:effectLst/>
                        </a:rPr>
                        <a:t>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1</a:t>
                      </a:r>
                      <a:endParaRPr lang="en-US" altLang="zh-TW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{</a:t>
                      </a:r>
                      <a:r>
                        <a:rPr lang="en-US" altLang="zh-TW" sz="1200" dirty="0" smtClean="0">
                          <a:effectLst/>
                        </a:rPr>
                        <a:t>I1,I2</a:t>
                      </a:r>
                      <a:r>
                        <a:rPr lang="en-US" sz="1200" dirty="0" smtClean="0">
                          <a:effectLst/>
                        </a:rPr>
                        <a:t>,</a:t>
                      </a:r>
                      <a:r>
                        <a:rPr lang="en-US" altLang="zh-TW" sz="1200" dirty="0" smtClean="0">
                          <a:effectLst/>
                        </a:rPr>
                        <a:t>I5</a:t>
                      </a:r>
                      <a:r>
                        <a:rPr lang="en-US" sz="1200" dirty="0" smtClean="0">
                          <a:effectLst/>
                        </a:rPr>
                        <a:t>}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1</a:t>
                      </a:r>
                      <a:endParaRPr lang="en-US" altLang="zh-TW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{</a:t>
                      </a:r>
                      <a:r>
                        <a:rPr lang="en-US" altLang="zh-TW" sz="1200" dirty="0" smtClean="0">
                          <a:effectLst/>
                        </a:rPr>
                        <a:t>I1,I3,I5</a:t>
                      </a:r>
                      <a:r>
                        <a:rPr lang="en-US" sz="1200" dirty="0" smtClean="0">
                          <a:effectLst/>
                        </a:rPr>
                        <a:t>}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1</a:t>
                      </a:r>
                      <a:endParaRPr lang="en-US" altLang="zh-TW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{</a:t>
                      </a:r>
                      <a:r>
                        <a:rPr lang="en-US" altLang="zh-TW" sz="1200" dirty="0" smtClean="0">
                          <a:effectLst/>
                        </a:rPr>
                        <a:t>I2,</a:t>
                      </a:r>
                      <a:r>
                        <a:rPr lang="en-US" sz="1200" dirty="0" smtClean="0">
                          <a:effectLst/>
                        </a:rPr>
                        <a:t>I3,I5</a:t>
                      </a:r>
                      <a:r>
                        <a:rPr lang="en-US" sz="1200" dirty="0">
                          <a:effectLst/>
                        </a:rPr>
                        <a:t>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187847"/>
              </p:ext>
            </p:extLst>
          </p:nvPr>
        </p:nvGraphicFramePr>
        <p:xfrm>
          <a:off x="4099556" y="4744631"/>
          <a:ext cx="1439095" cy="548640"/>
        </p:xfrm>
        <a:graphic>
          <a:graphicData uri="http://schemas.openxmlformats.org/drawingml/2006/table">
            <a:tbl>
              <a:tblPr/>
              <a:tblGrid>
                <a:gridCol w="707575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item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support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{</a:t>
                      </a:r>
                      <a:r>
                        <a:rPr lang="en-US" altLang="zh-TW" sz="1200" dirty="0" smtClean="0">
                          <a:effectLst/>
                        </a:rPr>
                        <a:t>I2,</a:t>
                      </a:r>
                      <a:r>
                        <a:rPr lang="en-US" sz="1200" dirty="0" smtClean="0">
                          <a:effectLst/>
                        </a:rPr>
                        <a:t>I3,I5</a:t>
                      </a:r>
                      <a:r>
                        <a:rPr lang="en-US" sz="1200" dirty="0">
                          <a:effectLst/>
                        </a:rPr>
                        <a:t>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66135"/>
              </p:ext>
            </p:extLst>
          </p:nvPr>
        </p:nvGraphicFramePr>
        <p:xfrm>
          <a:off x="1161529" y="1605190"/>
          <a:ext cx="1391740" cy="1920240"/>
        </p:xfrm>
        <a:graphic>
          <a:graphicData uri="http://schemas.openxmlformats.org/drawingml/2006/table">
            <a:tbl>
              <a:tblPr/>
              <a:tblGrid>
                <a:gridCol w="695870"/>
                <a:gridCol w="69587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item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support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{I1,I2}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{I1,I3}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{I1,I5}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{I2,I3}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{I2,I5}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{I3,I5}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509196"/>
              </p:ext>
            </p:extLst>
          </p:nvPr>
        </p:nvGraphicFramePr>
        <p:xfrm>
          <a:off x="4034244" y="1883864"/>
          <a:ext cx="1391740" cy="1371600"/>
        </p:xfrm>
        <a:graphic>
          <a:graphicData uri="http://schemas.openxmlformats.org/drawingml/2006/table">
            <a:tbl>
              <a:tblPr/>
              <a:tblGrid>
                <a:gridCol w="695870"/>
                <a:gridCol w="69587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item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effectLst/>
                        </a:rPr>
                        <a:t>support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{I1,I3}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{I2,I3}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{I2,I5}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{I3,I5}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7" name="向右箭號 16"/>
          <p:cNvSpPr/>
          <p:nvPr/>
        </p:nvSpPr>
        <p:spPr>
          <a:xfrm>
            <a:off x="3239589" y="4938227"/>
            <a:ext cx="426720" cy="235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39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08496" y="-145517"/>
            <a:ext cx="7521104" cy="1044151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E-healthcare information system 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719" y="1842242"/>
            <a:ext cx="5480309" cy="540024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823449" y="1227909"/>
            <a:ext cx="7031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 analysis  of  result  will  be  generated  using Association Mining Techniques which processed from big  data  of  hospital  information  datasets.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19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08496" y="-145517"/>
            <a:ext cx="7521104" cy="1044151"/>
          </a:xfrm>
        </p:spPr>
        <p:txBody>
          <a:bodyPr>
            <a:noAutofit/>
          </a:bodyPr>
          <a:lstStyle/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7" name="副標題 2"/>
          <p:cNvSpPr>
            <a:spLocks noGrp="1"/>
          </p:cNvSpPr>
          <p:nvPr>
            <p:ph type="subTitle" idx="1"/>
          </p:nvPr>
        </p:nvSpPr>
        <p:spPr>
          <a:xfrm>
            <a:off x="591189" y="1347589"/>
            <a:ext cx="7755717" cy="4559807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 on  our  proposal  system,  it  achieves  an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analysis  for  heterogeneous  type  of  data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 response  and  real  time  classification  for  big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1026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4002</TotalTime>
  <Words>698</Words>
  <Application>Microsoft Office PowerPoint</Application>
  <PresentationFormat>如螢幕大小 (4:3)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Mining Association Rules in Big Data for E-healthcare Information System </vt:lpstr>
      <vt:lpstr>Abstract(1/2)</vt:lpstr>
      <vt:lpstr>Abstract(2/2)</vt:lpstr>
      <vt:lpstr>Association rule</vt:lpstr>
      <vt:lpstr>Association rule</vt:lpstr>
      <vt:lpstr>Association rule</vt:lpstr>
      <vt:lpstr>Association rule</vt:lpstr>
      <vt:lpstr>Association rule</vt:lpstr>
      <vt:lpstr>Association rule</vt:lpstr>
      <vt:lpstr>Apriori algorithm</vt:lpstr>
      <vt:lpstr>Apriori algorithm</vt:lpstr>
      <vt:lpstr>E-healthcare information system 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 </dc:title>
  <dc:creator>muchmuch</dc:creator>
  <cp:lastModifiedBy>much</cp:lastModifiedBy>
  <cp:revision>54</cp:revision>
  <dcterms:created xsi:type="dcterms:W3CDTF">2016-04-23T07:31:56Z</dcterms:created>
  <dcterms:modified xsi:type="dcterms:W3CDTF">2016-05-03T10:18:09Z</dcterms:modified>
</cp:coreProperties>
</file>