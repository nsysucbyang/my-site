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57" r:id="rId2"/>
    <p:sldId id="258" r:id="rId3"/>
    <p:sldId id="259" r:id="rId4"/>
    <p:sldId id="315" r:id="rId5"/>
    <p:sldId id="296" r:id="rId6"/>
    <p:sldId id="298" r:id="rId7"/>
    <p:sldId id="316" r:id="rId8"/>
    <p:sldId id="317" r:id="rId9"/>
    <p:sldId id="318" r:id="rId10"/>
    <p:sldId id="319" r:id="rId11"/>
    <p:sldId id="320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31" r:id="rId20"/>
    <p:sldId id="332" r:id="rId21"/>
    <p:sldId id="333" r:id="rId22"/>
    <p:sldId id="335" r:id="rId23"/>
    <p:sldId id="336" r:id="rId24"/>
    <p:sldId id="337" r:id="rId25"/>
    <p:sldId id="338" r:id="rId26"/>
  </p:sldIdLst>
  <p:sldSz cx="9144000" cy="6858000" type="screen4x3"/>
  <p:notesSz cx="6816725" cy="99441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9D0"/>
    <a:srgbClr val="FFCC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4338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4338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E2734-7699-4EF9-884B-AAC21663F783}" type="datetimeFigureOut">
              <a:rPr lang="zh-TW" altLang="en-US" smtClean="0"/>
              <a:t>2016/3/14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1243013"/>
            <a:ext cx="447357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1038" y="4786313"/>
            <a:ext cx="5454650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54338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60800" y="9445625"/>
            <a:ext cx="2954338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A0B9A-4F24-4307-B491-1A350913E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771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239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0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003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7930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9895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0440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486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0100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615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915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268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4482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95718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8812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9777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00430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7278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10245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61548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38339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62148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4024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2016/3/14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279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2016/3/14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919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2016/3/14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59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2016/3/14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70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2016/3/14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76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2016/3/14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524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2016/3/14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358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2016/3/14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69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2016/3/14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604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2016/3/14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059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2016/3/14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4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2016/3/14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33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786821" y="4978792"/>
            <a:ext cx="650818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prstClr val="black"/>
                </a:solidFill>
              </a:rPr>
              <a:t>Presenter: Tzu-Chiang Hsu </a:t>
            </a:r>
            <a:r>
              <a:rPr lang="zh-TW" altLang="en-US" sz="32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(</a:t>
            </a:r>
            <a:r>
              <a:rPr lang="zh-TW" altLang="en-US" sz="4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徐子強</a:t>
            </a:r>
            <a:r>
              <a:rPr lang="en-US" altLang="zh-TW" sz="3200" dirty="0">
                <a:solidFill>
                  <a:prstClr val="black"/>
                </a:solidFill>
              </a:rPr>
              <a:t>)</a:t>
            </a:r>
          </a:p>
          <a:p>
            <a:r>
              <a:rPr lang="en-US" altLang="zh-TW" sz="2500" dirty="0" smtClean="0">
                <a:solidFill>
                  <a:prstClr val="black"/>
                </a:solidFill>
              </a:rPr>
              <a:t>2016/03/14</a:t>
            </a:r>
            <a:endParaRPr lang="zh-TW" altLang="en-US" sz="2500" dirty="0">
              <a:solidFill>
                <a:prstClr val="black"/>
              </a:solidFill>
            </a:endParaRPr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585216" y="0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+mn-lt"/>
              </a:rPr>
              <a:t>Extracting Powers and Periods in a Word from </a:t>
            </a:r>
            <a:r>
              <a:rPr lang="en-US" altLang="zh-TW" sz="4000" dirty="0" smtClean="0">
                <a:latin typeface="+mn-lt"/>
              </a:rPr>
              <a:t>Its </a:t>
            </a:r>
            <a:r>
              <a:rPr lang="en-US" altLang="zh-TW" sz="4000" dirty="0">
                <a:latin typeface="+mn-lt"/>
              </a:rPr>
              <a:t>R</a:t>
            </a:r>
            <a:r>
              <a:rPr lang="en-US" altLang="zh-TW" sz="4000" dirty="0" smtClean="0">
                <a:latin typeface="+mn-lt"/>
              </a:rPr>
              <a:t>uns</a:t>
            </a:r>
            <a:endParaRPr lang="zh-TW" altLang="en-US" sz="4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9" name="副標題 2"/>
          <p:cNvSpPr txBox="1">
            <a:spLocks/>
          </p:cNvSpPr>
          <p:nvPr/>
        </p:nvSpPr>
        <p:spPr>
          <a:xfrm>
            <a:off x="0" y="238760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endParaRPr lang="pt-BR" altLang="zh-TW" sz="2000" dirty="0" smtClean="0">
              <a:solidFill>
                <a:prstClr val="black"/>
              </a:solidFill>
            </a:endParaRPr>
          </a:p>
          <a:p>
            <a:pPr fontAlgn="base"/>
            <a:r>
              <a:rPr lang="it-IT" altLang="zh-TW" dirty="0">
                <a:solidFill>
                  <a:prstClr val="black"/>
                </a:solidFill>
              </a:rPr>
              <a:t>M. Crochemore, C.S. Iliopoulos, M. </a:t>
            </a:r>
            <a:r>
              <a:rPr lang="it-IT" altLang="zh-TW" dirty="0" smtClean="0">
                <a:solidFill>
                  <a:prstClr val="black"/>
                </a:solidFill>
              </a:rPr>
              <a:t>Kubicad,</a:t>
            </a:r>
          </a:p>
          <a:p>
            <a:pPr fontAlgn="base"/>
            <a:r>
              <a:rPr lang="it-IT" altLang="zh-TW" dirty="0" smtClean="0">
                <a:solidFill>
                  <a:prstClr val="black"/>
                </a:solidFill>
              </a:rPr>
              <a:t>J</a:t>
            </a:r>
            <a:r>
              <a:rPr lang="it-IT" altLang="zh-TW" dirty="0">
                <a:solidFill>
                  <a:prstClr val="black"/>
                </a:solidFill>
              </a:rPr>
              <a:t>. Radoszewski, W. Rytter, T. </a:t>
            </a:r>
            <a:r>
              <a:rPr lang="it-IT" altLang="zh-TW" dirty="0" smtClean="0">
                <a:solidFill>
                  <a:prstClr val="black"/>
                </a:solidFill>
              </a:rPr>
              <a:t>Waleń</a:t>
            </a:r>
          </a:p>
          <a:p>
            <a:pPr fontAlgn="base"/>
            <a:endParaRPr lang="en-US" altLang="zh-TW" sz="1050" dirty="0">
              <a:solidFill>
                <a:prstClr val="black"/>
              </a:solidFill>
            </a:endParaRPr>
          </a:p>
          <a:p>
            <a:r>
              <a:rPr lang="en-US" altLang="zh-TW" dirty="0" smtClean="0"/>
              <a:t>Theoretical </a:t>
            </a:r>
            <a:r>
              <a:rPr lang="en-US" altLang="zh-TW" dirty="0"/>
              <a:t>Computer </a:t>
            </a:r>
            <a:r>
              <a:rPr lang="en-US" altLang="zh-TW" dirty="0" smtClean="0"/>
              <a:t>Science,</a:t>
            </a:r>
          </a:p>
          <a:p>
            <a:r>
              <a:rPr lang="en-US" altLang="zh-TW" dirty="0" smtClean="0"/>
              <a:t>Vol. 521, pp. 29 - 41 ( 2014 )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4061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(1/4)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breakthrough in the field of text algorithms was the discovery of the fact that the maximal number of runs in a word of length 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 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O(n)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that they can all be computed in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O(n) time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study some applications of this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result.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70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(2/4)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simpler O(n) time algorithms are presented for classical textual problems: computing all distinct 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 powers for a given 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particular squares for 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finding all local periods in a given word of length 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514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(3/4)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we present an efficient algorithm for testing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primitivity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factors of a word and computing their primitive roots. Applications of runs, despite their importance,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underrepresented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existing literature (approximately one page in the paper of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Kolpakov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Kucherov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1999 [25] and [26]).</a:t>
            </a:r>
          </a:p>
        </p:txBody>
      </p:sp>
    </p:spTree>
    <p:extLst>
      <p:ext uri="{BB962C8B-B14F-4D97-AF65-F5344CB8AC3E}">
        <p14:creationId xmlns:p14="http://schemas.microsoft.com/office/powerpoint/2010/main" val="249161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</a:t>
            </a:r>
            <a:r>
              <a:rPr lang="en-US" altLang="zh-TW" dirty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4</a:t>
            </a:r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/4)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 we attempt to fill in this gap. We use Lyndon words and introduce the Lyndon structure of runs as a useful tool when computing powers. In problems related to periods we use some versions of the Manhattan skyline problem.</a:t>
            </a:r>
          </a:p>
        </p:txBody>
      </p:sp>
    </p:spTree>
    <p:extLst>
      <p:ext uri="{BB962C8B-B14F-4D97-AF65-F5344CB8AC3E}">
        <p14:creationId xmlns:p14="http://schemas.microsoft.com/office/powerpoint/2010/main" val="310071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15381" y="2769817"/>
            <a:ext cx="805060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8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TW" altLang="en-US" sz="48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all local periods in a word</a:t>
            </a:r>
            <a:endParaRPr lang="en-US" altLang="zh-TW" sz="4800" b="0" cap="none" spc="0" dirty="0" smtClean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5381" y="907131"/>
            <a:ext cx="782297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8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TW" altLang="en-US" sz="48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all </a:t>
            </a:r>
            <a:r>
              <a:rPr lang="en-US" altLang="zh-TW" sz="4000" b="0" i="1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4000" b="0" cap="none" spc="0" dirty="0" err="1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powers in a word</a:t>
            </a:r>
          </a:p>
        </p:txBody>
      </p:sp>
      <p:sp>
        <p:nvSpPr>
          <p:cNvPr id="8" name="矩形 7"/>
          <p:cNvSpPr/>
          <p:nvPr/>
        </p:nvSpPr>
        <p:spPr>
          <a:xfrm>
            <a:off x="415381" y="4449537"/>
            <a:ext cx="563006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8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zh-TW" altLang="en-US" sz="48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Factor </a:t>
            </a:r>
            <a:r>
              <a:rPr lang="en-US" altLang="zh-TW" sz="4000" dirty="0" err="1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primitivity</a:t>
            </a:r>
            <a:r>
              <a:rPr lang="en-US" altLang="zh-TW" sz="40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query</a:t>
            </a:r>
            <a:endParaRPr lang="zh-TW" altLang="en-US" sz="4000" b="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9507" y="1755854"/>
            <a:ext cx="744146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dirty="0" err="1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Gusfield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( 2004 ) J. </a:t>
            </a:r>
            <a:r>
              <a:rPr lang="en-US" altLang="zh-TW" sz="2400" dirty="0" err="1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Syst. Sci.</a:t>
            </a:r>
          </a:p>
          <a:p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Linear </a:t>
            </a:r>
            <a:r>
              <a:rPr lang="en-US" altLang="zh-TW" sz="2400" dirty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algorithms for finding and 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representing</a:t>
            </a:r>
          </a:p>
          <a:p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all </a:t>
            </a:r>
            <a:r>
              <a:rPr lang="en-US" altLang="zh-TW" sz="2400" dirty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tandem repeats in a string</a:t>
            </a:r>
            <a:endParaRPr lang="zh-TW" altLang="en-US" sz="2400" b="0" cap="none" spc="0" dirty="0">
              <a:ln w="0"/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9507" y="3693147"/>
            <a:ext cx="613341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Duval </a:t>
            </a:r>
            <a:r>
              <a:rPr lang="en-US" altLang="zh-TW" sz="2400" i="1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( 2004 ) </a:t>
            </a:r>
            <a:r>
              <a:rPr lang="en-US" altLang="zh-TW" sz="2400" dirty="0" err="1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TW" sz="2400" dirty="0" err="1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Sci.</a:t>
            </a:r>
          </a:p>
          <a:p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Linear </a:t>
            </a:r>
            <a:r>
              <a:rPr lang="en-US" altLang="zh-TW" sz="2400" dirty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 of local periods</a:t>
            </a:r>
            <a:endParaRPr lang="zh-TW" altLang="en-US" sz="2400" b="0" cap="none" spc="0" dirty="0">
              <a:ln w="0"/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1814" y="5372867"/>
            <a:ext cx="845218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dirty="0" err="1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Kociumaka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( 2009 )</a:t>
            </a:r>
          </a:p>
          <a:p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Efficient </a:t>
            </a:r>
            <a:r>
              <a:rPr lang="en-US" altLang="zh-TW" sz="2400" dirty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for the Factor Periodicity Problem</a:t>
            </a:r>
            <a:endParaRPr lang="en-US" altLang="zh-TW" sz="2400" dirty="0" smtClean="0">
              <a:ln w="0"/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51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263379" y="878728"/>
            <a:ext cx="939263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40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Finding Maximal Repetitions in a Word in Linear Time</a:t>
            </a:r>
          </a:p>
        </p:txBody>
      </p:sp>
      <p:sp>
        <p:nvSpPr>
          <p:cNvPr id="9" name="矩形 8"/>
          <p:cNvSpPr/>
          <p:nvPr/>
        </p:nvSpPr>
        <p:spPr>
          <a:xfrm>
            <a:off x="742659" y="1664414"/>
            <a:ext cx="691791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 </a:t>
            </a:r>
            <a:r>
              <a:rPr lang="en-US" altLang="zh-TW" sz="2400" dirty="0" err="1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Kolpakov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G. </a:t>
            </a:r>
            <a:r>
              <a:rPr lang="en-US" altLang="zh-TW" sz="2400" dirty="0" err="1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Kucherov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( 1999 )</a:t>
            </a:r>
          </a:p>
          <a:p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Proceedings </a:t>
            </a:r>
            <a:r>
              <a:rPr lang="en-US" altLang="zh-TW" sz="2400" dirty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40th Annual Symposium 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r>
              <a:rPr lang="en-US" altLang="zh-TW" sz="2400" dirty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</a:t>
            </a:r>
            <a:r>
              <a:rPr lang="en-US" altLang="zh-TW" sz="2400" dirty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Computer </a:t>
            </a:r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endParaRPr lang="en-US" altLang="zh-TW" sz="2400" dirty="0">
              <a:ln w="0"/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3614384"/>
            <a:ext cx="699582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40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Detecting </a:t>
            </a:r>
            <a:r>
              <a:rPr lang="en-US" altLang="zh-TW" sz="31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Leftmost Maximal Periodicities</a:t>
            </a:r>
            <a:endParaRPr lang="en-US" altLang="zh-TW" sz="3100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42659" y="4394271"/>
            <a:ext cx="484684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dirty="0" smtClean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G. Main ( 1989 )</a:t>
            </a:r>
          </a:p>
          <a:p>
            <a:r>
              <a:rPr lang="en-US" altLang="zh-TW" sz="2400" dirty="0">
                <a:ln w="0"/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Discrete Applied Mathematics</a:t>
            </a:r>
          </a:p>
        </p:txBody>
      </p:sp>
    </p:spTree>
    <p:extLst>
      <p:ext uri="{BB962C8B-B14F-4D97-AF65-F5344CB8AC3E}">
        <p14:creationId xmlns:p14="http://schemas.microsoft.com/office/powerpoint/2010/main" val="10361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" y="1944070"/>
            <a:ext cx="8835888" cy="246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79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08" y="499318"/>
            <a:ext cx="8835888" cy="246333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002167" y="3333095"/>
            <a:ext cx="3122970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2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3, 10, 3 )</a:t>
            </a:r>
            <a:endParaRPr lang="en-US" altLang="zh-TW" sz="3200" dirty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altLang="zh-TW" sz="32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( 10, 17, 3 )</a:t>
            </a:r>
          </a:p>
          <a:p>
            <a:pPr algn="ctr"/>
            <a:r>
              <a:rPr lang="en-US" altLang="zh-TW" sz="32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( 17, 25, 3 )</a:t>
            </a:r>
          </a:p>
          <a:p>
            <a:pPr algn="ctr"/>
            <a:r>
              <a:rPr lang="en-US" altLang="zh-TW" sz="32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6, 14, 4 )</a:t>
            </a:r>
          </a:p>
          <a:p>
            <a:pPr algn="ctr"/>
            <a:r>
              <a:rPr lang="en-US" altLang="zh-TW" sz="32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( 13, 21, 4 )</a:t>
            </a:r>
          </a:p>
          <a:p>
            <a:pPr algn="ctr"/>
            <a:r>
              <a:rPr lang="en-US" altLang="zh-TW" sz="32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1, 24, 7 )</a:t>
            </a:r>
          </a:p>
        </p:txBody>
      </p:sp>
      <p:sp>
        <p:nvSpPr>
          <p:cNvPr id="4" name="橢圓 3"/>
          <p:cNvSpPr/>
          <p:nvPr/>
        </p:nvSpPr>
        <p:spPr>
          <a:xfrm>
            <a:off x="1051560" y="2157984"/>
            <a:ext cx="210312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2703576" y="3553968"/>
            <a:ext cx="210312" cy="2011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92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3291840" y="3333095"/>
            <a:ext cx="2530608" cy="1959657"/>
            <a:chOff x="3291840" y="3333095"/>
            <a:chExt cx="2530608" cy="1959657"/>
          </a:xfrm>
        </p:grpSpPr>
        <p:sp>
          <p:nvSpPr>
            <p:cNvPr id="12" name="橢圓 11"/>
            <p:cNvSpPr/>
            <p:nvPr/>
          </p:nvSpPr>
          <p:spPr>
            <a:xfrm>
              <a:off x="3291840" y="3333095"/>
              <a:ext cx="265176" cy="30175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5557272" y="4170376"/>
              <a:ext cx="265176" cy="30175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291840" y="4171088"/>
              <a:ext cx="265176" cy="3017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5557272" y="4991000"/>
              <a:ext cx="265176" cy="3017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412914" y="501684"/>
            <a:ext cx="424347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Lyndon words</a:t>
            </a:r>
            <a:endParaRPr lang="en-US" altLang="zh-TW" sz="6600" b="0" cap="none" spc="0" dirty="0" smtClean="0">
              <a:ln w="0"/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" y="1760676"/>
            <a:ext cx="8695944" cy="125057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139793" y="3011246"/>
            <a:ext cx="2855269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err="1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baaabaa</a:t>
            </a:r>
            <a:endParaRPr lang="en-US" altLang="zh-TW" sz="5400" dirty="0" smtClean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altLang="zh-TW" sz="5400" dirty="0" err="1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aaabaab</a:t>
            </a:r>
            <a:endParaRPr lang="zh-TW" altLang="en-US" sz="5400" dirty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altLang="zh-TW" sz="5400" dirty="0" err="1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aabaaba</a:t>
            </a:r>
            <a:endParaRPr lang="en-US" altLang="zh-TW" sz="5400" dirty="0" smtClean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 rot="5400000">
            <a:off x="4302784" y="5815537"/>
            <a:ext cx="77617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zh-TW" altLang="en-US" sz="2800" b="0" cap="none" spc="0" dirty="0">
              <a:ln w="0"/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7" name="直線接點 26"/>
          <p:cNvCxnSpPr/>
          <p:nvPr/>
        </p:nvCxnSpPr>
        <p:spPr>
          <a:xfrm>
            <a:off x="320040" y="2432304"/>
            <a:ext cx="242316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3194657" y="3765061"/>
            <a:ext cx="2776375" cy="20964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529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75449" y="519972"/>
            <a:ext cx="67153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Lyndon </a:t>
            </a:r>
            <a:r>
              <a:rPr lang="en-US" altLang="zh-TW" sz="44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representation</a:t>
            </a:r>
            <a:endParaRPr lang="en-US" altLang="zh-TW" sz="6000" b="0" cap="none" spc="0" dirty="0" smtClean="0">
              <a:ln w="0"/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" y="1760676"/>
            <a:ext cx="8695944" cy="125057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809082" y="3682874"/>
            <a:ext cx="360547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l-GR" altLang="zh-TW" sz="44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λ</a:t>
            </a:r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TW" sz="4400" b="0" cap="none" spc="0" dirty="0" err="1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aaabaab</a:t>
            </a:r>
            <a:endParaRPr lang="en-US" altLang="zh-TW" sz="4400" dirty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l-GR" altLang="zh-TW" sz="44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λ</a:t>
            </a:r>
            <a:r>
              <a:rPr lang="en-US" altLang="zh-TW" sz="4400" baseline="30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  <a:r>
              <a:rPr lang="el-GR" altLang="zh-TW" sz="44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λ</a:t>
            </a:r>
            <a:r>
              <a:rPr lang="en-US" altLang="zh-TW" sz="4400" baseline="30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l-GR" altLang="zh-TW" sz="44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l-GR" altLang="zh-TW" sz="44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λ</a:t>
            </a:r>
            <a:r>
              <a:rPr lang="en-US" altLang="zh-TW" sz="4400" baseline="-2500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(2)</a:t>
            </a:r>
            <a:endParaRPr lang="zh-TW" altLang="en-US" sz="4400" b="0" cap="none" spc="0" baseline="-25000" dirty="0">
              <a:ln w="0"/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0" name="直線接點 19"/>
          <p:cNvCxnSpPr/>
          <p:nvPr/>
        </p:nvCxnSpPr>
        <p:spPr>
          <a:xfrm>
            <a:off x="676656" y="2432304"/>
            <a:ext cx="242316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3099816" y="2017776"/>
            <a:ext cx="242316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5522976" y="2435352"/>
            <a:ext cx="242316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3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64" y="2633963"/>
            <a:ext cx="5444388" cy="151782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325033" y="1857497"/>
            <a:ext cx="2018501" cy="409342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2, 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4, 1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6, 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7,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9, 11,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13, 14,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16, 18,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20, 21,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23,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, 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3, 10, 3 )</a:t>
            </a:r>
            <a:endParaRPr lang="en-US" altLang="zh-TW" sz="2000" dirty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( 10, 17,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( 17, 25,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6, 14,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( 13, 21,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1, 24, 7 )</a:t>
            </a:r>
          </a:p>
        </p:txBody>
      </p:sp>
      <p:sp>
        <p:nvSpPr>
          <p:cNvPr id="7" name="矩形 6"/>
          <p:cNvSpPr/>
          <p:nvPr/>
        </p:nvSpPr>
        <p:spPr>
          <a:xfrm>
            <a:off x="161731" y="541371"/>
            <a:ext cx="818204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0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①</a:t>
            </a:r>
            <a:r>
              <a:rPr lang="zh-TW" altLang="en-US" sz="40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 all </a:t>
            </a:r>
            <a:r>
              <a:rPr lang="en-US" altLang="zh-TW" sz="3200" b="0" i="1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altLang="zh-TW" sz="3200" b="0" cap="none" spc="0" dirty="0" err="1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</a:t>
            </a:r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powers in a word</a:t>
            </a:r>
          </a:p>
        </p:txBody>
      </p:sp>
    </p:spTree>
    <p:extLst>
      <p:ext uri="{BB962C8B-B14F-4D97-AF65-F5344CB8AC3E}">
        <p14:creationId xmlns:p14="http://schemas.microsoft.com/office/powerpoint/2010/main" val="390305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1473" y="1596615"/>
            <a:ext cx="2018501" cy="409342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2, 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4, 1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6, 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7,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9, 11,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13, 14,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16, 18,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20, 21,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23,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, 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3, 10, 3 )</a:t>
            </a:r>
            <a:endParaRPr lang="en-US" altLang="zh-TW" sz="2000" dirty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( 10, 17,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( 17, 25,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6, 14,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( 13, 21,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1, 24, 7 )</a:t>
            </a:r>
          </a:p>
        </p:txBody>
      </p:sp>
      <p:sp>
        <p:nvSpPr>
          <p:cNvPr id="6" name="矩形 5"/>
          <p:cNvSpPr/>
          <p:nvPr/>
        </p:nvSpPr>
        <p:spPr>
          <a:xfrm>
            <a:off x="161731" y="541371"/>
            <a:ext cx="818204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0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①</a:t>
            </a:r>
            <a:r>
              <a:rPr lang="zh-TW" altLang="en-US" sz="40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 all </a:t>
            </a:r>
            <a:r>
              <a:rPr lang="en-US" altLang="zh-TW" sz="3200" b="0" i="1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altLang="zh-TW" sz="3200" b="0" cap="none" spc="0" dirty="0" err="1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</a:t>
            </a:r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powers in a word</a:t>
            </a:r>
          </a:p>
        </p:txBody>
      </p:sp>
      <p:sp>
        <p:nvSpPr>
          <p:cNvPr id="5" name="矩形 4"/>
          <p:cNvSpPr/>
          <p:nvPr/>
        </p:nvSpPr>
        <p:spPr>
          <a:xfrm>
            <a:off x="2312747" y="1481925"/>
            <a:ext cx="583525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200" b="0" cap="none" spc="0" dirty="0" err="1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baaabaabaaabaabaaabaabaab</a:t>
            </a:r>
            <a:endParaRPr lang="zh-TW" altLang="en-US" sz="3200" b="0" cap="none" spc="0" dirty="0">
              <a:ln w="0"/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452532"/>
              </p:ext>
            </p:extLst>
          </p:nvPr>
        </p:nvGraphicFramePr>
        <p:xfrm>
          <a:off x="2429261" y="2352483"/>
          <a:ext cx="6096000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765"/>
                <a:gridCol w="953334"/>
                <a:gridCol w="3319272"/>
                <a:gridCol w="1182629"/>
              </a:tblGrid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suffix array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longest common</a:t>
                      </a:r>
                      <a:r>
                        <a:rPr lang="en-US" altLang="zh-TW" baseline="0" dirty="0" smtClean="0"/>
                        <a:t> prefix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aaabaabaaabaabaaabaabaab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undef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aaabaabaa</a:t>
                      </a:r>
                      <a:r>
                        <a:rPr lang="en-US" altLang="zh-TW" dirty="0" err="1" smtClean="0"/>
                        <a:t>abaabaab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aaabaabaa</a:t>
                      </a:r>
                      <a:r>
                        <a:rPr lang="en-US" altLang="zh-TW" dirty="0" err="1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aabaaabaabaaabaabaab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aabaaabaabaab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aabaab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 rot="5400000">
            <a:off x="2512157" y="5487089"/>
            <a:ext cx="47054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zh-TW" altLang="en-US" b="0" cap="none" spc="0" dirty="0">
              <a:ln w="0"/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95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777587"/>
              </p:ext>
            </p:extLst>
          </p:nvPr>
        </p:nvGraphicFramePr>
        <p:xfrm>
          <a:off x="2465837" y="2690811"/>
          <a:ext cx="609600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765"/>
                <a:gridCol w="953334"/>
                <a:gridCol w="3319272"/>
                <a:gridCol w="1182629"/>
              </a:tblGrid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suffix array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longest common</a:t>
                      </a:r>
                      <a:r>
                        <a:rPr lang="en-US" altLang="zh-TW" baseline="0" dirty="0" smtClean="0"/>
                        <a:t> prefix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aaabaabaaabaabaaab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undef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accent6"/>
                          </a:solidFill>
                        </a:rPr>
                        <a:t>aaabaabaa</a:t>
                      </a:r>
                      <a:r>
                        <a:rPr lang="en-US" altLang="zh-TW" dirty="0" err="1" smtClean="0"/>
                        <a:t>abaabaab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16</a:t>
                      </a:r>
                      <a:endParaRPr lang="zh-TW" alt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accent6"/>
                          </a:solidFill>
                        </a:rPr>
                        <a:t>aaabaabaa</a:t>
                      </a:r>
                      <a:r>
                        <a:rPr lang="en-US" altLang="zh-TW" dirty="0" err="1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aabaab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aabaabaaabaabaaabaabaab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aabaabaaabaabaab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17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aabaabaab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24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171" y="521699"/>
            <a:ext cx="6558067" cy="182830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21473" y="2944784"/>
            <a:ext cx="2018501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3, 10, 3 )</a:t>
            </a:r>
            <a:endParaRPr lang="en-US" altLang="zh-TW" sz="2000" dirty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( 10, 17,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( 17, 25,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6, 14,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( 13, 21,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1, 24, 7 )</a:t>
            </a:r>
          </a:p>
        </p:txBody>
      </p:sp>
      <p:sp>
        <p:nvSpPr>
          <p:cNvPr id="11" name="橢圓 10"/>
          <p:cNvSpPr/>
          <p:nvPr/>
        </p:nvSpPr>
        <p:spPr>
          <a:xfrm>
            <a:off x="3465576" y="2194560"/>
            <a:ext cx="164592" cy="1554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227320" y="591312"/>
            <a:ext cx="164592" cy="1554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881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770960"/>
              </p:ext>
            </p:extLst>
          </p:nvPr>
        </p:nvGraphicFramePr>
        <p:xfrm>
          <a:off x="2465837" y="2690811"/>
          <a:ext cx="609600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765"/>
                <a:gridCol w="953334"/>
                <a:gridCol w="3319272"/>
                <a:gridCol w="1182629"/>
              </a:tblGrid>
              <a:tr h="370840"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suffix array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longest common</a:t>
                      </a:r>
                      <a:r>
                        <a:rPr lang="en-US" altLang="zh-TW" baseline="0" dirty="0" smtClean="0"/>
                        <a:t> prefix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aaabaabaaabaabaaab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undef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aaabaabaaabaabaab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aaabaabaab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aabaab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accent6"/>
                          </a:solidFill>
                        </a:rPr>
                        <a:t>aabaabaa</a:t>
                      </a:r>
                      <a:r>
                        <a:rPr lang="en-US" altLang="zh-TW" dirty="0" err="1" smtClean="0"/>
                        <a:t>abaabaaabaabaab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800" kern="12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accent6"/>
                          </a:solidFill>
                        </a:rPr>
                        <a:t>aabaabaa</a:t>
                      </a:r>
                      <a:r>
                        <a:rPr lang="en-US" altLang="zh-TW" dirty="0" err="1" smtClean="0"/>
                        <a:t>abaabaab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  <a:endParaRPr lang="zh-TW" altLang="en-US" sz="1800" kern="12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accent6"/>
                          </a:solidFill>
                        </a:rPr>
                        <a:t>aabaabaa</a:t>
                      </a:r>
                      <a:r>
                        <a:rPr lang="en-US" altLang="zh-TW" dirty="0" err="1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24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ab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171" y="521699"/>
            <a:ext cx="6558067" cy="182830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21473" y="2944784"/>
            <a:ext cx="2018501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3, 10, 3 )</a:t>
            </a:r>
            <a:endParaRPr lang="en-US" altLang="zh-TW" sz="2000" dirty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( 10, 17,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( 17, 25,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6, 14,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( 13, 21,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1, 24, 7 )</a:t>
            </a:r>
          </a:p>
        </p:txBody>
      </p:sp>
      <p:sp>
        <p:nvSpPr>
          <p:cNvPr id="11" name="橢圓 10"/>
          <p:cNvSpPr/>
          <p:nvPr/>
        </p:nvSpPr>
        <p:spPr>
          <a:xfrm>
            <a:off x="1901952" y="1691640"/>
            <a:ext cx="164592" cy="1554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691128" y="1917192"/>
            <a:ext cx="164592" cy="1554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5495549" y="1691640"/>
            <a:ext cx="164592" cy="1554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975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22243" y="2510135"/>
            <a:ext cx="700704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4000" b="0" cap="none" spc="600" dirty="0" err="1" smtClean="0">
                <a:ln w="0"/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</a:t>
            </a:r>
            <a:r>
              <a:rPr lang="en-US" altLang="zh-TW" sz="4000" b="0" cap="none" spc="600" dirty="0" err="1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</a:t>
            </a:r>
            <a:r>
              <a:rPr lang="en-US" altLang="zh-TW" sz="4000" b="0" cap="none" spc="600" dirty="0" err="1" smtClean="0">
                <a:ln w="0"/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</a:t>
            </a:r>
            <a:r>
              <a:rPr lang="en-US" altLang="zh-TW" sz="4000" b="0" cap="none" spc="600" dirty="0" err="1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</a:t>
            </a:r>
            <a:r>
              <a:rPr lang="en-US" altLang="zh-TW" sz="4000" b="0" cap="none" spc="600" dirty="0" err="1" smtClean="0">
                <a:ln w="0"/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</a:t>
            </a:r>
            <a:r>
              <a:rPr lang="en-US" altLang="zh-TW" sz="4000" b="0" cap="none" spc="600" dirty="0" err="1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</a:t>
            </a:r>
            <a:r>
              <a:rPr lang="en-US" altLang="zh-TW" sz="4000" b="0" cap="none" spc="600" dirty="0" err="1" smtClean="0">
                <a:ln w="0"/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</a:t>
            </a:r>
            <a:r>
              <a:rPr lang="en-US" altLang="zh-TW" sz="4000" b="0" cap="none" spc="600" dirty="0" err="1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</a:t>
            </a:r>
            <a:r>
              <a:rPr lang="en-US" altLang="zh-TW" sz="4000" b="0" cap="none" spc="600" dirty="0" err="1" smtClean="0">
                <a:ln w="0"/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</a:t>
            </a:r>
            <a:r>
              <a:rPr lang="en-US" altLang="zh-TW" sz="4000" b="0" cap="none" spc="600" dirty="0" err="1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lang="en-US" altLang="zh-TW" sz="4000" spc="600" dirty="0" smtClean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4000" b="0" cap="none" spc="600" dirty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4000" b="0" cap="none" spc="60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11111111111111</a:t>
            </a:r>
          </a:p>
          <a:p>
            <a:r>
              <a:rPr lang="en-US" altLang="zh-TW" sz="4000" spc="6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4000" spc="6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         11111111</a:t>
            </a:r>
          </a:p>
          <a:p>
            <a:r>
              <a:rPr lang="en-US" altLang="zh-TW" sz="4000" b="0" cap="none" spc="60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11</a:t>
            </a:r>
            <a:endParaRPr lang="zh-TW" altLang="en-US" sz="4000" b="0" cap="none" spc="600" dirty="0">
              <a:ln w="0"/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7596" y="1007715"/>
            <a:ext cx="7351693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Example:</a:t>
            </a:r>
          </a:p>
          <a:p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Compute all cubes in word (ab)</a:t>
            </a:r>
            <a:r>
              <a:rPr lang="en-US" altLang="zh-TW" sz="2800" b="0" cap="none" spc="0" baseline="3000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0811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492347"/>
            <a:ext cx="873187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②</a:t>
            </a:r>
            <a:r>
              <a:rPr lang="zh-TW" altLang="en-US" sz="32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32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Compute all local periods in a word</a:t>
            </a:r>
          </a:p>
        </p:txBody>
      </p:sp>
      <p:sp>
        <p:nvSpPr>
          <p:cNvPr id="4" name="矩形 3"/>
          <p:cNvSpPr/>
          <p:nvPr/>
        </p:nvSpPr>
        <p:spPr>
          <a:xfrm>
            <a:off x="288328" y="3305663"/>
            <a:ext cx="864050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0" dirty="0" err="1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baaa</a:t>
            </a:r>
            <a:r>
              <a:rPr lang="en-US" altLang="zh-TW" sz="4800" b="0" cap="none" spc="0" dirty="0" err="1" smtClean="0">
                <a:ln w="0"/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baa</a:t>
            </a:r>
            <a:r>
              <a:rPr lang="en-US" altLang="zh-TW" sz="4800" b="0" cap="none" spc="0" dirty="0" err="1" smtClean="0">
                <a:ln w="0"/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baa</a:t>
            </a:r>
            <a:r>
              <a:rPr lang="en-US" altLang="zh-TW" sz="4800" b="0" cap="none" spc="0" dirty="0" err="1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abaabaaabaabaab</a:t>
            </a:r>
            <a:endParaRPr lang="zh-TW" altLang="en-US" sz="4800" b="0" cap="none" spc="0" dirty="0">
              <a:ln w="0"/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7632" y="3927455"/>
            <a:ext cx="81708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4 1 1 7 3 1 </a:t>
            </a:r>
            <a:r>
              <a:rPr lang="en-US" altLang="zh-TW" sz="2400" b="0" cap="none" spc="0" dirty="0" smtClean="0">
                <a:ln w="0"/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7 1 1 7 3 1 3 7 1 1   3 1 3 3 1 3</a:t>
            </a:r>
            <a:endParaRPr lang="zh-TW" altLang="en-US" sz="2400" b="0" cap="none" spc="0" dirty="0">
              <a:ln w="0"/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51120" y="3989010"/>
            <a:ext cx="40908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600" b="0" cap="none" spc="0" dirty="0" smtClean="0">
                <a:ln w="0"/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24</a:t>
            </a:r>
            <a:endParaRPr lang="zh-TW" altLang="en-US" sz="1600" b="0" cap="none" spc="0" dirty="0">
              <a:ln w="0"/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27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21220" y="1154019"/>
            <a:ext cx="5936240" cy="403187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lang="en-US" altLang="zh-TW" sz="32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ocal period:</a:t>
            </a:r>
          </a:p>
          <a:p>
            <a:r>
              <a:rPr lang="en-US" altLang="zh-TW" sz="32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TW" altLang="en-US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TW" altLang="en-US" sz="32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sz="32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nternal,</a:t>
            </a:r>
          </a:p>
          <a:p>
            <a:endParaRPr lang="en-US" altLang="zh-TW" sz="3200" dirty="0" smtClean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zh-TW" sz="3200" dirty="0" smtClean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32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TW" sz="24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②</a:t>
            </a:r>
            <a:r>
              <a:rPr lang="en-US" altLang="zh-TW" sz="32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One-side-external,</a:t>
            </a:r>
          </a:p>
          <a:p>
            <a:endParaRPr lang="en-US" altLang="zh-TW" sz="3200" dirty="0" smtClean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zh-TW" sz="3200" dirty="0" smtClean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32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TW" sz="24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③</a:t>
            </a:r>
            <a:r>
              <a:rPr lang="en-US" altLang="zh-TW" sz="32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Both-side-external.</a:t>
            </a:r>
            <a:endParaRPr lang="en-US" altLang="zh-TW" sz="3200" dirty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98064" y="3795382"/>
            <a:ext cx="3072384" cy="4846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2798064" y="5396515"/>
            <a:ext cx="3072384" cy="4846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2798064" y="2404872"/>
            <a:ext cx="3072384" cy="4846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4" name="群組 13"/>
          <p:cNvGrpSpPr/>
          <p:nvPr/>
        </p:nvGrpSpPr>
        <p:grpSpPr>
          <a:xfrm>
            <a:off x="3364992" y="2473452"/>
            <a:ext cx="850392" cy="347472"/>
            <a:chOff x="5934456" y="2761488"/>
            <a:chExt cx="893009" cy="484632"/>
          </a:xfrm>
        </p:grpSpPr>
        <p:sp>
          <p:nvSpPr>
            <p:cNvPr id="3" name="矩形 2"/>
            <p:cNvSpPr/>
            <p:nvPr/>
          </p:nvSpPr>
          <p:spPr>
            <a:xfrm>
              <a:off x="5934456" y="2761488"/>
              <a:ext cx="438912" cy="48463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>
                  <a:alpha val="6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6388553" y="2761488"/>
              <a:ext cx="438912" cy="48463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>
                  <a:alpha val="6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2514600" y="3859546"/>
            <a:ext cx="850392" cy="347472"/>
            <a:chOff x="5934456" y="2761488"/>
            <a:chExt cx="893009" cy="484632"/>
          </a:xfrm>
        </p:grpSpPr>
        <p:sp>
          <p:nvSpPr>
            <p:cNvPr id="16" name="矩形 15"/>
            <p:cNvSpPr/>
            <p:nvPr/>
          </p:nvSpPr>
          <p:spPr>
            <a:xfrm>
              <a:off x="5934456" y="2761488"/>
              <a:ext cx="438912" cy="48463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>
                  <a:alpha val="6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6388553" y="2761488"/>
              <a:ext cx="438912" cy="48463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>
                  <a:alpha val="6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2293620" y="5475483"/>
            <a:ext cx="4317482" cy="326695"/>
            <a:chOff x="1973580" y="5883067"/>
            <a:chExt cx="4317482" cy="326695"/>
          </a:xfrm>
        </p:grpSpPr>
        <p:sp>
          <p:nvSpPr>
            <p:cNvPr id="19" name="矩形 18"/>
            <p:cNvSpPr/>
            <p:nvPr/>
          </p:nvSpPr>
          <p:spPr>
            <a:xfrm>
              <a:off x="1973580" y="5883067"/>
              <a:ext cx="2158741" cy="32669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>
                  <a:alpha val="6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4132321" y="5883067"/>
              <a:ext cx="2158741" cy="32669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>
                  <a:alpha val="6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509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62619"/>
              </p:ext>
            </p:extLst>
          </p:nvPr>
        </p:nvGraphicFramePr>
        <p:xfrm>
          <a:off x="2566416" y="2311400"/>
          <a:ext cx="5852160" cy="296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08280"/>
                <a:gridCol w="27940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875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221473" y="1898367"/>
            <a:ext cx="2018501" cy="409342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2, 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4, 1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6, 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7,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9, 11,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13, 14,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16, 18,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20, 21,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23,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, 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 smtClean="0">
                <a:ln w="0"/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 3, 10, 3 )</a:t>
            </a:r>
            <a:endParaRPr lang="en-US" altLang="zh-TW" sz="2000" dirty="0">
              <a:ln w="0"/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( 10, 17,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( 17, 25,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6, 14,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( 13, 21,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1, 24, 7 )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510566"/>
              </p:ext>
            </p:extLst>
          </p:nvPr>
        </p:nvGraphicFramePr>
        <p:xfrm>
          <a:off x="2691690" y="5075936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6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solidFill>
                          <a:schemeClr val="accent6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6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solidFill>
                          <a:schemeClr val="accent6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6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solidFill>
                          <a:schemeClr val="accent6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6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solidFill>
                          <a:schemeClr val="accent6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6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solidFill>
                          <a:schemeClr val="accent6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6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solidFill>
                          <a:schemeClr val="accent6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6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solidFill>
                          <a:schemeClr val="accent6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6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solidFill>
                          <a:schemeClr val="accent6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202382"/>
              </p:ext>
            </p:extLst>
          </p:nvPr>
        </p:nvGraphicFramePr>
        <p:xfrm>
          <a:off x="2423007" y="2137664"/>
          <a:ext cx="405384" cy="29738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384"/>
              </a:tblGrid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230723" y="899659"/>
            <a:ext cx="51139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dirty="0" err="1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Mantattan</a:t>
            </a:r>
            <a:r>
              <a:rPr lang="en-US" altLang="zh-TW" sz="28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Skyline Problem</a:t>
            </a:r>
            <a:endParaRPr lang="en-US" altLang="zh-TW" sz="4000" dirty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66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638717"/>
              </p:ext>
            </p:extLst>
          </p:nvPr>
        </p:nvGraphicFramePr>
        <p:xfrm>
          <a:off x="2566416" y="2311400"/>
          <a:ext cx="5852160" cy="296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"/>
                <a:gridCol w="243840"/>
                <a:gridCol w="243840"/>
                <a:gridCol w="243840"/>
                <a:gridCol w="243840"/>
                <a:gridCol w="243840"/>
                <a:gridCol w="259080"/>
                <a:gridCol w="228600"/>
                <a:gridCol w="243840"/>
                <a:gridCol w="243840"/>
                <a:gridCol w="243840"/>
                <a:gridCol w="208280"/>
                <a:gridCol w="27940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875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>
                      <a:noFill/>
                    </a:lnT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>
                      <a:noFill/>
                    </a:ln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221473" y="1898367"/>
            <a:ext cx="2018501" cy="409342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2, 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4, 1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6, 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7,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9, 11,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13, 14,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16, 18,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20, 21,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23,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, 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3, 10,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( 10, 17,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( 17, 25,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6, 14,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( 13, 21,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1, 24, 7 )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189592"/>
              </p:ext>
            </p:extLst>
          </p:nvPr>
        </p:nvGraphicFramePr>
        <p:xfrm>
          <a:off x="2691690" y="5075936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202382"/>
              </p:ext>
            </p:extLst>
          </p:nvPr>
        </p:nvGraphicFramePr>
        <p:xfrm>
          <a:off x="2423007" y="2137664"/>
          <a:ext cx="405384" cy="29738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384"/>
              </a:tblGrid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230723" y="899659"/>
            <a:ext cx="51139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dirty="0" err="1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Mantattan</a:t>
            </a:r>
            <a:r>
              <a:rPr lang="en-US" altLang="zh-TW" sz="28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Skyline Problem</a:t>
            </a:r>
            <a:endParaRPr lang="en-US" altLang="zh-TW" sz="4000" dirty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571684"/>
              </p:ext>
            </p:extLst>
          </p:nvPr>
        </p:nvGraphicFramePr>
        <p:xfrm>
          <a:off x="2831286" y="5397529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accent6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800" kern="1200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800" kern="1200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800" kern="1200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800" kern="1200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TW" altLang="en-US" sz="1800" kern="1200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2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dirty="0">
                        <a:solidFill>
                          <a:schemeClr val="accent2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accent6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accent6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12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144515"/>
              </p:ext>
            </p:extLst>
          </p:nvPr>
        </p:nvGraphicFramePr>
        <p:xfrm>
          <a:off x="2566416" y="2311400"/>
          <a:ext cx="5852160" cy="296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"/>
                <a:gridCol w="243840"/>
                <a:gridCol w="243840"/>
                <a:gridCol w="243840"/>
                <a:gridCol w="243840"/>
                <a:gridCol w="243840"/>
                <a:gridCol w="259080"/>
                <a:gridCol w="228600"/>
                <a:gridCol w="243840"/>
                <a:gridCol w="243840"/>
                <a:gridCol w="243840"/>
                <a:gridCol w="208280"/>
                <a:gridCol w="27940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>
                      <a:noFill/>
                    </a:lnR>
                    <a:lnB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>
                      <a:noFill/>
                    </a:lnR>
                    <a:lnT w="3810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>
                      <a:noFill/>
                    </a:lnR>
                    <a:lnT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>
                      <a:noFill/>
                    </a:lnR>
                    <a:lnT w="381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87528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>
                      <a:noFill/>
                    </a:lnT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>
                      <a:noFill/>
                    </a:ln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221473" y="1898367"/>
            <a:ext cx="2018501" cy="409342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2, 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4, 1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6, </a:t>
            </a:r>
            <a:r>
              <a:rPr lang="zh-TW" altLang="en-US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7,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9, 11,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13, 14,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16, 18,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20, 21,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23, 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, 1</a:t>
            </a:r>
            <a:r>
              <a:rPr lang="zh-TW" altLang="en-US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0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3, 10,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( 10, 17,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( 17, 25, 3 )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6, 14,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( 13, 21, 4 )</a:t>
            </a:r>
          </a:p>
          <a:p>
            <a:pPr algn="ctr"/>
            <a:r>
              <a:rPr lang="en-US" altLang="zh-TW" sz="20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(  1, 24, 7 )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189592"/>
              </p:ext>
            </p:extLst>
          </p:nvPr>
        </p:nvGraphicFramePr>
        <p:xfrm>
          <a:off x="2691690" y="5075936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TW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202382"/>
              </p:ext>
            </p:extLst>
          </p:nvPr>
        </p:nvGraphicFramePr>
        <p:xfrm>
          <a:off x="2423007" y="2137664"/>
          <a:ext cx="405384" cy="29738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384"/>
              </a:tblGrid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  <a:tr h="371729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230723" y="899659"/>
            <a:ext cx="51139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dirty="0" err="1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Mantattan</a:t>
            </a:r>
            <a:r>
              <a:rPr lang="en-US" altLang="zh-TW" sz="28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Skyline Problem</a:t>
            </a:r>
            <a:endParaRPr lang="en-US" altLang="zh-TW" sz="4000" dirty="0">
              <a:ln w="0"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246498"/>
              </p:ext>
            </p:extLst>
          </p:nvPr>
        </p:nvGraphicFramePr>
        <p:xfrm>
          <a:off x="2831286" y="5397529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  <a:gridCol w="243840"/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∞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3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7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7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01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1810512" y="1536814"/>
            <a:ext cx="3072384" cy="4846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2" name="群組 21"/>
          <p:cNvGrpSpPr/>
          <p:nvPr/>
        </p:nvGrpSpPr>
        <p:grpSpPr>
          <a:xfrm>
            <a:off x="1527048" y="1600978"/>
            <a:ext cx="850392" cy="347472"/>
            <a:chOff x="5934456" y="2761488"/>
            <a:chExt cx="893009" cy="484632"/>
          </a:xfrm>
        </p:grpSpPr>
        <p:sp>
          <p:nvSpPr>
            <p:cNvPr id="23" name="矩形 22"/>
            <p:cNvSpPr/>
            <p:nvPr/>
          </p:nvSpPr>
          <p:spPr>
            <a:xfrm>
              <a:off x="5934456" y="2761488"/>
              <a:ext cx="438912" cy="48463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>
                  <a:alpha val="6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6388553" y="2761488"/>
              <a:ext cx="438912" cy="48463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>
                  <a:alpha val="6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552898" y="699623"/>
            <a:ext cx="449033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O</a:t>
            </a:r>
            <a:r>
              <a:rPr lang="en-US" altLang="zh-TW" sz="36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ne-side-external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99" y="2521432"/>
            <a:ext cx="8027902" cy="152936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98" y="4550779"/>
            <a:ext cx="4654504" cy="155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0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5133" y="699623"/>
            <a:ext cx="47436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zh-TW" sz="36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oth-side-external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75702" y="1565179"/>
            <a:ext cx="3072384" cy="4846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" name="群組 9"/>
          <p:cNvGrpSpPr/>
          <p:nvPr/>
        </p:nvGrpSpPr>
        <p:grpSpPr>
          <a:xfrm>
            <a:off x="971258" y="1644147"/>
            <a:ext cx="4317482" cy="326695"/>
            <a:chOff x="1973580" y="5883067"/>
            <a:chExt cx="4317482" cy="326695"/>
          </a:xfrm>
        </p:grpSpPr>
        <p:sp>
          <p:nvSpPr>
            <p:cNvPr id="11" name="矩形 10"/>
            <p:cNvSpPr/>
            <p:nvPr/>
          </p:nvSpPr>
          <p:spPr>
            <a:xfrm>
              <a:off x="1973580" y="5883067"/>
              <a:ext cx="2158741" cy="32669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>
                  <a:alpha val="6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4132321" y="5883067"/>
              <a:ext cx="2158741" cy="32669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tx1">
                  <a:alpha val="6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51" y="2585979"/>
            <a:ext cx="4700333" cy="326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8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58941" y="909935"/>
            <a:ext cx="170431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dirty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zh-TW" sz="36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order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2863589" y="2199239"/>
            <a:ext cx="4409823" cy="3578043"/>
            <a:chOff x="3073901" y="1860911"/>
            <a:chExt cx="4409823" cy="3578043"/>
          </a:xfrm>
        </p:grpSpPr>
        <p:sp>
          <p:nvSpPr>
            <p:cNvPr id="11" name="橢圓 10"/>
            <p:cNvSpPr/>
            <p:nvPr/>
          </p:nvSpPr>
          <p:spPr>
            <a:xfrm>
              <a:off x="5075791" y="3869294"/>
              <a:ext cx="2329542" cy="1569660"/>
            </a:xfrm>
            <a:prstGeom prst="ellipse">
              <a:avLst/>
            </a:prstGeom>
            <a:noFill/>
            <a:ln w="571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3608397" y="1860911"/>
              <a:ext cx="2329542" cy="1569660"/>
            </a:xfrm>
            <a:prstGeom prst="ellipse">
              <a:avLst/>
            </a:prstGeom>
            <a:noFill/>
            <a:ln w="571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5154182" y="1860911"/>
              <a:ext cx="2329542" cy="1569660"/>
            </a:xfrm>
            <a:prstGeom prst="ellipse">
              <a:avLst/>
            </a:prstGeom>
            <a:noFill/>
            <a:ln w="571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3073903" y="1860911"/>
              <a:ext cx="4195379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4800" spc="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TW" sz="4800" spc="6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TW" sz="4800" b="0" cap="none" spc="600" dirty="0" err="1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cgtcgtc</a:t>
              </a:r>
              <a:endParaRPr lang="en-US" altLang="zh-TW" sz="48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r>
                <a:rPr lang="en-US" altLang="zh-TW" sz="4800" spc="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TW" sz="4800" spc="6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TW" sz="4800" spc="600" dirty="0" err="1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ctgctgc</a:t>
              </a:r>
              <a:endParaRPr lang="zh-TW" altLang="en-US" sz="4800" b="0" cap="none" spc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073901" y="3807277"/>
              <a:ext cx="4195379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4800" b="0" cap="none" spc="6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en-US" altLang="zh-TW" sz="4800" b="0" cap="none" spc="600" dirty="0" err="1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cgtcgtc</a:t>
              </a:r>
              <a:endParaRPr lang="en-US" altLang="zh-TW" sz="48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r>
                <a:rPr lang="en-US" altLang="zh-TW" sz="4800" spc="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TW" sz="4800" spc="6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zh-TW" sz="4800" spc="600" dirty="0" err="1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ctgctgc</a:t>
              </a:r>
              <a:endParaRPr lang="zh-TW" altLang="en-US" sz="4800" b="0" cap="none" spc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橢圓 16"/>
            <p:cNvSpPr/>
            <p:nvPr/>
          </p:nvSpPr>
          <p:spPr>
            <a:xfrm>
              <a:off x="6669459" y="4000983"/>
              <a:ext cx="531223" cy="1375954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5315276" y="4000983"/>
              <a:ext cx="531223" cy="1375954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3987219" y="3966147"/>
              <a:ext cx="531223" cy="1375954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344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734851" y="938241"/>
            <a:ext cx="667362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0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zh-TW" altLang="en-US" sz="48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Factor </a:t>
            </a:r>
            <a:r>
              <a:rPr lang="en-US" altLang="zh-TW" sz="3600" dirty="0" err="1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primitivity</a:t>
            </a:r>
            <a:r>
              <a:rPr lang="en-US" altLang="zh-TW" sz="3600" dirty="0" smtClean="0">
                <a:ln w="0"/>
                <a:latin typeface="Consolas" panose="020B0609020204030204" pitchFamily="49" charset="0"/>
                <a:cs typeface="Consolas" panose="020B0609020204030204" pitchFamily="49" charset="0"/>
              </a:rPr>
              <a:t> query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1359"/>
            <a:ext cx="9144000" cy="312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5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1026</TotalTime>
  <Words>1284</Words>
  <Application>Microsoft Office PowerPoint</Application>
  <PresentationFormat>如螢幕大小 (4:3)</PresentationFormat>
  <Paragraphs>419</Paragraphs>
  <Slides>25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6" baseType="lpstr">
      <vt:lpstr>微軟正黑體</vt:lpstr>
      <vt:lpstr>新細明體</vt:lpstr>
      <vt:lpstr>Arial</vt:lpstr>
      <vt:lpstr>Calibri</vt:lpstr>
      <vt:lpstr>Calibri Light</vt:lpstr>
      <vt:lpstr>Consolas</vt:lpstr>
      <vt:lpstr>Courier New</vt:lpstr>
      <vt:lpstr>Ebrima</vt:lpstr>
      <vt:lpstr>Georgia</vt:lpstr>
      <vt:lpstr>Times New Roman</vt:lpstr>
      <vt:lpstr>1_Office 佈景主題</vt:lpstr>
      <vt:lpstr>Extracting Powers and Periods in a Word from Its Runs</vt:lpstr>
      <vt:lpstr>Abstract (1/4)</vt:lpstr>
      <vt:lpstr>Abstract (2/4)</vt:lpstr>
      <vt:lpstr>Abstract (3/4)</vt:lpstr>
      <vt:lpstr>Abstract (4/4)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M033040055</dc:creator>
  <cp:lastModifiedBy>pplab-class</cp:lastModifiedBy>
  <cp:revision>469</cp:revision>
  <cp:lastPrinted>2015-10-07T10:30:40Z</cp:lastPrinted>
  <dcterms:created xsi:type="dcterms:W3CDTF">2015-09-15T02:34:25Z</dcterms:created>
  <dcterms:modified xsi:type="dcterms:W3CDTF">2016-03-14T12:02:48Z</dcterms:modified>
</cp:coreProperties>
</file>