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6" r:id="rId8"/>
    <p:sldId id="268" r:id="rId9"/>
    <p:sldId id="269" r:id="rId10"/>
    <p:sldId id="270" r:id="rId11"/>
    <p:sldId id="262" r:id="rId12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103" d="100"/>
          <a:sy n="103" d="100"/>
        </p:scale>
        <p:origin x="234" y="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7E849-A6E3-4997-ACC1-22F3BB492578}" type="datetimeFigureOut">
              <a:rPr lang="zh-TW" altLang="en-US" smtClean="0"/>
              <a:t>2016/3/10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13E5F-D7DA-4F3E-9AD0-348A1096F1D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202306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7E849-A6E3-4997-ACC1-22F3BB492578}" type="datetimeFigureOut">
              <a:rPr lang="zh-TW" altLang="en-US" smtClean="0"/>
              <a:t>2016/3/10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13E5F-D7DA-4F3E-9AD0-348A1096F1D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519321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7E849-A6E3-4997-ACC1-22F3BB492578}" type="datetimeFigureOut">
              <a:rPr lang="zh-TW" altLang="en-US" smtClean="0"/>
              <a:t>2016/3/10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13E5F-D7DA-4F3E-9AD0-348A1096F1D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076512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7E849-A6E3-4997-ACC1-22F3BB492578}" type="datetimeFigureOut">
              <a:rPr lang="zh-TW" altLang="en-US" smtClean="0"/>
              <a:t>2016/3/10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13E5F-D7DA-4F3E-9AD0-348A1096F1D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306745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7E849-A6E3-4997-ACC1-22F3BB492578}" type="datetimeFigureOut">
              <a:rPr lang="zh-TW" altLang="en-US" smtClean="0"/>
              <a:t>2016/3/10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13E5F-D7DA-4F3E-9AD0-348A1096F1D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693995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7E849-A6E3-4997-ACC1-22F3BB492578}" type="datetimeFigureOut">
              <a:rPr lang="zh-TW" altLang="en-US" smtClean="0"/>
              <a:t>2016/3/10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13E5F-D7DA-4F3E-9AD0-348A1096F1D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883153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7E849-A6E3-4997-ACC1-22F3BB492578}" type="datetimeFigureOut">
              <a:rPr lang="zh-TW" altLang="en-US" smtClean="0"/>
              <a:t>2016/3/10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13E5F-D7DA-4F3E-9AD0-348A1096F1D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013954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7E849-A6E3-4997-ACC1-22F3BB492578}" type="datetimeFigureOut">
              <a:rPr lang="zh-TW" altLang="en-US" smtClean="0"/>
              <a:t>2016/3/10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13E5F-D7DA-4F3E-9AD0-348A1096F1D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145102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7E849-A6E3-4997-ACC1-22F3BB492578}" type="datetimeFigureOut">
              <a:rPr lang="zh-TW" altLang="en-US" smtClean="0"/>
              <a:t>2016/3/10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13E5F-D7DA-4F3E-9AD0-348A1096F1D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094842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7E849-A6E3-4997-ACC1-22F3BB492578}" type="datetimeFigureOut">
              <a:rPr lang="zh-TW" altLang="en-US" smtClean="0"/>
              <a:t>2016/3/10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13E5F-D7DA-4F3E-9AD0-348A1096F1D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154388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7E849-A6E3-4997-ACC1-22F3BB492578}" type="datetimeFigureOut">
              <a:rPr lang="zh-TW" altLang="en-US" smtClean="0"/>
              <a:t>2016/3/10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13E5F-D7DA-4F3E-9AD0-348A1096F1D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676970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47E849-A6E3-4997-ACC1-22F3BB492578}" type="datetimeFigureOut">
              <a:rPr lang="zh-TW" altLang="en-US" smtClean="0"/>
              <a:t>2016/3/10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F13E5F-D7DA-4F3E-9AD0-348A1096F1D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978380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764704"/>
            <a:ext cx="7772400" cy="1470025"/>
          </a:xfrm>
        </p:spPr>
        <p:txBody>
          <a:bodyPr>
            <a:noAutofit/>
          </a:bodyPr>
          <a:lstStyle/>
          <a:p>
            <a:r>
              <a:rPr lang="en-US" altLang="zh-TW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Longest Common Subsequence Algorithm Suitable for Similar Text Strings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539552" y="3886200"/>
            <a:ext cx="7992888" cy="1752600"/>
          </a:xfrm>
        </p:spPr>
        <p:txBody>
          <a:bodyPr>
            <a:normAutofit/>
          </a:bodyPr>
          <a:lstStyle/>
          <a:p>
            <a:r>
              <a:rPr lang="en-US" altLang="zh-TW" sz="20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Narao</a:t>
            </a:r>
            <a:r>
              <a:rPr lang="en-US" altLang="zh-TW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Nakatsu</a:t>
            </a:r>
            <a:r>
              <a:rPr lang="en-US" altLang="zh-TW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20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Yahiko</a:t>
            </a:r>
            <a:r>
              <a:rPr lang="en-US" altLang="zh-TW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Kambayashi</a:t>
            </a:r>
            <a:r>
              <a:rPr lang="en-US" altLang="zh-TW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Shuzo </a:t>
            </a:r>
            <a:r>
              <a:rPr lang="en-US" altLang="zh-TW" sz="20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Yajima</a:t>
            </a:r>
            <a:r>
              <a:rPr lang="en-US" altLang="zh-TW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altLang="zh-TW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altLang="zh-TW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Acta Informatica 18, 1982  </a:t>
            </a:r>
            <a:r>
              <a:rPr lang="pt-BR" altLang="zh-TW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pp</a:t>
            </a:r>
            <a:r>
              <a:rPr lang="pt-BR" altLang="zh-TW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.171 </a:t>
            </a:r>
            <a:r>
              <a:rPr lang="pt-BR" altLang="zh-TW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- 179</a:t>
            </a:r>
            <a:endParaRPr lang="zh-TW" alt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3078088" y="5315634"/>
            <a:ext cx="298782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Presenter</a:t>
            </a:r>
            <a:r>
              <a:rPr lang="zh-TW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Siang-</a:t>
            </a:r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Huai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Hung</a:t>
            </a:r>
          </a:p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Date</a:t>
            </a:r>
            <a:r>
              <a:rPr lang="zh-TW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2016/03/14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36403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492941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TW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algorithms for computing the longest common subsequence (LCS for short) are discussed. O(p n) algorithm and O(p(m -p) log n) algorithm [Hirschberg 1977] seem to be best among previously known algorithms, where p is the length of an LCS and m and n are the lengths of given two strings (m ≤ n). There are many applications where the expected length of an LCS is close to m.</a:t>
            </a:r>
          </a:p>
          <a:p>
            <a:pPr marL="0" indent="0">
              <a:buNone/>
            </a:pPr>
            <a:r>
              <a:rPr lang="en-US" altLang="zh-TW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 this paper, O(n(m-p)) algorithm is presented. When p is close to m (in other words, two given strings are similar), the algorithm presented here runs much faster than previously known algorithms.</a:t>
            </a:r>
            <a:endParaRPr lang="zh-TW" alt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14638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Definition(1/2)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556792"/>
            <a:ext cx="8229600" cy="4569371"/>
          </a:xfrm>
        </p:spPr>
        <p:txBody>
          <a:bodyPr/>
          <a:lstStyle/>
          <a:p>
            <a:pPr marL="0" indent="0">
              <a:buNone/>
            </a:pP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String A = A(1)A(2)…A(m) </a:t>
            </a:r>
            <a:b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String B = B(1)B(2)…B(n)</a:t>
            </a:r>
          </a:p>
          <a:p>
            <a:pPr marL="0" indent="0">
              <a:buNone/>
            </a:pPr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 and n denote the lengths of string a and b.</a:t>
            </a:r>
          </a:p>
          <a:p>
            <a:pPr marL="0" indent="0">
              <a:buNone/>
            </a:pP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Assumed m ≤ n.</a:t>
            </a:r>
          </a:p>
          <a:p>
            <a:pPr marL="0" indent="0">
              <a:buNone/>
            </a:pPr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64577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Definition(2/2)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/>
                          </a:rPr>
                          <m:t>𝐿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(j) denotes the largest h such that A(i)A(i+1)…A(m) and B(h)B(h+1)…B(n) have an LCS of length j.</a:t>
                </a:r>
              </a:p>
              <a:p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Example:</a:t>
                </a:r>
                <a:b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1234567         123456789</a:t>
                </a:r>
                <a:b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= </a:t>
                </a:r>
                <a:r>
                  <a:rPr lang="en-US" altLang="zh-TW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abcabad</a:t>
                </a: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B = </a:t>
                </a:r>
                <a:r>
                  <a:rPr lang="en-US" altLang="zh-TW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bdaabacca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/>
                </a:r>
                <a:b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/>
                          </a:rPr>
                          <m:t>𝐿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</a:rPr>
                          <m:t>7</m:t>
                        </m:r>
                      </m:sub>
                    </m:sSub>
                  </m:oMath>
                </a14:m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(1) = 2,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/>
                          </a:rPr>
                          <m:t>𝐿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</a:rPr>
                          <m:t>6</m:t>
                        </m:r>
                      </m:sub>
                    </m:sSub>
                  </m:oMath>
                </a14:m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(1) = 9,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/>
                          </a:rPr>
                          <m:t>𝐿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= 5, </a:t>
                </a:r>
                <a:r>
                  <a:rPr lang="en-US" altLang="zh-TW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/>
                </a:r>
                <a:br>
                  <a:rPr lang="en-US" altLang="zh-TW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/>
                          </a:rPr>
                          <m:t>𝐿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(5) = undefined</a:t>
                </a:r>
                <a:endPara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zh-TW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704" t="-188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655048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348680" y="692696"/>
                <a:ext cx="8795320" cy="5141168"/>
              </a:xfrm>
            </p:spPr>
            <p:txBody>
              <a:bodyPr/>
              <a:lstStyle/>
              <a:p>
                <a:r>
                  <a:rPr lang="en-US" altLang="zh-TW" dirty="0" smtClean="0"/>
                  <a:t>Lemma1:</a:t>
                </a:r>
                <a:r>
                  <a:rPr lang="zh-TW" altLang="en-US" dirty="0" smtClean="0"/>
                  <a:t> </a:t>
                </a:r>
                <a14:m>
                  <m:oMath xmlns:m="http://schemas.openxmlformats.org/officeDocument/2006/math">
                    <m:r>
                      <a:rPr lang="en-US" altLang="zh-TW" i="1" smtClean="0">
                        <a:latin typeface="Cambria Math"/>
                        <a:ea typeface="Cambria Math"/>
                      </a:rPr>
                      <m:t>∀</m:t>
                    </m:r>
                    <m:r>
                      <a:rPr lang="zh-TW" altLang="en-US" b="0" i="1" smtClean="0">
                        <a:latin typeface="Cambria Math"/>
                        <a:ea typeface="Cambria Math"/>
                      </a:rPr>
                      <m:t> </m:t>
                    </m:r>
                    <m:r>
                      <a:rPr lang="en-US" altLang="zh-TW" b="0" i="1" smtClean="0">
                        <a:latin typeface="Cambria Math"/>
                        <a:ea typeface="Cambria Math"/>
                      </a:rPr>
                      <m:t>𝑖</m:t>
                    </m:r>
                    <m:r>
                      <a:rPr lang="en-US" altLang="zh-TW" b="0" i="1" smtClean="0">
                        <a:latin typeface="Cambria Math"/>
                        <a:ea typeface="Cambria Math"/>
                      </a:rPr>
                      <m:t>∊</m:t>
                    </m:r>
                    <m:d>
                      <m:dPr>
                        <m:begChr m:val="["/>
                        <m:endChr m:val="]"/>
                        <m:ctrlPr>
                          <a:rPr lang="en-US" altLang="zh-TW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/>
                            <a:ea typeface="Cambria Math"/>
                          </a:rPr>
                          <m:t>1,</m:t>
                        </m:r>
                        <m:r>
                          <a:rPr lang="en-US" altLang="zh-TW" b="0" i="1" smtClean="0">
                            <a:latin typeface="Cambria Math"/>
                            <a:ea typeface="Cambria Math"/>
                          </a:rPr>
                          <m:t>𝑚</m:t>
                        </m:r>
                      </m:e>
                    </m:d>
                    <m:r>
                      <a:rPr lang="en-US" altLang="zh-TW" b="0" i="1" smtClean="0">
                        <a:latin typeface="Cambria Math"/>
                        <a:ea typeface="Cambria Math"/>
                      </a:rPr>
                      <m:t>,</m:t>
                    </m:r>
                  </m:oMath>
                </a14:m>
                <a:r>
                  <a:rPr lang="en-US" altLang="zh-TW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/>
                          </a:rPr>
                          <m:t>𝐿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TW" dirty="0" smtClean="0"/>
                  <a:t>(1) &gt;</a:t>
                </a:r>
                <a:r>
                  <a:rPr lang="zh-TW" altLang="en-US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/>
                          </a:rPr>
                          <m:t>𝐿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TW" dirty="0" smtClean="0"/>
                  <a:t>(2)</a:t>
                </a:r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&gt;</a:t>
                </a:r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… </a:t>
                </a:r>
              </a:p>
              <a:p>
                <a:r>
                  <a:rPr lang="en-US" altLang="zh-TW" dirty="0" smtClean="0"/>
                  <a:t>Lemma2:</a:t>
                </a:r>
                <a:r>
                  <a:rPr lang="zh-TW" altLang="en-US" dirty="0" smtClean="0"/>
                  <a:t> </a:t>
                </a:r>
                <a14:m>
                  <m:oMath xmlns:m="http://schemas.openxmlformats.org/officeDocument/2006/math">
                    <m:r>
                      <a:rPr lang="en-US" altLang="zh-TW" i="1" smtClean="0">
                        <a:latin typeface="Cambria Math"/>
                        <a:ea typeface="Cambria Math"/>
                      </a:rPr>
                      <m:t>∀</m:t>
                    </m:r>
                    <m:r>
                      <a:rPr lang="zh-TW" altLang="en-US" b="0" i="1" smtClean="0">
                        <a:latin typeface="Cambria Math"/>
                        <a:ea typeface="Cambria Math"/>
                      </a:rPr>
                      <m:t> </m:t>
                    </m:r>
                    <m:r>
                      <a:rPr lang="en-US" altLang="zh-TW" b="0" i="1" smtClean="0">
                        <a:latin typeface="Cambria Math"/>
                        <a:ea typeface="Cambria Math"/>
                      </a:rPr>
                      <m:t>𝑖</m:t>
                    </m:r>
                    <m:r>
                      <a:rPr lang="en-US" altLang="zh-TW" b="0" i="1" smtClean="0">
                        <a:latin typeface="Cambria Math"/>
                        <a:ea typeface="Cambria Math"/>
                      </a:rPr>
                      <m:t>∊</m:t>
                    </m:r>
                    <m:d>
                      <m:dPr>
                        <m:begChr m:val="["/>
                        <m:endChr m:val="]"/>
                        <m:ctrlPr>
                          <a:rPr lang="en-US" altLang="zh-TW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/>
                            <a:ea typeface="Cambria Math"/>
                          </a:rPr>
                          <m:t>1,</m:t>
                        </m:r>
                        <m:r>
                          <a:rPr lang="en-US" altLang="zh-TW" b="0" i="1" smtClean="0">
                            <a:latin typeface="Cambria Math"/>
                            <a:ea typeface="Cambria Math"/>
                          </a:rPr>
                          <m:t>𝑚</m:t>
                        </m:r>
                        <m:r>
                          <a:rPr lang="en-US" altLang="zh-TW" b="0" i="1" smtClean="0">
                            <a:latin typeface="Cambria Math"/>
                            <a:ea typeface="Cambria Math"/>
                          </a:rPr>
                          <m:t>−1</m:t>
                        </m:r>
                      </m:e>
                    </m:d>
                    <m:r>
                      <a:rPr lang="en-US" altLang="zh-TW" b="0" i="1" smtClean="0">
                        <a:latin typeface="Cambria Math"/>
                        <a:ea typeface="Cambria Math"/>
                      </a:rPr>
                      <m:t>,</m:t>
                    </m:r>
                    <m:r>
                      <a:rPr lang="en-US" altLang="zh-TW" i="1" smtClean="0">
                        <a:latin typeface="Cambria Math"/>
                        <a:ea typeface="Cambria Math"/>
                      </a:rPr>
                      <m:t>∀</m:t>
                    </m:r>
                    <m:r>
                      <a:rPr lang="zh-TW" altLang="en-US" b="0" i="1" smtClean="0">
                        <a:latin typeface="Cambria Math"/>
                        <a:ea typeface="Cambria Math"/>
                      </a:rPr>
                      <m:t> </m:t>
                    </m:r>
                    <m:r>
                      <a:rPr lang="en-US" altLang="zh-TW" b="0" i="1" smtClean="0">
                        <a:latin typeface="Cambria Math"/>
                        <a:ea typeface="Cambria Math"/>
                      </a:rPr>
                      <m:t>𝑗</m:t>
                    </m:r>
                    <m:r>
                      <a:rPr lang="en-US" altLang="zh-TW" b="0" i="1" smtClean="0">
                        <a:latin typeface="Cambria Math"/>
                        <a:ea typeface="Cambria Math"/>
                      </a:rPr>
                      <m:t>∊</m:t>
                    </m:r>
                    <m:d>
                      <m:dPr>
                        <m:begChr m:val="["/>
                        <m:endChr m:val="]"/>
                        <m:ctrlPr>
                          <a:rPr lang="en-US" altLang="zh-TW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/>
                            <a:ea typeface="Cambria Math"/>
                          </a:rPr>
                          <m:t>1,</m:t>
                        </m:r>
                        <m:r>
                          <a:rPr lang="en-US" altLang="zh-TW" b="0" i="1" smtClean="0">
                            <a:latin typeface="Cambria Math"/>
                            <a:ea typeface="Cambria Math"/>
                          </a:rPr>
                          <m:t>𝑚</m:t>
                        </m:r>
                      </m:e>
                    </m:d>
                    <m:r>
                      <a:rPr lang="en-US" altLang="zh-TW" b="0" i="1" smtClean="0">
                        <a:latin typeface="Cambria Math"/>
                        <a:ea typeface="Cambria Math"/>
                      </a:rPr>
                      <m:t>,</m:t>
                    </m:r>
                  </m:oMath>
                </a14:m>
                <a:r>
                  <a:rPr lang="en-US" altLang="zh-TW" b="0" i="1" dirty="0" smtClean="0">
                    <a:latin typeface="Cambria Math"/>
                    <a:ea typeface="Cambria Math"/>
                  </a:rPr>
                  <a:t/>
                </a:r>
                <a:br>
                  <a:rPr lang="en-US" altLang="zh-TW" b="0" i="1" dirty="0" smtClean="0">
                    <a:latin typeface="Cambria Math"/>
                    <a:ea typeface="Cambria Math"/>
                  </a:rPr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/>
                          </a:rPr>
                          <m:t>𝐿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</a:rPr>
                          <m:t>𝑖</m:t>
                        </m:r>
                        <m:r>
                          <a:rPr lang="en-US" altLang="zh-TW" b="0" i="1" smtClean="0">
                            <a:latin typeface="Cambria Math"/>
                          </a:rPr>
                          <m:t>+1</m:t>
                        </m:r>
                      </m:sub>
                    </m:sSub>
                    <m:r>
                      <a:rPr lang="en-US" altLang="zh-TW" b="0" i="1" smtClean="0">
                        <a:latin typeface="Cambria Math"/>
                      </a:rPr>
                      <m:t>(</m:t>
                    </m:r>
                    <m:r>
                      <a:rPr lang="en-US" altLang="zh-TW" b="0" i="1" smtClean="0">
                        <a:latin typeface="Cambria Math"/>
                      </a:rPr>
                      <m:t>𝑗</m:t>
                    </m:r>
                    <m:r>
                      <a:rPr lang="en-US" altLang="zh-TW" b="0" i="1" smtClean="0">
                        <a:latin typeface="Cambria Math"/>
                      </a:rPr>
                      <m:t>)≤</m:t>
                    </m:r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/>
                          </a:rPr>
                          <m:t>𝐿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a:rPr lang="en-US" altLang="zh-TW" b="0" i="1" smtClean="0">
                        <a:latin typeface="Cambria Math"/>
                      </a:rPr>
                      <m:t>(</m:t>
                    </m:r>
                    <m:r>
                      <a:rPr lang="en-US" altLang="zh-TW" b="0" i="1" smtClean="0">
                        <a:latin typeface="Cambria Math"/>
                      </a:rPr>
                      <m:t>𝑗</m:t>
                    </m:r>
                    <m:r>
                      <a:rPr lang="en-US" altLang="zh-TW" b="0" i="1" smtClean="0">
                        <a:latin typeface="Cambria Math"/>
                      </a:rPr>
                      <m:t>)</m:t>
                    </m:r>
                  </m:oMath>
                </a14:m>
                <a:endParaRPr lang="en-US" altLang="zh-TW" dirty="0" smtClean="0"/>
              </a:p>
              <a:p>
                <a:r>
                  <a:rPr lang="en-US" altLang="zh-TW" dirty="0" smtClean="0"/>
                  <a:t>Lemma3:</a:t>
                </a:r>
                <a:br>
                  <a:rPr lang="en-US" altLang="zh-TW" dirty="0" smtClean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600" b="0" i="1" smtClean="0">
                            <a:latin typeface="Cambria Math"/>
                          </a:rPr>
                          <m:t>𝐿</m:t>
                        </m:r>
                      </m:e>
                      <m:sub>
                        <m:r>
                          <a:rPr lang="en-US" altLang="zh-TW" sz="2600" b="0" i="1" smtClean="0">
                            <a:latin typeface="Cambria Math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altLang="zh-TW" sz="2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600" b="0" i="1" smtClean="0">
                            <a:latin typeface="Cambria Math"/>
                          </a:rPr>
                          <m:t>𝑗</m:t>
                        </m:r>
                      </m:e>
                    </m:d>
                    <m:r>
                      <a:rPr lang="en-US" altLang="zh-TW" sz="2600" b="0" i="1" smtClean="0">
                        <a:latin typeface="Cambria Math"/>
                        <a:ea typeface="Cambria Math"/>
                      </a:rPr>
                      <m:t>= </m:t>
                    </m:r>
                    <m:d>
                      <m:dPr>
                        <m:begChr m:val="{"/>
                        <m:endChr m:val=""/>
                        <m:ctrlPr>
                          <a:rPr lang="en-US" altLang="zh-TW" sz="2600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TW" sz="2600" b="0" i="1" smtClean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eqArrPr>
                          <m:e>
                            <m:r>
                              <m:rPr>
                                <m:sty m:val="p"/>
                              </m:rPr>
                              <a:rPr lang="en-US" altLang="zh-TW" sz="2600" b="0" i="0" smtClean="0">
                                <a:latin typeface="Cambria Math"/>
                                <a:ea typeface="Cambria Math"/>
                              </a:rPr>
                              <m:t>Max</m:t>
                            </m:r>
                            <m:d>
                              <m:dPr>
                                <m:ctrlPr>
                                  <a:rPr lang="en-US" altLang="zh-TW" sz="2600" b="0" i="1" smtClean="0">
                                    <a:latin typeface="Cambria Math" panose="02040503050406030204" pitchFamily="18" charset="0"/>
                                    <a:ea typeface="Cambria Math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TW" sz="2600" b="0" i="0" smtClean="0">
                                    <a:latin typeface="Cambria Math"/>
                                    <a:ea typeface="Cambria Math"/>
                                  </a:rPr>
                                  <m:t>h</m:t>
                                </m:r>
                                <m:r>
                                  <a:rPr lang="en-US" altLang="zh-TW" sz="2600" b="0" i="0" smtClean="0">
                                    <a:latin typeface="Cambria Math"/>
                                    <a:ea typeface="Cambria Math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altLang="zh-TW" sz="26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600" b="0" i="1" smtClean="0">
                                        <a:latin typeface="Cambria Math"/>
                                      </a:rPr>
                                      <m:t>𝐿</m:t>
                                    </m:r>
                                  </m:e>
                                  <m:sub>
                                    <m:r>
                                      <a:rPr lang="en-US" altLang="zh-TW" sz="2600" b="0" i="1" smtClean="0">
                                        <a:latin typeface="Cambria Math"/>
                                      </a:rPr>
                                      <m:t>𝑖</m:t>
                                    </m:r>
                                    <m:r>
                                      <a:rPr lang="en-US" altLang="zh-TW" sz="2600" b="0" i="1" smtClean="0">
                                        <a:latin typeface="Cambria Math"/>
                                      </a:rPr>
                                      <m:t>+1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zh-TW" sz="2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TW" sz="2600" b="0" i="1" smtClean="0">
                                        <a:latin typeface="Cambria Math"/>
                                      </a:rPr>
                                      <m:t>𝑗</m:t>
                                    </m:r>
                                  </m:e>
                                </m:d>
                              </m:e>
                            </m:d>
                            <m:r>
                              <a:rPr lang="en-US" altLang="zh-TW" sz="2600" b="0" i="0" smtClean="0">
                                <a:latin typeface="Cambria Math"/>
                                <a:ea typeface="Cambria Math"/>
                              </a:rPr>
                              <m:t>, </m:t>
                            </m:r>
                            <m:r>
                              <m:rPr>
                                <m:sty m:val="p"/>
                              </m:rPr>
                              <a:rPr lang="en-US" altLang="zh-TW" sz="2600" b="0" i="0" smtClean="0">
                                <a:latin typeface="Cambria Math"/>
                                <a:ea typeface="Cambria Math"/>
                              </a:rPr>
                              <m:t>where</m:t>
                            </m:r>
                            <m:r>
                              <a:rPr lang="en-US" altLang="zh-TW" sz="2600" b="0" i="1" smtClean="0">
                                <a:latin typeface="Cambria Math"/>
                                <a:ea typeface="Cambria Math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altLang="zh-TW" sz="2600" b="0" i="0" smtClean="0">
                                <a:latin typeface="Cambria Math"/>
                                <a:ea typeface="Cambria Math"/>
                              </a:rPr>
                              <m:t>h</m:t>
                            </m:r>
                            <m:r>
                              <a:rPr lang="en-US" altLang="zh-TW" sz="2600" b="0" i="0" smtClean="0">
                                <a:latin typeface="Cambria Math"/>
                                <a:ea typeface="Cambria Math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altLang="zh-TW" sz="2600" b="0" i="0" smtClean="0">
                                <a:latin typeface="Cambria Math"/>
                                <a:ea typeface="Cambria Math"/>
                              </a:rPr>
                              <m:t>is</m:t>
                            </m:r>
                            <m:r>
                              <a:rPr lang="en-US" altLang="zh-TW" sz="2600" b="0" i="0" smtClean="0">
                                <a:latin typeface="Cambria Math"/>
                                <a:ea typeface="Cambria Math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altLang="zh-TW" sz="2600" b="0" i="0" smtClean="0">
                                <a:latin typeface="Cambria Math"/>
                                <a:ea typeface="Cambria Math"/>
                              </a:rPr>
                              <m:t>the</m:t>
                            </m:r>
                            <m:r>
                              <a:rPr lang="en-US" altLang="zh-TW" sz="2600" b="0" i="0" smtClean="0">
                                <a:latin typeface="Cambria Math"/>
                                <a:ea typeface="Cambria Math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altLang="zh-TW" sz="2600" b="0" i="0" smtClean="0">
                                <a:latin typeface="Cambria Math"/>
                                <a:ea typeface="Cambria Math"/>
                              </a:rPr>
                              <m:t>largest</m:t>
                            </m:r>
                            <m:r>
                              <a:rPr lang="en-US" altLang="zh-TW" sz="2600" b="0" i="0" smtClean="0">
                                <a:latin typeface="Cambria Math"/>
                                <a:ea typeface="Cambria Math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altLang="zh-TW" sz="2600" b="0" i="0" smtClean="0">
                                <a:latin typeface="Cambria Math"/>
                                <a:ea typeface="Cambria Math"/>
                              </a:rPr>
                              <m:t>number</m:t>
                            </m:r>
                          </m:e>
                          <m:e>
                            <m:r>
                              <a:rPr lang="en-US" altLang="zh-TW" sz="2600" b="0" i="0" smtClean="0">
                                <a:latin typeface="Cambria Math"/>
                                <a:ea typeface="Cambria Math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altLang="zh-TW" sz="2600" b="0" i="0" smtClean="0">
                                <a:latin typeface="Cambria Math"/>
                                <a:ea typeface="Cambria Math"/>
                              </a:rPr>
                              <m:t>such</m:t>
                            </m:r>
                            <m:r>
                              <a:rPr lang="en-US" altLang="zh-TW" sz="2600" b="0" i="0" smtClean="0">
                                <a:latin typeface="Cambria Math"/>
                                <a:ea typeface="Cambria Math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altLang="zh-TW" sz="2600" b="0" i="0" smtClean="0">
                                <a:latin typeface="Cambria Math"/>
                                <a:ea typeface="Cambria Math"/>
                              </a:rPr>
                              <m:t>that</m:t>
                            </m:r>
                            <m:r>
                              <a:rPr lang="en-US" altLang="zh-TW" sz="2600" b="0" i="0" smtClean="0">
                                <a:latin typeface="Cambria Math"/>
                                <a:ea typeface="Cambria Math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altLang="zh-TW" sz="2600" b="0" i="0" smtClean="0">
                                <a:latin typeface="Cambria Math"/>
                                <a:ea typeface="Cambria Math"/>
                              </a:rPr>
                              <m:t>A</m:t>
                            </m:r>
                            <m:d>
                              <m:dPr>
                                <m:ctrlPr>
                                  <a:rPr lang="en-US" altLang="zh-TW" sz="2600" b="0" i="1" smtClean="0">
                                    <a:latin typeface="Cambria Math" panose="02040503050406030204" pitchFamily="18" charset="0"/>
                                    <a:ea typeface="Cambria Math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TW" sz="2600" b="0" i="0" smtClean="0">
                                    <a:latin typeface="Cambria Math"/>
                                    <a:ea typeface="Cambria Math"/>
                                  </a:rPr>
                                  <m:t>i</m:t>
                                </m:r>
                              </m:e>
                            </m:d>
                            <m:r>
                              <a:rPr lang="en-US" altLang="zh-TW" sz="2600" b="0" i="0" smtClean="0">
                                <a:latin typeface="Cambria Math"/>
                                <a:ea typeface="Cambria Math"/>
                              </a:rPr>
                              <m:t>=</m:t>
                            </m:r>
                            <m:r>
                              <m:rPr>
                                <m:sty m:val="p"/>
                              </m:rPr>
                              <a:rPr lang="en-US" altLang="zh-TW" sz="2600" b="0" i="0" smtClean="0">
                                <a:latin typeface="Cambria Math"/>
                                <a:ea typeface="Cambria Math"/>
                              </a:rPr>
                              <m:t>B</m:t>
                            </m:r>
                            <m:d>
                              <m:dPr>
                                <m:ctrlPr>
                                  <a:rPr lang="en-US" altLang="zh-TW" sz="2600" b="0" i="1" smtClean="0">
                                    <a:latin typeface="Cambria Math" panose="02040503050406030204" pitchFamily="18" charset="0"/>
                                    <a:ea typeface="Cambria Math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TW" sz="2600" b="0" i="0" smtClean="0">
                                    <a:latin typeface="Cambria Math"/>
                                    <a:ea typeface="Cambria Math"/>
                                  </a:rPr>
                                  <m:t>h</m:t>
                                </m:r>
                              </m:e>
                            </m:d>
                            <m:r>
                              <a:rPr lang="en-US" altLang="zh-TW" sz="2600" b="0" i="0" smtClean="0">
                                <a:latin typeface="Cambria Math"/>
                                <a:ea typeface="Cambria Math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altLang="zh-TW" sz="2600" b="0" i="0" smtClean="0">
                                <a:latin typeface="Cambria Math"/>
                                <a:ea typeface="Cambria Math"/>
                              </a:rPr>
                              <m:t>and</m:t>
                            </m:r>
                            <m:r>
                              <a:rPr lang="en-US" altLang="zh-TW" sz="2600" b="0" i="0" smtClean="0">
                                <a:latin typeface="Cambria Math"/>
                                <a:ea typeface="Cambria Math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altLang="zh-TW" sz="2600" b="0" i="0" smtClean="0">
                                <a:latin typeface="Cambria Math"/>
                                <a:ea typeface="Cambria Math"/>
                              </a:rPr>
                              <m:t>h</m:t>
                            </m:r>
                            <m:r>
                              <a:rPr lang="en-US" altLang="zh-TW" sz="2600" b="0" i="0" smtClean="0">
                                <a:latin typeface="Cambria Math"/>
                                <a:ea typeface="Cambria Math"/>
                              </a:rPr>
                              <m:t>&lt;</m:t>
                            </m:r>
                            <m:r>
                              <m:rPr>
                                <m:sty m:val="p"/>
                              </m:rPr>
                              <a:rPr lang="en-US" altLang="zh-TW" sz="2600" b="0" i="0" smtClean="0">
                                <a:latin typeface="Cambria Math"/>
                                <a:ea typeface="Cambria Math"/>
                              </a:rPr>
                              <m:t>range</m:t>
                            </m:r>
                          </m:e>
                          <m:e>
                            <m:r>
                              <m:rPr>
                                <m:sty m:val="p"/>
                              </m:rPr>
                              <a:rPr lang="en-US" altLang="zh-TW" sz="2600" b="0" i="0" smtClean="0">
                                <a:latin typeface="Cambria Math"/>
                                <a:ea typeface="Cambria Math"/>
                              </a:rPr>
                              <m:t>where</m:t>
                            </m:r>
                            <m:r>
                              <a:rPr lang="en-US" altLang="zh-TW" sz="2600" b="0" i="0" smtClean="0">
                                <a:latin typeface="Cambria Math"/>
                                <a:ea typeface="Cambria Math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altLang="zh-TW" sz="2600" b="0" i="0" smtClean="0">
                                <a:latin typeface="Cambria Math"/>
                                <a:ea typeface="Cambria Math"/>
                              </a:rPr>
                              <m:t>range</m:t>
                            </m:r>
                            <m:r>
                              <a:rPr lang="en-US" altLang="zh-TW" sz="2600" b="0" i="0" smtClean="0">
                                <a:latin typeface="Cambria Math"/>
                                <a:ea typeface="Cambria Math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en-US" altLang="zh-TW" sz="26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600" b="0" i="1" smtClean="0">
                                    <a:latin typeface="Cambria Math"/>
                                  </a:rPr>
                                  <m:t>𝐿</m:t>
                                </m:r>
                              </m:e>
                              <m:sub>
                                <m:r>
                                  <a:rPr lang="en-US" altLang="zh-TW" sz="2600" b="0" i="1" smtClean="0">
                                    <a:latin typeface="Cambria Math"/>
                                  </a:rPr>
                                  <m:t>𝑖</m:t>
                                </m:r>
                                <m:r>
                                  <a:rPr lang="en-US" altLang="zh-TW" sz="2600" b="0" i="1" smtClean="0">
                                    <a:latin typeface="Cambria Math"/>
                                  </a:rPr>
                                  <m:t>+1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zh-TW" sz="2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sz="2600" b="0" i="1" smtClean="0">
                                    <a:latin typeface="Cambria Math"/>
                                  </a:rPr>
                                  <m:t>𝑗</m:t>
                                </m:r>
                                <m:r>
                                  <a:rPr lang="en-US" altLang="zh-TW" sz="2600" b="0" i="1" smtClean="0">
                                    <a:latin typeface="Cambria Math"/>
                                  </a:rPr>
                                  <m:t>−1</m:t>
                                </m:r>
                              </m:e>
                            </m:d>
                            <m:r>
                              <m:rPr>
                                <m:sty m:val="p"/>
                              </m:rPr>
                              <a:rPr lang="en-US" altLang="zh-TW" sz="2600" b="0" i="0" smtClean="0">
                                <a:latin typeface="Cambria Math"/>
                              </a:rPr>
                              <m:t>if</m:t>
                            </m:r>
                            <m:r>
                              <a:rPr lang="en-US" altLang="zh-TW" sz="2600" b="0" i="0" smtClean="0">
                                <a:latin typeface="Cambria Math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altLang="zh-TW" sz="2600" b="0" i="0" smtClean="0">
                                <a:latin typeface="Cambria Math"/>
                              </a:rPr>
                              <m:t>j</m:t>
                            </m:r>
                            <m:r>
                              <a:rPr lang="en-US" altLang="zh-TW" sz="2600" b="0" i="1" smtClean="0">
                                <a:latin typeface="Cambria Math"/>
                                <a:ea typeface="Cambria Math"/>
                              </a:rPr>
                              <m:t>≥</m:t>
                            </m:r>
                            <m:r>
                              <a:rPr lang="en-US" altLang="zh-TW" sz="2600" b="0" i="0" smtClean="0">
                                <a:latin typeface="Cambria Math"/>
                                <a:ea typeface="Cambria Math"/>
                              </a:rPr>
                              <m:t>2</m:t>
                            </m:r>
                          </m:e>
                          <m:e>
                            <m:r>
                              <a:rPr lang="en-US" altLang="zh-TW" sz="2600" b="0" i="0" smtClean="0">
                                <a:latin typeface="Cambria Math"/>
                                <a:ea typeface="Cambria Math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altLang="zh-TW" sz="2600" b="0" i="0" smtClean="0">
                                <a:latin typeface="Cambria Math"/>
                                <a:ea typeface="Cambria Math"/>
                              </a:rPr>
                              <m:t>else</m:t>
                            </m:r>
                            <m:r>
                              <a:rPr lang="en-US" altLang="zh-TW" sz="2600" b="0" i="0" smtClean="0">
                                <a:latin typeface="Cambria Math"/>
                                <a:ea typeface="Cambria Math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altLang="zh-TW" sz="2600" b="0" i="0" smtClean="0">
                                <a:latin typeface="Cambria Math"/>
                                <a:ea typeface="Cambria Math"/>
                              </a:rPr>
                              <m:t>range</m:t>
                            </m:r>
                            <m:r>
                              <a:rPr lang="en-US" altLang="zh-TW" sz="2600" b="0" i="0" smtClean="0">
                                <a:latin typeface="Cambria Math"/>
                                <a:ea typeface="Cambria Math"/>
                              </a:rPr>
                              <m:t>=</m:t>
                            </m:r>
                            <m:r>
                              <m:rPr>
                                <m:sty m:val="p"/>
                              </m:rPr>
                              <a:rPr lang="en-US" altLang="zh-TW" sz="2600" b="0" i="0" smtClean="0">
                                <a:latin typeface="Cambria Math"/>
                                <a:ea typeface="Cambria Math"/>
                              </a:rPr>
                              <m:t>n</m:t>
                            </m:r>
                            <m:r>
                              <a:rPr lang="en-US" altLang="zh-TW" sz="2600" b="0" i="0" smtClean="0">
                                <a:latin typeface="Cambria Math"/>
                                <a:ea typeface="Cambria Math"/>
                              </a:rPr>
                              <m:t>+1</m:t>
                            </m:r>
                          </m:e>
                          <m:e>
                            <m:sSub>
                              <m:sSubPr>
                                <m:ctrlPr>
                                  <a:rPr lang="en-US" altLang="zh-TW" sz="26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600" b="0" i="1" smtClean="0">
                                    <a:latin typeface="Cambria Math"/>
                                  </a:rPr>
                                  <m:t>𝐿</m:t>
                                </m:r>
                              </m:e>
                              <m:sub>
                                <m:r>
                                  <a:rPr lang="en-US" altLang="zh-TW" sz="2600" b="0" i="1" smtClean="0">
                                    <a:latin typeface="Cambria Math"/>
                                  </a:rPr>
                                  <m:t>𝑖</m:t>
                                </m:r>
                                <m:r>
                                  <a:rPr lang="en-US" altLang="zh-TW" sz="2600" b="0" i="1" smtClean="0">
                                    <a:latin typeface="Cambria Math"/>
                                  </a:rPr>
                                  <m:t>+1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zh-TW" sz="2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sz="2600" b="0" i="1" smtClean="0">
                                    <a:latin typeface="Cambria Math"/>
                                  </a:rPr>
                                  <m:t>𝑗</m:t>
                                </m:r>
                              </m:e>
                            </m:d>
                            <m:r>
                              <a:rPr lang="en-US" altLang="zh-TW" sz="2600" b="0" i="0" smtClean="0">
                                <a:latin typeface="Cambria Math"/>
                              </a:rPr>
                              <m:t>, </m:t>
                            </m:r>
                            <m:r>
                              <m:rPr>
                                <m:sty m:val="p"/>
                              </m:rPr>
                              <a:rPr lang="en-US" altLang="zh-TW" sz="2600" b="0" i="0" smtClean="0">
                                <a:latin typeface="Cambria Math"/>
                              </a:rPr>
                              <m:t>if</m:t>
                            </m:r>
                            <m:r>
                              <a:rPr lang="en-US" altLang="zh-TW" sz="2600" b="0" i="0" smtClean="0">
                                <a:latin typeface="Cambria Math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altLang="zh-TW" sz="2600" b="0" i="0" smtClean="0">
                                <a:latin typeface="Cambria Math"/>
                              </a:rPr>
                              <m:t>no</m:t>
                            </m:r>
                            <m:r>
                              <a:rPr lang="en-US" altLang="zh-TW" sz="2600" b="0" i="0" smtClean="0">
                                <a:latin typeface="Cambria Math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altLang="zh-TW" sz="2600" b="0" i="0" smtClean="0">
                                <a:latin typeface="Cambria Math"/>
                              </a:rPr>
                              <m:t>such</m:t>
                            </m:r>
                            <m:r>
                              <a:rPr lang="en-US" altLang="zh-TW" sz="2600" b="0" i="0" smtClean="0">
                                <a:latin typeface="Cambria Math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altLang="zh-TW" sz="2600" b="0" i="0" smtClean="0">
                                <a:latin typeface="Cambria Math"/>
                              </a:rPr>
                              <m:t>h</m:t>
                            </m:r>
                            <m:r>
                              <a:rPr lang="en-US" altLang="zh-TW" sz="2600" b="0" i="0" smtClean="0">
                                <a:latin typeface="Cambria Math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altLang="zh-TW" sz="2600" b="0" i="0" smtClean="0">
                                <a:latin typeface="Cambria Math"/>
                              </a:rPr>
                              <m:t>exists</m:t>
                            </m:r>
                            <m:r>
                              <a:rPr lang="en-US" altLang="zh-TW" sz="2600" b="0" i="0" smtClean="0">
                                <a:latin typeface="Cambria Math"/>
                              </a:rPr>
                              <m:t>.                                      </m:t>
                            </m:r>
                          </m:e>
                        </m:eqArr>
                        <m:r>
                          <a:rPr lang="en-US" altLang="zh-TW" sz="2600" b="0" i="0" smtClean="0">
                            <a:latin typeface="Cambria Math"/>
                            <a:ea typeface="Cambria Math"/>
                          </a:rPr>
                          <m:t>  </m:t>
                        </m:r>
                      </m:e>
                    </m:d>
                  </m:oMath>
                </a14:m>
                <a:endParaRPr lang="en-US" altLang="zh-TW" sz="2600" dirty="0" smtClean="0"/>
              </a:p>
              <a:p>
                <a:endParaRPr lang="en-US" altLang="zh-TW" dirty="0" smtClean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48680" y="692696"/>
                <a:ext cx="8795320" cy="5141168"/>
              </a:xfrm>
              <a:blipFill rotWithShape="0">
                <a:blip r:embed="rId2"/>
                <a:stretch>
                  <a:fillRect l="-1594" t="-142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189264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22114"/>
          </a:xfrm>
        </p:spPr>
        <p:txBody>
          <a:bodyPr/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124744"/>
            <a:ext cx="8229600" cy="4857403"/>
          </a:xfrm>
        </p:spPr>
        <p:txBody>
          <a:bodyPr/>
          <a:lstStyle/>
          <a:p>
            <a:pPr marL="0" indent="0">
              <a:buNone/>
            </a:pP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TW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1234567        123456789</a:t>
            </a:r>
            <a:b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=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abcabad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B =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bdaabacca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2726503"/>
              </p:ext>
            </p:extLst>
          </p:nvPr>
        </p:nvGraphicFramePr>
        <p:xfrm>
          <a:off x="1043608" y="2273747"/>
          <a:ext cx="5472608" cy="370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4182"/>
                <a:gridCol w="554182"/>
                <a:gridCol w="554182"/>
                <a:gridCol w="554182"/>
                <a:gridCol w="554182"/>
                <a:gridCol w="554182"/>
                <a:gridCol w="554182"/>
                <a:gridCol w="554182"/>
                <a:gridCol w="554182"/>
                <a:gridCol w="484970"/>
              </a:tblGrid>
              <a:tr h="370840">
                <a:tc gridSpan="2">
                  <a:txBody>
                    <a:bodyPr/>
                    <a:lstStyle/>
                    <a:p>
                      <a:pPr algn="l"/>
                      <a:r>
                        <a:rPr lang="en-US" altLang="zh-TW" dirty="0" smtClean="0"/>
                        <a:t>           j</a:t>
                      </a:r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 gridSpan="2">
                  <a:txBody>
                    <a:bodyPr/>
                    <a:lstStyle/>
                    <a:p>
                      <a:r>
                        <a:rPr lang="en-US" altLang="zh-TW" dirty="0" smtClean="0"/>
                        <a:t> </a:t>
                      </a:r>
                      <a:r>
                        <a:rPr lang="en-US" altLang="zh-TW" dirty="0" err="1" smtClean="0"/>
                        <a:t>i</a:t>
                      </a:r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93329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22114"/>
          </a:xfrm>
        </p:spPr>
        <p:txBody>
          <a:bodyPr/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124744"/>
            <a:ext cx="8229600" cy="4857403"/>
          </a:xfrm>
        </p:spPr>
        <p:txBody>
          <a:bodyPr/>
          <a:lstStyle/>
          <a:p>
            <a:pPr marL="0" indent="0">
              <a:buNone/>
            </a:pP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TW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1234567        123456789</a:t>
            </a:r>
            <a:b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=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abcabad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B =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bdaabacca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2319180"/>
              </p:ext>
            </p:extLst>
          </p:nvPr>
        </p:nvGraphicFramePr>
        <p:xfrm>
          <a:off x="1043608" y="2276181"/>
          <a:ext cx="5472608" cy="370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4182"/>
                <a:gridCol w="554182"/>
                <a:gridCol w="554182"/>
                <a:gridCol w="554182"/>
                <a:gridCol w="554182"/>
                <a:gridCol w="554182"/>
                <a:gridCol w="554182"/>
                <a:gridCol w="554182"/>
                <a:gridCol w="554182"/>
                <a:gridCol w="484970"/>
              </a:tblGrid>
              <a:tr h="370840">
                <a:tc gridSpan="2">
                  <a:txBody>
                    <a:bodyPr/>
                    <a:lstStyle/>
                    <a:p>
                      <a:pPr algn="l"/>
                      <a:r>
                        <a:rPr lang="en-US" altLang="zh-TW" dirty="0" smtClean="0"/>
                        <a:t>           j</a:t>
                      </a:r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 gridSpan="2">
                  <a:txBody>
                    <a:bodyPr/>
                    <a:lstStyle/>
                    <a:p>
                      <a:r>
                        <a:rPr lang="en-US" altLang="zh-TW" dirty="0" smtClean="0"/>
                        <a:t> </a:t>
                      </a:r>
                      <a:r>
                        <a:rPr lang="en-US" altLang="zh-TW" dirty="0" err="1" smtClean="0"/>
                        <a:t>i</a:t>
                      </a:r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655787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22114"/>
          </a:xfrm>
        </p:spPr>
        <p:txBody>
          <a:bodyPr/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124744"/>
            <a:ext cx="8229600" cy="4857403"/>
          </a:xfrm>
        </p:spPr>
        <p:txBody>
          <a:bodyPr/>
          <a:lstStyle/>
          <a:p>
            <a:pPr marL="0" indent="0">
              <a:buNone/>
            </a:pP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TW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1234567        123456789</a:t>
            </a:r>
            <a:b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=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abcabad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B =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bdaabacca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2858494"/>
              </p:ext>
            </p:extLst>
          </p:nvPr>
        </p:nvGraphicFramePr>
        <p:xfrm>
          <a:off x="1043608" y="2273747"/>
          <a:ext cx="5472608" cy="370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4182"/>
                <a:gridCol w="554182"/>
                <a:gridCol w="554182"/>
                <a:gridCol w="554182"/>
                <a:gridCol w="554182"/>
                <a:gridCol w="554182"/>
                <a:gridCol w="554182"/>
                <a:gridCol w="554182"/>
                <a:gridCol w="554182"/>
                <a:gridCol w="484970"/>
              </a:tblGrid>
              <a:tr h="370840">
                <a:tc gridSpan="2">
                  <a:txBody>
                    <a:bodyPr/>
                    <a:lstStyle/>
                    <a:p>
                      <a:pPr algn="l"/>
                      <a:r>
                        <a:rPr lang="en-US" altLang="zh-TW" dirty="0" smtClean="0"/>
                        <a:t>           j</a:t>
                      </a:r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 gridSpan="2">
                  <a:txBody>
                    <a:bodyPr/>
                    <a:lstStyle/>
                    <a:p>
                      <a:r>
                        <a:rPr lang="en-US" altLang="zh-TW" dirty="0" smtClean="0"/>
                        <a:t> </a:t>
                      </a:r>
                      <a:r>
                        <a:rPr lang="en-US" altLang="zh-TW" dirty="0" err="1" smtClean="0"/>
                        <a:t>i</a:t>
                      </a:r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4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5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9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rgbClr val="00B050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rgbClr val="00B050"/>
                          </a:solidFill>
                        </a:rPr>
                        <a:t>2</a:t>
                      </a:r>
                      <a:endParaRPr lang="zh-TW" altLang="en-US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86493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22114"/>
          </a:xfrm>
        </p:spPr>
        <p:txBody>
          <a:bodyPr/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124744"/>
            <a:ext cx="7772400" cy="481631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TW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1234567        123456789</a:t>
            </a:r>
            <a:b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=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abcabad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B = </a:t>
            </a:r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bdaabacca</a:t>
            </a:r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TW" sz="2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3023864"/>
              </p:ext>
            </p:extLst>
          </p:nvPr>
        </p:nvGraphicFramePr>
        <p:xfrm>
          <a:off x="1043608" y="2283465"/>
          <a:ext cx="5472611" cy="38098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000"/>
                <a:gridCol w="553000"/>
                <a:gridCol w="553000"/>
                <a:gridCol w="553000"/>
                <a:gridCol w="553000"/>
                <a:gridCol w="553000"/>
                <a:gridCol w="553000"/>
                <a:gridCol w="553000"/>
                <a:gridCol w="553000"/>
                <a:gridCol w="495611"/>
              </a:tblGrid>
              <a:tr h="380983">
                <a:tc gridSpan="2">
                  <a:txBody>
                    <a:bodyPr/>
                    <a:lstStyle/>
                    <a:p>
                      <a:pPr algn="l"/>
                      <a:r>
                        <a:rPr lang="en-US" altLang="zh-TW" dirty="0" smtClean="0"/>
                        <a:t>           j</a:t>
                      </a:r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/>
                </a:tc>
              </a:tr>
              <a:tr h="380983">
                <a:tc gridSpan="2">
                  <a:txBody>
                    <a:bodyPr/>
                    <a:lstStyle/>
                    <a:p>
                      <a:r>
                        <a:rPr lang="en-US" altLang="zh-TW" dirty="0" smtClean="0"/>
                        <a:t> </a:t>
                      </a:r>
                      <a:r>
                        <a:rPr lang="en-US" altLang="zh-TW" dirty="0" err="1" smtClean="0"/>
                        <a:t>i</a:t>
                      </a:r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380983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380983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380983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4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rgbClr val="00B050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380983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6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rgbClr val="00B050"/>
                          </a:solidFill>
                        </a:rPr>
                        <a:t>4</a:t>
                      </a:r>
                      <a:endParaRPr lang="zh-TW" altLang="en-US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380983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9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rgbClr val="00B050"/>
                          </a:solidFill>
                        </a:rPr>
                        <a:t>5</a:t>
                      </a:r>
                      <a:endParaRPr lang="zh-TW" altLang="en-US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380983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rgbClr val="00B050"/>
                          </a:solidFill>
                        </a:rPr>
                        <a:t>9</a:t>
                      </a:r>
                      <a:endParaRPr lang="zh-TW" altLang="en-US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rgbClr val="00B050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380983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rgbClr val="00B050"/>
                          </a:solidFill>
                        </a:rPr>
                        <a:t>2</a:t>
                      </a:r>
                      <a:endParaRPr lang="zh-TW" altLang="en-US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380983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238441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22114"/>
          </a:xfrm>
        </p:spPr>
        <p:txBody>
          <a:bodyPr/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0" y="1083660"/>
            <a:ext cx="8229600" cy="485740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TW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zh-TW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1234567       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123456789</a:t>
            </a:r>
            <a:b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abcabad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B = </a:t>
            </a:r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bdaabacca</a:t>
            </a:r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B(1)B(4)B(5)B(9</a:t>
            </a:r>
            <a:r>
              <a:rPr lang="en-US" altLang="zh-TW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endParaRPr lang="en-US" altLang="zh-TW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=</a:t>
            </a:r>
            <a:r>
              <a:rPr lang="en-US" altLang="zh-TW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A(2)A(4)A(5)A(6)</a:t>
            </a:r>
            <a:endParaRPr lang="en-US" altLang="zh-TW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=</a:t>
            </a:r>
            <a:r>
              <a:rPr lang="en-US" altLang="zh-TW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baba</a:t>
            </a:r>
            <a:endParaRPr lang="en-US" altLang="zh-TW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3718966"/>
              </p:ext>
            </p:extLst>
          </p:nvPr>
        </p:nvGraphicFramePr>
        <p:xfrm>
          <a:off x="3129608" y="2420888"/>
          <a:ext cx="5328592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447"/>
                <a:gridCol w="538447"/>
                <a:gridCol w="538447"/>
                <a:gridCol w="538447"/>
                <a:gridCol w="538447"/>
                <a:gridCol w="538447"/>
                <a:gridCol w="538447"/>
                <a:gridCol w="538447"/>
                <a:gridCol w="538447"/>
                <a:gridCol w="482569"/>
              </a:tblGrid>
              <a:tr h="356596">
                <a:tc gridSpan="2">
                  <a:txBody>
                    <a:bodyPr/>
                    <a:lstStyle/>
                    <a:p>
                      <a:pPr algn="l"/>
                      <a:r>
                        <a:rPr lang="en-US" altLang="zh-TW" dirty="0" smtClean="0"/>
                        <a:t>           j</a:t>
                      </a:r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/>
                </a:tc>
              </a:tr>
              <a:tr h="356596">
                <a:tc gridSpan="2">
                  <a:txBody>
                    <a:bodyPr/>
                    <a:lstStyle/>
                    <a:p>
                      <a:r>
                        <a:rPr lang="en-US" altLang="zh-TW" dirty="0" smtClean="0"/>
                        <a:t> </a:t>
                      </a:r>
                      <a:r>
                        <a:rPr lang="en-US" altLang="zh-TW" dirty="0" err="1" smtClean="0"/>
                        <a:t>i</a:t>
                      </a:r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356596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rgbClr val="00B050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356596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rgbClr val="00B050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356596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rgbClr val="00B050"/>
                          </a:solidFill>
                        </a:rPr>
                        <a:t>4</a:t>
                      </a:r>
                      <a:endParaRPr lang="zh-TW" altLang="en-US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rgbClr val="00B050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356596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rgbClr val="00B050"/>
                          </a:solidFill>
                        </a:rPr>
                        <a:t>6</a:t>
                      </a:r>
                      <a:endParaRPr lang="zh-TW" altLang="en-US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rgbClr val="00B050"/>
                          </a:solidFill>
                        </a:rPr>
                        <a:t>4</a:t>
                      </a:r>
                      <a:endParaRPr lang="zh-TW" altLang="en-US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356596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rgbClr val="00B050"/>
                          </a:solidFill>
                        </a:rPr>
                        <a:t>9</a:t>
                      </a:r>
                      <a:endParaRPr lang="zh-TW" altLang="en-US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rgbClr val="00B050"/>
                          </a:solidFill>
                        </a:rPr>
                        <a:t>5</a:t>
                      </a:r>
                      <a:endParaRPr lang="zh-TW" altLang="en-US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356596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rgbClr val="00B050"/>
                          </a:solidFill>
                        </a:rPr>
                        <a:t>9</a:t>
                      </a:r>
                      <a:endParaRPr lang="zh-TW" altLang="en-US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rgbClr val="00B050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356596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rgbClr val="00B050"/>
                          </a:solidFill>
                        </a:rPr>
                        <a:t>2</a:t>
                      </a:r>
                      <a:endParaRPr lang="zh-TW" altLang="en-US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356596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橢圓 4"/>
          <p:cNvSpPr/>
          <p:nvPr/>
        </p:nvSpPr>
        <p:spPr>
          <a:xfrm>
            <a:off x="5793904" y="3573016"/>
            <a:ext cx="288032" cy="28803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橢圓 5"/>
          <p:cNvSpPr/>
          <p:nvPr/>
        </p:nvSpPr>
        <p:spPr>
          <a:xfrm>
            <a:off x="5289848" y="4293096"/>
            <a:ext cx="288032" cy="28803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橢圓 6"/>
          <p:cNvSpPr/>
          <p:nvPr/>
        </p:nvSpPr>
        <p:spPr>
          <a:xfrm>
            <a:off x="4713784" y="4653136"/>
            <a:ext cx="288032" cy="28803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橢圓 7"/>
          <p:cNvSpPr/>
          <p:nvPr/>
        </p:nvSpPr>
        <p:spPr>
          <a:xfrm>
            <a:off x="4209728" y="5013176"/>
            <a:ext cx="288032" cy="28803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008490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195736" y="2852936"/>
            <a:ext cx="4752528" cy="864096"/>
          </a:xfrm>
        </p:spPr>
        <p:txBody>
          <a:bodyPr/>
          <a:lstStyle/>
          <a:p>
            <a:pPr marL="0" indent="0" algn="ctr">
              <a:buNone/>
            </a:pP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Thanks for listening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51752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1145</TotalTime>
  <Words>367</Words>
  <Application>Microsoft Office PowerPoint</Application>
  <PresentationFormat>如螢幕大小 (4:3)</PresentationFormat>
  <Paragraphs>209</Paragraphs>
  <Slides>11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11</vt:i4>
      </vt:variant>
    </vt:vector>
  </HeadingPairs>
  <TitlesOfParts>
    <vt:vector size="17" baseType="lpstr">
      <vt:lpstr>新細明體</vt:lpstr>
      <vt:lpstr>Arial</vt:lpstr>
      <vt:lpstr>Calibri</vt:lpstr>
      <vt:lpstr>Cambria Math</vt:lpstr>
      <vt:lpstr>Times New Roman</vt:lpstr>
      <vt:lpstr>Office 佈景主題</vt:lpstr>
      <vt:lpstr>A Longest Common Subsequence Algorithm Suitable for Similar Text Strings</vt:lpstr>
      <vt:lpstr>Abstract</vt:lpstr>
      <vt:lpstr>Definition(1/2)</vt:lpstr>
      <vt:lpstr>Definition(2/2)</vt:lpstr>
      <vt:lpstr>PowerPoint 簡報</vt:lpstr>
      <vt:lpstr>Example</vt:lpstr>
      <vt:lpstr>Example</vt:lpstr>
      <vt:lpstr>Example</vt:lpstr>
      <vt:lpstr>Example</vt:lpstr>
      <vt:lpstr>Example</vt:lpstr>
      <vt:lpstr>PowerPoint 簡報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Longest Common Subsequence Algorithm Suitable for Similar Text Strings</dc:title>
  <dc:creator>yotsuki</dc:creator>
  <cp:lastModifiedBy>SiangHuai</cp:lastModifiedBy>
  <cp:revision>67</cp:revision>
  <dcterms:created xsi:type="dcterms:W3CDTF">2014-03-03T17:19:54Z</dcterms:created>
  <dcterms:modified xsi:type="dcterms:W3CDTF">2016-03-10T14:59:28Z</dcterms:modified>
</cp:coreProperties>
</file>