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90" y="-1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06C2FF-6DD3-4EFB-8621-AC8A3253EA1E}" type="datetimeFigureOut">
              <a:rPr lang="zh-TW" altLang="en-US" smtClean="0"/>
              <a:t>2012/11/27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873FB4C-9E04-4358-8DEC-37EEBD0BA875}" type="slidenum">
              <a:rPr lang="zh-TW" altLang="en-US" smtClean="0"/>
              <a:t>‹#›</a:t>
            </a:fld>
            <a:endParaRPr lang="zh-TW" altLang="en-US"/>
          </a:p>
        </p:txBody>
      </p:sp>
    </p:spTree>
    <p:extLst>
      <p:ext uri="{BB962C8B-B14F-4D97-AF65-F5344CB8AC3E}">
        <p14:creationId xmlns:p14="http://schemas.microsoft.com/office/powerpoint/2010/main" val="90499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75ADE4C-6CDA-4A88-ABE3-C35E2D0B1A22}" type="datetime1">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0CCFB27-FC2F-4076-B719-40626DE4A2A8}" type="datetime1">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AAAD9CB-EFE3-4C9E-825C-123643FD4448}" type="datetime1">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C1DD5A5-3629-412D-AEFA-F17F3DB38EAE}" type="datetime1">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CCACA66-BDCE-4243-8F9C-53DC55A8080A}" type="datetime1">
              <a:rPr lang="zh-TW" altLang="en-US" smtClean="0"/>
              <a:t>2012/11/27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1593C19-5799-4BAD-A481-DB25D677567C}" type="datetime1">
              <a:rPr lang="zh-TW" altLang="en-US" smtClean="0"/>
              <a:t>2012/11/27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3358621-C8D9-4B40-BFD5-B2E9DBAC2A7D}" type="datetime1">
              <a:rPr lang="zh-TW" altLang="en-US" smtClean="0"/>
              <a:t>2012/11/27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6ED653E-BDD2-475F-B1E9-830B87CD1491}" type="datetime1">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1189493-EB24-4DBB-8E38-A4AD35C99AB1}" type="datetime1">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C1F0955-7C2F-4916-9E80-F9917E99E33E}" type="datetime1">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537C82D-2BAE-4EFC-AF51-CD2C55BE3D13}" type="datetime1">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160A5-F8E3-4CF1-A3EF-3397A3F88DCB}" type="datetime1">
              <a:rPr lang="zh-TW" altLang="en-US" smtClean="0"/>
              <a:t>2012/11/27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Coloring large graphs based on independent set extraction </a:t>
            </a:r>
            <a:endParaRPr lang="zh-TW" altLang="en-US" dirty="0"/>
          </a:p>
        </p:txBody>
      </p:sp>
      <p:sp>
        <p:nvSpPr>
          <p:cNvPr id="3" name="副標題 2"/>
          <p:cNvSpPr>
            <a:spLocks noGrp="1"/>
          </p:cNvSpPr>
          <p:nvPr>
            <p:ph type="subTitle" idx="1"/>
          </p:nvPr>
        </p:nvSpPr>
        <p:spPr/>
        <p:txBody>
          <a:bodyPr>
            <a:normAutofit fontScale="70000" lnSpcReduction="20000"/>
          </a:bodyPr>
          <a:lstStyle/>
          <a:p>
            <a:r>
              <a:rPr lang="en-US" altLang="zh-TW" dirty="0" err="1"/>
              <a:t>Qinghua</a:t>
            </a:r>
            <a:r>
              <a:rPr lang="en-US" altLang="zh-TW" dirty="0"/>
              <a:t> </a:t>
            </a:r>
            <a:r>
              <a:rPr lang="en-US" altLang="zh-TW" dirty="0" smtClean="0"/>
              <a:t> Wu, Jin-Kao </a:t>
            </a:r>
            <a:r>
              <a:rPr lang="en-US" altLang="zh-TW" dirty="0" err="1" smtClean="0"/>
              <a:t>Hao</a:t>
            </a:r>
            <a:r>
              <a:rPr lang="en-US" altLang="zh-TW" dirty="0" smtClean="0"/>
              <a:t> </a:t>
            </a:r>
          </a:p>
          <a:p>
            <a:r>
              <a:rPr lang="en-US" altLang="zh-TW" dirty="0" smtClean="0"/>
              <a:t>Computers </a:t>
            </a:r>
            <a:r>
              <a:rPr lang="en-US" altLang="zh-TW" dirty="0"/>
              <a:t>&amp; Operations Research 39 (2012) </a:t>
            </a:r>
            <a:r>
              <a:rPr lang="en-US" altLang="zh-TW" dirty="0" smtClean="0"/>
              <a:t>283–290</a:t>
            </a:r>
          </a:p>
          <a:p>
            <a:r>
              <a:rPr lang="fr-FR" altLang="zh-TW" dirty="0">
                <a:solidFill>
                  <a:schemeClr val="tx1"/>
                </a:solidFill>
              </a:rPr>
              <a:t>Presenter: </a:t>
            </a:r>
            <a:r>
              <a:rPr lang="zh-TW" altLang="en-US" dirty="0">
                <a:solidFill>
                  <a:schemeClr val="tx1"/>
                </a:solidFill>
              </a:rPr>
              <a:t>許竣</a:t>
            </a:r>
            <a:r>
              <a:rPr lang="zh-TW" altLang="en-US" dirty="0" smtClean="0">
                <a:solidFill>
                  <a:schemeClr val="tx1"/>
                </a:solidFill>
              </a:rPr>
              <a:t>傑</a:t>
            </a:r>
            <a:endParaRPr lang="en-US" altLang="zh-TW" dirty="0" smtClean="0">
              <a:solidFill>
                <a:schemeClr val="tx1"/>
              </a:solidFill>
            </a:endParaRPr>
          </a:p>
          <a:p>
            <a:r>
              <a:rPr lang="fr-FR" altLang="zh-TW" dirty="0" smtClean="0">
                <a:solidFill>
                  <a:schemeClr val="tx1"/>
                </a:solidFill>
              </a:rPr>
              <a:t>2012/11/27</a:t>
            </a:r>
            <a:endParaRPr lang="zh-TW" altLang="en-US" dirty="0">
              <a:solidFill>
                <a:schemeClr val="tx1"/>
              </a:solidFill>
            </a:endParaRP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a:t>
            </a:fld>
            <a:endParaRPr lang="zh-TW" altLang="en-US"/>
          </a:p>
        </p:txBody>
      </p:sp>
    </p:spTree>
    <p:extLst>
      <p:ext uri="{BB962C8B-B14F-4D97-AF65-F5344CB8AC3E}">
        <p14:creationId xmlns:p14="http://schemas.microsoft.com/office/powerpoint/2010/main" val="4027295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a:t>This paper presents an effective approach (EXTRACOL) to coloring large graphs. The proposed approach uses a preprocessing method to extract large independent sets from the graph and a </a:t>
            </a:r>
            <a:r>
              <a:rPr lang="en-US" altLang="zh-TW" dirty="0" err="1"/>
              <a:t>memetic</a:t>
            </a:r>
            <a:r>
              <a:rPr lang="en-US" altLang="zh-TW" dirty="0"/>
              <a:t> algorithm to color the residual graph. Each preprocessing application identifies, with a dedicated </a:t>
            </a:r>
            <a:r>
              <a:rPr lang="en-US" altLang="zh-TW" dirty="0" err="1"/>
              <a:t>tabu</a:t>
            </a:r>
            <a:r>
              <a:rPr lang="en-US" altLang="zh-TW" dirty="0"/>
              <a:t> search algorithm, a number of pairwise disjoint independent sets of a given size in order to maximize the vertices removed from the graph. We evaluate EXTRACOL on the 11 largest graphs (with 1000 to 4000 vertices) of the DIMACS challenge benchmarks and show improved results for four very difficult graphs (DSJC1000.9, C2000.5, C2000.9, C4000.5). The behavior of the proposed algorithm is also analyzed.</a:t>
            </a: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2</a:t>
            </a:fld>
            <a:endParaRPr lang="zh-TW" altLang="en-US"/>
          </a:p>
        </p:txBody>
      </p:sp>
    </p:spTree>
    <p:extLst>
      <p:ext uri="{BB962C8B-B14F-4D97-AF65-F5344CB8AC3E}">
        <p14:creationId xmlns:p14="http://schemas.microsoft.com/office/powerpoint/2010/main" val="3651245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Problem to Solve</a:t>
            </a:r>
            <a:endParaRPr lang="zh-TW" altLang="en-US" dirty="0"/>
          </a:p>
        </p:txBody>
      </p:sp>
      <p:sp>
        <p:nvSpPr>
          <p:cNvPr id="3" name="內容版面配置區 2"/>
          <p:cNvSpPr>
            <a:spLocks noGrp="1"/>
          </p:cNvSpPr>
          <p:nvPr>
            <p:ph idx="1"/>
          </p:nvPr>
        </p:nvSpPr>
        <p:spPr/>
        <p:txBody>
          <a:bodyPr/>
          <a:lstStyle/>
          <a:p>
            <a:r>
              <a:rPr lang="en-US" altLang="zh-TW" dirty="0" smtClean="0"/>
              <a:t>Let G=(V,E), a legal k-coloring of </a:t>
            </a:r>
            <a:r>
              <a:rPr lang="en-US" altLang="zh-TW" dirty="0"/>
              <a:t>G corresponds to </a:t>
            </a:r>
            <a:r>
              <a:rPr lang="en-US" altLang="zh-TW" dirty="0" smtClean="0"/>
              <a:t>a partition of </a:t>
            </a:r>
            <a:r>
              <a:rPr lang="en-US" altLang="zh-TW" dirty="0"/>
              <a:t>V into k </a:t>
            </a:r>
            <a:r>
              <a:rPr lang="en-US" altLang="zh-TW" dirty="0" smtClean="0"/>
              <a:t>independent sets</a:t>
            </a:r>
          </a:p>
          <a:p>
            <a:r>
              <a:rPr lang="en-US" altLang="zh-TW" dirty="0"/>
              <a:t>V &gt;= </a:t>
            </a:r>
            <a:r>
              <a:rPr lang="en-US" altLang="zh-TW" dirty="0" smtClean="0"/>
              <a:t>1000</a:t>
            </a:r>
          </a:p>
          <a:p>
            <a:r>
              <a:rPr lang="en-US" altLang="zh-TW" dirty="0" smtClean="0"/>
              <a:t>Finding the smallest </a:t>
            </a:r>
            <a:r>
              <a:rPr lang="en-US" altLang="zh-TW" dirty="0"/>
              <a:t>k </a:t>
            </a:r>
            <a:r>
              <a:rPr lang="en-US" altLang="zh-TW" dirty="0" smtClean="0"/>
              <a:t>for a given graph G</a:t>
            </a:r>
          </a:p>
        </p:txBody>
      </p:sp>
      <p:pic>
        <p:nvPicPr>
          <p:cNvPr id="1026" name="Picture 2" descr="C:\Users\shiujj\Desktop\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365" y="3821542"/>
            <a:ext cx="3816424" cy="2748305"/>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t>3</a:t>
            </a:fld>
            <a:endParaRPr lang="zh-TW" altLang="en-US"/>
          </a:p>
        </p:txBody>
      </p:sp>
    </p:spTree>
    <p:extLst>
      <p:ext uri="{BB962C8B-B14F-4D97-AF65-F5344CB8AC3E}">
        <p14:creationId xmlns:p14="http://schemas.microsoft.com/office/powerpoint/2010/main" val="5818788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EXTRACOL Algorithm</a:t>
            </a:r>
            <a:endParaRPr lang="zh-TW" altLang="en-US" dirty="0"/>
          </a:p>
        </p:txBody>
      </p:sp>
      <p:sp>
        <p:nvSpPr>
          <p:cNvPr id="3" name="內容版面配置區 2"/>
          <p:cNvSpPr>
            <a:spLocks noGrp="1"/>
          </p:cNvSpPr>
          <p:nvPr>
            <p:ph idx="1"/>
          </p:nvPr>
        </p:nvSpPr>
        <p:spPr/>
        <p:txBody>
          <a:bodyPr/>
          <a:lstStyle/>
          <a:p>
            <a:r>
              <a:rPr lang="en-US" altLang="zh-TW" dirty="0" smtClean="0"/>
              <a:t>Two phases:</a:t>
            </a:r>
          </a:p>
          <a:p>
            <a:r>
              <a:rPr lang="en-US" altLang="zh-TW" dirty="0"/>
              <a:t>     </a:t>
            </a:r>
            <a:r>
              <a:rPr lang="en-US" altLang="zh-TW" dirty="0" smtClean="0"/>
              <a:t>a preprocessing phase</a:t>
            </a:r>
          </a:p>
          <a:p>
            <a:r>
              <a:rPr lang="en-US" altLang="zh-TW" dirty="0" smtClean="0"/>
              <a:t>     a coloring phase</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4</a:t>
            </a:fld>
            <a:endParaRPr lang="zh-TW" altLang="en-US"/>
          </a:p>
        </p:txBody>
      </p:sp>
    </p:spTree>
    <p:extLst>
      <p:ext uri="{BB962C8B-B14F-4D97-AF65-F5344CB8AC3E}">
        <p14:creationId xmlns:p14="http://schemas.microsoft.com/office/powerpoint/2010/main" val="33223595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Preprocessing Phase</a:t>
            </a:r>
            <a:r>
              <a:rPr lang="en-US" altLang="zh-TW" dirty="0"/>
              <a:t/>
            </a:r>
            <a:br>
              <a:rPr lang="en-US" altLang="zh-TW" dirty="0"/>
            </a:br>
            <a:endParaRPr lang="zh-TW" altLang="en-US" dirty="0"/>
          </a:p>
        </p:txBody>
      </p:sp>
      <p:sp>
        <p:nvSpPr>
          <p:cNvPr id="3" name="內容版面配置區 2"/>
          <p:cNvSpPr>
            <a:spLocks noGrp="1"/>
          </p:cNvSpPr>
          <p:nvPr>
            <p:ph idx="1"/>
          </p:nvPr>
        </p:nvSpPr>
        <p:spPr/>
        <p:txBody>
          <a:bodyPr/>
          <a:lstStyle/>
          <a:p>
            <a:r>
              <a:rPr lang="en-US" altLang="zh-TW" dirty="0" smtClean="0"/>
              <a:t>Find independent sets M={ I</a:t>
            </a:r>
            <a:r>
              <a:rPr lang="en-US" altLang="zh-TW" baseline="-25000" dirty="0" smtClean="0"/>
              <a:t>1</a:t>
            </a:r>
            <a:r>
              <a:rPr lang="en-US" altLang="zh-TW" dirty="0" smtClean="0"/>
              <a:t>,I</a:t>
            </a:r>
            <a:r>
              <a:rPr lang="en-US" altLang="zh-TW" baseline="-25000" dirty="0" smtClean="0"/>
              <a:t>2</a:t>
            </a:r>
            <a:r>
              <a:rPr lang="en-US" altLang="zh-TW" dirty="0" smtClean="0"/>
              <a:t>,….,I</a:t>
            </a:r>
            <a:r>
              <a:rPr lang="en-US" altLang="zh-TW" baseline="-25000" dirty="0" smtClean="0"/>
              <a:t>n</a:t>
            </a:r>
            <a:r>
              <a:rPr lang="en-US" altLang="zh-TW" dirty="0" smtClean="0"/>
              <a:t>  }, I</a:t>
            </a:r>
            <a:r>
              <a:rPr lang="en-US" altLang="zh-TW" baseline="-25000" dirty="0" smtClean="0"/>
              <a:t>i</a:t>
            </a:r>
            <a:r>
              <a:rPr lang="zh-TW" altLang="en-US" dirty="0"/>
              <a:t>≠</a:t>
            </a:r>
            <a:r>
              <a:rPr lang="en-US" altLang="zh-TW" dirty="0" err="1" smtClean="0"/>
              <a:t>I</a:t>
            </a:r>
            <a:r>
              <a:rPr lang="en-US" altLang="zh-TW" baseline="-25000" dirty="0" err="1" smtClean="0"/>
              <a:t>j</a:t>
            </a:r>
            <a:r>
              <a:rPr lang="en-US" altLang="zh-TW" dirty="0" smtClean="0"/>
              <a:t> </a:t>
            </a:r>
          </a:p>
          <a:p>
            <a:endParaRPr lang="en-US" altLang="zh-TW" dirty="0"/>
          </a:p>
          <a:p>
            <a:endParaRPr lang="en-US" altLang="zh-TW" dirty="0" smtClean="0"/>
          </a:p>
          <a:p>
            <a:endParaRPr lang="en-US" altLang="zh-TW" dirty="0"/>
          </a:p>
          <a:p>
            <a:endParaRPr lang="en-US" altLang="zh-TW" dirty="0" smtClean="0"/>
          </a:p>
          <a:p>
            <a:endParaRPr lang="en-US" altLang="zh-TW" dirty="0"/>
          </a:p>
          <a:p>
            <a:r>
              <a:rPr lang="en-US" altLang="zh-TW" dirty="0" smtClean="0"/>
              <a:t>I</a:t>
            </a:r>
            <a:r>
              <a:rPr lang="en-US" altLang="zh-TW" baseline="-25000" dirty="0" smtClean="0"/>
              <a:t>1 </a:t>
            </a:r>
            <a:r>
              <a:rPr lang="en-US" altLang="zh-TW" dirty="0" smtClean="0"/>
              <a:t>={1,5}, I</a:t>
            </a:r>
            <a:r>
              <a:rPr lang="en-US" altLang="zh-TW" baseline="-25000" dirty="0" smtClean="0"/>
              <a:t>2</a:t>
            </a:r>
            <a:r>
              <a:rPr lang="en-US" altLang="zh-TW" dirty="0" smtClean="0"/>
              <a:t>={2,3,4</a:t>
            </a:r>
            <a:r>
              <a:rPr lang="en-US" altLang="zh-TW" dirty="0" smtClean="0"/>
              <a:t>}, </a:t>
            </a:r>
            <a:r>
              <a:rPr lang="en-US" altLang="zh-TW" dirty="0" smtClean="0"/>
              <a:t>I</a:t>
            </a:r>
            <a:r>
              <a:rPr lang="en-US" altLang="zh-TW" baseline="-25000" dirty="0" smtClean="0"/>
              <a:t>3</a:t>
            </a:r>
            <a:r>
              <a:rPr lang="en-US" altLang="zh-TW" dirty="0" smtClean="0"/>
              <a:t>={4,5}</a:t>
            </a:r>
            <a:endParaRPr lang="en-US" altLang="zh-TW" dirty="0" smtClean="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5</a:t>
            </a:fld>
            <a:endParaRPr lang="zh-TW" altLang="en-US"/>
          </a:p>
        </p:txBody>
      </p:sp>
      <p:sp>
        <p:nvSpPr>
          <p:cNvPr id="5" name="橢圓 4"/>
          <p:cNvSpPr/>
          <p:nvPr/>
        </p:nvSpPr>
        <p:spPr>
          <a:xfrm>
            <a:off x="3275856" y="2564904"/>
            <a:ext cx="340798"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7" name="橢圓 6"/>
          <p:cNvSpPr/>
          <p:nvPr/>
        </p:nvSpPr>
        <p:spPr>
          <a:xfrm>
            <a:off x="1649840" y="4725144"/>
            <a:ext cx="340798"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8" name="橢圓 7"/>
          <p:cNvSpPr/>
          <p:nvPr/>
        </p:nvSpPr>
        <p:spPr>
          <a:xfrm>
            <a:off x="2411760" y="3501008"/>
            <a:ext cx="340798" cy="36004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0" name="橢圓 9"/>
          <p:cNvSpPr/>
          <p:nvPr/>
        </p:nvSpPr>
        <p:spPr>
          <a:xfrm>
            <a:off x="4034665" y="4193401"/>
            <a:ext cx="340798" cy="36004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11" name="橢圓 10"/>
          <p:cNvSpPr/>
          <p:nvPr/>
        </p:nvSpPr>
        <p:spPr>
          <a:xfrm>
            <a:off x="5004048" y="3068960"/>
            <a:ext cx="340798" cy="36004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cxnSp>
        <p:nvCxnSpPr>
          <p:cNvPr id="13" name="直線接點 12"/>
          <p:cNvCxnSpPr>
            <a:stCxn id="5" idx="3"/>
            <a:endCxn id="8" idx="7"/>
          </p:cNvCxnSpPr>
          <p:nvPr/>
        </p:nvCxnSpPr>
        <p:spPr>
          <a:xfrm flipH="1">
            <a:off x="2702649" y="2872217"/>
            <a:ext cx="623116" cy="681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8" idx="3"/>
            <a:endCxn id="7" idx="7"/>
          </p:cNvCxnSpPr>
          <p:nvPr/>
        </p:nvCxnSpPr>
        <p:spPr>
          <a:xfrm flipH="1">
            <a:off x="1940729" y="3808321"/>
            <a:ext cx="520940" cy="969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11" idx="2"/>
            <a:endCxn id="5" idx="5"/>
          </p:cNvCxnSpPr>
          <p:nvPr/>
        </p:nvCxnSpPr>
        <p:spPr>
          <a:xfrm flipH="1" flipV="1">
            <a:off x="3566745" y="2872217"/>
            <a:ext cx="1437303" cy="376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a:stCxn id="5" idx="4"/>
            <a:endCxn id="10" idx="0"/>
          </p:cNvCxnSpPr>
          <p:nvPr/>
        </p:nvCxnSpPr>
        <p:spPr>
          <a:xfrm>
            <a:off x="3446255" y="2924944"/>
            <a:ext cx="758809" cy="12684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957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ATS for </a:t>
            </a:r>
            <a:r>
              <a:rPr lang="en-US" altLang="zh-TW" dirty="0" smtClean="0"/>
              <a:t>Maximal </a:t>
            </a:r>
            <a:r>
              <a:rPr lang="en-US" altLang="zh-TW" dirty="0"/>
              <a:t>Independent </a:t>
            </a:r>
            <a:r>
              <a:rPr lang="en-US" altLang="zh-TW" dirty="0" smtClean="0"/>
              <a:t>Set</a:t>
            </a:r>
            <a:endParaRPr lang="zh-TW" altLang="en-US" sz="1800" dirty="0"/>
          </a:p>
        </p:txBody>
      </p:sp>
      <p:sp>
        <p:nvSpPr>
          <p:cNvPr id="3" name="內容版面配置區 2"/>
          <p:cNvSpPr>
            <a:spLocks noGrp="1"/>
          </p:cNvSpPr>
          <p:nvPr>
            <p:ph idx="1"/>
          </p:nvPr>
        </p:nvSpPr>
        <p:spPr/>
        <p:txBody>
          <a:bodyPr/>
          <a:lstStyle/>
          <a:p>
            <a:r>
              <a:rPr lang="en-US" altLang="zh-TW" sz="2800" dirty="0" smtClean="0"/>
              <a:t>G=(</a:t>
            </a:r>
            <a:r>
              <a:rPr lang="en-US" altLang="zh-TW" sz="2800" dirty="0"/>
              <a:t>V,E), </a:t>
            </a:r>
            <a:r>
              <a:rPr lang="el-GR" altLang="zh-TW" sz="2800" dirty="0" smtClean="0"/>
              <a:t>Ω</a:t>
            </a:r>
            <a:r>
              <a:rPr lang="en-US" altLang="zh-TW" sz="2800" dirty="0" smtClean="0"/>
              <a:t>={S</a:t>
            </a:r>
            <a:r>
              <a:rPr lang="zh-TW" altLang="en-US" sz="2800" dirty="0" smtClean="0"/>
              <a:t>⊂</a:t>
            </a:r>
            <a:r>
              <a:rPr lang="en-US" altLang="zh-TW" sz="2800" dirty="0" smtClean="0"/>
              <a:t>V: |S|=k} </a:t>
            </a:r>
            <a:endParaRPr lang="en-US" altLang="zh-TW" sz="2800" dirty="0" smtClean="0"/>
          </a:p>
          <a:p>
            <a:r>
              <a:rPr lang="en-US" altLang="zh-TW" sz="2800" dirty="0" smtClean="0"/>
              <a:t>Let </a:t>
            </a:r>
            <a:r>
              <a:rPr lang="en-US" altLang="zh-TW" sz="2800" dirty="0" err="1" smtClean="0"/>
              <a:t>G</a:t>
            </a:r>
            <a:r>
              <a:rPr lang="en-US" altLang="zh-TW" sz="2800" baseline="-25000" dirty="0" err="1" smtClean="0"/>
              <a:t>s</a:t>
            </a:r>
            <a:r>
              <a:rPr lang="en-US" altLang="zh-TW" sz="2800" dirty="0" smtClean="0"/>
              <a:t>={S,E</a:t>
            </a:r>
            <a:r>
              <a:rPr lang="en-US" altLang="zh-TW" sz="2800" baseline="-25000" dirty="0" smtClean="0"/>
              <a:t>s</a:t>
            </a:r>
            <a:r>
              <a:rPr lang="en-US" altLang="zh-TW" sz="2800" dirty="0" smtClean="0"/>
              <a:t>},</a:t>
            </a:r>
            <a:r>
              <a:rPr lang="en-US" altLang="zh-TW" sz="2800" dirty="0"/>
              <a:t> </a:t>
            </a:r>
            <a:r>
              <a:rPr lang="en-US" altLang="zh-TW" sz="2800" dirty="0" err="1" smtClean="0"/>
              <a:t>E</a:t>
            </a:r>
            <a:r>
              <a:rPr lang="en-US" altLang="zh-TW" sz="2800" baseline="-25000" dirty="0" err="1" smtClean="0"/>
              <a:t>s</a:t>
            </a:r>
            <a:r>
              <a:rPr lang="en-US" altLang="zh-TW" sz="2800" dirty="0" smtClean="0"/>
              <a:t>={(</a:t>
            </a:r>
            <a:r>
              <a:rPr lang="en-US" altLang="zh-TW" sz="2800" dirty="0" err="1" smtClean="0"/>
              <a:t>u,v</a:t>
            </a:r>
            <a:r>
              <a:rPr lang="en-US" altLang="zh-TW" sz="2800" dirty="0" smtClean="0"/>
              <a:t>)</a:t>
            </a:r>
            <a:r>
              <a:rPr lang="zh-TW" altLang="en-US" sz="2800" dirty="0" smtClean="0"/>
              <a:t> ∈</a:t>
            </a:r>
            <a:r>
              <a:rPr lang="en-US" altLang="zh-TW" sz="2800" dirty="0" smtClean="0"/>
              <a:t>E: </a:t>
            </a:r>
            <a:r>
              <a:rPr lang="en-US" altLang="zh-TW" sz="2800" dirty="0" err="1" smtClean="0"/>
              <a:t>u,v</a:t>
            </a:r>
            <a:r>
              <a:rPr lang="zh-TW" altLang="en-US" sz="2800" dirty="0" smtClean="0"/>
              <a:t>∈</a:t>
            </a:r>
            <a:r>
              <a:rPr lang="en-US" altLang="zh-TW" sz="2800" dirty="0" smtClean="0"/>
              <a:t>S}</a:t>
            </a:r>
          </a:p>
          <a:p>
            <a:r>
              <a:rPr lang="en-US" altLang="zh-TW" sz="2800" dirty="0" smtClean="0"/>
              <a:t>The evaluation function </a:t>
            </a:r>
            <a:r>
              <a:rPr lang="en-US" altLang="zh-TW" sz="2800" dirty="0"/>
              <a:t>f(S</a:t>
            </a:r>
            <a:r>
              <a:rPr lang="en-US" altLang="zh-TW" sz="2800" dirty="0" smtClean="0"/>
              <a:t>)=|</a:t>
            </a:r>
            <a:r>
              <a:rPr lang="en-US" altLang="zh-TW" sz="2800" dirty="0"/>
              <a:t> </a:t>
            </a:r>
            <a:r>
              <a:rPr lang="en-US" altLang="zh-TW" sz="2800" dirty="0" err="1"/>
              <a:t>E</a:t>
            </a:r>
            <a:r>
              <a:rPr lang="en-US" altLang="zh-TW" sz="2800" baseline="-25000" dirty="0" err="1"/>
              <a:t>s</a:t>
            </a:r>
            <a:r>
              <a:rPr lang="en-US" altLang="zh-TW" sz="2800" baseline="-25000" dirty="0"/>
              <a:t> </a:t>
            </a:r>
            <a:r>
              <a:rPr lang="en-US" altLang="zh-TW" sz="2800" dirty="0" smtClean="0"/>
              <a:t>|</a:t>
            </a:r>
          </a:p>
          <a:p>
            <a:r>
              <a:rPr lang="en-US" altLang="zh-TW" sz="2800" dirty="0" smtClean="0"/>
              <a:t>ATS algorithm is to find </a:t>
            </a:r>
            <a:r>
              <a:rPr lang="en-US" altLang="zh-TW" sz="2800" dirty="0"/>
              <a:t>a solution </a:t>
            </a:r>
            <a:r>
              <a:rPr lang="en-US" altLang="zh-TW" sz="2800" dirty="0" smtClean="0"/>
              <a:t>S</a:t>
            </a:r>
            <a:r>
              <a:rPr lang="en-US" altLang="zh-TW" sz="2800" baseline="30000" dirty="0" smtClean="0"/>
              <a:t>*</a:t>
            </a:r>
            <a:r>
              <a:rPr lang="en-US" altLang="zh-TW" sz="2800" dirty="0" smtClean="0"/>
              <a:t> </a:t>
            </a:r>
            <a:r>
              <a:rPr lang="en-US" altLang="zh-TW" sz="2800" dirty="0"/>
              <a:t>such that </a:t>
            </a:r>
            <a:r>
              <a:rPr lang="en-US" altLang="zh-TW" sz="2800" dirty="0" smtClean="0"/>
              <a:t>f(S</a:t>
            </a:r>
            <a:r>
              <a:rPr lang="en-US" altLang="zh-TW" sz="2800" baseline="30000" dirty="0" smtClean="0"/>
              <a:t>*</a:t>
            </a:r>
            <a:r>
              <a:rPr lang="en-US" altLang="zh-TW" sz="2800" dirty="0" smtClean="0"/>
              <a:t>) reaches its minimum value f(S</a:t>
            </a:r>
            <a:r>
              <a:rPr lang="en-US" altLang="zh-TW" sz="2800" baseline="30000" dirty="0" smtClean="0"/>
              <a:t>*</a:t>
            </a:r>
            <a:r>
              <a:rPr lang="en-US" altLang="zh-TW" sz="2800" dirty="0" smtClean="0"/>
              <a:t>)=0</a:t>
            </a:r>
            <a:r>
              <a:rPr lang="en-US" altLang="zh-TW" sz="2800" dirty="0"/>
              <a:t>. </a:t>
            </a:r>
            <a:r>
              <a:rPr lang="en-US" altLang="zh-TW" sz="2800" dirty="0" smtClean="0"/>
              <a:t> </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6</a:t>
            </a:fld>
            <a:endParaRPr lang="zh-TW" altLang="en-US"/>
          </a:p>
        </p:txBody>
      </p:sp>
    </p:spTree>
    <p:extLst>
      <p:ext uri="{BB962C8B-B14F-4D97-AF65-F5344CB8AC3E}">
        <p14:creationId xmlns:p14="http://schemas.microsoft.com/office/powerpoint/2010/main" val="40337408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ATS for Maximal Independent Set</a:t>
            </a:r>
            <a:endParaRPr lang="zh-TW" altLang="en-US" dirty="0"/>
          </a:p>
        </p:txBody>
      </p:sp>
      <p:sp>
        <p:nvSpPr>
          <p:cNvPr id="3" name="內容版面配置區 2"/>
          <p:cNvSpPr>
            <a:spLocks noGrp="1"/>
          </p:cNvSpPr>
          <p:nvPr>
            <p:ph idx="1"/>
          </p:nvPr>
        </p:nvSpPr>
        <p:spPr/>
        <p:txBody>
          <a:bodyPr>
            <a:normAutofit/>
          </a:bodyPr>
          <a:lstStyle/>
          <a:p>
            <a:r>
              <a:rPr lang="en-US" altLang="zh-TW" sz="1600" dirty="0" smtClean="0"/>
              <a:t>                                                                      Adaptive </a:t>
            </a:r>
            <a:r>
              <a:rPr lang="en-US" altLang="zh-TW" sz="1600" dirty="0" err="1" smtClean="0"/>
              <a:t>tabu</a:t>
            </a:r>
            <a:r>
              <a:rPr lang="en-US" altLang="zh-TW" sz="1600" dirty="0" smtClean="0"/>
              <a:t> search</a:t>
            </a:r>
          </a:p>
          <a:p>
            <a:endParaRPr lang="en-US" altLang="zh-TW" sz="1600" dirty="0"/>
          </a:p>
          <a:p>
            <a:endParaRPr lang="en-US" altLang="zh-TW" sz="1600" dirty="0" smtClean="0"/>
          </a:p>
          <a:p>
            <a:endParaRPr lang="en-US" altLang="zh-TW" sz="1600" dirty="0"/>
          </a:p>
          <a:p>
            <a:endParaRPr lang="en-US" altLang="zh-TW" sz="1600" dirty="0" smtClean="0"/>
          </a:p>
          <a:p>
            <a:endParaRPr lang="en-US" altLang="zh-TW" sz="1600" dirty="0"/>
          </a:p>
          <a:p>
            <a:endParaRPr lang="en-US" altLang="zh-TW" sz="1600" dirty="0" smtClean="0"/>
          </a:p>
          <a:p>
            <a:endParaRPr lang="en-US" altLang="zh-TW" sz="1600" dirty="0"/>
          </a:p>
          <a:p>
            <a:pPr marL="0" indent="0">
              <a:buNone/>
            </a:pPr>
            <a:r>
              <a:rPr lang="en-US" altLang="zh-TW" sz="1600" dirty="0" smtClean="0"/>
              <a:t>A={u</a:t>
            </a:r>
            <a:r>
              <a:rPr lang="zh-TW" altLang="en-US" sz="1600" dirty="0" smtClean="0"/>
              <a:t>∈</a:t>
            </a:r>
            <a:r>
              <a:rPr lang="en-US" altLang="zh-TW" sz="1600" dirty="0" smtClean="0"/>
              <a:t>S, u</a:t>
            </a:r>
            <a:r>
              <a:rPr lang="zh-TW" altLang="en-US" sz="1600" dirty="0" smtClean="0"/>
              <a:t>∉</a:t>
            </a:r>
            <a:r>
              <a:rPr lang="en-US" altLang="zh-TW" sz="1600" dirty="0" err="1" smtClean="0"/>
              <a:t>tabu_list</a:t>
            </a:r>
            <a:r>
              <a:rPr lang="en-US" altLang="zh-TW" sz="1600" dirty="0" smtClean="0"/>
              <a:t>, d(u)=</a:t>
            </a:r>
            <a:r>
              <a:rPr lang="en-US" altLang="zh-TW" sz="1600" dirty="0" err="1" smtClean="0"/>
              <a:t>MaxInS</a:t>
            </a:r>
            <a:r>
              <a:rPr lang="en-US" altLang="zh-TW" sz="1600" dirty="0" smtClean="0"/>
              <a:t>}</a:t>
            </a:r>
          </a:p>
          <a:p>
            <a:pPr marL="0" indent="0">
              <a:buNone/>
            </a:pPr>
            <a:r>
              <a:rPr lang="en-US" altLang="zh-TW" sz="1600" dirty="0" smtClean="0"/>
              <a:t>B={v</a:t>
            </a:r>
            <a:r>
              <a:rPr lang="zh-TW" altLang="en-US" sz="1600" dirty="0" smtClean="0"/>
              <a:t> ∈</a:t>
            </a:r>
            <a:r>
              <a:rPr lang="en-US" altLang="zh-TW" sz="1600" dirty="0" smtClean="0"/>
              <a:t>V\</a:t>
            </a:r>
            <a:r>
              <a:rPr lang="en-US" altLang="zh-TW" sz="1600" dirty="0" err="1" smtClean="0"/>
              <a:t>S,v</a:t>
            </a:r>
            <a:r>
              <a:rPr lang="zh-TW" altLang="en-US" sz="1600" dirty="0"/>
              <a:t> ∉</a:t>
            </a:r>
            <a:r>
              <a:rPr lang="en-US" altLang="zh-TW" sz="1600" dirty="0" err="1" smtClean="0"/>
              <a:t>tabu_list</a:t>
            </a:r>
            <a:r>
              <a:rPr lang="en-US" altLang="zh-TW" sz="1600" dirty="0" smtClean="0"/>
              <a:t>, d(v)=</a:t>
            </a:r>
            <a:r>
              <a:rPr lang="en-US" altLang="zh-TW" sz="1600" dirty="0" err="1" smtClean="0"/>
              <a:t>MinOutS</a:t>
            </a:r>
            <a:r>
              <a:rPr lang="en-US" altLang="zh-TW" sz="1600" dirty="0" smtClean="0"/>
              <a:t>}</a:t>
            </a:r>
            <a:endParaRPr lang="en-US" altLang="zh-TW" sz="16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7</a:t>
            </a:fld>
            <a:endParaRPr lang="zh-TW" altLang="en-US"/>
          </a:p>
        </p:txBody>
      </p:sp>
      <p:sp>
        <p:nvSpPr>
          <p:cNvPr id="5" name="橢圓 4"/>
          <p:cNvSpPr/>
          <p:nvPr/>
        </p:nvSpPr>
        <p:spPr>
          <a:xfrm>
            <a:off x="1331640" y="193116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8" name="橢圓 7"/>
          <p:cNvSpPr/>
          <p:nvPr/>
        </p:nvSpPr>
        <p:spPr>
          <a:xfrm>
            <a:off x="1331640" y="270892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9" name="橢圓 8"/>
          <p:cNvSpPr/>
          <p:nvPr/>
        </p:nvSpPr>
        <p:spPr>
          <a:xfrm>
            <a:off x="539552" y="270892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0" name="橢圓 9"/>
          <p:cNvSpPr/>
          <p:nvPr/>
        </p:nvSpPr>
        <p:spPr>
          <a:xfrm>
            <a:off x="1331640" y="350100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11" name="橢圓 10"/>
          <p:cNvSpPr/>
          <p:nvPr/>
        </p:nvSpPr>
        <p:spPr>
          <a:xfrm>
            <a:off x="1835696" y="221919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12" name="橢圓 11"/>
          <p:cNvSpPr/>
          <p:nvPr/>
        </p:nvSpPr>
        <p:spPr>
          <a:xfrm>
            <a:off x="2267744" y="269839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6</a:t>
            </a:r>
            <a:endParaRPr lang="zh-TW" altLang="en-US" dirty="0"/>
          </a:p>
        </p:txBody>
      </p:sp>
      <p:sp>
        <p:nvSpPr>
          <p:cNvPr id="13" name="橢圓 12"/>
          <p:cNvSpPr/>
          <p:nvPr/>
        </p:nvSpPr>
        <p:spPr>
          <a:xfrm>
            <a:off x="2915816" y="272484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7</a:t>
            </a:r>
            <a:endParaRPr lang="zh-TW" altLang="en-US" dirty="0"/>
          </a:p>
        </p:txBody>
      </p:sp>
      <p:sp>
        <p:nvSpPr>
          <p:cNvPr id="14" name="橢圓 13"/>
          <p:cNvSpPr/>
          <p:nvPr/>
        </p:nvSpPr>
        <p:spPr>
          <a:xfrm>
            <a:off x="3635896" y="272484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8</a:t>
            </a:r>
            <a:endParaRPr lang="zh-TW" altLang="en-US" dirty="0"/>
          </a:p>
        </p:txBody>
      </p:sp>
      <p:cxnSp>
        <p:nvCxnSpPr>
          <p:cNvPr id="16" name="直線接點 15"/>
          <p:cNvCxnSpPr>
            <a:stCxn id="5" idx="3"/>
            <a:endCxn id="9" idx="7"/>
          </p:cNvCxnSpPr>
          <p:nvPr/>
        </p:nvCxnSpPr>
        <p:spPr>
          <a:xfrm flipH="1">
            <a:off x="785403" y="2177017"/>
            <a:ext cx="588418" cy="5740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5" idx="4"/>
            <a:endCxn id="8" idx="0"/>
          </p:cNvCxnSpPr>
          <p:nvPr/>
        </p:nvCxnSpPr>
        <p:spPr>
          <a:xfrm>
            <a:off x="1475656" y="2219198"/>
            <a:ext cx="0" cy="4897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線接點 22"/>
          <p:cNvCxnSpPr>
            <a:stCxn id="10" idx="1"/>
            <a:endCxn id="9" idx="5"/>
          </p:cNvCxnSpPr>
          <p:nvPr/>
        </p:nvCxnSpPr>
        <p:spPr>
          <a:xfrm flipH="1" flipV="1">
            <a:off x="785403" y="2954771"/>
            <a:ext cx="588418" cy="588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a:stCxn id="8" idx="4"/>
            <a:endCxn id="10" idx="0"/>
          </p:cNvCxnSpPr>
          <p:nvPr/>
        </p:nvCxnSpPr>
        <p:spPr>
          <a:xfrm>
            <a:off x="1475656" y="2996952"/>
            <a:ext cx="0"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a:stCxn id="8" idx="7"/>
            <a:endCxn id="11" idx="3"/>
          </p:cNvCxnSpPr>
          <p:nvPr/>
        </p:nvCxnSpPr>
        <p:spPr>
          <a:xfrm flipV="1">
            <a:off x="1577491" y="2465049"/>
            <a:ext cx="300386" cy="2860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線接點 31"/>
          <p:cNvCxnSpPr>
            <a:endCxn id="8" idx="6"/>
          </p:cNvCxnSpPr>
          <p:nvPr/>
        </p:nvCxnSpPr>
        <p:spPr>
          <a:xfrm flipH="1" flipV="1">
            <a:off x="1619672" y="2852936"/>
            <a:ext cx="654249" cy="15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接點 33"/>
          <p:cNvCxnSpPr>
            <a:stCxn id="13" idx="2"/>
            <a:endCxn id="12" idx="6"/>
          </p:cNvCxnSpPr>
          <p:nvPr/>
        </p:nvCxnSpPr>
        <p:spPr>
          <a:xfrm flipH="1" flipV="1">
            <a:off x="2555776" y="2842415"/>
            <a:ext cx="360040" cy="26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p:cNvCxnSpPr>
            <a:stCxn id="11" idx="6"/>
            <a:endCxn id="14" idx="1"/>
          </p:cNvCxnSpPr>
          <p:nvPr/>
        </p:nvCxnSpPr>
        <p:spPr>
          <a:xfrm>
            <a:off x="2123728" y="2363214"/>
            <a:ext cx="1554349" cy="40381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a:stCxn id="14" idx="2"/>
            <a:endCxn id="13" idx="6"/>
          </p:cNvCxnSpPr>
          <p:nvPr/>
        </p:nvCxnSpPr>
        <p:spPr>
          <a:xfrm flipH="1">
            <a:off x="3203848" y="2868865"/>
            <a:ext cx="432048" cy="0"/>
          </a:xfrm>
          <a:prstGeom prst="line">
            <a:avLst/>
          </a:prstGeom>
        </p:spPr>
        <p:style>
          <a:lnRef idx="1">
            <a:schemeClr val="accent1"/>
          </a:lnRef>
          <a:fillRef idx="0">
            <a:schemeClr val="accent1"/>
          </a:fillRef>
          <a:effectRef idx="0">
            <a:schemeClr val="accent1"/>
          </a:effectRef>
          <a:fontRef idx="minor">
            <a:schemeClr val="tx1"/>
          </a:fontRef>
        </p:style>
      </p:cxnSp>
      <p:pic>
        <p:nvPicPr>
          <p:cNvPr id="2050" name="Picture 2" descr="C:\Users\shiujj\Desktop\at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44" y="1909252"/>
            <a:ext cx="4896050" cy="4686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397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Preprocessing </a:t>
            </a:r>
            <a:r>
              <a:rPr lang="en-US" altLang="zh-TW" dirty="0" smtClean="0"/>
              <a:t>Phase</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8</a:t>
            </a:fld>
            <a:endParaRPr lang="zh-TW" altLang="en-US"/>
          </a:p>
        </p:txBody>
      </p:sp>
      <p:pic>
        <p:nvPicPr>
          <p:cNvPr id="3074" name="Picture 2" descr="C:\Users\shiujj\Desktop\p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620" y="1124744"/>
            <a:ext cx="4392935" cy="5256584"/>
          </a:xfrm>
          <a:prstGeom prst="rect">
            <a:avLst/>
          </a:prstGeom>
          <a:noFill/>
          <a:extLst>
            <a:ext uri="{909E8E84-426E-40DD-AFC4-6F175D3DCCD1}">
              <a14:hiddenFill xmlns:a14="http://schemas.microsoft.com/office/drawing/2010/main">
                <a:solidFill>
                  <a:srgbClr val="FFFFFF"/>
                </a:solidFill>
              </a14:hiddenFill>
            </a:ext>
          </a:extLst>
        </p:spPr>
      </p:pic>
      <p:sp>
        <p:nvSpPr>
          <p:cNvPr id="5" name="橢圓 4"/>
          <p:cNvSpPr/>
          <p:nvPr/>
        </p:nvSpPr>
        <p:spPr>
          <a:xfrm>
            <a:off x="1907704" y="1578496"/>
            <a:ext cx="1296144"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2</a:t>
            </a:r>
            <a:endParaRPr lang="zh-TW" altLang="en-US" dirty="0">
              <a:solidFill>
                <a:schemeClr val="tx1"/>
              </a:solidFill>
            </a:endParaRPr>
          </a:p>
        </p:txBody>
      </p:sp>
      <p:sp>
        <p:nvSpPr>
          <p:cNvPr id="7" name="橢圓 6"/>
          <p:cNvSpPr/>
          <p:nvPr/>
        </p:nvSpPr>
        <p:spPr>
          <a:xfrm>
            <a:off x="2071144" y="2053897"/>
            <a:ext cx="1584176"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3</a:t>
            </a:r>
            <a:endParaRPr lang="zh-TW" altLang="en-US" dirty="0">
              <a:solidFill>
                <a:schemeClr val="tx1"/>
              </a:solidFill>
            </a:endParaRPr>
          </a:p>
        </p:txBody>
      </p:sp>
      <p:sp>
        <p:nvSpPr>
          <p:cNvPr id="9" name="橢圓 8"/>
          <p:cNvSpPr/>
          <p:nvPr/>
        </p:nvSpPr>
        <p:spPr>
          <a:xfrm>
            <a:off x="750612" y="2332112"/>
            <a:ext cx="1239011"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4</a:t>
            </a:r>
            <a:endParaRPr lang="zh-TW" altLang="en-US" dirty="0">
              <a:solidFill>
                <a:schemeClr val="tx1"/>
              </a:solidFill>
            </a:endParaRPr>
          </a:p>
        </p:txBody>
      </p:sp>
      <p:sp>
        <p:nvSpPr>
          <p:cNvPr id="6" name="向下箭號 5"/>
          <p:cNvSpPr/>
          <p:nvPr/>
        </p:nvSpPr>
        <p:spPr>
          <a:xfrm>
            <a:off x="2071144" y="3515860"/>
            <a:ext cx="484632" cy="489204"/>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1008461" y="1707407"/>
            <a:ext cx="1520350" cy="7920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1</a:t>
            </a:r>
            <a:endParaRPr lang="zh-TW" altLang="en-US" dirty="0">
              <a:solidFill>
                <a:schemeClr val="tx1"/>
              </a:solidFill>
            </a:endParaRPr>
          </a:p>
        </p:txBody>
      </p:sp>
      <p:sp>
        <p:nvSpPr>
          <p:cNvPr id="10" name="橢圓 9"/>
          <p:cNvSpPr/>
          <p:nvPr/>
        </p:nvSpPr>
        <p:spPr>
          <a:xfrm>
            <a:off x="1187624" y="4293096"/>
            <a:ext cx="36498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15" name="橢圓 14"/>
          <p:cNvSpPr/>
          <p:nvPr/>
        </p:nvSpPr>
        <p:spPr>
          <a:xfrm>
            <a:off x="2418987" y="4301575"/>
            <a:ext cx="36498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16" name="橢圓 15"/>
          <p:cNvSpPr/>
          <p:nvPr/>
        </p:nvSpPr>
        <p:spPr>
          <a:xfrm>
            <a:off x="3419872" y="2332112"/>
            <a:ext cx="1239011"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5</a:t>
            </a:r>
            <a:endParaRPr lang="zh-TW" altLang="en-US" dirty="0">
              <a:solidFill>
                <a:schemeClr val="tx1"/>
              </a:solidFill>
            </a:endParaRPr>
          </a:p>
        </p:txBody>
      </p:sp>
      <p:sp>
        <p:nvSpPr>
          <p:cNvPr id="17" name="橢圓 16"/>
          <p:cNvSpPr/>
          <p:nvPr/>
        </p:nvSpPr>
        <p:spPr>
          <a:xfrm>
            <a:off x="1181788" y="5301208"/>
            <a:ext cx="36498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18" name="橢圓 17"/>
          <p:cNvSpPr/>
          <p:nvPr/>
        </p:nvSpPr>
        <p:spPr>
          <a:xfrm>
            <a:off x="1807129" y="4733528"/>
            <a:ext cx="36498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9" name="橢圓 18"/>
          <p:cNvSpPr/>
          <p:nvPr/>
        </p:nvSpPr>
        <p:spPr>
          <a:xfrm>
            <a:off x="2729513" y="5185685"/>
            <a:ext cx="36498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cxnSp>
        <p:nvCxnSpPr>
          <p:cNvPr id="20" name="直線接點 19"/>
          <p:cNvCxnSpPr>
            <a:stCxn id="10" idx="4"/>
            <a:endCxn id="17" idx="0"/>
          </p:cNvCxnSpPr>
          <p:nvPr/>
        </p:nvCxnSpPr>
        <p:spPr>
          <a:xfrm flipH="1">
            <a:off x="1364282" y="4581128"/>
            <a:ext cx="5836"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a:stCxn id="10" idx="5"/>
            <a:endCxn id="18" idx="1"/>
          </p:cNvCxnSpPr>
          <p:nvPr/>
        </p:nvCxnSpPr>
        <p:spPr>
          <a:xfrm>
            <a:off x="1499161" y="4538947"/>
            <a:ext cx="361419" cy="2367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線接點 26"/>
          <p:cNvCxnSpPr>
            <a:stCxn id="10" idx="6"/>
            <a:endCxn id="15" idx="2"/>
          </p:cNvCxnSpPr>
          <p:nvPr/>
        </p:nvCxnSpPr>
        <p:spPr>
          <a:xfrm>
            <a:off x="1552612" y="4437112"/>
            <a:ext cx="866375" cy="8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線接點 29"/>
          <p:cNvCxnSpPr>
            <a:stCxn id="15" idx="4"/>
            <a:endCxn id="18" idx="7"/>
          </p:cNvCxnSpPr>
          <p:nvPr/>
        </p:nvCxnSpPr>
        <p:spPr>
          <a:xfrm flipH="1">
            <a:off x="2118666" y="4589607"/>
            <a:ext cx="482815" cy="186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線接點 32"/>
          <p:cNvCxnSpPr>
            <a:stCxn id="15" idx="5"/>
            <a:endCxn id="19" idx="0"/>
          </p:cNvCxnSpPr>
          <p:nvPr/>
        </p:nvCxnSpPr>
        <p:spPr>
          <a:xfrm>
            <a:off x="2730524" y="4547426"/>
            <a:ext cx="181483" cy="6382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393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Coloring the </a:t>
            </a:r>
            <a:r>
              <a:rPr lang="en-US" altLang="zh-TW" dirty="0" smtClean="0"/>
              <a:t>Residual Graph</a:t>
            </a:r>
            <a:endParaRPr lang="zh-TW" altLang="en-US" dirty="0"/>
          </a:p>
        </p:txBody>
      </p:sp>
      <p:sp>
        <p:nvSpPr>
          <p:cNvPr id="3" name="內容版面配置區 2"/>
          <p:cNvSpPr>
            <a:spLocks noGrp="1"/>
          </p:cNvSpPr>
          <p:nvPr>
            <p:ph idx="1"/>
          </p:nvPr>
        </p:nvSpPr>
        <p:spPr/>
        <p:txBody>
          <a:bodyPr/>
          <a:lstStyle/>
          <a:p>
            <a:r>
              <a:rPr lang="en-US" altLang="zh-TW" sz="2400" dirty="0" smtClean="0"/>
              <a:t>Lu Z, </a:t>
            </a:r>
            <a:r>
              <a:rPr lang="en-US" altLang="zh-TW" sz="2400" dirty="0" err="1" smtClean="0"/>
              <a:t>Hao</a:t>
            </a:r>
            <a:r>
              <a:rPr lang="en-US" altLang="zh-TW" sz="2400" dirty="0" smtClean="0"/>
              <a:t> JK. A </a:t>
            </a:r>
            <a:r>
              <a:rPr lang="en-US" altLang="zh-TW" sz="2400" dirty="0" err="1" smtClean="0"/>
              <a:t>memetic</a:t>
            </a:r>
            <a:r>
              <a:rPr lang="en-US" altLang="zh-TW" sz="2400" dirty="0" smtClean="0"/>
              <a:t> algorithm for graph coloring. European Journal of Operational Research 2010; 200(1): 235–44</a:t>
            </a:r>
            <a:r>
              <a:rPr lang="en-US" altLang="zh-TW" sz="2400" dirty="0"/>
              <a:t>.</a:t>
            </a:r>
            <a:endParaRPr lang="en-US" altLang="zh-TW" sz="2400"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9</a:t>
            </a:fld>
            <a:endParaRPr lang="zh-TW" altLang="en-US"/>
          </a:p>
        </p:txBody>
      </p:sp>
    </p:spTree>
    <p:extLst>
      <p:ext uri="{BB962C8B-B14F-4D97-AF65-F5344CB8AC3E}">
        <p14:creationId xmlns:p14="http://schemas.microsoft.com/office/powerpoint/2010/main" val="623101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smtClean="0"/>
              <a:t>Results </a:t>
            </a:r>
            <a:endParaRPr lang="zh-TW" altLang="en-US" dirty="0"/>
          </a:p>
        </p:txBody>
      </p:sp>
      <p:sp>
        <p:nvSpPr>
          <p:cNvPr id="3" name="內容版面配置區 2"/>
          <p:cNvSpPr>
            <a:spLocks noGrp="1"/>
          </p:cNvSpPr>
          <p:nvPr>
            <p:ph idx="1"/>
          </p:nvPr>
        </p:nvSpPr>
        <p:spPr/>
        <p:txBody>
          <a:bodyPr>
            <a:normAutofit/>
          </a:bodyPr>
          <a:lstStyle/>
          <a:p>
            <a:r>
              <a:rPr lang="en-US" altLang="zh-TW" sz="1800" dirty="0" smtClean="0"/>
              <a:t>Three large </a:t>
            </a:r>
            <a:r>
              <a:rPr lang="en-US" altLang="zh-TW" sz="1800" dirty="0"/>
              <a:t>random graphs (DSJC1000.1, DSJC1000.5, DSJC1000.9). </a:t>
            </a:r>
            <a:endParaRPr lang="en-US" altLang="zh-TW" sz="1800" dirty="0" smtClean="0"/>
          </a:p>
          <a:p>
            <a:r>
              <a:rPr lang="en-US" altLang="zh-TW" sz="1800" dirty="0"/>
              <a:t>Three large flat graphs (flat1000_50_0, flat1000_60_0, flat1000_76_0). </a:t>
            </a:r>
            <a:endParaRPr lang="en-US" altLang="zh-TW" sz="1800" dirty="0" smtClean="0"/>
          </a:p>
          <a:p>
            <a:r>
              <a:rPr lang="en-US" altLang="zh-TW" sz="1800" dirty="0"/>
              <a:t>Two </a:t>
            </a:r>
            <a:r>
              <a:rPr lang="en-US" altLang="zh-TW" sz="1800" dirty="0" smtClean="0"/>
              <a:t>large random geometric graphs(R1000.1c,R1000.5).</a:t>
            </a:r>
          </a:p>
          <a:p>
            <a:r>
              <a:rPr lang="en-US" altLang="zh-TW" sz="1800" dirty="0"/>
              <a:t>Three </a:t>
            </a:r>
            <a:r>
              <a:rPr lang="en-US" altLang="zh-TW" sz="1800" dirty="0" smtClean="0"/>
              <a:t>very large random graphs(C2000.5,C2000.9,C4000.5</a:t>
            </a:r>
            <a:r>
              <a:rPr lang="en-US" altLang="zh-TW" sz="1800" dirty="0"/>
              <a:t>).</a:t>
            </a:r>
            <a:endParaRPr lang="zh-TW" altLang="en-US" sz="18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10</a:t>
            </a:fld>
            <a:endParaRPr lang="zh-TW" altLang="en-US"/>
          </a:p>
        </p:txBody>
      </p:sp>
      <p:pic>
        <p:nvPicPr>
          <p:cNvPr id="4098" name="Picture 2" descr="C:\Users\shiujj\Desktop\t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996952"/>
            <a:ext cx="8766466"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639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Random Geometric Graphs</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11</a:t>
            </a:fld>
            <a:endParaRPr lang="zh-TW" altLang="en-US"/>
          </a:p>
        </p:txBody>
      </p:sp>
      <p:pic>
        <p:nvPicPr>
          <p:cNvPr id="5123" name="Picture 3" descr="C:\Users\shiujj\Desktop\g1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412776"/>
            <a:ext cx="8574088" cy="12954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shiujj\Desktop\g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88" y="2852936"/>
            <a:ext cx="3833629" cy="2909441"/>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descr="C:\Users\shiujj\Desktop\g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853" y="2750871"/>
            <a:ext cx="3728839" cy="301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8009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a:p>
          <a:p>
            <a:endParaRPr lang="en-US" altLang="zh-TW" dirty="0" smtClean="0"/>
          </a:p>
          <a:p>
            <a:pPr marL="0" indent="0">
              <a:buNone/>
            </a:pPr>
            <a:endParaRPr lang="en-US" altLang="zh-TW" dirty="0" smtClean="0"/>
          </a:p>
          <a:p>
            <a:pPr marL="0" indent="0">
              <a:buNone/>
            </a:pPr>
            <a:endParaRPr lang="en-US" altLang="zh-TW" sz="1800" dirty="0" smtClean="0"/>
          </a:p>
          <a:p>
            <a:r>
              <a:rPr lang="en-US" altLang="zh-TW" sz="1200" dirty="0" smtClean="0"/>
              <a:t>[28]</a:t>
            </a:r>
            <a:r>
              <a:rPr lang="en-US" altLang="zh-TW" sz="1200" dirty="0"/>
              <a:t> An evolutionary approach with diversity guarantee and well-informed grouping recombination for graph coloring. </a:t>
            </a:r>
            <a:endParaRPr lang="en-US" altLang="zh-TW" sz="1200" dirty="0" smtClean="0"/>
          </a:p>
          <a:p>
            <a:r>
              <a:rPr lang="en-US" altLang="zh-TW" sz="1200" dirty="0"/>
              <a:t>[32] </a:t>
            </a:r>
            <a:r>
              <a:rPr lang="en-US" altLang="zh-TW" sz="1200" dirty="0" smtClean="0"/>
              <a:t>Graph coloring </a:t>
            </a:r>
            <a:r>
              <a:rPr lang="en-US" altLang="zh-TW" sz="1200" dirty="0"/>
              <a:t>by </a:t>
            </a:r>
            <a:r>
              <a:rPr lang="en-US" altLang="zh-TW" sz="1200" dirty="0" err="1"/>
              <a:t>multiagent</a:t>
            </a:r>
            <a:r>
              <a:rPr lang="en-US" altLang="zh-TW" sz="1200" dirty="0"/>
              <a:t> </a:t>
            </a:r>
            <a:r>
              <a:rPr lang="en-US" altLang="zh-TW" sz="1200" dirty="0" smtClean="0"/>
              <a:t>fusion search.</a:t>
            </a:r>
          </a:p>
          <a:p>
            <a:r>
              <a:rPr lang="en-US" altLang="zh-TW" sz="1200" dirty="0" smtClean="0"/>
              <a:t>[24]</a:t>
            </a:r>
            <a:r>
              <a:rPr lang="en-US" altLang="zh-TW" sz="1200" dirty="0"/>
              <a:t> A </a:t>
            </a:r>
            <a:r>
              <a:rPr lang="en-US" altLang="zh-TW" sz="1200" dirty="0" err="1"/>
              <a:t>metaheuristic</a:t>
            </a:r>
            <a:r>
              <a:rPr lang="en-US" altLang="zh-TW" sz="1200" dirty="0"/>
              <a:t> approach for the vertex coloring problem</a:t>
            </a:r>
            <a:r>
              <a:rPr lang="en-US" altLang="zh-TW" sz="1200" dirty="0" smtClean="0"/>
              <a:t>.</a:t>
            </a:r>
          </a:p>
          <a:p>
            <a:r>
              <a:rPr lang="en-US" altLang="zh-TW" sz="1200" dirty="0" smtClean="0"/>
              <a:t>[13] An adaptive memory algorithm for the K-</a:t>
            </a:r>
            <a:r>
              <a:rPr lang="en-US" altLang="zh-TW" sz="1200" dirty="0" err="1" smtClean="0"/>
              <a:t>colouring</a:t>
            </a:r>
            <a:r>
              <a:rPr lang="en-US" altLang="zh-TW" sz="1200" dirty="0" smtClean="0"/>
              <a:t> </a:t>
            </a:r>
            <a:r>
              <a:rPr lang="en-US" altLang="zh-TW" sz="1200" dirty="0"/>
              <a:t>problem</a:t>
            </a:r>
            <a:r>
              <a:rPr lang="en-US" altLang="zh-TW" sz="1200" dirty="0" smtClean="0"/>
              <a:t>.</a:t>
            </a:r>
          </a:p>
          <a:p>
            <a:r>
              <a:rPr lang="en-US" altLang="zh-TW" sz="1200" dirty="0"/>
              <a:t>[10] </a:t>
            </a:r>
            <a:r>
              <a:rPr lang="en-US" altLang="zh-TW" sz="1200" dirty="0" smtClean="0"/>
              <a:t>A minimal-state processing search algorithm for graph coloring problems.</a:t>
            </a:r>
          </a:p>
          <a:p>
            <a:r>
              <a:rPr lang="en-US" altLang="zh-TW" sz="1200" dirty="0"/>
              <a:t>[25] </a:t>
            </a:r>
            <a:r>
              <a:rPr lang="en-US" altLang="zh-TW" sz="1200" dirty="0" smtClean="0"/>
              <a:t>Distributed coloration neighborhood search.</a:t>
            </a:r>
          </a:p>
          <a:p>
            <a:r>
              <a:rPr lang="en-US" altLang="zh-TW" sz="1200" dirty="0" smtClean="0"/>
              <a:t>[9]</a:t>
            </a:r>
            <a:r>
              <a:rPr lang="en-US" altLang="zh-TW" sz="1200" dirty="0"/>
              <a:t> Genetic and hybrid algorithms for graph coloring. </a:t>
            </a:r>
            <a:endParaRPr lang="en-US" altLang="zh-TW" sz="1200" dirty="0" smtClean="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12</a:t>
            </a:fld>
            <a:endParaRPr lang="zh-TW" altLang="en-US"/>
          </a:p>
        </p:txBody>
      </p:sp>
      <p:pic>
        <p:nvPicPr>
          <p:cNvPr id="6146" name="Picture 2" descr="C:\Users\shiujj\Desktop\t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052736"/>
            <a:ext cx="8674839"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6060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TotalTime>
  <Words>512</Words>
  <Application>Microsoft Office PowerPoint</Application>
  <PresentationFormat>如螢幕大小 (4:3)</PresentationFormat>
  <Paragraphs>96</Paragraphs>
  <Slides>12</Slides>
  <Notes>0</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Office 佈景主題</vt:lpstr>
      <vt:lpstr>Coloring large graphs based on independent set extraction </vt:lpstr>
      <vt:lpstr>Abstract</vt:lpstr>
      <vt:lpstr>Problem to Solve</vt:lpstr>
      <vt:lpstr>EXTRACOL Algorithm</vt:lpstr>
      <vt:lpstr>Preprocessing Phase </vt:lpstr>
      <vt:lpstr>ATS for Maximal Independent Set</vt:lpstr>
      <vt:lpstr>ATS for Maximal Independent Set</vt:lpstr>
      <vt:lpstr>Preprocessing Phase</vt:lpstr>
      <vt:lpstr>Coloring the Residual Graph</vt:lpstr>
      <vt:lpstr>Experimental Results </vt:lpstr>
      <vt:lpstr>Random Geometric Graphs</vt:lpstr>
      <vt:lpstr>Experimental Results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shiujj</dc:creator>
  <cp:lastModifiedBy>shiujj</cp:lastModifiedBy>
  <cp:revision>29</cp:revision>
  <dcterms:created xsi:type="dcterms:W3CDTF">2012-11-26T13:11:11Z</dcterms:created>
  <dcterms:modified xsi:type="dcterms:W3CDTF">2012-11-27T10:04:58Z</dcterms:modified>
</cp:coreProperties>
</file>