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handoutMasterIdLst>
    <p:handoutMasterId r:id="rId21"/>
  </p:handoutMasterIdLst>
  <p:sldIdLst>
    <p:sldId id="256" r:id="rId2"/>
    <p:sldId id="257" r:id="rId3"/>
    <p:sldId id="281" r:id="rId4"/>
    <p:sldId id="282" r:id="rId5"/>
    <p:sldId id="283" r:id="rId6"/>
    <p:sldId id="284" r:id="rId7"/>
    <p:sldId id="285" r:id="rId8"/>
    <p:sldId id="286" r:id="rId9"/>
    <p:sldId id="287" r:id="rId10"/>
    <p:sldId id="288" r:id="rId11"/>
    <p:sldId id="289" r:id="rId12"/>
    <p:sldId id="292" r:id="rId13"/>
    <p:sldId id="290" r:id="rId14"/>
    <p:sldId id="291" r:id="rId15"/>
    <p:sldId id="293" r:id="rId16"/>
    <p:sldId id="294" r:id="rId17"/>
    <p:sldId id="295" r:id="rId18"/>
    <p:sldId id="265" r:id="rId1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B93DF"/>
    <a:srgbClr val="6F84EB"/>
    <a:srgbClr val="0000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8FB837D-C827-4EFA-A057-4D05807E0F7C}" styleName="佈景主題樣式 1 - 輔色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中等深淺樣式 1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39" autoAdjust="0"/>
    <p:restoredTop sz="96825" autoAdjust="0"/>
  </p:normalViewPr>
  <p:slideViewPr>
    <p:cSldViewPr>
      <p:cViewPr varScale="1">
        <p:scale>
          <a:sx n="112" d="100"/>
          <a:sy n="112" d="100"/>
        </p:scale>
        <p:origin x="-1026"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9A1E9FC-490C-4865-A082-2CA8BB7D5A91}" type="datetimeFigureOut">
              <a:rPr lang="zh-TW" altLang="en-US" smtClean="0"/>
              <a:t>2012/12/10</a:t>
            </a:fld>
            <a:endParaRPr lang="zh-TW" altLang="en-US"/>
          </a:p>
        </p:txBody>
      </p:sp>
      <p:sp>
        <p:nvSpPr>
          <p:cNvPr id="4" name="頁尾版面配置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BA81C7-1ECC-4CF7-ABF1-426C762021BC}" type="slidenum">
              <a:rPr lang="zh-TW" altLang="en-US" smtClean="0"/>
              <a:t>‹#›</a:t>
            </a:fld>
            <a:endParaRPr lang="zh-TW" altLang="en-US"/>
          </a:p>
        </p:txBody>
      </p:sp>
    </p:spTree>
    <p:extLst>
      <p:ext uri="{BB962C8B-B14F-4D97-AF65-F5344CB8AC3E}">
        <p14:creationId xmlns:p14="http://schemas.microsoft.com/office/powerpoint/2010/main" val="39910503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42458AF-C11A-4B8D-B5DF-F124E30CB17B}" type="datetimeFigureOut">
              <a:rPr lang="zh-TW" altLang="en-US" smtClean="0"/>
              <a:t>2012/12/10</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8879042-3193-49F2-8086-409E581C9D3A}" type="slidenum">
              <a:rPr lang="zh-TW" altLang="en-US" smtClean="0"/>
              <a:t>‹#›</a:t>
            </a:fld>
            <a:endParaRPr lang="zh-TW" altLang="en-US"/>
          </a:p>
        </p:txBody>
      </p:sp>
    </p:spTree>
    <p:extLst>
      <p:ext uri="{BB962C8B-B14F-4D97-AF65-F5344CB8AC3E}">
        <p14:creationId xmlns:p14="http://schemas.microsoft.com/office/powerpoint/2010/main" val="2913517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8" name="標題 7"/>
          <p:cNvSpPr>
            <a:spLocks noGrp="1"/>
          </p:cNvSpPr>
          <p:nvPr>
            <p:ph type="ctrTitle"/>
          </p:nvPr>
        </p:nvSpPr>
        <p:spPr>
          <a:xfrm>
            <a:off x="1242392" y="1556792"/>
            <a:ext cx="6858000" cy="1656184"/>
          </a:xfrm>
        </p:spPr>
        <p:txBody>
          <a:bodyPr anchor="t" anchorCtr="0"/>
          <a:lstStyle>
            <a:lvl1pPr algn="r">
              <a:defRPr sz="3200" b="1">
                <a:solidFill>
                  <a:schemeClr val="tx1"/>
                </a:solidFill>
              </a:defRPr>
            </a:lvl1pPr>
          </a:lstStyle>
          <a:p>
            <a:r>
              <a:rPr kumimoji="0" lang="zh-TW" altLang="en-US" dirty="0" smtClean="0"/>
              <a:t>按一下以編輯母片標題樣式</a:t>
            </a:r>
            <a:endParaRPr kumimoji="0" lang="en-US" dirty="0"/>
          </a:p>
        </p:txBody>
      </p:sp>
      <p:sp>
        <p:nvSpPr>
          <p:cNvPr id="9" name="副標題 8"/>
          <p:cNvSpPr>
            <a:spLocks noGrp="1"/>
          </p:cNvSpPr>
          <p:nvPr>
            <p:ph type="subTitle" idx="1"/>
          </p:nvPr>
        </p:nvSpPr>
        <p:spPr>
          <a:xfrm>
            <a:off x="1219200" y="3429001"/>
            <a:ext cx="6858000" cy="1512167"/>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TW" altLang="en-US" smtClean="0"/>
              <a:t>按一下以編輯母片副標題樣式</a:t>
            </a:r>
            <a:endParaRPr kumimoji="0" lang="en-US"/>
          </a:p>
        </p:txBody>
      </p:sp>
      <p:sp>
        <p:nvSpPr>
          <p:cNvPr id="28" name="日期版面配置區 27"/>
          <p:cNvSpPr>
            <a:spLocks noGrp="1"/>
          </p:cNvSpPr>
          <p:nvPr>
            <p:ph type="dt" sz="half" idx="10"/>
          </p:nvPr>
        </p:nvSpPr>
        <p:spPr>
          <a:xfrm>
            <a:off x="6400800" y="6355080"/>
            <a:ext cx="2286000" cy="365760"/>
          </a:xfrm>
        </p:spPr>
        <p:txBody>
          <a:bodyPr/>
          <a:lstStyle>
            <a:lvl1pPr>
              <a:defRPr sz="1400"/>
            </a:lvl1pPr>
          </a:lstStyle>
          <a:p>
            <a:r>
              <a:rPr lang="en-US" altLang="zh-TW" smtClean="0"/>
              <a:t>2012/12/10</a:t>
            </a:r>
            <a:endParaRPr lang="zh-TW" altLang="en-US"/>
          </a:p>
        </p:txBody>
      </p:sp>
      <p:sp>
        <p:nvSpPr>
          <p:cNvPr id="17" name="頁尾版面配置區 16"/>
          <p:cNvSpPr>
            <a:spLocks noGrp="1"/>
          </p:cNvSpPr>
          <p:nvPr>
            <p:ph type="ftr" sz="quarter" idx="11"/>
          </p:nvPr>
        </p:nvSpPr>
        <p:spPr>
          <a:xfrm>
            <a:off x="2898648" y="6355080"/>
            <a:ext cx="3474720" cy="365760"/>
          </a:xfrm>
        </p:spPr>
        <p:txBody>
          <a:bodyPr/>
          <a:lstStyle/>
          <a:p>
            <a:endParaRPr lang="zh-TW" altLang="en-US"/>
          </a:p>
        </p:txBody>
      </p:sp>
      <p:sp>
        <p:nvSpPr>
          <p:cNvPr id="29" name="投影片編號版面配置區 28"/>
          <p:cNvSpPr>
            <a:spLocks noGrp="1"/>
          </p:cNvSpPr>
          <p:nvPr>
            <p:ph type="sldNum" sz="quarter" idx="12"/>
          </p:nvPr>
        </p:nvSpPr>
        <p:spPr>
          <a:xfrm>
            <a:off x="1216152" y="6355080"/>
            <a:ext cx="1219200" cy="365760"/>
          </a:xfrm>
        </p:spPr>
        <p:txBody>
          <a:bodyPr/>
          <a:lstStyle/>
          <a:p>
            <a:fld id="{61A04B93-F247-42E5-95CE-B8478AD23DB7}" type="slidenum">
              <a:rPr lang="zh-TW" altLang="en-US" smtClean="0"/>
              <a:t>‹#›</a:t>
            </a:fld>
            <a:endParaRPr lang="zh-TW" altLang="en-US"/>
          </a:p>
        </p:txBody>
      </p:sp>
      <p:sp>
        <p:nvSpPr>
          <p:cNvPr id="21" name="矩形 20"/>
          <p:cNvSpPr/>
          <p:nvPr/>
        </p:nvSpPr>
        <p:spPr>
          <a:xfrm>
            <a:off x="904875" y="980728"/>
            <a:ext cx="7315200" cy="2304256"/>
          </a:xfrm>
          <a:prstGeom prst="rect">
            <a:avLst/>
          </a:prstGeom>
          <a:noFill/>
          <a:ln w="6350" cap="rnd" cmpd="sng" algn="ctr">
            <a:solidFill>
              <a:schemeClr val="accent1">
                <a:lumMod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矩形 32"/>
          <p:cNvSpPr/>
          <p:nvPr/>
        </p:nvSpPr>
        <p:spPr>
          <a:xfrm>
            <a:off x="914400" y="3356992"/>
            <a:ext cx="7305675" cy="1656184"/>
          </a:xfrm>
          <a:prstGeom prst="rect">
            <a:avLst/>
          </a:prstGeom>
          <a:noFill/>
          <a:ln w="6350" cap="rnd" cmpd="sng" algn="ctr">
            <a:solidFill>
              <a:schemeClr val="accent3">
                <a:lumMod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矩形 21"/>
          <p:cNvSpPr/>
          <p:nvPr/>
        </p:nvSpPr>
        <p:spPr>
          <a:xfrm>
            <a:off x="904875" y="980728"/>
            <a:ext cx="228600" cy="2304256"/>
          </a:xfrm>
          <a:prstGeom prst="rect">
            <a:avLst/>
          </a:prstGeom>
          <a:solidFill>
            <a:schemeClr val="accent1">
              <a:lumMod val="75000"/>
            </a:schemeClr>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矩形 31"/>
          <p:cNvSpPr/>
          <p:nvPr/>
        </p:nvSpPr>
        <p:spPr>
          <a:xfrm>
            <a:off x="904875" y="3356992"/>
            <a:ext cx="238125" cy="1656184"/>
          </a:xfrm>
          <a:prstGeom prst="rect">
            <a:avLst/>
          </a:prstGeom>
          <a:solidFill>
            <a:schemeClr val="accent3">
              <a:lumMod val="75000"/>
            </a:schemeClr>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b="1">
                <a:latin typeface="+mn-lt"/>
              </a:defRPr>
            </a:lvl1pPr>
          </a:lstStyle>
          <a:p>
            <a:r>
              <a:rPr kumimoji="0" lang="zh-TW" altLang="en-US" dirty="0" smtClean="0"/>
              <a:t>按一下以編輯母片標題樣式</a:t>
            </a:r>
            <a:endParaRPr kumimoji="0" lang="en-US" dirty="0"/>
          </a:p>
        </p:txBody>
      </p:sp>
      <p:sp>
        <p:nvSpPr>
          <p:cNvPr id="4" name="日期版面配置區 3"/>
          <p:cNvSpPr>
            <a:spLocks noGrp="1"/>
          </p:cNvSpPr>
          <p:nvPr>
            <p:ph type="dt" sz="half" idx="10"/>
          </p:nvPr>
        </p:nvSpPr>
        <p:spPr/>
        <p:txBody>
          <a:bodyPr/>
          <a:lstStyle/>
          <a:p>
            <a:r>
              <a:rPr lang="en-US" altLang="zh-TW" smtClean="0"/>
              <a:t>2012/12/10</a:t>
            </a:r>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8" name="內容版面配置區 7"/>
          <p:cNvSpPr>
            <a:spLocks noGrp="1"/>
          </p:cNvSpPr>
          <p:nvPr>
            <p:ph sz="quarter" idx="1"/>
          </p:nvPr>
        </p:nvSpPr>
        <p:spPr>
          <a:xfrm>
            <a:off x="457200" y="1219200"/>
            <a:ext cx="8229600" cy="4937760"/>
          </a:xfrm>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eaLnBrk="1" latinLnBrk="0" hangingPunct="1"/>
            <a:r>
              <a:rPr lang="zh-TW" altLang="en-US" dirty="0" smtClean="0"/>
              <a:t>按一下以編輯母片文字樣式</a:t>
            </a:r>
          </a:p>
          <a:p>
            <a:pPr lvl="1" eaLnBrk="1" latinLnBrk="0" hangingPunct="1"/>
            <a:r>
              <a:rPr lang="zh-TW" altLang="en-US" dirty="0" smtClean="0"/>
              <a:t>第二層</a:t>
            </a:r>
          </a:p>
          <a:p>
            <a:pPr lvl="2" eaLnBrk="1" latinLnBrk="0" hangingPunct="1"/>
            <a:r>
              <a:rPr lang="zh-TW" altLang="en-US" dirty="0" smtClean="0"/>
              <a:t>第三層</a:t>
            </a:r>
          </a:p>
          <a:p>
            <a:pPr lvl="3" eaLnBrk="1" latinLnBrk="0" hangingPunct="1"/>
            <a:r>
              <a:rPr lang="zh-TW" altLang="en-US" dirty="0" smtClean="0"/>
              <a:t>第四層</a:t>
            </a:r>
          </a:p>
          <a:p>
            <a:pPr lvl="4" eaLnBrk="1" latinLnBrk="0" hangingPunct="1"/>
            <a:r>
              <a:rPr lang="zh-TW" altLang="en-US" dirty="0" smtClean="0"/>
              <a:t>第五層</a:t>
            </a:r>
            <a:endParaRPr kumimoji="0"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Ref idx="1001">
        <a:schemeClr val="bg2"/>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TW" altLang="en-US" smtClean="0"/>
              <a:t>按一下以編輯母片文字樣式</a:t>
            </a:r>
          </a:p>
        </p:txBody>
      </p:sp>
      <p:sp>
        <p:nvSpPr>
          <p:cNvPr id="4" name="日期版面配置區 3"/>
          <p:cNvSpPr>
            <a:spLocks noGrp="1"/>
          </p:cNvSpPr>
          <p:nvPr>
            <p:ph type="dt" sz="half" idx="10"/>
          </p:nvPr>
        </p:nvSpPr>
        <p:spPr>
          <a:xfrm>
            <a:off x="6400800" y="6355080"/>
            <a:ext cx="2286000" cy="365760"/>
          </a:xfrm>
        </p:spPr>
        <p:txBody>
          <a:bodyPr/>
          <a:lstStyle/>
          <a:p>
            <a:r>
              <a:rPr lang="en-US" altLang="zh-TW" smtClean="0"/>
              <a:t>2012/12/10</a:t>
            </a:r>
            <a:endParaRPr lang="zh-TW" altLang="en-US"/>
          </a:p>
        </p:txBody>
      </p:sp>
      <p:sp>
        <p:nvSpPr>
          <p:cNvPr id="5" name="頁尾版面配置區 4"/>
          <p:cNvSpPr>
            <a:spLocks noGrp="1"/>
          </p:cNvSpPr>
          <p:nvPr>
            <p:ph type="ftr" sz="quarter" idx="11"/>
          </p:nvPr>
        </p:nvSpPr>
        <p:spPr>
          <a:xfrm>
            <a:off x="2898648" y="6355080"/>
            <a:ext cx="3474720" cy="365760"/>
          </a:xfrm>
        </p:spPr>
        <p:txBody>
          <a:bodyPr/>
          <a:lstStyle/>
          <a:p>
            <a:endParaRPr lang="zh-TW" altLang="en-US"/>
          </a:p>
        </p:txBody>
      </p:sp>
      <p:sp>
        <p:nvSpPr>
          <p:cNvPr id="6" name="投影片編號版面配置區 5"/>
          <p:cNvSpPr>
            <a:spLocks noGrp="1"/>
          </p:cNvSpPr>
          <p:nvPr>
            <p:ph type="sldNum" sz="quarter" idx="12"/>
          </p:nvPr>
        </p:nvSpPr>
        <p:spPr>
          <a:xfrm>
            <a:off x="1069848" y="6355080"/>
            <a:ext cx="1520952" cy="365760"/>
          </a:xfrm>
        </p:spPr>
        <p:txBody>
          <a:bodyPr/>
          <a:lstStyle/>
          <a:p>
            <a:fld id="{61A04B93-F247-42E5-95CE-B8478AD23DB7}" type="slidenum">
              <a:rPr lang="zh-TW" altLang="en-US" smtClean="0"/>
              <a:t>‹#›</a:t>
            </a:fld>
            <a:endParaRPr lang="zh-TW" altLang="en-US"/>
          </a:p>
        </p:txBody>
      </p:sp>
      <p:sp>
        <p:nvSpPr>
          <p:cNvPr id="7" name="矩形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914400"/>
          </a:xfrm>
        </p:spPr>
        <p:txBody>
          <a:bodyPr/>
          <a:lstStyle/>
          <a:p>
            <a:r>
              <a:rPr kumimoji="0" lang="zh-TW" altLang="en-US" smtClean="0"/>
              <a:t>按一下以編輯母片標題樣式</a:t>
            </a:r>
            <a:endParaRPr kumimoji="0" lang="en-US"/>
          </a:p>
        </p:txBody>
      </p:sp>
      <p:sp>
        <p:nvSpPr>
          <p:cNvPr id="5" name="日期版面配置區 4"/>
          <p:cNvSpPr>
            <a:spLocks noGrp="1"/>
          </p:cNvSpPr>
          <p:nvPr>
            <p:ph type="dt" sz="half" idx="10"/>
          </p:nvPr>
        </p:nvSpPr>
        <p:spPr/>
        <p:txBody>
          <a:bodyPr/>
          <a:lstStyle/>
          <a:p>
            <a:r>
              <a:rPr lang="en-US" altLang="zh-TW" smtClean="0"/>
              <a:t>2012/12/10</a:t>
            </a:r>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9" name="內容版面配置區 8"/>
          <p:cNvSpPr>
            <a:spLocks noGrp="1"/>
          </p:cNvSpPr>
          <p:nvPr>
            <p:ph sz="quarter" idx="1"/>
          </p:nvPr>
        </p:nvSpPr>
        <p:spPr>
          <a:xfrm>
            <a:off x="457200" y="1219200"/>
            <a:ext cx="4041648" cy="493776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11" name="內容版面配置區 10"/>
          <p:cNvSpPr>
            <a:spLocks noGrp="1"/>
          </p:cNvSpPr>
          <p:nvPr>
            <p:ph sz="quarter" idx="2"/>
          </p:nvPr>
        </p:nvSpPr>
        <p:spPr>
          <a:xfrm>
            <a:off x="4632198" y="1216152"/>
            <a:ext cx="4041648" cy="493776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914400"/>
          </a:xfrm>
        </p:spPr>
        <p:txBody>
          <a:bodyPr anchor="ctr"/>
          <a:lstStyle>
            <a:lvl1pPr>
              <a:defRPr/>
            </a:lvl1pPr>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smtClean="0"/>
              <a:t>按一下以編輯母片文字樣式</a:t>
            </a:r>
          </a:p>
        </p:txBody>
      </p:sp>
      <p:sp>
        <p:nvSpPr>
          <p:cNvPr id="4" name="文字版面配置區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smtClean="0"/>
              <a:t>按一下以編輯母片文字樣式</a:t>
            </a:r>
          </a:p>
        </p:txBody>
      </p:sp>
      <p:sp>
        <p:nvSpPr>
          <p:cNvPr id="7" name="日期版面配置區 6"/>
          <p:cNvSpPr>
            <a:spLocks noGrp="1"/>
          </p:cNvSpPr>
          <p:nvPr>
            <p:ph type="dt" sz="half" idx="10"/>
          </p:nvPr>
        </p:nvSpPr>
        <p:spPr/>
        <p:txBody>
          <a:bodyPr/>
          <a:lstStyle/>
          <a:p>
            <a:r>
              <a:rPr lang="en-US" altLang="zh-TW" smtClean="0"/>
              <a:t>2012/12/10</a:t>
            </a:r>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11" name="內容版面配置區 10"/>
          <p:cNvSpPr>
            <a:spLocks noGrp="1"/>
          </p:cNvSpPr>
          <p:nvPr>
            <p:ph sz="quarter" idx="2"/>
          </p:nvPr>
        </p:nvSpPr>
        <p:spPr>
          <a:xfrm>
            <a:off x="457200" y="2133600"/>
            <a:ext cx="4038600" cy="40386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13" name="內容版面配置區 12"/>
          <p:cNvSpPr>
            <a:spLocks noGrp="1"/>
          </p:cNvSpPr>
          <p:nvPr>
            <p:ph sz="quarter" idx="4"/>
          </p:nvPr>
        </p:nvSpPr>
        <p:spPr>
          <a:xfrm>
            <a:off x="4648200" y="2133600"/>
            <a:ext cx="4038600" cy="40386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914400"/>
          </a:xfrm>
        </p:spPr>
        <p:txBody>
          <a:bodyPr/>
          <a:lstStyle/>
          <a:p>
            <a:r>
              <a:rPr kumimoji="0" lang="zh-TW" altLang="en-US" smtClean="0"/>
              <a:t>按一下以編輯母片標題樣式</a:t>
            </a:r>
            <a:endParaRPr kumimoji="0" lang="en-US"/>
          </a:p>
        </p:txBody>
      </p:sp>
      <p:sp>
        <p:nvSpPr>
          <p:cNvPr id="3" name="日期版面配置區 2"/>
          <p:cNvSpPr>
            <a:spLocks noGrp="1"/>
          </p:cNvSpPr>
          <p:nvPr>
            <p:ph type="dt" sz="half" idx="10"/>
          </p:nvPr>
        </p:nvSpPr>
        <p:spPr/>
        <p:txBody>
          <a:bodyPr/>
          <a:lstStyle/>
          <a:p>
            <a:r>
              <a:rPr lang="en-US" altLang="zh-TW" smtClean="0"/>
              <a:t>2012/12/10</a:t>
            </a:r>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6" name="等腰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r>
              <a:rPr lang="en-US" altLang="zh-TW" smtClean="0"/>
              <a:t>2012/12/10</a:t>
            </a:r>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5" name="直線接點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等腰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zh-TW" altLang="en-US" smtClean="0"/>
              <a:t>按一下以編輯母片標題樣式</a:t>
            </a:r>
            <a:endParaRPr kumimoji="0" lang="en-US"/>
          </a:p>
        </p:txBody>
      </p:sp>
      <p:sp>
        <p:nvSpPr>
          <p:cNvPr id="3" name="文字版面配置區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zh-TW" altLang="en-US" smtClean="0"/>
              <a:t>按一下以編輯母片文字樣式</a:t>
            </a:r>
          </a:p>
        </p:txBody>
      </p:sp>
      <p:sp>
        <p:nvSpPr>
          <p:cNvPr id="5" name="日期版面配置區 4"/>
          <p:cNvSpPr>
            <a:spLocks noGrp="1"/>
          </p:cNvSpPr>
          <p:nvPr>
            <p:ph type="dt" sz="half" idx="10"/>
          </p:nvPr>
        </p:nvSpPr>
        <p:spPr/>
        <p:txBody>
          <a:bodyPr/>
          <a:lstStyle/>
          <a:p>
            <a:r>
              <a:rPr lang="en-US" altLang="zh-TW" smtClean="0"/>
              <a:t>2012/12/10</a:t>
            </a:r>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8" name="直線接點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直線接點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等腰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內容版面配置區 11"/>
          <p:cNvSpPr>
            <a:spLocks noGrp="1"/>
          </p:cNvSpPr>
          <p:nvPr>
            <p:ph sz="quarter" idx="1"/>
          </p:nvPr>
        </p:nvSpPr>
        <p:spPr>
          <a:xfrm>
            <a:off x="304800" y="304800"/>
            <a:ext cx="5715000" cy="57150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bg>
      <p:bgRef idx="1001">
        <a:schemeClr val="bg2"/>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zh-TW" altLang="en-US" smtClean="0"/>
              <a:t>按一下以編輯母片標題樣式</a:t>
            </a:r>
            <a:endParaRPr kumimoji="0" lang="en-US"/>
          </a:p>
        </p:txBody>
      </p:sp>
      <p:sp>
        <p:nvSpPr>
          <p:cNvPr id="3" name="圖片版面配置區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zh-TW" altLang="en-US" smtClean="0"/>
              <a:t>按一下圖示以新增圖片</a:t>
            </a:r>
            <a:endParaRPr kumimoji="0" lang="en-US" dirty="0"/>
          </a:p>
        </p:txBody>
      </p:sp>
      <p:sp>
        <p:nvSpPr>
          <p:cNvPr id="4" name="文字版面配置區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zh-TW" altLang="en-US" smtClean="0"/>
              <a:t>按一下以編輯母片文字樣式</a:t>
            </a:r>
          </a:p>
        </p:txBody>
      </p:sp>
      <p:sp>
        <p:nvSpPr>
          <p:cNvPr id="5" name="日期版面配置區 4"/>
          <p:cNvSpPr>
            <a:spLocks noGrp="1"/>
          </p:cNvSpPr>
          <p:nvPr>
            <p:ph type="dt" sz="half" idx="10"/>
          </p:nvPr>
        </p:nvSpPr>
        <p:spPr/>
        <p:txBody>
          <a:bodyPr/>
          <a:lstStyle/>
          <a:p>
            <a:r>
              <a:rPr lang="en-US" altLang="zh-TW" smtClean="0"/>
              <a:t>2012/12/10</a:t>
            </a:r>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8" name="直線接點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等腰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p:txBody>
          <a:bodyPr vert="eaVer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p:txBody>
          <a:bodyPr/>
          <a:lstStyle/>
          <a:p>
            <a:r>
              <a:rPr lang="en-US" altLang="zh-TW" smtClean="0"/>
              <a:t>2012/12/10</a:t>
            </a:r>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1A04B93-F247-42E5-95CE-B8478AD23DB7}"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p:txBody>
          <a:bodyPr/>
          <a:lstStyle/>
          <a:p>
            <a:r>
              <a:rPr lang="en-US" altLang="zh-TW" smtClean="0"/>
              <a:t>2012/12/10</a:t>
            </a:r>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7" name="直線接點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等腰三角形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直線接點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標題版面配置區 21"/>
          <p:cNvSpPr>
            <a:spLocks noGrp="1"/>
          </p:cNvSpPr>
          <p:nvPr>
            <p:ph type="title"/>
          </p:nvPr>
        </p:nvSpPr>
        <p:spPr>
          <a:xfrm>
            <a:off x="457200" y="152400"/>
            <a:ext cx="8229600" cy="990600"/>
          </a:xfrm>
          <a:prstGeom prst="rect">
            <a:avLst/>
          </a:prstGeom>
        </p:spPr>
        <p:txBody>
          <a:bodyPr vert="horz" anchor="b" anchorCtr="0">
            <a:normAutofit/>
          </a:bodyPr>
          <a:lstStyle/>
          <a:p>
            <a:r>
              <a:rPr kumimoji="0" lang="zh-TW" altLang="en-US" smtClean="0"/>
              <a:t>按一下以編輯母片標題樣式</a:t>
            </a:r>
            <a:endParaRPr kumimoji="0" lang="en-US"/>
          </a:p>
        </p:txBody>
      </p:sp>
      <p:sp>
        <p:nvSpPr>
          <p:cNvPr id="13" name="文字版面配置區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zh-TW" altLang="en-US" smtClean="0"/>
              <a:t>按一下以編輯母片文字樣式</a:t>
            </a:r>
          </a:p>
          <a:p>
            <a:pPr lvl="1" eaLnBrk="1" latinLnBrk="0" hangingPunct="1"/>
            <a:r>
              <a:rPr kumimoji="0" lang="zh-TW" altLang="en-US" smtClean="0"/>
              <a:t>第二層</a:t>
            </a:r>
          </a:p>
          <a:p>
            <a:pPr lvl="2" eaLnBrk="1" latinLnBrk="0" hangingPunct="1"/>
            <a:r>
              <a:rPr kumimoji="0" lang="zh-TW" altLang="en-US" smtClean="0"/>
              <a:t>第三層</a:t>
            </a:r>
          </a:p>
          <a:p>
            <a:pPr lvl="3" eaLnBrk="1" latinLnBrk="0" hangingPunct="1"/>
            <a:r>
              <a:rPr kumimoji="0" lang="zh-TW" altLang="en-US" smtClean="0"/>
              <a:t>第四層</a:t>
            </a:r>
          </a:p>
          <a:p>
            <a:pPr lvl="4" eaLnBrk="1" latinLnBrk="0" hangingPunct="1"/>
            <a:r>
              <a:rPr kumimoji="0" lang="zh-TW" altLang="en-US" smtClean="0"/>
              <a:t>第五層</a:t>
            </a:r>
            <a:endParaRPr kumimoji="0" lang="en-US"/>
          </a:p>
        </p:txBody>
      </p:sp>
      <p:sp>
        <p:nvSpPr>
          <p:cNvPr id="14" name="日期版面配置區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r>
              <a:rPr lang="en-US" altLang="zh-TW" smtClean="0"/>
              <a:t>2012/12/10</a:t>
            </a:r>
            <a:endParaRPr lang="zh-TW" altLang="en-US"/>
          </a:p>
        </p:txBody>
      </p:sp>
      <p:sp>
        <p:nvSpPr>
          <p:cNvPr id="3" name="頁尾版面配置區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zh-TW" altLang="en-US"/>
          </a:p>
        </p:txBody>
      </p:sp>
      <p:sp>
        <p:nvSpPr>
          <p:cNvPr id="23" name="投影片編號版面配置區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61A04B93-F247-42E5-95CE-B8478AD23DB7}" type="slidenum">
              <a:rPr lang="zh-TW" altLang="en-US" smtClean="0"/>
              <a:t>‹#›</a:t>
            </a:fld>
            <a:endParaRPr lang="zh-TW" altLang="en-US"/>
          </a:p>
        </p:txBody>
      </p:sp>
      <p:sp>
        <p:nvSpPr>
          <p:cNvPr id="28" name="直線接點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直線接點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等腰三角形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gif"/><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239416" y="1052736"/>
            <a:ext cx="6858000" cy="2160240"/>
          </a:xfrm>
        </p:spPr>
        <p:txBody>
          <a:bodyPr>
            <a:noAutofit/>
          </a:bodyPr>
          <a:lstStyle/>
          <a:p>
            <a:pPr algn="l" fontAlgn="base"/>
            <a:r>
              <a:rPr lang="en-US" altLang="zh-TW" dirty="0"/>
              <a:t>Combining discrete SVM and fixed cardinality warping distances for multivariate time series </a:t>
            </a:r>
            <a:r>
              <a:rPr lang="en-US" altLang="zh-TW" dirty="0" smtClean="0"/>
              <a:t>classification</a:t>
            </a:r>
            <a:r>
              <a:rPr lang="en-US" altLang="zh-TW" sz="3600" dirty="0"/>
              <a:t/>
            </a:r>
            <a:br>
              <a:rPr lang="en-US" altLang="zh-TW" sz="3600" dirty="0"/>
            </a:br>
            <a:r>
              <a:rPr lang="en-US" altLang="zh-TW" sz="1800" b="0" dirty="0" smtClean="0"/>
              <a:t>Pattern Recognition</a:t>
            </a:r>
            <a:r>
              <a:rPr lang="zh-TW" altLang="en-US" sz="1800" b="0" dirty="0" smtClean="0"/>
              <a:t> </a:t>
            </a:r>
            <a:r>
              <a:rPr lang="en-US" altLang="zh-TW" sz="1800" b="0" dirty="0" smtClean="0"/>
              <a:t/>
            </a:r>
            <a:br>
              <a:rPr lang="en-US" altLang="zh-TW" sz="1800" b="0" dirty="0" smtClean="0"/>
            </a:br>
            <a:r>
              <a:rPr lang="en-US" altLang="zh-TW" sz="1800" b="0" dirty="0" smtClean="0"/>
              <a:t>Volume </a:t>
            </a:r>
            <a:r>
              <a:rPr lang="en-US" altLang="zh-TW" sz="1800" b="0" dirty="0"/>
              <a:t>43, Issue 11, </a:t>
            </a:r>
            <a:r>
              <a:rPr lang="en-US" altLang="zh-TW" sz="1800" b="0" dirty="0" smtClean="0"/>
              <a:t>November </a:t>
            </a:r>
            <a:r>
              <a:rPr lang="en-US" altLang="zh-TW" sz="1800" b="0" dirty="0"/>
              <a:t>2010, </a:t>
            </a:r>
            <a:r>
              <a:rPr lang="en-US" altLang="zh-TW" sz="1800" b="0" dirty="0" smtClean="0"/>
              <a:t>Pages 3787–3794</a:t>
            </a:r>
            <a:endParaRPr lang="zh-TW" altLang="en-US" sz="1800" dirty="0"/>
          </a:p>
        </p:txBody>
      </p:sp>
      <p:sp>
        <p:nvSpPr>
          <p:cNvPr id="3" name="副標題 2"/>
          <p:cNvSpPr>
            <a:spLocks noGrp="1"/>
          </p:cNvSpPr>
          <p:nvPr>
            <p:ph type="subTitle" idx="1"/>
          </p:nvPr>
        </p:nvSpPr>
        <p:spPr>
          <a:xfrm>
            <a:off x="1285208" y="3501008"/>
            <a:ext cx="6817568" cy="1414812"/>
          </a:xfrm>
        </p:spPr>
        <p:txBody>
          <a:bodyPr>
            <a:normAutofit/>
          </a:bodyPr>
          <a:lstStyle/>
          <a:p>
            <a:pPr algn="l"/>
            <a:r>
              <a:rPr lang="en-US" altLang="zh-TW" sz="2400" dirty="0"/>
              <a:t>C. </a:t>
            </a:r>
            <a:r>
              <a:rPr lang="en-US" altLang="zh-TW" sz="2400" dirty="0" err="1" smtClean="0"/>
              <a:t>Orsenigo</a:t>
            </a:r>
            <a:r>
              <a:rPr lang="en-US" altLang="zh-TW" sz="2400" dirty="0" smtClean="0"/>
              <a:t>,</a:t>
            </a:r>
            <a:r>
              <a:rPr lang="zh-TW" altLang="en-US" sz="2400" dirty="0" smtClean="0"/>
              <a:t> </a:t>
            </a:r>
            <a:r>
              <a:rPr lang="en-US" altLang="zh-TW" sz="2400" dirty="0" smtClean="0"/>
              <a:t>C.</a:t>
            </a:r>
            <a:r>
              <a:rPr lang="zh-TW" altLang="en-US" sz="2400" dirty="0" smtClean="0"/>
              <a:t> </a:t>
            </a:r>
            <a:r>
              <a:rPr lang="en-US" altLang="zh-TW" sz="2400" dirty="0" err="1" smtClean="0"/>
              <a:t>Vercellis</a:t>
            </a:r>
            <a:r>
              <a:rPr lang="en-US" altLang="zh-TW" dirty="0" smtClean="0">
                <a:solidFill>
                  <a:schemeClr val="tx1"/>
                </a:solidFill>
              </a:rPr>
              <a:t/>
            </a:r>
            <a:br>
              <a:rPr lang="en-US" altLang="zh-TW" dirty="0" smtClean="0">
                <a:solidFill>
                  <a:schemeClr val="tx1"/>
                </a:solidFill>
              </a:rPr>
            </a:br>
            <a:r>
              <a:rPr lang="it-IT" altLang="zh-TW" dirty="0"/>
              <a:t>Dipartimento di Ingegneria Gestionale, Politecnico di Milano, Via Lambruschini 4b, 20156 Milano, Italy</a:t>
            </a:r>
            <a:endParaRPr lang="en-US" altLang="zh-TW" dirty="0"/>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a:t>
            </a:fld>
            <a:endParaRPr lang="zh-TW" altLang="en-US" dirty="0"/>
          </a:p>
        </p:txBody>
      </p:sp>
      <p:sp>
        <p:nvSpPr>
          <p:cNvPr id="5" name="日期版面配置區 4"/>
          <p:cNvSpPr>
            <a:spLocks noGrp="1"/>
          </p:cNvSpPr>
          <p:nvPr>
            <p:ph type="dt" sz="half" idx="10"/>
          </p:nvPr>
        </p:nvSpPr>
        <p:spPr/>
        <p:txBody>
          <a:bodyPr/>
          <a:lstStyle/>
          <a:p>
            <a:r>
              <a:rPr lang="en-US" altLang="zh-TW" smtClean="0"/>
              <a:t>2012/12/10</a:t>
            </a:r>
            <a:endParaRPr lang="zh-TW" altLang="en-US" dirty="0"/>
          </a:p>
        </p:txBody>
      </p:sp>
      <p:sp>
        <p:nvSpPr>
          <p:cNvPr id="6" name="副標題 2"/>
          <p:cNvSpPr txBox="1">
            <a:spLocks/>
          </p:cNvSpPr>
          <p:nvPr/>
        </p:nvSpPr>
        <p:spPr>
          <a:xfrm>
            <a:off x="1259632" y="5257008"/>
            <a:ext cx="6817568" cy="413196"/>
          </a:xfrm>
          <a:prstGeom prst="rect">
            <a:avLst/>
          </a:prstGeom>
        </p:spPr>
        <p:txBody>
          <a:bodyPr vert="horz">
            <a:noAutofit/>
          </a:bodyPr>
          <a:lstStyle>
            <a:lvl1pPr marL="0" indent="0" algn="r" rtl="0" eaLnBrk="1" latinLnBrk="0" hangingPunct="1">
              <a:spcBef>
                <a:spcPts val="600"/>
              </a:spcBef>
              <a:buClr>
                <a:schemeClr val="accent1"/>
              </a:buClr>
              <a:buSzPct val="76000"/>
              <a:buFont typeface="Wingdings 3"/>
              <a:buNone/>
              <a:defRPr kumimoji="0" sz="2000" kern="1200">
                <a:solidFill>
                  <a:schemeClr val="tx2"/>
                </a:solidFill>
                <a:latin typeface="+mj-lt"/>
                <a:ea typeface="+mj-ea"/>
                <a:cs typeface="+mj-cs"/>
              </a:defRPr>
            </a:lvl1pPr>
            <a:lvl2pPr marL="457200" indent="0" algn="ctr" rtl="0" eaLnBrk="1" latinLnBrk="0" hangingPunct="1">
              <a:spcBef>
                <a:spcPts val="500"/>
              </a:spcBef>
              <a:buClr>
                <a:schemeClr val="accent2"/>
              </a:buClr>
              <a:buSzPct val="76000"/>
              <a:buFont typeface="Wingdings 3"/>
              <a:buNone/>
              <a:defRPr kumimoji="0" sz="2300" kern="1200">
                <a:solidFill>
                  <a:schemeClr val="tx2"/>
                </a:solidFill>
                <a:latin typeface="+mn-lt"/>
                <a:ea typeface="+mn-ea"/>
                <a:cs typeface="+mn-cs"/>
              </a:defRPr>
            </a:lvl2pPr>
            <a:lvl3pPr marL="914400" indent="0" algn="ctr" rtl="0" eaLnBrk="1" latinLnBrk="0" hangingPunct="1">
              <a:spcBef>
                <a:spcPts val="500"/>
              </a:spcBef>
              <a:buClr>
                <a:schemeClr val="bg1">
                  <a:shade val="50000"/>
                </a:schemeClr>
              </a:buClr>
              <a:buSzPct val="76000"/>
              <a:buFont typeface="Wingdings 3"/>
              <a:buNone/>
              <a:defRPr kumimoji="0" sz="2000" kern="1200">
                <a:solidFill>
                  <a:schemeClr val="tx1"/>
                </a:solidFill>
                <a:latin typeface="+mn-lt"/>
                <a:ea typeface="+mn-ea"/>
                <a:cs typeface="+mn-cs"/>
              </a:defRPr>
            </a:lvl3pPr>
            <a:lvl4pPr marL="1371600" indent="0" algn="ctr" rtl="0" eaLnBrk="1" latinLnBrk="0" hangingPunct="1">
              <a:spcBef>
                <a:spcPts val="400"/>
              </a:spcBef>
              <a:buClr>
                <a:schemeClr val="accent2">
                  <a:shade val="75000"/>
                </a:schemeClr>
              </a:buClr>
              <a:buSzPct val="70000"/>
              <a:buFont typeface="Wingdings"/>
              <a:buNone/>
              <a:defRPr kumimoji="0" sz="1800" kern="1200">
                <a:solidFill>
                  <a:schemeClr val="tx1"/>
                </a:solidFill>
                <a:latin typeface="+mn-lt"/>
                <a:ea typeface="+mn-ea"/>
                <a:cs typeface="+mn-cs"/>
              </a:defRPr>
            </a:lvl4pPr>
            <a:lvl5pPr marL="1828800" indent="0" algn="ctr" rtl="0" eaLnBrk="1" latinLnBrk="0" hangingPunct="1">
              <a:spcBef>
                <a:spcPts val="300"/>
              </a:spcBef>
              <a:buClr>
                <a:schemeClr val="accent2"/>
              </a:buClr>
              <a:buSzPct val="70000"/>
              <a:buFont typeface="Wingdings"/>
              <a:buNone/>
              <a:defRPr kumimoji="0" sz="1600" kern="1200">
                <a:solidFill>
                  <a:schemeClr val="tx1"/>
                </a:solidFill>
                <a:latin typeface="+mn-lt"/>
                <a:ea typeface="+mn-ea"/>
                <a:cs typeface="+mn-cs"/>
              </a:defRPr>
            </a:lvl5pPr>
            <a:lvl6pPr marL="2286000" indent="0" algn="ctr" rtl="0" eaLnBrk="1" latinLnBrk="0" hangingPunct="1">
              <a:spcBef>
                <a:spcPts val="300"/>
              </a:spcBef>
              <a:buClr>
                <a:srgbClr val="9FB8CD">
                  <a:shade val="75000"/>
                </a:srgbClr>
              </a:buClr>
              <a:buSzPct val="75000"/>
              <a:buFont typeface="Wingdings 3"/>
              <a:buNone/>
              <a:defRPr kumimoji="0" lang="en-US" sz="1600" kern="1200" smtClean="0">
                <a:solidFill>
                  <a:schemeClr val="tx1"/>
                </a:solidFill>
                <a:latin typeface="+mn-lt"/>
                <a:ea typeface="+mn-ea"/>
                <a:cs typeface="+mn-cs"/>
              </a:defRPr>
            </a:lvl6pPr>
            <a:lvl7pPr marL="2743200" indent="0" algn="ctr" rtl="0" eaLnBrk="1" latinLnBrk="0" hangingPunct="1">
              <a:spcBef>
                <a:spcPts val="300"/>
              </a:spcBef>
              <a:buClr>
                <a:srgbClr val="727CA3">
                  <a:shade val="75000"/>
                </a:srgbClr>
              </a:buClr>
              <a:buSzPct val="75000"/>
              <a:buFont typeface="Wingdings 3"/>
              <a:buNone/>
              <a:defRPr kumimoji="0" lang="en-US" sz="1400" kern="1200" smtClean="0">
                <a:solidFill>
                  <a:schemeClr val="tx1"/>
                </a:solidFill>
                <a:latin typeface="+mn-lt"/>
                <a:ea typeface="+mn-ea"/>
                <a:cs typeface="+mn-cs"/>
              </a:defRPr>
            </a:lvl7pPr>
            <a:lvl8pPr marL="3200400" indent="0" algn="ctr" rtl="0" eaLnBrk="1" latinLnBrk="0" hangingPunct="1">
              <a:spcBef>
                <a:spcPts val="300"/>
              </a:spcBef>
              <a:buClr>
                <a:prstClr val="white">
                  <a:shade val="50000"/>
                </a:prstClr>
              </a:buClr>
              <a:buSzPct val="75000"/>
              <a:buFont typeface="Wingdings 3"/>
              <a:buNone/>
              <a:defRPr kumimoji="0" lang="en-US" sz="1400" kern="1200" smtClean="0">
                <a:solidFill>
                  <a:schemeClr val="tx1"/>
                </a:solidFill>
                <a:latin typeface="+mn-lt"/>
                <a:ea typeface="+mn-ea"/>
                <a:cs typeface="+mn-cs"/>
              </a:defRPr>
            </a:lvl8pPr>
            <a:lvl9pPr marL="3657600" indent="0" algn="ctr" rtl="0" eaLnBrk="1" latinLnBrk="0" hangingPunct="1">
              <a:spcBef>
                <a:spcPts val="300"/>
              </a:spcBef>
              <a:buClr>
                <a:srgbClr val="9FB8CD"/>
              </a:buClr>
              <a:buSzPct val="75000"/>
              <a:buFont typeface="Wingdings 3"/>
              <a:buNone/>
              <a:defRPr kumimoji="0" lang="en-US" sz="1200" kern="1200" smtClean="0">
                <a:solidFill>
                  <a:schemeClr val="tx1"/>
                </a:solidFill>
                <a:latin typeface="+mn-lt"/>
                <a:ea typeface="+mn-ea"/>
                <a:cs typeface="+mn-cs"/>
              </a:defRPr>
            </a:lvl9pPr>
          </a:lstStyle>
          <a:p>
            <a:pPr algn="l"/>
            <a:r>
              <a:rPr lang="en-US" altLang="zh-TW" sz="2400" dirty="0" err="1" smtClean="0">
                <a:solidFill>
                  <a:schemeClr val="tx1"/>
                </a:solidFill>
              </a:rPr>
              <a:t>Presentor</a:t>
            </a:r>
            <a:r>
              <a:rPr lang="zh-TW" altLang="en-US" sz="2400" dirty="0" smtClean="0">
                <a:solidFill>
                  <a:schemeClr val="tx1"/>
                </a:solidFill>
              </a:rPr>
              <a:t>：</a:t>
            </a:r>
            <a:r>
              <a:rPr lang="en-US" altLang="zh-TW" sz="2400" dirty="0" err="1" smtClean="0">
                <a:solidFill>
                  <a:schemeClr val="tx1"/>
                </a:solidFill>
              </a:rPr>
              <a:t>Hsin-Chuan</a:t>
            </a:r>
            <a:r>
              <a:rPr lang="en-US" altLang="zh-TW" sz="2400" dirty="0" smtClean="0">
                <a:solidFill>
                  <a:schemeClr val="tx1"/>
                </a:solidFill>
              </a:rPr>
              <a:t> Yuan</a:t>
            </a:r>
            <a:endParaRPr lang="zh-TW" altLang="en-US" sz="2400" dirty="0">
              <a:solidFill>
                <a:schemeClr val="tx1"/>
              </a:solidFill>
            </a:endParaRPr>
          </a:p>
        </p:txBody>
      </p:sp>
    </p:spTree>
    <p:extLst>
      <p:ext uri="{BB962C8B-B14F-4D97-AF65-F5344CB8AC3E}">
        <p14:creationId xmlns:p14="http://schemas.microsoft.com/office/powerpoint/2010/main" val="16631364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solidFill>
                  <a:schemeClr val="tx1"/>
                </a:solidFill>
              </a:rPr>
              <a:t>Abstract</a:t>
            </a:r>
            <a:endParaRPr lang="zh-TW" altLang="en-US" b="1" dirty="0">
              <a:solidFill>
                <a:schemeClr val="tx1"/>
              </a:solidFill>
            </a:endParaRPr>
          </a:p>
        </p:txBody>
      </p:sp>
      <p:sp>
        <p:nvSpPr>
          <p:cNvPr id="3" name="內容版面配置區 2"/>
          <p:cNvSpPr>
            <a:spLocks noGrp="1"/>
          </p:cNvSpPr>
          <p:nvPr>
            <p:ph sz="quarter" idx="1"/>
          </p:nvPr>
        </p:nvSpPr>
        <p:spPr/>
        <p:txBody>
          <a:bodyPr>
            <a:noAutofit/>
          </a:bodyPr>
          <a:lstStyle/>
          <a:p>
            <a:r>
              <a:rPr lang="en-US" altLang="zh-TW" dirty="0"/>
              <a:t>Time series classification is a supervised learning problem aimed at labeling temporally structured multivariate sequences of variable length. The most common approach reduces time series classification to a static problem by suitably transforming the set of multivariate input sequences into a rectangular table composed by a fixed number of columns. Then, one of the alternative efficient methods for classification is applied for predicting the class of new temporal sequences. </a:t>
            </a:r>
            <a:endParaRPr lang="zh-TW" altLang="en-US" dirty="0">
              <a:latin typeface="+mj-lt"/>
              <a:ea typeface="+mj-ea"/>
            </a:endParaRPr>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2</a:t>
            </a:fld>
            <a:endParaRPr lang="zh-TW" altLang="en-US"/>
          </a:p>
        </p:txBody>
      </p:sp>
      <p:sp>
        <p:nvSpPr>
          <p:cNvPr id="5" name="日期版面配置區 4"/>
          <p:cNvSpPr>
            <a:spLocks noGrp="1"/>
          </p:cNvSpPr>
          <p:nvPr>
            <p:ph type="dt" sz="half" idx="10"/>
          </p:nvPr>
        </p:nvSpPr>
        <p:spPr/>
        <p:txBody>
          <a:bodyPr/>
          <a:lstStyle/>
          <a:p>
            <a:r>
              <a:rPr lang="en-US" altLang="zh-TW" smtClean="0"/>
              <a:t>2012/12/10</a:t>
            </a:r>
            <a:endParaRPr lang="zh-TW" altLang="en-US"/>
          </a:p>
        </p:txBody>
      </p:sp>
    </p:spTree>
    <p:extLst>
      <p:ext uri="{BB962C8B-B14F-4D97-AF65-F5344CB8AC3E}">
        <p14:creationId xmlns:p14="http://schemas.microsoft.com/office/powerpoint/2010/main" val="14373443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solidFill>
                  <a:schemeClr val="tx1"/>
                </a:solidFill>
              </a:rPr>
              <a:t>Abstract</a:t>
            </a:r>
            <a:endParaRPr lang="zh-TW" altLang="en-US" dirty="0">
              <a:solidFill>
                <a:schemeClr val="tx1"/>
              </a:solidFill>
            </a:endParaRPr>
          </a:p>
        </p:txBody>
      </p:sp>
      <p:sp>
        <p:nvSpPr>
          <p:cNvPr id="3" name="內容版面配置區 2"/>
          <p:cNvSpPr>
            <a:spLocks noGrp="1"/>
          </p:cNvSpPr>
          <p:nvPr>
            <p:ph sz="quarter" idx="1"/>
          </p:nvPr>
        </p:nvSpPr>
        <p:spPr/>
        <p:txBody>
          <a:bodyPr>
            <a:noAutofit/>
          </a:bodyPr>
          <a:lstStyle/>
          <a:p>
            <a:r>
              <a:rPr lang="en-US" altLang="zh-TW" dirty="0"/>
              <a:t>In this paper, we propose a new classification method, based on a temporal extension of discrete support vector machines, that benefits from the notions of warping distance and softened variable margin. Furthermore, in order to transform a temporal dataset into a rectangular shape, we also develop a new method based on fixed cardinality warping distances. Computational tests performed on both benchmark and real marketing temporal datasets indicate the effectiveness of the proposed method in comparison to other techniques.</a:t>
            </a:r>
            <a:endParaRPr lang="zh-TW" altLang="en-US" dirty="0"/>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3</a:t>
            </a:fld>
            <a:endParaRPr lang="zh-TW" altLang="en-US"/>
          </a:p>
        </p:txBody>
      </p:sp>
      <p:sp>
        <p:nvSpPr>
          <p:cNvPr id="5" name="日期版面配置區 4"/>
          <p:cNvSpPr>
            <a:spLocks noGrp="1"/>
          </p:cNvSpPr>
          <p:nvPr>
            <p:ph type="dt" sz="half" idx="10"/>
          </p:nvPr>
        </p:nvSpPr>
        <p:spPr/>
        <p:txBody>
          <a:bodyPr/>
          <a:lstStyle/>
          <a:p>
            <a:r>
              <a:rPr lang="en-US" altLang="zh-TW" smtClean="0"/>
              <a:t>2012/12/10</a:t>
            </a:r>
            <a:endParaRPr lang="zh-TW" altLang="en-US"/>
          </a:p>
        </p:txBody>
      </p:sp>
    </p:spTree>
    <p:extLst>
      <p:ext uri="{BB962C8B-B14F-4D97-AF65-F5344CB8AC3E}">
        <p14:creationId xmlns:p14="http://schemas.microsoft.com/office/powerpoint/2010/main" val="6953074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0" dirty="0" smtClean="0"/>
              <a:t>Introduce</a:t>
            </a:r>
            <a:endParaRPr lang="zh-TW" altLang="en-US" b="0" dirty="0"/>
          </a:p>
        </p:txBody>
      </p:sp>
      <p:sp>
        <p:nvSpPr>
          <p:cNvPr id="3" name="日期版面配置區 2"/>
          <p:cNvSpPr>
            <a:spLocks noGrp="1"/>
          </p:cNvSpPr>
          <p:nvPr>
            <p:ph type="dt" sz="half" idx="10"/>
          </p:nvPr>
        </p:nvSpPr>
        <p:spPr/>
        <p:txBody>
          <a:bodyPr/>
          <a:lstStyle/>
          <a:p>
            <a:r>
              <a:rPr lang="en-US" altLang="zh-TW" smtClean="0"/>
              <a:t>2012/12/10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4</a:t>
            </a:fld>
            <a:endParaRPr lang="zh-TW" altLang="en-US"/>
          </a:p>
        </p:txBody>
      </p:sp>
      <p:sp>
        <p:nvSpPr>
          <p:cNvPr id="5" name="內容版面配置區 4"/>
          <p:cNvSpPr>
            <a:spLocks noGrp="1"/>
          </p:cNvSpPr>
          <p:nvPr>
            <p:ph sz="quarter" idx="1"/>
          </p:nvPr>
        </p:nvSpPr>
        <p:spPr/>
        <p:txBody>
          <a:bodyPr/>
          <a:lstStyle/>
          <a:p>
            <a:r>
              <a:rPr lang="en-US" altLang="zh-TW" dirty="0" smtClean="0"/>
              <a:t>A </a:t>
            </a:r>
            <a:r>
              <a:rPr lang="en-US" altLang="zh-TW" dirty="0"/>
              <a:t>new framework for </a:t>
            </a:r>
            <a:r>
              <a:rPr lang="en-US" altLang="zh-TW" dirty="0">
                <a:solidFill>
                  <a:srgbClr val="FF0000"/>
                </a:solidFill>
              </a:rPr>
              <a:t>the classification of multivariate time series of variable length </a:t>
            </a:r>
            <a:r>
              <a:rPr lang="en-US" altLang="zh-TW" dirty="0"/>
              <a:t>composed by a two-phase procedure</a:t>
            </a:r>
            <a:r>
              <a:rPr lang="en-US" altLang="zh-TW" dirty="0" smtClean="0"/>
              <a:t>.</a:t>
            </a:r>
          </a:p>
          <a:p>
            <a:endParaRPr lang="en-US" altLang="zh-TW" dirty="0" smtClean="0"/>
          </a:p>
          <a:p>
            <a:pPr marL="731520" lvl="1" indent="-457200">
              <a:buFont typeface="+mj-lt"/>
              <a:buAutoNum type="arabicPeriod"/>
            </a:pPr>
            <a:r>
              <a:rPr lang="en-US" altLang="zh-TW" dirty="0"/>
              <a:t>time series are converted into sequences of the same length by means of </a:t>
            </a:r>
            <a:r>
              <a:rPr lang="en-US" altLang="zh-TW" dirty="0">
                <a:solidFill>
                  <a:srgbClr val="C00000"/>
                </a:solidFill>
              </a:rPr>
              <a:t>a new rectangularization technique based on a fixed cardinality version of the warping </a:t>
            </a:r>
            <a:r>
              <a:rPr lang="en-US" altLang="zh-TW" dirty="0" smtClean="0">
                <a:solidFill>
                  <a:srgbClr val="C00000"/>
                </a:solidFill>
              </a:rPr>
              <a:t>distance.</a:t>
            </a:r>
          </a:p>
          <a:p>
            <a:pPr marL="731520" lvl="1" indent="-457200">
              <a:buFont typeface="+mj-lt"/>
              <a:buAutoNum type="arabicPeriod"/>
            </a:pPr>
            <a:endParaRPr lang="en-US" altLang="zh-TW" dirty="0" smtClean="0"/>
          </a:p>
          <a:p>
            <a:pPr marL="731520" lvl="1" indent="-457200">
              <a:buFont typeface="+mj-lt"/>
              <a:buAutoNum type="arabicPeriod"/>
            </a:pPr>
            <a:r>
              <a:rPr lang="en-US" altLang="zh-TW" dirty="0"/>
              <a:t>for addressing the classification </a:t>
            </a:r>
            <a:r>
              <a:rPr lang="en-US" altLang="zh-TW" dirty="0" smtClean="0"/>
              <a:t>task, </a:t>
            </a:r>
            <a:r>
              <a:rPr lang="en-US" altLang="zh-TW" dirty="0"/>
              <a:t>we have developed a </a:t>
            </a:r>
            <a:r>
              <a:rPr lang="en-US" altLang="zh-TW" dirty="0">
                <a:solidFill>
                  <a:srgbClr val="FF0000"/>
                </a:solidFill>
              </a:rPr>
              <a:t>temporal variant of discrete </a:t>
            </a:r>
            <a:r>
              <a:rPr lang="en-US" altLang="zh-TW" dirty="0" smtClean="0">
                <a:solidFill>
                  <a:srgbClr val="FF0000"/>
                </a:solidFill>
              </a:rPr>
              <a:t>SVM.</a:t>
            </a:r>
            <a:endParaRPr lang="zh-TW" altLang="en-US" dirty="0">
              <a:solidFill>
                <a:srgbClr val="FF0000"/>
              </a:solidFill>
            </a:endParaRPr>
          </a:p>
        </p:txBody>
      </p:sp>
    </p:spTree>
    <p:extLst>
      <p:ext uri="{BB962C8B-B14F-4D97-AF65-F5344CB8AC3E}">
        <p14:creationId xmlns:p14="http://schemas.microsoft.com/office/powerpoint/2010/main" val="81733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0" dirty="0" smtClean="0"/>
              <a:t>Static </a:t>
            </a:r>
            <a:r>
              <a:rPr lang="en-US" altLang="zh-TW" b="0" dirty="0"/>
              <a:t>classification problem</a:t>
            </a:r>
            <a:endParaRPr lang="zh-TW" altLang="en-US" dirty="0"/>
          </a:p>
        </p:txBody>
      </p:sp>
      <p:sp>
        <p:nvSpPr>
          <p:cNvPr id="3" name="日期版面配置區 2"/>
          <p:cNvSpPr>
            <a:spLocks noGrp="1"/>
          </p:cNvSpPr>
          <p:nvPr>
            <p:ph type="dt" sz="half" idx="10"/>
          </p:nvPr>
        </p:nvSpPr>
        <p:spPr/>
        <p:txBody>
          <a:bodyPr/>
          <a:lstStyle/>
          <a:p>
            <a:r>
              <a:rPr lang="en-US" altLang="zh-TW" smtClean="0"/>
              <a:t>2012/12/10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5</a:t>
            </a:fld>
            <a:endParaRPr lang="zh-TW" altLang="en-US"/>
          </a:p>
        </p:txBody>
      </p:sp>
      <p:sp>
        <p:nvSpPr>
          <p:cNvPr id="5" name="內容版面配置區 4"/>
          <p:cNvSpPr>
            <a:spLocks noGrp="1"/>
          </p:cNvSpPr>
          <p:nvPr>
            <p:ph sz="quarter" idx="1"/>
          </p:nvPr>
        </p:nvSpPr>
        <p:spPr/>
        <p:txBody>
          <a:bodyPr/>
          <a:lstStyle/>
          <a:p>
            <a:r>
              <a:rPr lang="en-US" altLang="zh-TW" dirty="0" smtClean="0"/>
              <a:t>a set of training </a:t>
            </a:r>
            <a:r>
              <a:rPr lang="en-US" altLang="zh-TW" dirty="0"/>
              <a:t>input–output </a:t>
            </a:r>
            <a:r>
              <a:rPr lang="en-US" altLang="zh-TW" i="1" dirty="0"/>
              <a:t>examples</a:t>
            </a:r>
            <a:endParaRPr lang="en-US" altLang="zh-TW" i="1" dirty="0" smtClean="0"/>
          </a:p>
          <a:p>
            <a:pPr lvl="1"/>
            <a:r>
              <a:rPr lang="en-US" altLang="zh-TW" i="1" dirty="0" smtClean="0"/>
              <a:t>S</a:t>
            </a:r>
            <a:r>
              <a:rPr lang="en-US" altLang="zh-TW" i="1" baseline="-25000" dirty="0" smtClean="0"/>
              <a:t>m</a:t>
            </a:r>
            <a:r>
              <a:rPr lang="en-US" altLang="zh-TW" dirty="0"/>
              <a:t>={(</a:t>
            </a:r>
            <a:r>
              <a:rPr lang="en-US" altLang="zh-TW" i="1" dirty="0" smtClean="0"/>
              <a:t>x</a:t>
            </a:r>
            <a:r>
              <a:rPr lang="en-US" altLang="zh-TW" i="1" baseline="-25000" dirty="0" smtClean="0"/>
              <a:t>i </a:t>
            </a:r>
            <a:r>
              <a:rPr lang="en-US" altLang="zh-TW" dirty="0" smtClean="0"/>
              <a:t>, </a:t>
            </a:r>
            <a:r>
              <a:rPr lang="en-US" altLang="zh-TW" i="1" dirty="0" err="1" smtClean="0"/>
              <a:t>y</a:t>
            </a:r>
            <a:r>
              <a:rPr lang="en-US" altLang="zh-TW" i="1" baseline="-25000" dirty="0" err="1" smtClean="0"/>
              <a:t>i</a:t>
            </a:r>
            <a:r>
              <a:rPr lang="en-US" altLang="zh-TW" dirty="0" smtClean="0"/>
              <a:t>), </a:t>
            </a:r>
            <a:r>
              <a:rPr lang="en-US" altLang="zh-TW" i="1" dirty="0" smtClean="0"/>
              <a:t>i</a:t>
            </a:r>
            <a:r>
              <a:rPr lang="en-US" altLang="zh-TW" dirty="0"/>
              <a:t>∈</a:t>
            </a:r>
            <a:r>
              <a:rPr lang="en-US" altLang="zh-TW" i="1" dirty="0"/>
              <a:t>M</a:t>
            </a:r>
            <a:r>
              <a:rPr lang="en-US" altLang="zh-TW" dirty="0"/>
              <a:t>={1,2,…,</a:t>
            </a:r>
            <a:r>
              <a:rPr lang="en-US" altLang="zh-TW" i="1" dirty="0"/>
              <a:t>m</a:t>
            </a:r>
            <a:r>
              <a:rPr lang="en-US" altLang="zh-TW" dirty="0" smtClean="0"/>
              <a:t>}}</a:t>
            </a:r>
            <a:r>
              <a:rPr lang="en-US" altLang="zh-TW" dirty="0"/>
              <a:t>  </a:t>
            </a:r>
            <a:r>
              <a:rPr lang="en-US" altLang="zh-TW" dirty="0" smtClean="0"/>
              <a:t>	</a:t>
            </a:r>
            <a:r>
              <a:rPr lang="en-US" altLang="zh-TW" i="1" dirty="0" smtClean="0"/>
              <a:t>x</a:t>
            </a:r>
            <a:r>
              <a:rPr lang="en-US" altLang="zh-TW" i="1" baseline="-25000" dirty="0" smtClean="0"/>
              <a:t>i </a:t>
            </a:r>
            <a:r>
              <a:rPr lang="en-US" altLang="zh-TW" dirty="0" smtClean="0"/>
              <a:t>∈</a:t>
            </a:r>
            <a:r>
              <a:rPr lang="en-US" altLang="zh-TW" i="1" dirty="0" err="1"/>
              <a:t>R</a:t>
            </a:r>
            <a:r>
              <a:rPr lang="en-US" altLang="zh-TW" i="1" baseline="30000" dirty="0" err="1"/>
              <a:t>n</a:t>
            </a:r>
            <a:r>
              <a:rPr lang="en-US" altLang="zh-TW" dirty="0"/>
              <a:t> </a:t>
            </a:r>
            <a:endParaRPr lang="en-US" altLang="zh-TW" dirty="0" smtClean="0"/>
          </a:p>
          <a:p>
            <a:pPr lvl="1"/>
            <a:endParaRPr lang="en-US" altLang="zh-TW" dirty="0" smtClean="0"/>
          </a:p>
          <a:p>
            <a:r>
              <a:rPr lang="en-US" altLang="zh-TW" dirty="0"/>
              <a:t> </a:t>
            </a:r>
            <a:r>
              <a:rPr lang="en-US" altLang="zh-TW" dirty="0" smtClean="0"/>
              <a:t>the </a:t>
            </a:r>
            <a:r>
              <a:rPr lang="en-US" altLang="zh-TW" dirty="0"/>
              <a:t>categorical </a:t>
            </a:r>
            <a:r>
              <a:rPr lang="en-US" altLang="zh-TW" i="1" dirty="0"/>
              <a:t>class </a:t>
            </a:r>
            <a:r>
              <a:rPr lang="en-US" altLang="zh-TW" i="1" dirty="0" smtClean="0"/>
              <a:t>label </a:t>
            </a:r>
            <a:r>
              <a:rPr lang="en-US" altLang="zh-TW" dirty="0" smtClean="0"/>
              <a:t>associated </a:t>
            </a:r>
            <a:r>
              <a:rPr lang="en-US" altLang="zh-TW" dirty="0"/>
              <a:t>to </a:t>
            </a:r>
            <a:r>
              <a:rPr lang="en-US" altLang="zh-TW" b="1" dirty="0" smtClean="0"/>
              <a:t>x</a:t>
            </a:r>
            <a:r>
              <a:rPr lang="en-US" altLang="zh-TW" i="1" baseline="-25000" dirty="0" smtClean="0"/>
              <a:t>i</a:t>
            </a:r>
            <a:endParaRPr lang="en-US" altLang="zh-TW" dirty="0" smtClean="0"/>
          </a:p>
          <a:p>
            <a:pPr lvl="1"/>
            <a:r>
              <a:rPr lang="en-US" altLang="zh-TW" sz="2400" i="1" dirty="0" err="1" smtClean="0"/>
              <a:t>y</a:t>
            </a:r>
            <a:r>
              <a:rPr lang="en-US" altLang="zh-TW" sz="2400" i="1" baseline="-25000" dirty="0" err="1" smtClean="0"/>
              <a:t>i</a:t>
            </a:r>
            <a:r>
              <a:rPr lang="en-US" altLang="zh-TW" i="1" baseline="-25000" dirty="0" smtClean="0"/>
              <a:t> </a:t>
            </a:r>
            <a:r>
              <a:rPr lang="en-US" altLang="zh-TW" dirty="0" smtClean="0"/>
              <a:t>∈</a:t>
            </a:r>
            <a:r>
              <a:rPr lang="en-US" altLang="zh-TW" i="1" dirty="0"/>
              <a:t>D</a:t>
            </a:r>
            <a:r>
              <a:rPr lang="en-US" altLang="zh-TW" dirty="0"/>
              <a:t>={1,2,…,</a:t>
            </a:r>
            <a:r>
              <a:rPr lang="en-US" altLang="zh-TW" i="1" dirty="0"/>
              <a:t>D</a:t>
            </a:r>
            <a:r>
              <a:rPr lang="en-US" altLang="zh-TW" dirty="0"/>
              <a:t>} </a:t>
            </a:r>
            <a:endParaRPr lang="en-US" altLang="zh-TW" dirty="0" smtClean="0"/>
          </a:p>
          <a:p>
            <a:pPr lvl="1"/>
            <a:endParaRPr lang="en-US" altLang="zh-TW" dirty="0"/>
          </a:p>
          <a:p>
            <a:r>
              <a:rPr lang="en-US" altLang="zh-TW" i="1" dirty="0" smtClean="0"/>
              <a:t>H</a:t>
            </a:r>
            <a:r>
              <a:rPr lang="en-US" altLang="zh-TW" dirty="0"/>
              <a:t> denote a set of functions </a:t>
            </a:r>
            <a:r>
              <a:rPr lang="en-US" altLang="zh-TW" i="1" dirty="0" smtClean="0"/>
              <a:t>f </a:t>
            </a:r>
            <a:r>
              <a:rPr lang="en-US" altLang="zh-TW" dirty="0" smtClean="0"/>
              <a:t>:</a:t>
            </a:r>
            <a:r>
              <a:rPr lang="en-US" altLang="zh-TW" i="1" dirty="0" err="1" smtClean="0"/>
              <a:t>R</a:t>
            </a:r>
            <a:r>
              <a:rPr lang="en-US" altLang="zh-TW" i="1" baseline="30000" dirty="0" err="1" smtClean="0"/>
              <a:t>n</a:t>
            </a:r>
            <a:r>
              <a:rPr lang="en-US" altLang="zh-TW" i="1" baseline="30000" dirty="0" smtClean="0"/>
              <a:t> </a:t>
            </a:r>
            <a:r>
              <a:rPr lang="en-US" altLang="zh-TW" dirty="0" smtClean="0"/>
              <a:t>↦</a:t>
            </a:r>
            <a:r>
              <a:rPr lang="en-US" altLang="zh-TW" i="1" dirty="0" smtClean="0"/>
              <a:t>D</a:t>
            </a:r>
            <a:br>
              <a:rPr lang="en-US" altLang="zh-TW" i="1" dirty="0" smtClean="0"/>
            </a:br>
            <a:r>
              <a:rPr lang="en-US" altLang="zh-TW" dirty="0" smtClean="0"/>
              <a:t>that </a:t>
            </a:r>
            <a:r>
              <a:rPr lang="en-US" altLang="zh-TW" dirty="0"/>
              <a:t>represent hypothetical relationships between </a:t>
            </a:r>
            <a:r>
              <a:rPr lang="en-US" altLang="zh-TW" b="1" dirty="0"/>
              <a:t>x</a:t>
            </a:r>
            <a:r>
              <a:rPr lang="en-US" altLang="zh-TW" i="1" baseline="-25000" dirty="0"/>
              <a:t>i</a:t>
            </a:r>
            <a:r>
              <a:rPr lang="en-US" altLang="zh-TW" dirty="0"/>
              <a:t> and </a:t>
            </a:r>
            <a:r>
              <a:rPr lang="en-US" altLang="zh-TW" i="1" dirty="0" err="1"/>
              <a:t>y</a:t>
            </a:r>
            <a:r>
              <a:rPr lang="en-US" altLang="zh-TW" i="1" baseline="-25000" dirty="0" err="1"/>
              <a:t>i</a:t>
            </a:r>
            <a:r>
              <a:rPr lang="en-US" altLang="zh-TW" dirty="0" smtClean="0"/>
              <a:t>.</a:t>
            </a:r>
          </a:p>
          <a:p>
            <a:r>
              <a:rPr lang="en-US" altLang="zh-TW" dirty="0" smtClean="0"/>
              <a:t>When </a:t>
            </a:r>
            <a:r>
              <a:rPr lang="en-US" altLang="zh-TW" i="1" dirty="0" smtClean="0"/>
              <a:t>D</a:t>
            </a:r>
            <a:r>
              <a:rPr lang="en-US" altLang="zh-TW" dirty="0" smtClean="0"/>
              <a:t>=2</a:t>
            </a:r>
            <a:r>
              <a:rPr lang="en-US" altLang="zh-TW" dirty="0"/>
              <a:t>, we obtain a </a:t>
            </a:r>
            <a:r>
              <a:rPr lang="en-US" altLang="zh-TW" i="1" dirty="0"/>
              <a:t>binary</a:t>
            </a:r>
            <a:r>
              <a:rPr lang="en-US" altLang="zh-TW" dirty="0"/>
              <a:t> classification </a:t>
            </a:r>
            <a:r>
              <a:rPr lang="en-US" altLang="zh-TW" dirty="0" smtClean="0"/>
              <a:t>problem,</a:t>
            </a:r>
            <a:r>
              <a:rPr lang="en-US" altLang="zh-TW" i="1" dirty="0" smtClean="0"/>
              <a:t> </a:t>
            </a:r>
            <a:r>
              <a:rPr lang="en-US" altLang="zh-TW" i="1" dirty="0" err="1" smtClean="0"/>
              <a:t>y</a:t>
            </a:r>
            <a:r>
              <a:rPr lang="en-US" altLang="zh-TW" i="1" baseline="-25000" dirty="0" err="1" smtClean="0"/>
              <a:t>i</a:t>
            </a:r>
            <a:r>
              <a:rPr lang="en-US" altLang="zh-TW" i="1" baseline="-25000" dirty="0" smtClean="0"/>
              <a:t> </a:t>
            </a:r>
            <a:r>
              <a:rPr lang="en-US" altLang="zh-TW" dirty="0" smtClean="0"/>
              <a:t>∈</a:t>
            </a:r>
            <a:r>
              <a:rPr lang="en-US" altLang="zh-TW" dirty="0"/>
              <a:t>{−1,1}</a:t>
            </a:r>
            <a:endParaRPr lang="en-US" altLang="zh-TW" dirty="0" smtClean="0"/>
          </a:p>
          <a:p>
            <a:pPr lvl="1"/>
            <a:endParaRPr lang="zh-TW" altLang="en-US" dirty="0"/>
          </a:p>
        </p:txBody>
      </p:sp>
    </p:spTree>
    <p:extLst>
      <p:ext uri="{BB962C8B-B14F-4D97-AF65-F5344CB8AC3E}">
        <p14:creationId xmlns:p14="http://schemas.microsoft.com/office/powerpoint/2010/main" val="1863404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0" dirty="0" smtClean="0"/>
              <a:t>Temporal </a:t>
            </a:r>
            <a:r>
              <a:rPr lang="en-US" altLang="zh-TW" b="0" dirty="0"/>
              <a:t>classification problem </a:t>
            </a:r>
            <a:endParaRPr lang="zh-TW" altLang="en-US" dirty="0"/>
          </a:p>
        </p:txBody>
      </p:sp>
      <p:sp>
        <p:nvSpPr>
          <p:cNvPr id="3" name="日期版面配置區 2"/>
          <p:cNvSpPr>
            <a:spLocks noGrp="1"/>
          </p:cNvSpPr>
          <p:nvPr>
            <p:ph type="dt" sz="half" idx="10"/>
          </p:nvPr>
        </p:nvSpPr>
        <p:spPr/>
        <p:txBody>
          <a:bodyPr/>
          <a:lstStyle/>
          <a:p>
            <a:r>
              <a:rPr lang="en-US" altLang="zh-TW" smtClean="0"/>
              <a:t>2012/12/10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6</a:t>
            </a:fld>
            <a:endParaRPr lang="zh-TW" altLang="en-US"/>
          </a:p>
        </p:txBody>
      </p:sp>
      <p:sp>
        <p:nvSpPr>
          <p:cNvPr id="5" name="內容版面配置區 4"/>
          <p:cNvSpPr>
            <a:spLocks noGrp="1"/>
          </p:cNvSpPr>
          <p:nvPr>
            <p:ph sz="quarter" idx="1"/>
          </p:nvPr>
        </p:nvSpPr>
        <p:spPr/>
        <p:txBody>
          <a:bodyPr/>
          <a:lstStyle/>
          <a:p>
            <a:r>
              <a:rPr lang="en-US" altLang="zh-TW" dirty="0" smtClean="0"/>
              <a:t>A </a:t>
            </a:r>
            <a:r>
              <a:rPr lang="en-US" altLang="zh-TW" dirty="0"/>
              <a:t>set of multivariate time </a:t>
            </a:r>
            <a:r>
              <a:rPr lang="en-US" altLang="zh-TW" dirty="0" smtClean="0"/>
              <a:t>series</a:t>
            </a:r>
          </a:p>
          <a:p>
            <a:pPr lvl="1"/>
            <a:r>
              <a:rPr lang="en-US" altLang="zh-TW" dirty="0" smtClean="0"/>
              <a:t> </a:t>
            </a:r>
            <a:r>
              <a:rPr lang="en-US" altLang="zh-TW" dirty="0"/>
              <a:t>{</a:t>
            </a:r>
            <a:r>
              <a:rPr lang="en-US" altLang="zh-TW" b="1" dirty="0"/>
              <a:t>A</a:t>
            </a:r>
            <a:r>
              <a:rPr lang="en-US" altLang="zh-TW" i="1" baseline="-25000" dirty="0"/>
              <a:t>i</a:t>
            </a:r>
            <a:r>
              <a:rPr lang="en-US" altLang="zh-TW" dirty="0"/>
              <a:t>}, </a:t>
            </a:r>
            <a:r>
              <a:rPr lang="en-US" altLang="zh-TW" i="1" dirty="0"/>
              <a:t>i</a:t>
            </a:r>
            <a:r>
              <a:rPr lang="en-US" altLang="zh-TW" dirty="0"/>
              <a:t>∈</a:t>
            </a:r>
            <a:r>
              <a:rPr lang="en-US" altLang="zh-TW" i="1" dirty="0"/>
              <a:t>M</a:t>
            </a:r>
            <a:r>
              <a:rPr lang="en-US" altLang="zh-TW" dirty="0"/>
              <a:t>, where each </a:t>
            </a:r>
            <a:r>
              <a:rPr lang="en-US" altLang="zh-TW" b="1" dirty="0"/>
              <a:t>A</a:t>
            </a:r>
            <a:r>
              <a:rPr lang="en-US" altLang="zh-TW" i="1" baseline="-25000" dirty="0"/>
              <a:t>i</a:t>
            </a:r>
            <a:r>
              <a:rPr lang="en-US" altLang="zh-TW" dirty="0"/>
              <a:t>=[</a:t>
            </a:r>
            <a:r>
              <a:rPr lang="en-US" altLang="zh-TW" i="1" dirty="0" err="1"/>
              <a:t>a</a:t>
            </a:r>
            <a:r>
              <a:rPr lang="en-US" altLang="zh-TW" i="1" baseline="-25000" dirty="0" err="1"/>
              <a:t>ilt</a:t>
            </a:r>
            <a:r>
              <a:rPr lang="en-US" altLang="zh-TW" dirty="0"/>
              <a:t>] is a rectangular matrix of size </a:t>
            </a:r>
            <a:r>
              <a:rPr lang="en-US" altLang="zh-TW" i="1" dirty="0" err="1" smtClean="0"/>
              <a:t>L</a:t>
            </a:r>
            <a:r>
              <a:rPr lang="en-US" altLang="zh-TW" dirty="0" err="1" smtClean="0"/>
              <a:t>×</a:t>
            </a:r>
            <a:r>
              <a:rPr lang="en-US" altLang="zh-TW" i="1" dirty="0" err="1" smtClean="0"/>
              <a:t>T</a:t>
            </a:r>
            <a:r>
              <a:rPr lang="en-US" altLang="zh-TW" i="1" baseline="-25000" dirty="0" err="1" smtClean="0"/>
              <a:t>i</a:t>
            </a:r>
            <a:endParaRPr lang="en-US" altLang="zh-TW" dirty="0"/>
          </a:p>
          <a:p>
            <a:pPr lvl="1"/>
            <a:r>
              <a:rPr lang="en-US" altLang="zh-TW" i="1" dirty="0" smtClean="0"/>
              <a:t>l </a:t>
            </a:r>
            <a:r>
              <a:rPr lang="en-US" altLang="zh-TW" dirty="0" smtClean="0"/>
              <a:t>∈</a:t>
            </a:r>
            <a:r>
              <a:rPr lang="en-US" altLang="zh-TW" i="1" dirty="0"/>
              <a:t>L</a:t>
            </a:r>
            <a:r>
              <a:rPr lang="en-US" altLang="zh-TW" dirty="0"/>
              <a:t>={1,2,…,</a:t>
            </a:r>
            <a:r>
              <a:rPr lang="en-US" altLang="zh-TW" i="1" dirty="0"/>
              <a:t>L</a:t>
            </a:r>
            <a:r>
              <a:rPr lang="en-US" altLang="zh-TW" dirty="0"/>
              <a:t>} is the index associated to the attributes of the time </a:t>
            </a:r>
            <a:r>
              <a:rPr lang="en-US" altLang="zh-TW" dirty="0" smtClean="0"/>
              <a:t>series</a:t>
            </a:r>
          </a:p>
          <a:p>
            <a:pPr lvl="1"/>
            <a:r>
              <a:rPr lang="en-US" altLang="zh-TW" i="1" dirty="0" smtClean="0"/>
              <a:t>t </a:t>
            </a:r>
            <a:r>
              <a:rPr lang="en-US" altLang="zh-TW" dirty="0" smtClean="0"/>
              <a:t>∈</a:t>
            </a:r>
            <a:r>
              <a:rPr lang="en-US" altLang="zh-TW" i="1" dirty="0"/>
              <a:t>T</a:t>
            </a:r>
            <a:r>
              <a:rPr lang="en-US" altLang="zh-TW" i="1" baseline="-25000" dirty="0"/>
              <a:t>i</a:t>
            </a:r>
            <a:r>
              <a:rPr lang="en-US" altLang="zh-TW" dirty="0"/>
              <a:t>={1,2,…,</a:t>
            </a:r>
            <a:r>
              <a:rPr lang="en-US" altLang="zh-TW" i="1" dirty="0"/>
              <a:t>T</a:t>
            </a:r>
            <a:r>
              <a:rPr lang="en-US" altLang="zh-TW" i="1" baseline="-25000" dirty="0"/>
              <a:t>i</a:t>
            </a:r>
            <a:r>
              <a:rPr lang="en-US" altLang="zh-TW" dirty="0"/>
              <a:t>} is the </a:t>
            </a:r>
            <a:r>
              <a:rPr lang="en-US" altLang="zh-TW" dirty="0" smtClean="0"/>
              <a:t>temporal index</a:t>
            </a:r>
          </a:p>
          <a:p>
            <a:r>
              <a:rPr lang="en-US" altLang="zh-TW" dirty="0"/>
              <a:t>an appropriate function </a:t>
            </a:r>
            <a:r>
              <a:rPr lang="en-US" altLang="zh-TW" i="1" dirty="0" smtClean="0"/>
              <a:t>f </a:t>
            </a:r>
            <a:r>
              <a:rPr lang="en-US" altLang="zh-TW" dirty="0" smtClean="0"/>
              <a:t>* </a:t>
            </a:r>
            <a:r>
              <a:rPr lang="en-US" altLang="zh-TW" dirty="0"/>
              <a:t>which optimally describes the relationship between the time series {</a:t>
            </a:r>
            <a:r>
              <a:rPr lang="en-US" altLang="zh-TW" b="1" dirty="0"/>
              <a:t>A</a:t>
            </a:r>
            <a:r>
              <a:rPr lang="en-US" altLang="zh-TW" i="1" baseline="-25000" dirty="0"/>
              <a:t>i</a:t>
            </a:r>
            <a:r>
              <a:rPr lang="en-US" altLang="zh-TW" dirty="0"/>
              <a:t>} and their labels {</a:t>
            </a:r>
            <a:r>
              <a:rPr lang="en-US" altLang="zh-TW" i="1" dirty="0" err="1"/>
              <a:t>y</a:t>
            </a:r>
            <a:r>
              <a:rPr lang="en-US" altLang="zh-TW" i="1" baseline="-25000" dirty="0" err="1"/>
              <a:t>i</a:t>
            </a:r>
            <a:r>
              <a:rPr lang="en-US" altLang="zh-TW" dirty="0"/>
              <a:t>},</a:t>
            </a:r>
            <a:endParaRPr lang="zh-TW" altLang="en-US" dirty="0"/>
          </a:p>
        </p:txBody>
      </p:sp>
    </p:spTree>
    <p:extLst>
      <p:ext uri="{BB962C8B-B14F-4D97-AF65-F5344CB8AC3E}">
        <p14:creationId xmlns:p14="http://schemas.microsoft.com/office/powerpoint/2010/main" val="11028683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3"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43808" y="4605610"/>
            <a:ext cx="2580401" cy="1750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標題 1"/>
          <p:cNvSpPr>
            <a:spLocks noGrp="1"/>
          </p:cNvSpPr>
          <p:nvPr>
            <p:ph type="title"/>
          </p:nvPr>
        </p:nvSpPr>
        <p:spPr/>
        <p:txBody>
          <a:bodyPr>
            <a:normAutofit/>
          </a:bodyPr>
          <a:lstStyle/>
          <a:p>
            <a:r>
              <a:rPr lang="en-US" altLang="zh-TW" b="0" dirty="0"/>
              <a:t>Dynamic time warping</a:t>
            </a:r>
          </a:p>
        </p:txBody>
      </p:sp>
      <p:sp>
        <p:nvSpPr>
          <p:cNvPr id="3" name="日期版面配置區 2"/>
          <p:cNvSpPr>
            <a:spLocks noGrp="1"/>
          </p:cNvSpPr>
          <p:nvPr>
            <p:ph type="dt" sz="half" idx="10"/>
          </p:nvPr>
        </p:nvSpPr>
        <p:spPr/>
        <p:txBody>
          <a:bodyPr/>
          <a:lstStyle/>
          <a:p>
            <a:r>
              <a:rPr lang="en-US" altLang="zh-TW" smtClean="0"/>
              <a:t>2012/12/10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7</a:t>
            </a:fld>
            <a:endParaRPr lang="zh-TW" altLang="en-US"/>
          </a:p>
        </p:txBody>
      </p:sp>
      <p:sp>
        <p:nvSpPr>
          <p:cNvPr id="5" name="內容版面配置區 4"/>
          <p:cNvSpPr>
            <a:spLocks noGrp="1"/>
          </p:cNvSpPr>
          <p:nvPr>
            <p:ph sz="quarter" idx="1"/>
          </p:nvPr>
        </p:nvSpPr>
        <p:spPr/>
        <p:txBody>
          <a:bodyPr/>
          <a:lstStyle/>
          <a:p>
            <a:r>
              <a:rPr lang="en-US" altLang="zh-TW" dirty="0" smtClean="0"/>
              <a:t>DTW[</a:t>
            </a:r>
            <a:r>
              <a:rPr lang="en-US" altLang="zh-TW" dirty="0" err="1" smtClean="0"/>
              <a:t>i</a:t>
            </a:r>
            <a:r>
              <a:rPr lang="en-US" altLang="zh-TW" dirty="0"/>
              <a:t>, j] := cost + 	</a:t>
            </a:r>
            <a:br>
              <a:rPr lang="en-US" altLang="zh-TW" dirty="0"/>
            </a:br>
            <a:r>
              <a:rPr lang="en-US" altLang="zh-TW" dirty="0" smtClean="0"/>
              <a:t>min (DTW[i+1</a:t>
            </a:r>
            <a:r>
              <a:rPr lang="en-US" altLang="zh-TW" dirty="0"/>
              <a:t>, j </a:t>
            </a:r>
            <a:r>
              <a:rPr lang="en-US" altLang="zh-TW" dirty="0" smtClean="0"/>
              <a:t>], DTW[</a:t>
            </a:r>
            <a:r>
              <a:rPr lang="en-US" altLang="zh-TW" dirty="0" err="1" smtClean="0"/>
              <a:t>i</a:t>
            </a:r>
            <a:r>
              <a:rPr lang="en-US" altLang="zh-TW" dirty="0" smtClean="0"/>
              <a:t> </a:t>
            </a:r>
            <a:r>
              <a:rPr lang="en-US" altLang="zh-TW" dirty="0"/>
              <a:t>, </a:t>
            </a:r>
            <a:r>
              <a:rPr lang="en-US" altLang="zh-TW" dirty="0" smtClean="0"/>
              <a:t>j+1</a:t>
            </a:r>
            <a:r>
              <a:rPr lang="en-US" altLang="zh-TW" dirty="0"/>
              <a:t>], </a:t>
            </a:r>
            <a:r>
              <a:rPr lang="en-US" altLang="zh-TW" dirty="0" smtClean="0"/>
              <a:t>DTW[i+1</a:t>
            </a:r>
            <a:r>
              <a:rPr lang="en-US" altLang="zh-TW" dirty="0"/>
              <a:t>, </a:t>
            </a:r>
            <a:r>
              <a:rPr lang="en-US" altLang="zh-TW" dirty="0" smtClean="0"/>
              <a:t>j+1]</a:t>
            </a:r>
            <a:r>
              <a:rPr lang="zh-TW" altLang="en-US" dirty="0"/>
              <a:t> </a:t>
            </a:r>
            <a:r>
              <a:rPr lang="en-US" altLang="zh-TW" dirty="0" smtClean="0"/>
              <a:t>)</a:t>
            </a:r>
          </a:p>
          <a:p>
            <a:endParaRPr lang="en-US" altLang="zh-TW" dirty="0"/>
          </a:p>
          <a:p>
            <a:endParaRPr lang="en-US" altLang="zh-TW" dirty="0" smtClean="0"/>
          </a:p>
          <a:p>
            <a:endParaRPr lang="en-US" altLang="zh-TW" dirty="0"/>
          </a:p>
          <a:p>
            <a:endParaRPr lang="en-US" altLang="zh-TW" dirty="0" smtClean="0"/>
          </a:p>
          <a:p>
            <a:r>
              <a:rPr lang="en-US" altLang="zh-TW" dirty="0"/>
              <a:t>Time complexity</a:t>
            </a:r>
          </a:p>
          <a:p>
            <a:endParaRPr lang="zh-TW" altLang="en-US" dirty="0"/>
          </a:p>
        </p:txBody>
      </p:sp>
      <p:pic>
        <p:nvPicPr>
          <p:cNvPr id="1027" name="Picture 3"/>
          <p:cNvPicPr>
            <a:picLocks noChangeAspect="1" noChangeArrowheads="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73637" y="2264851"/>
            <a:ext cx="3816424" cy="516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4088" y="2534001"/>
            <a:ext cx="3779912" cy="3821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22592" r="85355"/>
          <a:stretch/>
        </p:blipFill>
        <p:spPr bwMode="auto">
          <a:xfrm>
            <a:off x="2627784" y="1228724"/>
            <a:ext cx="708130" cy="506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63888" y="4041916"/>
            <a:ext cx="1141973" cy="508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 name="Picture 10"/>
          <p:cNvPicPr>
            <a:picLocks noChangeAspect="1" noChangeArrowheads="1"/>
          </p:cNvPicPr>
          <p:nvPr/>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l="16202"/>
          <a:stretch/>
        </p:blipFill>
        <p:spPr bwMode="auto">
          <a:xfrm>
            <a:off x="2895600" y="2780928"/>
            <a:ext cx="2130081" cy="83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6"/>
          <p:cNvSpPr/>
          <p:nvPr/>
        </p:nvSpPr>
        <p:spPr>
          <a:xfrm>
            <a:off x="2956284" y="3554515"/>
            <a:ext cx="2622834" cy="369332"/>
          </a:xfrm>
          <a:prstGeom prst="rect">
            <a:avLst/>
          </a:prstGeom>
        </p:spPr>
        <p:txBody>
          <a:bodyPr wrap="none">
            <a:spAutoFit/>
          </a:bodyPr>
          <a:lstStyle/>
          <a:p>
            <a:r>
              <a:rPr lang="en-US" altLang="zh-TW" dirty="0" smtClean="0">
                <a:solidFill>
                  <a:schemeClr val="accent1">
                    <a:lumMod val="75000"/>
                  </a:schemeClr>
                </a:solidFill>
              </a:rPr>
              <a:t>In multivariate </a:t>
            </a:r>
            <a:r>
              <a:rPr lang="en-US" altLang="zh-TW" dirty="0">
                <a:solidFill>
                  <a:schemeClr val="accent1">
                    <a:lumMod val="75000"/>
                  </a:schemeClr>
                </a:solidFill>
              </a:rPr>
              <a:t>time series</a:t>
            </a:r>
            <a:endParaRPr lang="zh-TW" altLang="en-US" dirty="0">
              <a:solidFill>
                <a:schemeClr val="accent1">
                  <a:lumMod val="75000"/>
                </a:schemeClr>
              </a:solidFill>
            </a:endParaRPr>
          </a:p>
        </p:txBody>
      </p:sp>
      <p:pic>
        <p:nvPicPr>
          <p:cNvPr id="1031" name="Picture 7"/>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0" b="100000" l="0" r="100000">
                        <a14:foregroundMark x1="6178" y1="41573" x2="99035" y2="63483"/>
                        <a14:foregroundMark x1="7529" y1="61236" x2="99807" y2="89326"/>
                        <a14:foregroundMark x1="8301" y1="31461" x2="98842" y2="46067"/>
                        <a14:foregroundMark x1="3282" y1="12921" x2="1931" y2="92697"/>
                        <a14:foregroundMark x1="6757" y1="19663" x2="5985" y2="97191"/>
                        <a14:foregroundMark x1="1737" y1="13483" x2="1158" y2="91573"/>
                      </a14:backgroundRemoval>
                    </a14:imgEffect>
                  </a14:imgLayer>
                </a14:imgProps>
              </a:ext>
              <a:ext uri="{28A0092B-C50C-407E-A947-70E740481C1C}">
                <a14:useLocalDpi xmlns:a14="http://schemas.microsoft.com/office/drawing/2010/main" val="0"/>
              </a:ext>
            </a:extLst>
          </a:blip>
          <a:srcRect/>
          <a:stretch>
            <a:fillRect/>
          </a:stretch>
        </p:blipFill>
        <p:spPr bwMode="auto">
          <a:xfrm>
            <a:off x="14477" y="5687865"/>
            <a:ext cx="3450410" cy="118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83769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b="0" dirty="0"/>
              <a:t>A DAGSP algorithm for warping distance computation </a:t>
            </a:r>
            <a:endParaRPr lang="zh-TW" altLang="en-US" dirty="0"/>
          </a:p>
        </p:txBody>
      </p:sp>
      <p:sp>
        <p:nvSpPr>
          <p:cNvPr id="3" name="日期版面配置區 2"/>
          <p:cNvSpPr>
            <a:spLocks noGrp="1"/>
          </p:cNvSpPr>
          <p:nvPr>
            <p:ph type="dt" sz="half" idx="10"/>
          </p:nvPr>
        </p:nvSpPr>
        <p:spPr/>
        <p:txBody>
          <a:bodyPr/>
          <a:lstStyle/>
          <a:p>
            <a:r>
              <a:rPr lang="en-US" altLang="zh-TW" smtClean="0"/>
              <a:t>2012/12/10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8</a:t>
            </a:fld>
            <a:endParaRPr lang="zh-TW" altLang="en-US"/>
          </a:p>
        </p:txBody>
      </p:sp>
      <p:sp>
        <p:nvSpPr>
          <p:cNvPr id="5" name="內容版面配置區 4"/>
          <p:cNvSpPr>
            <a:spLocks noGrp="1"/>
          </p:cNvSpPr>
          <p:nvPr>
            <p:ph sz="quarter" idx="1"/>
          </p:nvPr>
        </p:nvSpPr>
        <p:spPr/>
        <p:txBody>
          <a:bodyPr>
            <a:normAutofit/>
          </a:bodyPr>
          <a:lstStyle/>
          <a:p>
            <a:r>
              <a:rPr lang="en-US" altLang="zh-TW" dirty="0" smtClean="0"/>
              <a:t>A </a:t>
            </a:r>
            <a:r>
              <a:rPr lang="en-US" altLang="zh-TW" dirty="0"/>
              <a:t>weighted </a:t>
            </a:r>
            <a:r>
              <a:rPr lang="en-US" altLang="zh-TW" dirty="0">
                <a:solidFill>
                  <a:srgbClr val="C00000"/>
                </a:solidFill>
              </a:rPr>
              <a:t>directed acyclic graph (DAG) </a:t>
            </a:r>
            <a:r>
              <a:rPr lang="en-US" altLang="zh-TW" dirty="0"/>
              <a:t>and </a:t>
            </a:r>
            <a:r>
              <a:rPr lang="en-US" altLang="zh-TW" dirty="0" smtClean="0"/>
              <a:t>the </a:t>
            </a:r>
            <a:r>
              <a:rPr lang="en-US" altLang="zh-TW" dirty="0" err="1"/>
              <a:t>outdegree</a:t>
            </a:r>
            <a:r>
              <a:rPr lang="en-US" altLang="zh-TW" dirty="0"/>
              <a:t> of its vertices is at most </a:t>
            </a:r>
            <a:r>
              <a:rPr lang="en-US" altLang="zh-TW" dirty="0" smtClean="0"/>
              <a:t>three.</a:t>
            </a:r>
          </a:p>
          <a:p>
            <a:pPr lvl="1"/>
            <a:r>
              <a:rPr lang="en-US" altLang="zh-TW" dirty="0" smtClean="0"/>
              <a:t>Time complexity</a:t>
            </a:r>
            <a:r>
              <a:rPr lang="zh-TW" altLang="en-US" dirty="0" smtClean="0"/>
              <a:t> </a:t>
            </a:r>
            <a:r>
              <a:rPr lang="en-US" altLang="zh-TW" dirty="0" smtClean="0"/>
              <a:t>:</a:t>
            </a:r>
            <a:r>
              <a:rPr lang="zh-TW" altLang="en-US" dirty="0" smtClean="0"/>
              <a:t>                      </a:t>
            </a:r>
            <a:r>
              <a:rPr lang="en-US" altLang="zh-TW" dirty="0" smtClean="0"/>
              <a:t>for </a:t>
            </a:r>
            <a:r>
              <a:rPr lang="en-US" altLang="zh-TW" dirty="0"/>
              <a:t>all pairs of time </a:t>
            </a:r>
            <a:r>
              <a:rPr lang="en-US" altLang="zh-TW" dirty="0" smtClean="0"/>
              <a:t>series</a:t>
            </a:r>
          </a:p>
          <a:p>
            <a:r>
              <a:rPr lang="en-US" altLang="zh-TW" dirty="0"/>
              <a:t> imposed </a:t>
            </a:r>
            <a:r>
              <a:rPr lang="en-US" altLang="zh-TW" dirty="0" smtClean="0"/>
              <a:t>a </a:t>
            </a:r>
            <a:r>
              <a:rPr lang="en-US" altLang="zh-TW" dirty="0"/>
              <a:t>global constraint that permits to include a vertex </a:t>
            </a:r>
            <a:r>
              <a:rPr lang="en-US" altLang="zh-TW" i="1" dirty="0" smtClean="0"/>
              <a:t>v</a:t>
            </a:r>
            <a:r>
              <a:rPr lang="zh-TW" altLang="en-US" i="1" dirty="0" smtClean="0"/>
              <a:t> </a:t>
            </a:r>
            <a:r>
              <a:rPr lang="en-US" altLang="zh-TW" dirty="0" smtClean="0"/>
              <a:t>=(</a:t>
            </a:r>
            <a:r>
              <a:rPr lang="en-US" altLang="zh-TW" i="1" dirty="0" err="1"/>
              <a:t>r</a:t>
            </a:r>
            <a:r>
              <a:rPr lang="en-US" altLang="zh-TW" dirty="0" err="1"/>
              <a:t>,</a:t>
            </a:r>
            <a:r>
              <a:rPr lang="en-US" altLang="zh-TW" i="1" dirty="0" err="1"/>
              <a:t>s</a:t>
            </a:r>
            <a:r>
              <a:rPr lang="en-US" altLang="zh-TW" dirty="0"/>
              <a:t>) in </a:t>
            </a:r>
            <a:r>
              <a:rPr lang="en-US" altLang="zh-TW" i="1" dirty="0" smtClean="0"/>
              <a:t>V</a:t>
            </a:r>
            <a:r>
              <a:rPr lang="zh-TW" altLang="en-US" i="1" dirty="0" smtClean="0"/>
              <a:t>  </a:t>
            </a:r>
            <a:r>
              <a:rPr lang="en-US" altLang="zh-TW" dirty="0" smtClean="0"/>
              <a:t>only </a:t>
            </a:r>
            <a:r>
              <a:rPr lang="en-US" altLang="zh-TW" dirty="0"/>
              <a:t>if </a:t>
            </a:r>
            <a:r>
              <a:rPr lang="en-US" altLang="zh-TW" dirty="0" smtClean="0"/>
              <a:t>|</a:t>
            </a:r>
            <a:r>
              <a:rPr lang="zh-TW" altLang="en-US" dirty="0" smtClean="0"/>
              <a:t> </a:t>
            </a:r>
            <a:r>
              <a:rPr lang="en-US" altLang="zh-TW" i="1" dirty="0" smtClean="0"/>
              <a:t>r</a:t>
            </a:r>
            <a:r>
              <a:rPr lang="en-US" altLang="zh-TW" dirty="0"/>
              <a:t>−</a:t>
            </a:r>
            <a:r>
              <a:rPr lang="en-US" altLang="zh-TW" i="1" dirty="0" smtClean="0"/>
              <a:t>s</a:t>
            </a:r>
            <a:r>
              <a:rPr lang="zh-TW" altLang="en-US" i="1" dirty="0" smtClean="0"/>
              <a:t> </a:t>
            </a:r>
            <a:r>
              <a:rPr lang="en-US" altLang="zh-TW" dirty="0" smtClean="0"/>
              <a:t>|≤</a:t>
            </a:r>
            <a:r>
              <a:rPr lang="zh-TW" altLang="en-US" dirty="0" smtClean="0"/>
              <a:t> </a:t>
            </a:r>
            <a:r>
              <a:rPr lang="en-US" altLang="zh-TW" i="1" dirty="0" smtClean="0"/>
              <a:t>ϑ</a:t>
            </a:r>
            <a:r>
              <a:rPr lang="en-US" altLang="zh-TW" dirty="0"/>
              <a:t>, for a given integer parameter </a:t>
            </a:r>
            <a:r>
              <a:rPr lang="en-US" altLang="zh-TW" i="1" dirty="0" smtClean="0"/>
              <a:t>ϑ</a:t>
            </a:r>
            <a:r>
              <a:rPr lang="zh-TW" altLang="en-US" i="1" dirty="0" smtClean="0"/>
              <a:t> </a:t>
            </a:r>
            <a:r>
              <a:rPr lang="en-US" altLang="zh-TW" dirty="0" smtClean="0"/>
              <a:t>≥</a:t>
            </a:r>
            <a:r>
              <a:rPr lang="zh-TW" altLang="en-US" dirty="0" smtClean="0"/>
              <a:t> </a:t>
            </a:r>
            <a:r>
              <a:rPr lang="en-US" altLang="zh-TW" dirty="0" smtClean="0"/>
              <a:t>0.</a:t>
            </a:r>
          </a:p>
          <a:p>
            <a:pPr lvl="1"/>
            <a:r>
              <a:rPr lang="en-US" altLang="zh-TW" dirty="0"/>
              <a:t>Time </a:t>
            </a:r>
            <a:r>
              <a:rPr lang="en-US" altLang="zh-TW" dirty="0" smtClean="0"/>
              <a:t>complexity</a:t>
            </a:r>
            <a:r>
              <a:rPr lang="zh-TW" altLang="en-US" dirty="0" smtClean="0"/>
              <a:t> </a:t>
            </a:r>
            <a:r>
              <a:rPr lang="en-US" altLang="zh-TW" dirty="0" smtClean="0"/>
              <a:t>:</a:t>
            </a:r>
            <a:r>
              <a:rPr lang="zh-TW" altLang="en-US" dirty="0" smtClean="0"/>
              <a:t> </a:t>
            </a:r>
            <a:endParaRPr lang="en-US" altLang="zh-TW" dirty="0" smtClean="0"/>
          </a:p>
          <a:p>
            <a:endParaRPr lang="zh-TW" altLang="en-US" dirty="0"/>
          </a:p>
          <a:p>
            <a:endParaRPr lang="en-US" altLang="zh-TW" dirty="0"/>
          </a:p>
        </p:txBody>
      </p:sp>
      <p:pic>
        <p:nvPicPr>
          <p:cNvPr id="2050" name="Picture 2" descr="C:\Users\Chuan\Desktop\IC25926.gif"/>
          <p:cNvPicPr>
            <a:picLocks noChangeAspect="1" noChangeArrowheads="1"/>
          </p:cNvPicPr>
          <p:nvPr/>
        </p:nvPicPr>
        <p:blipFill rotWithShape="1">
          <a:blip r:embed="rId2">
            <a:extLst>
              <a:ext uri="{28A0092B-C50C-407E-A947-70E740481C1C}">
                <a14:useLocalDpi xmlns:a14="http://schemas.microsoft.com/office/drawing/2010/main" val="0"/>
              </a:ext>
            </a:extLst>
          </a:blip>
          <a:srcRect l="5696" t="949" r="12600" b="54328"/>
          <a:stretch/>
        </p:blipFill>
        <p:spPr bwMode="auto">
          <a:xfrm>
            <a:off x="4989889" y="4437112"/>
            <a:ext cx="4092249" cy="1981197"/>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35896" y="2091126"/>
            <a:ext cx="1296144" cy="388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644197" y="3825738"/>
            <a:ext cx="1287843" cy="323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2569712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版面配置區 2"/>
          <p:cNvSpPr>
            <a:spLocks noGrp="1"/>
          </p:cNvSpPr>
          <p:nvPr>
            <p:ph type="dt" sz="half" idx="10"/>
          </p:nvPr>
        </p:nvSpPr>
        <p:spPr/>
        <p:txBody>
          <a:bodyPr/>
          <a:lstStyle/>
          <a:p>
            <a:r>
              <a:rPr lang="en-US" altLang="zh-TW" smtClean="0"/>
              <a:t>2012/12/10</a:t>
            </a:r>
            <a:endParaRPr lang="zh-TW" altLang="en-US" dirty="0"/>
          </a:p>
        </p:txBody>
      </p:sp>
      <p:grpSp>
        <p:nvGrpSpPr>
          <p:cNvPr id="45" name="群組 44"/>
          <p:cNvGrpSpPr/>
          <p:nvPr/>
        </p:nvGrpSpPr>
        <p:grpSpPr>
          <a:xfrm>
            <a:off x="6444208" y="5356265"/>
            <a:ext cx="2192647" cy="1529119"/>
            <a:chOff x="6444208" y="5356265"/>
            <a:chExt cx="2192647" cy="1529119"/>
          </a:xfrm>
        </p:grpSpPr>
        <p:grpSp>
          <p:nvGrpSpPr>
            <p:cNvPr id="17" name="群組 16"/>
            <p:cNvGrpSpPr/>
            <p:nvPr/>
          </p:nvGrpSpPr>
          <p:grpSpPr>
            <a:xfrm>
              <a:off x="6444208" y="5356265"/>
              <a:ext cx="2192647" cy="1529119"/>
              <a:chOff x="5940152" y="2420888"/>
              <a:chExt cx="2489591" cy="1736204"/>
            </a:xfrm>
          </p:grpSpPr>
          <p:pic>
            <p:nvPicPr>
              <p:cNvPr id="18" name="Picture 3"/>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0" b="100000" l="0" r="100000"/>
                        </a14:imgEffect>
                      </a14:imgLayer>
                    </a14:imgProps>
                  </a:ext>
                  <a:ext uri="{28A0092B-C50C-407E-A947-70E740481C1C}">
                    <a14:useLocalDpi xmlns:a14="http://schemas.microsoft.com/office/drawing/2010/main" val="0"/>
                  </a:ext>
                </a:extLst>
              </a:blip>
              <a:srcRect t="23444"/>
              <a:stretch/>
            </p:blipFill>
            <p:spPr bwMode="auto">
              <a:xfrm rot="5400000">
                <a:off x="6578373" y="2718771"/>
                <a:ext cx="800100" cy="2076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r="8217"/>
              <a:stretch/>
            </p:blipFill>
            <p:spPr bwMode="auto">
              <a:xfrm>
                <a:off x="5940153" y="2420888"/>
                <a:ext cx="2489590" cy="100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cxnSp>
          <p:nvCxnSpPr>
            <p:cNvPr id="8" name="直線接點 7"/>
            <p:cNvCxnSpPr/>
            <p:nvPr/>
          </p:nvCxnSpPr>
          <p:spPr>
            <a:xfrm>
              <a:off x="6482308" y="5875312"/>
              <a:ext cx="0" cy="732849"/>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線接點 21"/>
            <p:cNvCxnSpPr/>
            <p:nvPr/>
          </p:nvCxnSpPr>
          <p:spPr>
            <a:xfrm>
              <a:off x="6841331" y="5504937"/>
              <a:ext cx="0" cy="732849"/>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線接點 22"/>
            <p:cNvCxnSpPr/>
            <p:nvPr/>
          </p:nvCxnSpPr>
          <p:spPr>
            <a:xfrm>
              <a:off x="6660232" y="5714137"/>
              <a:ext cx="0" cy="73284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線接點 23"/>
            <p:cNvCxnSpPr/>
            <p:nvPr/>
          </p:nvCxnSpPr>
          <p:spPr>
            <a:xfrm>
              <a:off x="7194897" y="5661248"/>
              <a:ext cx="0" cy="711641"/>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a:off x="7020272" y="5661691"/>
              <a:ext cx="0" cy="647629"/>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線接點 28"/>
            <p:cNvCxnSpPr/>
            <p:nvPr/>
          </p:nvCxnSpPr>
          <p:spPr>
            <a:xfrm>
              <a:off x="7375872" y="5871361"/>
              <a:ext cx="0" cy="777753"/>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線接點 30"/>
            <p:cNvCxnSpPr/>
            <p:nvPr/>
          </p:nvCxnSpPr>
          <p:spPr>
            <a:xfrm>
              <a:off x="7550497" y="6244136"/>
              <a:ext cx="1" cy="474828"/>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線接點 33"/>
            <p:cNvCxnSpPr/>
            <p:nvPr/>
          </p:nvCxnSpPr>
          <p:spPr>
            <a:xfrm>
              <a:off x="7553325" y="6197600"/>
              <a:ext cx="168623" cy="515014"/>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線接點 35"/>
            <p:cNvCxnSpPr/>
            <p:nvPr/>
          </p:nvCxnSpPr>
          <p:spPr>
            <a:xfrm>
              <a:off x="7734300" y="6048375"/>
              <a:ext cx="178148" cy="622964"/>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線接點 37"/>
            <p:cNvCxnSpPr/>
            <p:nvPr/>
          </p:nvCxnSpPr>
          <p:spPr>
            <a:xfrm>
              <a:off x="7908925" y="5895975"/>
              <a:ext cx="178148" cy="622964"/>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線接點 38"/>
            <p:cNvCxnSpPr/>
            <p:nvPr/>
          </p:nvCxnSpPr>
          <p:spPr>
            <a:xfrm>
              <a:off x="8089900" y="5895975"/>
              <a:ext cx="0" cy="622964"/>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線接點 40"/>
            <p:cNvCxnSpPr/>
            <p:nvPr/>
          </p:nvCxnSpPr>
          <p:spPr>
            <a:xfrm flipH="1">
              <a:off x="8089900" y="6022975"/>
              <a:ext cx="171450" cy="510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線接點 43"/>
            <p:cNvCxnSpPr/>
            <p:nvPr/>
          </p:nvCxnSpPr>
          <p:spPr>
            <a:xfrm flipH="1">
              <a:off x="8087073" y="5862814"/>
              <a:ext cx="363779" cy="670236"/>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直線接點 45"/>
            <p:cNvCxnSpPr/>
            <p:nvPr/>
          </p:nvCxnSpPr>
          <p:spPr>
            <a:xfrm flipH="1">
              <a:off x="8261350" y="5942894"/>
              <a:ext cx="375504" cy="728445"/>
            </a:xfrm>
            <a:prstGeom prst="line">
              <a:avLst/>
            </a:prstGeom>
          </p:spPr>
          <p:style>
            <a:lnRef idx="1">
              <a:schemeClr val="accent1"/>
            </a:lnRef>
            <a:fillRef idx="0">
              <a:schemeClr val="accent1"/>
            </a:fillRef>
            <a:effectRef idx="0">
              <a:schemeClr val="accent1"/>
            </a:effectRef>
            <a:fontRef idx="minor">
              <a:schemeClr val="tx1"/>
            </a:fontRef>
          </p:style>
        </p:cxnSp>
      </p:grpSp>
      <p:sp>
        <p:nvSpPr>
          <p:cNvPr id="2" name="標題 1"/>
          <p:cNvSpPr>
            <a:spLocks noGrp="1"/>
          </p:cNvSpPr>
          <p:nvPr>
            <p:ph type="title"/>
          </p:nvPr>
        </p:nvSpPr>
        <p:spPr/>
        <p:txBody>
          <a:bodyPr>
            <a:normAutofit fontScale="90000"/>
          </a:bodyPr>
          <a:lstStyle/>
          <a:p>
            <a:r>
              <a:rPr lang="en-US" altLang="zh-TW" b="0" dirty="0"/>
              <a:t>Rectangularization by fixed cardinality warping </a:t>
            </a:r>
            <a:r>
              <a:rPr lang="en-US" altLang="zh-TW" b="0" dirty="0" smtClean="0"/>
              <a:t>paths</a:t>
            </a:r>
            <a:endParaRPr lang="zh-TW" altLang="en-US" dirty="0"/>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9</a:t>
            </a:fld>
            <a:endParaRPr lang="zh-TW" altLang="en-US"/>
          </a:p>
        </p:txBody>
      </p:sp>
      <p:sp>
        <p:nvSpPr>
          <p:cNvPr id="5" name="內容版面配置區 4"/>
          <p:cNvSpPr>
            <a:spLocks noGrp="1"/>
          </p:cNvSpPr>
          <p:nvPr>
            <p:ph sz="quarter" idx="1"/>
          </p:nvPr>
        </p:nvSpPr>
        <p:spPr>
          <a:xfrm>
            <a:off x="457200" y="1219199"/>
            <a:ext cx="8229600" cy="5388961"/>
          </a:xfrm>
        </p:spPr>
        <p:txBody>
          <a:bodyPr>
            <a:normAutofit/>
          </a:bodyPr>
          <a:lstStyle/>
          <a:p>
            <a:r>
              <a:rPr lang="en-US" altLang="zh-TW" dirty="0" smtClean="0"/>
              <a:t>Subdividing </a:t>
            </a:r>
            <a:r>
              <a:rPr lang="en-US" altLang="zh-TW" dirty="0"/>
              <a:t>the time axis in </a:t>
            </a:r>
            <a:r>
              <a:rPr lang="en-US" altLang="zh-TW" i="1" dirty="0"/>
              <a:t>T</a:t>
            </a:r>
            <a:r>
              <a:rPr lang="en-US" altLang="zh-TW" dirty="0"/>
              <a:t> portions and then consolidating each attribute for each sequence over the time intervals by means of summaries or averages</a:t>
            </a:r>
            <a:r>
              <a:rPr lang="en-US" altLang="zh-TW" dirty="0" smtClean="0"/>
              <a:t>.</a:t>
            </a:r>
          </a:p>
          <a:p>
            <a:endParaRPr lang="en-US" altLang="zh-TW" dirty="0"/>
          </a:p>
          <a:p>
            <a:endParaRPr lang="en-US" altLang="zh-TW" dirty="0" smtClean="0"/>
          </a:p>
          <a:p>
            <a:r>
              <a:rPr lang="en-US" altLang="zh-TW" dirty="0"/>
              <a:t>a new </a:t>
            </a:r>
            <a:r>
              <a:rPr lang="en-US" altLang="zh-TW" dirty="0" smtClean="0"/>
              <a:t>rectangularization </a:t>
            </a:r>
            <a:r>
              <a:rPr lang="en-US" altLang="zh-TW" dirty="0"/>
              <a:t>scheme based on a fixed cardinality extension of the warping distance, in which the number </a:t>
            </a:r>
            <a:r>
              <a:rPr lang="en-US" altLang="zh-TW" i="1" dirty="0"/>
              <a:t>H</a:t>
            </a:r>
            <a:r>
              <a:rPr lang="en-US" altLang="zh-TW" dirty="0"/>
              <a:t> of arcs in the optimal warping path is fixed a priori and is constant for each pair of time series (</a:t>
            </a:r>
            <a:r>
              <a:rPr lang="en-US" altLang="zh-TW" b="1" dirty="0" err="1"/>
              <a:t>A</a:t>
            </a:r>
            <a:r>
              <a:rPr lang="en-US" altLang="zh-TW" i="1" baseline="-25000" dirty="0" err="1"/>
              <a:t>i</a:t>
            </a:r>
            <a:r>
              <a:rPr lang="en-US" altLang="zh-TW" dirty="0" err="1"/>
              <a:t>,</a:t>
            </a:r>
            <a:r>
              <a:rPr lang="en-US" altLang="zh-TW" b="1" dirty="0" err="1"/>
              <a:t>A</a:t>
            </a:r>
            <a:r>
              <a:rPr lang="en-US" altLang="zh-TW" i="1" baseline="-25000" dirty="0" err="1"/>
              <a:t>k</a:t>
            </a:r>
            <a:r>
              <a:rPr lang="en-US" altLang="zh-TW" dirty="0" smtClean="0"/>
              <a:t>).</a:t>
            </a:r>
          </a:p>
          <a:p>
            <a:r>
              <a:rPr lang="en-US" altLang="zh-TW" dirty="0"/>
              <a:t>we </a:t>
            </a:r>
            <a:r>
              <a:rPr lang="en-US" altLang="zh-TW" dirty="0" smtClean="0"/>
              <a:t>set                   </a:t>
            </a:r>
            <a:endParaRPr lang="zh-TW" altLang="en-US" dirty="0"/>
          </a:p>
        </p:txBody>
      </p:sp>
      <p:grpSp>
        <p:nvGrpSpPr>
          <p:cNvPr id="11" name="群組 10"/>
          <p:cNvGrpSpPr/>
          <p:nvPr/>
        </p:nvGrpSpPr>
        <p:grpSpPr>
          <a:xfrm>
            <a:off x="6732240" y="2492896"/>
            <a:ext cx="2062511" cy="1436937"/>
            <a:chOff x="5940152" y="2420888"/>
            <a:chExt cx="2492064" cy="1736204"/>
          </a:xfrm>
        </p:grpSpPr>
        <p:pic>
          <p:nvPicPr>
            <p:cNvPr id="12" name="Picture 3"/>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0" b="100000" l="0" r="100000"/>
                      </a14:imgEffect>
                    </a14:imgLayer>
                  </a14:imgProps>
                </a:ext>
                <a:ext uri="{28A0092B-C50C-407E-A947-70E740481C1C}">
                  <a14:useLocalDpi xmlns:a14="http://schemas.microsoft.com/office/drawing/2010/main" val="0"/>
                </a:ext>
              </a:extLst>
            </a:blip>
            <a:srcRect t="23444"/>
            <a:stretch/>
          </p:blipFill>
          <p:spPr bwMode="auto">
            <a:xfrm rot="5400000">
              <a:off x="6578373" y="2718771"/>
              <a:ext cx="800100" cy="2076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r="8125"/>
            <a:stretch/>
          </p:blipFill>
          <p:spPr bwMode="auto">
            <a:xfrm>
              <a:off x="5940153" y="2420888"/>
              <a:ext cx="2492063" cy="100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307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3709" y="5952100"/>
            <a:ext cx="1368152" cy="406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5428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0" dirty="0"/>
              <a:t>The rectangularization procedure</a:t>
            </a:r>
            <a:endParaRPr lang="zh-TW" altLang="en-US" dirty="0"/>
          </a:p>
        </p:txBody>
      </p:sp>
      <p:sp>
        <p:nvSpPr>
          <p:cNvPr id="3" name="日期版面配置區 2"/>
          <p:cNvSpPr>
            <a:spLocks noGrp="1"/>
          </p:cNvSpPr>
          <p:nvPr>
            <p:ph type="dt" sz="half" idx="10"/>
          </p:nvPr>
        </p:nvSpPr>
        <p:spPr/>
        <p:txBody>
          <a:bodyPr/>
          <a:lstStyle/>
          <a:p>
            <a:r>
              <a:rPr lang="en-US" altLang="zh-TW" smtClean="0"/>
              <a:t>2012/12/10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10</a:t>
            </a:fld>
            <a:endParaRPr lang="zh-TW" altLang="en-US"/>
          </a:p>
        </p:txBody>
      </p:sp>
      <p:sp>
        <p:nvSpPr>
          <p:cNvPr id="5" name="內容版面配置區 4"/>
          <p:cNvSpPr>
            <a:spLocks noGrp="1"/>
          </p:cNvSpPr>
          <p:nvPr>
            <p:ph sz="quarter" idx="1"/>
          </p:nvPr>
        </p:nvSpPr>
        <p:spPr/>
        <p:txBody>
          <a:bodyPr>
            <a:normAutofit/>
          </a:bodyPr>
          <a:lstStyle/>
          <a:p>
            <a:pPr marL="514350" indent="-514350">
              <a:buFont typeface="+mj-lt"/>
              <a:buAutoNum type="arabicPeriod"/>
            </a:pPr>
            <a:r>
              <a:rPr lang="en-US" altLang="zh-TW" sz="2400" dirty="0"/>
              <a:t>compute the warping </a:t>
            </a:r>
            <a:r>
              <a:rPr lang="en-US" altLang="zh-TW" sz="2400" dirty="0" smtClean="0"/>
              <a:t>distances</a:t>
            </a:r>
            <a:br>
              <a:rPr lang="en-US" altLang="zh-TW" sz="2400" dirty="0" smtClean="0"/>
            </a:br>
            <a:r>
              <a:rPr lang="en-US" altLang="zh-TW" sz="2400" dirty="0"/>
              <a:t>calculate the </a:t>
            </a:r>
            <a:r>
              <a:rPr lang="en-US" altLang="zh-TW" sz="2400" i="1" dirty="0" smtClean="0"/>
              <a:t>centroid </a:t>
            </a:r>
            <a:r>
              <a:rPr lang="en-US" altLang="zh-TW" sz="2400" b="1" dirty="0" smtClean="0"/>
              <a:t>A</a:t>
            </a:r>
            <a:r>
              <a:rPr lang="en-US" altLang="zh-TW" sz="2400" i="1" baseline="-25000" dirty="0" smtClean="0"/>
              <a:t>c </a:t>
            </a:r>
            <a:r>
              <a:rPr lang="en-US" altLang="zh-TW" sz="2400" dirty="0" smtClean="0"/>
              <a:t>of </a:t>
            </a:r>
            <a:r>
              <a:rPr lang="en-US" altLang="zh-TW" sz="2400" dirty="0"/>
              <a:t>the class as the time series for which the sum of the warping distances to all other time series in the class is minimum </a:t>
            </a:r>
            <a:endParaRPr lang="en-US" altLang="zh-TW" sz="2400" dirty="0" smtClean="0"/>
          </a:p>
          <a:p>
            <a:pPr marL="514350" indent="-514350">
              <a:buFont typeface="+mj-lt"/>
              <a:buAutoNum type="arabicPeriod"/>
            </a:pPr>
            <a:endParaRPr lang="en-US" altLang="zh-TW" sz="2400" dirty="0"/>
          </a:p>
          <a:p>
            <a:pPr marL="514350" indent="-514350">
              <a:buFont typeface="+mj-lt"/>
              <a:buAutoNum type="arabicPeriod"/>
            </a:pPr>
            <a:endParaRPr lang="en-US" altLang="zh-TW" sz="2400" dirty="0" smtClean="0"/>
          </a:p>
          <a:p>
            <a:pPr marL="514350" indent="-514350">
              <a:buFont typeface="+mj-lt"/>
              <a:buAutoNum type="arabicPeriod"/>
            </a:pPr>
            <a:r>
              <a:rPr lang="en-US" altLang="zh-TW" sz="2400" dirty="0"/>
              <a:t>For each time series , having the class label </a:t>
            </a:r>
            <a:r>
              <a:rPr lang="en-US" altLang="zh-TW" sz="2400" i="1" dirty="0" err="1" smtClean="0"/>
              <a:t>y</a:t>
            </a:r>
            <a:r>
              <a:rPr lang="en-US" altLang="zh-TW" sz="2400" i="1" baseline="-25000" dirty="0" err="1" smtClean="0"/>
              <a:t>i</a:t>
            </a:r>
            <a:r>
              <a:rPr lang="en-US" altLang="zh-TW" sz="2400" dirty="0" smtClean="0"/>
              <a:t>=</a:t>
            </a:r>
            <a:r>
              <a:rPr lang="en-US" altLang="zh-TW" sz="2400" i="1" dirty="0" smtClean="0"/>
              <a:t>d,</a:t>
            </a:r>
            <a:r>
              <a:rPr lang="en-US" altLang="zh-TW" sz="2400" dirty="0"/>
              <a:t> we compute the fixed cardinality warping distance between </a:t>
            </a:r>
            <a:r>
              <a:rPr lang="en-US" altLang="zh-TW" sz="2400" b="1" dirty="0"/>
              <a:t>A</a:t>
            </a:r>
            <a:r>
              <a:rPr lang="en-US" altLang="zh-TW" sz="2400" i="1" baseline="-25000" dirty="0"/>
              <a:t>c</a:t>
            </a:r>
            <a:r>
              <a:rPr lang="en-US" altLang="zh-TW" sz="2400" dirty="0"/>
              <a:t> and </a:t>
            </a:r>
            <a:r>
              <a:rPr lang="en-US" altLang="zh-TW" sz="2400" b="1" dirty="0" smtClean="0"/>
              <a:t>A</a:t>
            </a:r>
            <a:r>
              <a:rPr lang="en-US" altLang="zh-TW" sz="2400" i="1" baseline="-25000" dirty="0" smtClean="0"/>
              <a:t>i</a:t>
            </a:r>
            <a:endParaRPr lang="zh-TW" altLang="en-US" sz="24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4128" y="1263452"/>
            <a:ext cx="2361431" cy="369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7624" y="2780928"/>
            <a:ext cx="2710458" cy="764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3653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0" dirty="0"/>
              <a:t>The rectangularization procedure</a:t>
            </a:r>
            <a:endParaRPr lang="zh-TW" altLang="en-US" dirty="0"/>
          </a:p>
        </p:txBody>
      </p:sp>
      <p:sp>
        <p:nvSpPr>
          <p:cNvPr id="3" name="日期版面配置區 2"/>
          <p:cNvSpPr>
            <a:spLocks noGrp="1"/>
          </p:cNvSpPr>
          <p:nvPr>
            <p:ph type="dt" sz="half" idx="10"/>
          </p:nvPr>
        </p:nvSpPr>
        <p:spPr/>
        <p:txBody>
          <a:bodyPr/>
          <a:lstStyle/>
          <a:p>
            <a:r>
              <a:rPr lang="en-US" altLang="zh-TW" smtClean="0"/>
              <a:t>2012/12/10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11</a:t>
            </a:fld>
            <a:endParaRPr lang="zh-TW" altLang="en-US"/>
          </a:p>
        </p:txBody>
      </p:sp>
      <p:sp>
        <p:nvSpPr>
          <p:cNvPr id="5" name="內容版面配置區 4"/>
          <p:cNvSpPr>
            <a:spLocks noGrp="1"/>
          </p:cNvSpPr>
          <p:nvPr>
            <p:ph sz="quarter" idx="1"/>
          </p:nvPr>
        </p:nvSpPr>
        <p:spPr/>
        <p:txBody>
          <a:bodyPr/>
          <a:lstStyle/>
          <a:p>
            <a:pPr marL="514350" indent="-514350">
              <a:buFont typeface="+mj-lt"/>
              <a:buAutoNum type="arabicPeriod" startAt="3"/>
            </a:pPr>
            <a:r>
              <a:rPr lang="en-US" altLang="zh-TW" dirty="0" smtClean="0"/>
              <a:t>build </a:t>
            </a:r>
            <a:r>
              <a:rPr lang="en-US" altLang="zh-TW" dirty="0"/>
              <a:t>a </a:t>
            </a:r>
            <a:r>
              <a:rPr lang="en-US" altLang="zh-TW" dirty="0" smtClean="0"/>
              <a:t>three – dimensional</a:t>
            </a:r>
            <a:r>
              <a:rPr lang="en-US" altLang="zh-TW" dirty="0"/>
              <a:t> </a:t>
            </a:r>
            <a:r>
              <a:rPr lang="en-US" altLang="zh-TW" i="1" dirty="0" err="1" smtClean="0"/>
              <a:t>m</a:t>
            </a:r>
            <a:r>
              <a:rPr lang="en-US" altLang="zh-TW" dirty="0" err="1" smtClean="0"/>
              <a:t>×</a:t>
            </a:r>
            <a:r>
              <a:rPr lang="en-US" altLang="zh-TW" i="1" dirty="0" err="1" smtClean="0"/>
              <a:t>L</a:t>
            </a:r>
            <a:r>
              <a:rPr lang="en-US" altLang="zh-TW" dirty="0" err="1" smtClean="0"/>
              <a:t>×</a:t>
            </a:r>
            <a:r>
              <a:rPr lang="en-US" altLang="zh-TW" i="1" dirty="0" err="1" smtClean="0"/>
              <a:t>H</a:t>
            </a:r>
            <a:r>
              <a:rPr lang="en-US" altLang="zh-TW" dirty="0"/>
              <a:t> </a:t>
            </a:r>
            <a:r>
              <a:rPr lang="en-US" altLang="zh-TW" dirty="0" smtClean="0"/>
              <a:t>matrix,</a:t>
            </a:r>
            <a:r>
              <a:rPr lang="en-US" altLang="zh-TW" dirty="0"/>
              <a:t> where </a:t>
            </a:r>
            <a:r>
              <a:rPr lang="en-US" altLang="zh-TW" i="1" dirty="0"/>
              <a:t>r</a:t>
            </a:r>
            <a:r>
              <a:rPr lang="en-US" altLang="zh-TW" dirty="0"/>
              <a:t> is the time period </a:t>
            </a:r>
            <a:r>
              <a:rPr lang="en-US" altLang="zh-TW" dirty="0" smtClean="0"/>
              <a:t>connecting </a:t>
            </a:r>
            <a:r>
              <a:rPr lang="en-US" altLang="zh-TW" dirty="0"/>
              <a:t>the time series </a:t>
            </a:r>
            <a:r>
              <a:rPr lang="en-US" altLang="zh-TW" b="1" dirty="0"/>
              <a:t>A</a:t>
            </a:r>
            <a:r>
              <a:rPr lang="en-US" altLang="zh-TW" i="1" baseline="-25000" dirty="0"/>
              <a:t>i</a:t>
            </a:r>
            <a:r>
              <a:rPr lang="en-US" altLang="zh-TW" dirty="0"/>
              <a:t> to the corresponding centroid </a:t>
            </a:r>
            <a:r>
              <a:rPr lang="en-US" altLang="zh-TW" b="1" dirty="0"/>
              <a:t>A</a:t>
            </a:r>
            <a:r>
              <a:rPr lang="en-US" altLang="zh-TW" i="1" baseline="-25000" dirty="0"/>
              <a:t>c</a:t>
            </a:r>
            <a:r>
              <a:rPr lang="en-US" altLang="zh-TW" dirty="0"/>
              <a:t>.</a:t>
            </a:r>
            <a:endParaRPr lang="en-US" altLang="zh-TW" dirty="0" smtClean="0"/>
          </a:p>
          <a:p>
            <a:pPr marL="514350" indent="-514350">
              <a:buFont typeface="+mj-lt"/>
              <a:buAutoNum type="arabicPeriod" startAt="3"/>
            </a:pPr>
            <a:r>
              <a:rPr lang="en-US" altLang="zh-TW" dirty="0"/>
              <a:t>obtain a rectangular </a:t>
            </a:r>
            <a:r>
              <a:rPr lang="en-US" altLang="zh-TW" i="1" dirty="0" err="1"/>
              <a:t>m</a:t>
            </a:r>
            <a:r>
              <a:rPr lang="en-US" altLang="zh-TW" dirty="0" err="1"/>
              <a:t>×</a:t>
            </a:r>
            <a:r>
              <a:rPr lang="en-US" altLang="zh-TW" i="1" dirty="0" err="1"/>
              <a:t>n</a:t>
            </a:r>
            <a:r>
              <a:rPr lang="en-US" altLang="zh-TW" dirty="0"/>
              <a:t> matrix, with </a:t>
            </a:r>
            <a:r>
              <a:rPr lang="en-US" altLang="zh-TW" i="1" dirty="0"/>
              <a:t>n</a:t>
            </a:r>
            <a:r>
              <a:rPr lang="en-US" altLang="zh-TW" dirty="0"/>
              <a:t>=</a:t>
            </a:r>
            <a:r>
              <a:rPr lang="en-US" altLang="zh-TW" i="1" dirty="0"/>
              <a:t>L</a:t>
            </a:r>
            <a:r>
              <a:rPr lang="en-US" altLang="zh-TW" dirty="0"/>
              <a:t>×</a:t>
            </a:r>
            <a:r>
              <a:rPr lang="en-US" altLang="zh-TW" i="1" dirty="0"/>
              <a:t>H</a:t>
            </a:r>
            <a:r>
              <a:rPr lang="en-US" altLang="zh-TW" dirty="0"/>
              <a:t>, we proceed by sequencing for each time series </a:t>
            </a:r>
            <a:r>
              <a:rPr lang="en-US" altLang="zh-TW" b="1" dirty="0"/>
              <a:t>A</a:t>
            </a:r>
            <a:r>
              <a:rPr lang="en-US" altLang="zh-TW" i="1" baseline="-25000" dirty="0"/>
              <a:t>i</a:t>
            </a:r>
            <a:r>
              <a:rPr lang="en-US" altLang="zh-TW" dirty="0"/>
              <a:t> the attributes and the time periods.</a:t>
            </a:r>
            <a:r>
              <a:rPr lang="en-US" altLang="zh-TW" dirty="0" smtClean="0"/>
              <a:t> </a:t>
            </a:r>
            <a:endParaRPr lang="zh-TW" altLang="en-US" dirty="0"/>
          </a:p>
        </p:txBody>
      </p:sp>
    </p:spTree>
    <p:extLst>
      <p:ext uri="{BB962C8B-B14F-4D97-AF65-F5344CB8AC3E}">
        <p14:creationId xmlns:p14="http://schemas.microsoft.com/office/powerpoint/2010/main" val="3043661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b="0" dirty="0"/>
              <a:t>Temporal discrete support vector </a:t>
            </a:r>
            <a:r>
              <a:rPr lang="en-US" altLang="zh-TW" b="0" dirty="0" smtClean="0"/>
              <a:t>machines</a:t>
            </a:r>
            <a:endParaRPr lang="zh-TW" altLang="en-US" dirty="0"/>
          </a:p>
        </p:txBody>
      </p:sp>
      <p:sp>
        <p:nvSpPr>
          <p:cNvPr id="5" name="內容版面配置區 4"/>
          <p:cNvSpPr>
            <a:spLocks noGrp="1"/>
          </p:cNvSpPr>
          <p:nvPr>
            <p:ph sz="quarter" idx="1"/>
          </p:nvPr>
        </p:nvSpPr>
        <p:spPr/>
        <p:txBody>
          <a:bodyPr/>
          <a:lstStyle/>
          <a:p>
            <a:r>
              <a:rPr lang="en-US" altLang="zh-TW" dirty="0" smtClean="0"/>
              <a:t>To determining </a:t>
            </a:r>
            <a:r>
              <a:rPr lang="en-US" altLang="zh-TW" dirty="0"/>
              <a:t>an optimal separating hyperplane is formulated through the following </a:t>
            </a:r>
            <a:r>
              <a:rPr lang="en-US" altLang="zh-TW" i="1" dirty="0"/>
              <a:t>discrete support vector </a:t>
            </a:r>
            <a:r>
              <a:rPr lang="en-US" altLang="zh-TW" i="1" dirty="0" smtClean="0"/>
              <a:t>machines(DSVM)</a:t>
            </a:r>
            <a:r>
              <a:rPr lang="en-US" altLang="zh-TW" dirty="0"/>
              <a:t> model</a:t>
            </a:r>
            <a:endParaRPr lang="zh-TW" altLang="en-US" dirty="0"/>
          </a:p>
        </p:txBody>
      </p:sp>
      <p:pic>
        <p:nvPicPr>
          <p:cNvPr id="512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9239" y="2540081"/>
            <a:ext cx="3669265" cy="2689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5531526"/>
            <a:ext cx="3816424" cy="697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20" y="2524715"/>
            <a:ext cx="5309383" cy="283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6"/>
          <p:cNvSpPr/>
          <p:nvPr/>
        </p:nvSpPr>
        <p:spPr>
          <a:xfrm>
            <a:off x="2807804" y="4509120"/>
            <a:ext cx="2395015" cy="369332"/>
          </a:xfrm>
          <a:prstGeom prst="rect">
            <a:avLst/>
          </a:prstGeom>
        </p:spPr>
        <p:txBody>
          <a:bodyPr wrap="none">
            <a:spAutoFit/>
          </a:bodyPr>
          <a:lstStyle/>
          <a:p>
            <a:r>
              <a:rPr lang="en-US" altLang="zh-TW" dirty="0"/>
              <a:t> </a:t>
            </a:r>
            <a:r>
              <a:rPr lang="en-US" altLang="zh-TW" i="1" dirty="0" err="1" smtClean="0"/>
              <a:t>u</a:t>
            </a:r>
            <a:r>
              <a:rPr lang="en-US" altLang="zh-TW" i="1" baseline="-25000" dirty="0" err="1" smtClean="0"/>
              <a:t>j</a:t>
            </a:r>
            <a:r>
              <a:rPr lang="zh-TW" altLang="en-US" dirty="0" smtClean="0"/>
              <a:t> </a:t>
            </a:r>
            <a:r>
              <a:rPr lang="en-US" altLang="zh-TW" dirty="0" smtClean="0"/>
              <a:t>: bounding </a:t>
            </a:r>
            <a:r>
              <a:rPr lang="en-US" altLang="zh-TW" dirty="0"/>
              <a:t>variables </a:t>
            </a:r>
            <a:endParaRPr lang="zh-TW" altLang="en-US" dirty="0"/>
          </a:p>
        </p:txBody>
      </p:sp>
      <p:pic>
        <p:nvPicPr>
          <p:cNvPr id="819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560" y="6173727"/>
            <a:ext cx="3545210" cy="670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5"/>
          <p:cNvSpPr/>
          <p:nvPr/>
        </p:nvSpPr>
        <p:spPr>
          <a:xfrm>
            <a:off x="4139952" y="6167045"/>
            <a:ext cx="4931155" cy="646331"/>
          </a:xfrm>
          <a:prstGeom prst="rect">
            <a:avLst/>
          </a:prstGeom>
          <a:solidFill>
            <a:schemeClr val="bg1"/>
          </a:solidFill>
        </p:spPr>
        <p:txBody>
          <a:bodyPr wrap="square">
            <a:spAutoFit/>
          </a:bodyPr>
          <a:lstStyle/>
          <a:p>
            <a:r>
              <a:rPr lang="en-US" altLang="zh-TW" i="1" dirty="0"/>
              <a:t>the sum of the warping distances between all pairs of time series assigned to the same class.</a:t>
            </a:r>
            <a:endParaRPr lang="zh-TW" altLang="en-US" dirty="0"/>
          </a:p>
        </p:txBody>
      </p:sp>
      <p:sp>
        <p:nvSpPr>
          <p:cNvPr id="3" name="日期版面配置區 2"/>
          <p:cNvSpPr>
            <a:spLocks noGrp="1"/>
          </p:cNvSpPr>
          <p:nvPr>
            <p:ph type="dt" sz="half" idx="10"/>
          </p:nvPr>
        </p:nvSpPr>
        <p:spPr/>
        <p:txBody>
          <a:bodyPr/>
          <a:lstStyle/>
          <a:p>
            <a:r>
              <a:rPr lang="en-US" altLang="zh-TW" smtClean="0"/>
              <a:t>2012/12/10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12</a:t>
            </a:fld>
            <a:endParaRPr lang="zh-TW" altLang="en-US"/>
          </a:p>
        </p:txBody>
      </p:sp>
    </p:spTree>
    <p:extLst>
      <p:ext uri="{BB962C8B-B14F-4D97-AF65-F5344CB8AC3E}">
        <p14:creationId xmlns:p14="http://schemas.microsoft.com/office/powerpoint/2010/main" val="29344249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b="0" dirty="0"/>
              <a:t>Temporal discrete support vector </a:t>
            </a:r>
            <a:r>
              <a:rPr lang="en-US" altLang="zh-TW" b="0" dirty="0" smtClean="0"/>
              <a:t>machines</a:t>
            </a:r>
            <a:endParaRPr lang="zh-TW" altLang="en-US" dirty="0"/>
          </a:p>
        </p:txBody>
      </p:sp>
      <p:sp>
        <p:nvSpPr>
          <p:cNvPr id="3" name="日期版面配置區 2"/>
          <p:cNvSpPr>
            <a:spLocks noGrp="1"/>
          </p:cNvSpPr>
          <p:nvPr>
            <p:ph type="dt" sz="half" idx="10"/>
          </p:nvPr>
        </p:nvSpPr>
        <p:spPr/>
        <p:txBody>
          <a:bodyPr/>
          <a:lstStyle/>
          <a:p>
            <a:r>
              <a:rPr lang="en-US" altLang="zh-TW" smtClean="0"/>
              <a:t>2012/12/10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13</a:t>
            </a:fld>
            <a:endParaRPr lang="zh-TW" altLang="en-US"/>
          </a:p>
        </p:txBody>
      </p:sp>
      <p:sp>
        <p:nvSpPr>
          <p:cNvPr id="5" name="內容版面配置區 4"/>
          <p:cNvSpPr>
            <a:spLocks noGrp="1"/>
          </p:cNvSpPr>
          <p:nvPr>
            <p:ph sz="quarter" idx="1"/>
          </p:nvPr>
        </p:nvSpPr>
        <p:spPr/>
        <p:txBody>
          <a:bodyPr/>
          <a:lstStyle/>
          <a:p>
            <a:r>
              <a:rPr lang="en-US" altLang="zh-TW" dirty="0" smtClean="0"/>
              <a:t>To determining </a:t>
            </a:r>
            <a:r>
              <a:rPr lang="en-US" altLang="zh-TW" dirty="0"/>
              <a:t>an optimal separating hyperplane is formulated through the following </a:t>
            </a:r>
            <a:r>
              <a:rPr lang="en-US" altLang="zh-TW" i="1" dirty="0"/>
              <a:t>discrete support vector </a:t>
            </a:r>
            <a:r>
              <a:rPr lang="en-US" altLang="zh-TW" i="1" dirty="0" smtClean="0"/>
              <a:t>machines(DSVM)</a:t>
            </a:r>
            <a:r>
              <a:rPr lang="en-US" altLang="zh-TW" dirty="0"/>
              <a:t> model</a:t>
            </a:r>
            <a:endParaRPr lang="zh-TW" alt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007" y="2497500"/>
            <a:ext cx="3748187" cy="2875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5365" y="2468073"/>
            <a:ext cx="3669265" cy="2689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2" y="5500611"/>
            <a:ext cx="3816424" cy="697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6"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43458" y="5524747"/>
            <a:ext cx="1946539" cy="648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6"/>
          <p:cNvSpPr/>
          <p:nvPr/>
        </p:nvSpPr>
        <p:spPr>
          <a:xfrm>
            <a:off x="848790" y="3666230"/>
            <a:ext cx="2395015" cy="369332"/>
          </a:xfrm>
          <a:prstGeom prst="rect">
            <a:avLst/>
          </a:prstGeom>
        </p:spPr>
        <p:txBody>
          <a:bodyPr wrap="none">
            <a:spAutoFit/>
          </a:bodyPr>
          <a:lstStyle/>
          <a:p>
            <a:r>
              <a:rPr lang="en-US" altLang="zh-TW" dirty="0"/>
              <a:t> </a:t>
            </a:r>
            <a:r>
              <a:rPr lang="en-US" altLang="zh-TW" i="1" dirty="0" err="1" smtClean="0"/>
              <a:t>u</a:t>
            </a:r>
            <a:r>
              <a:rPr lang="en-US" altLang="zh-TW" i="1" baseline="-25000" dirty="0" err="1" smtClean="0"/>
              <a:t>j</a:t>
            </a:r>
            <a:r>
              <a:rPr lang="zh-TW" altLang="en-US" dirty="0" smtClean="0"/>
              <a:t> </a:t>
            </a:r>
            <a:r>
              <a:rPr lang="en-US" altLang="zh-TW" dirty="0" smtClean="0"/>
              <a:t>: bounding </a:t>
            </a:r>
            <a:r>
              <a:rPr lang="en-US" altLang="zh-TW" dirty="0"/>
              <a:t>variables </a:t>
            </a:r>
            <a:endParaRPr lang="zh-TW" altLang="en-US" dirty="0"/>
          </a:p>
        </p:txBody>
      </p:sp>
    </p:spTree>
    <p:extLst>
      <p:ext uri="{BB962C8B-B14F-4D97-AF65-F5344CB8AC3E}">
        <p14:creationId xmlns:p14="http://schemas.microsoft.com/office/powerpoint/2010/main" val="38923809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日期版面配置區 2"/>
          <p:cNvSpPr>
            <a:spLocks noGrp="1"/>
          </p:cNvSpPr>
          <p:nvPr>
            <p:ph type="dt" sz="half" idx="10"/>
          </p:nvPr>
        </p:nvSpPr>
        <p:spPr/>
        <p:txBody>
          <a:bodyPr/>
          <a:lstStyle/>
          <a:p>
            <a:r>
              <a:rPr lang="en-US" altLang="zh-TW" smtClean="0"/>
              <a:t>2012/12/10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14</a:t>
            </a:fld>
            <a:endParaRPr lang="zh-TW" altLang="en-US"/>
          </a:p>
        </p:txBody>
      </p:sp>
      <p:sp>
        <p:nvSpPr>
          <p:cNvPr id="5" name="內容版面配置區 4"/>
          <p:cNvSpPr>
            <a:spLocks noGrp="1"/>
          </p:cNvSpPr>
          <p:nvPr>
            <p:ph sz="quarter" idx="1"/>
          </p:nvPr>
        </p:nvSpPr>
        <p:spPr/>
        <p:txBody>
          <a:bodyPr/>
          <a:lstStyle/>
          <a:p>
            <a:r>
              <a:rPr lang="en-US" altLang="zh-TW" dirty="0"/>
              <a:t>Let </a:t>
            </a:r>
            <a:r>
              <a:rPr lang="en-US" altLang="zh-TW" i="1" dirty="0" err="1"/>
              <a:t>e</a:t>
            </a:r>
            <a:r>
              <a:rPr lang="en-US" altLang="zh-TW" i="1" baseline="-25000" dirty="0" err="1"/>
              <a:t>ik</a:t>
            </a:r>
            <a:r>
              <a:rPr lang="en-US" altLang="zh-TW" dirty="0"/>
              <a:t> denote the warping distance between the pair of temporal sequences (</a:t>
            </a:r>
            <a:r>
              <a:rPr lang="en-US" altLang="zh-TW" b="1" dirty="0" smtClean="0"/>
              <a:t>x</a:t>
            </a:r>
            <a:r>
              <a:rPr lang="en-US" altLang="zh-TW" i="1" baseline="-25000" dirty="0" smtClean="0"/>
              <a:t>i </a:t>
            </a:r>
            <a:r>
              <a:rPr lang="en-US" altLang="zh-TW" dirty="0" smtClean="0"/>
              <a:t>,</a:t>
            </a:r>
            <a:r>
              <a:rPr lang="en-US" altLang="zh-TW" b="1" dirty="0" err="1"/>
              <a:t>x</a:t>
            </a:r>
            <a:r>
              <a:rPr lang="en-US" altLang="zh-TW" i="1" baseline="-25000" dirty="0" err="1"/>
              <a:t>k</a:t>
            </a:r>
            <a:r>
              <a:rPr lang="en-US" altLang="zh-TW" dirty="0"/>
              <a:t>) of the training set </a:t>
            </a:r>
            <a:r>
              <a:rPr lang="en-US" altLang="zh-TW" i="1" dirty="0"/>
              <a:t>S</a:t>
            </a:r>
            <a:r>
              <a:rPr lang="en-US" altLang="zh-TW" i="1" baseline="-25000" dirty="0"/>
              <a:t>m</a:t>
            </a:r>
            <a:r>
              <a:rPr lang="en-US" altLang="zh-TW" dirty="0"/>
              <a:t>. In order to determine the best separating function for time series classification </a:t>
            </a:r>
            <a:endParaRPr lang="zh-TW" alt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7646" y="4797152"/>
            <a:ext cx="4413062"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群組 5"/>
          <p:cNvGrpSpPr/>
          <p:nvPr/>
        </p:nvGrpSpPr>
        <p:grpSpPr>
          <a:xfrm>
            <a:off x="467544" y="2950510"/>
            <a:ext cx="8388424" cy="724023"/>
            <a:chOff x="755576" y="2848910"/>
            <a:chExt cx="8388424" cy="724023"/>
          </a:xfrm>
        </p:grpSpPr>
        <p:pic>
          <p:nvPicPr>
            <p:cNvPr id="7172"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b="44140"/>
            <a:stretch/>
          </p:blipFill>
          <p:spPr bwMode="auto">
            <a:xfrm>
              <a:off x="755576" y="2848910"/>
              <a:ext cx="5317202" cy="7240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11628" t="57166" r="30612"/>
            <a:stretch/>
          </p:blipFill>
          <p:spPr bwMode="auto">
            <a:xfrm>
              <a:off x="6072778" y="2941795"/>
              <a:ext cx="3071222" cy="55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25707682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b="0" dirty="0"/>
              <a:t>Computational setup and </a:t>
            </a:r>
            <a:r>
              <a:rPr lang="en-US" altLang="zh-TW" b="0" dirty="0" smtClean="0"/>
              <a:t>analysis</a:t>
            </a:r>
            <a:endParaRPr lang="zh-TW" altLang="en-US" dirty="0"/>
          </a:p>
        </p:txBody>
      </p:sp>
      <p:sp>
        <p:nvSpPr>
          <p:cNvPr id="3" name="日期版面配置區 2"/>
          <p:cNvSpPr>
            <a:spLocks noGrp="1"/>
          </p:cNvSpPr>
          <p:nvPr>
            <p:ph type="dt" sz="half" idx="10"/>
          </p:nvPr>
        </p:nvSpPr>
        <p:spPr/>
        <p:txBody>
          <a:bodyPr/>
          <a:lstStyle/>
          <a:p>
            <a:r>
              <a:rPr lang="en-US" altLang="zh-TW" smtClean="0"/>
              <a:t>2012/12/10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15</a:t>
            </a:fld>
            <a:endParaRPr lang="zh-TW" altLang="en-US"/>
          </a:p>
        </p:txBody>
      </p:sp>
      <p:sp>
        <p:nvSpPr>
          <p:cNvPr id="5" name="內容版面配置區 4"/>
          <p:cNvSpPr>
            <a:spLocks noGrp="1"/>
          </p:cNvSpPr>
          <p:nvPr>
            <p:ph sz="quarter" idx="1"/>
          </p:nvPr>
        </p:nvSpPr>
        <p:spPr/>
        <p:txBody>
          <a:bodyPr>
            <a:normAutofit fontScale="85000" lnSpcReduction="10000"/>
          </a:bodyPr>
          <a:lstStyle/>
          <a:p>
            <a:r>
              <a:rPr lang="en-US" altLang="zh-TW" dirty="0" smtClean="0"/>
              <a:t>“</a:t>
            </a:r>
            <a:r>
              <a:rPr lang="en-US" altLang="zh-TW" b="1" dirty="0" smtClean="0"/>
              <a:t>Japanese vowels</a:t>
            </a:r>
            <a:r>
              <a:rPr lang="en-US" altLang="zh-TW" dirty="0" smtClean="0"/>
              <a:t>”</a:t>
            </a:r>
            <a:r>
              <a:rPr lang="en-US" altLang="zh-TW" dirty="0"/>
              <a:t> consists of multivariate time series of variable length given by the utterances of two Japanese vowels provided by nine male speakers</a:t>
            </a:r>
            <a:r>
              <a:rPr lang="en-US" altLang="zh-TW" dirty="0" smtClean="0"/>
              <a:t>.</a:t>
            </a:r>
          </a:p>
          <a:p>
            <a:r>
              <a:rPr lang="en-US" altLang="zh-TW" dirty="0"/>
              <a:t>“</a:t>
            </a:r>
            <a:r>
              <a:rPr lang="en-US" altLang="zh-TW" b="1" dirty="0"/>
              <a:t>robot execution failures</a:t>
            </a:r>
            <a:r>
              <a:rPr lang="en-US" altLang="zh-TW" dirty="0"/>
              <a:t>”  </a:t>
            </a:r>
            <a:r>
              <a:rPr lang="en-US" altLang="zh-TW" dirty="0" smtClean="0"/>
              <a:t> refers </a:t>
            </a:r>
            <a:r>
              <a:rPr lang="en-US" altLang="zh-TW" dirty="0"/>
              <a:t>to five classification tasks concerning the identification of a </a:t>
            </a:r>
            <a:r>
              <a:rPr lang="en-US" altLang="zh-TW" dirty="0" smtClean="0"/>
              <a:t>robot </a:t>
            </a:r>
            <a:r>
              <a:rPr lang="en-US" altLang="zh-TW" dirty="0"/>
              <a:t>execution failures</a:t>
            </a:r>
            <a:r>
              <a:rPr lang="en-US" altLang="zh-TW" dirty="0" smtClean="0"/>
              <a:t>.</a:t>
            </a:r>
          </a:p>
          <a:p>
            <a:r>
              <a:rPr lang="en-US" altLang="zh-TW" dirty="0"/>
              <a:t>“</a:t>
            </a:r>
            <a:r>
              <a:rPr lang="en-US" altLang="zh-TW" b="1" dirty="0"/>
              <a:t>pen-based recognition of handwritten digits</a:t>
            </a:r>
            <a:r>
              <a:rPr lang="en-US" altLang="zh-TW" dirty="0" smtClean="0"/>
              <a:t>”</a:t>
            </a:r>
            <a:r>
              <a:rPr lang="en-US" altLang="zh-TW" dirty="0"/>
              <a:t> consists of bivariate time series of fixed length representing handwriting digits samples. </a:t>
            </a:r>
            <a:endParaRPr lang="en-US" altLang="zh-TW" dirty="0" smtClean="0"/>
          </a:p>
          <a:p>
            <a:r>
              <a:rPr lang="en-US" altLang="zh-TW" b="1" dirty="0" smtClean="0"/>
              <a:t>ECG </a:t>
            </a:r>
            <a:r>
              <a:rPr lang="en-US" altLang="zh-TW" dirty="0" smtClean="0"/>
              <a:t> is </a:t>
            </a:r>
            <a:r>
              <a:rPr lang="en-US" altLang="zh-TW" dirty="0"/>
              <a:t>composed by </a:t>
            </a:r>
            <a:r>
              <a:rPr lang="en-US" altLang="zh-TW" dirty="0" err="1"/>
              <a:t>univariate</a:t>
            </a:r>
            <a:r>
              <a:rPr lang="en-US" altLang="zh-TW" dirty="0"/>
              <a:t> sequences of fixed length reporting the measurements of the cardiac activity as recorded by one electrode during one heartbeat</a:t>
            </a:r>
            <a:r>
              <a:rPr lang="en-US" altLang="zh-TW" dirty="0" smtClean="0"/>
              <a:t>.</a:t>
            </a:r>
          </a:p>
          <a:p>
            <a:r>
              <a:rPr lang="en-US" altLang="zh-TW" b="1" dirty="0"/>
              <a:t>Telecom</a:t>
            </a:r>
            <a:r>
              <a:rPr lang="en-US" altLang="zh-TW" dirty="0"/>
              <a:t> and </a:t>
            </a:r>
            <a:r>
              <a:rPr lang="en-US" altLang="zh-TW" b="1" dirty="0"/>
              <a:t>Electronics</a:t>
            </a:r>
            <a:r>
              <a:rPr lang="en-US" altLang="zh-TW" dirty="0"/>
              <a:t>  are real world marketing datasets referring, </a:t>
            </a:r>
            <a:r>
              <a:rPr lang="en-US" altLang="zh-TW" dirty="0" smtClean="0"/>
              <a:t>contain </a:t>
            </a:r>
            <a:r>
              <a:rPr lang="en-US" altLang="zh-TW" dirty="0"/>
              <a:t>sequences of variable length described both by numerical and categorical attributes.</a:t>
            </a:r>
            <a:endParaRPr lang="zh-TW" altLang="en-US" dirty="0"/>
          </a:p>
        </p:txBody>
      </p:sp>
    </p:spTree>
    <p:extLst>
      <p:ext uri="{BB962C8B-B14F-4D97-AF65-F5344CB8AC3E}">
        <p14:creationId xmlns:p14="http://schemas.microsoft.com/office/powerpoint/2010/main" val="505674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0" dirty="0"/>
              <a:t>Computational setup and analysis</a:t>
            </a:r>
            <a:endParaRPr lang="zh-TW" altLang="en-US" dirty="0"/>
          </a:p>
        </p:txBody>
      </p:sp>
      <p:sp>
        <p:nvSpPr>
          <p:cNvPr id="3" name="日期版面配置區 2"/>
          <p:cNvSpPr>
            <a:spLocks noGrp="1"/>
          </p:cNvSpPr>
          <p:nvPr>
            <p:ph type="dt" sz="half" idx="10"/>
          </p:nvPr>
        </p:nvSpPr>
        <p:spPr/>
        <p:txBody>
          <a:bodyPr/>
          <a:lstStyle/>
          <a:p>
            <a:r>
              <a:rPr lang="en-US" altLang="zh-TW" smtClean="0"/>
              <a:t>2012/12/10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16</a:t>
            </a:fld>
            <a:endParaRPr lang="zh-TW" altLang="en-US"/>
          </a:p>
        </p:txBody>
      </p:sp>
      <p:graphicFrame>
        <p:nvGraphicFramePr>
          <p:cNvPr id="6" name="內容版面配置區 5"/>
          <p:cNvGraphicFramePr>
            <a:graphicFrameLocks noGrp="1"/>
          </p:cNvGraphicFramePr>
          <p:nvPr>
            <p:ph sz="quarter" idx="1"/>
            <p:extLst>
              <p:ext uri="{D42A27DB-BD31-4B8C-83A1-F6EECF244321}">
                <p14:modId xmlns:p14="http://schemas.microsoft.com/office/powerpoint/2010/main" val="3112376309"/>
              </p:ext>
            </p:extLst>
          </p:nvPr>
        </p:nvGraphicFramePr>
        <p:xfrm>
          <a:off x="457200" y="1493202"/>
          <a:ext cx="8229600" cy="4389120"/>
        </p:xfrm>
        <a:graphic>
          <a:graphicData uri="http://schemas.openxmlformats.org/drawingml/2006/table">
            <a:tbl>
              <a:tblPr>
                <a:tableStyleId>{69012ECD-51FC-41F1-AA8D-1B2483CD663E}</a:tableStyleId>
              </a:tblPr>
              <a:tblGrid>
                <a:gridCol w="1645920"/>
                <a:gridCol w="1645920"/>
                <a:gridCol w="1645920"/>
                <a:gridCol w="1645920"/>
                <a:gridCol w="1645920"/>
              </a:tblGrid>
              <a:tr h="0">
                <a:tc>
                  <a:txBody>
                    <a:bodyPr/>
                    <a:lstStyle/>
                    <a:p>
                      <a:pPr algn="l" fontAlgn="t"/>
                      <a:endParaRPr lang="en-US" b="0" dirty="0">
                        <a:effectLst/>
                      </a:endParaRPr>
                    </a:p>
                  </a:txBody>
                  <a:tcPr>
                    <a:solidFill>
                      <a:schemeClr val="accent1">
                        <a:lumMod val="20000"/>
                        <a:lumOff val="80000"/>
                      </a:schemeClr>
                    </a:solidFill>
                  </a:tcPr>
                </a:tc>
                <a:tc>
                  <a:txBody>
                    <a:bodyPr/>
                    <a:lstStyle/>
                    <a:p>
                      <a:pPr algn="l" fontAlgn="t"/>
                      <a:r>
                        <a:rPr lang="en-US" dirty="0">
                          <a:effectLst/>
                        </a:rPr>
                        <a:t>Classes</a:t>
                      </a:r>
                      <a:endParaRPr lang="en-US" b="0" dirty="0">
                        <a:effectLst/>
                      </a:endParaRPr>
                    </a:p>
                  </a:txBody>
                  <a:tcPr>
                    <a:solidFill>
                      <a:schemeClr val="accent1">
                        <a:lumMod val="20000"/>
                        <a:lumOff val="80000"/>
                      </a:schemeClr>
                    </a:solidFill>
                  </a:tcPr>
                </a:tc>
                <a:tc>
                  <a:txBody>
                    <a:bodyPr/>
                    <a:lstStyle/>
                    <a:p>
                      <a:pPr algn="l" fontAlgn="t"/>
                      <a:r>
                        <a:rPr lang="en-US" dirty="0">
                          <a:effectLst/>
                        </a:rPr>
                        <a:t>Variables</a:t>
                      </a:r>
                      <a:endParaRPr lang="en-US" b="0" dirty="0">
                        <a:effectLst/>
                      </a:endParaRPr>
                    </a:p>
                  </a:txBody>
                  <a:tcPr>
                    <a:solidFill>
                      <a:schemeClr val="accent1">
                        <a:lumMod val="20000"/>
                        <a:lumOff val="80000"/>
                      </a:schemeClr>
                    </a:solidFill>
                  </a:tcPr>
                </a:tc>
                <a:tc>
                  <a:txBody>
                    <a:bodyPr/>
                    <a:lstStyle/>
                    <a:p>
                      <a:pPr algn="l" fontAlgn="t"/>
                      <a:r>
                        <a:rPr lang="en-US" dirty="0">
                          <a:effectLst/>
                        </a:rPr>
                        <a:t>Length</a:t>
                      </a:r>
                      <a:endParaRPr lang="en-US" b="0" dirty="0">
                        <a:effectLst/>
                      </a:endParaRPr>
                    </a:p>
                  </a:txBody>
                  <a:tcPr>
                    <a:solidFill>
                      <a:schemeClr val="accent1">
                        <a:lumMod val="20000"/>
                        <a:lumOff val="80000"/>
                      </a:schemeClr>
                    </a:solidFill>
                  </a:tcPr>
                </a:tc>
                <a:tc>
                  <a:txBody>
                    <a:bodyPr/>
                    <a:lstStyle/>
                    <a:p>
                      <a:pPr algn="l" fontAlgn="t"/>
                      <a:r>
                        <a:rPr lang="en-US" dirty="0">
                          <a:effectLst/>
                        </a:rPr>
                        <a:t>Examples</a:t>
                      </a:r>
                      <a:endParaRPr lang="en-US" b="0" dirty="0">
                        <a:effectLst/>
                      </a:endParaRPr>
                    </a:p>
                  </a:txBody>
                  <a:tcPr>
                    <a:solidFill>
                      <a:schemeClr val="accent1">
                        <a:lumMod val="20000"/>
                        <a:lumOff val="80000"/>
                      </a:schemeClr>
                    </a:solidFill>
                  </a:tcPr>
                </a:tc>
              </a:tr>
              <a:tr h="0">
                <a:tc>
                  <a:txBody>
                    <a:bodyPr/>
                    <a:lstStyle/>
                    <a:p>
                      <a:pPr algn="l" fontAlgn="t"/>
                      <a:r>
                        <a:rPr lang="en-US" dirty="0" smtClean="0">
                          <a:effectLst/>
                        </a:rPr>
                        <a:t>J</a:t>
                      </a:r>
                      <a:r>
                        <a:rPr lang="en-US" altLang="zh-TW" dirty="0" smtClean="0">
                          <a:effectLst/>
                        </a:rPr>
                        <a:t>-</a:t>
                      </a:r>
                      <a:r>
                        <a:rPr lang="en-US" dirty="0" smtClean="0">
                          <a:effectLst/>
                        </a:rPr>
                        <a:t>vowels</a:t>
                      </a:r>
                      <a:endParaRPr lang="en-US" b="0" dirty="0">
                        <a:effectLst/>
                      </a:endParaRPr>
                    </a:p>
                  </a:txBody>
                  <a:tcPr>
                    <a:solidFill>
                      <a:schemeClr val="accent1">
                        <a:lumMod val="20000"/>
                        <a:lumOff val="80000"/>
                      </a:schemeClr>
                    </a:solidFill>
                  </a:tcPr>
                </a:tc>
                <a:tc>
                  <a:txBody>
                    <a:bodyPr/>
                    <a:lstStyle/>
                    <a:p>
                      <a:pPr algn="l" fontAlgn="t"/>
                      <a:r>
                        <a:rPr lang="en-US" altLang="zh-TW">
                          <a:effectLst/>
                        </a:rPr>
                        <a:t>9</a:t>
                      </a:r>
                      <a:endParaRPr lang="en-US" altLang="zh-TW" b="0">
                        <a:effectLst/>
                      </a:endParaRPr>
                    </a:p>
                  </a:txBody>
                  <a:tcPr/>
                </a:tc>
                <a:tc>
                  <a:txBody>
                    <a:bodyPr/>
                    <a:lstStyle/>
                    <a:p>
                      <a:pPr algn="l" fontAlgn="t"/>
                      <a:r>
                        <a:rPr lang="en-US" altLang="zh-TW">
                          <a:effectLst/>
                        </a:rPr>
                        <a:t>12</a:t>
                      </a:r>
                      <a:endParaRPr lang="en-US" altLang="zh-TW" b="0">
                        <a:effectLst/>
                      </a:endParaRPr>
                    </a:p>
                  </a:txBody>
                  <a:tcPr/>
                </a:tc>
                <a:tc>
                  <a:txBody>
                    <a:bodyPr/>
                    <a:lstStyle/>
                    <a:p>
                      <a:pPr algn="l" fontAlgn="t"/>
                      <a:r>
                        <a:rPr lang="en-US" altLang="zh-TW">
                          <a:effectLst/>
                        </a:rPr>
                        <a:t>[7…29]</a:t>
                      </a:r>
                      <a:endParaRPr lang="en-US" altLang="zh-TW" b="0">
                        <a:effectLst/>
                      </a:endParaRPr>
                    </a:p>
                  </a:txBody>
                  <a:tcPr/>
                </a:tc>
                <a:tc>
                  <a:txBody>
                    <a:bodyPr/>
                    <a:lstStyle/>
                    <a:p>
                      <a:pPr algn="l" fontAlgn="t"/>
                      <a:r>
                        <a:rPr lang="en-US" altLang="zh-TW">
                          <a:effectLst/>
                        </a:rPr>
                        <a:t>640</a:t>
                      </a:r>
                      <a:endParaRPr lang="en-US" altLang="zh-TW" b="0">
                        <a:effectLst/>
                      </a:endParaRPr>
                    </a:p>
                  </a:txBody>
                  <a:tcPr/>
                </a:tc>
              </a:tr>
              <a:tr h="0">
                <a:tc>
                  <a:txBody>
                    <a:bodyPr/>
                    <a:lstStyle/>
                    <a:p>
                      <a:pPr algn="l" fontAlgn="t"/>
                      <a:r>
                        <a:rPr lang="en-US" dirty="0" smtClean="0">
                          <a:effectLst/>
                        </a:rPr>
                        <a:t>Pen</a:t>
                      </a:r>
                      <a:r>
                        <a:rPr lang="en-US" altLang="zh-TW" dirty="0" smtClean="0">
                          <a:effectLst/>
                        </a:rPr>
                        <a:t>-</a:t>
                      </a:r>
                      <a:r>
                        <a:rPr lang="en-US" dirty="0" smtClean="0">
                          <a:effectLst/>
                        </a:rPr>
                        <a:t>digits</a:t>
                      </a:r>
                      <a:endParaRPr lang="en-US" b="0" dirty="0">
                        <a:effectLst/>
                      </a:endParaRPr>
                    </a:p>
                  </a:txBody>
                  <a:tcPr>
                    <a:solidFill>
                      <a:schemeClr val="accent1">
                        <a:lumMod val="20000"/>
                        <a:lumOff val="80000"/>
                      </a:schemeClr>
                    </a:solidFill>
                  </a:tcPr>
                </a:tc>
                <a:tc>
                  <a:txBody>
                    <a:bodyPr/>
                    <a:lstStyle/>
                    <a:p>
                      <a:pPr algn="l" fontAlgn="t"/>
                      <a:r>
                        <a:rPr lang="en-US" altLang="zh-TW">
                          <a:effectLst/>
                        </a:rPr>
                        <a:t>10</a:t>
                      </a:r>
                      <a:endParaRPr lang="en-US" altLang="zh-TW" b="0">
                        <a:effectLst/>
                      </a:endParaRPr>
                    </a:p>
                  </a:txBody>
                  <a:tcPr/>
                </a:tc>
                <a:tc>
                  <a:txBody>
                    <a:bodyPr/>
                    <a:lstStyle/>
                    <a:p>
                      <a:pPr algn="l" fontAlgn="t"/>
                      <a:r>
                        <a:rPr lang="en-US" altLang="zh-TW">
                          <a:effectLst/>
                        </a:rPr>
                        <a:t>2</a:t>
                      </a:r>
                      <a:endParaRPr lang="en-US" altLang="zh-TW" b="0">
                        <a:effectLst/>
                      </a:endParaRPr>
                    </a:p>
                  </a:txBody>
                  <a:tcPr/>
                </a:tc>
                <a:tc>
                  <a:txBody>
                    <a:bodyPr/>
                    <a:lstStyle/>
                    <a:p>
                      <a:pPr algn="l" fontAlgn="t"/>
                      <a:r>
                        <a:rPr lang="en-US" altLang="zh-TW">
                          <a:effectLst/>
                        </a:rPr>
                        <a:t>8</a:t>
                      </a:r>
                      <a:endParaRPr lang="en-US" altLang="zh-TW" b="0">
                        <a:effectLst/>
                      </a:endParaRPr>
                    </a:p>
                  </a:txBody>
                  <a:tcPr/>
                </a:tc>
                <a:tc>
                  <a:txBody>
                    <a:bodyPr/>
                    <a:lstStyle/>
                    <a:p>
                      <a:pPr algn="l" fontAlgn="t"/>
                      <a:r>
                        <a:rPr lang="en-US" altLang="zh-TW">
                          <a:effectLst/>
                        </a:rPr>
                        <a:t>10 992</a:t>
                      </a:r>
                      <a:endParaRPr lang="en-US" altLang="zh-TW" b="0">
                        <a:effectLst/>
                      </a:endParaRPr>
                    </a:p>
                  </a:txBody>
                  <a:tcPr/>
                </a:tc>
              </a:tr>
              <a:tr h="0">
                <a:tc>
                  <a:txBody>
                    <a:bodyPr/>
                    <a:lstStyle/>
                    <a:p>
                      <a:pPr algn="l" fontAlgn="t"/>
                      <a:r>
                        <a:rPr lang="en-US" dirty="0">
                          <a:effectLst/>
                        </a:rPr>
                        <a:t>ECG</a:t>
                      </a:r>
                      <a:endParaRPr lang="en-US" b="0" dirty="0">
                        <a:effectLst/>
                      </a:endParaRPr>
                    </a:p>
                  </a:txBody>
                  <a:tcPr>
                    <a:solidFill>
                      <a:schemeClr val="accent1">
                        <a:lumMod val="20000"/>
                        <a:lumOff val="80000"/>
                      </a:schemeClr>
                    </a:solidFill>
                  </a:tcPr>
                </a:tc>
                <a:tc>
                  <a:txBody>
                    <a:bodyPr/>
                    <a:lstStyle/>
                    <a:p>
                      <a:pPr algn="l" fontAlgn="t"/>
                      <a:r>
                        <a:rPr lang="en-US" altLang="zh-TW">
                          <a:effectLst/>
                        </a:rPr>
                        <a:t>2</a:t>
                      </a:r>
                      <a:endParaRPr lang="en-US" altLang="zh-TW" b="0">
                        <a:effectLst/>
                      </a:endParaRPr>
                    </a:p>
                  </a:txBody>
                  <a:tcPr/>
                </a:tc>
                <a:tc>
                  <a:txBody>
                    <a:bodyPr/>
                    <a:lstStyle/>
                    <a:p>
                      <a:pPr algn="l" fontAlgn="t"/>
                      <a:r>
                        <a:rPr lang="en-US" altLang="zh-TW">
                          <a:effectLst/>
                        </a:rPr>
                        <a:t>1</a:t>
                      </a:r>
                      <a:endParaRPr lang="en-US" altLang="zh-TW" b="0">
                        <a:effectLst/>
                      </a:endParaRPr>
                    </a:p>
                  </a:txBody>
                  <a:tcPr/>
                </a:tc>
                <a:tc>
                  <a:txBody>
                    <a:bodyPr/>
                    <a:lstStyle/>
                    <a:p>
                      <a:pPr algn="l" fontAlgn="t"/>
                      <a:r>
                        <a:rPr lang="en-US" altLang="zh-TW">
                          <a:effectLst/>
                        </a:rPr>
                        <a:t>96</a:t>
                      </a:r>
                      <a:endParaRPr lang="en-US" altLang="zh-TW" b="0">
                        <a:effectLst/>
                      </a:endParaRPr>
                    </a:p>
                  </a:txBody>
                  <a:tcPr/>
                </a:tc>
                <a:tc>
                  <a:txBody>
                    <a:bodyPr/>
                    <a:lstStyle/>
                    <a:p>
                      <a:pPr algn="l" fontAlgn="t"/>
                      <a:r>
                        <a:rPr lang="en-US" altLang="zh-TW">
                          <a:effectLst/>
                        </a:rPr>
                        <a:t>200</a:t>
                      </a:r>
                      <a:endParaRPr lang="en-US" altLang="zh-TW" b="0">
                        <a:effectLst/>
                      </a:endParaRPr>
                    </a:p>
                  </a:txBody>
                  <a:tcPr/>
                </a:tc>
              </a:tr>
              <a:tr h="0">
                <a:tc>
                  <a:txBody>
                    <a:bodyPr/>
                    <a:lstStyle/>
                    <a:p>
                      <a:pPr algn="l" fontAlgn="t"/>
                      <a:r>
                        <a:rPr lang="en-US" dirty="0">
                          <a:effectLst/>
                        </a:rPr>
                        <a:t>Telecom</a:t>
                      </a:r>
                      <a:endParaRPr lang="en-US" b="0" dirty="0">
                        <a:effectLst/>
                      </a:endParaRPr>
                    </a:p>
                  </a:txBody>
                  <a:tcPr>
                    <a:solidFill>
                      <a:schemeClr val="accent1">
                        <a:lumMod val="20000"/>
                        <a:lumOff val="80000"/>
                      </a:schemeClr>
                    </a:solidFill>
                  </a:tcPr>
                </a:tc>
                <a:tc>
                  <a:txBody>
                    <a:bodyPr/>
                    <a:lstStyle/>
                    <a:p>
                      <a:pPr algn="l" fontAlgn="t"/>
                      <a:r>
                        <a:rPr lang="en-US" altLang="zh-TW">
                          <a:effectLst/>
                        </a:rPr>
                        <a:t>2</a:t>
                      </a:r>
                      <a:endParaRPr lang="en-US" altLang="zh-TW" b="0">
                        <a:effectLst/>
                      </a:endParaRPr>
                    </a:p>
                  </a:txBody>
                  <a:tcPr/>
                </a:tc>
                <a:tc>
                  <a:txBody>
                    <a:bodyPr/>
                    <a:lstStyle/>
                    <a:p>
                      <a:pPr algn="l" fontAlgn="t"/>
                      <a:r>
                        <a:rPr lang="en-US" altLang="zh-TW">
                          <a:effectLst/>
                        </a:rPr>
                        <a:t>32</a:t>
                      </a:r>
                      <a:endParaRPr lang="en-US" altLang="zh-TW" b="0">
                        <a:effectLst/>
                      </a:endParaRPr>
                    </a:p>
                  </a:txBody>
                  <a:tcPr/>
                </a:tc>
                <a:tc>
                  <a:txBody>
                    <a:bodyPr/>
                    <a:lstStyle/>
                    <a:p>
                      <a:pPr algn="l" fontAlgn="t"/>
                      <a:r>
                        <a:rPr lang="en-US" altLang="zh-TW">
                          <a:effectLst/>
                        </a:rPr>
                        <a:t>[18…24]</a:t>
                      </a:r>
                      <a:endParaRPr lang="en-US" altLang="zh-TW" b="0">
                        <a:effectLst/>
                      </a:endParaRPr>
                    </a:p>
                  </a:txBody>
                  <a:tcPr/>
                </a:tc>
                <a:tc>
                  <a:txBody>
                    <a:bodyPr/>
                    <a:lstStyle/>
                    <a:p>
                      <a:pPr algn="l" fontAlgn="t"/>
                      <a:r>
                        <a:rPr lang="en-US" altLang="zh-TW">
                          <a:effectLst/>
                        </a:rPr>
                        <a:t>1200</a:t>
                      </a:r>
                      <a:endParaRPr lang="en-US" altLang="zh-TW" b="0">
                        <a:effectLst/>
                      </a:endParaRPr>
                    </a:p>
                  </a:txBody>
                  <a:tcPr/>
                </a:tc>
              </a:tr>
              <a:tr h="0">
                <a:tc>
                  <a:txBody>
                    <a:bodyPr/>
                    <a:lstStyle/>
                    <a:p>
                      <a:pPr algn="l" fontAlgn="t"/>
                      <a:r>
                        <a:rPr lang="en-US">
                          <a:effectLst/>
                        </a:rPr>
                        <a:t>Electronics</a:t>
                      </a:r>
                      <a:endParaRPr lang="en-US" b="0">
                        <a:effectLst/>
                      </a:endParaRPr>
                    </a:p>
                  </a:txBody>
                  <a:tcPr>
                    <a:solidFill>
                      <a:schemeClr val="accent1">
                        <a:lumMod val="20000"/>
                        <a:lumOff val="80000"/>
                      </a:schemeClr>
                    </a:solidFill>
                  </a:tcPr>
                </a:tc>
                <a:tc>
                  <a:txBody>
                    <a:bodyPr/>
                    <a:lstStyle/>
                    <a:p>
                      <a:pPr algn="l" fontAlgn="t"/>
                      <a:r>
                        <a:rPr lang="en-US" altLang="zh-TW">
                          <a:effectLst/>
                        </a:rPr>
                        <a:t>2</a:t>
                      </a:r>
                      <a:endParaRPr lang="en-US" altLang="zh-TW" b="0">
                        <a:effectLst/>
                      </a:endParaRPr>
                    </a:p>
                  </a:txBody>
                  <a:tcPr/>
                </a:tc>
                <a:tc>
                  <a:txBody>
                    <a:bodyPr/>
                    <a:lstStyle/>
                    <a:p>
                      <a:pPr algn="l" fontAlgn="t"/>
                      <a:r>
                        <a:rPr lang="en-US" altLang="zh-TW">
                          <a:effectLst/>
                        </a:rPr>
                        <a:t>27</a:t>
                      </a:r>
                      <a:endParaRPr lang="en-US" altLang="zh-TW" b="0">
                        <a:effectLst/>
                      </a:endParaRPr>
                    </a:p>
                  </a:txBody>
                  <a:tcPr/>
                </a:tc>
                <a:tc>
                  <a:txBody>
                    <a:bodyPr/>
                    <a:lstStyle/>
                    <a:p>
                      <a:pPr algn="l" fontAlgn="t"/>
                      <a:r>
                        <a:rPr lang="en-US" altLang="zh-TW">
                          <a:effectLst/>
                        </a:rPr>
                        <a:t>[35…48]</a:t>
                      </a:r>
                      <a:endParaRPr lang="en-US" altLang="zh-TW" b="0">
                        <a:effectLst/>
                      </a:endParaRPr>
                    </a:p>
                  </a:txBody>
                  <a:tcPr/>
                </a:tc>
                <a:tc>
                  <a:txBody>
                    <a:bodyPr/>
                    <a:lstStyle/>
                    <a:p>
                      <a:pPr algn="l" fontAlgn="t"/>
                      <a:r>
                        <a:rPr lang="en-US" altLang="zh-TW">
                          <a:effectLst/>
                        </a:rPr>
                        <a:t>1800</a:t>
                      </a:r>
                      <a:endParaRPr lang="en-US" altLang="zh-TW" b="0">
                        <a:effectLst/>
                      </a:endParaRPr>
                    </a:p>
                  </a:txBody>
                  <a:tcPr/>
                </a:tc>
              </a:tr>
              <a:tr h="0">
                <a:tc>
                  <a:txBody>
                    <a:bodyPr/>
                    <a:lstStyle/>
                    <a:p>
                      <a:pPr algn="l" fontAlgn="t"/>
                      <a:r>
                        <a:rPr lang="en-US" dirty="0">
                          <a:effectLst/>
                        </a:rPr>
                        <a:t>Robot</a:t>
                      </a:r>
                      <a:endParaRPr lang="en-US" b="0" dirty="0">
                        <a:effectLst/>
                      </a:endParaRPr>
                    </a:p>
                  </a:txBody>
                  <a:tcPr>
                    <a:solidFill>
                      <a:schemeClr val="accent1">
                        <a:lumMod val="20000"/>
                        <a:lumOff val="80000"/>
                      </a:schemeClr>
                    </a:solidFill>
                  </a:tcPr>
                </a:tc>
                <a:tc>
                  <a:txBody>
                    <a:bodyPr/>
                    <a:lstStyle/>
                    <a:p>
                      <a:pPr algn="l" fontAlgn="t"/>
                      <a:endParaRPr lang="zh-TW" altLang="en-US" b="0">
                        <a:effectLst/>
                      </a:endParaRPr>
                    </a:p>
                  </a:txBody>
                  <a:tcPr/>
                </a:tc>
                <a:tc>
                  <a:txBody>
                    <a:bodyPr/>
                    <a:lstStyle/>
                    <a:p>
                      <a:pPr algn="l" fontAlgn="t"/>
                      <a:endParaRPr lang="zh-TW" altLang="en-US" b="0">
                        <a:effectLst/>
                      </a:endParaRPr>
                    </a:p>
                  </a:txBody>
                  <a:tcPr/>
                </a:tc>
                <a:tc>
                  <a:txBody>
                    <a:bodyPr/>
                    <a:lstStyle/>
                    <a:p>
                      <a:pPr algn="l" fontAlgn="t"/>
                      <a:endParaRPr lang="zh-TW" altLang="en-US" b="0">
                        <a:effectLst/>
                      </a:endParaRPr>
                    </a:p>
                  </a:txBody>
                  <a:tcPr/>
                </a:tc>
                <a:tc>
                  <a:txBody>
                    <a:bodyPr/>
                    <a:lstStyle/>
                    <a:p>
                      <a:pPr algn="l" fontAlgn="t"/>
                      <a:endParaRPr lang="zh-TW" altLang="en-US" b="0">
                        <a:effectLst/>
                      </a:endParaRPr>
                    </a:p>
                  </a:txBody>
                  <a:tcPr/>
                </a:tc>
              </a:tr>
              <a:tr h="0">
                <a:tc>
                  <a:txBody>
                    <a:bodyPr/>
                    <a:lstStyle/>
                    <a:p>
                      <a:pPr algn="l" fontAlgn="t"/>
                      <a:r>
                        <a:rPr lang="en-US" dirty="0">
                          <a:effectLst/>
                        </a:rPr>
                        <a:t> Failure 1</a:t>
                      </a:r>
                      <a:endParaRPr lang="en-US" b="0" dirty="0">
                        <a:effectLst/>
                      </a:endParaRPr>
                    </a:p>
                  </a:txBody>
                  <a:tcPr>
                    <a:solidFill>
                      <a:schemeClr val="accent1">
                        <a:lumMod val="20000"/>
                        <a:lumOff val="80000"/>
                      </a:schemeClr>
                    </a:solidFill>
                  </a:tcPr>
                </a:tc>
                <a:tc>
                  <a:txBody>
                    <a:bodyPr/>
                    <a:lstStyle/>
                    <a:p>
                      <a:pPr algn="l" fontAlgn="t"/>
                      <a:r>
                        <a:rPr lang="en-US" altLang="zh-TW">
                          <a:effectLst/>
                        </a:rPr>
                        <a:t>4</a:t>
                      </a:r>
                      <a:endParaRPr lang="en-US" altLang="zh-TW" b="0">
                        <a:effectLst/>
                      </a:endParaRPr>
                    </a:p>
                  </a:txBody>
                  <a:tcPr/>
                </a:tc>
                <a:tc>
                  <a:txBody>
                    <a:bodyPr/>
                    <a:lstStyle/>
                    <a:p>
                      <a:pPr algn="l" fontAlgn="t"/>
                      <a:r>
                        <a:rPr lang="en-US" altLang="zh-TW">
                          <a:effectLst/>
                        </a:rPr>
                        <a:t>6</a:t>
                      </a:r>
                      <a:endParaRPr lang="en-US" altLang="zh-TW" b="0">
                        <a:effectLst/>
                      </a:endParaRPr>
                    </a:p>
                  </a:txBody>
                  <a:tcPr/>
                </a:tc>
                <a:tc>
                  <a:txBody>
                    <a:bodyPr/>
                    <a:lstStyle/>
                    <a:p>
                      <a:pPr algn="l" fontAlgn="t"/>
                      <a:r>
                        <a:rPr lang="en-US" altLang="zh-TW">
                          <a:effectLst/>
                        </a:rPr>
                        <a:t>15</a:t>
                      </a:r>
                      <a:endParaRPr lang="en-US" altLang="zh-TW" b="0">
                        <a:effectLst/>
                      </a:endParaRPr>
                    </a:p>
                  </a:txBody>
                  <a:tcPr/>
                </a:tc>
                <a:tc>
                  <a:txBody>
                    <a:bodyPr/>
                    <a:lstStyle/>
                    <a:p>
                      <a:pPr algn="l" fontAlgn="t"/>
                      <a:r>
                        <a:rPr lang="en-US" altLang="zh-TW">
                          <a:effectLst/>
                        </a:rPr>
                        <a:t>88</a:t>
                      </a:r>
                      <a:endParaRPr lang="en-US" altLang="zh-TW" b="0">
                        <a:effectLst/>
                      </a:endParaRPr>
                    </a:p>
                  </a:txBody>
                  <a:tcPr/>
                </a:tc>
              </a:tr>
              <a:tr h="0">
                <a:tc>
                  <a:txBody>
                    <a:bodyPr/>
                    <a:lstStyle/>
                    <a:p>
                      <a:pPr algn="l" fontAlgn="t"/>
                      <a:r>
                        <a:rPr lang="en-US" dirty="0">
                          <a:effectLst/>
                        </a:rPr>
                        <a:t> Failure 2</a:t>
                      </a:r>
                      <a:endParaRPr lang="en-US" b="0" dirty="0">
                        <a:effectLst/>
                      </a:endParaRPr>
                    </a:p>
                  </a:txBody>
                  <a:tcPr>
                    <a:solidFill>
                      <a:schemeClr val="accent1">
                        <a:lumMod val="20000"/>
                        <a:lumOff val="80000"/>
                      </a:schemeClr>
                    </a:solidFill>
                  </a:tcPr>
                </a:tc>
                <a:tc>
                  <a:txBody>
                    <a:bodyPr/>
                    <a:lstStyle/>
                    <a:p>
                      <a:pPr algn="l" fontAlgn="t"/>
                      <a:r>
                        <a:rPr lang="en-US" altLang="zh-TW">
                          <a:effectLst/>
                        </a:rPr>
                        <a:t>5</a:t>
                      </a:r>
                      <a:endParaRPr lang="en-US" altLang="zh-TW" b="0">
                        <a:effectLst/>
                      </a:endParaRPr>
                    </a:p>
                  </a:txBody>
                  <a:tcPr/>
                </a:tc>
                <a:tc>
                  <a:txBody>
                    <a:bodyPr/>
                    <a:lstStyle/>
                    <a:p>
                      <a:pPr algn="l" fontAlgn="t"/>
                      <a:r>
                        <a:rPr lang="en-US" altLang="zh-TW">
                          <a:effectLst/>
                        </a:rPr>
                        <a:t>6</a:t>
                      </a:r>
                      <a:endParaRPr lang="en-US" altLang="zh-TW" b="0">
                        <a:effectLst/>
                      </a:endParaRPr>
                    </a:p>
                  </a:txBody>
                  <a:tcPr/>
                </a:tc>
                <a:tc>
                  <a:txBody>
                    <a:bodyPr/>
                    <a:lstStyle/>
                    <a:p>
                      <a:pPr algn="l" fontAlgn="t"/>
                      <a:r>
                        <a:rPr lang="en-US" altLang="zh-TW">
                          <a:effectLst/>
                        </a:rPr>
                        <a:t>15</a:t>
                      </a:r>
                      <a:endParaRPr lang="en-US" altLang="zh-TW" b="0">
                        <a:effectLst/>
                      </a:endParaRPr>
                    </a:p>
                  </a:txBody>
                  <a:tcPr/>
                </a:tc>
                <a:tc>
                  <a:txBody>
                    <a:bodyPr/>
                    <a:lstStyle/>
                    <a:p>
                      <a:pPr algn="l" fontAlgn="t"/>
                      <a:r>
                        <a:rPr lang="en-US" altLang="zh-TW">
                          <a:effectLst/>
                        </a:rPr>
                        <a:t>47</a:t>
                      </a:r>
                      <a:endParaRPr lang="en-US" altLang="zh-TW" b="0">
                        <a:effectLst/>
                      </a:endParaRPr>
                    </a:p>
                  </a:txBody>
                  <a:tcPr/>
                </a:tc>
              </a:tr>
              <a:tr h="0">
                <a:tc>
                  <a:txBody>
                    <a:bodyPr/>
                    <a:lstStyle/>
                    <a:p>
                      <a:pPr algn="l" fontAlgn="t"/>
                      <a:r>
                        <a:rPr lang="en-US" dirty="0">
                          <a:effectLst/>
                        </a:rPr>
                        <a:t> Failure 3</a:t>
                      </a:r>
                      <a:endParaRPr lang="en-US" b="0" dirty="0">
                        <a:effectLst/>
                      </a:endParaRPr>
                    </a:p>
                  </a:txBody>
                  <a:tcPr>
                    <a:solidFill>
                      <a:schemeClr val="accent1">
                        <a:lumMod val="20000"/>
                        <a:lumOff val="80000"/>
                      </a:schemeClr>
                    </a:solidFill>
                  </a:tcPr>
                </a:tc>
                <a:tc>
                  <a:txBody>
                    <a:bodyPr/>
                    <a:lstStyle/>
                    <a:p>
                      <a:pPr algn="l" fontAlgn="t"/>
                      <a:r>
                        <a:rPr lang="en-US" altLang="zh-TW">
                          <a:effectLst/>
                        </a:rPr>
                        <a:t>4</a:t>
                      </a:r>
                      <a:endParaRPr lang="en-US" altLang="zh-TW" b="0">
                        <a:effectLst/>
                      </a:endParaRPr>
                    </a:p>
                  </a:txBody>
                  <a:tcPr/>
                </a:tc>
                <a:tc>
                  <a:txBody>
                    <a:bodyPr/>
                    <a:lstStyle/>
                    <a:p>
                      <a:pPr algn="l" fontAlgn="t"/>
                      <a:r>
                        <a:rPr lang="en-US" altLang="zh-TW">
                          <a:effectLst/>
                        </a:rPr>
                        <a:t>6</a:t>
                      </a:r>
                      <a:endParaRPr lang="en-US" altLang="zh-TW" b="0">
                        <a:effectLst/>
                      </a:endParaRPr>
                    </a:p>
                  </a:txBody>
                  <a:tcPr/>
                </a:tc>
                <a:tc>
                  <a:txBody>
                    <a:bodyPr/>
                    <a:lstStyle/>
                    <a:p>
                      <a:pPr algn="l" fontAlgn="t"/>
                      <a:r>
                        <a:rPr lang="en-US" altLang="zh-TW">
                          <a:effectLst/>
                        </a:rPr>
                        <a:t>15</a:t>
                      </a:r>
                      <a:endParaRPr lang="en-US" altLang="zh-TW" b="0">
                        <a:effectLst/>
                      </a:endParaRPr>
                    </a:p>
                  </a:txBody>
                  <a:tcPr/>
                </a:tc>
                <a:tc>
                  <a:txBody>
                    <a:bodyPr/>
                    <a:lstStyle/>
                    <a:p>
                      <a:pPr algn="l" fontAlgn="t"/>
                      <a:r>
                        <a:rPr lang="en-US" altLang="zh-TW">
                          <a:effectLst/>
                        </a:rPr>
                        <a:t>47</a:t>
                      </a:r>
                      <a:endParaRPr lang="en-US" altLang="zh-TW" b="0">
                        <a:effectLst/>
                      </a:endParaRPr>
                    </a:p>
                  </a:txBody>
                  <a:tcPr/>
                </a:tc>
              </a:tr>
              <a:tr h="0">
                <a:tc>
                  <a:txBody>
                    <a:bodyPr/>
                    <a:lstStyle/>
                    <a:p>
                      <a:pPr algn="l" fontAlgn="t"/>
                      <a:r>
                        <a:rPr lang="en-US" dirty="0">
                          <a:effectLst/>
                        </a:rPr>
                        <a:t> Failure 4</a:t>
                      </a:r>
                      <a:endParaRPr lang="en-US" b="0" dirty="0">
                        <a:effectLst/>
                      </a:endParaRPr>
                    </a:p>
                  </a:txBody>
                  <a:tcPr>
                    <a:solidFill>
                      <a:schemeClr val="accent1">
                        <a:lumMod val="20000"/>
                        <a:lumOff val="80000"/>
                      </a:schemeClr>
                    </a:solidFill>
                  </a:tcPr>
                </a:tc>
                <a:tc>
                  <a:txBody>
                    <a:bodyPr/>
                    <a:lstStyle/>
                    <a:p>
                      <a:pPr algn="l" fontAlgn="t"/>
                      <a:r>
                        <a:rPr lang="en-US" altLang="zh-TW">
                          <a:effectLst/>
                        </a:rPr>
                        <a:t>3</a:t>
                      </a:r>
                      <a:endParaRPr lang="en-US" altLang="zh-TW" b="0">
                        <a:effectLst/>
                      </a:endParaRPr>
                    </a:p>
                  </a:txBody>
                  <a:tcPr/>
                </a:tc>
                <a:tc>
                  <a:txBody>
                    <a:bodyPr/>
                    <a:lstStyle/>
                    <a:p>
                      <a:pPr algn="l" fontAlgn="t"/>
                      <a:r>
                        <a:rPr lang="en-US" altLang="zh-TW">
                          <a:effectLst/>
                        </a:rPr>
                        <a:t>6</a:t>
                      </a:r>
                      <a:endParaRPr lang="en-US" altLang="zh-TW" b="0">
                        <a:effectLst/>
                      </a:endParaRPr>
                    </a:p>
                  </a:txBody>
                  <a:tcPr/>
                </a:tc>
                <a:tc>
                  <a:txBody>
                    <a:bodyPr/>
                    <a:lstStyle/>
                    <a:p>
                      <a:pPr algn="l" fontAlgn="t"/>
                      <a:r>
                        <a:rPr lang="en-US" altLang="zh-TW">
                          <a:effectLst/>
                        </a:rPr>
                        <a:t>15</a:t>
                      </a:r>
                      <a:endParaRPr lang="en-US" altLang="zh-TW" b="0">
                        <a:effectLst/>
                      </a:endParaRPr>
                    </a:p>
                  </a:txBody>
                  <a:tcPr/>
                </a:tc>
                <a:tc>
                  <a:txBody>
                    <a:bodyPr/>
                    <a:lstStyle/>
                    <a:p>
                      <a:pPr algn="l" fontAlgn="t"/>
                      <a:r>
                        <a:rPr lang="en-US" altLang="zh-TW">
                          <a:effectLst/>
                        </a:rPr>
                        <a:t>117</a:t>
                      </a:r>
                      <a:endParaRPr lang="en-US" altLang="zh-TW" b="0">
                        <a:effectLst/>
                      </a:endParaRPr>
                    </a:p>
                  </a:txBody>
                  <a:tcPr/>
                </a:tc>
              </a:tr>
              <a:tr h="0">
                <a:tc>
                  <a:txBody>
                    <a:bodyPr/>
                    <a:lstStyle/>
                    <a:p>
                      <a:pPr algn="l" fontAlgn="t"/>
                      <a:r>
                        <a:rPr lang="en-US" dirty="0">
                          <a:effectLst/>
                        </a:rPr>
                        <a:t> Failure 5</a:t>
                      </a:r>
                      <a:endParaRPr lang="en-US" b="0" dirty="0">
                        <a:effectLst/>
                      </a:endParaRPr>
                    </a:p>
                  </a:txBody>
                  <a:tcPr>
                    <a:solidFill>
                      <a:schemeClr val="accent1">
                        <a:lumMod val="20000"/>
                        <a:lumOff val="80000"/>
                      </a:schemeClr>
                    </a:solidFill>
                  </a:tcPr>
                </a:tc>
                <a:tc>
                  <a:txBody>
                    <a:bodyPr/>
                    <a:lstStyle/>
                    <a:p>
                      <a:pPr algn="l" fontAlgn="t"/>
                      <a:r>
                        <a:rPr lang="en-US" altLang="zh-TW">
                          <a:effectLst/>
                        </a:rPr>
                        <a:t>5</a:t>
                      </a:r>
                      <a:endParaRPr lang="en-US" altLang="zh-TW" b="0">
                        <a:effectLst/>
                      </a:endParaRPr>
                    </a:p>
                  </a:txBody>
                  <a:tcPr/>
                </a:tc>
                <a:tc>
                  <a:txBody>
                    <a:bodyPr/>
                    <a:lstStyle/>
                    <a:p>
                      <a:pPr algn="l" fontAlgn="t"/>
                      <a:r>
                        <a:rPr lang="en-US" altLang="zh-TW">
                          <a:effectLst/>
                        </a:rPr>
                        <a:t>6</a:t>
                      </a:r>
                      <a:endParaRPr lang="en-US" altLang="zh-TW" b="0">
                        <a:effectLst/>
                      </a:endParaRPr>
                    </a:p>
                  </a:txBody>
                  <a:tcPr/>
                </a:tc>
                <a:tc>
                  <a:txBody>
                    <a:bodyPr/>
                    <a:lstStyle/>
                    <a:p>
                      <a:pPr algn="l" fontAlgn="t"/>
                      <a:r>
                        <a:rPr lang="en-US" altLang="zh-TW">
                          <a:effectLst/>
                        </a:rPr>
                        <a:t>15</a:t>
                      </a:r>
                      <a:endParaRPr lang="en-US" altLang="zh-TW" b="0">
                        <a:effectLst/>
                      </a:endParaRPr>
                    </a:p>
                  </a:txBody>
                  <a:tcPr/>
                </a:tc>
                <a:tc>
                  <a:txBody>
                    <a:bodyPr/>
                    <a:lstStyle/>
                    <a:p>
                      <a:pPr algn="l" fontAlgn="t"/>
                      <a:r>
                        <a:rPr lang="en-US" altLang="zh-TW" dirty="0">
                          <a:effectLst/>
                        </a:rPr>
                        <a:t>164</a:t>
                      </a:r>
                      <a:endParaRPr lang="en-US" altLang="zh-TW" b="0" dirty="0">
                        <a:effectLst/>
                      </a:endParaRPr>
                    </a:p>
                  </a:txBody>
                  <a:tcPr/>
                </a:tc>
              </a:tr>
            </a:tbl>
          </a:graphicData>
        </a:graphic>
      </p:graphicFrame>
    </p:spTree>
    <p:extLst>
      <p:ext uri="{BB962C8B-B14F-4D97-AF65-F5344CB8AC3E}">
        <p14:creationId xmlns:p14="http://schemas.microsoft.com/office/powerpoint/2010/main" val="1245693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0" dirty="0"/>
              <a:t>Computational setup and analysis</a:t>
            </a:r>
            <a:endParaRPr lang="zh-TW" altLang="en-US" dirty="0"/>
          </a:p>
        </p:txBody>
      </p:sp>
      <p:sp>
        <p:nvSpPr>
          <p:cNvPr id="3" name="日期版面配置區 2"/>
          <p:cNvSpPr>
            <a:spLocks noGrp="1"/>
          </p:cNvSpPr>
          <p:nvPr>
            <p:ph type="dt" sz="half" idx="10"/>
          </p:nvPr>
        </p:nvSpPr>
        <p:spPr/>
        <p:txBody>
          <a:bodyPr/>
          <a:lstStyle/>
          <a:p>
            <a:r>
              <a:rPr lang="en-US" altLang="zh-TW" smtClean="0"/>
              <a:t>2012/12/10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17</a:t>
            </a:fld>
            <a:endParaRPr lang="zh-TW" altLang="en-US"/>
          </a:p>
        </p:txBody>
      </p:sp>
      <p:graphicFrame>
        <p:nvGraphicFramePr>
          <p:cNvPr id="6" name="內容版面配置區 5"/>
          <p:cNvGraphicFramePr>
            <a:graphicFrameLocks noGrp="1"/>
          </p:cNvGraphicFramePr>
          <p:nvPr>
            <p:ph sz="quarter" idx="1"/>
            <p:extLst>
              <p:ext uri="{D42A27DB-BD31-4B8C-83A1-F6EECF244321}">
                <p14:modId xmlns:p14="http://schemas.microsoft.com/office/powerpoint/2010/main" val="4144797667"/>
              </p:ext>
            </p:extLst>
          </p:nvPr>
        </p:nvGraphicFramePr>
        <p:xfrm>
          <a:off x="467544" y="1219198"/>
          <a:ext cx="8208913" cy="4076904"/>
        </p:xfrm>
        <a:graphic>
          <a:graphicData uri="http://schemas.openxmlformats.org/drawingml/2006/table">
            <a:tbl>
              <a:tblPr>
                <a:tableStyleId>{69012ECD-51FC-41F1-AA8D-1B2483CD663E}</a:tableStyleId>
              </a:tblPr>
              <a:tblGrid>
                <a:gridCol w="1080120"/>
                <a:gridCol w="1018399"/>
                <a:gridCol w="1018399"/>
                <a:gridCol w="1018399"/>
                <a:gridCol w="1018399"/>
                <a:gridCol w="1018399"/>
                <a:gridCol w="1018399"/>
                <a:gridCol w="1018399"/>
              </a:tblGrid>
              <a:tr h="231053">
                <a:tc>
                  <a:txBody>
                    <a:bodyPr/>
                    <a:lstStyle/>
                    <a:p>
                      <a:pPr algn="l" fontAlgn="t"/>
                      <a:endParaRPr lang="zh-TW" altLang="en-US" sz="1800" b="0" dirty="0">
                        <a:effectLst/>
                      </a:endParaRPr>
                    </a:p>
                  </a:txBody>
                  <a:tcPr marL="42561" marR="42561" marT="21281" marB="21281">
                    <a:solidFill>
                      <a:schemeClr val="accent1">
                        <a:lumMod val="20000"/>
                        <a:lumOff val="80000"/>
                      </a:schemeClr>
                    </a:solidFill>
                  </a:tcPr>
                </a:tc>
                <a:tc>
                  <a:txBody>
                    <a:bodyPr/>
                    <a:lstStyle/>
                    <a:p>
                      <a:pPr algn="l" fontAlgn="t"/>
                      <a:r>
                        <a:rPr lang="en-US" sz="1800" dirty="0">
                          <a:effectLst/>
                        </a:rPr>
                        <a:t>TDVM</a:t>
                      </a:r>
                      <a:endParaRPr lang="en-US" sz="1800" b="0" dirty="0">
                        <a:effectLst/>
                      </a:endParaRPr>
                    </a:p>
                  </a:txBody>
                  <a:tcPr marL="42561" marR="42561" marT="21281" marB="21281">
                    <a:solidFill>
                      <a:schemeClr val="accent1">
                        <a:lumMod val="20000"/>
                        <a:lumOff val="80000"/>
                      </a:schemeClr>
                    </a:solidFill>
                  </a:tcPr>
                </a:tc>
                <a:tc>
                  <a:txBody>
                    <a:bodyPr/>
                    <a:lstStyle/>
                    <a:p>
                      <a:pPr algn="l" fontAlgn="t"/>
                      <a:r>
                        <a:rPr lang="en-US" sz="1800" dirty="0">
                          <a:effectLst/>
                        </a:rPr>
                        <a:t>DSVM</a:t>
                      </a:r>
                      <a:endParaRPr lang="en-US" sz="1800" b="0" dirty="0">
                        <a:effectLst/>
                      </a:endParaRPr>
                    </a:p>
                  </a:txBody>
                  <a:tcPr marL="42561" marR="42561" marT="21281" marB="21281">
                    <a:solidFill>
                      <a:schemeClr val="accent1">
                        <a:lumMod val="20000"/>
                        <a:lumOff val="80000"/>
                      </a:schemeClr>
                    </a:solidFill>
                  </a:tcPr>
                </a:tc>
                <a:tc>
                  <a:txBody>
                    <a:bodyPr/>
                    <a:lstStyle/>
                    <a:p>
                      <a:pPr algn="l" fontAlgn="t"/>
                      <a:r>
                        <a:rPr lang="en-US" sz="1800" dirty="0">
                          <a:effectLst/>
                        </a:rPr>
                        <a:t>SVM</a:t>
                      </a:r>
                      <a:r>
                        <a:rPr lang="en-US" sz="1800" baseline="-25000" dirty="0">
                          <a:effectLst/>
                        </a:rPr>
                        <a:t>LIN</a:t>
                      </a:r>
                      <a:endParaRPr lang="en-US" sz="1800" b="0" dirty="0">
                        <a:effectLst/>
                      </a:endParaRPr>
                    </a:p>
                  </a:txBody>
                  <a:tcPr marL="42561" marR="42561" marT="21281" marB="21281">
                    <a:solidFill>
                      <a:schemeClr val="accent1">
                        <a:lumMod val="20000"/>
                        <a:lumOff val="80000"/>
                      </a:schemeClr>
                    </a:solidFill>
                  </a:tcPr>
                </a:tc>
                <a:tc>
                  <a:txBody>
                    <a:bodyPr/>
                    <a:lstStyle/>
                    <a:p>
                      <a:pPr algn="l" fontAlgn="t"/>
                      <a:r>
                        <a:rPr lang="en-US" sz="1800" dirty="0">
                          <a:effectLst/>
                        </a:rPr>
                        <a:t>SVM</a:t>
                      </a:r>
                      <a:r>
                        <a:rPr lang="en-US" sz="1800" baseline="-25000" dirty="0">
                          <a:effectLst/>
                        </a:rPr>
                        <a:t>SIG</a:t>
                      </a:r>
                      <a:endParaRPr lang="en-US" sz="1800" b="0" dirty="0">
                        <a:effectLst/>
                      </a:endParaRPr>
                    </a:p>
                  </a:txBody>
                  <a:tcPr marL="42561" marR="42561" marT="21281" marB="21281">
                    <a:solidFill>
                      <a:schemeClr val="accent1">
                        <a:lumMod val="20000"/>
                        <a:lumOff val="80000"/>
                      </a:schemeClr>
                    </a:solidFill>
                  </a:tcPr>
                </a:tc>
                <a:tc>
                  <a:txBody>
                    <a:bodyPr/>
                    <a:lstStyle/>
                    <a:p>
                      <a:pPr algn="l" fontAlgn="t"/>
                      <a:r>
                        <a:rPr lang="en-US" sz="1800" dirty="0">
                          <a:effectLst/>
                        </a:rPr>
                        <a:t>SVM</a:t>
                      </a:r>
                      <a:r>
                        <a:rPr lang="en-US" sz="1800" baseline="-25000" dirty="0">
                          <a:effectLst/>
                        </a:rPr>
                        <a:t>RBF</a:t>
                      </a:r>
                      <a:endParaRPr lang="en-US" sz="1800" b="0" dirty="0">
                        <a:effectLst/>
                      </a:endParaRPr>
                    </a:p>
                  </a:txBody>
                  <a:tcPr marL="42561" marR="42561" marT="21281" marB="21281">
                    <a:solidFill>
                      <a:schemeClr val="accent1">
                        <a:lumMod val="20000"/>
                        <a:lumOff val="80000"/>
                      </a:schemeClr>
                    </a:solidFill>
                  </a:tcPr>
                </a:tc>
                <a:tc>
                  <a:txBody>
                    <a:bodyPr/>
                    <a:lstStyle/>
                    <a:p>
                      <a:pPr algn="l" fontAlgn="t"/>
                      <a:r>
                        <a:rPr lang="en-US" sz="1800" dirty="0">
                          <a:effectLst/>
                        </a:rPr>
                        <a:t>SVM</a:t>
                      </a:r>
                      <a:r>
                        <a:rPr lang="en-US" sz="1800" baseline="-25000" dirty="0">
                          <a:effectLst/>
                        </a:rPr>
                        <a:t>DTW</a:t>
                      </a:r>
                      <a:endParaRPr lang="en-US" sz="1800" b="0" dirty="0">
                        <a:effectLst/>
                      </a:endParaRPr>
                    </a:p>
                  </a:txBody>
                  <a:tcPr marL="42561" marR="42561" marT="21281" marB="21281">
                    <a:solidFill>
                      <a:schemeClr val="accent1">
                        <a:lumMod val="20000"/>
                        <a:lumOff val="80000"/>
                      </a:schemeClr>
                    </a:solidFill>
                  </a:tcPr>
                </a:tc>
                <a:tc>
                  <a:txBody>
                    <a:bodyPr/>
                    <a:lstStyle/>
                    <a:p>
                      <a:pPr algn="l" fontAlgn="t"/>
                      <a:r>
                        <a:rPr lang="en-US" sz="1800" dirty="0">
                          <a:effectLst/>
                        </a:rPr>
                        <a:t>1NN</a:t>
                      </a:r>
                      <a:r>
                        <a:rPr lang="en-US" sz="1800" baseline="-25000" dirty="0">
                          <a:effectLst/>
                        </a:rPr>
                        <a:t>WD</a:t>
                      </a:r>
                      <a:r>
                        <a:rPr lang="en-US" sz="1800" dirty="0">
                          <a:effectLst/>
                        </a:rPr>
                        <a:t>(</a:t>
                      </a:r>
                      <a:r>
                        <a:rPr lang="el-GR" sz="1800" dirty="0">
                          <a:effectLst/>
                        </a:rPr>
                        <a:t>ϑ)</a:t>
                      </a:r>
                      <a:endParaRPr lang="el-GR" sz="1800" b="0" dirty="0">
                        <a:effectLst/>
                      </a:endParaRPr>
                    </a:p>
                  </a:txBody>
                  <a:tcPr marL="42561" marR="42561" marT="21281" marB="21281">
                    <a:solidFill>
                      <a:schemeClr val="accent1">
                        <a:lumMod val="20000"/>
                        <a:lumOff val="80000"/>
                      </a:schemeClr>
                    </a:solidFill>
                  </a:tcPr>
                </a:tc>
              </a:tr>
              <a:tr h="231053">
                <a:tc>
                  <a:txBody>
                    <a:bodyPr/>
                    <a:lstStyle/>
                    <a:p>
                      <a:pPr algn="l" fontAlgn="t"/>
                      <a:r>
                        <a:rPr lang="en-US" sz="1800" dirty="0" smtClean="0">
                          <a:effectLst/>
                        </a:rPr>
                        <a:t>J</a:t>
                      </a:r>
                      <a:r>
                        <a:rPr lang="en-US" altLang="zh-TW" sz="1800" dirty="0" smtClean="0">
                          <a:effectLst/>
                        </a:rPr>
                        <a:t>-</a:t>
                      </a:r>
                      <a:r>
                        <a:rPr lang="en-US" sz="1800" dirty="0" smtClean="0">
                          <a:effectLst/>
                        </a:rPr>
                        <a:t>vowels</a:t>
                      </a:r>
                      <a:endParaRPr lang="en-US" sz="1800" b="0" dirty="0">
                        <a:effectLst/>
                      </a:endParaRPr>
                    </a:p>
                  </a:txBody>
                  <a:tcPr marL="42561" marR="42561" marT="21281" marB="21281">
                    <a:solidFill>
                      <a:schemeClr val="accent1">
                        <a:lumMod val="20000"/>
                        <a:lumOff val="80000"/>
                      </a:schemeClr>
                    </a:solidFill>
                  </a:tcPr>
                </a:tc>
                <a:tc>
                  <a:txBody>
                    <a:bodyPr/>
                    <a:lstStyle/>
                    <a:p>
                      <a:pPr algn="l" fontAlgn="t"/>
                      <a:r>
                        <a:rPr lang="en-US" altLang="zh-TW" sz="1800" dirty="0">
                          <a:effectLst/>
                        </a:rPr>
                        <a:t>96.6</a:t>
                      </a:r>
                      <a:endParaRPr lang="en-US" altLang="zh-TW" sz="1800" b="0" dirty="0">
                        <a:effectLst/>
                      </a:endParaRPr>
                    </a:p>
                  </a:txBody>
                  <a:tcPr marL="42561" marR="42561" marT="21281" marB="21281"/>
                </a:tc>
                <a:tc>
                  <a:txBody>
                    <a:bodyPr/>
                    <a:lstStyle/>
                    <a:p>
                      <a:pPr algn="l" fontAlgn="t"/>
                      <a:r>
                        <a:rPr lang="en-US" altLang="zh-TW" sz="1800">
                          <a:effectLst/>
                        </a:rPr>
                        <a:t>93.6</a:t>
                      </a:r>
                      <a:endParaRPr lang="en-US" altLang="zh-TW" sz="1800" b="0">
                        <a:effectLst/>
                      </a:endParaRPr>
                    </a:p>
                  </a:txBody>
                  <a:tcPr marL="42561" marR="42561" marT="21281" marB="21281"/>
                </a:tc>
                <a:tc>
                  <a:txBody>
                    <a:bodyPr/>
                    <a:lstStyle/>
                    <a:p>
                      <a:pPr algn="l" fontAlgn="t"/>
                      <a:r>
                        <a:rPr lang="en-US" altLang="zh-TW" sz="1800">
                          <a:effectLst/>
                        </a:rPr>
                        <a:t>96.3</a:t>
                      </a:r>
                      <a:endParaRPr lang="en-US" altLang="zh-TW" sz="1800" b="0">
                        <a:effectLst/>
                      </a:endParaRPr>
                    </a:p>
                  </a:txBody>
                  <a:tcPr marL="42561" marR="42561" marT="21281" marB="21281"/>
                </a:tc>
                <a:tc>
                  <a:txBody>
                    <a:bodyPr/>
                    <a:lstStyle/>
                    <a:p>
                      <a:pPr algn="l" fontAlgn="t"/>
                      <a:r>
                        <a:rPr lang="en-US" altLang="zh-TW" sz="1800" dirty="0">
                          <a:solidFill>
                            <a:srgbClr val="C00000"/>
                          </a:solidFill>
                          <a:effectLst/>
                        </a:rPr>
                        <a:t>96.7</a:t>
                      </a:r>
                      <a:endParaRPr lang="zh-TW" altLang="en-US" sz="1800" b="0" dirty="0">
                        <a:solidFill>
                          <a:srgbClr val="C00000"/>
                        </a:solidFill>
                        <a:effectLst/>
                      </a:endParaRPr>
                    </a:p>
                  </a:txBody>
                  <a:tcPr marL="42561" marR="42561" marT="21281" marB="21281"/>
                </a:tc>
                <a:tc>
                  <a:txBody>
                    <a:bodyPr/>
                    <a:lstStyle/>
                    <a:p>
                      <a:pPr algn="l" fontAlgn="t"/>
                      <a:r>
                        <a:rPr lang="en-US" altLang="zh-TW" sz="1800" dirty="0">
                          <a:effectLst/>
                        </a:rPr>
                        <a:t>96.6</a:t>
                      </a:r>
                      <a:endParaRPr lang="en-US" altLang="zh-TW" sz="1800" b="0" dirty="0">
                        <a:effectLst/>
                      </a:endParaRPr>
                    </a:p>
                  </a:txBody>
                  <a:tcPr marL="42561" marR="42561" marT="21281" marB="21281"/>
                </a:tc>
                <a:tc>
                  <a:txBody>
                    <a:bodyPr/>
                    <a:lstStyle/>
                    <a:p>
                      <a:pPr algn="l" fontAlgn="t"/>
                      <a:r>
                        <a:rPr lang="en-US" altLang="zh-TW" sz="1800">
                          <a:effectLst/>
                        </a:rPr>
                        <a:t>94.6</a:t>
                      </a:r>
                      <a:endParaRPr lang="en-US" altLang="zh-TW" sz="1800" b="0">
                        <a:effectLst/>
                      </a:endParaRPr>
                    </a:p>
                  </a:txBody>
                  <a:tcPr marL="42561" marR="42561" marT="21281" marB="21281"/>
                </a:tc>
                <a:tc>
                  <a:txBody>
                    <a:bodyPr/>
                    <a:lstStyle/>
                    <a:p>
                      <a:pPr algn="l" fontAlgn="t"/>
                      <a:r>
                        <a:rPr lang="en-US" altLang="zh-TW" sz="1800" dirty="0">
                          <a:effectLst/>
                        </a:rPr>
                        <a:t>92.3 (9)</a:t>
                      </a:r>
                      <a:endParaRPr lang="en-US" altLang="zh-TW" sz="1800" b="0" dirty="0">
                        <a:effectLst/>
                      </a:endParaRPr>
                    </a:p>
                  </a:txBody>
                  <a:tcPr marL="42561" marR="42561" marT="21281" marB="21281"/>
                </a:tc>
              </a:tr>
              <a:tr h="231053">
                <a:tc>
                  <a:txBody>
                    <a:bodyPr/>
                    <a:lstStyle/>
                    <a:p>
                      <a:pPr algn="l" fontAlgn="t"/>
                      <a:r>
                        <a:rPr lang="en-US" sz="1800" dirty="0" smtClean="0">
                          <a:effectLst/>
                        </a:rPr>
                        <a:t>Pen</a:t>
                      </a:r>
                      <a:r>
                        <a:rPr lang="en-US" altLang="zh-TW" sz="1800" dirty="0" smtClean="0">
                          <a:effectLst/>
                        </a:rPr>
                        <a:t>-</a:t>
                      </a:r>
                      <a:r>
                        <a:rPr lang="en-US" sz="1800" dirty="0" smtClean="0">
                          <a:effectLst/>
                        </a:rPr>
                        <a:t>digits</a:t>
                      </a:r>
                      <a:endParaRPr lang="en-US" sz="1800" b="0" dirty="0">
                        <a:effectLst/>
                      </a:endParaRPr>
                    </a:p>
                  </a:txBody>
                  <a:tcPr marL="42561" marR="42561" marT="21281" marB="21281">
                    <a:solidFill>
                      <a:schemeClr val="accent1">
                        <a:lumMod val="20000"/>
                        <a:lumOff val="80000"/>
                      </a:schemeClr>
                    </a:solidFill>
                  </a:tcPr>
                </a:tc>
                <a:tc>
                  <a:txBody>
                    <a:bodyPr/>
                    <a:lstStyle/>
                    <a:p>
                      <a:pPr algn="l" fontAlgn="t"/>
                      <a:r>
                        <a:rPr lang="en-US" altLang="zh-TW" sz="1800" dirty="0">
                          <a:effectLst/>
                        </a:rPr>
                        <a:t>96.3</a:t>
                      </a:r>
                      <a:endParaRPr lang="en-US" altLang="zh-TW" sz="1800" b="0" dirty="0">
                        <a:effectLst/>
                      </a:endParaRPr>
                    </a:p>
                  </a:txBody>
                  <a:tcPr marL="42561" marR="42561" marT="21281" marB="21281"/>
                </a:tc>
                <a:tc>
                  <a:txBody>
                    <a:bodyPr/>
                    <a:lstStyle/>
                    <a:p>
                      <a:pPr algn="l" fontAlgn="t"/>
                      <a:r>
                        <a:rPr lang="en-US" altLang="zh-TW" sz="1800" dirty="0">
                          <a:effectLst/>
                        </a:rPr>
                        <a:t>94.6</a:t>
                      </a:r>
                      <a:endParaRPr lang="en-US" altLang="zh-TW" sz="1800" b="0" dirty="0">
                        <a:effectLst/>
                      </a:endParaRPr>
                    </a:p>
                  </a:txBody>
                  <a:tcPr marL="42561" marR="42561" marT="21281" marB="21281"/>
                </a:tc>
                <a:tc>
                  <a:txBody>
                    <a:bodyPr/>
                    <a:lstStyle/>
                    <a:p>
                      <a:pPr algn="l" fontAlgn="t"/>
                      <a:r>
                        <a:rPr lang="en-US" altLang="zh-TW" sz="1800">
                          <a:effectLst/>
                        </a:rPr>
                        <a:t>94.8</a:t>
                      </a:r>
                      <a:endParaRPr lang="en-US" altLang="zh-TW" sz="1800" b="0">
                        <a:effectLst/>
                      </a:endParaRPr>
                    </a:p>
                  </a:txBody>
                  <a:tcPr marL="42561" marR="42561" marT="21281" marB="21281"/>
                </a:tc>
                <a:tc>
                  <a:txBody>
                    <a:bodyPr/>
                    <a:lstStyle/>
                    <a:p>
                      <a:pPr algn="l" fontAlgn="t"/>
                      <a:r>
                        <a:rPr lang="en-US" altLang="zh-TW" sz="1800">
                          <a:effectLst/>
                        </a:rPr>
                        <a:t>94.7</a:t>
                      </a:r>
                      <a:endParaRPr lang="en-US" altLang="zh-TW" sz="1800" b="0">
                        <a:effectLst/>
                      </a:endParaRPr>
                    </a:p>
                  </a:txBody>
                  <a:tcPr marL="42561" marR="42561" marT="21281" marB="21281"/>
                </a:tc>
                <a:tc>
                  <a:txBody>
                    <a:bodyPr/>
                    <a:lstStyle/>
                    <a:p>
                      <a:pPr algn="l" fontAlgn="t"/>
                      <a:r>
                        <a:rPr lang="en-US" altLang="zh-TW" sz="1800" dirty="0">
                          <a:solidFill>
                            <a:srgbClr val="C00000"/>
                          </a:solidFill>
                          <a:effectLst/>
                        </a:rPr>
                        <a:t>97.2</a:t>
                      </a:r>
                      <a:endParaRPr lang="zh-TW" altLang="en-US" sz="1800" b="0" dirty="0">
                        <a:solidFill>
                          <a:srgbClr val="C00000"/>
                        </a:solidFill>
                        <a:effectLst/>
                      </a:endParaRPr>
                    </a:p>
                  </a:txBody>
                  <a:tcPr marL="42561" marR="42561" marT="21281" marB="21281"/>
                </a:tc>
                <a:tc>
                  <a:txBody>
                    <a:bodyPr/>
                    <a:lstStyle/>
                    <a:p>
                      <a:pPr algn="l" fontAlgn="t"/>
                      <a:r>
                        <a:rPr lang="en-US" altLang="zh-TW" sz="1800">
                          <a:effectLst/>
                        </a:rPr>
                        <a:t>93.4</a:t>
                      </a:r>
                      <a:endParaRPr lang="en-US" altLang="zh-TW" sz="1800" b="0">
                        <a:effectLst/>
                      </a:endParaRPr>
                    </a:p>
                  </a:txBody>
                  <a:tcPr marL="42561" marR="42561" marT="21281" marB="21281"/>
                </a:tc>
                <a:tc>
                  <a:txBody>
                    <a:bodyPr/>
                    <a:lstStyle/>
                    <a:p>
                      <a:pPr algn="l" fontAlgn="t"/>
                      <a:r>
                        <a:rPr lang="en-US" altLang="zh-TW" sz="1800" dirty="0">
                          <a:effectLst/>
                        </a:rPr>
                        <a:t>94.5 (1)</a:t>
                      </a:r>
                      <a:endParaRPr lang="en-US" altLang="zh-TW" sz="1800" b="0" dirty="0">
                        <a:effectLst/>
                      </a:endParaRPr>
                    </a:p>
                  </a:txBody>
                  <a:tcPr marL="42561" marR="42561" marT="21281" marB="21281"/>
                </a:tc>
              </a:tr>
              <a:tr h="231053">
                <a:tc>
                  <a:txBody>
                    <a:bodyPr/>
                    <a:lstStyle/>
                    <a:p>
                      <a:pPr algn="l" fontAlgn="t"/>
                      <a:r>
                        <a:rPr lang="en-US" sz="1800" dirty="0">
                          <a:effectLst/>
                        </a:rPr>
                        <a:t>ECG</a:t>
                      </a:r>
                      <a:endParaRPr lang="en-US" sz="1800" b="0" dirty="0">
                        <a:effectLst/>
                      </a:endParaRPr>
                    </a:p>
                  </a:txBody>
                  <a:tcPr marL="42561" marR="42561" marT="21281" marB="21281">
                    <a:solidFill>
                      <a:schemeClr val="accent1">
                        <a:lumMod val="20000"/>
                        <a:lumOff val="80000"/>
                      </a:schemeClr>
                    </a:solidFill>
                  </a:tcPr>
                </a:tc>
                <a:tc>
                  <a:txBody>
                    <a:bodyPr/>
                    <a:lstStyle/>
                    <a:p>
                      <a:pPr algn="l" fontAlgn="t"/>
                      <a:r>
                        <a:rPr lang="en-US" altLang="zh-TW" sz="1800">
                          <a:solidFill>
                            <a:srgbClr val="C00000"/>
                          </a:solidFill>
                          <a:effectLst/>
                        </a:rPr>
                        <a:t>90.5</a:t>
                      </a:r>
                      <a:endParaRPr lang="zh-TW" altLang="en-US" sz="1800" b="0">
                        <a:solidFill>
                          <a:srgbClr val="C00000"/>
                        </a:solidFill>
                        <a:effectLst/>
                      </a:endParaRPr>
                    </a:p>
                  </a:txBody>
                  <a:tcPr marL="42561" marR="42561" marT="21281" marB="21281"/>
                </a:tc>
                <a:tc>
                  <a:txBody>
                    <a:bodyPr/>
                    <a:lstStyle/>
                    <a:p>
                      <a:pPr algn="l" fontAlgn="t"/>
                      <a:r>
                        <a:rPr lang="en-US" altLang="zh-TW" sz="1800" dirty="0">
                          <a:effectLst/>
                        </a:rPr>
                        <a:t>85.5</a:t>
                      </a:r>
                      <a:endParaRPr lang="en-US" altLang="zh-TW" sz="1800" b="0" dirty="0">
                        <a:effectLst/>
                      </a:endParaRPr>
                    </a:p>
                  </a:txBody>
                  <a:tcPr marL="42561" marR="42561" marT="21281" marB="21281"/>
                </a:tc>
                <a:tc>
                  <a:txBody>
                    <a:bodyPr/>
                    <a:lstStyle/>
                    <a:p>
                      <a:pPr algn="l" fontAlgn="t"/>
                      <a:r>
                        <a:rPr lang="en-US" altLang="zh-TW" sz="1800" dirty="0">
                          <a:effectLst/>
                        </a:rPr>
                        <a:t>84.5</a:t>
                      </a:r>
                      <a:endParaRPr lang="en-US" altLang="zh-TW" sz="1800" b="0" dirty="0">
                        <a:effectLst/>
                      </a:endParaRPr>
                    </a:p>
                  </a:txBody>
                  <a:tcPr marL="42561" marR="42561" marT="21281" marB="21281"/>
                </a:tc>
                <a:tc>
                  <a:txBody>
                    <a:bodyPr/>
                    <a:lstStyle/>
                    <a:p>
                      <a:pPr algn="l" fontAlgn="t"/>
                      <a:r>
                        <a:rPr lang="en-US" altLang="zh-TW" sz="1800">
                          <a:effectLst/>
                        </a:rPr>
                        <a:t>83.5</a:t>
                      </a:r>
                      <a:endParaRPr lang="en-US" altLang="zh-TW" sz="1800" b="0">
                        <a:effectLst/>
                      </a:endParaRPr>
                    </a:p>
                  </a:txBody>
                  <a:tcPr marL="42561" marR="42561" marT="21281" marB="21281"/>
                </a:tc>
                <a:tc>
                  <a:txBody>
                    <a:bodyPr/>
                    <a:lstStyle/>
                    <a:p>
                      <a:pPr algn="l" fontAlgn="t"/>
                      <a:r>
                        <a:rPr lang="en-US" altLang="zh-TW" sz="1800">
                          <a:effectLst/>
                        </a:rPr>
                        <a:t>89.5</a:t>
                      </a:r>
                      <a:endParaRPr lang="en-US" altLang="zh-TW" sz="1800" b="0">
                        <a:effectLst/>
                      </a:endParaRPr>
                    </a:p>
                  </a:txBody>
                  <a:tcPr marL="42561" marR="42561" marT="21281" marB="21281"/>
                </a:tc>
                <a:tc>
                  <a:txBody>
                    <a:bodyPr/>
                    <a:lstStyle/>
                    <a:p>
                      <a:pPr algn="l" fontAlgn="t"/>
                      <a:r>
                        <a:rPr lang="en-US" altLang="zh-TW" sz="1800">
                          <a:effectLst/>
                        </a:rPr>
                        <a:t>86.0</a:t>
                      </a:r>
                      <a:endParaRPr lang="en-US" altLang="zh-TW" sz="1800" b="0">
                        <a:effectLst/>
                      </a:endParaRPr>
                    </a:p>
                  </a:txBody>
                  <a:tcPr marL="42561" marR="42561" marT="21281" marB="21281"/>
                </a:tc>
                <a:tc>
                  <a:txBody>
                    <a:bodyPr/>
                    <a:lstStyle/>
                    <a:p>
                      <a:pPr algn="l" fontAlgn="t"/>
                      <a:r>
                        <a:rPr lang="en-US" altLang="zh-TW" sz="1800" dirty="0">
                          <a:effectLst/>
                        </a:rPr>
                        <a:t>90.0 (1)</a:t>
                      </a:r>
                      <a:endParaRPr lang="en-US" altLang="zh-TW" sz="1800" b="0" dirty="0">
                        <a:effectLst/>
                      </a:endParaRPr>
                    </a:p>
                  </a:txBody>
                  <a:tcPr marL="42561" marR="42561" marT="21281" marB="21281"/>
                </a:tc>
              </a:tr>
              <a:tr h="231053">
                <a:tc>
                  <a:txBody>
                    <a:bodyPr/>
                    <a:lstStyle/>
                    <a:p>
                      <a:pPr algn="l" fontAlgn="t"/>
                      <a:r>
                        <a:rPr lang="en-US" sz="1800" dirty="0">
                          <a:effectLst/>
                        </a:rPr>
                        <a:t>Telecom</a:t>
                      </a:r>
                      <a:endParaRPr lang="en-US" sz="1800" b="0" dirty="0">
                        <a:effectLst/>
                      </a:endParaRPr>
                    </a:p>
                  </a:txBody>
                  <a:tcPr marL="42561" marR="42561" marT="21281" marB="21281">
                    <a:solidFill>
                      <a:schemeClr val="accent1">
                        <a:lumMod val="20000"/>
                        <a:lumOff val="80000"/>
                      </a:schemeClr>
                    </a:solidFill>
                  </a:tcPr>
                </a:tc>
                <a:tc>
                  <a:txBody>
                    <a:bodyPr/>
                    <a:lstStyle/>
                    <a:p>
                      <a:pPr algn="l" fontAlgn="t"/>
                      <a:r>
                        <a:rPr lang="en-US" altLang="zh-TW" sz="1800">
                          <a:solidFill>
                            <a:srgbClr val="C00000"/>
                          </a:solidFill>
                          <a:effectLst/>
                        </a:rPr>
                        <a:t>95.2</a:t>
                      </a:r>
                      <a:endParaRPr lang="zh-TW" altLang="en-US" sz="1800" b="0">
                        <a:solidFill>
                          <a:srgbClr val="C00000"/>
                        </a:solidFill>
                        <a:effectLst/>
                      </a:endParaRPr>
                    </a:p>
                  </a:txBody>
                  <a:tcPr marL="42561" marR="42561" marT="21281" marB="21281"/>
                </a:tc>
                <a:tc>
                  <a:txBody>
                    <a:bodyPr/>
                    <a:lstStyle/>
                    <a:p>
                      <a:pPr algn="l" fontAlgn="t"/>
                      <a:r>
                        <a:rPr lang="en-US" altLang="zh-TW" sz="1800">
                          <a:effectLst/>
                        </a:rPr>
                        <a:t>92.4</a:t>
                      </a:r>
                      <a:endParaRPr lang="en-US" altLang="zh-TW" sz="1800" b="0">
                        <a:effectLst/>
                      </a:endParaRPr>
                    </a:p>
                  </a:txBody>
                  <a:tcPr marL="42561" marR="42561" marT="21281" marB="21281"/>
                </a:tc>
                <a:tc>
                  <a:txBody>
                    <a:bodyPr/>
                    <a:lstStyle/>
                    <a:p>
                      <a:pPr algn="l" fontAlgn="t"/>
                      <a:r>
                        <a:rPr lang="en-US" altLang="zh-TW" sz="1800" dirty="0">
                          <a:effectLst/>
                        </a:rPr>
                        <a:t>86.3</a:t>
                      </a:r>
                      <a:endParaRPr lang="en-US" altLang="zh-TW" sz="1800" b="0" dirty="0">
                        <a:effectLst/>
                      </a:endParaRPr>
                    </a:p>
                  </a:txBody>
                  <a:tcPr marL="42561" marR="42561" marT="21281" marB="21281"/>
                </a:tc>
                <a:tc>
                  <a:txBody>
                    <a:bodyPr/>
                    <a:lstStyle/>
                    <a:p>
                      <a:pPr algn="l" fontAlgn="t"/>
                      <a:r>
                        <a:rPr lang="en-US" altLang="zh-TW" sz="1800">
                          <a:effectLst/>
                        </a:rPr>
                        <a:t>86.2</a:t>
                      </a:r>
                      <a:endParaRPr lang="en-US" altLang="zh-TW" sz="1800" b="0">
                        <a:effectLst/>
                      </a:endParaRPr>
                    </a:p>
                  </a:txBody>
                  <a:tcPr marL="42561" marR="42561" marT="21281" marB="21281"/>
                </a:tc>
                <a:tc>
                  <a:txBody>
                    <a:bodyPr/>
                    <a:lstStyle/>
                    <a:p>
                      <a:pPr algn="l" fontAlgn="t"/>
                      <a:r>
                        <a:rPr lang="en-US" altLang="zh-TW" sz="1800">
                          <a:effectLst/>
                        </a:rPr>
                        <a:t>88.3</a:t>
                      </a:r>
                      <a:endParaRPr lang="en-US" altLang="zh-TW" sz="1800" b="0">
                        <a:effectLst/>
                      </a:endParaRPr>
                    </a:p>
                  </a:txBody>
                  <a:tcPr marL="42561" marR="42561" marT="21281" marB="21281"/>
                </a:tc>
                <a:tc>
                  <a:txBody>
                    <a:bodyPr/>
                    <a:lstStyle/>
                    <a:p>
                      <a:pPr algn="l" fontAlgn="t"/>
                      <a:r>
                        <a:rPr lang="en-US" altLang="zh-TW" sz="1800">
                          <a:effectLst/>
                        </a:rPr>
                        <a:t>84.3</a:t>
                      </a:r>
                      <a:endParaRPr lang="en-US" altLang="zh-TW" sz="1800" b="0">
                        <a:effectLst/>
                      </a:endParaRPr>
                    </a:p>
                  </a:txBody>
                  <a:tcPr marL="42561" marR="42561" marT="21281" marB="21281"/>
                </a:tc>
                <a:tc>
                  <a:txBody>
                    <a:bodyPr/>
                    <a:lstStyle/>
                    <a:p>
                      <a:pPr algn="l" fontAlgn="t"/>
                      <a:r>
                        <a:rPr lang="en-US" altLang="zh-TW" sz="1800" dirty="0">
                          <a:effectLst/>
                        </a:rPr>
                        <a:t>86.2 (3)</a:t>
                      </a:r>
                      <a:endParaRPr lang="en-US" altLang="zh-TW" sz="1800" b="0" dirty="0">
                        <a:effectLst/>
                      </a:endParaRPr>
                    </a:p>
                  </a:txBody>
                  <a:tcPr marL="42561" marR="42561" marT="21281" marB="21281"/>
                </a:tc>
              </a:tr>
              <a:tr h="231053">
                <a:tc>
                  <a:txBody>
                    <a:bodyPr/>
                    <a:lstStyle/>
                    <a:p>
                      <a:pPr algn="l" fontAlgn="t"/>
                      <a:r>
                        <a:rPr lang="en-US" sz="1800" dirty="0">
                          <a:effectLst/>
                        </a:rPr>
                        <a:t>Electronics</a:t>
                      </a:r>
                      <a:endParaRPr lang="en-US" sz="1800" b="0" dirty="0">
                        <a:effectLst/>
                      </a:endParaRPr>
                    </a:p>
                  </a:txBody>
                  <a:tcPr marL="42561" marR="42561" marT="21281" marB="21281">
                    <a:solidFill>
                      <a:schemeClr val="accent1">
                        <a:lumMod val="20000"/>
                        <a:lumOff val="80000"/>
                      </a:schemeClr>
                    </a:solidFill>
                  </a:tcPr>
                </a:tc>
                <a:tc>
                  <a:txBody>
                    <a:bodyPr/>
                    <a:lstStyle/>
                    <a:p>
                      <a:pPr algn="l" fontAlgn="t"/>
                      <a:r>
                        <a:rPr lang="en-US" altLang="zh-TW" sz="1800" dirty="0">
                          <a:solidFill>
                            <a:srgbClr val="C00000"/>
                          </a:solidFill>
                          <a:effectLst/>
                        </a:rPr>
                        <a:t>85.8</a:t>
                      </a:r>
                      <a:endParaRPr lang="zh-TW" altLang="en-US" sz="1800" b="0" dirty="0">
                        <a:solidFill>
                          <a:srgbClr val="C00000"/>
                        </a:solidFill>
                        <a:effectLst/>
                      </a:endParaRPr>
                    </a:p>
                  </a:txBody>
                  <a:tcPr marL="42561" marR="42561" marT="21281" marB="21281"/>
                </a:tc>
                <a:tc>
                  <a:txBody>
                    <a:bodyPr/>
                    <a:lstStyle/>
                    <a:p>
                      <a:pPr algn="l" fontAlgn="t"/>
                      <a:r>
                        <a:rPr lang="en-US" altLang="zh-TW" sz="1800">
                          <a:effectLst/>
                        </a:rPr>
                        <a:t>82.7</a:t>
                      </a:r>
                      <a:endParaRPr lang="en-US" altLang="zh-TW" sz="1800" b="0">
                        <a:effectLst/>
                      </a:endParaRPr>
                    </a:p>
                  </a:txBody>
                  <a:tcPr marL="42561" marR="42561" marT="21281" marB="21281"/>
                </a:tc>
                <a:tc>
                  <a:txBody>
                    <a:bodyPr/>
                    <a:lstStyle/>
                    <a:p>
                      <a:pPr algn="l" fontAlgn="t"/>
                      <a:r>
                        <a:rPr lang="en-US" altLang="zh-TW" sz="1800" dirty="0">
                          <a:effectLst/>
                        </a:rPr>
                        <a:t>80.1</a:t>
                      </a:r>
                      <a:endParaRPr lang="en-US" altLang="zh-TW" sz="1800" b="0" dirty="0">
                        <a:effectLst/>
                      </a:endParaRPr>
                    </a:p>
                  </a:txBody>
                  <a:tcPr marL="42561" marR="42561" marT="21281" marB="21281"/>
                </a:tc>
                <a:tc>
                  <a:txBody>
                    <a:bodyPr/>
                    <a:lstStyle/>
                    <a:p>
                      <a:pPr algn="l" fontAlgn="t"/>
                      <a:r>
                        <a:rPr lang="en-US" altLang="zh-TW" sz="1800" dirty="0">
                          <a:effectLst/>
                        </a:rPr>
                        <a:t>79.7</a:t>
                      </a:r>
                      <a:endParaRPr lang="en-US" altLang="zh-TW" sz="1800" b="0" dirty="0">
                        <a:effectLst/>
                      </a:endParaRPr>
                    </a:p>
                  </a:txBody>
                  <a:tcPr marL="42561" marR="42561" marT="21281" marB="21281"/>
                </a:tc>
                <a:tc>
                  <a:txBody>
                    <a:bodyPr/>
                    <a:lstStyle/>
                    <a:p>
                      <a:pPr algn="l" fontAlgn="t"/>
                      <a:r>
                        <a:rPr lang="en-US" altLang="zh-TW" sz="1800">
                          <a:effectLst/>
                        </a:rPr>
                        <a:t>82.4</a:t>
                      </a:r>
                      <a:endParaRPr lang="en-US" altLang="zh-TW" sz="1800" b="0">
                        <a:effectLst/>
                      </a:endParaRPr>
                    </a:p>
                  </a:txBody>
                  <a:tcPr marL="42561" marR="42561" marT="21281" marB="21281"/>
                </a:tc>
                <a:tc>
                  <a:txBody>
                    <a:bodyPr/>
                    <a:lstStyle/>
                    <a:p>
                      <a:pPr algn="l" fontAlgn="t"/>
                      <a:r>
                        <a:rPr lang="en-US" altLang="zh-TW" sz="1800">
                          <a:effectLst/>
                        </a:rPr>
                        <a:t>78.2</a:t>
                      </a:r>
                      <a:endParaRPr lang="en-US" altLang="zh-TW" sz="1800" b="0">
                        <a:effectLst/>
                      </a:endParaRPr>
                    </a:p>
                  </a:txBody>
                  <a:tcPr marL="42561" marR="42561" marT="21281" marB="21281"/>
                </a:tc>
                <a:tc>
                  <a:txBody>
                    <a:bodyPr/>
                    <a:lstStyle/>
                    <a:p>
                      <a:pPr algn="l" fontAlgn="t"/>
                      <a:r>
                        <a:rPr lang="en-US" altLang="zh-TW" sz="1800" dirty="0">
                          <a:effectLst/>
                        </a:rPr>
                        <a:t>80.2 (2)</a:t>
                      </a:r>
                      <a:endParaRPr lang="en-US" altLang="zh-TW" sz="1800" b="0" dirty="0">
                        <a:effectLst/>
                      </a:endParaRPr>
                    </a:p>
                  </a:txBody>
                  <a:tcPr marL="42561" marR="42561" marT="21281" marB="21281"/>
                </a:tc>
              </a:tr>
              <a:tr h="231053">
                <a:tc>
                  <a:txBody>
                    <a:bodyPr/>
                    <a:lstStyle/>
                    <a:p>
                      <a:pPr algn="l" fontAlgn="t"/>
                      <a:r>
                        <a:rPr lang="en-US" sz="1800" dirty="0">
                          <a:effectLst/>
                        </a:rPr>
                        <a:t>Robot</a:t>
                      </a:r>
                      <a:endParaRPr lang="en-US" sz="1800" b="0" dirty="0">
                        <a:effectLst/>
                      </a:endParaRPr>
                    </a:p>
                  </a:txBody>
                  <a:tcPr marL="42561" marR="42561" marT="21281" marB="21281">
                    <a:solidFill>
                      <a:schemeClr val="accent1">
                        <a:lumMod val="20000"/>
                        <a:lumOff val="80000"/>
                      </a:schemeClr>
                    </a:solidFill>
                  </a:tcPr>
                </a:tc>
                <a:tc>
                  <a:txBody>
                    <a:bodyPr/>
                    <a:lstStyle/>
                    <a:p>
                      <a:pPr algn="l" fontAlgn="t"/>
                      <a:endParaRPr lang="zh-TW" altLang="en-US" sz="1800" b="0">
                        <a:effectLst/>
                      </a:endParaRPr>
                    </a:p>
                  </a:txBody>
                  <a:tcPr marL="42561" marR="42561" marT="21281" marB="21281"/>
                </a:tc>
                <a:tc>
                  <a:txBody>
                    <a:bodyPr/>
                    <a:lstStyle/>
                    <a:p>
                      <a:pPr algn="l" fontAlgn="t"/>
                      <a:endParaRPr lang="zh-TW" altLang="en-US" sz="1800" b="0">
                        <a:effectLst/>
                      </a:endParaRPr>
                    </a:p>
                  </a:txBody>
                  <a:tcPr marL="42561" marR="42561" marT="21281" marB="21281"/>
                </a:tc>
                <a:tc>
                  <a:txBody>
                    <a:bodyPr/>
                    <a:lstStyle/>
                    <a:p>
                      <a:pPr algn="l" fontAlgn="t"/>
                      <a:endParaRPr lang="zh-TW" altLang="en-US" sz="1800" b="0">
                        <a:effectLst/>
                      </a:endParaRPr>
                    </a:p>
                  </a:txBody>
                  <a:tcPr marL="42561" marR="42561" marT="21281" marB="21281"/>
                </a:tc>
                <a:tc>
                  <a:txBody>
                    <a:bodyPr/>
                    <a:lstStyle/>
                    <a:p>
                      <a:pPr algn="l" fontAlgn="t"/>
                      <a:endParaRPr lang="zh-TW" altLang="en-US" sz="1800" b="0">
                        <a:effectLst/>
                      </a:endParaRPr>
                    </a:p>
                  </a:txBody>
                  <a:tcPr marL="42561" marR="42561" marT="21281" marB="21281"/>
                </a:tc>
                <a:tc>
                  <a:txBody>
                    <a:bodyPr/>
                    <a:lstStyle/>
                    <a:p>
                      <a:pPr algn="l" fontAlgn="t"/>
                      <a:endParaRPr lang="zh-TW" altLang="en-US" sz="1800" b="0" dirty="0">
                        <a:effectLst/>
                      </a:endParaRPr>
                    </a:p>
                  </a:txBody>
                  <a:tcPr marL="42561" marR="42561" marT="21281" marB="21281"/>
                </a:tc>
                <a:tc>
                  <a:txBody>
                    <a:bodyPr/>
                    <a:lstStyle/>
                    <a:p>
                      <a:pPr algn="l" fontAlgn="t"/>
                      <a:endParaRPr lang="zh-TW" altLang="en-US" sz="1800" b="0">
                        <a:effectLst/>
                      </a:endParaRPr>
                    </a:p>
                  </a:txBody>
                  <a:tcPr marL="42561" marR="42561" marT="21281" marB="21281"/>
                </a:tc>
                <a:tc>
                  <a:txBody>
                    <a:bodyPr/>
                    <a:lstStyle/>
                    <a:p>
                      <a:pPr algn="l" fontAlgn="t"/>
                      <a:endParaRPr lang="zh-TW" altLang="en-US" sz="1800" b="0" dirty="0">
                        <a:effectLst/>
                      </a:endParaRPr>
                    </a:p>
                  </a:txBody>
                  <a:tcPr marL="42561" marR="42561" marT="21281" marB="21281"/>
                </a:tc>
              </a:tr>
              <a:tr h="231053">
                <a:tc>
                  <a:txBody>
                    <a:bodyPr/>
                    <a:lstStyle/>
                    <a:p>
                      <a:pPr algn="l" fontAlgn="t"/>
                      <a:r>
                        <a:rPr lang="en-US" sz="1800">
                          <a:effectLst/>
                        </a:rPr>
                        <a:t> Failure 1</a:t>
                      </a:r>
                      <a:endParaRPr lang="en-US" sz="1800" b="0">
                        <a:effectLst/>
                      </a:endParaRPr>
                    </a:p>
                  </a:txBody>
                  <a:tcPr marL="42561" marR="42561" marT="21281" marB="21281">
                    <a:solidFill>
                      <a:schemeClr val="accent1">
                        <a:lumMod val="20000"/>
                        <a:lumOff val="80000"/>
                      </a:schemeClr>
                    </a:solidFill>
                  </a:tcPr>
                </a:tc>
                <a:tc>
                  <a:txBody>
                    <a:bodyPr/>
                    <a:lstStyle/>
                    <a:p>
                      <a:pPr algn="l" fontAlgn="t"/>
                      <a:r>
                        <a:rPr lang="en-US" altLang="zh-TW" sz="1800">
                          <a:solidFill>
                            <a:srgbClr val="C00000"/>
                          </a:solidFill>
                          <a:effectLst/>
                        </a:rPr>
                        <a:t>85.2</a:t>
                      </a:r>
                      <a:endParaRPr lang="zh-TW" altLang="en-US" sz="1800" b="0">
                        <a:solidFill>
                          <a:srgbClr val="C00000"/>
                        </a:solidFill>
                        <a:effectLst/>
                      </a:endParaRPr>
                    </a:p>
                  </a:txBody>
                  <a:tcPr marL="42561" marR="42561" marT="21281" marB="21281"/>
                </a:tc>
                <a:tc>
                  <a:txBody>
                    <a:bodyPr/>
                    <a:lstStyle/>
                    <a:p>
                      <a:pPr algn="l" fontAlgn="t"/>
                      <a:r>
                        <a:rPr lang="en-US" altLang="zh-TW" sz="1800">
                          <a:effectLst/>
                        </a:rPr>
                        <a:t>72.7</a:t>
                      </a:r>
                      <a:endParaRPr lang="en-US" altLang="zh-TW" sz="1800" b="0">
                        <a:effectLst/>
                      </a:endParaRPr>
                    </a:p>
                  </a:txBody>
                  <a:tcPr marL="42561" marR="42561" marT="21281" marB="21281"/>
                </a:tc>
                <a:tc>
                  <a:txBody>
                    <a:bodyPr/>
                    <a:lstStyle/>
                    <a:p>
                      <a:pPr algn="l" fontAlgn="t"/>
                      <a:r>
                        <a:rPr lang="en-US" altLang="zh-TW" sz="1800">
                          <a:effectLst/>
                        </a:rPr>
                        <a:t>71.6</a:t>
                      </a:r>
                      <a:endParaRPr lang="en-US" altLang="zh-TW" sz="1800" b="0">
                        <a:effectLst/>
                      </a:endParaRPr>
                    </a:p>
                  </a:txBody>
                  <a:tcPr marL="42561" marR="42561" marT="21281" marB="21281"/>
                </a:tc>
                <a:tc>
                  <a:txBody>
                    <a:bodyPr/>
                    <a:lstStyle/>
                    <a:p>
                      <a:pPr algn="l" fontAlgn="t"/>
                      <a:r>
                        <a:rPr lang="en-US" altLang="zh-TW" sz="1800">
                          <a:effectLst/>
                        </a:rPr>
                        <a:t>70.5</a:t>
                      </a:r>
                      <a:endParaRPr lang="en-US" altLang="zh-TW" sz="1800" b="0">
                        <a:effectLst/>
                      </a:endParaRPr>
                    </a:p>
                  </a:txBody>
                  <a:tcPr marL="42561" marR="42561" marT="21281" marB="21281"/>
                </a:tc>
                <a:tc>
                  <a:txBody>
                    <a:bodyPr/>
                    <a:lstStyle/>
                    <a:p>
                      <a:pPr algn="l" fontAlgn="t"/>
                      <a:r>
                        <a:rPr lang="en-US" altLang="zh-TW" sz="1800" dirty="0">
                          <a:effectLst/>
                        </a:rPr>
                        <a:t>83.0</a:t>
                      </a:r>
                      <a:endParaRPr lang="en-US" altLang="zh-TW" sz="1800" b="0" dirty="0">
                        <a:effectLst/>
                      </a:endParaRPr>
                    </a:p>
                  </a:txBody>
                  <a:tcPr marL="42561" marR="42561" marT="21281" marB="21281"/>
                </a:tc>
                <a:tc>
                  <a:txBody>
                    <a:bodyPr/>
                    <a:lstStyle/>
                    <a:p>
                      <a:pPr algn="l" fontAlgn="t"/>
                      <a:r>
                        <a:rPr lang="en-US" altLang="zh-TW" sz="1800" dirty="0">
                          <a:effectLst/>
                        </a:rPr>
                        <a:t>81.8</a:t>
                      </a:r>
                      <a:endParaRPr lang="en-US" altLang="zh-TW" sz="1800" b="0" dirty="0">
                        <a:effectLst/>
                      </a:endParaRPr>
                    </a:p>
                  </a:txBody>
                  <a:tcPr marL="42561" marR="42561" marT="21281" marB="21281"/>
                </a:tc>
                <a:tc>
                  <a:txBody>
                    <a:bodyPr/>
                    <a:lstStyle/>
                    <a:p>
                      <a:pPr algn="l" fontAlgn="t"/>
                      <a:r>
                        <a:rPr lang="en-US" altLang="zh-TW" sz="1800" dirty="0">
                          <a:effectLst/>
                        </a:rPr>
                        <a:t>81.8 (3)</a:t>
                      </a:r>
                      <a:endParaRPr lang="en-US" altLang="zh-TW" sz="1800" b="0" dirty="0">
                        <a:effectLst/>
                      </a:endParaRPr>
                    </a:p>
                  </a:txBody>
                  <a:tcPr marL="42561" marR="42561" marT="21281" marB="21281"/>
                </a:tc>
              </a:tr>
              <a:tr h="231053">
                <a:tc>
                  <a:txBody>
                    <a:bodyPr/>
                    <a:lstStyle/>
                    <a:p>
                      <a:pPr algn="l" fontAlgn="t"/>
                      <a:r>
                        <a:rPr lang="en-US" sz="1800" dirty="0">
                          <a:effectLst/>
                        </a:rPr>
                        <a:t> Failure 2</a:t>
                      </a:r>
                      <a:endParaRPr lang="en-US" sz="1800" b="0" dirty="0">
                        <a:effectLst/>
                      </a:endParaRPr>
                    </a:p>
                  </a:txBody>
                  <a:tcPr marL="42561" marR="42561" marT="21281" marB="21281">
                    <a:solidFill>
                      <a:schemeClr val="accent1">
                        <a:lumMod val="20000"/>
                        <a:lumOff val="80000"/>
                      </a:schemeClr>
                    </a:solidFill>
                  </a:tcPr>
                </a:tc>
                <a:tc>
                  <a:txBody>
                    <a:bodyPr/>
                    <a:lstStyle/>
                    <a:p>
                      <a:pPr algn="l" fontAlgn="t"/>
                      <a:r>
                        <a:rPr lang="en-US" altLang="zh-TW" sz="1800">
                          <a:solidFill>
                            <a:srgbClr val="C00000"/>
                          </a:solidFill>
                          <a:effectLst/>
                        </a:rPr>
                        <a:t>63.8</a:t>
                      </a:r>
                      <a:endParaRPr lang="zh-TW" altLang="en-US" sz="1800" b="0">
                        <a:solidFill>
                          <a:srgbClr val="C00000"/>
                        </a:solidFill>
                        <a:effectLst/>
                      </a:endParaRPr>
                    </a:p>
                  </a:txBody>
                  <a:tcPr marL="42561" marR="42561" marT="21281" marB="21281"/>
                </a:tc>
                <a:tc>
                  <a:txBody>
                    <a:bodyPr/>
                    <a:lstStyle/>
                    <a:p>
                      <a:pPr algn="l" fontAlgn="t"/>
                      <a:r>
                        <a:rPr lang="en-US" altLang="zh-TW" sz="1800">
                          <a:effectLst/>
                        </a:rPr>
                        <a:t>57.4</a:t>
                      </a:r>
                      <a:endParaRPr lang="en-US" altLang="zh-TW" sz="1800" b="0">
                        <a:effectLst/>
                      </a:endParaRPr>
                    </a:p>
                  </a:txBody>
                  <a:tcPr marL="42561" marR="42561" marT="21281" marB="21281"/>
                </a:tc>
                <a:tc>
                  <a:txBody>
                    <a:bodyPr/>
                    <a:lstStyle/>
                    <a:p>
                      <a:pPr algn="l" fontAlgn="t"/>
                      <a:r>
                        <a:rPr lang="en-US" altLang="zh-TW" sz="1800">
                          <a:effectLst/>
                        </a:rPr>
                        <a:t>55.3</a:t>
                      </a:r>
                      <a:endParaRPr lang="en-US" altLang="zh-TW" sz="1800" b="0">
                        <a:effectLst/>
                      </a:endParaRPr>
                    </a:p>
                  </a:txBody>
                  <a:tcPr marL="42561" marR="42561" marT="21281" marB="21281"/>
                </a:tc>
                <a:tc>
                  <a:txBody>
                    <a:bodyPr/>
                    <a:lstStyle/>
                    <a:p>
                      <a:pPr algn="l" fontAlgn="t"/>
                      <a:r>
                        <a:rPr lang="en-US" altLang="zh-TW" sz="1800" dirty="0">
                          <a:effectLst/>
                        </a:rPr>
                        <a:t>55.3</a:t>
                      </a:r>
                      <a:endParaRPr lang="en-US" altLang="zh-TW" sz="1800" b="0" dirty="0">
                        <a:effectLst/>
                      </a:endParaRPr>
                    </a:p>
                  </a:txBody>
                  <a:tcPr marL="42561" marR="42561" marT="21281" marB="21281"/>
                </a:tc>
                <a:tc>
                  <a:txBody>
                    <a:bodyPr/>
                    <a:lstStyle/>
                    <a:p>
                      <a:pPr algn="l" fontAlgn="t"/>
                      <a:r>
                        <a:rPr lang="en-US" altLang="zh-TW" sz="1800">
                          <a:effectLst/>
                        </a:rPr>
                        <a:t>57.4</a:t>
                      </a:r>
                      <a:endParaRPr lang="en-US" altLang="zh-TW" sz="1800" b="0">
                        <a:effectLst/>
                      </a:endParaRPr>
                    </a:p>
                  </a:txBody>
                  <a:tcPr marL="42561" marR="42561" marT="21281" marB="21281"/>
                </a:tc>
                <a:tc>
                  <a:txBody>
                    <a:bodyPr/>
                    <a:lstStyle/>
                    <a:p>
                      <a:pPr algn="l" fontAlgn="t"/>
                      <a:r>
                        <a:rPr lang="en-US" altLang="zh-TW" sz="1800" dirty="0">
                          <a:solidFill>
                            <a:srgbClr val="C00000"/>
                          </a:solidFill>
                          <a:effectLst/>
                        </a:rPr>
                        <a:t>63.8</a:t>
                      </a:r>
                      <a:endParaRPr lang="zh-TW" altLang="en-US" sz="1800" b="0" dirty="0">
                        <a:solidFill>
                          <a:srgbClr val="C00000"/>
                        </a:solidFill>
                        <a:effectLst/>
                      </a:endParaRPr>
                    </a:p>
                  </a:txBody>
                  <a:tcPr marL="42561" marR="42561" marT="21281" marB="21281"/>
                </a:tc>
                <a:tc>
                  <a:txBody>
                    <a:bodyPr/>
                    <a:lstStyle/>
                    <a:p>
                      <a:pPr algn="l" fontAlgn="t"/>
                      <a:r>
                        <a:rPr lang="en-US" altLang="zh-TW" sz="1800" dirty="0">
                          <a:effectLst/>
                        </a:rPr>
                        <a:t>59.6 (3)</a:t>
                      </a:r>
                      <a:endParaRPr lang="en-US" altLang="zh-TW" sz="1800" b="0" dirty="0">
                        <a:effectLst/>
                      </a:endParaRPr>
                    </a:p>
                  </a:txBody>
                  <a:tcPr marL="42561" marR="42561" marT="21281" marB="21281"/>
                </a:tc>
              </a:tr>
              <a:tr h="231053">
                <a:tc>
                  <a:txBody>
                    <a:bodyPr/>
                    <a:lstStyle/>
                    <a:p>
                      <a:pPr algn="l" fontAlgn="t"/>
                      <a:r>
                        <a:rPr lang="en-US" sz="1800" dirty="0">
                          <a:effectLst/>
                        </a:rPr>
                        <a:t> Failure 3</a:t>
                      </a:r>
                      <a:endParaRPr lang="en-US" sz="1800" b="0" dirty="0">
                        <a:effectLst/>
                      </a:endParaRPr>
                    </a:p>
                  </a:txBody>
                  <a:tcPr marL="42561" marR="42561" marT="21281" marB="21281">
                    <a:solidFill>
                      <a:schemeClr val="accent1">
                        <a:lumMod val="20000"/>
                        <a:lumOff val="80000"/>
                      </a:schemeClr>
                    </a:solidFill>
                  </a:tcPr>
                </a:tc>
                <a:tc>
                  <a:txBody>
                    <a:bodyPr/>
                    <a:lstStyle/>
                    <a:p>
                      <a:pPr algn="l" fontAlgn="t"/>
                      <a:r>
                        <a:rPr lang="en-US" altLang="zh-TW" sz="1800" dirty="0">
                          <a:solidFill>
                            <a:srgbClr val="C00000"/>
                          </a:solidFill>
                          <a:effectLst/>
                        </a:rPr>
                        <a:t>68.1</a:t>
                      </a:r>
                      <a:endParaRPr lang="zh-TW" altLang="en-US" sz="1800" b="0" dirty="0">
                        <a:solidFill>
                          <a:srgbClr val="C00000"/>
                        </a:solidFill>
                        <a:effectLst/>
                      </a:endParaRPr>
                    </a:p>
                  </a:txBody>
                  <a:tcPr marL="42561" marR="42561" marT="21281" marB="21281"/>
                </a:tc>
                <a:tc>
                  <a:txBody>
                    <a:bodyPr/>
                    <a:lstStyle/>
                    <a:p>
                      <a:pPr algn="l" fontAlgn="t"/>
                      <a:r>
                        <a:rPr lang="en-US" altLang="zh-TW" sz="1800">
                          <a:effectLst/>
                        </a:rPr>
                        <a:t>63.8</a:t>
                      </a:r>
                      <a:endParaRPr lang="en-US" altLang="zh-TW" sz="1800" b="0">
                        <a:effectLst/>
                      </a:endParaRPr>
                    </a:p>
                  </a:txBody>
                  <a:tcPr marL="42561" marR="42561" marT="21281" marB="21281"/>
                </a:tc>
                <a:tc>
                  <a:txBody>
                    <a:bodyPr/>
                    <a:lstStyle/>
                    <a:p>
                      <a:pPr algn="l" fontAlgn="t"/>
                      <a:r>
                        <a:rPr lang="en-US" altLang="zh-TW" sz="1800">
                          <a:effectLst/>
                        </a:rPr>
                        <a:t>55.3</a:t>
                      </a:r>
                      <a:endParaRPr lang="en-US" altLang="zh-TW" sz="1800" b="0">
                        <a:effectLst/>
                      </a:endParaRPr>
                    </a:p>
                  </a:txBody>
                  <a:tcPr marL="42561" marR="42561" marT="21281" marB="21281"/>
                </a:tc>
                <a:tc>
                  <a:txBody>
                    <a:bodyPr/>
                    <a:lstStyle/>
                    <a:p>
                      <a:pPr algn="l" fontAlgn="t"/>
                      <a:r>
                        <a:rPr lang="en-US" altLang="zh-TW" sz="1800">
                          <a:effectLst/>
                        </a:rPr>
                        <a:t>53.2</a:t>
                      </a:r>
                      <a:endParaRPr lang="en-US" altLang="zh-TW" sz="1800" b="0">
                        <a:effectLst/>
                      </a:endParaRPr>
                    </a:p>
                  </a:txBody>
                  <a:tcPr marL="42561" marR="42561" marT="21281" marB="21281"/>
                </a:tc>
                <a:tc>
                  <a:txBody>
                    <a:bodyPr/>
                    <a:lstStyle/>
                    <a:p>
                      <a:pPr algn="l" fontAlgn="t"/>
                      <a:r>
                        <a:rPr lang="en-US" altLang="zh-TW" sz="1800" dirty="0">
                          <a:effectLst/>
                        </a:rPr>
                        <a:t>66.0</a:t>
                      </a:r>
                      <a:endParaRPr lang="en-US" altLang="zh-TW" sz="1800" b="0" dirty="0">
                        <a:effectLst/>
                      </a:endParaRPr>
                    </a:p>
                  </a:txBody>
                  <a:tcPr marL="42561" marR="42561" marT="21281" marB="21281"/>
                </a:tc>
                <a:tc>
                  <a:txBody>
                    <a:bodyPr/>
                    <a:lstStyle/>
                    <a:p>
                      <a:pPr algn="l" fontAlgn="t"/>
                      <a:r>
                        <a:rPr lang="en-US" altLang="zh-TW" sz="1800">
                          <a:effectLst/>
                        </a:rPr>
                        <a:t>65.8</a:t>
                      </a:r>
                      <a:endParaRPr lang="en-US" altLang="zh-TW" sz="1800" b="0">
                        <a:effectLst/>
                      </a:endParaRPr>
                    </a:p>
                  </a:txBody>
                  <a:tcPr marL="42561" marR="42561" marT="21281" marB="21281"/>
                </a:tc>
                <a:tc>
                  <a:txBody>
                    <a:bodyPr/>
                    <a:lstStyle/>
                    <a:p>
                      <a:pPr algn="l" fontAlgn="t"/>
                      <a:r>
                        <a:rPr lang="en-US" altLang="zh-TW" sz="1800" dirty="0">
                          <a:effectLst/>
                        </a:rPr>
                        <a:t>61.7 (1)</a:t>
                      </a:r>
                      <a:endParaRPr lang="en-US" altLang="zh-TW" sz="1800" b="0" dirty="0">
                        <a:effectLst/>
                      </a:endParaRPr>
                    </a:p>
                  </a:txBody>
                  <a:tcPr marL="42561" marR="42561" marT="21281" marB="21281"/>
                </a:tc>
              </a:tr>
              <a:tr h="231053">
                <a:tc>
                  <a:txBody>
                    <a:bodyPr/>
                    <a:lstStyle/>
                    <a:p>
                      <a:pPr algn="l" fontAlgn="t"/>
                      <a:r>
                        <a:rPr lang="en-US" sz="1800" dirty="0">
                          <a:effectLst/>
                        </a:rPr>
                        <a:t> Failure 4</a:t>
                      </a:r>
                      <a:endParaRPr lang="en-US" sz="1800" b="0" dirty="0">
                        <a:effectLst/>
                      </a:endParaRPr>
                    </a:p>
                  </a:txBody>
                  <a:tcPr marL="42561" marR="42561" marT="21281" marB="21281">
                    <a:solidFill>
                      <a:schemeClr val="accent1">
                        <a:lumMod val="20000"/>
                        <a:lumOff val="80000"/>
                      </a:schemeClr>
                    </a:solidFill>
                  </a:tcPr>
                </a:tc>
                <a:tc>
                  <a:txBody>
                    <a:bodyPr/>
                    <a:lstStyle/>
                    <a:p>
                      <a:pPr algn="l" fontAlgn="t"/>
                      <a:r>
                        <a:rPr lang="en-US" altLang="zh-TW" sz="1800">
                          <a:effectLst/>
                        </a:rPr>
                        <a:t>85.5</a:t>
                      </a:r>
                      <a:endParaRPr lang="en-US" altLang="zh-TW" sz="1800" b="0">
                        <a:effectLst/>
                      </a:endParaRPr>
                    </a:p>
                  </a:txBody>
                  <a:tcPr marL="42561" marR="42561" marT="21281" marB="21281"/>
                </a:tc>
                <a:tc>
                  <a:txBody>
                    <a:bodyPr/>
                    <a:lstStyle/>
                    <a:p>
                      <a:pPr algn="l" fontAlgn="t"/>
                      <a:r>
                        <a:rPr lang="en-US" altLang="zh-TW" sz="1800">
                          <a:effectLst/>
                        </a:rPr>
                        <a:t>75.2</a:t>
                      </a:r>
                      <a:endParaRPr lang="en-US" altLang="zh-TW" sz="1800" b="0">
                        <a:effectLst/>
                      </a:endParaRPr>
                    </a:p>
                  </a:txBody>
                  <a:tcPr marL="42561" marR="42561" marT="21281" marB="21281"/>
                </a:tc>
                <a:tc>
                  <a:txBody>
                    <a:bodyPr/>
                    <a:lstStyle/>
                    <a:p>
                      <a:pPr algn="l" fontAlgn="t"/>
                      <a:r>
                        <a:rPr lang="en-US" altLang="zh-TW" sz="1800">
                          <a:effectLst/>
                        </a:rPr>
                        <a:t>77.8</a:t>
                      </a:r>
                      <a:endParaRPr lang="en-US" altLang="zh-TW" sz="1800" b="0">
                        <a:effectLst/>
                      </a:endParaRPr>
                    </a:p>
                  </a:txBody>
                  <a:tcPr marL="42561" marR="42561" marT="21281" marB="21281"/>
                </a:tc>
                <a:tc>
                  <a:txBody>
                    <a:bodyPr/>
                    <a:lstStyle/>
                    <a:p>
                      <a:pPr algn="l" fontAlgn="t"/>
                      <a:r>
                        <a:rPr lang="en-US" altLang="zh-TW" sz="1800">
                          <a:effectLst/>
                        </a:rPr>
                        <a:t>83.6</a:t>
                      </a:r>
                      <a:endParaRPr lang="en-US" altLang="zh-TW" sz="1800" b="0">
                        <a:effectLst/>
                      </a:endParaRPr>
                    </a:p>
                  </a:txBody>
                  <a:tcPr marL="42561" marR="42561" marT="21281" marB="21281"/>
                </a:tc>
                <a:tc>
                  <a:txBody>
                    <a:bodyPr/>
                    <a:lstStyle/>
                    <a:p>
                      <a:pPr algn="l" fontAlgn="t"/>
                      <a:r>
                        <a:rPr lang="en-US" altLang="zh-TW" sz="1800">
                          <a:effectLst/>
                        </a:rPr>
                        <a:t>84.6</a:t>
                      </a:r>
                      <a:endParaRPr lang="en-US" altLang="zh-TW" sz="1800" b="0">
                        <a:effectLst/>
                      </a:endParaRPr>
                    </a:p>
                  </a:txBody>
                  <a:tcPr marL="42561" marR="42561" marT="21281" marB="21281"/>
                </a:tc>
                <a:tc>
                  <a:txBody>
                    <a:bodyPr/>
                    <a:lstStyle/>
                    <a:p>
                      <a:pPr algn="l" fontAlgn="t"/>
                      <a:r>
                        <a:rPr lang="en-US" altLang="zh-TW" sz="1800" dirty="0">
                          <a:solidFill>
                            <a:srgbClr val="C00000"/>
                          </a:solidFill>
                          <a:effectLst/>
                        </a:rPr>
                        <a:t>87.2</a:t>
                      </a:r>
                      <a:endParaRPr lang="zh-TW" altLang="en-US" sz="1800" b="0" dirty="0">
                        <a:solidFill>
                          <a:srgbClr val="C00000"/>
                        </a:solidFill>
                        <a:effectLst/>
                      </a:endParaRPr>
                    </a:p>
                  </a:txBody>
                  <a:tcPr marL="42561" marR="42561" marT="21281" marB="21281"/>
                </a:tc>
                <a:tc>
                  <a:txBody>
                    <a:bodyPr/>
                    <a:lstStyle/>
                    <a:p>
                      <a:pPr algn="l" fontAlgn="t"/>
                      <a:r>
                        <a:rPr lang="en-US" altLang="zh-TW" sz="1800" dirty="0">
                          <a:effectLst/>
                        </a:rPr>
                        <a:t>86.3 (3)</a:t>
                      </a:r>
                      <a:endParaRPr lang="en-US" altLang="zh-TW" sz="1800" b="0" dirty="0">
                        <a:effectLst/>
                      </a:endParaRPr>
                    </a:p>
                  </a:txBody>
                  <a:tcPr marL="42561" marR="42561" marT="21281" marB="21281"/>
                </a:tc>
              </a:tr>
              <a:tr h="231053">
                <a:tc>
                  <a:txBody>
                    <a:bodyPr/>
                    <a:lstStyle/>
                    <a:p>
                      <a:pPr algn="l" fontAlgn="t"/>
                      <a:r>
                        <a:rPr lang="en-US" sz="1800" dirty="0">
                          <a:effectLst/>
                        </a:rPr>
                        <a:t> Failure 5</a:t>
                      </a:r>
                      <a:endParaRPr lang="en-US" sz="1800" b="0" dirty="0">
                        <a:effectLst/>
                      </a:endParaRPr>
                    </a:p>
                  </a:txBody>
                  <a:tcPr marL="42561" marR="42561" marT="21281" marB="21281">
                    <a:solidFill>
                      <a:schemeClr val="accent1">
                        <a:lumMod val="20000"/>
                        <a:lumOff val="80000"/>
                      </a:schemeClr>
                    </a:solidFill>
                  </a:tcPr>
                </a:tc>
                <a:tc>
                  <a:txBody>
                    <a:bodyPr/>
                    <a:lstStyle/>
                    <a:p>
                      <a:pPr algn="l" fontAlgn="t"/>
                      <a:r>
                        <a:rPr lang="en-US" altLang="zh-TW" sz="1800" dirty="0">
                          <a:solidFill>
                            <a:srgbClr val="C00000"/>
                          </a:solidFill>
                          <a:effectLst/>
                        </a:rPr>
                        <a:t>67.1</a:t>
                      </a:r>
                      <a:endParaRPr lang="zh-TW" altLang="en-US" sz="1800" b="0" dirty="0">
                        <a:solidFill>
                          <a:srgbClr val="C00000"/>
                        </a:solidFill>
                        <a:effectLst/>
                      </a:endParaRPr>
                    </a:p>
                  </a:txBody>
                  <a:tcPr marL="42561" marR="42561" marT="21281" marB="21281"/>
                </a:tc>
                <a:tc>
                  <a:txBody>
                    <a:bodyPr/>
                    <a:lstStyle/>
                    <a:p>
                      <a:pPr algn="l" fontAlgn="t"/>
                      <a:r>
                        <a:rPr lang="en-US" altLang="zh-TW" sz="1800">
                          <a:effectLst/>
                        </a:rPr>
                        <a:t>56.7</a:t>
                      </a:r>
                      <a:endParaRPr lang="en-US" altLang="zh-TW" sz="1800" b="0">
                        <a:effectLst/>
                      </a:endParaRPr>
                    </a:p>
                  </a:txBody>
                  <a:tcPr marL="42561" marR="42561" marT="21281" marB="21281"/>
                </a:tc>
                <a:tc>
                  <a:txBody>
                    <a:bodyPr/>
                    <a:lstStyle/>
                    <a:p>
                      <a:pPr algn="l" fontAlgn="t"/>
                      <a:r>
                        <a:rPr lang="en-US" altLang="zh-TW" sz="1800" dirty="0">
                          <a:effectLst/>
                        </a:rPr>
                        <a:t>54.3</a:t>
                      </a:r>
                      <a:endParaRPr lang="en-US" altLang="zh-TW" sz="1800" b="0" dirty="0">
                        <a:effectLst/>
                      </a:endParaRPr>
                    </a:p>
                  </a:txBody>
                  <a:tcPr marL="42561" marR="42561" marT="21281" marB="21281"/>
                </a:tc>
                <a:tc>
                  <a:txBody>
                    <a:bodyPr/>
                    <a:lstStyle/>
                    <a:p>
                      <a:pPr algn="l" fontAlgn="t"/>
                      <a:r>
                        <a:rPr lang="en-US" altLang="zh-TW" sz="1800" dirty="0">
                          <a:effectLst/>
                        </a:rPr>
                        <a:t>50.6</a:t>
                      </a:r>
                      <a:endParaRPr lang="en-US" altLang="zh-TW" sz="1800" b="0" dirty="0">
                        <a:effectLst/>
                      </a:endParaRPr>
                    </a:p>
                  </a:txBody>
                  <a:tcPr marL="42561" marR="42561" marT="21281" marB="21281"/>
                </a:tc>
                <a:tc>
                  <a:txBody>
                    <a:bodyPr/>
                    <a:lstStyle/>
                    <a:p>
                      <a:pPr algn="l" fontAlgn="t"/>
                      <a:r>
                        <a:rPr lang="en-US" altLang="zh-TW" sz="1800">
                          <a:effectLst/>
                        </a:rPr>
                        <a:t>55.5</a:t>
                      </a:r>
                      <a:endParaRPr lang="en-US" altLang="zh-TW" sz="1800" b="0">
                        <a:effectLst/>
                      </a:endParaRPr>
                    </a:p>
                  </a:txBody>
                  <a:tcPr marL="42561" marR="42561" marT="21281" marB="21281"/>
                </a:tc>
                <a:tc>
                  <a:txBody>
                    <a:bodyPr/>
                    <a:lstStyle/>
                    <a:p>
                      <a:pPr algn="l" fontAlgn="t"/>
                      <a:r>
                        <a:rPr lang="en-US" altLang="zh-TW" sz="1800" dirty="0">
                          <a:effectLst/>
                        </a:rPr>
                        <a:t>62.1</a:t>
                      </a:r>
                      <a:endParaRPr lang="en-US" altLang="zh-TW" sz="1800" b="0" dirty="0">
                        <a:effectLst/>
                      </a:endParaRPr>
                    </a:p>
                  </a:txBody>
                  <a:tcPr marL="42561" marR="42561" marT="21281" marB="21281"/>
                </a:tc>
                <a:tc>
                  <a:txBody>
                    <a:bodyPr/>
                    <a:lstStyle/>
                    <a:p>
                      <a:pPr algn="l" fontAlgn="t"/>
                      <a:r>
                        <a:rPr lang="en-US" altLang="zh-TW" sz="1800" dirty="0">
                          <a:effectLst/>
                        </a:rPr>
                        <a:t>65.2 (2)</a:t>
                      </a:r>
                      <a:endParaRPr lang="en-US" altLang="zh-TW" sz="1800" b="0" dirty="0">
                        <a:effectLst/>
                      </a:endParaRPr>
                    </a:p>
                  </a:txBody>
                  <a:tcPr marL="42561" marR="42561" marT="21281" marB="21281"/>
                </a:tc>
              </a:tr>
            </a:tbl>
          </a:graphicData>
        </a:graphic>
      </p:graphicFrame>
    </p:spTree>
    <p:extLst>
      <p:ext uri="{BB962C8B-B14F-4D97-AF65-F5344CB8AC3E}">
        <p14:creationId xmlns:p14="http://schemas.microsoft.com/office/powerpoint/2010/main" val="3645499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0" dirty="0"/>
              <a:t>Future </a:t>
            </a:r>
            <a:r>
              <a:rPr lang="en-US" altLang="zh-TW" b="0" dirty="0" smtClean="0"/>
              <a:t>works</a:t>
            </a:r>
            <a:endParaRPr lang="zh-TW" altLang="en-US" dirty="0"/>
          </a:p>
        </p:txBody>
      </p:sp>
      <p:sp>
        <p:nvSpPr>
          <p:cNvPr id="3" name="投影片編號版面配置區 2"/>
          <p:cNvSpPr>
            <a:spLocks noGrp="1"/>
          </p:cNvSpPr>
          <p:nvPr>
            <p:ph type="sldNum" sz="quarter" idx="12"/>
          </p:nvPr>
        </p:nvSpPr>
        <p:spPr/>
        <p:txBody>
          <a:bodyPr/>
          <a:lstStyle/>
          <a:p>
            <a:fld id="{61A04B93-F247-42E5-95CE-B8478AD23DB7}" type="slidenum">
              <a:rPr lang="zh-TW" altLang="en-US" smtClean="0"/>
              <a:t>18</a:t>
            </a:fld>
            <a:endParaRPr lang="zh-TW" altLang="en-US"/>
          </a:p>
        </p:txBody>
      </p:sp>
      <p:sp>
        <p:nvSpPr>
          <p:cNvPr id="4" name="內容版面配置區 3"/>
          <p:cNvSpPr>
            <a:spLocks noGrp="1"/>
          </p:cNvSpPr>
          <p:nvPr>
            <p:ph sz="quarter" idx="1"/>
          </p:nvPr>
        </p:nvSpPr>
        <p:spPr/>
        <p:txBody>
          <a:bodyPr>
            <a:normAutofit/>
          </a:bodyPr>
          <a:lstStyle/>
          <a:p>
            <a:r>
              <a:rPr lang="en-US" altLang="zh-TW" dirty="0"/>
              <a:t>Future extensions of the proposed approach will be pursued along two main directions, concerning, respectively, the evaluation of alternative similarity measures among time series and the use of nonlinear kernels in the temporal discrete SVM classification model.</a:t>
            </a:r>
            <a:endParaRPr lang="zh-TW" altLang="en-US" dirty="0"/>
          </a:p>
        </p:txBody>
      </p:sp>
      <p:sp>
        <p:nvSpPr>
          <p:cNvPr id="5" name="日期版面配置區 4"/>
          <p:cNvSpPr>
            <a:spLocks noGrp="1"/>
          </p:cNvSpPr>
          <p:nvPr>
            <p:ph type="dt" sz="half" idx="10"/>
          </p:nvPr>
        </p:nvSpPr>
        <p:spPr/>
        <p:txBody>
          <a:bodyPr/>
          <a:lstStyle/>
          <a:p>
            <a:r>
              <a:rPr lang="en-US" altLang="zh-TW" smtClean="0"/>
              <a:t>2012/12/10</a:t>
            </a:r>
            <a:endParaRPr lang="zh-TW" altLang="en-US"/>
          </a:p>
        </p:txBody>
      </p:sp>
    </p:spTree>
    <p:extLst>
      <p:ext uri="{BB962C8B-B14F-4D97-AF65-F5344CB8AC3E}">
        <p14:creationId xmlns:p14="http://schemas.microsoft.com/office/powerpoint/2010/main" val="226631422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原創">
  <a:themeElements>
    <a:clrScheme name="自訂 3">
      <a:dk1>
        <a:sysClr val="windowText" lastClr="000000"/>
      </a:dk1>
      <a:lt1>
        <a:sysClr val="window" lastClr="FFFFFF"/>
      </a:lt1>
      <a:dk2>
        <a:srgbClr val="000000"/>
      </a:dk2>
      <a:lt2>
        <a:srgbClr val="EEECE1"/>
      </a:lt2>
      <a:accent1>
        <a:srgbClr val="4F81BD"/>
      </a:accent1>
      <a:accent2>
        <a:srgbClr val="C0504D"/>
      </a:accent2>
      <a:accent3>
        <a:srgbClr val="9BBB59"/>
      </a:accent3>
      <a:accent4>
        <a:srgbClr val="8064A2"/>
      </a:accent4>
      <a:accent5>
        <a:srgbClr val="4BACC6"/>
      </a:accent5>
      <a:accent6>
        <a:srgbClr val="F79646"/>
      </a:accent6>
      <a:hlink>
        <a:srgbClr val="FF0000"/>
      </a:hlink>
      <a:folHlink>
        <a:srgbClr val="0000FF"/>
      </a:folHlink>
    </a:clrScheme>
    <a:fontScheme name="自訂 1">
      <a:majorFont>
        <a:latin typeface="Calibri"/>
        <a:ea typeface="微軟正黑體"/>
        <a:cs typeface=""/>
      </a:majorFont>
      <a:minorFont>
        <a:latin typeface="Calibri"/>
        <a:ea typeface="微軟正黑體"/>
        <a:cs typeface=""/>
      </a:minorFont>
    </a:fontScheme>
    <a:fmtScheme name="原創">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2415</TotalTime>
  <Words>666</Words>
  <Application>Microsoft Office PowerPoint</Application>
  <PresentationFormat>如螢幕大小 (4:3)</PresentationFormat>
  <Paragraphs>252</Paragraphs>
  <Slides>18</Slides>
  <Notes>0</Notes>
  <HiddenSlides>2</HiddenSlides>
  <MMClips>0</MMClips>
  <ScaleCrop>false</ScaleCrop>
  <HeadingPairs>
    <vt:vector size="4" baseType="variant">
      <vt:variant>
        <vt:lpstr>佈景主題</vt:lpstr>
      </vt:variant>
      <vt:variant>
        <vt:i4>1</vt:i4>
      </vt:variant>
      <vt:variant>
        <vt:lpstr>投影片標題</vt:lpstr>
      </vt:variant>
      <vt:variant>
        <vt:i4>18</vt:i4>
      </vt:variant>
    </vt:vector>
  </HeadingPairs>
  <TitlesOfParts>
    <vt:vector size="19" baseType="lpstr">
      <vt:lpstr>原創</vt:lpstr>
      <vt:lpstr>Combining discrete SVM and fixed cardinality warping distances for multivariate time series classification Pattern Recognition  Volume 43, Issue 11, November 2010, Pages 3787–3794</vt:lpstr>
      <vt:lpstr>Abstract</vt:lpstr>
      <vt:lpstr>Abstract</vt:lpstr>
      <vt:lpstr>Introduce</vt:lpstr>
      <vt:lpstr>Static classification problem</vt:lpstr>
      <vt:lpstr>Temporal classification problem </vt:lpstr>
      <vt:lpstr>Dynamic time warping</vt:lpstr>
      <vt:lpstr>A DAGSP algorithm for warping distance computation </vt:lpstr>
      <vt:lpstr>Rectangularization by fixed cardinality warping paths</vt:lpstr>
      <vt:lpstr>The rectangularization procedure</vt:lpstr>
      <vt:lpstr>The rectangularization procedure</vt:lpstr>
      <vt:lpstr>Temporal discrete support vector machines</vt:lpstr>
      <vt:lpstr>Temporal discrete support vector machines</vt:lpstr>
      <vt:lpstr>PowerPoint 簡報</vt:lpstr>
      <vt:lpstr>Computational setup and analysis</vt:lpstr>
      <vt:lpstr>Computational setup and analysis</vt:lpstr>
      <vt:lpstr>Computational setup and analysis</vt:lpstr>
      <vt:lpstr>Future works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Quadratic-time algorithm for a string constrained LCS problem</dc:title>
  <dc:creator>Robert</dc:creator>
  <cp:lastModifiedBy>Chuan</cp:lastModifiedBy>
  <cp:revision>130</cp:revision>
  <cp:lastPrinted>2012-09-10T21:31:19Z</cp:lastPrinted>
  <dcterms:created xsi:type="dcterms:W3CDTF">2012-09-10T08:29:10Z</dcterms:created>
  <dcterms:modified xsi:type="dcterms:W3CDTF">2012-12-10T10:34:42Z</dcterms:modified>
</cp:coreProperties>
</file>