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5" r:id="rId11"/>
    <p:sldId id="266" r:id="rId12"/>
    <p:sldId id="268" r:id="rId13"/>
    <p:sldId id="272" r:id="rId14"/>
    <p:sldId id="270" r:id="rId15"/>
    <p:sldId id="271" r:id="rId16"/>
    <p:sldId id="269" r:id="rId17"/>
    <p:sldId id="278" r:id="rId18"/>
    <p:sldId id="275" r:id="rId19"/>
    <p:sldId id="276" r:id="rId20"/>
    <p:sldId id="277" r:id="rId21"/>
    <p:sldId id="279" r:id="rId22"/>
    <p:sldId id="280" r:id="rId23"/>
    <p:sldId id="281" r:id="rId24"/>
    <p:sldId id="283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2220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DBDF8-3712-4C42-ABF0-0F8CB2FB580E}" type="datetimeFigureOut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1F4FB-93D0-4310-A232-CB85AE3DB1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75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485F4-D750-496B-9FF7-EA0AAA52C122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551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B686-E61E-4E6F-AD9A-29B1013C640E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6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BED2E-B741-4A97-BC82-48F1684B78BA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2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8C130-18EC-4024-A720-1B07F4ACF991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73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F87F-72BB-4741-80FF-AEB98433C416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60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B2D62-91D5-4C12-9CC0-2F017F2DE774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46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962C1-441C-48AF-B932-9EE62EFF97DC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9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0F3D-B2CE-4954-8BC2-F7A4CE0215E4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55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DD3C-35DB-459C-B1A4-75221CFB7B54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69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4C061-D565-477D-8E1C-833C63F173DD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663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80AD-EA9C-45FB-AE4A-C5725A8C05CE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33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3CBCE-B1AD-4C26-87ED-194ABB6CAF51}" type="datetime1">
              <a:rPr lang="zh-TW" altLang="en-US" smtClean="0"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8D9C8-CA99-49E7-AD5F-EB4F3C290F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03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archive.ics.uci.edu/ml/datasets/Synthetic+Control+Chart+Time+Series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55576" y="404664"/>
            <a:ext cx="7772400" cy="1470025"/>
          </a:xfrm>
        </p:spPr>
        <p:txBody>
          <a:bodyPr/>
          <a:lstStyle/>
          <a:p>
            <a:r>
              <a:rPr lang="en-US" altLang="zh-TW" dirty="0" smtClean="0"/>
              <a:t>A novel clustering method on time series data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39221" y="4365104"/>
            <a:ext cx="8121542" cy="993834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Expert Systems with Application, </a:t>
            </a:r>
            <a:r>
              <a:rPr lang="en-US" altLang="zh-TW" sz="2800" dirty="0"/>
              <a:t> </a:t>
            </a:r>
            <a:r>
              <a:rPr lang="en-US" altLang="zh-TW" sz="2800" dirty="0"/>
              <a:t>V</a:t>
            </a:r>
            <a:r>
              <a:rPr lang="en-US" altLang="zh-TW" sz="2800" dirty="0" smtClean="0"/>
              <a:t>ol</a:t>
            </a:r>
            <a:r>
              <a:rPr lang="en-US" altLang="zh-TW" sz="2800" dirty="0" smtClean="0"/>
              <a:t>. 38, </a:t>
            </a:r>
            <a:br>
              <a:rPr lang="en-US" altLang="zh-TW" sz="2800" dirty="0" smtClean="0"/>
            </a:br>
            <a:r>
              <a:rPr lang="en-US" altLang="zh-TW" sz="2800" dirty="0" smtClean="0"/>
              <a:t>pp. 11891-11900, 2011</a:t>
            </a:r>
            <a:endParaRPr lang="zh-TW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1115616" y="2204864"/>
            <a:ext cx="7085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err="1" smtClean="0"/>
              <a:t>Xiaohang</a:t>
            </a:r>
            <a:r>
              <a:rPr lang="en-US" altLang="zh-TW" sz="2800" dirty="0" smtClean="0"/>
              <a:t> Zhang</a:t>
            </a:r>
            <a:r>
              <a:rPr lang="en-US" altLang="zh-TW" sz="2800" baseline="30000" dirty="0" smtClean="0"/>
              <a:t>*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Jiaqi</a:t>
            </a:r>
            <a:r>
              <a:rPr lang="en-US" altLang="zh-TW" sz="2800" dirty="0" smtClean="0"/>
              <a:t> Liu, Yu Du, and </a:t>
            </a:r>
            <a:r>
              <a:rPr lang="en-US" altLang="zh-TW" sz="2800" dirty="0" err="1" smtClean="0"/>
              <a:t>Tingjie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Lv</a:t>
            </a:r>
            <a:endParaRPr lang="zh-TW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179512" y="3082707"/>
            <a:ext cx="86409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 smtClean="0"/>
              <a:t>School of Economics and Management, </a:t>
            </a:r>
            <a:br>
              <a:rPr lang="en-US" altLang="zh-TW" sz="2800" dirty="0" smtClean="0"/>
            </a:br>
            <a:r>
              <a:rPr lang="en-US" altLang="zh-TW" sz="2800" dirty="0" smtClean="0"/>
              <a:t>Beijing University of Posts and Telecommunications</a:t>
            </a:r>
            <a:endParaRPr lang="zh-TW" altLang="en-US" sz="28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53506" y="5589240"/>
            <a:ext cx="6192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ea typeface="微軟正黑體" pitchFamily="34" charset="-120"/>
              </a:rPr>
              <a:t>Presenter: Hung-</a:t>
            </a:r>
            <a:r>
              <a:rPr lang="en-US" altLang="zh-TW" sz="2800" dirty="0" err="1" smtClean="0">
                <a:ea typeface="微軟正黑體" pitchFamily="34" charset="-120"/>
              </a:rPr>
              <a:t>Hsin</a:t>
            </a:r>
            <a:r>
              <a:rPr lang="en-US" altLang="zh-TW" sz="2800" dirty="0" smtClean="0">
                <a:ea typeface="微軟正黑體" pitchFamily="34" charset="-120"/>
              </a:rPr>
              <a:t> Chen (</a:t>
            </a:r>
            <a:r>
              <a:rPr lang="en-US" altLang="zh-TW" sz="2800" dirty="0" err="1" smtClean="0">
                <a:ea typeface="微軟正黑體" pitchFamily="34" charset="-120"/>
              </a:rPr>
              <a:t>陳紘昕</a:t>
            </a:r>
            <a:r>
              <a:rPr lang="en-US" altLang="zh-TW" sz="2800" dirty="0" smtClean="0">
                <a:ea typeface="微軟正黑體" pitchFamily="34" charset="-120"/>
              </a:rPr>
              <a:t>)</a:t>
            </a:r>
          </a:p>
          <a:p>
            <a:r>
              <a:rPr lang="en-US" altLang="zh-TW" sz="2800" dirty="0" smtClean="0">
                <a:ea typeface="微軟正黑體" pitchFamily="34" charset="-120"/>
              </a:rPr>
              <a:t>Date: Dec. </a:t>
            </a:r>
            <a:r>
              <a:rPr lang="en-US" altLang="zh-TW" sz="2800" dirty="0" smtClean="0">
                <a:ea typeface="微軟正黑體" pitchFamily="34" charset="-120"/>
              </a:rPr>
              <a:t>10, </a:t>
            </a:r>
            <a:r>
              <a:rPr lang="en-US" altLang="zh-TW" sz="2800" dirty="0" smtClean="0">
                <a:ea typeface="微軟正黑體" pitchFamily="34" charset="-120"/>
              </a:rPr>
              <a:t>2012</a:t>
            </a:r>
            <a:endParaRPr lang="zh-TW" altLang="en-US" sz="2800" dirty="0"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123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856984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800" dirty="0"/>
              <a:t>Time series is a very popular type of data which exists in many domains. Clustering time series data has </a:t>
            </a:r>
            <a:r>
              <a:rPr lang="en-US" altLang="zh-TW" sz="2800" dirty="0" smtClean="0"/>
              <a:t>a wide </a:t>
            </a:r>
            <a:r>
              <a:rPr lang="en-US" altLang="zh-TW" sz="2800" dirty="0"/>
              <a:t>range of applications and has attracted researchers from a wide range of discipline. In this paper </a:t>
            </a:r>
            <a:r>
              <a:rPr lang="en-US" altLang="zh-TW" sz="2800" dirty="0" smtClean="0"/>
              <a:t>a novel </a:t>
            </a:r>
            <a:r>
              <a:rPr lang="en-US" altLang="zh-TW" sz="2800" dirty="0"/>
              <a:t>algorithm for </a:t>
            </a:r>
            <a:r>
              <a:rPr lang="en-US" altLang="zh-TW" sz="2800" u="sng" dirty="0"/>
              <a:t>shape based time series clustering </a:t>
            </a:r>
            <a:r>
              <a:rPr lang="en-US" altLang="zh-TW" sz="2800" dirty="0"/>
              <a:t>is proposed. It can reduce the size of data, </a:t>
            </a:r>
            <a:r>
              <a:rPr lang="en-US" altLang="zh-TW" sz="2800" dirty="0" smtClean="0"/>
              <a:t>improve the </a:t>
            </a:r>
            <a:r>
              <a:rPr lang="en-US" altLang="zh-TW" sz="2800" dirty="0"/>
              <a:t>efﬁciency and not reduce the effects by using the principle of complex network. </a:t>
            </a:r>
            <a:r>
              <a:rPr lang="en-US" altLang="zh-TW" sz="2800" dirty="0">
                <a:solidFill>
                  <a:srgbClr val="FF0000"/>
                </a:solidFill>
              </a:rPr>
              <a:t>Firstly,</a:t>
            </a:r>
            <a:r>
              <a:rPr lang="en-US" altLang="zh-TW" sz="2800" dirty="0"/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one-nearest neighbor </a:t>
            </a:r>
            <a:r>
              <a:rPr lang="en-US" altLang="zh-TW" sz="2800" dirty="0">
                <a:solidFill>
                  <a:srgbClr val="FF0000"/>
                </a:solidFill>
              </a:rPr>
              <a:t>network is built based on the similarity of time series objects. 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1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zh-TW" dirty="0"/>
              <a:t>In this step, </a:t>
            </a:r>
            <a:r>
              <a:rPr lang="en-US" altLang="zh-TW" dirty="0">
                <a:solidFill>
                  <a:srgbClr val="FF0000"/>
                </a:solidFill>
              </a:rPr>
              <a:t>triangle distance</a:t>
            </a:r>
            <a:r>
              <a:rPr lang="en-US" altLang="zh-TW" dirty="0"/>
              <a:t> is used to measure the similarity of the neighbor network each node represents one time series object and each link denotes neighbor relationship between nodes</a:t>
            </a:r>
            <a:r>
              <a:rPr lang="en-US" altLang="zh-TW" dirty="0" smtClean="0"/>
              <a:t>. Secondly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the nodes with high degrees are </a:t>
            </a:r>
            <a:r>
              <a:rPr lang="en-US" altLang="zh-TW" dirty="0" smtClean="0">
                <a:solidFill>
                  <a:srgbClr val="FF0000"/>
                </a:solidFill>
              </a:rPr>
              <a:t>chosen </a:t>
            </a:r>
            <a:r>
              <a:rPr lang="en-US" altLang="zh-TW" dirty="0">
                <a:solidFill>
                  <a:srgbClr val="FF0000"/>
                </a:solidFill>
              </a:rPr>
              <a:t>and used to cluster.</a:t>
            </a:r>
            <a:r>
              <a:rPr lang="en-US" altLang="zh-TW" dirty="0"/>
              <a:t> In clustering process, </a:t>
            </a:r>
            <a:r>
              <a:rPr lang="en-US" altLang="zh-TW" dirty="0">
                <a:solidFill>
                  <a:srgbClr val="FF0000"/>
                </a:solidFill>
              </a:rPr>
              <a:t>dynamic time warping distance function and hierarchical clustering algorithm are applied</a:t>
            </a:r>
            <a:r>
              <a:rPr lang="en-US" altLang="zh-TW" dirty="0"/>
              <a:t>. Thirdly, some experiments are executed on synthetic and real data. </a:t>
            </a:r>
            <a:r>
              <a:rPr lang="en-US" altLang="zh-TW" dirty="0" smtClean="0"/>
              <a:t>The results </a:t>
            </a:r>
            <a:r>
              <a:rPr lang="en-US" altLang="zh-TW" dirty="0"/>
              <a:t>show that the proposed algorithm has good performance on efﬁciency and effectiveness.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46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92896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Three main objectives in clustering time series.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 smtClean="0">
                <a:solidFill>
                  <a:srgbClr val="FF0000"/>
                </a:solidFill>
              </a:rPr>
              <a:t>Similarity in time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Cluster series that vary in a similar way on each time step</a:t>
            </a:r>
          </a:p>
          <a:p>
            <a:pPr lvl="1"/>
            <a:r>
              <a:rPr lang="en-US" altLang="zh-TW" dirty="0" smtClean="0"/>
              <a:t>MSE, RMSE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437112"/>
            <a:ext cx="8785795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87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2.</a:t>
            </a:r>
            <a:r>
              <a:rPr lang="en-US" altLang="zh-TW" b="1" dirty="0" smtClean="0">
                <a:solidFill>
                  <a:srgbClr val="FF0000"/>
                </a:solidFill>
              </a:rPr>
              <a:t>Similarity in shape</a:t>
            </a:r>
          </a:p>
          <a:p>
            <a:pPr marL="857250" lvl="1" indent="-457200"/>
            <a:r>
              <a:rPr lang="en-US" altLang="zh-TW" dirty="0" smtClean="0"/>
              <a:t>Identifying common trends occurring at different times or similar sub patterns in the data.</a:t>
            </a:r>
          </a:p>
          <a:p>
            <a:pPr marL="857250" lvl="1" indent="-457200"/>
            <a:r>
              <a:rPr lang="en-US" altLang="zh-TW" dirty="0" smtClean="0"/>
              <a:t>Dynamic time warping (DTW) or either algorithms</a:t>
            </a:r>
          </a:p>
          <a:p>
            <a:pPr marL="857250" lvl="1" indent="-457200"/>
            <a:r>
              <a:rPr lang="en-US" altLang="zh-TW" dirty="0" smtClean="0"/>
              <a:t>Ex: Stock price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553744"/>
            <a:ext cx="8421258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33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0891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3. </a:t>
            </a:r>
            <a:r>
              <a:rPr lang="en-US" altLang="zh-TW" b="1" dirty="0" smtClean="0">
                <a:solidFill>
                  <a:srgbClr val="FF0000"/>
                </a:solidFill>
              </a:rPr>
              <a:t>Similarity in change</a:t>
            </a:r>
          </a:p>
          <a:p>
            <a:pPr lvl="1"/>
            <a:r>
              <a:rPr lang="en-US" altLang="zh-TW" dirty="0" smtClean="0"/>
              <a:t>Cluster series by the similarity in how they vary from time step to step</a:t>
            </a:r>
          </a:p>
          <a:p>
            <a:pPr lvl="1"/>
            <a:r>
              <a:rPr lang="en-US" altLang="zh-TW" dirty="0" smtClean="0"/>
              <a:t>Hidden Markov model (HMM), ARMA,…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35" y="4221088"/>
            <a:ext cx="8822024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48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series 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9542" y="1268760"/>
            <a:ext cx="8712968" cy="2476872"/>
          </a:xfrm>
        </p:spPr>
        <p:txBody>
          <a:bodyPr/>
          <a:lstStyle/>
          <a:p>
            <a:r>
              <a:rPr lang="en-US" altLang="zh-TW" dirty="0"/>
              <a:t> The goal of clustering </a:t>
            </a:r>
            <a:endParaRPr lang="en-US" altLang="zh-TW" dirty="0" smtClean="0"/>
          </a:p>
          <a:p>
            <a:r>
              <a:rPr lang="en-US" altLang="zh-TW" dirty="0" smtClean="0"/>
              <a:t>within-group-object </a:t>
            </a:r>
            <a:r>
              <a:rPr lang="en-US" altLang="zh-TW" dirty="0"/>
              <a:t>similarity </a:t>
            </a:r>
            <a:r>
              <a:rPr lang="en-US" altLang="zh-TW" dirty="0" smtClean="0"/>
              <a:t>is minimized</a:t>
            </a:r>
          </a:p>
          <a:p>
            <a:r>
              <a:rPr lang="en-US" altLang="zh-TW" dirty="0" smtClean="0"/>
              <a:t>between-group-object </a:t>
            </a:r>
            <a:r>
              <a:rPr lang="en-US" altLang="zh-TW" dirty="0"/>
              <a:t>dissimilarity </a:t>
            </a:r>
            <a:r>
              <a:rPr lang="en-US" altLang="zh-TW" dirty="0" smtClean="0"/>
              <a:t>is maximized</a:t>
            </a:r>
          </a:p>
          <a:p>
            <a:r>
              <a:rPr lang="en-US" altLang="zh-TW" dirty="0" smtClean="0"/>
              <a:t>Time series properties: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537312"/>
            <a:ext cx="5616624" cy="31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451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Similarity/distance measures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652595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 smtClean="0">
                <a:solidFill>
                  <a:srgbClr val="FF0000"/>
                </a:solidFill>
              </a:rPr>
              <a:t>1.Triangle similarity( cosine distance)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63960" y="2064425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Original time series:</a:t>
            </a:r>
            <a:endParaRPr lang="zh-TW" altLang="en-US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42615"/>
              </p:ext>
            </p:extLst>
          </p:nvPr>
        </p:nvGraphicFramePr>
        <p:xfrm>
          <a:off x="1115616" y="2611656"/>
          <a:ext cx="748882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092"/>
                <a:gridCol w="832092"/>
                <a:gridCol w="832092"/>
                <a:gridCol w="832092"/>
                <a:gridCol w="832092"/>
                <a:gridCol w="832092"/>
                <a:gridCol w="832092"/>
                <a:gridCol w="512060"/>
                <a:gridCol w="11521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/>
                        <a:t>Idx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"/>
          <a:stretch/>
        </p:blipFill>
        <p:spPr bwMode="auto">
          <a:xfrm>
            <a:off x="3932312" y="1988220"/>
            <a:ext cx="3456384" cy="5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729705" y="3599438"/>
            <a:ext cx="3808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Normalized time series:</a:t>
            </a:r>
            <a:endParaRPr lang="zh-TW" altLang="en-US" sz="28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591432"/>
              </p:ext>
            </p:extLst>
          </p:nvPr>
        </p:nvGraphicFramePr>
        <p:xfrm>
          <a:off x="1043608" y="4144362"/>
          <a:ext cx="7488829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32092"/>
                <a:gridCol w="832092"/>
                <a:gridCol w="832092"/>
                <a:gridCol w="832092"/>
                <a:gridCol w="832092"/>
                <a:gridCol w="832092"/>
                <a:gridCol w="832092"/>
                <a:gridCol w="512060"/>
                <a:gridCol w="11521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/>
                        <a:t>Idx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length</a:t>
                      </a:r>
                      <a:endParaRPr lang="zh-TW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0.2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50" y="3429000"/>
            <a:ext cx="2965164" cy="59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11560" y="5517232"/>
                <a:ext cx="8136904" cy="1215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&gt;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sz="2400" b="0" i="1" smtClean="0">
                          <a:latin typeface="Cambria Math"/>
                        </a:rPr>
                        <m:t>=&lt;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&gt; </m:t>
                      </m:r>
                    </m:oMath>
                  </m:oMathPara>
                </a14:m>
                <a:r>
                  <a:rPr lang="en-US" altLang="zh-TW" sz="2400" b="0" i="1" dirty="0" smtClean="0">
                    <a:latin typeface="Cambria Math"/>
                  </a:rPr>
                  <a:t/>
                </a:r>
                <a:br>
                  <a:rPr lang="en-US" altLang="zh-TW" sz="2400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=0.2∗0.3+0.3∗0.1+…+0.3∗0.2=</m:t>
                    </m:r>
                  </m:oMath>
                </a14:m>
                <a:r>
                  <a:rPr lang="en-US" altLang="zh-TW" sz="2400" dirty="0" smtClean="0"/>
                  <a:t>0.64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517232"/>
                <a:ext cx="8136904" cy="1215974"/>
              </a:xfrm>
              <a:prstGeom prst="rect">
                <a:avLst/>
              </a:prstGeom>
              <a:blipFill rotWithShape="1">
                <a:blip r:embed="rId4"/>
                <a:stretch>
                  <a:fillRect b="-10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59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Similarity/distance measures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2855" y="141277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2. Dynamic time warping (DTW) distance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67519" y="1916832"/>
                <a:ext cx="8424936" cy="1902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𝐴</m:t>
                    </m:r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i="1" dirty="0" smtClean="0">
                    <a:latin typeface="Cambria Math"/>
                  </a:rPr>
                  <a:t>,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𝐵</m:t>
                      </m:r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TW" sz="2400" i="1" dirty="0" smtClean="0">
                  <a:latin typeface="Cambria Math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𝐷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𝑚𝑖𝑛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19" y="1916832"/>
                <a:ext cx="8424936" cy="190295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1403648" y="4440205"/>
            <a:ext cx="157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Usually p=2</a:t>
            </a:r>
            <a:endParaRPr lang="zh-TW" altLang="en-US" dirty="0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304230"/>
              </p:ext>
            </p:extLst>
          </p:nvPr>
        </p:nvGraphicFramePr>
        <p:xfrm>
          <a:off x="4479987" y="3933056"/>
          <a:ext cx="3673475" cy="275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Visio" r:id="rId4" imgW="3722751" imgH="2798044" progId="Visio.Drawing.11">
                  <p:embed/>
                </p:oleObj>
              </mc:Choice>
              <mc:Fallback>
                <p:oleObj name="Visio" r:id="rId4" imgW="3722751" imgH="2798044" progId="Visio.Drawing.11">
                  <p:embed/>
                  <p:pic>
                    <p:nvPicPr>
                      <p:cNvPr id="0" name="物件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87" y="3933056"/>
                        <a:ext cx="3673475" cy="275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04461" y="5775647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Time &amp; space complexity: O(nm)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92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54A7-03C0-4121-BC90-2DA661B752AE}" type="slidenum">
              <a:rPr lang="zh-TW" altLang="en-US" smtClean="0"/>
              <a:pPr/>
              <a:t>10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775404"/>
              </p:ext>
            </p:extLst>
          </p:nvPr>
        </p:nvGraphicFramePr>
        <p:xfrm>
          <a:off x="1367644" y="188640"/>
          <a:ext cx="583264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9081"/>
                <a:gridCol w="729081"/>
                <a:gridCol w="729081"/>
                <a:gridCol w="729081"/>
                <a:gridCol w="729081"/>
                <a:gridCol w="729081"/>
                <a:gridCol w="729081"/>
                <a:gridCol w="7290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11560" y="2046109"/>
                <a:ext cx="3528392" cy="590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Distance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046109"/>
                <a:ext cx="3528392" cy="590803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2591" r="-1036" b="-18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4932040" y="2103239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Cumulative distance matrix:</a:t>
            </a:r>
            <a:endParaRPr lang="zh-TW" altLang="en-US" sz="24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754642"/>
              </p:ext>
            </p:extLst>
          </p:nvPr>
        </p:nvGraphicFramePr>
        <p:xfrm>
          <a:off x="311524" y="2807176"/>
          <a:ext cx="4128464" cy="2926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6058"/>
                <a:gridCol w="516058"/>
                <a:gridCol w="516058"/>
                <a:gridCol w="516058"/>
                <a:gridCol w="516058"/>
                <a:gridCol w="516058"/>
                <a:gridCol w="516058"/>
                <a:gridCol w="516058"/>
              </a:tblGrid>
              <a:tr h="32975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36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08078"/>
              </p:ext>
            </p:extLst>
          </p:nvPr>
        </p:nvGraphicFramePr>
        <p:xfrm>
          <a:off x="4716015" y="2789835"/>
          <a:ext cx="4252608" cy="2926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31576"/>
                <a:gridCol w="531576"/>
                <a:gridCol w="531576"/>
                <a:gridCol w="531576"/>
                <a:gridCol w="531576"/>
                <a:gridCol w="531576"/>
                <a:gridCol w="531576"/>
                <a:gridCol w="531576"/>
              </a:tblGrid>
              <a:tr h="32975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40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63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297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48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54A7-03C0-4121-BC90-2DA661B752AE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762892"/>
              </p:ext>
            </p:extLst>
          </p:nvPr>
        </p:nvGraphicFramePr>
        <p:xfrm>
          <a:off x="1331560" y="2060848"/>
          <a:ext cx="5760800" cy="736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76080"/>
                <a:gridCol w="576080"/>
                <a:gridCol w="576080"/>
                <a:gridCol w="576080"/>
                <a:gridCol w="576080"/>
                <a:gridCol w="576080"/>
                <a:gridCol w="576080"/>
                <a:gridCol w="576080"/>
                <a:gridCol w="576080"/>
                <a:gridCol w="576080"/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55996"/>
              </p:ext>
            </p:extLst>
          </p:nvPr>
        </p:nvGraphicFramePr>
        <p:xfrm>
          <a:off x="1367644" y="188640"/>
          <a:ext cx="583264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9081"/>
                <a:gridCol w="729081"/>
                <a:gridCol w="729081"/>
                <a:gridCol w="729081"/>
                <a:gridCol w="729081"/>
                <a:gridCol w="729081"/>
                <a:gridCol w="729081"/>
                <a:gridCol w="7290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83668" y="2996952"/>
            <a:ext cx="5256584" cy="284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向右箭號 5"/>
          <p:cNvSpPr/>
          <p:nvPr/>
        </p:nvSpPr>
        <p:spPr>
          <a:xfrm rot="5400000">
            <a:off x="4013938" y="1466782"/>
            <a:ext cx="39604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23528" y="5842798"/>
            <a:ext cx="7848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 DTW’s advantage is that it can deal </a:t>
            </a:r>
            <a:r>
              <a:rPr lang="en-US" altLang="zh-TW" sz="2400" dirty="0" smtClean="0">
                <a:solidFill>
                  <a:srgbClr val="FF0000"/>
                </a:solidFill>
              </a:rPr>
              <a:t>with temporal </a:t>
            </a:r>
            <a:r>
              <a:rPr lang="en-US" altLang="zh-TW" sz="2400" dirty="0">
                <a:solidFill>
                  <a:srgbClr val="FF0000"/>
                </a:solidFill>
              </a:rPr>
              <a:t>drift very well.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1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 data (1)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solidFill>
                  <a:srgbClr val="FF0000"/>
                </a:solidFill>
              </a:rPr>
              <a:t>Control chart (CC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sz="2400" dirty="0" smtClean="0"/>
              <a:t>[</a:t>
            </a:r>
            <a:r>
              <a:rPr lang="en-US" altLang="zh-TW" sz="2400" dirty="0" err="1" smtClean="0"/>
              <a:t>Alcock</a:t>
            </a:r>
            <a:r>
              <a:rPr lang="en-US" altLang="zh-TW" sz="2400" dirty="0" smtClean="0"/>
              <a:t> and </a:t>
            </a:r>
            <a:r>
              <a:rPr lang="en-US" altLang="zh-TW" sz="2400" dirty="0" err="1" smtClean="0"/>
              <a:t>Manolopoulos</a:t>
            </a:r>
            <a:r>
              <a:rPr lang="en-US" altLang="zh-TW" sz="2400" dirty="0" smtClean="0"/>
              <a:t> 99]</a:t>
            </a:r>
          </a:p>
          <a:p>
            <a:r>
              <a:rPr lang="en-US" altLang="zh-TW" sz="2800" dirty="0" smtClean="0"/>
              <a:t>Each </a:t>
            </a:r>
            <a:r>
              <a:rPr lang="en-US" altLang="zh-TW" sz="2800" dirty="0"/>
              <a:t>series </a:t>
            </a:r>
            <a:r>
              <a:rPr lang="en-US" altLang="zh-TW" sz="2800" dirty="0" smtClean="0"/>
              <a:t>has </a:t>
            </a:r>
            <a:r>
              <a:rPr lang="en-US" altLang="zh-TW" sz="2800" b="1" dirty="0" smtClean="0">
                <a:solidFill>
                  <a:srgbClr val="00B0F0"/>
                </a:solidFill>
              </a:rPr>
              <a:t>60 </a:t>
            </a:r>
            <a:r>
              <a:rPr lang="en-US" altLang="zh-TW" sz="2800" b="1" dirty="0">
                <a:solidFill>
                  <a:srgbClr val="00B0F0"/>
                </a:solidFill>
              </a:rPr>
              <a:t>real </a:t>
            </a:r>
            <a:r>
              <a:rPr lang="en-US" altLang="zh-TW" sz="2800" b="1" dirty="0" smtClean="0">
                <a:solidFill>
                  <a:srgbClr val="00B0F0"/>
                </a:solidFill>
              </a:rPr>
              <a:t>values</a:t>
            </a:r>
            <a:r>
              <a:rPr lang="en-US" altLang="zh-TW" sz="2800" dirty="0" smtClean="0"/>
              <a:t>, </a:t>
            </a:r>
            <a:r>
              <a:rPr lang="en-US" altLang="zh-TW" sz="2800" b="1" dirty="0" smtClean="0">
                <a:solidFill>
                  <a:srgbClr val="00B0F0"/>
                </a:solidFill>
              </a:rPr>
              <a:t>6 classes</a:t>
            </a:r>
            <a:endParaRPr lang="en-US" altLang="zh-TW" sz="2800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7818012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5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45236" y="5498648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hlinkClick r:id="rId2"/>
              </a:rPr>
              <a:t>http</a:t>
            </a:r>
            <a:r>
              <a:rPr lang="en-US" altLang="zh-TW" dirty="0">
                <a:hlinkClick r:id="rId2"/>
              </a:rPr>
              <a:t>://archive.ics.uci.edu/ml/datasets/Synthetic+Control+Chart+Time+Series</a:t>
            </a:r>
            <a:endParaRPr lang="zh-TW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885245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427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data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2.</a:t>
            </a:r>
            <a:r>
              <a:rPr lang="en-US" altLang="zh-TW" b="1" dirty="0" smtClean="0">
                <a:solidFill>
                  <a:srgbClr val="FF0000"/>
                </a:solidFill>
              </a:rPr>
              <a:t>Cylinder-Bell-Funnel </a:t>
            </a:r>
            <a:r>
              <a:rPr lang="en-US" altLang="zh-TW" b="1" dirty="0">
                <a:solidFill>
                  <a:srgbClr val="FF0000"/>
                </a:solidFill>
              </a:rPr>
              <a:t>(CBF</a:t>
            </a:r>
            <a:r>
              <a:rPr lang="en-US" altLang="zh-TW" b="1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sz="2800" dirty="0" smtClean="0"/>
              <a:t>[</a:t>
            </a:r>
            <a:r>
              <a:rPr lang="en-US" altLang="zh-TW" sz="2800" dirty="0" err="1" smtClean="0"/>
              <a:t>Kadous</a:t>
            </a:r>
            <a:r>
              <a:rPr lang="en-US" altLang="zh-TW" sz="2800" dirty="0" smtClean="0"/>
              <a:t>, 99]</a:t>
            </a:r>
          </a:p>
          <a:p>
            <a:r>
              <a:rPr lang="en-US" altLang="zh-TW" sz="2800" dirty="0"/>
              <a:t>Each series has </a:t>
            </a:r>
            <a:r>
              <a:rPr lang="en-US" altLang="zh-TW" sz="2800" b="1" dirty="0" smtClean="0">
                <a:solidFill>
                  <a:srgbClr val="00B0F0"/>
                </a:solidFill>
              </a:rPr>
              <a:t>128 </a:t>
            </a:r>
            <a:r>
              <a:rPr lang="en-US" altLang="zh-TW" sz="2800" b="1" dirty="0">
                <a:solidFill>
                  <a:srgbClr val="00B0F0"/>
                </a:solidFill>
              </a:rPr>
              <a:t>real values </a:t>
            </a:r>
            <a:r>
              <a:rPr lang="en-US" altLang="zh-TW" sz="2800" b="1" dirty="0" smtClean="0">
                <a:solidFill>
                  <a:srgbClr val="00B0F0"/>
                </a:solidFill>
              </a:rPr>
              <a:t>,</a:t>
            </a:r>
            <a:r>
              <a:rPr lang="en-US" altLang="zh-TW" sz="2800" b="1" dirty="0">
                <a:solidFill>
                  <a:srgbClr val="00B0F0"/>
                </a:solidFill>
              </a:rPr>
              <a:t>3 classes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86087"/>
            <a:ext cx="8655858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323528" y="4797152"/>
                <a:ext cx="8280920" cy="1415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𝜒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=1, 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𝑖𝑓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𝑎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≤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𝑡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≤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𝑏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𝑒𝑙𝑠𝑒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</a:rPr>
                        <m:t>𝜂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, 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𝜖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~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0,1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</a:rPr>
                        <m:t>𝑎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~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𝑈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(32,96) 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797152"/>
                <a:ext cx="8280920" cy="14159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30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data </a:t>
            </a:r>
            <a:r>
              <a:rPr lang="en-US" altLang="zh-TW" dirty="0" smtClean="0"/>
              <a:t>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568952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 smtClean="0">
                <a:solidFill>
                  <a:srgbClr val="FF0000"/>
                </a:solidFill>
              </a:rPr>
              <a:t>3.</a:t>
            </a:r>
            <a:r>
              <a:rPr lang="en-US" altLang="zh-TW" b="1" dirty="0">
                <a:solidFill>
                  <a:srgbClr val="FF0000"/>
                </a:solidFill>
              </a:rPr>
              <a:t> Telecom customers’ consumption data (TCCD</a:t>
            </a:r>
            <a:r>
              <a:rPr lang="en-US" altLang="zh-TW" b="1" dirty="0" smtClean="0">
                <a:solidFill>
                  <a:srgbClr val="FF0000"/>
                </a:solidFill>
              </a:rPr>
              <a:t>)</a:t>
            </a:r>
            <a:endParaRPr lang="en-US" altLang="zh-TW" sz="2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400" dirty="0" smtClean="0"/>
              <a:t>[from one mobile </a:t>
            </a:r>
            <a:r>
              <a:rPr lang="en-US" altLang="zh-TW" sz="2400" dirty="0" err="1" smtClean="0"/>
              <a:t>compay</a:t>
            </a:r>
            <a:r>
              <a:rPr lang="en-US" altLang="zh-TW" sz="2400" dirty="0" smtClean="0"/>
              <a:t> in China mainland]</a:t>
            </a:r>
          </a:p>
          <a:p>
            <a:r>
              <a:rPr lang="en-US" altLang="zh-TW" sz="2400" dirty="0" smtClean="0"/>
              <a:t>Each series has 30 points</a:t>
            </a:r>
            <a:br>
              <a:rPr lang="en-US" altLang="zh-TW" sz="2400" dirty="0" smtClean="0"/>
            </a:br>
            <a:r>
              <a:rPr lang="en-US" altLang="zh-TW" sz="2400" dirty="0" smtClean="0"/>
              <a:t>(one customer’s daily call counts in one month)</a:t>
            </a:r>
          </a:p>
          <a:p>
            <a:r>
              <a:rPr lang="en-US" altLang="zh-TW" sz="2400" dirty="0" smtClean="0"/>
              <a:t>Totally 86802 series in the dataset</a:t>
            </a:r>
          </a:p>
          <a:p>
            <a:r>
              <a:rPr lang="en-US" altLang="zh-TW" sz="2400" dirty="0" smtClean="0"/>
              <a:t>Not label in advance</a:t>
            </a:r>
            <a:endParaRPr lang="zh-TW" altLang="en-US" sz="2400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337508"/>
            <a:ext cx="6192688" cy="2187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53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One-nearest neighbor network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/>
          <a:lstStyle/>
          <a:p>
            <a:r>
              <a:rPr lang="en-US" altLang="zh-TW" dirty="0" smtClean="0"/>
              <a:t>Weighted directed graph</a:t>
            </a:r>
          </a:p>
          <a:p>
            <a:r>
              <a:rPr lang="en-US" altLang="zh-TW" dirty="0" smtClean="0"/>
              <a:t>Each </a:t>
            </a:r>
            <a:r>
              <a:rPr lang="en-US" altLang="zh-TW" dirty="0" smtClean="0">
                <a:solidFill>
                  <a:srgbClr val="FF0000"/>
                </a:solidFill>
              </a:rPr>
              <a:t>node N</a:t>
            </a:r>
            <a:r>
              <a:rPr lang="en-US" altLang="zh-TW" i="1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/>
              <a:t> is a time series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Link </a:t>
            </a:r>
            <a:r>
              <a:rPr lang="en-US" altLang="zh-TW" dirty="0" err="1" smtClean="0">
                <a:solidFill>
                  <a:srgbClr val="FF0000"/>
                </a:solidFill>
              </a:rPr>
              <a:t>l</a:t>
            </a:r>
            <a:r>
              <a:rPr lang="en-US" altLang="zh-TW" i="1" baseline="-25000" dirty="0" err="1" smtClean="0">
                <a:solidFill>
                  <a:srgbClr val="FF0000"/>
                </a:solidFill>
              </a:rPr>
              <a:t>ij</a:t>
            </a:r>
            <a:r>
              <a:rPr lang="en-US" altLang="zh-TW" dirty="0" smtClean="0"/>
              <a:t>: node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is the NN of node </a:t>
            </a:r>
            <a:r>
              <a:rPr lang="en-US" altLang="zh-TW" i="1" dirty="0" err="1" smtClean="0"/>
              <a:t>i</a:t>
            </a:r>
            <a:endParaRPr lang="en-US" altLang="zh-TW" i="1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Weight </a:t>
            </a:r>
            <a:r>
              <a:rPr lang="en-US" altLang="zh-TW" dirty="0" err="1" smtClean="0">
                <a:solidFill>
                  <a:srgbClr val="FF0000"/>
                </a:solidFill>
              </a:rPr>
              <a:t>w</a:t>
            </a:r>
            <a:r>
              <a:rPr lang="en-US" altLang="zh-TW" i="1" baseline="-25000" dirty="0" err="1" smtClean="0">
                <a:solidFill>
                  <a:srgbClr val="FF0000"/>
                </a:solidFill>
              </a:rPr>
              <a:t>ij</a:t>
            </a:r>
            <a:r>
              <a:rPr lang="en-US" altLang="zh-TW" dirty="0" smtClean="0"/>
              <a:t>: similarity between node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and node </a:t>
            </a:r>
            <a:r>
              <a:rPr lang="en-US" altLang="zh-TW" i="1" dirty="0" smtClean="0"/>
              <a:t>j (triangle distance)</a:t>
            </a:r>
            <a:endParaRPr lang="en-US" altLang="zh-TW" i="1" dirty="0" smtClean="0"/>
          </a:p>
          <a:p>
            <a:r>
              <a:rPr lang="en-US" altLang="zh-TW" dirty="0" err="1" smtClean="0">
                <a:solidFill>
                  <a:srgbClr val="FF0000"/>
                </a:solidFill>
              </a:rPr>
              <a:t>Node</a:t>
            </a:r>
            <a:r>
              <a:rPr lang="en-US" altLang="zh-TW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 strength</a:t>
            </a:r>
            <a:r>
              <a:rPr lang="en-US" altLang="zh-TW" dirty="0" smtClean="0"/>
              <a:t> (sum of weight from node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to j):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365104"/>
            <a:ext cx="2226134" cy="1129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67010" y="5445224"/>
            <a:ext cx="79654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Out-degree</a:t>
            </a:r>
            <a:r>
              <a:rPr lang="en-US" altLang="zh-TW" sz="2800" dirty="0" smtClean="0"/>
              <a:t> of all nodes is 1.</a:t>
            </a:r>
          </a:p>
          <a:p>
            <a:r>
              <a:rPr lang="en-US" altLang="zh-TW" sz="2800" dirty="0" smtClean="0">
                <a:solidFill>
                  <a:srgbClr val="FF0000"/>
                </a:solidFill>
              </a:rPr>
              <a:t>In-degree</a:t>
            </a:r>
            <a:r>
              <a:rPr lang="en-US" altLang="zh-TW" sz="2800" dirty="0" smtClean="0"/>
              <a:t> of all nodes is arbitrary. </a:t>
            </a:r>
            <a:br>
              <a:rPr lang="en-US" altLang="zh-TW" sz="2800" dirty="0" smtClean="0"/>
            </a:br>
            <a:r>
              <a:rPr lang="en-US" altLang="zh-TW" sz="2800" dirty="0" smtClean="0"/>
              <a:t>(</a:t>
            </a:r>
            <a:r>
              <a:rPr lang="zh-TW" altLang="en-US" sz="2800" dirty="0" smtClean="0"/>
              <a:t>有較多</a:t>
            </a:r>
            <a:r>
              <a:rPr lang="en-US" altLang="zh-TW" sz="2800" dirty="0" smtClean="0"/>
              <a:t>in-degree</a:t>
            </a:r>
            <a:r>
              <a:rPr lang="zh-TW" altLang="en-US" sz="2800" dirty="0" smtClean="0"/>
              <a:t>的</a:t>
            </a:r>
            <a:r>
              <a:rPr lang="en-US" altLang="zh-TW" sz="2800" dirty="0" smtClean="0"/>
              <a:t>node</a:t>
            </a:r>
            <a:r>
              <a:rPr lang="zh-TW" altLang="en-US" sz="2800" dirty="0" smtClean="0"/>
              <a:t>為重要的節點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220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In-degree distribution of 1NN network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2133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278" y="1340768"/>
            <a:ext cx="17145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8"/>
          <a:stretch/>
        </p:blipFill>
        <p:spPr bwMode="auto">
          <a:xfrm>
            <a:off x="5791003" y="1373460"/>
            <a:ext cx="2759210" cy="31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594" y="1758578"/>
            <a:ext cx="38100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投影片編號版面配置區 3"/>
          <p:cNvSpPr txBox="1">
            <a:spLocks/>
          </p:cNvSpPr>
          <p:nvPr/>
        </p:nvSpPr>
        <p:spPr>
          <a:xfrm>
            <a:off x="5938754" y="6446025"/>
            <a:ext cx="1754761" cy="2479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48D9C8-CA99-49E7-AD5F-EB4F3C290F1F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52" y="2189894"/>
            <a:ext cx="7105967" cy="4595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字方塊 11"/>
          <p:cNvSpPr txBox="1"/>
          <p:nvPr/>
        </p:nvSpPr>
        <p:spPr>
          <a:xfrm>
            <a:off x="2038268" y="3072939"/>
            <a:ext cx="952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CBF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198780" y="3068960"/>
            <a:ext cx="592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CC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491880" y="5183047"/>
            <a:ext cx="888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TCCD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18724" y="4490550"/>
            <a:ext cx="1599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K: number of nearest neighbors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6084168" y="4582882"/>
            <a:ext cx="28083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So </a:t>
            </a:r>
            <a:r>
              <a:rPr lang="en-US" altLang="zh-TW" dirty="0" smtClean="0"/>
              <a:t>a little </a:t>
            </a:r>
            <a:r>
              <a:rPr lang="en-US" altLang="zh-TW" dirty="0"/>
              <a:t>part of nodes has much bigger in-degree than other nodes </a:t>
            </a:r>
            <a:r>
              <a:rPr lang="en-US" altLang="zh-TW" dirty="0" smtClean="0"/>
              <a:t>and has </a:t>
            </a:r>
            <a:r>
              <a:rPr lang="en-US" altLang="zh-TW" dirty="0"/>
              <a:t>central roles in terms of similarity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141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50 graphs for confirming distribution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61" y="1124744"/>
            <a:ext cx="7488832" cy="5505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682402" y="67371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CBF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15083" y="263691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CC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39552" y="458112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TCCD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70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Choosing candidates for clustering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67544" y="153996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Clustering whole dataset -&gt; clustering the candidates </a:t>
            </a:r>
            <a:r>
              <a:rPr lang="en-US" altLang="zh-TW" sz="2400" dirty="0" smtClean="0"/>
              <a:t>(properties of the in-degree distribution)</a:t>
            </a:r>
            <a:endParaRPr lang="zh-TW" alt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9" y="2453952"/>
            <a:ext cx="9072585" cy="270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23528" y="515719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Eg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If series A is NN of series B, and series C is NN of series B.</a:t>
            </a:r>
          </a:p>
          <a:p>
            <a:r>
              <a:rPr lang="en-US" altLang="zh-TW" dirty="0" smtClean="0"/>
              <a:t>Then B is first order NN of series A,</a:t>
            </a:r>
            <a:r>
              <a:rPr lang="zh-TW" altLang="en-US" dirty="0" smtClean="0"/>
              <a:t> </a:t>
            </a:r>
            <a:r>
              <a:rPr lang="en-US" altLang="zh-TW" dirty="0" smtClean="0"/>
              <a:t>C is first order NN of series B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C is second order NN of series A.</a:t>
            </a:r>
          </a:p>
        </p:txBody>
      </p:sp>
    </p:spTree>
    <p:extLst>
      <p:ext uri="{BB962C8B-B14F-4D97-AF65-F5344CB8AC3E}">
        <p14:creationId xmlns:p14="http://schemas.microsoft.com/office/powerpoint/2010/main" val="179644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899592" y="260648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Reduction rate</a:t>
            </a:r>
            <a:r>
              <a:rPr lang="en-US" altLang="zh-TW" sz="2400" dirty="0" smtClean="0"/>
              <a:t>: size of candidate set/ size of data set</a:t>
            </a:r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Error rate</a:t>
            </a:r>
            <a:r>
              <a:rPr lang="en-US" altLang="zh-TW" sz="2400" dirty="0" smtClean="0"/>
              <a:t>: ratio of number of misclassified objects</a:t>
            </a:r>
            <a:endParaRPr lang="zh-TW" alt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124744"/>
            <a:ext cx="8576593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86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Hierarchical clustering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2332856"/>
          </a:xfrm>
        </p:spPr>
        <p:txBody>
          <a:bodyPr>
            <a:normAutofit lnSpcReduction="10000"/>
          </a:bodyPr>
          <a:lstStyle/>
          <a:p>
            <a:r>
              <a:rPr lang="en-US" altLang="zh-TW" b="1" dirty="0" err="1" smtClean="0">
                <a:solidFill>
                  <a:srgbClr val="FF0000"/>
                </a:solidFill>
              </a:rPr>
              <a:t>Aggomerative</a:t>
            </a:r>
            <a:r>
              <a:rPr lang="en-US" altLang="zh-TW" b="1" dirty="0" smtClean="0">
                <a:solidFill>
                  <a:srgbClr val="FF0000"/>
                </a:solidFill>
              </a:rPr>
              <a:t> method</a:t>
            </a:r>
            <a:r>
              <a:rPr lang="en-US" altLang="zh-TW" dirty="0" smtClean="0"/>
              <a:t>: starts by placing each object in its own cluster and then merges these atomic clusters into larger clusters, until all objects are in a single cluster or until certain termination condition.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645024"/>
            <a:ext cx="7848872" cy="319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917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0" y="199859"/>
            <a:ext cx="8892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altLang="zh-TW" sz="3200" dirty="0" smtClean="0"/>
              <a:t>Distance measure (for series): DTW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zh-TW" sz="3200" dirty="0" smtClean="0"/>
              <a:t>Distance measure (for clusters</a:t>
            </a:r>
            <a:r>
              <a:rPr lang="en-US" altLang="zh-TW" sz="3200" dirty="0" smtClean="0"/>
              <a:t>)</a:t>
            </a:r>
            <a:br>
              <a:rPr lang="en-US" altLang="zh-TW" sz="3200" dirty="0" smtClean="0"/>
            </a:br>
            <a:r>
              <a:rPr lang="en-US" altLang="zh-TW" sz="3200" dirty="0" smtClean="0"/>
              <a:t>(</a:t>
            </a:r>
            <a:r>
              <a:rPr lang="en-US" altLang="zh-TW" sz="3200" dirty="0" smtClean="0"/>
              <a:t>two </a:t>
            </a:r>
            <a:r>
              <a:rPr lang="en-US" altLang="zh-TW" sz="3200" dirty="0" err="1" smtClean="0"/>
              <a:t>clusters中</a:t>
            </a:r>
            <a:r>
              <a:rPr lang="en-US" altLang="zh-TW" sz="3200" dirty="0" smtClean="0"/>
              <a:t> ,</a:t>
            </a:r>
            <a:r>
              <a:rPr lang="en-US" altLang="zh-TW" sz="3200" dirty="0" err="1" smtClean="0"/>
              <a:t>任意兩點距離的平均值</a:t>
            </a:r>
            <a:r>
              <a:rPr lang="en-US" altLang="zh-TW" sz="3200" dirty="0" smtClean="0"/>
              <a:t>):</a:t>
            </a:r>
            <a:endParaRPr lang="zh-TW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264" y="1670284"/>
            <a:ext cx="4139952" cy="1088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56" y="3091623"/>
            <a:ext cx="6732096" cy="3865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4352"/>
            <a:ext cx="2828083" cy="487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049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Clustering results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D9C8-CA99-49E7-AD5F-EB4F3C290F1F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07184"/>
            <a:ext cx="7416824" cy="5523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964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442758" y="431515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 dirty="0" smtClean="0"/>
              <a:t>Thank you!!</a:t>
            </a:r>
            <a:endParaRPr lang="zh-TW" altLang="en-US" sz="9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2D449-FE15-4C98-AE90-32963C8A7493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162611"/>
            <a:ext cx="3967379" cy="396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0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1146</Words>
  <Application>Microsoft Office PowerPoint</Application>
  <PresentationFormat>如螢幕大小 (4:3)</PresentationFormat>
  <Paragraphs>349</Paragraphs>
  <Slides>24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6" baseType="lpstr">
      <vt:lpstr>Office 佈景主題</vt:lpstr>
      <vt:lpstr>Visio</vt:lpstr>
      <vt:lpstr>A novel clustering method on time series data</vt:lpstr>
      <vt:lpstr>Abstract (1)</vt:lpstr>
      <vt:lpstr>Abstract (2)</vt:lpstr>
      <vt:lpstr>Introduction</vt:lpstr>
      <vt:lpstr>Introduction (2)</vt:lpstr>
      <vt:lpstr>Introduction (3)</vt:lpstr>
      <vt:lpstr>Time series clustering</vt:lpstr>
      <vt:lpstr>Similarity/distance measures (1)</vt:lpstr>
      <vt:lpstr>Similarity/distance measures (2)</vt:lpstr>
      <vt:lpstr>PowerPoint 簡報</vt:lpstr>
      <vt:lpstr>PowerPoint 簡報</vt:lpstr>
      <vt:lpstr>Experiment data (1)</vt:lpstr>
      <vt:lpstr>PowerPoint 簡報</vt:lpstr>
      <vt:lpstr>Experiment data (2)</vt:lpstr>
      <vt:lpstr>Experiment data (3)</vt:lpstr>
      <vt:lpstr>One-nearest neighbor network</vt:lpstr>
      <vt:lpstr>In-degree distribution of 1NN network</vt:lpstr>
      <vt:lpstr>50 graphs for confirming distribution </vt:lpstr>
      <vt:lpstr>Choosing candidates for clustering</vt:lpstr>
      <vt:lpstr>PowerPoint 簡報</vt:lpstr>
      <vt:lpstr>Hierarchical clustering</vt:lpstr>
      <vt:lpstr>PowerPoint 簡報</vt:lpstr>
      <vt:lpstr>Clustering results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novel clustering method on time series data</dc:title>
  <dc:creator>chenhh</dc:creator>
  <cp:lastModifiedBy>chenhh</cp:lastModifiedBy>
  <cp:revision>123</cp:revision>
  <dcterms:created xsi:type="dcterms:W3CDTF">2011-12-21T13:21:22Z</dcterms:created>
  <dcterms:modified xsi:type="dcterms:W3CDTF">2012-12-10T08:58:22Z</dcterms:modified>
</cp:coreProperties>
</file>