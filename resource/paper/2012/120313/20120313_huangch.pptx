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4" r:id="rId5"/>
    <p:sldId id="265" r:id="rId6"/>
    <p:sldId id="260" r:id="rId7"/>
    <p:sldId id="261" r:id="rId8"/>
    <p:sldId id="266" r:id="rId9"/>
    <p:sldId id="267" r:id="rId10"/>
    <p:sldId id="272" r:id="rId11"/>
    <p:sldId id="273" r:id="rId12"/>
    <p:sldId id="268" r:id="rId13"/>
    <p:sldId id="269" r:id="rId14"/>
    <p:sldId id="270" r:id="rId15"/>
    <p:sldId id="271" r:id="rId16"/>
    <p:sldId id="274" r:id="rId1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57" autoAdjust="0"/>
    <p:restoredTop sz="94660"/>
  </p:normalViewPr>
  <p:slideViewPr>
    <p:cSldViewPr>
      <p:cViewPr varScale="1">
        <p:scale>
          <a:sx n="83" d="100"/>
          <a:sy n="83" d="100"/>
        </p:scale>
        <p:origin x="-1421"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81CECA-063E-40D8-95CD-07D7AF5B7AB0}" type="datetimeFigureOut">
              <a:rPr lang="zh-TW" altLang="en-US" smtClean="0"/>
              <a:t>2012/3/13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3F6FB6-142F-4502-AF3B-37B2CA809D87}" type="slidenum">
              <a:rPr lang="zh-TW" altLang="en-US" smtClean="0"/>
              <a:t>‹#›</a:t>
            </a:fld>
            <a:endParaRPr lang="zh-TW" altLang="en-US"/>
          </a:p>
        </p:txBody>
      </p:sp>
    </p:spTree>
    <p:extLst>
      <p:ext uri="{BB962C8B-B14F-4D97-AF65-F5344CB8AC3E}">
        <p14:creationId xmlns:p14="http://schemas.microsoft.com/office/powerpoint/2010/main" val="4227632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C3F6FB6-142F-4502-AF3B-37B2CA809D87}" type="slidenum">
              <a:rPr lang="zh-TW" altLang="en-US" smtClean="0"/>
              <a:t>16</a:t>
            </a:fld>
            <a:endParaRPr lang="zh-TW" altLang="en-US"/>
          </a:p>
        </p:txBody>
      </p:sp>
    </p:spTree>
    <p:extLst>
      <p:ext uri="{BB962C8B-B14F-4D97-AF65-F5344CB8AC3E}">
        <p14:creationId xmlns:p14="http://schemas.microsoft.com/office/powerpoint/2010/main" val="415679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1664769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904345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1648572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251552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632211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4218813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3933273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3586007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1435346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1783601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B77B9A6-E2FC-4694-B366-A06DA0C938A9}" type="datetimeFigureOut">
              <a:rPr lang="zh-TW" altLang="en-US" smtClean="0"/>
              <a:t>2012/3/13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3230231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77B9A6-E2FC-4694-B366-A06DA0C938A9}" type="datetimeFigureOut">
              <a:rPr lang="zh-TW" altLang="en-US" smtClean="0"/>
              <a:t>2012/3/13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5EF8D9-AEA4-4BF5-B8CF-924FCA199209}" type="slidenum">
              <a:rPr lang="zh-TW" altLang="en-US" smtClean="0"/>
              <a:t>‹#›</a:t>
            </a:fld>
            <a:endParaRPr lang="zh-TW" altLang="en-US"/>
          </a:p>
        </p:txBody>
      </p:sp>
    </p:spTree>
    <p:extLst>
      <p:ext uri="{BB962C8B-B14F-4D97-AF65-F5344CB8AC3E}">
        <p14:creationId xmlns:p14="http://schemas.microsoft.com/office/powerpoint/2010/main" val="2257495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23528" y="1628800"/>
            <a:ext cx="8568952" cy="1470025"/>
          </a:xfrm>
        </p:spPr>
        <p:txBody>
          <a:bodyPr>
            <a:normAutofit fontScale="90000"/>
          </a:bodyPr>
          <a:lstStyle/>
          <a:p>
            <a:r>
              <a:rPr lang="en-US" altLang="zh-TW" dirty="0"/>
              <a:t>A hybrid procedure for stock </a:t>
            </a:r>
            <a:r>
              <a:rPr lang="en-US" altLang="zh-TW" dirty="0" smtClean="0"/>
              <a:t>price prediction </a:t>
            </a:r>
            <a:r>
              <a:rPr lang="en-US" altLang="zh-TW" dirty="0"/>
              <a:t>by integrating </a:t>
            </a:r>
            <a:r>
              <a:rPr lang="en-US" altLang="zh-TW" dirty="0" smtClean="0"/>
              <a:t/>
            </a:r>
            <a:br>
              <a:rPr lang="en-US" altLang="zh-TW" dirty="0" smtClean="0"/>
            </a:br>
            <a:r>
              <a:rPr lang="en-US" altLang="zh-TW" dirty="0" smtClean="0"/>
              <a:t>self-organizing map and </a:t>
            </a:r>
            <a:br>
              <a:rPr lang="en-US" altLang="zh-TW" dirty="0" smtClean="0"/>
            </a:br>
            <a:r>
              <a:rPr lang="en-US" altLang="zh-TW" dirty="0" smtClean="0"/>
              <a:t>genetic </a:t>
            </a:r>
            <a:r>
              <a:rPr lang="en-US" altLang="zh-TW" dirty="0"/>
              <a:t>programming</a:t>
            </a:r>
            <a:endParaRPr lang="zh-TW" altLang="en-US" dirty="0"/>
          </a:p>
        </p:txBody>
      </p:sp>
      <p:sp>
        <p:nvSpPr>
          <p:cNvPr id="3" name="副標題 2"/>
          <p:cNvSpPr>
            <a:spLocks noGrp="1"/>
          </p:cNvSpPr>
          <p:nvPr>
            <p:ph type="subTitle" idx="1"/>
          </p:nvPr>
        </p:nvSpPr>
        <p:spPr>
          <a:xfrm>
            <a:off x="395536" y="4052664"/>
            <a:ext cx="8136904" cy="1752600"/>
          </a:xfrm>
        </p:spPr>
        <p:txBody>
          <a:bodyPr>
            <a:normAutofit fontScale="77500" lnSpcReduction="20000"/>
          </a:bodyPr>
          <a:lstStyle/>
          <a:p>
            <a:pPr algn="r"/>
            <a:r>
              <a:rPr lang="en-US" altLang="zh-TW" dirty="0" err="1" smtClean="0"/>
              <a:t>Chih</a:t>
            </a:r>
            <a:r>
              <a:rPr lang="en-US" altLang="zh-TW" dirty="0" smtClean="0"/>
              <a:t>-Ming Hsu</a:t>
            </a:r>
          </a:p>
          <a:p>
            <a:pPr algn="r"/>
            <a:r>
              <a:rPr lang="en-US" altLang="zh-TW" dirty="0"/>
              <a:t>Expert Systems with Applications 38 (2011) </a:t>
            </a:r>
            <a:r>
              <a:rPr lang="en-US" altLang="zh-TW" dirty="0" smtClean="0"/>
              <a:t>14026–14036</a:t>
            </a:r>
          </a:p>
          <a:p>
            <a:pPr algn="r"/>
            <a:r>
              <a:rPr lang="en-US" altLang="zh-TW" dirty="0" smtClean="0"/>
              <a:t>Presenter : Chang-</a:t>
            </a:r>
            <a:r>
              <a:rPr lang="en-US" altLang="zh-TW" dirty="0" err="1" smtClean="0"/>
              <a:t>Hao</a:t>
            </a:r>
            <a:r>
              <a:rPr lang="en-US" altLang="zh-TW" dirty="0" smtClean="0"/>
              <a:t> Huang</a:t>
            </a:r>
          </a:p>
          <a:p>
            <a:pPr algn="r"/>
            <a:r>
              <a:rPr lang="en-US" altLang="zh-TW" dirty="0" smtClean="0"/>
              <a:t>Date : Mar. 5, 2012</a:t>
            </a:r>
            <a:endParaRPr lang="zh-TW" altLang="en-US" dirty="0" smtClean="0"/>
          </a:p>
          <a:p>
            <a:pPr algn="r"/>
            <a:endParaRPr lang="zh-TW" altLang="en-US" dirty="0"/>
          </a:p>
        </p:txBody>
      </p:sp>
    </p:spTree>
    <p:extLst>
      <p:ext uri="{BB962C8B-B14F-4D97-AF65-F5344CB8AC3E}">
        <p14:creationId xmlns:p14="http://schemas.microsoft.com/office/powerpoint/2010/main" val="40548400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Abstract(1/2)</a:t>
            </a:r>
            <a:endParaRPr lang="zh-TW" altLang="en-US" dirty="0"/>
          </a:p>
        </p:txBody>
      </p:sp>
      <p:sp>
        <p:nvSpPr>
          <p:cNvPr id="3" name="內容版面配置區 2"/>
          <p:cNvSpPr>
            <a:spLocks noGrp="1"/>
          </p:cNvSpPr>
          <p:nvPr>
            <p:ph idx="1"/>
          </p:nvPr>
        </p:nvSpPr>
        <p:spPr>
          <a:xfrm>
            <a:off x="467544" y="1340768"/>
            <a:ext cx="8229600" cy="4785395"/>
          </a:xfrm>
        </p:spPr>
        <p:txBody>
          <a:bodyPr>
            <a:noAutofit/>
          </a:bodyPr>
          <a:lstStyle/>
          <a:p>
            <a:pPr marL="0" indent="0">
              <a:buNone/>
            </a:pPr>
            <a:r>
              <a:rPr lang="en-US" altLang="zh-TW" sz="2200" dirty="0"/>
              <a:t>Stock price prediction is a very important financial topic, and is considered a challenging task and </a:t>
            </a:r>
            <a:r>
              <a:rPr lang="en-US" altLang="zh-TW" sz="2200" dirty="0" smtClean="0"/>
              <a:t>worthy of </a:t>
            </a:r>
            <a:r>
              <a:rPr lang="en-US" altLang="zh-TW" sz="2200" dirty="0"/>
              <a:t>the considerable attention received from both researchers and practitioners. Stock price series </a:t>
            </a:r>
            <a:r>
              <a:rPr lang="en-US" altLang="zh-TW" sz="2200" dirty="0" smtClean="0"/>
              <a:t>have properties </a:t>
            </a:r>
            <a:r>
              <a:rPr lang="en-US" altLang="zh-TW" sz="2200" dirty="0"/>
              <a:t>of high volatility, complexity, dynamics and turbulence, thus the implicit relationship </a:t>
            </a:r>
            <a:r>
              <a:rPr lang="en-US" altLang="zh-TW" sz="2200" dirty="0" smtClean="0"/>
              <a:t>between the </a:t>
            </a:r>
            <a:r>
              <a:rPr lang="en-US" altLang="zh-TW" sz="2200" dirty="0"/>
              <a:t>stock price and predictors is quite dynamic. Hence, it is difficult to tackle the stock price </a:t>
            </a:r>
            <a:r>
              <a:rPr lang="en-US" altLang="zh-TW" sz="2200" dirty="0" smtClean="0"/>
              <a:t>prediction problems </a:t>
            </a:r>
            <a:r>
              <a:rPr lang="en-US" altLang="zh-TW" sz="2200" dirty="0"/>
              <a:t>effectively by using only single soft computing technique. This study hybridizes a</a:t>
            </a:r>
            <a:r>
              <a:rPr lang="en-US" altLang="zh-TW" sz="2200" b="1" dirty="0"/>
              <a:t> </a:t>
            </a:r>
            <a:r>
              <a:rPr lang="en-US" altLang="zh-TW" sz="2200" b="1" dirty="0" smtClean="0"/>
              <a:t>self-organizing map </a:t>
            </a:r>
            <a:r>
              <a:rPr lang="en-US" altLang="zh-TW" sz="2200" b="1" dirty="0"/>
              <a:t>(SOM) </a:t>
            </a:r>
            <a:r>
              <a:rPr lang="en-US" altLang="zh-TW" sz="2200" dirty="0"/>
              <a:t>neural network and </a:t>
            </a:r>
            <a:r>
              <a:rPr lang="en-US" altLang="zh-TW" sz="2200" b="1" dirty="0"/>
              <a:t>genetic programming (GP) </a:t>
            </a:r>
            <a:r>
              <a:rPr lang="en-US" altLang="zh-TW" sz="2200" dirty="0"/>
              <a:t>to develop an integrated </a:t>
            </a:r>
            <a:r>
              <a:rPr lang="en-US" altLang="zh-TW" sz="2200" dirty="0" smtClean="0"/>
              <a:t>procedure, namely</a:t>
            </a:r>
            <a:r>
              <a:rPr lang="en-US" altLang="zh-TW" sz="2200" dirty="0"/>
              <a:t>, the </a:t>
            </a:r>
            <a:r>
              <a:rPr lang="en-US" altLang="zh-TW" sz="2200" b="1" dirty="0"/>
              <a:t>SOM-GP </a:t>
            </a:r>
            <a:r>
              <a:rPr lang="en-US" altLang="zh-TW" sz="2200" dirty="0"/>
              <a:t>procedure, in order to resolve problems inherent in stock price </a:t>
            </a:r>
            <a:r>
              <a:rPr lang="en-US" altLang="zh-TW" sz="2200" dirty="0" smtClean="0"/>
              <a:t>predictions. The </a:t>
            </a:r>
            <a:r>
              <a:rPr lang="en-US" altLang="zh-TW" sz="2200" dirty="0"/>
              <a:t>SOM neural network is utilized to divide the sample data into several clusters, in such a manner </a:t>
            </a:r>
            <a:r>
              <a:rPr lang="en-US" altLang="zh-TW" sz="2200" dirty="0" smtClean="0"/>
              <a:t>that the </a:t>
            </a:r>
            <a:r>
              <a:rPr lang="en-US" altLang="zh-TW" sz="2200" dirty="0"/>
              <a:t>objects within each cluster possess similar properties to each other, but differ from the objects </a:t>
            </a:r>
            <a:r>
              <a:rPr lang="en-US" altLang="zh-TW" sz="2200" dirty="0" smtClean="0"/>
              <a:t>in other </a:t>
            </a:r>
            <a:r>
              <a:rPr lang="en-US" altLang="zh-TW" sz="2200" dirty="0"/>
              <a:t>clusters. </a:t>
            </a:r>
            <a:endParaRPr lang="zh-TW" altLang="en-US" sz="2200" dirty="0"/>
          </a:p>
        </p:txBody>
      </p:sp>
    </p:spTree>
    <p:extLst>
      <p:ext uri="{BB962C8B-B14F-4D97-AF65-F5344CB8AC3E}">
        <p14:creationId xmlns:p14="http://schemas.microsoft.com/office/powerpoint/2010/main" val="12666657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a:xfrm>
            <a:off x="457200" y="1412776"/>
            <a:ext cx="8229600" cy="4713387"/>
          </a:xfrm>
        </p:spPr>
        <p:txBody>
          <a:bodyPr>
            <a:normAutofit/>
          </a:bodyPr>
          <a:lstStyle/>
          <a:p>
            <a:pPr marL="0" indent="0">
              <a:buNone/>
            </a:pPr>
            <a:r>
              <a:rPr lang="en-US" altLang="zh-TW" sz="2200" dirty="0" smtClean="0"/>
              <a:t>The GP technique is applied to construct a mathematical prediction model that describes the functional relationship between technical indicators and the closing price of</a:t>
            </a:r>
            <a:r>
              <a:rPr lang="zh-TW" altLang="en-US" sz="2200" dirty="0"/>
              <a:t> </a:t>
            </a:r>
            <a:r>
              <a:rPr lang="en-US" altLang="zh-TW" sz="2200" dirty="0" smtClean="0"/>
              <a:t>each cluster formed in the SOM neural network. The feasibility and effectiveness of the proposed hybrid SOM-GP prediction procedure are demonstrated through experiments aimed at predicting the finance and insurance sub-index of TAIEX (Taiwan stock exchange capitalization weighted stock index). Experimental results show that the proposed SOM-GP prediction procedure can be considered a feasible and effective tool for stock price predictions, as based on the overall prediction performance indices. Furthermore, it is found that the frequent and alternating rise and fall, as well as the range of daily closing prices during the period, significantly increase the difficulties of predicting.</a:t>
            </a:r>
            <a:endParaRPr lang="zh-TW" altLang="en-US" sz="2200" dirty="0" smtClean="0"/>
          </a:p>
          <a:p>
            <a:endParaRPr lang="zh-TW" altLang="en-US" sz="2200" dirty="0"/>
          </a:p>
        </p:txBody>
      </p:sp>
    </p:spTree>
    <p:extLst>
      <p:ext uri="{BB962C8B-B14F-4D97-AF65-F5344CB8AC3E}">
        <p14:creationId xmlns:p14="http://schemas.microsoft.com/office/powerpoint/2010/main" val="830357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SOM-GP procedure</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10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484784"/>
            <a:ext cx="4409110"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4646" y="1412776"/>
            <a:ext cx="4159842"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79995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282869"/>
            <a:ext cx="8643867" cy="481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54643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self-organizing map (SOM)</a:t>
            </a:r>
            <a:endParaRPr lang="zh-TW" altLang="en-US" dirty="0"/>
          </a:p>
        </p:txBody>
      </p:sp>
      <p:sp>
        <p:nvSpPr>
          <p:cNvPr id="3" name="內容版面配置區 2"/>
          <p:cNvSpPr>
            <a:spLocks noGrp="1"/>
          </p:cNvSpPr>
          <p:nvPr>
            <p:ph idx="1"/>
          </p:nvPr>
        </p:nvSpPr>
        <p:spPr/>
        <p:txBody>
          <a:bodyPr>
            <a:normAutofit/>
          </a:bodyPr>
          <a:lstStyle/>
          <a:p>
            <a:endParaRPr lang="zh-TW" altLang="en-US" sz="26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628800"/>
            <a:ext cx="5256584" cy="4536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5667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268760"/>
            <a:ext cx="5904656" cy="490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6165304"/>
            <a:ext cx="5167139" cy="463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79684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000" dirty="0" smtClean="0"/>
              <a:t>Index to measure the performance of clustering</a:t>
            </a:r>
            <a:endParaRPr lang="zh-TW" altLang="en-US" sz="3000" dirty="0"/>
          </a:p>
        </p:txBody>
      </p:sp>
      <p:sp>
        <p:nvSpPr>
          <p:cNvPr id="3" name="內容版面配置區 2"/>
          <p:cNvSpPr>
            <a:spLocks noGrp="1"/>
          </p:cNvSpPr>
          <p:nvPr>
            <p:ph idx="1"/>
          </p:nvPr>
        </p:nvSpPr>
        <p:spPr/>
        <p:txBody>
          <a:bodyPr/>
          <a:lstStyle/>
          <a:p>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832" y="1700808"/>
            <a:ext cx="4875288" cy="565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348880"/>
            <a:ext cx="4941983" cy="529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60" y="2996952"/>
            <a:ext cx="2191856"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4186760"/>
            <a:ext cx="8855742" cy="143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p:nvSpPr>
        <p:spPr>
          <a:xfrm>
            <a:off x="5940152" y="5445224"/>
            <a:ext cx="576064" cy="45719"/>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922867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TAIEX-FISI(1996/3/1 to 2009/9/17)</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556792"/>
            <a:ext cx="8208912" cy="4844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21987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700808"/>
            <a:ext cx="8064896"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9557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60648"/>
            <a:ext cx="8064896" cy="6261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8762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225320"/>
            <a:ext cx="8064896" cy="5066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89210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072" y="1124744"/>
            <a:ext cx="8136904" cy="5308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81159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124743"/>
            <a:ext cx="8352928" cy="5449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43409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5" y="1484784"/>
            <a:ext cx="9036496"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76463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Technical indicators</a:t>
            </a:r>
            <a:endParaRPr lang="zh-TW" altLang="en-US" dirty="0"/>
          </a:p>
        </p:txBody>
      </p:sp>
      <p:sp>
        <p:nvSpPr>
          <p:cNvPr id="3" name="內容版面配置區 2"/>
          <p:cNvSpPr>
            <a:spLocks noGrp="1"/>
          </p:cNvSpPr>
          <p:nvPr>
            <p:ph idx="1"/>
          </p:nvPr>
        </p:nvSpPr>
        <p:spPr>
          <a:xfrm>
            <a:off x="457200" y="1412776"/>
            <a:ext cx="8229600" cy="4968552"/>
          </a:xfrm>
        </p:spPr>
        <p:txBody>
          <a:bodyPr>
            <a:normAutofit fontScale="62500" lnSpcReduction="20000"/>
          </a:bodyPr>
          <a:lstStyle/>
          <a:p>
            <a:r>
              <a:rPr lang="en-US" altLang="zh-TW" dirty="0" smtClean="0"/>
              <a:t>MA_10 (10-day moving average)</a:t>
            </a:r>
          </a:p>
          <a:p>
            <a:r>
              <a:rPr lang="en-US" altLang="zh-TW" dirty="0" smtClean="0"/>
              <a:t>BIAS_20 (20-day bias )</a:t>
            </a:r>
          </a:p>
          <a:p>
            <a:r>
              <a:rPr lang="en-US" altLang="zh-TW" dirty="0" smtClean="0"/>
              <a:t>MACD (moving average convergence  divergence )</a:t>
            </a:r>
          </a:p>
          <a:p>
            <a:r>
              <a:rPr lang="en-US" altLang="zh-TW" dirty="0" smtClean="0"/>
              <a:t>K_9 (9-day stochastic indicator K )</a:t>
            </a:r>
            <a:endParaRPr lang="en-US" altLang="zh-TW" dirty="0"/>
          </a:p>
          <a:p>
            <a:r>
              <a:rPr lang="en-US" altLang="zh-TW" dirty="0" smtClean="0"/>
              <a:t>D_9 (9-day stochastic indicator D)</a:t>
            </a:r>
          </a:p>
          <a:p>
            <a:r>
              <a:rPr lang="en-US" altLang="zh-TW" dirty="0" smtClean="0"/>
              <a:t>WMS%R_9 (9-day Williams overbought oversold index )</a:t>
            </a:r>
          </a:p>
          <a:p>
            <a:r>
              <a:rPr lang="en-US" altLang="zh-TW" dirty="0" smtClean="0"/>
              <a:t>+DI_14 (14-day plus directional indicator)</a:t>
            </a:r>
          </a:p>
          <a:p>
            <a:r>
              <a:rPr lang="en-US" altLang="zh-TW" dirty="0" smtClean="0"/>
              <a:t>-DI_14  (14-day minus directional indicator )</a:t>
            </a:r>
          </a:p>
          <a:p>
            <a:r>
              <a:rPr lang="en-US" altLang="zh-TW" dirty="0" smtClean="0"/>
              <a:t>MTM_10 (10-day momentum )</a:t>
            </a:r>
          </a:p>
          <a:p>
            <a:r>
              <a:rPr lang="en-US" altLang="zh-TW" dirty="0" smtClean="0"/>
              <a:t>ROC_10 (10-day rate of change )</a:t>
            </a:r>
          </a:p>
          <a:p>
            <a:r>
              <a:rPr lang="en-US" altLang="zh-TW" dirty="0" smtClean="0"/>
              <a:t>RSI_5 (5-day relative strength index )</a:t>
            </a:r>
          </a:p>
          <a:p>
            <a:r>
              <a:rPr lang="en-US" altLang="zh-TW" dirty="0" smtClean="0"/>
              <a:t>CCI_24 (24-day commodity channel index )</a:t>
            </a:r>
          </a:p>
          <a:p>
            <a:r>
              <a:rPr lang="en-US" altLang="zh-TW" dirty="0" smtClean="0"/>
              <a:t>AR_26 (26-day buying/selling momentum indicator )</a:t>
            </a:r>
            <a:endParaRPr lang="en-US" altLang="zh-TW" dirty="0"/>
          </a:p>
          <a:p>
            <a:r>
              <a:rPr lang="en-US" altLang="zh-TW" dirty="0" smtClean="0"/>
              <a:t>BR_26 (26-day buying/selling willingness indicator)</a:t>
            </a:r>
          </a:p>
          <a:p>
            <a:r>
              <a:rPr lang="en-US" altLang="zh-TW" dirty="0" smtClean="0"/>
              <a:t>26-day volume ratio </a:t>
            </a:r>
            <a:r>
              <a:rPr lang="en-US" altLang="zh-TW" dirty="0"/>
              <a:t>(</a:t>
            </a:r>
            <a:r>
              <a:rPr lang="en-US" altLang="zh-TW" dirty="0" smtClean="0"/>
              <a:t>VR_26)</a:t>
            </a:r>
          </a:p>
          <a:p>
            <a:r>
              <a:rPr lang="en-US" altLang="zh-TW" dirty="0" smtClean="0"/>
              <a:t>PSY_13 (13-day psychological line )</a:t>
            </a:r>
            <a:endParaRPr lang="zh-TW" altLang="en-US" dirty="0"/>
          </a:p>
        </p:txBody>
      </p:sp>
    </p:spTree>
    <p:extLst>
      <p:ext uri="{BB962C8B-B14F-4D97-AF65-F5344CB8AC3E}">
        <p14:creationId xmlns:p14="http://schemas.microsoft.com/office/powerpoint/2010/main" val="2316075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1400</TotalTime>
  <Words>458</Words>
  <Application>Microsoft Office PowerPoint</Application>
  <PresentationFormat>如螢幕大小 (4:3)</PresentationFormat>
  <Paragraphs>33</Paragraphs>
  <Slides>16</Slides>
  <Notes>1</Notes>
  <HiddenSlides>0</HiddenSlides>
  <MMClips>0</MMClips>
  <ScaleCrop>false</ScaleCrop>
  <HeadingPairs>
    <vt:vector size="4" baseType="variant">
      <vt:variant>
        <vt:lpstr>佈景主題</vt:lpstr>
      </vt:variant>
      <vt:variant>
        <vt:i4>1</vt:i4>
      </vt:variant>
      <vt:variant>
        <vt:lpstr>投影片標題</vt:lpstr>
      </vt:variant>
      <vt:variant>
        <vt:i4>16</vt:i4>
      </vt:variant>
    </vt:vector>
  </HeadingPairs>
  <TitlesOfParts>
    <vt:vector size="17" baseType="lpstr">
      <vt:lpstr>Office 佈景主題</vt:lpstr>
      <vt:lpstr>A hybrid procedure for stock price prediction by integrating  self-organizing map and  genetic programming</vt:lpstr>
      <vt:lpstr>Abstract(1/2)</vt:lpstr>
      <vt:lpstr>Abstract(2/2)</vt:lpstr>
      <vt:lpstr>SOM-GP procedure</vt:lpstr>
      <vt:lpstr>PowerPoint 簡報</vt:lpstr>
      <vt:lpstr>self-organizing map (SOM)</vt:lpstr>
      <vt:lpstr>algorithm</vt:lpstr>
      <vt:lpstr>Index to measure the performance of clustering</vt:lpstr>
      <vt:lpstr>TAIEX-FISI(1996/3/1 to 2009/9/17)</vt:lpstr>
      <vt:lpstr>PowerPoint 簡報</vt:lpstr>
      <vt:lpstr>PowerPoint 簡報</vt:lpstr>
      <vt:lpstr>PowerPoint 簡報</vt:lpstr>
      <vt:lpstr>PowerPoint 簡報</vt:lpstr>
      <vt:lpstr>PowerPoint 簡報</vt:lpstr>
      <vt:lpstr>Result</vt:lpstr>
      <vt:lpstr>Technical indicators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hybrid procedure for stock price prediction by integrating  self-organizing map and  genetic programming</dc:title>
  <dc:creator>HCH</dc:creator>
  <cp:lastModifiedBy>HCH</cp:lastModifiedBy>
  <cp:revision>18</cp:revision>
  <dcterms:created xsi:type="dcterms:W3CDTF">2012-03-05T13:36:58Z</dcterms:created>
  <dcterms:modified xsi:type="dcterms:W3CDTF">2012-03-13T08:49:47Z</dcterms:modified>
</cp:coreProperties>
</file>