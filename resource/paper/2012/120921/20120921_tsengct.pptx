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7" r:id="rId4"/>
    <p:sldId id="259" r:id="rId5"/>
    <p:sldId id="260" r:id="rId6"/>
    <p:sldId id="274" r:id="rId7"/>
    <p:sldId id="261" r:id="rId8"/>
    <p:sldId id="263" r:id="rId9"/>
    <p:sldId id="264" r:id="rId10"/>
    <p:sldId id="262" r:id="rId11"/>
    <p:sldId id="265" r:id="rId12"/>
    <p:sldId id="266" r:id="rId13"/>
    <p:sldId id="269" r:id="rId14"/>
    <p:sldId id="268" r:id="rId15"/>
    <p:sldId id="267" r:id="rId16"/>
    <p:sldId id="270" r:id="rId17"/>
    <p:sldId id="271" r:id="rId18"/>
    <p:sldId id="272" r:id="rId19"/>
    <p:sldId id="273" r:id="rId20"/>
    <p:sldId id="275" r:id="rId21"/>
    <p:sldId id="276" r:id="rId22"/>
    <p:sldId id="279" r:id="rId23"/>
    <p:sldId id="278" r:id="rId24"/>
    <p:sldId id="280" r:id="rId25"/>
    <p:sldId id="281" r:id="rId26"/>
    <p:sldId id="282" r:id="rId27"/>
    <p:sldId id="277" r:id="rId2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739835-057D-4B8C-AEB7-D939948E670E}" type="datetimeFigureOut">
              <a:rPr lang="zh-TW" altLang="en-US" smtClean="0"/>
              <a:pPr/>
              <a:t>2012/9/21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2E0E60-6EFC-4517-8CE6-FCC2924B149C}" type="slidenum">
              <a:rPr lang="zh-TW" altLang="en-US" smtClean="0"/>
              <a:pPr/>
              <a:t>‹#›</a:t>
            </a:fld>
            <a:endParaRPr lang="zh-TW" altLang="en-US"/>
          </a:p>
        </p:txBody>
      </p:sp>
    </p:spTree>
    <p:extLst>
      <p:ext uri="{BB962C8B-B14F-4D97-AF65-F5344CB8AC3E}">
        <p14:creationId xmlns:p14="http://schemas.microsoft.com/office/powerpoint/2010/main" xmlns="" val="363671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85AF763-4061-4A9F-B6A8-41914D01E986}" type="datetime1">
              <a:rPr lang="zh-TW" altLang="en-US" smtClean="0"/>
              <a:pPr/>
              <a:t>2012/9/21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3397207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9074824-5270-4CC6-A4FE-26AC8A3BD330}" type="datetime1">
              <a:rPr lang="zh-TW" altLang="en-US" smtClean="0"/>
              <a:pPr/>
              <a:t>2012/9/21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1231204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1B060F5-C5C8-4E8B-A5E0-7E6DBAF3CE10}" type="datetime1">
              <a:rPr lang="zh-TW" altLang="en-US" smtClean="0"/>
              <a:pPr/>
              <a:t>2012/9/21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3465402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3A0545B-4A1A-4087-A7B8-55D9A5D32C38}" type="datetime1">
              <a:rPr lang="zh-TW" altLang="en-US" smtClean="0"/>
              <a:pPr/>
              <a:t>2012/9/21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740797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1C893616-468A-4253-8395-C19B38BBED8A}" type="datetime1">
              <a:rPr lang="zh-TW" altLang="en-US" smtClean="0"/>
              <a:pPr/>
              <a:t>2012/9/21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51005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A53B30F-78FB-4207-9ACE-053BA7C17E11}" type="datetime1">
              <a:rPr lang="zh-TW" altLang="en-US" smtClean="0"/>
              <a:pPr/>
              <a:t>2012/9/21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1179617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32E61D9-27CB-4545-B74C-133CB1076E16}" type="datetime1">
              <a:rPr lang="zh-TW" altLang="en-US" smtClean="0"/>
              <a:pPr/>
              <a:t>2012/9/21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3421642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507269D-FFCC-4A43-A393-D87C083EDE3A}" type="datetime1">
              <a:rPr lang="zh-TW" altLang="en-US" smtClean="0"/>
              <a:pPr/>
              <a:t>2012/9/21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2936954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EF3768C-C6F8-4D8F-8C51-D22E2D02F2D7}" type="datetime1">
              <a:rPr lang="zh-TW" altLang="en-US" smtClean="0"/>
              <a:pPr/>
              <a:t>2012/9/21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9302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C3FD445-AB91-4019-A301-C0D072EFAE79}" type="datetime1">
              <a:rPr lang="zh-TW" altLang="en-US" smtClean="0"/>
              <a:pPr/>
              <a:t>2012/9/21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2919055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AF2AAF5-A8C4-46E6-ABAF-03A8F0E5488A}" type="datetime1">
              <a:rPr lang="zh-TW" altLang="en-US" smtClean="0"/>
              <a:pPr/>
              <a:t>2012/9/21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788111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2A661-8973-4CBA-9AAD-E4528BB8EC6B}" type="datetime1">
              <a:rPr lang="zh-TW" altLang="en-US" smtClean="0"/>
              <a:pPr/>
              <a:t>2012/9/21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3921D-9606-4564-A426-6145AEB5FF2C}" type="slidenum">
              <a:rPr lang="zh-TW" altLang="en-US" smtClean="0"/>
              <a:pPr/>
              <a:t>‹#›</a:t>
            </a:fld>
            <a:endParaRPr lang="zh-TW" altLang="en-US"/>
          </a:p>
        </p:txBody>
      </p:sp>
    </p:spTree>
    <p:extLst>
      <p:ext uri="{BB962C8B-B14F-4D97-AF65-F5344CB8AC3E}">
        <p14:creationId xmlns:p14="http://schemas.microsoft.com/office/powerpoint/2010/main" xmlns="" val="1926648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oleObject" Target="file:///C:\Documents%20and%20Settings\chuck\&#26700;&#38754;\&#32362;&#22294;1\Drawing\~&#38913;-1\&#22291;&#24418;"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600" dirty="0" smtClean="0"/>
              <a:t>Computing Constrained </a:t>
            </a:r>
            <a:r>
              <a:rPr lang="en-US" altLang="zh-TW" sz="3600" dirty="0"/>
              <a:t>L</a:t>
            </a:r>
            <a:r>
              <a:rPr lang="en-US" altLang="zh-TW" sz="3600" dirty="0" smtClean="0"/>
              <a:t>ongest </a:t>
            </a:r>
            <a:r>
              <a:rPr lang="en-US" altLang="zh-TW" sz="3600" dirty="0"/>
              <a:t>C</a:t>
            </a:r>
            <a:r>
              <a:rPr lang="en-US" altLang="zh-TW" sz="3600" dirty="0" smtClean="0"/>
              <a:t>ommon </a:t>
            </a:r>
            <a:r>
              <a:rPr lang="en-US" altLang="zh-TW" sz="3600" dirty="0"/>
              <a:t>S</a:t>
            </a:r>
            <a:r>
              <a:rPr lang="en-US" altLang="zh-TW" sz="3600" dirty="0" smtClean="0"/>
              <a:t>ubsequence for Degenerate </a:t>
            </a:r>
            <a:r>
              <a:rPr lang="en-US" altLang="zh-TW" sz="3600" dirty="0"/>
              <a:t>S</a:t>
            </a:r>
            <a:r>
              <a:rPr lang="en-US" altLang="zh-TW" sz="3600" dirty="0" smtClean="0"/>
              <a:t>trings </a:t>
            </a:r>
            <a:r>
              <a:rPr lang="en-US" altLang="zh-TW" sz="3600" dirty="0" smtClean="0"/>
              <a:t>U</a:t>
            </a:r>
            <a:r>
              <a:rPr lang="en-US" altLang="zh-TW" sz="3600" dirty="0" smtClean="0"/>
              <a:t>sing </a:t>
            </a:r>
            <a:r>
              <a:rPr lang="en-US" altLang="zh-TW" sz="3600" dirty="0" smtClean="0"/>
              <a:t>Finite </a:t>
            </a:r>
            <a:r>
              <a:rPr lang="en-US" altLang="zh-TW" sz="3600" dirty="0"/>
              <a:t>A</a:t>
            </a:r>
            <a:r>
              <a:rPr lang="en-US" altLang="zh-TW" sz="3600" dirty="0" smtClean="0"/>
              <a:t>utomata</a:t>
            </a:r>
            <a:endParaRPr lang="zh-TW" altLang="en-US" sz="3600" dirty="0"/>
          </a:p>
        </p:txBody>
      </p:sp>
      <p:sp>
        <p:nvSpPr>
          <p:cNvPr id="3" name="副標題 2"/>
          <p:cNvSpPr>
            <a:spLocks noGrp="1"/>
          </p:cNvSpPr>
          <p:nvPr>
            <p:ph type="subTitle" idx="1"/>
          </p:nvPr>
        </p:nvSpPr>
        <p:spPr/>
        <p:txBody>
          <a:bodyPr>
            <a:normAutofit fontScale="62500" lnSpcReduction="20000"/>
          </a:bodyPr>
          <a:lstStyle/>
          <a:p>
            <a:r>
              <a:rPr lang="en-US" altLang="zh-TW" dirty="0" smtClean="0">
                <a:effectLst/>
              </a:rPr>
              <a:t>Costas S. Iliopoulos, M. </a:t>
            </a:r>
            <a:r>
              <a:rPr lang="en-US" altLang="zh-TW" dirty="0" err="1" smtClean="0">
                <a:effectLst/>
              </a:rPr>
              <a:t>Sohel</a:t>
            </a:r>
            <a:r>
              <a:rPr lang="en-US" altLang="zh-TW" dirty="0" smtClean="0">
                <a:effectLst/>
              </a:rPr>
              <a:t> </a:t>
            </a:r>
            <a:r>
              <a:rPr lang="en-US" altLang="zh-TW" dirty="0" err="1" smtClean="0">
                <a:effectLst/>
              </a:rPr>
              <a:t>Rahman</a:t>
            </a:r>
            <a:r>
              <a:rPr lang="en-US" altLang="zh-TW" dirty="0" smtClean="0">
                <a:effectLst/>
              </a:rPr>
              <a:t>, Michal </a:t>
            </a:r>
            <a:r>
              <a:rPr lang="en-US" altLang="zh-TW" dirty="0" err="1" smtClean="0">
                <a:effectLst/>
              </a:rPr>
              <a:t>Voracek</a:t>
            </a:r>
            <a:r>
              <a:rPr lang="en-US" altLang="zh-TW" dirty="0" smtClean="0">
                <a:effectLst/>
              </a:rPr>
              <a:t>, and </a:t>
            </a:r>
            <a:r>
              <a:rPr lang="en-US" altLang="zh-TW" dirty="0" err="1" smtClean="0">
                <a:effectLst/>
              </a:rPr>
              <a:t>Ladislav</a:t>
            </a:r>
            <a:r>
              <a:rPr lang="en-US" altLang="zh-TW" dirty="0" smtClean="0">
                <a:effectLst/>
              </a:rPr>
              <a:t> </a:t>
            </a:r>
            <a:r>
              <a:rPr lang="en-US" altLang="zh-TW" dirty="0" err="1" smtClean="0">
                <a:effectLst/>
              </a:rPr>
              <a:t>Vagner</a:t>
            </a:r>
            <a:endParaRPr lang="en-US" altLang="zh-TW" dirty="0" smtClean="0">
              <a:effectLst/>
            </a:endParaRPr>
          </a:p>
          <a:p>
            <a:r>
              <a:rPr lang="en-US" altLang="zh-TW" dirty="0" smtClean="0"/>
              <a:t>In Algorithms and Complexity in Durham 2007. London: King's College, 2007, Vol. 1, pp. 94–106</a:t>
            </a:r>
          </a:p>
          <a:p>
            <a:r>
              <a:rPr lang="en-US" altLang="zh-TW" dirty="0" smtClean="0"/>
              <a:t>Presenter: </a:t>
            </a:r>
            <a:r>
              <a:rPr lang="en-US" altLang="zh-TW" dirty="0" err="1" smtClean="0"/>
              <a:t>Chiou</a:t>
            </a:r>
            <a:r>
              <a:rPr lang="en-US" altLang="zh-TW" dirty="0" smtClean="0"/>
              <a:t>-Ting Tseng</a:t>
            </a:r>
          </a:p>
          <a:p>
            <a:r>
              <a:rPr lang="en-US" altLang="zh-TW" dirty="0" smtClean="0"/>
              <a:t>Date: Sept. 21, 2012</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1</a:t>
            </a:fld>
            <a:endParaRPr lang="zh-TW" altLang="en-US"/>
          </a:p>
        </p:txBody>
      </p:sp>
    </p:spTree>
    <p:extLst>
      <p:ext uri="{BB962C8B-B14F-4D97-AF65-F5344CB8AC3E}">
        <p14:creationId xmlns:p14="http://schemas.microsoft.com/office/powerpoint/2010/main" xmlns="" val="2274930244"/>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The Constrained Longest Common Subsequence Problem for Degenerate Strings</a:t>
            </a:r>
            <a:endParaRPr lang="zh-TW" altLang="en-US" dirty="0"/>
          </a:p>
        </p:txBody>
      </p:sp>
      <p:sp>
        <p:nvSpPr>
          <p:cNvPr id="3" name="副標題 2"/>
          <p:cNvSpPr>
            <a:spLocks noGrp="1"/>
          </p:cNvSpPr>
          <p:nvPr>
            <p:ph type="subTitle" idx="1"/>
          </p:nvPr>
        </p:nvSpPr>
        <p:spPr/>
        <p:txBody>
          <a:bodyPr>
            <a:normAutofit fontScale="77500" lnSpcReduction="20000"/>
          </a:bodyPr>
          <a:lstStyle/>
          <a:p>
            <a:r>
              <a:rPr lang="en-US" altLang="zh-TW" dirty="0" smtClean="0"/>
              <a:t>Costas Iliopoulos, M. </a:t>
            </a:r>
            <a:r>
              <a:rPr lang="en-US" altLang="zh-TW" dirty="0" err="1" smtClean="0"/>
              <a:t>Sohel</a:t>
            </a:r>
            <a:r>
              <a:rPr lang="en-US" altLang="zh-TW" dirty="0" smtClean="0"/>
              <a:t> </a:t>
            </a:r>
            <a:r>
              <a:rPr lang="en-US" altLang="zh-TW" dirty="0" err="1" smtClean="0"/>
              <a:t>Rahman</a:t>
            </a:r>
            <a:r>
              <a:rPr lang="en-US" altLang="zh-TW" dirty="0" smtClean="0"/>
              <a:t>, Michal </a:t>
            </a:r>
            <a:r>
              <a:rPr lang="en-US" altLang="zh-TW" dirty="0" err="1" smtClean="0"/>
              <a:t>Voráček</a:t>
            </a:r>
            <a:r>
              <a:rPr lang="en-US" altLang="zh-TW" dirty="0" smtClean="0"/>
              <a:t> and </a:t>
            </a:r>
            <a:r>
              <a:rPr lang="en-US" altLang="zh-TW" dirty="0" err="1" smtClean="0"/>
              <a:t>Ladislav</a:t>
            </a:r>
            <a:r>
              <a:rPr lang="en-US" altLang="zh-TW" dirty="0" smtClean="0"/>
              <a:t> </a:t>
            </a:r>
            <a:r>
              <a:rPr lang="en-US" altLang="zh-TW" dirty="0" err="1" smtClean="0"/>
              <a:t>Vagner</a:t>
            </a:r>
            <a:endParaRPr lang="en-US" altLang="zh-TW" dirty="0" smtClean="0"/>
          </a:p>
          <a:p>
            <a:r>
              <a:rPr lang="en-US" altLang="zh-TW" dirty="0" smtClean="0"/>
              <a:t>Proceedings of the 12th international conference on Implementation and application of automata, pp. 309-311</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2</a:t>
            </a:fld>
            <a:endParaRPr lang="zh-TW" altLang="en-US"/>
          </a:p>
        </p:txBody>
      </p:sp>
    </p:spTree>
    <p:extLst>
      <p:ext uri="{BB962C8B-B14F-4D97-AF65-F5344CB8AC3E}">
        <p14:creationId xmlns:p14="http://schemas.microsoft.com/office/powerpoint/2010/main" xmlns="" val="3800236970"/>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Autofit/>
          </a:bodyPr>
          <a:lstStyle/>
          <a:p>
            <a:r>
              <a:rPr lang="en-US" altLang="zh-TW" sz="2700" dirty="0" smtClean="0"/>
              <a:t>In this paper, we study the Constrained Longest Common Subsequence (CLCS) problem for </a:t>
            </a:r>
            <a:r>
              <a:rPr lang="en-US" altLang="zh-TW" sz="2700" dirty="0" smtClean="0">
                <a:solidFill>
                  <a:srgbClr val="FF0000"/>
                </a:solidFill>
              </a:rPr>
              <a:t>degenerate</a:t>
            </a:r>
            <a:r>
              <a:rPr lang="en-US" altLang="zh-TW" sz="2700" dirty="0" smtClean="0"/>
              <a:t> strings, which is a new variant of the classical Longest Common Subsequence problem. In CLCS, the computed longest common subsequence must also be a </a:t>
            </a:r>
            <a:r>
              <a:rPr lang="en-US" altLang="zh-TW" sz="2700" dirty="0" err="1" smtClean="0"/>
              <a:t>supersequence</a:t>
            </a:r>
            <a:r>
              <a:rPr lang="en-US" altLang="zh-TW" sz="2700" dirty="0" smtClean="0"/>
              <a:t> of a third given string. We present a </a:t>
            </a:r>
            <a:r>
              <a:rPr lang="en-US" altLang="zh-TW" sz="2700" dirty="0" smtClean="0">
                <a:solidFill>
                  <a:srgbClr val="FF0000"/>
                </a:solidFill>
              </a:rPr>
              <a:t>finite automata </a:t>
            </a:r>
            <a:r>
              <a:rPr lang="en-US" altLang="zh-TW" sz="2700" dirty="0" smtClean="0"/>
              <a:t>based algorithm to solve the problem. The algorithm requires </a:t>
            </a:r>
            <a:r>
              <a:rPr lang="en-US" altLang="zh-TW" sz="2700" i="1" dirty="0" smtClean="0">
                <a:solidFill>
                  <a:srgbClr val="FF0000"/>
                </a:solidFill>
              </a:rPr>
              <a:t>O</a:t>
            </a:r>
            <a:r>
              <a:rPr lang="en-US" altLang="zh-TW" sz="2700" dirty="0" smtClean="0">
                <a:solidFill>
                  <a:srgbClr val="FF0000"/>
                </a:solidFill>
              </a:rPr>
              <a:t>(|</a:t>
            </a:r>
            <a:r>
              <a:rPr lang="el-GR" altLang="zh-TW" sz="2700" i="1" dirty="0" smtClean="0">
                <a:solidFill>
                  <a:srgbClr val="FF0000"/>
                </a:solidFill>
              </a:rPr>
              <a:t>Σ</a:t>
            </a:r>
            <a:r>
              <a:rPr lang="en-US" altLang="zh-TW" sz="2700" dirty="0" smtClean="0">
                <a:solidFill>
                  <a:srgbClr val="FF0000"/>
                </a:solidFill>
              </a:rPr>
              <a:t>|</a:t>
            </a:r>
            <a:r>
              <a:rPr lang="en-US" altLang="zh-TW" sz="2700" i="1" dirty="0" err="1" smtClean="0">
                <a:solidFill>
                  <a:srgbClr val="FF0000"/>
                </a:solidFill>
              </a:rPr>
              <a:t>nmr</a:t>
            </a:r>
            <a:r>
              <a:rPr lang="en-US" altLang="zh-TW" sz="2700" dirty="0" smtClean="0">
                <a:solidFill>
                  <a:srgbClr val="FF0000"/>
                </a:solidFill>
              </a:rPr>
              <a:t>) time in the worst case</a:t>
            </a:r>
            <a:r>
              <a:rPr lang="en-US" altLang="zh-TW" sz="2700" dirty="0" smtClean="0"/>
              <a:t>, where |</a:t>
            </a:r>
            <a:r>
              <a:rPr lang="el-GR" altLang="zh-TW" sz="2700" i="1" dirty="0" smtClean="0"/>
              <a:t>Σ</a:t>
            </a:r>
            <a:r>
              <a:rPr lang="en-US" altLang="zh-TW" sz="2700" dirty="0" smtClean="0"/>
              <a:t>| is size of alphabet, </a:t>
            </a:r>
            <a:r>
              <a:rPr lang="en-US" altLang="zh-TW" sz="2700" i="1" dirty="0" smtClean="0"/>
              <a:t>n</a:t>
            </a:r>
            <a:r>
              <a:rPr lang="en-US" altLang="zh-TW" sz="2700" dirty="0" smtClean="0"/>
              <a:t>, </a:t>
            </a:r>
            <a:r>
              <a:rPr lang="en-US" altLang="zh-TW" sz="2700" i="1" dirty="0" smtClean="0"/>
              <a:t>m</a:t>
            </a:r>
            <a:r>
              <a:rPr lang="en-US" altLang="zh-TW" sz="2700" dirty="0" smtClean="0"/>
              <a:t> and </a:t>
            </a:r>
            <a:r>
              <a:rPr lang="en-US" altLang="zh-TW" sz="2700" i="1" dirty="0" smtClean="0"/>
              <a:t>r</a:t>
            </a:r>
            <a:r>
              <a:rPr lang="en-US" altLang="zh-TW" sz="2700" dirty="0" smtClean="0"/>
              <a:t> are the lengths of the three given degenerate strings. To the best of our knowledge, this is the first attempt to solve the CLCS problem for degenerate strings.</a:t>
            </a:r>
            <a:endParaRPr lang="zh-TW" altLang="en-US" sz="2700"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3</a:t>
            </a:fld>
            <a:endParaRPr lang="zh-TW" altLang="en-US"/>
          </a:p>
        </p:txBody>
      </p:sp>
    </p:spTree>
    <p:extLst>
      <p:ext uri="{BB962C8B-B14F-4D97-AF65-F5344CB8AC3E}">
        <p14:creationId xmlns:p14="http://schemas.microsoft.com/office/powerpoint/2010/main" xmlns="" val="1763759656"/>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Degenerate String</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每個位置都有多種可能的字元</a:t>
            </a:r>
            <a:endParaRPr lang="en-US" altLang="zh-TW" dirty="0" smtClean="0"/>
          </a:p>
          <a:p>
            <a:r>
              <a:rPr lang="en-US" altLang="zh-TW" dirty="0" smtClean="0"/>
              <a:t>The motivation of our study comes from the fact that degenerate strings are extensively used in molecular biology to express polymorphism in DNA sequences, e.g. the polymorphism of protein coding regions caused by redundancy of the genetic code or polymorphism in binding site sequences of a family of genes.</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4</a:t>
            </a:fld>
            <a:endParaRPr lang="zh-TW" altLang="en-US"/>
          </a:p>
        </p:txBody>
      </p:sp>
    </p:spTree>
    <p:extLst>
      <p:ext uri="{BB962C8B-B14F-4D97-AF65-F5344CB8AC3E}">
        <p14:creationId xmlns:p14="http://schemas.microsoft.com/office/powerpoint/2010/main" xmlns="" val="2012246611"/>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Degenerate String / LCS / CLCS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99592" y="1700808"/>
            <a:ext cx="6838950" cy="2114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5022" y="3933056"/>
            <a:ext cx="7915275" cy="2714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5</a:t>
            </a:fld>
            <a:endParaRPr lang="zh-TW" altLang="en-US"/>
          </a:p>
        </p:txBody>
      </p:sp>
    </p:spTree>
    <p:extLst>
      <p:ext uri="{BB962C8B-B14F-4D97-AF65-F5344CB8AC3E}">
        <p14:creationId xmlns:p14="http://schemas.microsoft.com/office/powerpoint/2010/main" xmlns="" val="1354839413"/>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Finite Automata</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t>A nondeterministic finite automaton M is a quintuple (</a:t>
            </a:r>
            <a:r>
              <a:rPr lang="en-US" altLang="zh-TW" i="1" dirty="0" smtClean="0"/>
              <a:t>Q</a:t>
            </a:r>
            <a:r>
              <a:rPr lang="en-US" altLang="zh-TW" dirty="0" smtClean="0"/>
              <a:t>, </a:t>
            </a:r>
            <a:r>
              <a:rPr lang="el-GR" altLang="zh-TW" i="1" dirty="0" smtClean="0"/>
              <a:t>Σ</a:t>
            </a:r>
            <a:r>
              <a:rPr lang="en-US" altLang="zh-TW" dirty="0" smtClean="0"/>
              <a:t>, </a:t>
            </a:r>
            <a:r>
              <a:rPr lang="el-GR" altLang="zh-TW" i="1" dirty="0" smtClean="0"/>
              <a:t>δ</a:t>
            </a:r>
            <a:r>
              <a:rPr lang="en-US" altLang="zh-TW" dirty="0" smtClean="0"/>
              <a:t>, </a:t>
            </a:r>
            <a:r>
              <a:rPr lang="en-US" altLang="zh-TW" i="1" dirty="0" smtClean="0"/>
              <a:t>q</a:t>
            </a:r>
            <a:r>
              <a:rPr lang="en-US" altLang="zh-TW" baseline="-25000" dirty="0" smtClean="0"/>
              <a:t>0</a:t>
            </a:r>
            <a:r>
              <a:rPr lang="en-US" altLang="zh-TW" dirty="0" smtClean="0"/>
              <a:t> , </a:t>
            </a:r>
            <a:r>
              <a:rPr lang="en-US" altLang="zh-TW" i="1" dirty="0" smtClean="0"/>
              <a:t>F</a:t>
            </a:r>
            <a:r>
              <a:rPr lang="en-US" altLang="zh-TW" dirty="0" smtClean="0"/>
              <a:t>), where: Q is a finite set of states, </a:t>
            </a:r>
            <a:r>
              <a:rPr lang="el-GR" altLang="zh-TW" i="1" dirty="0" smtClean="0"/>
              <a:t>Σ</a:t>
            </a:r>
            <a:r>
              <a:rPr lang="en-US" altLang="zh-TW" dirty="0" smtClean="0"/>
              <a:t> is an input alphabet, </a:t>
            </a:r>
            <a:r>
              <a:rPr lang="el-GR" altLang="zh-TW" i="1" dirty="0" smtClean="0"/>
              <a:t>δ</a:t>
            </a:r>
            <a:r>
              <a:rPr lang="en-US" altLang="zh-TW" dirty="0" smtClean="0"/>
              <a:t> is the state transition function, </a:t>
            </a:r>
            <a:r>
              <a:rPr lang="en-US" altLang="zh-TW" i="1" dirty="0" smtClean="0"/>
              <a:t>q</a:t>
            </a:r>
            <a:r>
              <a:rPr lang="en-US" altLang="zh-TW" baseline="-25000" dirty="0" smtClean="0"/>
              <a:t>0  </a:t>
            </a:r>
            <a:r>
              <a:rPr lang="en-US" altLang="zh-TW" dirty="0" smtClean="0">
                <a:sym typeface="Symbol"/>
              </a:rPr>
              <a:t> </a:t>
            </a:r>
            <a:r>
              <a:rPr lang="en-US" altLang="zh-TW" dirty="0" smtClean="0"/>
              <a:t>Q is a set of initial states, and F </a:t>
            </a:r>
            <a:r>
              <a:rPr lang="en-US" altLang="zh-TW" dirty="0" smtClean="0">
                <a:sym typeface="Symbol"/>
              </a:rPr>
              <a:t></a:t>
            </a:r>
            <a:r>
              <a:rPr lang="en-US" altLang="zh-TW" dirty="0" smtClean="0"/>
              <a:t> Q is a set of final states. </a:t>
            </a:r>
          </a:p>
          <a:p>
            <a:r>
              <a:rPr lang="en-US" altLang="zh-TW" dirty="0" smtClean="0"/>
              <a:t>A deterministic finite automaton M is a special case of nondeterministic finite automaton such that transition mapping is a function Q </a:t>
            </a:r>
            <a:r>
              <a:rPr lang="en-US" altLang="zh-TW" dirty="0" smtClean="0">
                <a:sym typeface="Symbol"/>
              </a:rPr>
              <a:t></a:t>
            </a:r>
            <a:r>
              <a:rPr lang="el-GR" altLang="zh-TW" i="1" dirty="0" smtClean="0"/>
              <a:t> Σ </a:t>
            </a:r>
            <a:r>
              <a:rPr lang="en-US" altLang="zh-TW" dirty="0" smtClean="0">
                <a:sym typeface="Wingdings" pitchFamily="2" charset="2"/>
              </a:rPr>
              <a:t></a:t>
            </a:r>
            <a:r>
              <a:rPr lang="en-US" altLang="zh-TW" i="1" dirty="0" smtClean="0">
                <a:sym typeface="Wingdings" pitchFamily="2" charset="2"/>
              </a:rPr>
              <a:t> </a:t>
            </a:r>
            <a:r>
              <a:rPr lang="en-US" altLang="zh-TW" dirty="0" smtClean="0"/>
              <a:t>Q and there is only one initial state </a:t>
            </a:r>
            <a:r>
              <a:rPr lang="en-US" altLang="zh-TW" i="1" dirty="0" smtClean="0"/>
              <a:t>q</a:t>
            </a:r>
            <a:r>
              <a:rPr lang="en-US" altLang="zh-TW" baseline="-25000" dirty="0" smtClean="0"/>
              <a:t>0</a:t>
            </a:r>
            <a:r>
              <a:rPr lang="en-US" altLang="zh-TW" dirty="0" smtClean="0"/>
              <a:t> </a:t>
            </a:r>
            <a:r>
              <a:rPr lang="en-US" altLang="zh-TW" dirty="0" smtClean="0">
                <a:sym typeface="Symbol"/>
              </a:rPr>
              <a:t></a:t>
            </a:r>
            <a:r>
              <a:rPr lang="en-US" altLang="zh-TW" dirty="0" smtClean="0"/>
              <a:t> Q.</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6</a:t>
            </a:fld>
            <a:endParaRPr lang="zh-TW" altLang="en-US"/>
          </a:p>
        </p:txBody>
      </p:sp>
    </p:spTree>
    <p:extLst>
      <p:ext uri="{BB962C8B-B14F-4D97-AF65-F5344CB8AC3E}">
        <p14:creationId xmlns:p14="http://schemas.microsoft.com/office/powerpoint/2010/main" xmlns="" val="1467759170"/>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r>
                      <a:rPr lang="en-US" altLang="zh-TW" b="0" i="1" smtClean="0">
                        <a:latin typeface="Cambria Math"/>
                      </a:rPr>
                      <m:t>𝐶𝐿𝐶𝑆𝑢𝑏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r>
                          <a:rPr lang="en-US" altLang="zh-TW" b="0" i="1" smtClean="0">
                            <a:latin typeface="Cambria Math"/>
                          </a:rPr>
                          <m:t>,</m:t>
                        </m:r>
                        <m:acc>
                          <m:accPr>
                            <m:chr m:val="̃"/>
                            <m:ctrlPr>
                              <a:rPr lang="en-US" altLang="zh-TW" b="0" i="1" smtClean="0">
                                <a:latin typeface="Cambria Math"/>
                              </a:rPr>
                            </m:ctrlPr>
                          </m:accPr>
                          <m:e>
                            <m:r>
                              <a:rPr lang="en-US" altLang="zh-TW" b="0" i="1" smtClean="0">
                                <a:latin typeface="Cambria Math"/>
                              </a:rPr>
                              <m:t>𝑦</m:t>
                            </m:r>
                          </m:e>
                        </m:acc>
                        <m:r>
                          <a:rPr lang="en-US" altLang="zh-TW" b="0" i="1" smtClean="0">
                            <a:latin typeface="Cambria Math"/>
                          </a:rPr>
                          <m:t>,</m:t>
                        </m:r>
                        <m:acc>
                          <m:accPr>
                            <m:chr m:val="̃"/>
                            <m:ctrlPr>
                              <a:rPr lang="en-US" altLang="zh-TW" b="0" i="1" smtClean="0">
                                <a:latin typeface="Cambria Math"/>
                              </a:rPr>
                            </m:ctrlPr>
                          </m:accPr>
                          <m:e>
                            <m:r>
                              <a:rPr lang="en-US" altLang="zh-TW" b="0" i="1" smtClean="0">
                                <a:latin typeface="Cambria Math"/>
                              </a:rPr>
                              <m:t>𝑧</m:t>
                            </m:r>
                          </m:e>
                        </m:acc>
                      </m:e>
                    </m:d>
                    <m:r>
                      <a:rPr lang="en-US" altLang="zh-TW" b="0" i="1" smtClean="0">
                        <a:latin typeface="Cambria Math"/>
                      </a:rPr>
                      <m:t>=</m:t>
                    </m:r>
                    <m:r>
                      <a:rPr lang="en-US" altLang="zh-TW" b="0" i="1" smtClean="0">
                        <a:latin typeface="Cambria Math"/>
                      </a:rPr>
                      <m:t>𝑀𝑎𝑥𝐿𝑒𝑛</m:t>
                    </m:r>
                    <m:d>
                      <m:dPr>
                        <m:ctrlPr>
                          <a:rPr lang="en-US" altLang="zh-TW" b="0" i="1" smtClean="0">
                            <a:latin typeface="Cambria Math"/>
                          </a:rPr>
                        </m:ctrlPr>
                      </m:dPr>
                      <m:e>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ea typeface="Cambria Math"/>
                          </a:rPr>
                          <m:t>∩</m:t>
                        </m:r>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e>
                    </m:d>
                  </m:oMath>
                </a14:m>
                <a:endParaRPr lang="en-US" altLang="zh-TW" b="0" dirty="0" smtClean="0"/>
              </a:p>
              <a:p>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oMath>
                </a14:m>
                <a:r>
                  <a:rPr lang="zh-TW" altLang="en-US" b="0" dirty="0" smtClean="0"/>
                  <a:t>是可以接受所有</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zh-TW" altLang="en-US" b="0" dirty="0" smtClean="0"/>
                  <a:t>的</a:t>
                </a:r>
                <a:r>
                  <a:rPr lang="en-US" altLang="zh-TW" b="0" dirty="0" smtClean="0"/>
                  <a:t>subsequence</a:t>
                </a:r>
                <a:r>
                  <a:rPr lang="zh-TW" altLang="en-US" b="0" dirty="0" smtClean="0"/>
                  <a:t>的</a:t>
                </a:r>
                <a:r>
                  <a:rPr lang="en-US" altLang="zh-TW" b="0" dirty="0" smtClean="0"/>
                  <a:t>finite automata</a:t>
                </a:r>
                <a:endParaRPr lang="en-US" altLang="zh-TW" dirty="0"/>
              </a:p>
              <a:p>
                <a14:m>
                  <m:oMath xmlns:m="http://schemas.openxmlformats.org/officeDocument/2006/math">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oMath>
                </a14:m>
                <a:r>
                  <a:rPr lang="zh-TW" altLang="en-US" b="0" dirty="0" smtClean="0"/>
                  <a:t>是可以接受所有</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zh-TW" altLang="en-US" b="0" dirty="0" smtClean="0"/>
                  <a:t>的</a:t>
                </a:r>
                <a:r>
                  <a:rPr lang="en-US" altLang="zh-TW" b="0" dirty="0" err="1" smtClean="0"/>
                  <a:t>supersequence</a:t>
                </a:r>
                <a:r>
                  <a:rPr lang="zh-TW" altLang="en-US" b="0" dirty="0" smtClean="0"/>
                  <a:t>的</a:t>
                </a:r>
                <a:r>
                  <a:rPr lang="en-US" altLang="zh-TW" b="0" dirty="0" smtClean="0"/>
                  <a:t>finite automata</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r="-96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E63921D-9606-4564-A426-6145AEB5FF2C}" type="slidenum">
              <a:rPr lang="zh-TW" altLang="en-US" smtClean="0"/>
              <a:pPr/>
              <a:t>7</a:t>
            </a:fld>
            <a:endParaRPr lang="zh-TW" altLang="en-US"/>
          </a:p>
        </p:txBody>
      </p:sp>
    </p:spTree>
    <p:extLst>
      <p:ext uri="{BB962C8B-B14F-4D97-AF65-F5344CB8AC3E}">
        <p14:creationId xmlns:p14="http://schemas.microsoft.com/office/powerpoint/2010/main" xmlns="" val="871995302"/>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標題 1"/>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oMath>
                  </m:oMathPara>
                </a14:m>
                <a:endParaRPr lang="zh-TW" altLang="en-US" dirty="0"/>
              </a:p>
            </p:txBody>
          </p:sp>
        </mc:Choice>
        <mc:Fallback>
          <p:sp>
            <p:nvSpPr>
              <p:cNvPr id="2" name="標題 1"/>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dirty="0" smtClean="0"/>
                  <a:t>=aba[b, c]</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t="-1617"/>
                </a:stretch>
              </a:blipFill>
            </p:spPr>
            <p:txBody>
              <a:bodyPr/>
              <a:lstStyle/>
              <a:p>
                <a:r>
                  <a:rPr lang="zh-TW" altLang="en-US">
                    <a:noFill/>
                  </a:rPr>
                  <a:t> </a:t>
                </a:r>
              </a:p>
            </p:txBody>
          </p:sp>
        </mc:Fallback>
      </mc:AlternateContent>
      <p:pic>
        <p:nvPicPr>
          <p:cNvPr id="5122"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809625" y="2276872"/>
            <a:ext cx="7524750" cy="1771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885111" y="4070628"/>
            <a:ext cx="7467600" cy="2543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8</a:t>
            </a:fld>
            <a:endParaRPr lang="zh-TW" altLang="en-US"/>
          </a:p>
        </p:txBody>
      </p:sp>
    </p:spTree>
    <p:extLst>
      <p:ext uri="{BB962C8B-B14F-4D97-AF65-F5344CB8AC3E}">
        <p14:creationId xmlns:p14="http://schemas.microsoft.com/office/powerpoint/2010/main" xmlns="" val="3726218307"/>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2" name="標題 1"/>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oMath>
                  </m:oMathPara>
                </a14:m>
                <a:endParaRPr lang="zh-TW" altLang="en-US" dirty="0"/>
              </a:p>
            </p:txBody>
          </p:sp>
        </mc:Choice>
        <mc:Fallback>
          <p:sp>
            <p:nvSpPr>
              <p:cNvPr id="2" name="標題 1"/>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acc>
                      <m:accPr>
                        <m:chr m:val="̃"/>
                        <m:ctrlPr>
                          <a:rPr lang="en-US" altLang="zh-TW" b="0" i="1" smtClean="0">
                            <a:latin typeface="Cambria Math"/>
                          </a:rPr>
                        </m:ctrlPr>
                      </m:accPr>
                      <m:e>
                        <m:r>
                          <a:rPr lang="en-US" altLang="zh-TW" b="0" i="1" smtClean="0">
                            <a:latin typeface="Cambria Math"/>
                          </a:rPr>
                          <m:t>𝑧</m:t>
                        </m:r>
                      </m:e>
                    </m:acc>
                  </m:oMath>
                </a14:m>
                <a:r>
                  <a:rPr lang="en-US" altLang="zh-TW" dirty="0" smtClean="0"/>
                  <a:t>=[a, c]a</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t="-1617"/>
                </a:stretch>
              </a:blipFill>
            </p:spPr>
            <p:txBody>
              <a:bodyPr/>
              <a:lstStyle/>
              <a:p>
                <a:r>
                  <a:rPr lang="zh-TW" altLang="en-US">
                    <a:noFill/>
                  </a:rPr>
                  <a:t> </a:t>
                </a:r>
              </a:p>
            </p:txBody>
          </p:sp>
        </mc:Fallback>
      </mc:AlternateContent>
      <p:pic>
        <p:nvPicPr>
          <p:cNvPr id="614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915816" y="1556792"/>
            <a:ext cx="4629150" cy="2276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3011066" y="4077072"/>
            <a:ext cx="4438650"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9</a:t>
            </a:fld>
            <a:endParaRPr lang="zh-TW" altLang="en-US"/>
          </a:p>
        </p:txBody>
      </p:sp>
    </p:spTree>
    <p:extLst>
      <p:ext uri="{BB962C8B-B14F-4D97-AF65-F5344CB8AC3E}">
        <p14:creationId xmlns:p14="http://schemas.microsoft.com/office/powerpoint/2010/main" xmlns="" val="3776320457"/>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mc:AlternateContent xmlns:mc="http://schemas.openxmlformats.org/markup-compatibility/2006">
        <mc:Choice xmlns:a14="http://schemas.microsoft.com/office/drawing/2010/main" xmlns="" Requires="a14">
          <p:sp>
            <p:nvSpPr>
              <p:cNvPr id="5" name="內容版面配置區 2"/>
              <p:cNvSpPr>
                <a:spLocks noGrp="1"/>
              </p:cNvSpPr>
              <p:nvPr>
                <p:ph idx="1"/>
              </p:nvPr>
            </p:nvSpPr>
            <p:spPr>
              <a:xfrm>
                <a:off x="457200" y="1600200"/>
                <a:ext cx="8229600" cy="4525963"/>
              </a:xfrm>
            </p:spPr>
            <p:txBody>
              <a:bodyPr/>
              <a:lstStyle/>
              <a:p>
                <a:r>
                  <a:rPr lang="en-US" altLang="zh-TW" b="0" dirty="0" smtClean="0"/>
                  <a:t>Find the subsequence </a:t>
                </a:r>
                <a:r>
                  <a:rPr lang="en-US" altLang="zh-TW" dirty="0" smtClean="0"/>
                  <a:t>a</a:t>
                </a:r>
                <a:r>
                  <a:rPr lang="en-US" altLang="zh-TW" b="0" dirty="0" smtClean="0"/>
                  <a:t>utomation of </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b="0" dirty="0" smtClean="0"/>
                  <a:t> and </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𝑦</m:t>
                        </m:r>
                      </m:e>
                    </m:acc>
                  </m:oMath>
                </a14:m>
                <a:endParaRPr lang="en-US" altLang="zh-TW" b="0" dirty="0" smtClean="0"/>
              </a:p>
              <a:p>
                <a:r>
                  <a:rPr lang="en-US" altLang="zh-TW" b="0" dirty="0" smtClean="0"/>
                  <a:t>Find the intersection of </a:t>
                </a:r>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oMath>
                </a14:m>
                <a:r>
                  <a:rPr lang="en-US" altLang="zh-TW" b="0" dirty="0" smtClean="0"/>
                  <a:t> and </a:t>
                </a:r>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oMath>
                </a14:m>
                <a:endParaRPr lang="en-US" altLang="zh-TW" b="0" dirty="0" smtClean="0"/>
              </a:p>
              <a:p>
                <a:r>
                  <a:rPr lang="en-US" altLang="zh-TW" b="0" dirty="0" smtClean="0"/>
                  <a:t>Find the </a:t>
                </a:r>
                <a:r>
                  <a:rPr lang="en-US" altLang="zh-TW" b="0" dirty="0" err="1" smtClean="0"/>
                  <a:t>supersequence</a:t>
                </a:r>
                <a:r>
                  <a:rPr lang="en-US" altLang="zh-TW" b="0" dirty="0" smtClean="0"/>
                  <a:t/>
                </a:r>
                <a:r>
                  <a:rPr lang="en-US" altLang="zh-TW" dirty="0" smtClean="0"/>
                  <a:t>a</a:t>
                </a:r>
                <a:r>
                  <a:rPr lang="en-US" altLang="zh-TW" b="0" dirty="0" smtClean="0"/>
                  <a:t>utomation of </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𝑧</m:t>
                        </m:r>
                      </m:e>
                    </m:acc>
                  </m:oMath>
                </a14:m>
                <a:endParaRPr lang="en-US" altLang="zh-TW" b="0" dirty="0" smtClean="0"/>
              </a:p>
              <a:p>
                <a:r>
                  <a:rPr lang="en-US" altLang="zh-TW" b="0" dirty="0" smtClean="0"/>
                  <a:t>Find the intersection of</a:t>
                </a:r>
                <a:r>
                  <a:rPr lang="zh-TW" altLang="en-US" b="0" dirty="0" smtClean="0"/>
                  <a:t/>
                </a:r>
                <a:r>
                  <a:rPr lang="en-US" altLang="zh-TW" b="0" dirty="0" smtClean="0"/>
                  <a:t>Step 2 and 3</a:t>
                </a:r>
              </a:p>
            </p:txBody>
          </p:sp>
        </mc:Choice>
        <mc:Fallback>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525963"/>
              </a:xfrm>
              <a:blipFill rotWithShape="1">
                <a:blip r:embed="rId2"/>
                <a:stretch>
                  <a:fillRect l="-1630" t="-1617"/>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AE63921D-9606-4564-A426-6145AEB5FF2C}" type="slidenum">
              <a:rPr lang="zh-TW" altLang="en-US" smtClean="0"/>
              <a:pPr/>
              <a:t>10</a:t>
            </a:fld>
            <a:endParaRPr lang="zh-TW" altLang="en-US"/>
          </a:p>
        </p:txBody>
      </p:sp>
    </p:spTree>
    <p:extLst>
      <p:ext uri="{BB962C8B-B14F-4D97-AF65-F5344CB8AC3E}">
        <p14:creationId xmlns:p14="http://schemas.microsoft.com/office/powerpoint/2010/main" xmlns="" val="453899984"/>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a:t>
            </a:r>
            <a:r>
              <a:rPr lang="en-US" altLang="zh-TW" b="0" dirty="0" smtClean="0"/>
              <a:t>ubsequence </a:t>
            </a:r>
            <a:r>
              <a:rPr lang="en-US" altLang="zh-TW" dirty="0"/>
              <a:t>A</a:t>
            </a:r>
            <a:r>
              <a:rPr lang="en-US" altLang="zh-TW" b="0" dirty="0" smtClean="0"/>
              <a:t>utomation</a:t>
            </a:r>
            <a:endParaRPr lang="zh-TW" altLang="en-US" dirty="0"/>
          </a:p>
        </p:txBody>
      </p:sp>
      <p:sp>
        <p:nvSpPr>
          <p:cNvPr id="3" name="內容版面配置區 2"/>
          <p:cNvSpPr>
            <a:spLocks noGrp="1"/>
          </p:cNvSpPr>
          <p:nvPr>
            <p:ph idx="1"/>
          </p:nvPr>
        </p:nvSpPr>
        <p:spPr/>
        <p:txBody>
          <a:bodyPr/>
          <a:lstStyle/>
          <a:p>
            <a:pPr marL="514350" indent="-514350">
              <a:buFont typeface="+mj-lt"/>
              <a:buAutoNum type="arabicPeriod"/>
            </a:pPr>
            <a:r>
              <a:rPr lang="en-US" altLang="zh-TW" dirty="0" smtClean="0"/>
              <a:t>Construct the non-deterministic automation</a:t>
            </a:r>
          </a:p>
          <a:p>
            <a:pPr marL="514350" indent="-514350">
              <a:buFont typeface="+mj-lt"/>
              <a:buAutoNum type="arabicPeriod"/>
            </a:pPr>
            <a:endParaRPr lang="en-US" altLang="zh-TW" dirty="0"/>
          </a:p>
          <a:p>
            <a:pPr marL="514350" indent="-514350">
              <a:buFont typeface="+mj-lt"/>
              <a:buAutoNum type="arabicPeriod"/>
            </a:pPr>
            <a:endParaRPr lang="en-US" altLang="zh-TW" dirty="0" smtClean="0"/>
          </a:p>
          <a:p>
            <a:pPr marL="514350" indent="-514350">
              <a:buFont typeface="+mj-lt"/>
              <a:buAutoNum type="arabicPeriod"/>
            </a:pPr>
            <a:endParaRPr lang="en-US" altLang="zh-TW" dirty="0"/>
          </a:p>
          <a:p>
            <a:pPr marL="514350" indent="-514350">
              <a:buFont typeface="+mj-lt"/>
              <a:buAutoNum type="arabicPeriod"/>
            </a:pPr>
            <a:r>
              <a:rPr lang="en-US" altLang="zh-TW" dirty="0" smtClean="0"/>
              <a:t>Amend it into the deterministic automation</a:t>
            </a:r>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09625" y="2276872"/>
            <a:ext cx="7524750" cy="1771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t="9000"/>
          <a:stretch/>
        </p:blipFill>
        <p:spPr bwMode="auto">
          <a:xfrm>
            <a:off x="1259632" y="4509120"/>
            <a:ext cx="6877055" cy="2131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投影片編號版面配置區 5"/>
          <p:cNvSpPr>
            <a:spLocks noGrp="1"/>
          </p:cNvSpPr>
          <p:nvPr>
            <p:ph type="sldNum" sz="quarter" idx="12"/>
          </p:nvPr>
        </p:nvSpPr>
        <p:spPr/>
        <p:txBody>
          <a:bodyPr/>
          <a:lstStyle/>
          <a:p>
            <a:fld id="{AE63921D-9606-4564-A426-6145AEB5FF2C}" type="slidenum">
              <a:rPr lang="zh-TW" altLang="en-US" smtClean="0"/>
              <a:pPr/>
              <a:t>11</a:t>
            </a:fld>
            <a:endParaRPr lang="zh-TW" altLang="en-US"/>
          </a:p>
        </p:txBody>
      </p:sp>
    </p:spTree>
    <p:extLst>
      <p:ext uri="{BB962C8B-B14F-4D97-AF65-F5344CB8AC3E}">
        <p14:creationId xmlns:p14="http://schemas.microsoft.com/office/powerpoint/2010/main" xmlns="" val="3671462465"/>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a:t>
            </a:r>
            <a:r>
              <a:rPr lang="en-US" altLang="zh-TW" b="0" dirty="0" smtClean="0"/>
              <a:t>ubsequence </a:t>
            </a:r>
            <a:r>
              <a:rPr lang="en-US" altLang="zh-TW" dirty="0" smtClean="0"/>
              <a:t>A</a:t>
            </a:r>
            <a:r>
              <a:rPr lang="en-US" altLang="zh-TW" b="0" dirty="0" smtClean="0"/>
              <a:t>utomation</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normAutofit lnSpcReduction="10000"/>
              </a:bodyPr>
              <a:lstStyle/>
              <a:p>
                <a:r>
                  <a:rPr lang="en-US" altLang="zh-TW" dirty="0" smtClean="0"/>
                  <a:t>This operation is performed by adding a new state </a:t>
                </a:r>
                <a:r>
                  <a:rPr lang="en-US" altLang="zh-TW" i="1" dirty="0" smtClean="0"/>
                  <a:t>q</a:t>
                </a:r>
                <a:r>
                  <a:rPr lang="en-US" altLang="zh-TW" i="1" baseline="-25000" dirty="0" smtClean="0"/>
                  <a:t>k</a:t>
                </a:r>
                <a:r>
                  <a:rPr lang="en-US" altLang="zh-TW" baseline="-25000" dirty="0" smtClean="0"/>
                  <a:t>+1</a:t>
                </a:r>
                <a:r>
                  <a:rPr lang="en-US" altLang="zh-TW" dirty="0" smtClean="0"/>
                  <a:t> on the left of the automaton and by adding new transitions for all symbols s </a:t>
                </a:r>
                <a:r>
                  <a:rPr lang="en-US" altLang="zh-TW" dirty="0" smtClean="0">
                    <a:sym typeface="Symbol"/>
                  </a:rPr>
                  <a:t> </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baseline="-25000" dirty="0" smtClean="0"/>
                  <a:t>k+1</a:t>
                </a:r>
                <a:r>
                  <a:rPr lang="en-US" altLang="zh-TW" dirty="0" smtClean="0"/>
                  <a:t> leading from all states </a:t>
                </a:r>
                <a:r>
                  <a:rPr lang="en-US" altLang="zh-TW" i="1" dirty="0" err="1" smtClean="0"/>
                  <a:t>q</a:t>
                </a:r>
                <a:r>
                  <a:rPr lang="en-US" altLang="zh-TW" i="1" baseline="-25000" dirty="0" err="1" smtClean="0"/>
                  <a:t>l</a:t>
                </a:r>
                <a:r>
                  <a:rPr lang="en-US" altLang="zh-TW" dirty="0" smtClean="0"/>
                  <a:t> not having transition for </a:t>
                </a:r>
                <a:r>
                  <a:rPr lang="en-US" altLang="zh-TW" i="1" dirty="0" smtClean="0"/>
                  <a:t>s</a:t>
                </a:r>
                <a:r>
                  <a:rPr lang="en-US" altLang="zh-TW" dirty="0" smtClean="0"/>
                  <a:t>, where 1 ≤ </a:t>
                </a:r>
                <a:r>
                  <a:rPr lang="en-US" altLang="zh-TW" i="1" dirty="0" smtClean="0"/>
                  <a:t>l</a:t>
                </a:r>
                <a:r>
                  <a:rPr lang="en-US" altLang="zh-TW" dirty="0" smtClean="0"/>
                  <a:t> ≤ </a:t>
                </a:r>
                <a:r>
                  <a:rPr lang="en-US" altLang="zh-TW" i="1" dirty="0" smtClean="0"/>
                  <a:t>k</a:t>
                </a:r>
                <a:r>
                  <a:rPr lang="en-US" altLang="zh-TW" dirty="0" smtClean="0"/>
                  <a:t>. </a:t>
                </a:r>
              </a:p>
              <a:p>
                <a:r>
                  <a:rPr lang="en-US" altLang="zh-TW" dirty="0" smtClean="0"/>
                  <a:t>This can be easily ensured by memorizing the leftmost state (its index) for each symbol of the alphabet not having the appropriate transition.</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2830" r="-7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E63921D-9606-4564-A426-6145AEB5FF2C}" type="slidenum">
              <a:rPr lang="zh-TW" altLang="en-US" smtClean="0"/>
              <a:pPr/>
              <a:t>12</a:t>
            </a:fld>
            <a:endParaRPr lang="zh-TW" altLang="en-US"/>
          </a:p>
        </p:txBody>
      </p:sp>
    </p:spTree>
    <p:extLst>
      <p:ext uri="{BB962C8B-B14F-4D97-AF65-F5344CB8AC3E}">
        <p14:creationId xmlns:p14="http://schemas.microsoft.com/office/powerpoint/2010/main" xmlns="" val="747166777"/>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a:t>
            </a:r>
            <a:r>
              <a:rPr lang="en-US" altLang="zh-TW" b="0" dirty="0" smtClean="0"/>
              <a:t>ubsequence </a:t>
            </a:r>
            <a:r>
              <a:rPr lang="en-US" altLang="zh-TW" dirty="0" smtClean="0"/>
              <a:t>A</a:t>
            </a:r>
            <a:r>
              <a:rPr lang="en-US" altLang="zh-TW" b="0" dirty="0" smtClean="0"/>
              <a:t>utomation</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dirty="0" smtClean="0"/>
                  <a:t>=aba[b, c]</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t="-1617"/>
                </a:stretch>
              </a:blipFill>
            </p:spPr>
            <p:txBody>
              <a:bodyPr/>
              <a:lstStyle/>
              <a:p>
                <a:r>
                  <a:rPr lang="zh-TW" altLang="en-US">
                    <a:noFill/>
                  </a:rPr>
                  <a:t> </a:t>
                </a:r>
              </a:p>
            </p:txBody>
          </p:sp>
        </mc:Fallback>
      </mc:AlternateContent>
      <p:pic>
        <p:nvPicPr>
          <p:cNvPr id="4"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t="9000"/>
          <a:stretch/>
        </p:blipFill>
        <p:spPr bwMode="auto">
          <a:xfrm>
            <a:off x="1763688" y="2420887"/>
            <a:ext cx="5688632" cy="17629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5" name="表格 4"/>
          <p:cNvGraphicFramePr>
            <a:graphicFrameLocks noGrp="1"/>
          </p:cNvGraphicFramePr>
          <p:nvPr>
            <p:extLst>
              <p:ext uri="{D42A27DB-BD31-4B8C-83A1-F6EECF244321}">
                <p14:modId xmlns:p14="http://schemas.microsoft.com/office/powerpoint/2010/main" xmlns="" val="1032329217"/>
              </p:ext>
            </p:extLst>
          </p:nvPr>
        </p:nvGraphicFramePr>
        <p:xfrm>
          <a:off x="755576" y="4509120"/>
          <a:ext cx="2304258" cy="1828800"/>
        </p:xfrm>
        <a:graphic>
          <a:graphicData uri="http://schemas.openxmlformats.org/drawingml/2006/table">
            <a:tbl>
              <a:tblPr firstRow="1" bandRow="1">
                <a:tableStyleId>{5940675A-B579-460E-94D1-54222C63F5DA}</a:tableStyleId>
              </a:tblPr>
              <a:tblGrid>
                <a:gridCol w="384043"/>
                <a:gridCol w="384043"/>
                <a:gridCol w="384043"/>
                <a:gridCol w="384043"/>
                <a:gridCol w="384043"/>
                <a:gridCol w="384043"/>
              </a:tblGrid>
              <a:tr h="370840">
                <a:tc>
                  <a:txBody>
                    <a:bodyPr/>
                    <a:lstStyle/>
                    <a:p>
                      <a:endParaRPr lang="zh-TW" altLang="en-US" sz="2400" dirty="0"/>
                    </a:p>
                  </a:txBody>
                  <a:tcPr/>
                </a:tc>
                <a:tc>
                  <a:txBody>
                    <a:bodyPr/>
                    <a:lstStyle/>
                    <a:p>
                      <a:r>
                        <a:rPr lang="en-US" altLang="zh-TW" sz="2400" dirty="0" smtClean="0"/>
                        <a:t>0</a:t>
                      </a:r>
                      <a:endParaRPr lang="zh-TW" altLang="en-US" sz="2400" dirty="0"/>
                    </a:p>
                  </a:txBody>
                  <a:tcPr/>
                </a:tc>
                <a:tc>
                  <a:txBody>
                    <a:bodyPr/>
                    <a:lstStyle/>
                    <a:p>
                      <a:r>
                        <a:rPr lang="en-US" altLang="zh-TW" sz="2400" dirty="0" smtClean="0"/>
                        <a:t>1</a:t>
                      </a:r>
                      <a:endParaRPr lang="zh-TW" altLang="en-US" sz="2400" dirty="0"/>
                    </a:p>
                  </a:txBody>
                  <a:tcPr/>
                </a:tc>
                <a:tc>
                  <a:txBody>
                    <a:bodyPr/>
                    <a:lstStyle/>
                    <a:p>
                      <a:r>
                        <a:rPr lang="en-US" altLang="zh-TW" sz="2400" dirty="0" smtClean="0"/>
                        <a:t>2</a:t>
                      </a:r>
                      <a:endParaRPr lang="zh-TW" altLang="en-US" sz="2400" dirty="0"/>
                    </a:p>
                  </a:txBody>
                  <a:tcPr/>
                </a:tc>
                <a:tc>
                  <a:txBody>
                    <a:bodyPr/>
                    <a:lstStyle/>
                    <a:p>
                      <a:r>
                        <a:rPr lang="en-US" altLang="zh-TW" sz="2400" dirty="0" smtClean="0"/>
                        <a:t>3</a:t>
                      </a:r>
                      <a:endParaRPr lang="zh-TW" altLang="en-US" sz="2400" dirty="0"/>
                    </a:p>
                  </a:txBody>
                  <a:tcPr/>
                </a:tc>
                <a:tc>
                  <a:txBody>
                    <a:bodyPr/>
                    <a:lstStyle/>
                    <a:p>
                      <a:r>
                        <a:rPr lang="en-US" altLang="zh-TW" sz="2400" dirty="0" smtClean="0"/>
                        <a:t>4</a:t>
                      </a:r>
                      <a:endParaRPr lang="zh-TW" altLang="en-US" sz="2400" dirty="0"/>
                    </a:p>
                  </a:txBody>
                  <a:tcPr/>
                </a:tc>
              </a:tr>
              <a:tr h="370840">
                <a:tc>
                  <a:txBody>
                    <a:bodyPr/>
                    <a:lstStyle/>
                    <a:p>
                      <a:r>
                        <a:rPr lang="en-US" altLang="zh-TW" sz="2400" dirty="0" smtClean="0"/>
                        <a:t>a</a:t>
                      </a:r>
                      <a:endParaRPr lang="zh-TW" altLang="en-US" sz="2400" dirty="0"/>
                    </a:p>
                  </a:txBody>
                  <a:tcPr/>
                </a:tc>
                <a:tc>
                  <a:txBody>
                    <a:bodyPr/>
                    <a:lstStyle/>
                    <a:p>
                      <a:r>
                        <a:rPr lang="en-US" altLang="zh-TW" sz="2400" dirty="0" smtClean="0"/>
                        <a:t>1</a:t>
                      </a:r>
                      <a:endParaRPr lang="zh-TW" altLang="en-US" sz="2400" dirty="0"/>
                    </a:p>
                  </a:txBody>
                  <a:tcPr/>
                </a:tc>
                <a:tc>
                  <a:txBody>
                    <a:bodyPr/>
                    <a:lstStyle/>
                    <a:p>
                      <a:r>
                        <a:rPr lang="en-US" altLang="zh-TW" sz="2400" dirty="0" smtClean="0"/>
                        <a:t>3</a:t>
                      </a:r>
                      <a:endParaRPr lang="zh-TW" altLang="en-US" sz="2400" dirty="0"/>
                    </a:p>
                  </a:txBody>
                  <a:tcPr/>
                </a:tc>
                <a:tc>
                  <a:txBody>
                    <a:bodyPr/>
                    <a:lstStyle/>
                    <a:p>
                      <a:r>
                        <a:rPr lang="en-US" altLang="zh-TW" sz="2400" dirty="0" smtClean="0"/>
                        <a:t>3</a:t>
                      </a:r>
                      <a:endParaRPr lang="zh-TW" altLang="en-US" sz="2400" dirty="0"/>
                    </a:p>
                  </a:txBody>
                  <a:tcPr/>
                </a:tc>
                <a:tc>
                  <a:txBody>
                    <a:bodyPr/>
                    <a:lstStyle/>
                    <a:p>
                      <a:endParaRPr lang="zh-TW" altLang="en-US" sz="2400" dirty="0"/>
                    </a:p>
                  </a:txBody>
                  <a:tcPr/>
                </a:tc>
                <a:tc>
                  <a:txBody>
                    <a:bodyPr/>
                    <a:lstStyle/>
                    <a:p>
                      <a:endParaRPr lang="zh-TW" altLang="en-US" sz="2400"/>
                    </a:p>
                  </a:txBody>
                  <a:tcPr/>
                </a:tc>
              </a:tr>
              <a:tr h="370840">
                <a:tc>
                  <a:txBody>
                    <a:bodyPr/>
                    <a:lstStyle/>
                    <a:p>
                      <a:r>
                        <a:rPr lang="en-US" altLang="zh-TW" sz="2400" dirty="0" smtClean="0"/>
                        <a:t>b</a:t>
                      </a:r>
                      <a:endParaRPr lang="zh-TW" altLang="en-US" sz="2400" dirty="0"/>
                    </a:p>
                  </a:txBody>
                  <a:tcPr/>
                </a:tc>
                <a:tc>
                  <a:txBody>
                    <a:bodyPr/>
                    <a:lstStyle/>
                    <a:p>
                      <a:r>
                        <a:rPr lang="en-US" altLang="zh-TW" sz="2400" dirty="0" smtClean="0"/>
                        <a:t>2</a:t>
                      </a:r>
                      <a:endParaRPr lang="zh-TW" altLang="en-US" sz="2400" dirty="0"/>
                    </a:p>
                  </a:txBody>
                  <a:tcPr/>
                </a:tc>
                <a:tc>
                  <a:txBody>
                    <a:bodyPr/>
                    <a:lstStyle/>
                    <a:p>
                      <a:r>
                        <a:rPr lang="en-US" altLang="zh-TW" sz="2400" dirty="0" smtClean="0"/>
                        <a:t>2</a:t>
                      </a:r>
                      <a:endParaRPr lang="zh-TW" altLang="en-US" sz="2400" dirty="0"/>
                    </a:p>
                  </a:txBody>
                  <a:tcPr/>
                </a:tc>
                <a:tc>
                  <a:txBody>
                    <a:bodyPr/>
                    <a:lstStyle/>
                    <a:p>
                      <a:r>
                        <a:rPr lang="en-US" altLang="zh-TW" sz="2400" dirty="0" smtClean="0"/>
                        <a:t>4</a:t>
                      </a:r>
                      <a:endParaRPr lang="zh-TW" altLang="en-US" sz="2400" dirty="0"/>
                    </a:p>
                  </a:txBody>
                  <a:tcPr/>
                </a:tc>
                <a:tc>
                  <a:txBody>
                    <a:bodyPr/>
                    <a:lstStyle/>
                    <a:p>
                      <a:r>
                        <a:rPr lang="en-US" altLang="zh-TW" sz="2400" dirty="0" smtClean="0"/>
                        <a:t>4</a:t>
                      </a:r>
                      <a:endParaRPr lang="zh-TW" altLang="en-US" sz="2400" dirty="0"/>
                    </a:p>
                  </a:txBody>
                  <a:tcPr/>
                </a:tc>
                <a:tc>
                  <a:txBody>
                    <a:bodyPr/>
                    <a:lstStyle/>
                    <a:p>
                      <a:endParaRPr lang="zh-TW" altLang="en-US" sz="2400"/>
                    </a:p>
                  </a:txBody>
                  <a:tcPr/>
                </a:tc>
              </a:tr>
              <a:tr h="370840">
                <a:tc>
                  <a:txBody>
                    <a:bodyPr/>
                    <a:lstStyle/>
                    <a:p>
                      <a:r>
                        <a:rPr lang="en-US" altLang="zh-TW" sz="2400" dirty="0" smtClean="0"/>
                        <a:t>c</a:t>
                      </a:r>
                      <a:endParaRPr lang="zh-TW" altLang="en-US" sz="2400" dirty="0"/>
                    </a:p>
                  </a:txBody>
                  <a:tcPr/>
                </a:tc>
                <a:tc>
                  <a:txBody>
                    <a:bodyPr/>
                    <a:lstStyle/>
                    <a:p>
                      <a:r>
                        <a:rPr lang="en-US" altLang="zh-TW" sz="2400" dirty="0" smtClean="0"/>
                        <a:t>4</a:t>
                      </a:r>
                      <a:endParaRPr lang="zh-TW" altLang="en-US" sz="2400" dirty="0"/>
                    </a:p>
                  </a:txBody>
                  <a:tcPr/>
                </a:tc>
                <a:tc>
                  <a:txBody>
                    <a:bodyPr/>
                    <a:lstStyle/>
                    <a:p>
                      <a:r>
                        <a:rPr lang="en-US" altLang="zh-TW" sz="2400" dirty="0" smtClean="0"/>
                        <a:t>4</a:t>
                      </a:r>
                      <a:endParaRPr lang="zh-TW" altLang="en-US" sz="2400" dirty="0"/>
                    </a:p>
                  </a:txBody>
                  <a:tcPr/>
                </a:tc>
                <a:tc>
                  <a:txBody>
                    <a:bodyPr/>
                    <a:lstStyle/>
                    <a:p>
                      <a:r>
                        <a:rPr lang="en-US" altLang="zh-TW" sz="2400" dirty="0" smtClean="0"/>
                        <a:t>4</a:t>
                      </a:r>
                      <a:endParaRPr lang="zh-TW" altLang="en-US" sz="2400" dirty="0"/>
                    </a:p>
                  </a:txBody>
                  <a:tcPr/>
                </a:tc>
                <a:tc>
                  <a:txBody>
                    <a:bodyPr/>
                    <a:lstStyle/>
                    <a:p>
                      <a:r>
                        <a:rPr lang="en-US" altLang="zh-TW" sz="2400" dirty="0" smtClean="0"/>
                        <a:t>4</a:t>
                      </a:r>
                      <a:endParaRPr lang="zh-TW" altLang="en-US" sz="2400" dirty="0"/>
                    </a:p>
                  </a:txBody>
                  <a:tcPr/>
                </a:tc>
                <a:tc>
                  <a:txBody>
                    <a:bodyPr/>
                    <a:lstStyle/>
                    <a:p>
                      <a:endParaRPr lang="zh-TW" altLang="en-US" sz="2400" dirty="0"/>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xmlns="" val="2816544691"/>
              </p:ext>
            </p:extLst>
          </p:nvPr>
        </p:nvGraphicFramePr>
        <p:xfrm>
          <a:off x="3851920"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endParaRPr lang="zh-TW" altLang="en-US" sz="2400" dirty="0"/>
                    </a:p>
                  </a:txBody>
                  <a:tcPr/>
                </a:tc>
              </a:tr>
              <a:tr h="450050">
                <a:tc>
                  <a:txBody>
                    <a:bodyPr/>
                    <a:lstStyle/>
                    <a:p>
                      <a:r>
                        <a:rPr lang="en-US" altLang="zh-TW" sz="2400" dirty="0" smtClean="0"/>
                        <a:t>a</a:t>
                      </a:r>
                      <a:endParaRPr lang="zh-TW" altLang="en-US" sz="2400" dirty="0"/>
                    </a:p>
                  </a:txBody>
                  <a:tcPr/>
                </a:tc>
              </a:tr>
              <a:tr h="450050">
                <a:tc>
                  <a:txBody>
                    <a:bodyPr/>
                    <a:lstStyle/>
                    <a:p>
                      <a:r>
                        <a:rPr lang="en-US" altLang="zh-TW" sz="2400" dirty="0" smtClean="0"/>
                        <a:t>b</a:t>
                      </a:r>
                      <a:endParaRPr lang="zh-TW" altLang="en-US" sz="2400" dirty="0"/>
                    </a:p>
                  </a:txBody>
                  <a:tcPr/>
                </a:tc>
              </a:tr>
              <a:tr h="450050">
                <a:tc>
                  <a:txBody>
                    <a:bodyPr/>
                    <a:lstStyle/>
                    <a:p>
                      <a:r>
                        <a:rPr lang="en-US" altLang="zh-TW" sz="2400" dirty="0" smtClean="0"/>
                        <a:t>c</a:t>
                      </a:r>
                      <a:endParaRPr lang="zh-TW" altLang="en-US" sz="2400" dirty="0"/>
                    </a:p>
                  </a:txBody>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xmlns="" val="4138131277"/>
              </p:ext>
            </p:extLst>
          </p:nvPr>
        </p:nvGraphicFramePr>
        <p:xfrm>
          <a:off x="4533310"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r>
                        <a:rPr lang="en-US" altLang="zh-TW" sz="2400" dirty="0" smtClean="0"/>
                        <a:t>a</a:t>
                      </a:r>
                      <a:endParaRPr lang="zh-TW" altLang="en-US" sz="2400" dirty="0"/>
                    </a:p>
                  </a:txBody>
                  <a:tcPr/>
                </a:tc>
              </a:tr>
              <a:tr h="450050">
                <a:tc>
                  <a:txBody>
                    <a:bodyPr/>
                    <a:lstStyle/>
                    <a:p>
                      <a:r>
                        <a:rPr lang="en-US" altLang="zh-TW" sz="2400" dirty="0" smtClean="0"/>
                        <a:t>1</a:t>
                      </a:r>
                      <a:endParaRPr lang="zh-TW" altLang="en-US" sz="2400" dirty="0"/>
                    </a:p>
                  </a:txBody>
                  <a:tcPr/>
                </a:tc>
              </a:tr>
              <a:tr h="450050">
                <a:tc>
                  <a:txBody>
                    <a:bodyPr/>
                    <a:lstStyle/>
                    <a:p>
                      <a:r>
                        <a:rPr lang="en-US" altLang="zh-TW" sz="2400" dirty="0" smtClean="0"/>
                        <a:t>-1</a:t>
                      </a:r>
                      <a:endParaRPr lang="zh-TW" altLang="en-US" sz="2400" dirty="0"/>
                    </a:p>
                  </a:txBody>
                  <a:tcPr/>
                </a:tc>
              </a:tr>
              <a:tr h="450050">
                <a:tc>
                  <a:txBody>
                    <a:bodyPr/>
                    <a:lstStyle/>
                    <a:p>
                      <a:r>
                        <a:rPr lang="en-US" altLang="zh-TW" sz="2400" dirty="0" smtClean="0"/>
                        <a:t>-1</a:t>
                      </a:r>
                      <a:endParaRPr lang="zh-TW" altLang="en-US" sz="2400" dirty="0"/>
                    </a:p>
                  </a:txBody>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xmlns="" val="2633478402"/>
              </p:ext>
            </p:extLst>
          </p:nvPr>
        </p:nvGraphicFramePr>
        <p:xfrm>
          <a:off x="5292080"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r>
                        <a:rPr lang="en-US" altLang="zh-TW" sz="2400" dirty="0" smtClean="0"/>
                        <a:t>b</a:t>
                      </a:r>
                      <a:endParaRPr lang="zh-TW" altLang="en-US" sz="2400" dirty="0"/>
                    </a:p>
                  </a:txBody>
                  <a:tcPr/>
                </a:tc>
              </a:tr>
              <a:tr h="450050">
                <a:tc>
                  <a:txBody>
                    <a:bodyPr/>
                    <a:lstStyle/>
                    <a:p>
                      <a:r>
                        <a:rPr lang="en-US" altLang="zh-TW" sz="2400" dirty="0" smtClean="0"/>
                        <a:t>1</a:t>
                      </a:r>
                      <a:endParaRPr lang="zh-TW" altLang="en-US" sz="2400" dirty="0"/>
                    </a:p>
                  </a:txBody>
                  <a:tcPr/>
                </a:tc>
              </a:tr>
              <a:tr h="450050">
                <a:tc>
                  <a:txBody>
                    <a:bodyPr/>
                    <a:lstStyle/>
                    <a:p>
                      <a:r>
                        <a:rPr lang="en-US" altLang="zh-TW" sz="2400" dirty="0" smtClean="0"/>
                        <a:t>2</a:t>
                      </a:r>
                      <a:endParaRPr lang="zh-TW" altLang="en-US" sz="2400" dirty="0"/>
                    </a:p>
                  </a:txBody>
                  <a:tcPr/>
                </a:tc>
              </a:tr>
              <a:tr h="450050">
                <a:tc>
                  <a:txBody>
                    <a:bodyPr/>
                    <a:lstStyle/>
                    <a:p>
                      <a:r>
                        <a:rPr lang="en-US" altLang="zh-TW" sz="2400" dirty="0" smtClean="0"/>
                        <a:t>-1</a:t>
                      </a:r>
                      <a:endParaRPr lang="zh-TW" altLang="en-US" sz="2400" dirty="0"/>
                    </a:p>
                  </a:txBody>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xmlns="" val="2471137175"/>
              </p:ext>
            </p:extLst>
          </p:nvPr>
        </p:nvGraphicFramePr>
        <p:xfrm>
          <a:off x="6012160"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r>
                        <a:rPr lang="en-US" altLang="zh-TW" sz="2400" dirty="0" smtClean="0"/>
                        <a:t>a</a:t>
                      </a:r>
                      <a:endParaRPr lang="zh-TW" altLang="en-US" sz="2400" dirty="0"/>
                    </a:p>
                  </a:txBody>
                  <a:tcPr/>
                </a:tc>
              </a:tr>
              <a:tr h="450050">
                <a:tc>
                  <a:txBody>
                    <a:bodyPr/>
                    <a:lstStyle/>
                    <a:p>
                      <a:r>
                        <a:rPr lang="en-US" altLang="zh-TW" sz="2400" dirty="0" smtClean="0"/>
                        <a:t>3</a:t>
                      </a:r>
                      <a:endParaRPr lang="zh-TW" altLang="en-US" sz="2400" dirty="0"/>
                    </a:p>
                  </a:txBody>
                  <a:tcPr/>
                </a:tc>
              </a:tr>
              <a:tr h="450050">
                <a:tc>
                  <a:txBody>
                    <a:bodyPr/>
                    <a:lstStyle/>
                    <a:p>
                      <a:r>
                        <a:rPr lang="en-US" altLang="zh-TW" sz="2400" dirty="0" smtClean="0"/>
                        <a:t>2</a:t>
                      </a:r>
                      <a:endParaRPr lang="zh-TW" altLang="en-US" sz="2400" dirty="0"/>
                    </a:p>
                  </a:txBody>
                  <a:tcPr/>
                </a:tc>
              </a:tr>
              <a:tr h="450050">
                <a:tc>
                  <a:txBody>
                    <a:bodyPr/>
                    <a:lstStyle/>
                    <a:p>
                      <a:r>
                        <a:rPr lang="en-US" altLang="zh-TW" sz="2400" dirty="0" smtClean="0"/>
                        <a:t>-1</a:t>
                      </a:r>
                      <a:endParaRPr lang="zh-TW" altLang="en-US" sz="2400" dirty="0"/>
                    </a:p>
                  </a:txBody>
                  <a:tcPr/>
                </a:tc>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xmlns="" val="558299861"/>
              </p:ext>
            </p:extLst>
          </p:nvPr>
        </p:nvGraphicFramePr>
        <p:xfrm>
          <a:off x="6732240"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r>
                        <a:rPr lang="en-US" altLang="zh-TW" sz="2400" dirty="0" smtClean="0"/>
                        <a:t>b</a:t>
                      </a:r>
                      <a:endParaRPr lang="zh-TW" altLang="en-US" sz="2400" dirty="0"/>
                    </a:p>
                  </a:txBody>
                  <a:tcPr/>
                </a:tc>
              </a:tr>
              <a:tr h="450050">
                <a:tc>
                  <a:txBody>
                    <a:bodyPr/>
                    <a:lstStyle/>
                    <a:p>
                      <a:r>
                        <a:rPr lang="en-US" altLang="zh-TW" sz="2400" dirty="0" smtClean="0"/>
                        <a:t>3</a:t>
                      </a:r>
                      <a:endParaRPr lang="zh-TW" altLang="en-US" sz="2400" dirty="0"/>
                    </a:p>
                  </a:txBody>
                  <a:tcPr/>
                </a:tc>
              </a:tr>
              <a:tr h="450050">
                <a:tc>
                  <a:txBody>
                    <a:bodyPr/>
                    <a:lstStyle/>
                    <a:p>
                      <a:r>
                        <a:rPr lang="en-US" altLang="zh-TW" sz="2400" dirty="0" smtClean="0"/>
                        <a:t>4</a:t>
                      </a:r>
                      <a:endParaRPr lang="zh-TW" altLang="en-US" sz="2400" dirty="0"/>
                    </a:p>
                  </a:txBody>
                  <a:tcPr/>
                </a:tc>
              </a:tr>
              <a:tr h="450050">
                <a:tc>
                  <a:txBody>
                    <a:bodyPr/>
                    <a:lstStyle/>
                    <a:p>
                      <a:r>
                        <a:rPr lang="en-US" altLang="zh-TW" sz="2400" dirty="0" smtClean="0"/>
                        <a:t>-1</a:t>
                      </a:r>
                      <a:endParaRPr lang="zh-TW" altLang="en-US" sz="24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xmlns="" val="2552425623"/>
              </p:ext>
            </p:extLst>
          </p:nvPr>
        </p:nvGraphicFramePr>
        <p:xfrm>
          <a:off x="7407213" y="4509120"/>
          <a:ext cx="491716" cy="1828800"/>
        </p:xfrm>
        <a:graphic>
          <a:graphicData uri="http://schemas.openxmlformats.org/drawingml/2006/table">
            <a:tbl>
              <a:tblPr firstRow="1" bandRow="1">
                <a:tableStyleId>{5940675A-B579-460E-94D1-54222C63F5DA}</a:tableStyleId>
              </a:tblPr>
              <a:tblGrid>
                <a:gridCol w="491716"/>
              </a:tblGrid>
              <a:tr h="450050">
                <a:tc>
                  <a:txBody>
                    <a:bodyPr/>
                    <a:lstStyle/>
                    <a:p>
                      <a:r>
                        <a:rPr lang="en-US" altLang="zh-TW" sz="2400" dirty="0" smtClean="0"/>
                        <a:t>c</a:t>
                      </a:r>
                      <a:endParaRPr lang="zh-TW" altLang="en-US" sz="2400" dirty="0"/>
                    </a:p>
                  </a:txBody>
                  <a:tcPr/>
                </a:tc>
              </a:tr>
              <a:tr h="450050">
                <a:tc>
                  <a:txBody>
                    <a:bodyPr/>
                    <a:lstStyle/>
                    <a:p>
                      <a:r>
                        <a:rPr lang="en-US" altLang="zh-TW" sz="2400" dirty="0" smtClean="0"/>
                        <a:t>3</a:t>
                      </a:r>
                      <a:endParaRPr lang="zh-TW" altLang="en-US" sz="2400" dirty="0"/>
                    </a:p>
                  </a:txBody>
                  <a:tcPr/>
                </a:tc>
              </a:tr>
              <a:tr h="450050">
                <a:tc>
                  <a:txBody>
                    <a:bodyPr/>
                    <a:lstStyle/>
                    <a:p>
                      <a:r>
                        <a:rPr lang="en-US" altLang="zh-TW" sz="2400" dirty="0" smtClean="0"/>
                        <a:t>4</a:t>
                      </a:r>
                      <a:endParaRPr lang="zh-TW" altLang="en-US" sz="2400" dirty="0"/>
                    </a:p>
                  </a:txBody>
                  <a:tcPr/>
                </a:tc>
              </a:tr>
              <a:tr h="450050">
                <a:tc>
                  <a:txBody>
                    <a:bodyPr/>
                    <a:lstStyle/>
                    <a:p>
                      <a:r>
                        <a:rPr lang="en-US" altLang="zh-TW" sz="2400" dirty="0" smtClean="0"/>
                        <a:t>4</a:t>
                      </a:r>
                      <a:endParaRPr lang="zh-TW" altLang="en-US" sz="2400" dirty="0"/>
                    </a:p>
                  </a:txBody>
                  <a:tcPr/>
                </a:tc>
              </a:tr>
            </a:tbl>
          </a:graphicData>
        </a:graphic>
      </p:graphicFrame>
      <p:sp>
        <p:nvSpPr>
          <p:cNvPr id="6" name="投影片編號版面配置區 5"/>
          <p:cNvSpPr>
            <a:spLocks noGrp="1"/>
          </p:cNvSpPr>
          <p:nvPr>
            <p:ph type="sldNum" sz="quarter" idx="12"/>
          </p:nvPr>
        </p:nvSpPr>
        <p:spPr/>
        <p:txBody>
          <a:bodyPr/>
          <a:lstStyle/>
          <a:p>
            <a:fld id="{AE63921D-9606-4564-A426-6145AEB5FF2C}" type="slidenum">
              <a:rPr lang="zh-TW" altLang="en-US" smtClean="0"/>
              <a:pPr/>
              <a:t>13</a:t>
            </a:fld>
            <a:endParaRPr lang="zh-TW" altLang="en-US"/>
          </a:p>
        </p:txBody>
      </p:sp>
    </p:spTree>
    <p:extLst>
      <p:ext uri="{BB962C8B-B14F-4D97-AF65-F5344CB8AC3E}">
        <p14:creationId xmlns:p14="http://schemas.microsoft.com/office/powerpoint/2010/main" xmlns="" val="1682342371"/>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p:sp>
        <p:nvSpPr>
          <p:cNvPr id="3" name="內容版面配置區 2"/>
          <p:cNvSpPr>
            <a:spLocks noGrp="1"/>
          </p:cNvSpPr>
          <p:nvPr>
            <p:ph idx="1"/>
          </p:nvPr>
        </p:nvSpPr>
        <p:spPr/>
        <p:txBody>
          <a:bodyPr>
            <a:normAutofit/>
          </a:bodyPr>
          <a:lstStyle/>
          <a:p>
            <a:r>
              <a:rPr lang="en-US" altLang="zh-TW" dirty="0" smtClean="0"/>
              <a:t>O(n|</a:t>
            </a:r>
            <a:r>
              <a:rPr lang="el-GR" altLang="zh-TW" i="1" dirty="0" smtClean="0"/>
              <a:t>Σ</a:t>
            </a:r>
            <a:r>
              <a:rPr lang="en-US" altLang="zh-TW" dirty="0" smtClean="0"/>
              <a:t>|) time using O(|</a:t>
            </a:r>
            <a:r>
              <a:rPr lang="el-GR" altLang="zh-TW" i="1" dirty="0" smtClean="0"/>
              <a:t>Σ</a:t>
            </a:r>
            <a:r>
              <a:rPr lang="en-US" altLang="zh-TW" dirty="0" smtClean="0"/>
              <a:t>|) additional space. </a:t>
            </a:r>
          </a:p>
          <a:p>
            <a:r>
              <a:rPr lang="en-US" altLang="zh-TW" dirty="0" smtClean="0"/>
              <a:t>M is acyclic, minimal and has exactly n + 1 states and O(|</a:t>
            </a:r>
            <a:r>
              <a:rPr lang="el-GR" altLang="zh-TW" i="1" dirty="0" smtClean="0"/>
              <a:t>Σ</a:t>
            </a:r>
            <a:r>
              <a:rPr lang="en-US" altLang="zh-TW" dirty="0" smtClean="0"/>
              <a:t>|n) transitions. </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14</a:t>
            </a:fld>
            <a:endParaRPr lang="zh-TW" altLang="en-US"/>
          </a:p>
        </p:txBody>
      </p:sp>
    </p:spTree>
    <p:extLst>
      <p:ext uri="{BB962C8B-B14F-4D97-AF65-F5344CB8AC3E}">
        <p14:creationId xmlns:p14="http://schemas.microsoft.com/office/powerpoint/2010/main" xmlns="" val="2929280232"/>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Intersection</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9000"/>
          <a:stretch/>
        </p:blipFill>
        <p:spPr bwMode="auto">
          <a:xfrm>
            <a:off x="2846" y="1484784"/>
            <a:ext cx="5227320" cy="16200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0" y="4806409"/>
            <a:ext cx="5213985" cy="20802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707904" y="2924944"/>
            <a:ext cx="5240655" cy="21069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矩形 4"/>
          <p:cNvSpPr/>
          <p:nvPr/>
        </p:nvSpPr>
        <p:spPr>
          <a:xfrm>
            <a:off x="2606992" y="1484784"/>
            <a:ext cx="74087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416845" y="4905860"/>
            <a:ext cx="560583"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6865860" y="3933056"/>
            <a:ext cx="370436"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7236296" y="3212976"/>
            <a:ext cx="370436"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p:cNvSpPr>
            <a:spLocks noGrp="1"/>
          </p:cNvSpPr>
          <p:nvPr>
            <p:ph type="sldNum" sz="quarter" idx="12"/>
          </p:nvPr>
        </p:nvSpPr>
        <p:spPr/>
        <p:txBody>
          <a:bodyPr/>
          <a:lstStyle/>
          <a:p>
            <a:fld id="{AE63921D-9606-4564-A426-6145AEB5FF2C}" type="slidenum">
              <a:rPr lang="zh-TW" altLang="en-US" smtClean="0"/>
              <a:pPr/>
              <a:t>15</a:t>
            </a:fld>
            <a:endParaRPr lang="zh-TW" altLang="en-US"/>
          </a:p>
        </p:txBody>
      </p:sp>
    </p:spTree>
    <p:extLst>
      <p:ext uri="{BB962C8B-B14F-4D97-AF65-F5344CB8AC3E}">
        <p14:creationId xmlns:p14="http://schemas.microsoft.com/office/powerpoint/2010/main" xmlns="" val="4086417670"/>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p:sp>
        <p:nvSpPr>
          <p:cNvPr id="3" name="內容版面配置區 2"/>
          <p:cNvSpPr>
            <a:spLocks noGrp="1"/>
          </p:cNvSpPr>
          <p:nvPr>
            <p:ph idx="1"/>
          </p:nvPr>
        </p:nvSpPr>
        <p:spPr/>
        <p:txBody>
          <a:bodyPr>
            <a:normAutofit/>
          </a:bodyPr>
          <a:lstStyle/>
          <a:p>
            <a:r>
              <a:rPr lang="en-US" altLang="zh-TW" dirty="0" smtClean="0"/>
              <a:t>Given deterministic finite automata </a:t>
            </a:r>
            <a:r>
              <a:rPr lang="en-US" altLang="zh-TW" i="1" dirty="0" smtClean="0"/>
              <a:t>M</a:t>
            </a:r>
            <a:r>
              <a:rPr lang="en-US" altLang="zh-TW" baseline="-25000" dirty="0" smtClean="0"/>
              <a:t>1</a:t>
            </a:r>
            <a:r>
              <a:rPr lang="en-US" altLang="zh-TW" dirty="0" smtClean="0"/>
              <a:t> and </a:t>
            </a:r>
            <a:r>
              <a:rPr lang="en-US" altLang="zh-TW" i="1" dirty="0" smtClean="0"/>
              <a:t>M</a:t>
            </a:r>
            <a:r>
              <a:rPr lang="en-US" altLang="zh-TW" baseline="-25000" dirty="0" smtClean="0"/>
              <a:t>2</a:t>
            </a:r>
            <a:r>
              <a:rPr lang="en-US" altLang="zh-TW" dirty="0" smtClean="0"/>
              <a:t> having </a:t>
            </a:r>
            <a:r>
              <a:rPr lang="en-US" altLang="zh-TW" i="1" dirty="0" smtClean="0"/>
              <a:t>n</a:t>
            </a:r>
            <a:r>
              <a:rPr lang="en-US" altLang="zh-TW" dirty="0" smtClean="0"/>
              <a:t> and </a:t>
            </a:r>
            <a:r>
              <a:rPr lang="en-US" altLang="zh-TW" i="1" dirty="0" smtClean="0"/>
              <a:t>m</a:t>
            </a:r>
            <a:r>
              <a:rPr lang="en-US" altLang="zh-TW" dirty="0" smtClean="0"/>
              <a:t> states, respectively, Algorithm 3 correctly constructs deterministic finite automaton M accepting language </a:t>
            </a:r>
            <a:r>
              <a:rPr lang="en-US" altLang="zh-TW" i="1" dirty="0" smtClean="0"/>
              <a:t>L</a:t>
            </a:r>
            <a:r>
              <a:rPr lang="en-US" altLang="zh-TW" dirty="0" smtClean="0"/>
              <a:t>(</a:t>
            </a:r>
            <a:r>
              <a:rPr lang="en-US" altLang="zh-TW" i="1" dirty="0" smtClean="0"/>
              <a:t>M</a:t>
            </a:r>
            <a:r>
              <a:rPr lang="en-US" altLang="zh-TW" dirty="0" smtClean="0"/>
              <a:t>) = </a:t>
            </a:r>
            <a:r>
              <a:rPr lang="en-US" altLang="zh-TW" i="1" dirty="0" smtClean="0"/>
              <a:t>L</a:t>
            </a:r>
            <a:r>
              <a:rPr lang="en-US" altLang="zh-TW" dirty="0" smtClean="0"/>
              <a:t>(</a:t>
            </a:r>
            <a:r>
              <a:rPr lang="en-US" altLang="zh-TW" i="1" dirty="0" smtClean="0"/>
              <a:t>M</a:t>
            </a:r>
            <a:r>
              <a:rPr lang="en-US" altLang="zh-TW" baseline="-25000" dirty="0" smtClean="0"/>
              <a:t>1</a:t>
            </a:r>
            <a:r>
              <a:rPr lang="en-US" altLang="zh-TW" dirty="0" smtClean="0"/>
              <a:t> ) ∩ </a:t>
            </a:r>
            <a:r>
              <a:rPr lang="en-US" altLang="zh-TW" i="1" dirty="0" smtClean="0"/>
              <a:t>L</a:t>
            </a:r>
            <a:r>
              <a:rPr lang="en-US" altLang="zh-TW" dirty="0" smtClean="0"/>
              <a:t>(</a:t>
            </a:r>
            <a:r>
              <a:rPr lang="en-US" altLang="zh-TW" i="1" dirty="0" smtClean="0"/>
              <a:t>M</a:t>
            </a:r>
            <a:r>
              <a:rPr lang="en-US" altLang="zh-TW" baseline="-25000" dirty="0" smtClean="0"/>
              <a:t>2</a:t>
            </a:r>
            <a:r>
              <a:rPr lang="en-US" altLang="zh-TW" dirty="0" smtClean="0"/>
              <a:t> ) in </a:t>
            </a:r>
            <a:r>
              <a:rPr lang="en-US" altLang="zh-TW" i="1" dirty="0" smtClean="0"/>
              <a:t>O</a:t>
            </a:r>
            <a:r>
              <a:rPr lang="en-US" altLang="zh-TW" dirty="0" smtClean="0"/>
              <a:t>(|</a:t>
            </a:r>
            <a:r>
              <a:rPr lang="el-GR" altLang="zh-TW" i="1" dirty="0" smtClean="0"/>
              <a:t>Σ</a:t>
            </a:r>
            <a:r>
              <a:rPr lang="en-US" altLang="zh-TW" dirty="0" smtClean="0"/>
              <a:t>|</a:t>
            </a:r>
            <a:r>
              <a:rPr lang="en-US" altLang="zh-TW" i="1" dirty="0" smtClean="0"/>
              <a:t>nm</a:t>
            </a:r>
            <a:r>
              <a:rPr lang="en-US" altLang="zh-TW" dirty="0" smtClean="0"/>
              <a:t>) time. </a:t>
            </a:r>
          </a:p>
          <a:p>
            <a:r>
              <a:rPr lang="en-US" altLang="zh-TW" dirty="0" smtClean="0"/>
              <a:t>M has at most nm states and at most |</a:t>
            </a:r>
            <a:r>
              <a:rPr lang="el-GR" altLang="zh-TW" i="1" dirty="0" smtClean="0"/>
              <a:t>Σ</a:t>
            </a:r>
            <a:r>
              <a:rPr lang="en-US" altLang="zh-TW" dirty="0" smtClean="0"/>
              <a:t>|</a:t>
            </a:r>
            <a:r>
              <a:rPr lang="en-US" altLang="zh-TW" i="1" dirty="0" smtClean="0"/>
              <a:t>nm</a:t>
            </a:r>
            <a:r>
              <a:rPr lang="en-US" altLang="zh-TW" dirty="0" smtClean="0"/>
              <a:t> transitions. Moreover, if </a:t>
            </a:r>
            <a:r>
              <a:rPr lang="en-US" altLang="zh-TW" i="1" dirty="0" smtClean="0"/>
              <a:t>M</a:t>
            </a:r>
            <a:r>
              <a:rPr lang="en-US" altLang="zh-TW" baseline="-25000" dirty="0" smtClean="0"/>
              <a:t>1</a:t>
            </a:r>
            <a:r>
              <a:rPr lang="en-US" altLang="zh-TW" dirty="0" smtClean="0"/>
              <a:t> (or </a:t>
            </a:r>
            <a:r>
              <a:rPr lang="en-US" altLang="zh-TW" i="1" dirty="0" smtClean="0"/>
              <a:t>M</a:t>
            </a:r>
            <a:r>
              <a:rPr lang="en-US" altLang="zh-TW" baseline="-25000" dirty="0" smtClean="0"/>
              <a:t>2</a:t>
            </a:r>
            <a:r>
              <a:rPr lang="en-US" altLang="zh-TW" dirty="0" smtClean="0"/>
              <a:t> ) is acyclic, then </a:t>
            </a:r>
            <a:r>
              <a:rPr lang="en-US" altLang="zh-TW" i="1" dirty="0" smtClean="0"/>
              <a:t>M</a:t>
            </a:r>
            <a:r>
              <a:rPr lang="en-US" altLang="zh-TW" dirty="0" smtClean="0"/>
              <a:t> is also acyclic. </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16</a:t>
            </a:fld>
            <a:endParaRPr lang="zh-TW" altLang="en-US"/>
          </a:p>
        </p:txBody>
      </p:sp>
    </p:spTree>
    <p:extLst>
      <p:ext uri="{BB962C8B-B14F-4D97-AF65-F5344CB8AC3E}">
        <p14:creationId xmlns:p14="http://schemas.microsoft.com/office/powerpoint/2010/main" xmlns="" val="1763349126"/>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S</a:t>
            </a:r>
            <a:r>
              <a:rPr lang="en-US" altLang="zh-TW" b="0" dirty="0" err="1" smtClean="0"/>
              <a:t>upersequence</a:t>
            </a:r>
            <a:r>
              <a:rPr lang="en-US" altLang="zh-TW" b="0" dirty="0" smtClean="0"/>
              <a:t> </a:t>
            </a:r>
            <a:r>
              <a:rPr lang="en-US" altLang="zh-TW" dirty="0" smtClean="0"/>
              <a:t>A</a:t>
            </a:r>
            <a:r>
              <a:rPr lang="en-US" altLang="zh-TW" b="0" dirty="0" smtClean="0"/>
              <a:t>utomation</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acc>
                      <m:accPr>
                        <m:chr m:val="̃"/>
                        <m:ctrlPr>
                          <a:rPr lang="en-US" altLang="zh-TW" b="0" i="1" smtClean="0">
                            <a:latin typeface="Cambria Math"/>
                          </a:rPr>
                        </m:ctrlPr>
                      </m:accPr>
                      <m:e>
                        <m:r>
                          <a:rPr lang="en-US" altLang="zh-TW" b="0" i="1" smtClean="0">
                            <a:latin typeface="Cambria Math"/>
                          </a:rPr>
                          <m:t>𝑧</m:t>
                        </m:r>
                      </m:e>
                    </m:acc>
                  </m:oMath>
                </a14:m>
                <a:r>
                  <a:rPr lang="en-US" altLang="zh-TW" dirty="0" smtClean="0"/>
                  <a:t>=[a, c]a</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t="-1617"/>
                </a:stretch>
              </a:blipFill>
            </p:spPr>
            <p:txBody>
              <a:bodyPr/>
              <a:lstStyle/>
              <a:p>
                <a:r>
                  <a:rPr lang="zh-TW" altLang="en-US">
                    <a:noFill/>
                  </a:rPr>
                  <a:t> </a:t>
                </a:r>
              </a:p>
            </p:txBody>
          </p:sp>
        </mc:Fallback>
      </mc:AlternateContent>
      <p:pic>
        <p:nvPicPr>
          <p:cNvPr id="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915816" y="1556792"/>
            <a:ext cx="4629150" cy="2276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011066" y="4077072"/>
            <a:ext cx="4438650"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投影片編號版面配置區 5"/>
          <p:cNvSpPr>
            <a:spLocks noGrp="1"/>
          </p:cNvSpPr>
          <p:nvPr>
            <p:ph type="sldNum" sz="quarter" idx="12"/>
          </p:nvPr>
        </p:nvSpPr>
        <p:spPr/>
        <p:txBody>
          <a:bodyPr/>
          <a:lstStyle/>
          <a:p>
            <a:fld id="{AE63921D-9606-4564-A426-6145AEB5FF2C}" type="slidenum">
              <a:rPr lang="zh-TW" altLang="en-US" smtClean="0"/>
              <a:pPr/>
              <a:t>17</a:t>
            </a:fld>
            <a:endParaRPr lang="zh-TW" altLang="en-US"/>
          </a:p>
        </p:txBody>
      </p:sp>
    </p:spTree>
    <p:extLst>
      <p:ext uri="{BB962C8B-B14F-4D97-AF65-F5344CB8AC3E}">
        <p14:creationId xmlns:p14="http://schemas.microsoft.com/office/powerpoint/2010/main" xmlns="" val="2597955556"/>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en-US" altLang="zh-TW" dirty="0" smtClean="0"/>
                  <a:t>Given a degenerate string </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dirty="0" smtClean="0"/>
                  <a:t> of length n, Algorithm 4 correctly constructs a deterministic finite automaton M accepting language L(M) = Super(</a:t>
                </a:r>
                <a14:m>
                  <m:oMath xmlns:m="http://schemas.openxmlformats.org/officeDocument/2006/math">
                    <m:acc>
                      <m:accPr>
                        <m:chr m:val="̃"/>
                        <m:ctrlPr>
                          <a:rPr lang="en-US" altLang="zh-TW" b="0" i="1" smtClean="0">
                            <a:latin typeface="Cambria Math"/>
                          </a:rPr>
                        </m:ctrlPr>
                      </m:accPr>
                      <m:e>
                        <m:r>
                          <a:rPr lang="en-US" altLang="zh-TW" b="0" i="1" smtClean="0">
                            <a:latin typeface="Cambria Math"/>
                          </a:rPr>
                          <m:t>𝑥</m:t>
                        </m:r>
                      </m:e>
                    </m:acc>
                  </m:oMath>
                </a14:m>
                <a:r>
                  <a:rPr lang="en-US" altLang="zh-TW" dirty="0" smtClean="0"/>
                  <a:t>) in O(|</a:t>
                </a:r>
                <a:r>
                  <a:rPr lang="el-GR" altLang="zh-TW" i="1" dirty="0" smtClean="0"/>
                  <a:t>Σ</a:t>
                </a:r>
                <a:r>
                  <a:rPr lang="en-US" altLang="zh-TW" dirty="0" smtClean="0"/>
                  <a:t>|</a:t>
                </a:r>
                <a:r>
                  <a:rPr lang="en-US" altLang="zh-TW" i="1" dirty="0" smtClean="0"/>
                  <a:t>n</a:t>
                </a:r>
                <a:r>
                  <a:rPr lang="en-US" altLang="zh-TW" dirty="0" smtClean="0"/>
                  <a:t>) time. </a:t>
                </a:r>
              </a:p>
              <a:p>
                <a:r>
                  <a:rPr lang="en-US" altLang="zh-TW" i="1" dirty="0" smtClean="0"/>
                  <a:t>M</a:t>
                </a:r>
                <a:r>
                  <a:rPr lang="en-US" altLang="zh-TW" dirty="0" smtClean="0"/>
                  <a:t> has </a:t>
                </a:r>
                <a:r>
                  <a:rPr lang="en-US" altLang="zh-TW" i="1" dirty="0" smtClean="0"/>
                  <a:t>n</a:t>
                </a:r>
                <a:r>
                  <a:rPr lang="en-US" altLang="zh-TW" dirty="0" smtClean="0"/>
                  <a:t> + 1 states and |</a:t>
                </a:r>
                <a:r>
                  <a:rPr lang="el-GR" altLang="zh-TW" i="1" dirty="0" smtClean="0"/>
                  <a:t>Σ</a:t>
                </a:r>
                <a:r>
                  <a:rPr lang="en-US" altLang="zh-TW" dirty="0" smtClean="0"/>
                  <a:t>|(</a:t>
                </a:r>
                <a:r>
                  <a:rPr lang="en-US" altLang="zh-TW" i="1" dirty="0" smtClean="0"/>
                  <a:t>n</a:t>
                </a:r>
                <a:r>
                  <a:rPr lang="en-US" altLang="zh-TW" dirty="0" smtClean="0"/>
                  <a:t> + 1) transitions. </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E63921D-9606-4564-A426-6145AEB5FF2C}" type="slidenum">
              <a:rPr lang="zh-TW" altLang="en-US" smtClean="0"/>
              <a:pPr/>
              <a:t>18</a:t>
            </a:fld>
            <a:endParaRPr lang="zh-TW" altLang="en-US"/>
          </a:p>
        </p:txBody>
      </p:sp>
    </p:spTree>
    <p:extLst>
      <p:ext uri="{BB962C8B-B14F-4D97-AF65-F5344CB8AC3E}">
        <p14:creationId xmlns:p14="http://schemas.microsoft.com/office/powerpoint/2010/main" xmlns="" val="4191254624"/>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 Length Strings Automation</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只留下能夠走到</a:t>
            </a:r>
            <a:r>
              <a:rPr lang="en-US" altLang="zh-TW" dirty="0" smtClean="0"/>
              <a:t>final state</a:t>
            </a:r>
            <a:r>
              <a:rPr lang="zh-TW" altLang="en-US" dirty="0" smtClean="0"/>
              <a:t>的 </a:t>
            </a:r>
            <a:r>
              <a:rPr lang="en-US" altLang="zh-TW" dirty="0" smtClean="0"/>
              <a:t>transition</a:t>
            </a:r>
            <a:r>
              <a:rPr lang="zh-TW" altLang="en-US" dirty="0" smtClean="0"/>
              <a:t>並且每個</a:t>
            </a:r>
            <a:r>
              <a:rPr lang="en-US" altLang="zh-TW" dirty="0" smtClean="0"/>
              <a:t>state</a:t>
            </a:r>
            <a:r>
              <a:rPr lang="zh-TW" altLang="en-US" dirty="0" smtClean="0"/>
              <a:t>之間都留從</a:t>
            </a:r>
            <a:r>
              <a:rPr lang="en-US" altLang="zh-TW" dirty="0" smtClean="0"/>
              <a:t>initial state</a:t>
            </a:r>
            <a:r>
              <a:rPr lang="zh-TW" altLang="en-US" dirty="0" smtClean="0"/>
              <a:t>走到他最長的路徑。</a:t>
            </a:r>
            <a:endParaRPr lang="en-US" altLang="zh-TW" dirty="0" smtClean="0"/>
          </a:p>
          <a:p>
            <a:r>
              <a:rPr lang="en-US" altLang="zh-TW" dirty="0"/>
              <a:t>R</a:t>
            </a:r>
            <a:r>
              <a:rPr lang="en-US" altLang="zh-TW" dirty="0" smtClean="0"/>
              <a:t>emove from the automaton all transitions and states which are not part of any longest path from the initial state to some of final states.</a:t>
            </a:r>
          </a:p>
          <a:p>
            <a:r>
              <a:rPr lang="en-US" altLang="zh-TW" dirty="0"/>
              <a:t>E</a:t>
            </a:r>
            <a:r>
              <a:rPr lang="en-US" altLang="zh-TW" dirty="0" smtClean="0"/>
              <a:t>mploy a modification of the longest</a:t>
            </a:r>
            <a:r>
              <a:rPr lang="zh-TW" altLang="en-US" dirty="0"/>
              <a:t> </a:t>
            </a:r>
            <a:r>
              <a:rPr lang="en-US" altLang="zh-TW" dirty="0" smtClean="0"/>
              <a:t>path algorithm for directed acyclic graphs (DAGs) based on the topological ordering of nodes (states), which works in linear time with respect to a number of edges of a given graph.</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19</a:t>
            </a:fld>
            <a:endParaRPr lang="zh-TW" altLang="en-US"/>
          </a:p>
        </p:txBody>
      </p:sp>
    </p:spTree>
    <p:extLst>
      <p:ext uri="{BB962C8B-B14F-4D97-AF65-F5344CB8AC3E}">
        <p14:creationId xmlns:p14="http://schemas.microsoft.com/office/powerpoint/2010/main" xmlns="" val="3975772891"/>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 Length Strings Automation</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522490" y="3574747"/>
            <a:ext cx="4421505" cy="2043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 y="2420889"/>
            <a:ext cx="4253865" cy="3087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20</a:t>
            </a:fld>
            <a:endParaRPr lang="zh-TW" altLang="en-US"/>
          </a:p>
        </p:txBody>
      </p:sp>
    </p:spTree>
    <p:extLst>
      <p:ext uri="{BB962C8B-B14F-4D97-AF65-F5344CB8AC3E}">
        <p14:creationId xmlns:p14="http://schemas.microsoft.com/office/powerpoint/2010/main" xmlns="" val="3241483168"/>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 Length Strings Automation</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2"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101453" y="1556792"/>
            <a:ext cx="3727541" cy="27050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15" name="物件 14"/>
          <p:cNvGraphicFramePr>
            <a:graphicFrameLocks noChangeAspect="1"/>
          </p:cNvGraphicFramePr>
          <p:nvPr>
            <p:extLst>
              <p:ext uri="{D42A27DB-BD31-4B8C-83A1-F6EECF244321}">
                <p14:modId xmlns:p14="http://schemas.microsoft.com/office/powerpoint/2010/main" xmlns="" val="2310201567"/>
              </p:ext>
            </p:extLst>
          </p:nvPr>
        </p:nvGraphicFramePr>
        <p:xfrm>
          <a:off x="258169" y="5279903"/>
          <a:ext cx="482600" cy="482600"/>
        </p:xfrm>
        <a:graphic>
          <a:graphicData uri="http://schemas.openxmlformats.org/presentationml/2006/ole">
            <p:oleObj spid="_x0000_s9238" name="Visio" r:id="rId4" imgW="481990" imgH="482057" progId="Visio.Drawing.11">
              <p:link updateAutomatic="1"/>
            </p:oleObj>
          </a:graphicData>
        </a:graphic>
      </p:graphicFrame>
      <p:pic>
        <p:nvPicPr>
          <p:cNvPr id="9226" name="Picture 10"/>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1115616" y="4653335"/>
            <a:ext cx="1971675" cy="1533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7" name="Picture 11"/>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3419872" y="4324722"/>
            <a:ext cx="2543175" cy="2190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8" name="Picture 12"/>
          <p:cNvPicPr>
            <a:picLocks noChangeAspect="1" noChangeArrowheads="1"/>
          </p:cNvPicPr>
          <p:nvPr/>
        </p:nvPicPr>
        <p:blipFill>
          <a:blip r:embed="rId7">
            <a:extLst>
              <a:ext uri="{28A0092B-C50C-407E-A947-70E740481C1C}">
                <a14:useLocalDpi xmlns:a14="http://schemas.microsoft.com/office/drawing/2010/main" xmlns="" val="0"/>
              </a:ext>
            </a:extLst>
          </a:blip>
          <a:srcRect/>
          <a:stretch>
            <a:fillRect/>
          </a:stretch>
        </p:blipFill>
        <p:spPr bwMode="auto">
          <a:xfrm>
            <a:off x="6156176" y="4077072"/>
            <a:ext cx="2543175" cy="2686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21</a:t>
            </a:fld>
            <a:endParaRPr lang="zh-TW" altLang="en-US"/>
          </a:p>
        </p:txBody>
      </p:sp>
    </p:spTree>
    <p:extLst>
      <p:ext uri="{BB962C8B-B14F-4D97-AF65-F5344CB8AC3E}">
        <p14:creationId xmlns:p14="http://schemas.microsoft.com/office/powerpoint/2010/main" xmlns="" val="3718933743"/>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 Length Strings Automation</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355976" y="1772816"/>
            <a:ext cx="3486150" cy="2981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7504" y="2636912"/>
            <a:ext cx="3727541" cy="27050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355976" y="5114181"/>
            <a:ext cx="3486150" cy="1390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投影片編號版面配置區 3"/>
          <p:cNvSpPr>
            <a:spLocks noGrp="1"/>
          </p:cNvSpPr>
          <p:nvPr>
            <p:ph type="sldNum" sz="quarter" idx="12"/>
          </p:nvPr>
        </p:nvSpPr>
        <p:spPr/>
        <p:txBody>
          <a:bodyPr/>
          <a:lstStyle/>
          <a:p>
            <a:fld id="{AE63921D-9606-4564-A426-6145AEB5FF2C}" type="slidenum">
              <a:rPr lang="zh-TW" altLang="en-US" smtClean="0"/>
              <a:pPr/>
              <a:t>22</a:t>
            </a:fld>
            <a:endParaRPr lang="zh-TW" altLang="en-US"/>
          </a:p>
        </p:txBody>
      </p:sp>
    </p:spTree>
    <p:extLst>
      <p:ext uri="{BB962C8B-B14F-4D97-AF65-F5344CB8AC3E}">
        <p14:creationId xmlns:p14="http://schemas.microsoft.com/office/powerpoint/2010/main" xmlns="" val="103466283"/>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p:sp>
        <p:nvSpPr>
          <p:cNvPr id="3" name="內容版面配置區 2"/>
          <p:cNvSpPr>
            <a:spLocks noGrp="1"/>
          </p:cNvSpPr>
          <p:nvPr>
            <p:ph idx="1"/>
          </p:nvPr>
        </p:nvSpPr>
        <p:spPr/>
        <p:txBody>
          <a:bodyPr/>
          <a:lstStyle/>
          <a:p>
            <a:r>
              <a:rPr lang="en-US" altLang="zh-TW" dirty="0" smtClean="0"/>
              <a:t>Given an acyclic deterministic finite automaton </a:t>
            </a:r>
            <a:r>
              <a:rPr lang="en-US" altLang="zh-TW" i="1" dirty="0" smtClean="0"/>
              <a:t>M</a:t>
            </a:r>
            <a:r>
              <a:rPr lang="en-US" altLang="zh-TW" dirty="0" smtClean="0"/>
              <a:t>’ with </a:t>
            </a:r>
            <a:r>
              <a:rPr lang="en-US" altLang="zh-TW" i="1" dirty="0" smtClean="0"/>
              <a:t>n</a:t>
            </a:r>
            <a:r>
              <a:rPr lang="en-US" altLang="zh-TW" dirty="0" smtClean="0"/>
              <a:t> transitions, Algorithm 5 correctly constructs a deterministic finite automaton </a:t>
            </a:r>
            <a:r>
              <a:rPr lang="en-US" altLang="zh-TW" i="1" dirty="0" smtClean="0"/>
              <a:t>M</a:t>
            </a:r>
            <a:r>
              <a:rPr lang="en-US" altLang="zh-TW" dirty="0" smtClean="0"/>
              <a:t> accepting language L(</a:t>
            </a:r>
            <a:r>
              <a:rPr lang="en-US" altLang="zh-TW" i="1" dirty="0" smtClean="0"/>
              <a:t>M</a:t>
            </a:r>
            <a:r>
              <a:rPr lang="en-US" altLang="zh-TW" dirty="0" smtClean="0"/>
              <a:t>) = </a:t>
            </a:r>
            <a:r>
              <a:rPr lang="en-US" altLang="zh-TW" dirty="0" err="1" smtClean="0"/>
              <a:t>MaxLen</a:t>
            </a:r>
            <a:r>
              <a:rPr lang="en-US" altLang="zh-TW" dirty="0" smtClean="0"/>
              <a:t>(L(M’)) in </a:t>
            </a:r>
            <a:r>
              <a:rPr lang="en-US" altLang="zh-TW" i="1" dirty="0" smtClean="0"/>
              <a:t>O</a:t>
            </a:r>
            <a:r>
              <a:rPr lang="en-US" altLang="zh-TW" dirty="0" smtClean="0"/>
              <a:t>(</a:t>
            </a:r>
            <a:r>
              <a:rPr lang="en-US" altLang="zh-TW" i="1" dirty="0" smtClean="0"/>
              <a:t>n</a:t>
            </a:r>
            <a:r>
              <a:rPr lang="en-US" altLang="zh-TW" dirty="0" smtClean="0"/>
              <a:t>) time.</a:t>
            </a:r>
          </a:p>
          <a:p>
            <a:r>
              <a:rPr lang="en-US" altLang="zh-TW" dirty="0" smtClean="0"/>
              <a:t>M has at most as many states and at most as many transitions as M’. </a:t>
            </a:r>
            <a:endParaRPr lang="zh-TW" altLang="en-US"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23</a:t>
            </a:fld>
            <a:endParaRPr lang="zh-TW" altLang="en-US"/>
          </a:p>
        </p:txBody>
      </p:sp>
    </p:spTree>
    <p:extLst>
      <p:ext uri="{BB962C8B-B14F-4D97-AF65-F5344CB8AC3E}">
        <p14:creationId xmlns:p14="http://schemas.microsoft.com/office/powerpoint/2010/main" xmlns="" val="4237943160"/>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noAutofit/>
              </a:bodyPr>
              <a:lstStyle/>
              <a:p>
                <a14:m>
                  <m:oMath xmlns:m="http://schemas.openxmlformats.org/officeDocument/2006/math">
                    <m:r>
                      <a:rPr lang="en-US" altLang="zh-TW" b="0" i="1" smtClean="0">
                        <a:latin typeface="Cambria Math"/>
                      </a:rPr>
                      <m:t>𝐶𝐿𝐶𝑆𝑢𝑏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r>
                          <a:rPr lang="en-US" altLang="zh-TW" b="0" i="1" smtClean="0">
                            <a:latin typeface="Cambria Math"/>
                          </a:rPr>
                          <m:t>,</m:t>
                        </m:r>
                        <m:acc>
                          <m:accPr>
                            <m:chr m:val="̃"/>
                            <m:ctrlPr>
                              <a:rPr lang="en-US" altLang="zh-TW" b="0" i="1" smtClean="0">
                                <a:latin typeface="Cambria Math"/>
                              </a:rPr>
                            </m:ctrlPr>
                          </m:accPr>
                          <m:e>
                            <m:r>
                              <a:rPr lang="en-US" altLang="zh-TW" b="0" i="1" smtClean="0">
                                <a:latin typeface="Cambria Math"/>
                              </a:rPr>
                              <m:t>𝑦</m:t>
                            </m:r>
                          </m:e>
                        </m:acc>
                        <m:r>
                          <a:rPr lang="en-US" altLang="zh-TW" b="0" i="1" smtClean="0">
                            <a:latin typeface="Cambria Math"/>
                          </a:rPr>
                          <m:t>,</m:t>
                        </m:r>
                        <m:acc>
                          <m:accPr>
                            <m:chr m:val="̃"/>
                            <m:ctrlPr>
                              <a:rPr lang="en-US" altLang="zh-TW" b="0" i="1" smtClean="0">
                                <a:latin typeface="Cambria Math"/>
                              </a:rPr>
                            </m:ctrlPr>
                          </m:accPr>
                          <m:e>
                            <m:r>
                              <a:rPr lang="en-US" altLang="zh-TW" b="0" i="1" smtClean="0">
                                <a:latin typeface="Cambria Math"/>
                              </a:rPr>
                              <m:t>𝑧</m:t>
                            </m:r>
                          </m:e>
                        </m:acc>
                      </m:e>
                    </m:d>
                    <m:r>
                      <a:rPr lang="en-US" altLang="zh-TW" b="0" i="1" smtClean="0">
                        <a:latin typeface="Cambria Math"/>
                      </a:rPr>
                      <m:t>=</m:t>
                    </m:r>
                    <m:r>
                      <a:rPr lang="en-US" altLang="zh-TW" b="0" i="1" smtClean="0">
                        <a:latin typeface="Cambria Math"/>
                      </a:rPr>
                      <m:t>𝑀𝑎𝑥𝐿𝑒𝑛</m:t>
                    </m:r>
                    <m:d>
                      <m:dPr>
                        <m:ctrlPr>
                          <a:rPr lang="en-US" altLang="zh-TW" b="0" i="1" smtClean="0">
                            <a:latin typeface="Cambria Math"/>
                          </a:rPr>
                        </m:ctrlPr>
                      </m:dPr>
                      <m:e>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ea typeface="Cambria Math"/>
                          </a:rPr>
                          <m:t>∩</m:t>
                        </m:r>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e>
                    </m:d>
                  </m:oMath>
                </a14:m>
                <a:endParaRPr lang="en-US" altLang="zh-TW" b="0" dirty="0" smtClean="0"/>
              </a:p>
              <a:p>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en-US" altLang="zh-TW" b="0" i="1" smtClean="0">
                        <a:latin typeface="Cambria Math"/>
                      </a:rPr>
                      <m:t> </m:t>
                    </m:r>
                  </m:oMath>
                </a14:m>
                <a:r>
                  <a:rPr lang="en-US" altLang="zh-TW" dirty="0" smtClean="0"/>
                  <a:t>and </a:t>
                </a:r>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oMath>
                </a14:m>
                <a:r>
                  <a:rPr lang="en-US" altLang="zh-TW" dirty="0" smtClean="0"/>
                  <a:t> are constructed in O(|</a:t>
                </a:r>
                <a:r>
                  <a:rPr lang="el-GR" altLang="zh-TW" i="1" dirty="0" smtClean="0"/>
                  <a:t>Σ</a:t>
                </a:r>
                <a:r>
                  <a:rPr lang="en-US" altLang="zh-TW" dirty="0" smtClean="0"/>
                  <a:t>|n) and O(|</a:t>
                </a:r>
                <a:r>
                  <a:rPr lang="el-GR" altLang="zh-TW" i="1" dirty="0" smtClean="0"/>
                  <a:t>Σ</a:t>
                </a:r>
                <a:r>
                  <a:rPr lang="en-US" altLang="zh-TW" dirty="0" smtClean="0"/>
                  <a:t>|m) time and they have at most n + 1 and m + 1 states, respectively. </a:t>
                </a:r>
              </a:p>
              <a:p>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rPr>
                      <m:t> </m:t>
                    </m:r>
                  </m:oMath>
                </a14:m>
                <a:r>
                  <a:rPr lang="en-US" altLang="zh-TW" dirty="0" smtClean="0"/>
                  <a:t>is constructed in O(|</a:t>
                </a:r>
                <a:r>
                  <a:rPr lang="el-GR" altLang="zh-TW" i="1" dirty="0" smtClean="0"/>
                  <a:t>Σ</a:t>
                </a:r>
                <a:r>
                  <a:rPr lang="en-US" altLang="zh-TW" dirty="0" smtClean="0"/>
                  <a:t>|nm) time and has at most (n+1)(m+1) states. </a:t>
                </a:r>
              </a:p>
              <a:p>
                <a14:m>
                  <m:oMath xmlns:m="http://schemas.openxmlformats.org/officeDocument/2006/math">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oMath>
                </a14:m>
                <a:r>
                  <a:rPr lang="zh-TW" altLang="en-US" dirty="0" smtClean="0"/>
                  <a:t/>
                </a:r>
                <a:r>
                  <a:rPr lang="en-US" altLang="zh-TW" dirty="0" smtClean="0"/>
                  <a:t>has exactly r+1 states and is constructed in O(|</a:t>
                </a:r>
                <a:r>
                  <a:rPr lang="el-GR" altLang="zh-TW" i="1" dirty="0" smtClean="0"/>
                  <a:t>Σ</a:t>
                </a:r>
                <a:r>
                  <a:rPr lang="en-US" altLang="zh-TW" dirty="0" smtClean="0"/>
                  <a:t>|r) time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r="-4444" b="-110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E63921D-9606-4564-A426-6145AEB5FF2C}" type="slidenum">
              <a:rPr lang="zh-TW" altLang="en-US" smtClean="0"/>
              <a:pPr/>
              <a:t>24</a:t>
            </a:fld>
            <a:endParaRPr lang="zh-TW" altLang="en-US"/>
          </a:p>
        </p:txBody>
      </p:sp>
    </p:spTree>
    <p:extLst>
      <p:ext uri="{BB962C8B-B14F-4D97-AF65-F5344CB8AC3E}">
        <p14:creationId xmlns:p14="http://schemas.microsoft.com/office/powerpoint/2010/main" xmlns="" val="339937854"/>
      </p:ext>
    </p:extLst>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normAutofit lnSpcReduction="10000"/>
              </a:bodyPr>
              <a:lstStyle/>
              <a:p>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ea typeface="Cambria Math"/>
                      </a:rPr>
                      <m:t>∩</m:t>
                    </m:r>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oMath>
                </a14:m>
                <a:r>
                  <a:rPr lang="zh-TW" altLang="en-US" dirty="0" smtClean="0"/>
                  <a:t/>
                </a:r>
                <a:r>
                  <a:rPr lang="en-US" altLang="zh-TW" dirty="0" smtClean="0"/>
                  <a:t>has at most (n+1)(m+1)(r+1) states, |</a:t>
                </a:r>
                <a:r>
                  <a:rPr lang="el-GR" altLang="zh-TW" i="1" dirty="0" smtClean="0"/>
                  <a:t>Σ</a:t>
                </a:r>
                <a:r>
                  <a:rPr lang="en-US" altLang="zh-TW" dirty="0" smtClean="0"/>
                  <a:t>|(n+1)(m+1)(r+1) transitions and is constructed in O(|</a:t>
                </a:r>
                <a:r>
                  <a:rPr lang="el-GR" altLang="zh-TW" i="1" dirty="0" smtClean="0"/>
                  <a:t>Σ</a:t>
                </a:r>
                <a:r>
                  <a:rPr lang="en-US" altLang="zh-TW" dirty="0" smtClean="0"/>
                  <a:t>|</a:t>
                </a:r>
                <a:r>
                  <a:rPr lang="en-US" altLang="zh-TW" dirty="0" err="1" smtClean="0"/>
                  <a:t>nmr</a:t>
                </a:r>
                <a:r>
                  <a:rPr lang="en-US" altLang="zh-TW" dirty="0" smtClean="0"/>
                  <a:t>). </a:t>
                </a:r>
              </a:p>
              <a:p>
                <a:r>
                  <a:rPr lang="en-US" altLang="zh-TW" dirty="0" smtClean="0"/>
                  <a:t>Construction of </a:t>
                </a:r>
                <a14:m>
                  <m:oMath xmlns:m="http://schemas.openxmlformats.org/officeDocument/2006/math">
                    <m:r>
                      <a:rPr lang="en-US" altLang="zh-TW" b="0" i="1" smtClean="0">
                        <a:latin typeface="Cambria Math"/>
                      </a:rPr>
                      <m:t>𝑀𝑎𝑥𝐿𝑒𝑛</m:t>
                    </m:r>
                    <m:d>
                      <m:dPr>
                        <m:ctrlPr>
                          <a:rPr lang="en-US" altLang="zh-TW" b="0" i="1" smtClean="0">
                            <a:latin typeface="Cambria Math"/>
                          </a:rPr>
                        </m:ctrlPr>
                      </m:dPr>
                      <m:e>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ea typeface="Cambria Math"/>
                          </a:rPr>
                          <m:t>∩</m:t>
                        </m:r>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e>
                    </m:d>
                  </m:oMath>
                </a14:m>
                <a:r>
                  <a:rPr lang="en-US" altLang="zh-TW" dirty="0" smtClean="0"/>
                  <a:t> from </a:t>
                </a:r>
                <a14:m>
                  <m:oMath xmlns:m="http://schemas.openxmlformats.org/officeDocument/2006/math">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𝑥</m:t>
                            </m:r>
                          </m:e>
                        </m:acc>
                      </m:e>
                    </m:d>
                    <m:r>
                      <a:rPr lang="zh-TW" altLang="en-US" b="0" i="1" smtClean="0">
                        <a:latin typeface="Cambria Math"/>
                      </a:rPr>
                      <m:t>∩</m:t>
                    </m:r>
                    <m:r>
                      <a:rPr lang="en-US" altLang="zh-TW" b="0" i="1" smtClean="0">
                        <a:latin typeface="Cambria Math"/>
                      </a:rPr>
                      <m:t>𝑆𝑢𝑏</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𝑦</m:t>
                            </m:r>
                          </m:e>
                        </m:acc>
                      </m:e>
                    </m:d>
                    <m:r>
                      <a:rPr lang="en-US" altLang="zh-TW" b="0" i="1" smtClean="0">
                        <a:latin typeface="Cambria Math"/>
                        <a:ea typeface="Cambria Math"/>
                      </a:rPr>
                      <m:t>∩</m:t>
                    </m:r>
                    <m:r>
                      <a:rPr lang="en-US" altLang="zh-TW" b="0" i="1" smtClean="0">
                        <a:latin typeface="Cambria Math"/>
                      </a:rPr>
                      <m:t>𝑆𝑢𝑝𝑒𝑟</m:t>
                    </m:r>
                    <m:d>
                      <m:dPr>
                        <m:ctrlPr>
                          <a:rPr lang="en-US" altLang="zh-TW" b="0" i="1" smtClean="0">
                            <a:latin typeface="Cambria Math"/>
                          </a:rPr>
                        </m:ctrlPr>
                      </m:dPr>
                      <m:e>
                        <m:acc>
                          <m:accPr>
                            <m:chr m:val="̃"/>
                            <m:ctrlPr>
                              <a:rPr lang="en-US" altLang="zh-TW" b="0" i="1" smtClean="0">
                                <a:latin typeface="Cambria Math"/>
                              </a:rPr>
                            </m:ctrlPr>
                          </m:accPr>
                          <m:e>
                            <m:r>
                              <a:rPr lang="en-US" altLang="zh-TW" b="0" i="1" smtClean="0">
                                <a:latin typeface="Cambria Math"/>
                              </a:rPr>
                              <m:t>𝑧</m:t>
                            </m:r>
                          </m:e>
                        </m:acc>
                      </m:e>
                    </m:d>
                  </m:oMath>
                </a14:m>
                <a:r>
                  <a:rPr lang="en-US" altLang="zh-TW" dirty="0" smtClean="0"/>
                  <a:t> takes thus O(|</a:t>
                </a:r>
                <a:r>
                  <a:rPr lang="el-GR" altLang="zh-TW" i="1" dirty="0" smtClean="0"/>
                  <a:t>Σ</a:t>
                </a:r>
                <a:r>
                  <a:rPr lang="en-US" altLang="zh-TW" dirty="0" smtClean="0"/>
                  <a:t>|</a:t>
                </a:r>
                <a:r>
                  <a:rPr lang="en-US" altLang="zh-TW" dirty="0" err="1" smtClean="0"/>
                  <a:t>nmr</a:t>
                </a:r>
                <a:r>
                  <a:rPr lang="en-US" altLang="zh-TW" dirty="0" smtClean="0"/>
                  <a:t>). </a:t>
                </a:r>
              </a:p>
              <a:p>
                <a:r>
                  <a:rPr lang="en-US" altLang="zh-TW" dirty="0" smtClean="0"/>
                  <a:t>Therefore, the total time complexity of the algorithm is O(|</a:t>
                </a:r>
                <a:r>
                  <a:rPr lang="el-GR" altLang="zh-TW" i="1" dirty="0" smtClean="0"/>
                  <a:t>Σ</a:t>
                </a:r>
                <a:r>
                  <a:rPr lang="en-US" altLang="zh-TW" dirty="0" smtClean="0"/>
                  <a:t>|</a:t>
                </a:r>
                <a:r>
                  <a:rPr lang="en-US" altLang="zh-TW" dirty="0" err="1" smtClean="0"/>
                  <a:t>nmr</a:t>
                </a:r>
                <a:r>
                  <a:rPr lang="en-US" altLang="zh-TW" dirty="0" smtClean="0"/>
                  <a:t>).</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2695" r="-27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E63921D-9606-4564-A426-6145AEB5FF2C}" type="slidenum">
              <a:rPr lang="zh-TW" altLang="en-US" smtClean="0"/>
              <a:pPr/>
              <a:t>25</a:t>
            </a:fld>
            <a:endParaRPr lang="zh-TW" altLang="en-US"/>
          </a:p>
        </p:txBody>
      </p:sp>
    </p:spTree>
    <p:extLst>
      <p:ext uri="{BB962C8B-B14F-4D97-AF65-F5344CB8AC3E}">
        <p14:creationId xmlns:p14="http://schemas.microsoft.com/office/powerpoint/2010/main" xmlns="" val="424667312"/>
      </p:ext>
    </p:extLst>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End</a:t>
            </a:r>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26</a:t>
            </a:fld>
            <a:endParaRPr lang="zh-TW" altLang="en-US"/>
          </a:p>
        </p:txBody>
      </p:sp>
    </p:spTree>
    <p:extLst>
      <p:ext uri="{BB962C8B-B14F-4D97-AF65-F5344CB8AC3E}">
        <p14:creationId xmlns:p14="http://schemas.microsoft.com/office/powerpoint/2010/main" xmlns="" val="2134496666"/>
      </p:ext>
    </p:extLst>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 Length Strings Automation</a:t>
            </a:r>
            <a:endParaRPr lang="zh-TW" altLang="en-US" dirty="0"/>
          </a:p>
        </p:txBody>
      </p:sp>
      <p:sp>
        <p:nvSpPr>
          <p:cNvPr id="3" name="內容版面配置區 2"/>
          <p:cNvSpPr>
            <a:spLocks noGrp="1"/>
          </p:cNvSpPr>
          <p:nvPr>
            <p:ph idx="1"/>
          </p:nvPr>
        </p:nvSpPr>
        <p:spPr/>
        <p:txBody>
          <a:bodyPr>
            <a:noAutofit/>
          </a:bodyPr>
          <a:lstStyle/>
          <a:p>
            <a:r>
              <a:rPr lang="en-US" altLang="zh-TW" sz="1600" dirty="0" smtClean="0"/>
              <a:t>The algorithm keeps for each state q of the automaton M , its input degree d</a:t>
            </a:r>
            <a:r>
              <a:rPr lang="en-US" altLang="zh-TW" sz="1600" baseline="-25000" dirty="0" smtClean="0"/>
              <a:t>in</a:t>
            </a:r>
            <a:r>
              <a:rPr lang="en-US" altLang="zh-TW" sz="1600" dirty="0" smtClean="0"/>
              <a:t>[q] (number of incoming transitions) and the length of the current longest  path to state q from the initial state, i.e. </a:t>
            </a:r>
            <a:r>
              <a:rPr lang="en-US" altLang="zh-TW" sz="1600" dirty="0" err="1" smtClean="0"/>
              <a:t>len</a:t>
            </a:r>
            <a:r>
              <a:rPr lang="en-US" altLang="zh-TW" sz="1600" dirty="0" smtClean="0"/>
              <a:t>[q]. </a:t>
            </a:r>
          </a:p>
          <a:p>
            <a:r>
              <a:rPr lang="en-US" altLang="zh-TW" sz="1600" dirty="0" smtClean="0"/>
              <a:t>The algorithm uses queue C for closed  states (states with zero input degree). </a:t>
            </a:r>
          </a:p>
          <a:p>
            <a:r>
              <a:rPr lang="en-US" altLang="zh-TW" sz="1600" dirty="0" smtClean="0"/>
              <a:t>On the beginning, the initial state q</a:t>
            </a:r>
            <a:r>
              <a:rPr lang="en-US" altLang="zh-TW" sz="1600" baseline="-25000" dirty="0" smtClean="0"/>
              <a:t>0</a:t>
            </a:r>
            <a:r>
              <a:rPr lang="en-US" altLang="zh-TW" sz="1600" dirty="0" smtClean="0"/>
              <a:t> of the automaton M is put into queue C. </a:t>
            </a:r>
          </a:p>
          <a:p>
            <a:r>
              <a:rPr lang="en-US" altLang="zh-TW" sz="1600" dirty="0" smtClean="0"/>
              <a:t>The main loop of the algorithm works as follows: </a:t>
            </a:r>
          </a:p>
          <a:p>
            <a:pPr lvl="1"/>
            <a:r>
              <a:rPr lang="en-US" altLang="zh-TW" sz="1600" dirty="0" smtClean="0"/>
              <a:t>a  closed state p is </a:t>
            </a:r>
            <a:r>
              <a:rPr lang="en-US" altLang="zh-TW" sz="1600" dirty="0" err="1" smtClean="0"/>
              <a:t>dequeued</a:t>
            </a:r>
            <a:r>
              <a:rPr lang="en-US" altLang="zh-TW" sz="1600" dirty="0" smtClean="0"/>
              <a:t>. </a:t>
            </a:r>
          </a:p>
          <a:p>
            <a:pPr lvl="1"/>
            <a:r>
              <a:rPr lang="en-US" altLang="zh-TW" sz="1600" dirty="0" smtClean="0"/>
              <a:t>Target state q of each transition leading from p is visited, its  input degree is decreased by 1 and the length of path from q</a:t>
            </a:r>
            <a:r>
              <a:rPr lang="en-US" altLang="zh-TW" sz="1600" baseline="-25000" dirty="0" smtClean="0"/>
              <a:t>0</a:t>
            </a:r>
            <a:r>
              <a:rPr lang="en-US" altLang="zh-TW" sz="1600" dirty="0" smtClean="0"/>
              <a:t> via p to q is computed.  </a:t>
            </a:r>
          </a:p>
          <a:p>
            <a:pPr lvl="1"/>
            <a:r>
              <a:rPr lang="en-US" altLang="zh-TW" sz="1600" dirty="0" smtClean="0"/>
              <a:t>If such a path is the longest one from q</a:t>
            </a:r>
            <a:r>
              <a:rPr lang="en-US" altLang="zh-TW" sz="1600" baseline="-25000" dirty="0" smtClean="0"/>
              <a:t>0</a:t>
            </a:r>
            <a:r>
              <a:rPr lang="en-US" altLang="zh-TW" sz="1600" dirty="0" smtClean="0"/>
              <a:t> to q, p is set as a predecessor of q. Predecessor is memorized in the form of reversed transition. Obviously, if there exist more than one longest path to state q, it has more predecessors. </a:t>
            </a:r>
          </a:p>
          <a:p>
            <a:pPr lvl="1"/>
            <a:r>
              <a:rPr lang="en-US" altLang="zh-TW" sz="1600" dirty="0" smtClean="0"/>
              <a:t>If the input degree of state q is decreased to zero, it is closed and put into queue C. </a:t>
            </a:r>
          </a:p>
          <a:p>
            <a:pPr lvl="1"/>
            <a:r>
              <a:rPr lang="en-US" altLang="zh-TW" sz="1600" dirty="0" smtClean="0"/>
              <a:t>The algorithm keeps a set S of states being targets of the longest paths form state q</a:t>
            </a:r>
            <a:r>
              <a:rPr lang="en-US" altLang="zh-TW" sz="1600" baseline="-25000" dirty="0" smtClean="0"/>
              <a:t>0</a:t>
            </a:r>
            <a:r>
              <a:rPr lang="en-US" altLang="zh-TW" sz="1600" dirty="0" smtClean="0"/>
              <a:t> in graph. This set is actualized during visit of each state. </a:t>
            </a:r>
          </a:p>
          <a:p>
            <a:pPr lvl="1"/>
            <a:r>
              <a:rPr lang="en-US" altLang="zh-TW" sz="1600" dirty="0" smtClean="0"/>
              <a:t>Finally, the states in set S becomes the initial states of the reversed automaton M</a:t>
            </a:r>
            <a:r>
              <a:rPr lang="en-US" altLang="zh-TW" sz="1600" baseline="-25000" dirty="0" smtClean="0"/>
              <a:t>R</a:t>
            </a:r>
            <a:r>
              <a:rPr lang="en-US" altLang="zh-TW" sz="1600" dirty="0" smtClean="0"/>
              <a:t> and state q</a:t>
            </a:r>
            <a:r>
              <a:rPr lang="en-US" altLang="zh-TW" sz="1600" baseline="-25000" dirty="0" smtClean="0"/>
              <a:t>0</a:t>
            </a:r>
            <a:r>
              <a:rPr lang="en-US" altLang="zh-TW" sz="1600" dirty="0" smtClean="0"/>
              <a:t> becomes its the only final state. </a:t>
            </a:r>
            <a:endParaRPr lang="zh-TW" altLang="en-US" sz="1600" dirty="0"/>
          </a:p>
        </p:txBody>
      </p:sp>
      <p:sp>
        <p:nvSpPr>
          <p:cNvPr id="4" name="投影片編號版面配置區 3"/>
          <p:cNvSpPr>
            <a:spLocks noGrp="1"/>
          </p:cNvSpPr>
          <p:nvPr>
            <p:ph type="sldNum" sz="quarter" idx="12"/>
          </p:nvPr>
        </p:nvSpPr>
        <p:spPr/>
        <p:txBody>
          <a:bodyPr/>
          <a:lstStyle/>
          <a:p>
            <a:fld id="{AE63921D-9606-4564-A426-6145AEB5FF2C}" type="slidenum">
              <a:rPr lang="zh-TW" altLang="en-US" smtClean="0"/>
              <a:pPr/>
              <a:t>27</a:t>
            </a:fld>
            <a:endParaRPr lang="zh-TW" altLang="en-US"/>
          </a:p>
        </p:txBody>
      </p:sp>
    </p:spTree>
    <p:extLst>
      <p:ext uri="{BB962C8B-B14F-4D97-AF65-F5344CB8AC3E}">
        <p14:creationId xmlns:p14="http://schemas.microsoft.com/office/powerpoint/2010/main" xmlns="" val="816229447"/>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TotalTime>
  <Words>1003</Words>
  <Application>Microsoft Office PowerPoint</Application>
  <PresentationFormat>如螢幕大小 (4:3)</PresentationFormat>
  <Paragraphs>141</Paragraphs>
  <Slides>27</Slides>
  <Notes>0</Notes>
  <HiddenSlides>0</HiddenSlides>
  <MMClips>0</MMClips>
  <ScaleCrop>false</ScaleCrop>
  <HeadingPairs>
    <vt:vector size="6" baseType="variant">
      <vt:variant>
        <vt:lpstr>佈景主題</vt:lpstr>
      </vt:variant>
      <vt:variant>
        <vt:i4>1</vt:i4>
      </vt:variant>
      <vt:variant>
        <vt:lpstr>連結</vt:lpstr>
      </vt:variant>
      <vt:variant>
        <vt:i4>1</vt:i4>
      </vt:variant>
      <vt:variant>
        <vt:lpstr>投影片標題</vt:lpstr>
      </vt:variant>
      <vt:variant>
        <vt:i4>27</vt:i4>
      </vt:variant>
    </vt:vector>
  </HeadingPairs>
  <TitlesOfParts>
    <vt:vector size="29" baseType="lpstr">
      <vt:lpstr>Office 佈景主題</vt:lpstr>
      <vt:lpstr>C:\Documents and Settings\chuck\桌面\繪圖1\Drawing\~頁-1\圓形</vt:lpstr>
      <vt:lpstr>Computing Constrained Longest Common Subsequence for Degenerate Strings Using Finite Automata</vt:lpstr>
      <vt:lpstr>The Constrained Longest Common Subsequence Problem for Degenerate Strings</vt:lpstr>
      <vt:lpstr>Abstract</vt:lpstr>
      <vt:lpstr>Degenerate String</vt:lpstr>
      <vt:lpstr>Degenerate String / LCS / CLCS</vt:lpstr>
      <vt:lpstr>Finite Automata</vt:lpstr>
      <vt:lpstr>Algorithm</vt:lpstr>
      <vt:lpstr> </vt:lpstr>
      <vt:lpstr> </vt:lpstr>
      <vt:lpstr>Algorithm</vt:lpstr>
      <vt:lpstr>Subsequence Automation</vt:lpstr>
      <vt:lpstr>Subsequence Automation</vt:lpstr>
      <vt:lpstr>Subsequence Automation</vt:lpstr>
      <vt:lpstr>Time Complexity</vt:lpstr>
      <vt:lpstr>Intersection</vt:lpstr>
      <vt:lpstr>Time Complexity</vt:lpstr>
      <vt:lpstr>Supersequence Automation</vt:lpstr>
      <vt:lpstr>Time Complexity</vt:lpstr>
      <vt:lpstr>Max Length Strings Automation</vt:lpstr>
      <vt:lpstr>Max Length Strings Automation</vt:lpstr>
      <vt:lpstr>Max Length Strings Automation</vt:lpstr>
      <vt:lpstr>Max Length Strings Automation</vt:lpstr>
      <vt:lpstr>Time Complexity</vt:lpstr>
      <vt:lpstr>Time Complexity</vt:lpstr>
      <vt:lpstr>Time Complexity</vt:lpstr>
      <vt:lpstr>End</vt:lpstr>
      <vt:lpstr>Max Length Strings Automation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constrained longest common subsequence for degenerate strings using finite automata</dc:title>
  <dc:creator>ab</dc:creator>
  <cp:lastModifiedBy>admin</cp:lastModifiedBy>
  <cp:revision>35</cp:revision>
  <dcterms:created xsi:type="dcterms:W3CDTF">2012-09-20T10:11:10Z</dcterms:created>
  <dcterms:modified xsi:type="dcterms:W3CDTF">2012-09-21T12:21:43Z</dcterms:modified>
</cp:coreProperties>
</file>