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56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79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6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0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68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685800" y="518815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Research on Longest Common Subsequence Fast Algorithm</a:t>
            </a:r>
            <a:endParaRPr lang="zh-TW" altLang="en-US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1411560" y="2394847"/>
            <a:ext cx="6400800" cy="3554433"/>
          </a:xfrm>
        </p:spPr>
        <p:txBody>
          <a:bodyPr>
            <a:normAutofit/>
          </a:bodyPr>
          <a:lstStyle/>
          <a:p>
            <a:r>
              <a:rPr lang="en-US" altLang="zh-TW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Jiamei</a:t>
            </a:r>
            <a:r>
              <a:rPr lang="en-US" altLang="zh-TW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Liu(</a:t>
            </a:r>
            <a:r>
              <a:rPr lang="zh-TW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劉佳梅</a:t>
            </a:r>
            <a:r>
              <a:rPr lang="en-US" altLang="zh-TW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), </a:t>
            </a:r>
            <a:r>
              <a:rPr lang="en-US" altLang="zh-TW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Suping</a:t>
            </a:r>
            <a:r>
              <a:rPr lang="en-US" altLang="zh-TW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Wu(</a:t>
            </a:r>
            <a:r>
              <a:rPr lang="zh-TW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吳素萍</a:t>
            </a:r>
            <a:r>
              <a:rPr lang="en-US" altLang="zh-TW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Consumer Electronics, </a:t>
            </a:r>
            <a:r>
              <a:rPr lang="en-US" altLang="zh-TW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Communications and </a:t>
            </a:r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Networks (</a:t>
            </a:r>
            <a:r>
              <a:rPr lang="en-US" altLang="zh-TW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CECNet</a:t>
            </a:r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), </a:t>
            </a:r>
            <a:r>
              <a:rPr lang="en-US" altLang="zh-TW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2011 International </a:t>
            </a:r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Conference on</a:t>
            </a:r>
            <a:endParaRPr lang="en-US" altLang="zh-TW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323528" y="5425298"/>
            <a:ext cx="6400800" cy="12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Presenter: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Che-Jui</a:t>
            </a:r>
            <a:r>
              <a:rPr lang="en-US" altLang="zh-TW" sz="2800" dirty="0" smtClean="0">
                <a:solidFill>
                  <a:schemeClr val="tx1"/>
                </a:solidFill>
              </a:rPr>
              <a:t> Hsu(</a:t>
            </a:r>
            <a:r>
              <a:rPr lang="zh-TW" altLang="en-US" sz="2800" dirty="0" smtClean="0">
                <a:solidFill>
                  <a:schemeClr val="tx1"/>
                </a:solidFill>
              </a:rPr>
              <a:t>許哲睿</a:t>
            </a:r>
            <a:r>
              <a:rPr lang="en-US" altLang="zh-TW" sz="28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Date</a:t>
            </a:r>
            <a:r>
              <a:rPr lang="en-US" altLang="zh-TW" sz="2800" smtClean="0">
                <a:solidFill>
                  <a:schemeClr val="tx1"/>
                </a:solidFill>
              </a:rPr>
              <a:t>: </a:t>
            </a:r>
            <a:r>
              <a:rPr lang="en-US" altLang="zh-TW" sz="2800" smtClean="0">
                <a:solidFill>
                  <a:schemeClr val="tx1"/>
                </a:solidFill>
              </a:rPr>
              <a:t>2012/9/21</a:t>
            </a:r>
            <a:endParaRPr lang="en-US" altLang="zh-TW" sz="2800" dirty="0" smtClean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720000" algn="just" ea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TW" dirty="0"/>
              <a:t>In order to improve the efficiency of searching the </a:t>
            </a:r>
            <a:r>
              <a:rPr lang="en-US" altLang="zh-TW" dirty="0" smtClean="0"/>
              <a:t>longest common subsequence (LCS</a:t>
            </a:r>
            <a:r>
              <a:rPr lang="en-US" altLang="zh-TW" dirty="0"/>
              <a:t>) </a:t>
            </a:r>
            <a:r>
              <a:rPr lang="zh-TW" altLang="en-US" dirty="0" smtClean="0"/>
              <a:t> </a:t>
            </a:r>
            <a:r>
              <a:rPr lang="en-US" altLang="zh-TW" dirty="0"/>
              <a:t>a method of finding </a:t>
            </a:r>
            <a:r>
              <a:rPr lang="en-US" altLang="zh-TW" dirty="0" smtClean="0"/>
              <a:t>LCS (here, the length </a:t>
            </a:r>
            <a:r>
              <a:rPr lang="en-US" altLang="zh-TW" dirty="0"/>
              <a:t>of the LCS p is much smaller than the length of smaller </a:t>
            </a:r>
            <a:r>
              <a:rPr lang="en-US" altLang="zh-TW" dirty="0" smtClean="0"/>
              <a:t>string of </a:t>
            </a:r>
            <a:r>
              <a:rPr lang="en-US" altLang="zh-TW" dirty="0"/>
              <a:t>two strings </a:t>
            </a:r>
            <a:r>
              <a:rPr lang="en-US" altLang="zh-TW" dirty="0" smtClean="0"/>
              <a:t>m) is </a:t>
            </a:r>
            <a:r>
              <a:rPr lang="en-US" altLang="zh-TW" dirty="0"/>
              <a:t>realized in this paper, which transform </a:t>
            </a:r>
            <a:r>
              <a:rPr lang="en-US" altLang="zh-TW" dirty="0" smtClean="0"/>
              <a:t>this problem </a:t>
            </a:r>
            <a:r>
              <a:rPr lang="en-US" altLang="zh-TW" dirty="0"/>
              <a:t>into solving the problem of matrix L (p, m), by theorem </a:t>
            </a:r>
            <a:r>
              <a:rPr lang="en-US" altLang="zh-TW" dirty="0" smtClean="0"/>
              <a:t>the process </a:t>
            </a:r>
            <a:r>
              <a:rPr lang="en-US" altLang="zh-TW" dirty="0"/>
              <a:t>of computing each element in the matrix is </a:t>
            </a:r>
            <a:r>
              <a:rPr lang="en-US" altLang="zh-TW" dirty="0" smtClean="0"/>
              <a:t>optimized. Algorithm </a:t>
            </a:r>
            <a:r>
              <a:rPr lang="en-US" altLang="zh-TW" dirty="0"/>
              <a:t>analysis and experimental results show this algorithm </a:t>
            </a:r>
            <a:r>
              <a:rPr lang="en-US" altLang="zh-TW" dirty="0" smtClean="0"/>
              <a:t>is better </a:t>
            </a:r>
            <a:r>
              <a:rPr lang="en-US" altLang="zh-TW" dirty="0"/>
              <a:t>than dynamic programming method. And a parallel </a:t>
            </a:r>
            <a:r>
              <a:rPr lang="en-US" altLang="zh-TW" dirty="0" smtClean="0"/>
              <a:t>algorithm based </a:t>
            </a:r>
            <a:r>
              <a:rPr lang="en-US" altLang="zh-TW" dirty="0"/>
              <a:t>on </a:t>
            </a:r>
            <a:r>
              <a:rPr lang="en-US" altLang="zh-TW" dirty="0" err="1"/>
              <a:t>OpenMP</a:t>
            </a:r>
            <a:r>
              <a:rPr lang="en-US" altLang="zh-TW" dirty="0"/>
              <a:t> is provided in this paper, which speed of </a:t>
            </a:r>
            <a:r>
              <a:rPr lang="en-US" altLang="zh-TW" dirty="0" err="1" smtClean="0"/>
              <a:t>sloving</a:t>
            </a:r>
            <a:r>
              <a:rPr lang="en-US" altLang="zh-TW" dirty="0" smtClean="0"/>
              <a:t> large-scale </a:t>
            </a:r>
            <a:r>
              <a:rPr lang="en-US" altLang="zh-TW" dirty="0"/>
              <a:t>data is greatly improved.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25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Definitions (1)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360000" indent="-360000" algn="just"/>
                <a:r>
                  <a:rPr lang="en-US" altLang="zh-TW" dirty="0"/>
                  <a:t>Definition 1 Subsequence : Given a string </a:t>
                </a:r>
                <a:r>
                  <a:rPr lang="en-US" altLang="zh-TW" dirty="0" smtClean="0"/>
                  <a:t>A=A[1]A[2]...A[m], </a:t>
                </a:r>
                <a:r>
                  <a:rPr lang="en-US" altLang="zh-TW" dirty="0"/>
                  <a:t>(</a:t>
                </a:r>
                <a:r>
                  <a:rPr lang="en-US" altLang="zh-TW" dirty="0" smtClean="0"/>
                  <a:t>A[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dirty="0"/>
                  <a:t>] is the </a:t>
                </a:r>
                <a:r>
                  <a:rPr lang="en-US" altLang="zh-TW" dirty="0" err="1"/>
                  <a:t>i-th</a:t>
                </a:r>
                <a:r>
                  <a:rPr lang="en-US" altLang="zh-TW" dirty="0"/>
                  <a:t> letter, A[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dirty="0"/>
                  <a:t>]∈ the character </a:t>
                </a:r>
                <a:r>
                  <a:rPr lang="en-US" altLang="zh-TW" dirty="0" smtClean="0"/>
                  <a:t>set ∑,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1</m:t>
                    </m:r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i="1" dirty="0" err="1" smtClean="0">
                        <a:latin typeface="Cambria Math"/>
                      </a:rPr>
                      <m:t>𝑖</m:t>
                    </m:r>
                    <m:r>
                      <a:rPr lang="en-US" altLang="zh-TW" i="1" dirty="0" smtClean="0">
                        <a:latin typeface="Cambria Math"/>
                      </a:rPr>
                      <m:t>&lt;</m:t>
                    </m:r>
                    <m:r>
                      <a:rPr lang="en-US" altLang="zh-TW" i="1" dirty="0" smtClean="0">
                        <a:latin typeface="Cambria Math"/>
                      </a:rPr>
                      <m:t>𝑚</m:t>
                    </m:r>
                    <m:r>
                      <a:rPr lang="en-US" altLang="zh-TW" i="1" dirty="0" smtClean="0">
                        <a:latin typeface="Cambria Math"/>
                      </a:rPr>
                      <m:t>=|</m:t>
                    </m:r>
                    <m:r>
                      <a:rPr lang="en-US" altLang="zh-TW" i="1" dirty="0" smtClean="0">
                        <a:latin typeface="Cambria Math"/>
                      </a:rPr>
                      <m:t>𝐴</m:t>
                    </m:r>
                    <m:r>
                      <a:rPr lang="en-US" altLang="zh-TW" i="1" dirty="0" smtClean="0">
                        <a:latin typeface="Cambria Math"/>
                      </a:rPr>
                      <m:t>|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|</m:t>
                    </m:r>
                    <m:r>
                      <a:rPr lang="en-US" altLang="zh-TW" i="1" dirty="0">
                        <a:latin typeface="Cambria Math"/>
                      </a:rPr>
                      <m:t>𝐴</m:t>
                    </m:r>
                    <m:r>
                      <a:rPr lang="en-US" altLang="zh-TW" i="1" dirty="0">
                        <a:latin typeface="Cambria Math"/>
                      </a:rPr>
                      <m:t>|</m:t>
                    </m:r>
                  </m:oMath>
                </a14:m>
                <a:r>
                  <a:rPr lang="en-US" altLang="zh-TW" dirty="0" smtClean="0"/>
                  <a:t> is the length of string A ), string B is the subsequence of </a:t>
                </a:r>
                <a:r>
                  <a:rPr lang="en-US" altLang="zh-TW" dirty="0"/>
                  <a:t>A, which refers to </a:t>
                </a:r>
                <a:r>
                  <a:rPr lang="en-US" altLang="zh-TW" dirty="0" smtClean="0"/>
                  <a:t>B=A[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𝑖</m:t>
                    </m:r>
                    <m:r>
                      <a:rPr lang="en-US" altLang="zh-TW" i="1" baseline="-25000" dirty="0">
                        <a:latin typeface="Cambria Math"/>
                      </a:rPr>
                      <m:t>1</m:t>
                    </m:r>
                  </m:oMath>
                </a14:m>
                <a:r>
                  <a:rPr lang="en-US" altLang="zh-TW" dirty="0" smtClean="0"/>
                  <a:t>]A[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𝑖</m:t>
                    </m:r>
                    <m:r>
                      <a:rPr lang="en-US" altLang="zh-TW" i="1" baseline="-25000" dirty="0"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dirty="0" smtClean="0"/>
                  <a:t>] ...A[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𝑖</m:t>
                    </m:r>
                    <m:r>
                      <a:rPr lang="en-US" altLang="zh-TW" i="1" baseline="-25000" dirty="0" err="1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dirty="0" smtClean="0"/>
                  <a:t>], where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𝑖</m:t>
                    </m:r>
                    <m:r>
                      <a:rPr lang="en-US" altLang="zh-TW" i="1" baseline="-25000" dirty="0" smtClean="0">
                        <a:latin typeface="Cambria Math"/>
                      </a:rPr>
                      <m:t>1</m:t>
                    </m:r>
                    <m:r>
                      <a:rPr lang="en-US" altLang="zh-TW" i="1" dirty="0" smtClean="0">
                        <a:latin typeface="Cambria Math"/>
                      </a:rPr>
                      <m:t>&lt;</m:t>
                    </m:r>
                    <m:r>
                      <a:rPr lang="en-US" altLang="zh-TW" i="1" dirty="0" smtClean="0">
                        <a:latin typeface="Cambria Math"/>
                      </a:rPr>
                      <m:t>𝑖</m:t>
                    </m:r>
                    <m:r>
                      <a:rPr lang="en-US" altLang="zh-TW" i="1" baseline="-25000" dirty="0" smtClean="0">
                        <a:latin typeface="Cambria Math"/>
                      </a:rPr>
                      <m:t>2</m:t>
                    </m:r>
                    <m:r>
                      <a:rPr lang="en-US" altLang="zh-TW" i="1" dirty="0" smtClean="0">
                        <a:latin typeface="Cambria Math"/>
                      </a:rPr>
                      <m:t>&lt;…&lt;</m:t>
                    </m:r>
                    <m:r>
                      <a:rPr lang="en-US" altLang="zh-TW" i="1" dirty="0" err="1">
                        <a:latin typeface="Cambria Math"/>
                      </a:rPr>
                      <m:t>𝑖</m:t>
                    </m:r>
                    <m:r>
                      <a:rPr lang="en-US" altLang="zh-TW" i="1" baseline="-25000" dirty="0" err="1">
                        <a:latin typeface="Cambria Math"/>
                      </a:rPr>
                      <m:t>𝑘</m:t>
                    </m:r>
                    <m:r>
                      <a:rPr lang="en-US" altLang="zh-TW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𝑘</m:t>
                    </m:r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360000" indent="-360000" algn="just"/>
                <a:r>
                  <a:rPr lang="en-US" altLang="zh-TW" dirty="0"/>
                  <a:t>Definition 2 Common Subsequence : Given character string A, B, C, C is called the common subsequence of A and B, which refers to C is not only the subsequence of A, but also the subsequence of B</a:t>
                </a:r>
                <a:r>
                  <a:rPr lang="en-US" altLang="zh-TW" dirty="0" smtClean="0"/>
                  <a:t>.</a:t>
                </a:r>
              </a:p>
              <a:p>
                <a:pPr marL="360000" indent="-360000" algn="just"/>
                <a:r>
                  <a:rPr lang="en-US" altLang="zh-TW" dirty="0"/>
                  <a:t>Definition 3 Longest Common Subsequence (LCS) : Given string A, B, C, C is called the LCS of A and B, which refers to C is common subsequence of A and B, for any common subsequence D and </a:t>
                </a:r>
                <a14:m>
                  <m:oMath xmlns:m="http://schemas.openxmlformats.org/officeDocument/2006/math">
                    <m:r>
                      <a:rPr lang="en-US" altLang="zh-TW" dirty="0">
                        <a:latin typeface="Cambria Math"/>
                      </a:rPr>
                      <m:t>|</m:t>
                    </m:r>
                    <m:r>
                      <a:rPr lang="en-US" altLang="zh-TW" i="1" dirty="0">
                        <a:latin typeface="Cambria Math"/>
                      </a:rPr>
                      <m:t>𝐷</m:t>
                    </m:r>
                    <m:r>
                      <a:rPr lang="en-US" altLang="zh-TW" i="1" dirty="0">
                        <a:latin typeface="Cambria Math"/>
                      </a:rPr>
                      <m:t>|≤|</m:t>
                    </m:r>
                    <m:r>
                      <a:rPr lang="en-US" altLang="zh-TW" i="1" dirty="0">
                        <a:latin typeface="Cambria Math"/>
                      </a:rPr>
                      <m:t>𝐶</m:t>
                    </m:r>
                    <m:r>
                      <a:rPr lang="en-US" altLang="zh-TW" i="1" dirty="0">
                        <a:latin typeface="Cambria Math"/>
                      </a:rPr>
                      <m:t>|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37" t="-2426" r="-21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6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Definitions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000" indent="-360000" algn="just"/>
            <a:r>
              <a:rPr lang="en-US" altLang="zh-TW" sz="2500" dirty="0" smtClean="0"/>
              <a:t>Definition 4</a:t>
            </a:r>
            <a:r>
              <a:rPr lang="en-US" altLang="zh-TW" sz="2500" dirty="0"/>
              <a:t> : </a:t>
            </a:r>
            <a:r>
              <a:rPr lang="en-US" altLang="zh-TW" sz="2500" dirty="0" smtClean="0"/>
              <a:t>Given </a:t>
            </a:r>
            <a:r>
              <a:rPr lang="en-US" altLang="zh-TW" sz="2500" dirty="0"/>
              <a:t>a string A=A[1]A[2</a:t>
            </a:r>
            <a:r>
              <a:rPr lang="en-US" altLang="zh-TW" sz="2500" dirty="0" smtClean="0"/>
              <a:t>]...A[m</a:t>
            </a:r>
            <a:r>
              <a:rPr lang="en-US" altLang="zh-TW" sz="2500" dirty="0"/>
              <a:t>] and </a:t>
            </a:r>
            <a:r>
              <a:rPr lang="en-US" altLang="zh-TW" sz="2500" dirty="0" smtClean="0"/>
              <a:t>the other </a:t>
            </a:r>
            <a:r>
              <a:rPr lang="en-US" altLang="zh-TW" sz="2500" dirty="0"/>
              <a:t>one, B=B[1]B[2</a:t>
            </a:r>
            <a:r>
              <a:rPr lang="en-US" altLang="zh-TW" sz="2500" dirty="0" smtClean="0"/>
              <a:t>]...B[n</a:t>
            </a:r>
            <a:r>
              <a:rPr lang="en-US" altLang="zh-TW" sz="2500" dirty="0"/>
              <a:t>], </a:t>
            </a:r>
            <a:r>
              <a:rPr lang="en-US" altLang="zh-TW" sz="2500" dirty="0" smtClean="0"/>
              <a:t>A(1: </a:t>
            </a:r>
            <a:r>
              <a:rPr lang="en-US" altLang="zh-TW" sz="2500" dirty="0" err="1" smtClean="0"/>
              <a:t>i</a:t>
            </a:r>
            <a:r>
              <a:rPr lang="en-US" altLang="zh-TW" sz="2500" dirty="0" smtClean="0"/>
              <a:t>) </a:t>
            </a:r>
            <a:r>
              <a:rPr lang="en-US" altLang="zh-TW" sz="2500" dirty="0"/>
              <a:t>means </a:t>
            </a:r>
            <a:r>
              <a:rPr lang="en-US" altLang="zh-TW" sz="2500" dirty="0" smtClean="0"/>
              <a:t>continuous sequence A, A[1]A[2]...A[</a:t>
            </a:r>
            <a:r>
              <a:rPr lang="en-US" altLang="zh-TW" sz="2500" dirty="0" err="1" smtClean="0"/>
              <a:t>i</a:t>
            </a:r>
            <a:r>
              <a:rPr lang="en-US" altLang="zh-TW" sz="2500" dirty="0"/>
              <a:t>], in the same way </a:t>
            </a:r>
            <a:r>
              <a:rPr lang="en-US" altLang="zh-TW" sz="2500" dirty="0" smtClean="0"/>
              <a:t>B(1</a:t>
            </a:r>
            <a:r>
              <a:rPr lang="en-US" altLang="zh-TW" sz="2500" dirty="0"/>
              <a:t>: j) </a:t>
            </a:r>
            <a:r>
              <a:rPr lang="en-US" altLang="zh-TW" sz="2500" dirty="0" smtClean="0"/>
              <a:t>means continuous </a:t>
            </a:r>
            <a:r>
              <a:rPr lang="en-US" altLang="zh-TW" sz="2500" dirty="0"/>
              <a:t>sequence B, B[1]B[2</a:t>
            </a:r>
            <a:r>
              <a:rPr lang="en-US" altLang="zh-TW" sz="2500" dirty="0" smtClean="0"/>
              <a:t>]...B[j</a:t>
            </a:r>
            <a:r>
              <a:rPr lang="en-US" altLang="zh-TW" sz="2500" dirty="0"/>
              <a:t>]. </a:t>
            </a:r>
            <a:r>
              <a:rPr lang="en-US" altLang="zh-TW" sz="2500" dirty="0" smtClean="0">
                <a:solidFill>
                  <a:srgbClr val="FF0000"/>
                </a:solidFill>
              </a:rPr>
              <a:t>L</a:t>
            </a:r>
            <a:r>
              <a:rPr lang="en-US" altLang="zh-TW" sz="25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TW" sz="2500" dirty="0" smtClean="0">
                <a:solidFill>
                  <a:srgbClr val="FF0000"/>
                </a:solidFill>
              </a:rPr>
              <a:t>(k</a:t>
            </a:r>
            <a:r>
              <a:rPr lang="en-US" altLang="zh-TW" sz="2500" dirty="0">
                <a:solidFill>
                  <a:srgbClr val="FF0000"/>
                </a:solidFill>
              </a:rPr>
              <a:t>)</a:t>
            </a:r>
            <a:r>
              <a:rPr lang="en-US" altLang="zh-TW" sz="2500" dirty="0"/>
              <a:t> refers to </a:t>
            </a:r>
            <a:r>
              <a:rPr lang="en-US" altLang="zh-TW" sz="2500" dirty="0" smtClean="0"/>
              <a:t>that the </a:t>
            </a:r>
            <a:r>
              <a:rPr lang="en-US" altLang="zh-TW" sz="2500" dirty="0"/>
              <a:t>string </a:t>
            </a:r>
            <a:r>
              <a:rPr lang="en-US" altLang="zh-TW" sz="2500" dirty="0" smtClean="0"/>
              <a:t>A(1</a:t>
            </a:r>
            <a:r>
              <a:rPr lang="en-US" altLang="zh-TW" sz="2500" dirty="0"/>
              <a:t>: </a:t>
            </a:r>
            <a:r>
              <a:rPr lang="en-US" altLang="zh-TW" sz="2500" dirty="0" err="1"/>
              <a:t>i</a:t>
            </a:r>
            <a:r>
              <a:rPr lang="en-US" altLang="zh-TW" sz="2500" dirty="0"/>
              <a:t>) and </a:t>
            </a:r>
            <a:r>
              <a:rPr lang="en-US" altLang="zh-TW" sz="2500" dirty="0" smtClean="0"/>
              <a:t>B(1: </a:t>
            </a:r>
            <a:r>
              <a:rPr lang="en-US" altLang="zh-TW" sz="2500" dirty="0"/>
              <a:t>j) has the LCS with length k, </a:t>
            </a:r>
            <a:r>
              <a:rPr lang="en-US" altLang="zh-TW" sz="2500" dirty="0" smtClean="0"/>
              <a:t>which is </a:t>
            </a:r>
            <a:r>
              <a:rPr lang="en-US" altLang="zh-TW" sz="2500" dirty="0"/>
              <a:t>the minimum value of j. With the formula is </a:t>
            </a:r>
            <a:r>
              <a:rPr lang="en-US" altLang="zh-TW" sz="2500" dirty="0" smtClean="0">
                <a:solidFill>
                  <a:srgbClr val="FF0000"/>
                </a:solidFill>
              </a:rPr>
              <a:t>L</a:t>
            </a:r>
            <a:r>
              <a:rPr lang="en-US" altLang="zh-TW" sz="25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TW" sz="2500" dirty="0" smtClean="0">
                <a:solidFill>
                  <a:srgbClr val="FF0000"/>
                </a:solidFill>
              </a:rPr>
              <a:t>(k</a:t>
            </a:r>
            <a:r>
              <a:rPr lang="en-US" altLang="zh-TW" sz="2500" dirty="0">
                <a:solidFill>
                  <a:srgbClr val="FF0000"/>
                </a:solidFill>
              </a:rPr>
              <a:t>) = </a:t>
            </a:r>
            <a:r>
              <a:rPr lang="en-US" altLang="zh-TW" sz="2500" dirty="0" smtClean="0">
                <a:solidFill>
                  <a:srgbClr val="FF0000"/>
                </a:solidFill>
              </a:rPr>
              <a:t>Min(j) </a:t>
            </a:r>
            <a:r>
              <a:rPr lang="en-US" altLang="zh-TW" sz="2500" dirty="0" smtClean="0"/>
              <a:t>(LCS </a:t>
            </a:r>
            <a:r>
              <a:rPr lang="en-US" altLang="zh-TW" sz="2500" dirty="0"/>
              <a:t>(</a:t>
            </a:r>
            <a:r>
              <a:rPr lang="en-US" altLang="zh-TW" sz="2500" dirty="0" smtClean="0"/>
              <a:t>A(1</a:t>
            </a:r>
            <a:r>
              <a:rPr lang="en-US" altLang="zh-TW" sz="2500" dirty="0"/>
              <a:t>: </a:t>
            </a:r>
            <a:r>
              <a:rPr lang="en-US" altLang="zh-TW" sz="2500" dirty="0" err="1"/>
              <a:t>i</a:t>
            </a:r>
            <a:r>
              <a:rPr lang="en-US" altLang="zh-TW" sz="2500" dirty="0"/>
              <a:t>), </a:t>
            </a:r>
            <a:r>
              <a:rPr lang="en-US" altLang="zh-TW" sz="2500" dirty="0" smtClean="0"/>
              <a:t>B(1: </a:t>
            </a:r>
            <a:r>
              <a:rPr lang="en-US" altLang="zh-TW" sz="2500" dirty="0"/>
              <a:t>j)) = k</a:t>
            </a:r>
            <a:r>
              <a:rPr lang="en-US" altLang="zh-TW" sz="2500" dirty="0" smtClean="0"/>
              <a:t>).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9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Theorems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360000" indent="-360000" algn="just"/>
                <a:r>
                  <a:rPr lang="it-IT" altLang="zh-TW" dirty="0"/>
                  <a:t>Theorem 1 :</a:t>
                </a:r>
                <a14:m>
                  <m:oMath xmlns:m="http://schemas.openxmlformats.org/officeDocument/2006/math">
                    <m:r>
                      <a:rPr lang="en-US" altLang="zh-TW" dirty="0">
                        <a:latin typeface="Cambria Math"/>
                      </a:rPr>
                      <m:t> </m:t>
                    </m:r>
                    <m:r>
                      <a:rPr lang="it-IT" altLang="zh-TW" i="1" dirty="0">
                        <a:latin typeface="Cambria Math"/>
                      </a:rPr>
                      <m:t>∀ </m:t>
                    </m:r>
                    <m:r>
                      <a:rPr lang="it-IT" altLang="zh-TW" i="1" dirty="0">
                        <a:latin typeface="Cambria Math"/>
                      </a:rPr>
                      <m:t>𝑖</m:t>
                    </m:r>
                    <m:r>
                      <a:rPr lang="it-IT" altLang="zh-TW" i="1" dirty="0">
                        <a:latin typeface="Cambria Math"/>
                      </a:rPr>
                      <m:t>∈[1,</m:t>
                    </m:r>
                    <m:r>
                      <a:rPr lang="it-IT" altLang="zh-TW" i="1" dirty="0">
                        <a:latin typeface="Cambria Math"/>
                      </a:rPr>
                      <m:t>𝑚</m:t>
                    </m:r>
                    <m:r>
                      <a:rPr lang="it-IT" altLang="zh-TW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it-IT" altLang="zh-TW" dirty="0"/>
                  <a:t>there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altLang="zh-TW" i="0" dirty="0">
                        <a:latin typeface="Cambria Math"/>
                      </a:rPr>
                      <m:t>L</m:t>
                    </m:r>
                    <m:r>
                      <a:rPr lang="it-IT" altLang="zh-TW" i="1" baseline="-25000" dirty="0">
                        <a:latin typeface="Cambria Math"/>
                      </a:rPr>
                      <m:t>𝑖</m:t>
                    </m:r>
                    <m:r>
                      <a:rPr lang="it-IT" altLang="zh-TW" i="1" dirty="0">
                        <a:latin typeface="Cambria Math"/>
                      </a:rPr>
                      <m:t>(1)&lt;</m:t>
                    </m:r>
                    <m:r>
                      <m:rPr>
                        <m:nor/>
                      </m:rPr>
                      <a:rPr lang="it-IT" altLang="zh-TW" i="0" dirty="0">
                        <a:latin typeface="Cambria Math"/>
                      </a:rPr>
                      <m:t>L</m:t>
                    </m:r>
                    <m:r>
                      <a:rPr lang="it-IT" altLang="zh-TW" i="1" baseline="-25000" dirty="0">
                        <a:latin typeface="Cambria Math"/>
                      </a:rPr>
                      <m:t>𝑖</m:t>
                    </m:r>
                    <m:r>
                      <a:rPr lang="it-IT" altLang="zh-TW" i="1" dirty="0">
                        <a:latin typeface="Cambria Math"/>
                      </a:rPr>
                      <m:t>(2)&lt;</m:t>
                    </m:r>
                    <m:r>
                      <m:rPr>
                        <m:nor/>
                      </m:rPr>
                      <a:rPr lang="it-IT" altLang="zh-TW" i="0" dirty="0">
                        <a:latin typeface="Cambria Math"/>
                      </a:rPr>
                      <m:t>L</m:t>
                    </m:r>
                    <m:r>
                      <a:rPr lang="it-IT" altLang="zh-TW" i="1" baseline="-25000" dirty="0">
                        <a:latin typeface="Cambria Math"/>
                      </a:rPr>
                      <m:t>𝑖</m:t>
                    </m:r>
                    <m:r>
                      <a:rPr lang="it-IT" altLang="zh-TW" i="1" dirty="0">
                        <a:latin typeface="Cambria Math"/>
                      </a:rPr>
                      <m:t>(3)&lt;…&lt;</m:t>
                    </m:r>
                    <m:r>
                      <m:rPr>
                        <m:nor/>
                      </m:rPr>
                      <a:rPr lang="it-IT" altLang="zh-TW" i="0" dirty="0">
                        <a:latin typeface="Cambria Math"/>
                      </a:rPr>
                      <m:t>L</m:t>
                    </m:r>
                    <m:r>
                      <a:rPr lang="it-IT" altLang="zh-TW" i="1" baseline="-25000" dirty="0">
                        <a:latin typeface="Cambria Math"/>
                      </a:rPr>
                      <m:t>𝑖</m:t>
                    </m:r>
                    <m:r>
                      <a:rPr lang="it-IT" altLang="zh-TW" i="1" dirty="0">
                        <a:latin typeface="Cambria Math"/>
                      </a:rPr>
                      <m:t>(</m:t>
                    </m:r>
                    <m:r>
                      <a:rPr lang="it-IT" altLang="zh-TW" i="1" dirty="0">
                        <a:latin typeface="Cambria Math"/>
                      </a:rPr>
                      <m:t>𝑚</m:t>
                    </m:r>
                    <m:r>
                      <a:rPr lang="it-IT" altLang="zh-TW" i="1" dirty="0">
                        <a:latin typeface="Cambria Math"/>
                      </a:rPr>
                      <m:t>)</m:t>
                    </m:r>
                  </m:oMath>
                </a14:m>
                <a:r>
                  <a:rPr lang="it-IT" altLang="zh-TW" dirty="0"/>
                  <a:t>.</a:t>
                </a:r>
                <a:endParaRPr lang="it-IT" altLang="zh-TW" dirty="0" smtClean="0"/>
              </a:p>
              <a:p>
                <a:pPr marL="360000" indent="-360000" algn="just"/>
                <a:r>
                  <a:rPr lang="en-US" altLang="zh-TW" dirty="0" smtClean="0"/>
                  <a:t>Theorem </a:t>
                </a:r>
                <a:r>
                  <a:rPr lang="en-US" altLang="zh-TW" dirty="0"/>
                  <a:t>2 :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∀</m:t>
                    </m:r>
                    <m:r>
                      <a:rPr lang="en-US" altLang="zh-TW" i="1" dirty="0" err="1">
                        <a:latin typeface="Cambria Math"/>
                      </a:rPr>
                      <m:t>𝑖</m:t>
                    </m:r>
                    <m:r>
                      <a:rPr lang="en-US" altLang="zh-TW" i="1" dirty="0">
                        <a:latin typeface="Cambria Math"/>
                      </a:rPr>
                      <m:t>∈[1, </m:t>
                    </m:r>
                    <m:r>
                      <a:rPr lang="en-US" altLang="zh-TW" i="1" dirty="0">
                        <a:latin typeface="Cambria Math"/>
                      </a:rPr>
                      <m:t>𝑚</m:t>
                    </m:r>
                    <m:r>
                      <a:rPr lang="en-US" altLang="zh-TW" i="1" dirty="0">
                        <a:latin typeface="Cambria Math"/>
                      </a:rPr>
                      <m:t>−1] 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/>
                      </a:rPr>
                      <m:t>∀</m:t>
                    </m:r>
                    <m:r>
                      <a:rPr lang="en-US" altLang="zh-TW" i="1" dirty="0">
                        <a:latin typeface="Cambria Math"/>
                      </a:rPr>
                      <m:t>𝑘</m:t>
                    </m:r>
                    <m:r>
                      <a:rPr lang="en-US" altLang="zh-TW" i="1" dirty="0">
                        <a:latin typeface="Cambria Math"/>
                      </a:rPr>
                      <m:t>∈[1, </m:t>
                    </m:r>
                    <m:r>
                      <a:rPr lang="en-US" altLang="zh-TW" i="1" dirty="0">
                        <a:latin typeface="Cambria Math"/>
                      </a:rPr>
                      <m:t>𝑚</m:t>
                    </m:r>
                    <m:r>
                      <a:rPr lang="en-US" altLang="zh-TW" i="1" dirty="0">
                        <a:latin typeface="Cambria Math"/>
                      </a:rPr>
                      <m:t>] </m:t>
                    </m:r>
                  </m:oMath>
                </a14:m>
                <a:r>
                  <a:rPr lang="en-US" altLang="zh-TW" dirty="0"/>
                  <a:t>,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there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nn-NO" altLang="zh-TW" i="0" dirty="0">
                        <a:latin typeface="Cambria Math"/>
                      </a:rPr>
                      <m:t>L</m:t>
                    </m:r>
                    <m:r>
                      <a:rPr lang="nn-NO" altLang="zh-TW" i="1" baseline="-25000" dirty="0">
                        <a:latin typeface="Cambria Math"/>
                      </a:rPr>
                      <m:t>𝑖</m:t>
                    </m:r>
                    <m:r>
                      <m:rPr>
                        <m:nor/>
                      </m:rPr>
                      <a:rPr lang="en-US" altLang="zh-TW" baseline="-25000" dirty="0" smtClean="0">
                        <a:latin typeface="Cambria Math"/>
                      </a:rPr>
                      <m:t>+</m:t>
                    </m:r>
                    <m:r>
                      <a:rPr lang="nn-NO" altLang="zh-TW" i="1" baseline="-25000" dirty="0">
                        <a:latin typeface="Cambria Math"/>
                      </a:rPr>
                      <m:t>1</m:t>
                    </m:r>
                    <m:r>
                      <a:rPr lang="nn-NO" altLang="zh-TW" i="1" dirty="0">
                        <a:latin typeface="Cambria Math"/>
                      </a:rPr>
                      <m:t>(</m:t>
                    </m:r>
                    <m:r>
                      <a:rPr lang="nn-NO" altLang="zh-TW" i="1" dirty="0">
                        <a:latin typeface="Cambria Math"/>
                      </a:rPr>
                      <m:t>𝑘</m:t>
                    </m:r>
                    <m:r>
                      <a:rPr lang="nn-NO" altLang="zh-TW" i="1" dirty="0">
                        <a:latin typeface="Cambria Math"/>
                      </a:rPr>
                      <m:t>)≤</m:t>
                    </m:r>
                    <m:r>
                      <m:rPr>
                        <m:nor/>
                      </m:rPr>
                      <a:rPr lang="nn-NO" altLang="zh-TW" i="0" dirty="0">
                        <a:latin typeface="Cambria Math"/>
                      </a:rPr>
                      <m:t>L</m:t>
                    </m:r>
                    <m:r>
                      <a:rPr lang="nn-NO" altLang="zh-TW" i="1" baseline="-25000" dirty="0">
                        <a:latin typeface="Cambria Math"/>
                      </a:rPr>
                      <m:t>𝑖</m:t>
                    </m:r>
                    <m:r>
                      <a:rPr lang="nn-NO" altLang="zh-TW" i="1" dirty="0">
                        <a:latin typeface="Cambria Math"/>
                      </a:rPr>
                      <m:t>(</m:t>
                    </m:r>
                    <m:r>
                      <a:rPr lang="nn-NO" altLang="zh-TW" i="1" dirty="0">
                        <a:latin typeface="Cambria Math"/>
                      </a:rPr>
                      <m:t>𝑘</m:t>
                    </m:r>
                    <m:r>
                      <a:rPr lang="nn-NO" altLang="zh-TW" i="1" dirty="0">
                        <a:latin typeface="Cambria Math"/>
                      </a:rPr>
                      <m:t>)</m:t>
                    </m:r>
                  </m:oMath>
                </a14:m>
                <a:r>
                  <a:rPr lang="nn-NO" altLang="zh-TW" dirty="0"/>
                  <a:t>.</a:t>
                </a:r>
                <a:endParaRPr lang="nn-NO" altLang="zh-TW" dirty="0" smtClean="0"/>
              </a:p>
              <a:p>
                <a:pPr algn="just"/>
                <a:r>
                  <a:rPr lang="en-US" altLang="zh-TW" dirty="0"/>
                  <a:t>Theorem 3 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∀</m:t>
                    </m:r>
                    <m:r>
                      <a:rPr lang="en-US" altLang="zh-TW" i="1" dirty="0" err="1" smtClean="0">
                        <a:latin typeface="Cambria Math"/>
                      </a:rPr>
                      <m:t>𝑖</m:t>
                    </m:r>
                    <m:r>
                      <a:rPr lang="en-US" altLang="zh-TW" i="1" dirty="0" smtClean="0">
                        <a:latin typeface="Cambria Math"/>
                      </a:rPr>
                      <m:t>∈[1,</m:t>
                    </m:r>
                    <m:r>
                      <a:rPr lang="en-US" altLang="zh-TW" i="1" dirty="0" smtClean="0">
                        <a:latin typeface="Cambria Math"/>
                      </a:rPr>
                      <m:t>𝑚</m:t>
                    </m:r>
                    <m:r>
                      <a:rPr lang="en-US" altLang="zh-TW" i="1" dirty="0" smtClean="0">
                        <a:latin typeface="Cambria Math"/>
                      </a:rPr>
                      <m:t>−1]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/>
                      </a:rPr>
                      <m:t>∀</m:t>
                    </m:r>
                    <m:r>
                      <a:rPr lang="en-US" altLang="zh-TW" i="1" dirty="0" smtClean="0">
                        <a:latin typeface="Cambria Math"/>
                      </a:rPr>
                      <m:t>𝑘</m:t>
                    </m:r>
                    <m:r>
                      <a:rPr lang="en-US" altLang="zh-TW" i="1" dirty="0" smtClean="0">
                        <a:latin typeface="Cambria Math"/>
                      </a:rPr>
                      <m:t>∈[1,</m:t>
                    </m:r>
                    <m:r>
                      <a:rPr lang="en-US" altLang="zh-TW" i="1" dirty="0" smtClean="0">
                        <a:latin typeface="Cambria Math"/>
                      </a:rPr>
                      <m:t>𝑚</m:t>
                    </m:r>
                    <m:r>
                      <a:rPr lang="en-US" altLang="zh-TW" i="1" dirty="0" smtClean="0">
                        <a:latin typeface="Cambria Math"/>
                      </a:rPr>
                      <m:t>−1]</m:t>
                    </m:r>
                  </m:oMath>
                </a14:m>
                <a:r>
                  <a:rPr lang="en-US" altLang="zh-TW" dirty="0" smtClean="0"/>
                  <a:t>, there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nn-NO" altLang="zh-TW" i="0" dirty="0" smtClean="0">
                        <a:latin typeface="Cambria Math"/>
                      </a:rPr>
                      <m:t>L</m:t>
                    </m:r>
                    <m:r>
                      <a:rPr lang="nn-NO" altLang="zh-TW" i="1" baseline="-25000" dirty="0" smtClean="0">
                        <a:latin typeface="Cambria Math"/>
                      </a:rPr>
                      <m:t>𝑖</m:t>
                    </m:r>
                    <m:r>
                      <a:rPr lang="nn-NO" altLang="zh-TW" i="1" dirty="0" smtClean="0">
                        <a:latin typeface="Cambria Math"/>
                      </a:rPr>
                      <m:t>(</m:t>
                    </m:r>
                    <m:r>
                      <a:rPr lang="nn-NO" altLang="zh-TW" i="1" dirty="0" smtClean="0">
                        <a:latin typeface="Cambria Math"/>
                      </a:rPr>
                      <m:t>𝑘</m:t>
                    </m:r>
                    <m:r>
                      <a:rPr lang="nn-NO" altLang="zh-TW" i="1" dirty="0" smtClean="0">
                        <a:latin typeface="Cambria Math"/>
                      </a:rPr>
                      <m:t>)&lt;</m:t>
                    </m:r>
                    <m:r>
                      <m:rPr>
                        <m:nor/>
                      </m:rPr>
                      <a:rPr lang="nn-NO" altLang="zh-TW" i="0" dirty="0" smtClean="0">
                        <a:latin typeface="Cambria Math"/>
                      </a:rPr>
                      <m:t>L</m:t>
                    </m:r>
                    <m:r>
                      <a:rPr lang="nn-NO" altLang="zh-TW" i="1" baseline="-25000" dirty="0" smtClean="0">
                        <a:latin typeface="Cambria Math"/>
                      </a:rPr>
                      <m:t>𝑖</m:t>
                    </m:r>
                    <m:r>
                      <m:rPr>
                        <m:nor/>
                      </m:rPr>
                      <a:rPr lang="nn-NO" altLang="zh-TW" i="0" baseline="-25000" dirty="0" smtClean="0">
                        <a:latin typeface="Cambria Math"/>
                      </a:rPr>
                      <m:t>+</m:t>
                    </m:r>
                    <m:r>
                      <a:rPr lang="nn-NO" altLang="zh-TW" i="1" baseline="-25000" dirty="0" smtClean="0">
                        <a:latin typeface="Cambria Math"/>
                      </a:rPr>
                      <m:t>1</m:t>
                    </m:r>
                    <m:r>
                      <a:rPr lang="nn-NO" altLang="zh-TW" i="1" dirty="0" smtClean="0">
                        <a:latin typeface="Cambria Math"/>
                      </a:rPr>
                      <m:t>(</m:t>
                    </m:r>
                    <m:r>
                      <a:rPr lang="nn-NO" altLang="zh-TW" i="1" dirty="0" smtClean="0">
                        <a:latin typeface="Cambria Math"/>
                      </a:rPr>
                      <m:t>𝑘</m:t>
                    </m:r>
                    <m:r>
                      <a:rPr lang="nn-NO" altLang="zh-TW" i="1" dirty="0" smtClean="0">
                        <a:latin typeface="Cambria Math"/>
                      </a:rPr>
                      <m:t>+1)</m:t>
                    </m:r>
                  </m:oMath>
                </a14:m>
                <a:r>
                  <a:rPr lang="nn-NO" altLang="zh-TW" dirty="0" smtClean="0"/>
                  <a:t>.</a:t>
                </a:r>
              </a:p>
              <a:p>
                <a:pPr algn="just"/>
                <a:r>
                  <a:rPr lang="en-US" altLang="zh-TW" dirty="0"/>
                  <a:t>Theorem </a:t>
                </a:r>
                <a:r>
                  <a:rPr lang="en-US" altLang="zh-TW" dirty="0" smtClean="0"/>
                  <a:t>4 : </a:t>
                </a:r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L</m:t>
                    </m:r>
                    <m:r>
                      <a:rPr lang="en-US" altLang="zh-TW" i="1" baseline="-25000" dirty="0" smtClean="0">
                        <a:latin typeface="Cambria Math"/>
                      </a:rPr>
                      <m:t>𝑖</m:t>
                    </m:r>
                    <m:r>
                      <m:rPr>
                        <m:nor/>
                      </m:rPr>
                      <a:rPr lang="en-US" altLang="zh-TW" i="0" baseline="-25000" dirty="0" smtClean="0">
                        <a:latin typeface="Cambria Math"/>
                      </a:rPr>
                      <m:t>+</m:t>
                    </m:r>
                    <m:r>
                      <a:rPr lang="en-US" altLang="zh-TW" i="1" baseline="-25000" dirty="0" smtClean="0">
                        <a:latin typeface="Cambria Math"/>
                      </a:rPr>
                      <m:t>1</m:t>
                    </m:r>
                    <m:r>
                      <a:rPr lang="en-US" altLang="zh-TW" i="1" dirty="0" smtClean="0">
                        <a:latin typeface="Cambria Math"/>
                      </a:rPr>
                      <m:t>(</m:t>
                    </m:r>
                    <m:r>
                      <a:rPr lang="en-US" altLang="zh-TW" i="1" dirty="0" smtClean="0">
                        <a:latin typeface="Cambria Math"/>
                      </a:rPr>
                      <m:t>𝑘</m:t>
                    </m:r>
                    <m:r>
                      <a:rPr lang="en-US" altLang="zh-TW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exists, then </a:t>
                </a:r>
                <a:r>
                  <a:rPr lang="en-US" altLang="zh-TW" dirty="0"/>
                  <a:t>its value must </a:t>
                </a:r>
                <a:r>
                  <a:rPr lang="en-US" altLang="zh-TW" dirty="0" smtClean="0"/>
                  <a:t>be: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0" dirty="0" smtClean="0">
                        <a:solidFill>
                          <a:srgbClr val="FF0000"/>
                        </a:solidFill>
                        <a:latin typeface="Cambria Math"/>
                      </a:rPr>
                      <m:t>L</m:t>
                    </m:r>
                    <m:r>
                      <a:rPr lang="en-US" altLang="zh-TW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m:rPr>
                        <m:nor/>
                      </m:rPr>
                      <a:rPr lang="en-US" altLang="zh-TW" i="0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)=</m:t>
                    </m:r>
                    <m:r>
                      <m:rPr>
                        <m:nor/>
                      </m:rPr>
                      <a:rPr lang="en-US" altLang="zh-TW" i="0" dirty="0">
                        <a:solidFill>
                          <a:srgbClr val="FF0000"/>
                        </a:solidFill>
                        <a:latin typeface="Cambria Math"/>
                      </a:rPr>
                      <m:t>Min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𝑗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altLang="zh-TW" i="0" dirty="0" smtClean="0">
                        <a:solidFill>
                          <a:srgbClr val="FF0000"/>
                        </a:solidFill>
                        <a:latin typeface="Cambria Math"/>
                      </a:rPr>
                      <m:t>L</m:t>
                    </m:r>
                    <m:r>
                      <a:rPr lang="en-US" altLang="zh-TW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))</m:t>
                    </m:r>
                  </m:oMath>
                </a14:m>
                <a:r>
                  <a:rPr lang="en-US" altLang="zh-TW" dirty="0"/>
                  <a:t>. The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altLang="zh-TW" dirty="0"/>
                  <a:t> is the least integer which </a:t>
                </a:r>
                <a:r>
                  <a:rPr lang="en-US" altLang="zh-TW" dirty="0" smtClean="0"/>
                  <a:t>meet the </a:t>
                </a:r>
                <a:r>
                  <a:rPr lang="en-US" altLang="zh-TW" dirty="0"/>
                  <a:t>following conditions: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𝐴</m:t>
                    </m:r>
                    <m:r>
                      <a:rPr lang="en-US" altLang="zh-TW" i="1" dirty="0" smtClean="0">
                        <a:latin typeface="Cambria Math"/>
                      </a:rPr>
                      <m:t>[</m:t>
                    </m:r>
                    <m:r>
                      <a:rPr lang="en-US" altLang="zh-TW" i="1" dirty="0" smtClean="0">
                        <a:latin typeface="Cambria Math"/>
                      </a:rPr>
                      <m:t>𝑖</m:t>
                    </m:r>
                    <m:r>
                      <a:rPr lang="en-US" altLang="zh-TW" i="1" dirty="0" smtClean="0">
                        <a:latin typeface="Cambria Math"/>
                      </a:rPr>
                      <m:t>+1]=</m:t>
                    </m:r>
                    <m:r>
                      <a:rPr lang="en-US" altLang="zh-TW" i="1" dirty="0">
                        <a:latin typeface="Cambria Math"/>
                      </a:rPr>
                      <m:t>𝐵</m:t>
                    </m:r>
                    <m:r>
                      <a:rPr lang="en-US" altLang="zh-TW" i="1" dirty="0">
                        <a:latin typeface="Cambria Math"/>
                      </a:rPr>
                      <m:t>[</m:t>
                    </m:r>
                    <m:r>
                      <a:rPr lang="en-US" altLang="zh-TW" i="1" dirty="0">
                        <a:latin typeface="Cambria Math"/>
                      </a:rPr>
                      <m:t>𝑗</m:t>
                    </m:r>
                    <m:r>
                      <a:rPr lang="en-US" altLang="zh-TW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𝑗</m:t>
                    </m:r>
                    <m:r>
                      <a:rPr lang="en-US" altLang="zh-TW" i="1" dirty="0" smtClean="0">
                        <a:latin typeface="Cambria Math"/>
                      </a:rPr>
                      <m:t>&gt;</m:t>
                    </m:r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L</m:t>
                    </m:r>
                    <m:r>
                      <a:rPr lang="en-US" altLang="zh-TW" i="1" baseline="-25000" dirty="0" smtClean="0">
                        <a:latin typeface="Cambria Math"/>
                      </a:rPr>
                      <m:t>𝑖</m:t>
                    </m:r>
                    <m:r>
                      <a:rPr lang="en-US" altLang="zh-TW" i="1" dirty="0" smtClean="0">
                        <a:latin typeface="Cambria Math"/>
                      </a:rPr>
                      <m:t>(</m:t>
                    </m:r>
                    <m:r>
                      <a:rPr lang="en-US" altLang="zh-TW" i="1" dirty="0" smtClean="0">
                        <a:latin typeface="Cambria Math"/>
                      </a:rPr>
                      <m:t>𝑘</m:t>
                    </m:r>
                    <m:r>
                      <a:rPr lang="en-US" altLang="zh-TW" i="1" dirty="0" smtClean="0">
                        <a:latin typeface="Cambria Math"/>
                      </a:rPr>
                      <m:t>−1)</m:t>
                    </m:r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2695" r="-1704" b="-3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37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Algorithmic Idea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𝐿</m:t>
                    </m:r>
                    <m:r>
                      <a:rPr lang="en-US" altLang="zh-TW" i="1" dirty="0" smtClean="0">
                        <a:latin typeface="Cambria Math"/>
                      </a:rPr>
                      <m:t>(</m:t>
                    </m:r>
                    <m:r>
                      <a:rPr lang="en-US" altLang="zh-TW" i="1" dirty="0" err="1" smtClean="0">
                        <a:latin typeface="Cambria Math"/>
                      </a:rPr>
                      <m:t>𝑘</m:t>
                    </m:r>
                    <m:r>
                      <a:rPr lang="en-US" altLang="zh-TW" i="1" dirty="0" err="1" smtClean="0">
                        <a:latin typeface="Cambria Math"/>
                      </a:rPr>
                      <m:t>,</m:t>
                    </m:r>
                    <m:r>
                      <a:rPr lang="en-US" altLang="zh-TW" i="1" dirty="0" err="1" smtClean="0">
                        <a:latin typeface="Cambria Math"/>
                      </a:rPr>
                      <m:t>𝑖</m:t>
                    </m:r>
                    <m:r>
                      <a:rPr lang="en-US" altLang="zh-TW" i="1" dirty="0" smtClean="0">
                        <a:latin typeface="Cambria Math"/>
                      </a:rPr>
                      <m:t>)=</m:t>
                    </m:r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L</m:t>
                    </m:r>
                    <m:r>
                      <a:rPr lang="en-US" altLang="zh-TW" i="1" baseline="-25000" dirty="0" smtClean="0">
                        <a:latin typeface="Cambria Math"/>
                      </a:rPr>
                      <m:t>𝑖</m:t>
                    </m:r>
                    <m:r>
                      <a:rPr lang="en-US" altLang="zh-TW" i="1" dirty="0" smtClean="0">
                        <a:latin typeface="Cambria Math"/>
                      </a:rPr>
                      <m:t>(</m:t>
                    </m:r>
                    <m:r>
                      <a:rPr lang="en-US" altLang="zh-TW" i="1" dirty="0" smtClean="0">
                        <a:latin typeface="Cambria Math"/>
                      </a:rPr>
                      <m:t>𝑘</m:t>
                    </m:r>
                    <m:r>
                      <a:rPr lang="en-US" altLang="zh-TW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LCS</m:t>
                    </m:r>
                    <m:r>
                      <a:rPr lang="en-US" altLang="zh-TW" i="1" dirty="0" smtClean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B</m:t>
                    </m:r>
                    <m:r>
                      <a:rPr lang="en-US" altLang="zh-TW" i="1" dirty="0" smtClean="0">
                        <a:latin typeface="Cambria Math"/>
                      </a:rPr>
                      <m:t>[</m:t>
                    </m:r>
                    <m:r>
                      <a:rPr lang="en-US" altLang="zh-TW" i="1" dirty="0" smtClean="0">
                        <a:latin typeface="Cambria Math"/>
                      </a:rPr>
                      <m:t>𝐿</m:t>
                    </m:r>
                    <m:r>
                      <a:rPr lang="en-US" altLang="zh-TW" i="1" dirty="0" smtClean="0">
                        <a:latin typeface="Cambria Math"/>
                      </a:rPr>
                      <m:t>(1,</m:t>
                    </m:r>
                    <m:r>
                      <a:rPr lang="en-US" altLang="zh-TW" i="1" dirty="0" smtClean="0">
                        <a:latin typeface="Cambria Math"/>
                      </a:rPr>
                      <m:t>𝑚</m:t>
                    </m:r>
                    <m:r>
                      <a:rPr lang="en-US" altLang="zh-TW" i="1" dirty="0" smtClean="0">
                        <a:latin typeface="Cambria Math"/>
                      </a:rPr>
                      <m:t>−</m:t>
                    </m:r>
                    <m:r>
                      <a:rPr lang="en-US" altLang="zh-TW" i="1" dirty="0" smtClean="0">
                        <a:latin typeface="Cambria Math"/>
                      </a:rPr>
                      <m:t>𝑝</m:t>
                    </m:r>
                    <m:r>
                      <a:rPr lang="en-US" altLang="zh-TW" i="1" dirty="0" smtClean="0">
                        <a:latin typeface="Cambria Math"/>
                      </a:rPr>
                      <m:t>+1)]</m:t>
                    </m:r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B</m:t>
                    </m:r>
                    <m:r>
                      <a:rPr lang="en-US" altLang="zh-TW" i="1" dirty="0" smtClean="0">
                        <a:latin typeface="Cambria Math"/>
                      </a:rPr>
                      <m:t>[</m:t>
                    </m:r>
                    <m:r>
                      <a:rPr lang="en-US" altLang="zh-TW" i="1" dirty="0" smtClean="0">
                        <a:latin typeface="Cambria Math"/>
                      </a:rPr>
                      <m:t>𝐿</m:t>
                    </m:r>
                    <m:r>
                      <a:rPr lang="en-US" altLang="zh-TW" i="1" dirty="0" smtClean="0">
                        <a:latin typeface="Cambria Math"/>
                      </a:rPr>
                      <m:t>(2,</m:t>
                    </m:r>
                    <m:r>
                      <a:rPr lang="en-US" altLang="zh-TW" i="1" dirty="0" smtClean="0">
                        <a:latin typeface="Cambria Math"/>
                      </a:rPr>
                      <m:t>𝑚</m:t>
                    </m:r>
                    <m:r>
                      <a:rPr lang="en-US" altLang="zh-TW" i="1" dirty="0" smtClean="0">
                        <a:latin typeface="Cambria Math"/>
                      </a:rPr>
                      <m:t>−</m:t>
                    </m:r>
                    <m:r>
                      <a:rPr lang="en-US" altLang="zh-TW" i="1" dirty="0" smtClean="0">
                        <a:latin typeface="Cambria Math"/>
                      </a:rPr>
                      <m:t>𝑝</m:t>
                    </m:r>
                    <m:r>
                      <a:rPr lang="en-US" altLang="zh-TW" i="1" dirty="0" smtClean="0">
                        <a:latin typeface="Cambria Math"/>
                      </a:rPr>
                      <m:t>+2)]…</m:t>
                    </m:r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B</m:t>
                    </m:r>
                    <m:r>
                      <a:rPr lang="en-US" altLang="zh-TW" i="1" dirty="0" smtClean="0">
                        <a:latin typeface="Cambria Math"/>
                      </a:rPr>
                      <m:t>[</m:t>
                    </m:r>
                    <m:r>
                      <a:rPr lang="en-US" altLang="zh-TW" i="1" dirty="0" smtClean="0">
                        <a:latin typeface="Cambria Math"/>
                      </a:rPr>
                      <m:t>𝐿</m:t>
                    </m:r>
                    <m:r>
                      <a:rPr lang="en-US" altLang="zh-TW" i="1" dirty="0" smtClean="0">
                        <a:latin typeface="Cambria Math"/>
                      </a:rPr>
                      <m:t>(</m:t>
                    </m:r>
                    <m:r>
                      <a:rPr lang="en-US" altLang="zh-TW" i="1" dirty="0" smtClean="0">
                        <a:latin typeface="Cambria Math"/>
                      </a:rPr>
                      <m:t>𝑝</m:t>
                    </m:r>
                    <m:r>
                      <a:rPr lang="en-US" altLang="zh-TW" i="1" dirty="0">
                        <a:latin typeface="Cambria Math"/>
                      </a:rPr>
                      <m:t>, </m:t>
                    </m:r>
                    <m:r>
                      <a:rPr lang="en-US" altLang="zh-TW" i="1" dirty="0">
                        <a:latin typeface="Cambria Math"/>
                      </a:rPr>
                      <m:t>𝑚</m:t>
                    </m:r>
                    <m:r>
                      <a:rPr lang="en-US" altLang="zh-TW" i="1" dirty="0">
                        <a:latin typeface="Cambria Math"/>
                      </a:rPr>
                      <m:t>)]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4" t="27670" r="23183" b="24749"/>
          <a:stretch/>
        </p:blipFill>
        <p:spPr bwMode="auto">
          <a:xfrm>
            <a:off x="971600" y="3284984"/>
            <a:ext cx="6984776" cy="3469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54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Example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 = 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cd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b</a:t>
            </a:r>
            <a:r>
              <a:rPr lang="en-US" altLang="zh-TW" dirty="0" err="1" smtClean="0"/>
              <a:t>b</a:t>
            </a:r>
            <a:r>
              <a:rPr lang="en-US" altLang="zh-TW" dirty="0" err="1" smtClean="0">
                <a:solidFill>
                  <a:srgbClr val="FF0000"/>
                </a:solidFill>
              </a:rPr>
              <a:t>c</a:t>
            </a:r>
            <a:r>
              <a:rPr lang="en-US" altLang="zh-TW" dirty="0" smtClean="0"/>
              <a:t>, |A| = 7</a:t>
            </a:r>
          </a:p>
          <a:p>
            <a:r>
              <a:rPr lang="en-US" altLang="zh-TW" dirty="0" smtClean="0"/>
              <a:t>B = </a:t>
            </a:r>
            <a:r>
              <a:rPr lang="en-US" altLang="zh-TW" dirty="0" err="1" smtClean="0">
                <a:solidFill>
                  <a:srgbClr val="FF0000"/>
                </a:solidFill>
              </a:rPr>
              <a:t>cd</a:t>
            </a:r>
            <a:r>
              <a:rPr lang="en-US" altLang="zh-TW" dirty="0" err="1" smtClean="0"/>
              <a:t>d</a:t>
            </a:r>
            <a:r>
              <a:rPr lang="en-US" altLang="zh-TW" dirty="0" err="1" smtClean="0">
                <a:solidFill>
                  <a:srgbClr val="FF0000"/>
                </a:solidFill>
              </a:rPr>
              <a:t>b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c</a:t>
            </a:r>
            <a:r>
              <a:rPr lang="en-US" altLang="zh-TW" dirty="0" err="1" smtClean="0"/>
              <a:t>aba</a:t>
            </a:r>
            <a:r>
              <a:rPr lang="en-US" altLang="zh-TW" dirty="0" smtClean="0"/>
              <a:t>, |B| = 9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LCS = B[1]B[2]B[4]B[6] = </a:t>
            </a:r>
            <a:r>
              <a:rPr lang="en-US" altLang="zh-TW" dirty="0" err="1" smtClean="0"/>
              <a:t>cdbc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40401"/>
              </p:ext>
            </p:extLst>
          </p:nvPr>
        </p:nvGraphicFramePr>
        <p:xfrm>
          <a:off x="899592" y="2860144"/>
          <a:ext cx="6096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70000"/>
                        </a:lnSpc>
                      </a:pPr>
                      <a:r>
                        <a:rPr lang="en-US" altLang="zh-TW" sz="1600" dirty="0" err="1" smtClean="0"/>
                        <a:t>i</a:t>
                      </a:r>
                      <a:endParaRPr lang="en-US" altLang="zh-TW" sz="1600" dirty="0" smtClean="0"/>
                    </a:p>
                    <a:p>
                      <a:pPr algn="l">
                        <a:lnSpc>
                          <a:spcPct val="30000"/>
                        </a:lnSpc>
                      </a:pPr>
                      <a:r>
                        <a:rPr lang="en-US" altLang="zh-TW" sz="1600" dirty="0" smtClean="0"/>
                        <a:t>k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null</a:t>
                      </a:r>
                      <a:endParaRPr lang="zh-TW" altLang="en-US" dirty="0" smtClean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null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null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60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Algorithm Pseudo-code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 smtClean="0"/>
                  <a:t>ALGORITHM 	L(A,B</a:t>
                </a:r>
                <a:r>
                  <a:rPr lang="en-US" altLang="zh-TW" sz="1800" dirty="0"/>
                  <a:t>)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/>
                  <a:t>INPUT </a:t>
                </a:r>
                <a:r>
                  <a:rPr lang="en-US" altLang="zh-TW" sz="1800" dirty="0" smtClean="0"/>
                  <a:t>		String </a:t>
                </a:r>
                <a:r>
                  <a:rPr lang="en-US" altLang="zh-TW" sz="1800" dirty="0"/>
                  <a:t>A and String B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/>
                  <a:t>OUTPUT </a:t>
                </a:r>
                <a:r>
                  <a:rPr lang="en-US" altLang="zh-TW" sz="1800" dirty="0" smtClean="0"/>
                  <a:t>		LCS </a:t>
                </a:r>
                <a:r>
                  <a:rPr lang="en-US" altLang="zh-TW" sz="1800" dirty="0"/>
                  <a:t>of A and B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/>
                  <a:t>Begin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 smtClean="0"/>
                  <a:t>(1) Initialize </a:t>
                </a:r>
                <a:r>
                  <a:rPr lang="en-US" altLang="zh-TW" sz="1800" dirty="0"/>
                  <a:t>matrix elements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latin typeface="Cambria Math"/>
                      </a:rPr>
                      <m:t>(</m:t>
                    </m:r>
                    <m:r>
                      <a:rPr lang="en-US" altLang="zh-TW" sz="1800" i="1" dirty="0" err="1" smtClean="0">
                        <a:latin typeface="Cambria Math"/>
                      </a:rPr>
                      <m:t>𝑘</m:t>
                    </m:r>
                    <m:r>
                      <a:rPr lang="en-US" altLang="zh-TW" sz="1800" i="1" dirty="0" err="1" smtClean="0">
                        <a:latin typeface="Cambria Math"/>
                      </a:rPr>
                      <m:t>,</m:t>
                    </m:r>
                    <m:r>
                      <a:rPr lang="en-US" altLang="zh-TW" sz="1800" i="1" dirty="0" err="1" smtClean="0">
                        <a:latin typeface="Cambria Math"/>
                      </a:rPr>
                      <m:t>𝑚</m:t>
                    </m:r>
                    <m:r>
                      <a:rPr lang="en-US" altLang="zh-TW" sz="18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1800" dirty="0" smtClean="0"/>
                  <a:t>;</a:t>
                </a:r>
                <a:endParaRPr lang="zh-TW" altLang="en-US" sz="1800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/>
                  <a:t>(2) According to the definitions and theorems, obtain </a:t>
                </a:r>
                <a:r>
                  <a:rPr lang="en-US" altLang="zh-TW" sz="1800" dirty="0" smtClean="0"/>
                  <a:t>the</a:t>
                </a:r>
                <a:r>
                  <a:rPr lang="zh-TW" altLang="en-US" sz="1800" dirty="0" smtClean="0"/>
                  <a:t> </a:t>
                </a:r>
                <a:r>
                  <a:rPr lang="en-US" altLang="zh-TW" sz="1800" dirty="0" smtClean="0"/>
                  <a:t>first line elements of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latin typeface="Cambria Math"/>
                      </a:rPr>
                      <m:t>(1, </m:t>
                    </m:r>
                    <m:r>
                      <a:rPr lang="en-US" altLang="zh-TW" sz="1800" i="1" dirty="0" smtClean="0">
                        <a:latin typeface="Cambria Math"/>
                      </a:rPr>
                      <m:t>𝑚</m:t>
                    </m:r>
                    <m:r>
                      <a:rPr lang="en-US" altLang="zh-TW" sz="18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1800" dirty="0" smtClean="0"/>
                  <a:t>;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 smtClean="0"/>
                  <a:t>(</a:t>
                </a:r>
                <a:r>
                  <a:rPr lang="en-US" altLang="zh-TW" sz="1800" dirty="0"/>
                  <a:t>3) According to theorem conclusion</a:t>
                </a:r>
                <a14:m>
                  <m:oMath xmlns:m="http://schemas.openxmlformats.org/officeDocument/2006/math">
                    <m:r>
                      <a:rPr lang="en-US" altLang="zh-TW" sz="18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800" i="0" dirty="0" smtClean="0">
                        <a:solidFill>
                          <a:srgbClr val="FF0000"/>
                        </a:solidFill>
                        <a:latin typeface="Cambria Math"/>
                      </a:rPr>
                      <m:t>L</m:t>
                    </m:r>
                    <m:r>
                      <a:rPr lang="en-US" altLang="zh-TW" sz="1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m:rPr>
                        <m:nor/>
                      </m:rPr>
                      <a:rPr lang="en-US" altLang="zh-TW" sz="1800" i="0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sz="18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)=</m:t>
                    </m:r>
                    <m:r>
                      <m:rPr>
                        <m:nor/>
                      </m:rPr>
                      <a:rPr lang="en-US" altLang="zh-TW" sz="1800" i="0" dirty="0" smtClean="0">
                        <a:solidFill>
                          <a:srgbClr val="FF0000"/>
                        </a:solidFill>
                        <a:latin typeface="Cambria Math"/>
                      </a:rPr>
                      <m:t>Min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𝑗</m:t>
                    </m:r>
                    <m:r>
                      <a:rPr lang="en-US" altLang="zh-TW" sz="18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altLang="zh-TW" sz="1800" i="0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L</m:t>
                    </m:r>
                    <m:r>
                      <a:rPr lang="en-US" altLang="zh-TW" sz="1800" i="1" baseline="-25000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))</m:t>
                    </m:r>
                  </m:oMath>
                </a14:m>
                <a:r>
                  <a:rPr lang="en-US" altLang="zh-TW" sz="1800" dirty="0" smtClean="0"/>
                  <a:t>, compute </a:t>
                </a:r>
                <a:r>
                  <a:rPr lang="en-US" altLang="zh-TW" sz="1800" dirty="0"/>
                  <a:t>each remaining element </a:t>
                </a:r>
                <a:r>
                  <a:rPr lang="en-US" altLang="zh-TW" sz="1800" dirty="0" smtClean="0"/>
                  <a:t>of the </a:t>
                </a:r>
                <a:r>
                  <a:rPr lang="en-US" altLang="zh-TW" sz="1800" dirty="0"/>
                  <a:t>matrix line by line. During the solving </a:t>
                </a:r>
                <a:r>
                  <a:rPr lang="en-US" altLang="zh-TW" sz="1800" dirty="0" smtClean="0"/>
                  <a:t>process</a:t>
                </a:r>
                <a:r>
                  <a:rPr lang="en-US" altLang="zh-TW" sz="1800" dirty="0"/>
                  <a:t>, </a:t>
                </a:r>
                <a:r>
                  <a:rPr lang="en-US" altLang="zh-TW" sz="1800" dirty="0" smtClean="0"/>
                  <a:t>the following </a:t>
                </a:r>
                <a:r>
                  <a:rPr lang="en-US" altLang="zh-TW" sz="1800" dirty="0"/>
                  <a:t>two conditions should be utilized to optimize :</a:t>
                </a:r>
              </a:p>
              <a:p>
                <a:pPr marL="313200" indent="0">
                  <a:spcBef>
                    <a:spcPts val="400"/>
                  </a:spcBef>
                  <a:buNone/>
                </a:pPr>
                <a:r>
                  <a:rPr lang="en-US" altLang="zh-TW" sz="1800" dirty="0" smtClean="0">
                    <a:solidFill>
                      <a:srgbClr val="FF0000"/>
                    </a:solidFill>
                  </a:rPr>
                  <a:t>(a) if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1800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sz="18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TW" sz="18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)=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𝑛𝑢𝑙𝑙</m:t>
                    </m:r>
                  </m:oMath>
                </a14:m>
                <a:r>
                  <a:rPr lang="en-US" altLang="zh-TW" sz="1800" dirty="0" smtClean="0">
                    <a:solidFill>
                      <a:srgbClr val="FF0000"/>
                    </a:solidFill>
                  </a:rPr>
                  <a:t>;</a:t>
                </a:r>
                <a:endParaRPr lang="zh-TW" altLang="en-US" sz="1800" dirty="0">
                  <a:solidFill>
                    <a:srgbClr val="FF0000"/>
                  </a:solidFill>
                </a:endParaRPr>
              </a:p>
              <a:p>
                <a:pPr marL="313200" indent="0">
                  <a:spcBef>
                    <a:spcPts val="400"/>
                  </a:spcBef>
                  <a:buNone/>
                </a:pPr>
                <a:r>
                  <a:rPr lang="en-US" altLang="zh-TW" sz="1800" dirty="0">
                    <a:solidFill>
                      <a:srgbClr val="FF0000"/>
                    </a:solidFill>
                  </a:rPr>
                  <a:t>(b) if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 err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sz="1800" i="1" dirty="0" err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TW" sz="1800" i="1" dirty="0" err="1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)=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1800" dirty="0">
                    <a:solidFill>
                      <a:srgbClr val="FF0000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+1)=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+2)=…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 err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altLang="zh-TW" sz="1800" i="1" dirty="0" err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TW" sz="1800" i="1" dirty="0" err="1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)=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sz="1800" dirty="0" smtClean="0">
                    <a:solidFill>
                      <a:srgbClr val="FF0000"/>
                    </a:solidFill>
                  </a:rPr>
                  <a:t>;</a:t>
                </a:r>
                <a:endParaRPr lang="zh-TW" alt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/>
                  <a:t>(4) If each element in the line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/>
                      </a:rPr>
                      <m:t>𝑝</m:t>
                    </m:r>
                    <m:r>
                      <a:rPr lang="en-US" altLang="zh-TW" sz="1800" i="1" dirty="0" smtClean="0">
                        <a:latin typeface="Cambria Math"/>
                      </a:rPr>
                      <m:t>+1</m:t>
                    </m:r>
                  </m:oMath>
                </a14:m>
                <a:r>
                  <a:rPr lang="en-US" altLang="zh-TW" sz="1800" dirty="0"/>
                  <a:t> , exit the </a:t>
                </a:r>
                <a:r>
                  <a:rPr lang="en-US" altLang="zh-TW" sz="1800" dirty="0" smtClean="0"/>
                  <a:t>loop;</a:t>
                </a:r>
                <a:endParaRPr lang="zh-TW" altLang="en-US" sz="1800" dirty="0"/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/>
                  <a:t>(5) After getting matrix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latin typeface="Cambria Math"/>
                      </a:rPr>
                      <m:t>(</m:t>
                    </m:r>
                    <m:r>
                      <a:rPr lang="en-US" altLang="zh-TW" sz="1800" i="1" dirty="0" smtClean="0">
                        <a:latin typeface="Cambria Math"/>
                      </a:rPr>
                      <m:t>𝑘</m:t>
                    </m:r>
                    <m:r>
                      <a:rPr lang="en-US" altLang="zh-TW" sz="1800" i="1" dirty="0">
                        <a:latin typeface="Cambria Math"/>
                      </a:rPr>
                      <m:t>, </m:t>
                    </m:r>
                    <m:r>
                      <a:rPr lang="en-US" altLang="zh-TW" sz="1800" i="1" dirty="0">
                        <a:latin typeface="Cambria Math"/>
                      </a:rPr>
                      <m:t>𝑚</m:t>
                    </m:r>
                    <m:r>
                      <a:rPr lang="en-US" altLang="zh-TW" sz="18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1800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800" i="0" dirty="0" smtClean="0">
                        <a:solidFill>
                          <a:srgbClr val="FF0000"/>
                        </a:solidFill>
                        <a:latin typeface="Cambria Math"/>
                      </a:rPr>
                      <m:t>B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[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(1, 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+1)]</m:t>
                    </m:r>
                    <m:r>
                      <m:rPr>
                        <m:nor/>
                      </m:rPr>
                      <a:rPr lang="en-US" altLang="zh-TW" sz="1800" i="0" dirty="0" smtClean="0">
                        <a:solidFill>
                          <a:srgbClr val="FF0000"/>
                        </a:solidFill>
                        <a:latin typeface="Cambria Math"/>
                      </a:rPr>
                      <m:t>B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[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r>
                      <a:rPr lang="en-US" altLang="zh-TW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(2, 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+2)]…</m:t>
                    </m:r>
                    <m:r>
                      <m:rPr>
                        <m:nor/>
                      </m:rPr>
                      <a:rPr lang="en-US" altLang="zh-TW" sz="1800" i="0" dirty="0">
                        <a:solidFill>
                          <a:srgbClr val="FF0000"/>
                        </a:solidFill>
                        <a:latin typeface="Cambria Math"/>
                      </a:rPr>
                      <m:t>B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[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  <m:r>
                      <a:rPr lang="en-US" altLang="zh-TW" sz="1800" i="1" dirty="0">
                        <a:solidFill>
                          <a:srgbClr val="FF0000"/>
                        </a:solidFill>
                        <a:latin typeface="Cambria Math"/>
                      </a:rPr>
                      <m:t>)]</m:t>
                    </m:r>
                  </m:oMath>
                </a14:m>
                <a:r>
                  <a:rPr lang="en-US" altLang="zh-TW" sz="1800" dirty="0">
                    <a:solidFill>
                      <a:srgbClr val="FF0000"/>
                    </a:solidFill>
                  </a:rPr>
                  <a:t> is the LCS</a:t>
                </a:r>
                <a:r>
                  <a:rPr lang="en-US" altLang="zh-TW" sz="1800" dirty="0"/>
                  <a:t>, which length is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sz="1800" dirty="0"/>
                  <a:t>, of </a:t>
                </a:r>
                <a:r>
                  <a:rPr lang="en-US" altLang="zh-TW" sz="1800" dirty="0" smtClean="0"/>
                  <a:t>A and </a:t>
                </a:r>
                <a:r>
                  <a:rPr lang="en-US" altLang="zh-TW" sz="1800" dirty="0"/>
                  <a:t>B.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r>
                  <a:rPr lang="en-US" altLang="zh-TW" sz="1800" dirty="0"/>
                  <a:t>End</a:t>
                </a:r>
                <a:endParaRPr lang="zh-TW" altLang="en-US" sz="18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 r="-1333" b="-74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511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Algorithm Analysis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altLang="zh-TW" dirty="0" smtClean="0"/>
                  <a:t>Time complexity of each line 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algn="just"/>
                <a:r>
                  <a:rPr lang="en-US" altLang="zh-TW" dirty="0" smtClean="0"/>
                  <a:t>Time </a:t>
                </a:r>
                <a:r>
                  <a:rPr lang="en-US" altLang="zh-TW" dirty="0"/>
                  <a:t>complexity of entire algorithm 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0" dirty="0" smtClean="0">
                        <a:latin typeface="Cambria Math"/>
                      </a:rPr>
                      <m:t>O</m:t>
                    </m:r>
                    <m:r>
                      <a:rPr lang="en-US" altLang="zh-TW" i="1" dirty="0" smtClean="0">
                        <a:latin typeface="Cambria Math"/>
                      </a:rPr>
                      <m:t>(</m:t>
                    </m:r>
                    <m:r>
                      <a:rPr lang="en-US" altLang="zh-TW" i="1" dirty="0" err="1" smtClean="0">
                        <a:latin typeface="Cambria Math"/>
                      </a:rPr>
                      <m:t>𝑝𝑛</m:t>
                    </m:r>
                    <m:r>
                      <a:rPr lang="en-US" altLang="zh-TW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algn="just"/>
                <a:r>
                  <a:rPr lang="en-US" altLang="zh-TW" dirty="0"/>
                  <a:t>W</a:t>
                </a:r>
                <a:r>
                  <a:rPr lang="en-US" altLang="zh-TW" dirty="0" smtClean="0"/>
                  <a:t>hen LCS obtained </a:t>
                </a:r>
                <a:r>
                  <a:rPr lang="en-US" altLang="zh-TW" dirty="0"/>
                  <a:t>the number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/>
                      </a:rPr>
                      <m:t>&lt;&lt;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the speed will </a:t>
                </a:r>
                <a:r>
                  <a:rPr lang="en-US" altLang="zh-TW" dirty="0" smtClean="0"/>
                  <a:t>be much </a:t>
                </a:r>
                <a:r>
                  <a:rPr lang="en-US" altLang="zh-TW" dirty="0"/>
                  <a:t>higher than the dynamic programming.</a:t>
                </a:r>
                <a:endParaRPr lang="en-US" altLang="zh-TW" dirty="0" smtClean="0"/>
              </a:p>
              <a:p>
                <a:pPr algn="just"/>
                <a:r>
                  <a:rPr lang="en-US" altLang="zh-TW" dirty="0" smtClean="0"/>
                  <a:t>Space </a:t>
                </a:r>
                <a:r>
                  <a:rPr lang="pt-BR" altLang="zh-TW" dirty="0" smtClean="0"/>
                  <a:t>complexity : Just </a:t>
                </a:r>
                <a:r>
                  <a:rPr lang="en-US" altLang="zh-TW" dirty="0" smtClean="0"/>
                  <a:t>store </a:t>
                </a:r>
                <a:r>
                  <a:rPr lang="en-US" altLang="zh-TW" dirty="0"/>
                  <a:t>the current line and the previous line</a:t>
                </a:r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/>
                      </a:rPr>
                      <m:t>O</m:t>
                    </m:r>
                    <m:r>
                      <a:rPr lang="pt-BR" altLang="zh-TW" i="1" dirty="0" smtClean="0">
                        <a:latin typeface="Cambria Math"/>
                      </a:rPr>
                      <m:t>(</m:t>
                    </m:r>
                    <m:r>
                      <a:rPr lang="pt-BR" altLang="zh-TW" i="1" dirty="0" smtClean="0">
                        <a:latin typeface="Cambria Math"/>
                      </a:rPr>
                      <m:t>𝑚</m:t>
                    </m:r>
                    <m:r>
                      <a:rPr lang="pt-BR" altLang="zh-TW" i="1" dirty="0" smtClean="0">
                        <a:latin typeface="Cambria Math"/>
                      </a:rPr>
                      <m:t>+</m:t>
                    </m:r>
                    <m:r>
                      <a:rPr lang="pt-BR" altLang="zh-TW" i="1" dirty="0" smtClean="0">
                        <a:latin typeface="Cambria Math"/>
                      </a:rPr>
                      <m:t>𝑛</m:t>
                    </m:r>
                    <m:r>
                      <a:rPr lang="pt-BR" altLang="zh-TW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692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Experimental Results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Hardware environment : </a:t>
            </a:r>
            <a:r>
              <a:rPr lang="en-US" altLang="zh-TW" dirty="0"/>
              <a:t>Intel</a:t>
            </a:r>
            <a:r>
              <a:rPr lang="en-US" altLang="zh-TW" baseline="30000" dirty="0"/>
              <a:t>(R)</a:t>
            </a:r>
            <a:r>
              <a:rPr lang="en-US" altLang="zh-TW" dirty="0"/>
              <a:t> </a:t>
            </a:r>
            <a:r>
              <a:rPr lang="en-US" altLang="zh-TW" dirty="0" smtClean="0"/>
              <a:t>Core</a:t>
            </a:r>
            <a:r>
              <a:rPr lang="en-US" altLang="zh-TW" baseline="30000" dirty="0" smtClean="0"/>
              <a:t>(TM)</a:t>
            </a:r>
            <a:r>
              <a:rPr lang="en-US" altLang="zh-TW" dirty="0" smtClean="0"/>
              <a:t>2 Dual-core</a:t>
            </a:r>
            <a:r>
              <a:rPr lang="zh-TW" altLang="en-US" dirty="0" smtClean="0"/>
              <a:t> </a:t>
            </a:r>
            <a:r>
              <a:rPr lang="en-US" altLang="zh-TW" dirty="0" smtClean="0"/>
              <a:t>processor, 1G memory.</a:t>
            </a:r>
          </a:p>
          <a:p>
            <a:r>
              <a:rPr lang="en-US" altLang="zh-TW" dirty="0" smtClean="0"/>
              <a:t>Software environment : Windows </a:t>
            </a:r>
            <a:r>
              <a:rPr lang="en-US" altLang="zh-TW" dirty="0"/>
              <a:t>XP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4" t="33851" r="25247" b="41354"/>
          <a:stretch/>
        </p:blipFill>
        <p:spPr bwMode="auto">
          <a:xfrm>
            <a:off x="759128" y="3198128"/>
            <a:ext cx="7485280" cy="209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009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Parallel Idea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altLang="zh-TW" dirty="0" smtClean="0"/>
                  <a:t>Theorem 4,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latin typeface="Cambria Math"/>
                      </a:rPr>
                      <m:t>L</m:t>
                    </m:r>
                    <m:r>
                      <a:rPr lang="en-US" altLang="zh-TW" i="1" baseline="-25000" dirty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m:rPr>
                        <m:nor/>
                      </m:rPr>
                      <a:rPr lang="en-US" altLang="zh-TW" baseline="-25000" dirty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i="1" baseline="-25000" dirty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latin typeface="Cambria Math"/>
                      </a:rPr>
                      <m:t>Min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 dirty="0" err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altLang="zh-TW" i="1" dirty="0" err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dirty="0" err="1">
                            <a:solidFill>
                              <a:srgbClr val="FF0000"/>
                            </a:solidFill>
                            <a:latin typeface="Cambria Math"/>
                          </a:rPr>
                          <m:t>L</m:t>
                        </m:r>
                        <m:r>
                          <a:rPr lang="en-US" altLang="zh-TW" i="1" baseline="-25000" dirty="0" err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d>
                          <m:dPr>
                            <m:ctrlPr>
                              <a:rPr lang="en-US" altLang="zh-TW" i="1" dirty="0" err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, is </a:t>
                </a:r>
                <a:r>
                  <a:rPr lang="en-US" altLang="zh-TW" dirty="0"/>
                  <a:t>the most </a:t>
                </a:r>
                <a:r>
                  <a:rPr lang="en-US" altLang="zh-TW" dirty="0" smtClean="0"/>
                  <a:t>time-consuming operation </a:t>
                </a:r>
                <a:r>
                  <a:rPr lang="en-US" altLang="zh-TW" dirty="0"/>
                  <a:t>to get the public string is to compute </a:t>
                </a:r>
                <a:r>
                  <a:rPr lang="en-US" altLang="zh-TW" dirty="0" smtClean="0"/>
                  <a:t>the matrix L.</a:t>
                </a:r>
                <a:endParaRPr lang="en-US" altLang="zh-TW" dirty="0"/>
              </a:p>
              <a:p>
                <a:pPr algn="just"/>
                <a:r>
                  <a:rPr lang="en-US" altLang="zh-TW" dirty="0" smtClean="0"/>
                  <a:t>Use 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OpenMP</a:t>
                </a:r>
                <a:r>
                  <a:rPr lang="en-US" altLang="zh-TW" dirty="0"/>
                  <a:t>, which is an </a:t>
                </a:r>
                <a:r>
                  <a:rPr lang="en-US" altLang="zh-TW" dirty="0" smtClean="0"/>
                  <a:t>API, used </a:t>
                </a:r>
                <a:r>
                  <a:rPr lang="en-US" altLang="zh-TW" dirty="0"/>
                  <a:t>for writing transplantable multithreaded application.</a:t>
                </a:r>
                <a:endParaRPr lang="en-US" altLang="zh-TW" dirty="0" smtClean="0"/>
              </a:p>
              <a:p>
                <a:pPr algn="just"/>
                <a:r>
                  <a:rPr lang="en-US" altLang="zh-TW" dirty="0" smtClean="0"/>
                  <a:t>Use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“pragma 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omp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parallel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for” </a:t>
                </a:r>
                <a:r>
                  <a:rPr lang="en-US" altLang="zh-TW" dirty="0"/>
                  <a:t>statements to realize the </a:t>
                </a:r>
                <a:r>
                  <a:rPr lang="en-US" altLang="zh-TW" dirty="0" smtClean="0"/>
                  <a:t>parallelization.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809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379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996" y="80495"/>
            <a:ext cx="5068008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1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Parallel Experimental </a:t>
            </a:r>
            <a:r>
              <a:rPr lang="en-US" altLang="zh-TW" b="1" dirty="0" smtClean="0"/>
              <a:t>Results (1)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Hardware environment :</a:t>
            </a:r>
          </a:p>
          <a:p>
            <a:pPr lvl="1"/>
            <a:r>
              <a:rPr lang="en-US" altLang="zh-TW" dirty="0" smtClean="0"/>
              <a:t>Intel</a:t>
            </a:r>
            <a:r>
              <a:rPr lang="en-US" altLang="zh-TW" baseline="30000" dirty="0" smtClean="0"/>
              <a:t>(R</a:t>
            </a:r>
            <a:r>
              <a:rPr lang="en-US" altLang="zh-TW" baseline="30000" dirty="0"/>
              <a:t>)</a:t>
            </a:r>
            <a:r>
              <a:rPr lang="en-US" altLang="zh-TW" dirty="0"/>
              <a:t> Core</a:t>
            </a:r>
            <a:r>
              <a:rPr lang="en-US" altLang="zh-TW" baseline="30000" dirty="0"/>
              <a:t>(TM)</a:t>
            </a:r>
            <a:r>
              <a:rPr lang="en-US" altLang="zh-TW" dirty="0"/>
              <a:t>2 </a:t>
            </a:r>
            <a:r>
              <a:rPr lang="en-US" altLang="zh-TW" dirty="0" smtClean="0"/>
              <a:t>Dual-core processor, 1G memory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Intel</a:t>
            </a:r>
            <a:r>
              <a:rPr lang="en-US" altLang="zh-TW" baseline="30000" dirty="0" smtClean="0"/>
              <a:t>(R</a:t>
            </a:r>
            <a:r>
              <a:rPr lang="en-US" altLang="zh-TW" baseline="30000" dirty="0"/>
              <a:t>)</a:t>
            </a:r>
            <a:r>
              <a:rPr lang="en-US" altLang="zh-TW" dirty="0"/>
              <a:t> Core</a:t>
            </a:r>
            <a:r>
              <a:rPr lang="en-US" altLang="zh-TW" baseline="30000" dirty="0"/>
              <a:t>(TM)</a:t>
            </a:r>
            <a:r>
              <a:rPr lang="en-US" altLang="zh-TW" dirty="0"/>
              <a:t>2 </a:t>
            </a:r>
            <a:r>
              <a:rPr lang="en-US" altLang="zh-TW" dirty="0" smtClean="0"/>
              <a:t>Quad-cores processors,</a:t>
            </a:r>
            <a:r>
              <a:rPr lang="zh-TW" altLang="en-US" dirty="0" smtClean="0"/>
              <a:t> </a:t>
            </a:r>
            <a:r>
              <a:rPr lang="en-US" altLang="zh-TW" dirty="0" smtClean="0"/>
              <a:t>4G </a:t>
            </a:r>
            <a:r>
              <a:rPr lang="en-US" altLang="zh-TW" dirty="0"/>
              <a:t>memory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Software </a:t>
            </a:r>
            <a:r>
              <a:rPr lang="en-US" altLang="zh-TW" dirty="0" smtClean="0"/>
              <a:t>environment : Windows </a:t>
            </a:r>
            <a:r>
              <a:rPr lang="en-US" altLang="zh-TW" dirty="0"/>
              <a:t>XP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3" t="58939" r="24215" b="9456"/>
          <a:stretch/>
        </p:blipFill>
        <p:spPr bwMode="auto">
          <a:xfrm>
            <a:off x="683568" y="4149080"/>
            <a:ext cx="7467168" cy="258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8406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Parallel Experimental Results </a:t>
            </a:r>
            <a:r>
              <a:rPr lang="en-US" altLang="zh-TW" b="1" dirty="0" smtClean="0"/>
              <a:t>(2)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9" t="28563" r="29538" b="13405"/>
          <a:stretch/>
        </p:blipFill>
        <p:spPr bwMode="auto">
          <a:xfrm>
            <a:off x="1168152" y="1484784"/>
            <a:ext cx="6860232" cy="4753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615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953</Words>
  <Application>Microsoft Office PowerPoint</Application>
  <PresentationFormat>如螢幕大小 (4:3)</PresentationFormat>
  <Paragraphs>124</Paragraphs>
  <Slides>14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Research on Longest Common Subsequence Fast Algorithm</vt:lpstr>
      <vt:lpstr>Abstract</vt:lpstr>
      <vt:lpstr>Definitions (1)</vt:lpstr>
      <vt:lpstr>Definitions (2)</vt:lpstr>
      <vt:lpstr>Theorems</vt:lpstr>
      <vt:lpstr>Algorithmic Idea</vt:lpstr>
      <vt:lpstr>Example</vt:lpstr>
      <vt:lpstr>Algorithm Pseudo-code</vt:lpstr>
      <vt:lpstr>Algorithm Analysis</vt:lpstr>
      <vt:lpstr>Experimental Results</vt:lpstr>
      <vt:lpstr>Parallel Idea</vt:lpstr>
      <vt:lpstr>PowerPoint 簡報</vt:lpstr>
      <vt:lpstr>Parallel Experimental Results (1)</vt:lpstr>
      <vt:lpstr>Parallel Experimental Results (2)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LCH</cp:lastModifiedBy>
  <cp:revision>132</cp:revision>
  <dcterms:created xsi:type="dcterms:W3CDTF">2012-09-09T09:37:21Z</dcterms:created>
  <dcterms:modified xsi:type="dcterms:W3CDTF">2012-10-23T07:09:34Z</dcterms:modified>
</cp:coreProperties>
</file>