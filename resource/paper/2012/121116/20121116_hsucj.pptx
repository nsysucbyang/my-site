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1" r:id="rId4"/>
    <p:sldId id="258" r:id="rId5"/>
    <p:sldId id="266" r:id="rId6"/>
    <p:sldId id="263" r:id="rId7"/>
    <p:sldId id="262" r:id="rId8"/>
    <p:sldId id="259" r:id="rId9"/>
    <p:sldId id="260" r:id="rId10"/>
    <p:sldId id="267" r:id="rId11"/>
    <p:sldId id="265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104" y="-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2012/11/6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altLang="zh-TW" b="1" dirty="0"/>
              <a:t>Algorithms for the Constrained Longest Common Subsequence </a:t>
            </a:r>
            <a:r>
              <a:rPr lang="en-US" altLang="zh-TW" b="1" dirty="0" smtClean="0"/>
              <a:t>Problems</a:t>
            </a:r>
            <a:endParaRPr lang="zh-TW" altLang="en-US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Abdullah N. </a:t>
            </a:r>
            <a:r>
              <a:rPr lang="en-US" altLang="zh-TW" sz="2800" dirty="0" err="1" smtClean="0"/>
              <a:t>Arslan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and </a:t>
            </a:r>
            <a:r>
              <a:rPr lang="en-US" altLang="zh-TW" sz="2800" dirty="0" err="1" smtClean="0"/>
              <a:t>Ömer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Eğecio</a:t>
            </a:r>
            <a:r>
              <a:rPr lang="en-US" altLang="zh-TW" sz="2800" dirty="0" err="1"/>
              <a:t>ğ</a:t>
            </a:r>
            <a:r>
              <a:rPr lang="en-US" altLang="zh-TW" sz="2800" dirty="0" err="1" smtClean="0"/>
              <a:t>lu</a:t>
            </a:r>
            <a:endParaRPr lang="en-US" altLang="zh-TW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zh-TW" sz="2800" dirty="0"/>
              <a:t>International Journal of Foundations of Computer </a:t>
            </a:r>
            <a:r>
              <a:rPr lang="en-US" altLang="zh-TW" sz="2800" dirty="0" smtClean="0"/>
              <a:t>Science</a:t>
            </a:r>
          </a:p>
          <a:p>
            <a:r>
              <a:rPr lang="en-US" altLang="zh-TW" sz="2800" dirty="0" smtClean="0"/>
              <a:t>Vol</a:t>
            </a:r>
            <a:r>
              <a:rPr lang="en-US" altLang="zh-TW" sz="2800" dirty="0"/>
              <a:t>. 16, No. 6 (2005) 1099-1109</a:t>
            </a:r>
            <a:endParaRPr lang="en-US" altLang="zh-TW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Date: </a:t>
            </a:r>
            <a:fld id="{3DC95CE2-72FD-4627-B4FE-7CBC89963158}" type="datetime1">
              <a:rPr lang="zh-TW" altLang="en-US" sz="2800" smtClean="0">
                <a:solidFill>
                  <a:schemeClr val="tx1"/>
                </a:solidFill>
              </a:rPr>
              <a:t>2012/11/6</a:t>
            </a:fld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Abstract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457200" algn="just">
              <a:buNone/>
            </a:pPr>
            <a:r>
              <a:rPr lang="en-US" altLang="zh-TW" dirty="0"/>
              <a:t>Given strings S1, S2, and P, the constrained longest common </a:t>
            </a:r>
            <a:r>
              <a:rPr lang="en-US" altLang="zh-TW" dirty="0" smtClean="0"/>
              <a:t>subsequence </a:t>
            </a:r>
            <a:r>
              <a:rPr lang="en-US" altLang="zh-TW" dirty="0"/>
              <a:t>problem for S1 and S2 with respect to P is to find a longest </a:t>
            </a:r>
            <a:r>
              <a:rPr lang="en-US" altLang="zh-TW" dirty="0" smtClean="0"/>
              <a:t>common subsequence </a:t>
            </a:r>
            <a:r>
              <a:rPr lang="en-US" altLang="zh-TW" dirty="0" err="1"/>
              <a:t>lcs</a:t>
            </a:r>
            <a:r>
              <a:rPr lang="en-US" altLang="zh-TW" dirty="0"/>
              <a:t> of S1 and S2 such that P is a subsequence of this </a:t>
            </a:r>
            <a:r>
              <a:rPr lang="en-US" altLang="zh-TW" dirty="0" err="1"/>
              <a:t>lcs</a:t>
            </a:r>
            <a:r>
              <a:rPr lang="en-US" altLang="zh-TW" dirty="0"/>
              <a:t>. </a:t>
            </a:r>
            <a:r>
              <a:rPr lang="en-US" altLang="zh-TW" dirty="0" smtClean="0"/>
              <a:t>We present </a:t>
            </a:r>
            <a:r>
              <a:rPr lang="en-US" altLang="zh-TW" dirty="0"/>
              <a:t>an algorithm which improves the time complexity of the problem </a:t>
            </a:r>
            <a:r>
              <a:rPr lang="en-US" altLang="zh-TW" dirty="0" smtClean="0"/>
              <a:t>from the </a:t>
            </a:r>
            <a:r>
              <a:rPr lang="en-US" altLang="zh-TW" dirty="0"/>
              <a:t>previously known O(rn</a:t>
            </a:r>
            <a:r>
              <a:rPr lang="en-US" altLang="zh-TW" baseline="30000" dirty="0"/>
              <a:t>2</a:t>
            </a:r>
            <a:r>
              <a:rPr lang="en-US" altLang="zh-TW" dirty="0"/>
              <a:t>m</a:t>
            </a:r>
            <a:r>
              <a:rPr lang="en-US" altLang="zh-TW" baseline="30000" dirty="0"/>
              <a:t>2</a:t>
            </a:r>
            <a:r>
              <a:rPr lang="en-US" altLang="zh-TW" dirty="0"/>
              <a:t>) to O(</a:t>
            </a:r>
            <a:r>
              <a:rPr lang="en-US" altLang="zh-TW" dirty="0" err="1"/>
              <a:t>rnm</a:t>
            </a:r>
            <a:r>
              <a:rPr lang="en-US" altLang="zh-TW" dirty="0"/>
              <a:t>) where r, n, and m are the </a:t>
            </a:r>
            <a:r>
              <a:rPr lang="en-US" altLang="zh-TW" dirty="0" smtClean="0"/>
              <a:t>lengths of </a:t>
            </a:r>
            <a:r>
              <a:rPr lang="en-US" altLang="zh-TW" dirty="0"/>
              <a:t>P, S1, and S2, respectively. As a generalization of this, we extend the </a:t>
            </a:r>
            <a:r>
              <a:rPr lang="en-US" altLang="zh-TW" dirty="0" smtClean="0"/>
              <a:t>definition </a:t>
            </a:r>
            <a:r>
              <a:rPr lang="en-US" altLang="zh-TW" dirty="0"/>
              <a:t>of the problem so that the </a:t>
            </a:r>
            <a:r>
              <a:rPr lang="en-US" altLang="zh-TW" dirty="0" err="1"/>
              <a:t>lcs</a:t>
            </a:r>
            <a:r>
              <a:rPr lang="en-US" altLang="zh-TW" dirty="0"/>
              <a:t> sought contains a subsequence whose </a:t>
            </a:r>
            <a:r>
              <a:rPr lang="en-US" altLang="zh-TW" dirty="0" smtClean="0"/>
              <a:t>edit distance </a:t>
            </a:r>
            <a:r>
              <a:rPr lang="en-US" altLang="zh-TW" dirty="0"/>
              <a:t>from P is less than a given parameter d. For the latter problem, </a:t>
            </a:r>
            <a:r>
              <a:rPr lang="en-US" altLang="zh-TW" dirty="0" smtClean="0"/>
              <a:t>we propose </a:t>
            </a:r>
            <a:r>
              <a:rPr lang="en-US" altLang="zh-TW" dirty="0"/>
              <a:t>an algorithm whose time complexity is O(</a:t>
            </a:r>
            <a:r>
              <a:rPr lang="en-US" altLang="zh-TW" dirty="0" err="1"/>
              <a:t>drnm</a:t>
            </a:r>
            <a:r>
              <a:rPr lang="en-US" altLang="zh-TW" dirty="0"/>
              <a:t>).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Constrained LCS </a:t>
            </a:r>
            <a:r>
              <a:rPr lang="en-US" altLang="zh-TW" b="1" dirty="0" smtClean="0"/>
              <a:t>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S1 = </a:t>
            </a:r>
            <a:r>
              <a:rPr lang="en-US" altLang="zh-TW" u="sng" dirty="0" err="1" smtClean="0"/>
              <a:t>bb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b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a</a:t>
            </a:r>
            <a:endParaRPr lang="en-US" altLang="zh-TW" u="sng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S2 = 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b</a:t>
            </a:r>
            <a:r>
              <a:rPr lang="en-US" altLang="zh-TW" u="sng" dirty="0" err="1" smtClean="0"/>
              <a:t>b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a</a:t>
            </a:r>
            <a:r>
              <a:rPr lang="en-US" altLang="zh-TW" u="sng" dirty="0" err="1" smtClean="0"/>
              <a:t>a</a:t>
            </a:r>
            <a:endParaRPr lang="en-US" altLang="zh-TW" u="sng" dirty="0" smtClean="0"/>
          </a:p>
          <a:p>
            <a:r>
              <a:rPr lang="en-US" altLang="zh-TW" dirty="0" smtClean="0"/>
              <a:t>P = </a:t>
            </a:r>
            <a:r>
              <a:rPr lang="en-US" altLang="zh-TW" dirty="0" err="1" smtClean="0"/>
              <a:t>ab</a:t>
            </a:r>
            <a:endParaRPr lang="en-US" altLang="zh-TW" dirty="0" smtClean="0"/>
          </a:p>
          <a:p>
            <a:r>
              <a:rPr lang="en-US" altLang="zh-TW" dirty="0" smtClean="0"/>
              <a:t>LCS = </a:t>
            </a:r>
            <a:r>
              <a:rPr lang="en-US" altLang="zh-TW" dirty="0" err="1" smtClean="0"/>
              <a:t>bbaa</a:t>
            </a:r>
            <a:endParaRPr lang="en-US" altLang="zh-TW" dirty="0" smtClean="0"/>
          </a:p>
          <a:p>
            <a:r>
              <a:rPr lang="en-US" altLang="zh-TW" dirty="0" smtClean="0"/>
              <a:t>Constrained LCS = aba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13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Constrained LCS Algorithm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max</m:t>
                      </m:r>
                      <m:r>
                        <a:rPr lang="en-US" altLang="zh-TW" b="0" i="1" smtClean="0">
                          <a:latin typeface="Cambria Math"/>
                        </a:rPr>
                        <m:t>⁡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altLang="zh-TW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max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b="0" i="1" smtClean="0">
                              <a:latin typeface="Cambria Math"/>
                            </a:rPr>
                            <m:t> ,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′′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altLang="zh-TW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TW" b="0" i="1" smtClean="0">
                                            <a:latin typeface="Cambria Math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𝑖𝑓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altLang="zh-TW" b="0" i="1" smtClean="0">
                                                    <a:latin typeface="Cambria Math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altLang="zh-TW" b="0" i="1" smtClean="0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/>
                                                  </a:rPr>
                                                  <m:t>=1 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/>
                                                  </a:rPr>
                                                  <m:t>𝑜𝑟</m:t>
                                                </m:r>
                                              </m: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𝑘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&gt;1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𝑎𝑛𝑑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b="0" i="1" smtClean="0">
                                                            <a:latin typeface="Cambria Math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𝐿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𝑖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−1,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−1,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𝑘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−1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&gt;0</m:t>
                                                    </m:r>
                                                  </m:e>
                                                </m:d>
                                              </m:e>
                                            </m:eqArr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𝑎𝑛𝑑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=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𝑃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′′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altLang="zh-TW" i="1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𝑖𝑓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=0 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𝑜𝑟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𝐿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−1,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𝑗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−1,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𝑘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&gt;0</m:t>
                                                </m:r>
                                              </m:e>
                                            </m:eqArr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𝑎𝑛𝑑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</m:e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478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Example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S1 = </a:t>
            </a:r>
            <a:r>
              <a:rPr lang="en-US" altLang="zh-TW" dirty="0" err="1" smtClean="0"/>
              <a:t>abbaa</a:t>
            </a:r>
            <a:r>
              <a:rPr lang="en-US" altLang="zh-TW" dirty="0" smtClean="0"/>
              <a:t>, S2 = </a:t>
            </a:r>
            <a:r>
              <a:rPr lang="en-US" altLang="zh-TW" dirty="0" err="1" smtClean="0"/>
              <a:t>bbaba</a:t>
            </a:r>
            <a:r>
              <a:rPr lang="en-US" altLang="zh-TW" dirty="0" smtClean="0"/>
              <a:t>, P = </a:t>
            </a:r>
            <a:r>
              <a:rPr lang="en-US" altLang="zh-TW" dirty="0" err="1" smtClean="0"/>
              <a:t>ab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Constrained </a:t>
            </a:r>
            <a:r>
              <a:rPr lang="en-US" altLang="zh-TW" dirty="0" err="1" smtClean="0"/>
              <a:t>lcs</a:t>
            </a:r>
            <a:r>
              <a:rPr lang="en-US" altLang="zh-TW" dirty="0" smtClean="0"/>
              <a:t> = aba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002117"/>
              </p:ext>
            </p:extLst>
          </p:nvPr>
        </p:nvGraphicFramePr>
        <p:xfrm>
          <a:off x="972080" y="2524864"/>
          <a:ext cx="7200000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6360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 = 0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 = 1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k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= 2</a:t>
                      </a:r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589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Complexity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Time complexity</a:t>
                </a:r>
                <a:r>
                  <a:rPr lang="zh-TW" altLang="en-US" dirty="0" smtClean="0"/>
                  <a:t>：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𝑟𝑛𝑚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Space complexity</a:t>
                </a:r>
                <a:r>
                  <a:rPr lang="zh-TW" altLang="en-US" dirty="0" smtClean="0"/>
                  <a:t>：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𝑟𝑚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Space complexity with LCS information</a:t>
                </a:r>
                <a:r>
                  <a:rPr lang="zh-TW" altLang="en-US" dirty="0" smtClean="0"/>
                  <a:t>：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/>
                          </a:rPr>
                          <m:t>𝑟𝑛𝑚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44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Edit Distance </a:t>
            </a:r>
            <a:r>
              <a:rPr lang="en-US" altLang="zh-TW" b="1" dirty="0" smtClean="0"/>
              <a:t>Constrained </a:t>
            </a:r>
            <a:r>
              <a:rPr lang="en-US" altLang="zh-TW" b="1" dirty="0"/>
              <a:t>LCS </a:t>
            </a:r>
            <a:r>
              <a:rPr lang="en-US" altLang="zh-TW" b="1" dirty="0" smtClean="0"/>
              <a:t>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S1 = </a:t>
            </a:r>
            <a:r>
              <a:rPr lang="en-US" altLang="zh-TW" dirty="0" err="1" smtClean="0">
                <a:solidFill>
                  <a:srgbClr val="FF0000"/>
                </a:solidFill>
              </a:rPr>
              <a:t>bb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a</a:t>
            </a:r>
            <a:r>
              <a:rPr lang="en-US" altLang="zh-TW" u="sng" dirty="0" err="1" smtClean="0"/>
              <a:t>b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a</a:t>
            </a:r>
            <a:endParaRPr lang="en-US" altLang="zh-TW" u="sng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S2 = </a:t>
            </a:r>
            <a:r>
              <a:rPr lang="en-US" altLang="zh-TW" u="sng" dirty="0" err="1" smtClean="0"/>
              <a:t>a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b</a:t>
            </a:r>
            <a:r>
              <a:rPr lang="en-US" altLang="zh-TW" dirty="0" err="1" smtClean="0">
                <a:solidFill>
                  <a:srgbClr val="FF0000"/>
                </a:solidFill>
              </a:rPr>
              <a:t>b</a:t>
            </a:r>
            <a:r>
              <a:rPr lang="en-US" altLang="zh-TW" u="sng" dirty="0" err="1" smtClean="0">
                <a:solidFill>
                  <a:srgbClr val="FF0000"/>
                </a:solidFill>
              </a:rPr>
              <a:t>a</a:t>
            </a:r>
            <a:r>
              <a:rPr lang="en-US" altLang="zh-TW" dirty="0" err="1" smtClean="0">
                <a:solidFill>
                  <a:srgbClr val="FF0000"/>
                </a:solidFill>
              </a:rPr>
              <a:t>a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r>
              <a:rPr lang="en-US" altLang="zh-TW" dirty="0" smtClean="0"/>
              <a:t>P = </a:t>
            </a:r>
            <a:r>
              <a:rPr lang="en-US" altLang="zh-TW" dirty="0" err="1" smtClean="0"/>
              <a:t>ab</a:t>
            </a:r>
            <a:endParaRPr lang="en-US" altLang="zh-TW" dirty="0" smtClean="0"/>
          </a:p>
          <a:p>
            <a:r>
              <a:rPr lang="en-US" altLang="zh-TW" dirty="0"/>
              <a:t>e</a:t>
            </a:r>
            <a:r>
              <a:rPr lang="en-US" altLang="zh-TW" dirty="0" smtClean="0"/>
              <a:t>dit distance = 1</a:t>
            </a:r>
          </a:p>
          <a:p>
            <a:pPr marL="0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(Ex</a:t>
            </a:r>
            <a:r>
              <a:rPr lang="zh-TW" altLang="en-US" dirty="0" smtClean="0"/>
              <a:t>：</a:t>
            </a:r>
            <a:r>
              <a:rPr lang="en-US" altLang="zh-TW" dirty="0" smtClean="0"/>
              <a:t>P’ = a</a:t>
            </a:r>
            <a:r>
              <a:rPr lang="en-US" altLang="zh-TW" b="1" dirty="0" smtClean="0">
                <a:solidFill>
                  <a:srgbClr val="7030A0"/>
                </a:solidFill>
              </a:rPr>
              <a:t>_</a:t>
            </a:r>
            <a:r>
              <a:rPr lang="en-US" altLang="zh-TW" dirty="0" smtClean="0"/>
              <a:t> or </a:t>
            </a:r>
            <a:r>
              <a:rPr lang="en-US" altLang="zh-TW" dirty="0"/>
              <a:t>P’ = </a:t>
            </a:r>
            <a:r>
              <a:rPr lang="en-US" altLang="zh-TW" dirty="0" err="1" smtClean="0"/>
              <a:t>a</a:t>
            </a:r>
            <a:r>
              <a:rPr lang="en-US" altLang="zh-TW" b="1" dirty="0" err="1" smtClean="0">
                <a:solidFill>
                  <a:srgbClr val="7030A0"/>
                </a:solidFill>
              </a:rPr>
              <a:t>a</a:t>
            </a:r>
            <a:r>
              <a:rPr lang="en-US" altLang="zh-TW" dirty="0" smtClean="0"/>
              <a:t> or </a:t>
            </a:r>
            <a:r>
              <a:rPr lang="en-US" altLang="zh-TW" dirty="0"/>
              <a:t>P’ = </a:t>
            </a:r>
            <a:r>
              <a:rPr lang="en-US" altLang="zh-TW" b="1" dirty="0" err="1" smtClean="0">
                <a:solidFill>
                  <a:srgbClr val="7030A0"/>
                </a:solidFill>
              </a:rPr>
              <a:t>b</a:t>
            </a:r>
            <a:r>
              <a:rPr lang="en-US" altLang="zh-TW" dirty="0" err="1" smtClean="0"/>
              <a:t>ab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Constrained LCS = aba</a:t>
            </a:r>
          </a:p>
          <a:p>
            <a:r>
              <a:rPr lang="en-US" altLang="zh-TW" dirty="0" smtClean="0"/>
              <a:t>Constrained LCS with edit distance = </a:t>
            </a:r>
            <a:r>
              <a:rPr lang="en-US" altLang="zh-TW" dirty="0" err="1" smtClean="0"/>
              <a:t>bbaa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858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Edit Distance Constrained LCS Algorithm (1/2)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max</m:t>
                      </m:r>
                      <m:r>
                        <a:rPr lang="en-US" altLang="zh-TW" b="0" i="1" smtClean="0">
                          <a:latin typeface="Cambria Math"/>
                        </a:rPr>
                        <m:t>⁡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−1,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altLang="zh-TW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max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TW" b="0" i="1" smtClean="0">
                              <a:latin typeface="Cambria Math"/>
                            </a:rPr>
                            <m:t> ,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′′</m:t>
                              </m:r>
                            </m:sup>
                          </m:sSubSup>
                          <m:r>
                            <a:rPr lang="en-US" altLang="zh-TW" b="0" i="1" smtClean="0">
                              <a:latin typeface="Cambria Math"/>
                            </a:rPr>
                            <m:t> ,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/>
                                </a:rPr>
                                <m:t>′′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′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′′</m:t>
                          </m:r>
                        </m:sup>
                      </m:sSubSup>
                      <m:r>
                        <a:rPr lang="en-US" altLang="zh-TW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−1,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TW" b="0" i="1" smtClean="0">
                                            <a:latin typeface="Cambria Math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𝑖𝑓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altLang="zh-TW" b="0" i="1" smtClean="0">
                                                    <a:latin typeface="Cambria Math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𝑘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=1 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𝑎𝑛𝑑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=0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altLang="zh-TW" b="0" i="1" smtClean="0">
                                                    <a:latin typeface="Cambria Math"/>
                                                  </a:rPr>
                                                  <m:t> 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/>
                                                  </a:rPr>
                                                  <m:t>𝑜𝑟</m:t>
                                                </m:r>
                                              </m:e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𝑘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&gt;1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𝑎𝑛𝑑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b="0" i="1" smtClean="0">
                                                            <a:latin typeface="Cambria Math"/>
                                                          </a:rPr>
                                                          <m:t> 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𝐿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𝑖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−1,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𝑗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−1,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𝑘</m:t>
                                                        </m:r>
                                                        <m:r>
                                                          <a:rPr lang="en-US" altLang="zh-TW" i="1">
                                                            <a:latin typeface="Cambria Math"/>
                                                          </a:rPr>
                                                          <m:t>−1,</m:t>
                                                        </m:r>
                                                        <m:r>
                                                          <a:rPr lang="en-US" altLang="zh-TW" b="0" i="1" smtClean="0">
                                                            <a:latin typeface="Cambria Math"/>
                                                          </a:rPr>
                                                          <m:t>𝑡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&gt;0</m:t>
                                                    </m:r>
                                                  </m:e>
                                                </m:d>
                                              </m:e>
                                            </m:eqArr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𝑎𝑛𝑑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=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𝑃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′′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′</m:t>
                          </m:r>
                        </m:sup>
                      </m:sSubSup>
                      <m:r>
                        <a:rPr lang="en-US" altLang="zh-TW" i="1"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−1,0,0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𝑖𝑓</m:t>
                                    </m:r>
                                    <m:d>
                                      <m:dPr>
                                        <m:ctrlPr>
                                          <a:rPr lang="en-US" altLang="zh-TW" b="0" i="1" smtClean="0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=0 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𝑎𝑛𝑑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=1</m:t>
                                        </m:r>
                                      </m:e>
                                    </m:d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𝑎𝑛𝑑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TW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𝑖𝑓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eqArr>
                                              <m:eqArrPr>
                                                <m:ctrlP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</m:ctrlPr>
                                              </m:eqArrPr>
                                              <m:e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=0 </m:t>
                                                </m:r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𝑜𝑟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 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𝐿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𝑖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−1,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𝑗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−1,</m:t>
                                                    </m:r>
                                                    <m:r>
                                                      <a:rPr lang="en-US" altLang="zh-TW" i="1">
                                                        <a:latin typeface="Cambria Math"/>
                                                      </a:rPr>
                                                      <m:t>𝑘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altLang="zh-TW" b="0" i="1" smtClean="0">
                                                        <a:latin typeface="Cambria Math"/>
                                                      </a:rPr>
                                                      <m:t>𝑡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TW" i="1">
                                                    <a:latin typeface="Cambria Math"/>
                                                  </a:rPr>
                                                  <m:t>&gt;0</m:t>
                                                </m:r>
                                              </m:e>
                                            </m:eqArr>
                                          </m:e>
                                        </m:d>
                                      </m:e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𝑎𝑛𝑑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</m:e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85313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919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Edit Distance Constrained LCS Algorithm (2/2)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altLang="zh-TW" i="1">
                              <a:latin typeface="Cambria Math"/>
                            </a:rPr>
                            <m:t>′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′′′</m:t>
                          </m:r>
                        </m:sup>
                      </m:sSubSup>
                      <m:r>
                        <a:rPr lang="en-US" altLang="zh-TW" b="0" i="0" smtClean="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/>
                        </a:rPr>
                        <m:t>max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/>
                            </a:rPr>
                            <m:t> ,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𝑖𝑓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  <a:ea typeface="Cambria Math"/>
                                      </a:rPr>
                                      <m:t>≥1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  <a:ea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  <a:ea typeface="Cambria Math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𝑖𝑓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  <a:ea typeface="Cambria Math"/>
                                          </a:rPr>
                                          <m:t>≥1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 </m:t>
                                        </m:r>
                                      </m:e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  <a:ea typeface="Cambria Math"/>
                                          </a:rPr>
                                          <m:t>𝑎𝑛𝑑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</m:e>
                                        </m:d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=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i="1">
                                                <a:latin typeface="Cambria Math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altLang="zh-TW" i="1" smtClean="0">
                                            <a:latin typeface="Cambria Math"/>
                                            <a:ea typeface="Cambria Math"/>
                                          </a:rPr>
                                          <m:t>≠</m:t>
                                        </m:r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𝑃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altLang="zh-TW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/>
                                              </a:rPr>
                                              <m:t>𝑘</m:t>
                                            </m:r>
                                          </m:e>
                                        </m:d>
                                      </m:e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zh-TW" i="1">
                                        <a:latin typeface="Cambria Math"/>
                                        <a:ea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i="1">
                                        <a:latin typeface="Cambria Math"/>
                                        <a:ea typeface="Cambria Math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altLang="zh-TW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altLang="zh-TW" i="1">
                              <a:latin typeface="Cambria Math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𝑘</m:t>
                          </m:r>
                          <m:r>
                            <a:rPr lang="en-US" altLang="zh-TW" i="1">
                              <a:latin typeface="Cambria Math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altLang="zh-TW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𝑖𝑓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𝑡</m:t>
                                    </m:r>
                                    <m:r>
                                      <a:rPr lang="en-US" altLang="zh-TW" i="1">
                                        <a:latin typeface="Cambria Math"/>
                                        <a:ea typeface="Cambria Math"/>
                                      </a:rPr>
                                      <m:t>≥1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  <a:ea typeface="Cambria Math"/>
                                      </a:rPr>
                                      <m:t> </m:t>
                                    </m:r>
                                    <m:r>
                                      <a:rPr lang="en-US" altLang="zh-TW" b="0" i="1" smtClean="0">
                                        <a:latin typeface="Cambria Math"/>
                                        <a:ea typeface="Cambria Math"/>
                                      </a:rPr>
                                      <m:t>𝑎𝑛𝑑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/>
                                          </a:rPr>
                                          <m:t> </m:t>
                                        </m:r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=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en-US" altLang="zh-TW" i="1">
                                        <a:latin typeface="Cambria Math"/>
                                        <a:ea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zh-TW" i="1">
                                        <a:latin typeface="Cambria Math"/>
                                        <a:ea typeface="Cambria Math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97152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94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/>
          <a:lstStyle/>
          <a:p>
            <a:r>
              <a:rPr lang="en-US" altLang="zh-TW" b="1" dirty="0" smtClean="0"/>
              <a:t>Example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692696"/>
            <a:ext cx="8229600" cy="6165304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S1 = </a:t>
            </a:r>
            <a:r>
              <a:rPr lang="en-US" altLang="zh-TW" sz="2800" dirty="0" err="1" smtClean="0"/>
              <a:t>abbaa</a:t>
            </a:r>
            <a:r>
              <a:rPr lang="en-US" altLang="zh-TW" sz="2800" dirty="0" smtClean="0"/>
              <a:t>, S2 = </a:t>
            </a:r>
            <a:r>
              <a:rPr lang="en-US" altLang="zh-TW" sz="2800" dirty="0" err="1" smtClean="0"/>
              <a:t>bbaba</a:t>
            </a:r>
            <a:r>
              <a:rPr lang="en-US" altLang="zh-TW" sz="2800" dirty="0" smtClean="0"/>
              <a:t>, P = </a:t>
            </a:r>
            <a:r>
              <a:rPr lang="en-US" altLang="zh-TW" sz="2800" dirty="0" err="1" smtClean="0"/>
              <a:t>ab</a:t>
            </a:r>
            <a:r>
              <a:rPr lang="en-US" altLang="zh-TW" sz="2800" dirty="0" smtClean="0"/>
              <a:t>, edit distance = </a:t>
            </a:r>
            <a:r>
              <a:rPr lang="en-US" altLang="zh-TW" sz="2800" dirty="0" smtClean="0"/>
              <a:t>1</a:t>
            </a:r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endParaRPr lang="en-US" altLang="zh-TW" sz="2800" dirty="0"/>
          </a:p>
          <a:p>
            <a:endParaRPr lang="en-US" altLang="zh-TW" sz="2800" dirty="0" smtClean="0"/>
          </a:p>
          <a:p>
            <a:r>
              <a:rPr lang="en-US" altLang="zh-TW" sz="2800" dirty="0"/>
              <a:t>Constrained LCS with edit distance = </a:t>
            </a:r>
            <a:r>
              <a:rPr lang="en-US" altLang="zh-TW" sz="2800" dirty="0" err="1" smtClean="0"/>
              <a:t>bbaa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614334"/>
              </p:ext>
            </p:extLst>
          </p:nvPr>
        </p:nvGraphicFramePr>
        <p:xfrm>
          <a:off x="900392" y="1196752"/>
          <a:ext cx="7200000" cy="5120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  <a:gridCol w="360000"/>
              </a:tblGrid>
              <a:tr h="3636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k = 0, t = 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k = 1, t = 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 2, t = 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600"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k = 0, t = 1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k = 1, t = 1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 2, t = 1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75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Complexity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Time complexity</a:t>
                </a:r>
                <a:r>
                  <a:rPr lang="zh-TW" altLang="en-US" dirty="0" smtClean="0"/>
                  <a:t>：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𝑑𝑟𝑛𝑚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Space complexity</a:t>
                </a:r>
                <a:r>
                  <a:rPr lang="zh-TW" altLang="en-US" dirty="0" smtClean="0"/>
                  <a:t>：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TW" i="1">
                            <a:latin typeface="Cambria Math"/>
                          </a:rPr>
                          <m:t>𝑟𝑚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Space complexity with LCS information</a:t>
                </a:r>
                <a:r>
                  <a:rPr lang="zh-TW" altLang="en-US" dirty="0" smtClean="0"/>
                  <a:t>：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𝑑</m:t>
                        </m:r>
                        <m:r>
                          <a:rPr lang="en-US" altLang="zh-TW" i="1">
                            <a:latin typeface="Cambria Math"/>
                          </a:rPr>
                          <m:t>𝑟𝑛𝑚</m:t>
                        </m: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845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1392</Words>
  <Application>Microsoft Office PowerPoint</Application>
  <PresentationFormat>如螢幕大小 (4:3)</PresentationFormat>
  <Paragraphs>411</Paragraphs>
  <Slides>11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Office 佈景主題</vt:lpstr>
      <vt:lpstr>Algorithms for the Constrained Longest Common Subsequence Problems</vt:lpstr>
      <vt:lpstr>Abstract</vt:lpstr>
      <vt:lpstr>Constrained LCS Problem</vt:lpstr>
      <vt:lpstr>Constrained LCS Algorithm</vt:lpstr>
      <vt:lpstr>Example</vt:lpstr>
      <vt:lpstr>Complexity</vt:lpstr>
      <vt:lpstr>Edit Distance Constrained LCS Problem</vt:lpstr>
      <vt:lpstr>Edit Distance Constrained LCS Algorithm (1/2)</vt:lpstr>
      <vt:lpstr>Edit Distance Constrained LCS Algorithm (2/2)</vt:lpstr>
      <vt:lpstr>Example</vt:lpstr>
      <vt:lpstr>Complexity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216</cp:revision>
  <dcterms:created xsi:type="dcterms:W3CDTF">2012-09-09T09:37:21Z</dcterms:created>
  <dcterms:modified xsi:type="dcterms:W3CDTF">2012-11-06T08:47:35Z</dcterms:modified>
</cp:coreProperties>
</file>