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p:restoredLeft sz="34587" autoAdjust="0"/>
    <p:restoredTop sz="94670" autoAdjust="0"/>
  </p:normalViewPr>
  <p:slideViewPr>
    <p:cSldViewPr>
      <p:cViewPr varScale="1">
        <p:scale>
          <a:sx n="69" d="100"/>
          <a:sy n="69" d="100"/>
        </p:scale>
        <p:origin x="-156" y="-9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6BA468D-2374-4080-ABAF-C2C6F190B374}" type="datetimeFigureOut">
              <a:rPr lang="zh-TW" altLang="en-US" smtClean="0"/>
              <a:pPr/>
              <a:t>2012/11/6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1EA69C0-BEC3-4BBC-B4D0-830B516666F6}" type="slidenum">
              <a:rPr lang="zh-TW" altLang="en-US" smtClean="0"/>
              <a:pPr/>
              <a:t>‹#›</a:t>
            </a:fld>
            <a:endParaRPr lang="zh-TW" altLang="en-US"/>
          </a:p>
        </p:txBody>
      </p:sp>
    </p:spTree>
    <p:extLst>
      <p:ext uri="{BB962C8B-B14F-4D97-AF65-F5344CB8AC3E}">
        <p14:creationId xmlns:p14="http://schemas.microsoft.com/office/powerpoint/2010/main" xmlns="" val="2521768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6BA468D-2374-4080-ABAF-C2C6F190B374}" type="datetimeFigureOut">
              <a:rPr lang="zh-TW" altLang="en-US" smtClean="0"/>
              <a:pPr/>
              <a:t>2012/11/6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1EA69C0-BEC3-4BBC-B4D0-830B516666F6}" type="slidenum">
              <a:rPr lang="zh-TW" altLang="en-US" smtClean="0"/>
              <a:pPr/>
              <a:t>‹#›</a:t>
            </a:fld>
            <a:endParaRPr lang="zh-TW" altLang="en-US"/>
          </a:p>
        </p:txBody>
      </p:sp>
    </p:spTree>
    <p:extLst>
      <p:ext uri="{BB962C8B-B14F-4D97-AF65-F5344CB8AC3E}">
        <p14:creationId xmlns:p14="http://schemas.microsoft.com/office/powerpoint/2010/main" xmlns="" val="1499133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D6BA468D-2374-4080-ABAF-C2C6F190B374}" type="datetimeFigureOut">
              <a:rPr lang="zh-TW" altLang="en-US" smtClean="0"/>
              <a:pPr/>
              <a:t>2012/11/6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1EA69C0-BEC3-4BBC-B4D0-830B516666F6}" type="slidenum">
              <a:rPr lang="zh-TW" altLang="en-US" smtClean="0"/>
              <a:pPr/>
              <a:t>‹#›</a:t>
            </a:fld>
            <a:endParaRPr lang="zh-TW" altLang="en-US"/>
          </a:p>
        </p:txBody>
      </p:sp>
    </p:spTree>
    <p:extLst>
      <p:ext uri="{BB962C8B-B14F-4D97-AF65-F5344CB8AC3E}">
        <p14:creationId xmlns:p14="http://schemas.microsoft.com/office/powerpoint/2010/main" xmlns="" val="3575871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D6BA468D-2374-4080-ABAF-C2C6F190B374}" type="datetimeFigureOut">
              <a:rPr lang="zh-TW" altLang="en-US" smtClean="0"/>
              <a:pPr/>
              <a:t>2012/11/6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1EA69C0-BEC3-4BBC-B4D0-830B516666F6}" type="slidenum">
              <a:rPr lang="zh-TW" altLang="en-US" smtClean="0"/>
              <a:pPr/>
              <a:t>‹#›</a:t>
            </a:fld>
            <a:endParaRPr lang="zh-TW" altLang="en-US"/>
          </a:p>
        </p:txBody>
      </p:sp>
    </p:spTree>
    <p:extLst>
      <p:ext uri="{BB962C8B-B14F-4D97-AF65-F5344CB8AC3E}">
        <p14:creationId xmlns:p14="http://schemas.microsoft.com/office/powerpoint/2010/main" xmlns="" val="1025904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D6BA468D-2374-4080-ABAF-C2C6F190B374}" type="datetimeFigureOut">
              <a:rPr lang="zh-TW" altLang="en-US" smtClean="0"/>
              <a:pPr/>
              <a:t>2012/11/6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B1EA69C0-BEC3-4BBC-B4D0-830B516666F6}" type="slidenum">
              <a:rPr lang="zh-TW" altLang="en-US" smtClean="0"/>
              <a:pPr/>
              <a:t>‹#›</a:t>
            </a:fld>
            <a:endParaRPr lang="zh-TW" altLang="en-US"/>
          </a:p>
        </p:txBody>
      </p:sp>
    </p:spTree>
    <p:extLst>
      <p:ext uri="{BB962C8B-B14F-4D97-AF65-F5344CB8AC3E}">
        <p14:creationId xmlns:p14="http://schemas.microsoft.com/office/powerpoint/2010/main" xmlns="" val="4026440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D6BA468D-2374-4080-ABAF-C2C6F190B374}" type="datetimeFigureOut">
              <a:rPr lang="zh-TW" altLang="en-US" smtClean="0"/>
              <a:pPr/>
              <a:t>2012/11/6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B1EA69C0-BEC3-4BBC-B4D0-830B516666F6}" type="slidenum">
              <a:rPr lang="zh-TW" altLang="en-US" smtClean="0"/>
              <a:pPr/>
              <a:t>‹#›</a:t>
            </a:fld>
            <a:endParaRPr lang="zh-TW" altLang="en-US"/>
          </a:p>
        </p:txBody>
      </p:sp>
    </p:spTree>
    <p:extLst>
      <p:ext uri="{BB962C8B-B14F-4D97-AF65-F5344CB8AC3E}">
        <p14:creationId xmlns:p14="http://schemas.microsoft.com/office/powerpoint/2010/main" xmlns="" val="466879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6BA468D-2374-4080-ABAF-C2C6F190B374}" type="datetimeFigureOut">
              <a:rPr lang="zh-TW" altLang="en-US" smtClean="0"/>
              <a:pPr/>
              <a:t>2012/11/6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B1EA69C0-BEC3-4BBC-B4D0-830B516666F6}" type="slidenum">
              <a:rPr lang="zh-TW" altLang="en-US" smtClean="0"/>
              <a:pPr/>
              <a:t>‹#›</a:t>
            </a:fld>
            <a:endParaRPr lang="zh-TW" altLang="en-US"/>
          </a:p>
        </p:txBody>
      </p:sp>
    </p:spTree>
    <p:extLst>
      <p:ext uri="{BB962C8B-B14F-4D97-AF65-F5344CB8AC3E}">
        <p14:creationId xmlns:p14="http://schemas.microsoft.com/office/powerpoint/2010/main" xmlns="" val="782893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6BA468D-2374-4080-ABAF-C2C6F190B374}" type="datetimeFigureOut">
              <a:rPr lang="zh-TW" altLang="en-US" smtClean="0"/>
              <a:pPr/>
              <a:t>2012/11/6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1EA69C0-BEC3-4BBC-B4D0-830B516666F6}" type="slidenum">
              <a:rPr lang="zh-TW" altLang="en-US" smtClean="0"/>
              <a:pPr/>
              <a:t>‹#›</a:t>
            </a:fld>
            <a:endParaRPr lang="zh-TW" altLang="en-US"/>
          </a:p>
        </p:txBody>
      </p:sp>
    </p:spTree>
    <p:extLst>
      <p:ext uri="{BB962C8B-B14F-4D97-AF65-F5344CB8AC3E}">
        <p14:creationId xmlns:p14="http://schemas.microsoft.com/office/powerpoint/2010/main" xmlns="" val="2201929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6BA468D-2374-4080-ABAF-C2C6F190B374}" type="datetimeFigureOut">
              <a:rPr lang="zh-TW" altLang="en-US" smtClean="0"/>
              <a:pPr/>
              <a:t>2012/11/6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1EA69C0-BEC3-4BBC-B4D0-830B516666F6}" type="slidenum">
              <a:rPr lang="zh-TW" altLang="en-US" smtClean="0"/>
              <a:pPr/>
              <a:t>‹#›</a:t>
            </a:fld>
            <a:endParaRPr lang="zh-TW" altLang="en-US"/>
          </a:p>
        </p:txBody>
      </p:sp>
    </p:spTree>
    <p:extLst>
      <p:ext uri="{BB962C8B-B14F-4D97-AF65-F5344CB8AC3E}">
        <p14:creationId xmlns:p14="http://schemas.microsoft.com/office/powerpoint/2010/main" xmlns="" val="4266162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6BA468D-2374-4080-ABAF-C2C6F190B374}" type="datetimeFigureOut">
              <a:rPr lang="zh-TW" altLang="en-US" smtClean="0"/>
              <a:pPr/>
              <a:t>2012/11/6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1EA69C0-BEC3-4BBC-B4D0-830B516666F6}" type="slidenum">
              <a:rPr lang="zh-TW" altLang="en-US" smtClean="0"/>
              <a:pPr/>
              <a:t>‹#›</a:t>
            </a:fld>
            <a:endParaRPr lang="zh-TW" altLang="en-US"/>
          </a:p>
        </p:txBody>
      </p:sp>
    </p:spTree>
    <p:extLst>
      <p:ext uri="{BB962C8B-B14F-4D97-AF65-F5344CB8AC3E}">
        <p14:creationId xmlns:p14="http://schemas.microsoft.com/office/powerpoint/2010/main" xmlns="" val="1140024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6BA468D-2374-4080-ABAF-C2C6F190B374}" type="datetimeFigureOut">
              <a:rPr lang="zh-TW" altLang="en-US" smtClean="0"/>
              <a:pPr/>
              <a:t>2012/11/6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1EA69C0-BEC3-4BBC-B4D0-830B516666F6}" type="slidenum">
              <a:rPr lang="zh-TW" altLang="en-US" smtClean="0"/>
              <a:pPr/>
              <a:t>‹#›</a:t>
            </a:fld>
            <a:endParaRPr lang="zh-TW" altLang="en-US"/>
          </a:p>
        </p:txBody>
      </p:sp>
    </p:spTree>
    <p:extLst>
      <p:ext uri="{BB962C8B-B14F-4D97-AF65-F5344CB8AC3E}">
        <p14:creationId xmlns:p14="http://schemas.microsoft.com/office/powerpoint/2010/main" xmlns="" val="2810193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BA468D-2374-4080-ABAF-C2C6F190B374}" type="datetimeFigureOut">
              <a:rPr lang="zh-TW" altLang="en-US" smtClean="0"/>
              <a:pPr/>
              <a:t>2012/11/6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EA69C0-BEC3-4BBC-B4D0-830B516666F6}" type="slidenum">
              <a:rPr lang="zh-TW" altLang="en-US" smtClean="0"/>
              <a:pPr/>
              <a:t>‹#›</a:t>
            </a:fld>
            <a:endParaRPr lang="zh-TW" altLang="en-US"/>
          </a:p>
        </p:txBody>
      </p:sp>
    </p:spTree>
    <p:extLst>
      <p:ext uri="{BB962C8B-B14F-4D97-AF65-F5344CB8AC3E}">
        <p14:creationId xmlns:p14="http://schemas.microsoft.com/office/powerpoint/2010/main" xmlns="" val="969811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altLang="zh-TW" sz="3800" dirty="0" smtClean="0"/>
              <a:t>Complex Stock Trading Strategy Based on Particle Swarm Optimization</a:t>
            </a:r>
            <a:endParaRPr lang="zh-TW" altLang="en-US" sz="3800" dirty="0"/>
          </a:p>
        </p:txBody>
      </p:sp>
      <p:sp>
        <p:nvSpPr>
          <p:cNvPr id="3" name="副標題 2"/>
          <p:cNvSpPr>
            <a:spLocks noGrp="1"/>
          </p:cNvSpPr>
          <p:nvPr>
            <p:ph type="subTitle" idx="1"/>
          </p:nvPr>
        </p:nvSpPr>
        <p:spPr>
          <a:xfrm>
            <a:off x="1371600" y="3886200"/>
            <a:ext cx="6400800" cy="1270992"/>
          </a:xfrm>
        </p:spPr>
        <p:txBody>
          <a:bodyPr>
            <a:normAutofit/>
          </a:bodyPr>
          <a:lstStyle/>
          <a:p>
            <a:r>
              <a:rPr lang="en-US" altLang="zh-TW" sz="1800" dirty="0" smtClean="0"/>
              <a:t>2012 </a:t>
            </a:r>
            <a:r>
              <a:rPr lang="en-US" altLang="zh-TW" sz="1800" smtClean="0"/>
              <a:t>IEEE </a:t>
            </a:r>
            <a:r>
              <a:rPr lang="en-US" altLang="zh-TW" sz="1800" smtClean="0"/>
              <a:t>Conference </a:t>
            </a:r>
            <a:r>
              <a:rPr lang="en-US" altLang="zh-TW" sz="1800" dirty="0" smtClean="0"/>
              <a:t>on </a:t>
            </a:r>
            <a:r>
              <a:rPr lang="en-US" altLang="zh-TW" sz="1800" dirty="0" smtClean="0"/>
              <a:t>Computational Intelligence for </a:t>
            </a:r>
          </a:p>
          <a:p>
            <a:r>
              <a:rPr lang="en-US" altLang="zh-TW" sz="1800" dirty="0" smtClean="0"/>
              <a:t>Financial Engineering &amp; Economics</a:t>
            </a:r>
          </a:p>
          <a:p>
            <a:r>
              <a:rPr lang="en-US" altLang="zh-TW" sz="1800" dirty="0" err="1" smtClean="0"/>
              <a:t>Fei</a:t>
            </a:r>
            <a:r>
              <a:rPr lang="en-US" altLang="zh-TW" sz="1800" dirty="0" smtClean="0"/>
              <a:t> Wang, Philip L.H. Yu and David W. Cheung</a:t>
            </a:r>
            <a:endParaRPr lang="zh-TW" altLang="en-US" sz="1800" dirty="0"/>
          </a:p>
        </p:txBody>
      </p:sp>
      <p:sp>
        <p:nvSpPr>
          <p:cNvPr id="4" name="文字方塊 3"/>
          <p:cNvSpPr txBox="1"/>
          <p:nvPr/>
        </p:nvSpPr>
        <p:spPr>
          <a:xfrm>
            <a:off x="5796136" y="5445224"/>
            <a:ext cx="2664296" cy="646331"/>
          </a:xfrm>
          <a:prstGeom prst="rect">
            <a:avLst/>
          </a:prstGeom>
          <a:noFill/>
        </p:spPr>
        <p:txBody>
          <a:bodyPr wrap="square" rtlCol="0">
            <a:spAutoFit/>
          </a:bodyPr>
          <a:lstStyle/>
          <a:p>
            <a:r>
              <a:rPr lang="en-US" altLang="zh-TW" dirty="0" err="1" smtClean="0"/>
              <a:t>Presenter:Cheng-Han</a:t>
            </a:r>
            <a:r>
              <a:rPr lang="en-US" altLang="zh-TW" dirty="0" smtClean="0"/>
              <a:t> Lee</a:t>
            </a:r>
          </a:p>
          <a:p>
            <a:r>
              <a:rPr lang="en-US" altLang="zh-TW" dirty="0" smtClean="0"/>
              <a:t>Date:2012/11/6</a:t>
            </a:r>
            <a:endParaRPr lang="zh-TW" altLang="en-US" dirty="0"/>
          </a:p>
        </p:txBody>
      </p:sp>
    </p:spTree>
    <p:extLst>
      <p:ext uri="{BB962C8B-B14F-4D97-AF65-F5344CB8AC3E}">
        <p14:creationId xmlns:p14="http://schemas.microsoft.com/office/powerpoint/2010/main" xmlns="" val="1223431539"/>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dirty="0" smtClean="0"/>
              <a:t>Trading rules have been utilized in the stock market to make profit for more than a century. However, only using a single trading rule may not be sufficient to predict the stock price trend accurately. Although some complex trading strategies combining various classes of trading rules have been proposed in the literature, they often pick only one rule for each class, which may lose valuable information from other rules in the same class. In this paper, a complex stock trading strategy, namely weight reward strategy (WRS), is proposed. WRS combines the two most popular classes of trading rules-moving average (MA) and trading range break-out (TRB). </a:t>
            </a:r>
            <a:endParaRPr lang="zh-TW" altLang="en-US" dirty="0"/>
          </a:p>
        </p:txBody>
      </p:sp>
    </p:spTree>
    <p:extLst>
      <p:ext uri="{BB962C8B-B14F-4D97-AF65-F5344CB8AC3E}">
        <p14:creationId xmlns:p14="http://schemas.microsoft.com/office/powerpoint/2010/main" xmlns="" val="1447864706"/>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85000" lnSpcReduction="20000"/>
          </a:bodyPr>
          <a:lstStyle/>
          <a:p>
            <a:r>
              <a:rPr lang="en-US" altLang="zh-TW" dirty="0" smtClean="0"/>
              <a:t>For both MA and TRB, WRS includes different combinations of the rule parameters to get a universe of 140 component trading rules in all. Each component rule is assigned a start weight and a reward/penalty mechanism based on profit is proposed to update these rules' weights over time. To determine the best parameter values of WRS, we employ an improved time variant Particle Swarm Optimization (PSO) algorithm with the objective of maximizing the annual net profit generated by WRS. The experiments show that our proposed WRS optimized by PSO outperforms the best moving average and trading range break-out rules.</a:t>
            </a:r>
            <a:endParaRPr lang="zh-TW" altLang="en-US" dirty="0" smtClean="0"/>
          </a:p>
          <a:p>
            <a:endParaRPr lang="zh-TW" altLang="en-US" dirty="0"/>
          </a:p>
        </p:txBody>
      </p:sp>
    </p:spTree>
    <p:extLst>
      <p:ext uri="{BB962C8B-B14F-4D97-AF65-F5344CB8AC3E}">
        <p14:creationId xmlns:p14="http://schemas.microsoft.com/office/powerpoint/2010/main" xmlns="" val="2479635746"/>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Moving Average(MA)</a:t>
            </a:r>
            <a:endParaRPr lang="zh-TW" altLang="en-US" dirty="0"/>
          </a:p>
        </p:txBody>
      </p:sp>
      <p:sp>
        <p:nvSpPr>
          <p:cNvPr id="3" name="內容版面配置區 2"/>
          <p:cNvSpPr>
            <a:spLocks noGrp="1"/>
          </p:cNvSpPr>
          <p:nvPr>
            <p:ph idx="1"/>
          </p:nvPr>
        </p:nvSpPr>
        <p:spPr/>
        <p:txBody>
          <a:bodyPr/>
          <a:lstStyle/>
          <a:p>
            <a:r>
              <a:rPr lang="zh-TW" altLang="en-US" dirty="0" smtClean="0"/>
              <a:t>過去</a:t>
            </a:r>
            <a:r>
              <a:rPr lang="en-US" altLang="zh-TW" dirty="0" smtClean="0"/>
              <a:t>n</a:t>
            </a:r>
            <a:r>
              <a:rPr lang="zh-TW" altLang="en-US" dirty="0" smtClean="0"/>
              <a:t>天的平均價格</a:t>
            </a:r>
            <a:endParaRPr lang="en-US" altLang="zh-TW" dirty="0" smtClean="0"/>
          </a:p>
          <a:p>
            <a:r>
              <a:rPr lang="zh-TW" altLang="en-US" dirty="0" smtClean="0"/>
              <a:t>通常短的平均線向上突破長的平均線視為漲的趨勢，向下突破則是跌的趨勢</a:t>
            </a:r>
            <a:endParaRPr lang="en-US" altLang="zh-TW" dirty="0" smtClean="0"/>
          </a:p>
          <a:p>
            <a:endParaRPr lang="en-US" altLang="zh-TW" dirty="0" smtClean="0"/>
          </a:p>
          <a:p>
            <a:endParaRPr lang="zh-TW" alt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27097" y="3284984"/>
            <a:ext cx="7033986" cy="31683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文字方塊 3"/>
          <p:cNvSpPr txBox="1"/>
          <p:nvPr/>
        </p:nvSpPr>
        <p:spPr>
          <a:xfrm>
            <a:off x="3851920" y="6453336"/>
            <a:ext cx="1800200" cy="369332"/>
          </a:xfrm>
          <a:prstGeom prst="rect">
            <a:avLst/>
          </a:prstGeom>
          <a:noFill/>
        </p:spPr>
        <p:txBody>
          <a:bodyPr wrap="square" rtlCol="0">
            <a:spAutoFit/>
          </a:bodyPr>
          <a:lstStyle/>
          <a:p>
            <a:r>
              <a:rPr lang="zh-TW" altLang="en-US" dirty="0" smtClean="0"/>
              <a:t>臺灣加權指數</a:t>
            </a:r>
            <a:endParaRPr lang="zh-TW" altLang="en-US" dirty="0"/>
          </a:p>
        </p:txBody>
      </p:sp>
    </p:spTree>
    <p:extLst>
      <p:ext uri="{BB962C8B-B14F-4D97-AF65-F5344CB8AC3E}">
        <p14:creationId xmlns:p14="http://schemas.microsoft.com/office/powerpoint/2010/main" xmlns="" val="543714918"/>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Trading Range Break-out(TRB)</a:t>
            </a:r>
            <a:endParaRPr lang="zh-TW" altLang="en-US" dirty="0"/>
          </a:p>
        </p:txBody>
      </p:sp>
      <p:sp>
        <p:nvSpPr>
          <p:cNvPr id="3" name="內容版面配置區 2"/>
          <p:cNvSpPr>
            <a:spLocks noGrp="1"/>
          </p:cNvSpPr>
          <p:nvPr>
            <p:ph idx="1"/>
          </p:nvPr>
        </p:nvSpPr>
        <p:spPr/>
        <p:txBody>
          <a:bodyPr/>
          <a:lstStyle/>
          <a:p>
            <a:r>
              <a:rPr lang="zh-TW" altLang="en-US" dirty="0"/>
              <a:t>指定</a:t>
            </a:r>
            <a:r>
              <a:rPr lang="zh-TW" altLang="en-US" dirty="0" smtClean="0"/>
              <a:t>過去</a:t>
            </a:r>
            <a:r>
              <a:rPr lang="en-US" altLang="zh-TW" dirty="0" smtClean="0"/>
              <a:t>n</a:t>
            </a:r>
            <a:r>
              <a:rPr lang="zh-TW" altLang="en-US" dirty="0" smtClean="0"/>
              <a:t>天為一個區間</a:t>
            </a:r>
            <a:endParaRPr lang="en-US" altLang="zh-TW" dirty="0" smtClean="0"/>
          </a:p>
          <a:p>
            <a:r>
              <a:rPr lang="zh-TW" altLang="en-US" dirty="0" smtClean="0"/>
              <a:t>突破區間高點則視為漲的趨勢，突破低點則視為跌的趨勢</a:t>
            </a:r>
            <a:endParaRPr lang="en-US" altLang="zh-TW" dirty="0" smtClean="0"/>
          </a:p>
          <a:p>
            <a:endParaRPr lang="en-US" altLang="zh-TW" dirty="0" smtClean="0"/>
          </a:p>
        </p:txBody>
      </p:sp>
    </p:spTree>
    <p:extLst>
      <p:ext uri="{BB962C8B-B14F-4D97-AF65-F5344CB8AC3E}">
        <p14:creationId xmlns:p14="http://schemas.microsoft.com/office/powerpoint/2010/main" xmlns="" val="59151087"/>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Weight Reward Strategy(WRA)</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r>
                  <a:rPr lang="en-US" altLang="zh-TW" dirty="0" smtClean="0"/>
                  <a:t>Combine</a:t>
                </a:r>
                <a:r>
                  <a:rPr lang="zh-TW" altLang="en-US" dirty="0" smtClean="0"/>
                  <a:t/>
                </a:r>
                <a:r>
                  <a:rPr lang="en-US" altLang="zh-TW" dirty="0" smtClean="0"/>
                  <a:t>MA</a:t>
                </a:r>
                <a:r>
                  <a:rPr lang="en-US" altLang="zh-TW" baseline="-25000" dirty="0" smtClean="0"/>
                  <a:t>1</a:t>
                </a:r>
                <a:r>
                  <a:rPr lang="en-US" altLang="zh-TW" dirty="0" smtClean="0"/>
                  <a:t>~MA</a:t>
                </a:r>
                <a:r>
                  <a:rPr lang="en-US" altLang="zh-TW" baseline="-25000" dirty="0" smtClean="0"/>
                  <a:t>119</a:t>
                </a:r>
                <a:r>
                  <a:rPr lang="zh-TW" altLang="en-US" dirty="0" smtClean="0"/>
                  <a:t>、</a:t>
                </a:r>
                <a:r>
                  <a:rPr lang="en-US" altLang="zh-TW" dirty="0" smtClean="0"/>
                  <a:t>TRB</a:t>
                </a:r>
                <a:r>
                  <a:rPr lang="en-US" altLang="zh-TW" baseline="-25000" dirty="0" smtClean="0"/>
                  <a:t>120</a:t>
                </a:r>
                <a:r>
                  <a:rPr lang="en-US" altLang="zh-TW" dirty="0" smtClean="0"/>
                  <a:t>~TRB</a:t>
                </a:r>
                <a:r>
                  <a:rPr lang="en-US" altLang="zh-TW" baseline="-25000" dirty="0" smtClean="0"/>
                  <a:t>140</a:t>
                </a:r>
                <a:r>
                  <a:rPr lang="zh-TW" altLang="en-US" dirty="0" smtClean="0"/>
                  <a:t/>
                </a:r>
                <a:r>
                  <a:rPr lang="en-US" altLang="zh-TW" dirty="0" smtClean="0"/>
                  <a:t>rules.</a:t>
                </a:r>
                <a:endParaRPr lang="en-US" altLang="zh-TW" baseline="-25000" dirty="0" smtClean="0"/>
              </a:p>
              <a:p>
                <a:r>
                  <a:rPr lang="en-US" altLang="zh-TW" dirty="0" smtClean="0"/>
                  <a:t>Each component rule </a:t>
                </a:r>
                <a:r>
                  <a:rPr lang="en-US" altLang="zh-TW" dirty="0" err="1" smtClean="0"/>
                  <a:t>r</a:t>
                </a:r>
                <a:r>
                  <a:rPr lang="en-US" altLang="zh-TW" baseline="-25000" dirty="0" err="1" smtClean="0"/>
                  <a:t>i</a:t>
                </a:r>
                <a:r>
                  <a:rPr lang="en-US" altLang="zh-TW" dirty="0" smtClean="0"/>
                  <a:t> is assigned a start weight </a:t>
                </a:r>
                <a:r>
                  <a:rPr lang="en-US" altLang="zh-TW" dirty="0" err="1" smtClean="0"/>
                  <a:t>wt</a:t>
                </a:r>
                <a:r>
                  <a:rPr lang="en-US" altLang="zh-TW" baseline="-25000" dirty="0" err="1" smtClean="0"/>
                  <a:t>i</a:t>
                </a:r>
                <a:r>
                  <a:rPr lang="en-US" altLang="zh-TW" dirty="0" smtClean="0"/>
                  <a:t>.</a:t>
                </a:r>
              </a:p>
              <a:p>
                <a:r>
                  <a:rPr lang="en-US" altLang="zh-TW" dirty="0" err="1" smtClean="0"/>
                  <a:t>s</a:t>
                </a:r>
                <a:r>
                  <a:rPr lang="en-US" altLang="zh-TW" baseline="-25000" dirty="0" err="1" smtClean="0"/>
                  <a:t>i,d</a:t>
                </a:r>
                <a:r>
                  <a:rPr lang="en-US" altLang="zh-TW" dirty="0" smtClean="0"/>
                  <a:t>:</a:t>
                </a:r>
                <a:r>
                  <a:rPr lang="zh-TW" altLang="en-US" dirty="0" smtClean="0"/>
                  <a:t/>
                </a:r>
                <a:r>
                  <a:rPr lang="en-US" altLang="zh-TW" dirty="0" smtClean="0"/>
                  <a:t>[1, 0, -1] = [buy, do nothing, sell] is signal of </a:t>
                </a:r>
                <a:r>
                  <a:rPr lang="en-US" altLang="zh-TW" dirty="0" err="1" smtClean="0"/>
                  <a:t>r</a:t>
                </a:r>
                <a:r>
                  <a:rPr lang="en-US" altLang="zh-TW" baseline="-25000" dirty="0" err="1" smtClean="0"/>
                  <a:t>i</a:t>
                </a:r>
                <a:r>
                  <a:rPr lang="en-US" altLang="zh-TW" dirty="0" smtClean="0"/>
                  <a:t/>
                </a:r>
                <a:r>
                  <a:rPr lang="en-US" altLang="zh-TW" dirty="0" smtClean="0"/>
                  <a:t>on d day.</a:t>
                </a:r>
              </a:p>
              <a:p>
                <a14:m>
                  <m:oMath xmlns:m="http://schemas.openxmlformats.org/officeDocument/2006/math">
                    <m:sSub>
                      <m:sSubPr>
                        <m:ctrlPr>
                          <a:rPr lang="en-US" altLang="zh-TW" i="1" smtClean="0">
                            <a:latin typeface="Cambria Math"/>
                          </a:rPr>
                        </m:ctrlPr>
                      </m:sSubPr>
                      <m:e>
                        <m:r>
                          <a:rPr lang="en-US" altLang="zh-TW" b="0" i="1" smtClean="0">
                            <a:latin typeface="Cambria Math"/>
                          </a:rPr>
                          <m:t>𝑠</m:t>
                        </m:r>
                      </m:e>
                      <m:sub>
                        <m:r>
                          <a:rPr lang="en-US" altLang="zh-TW" b="0" i="1" smtClean="0">
                            <a:latin typeface="Cambria Math"/>
                          </a:rPr>
                          <m:t>𝑑</m:t>
                        </m:r>
                      </m:sub>
                    </m:sSub>
                    <m:r>
                      <a:rPr lang="en-US" altLang="zh-TW" b="0" i="1" smtClean="0">
                        <a:latin typeface="Cambria Math"/>
                      </a:rPr>
                      <m:t>= </m:t>
                    </m:r>
                    <m:nary>
                      <m:naryPr>
                        <m:chr m:val="∑"/>
                        <m:subHide m:val="on"/>
                        <m:supHide m:val="on"/>
                        <m:ctrlPr>
                          <a:rPr lang="en-US" altLang="zh-TW" b="0" i="1" smtClean="0">
                            <a:latin typeface="Cambria Math"/>
                          </a:rPr>
                        </m:ctrlPr>
                      </m:naryPr>
                      <m:sub/>
                      <m:sup/>
                      <m:e>
                        <m:sSub>
                          <m:sSubPr>
                            <m:ctrlPr>
                              <a:rPr lang="en-US" altLang="zh-TW" b="0" i="1" smtClean="0">
                                <a:latin typeface="Cambria Math"/>
                              </a:rPr>
                            </m:ctrlPr>
                          </m:sSubPr>
                          <m:e>
                            <m:r>
                              <a:rPr lang="en-US" altLang="zh-TW" b="0" i="1" smtClean="0">
                                <a:latin typeface="Cambria Math"/>
                              </a:rPr>
                              <m:t>𝑤𝑡</m:t>
                            </m:r>
                          </m:e>
                          <m:sub>
                            <m:r>
                              <a:rPr lang="en-US" altLang="zh-TW" b="0" i="1" smtClean="0">
                                <a:latin typeface="Cambria Math"/>
                              </a:rPr>
                              <m:t>𝑖</m:t>
                            </m:r>
                          </m:sub>
                        </m:sSub>
                        <m:sSub>
                          <m:sSubPr>
                            <m:ctrlPr>
                              <a:rPr lang="en-US" altLang="zh-TW" b="0" i="1" smtClean="0">
                                <a:latin typeface="Cambria Math"/>
                              </a:rPr>
                            </m:ctrlPr>
                          </m:sSubPr>
                          <m:e>
                            <m:r>
                              <a:rPr lang="en-US" altLang="zh-TW" b="0" i="1" smtClean="0">
                                <a:latin typeface="Cambria Math"/>
                              </a:rPr>
                              <m:t>𝑠</m:t>
                            </m:r>
                          </m:e>
                          <m:sub>
                            <m:r>
                              <a:rPr lang="en-US" altLang="zh-TW" b="0" i="1" smtClean="0">
                                <a:latin typeface="Cambria Math"/>
                              </a:rPr>
                              <m:t>𝑖</m:t>
                            </m:r>
                            <m:r>
                              <a:rPr lang="en-US" altLang="zh-TW" b="0" i="1" smtClean="0">
                                <a:latin typeface="Cambria Math"/>
                              </a:rPr>
                              <m:t>,</m:t>
                            </m:r>
                            <m:r>
                              <a:rPr lang="en-US" altLang="zh-TW" b="0" i="1" smtClean="0">
                                <a:latin typeface="Cambria Math"/>
                              </a:rPr>
                              <m:t>𝑑</m:t>
                            </m:r>
                          </m:sub>
                        </m:sSub>
                      </m:e>
                    </m:nary>
                  </m:oMath>
                </a14:m>
                <a:endParaRPr lang="en-US" altLang="zh-TW" dirty="0" smtClean="0"/>
              </a:p>
              <a:p>
                <a:r>
                  <a:rPr lang="en-US" altLang="zh-TW" dirty="0" err="1" smtClean="0"/>
                  <a:t>bth</a:t>
                </a:r>
                <a:r>
                  <a:rPr lang="en-US" altLang="zh-TW" dirty="0" smtClean="0"/>
                  <a:t>(</a:t>
                </a:r>
                <a:r>
                  <a:rPr lang="en-US" altLang="zh-TW" dirty="0" err="1" smtClean="0"/>
                  <a:t>sth</a:t>
                </a:r>
                <a:r>
                  <a:rPr lang="en-US" altLang="zh-TW" dirty="0" smtClean="0"/>
                  <a:t>) is buy(sell) threshold.</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887"/>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2889118261"/>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26922" y="1268760"/>
            <a:ext cx="7419975" cy="4829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49974589"/>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Reward and Penalty of </a:t>
            </a:r>
            <a:br>
              <a:rPr lang="en-US" altLang="zh-TW" dirty="0" smtClean="0"/>
            </a:br>
            <a:r>
              <a:rPr lang="en-US" altLang="zh-TW" dirty="0" smtClean="0"/>
              <a:t>Component Rules</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normAutofit/>
              </a:bodyPr>
              <a:lstStyle/>
              <a:p>
                <a14:m>
                  <m:oMath xmlns:m="http://schemas.openxmlformats.org/officeDocument/2006/math">
                    <m:sSub>
                      <m:sSubPr>
                        <m:ctrlPr>
                          <a:rPr lang="en-US" altLang="zh-TW" sz="2400" i="1" smtClean="0">
                            <a:latin typeface="Cambria Math"/>
                          </a:rPr>
                        </m:ctrlPr>
                      </m:sSubPr>
                      <m:e>
                        <m:r>
                          <a:rPr lang="en-US" altLang="zh-TW" sz="2400" b="0" i="1" smtClean="0">
                            <a:latin typeface="Cambria Math"/>
                          </a:rPr>
                          <m:t>𝑤𝑡</m:t>
                        </m:r>
                      </m:e>
                      <m:sub>
                        <m:r>
                          <a:rPr lang="en-US" altLang="zh-TW" sz="2400" b="0" i="1" smtClean="0">
                            <a:latin typeface="Cambria Math"/>
                          </a:rPr>
                          <m:t>𝑖</m:t>
                        </m:r>
                      </m:sub>
                    </m:sSub>
                    <m:r>
                      <a:rPr lang="en-US" altLang="zh-TW" sz="2400" b="0" i="1" smtClean="0">
                        <a:latin typeface="Cambria Math"/>
                      </a:rPr>
                      <m:t>=</m:t>
                    </m:r>
                    <m:d>
                      <m:dPr>
                        <m:begChr m:val="{"/>
                        <m:endChr m:val=""/>
                        <m:ctrlPr>
                          <a:rPr lang="en-US" altLang="zh-TW" sz="2400" b="0" i="1" smtClean="0">
                            <a:latin typeface="Cambria Math"/>
                          </a:rPr>
                        </m:ctrlPr>
                      </m:dPr>
                      <m:e>
                        <m:eqArr>
                          <m:eqArrPr>
                            <m:ctrlPr>
                              <a:rPr lang="en-US" altLang="zh-TW" sz="2400" b="0" i="1" smtClean="0">
                                <a:latin typeface="Cambria Math"/>
                              </a:rPr>
                            </m:ctrlPr>
                          </m:eqArrPr>
                          <m:e>
                            <m:sSub>
                              <m:sSubPr>
                                <m:ctrlPr>
                                  <a:rPr lang="en-US" altLang="zh-TW" sz="2400" i="1" smtClean="0">
                                    <a:latin typeface="Cambria Math"/>
                                  </a:rPr>
                                </m:ctrlPr>
                              </m:sSubPr>
                              <m:e>
                                <m:r>
                                  <a:rPr lang="en-US" altLang="zh-TW" sz="2400" b="0" i="1" smtClean="0">
                                    <a:latin typeface="Cambria Math"/>
                                  </a:rPr>
                                  <m:t>𝑤𝑡</m:t>
                                </m:r>
                              </m:e>
                              <m:sub>
                                <m:r>
                                  <a:rPr lang="en-US" altLang="zh-TW" sz="2400" b="0" i="1" smtClean="0">
                                    <a:latin typeface="Cambria Math"/>
                                  </a:rPr>
                                  <m:t>𝑖</m:t>
                                </m:r>
                              </m:sub>
                            </m:sSub>
                            <m:r>
                              <a:rPr lang="en-US" altLang="zh-TW" sz="2400" b="0" i="1" smtClean="0">
                                <a:latin typeface="Cambria Math"/>
                              </a:rPr>
                              <m:t>+</m:t>
                            </m:r>
                            <m:f>
                              <m:fPr>
                                <m:ctrlPr>
                                  <a:rPr lang="en-US" altLang="zh-TW" sz="2400" b="0" i="1" smtClean="0">
                                    <a:latin typeface="Cambria Math"/>
                                  </a:rPr>
                                </m:ctrlPr>
                              </m:fPr>
                              <m:num>
                                <m:r>
                                  <a:rPr lang="en-US" altLang="zh-TW" sz="2400" b="0" i="1" smtClean="0">
                                    <a:latin typeface="Cambria Math"/>
                                  </a:rPr>
                                  <m:t>𝑟𝑓</m:t>
                                </m:r>
                              </m:num>
                              <m:den>
                                <m:r>
                                  <a:rPr lang="en-US" altLang="zh-TW" sz="2400" b="0" i="1" smtClean="0">
                                    <a:latin typeface="Cambria Math"/>
                                  </a:rPr>
                                  <m:t>𝑟𝑢𝑙𝑒𝑁𝑢𝑚</m:t>
                                </m:r>
                              </m:den>
                            </m:f>
                            <m:r>
                              <a:rPr lang="en-US" altLang="zh-TW" sz="2400" b="0" i="1" smtClean="0">
                                <a:latin typeface="Cambria Math"/>
                              </a:rPr>
                              <m:t> </m:t>
                            </m:r>
                            <m:r>
                              <a:rPr lang="en-US" altLang="zh-TW" sz="2400" b="0" i="1" smtClean="0">
                                <a:latin typeface="Cambria Math"/>
                                <a:ea typeface="Cambria Math"/>
                              </a:rPr>
                              <m:t>× </m:t>
                            </m:r>
                            <m:f>
                              <m:fPr>
                                <m:ctrlPr>
                                  <a:rPr lang="en-US" altLang="zh-TW" sz="2400" b="0" i="1" smtClean="0">
                                    <a:latin typeface="Cambria Math"/>
                                    <a:ea typeface="Cambria Math"/>
                                  </a:rPr>
                                </m:ctrlPr>
                              </m:fPr>
                              <m:num>
                                <m:r>
                                  <a:rPr lang="en-US" altLang="zh-TW" sz="2400" b="0" i="1" smtClean="0">
                                    <a:latin typeface="Cambria Math"/>
                                    <a:ea typeface="Cambria Math"/>
                                  </a:rPr>
                                  <m:t>𝑝𝑟𝑜𝑓𝑖𝑡𝑁𝑢𝑚</m:t>
                                </m:r>
                              </m:num>
                              <m:den>
                                <m:r>
                                  <a:rPr lang="en-US" altLang="zh-TW" sz="2400" b="0" i="1" smtClean="0">
                                    <a:latin typeface="Cambria Math"/>
                                    <a:ea typeface="Cambria Math"/>
                                  </a:rPr>
                                  <m:t>𝑟𝑢𝑙𝑒𝑁𝑢𝑚</m:t>
                                </m:r>
                              </m:den>
                            </m:f>
                            <m:r>
                              <a:rPr lang="en-US" altLang="zh-TW" sz="2400" b="0" i="1" smtClean="0">
                                <a:latin typeface="Cambria Math"/>
                                <a:ea typeface="Cambria Math"/>
                              </a:rPr>
                              <m:t>, </m:t>
                            </m:r>
                            <m:r>
                              <a:rPr lang="en-US" altLang="zh-TW" sz="2400" b="0" i="1" smtClean="0">
                                <a:latin typeface="Cambria Math"/>
                                <a:ea typeface="Cambria Math"/>
                              </a:rPr>
                              <m:t>𝑖𝑓</m:t>
                            </m:r>
                            <m:r>
                              <a:rPr lang="en-US" altLang="zh-TW" sz="2400" b="0" i="1" smtClean="0">
                                <a:latin typeface="Cambria Math"/>
                                <a:ea typeface="Cambria Math"/>
                              </a:rPr>
                              <m:t> </m:t>
                            </m:r>
                            <m:sSub>
                              <m:sSubPr>
                                <m:ctrlPr>
                                  <a:rPr lang="en-US" altLang="zh-TW" sz="2400" b="0" i="1" smtClean="0">
                                    <a:latin typeface="Cambria Math"/>
                                    <a:ea typeface="Cambria Math"/>
                                  </a:rPr>
                                </m:ctrlPr>
                              </m:sSubPr>
                              <m:e>
                                <m:r>
                                  <a:rPr lang="en-US" altLang="zh-TW" sz="2400" b="0" i="1" smtClean="0">
                                    <a:latin typeface="Cambria Math"/>
                                    <a:ea typeface="Cambria Math"/>
                                  </a:rPr>
                                  <m:t>𝑝𝑟𝑜𝑓𝑖𝑡</m:t>
                                </m:r>
                              </m:e>
                              <m:sub>
                                <m:r>
                                  <a:rPr lang="en-US" altLang="zh-TW" sz="2400" b="0" i="1" smtClean="0">
                                    <a:latin typeface="Cambria Math"/>
                                    <a:ea typeface="Cambria Math"/>
                                  </a:rPr>
                                  <m:t>𝑖</m:t>
                                </m:r>
                              </m:sub>
                            </m:sSub>
                            <m:r>
                              <a:rPr lang="en-US" altLang="zh-TW" sz="2400" b="0" i="1" smtClean="0">
                                <a:latin typeface="Cambria Math"/>
                                <a:ea typeface="Cambria Math"/>
                              </a:rPr>
                              <m:t>&gt;0</m:t>
                            </m:r>
                            <m:r>
                              <m:rPr>
                                <m:nor/>
                              </m:rPr>
                              <a:rPr lang="en-US" altLang="zh-TW" sz="2400" b="0" dirty="0" smtClean="0">
                                <a:ea typeface="Cambria Math"/>
                              </a:rPr>
                              <m:t> </m:t>
                            </m:r>
                          </m:e>
                          <m:e>
                            <m:sSub>
                              <m:sSubPr>
                                <m:ctrlPr>
                                  <a:rPr lang="en-US" altLang="zh-TW" sz="2400" i="1" smtClean="0">
                                    <a:latin typeface="Cambria Math"/>
                                  </a:rPr>
                                </m:ctrlPr>
                              </m:sSubPr>
                              <m:e>
                                <m:r>
                                  <a:rPr lang="en-US" altLang="zh-TW" sz="2400" b="0" i="1" smtClean="0">
                                    <a:latin typeface="Cambria Math"/>
                                  </a:rPr>
                                  <m:t>𝑤𝑡</m:t>
                                </m:r>
                              </m:e>
                              <m:sub>
                                <m:r>
                                  <a:rPr lang="en-US" altLang="zh-TW" sz="2400" b="0" i="1" smtClean="0">
                                    <a:latin typeface="Cambria Math"/>
                                  </a:rPr>
                                  <m:t>𝑖</m:t>
                                </m:r>
                              </m:sub>
                            </m:sSub>
                            <m:r>
                              <a:rPr lang="en-US" altLang="zh-TW" sz="2400" b="0" i="1" smtClean="0">
                                <a:latin typeface="Cambria Math"/>
                              </a:rPr>
                              <m:t>−</m:t>
                            </m:r>
                            <m:f>
                              <m:fPr>
                                <m:ctrlPr>
                                  <a:rPr lang="en-US" altLang="zh-TW" sz="2400" b="0" i="1" smtClean="0">
                                    <a:latin typeface="Cambria Math"/>
                                  </a:rPr>
                                </m:ctrlPr>
                              </m:fPr>
                              <m:num>
                                <m:r>
                                  <a:rPr lang="en-US" altLang="zh-TW" sz="2400" b="0" i="1" smtClean="0">
                                    <a:latin typeface="Cambria Math"/>
                                  </a:rPr>
                                  <m:t>𝑟𝑓</m:t>
                                </m:r>
                              </m:num>
                              <m:den>
                                <m:r>
                                  <a:rPr lang="en-US" altLang="zh-TW" sz="2400" b="0" i="1" smtClean="0">
                                    <a:latin typeface="Cambria Math"/>
                                  </a:rPr>
                                  <m:t>𝑟𝑢𝑙𝑒𝑁𝑢𝑚</m:t>
                                </m:r>
                              </m:den>
                            </m:f>
                            <m:r>
                              <a:rPr lang="en-US" altLang="zh-TW" sz="2400" b="0" i="1" smtClean="0">
                                <a:latin typeface="Cambria Math"/>
                              </a:rPr>
                              <m:t> </m:t>
                            </m:r>
                            <m:r>
                              <a:rPr lang="en-US" altLang="zh-TW" sz="2400" b="0" i="1" smtClean="0">
                                <a:latin typeface="Cambria Math"/>
                                <a:ea typeface="Cambria Math"/>
                              </a:rPr>
                              <m:t>× </m:t>
                            </m:r>
                            <m:f>
                              <m:fPr>
                                <m:ctrlPr>
                                  <a:rPr lang="en-US" altLang="zh-TW" sz="2400" b="0" i="1" smtClean="0">
                                    <a:latin typeface="Cambria Math"/>
                                    <a:ea typeface="Cambria Math"/>
                                  </a:rPr>
                                </m:ctrlPr>
                              </m:fPr>
                              <m:num>
                                <m:r>
                                  <a:rPr lang="en-US" altLang="zh-TW" sz="2400" b="0" i="1" smtClean="0">
                                    <a:latin typeface="Cambria Math"/>
                                    <a:ea typeface="Cambria Math"/>
                                  </a:rPr>
                                  <m:t>𝑝𝑟𝑜𝑓𝑖𝑡𝑁𝑢𝑚</m:t>
                                </m:r>
                              </m:num>
                              <m:den>
                                <m:r>
                                  <a:rPr lang="en-US" altLang="zh-TW" sz="2400" b="0" i="1" smtClean="0">
                                    <a:latin typeface="Cambria Math"/>
                                    <a:ea typeface="Cambria Math"/>
                                  </a:rPr>
                                  <m:t>𝑟𝑢𝑙𝑒𝑁𝑢𝑚</m:t>
                                </m:r>
                              </m:den>
                            </m:f>
                            <m:r>
                              <a:rPr lang="en-US" altLang="zh-TW" sz="2400" b="0" i="1" smtClean="0">
                                <a:latin typeface="Cambria Math"/>
                                <a:ea typeface="Cambria Math"/>
                              </a:rPr>
                              <m:t>, </m:t>
                            </m:r>
                            <m:r>
                              <a:rPr lang="en-US" altLang="zh-TW" sz="2400" b="0" i="1" smtClean="0">
                                <a:latin typeface="Cambria Math"/>
                                <a:ea typeface="Cambria Math"/>
                              </a:rPr>
                              <m:t>𝑖𝑓</m:t>
                            </m:r>
                            <m:r>
                              <a:rPr lang="en-US" altLang="zh-TW" sz="2400" b="0" i="1" smtClean="0">
                                <a:latin typeface="Cambria Math"/>
                                <a:ea typeface="Cambria Math"/>
                              </a:rPr>
                              <m:t> </m:t>
                            </m:r>
                            <m:sSub>
                              <m:sSubPr>
                                <m:ctrlPr>
                                  <a:rPr lang="en-US" altLang="zh-TW" sz="2400" b="0" i="1" smtClean="0">
                                    <a:latin typeface="Cambria Math"/>
                                    <a:ea typeface="Cambria Math"/>
                                  </a:rPr>
                                </m:ctrlPr>
                              </m:sSubPr>
                              <m:e>
                                <m:r>
                                  <a:rPr lang="en-US" altLang="zh-TW" sz="2400" b="0" i="1" smtClean="0">
                                    <a:latin typeface="Cambria Math"/>
                                    <a:ea typeface="Cambria Math"/>
                                  </a:rPr>
                                  <m:t>𝑝𝑟𝑜𝑓𝑖𝑡</m:t>
                                </m:r>
                              </m:e>
                              <m:sub>
                                <m:r>
                                  <a:rPr lang="en-US" altLang="zh-TW" sz="2400" b="0" i="1" smtClean="0">
                                    <a:latin typeface="Cambria Math"/>
                                    <a:ea typeface="Cambria Math"/>
                                  </a:rPr>
                                  <m:t>𝑖</m:t>
                                </m:r>
                              </m:sub>
                            </m:sSub>
                            <m:r>
                              <a:rPr lang="en-US" altLang="zh-TW" sz="2400" b="0" i="1" smtClean="0">
                                <a:latin typeface="Cambria Math"/>
                                <a:ea typeface="Cambria Math"/>
                              </a:rPr>
                              <m:t>&lt;0</m:t>
                            </m:r>
                          </m:e>
                        </m:eqArr>
                      </m:e>
                    </m:d>
                  </m:oMath>
                </a14:m>
                <a:endParaRPr lang="en-US" altLang="zh-TW" sz="2400" b="0" dirty="0" smtClean="0">
                  <a:ea typeface="Cambria Math"/>
                </a:endParaRPr>
              </a:p>
              <a:p>
                <a:endParaRPr lang="en-US" altLang="zh-TW" dirty="0" smtClean="0"/>
              </a:p>
              <a:p>
                <a:r>
                  <a:rPr lang="en-US" altLang="zh-TW" dirty="0" smtClean="0"/>
                  <a:t>Memory span(</a:t>
                </a:r>
                <a:r>
                  <a:rPr lang="en-US" altLang="zh-TW" dirty="0" err="1" smtClean="0"/>
                  <a:t>ms</a:t>
                </a:r>
                <a:r>
                  <a:rPr lang="en-US" altLang="zh-TW" dirty="0" smtClean="0"/>
                  <a:t>) is a historical period used for evaluating the rule performance.</a:t>
                </a:r>
              </a:p>
              <a:p>
                <a:r>
                  <a:rPr lang="en-US" altLang="zh-TW" dirty="0" smtClean="0"/>
                  <a:t>Review span is the time interval over which the weights of component rules should be updated.</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b="-3369"/>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679376145"/>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a:t>
            </a:r>
            <a:endParaRPr lang="zh-TW" altLang="en-US" dirty="0"/>
          </a:p>
        </p:txBody>
      </p:sp>
      <p:sp>
        <p:nvSpPr>
          <p:cNvPr id="3" name="內容版面配置區 2"/>
          <p:cNvSpPr>
            <a:spLocks noGrp="1"/>
          </p:cNvSpPr>
          <p:nvPr>
            <p:ph idx="1"/>
          </p:nvPr>
        </p:nvSpPr>
        <p:spPr/>
        <p:txBody>
          <a:bodyPr/>
          <a:lstStyle/>
          <a:p>
            <a:r>
              <a:rPr lang="en-US" altLang="zh-TW" dirty="0" smtClean="0"/>
              <a:t>Optimize factors with PSO.</a:t>
            </a:r>
          </a:p>
          <a:p>
            <a:pPr lvl="1"/>
            <a:r>
              <a:rPr lang="en-US" altLang="zh-TW" dirty="0" smtClean="0"/>
              <a:t>Objective function</a:t>
            </a:r>
          </a:p>
          <a:p>
            <a:endParaRPr lang="en-US" altLang="zh-TW" dirty="0" smtClean="0"/>
          </a:p>
          <a:p>
            <a:endParaRPr lang="en-US" altLang="zh-TW" dirty="0" smtClean="0"/>
          </a:p>
          <a:p>
            <a:r>
              <a:rPr lang="en-US" altLang="zh-TW" dirty="0" err="1" smtClean="0"/>
              <a:t>Traning</a:t>
            </a:r>
            <a:r>
              <a:rPr lang="en-US" altLang="zh-TW" dirty="0" smtClean="0"/>
              <a:t> : 1995~2002</a:t>
            </a:r>
          </a:p>
          <a:p>
            <a:r>
              <a:rPr lang="en-US" altLang="zh-TW" dirty="0" smtClean="0"/>
              <a:t>Testing : 2003~2010</a:t>
            </a:r>
            <a:endParaRPr lang="zh-TW"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403648" y="2708920"/>
            <a:ext cx="3219450" cy="1009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7135372"/>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7504" y="1988840"/>
            <a:ext cx="8892480" cy="33941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787103055"/>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4" name="內容版面配置區 3"/>
          <p:cNvSpPr>
            <a:spLocks noGrp="1"/>
          </p:cNvSpPr>
          <p:nvPr>
            <p:ph idx="1"/>
          </p:nvPr>
        </p:nvSpPr>
        <p:spPr/>
        <p:txBody>
          <a:bodyPr/>
          <a:lstStyle/>
          <a:p>
            <a:endParaRPr lang="zh-TW" altLang="en-US"/>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11560" y="2492896"/>
            <a:ext cx="7632848" cy="27598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56051218"/>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83568" y="2564904"/>
            <a:ext cx="7731185" cy="27768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07151594"/>
      </p:ext>
    </p:extLst>
  </p:cSld>
  <p:clrMapOvr>
    <a:masterClrMapping/>
  </p:clrMapOvr>
  <p:transition>
    <p:cut/>
  </p:transition>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349</Words>
  <Application>Microsoft Office PowerPoint</Application>
  <PresentationFormat>如螢幕大小 (4:3)</PresentationFormat>
  <Paragraphs>27</Paragraphs>
  <Slides>12</Slides>
  <Notes>0</Notes>
  <HiddenSlides>0</HiddenSlides>
  <MMClips>0</MMClips>
  <ScaleCrop>false</ScaleCrop>
  <HeadingPairs>
    <vt:vector size="4" baseType="variant">
      <vt:variant>
        <vt:lpstr>佈景主題</vt:lpstr>
      </vt:variant>
      <vt:variant>
        <vt:i4>1</vt:i4>
      </vt:variant>
      <vt:variant>
        <vt:lpstr>投影片標題</vt:lpstr>
      </vt:variant>
      <vt:variant>
        <vt:i4>12</vt:i4>
      </vt:variant>
    </vt:vector>
  </HeadingPairs>
  <TitlesOfParts>
    <vt:vector size="13" baseType="lpstr">
      <vt:lpstr>Office 佈景主題</vt:lpstr>
      <vt:lpstr>Complex Stock Trading Strategy Based on Particle Swarm Optimization</vt:lpstr>
      <vt:lpstr>Abstract</vt:lpstr>
      <vt:lpstr>投影片 3</vt:lpstr>
      <vt:lpstr>Moving Average(MA)</vt:lpstr>
      <vt:lpstr>Trading Range Break-out(TRB)</vt:lpstr>
      <vt:lpstr>Weight Reward Strategy(WRA)</vt:lpstr>
      <vt:lpstr>投影片 7</vt:lpstr>
      <vt:lpstr>Reward and Penalty of  Component Rules</vt:lpstr>
      <vt:lpstr>Experimental</vt:lpstr>
      <vt:lpstr>投影片 10</vt:lpstr>
      <vt:lpstr>投影片 11</vt:lpstr>
      <vt:lpstr>投影片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Complex Stock Trading Strategy Based on Particle Swarm Optimization</dc:title>
  <dc:creator>LCH</dc:creator>
  <cp:lastModifiedBy>admin</cp:lastModifiedBy>
  <cp:revision>22</cp:revision>
  <dcterms:created xsi:type="dcterms:W3CDTF">2012-11-06T08:14:46Z</dcterms:created>
  <dcterms:modified xsi:type="dcterms:W3CDTF">2012-11-06T10:55:15Z</dcterms:modified>
</cp:coreProperties>
</file>