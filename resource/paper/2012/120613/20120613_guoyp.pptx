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9" r:id="rId3"/>
    <p:sldId id="270" r:id="rId4"/>
    <p:sldId id="269" r:id="rId5"/>
    <p:sldId id="267" r:id="rId6"/>
    <p:sldId id="258" r:id="rId7"/>
    <p:sldId id="265" r:id="rId8"/>
    <p:sldId id="257" r:id="rId9"/>
    <p:sldId id="263" r:id="rId10"/>
    <p:sldId id="266" r:id="rId11"/>
    <p:sldId id="271" r:id="rId12"/>
    <p:sldId id="268" r:id="rId13"/>
    <p:sldId id="260" r:id="rId14"/>
    <p:sldId id="261" r:id="rId15"/>
    <p:sldId id="262" r:id="rId1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64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1" autoAdjust="0"/>
    <p:restoredTop sz="94607" autoAdjust="0"/>
  </p:normalViewPr>
  <p:slideViewPr>
    <p:cSldViewPr>
      <p:cViewPr>
        <p:scale>
          <a:sx n="80" d="100"/>
          <a:sy n="80" d="100"/>
        </p:scale>
        <p:origin x="-534" y="-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48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marker>
            <c:symbol val="none"/>
          </c:marker>
          <c:cat>
            <c:numRef>
              <c:f>工作表1!$A$2:$A$12</c:f>
              <c:numCache>
                <c:formatCode>General</c:formatCode>
                <c:ptCount val="11"/>
              </c:numCache>
            </c:numRef>
          </c:cat>
          <c:val>
            <c:numRef>
              <c:f>工作表1!$B$2:$B$12</c:f>
              <c:numCache>
                <c:formatCode>General</c:formatCode>
                <c:ptCount val="11"/>
                <c:pt idx="0">
                  <c:v>0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數列 2</c:v>
                </c:pt>
              </c:strCache>
            </c:strRef>
          </c:tx>
          <c:marker>
            <c:symbol val="none"/>
          </c:marker>
          <c:cat>
            <c:numRef>
              <c:f>工作表1!$A$2:$A$12</c:f>
              <c:numCache>
                <c:formatCode>General</c:formatCode>
                <c:ptCount val="11"/>
              </c:numCache>
            </c:numRef>
          </c:cat>
          <c:val>
            <c:numRef>
              <c:f>工作表1!$C$2:$C$12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數列 3</c:v>
                </c:pt>
              </c:strCache>
            </c:strRef>
          </c:tx>
          <c:marker>
            <c:symbol val="none"/>
          </c:marker>
          <c:cat>
            <c:numRef>
              <c:f>工作表1!$A$2:$A$12</c:f>
              <c:numCache>
                <c:formatCode>General</c:formatCode>
                <c:ptCount val="11"/>
              </c:numCache>
            </c:numRef>
          </c:cat>
          <c:val>
            <c:numRef>
              <c:f>工作表1!$D$2:$D$12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數列 4</c:v>
                </c:pt>
              </c:strCache>
            </c:strRef>
          </c:tx>
          <c:marker>
            <c:symbol val="none"/>
          </c:marker>
          <c:cat>
            <c:numRef>
              <c:f>工作表1!$A$2:$A$12</c:f>
              <c:numCache>
                <c:formatCode>General</c:formatCode>
                <c:ptCount val="11"/>
              </c:numCache>
            </c:numRef>
          </c:cat>
          <c:val>
            <c:numRef>
              <c:f>工作表1!$E$2:$E$12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工作表1!$F$1</c:f>
              <c:strCache>
                <c:ptCount val="1"/>
                <c:pt idx="0">
                  <c:v>數列 5</c:v>
                </c:pt>
              </c:strCache>
            </c:strRef>
          </c:tx>
          <c:marker>
            <c:symbol val="none"/>
          </c:marker>
          <c:cat>
            <c:numRef>
              <c:f>工作表1!$A$2:$A$12</c:f>
              <c:numCache>
                <c:formatCode>General</c:formatCode>
                <c:ptCount val="11"/>
              </c:numCache>
            </c:numRef>
          </c:cat>
          <c:val>
            <c:numRef>
              <c:f>工作表1!$F$2:$F$12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1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ser>
          <c:idx val="5"/>
          <c:order val="5"/>
          <c:tx>
            <c:strRef>
              <c:f>工作表1!$G$1</c:f>
              <c:strCache>
                <c:ptCount val="1"/>
                <c:pt idx="0">
                  <c:v>數列 6</c:v>
                </c:pt>
              </c:strCache>
            </c:strRef>
          </c:tx>
          <c:marker>
            <c:symbol val="none"/>
          </c:marker>
          <c:cat>
            <c:numRef>
              <c:f>工作表1!$A$2:$A$12</c:f>
              <c:numCache>
                <c:formatCode>General</c:formatCode>
                <c:ptCount val="11"/>
              </c:numCache>
            </c:numRef>
          </c:cat>
          <c:val>
            <c:numRef>
              <c:f>工作表1!$G$2:$G$12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1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ser>
          <c:idx val="6"/>
          <c:order val="6"/>
          <c:tx>
            <c:strRef>
              <c:f>工作表1!$H$1</c:f>
              <c:strCache>
                <c:ptCount val="1"/>
                <c:pt idx="0">
                  <c:v>數列 7</c:v>
                </c:pt>
              </c:strCache>
            </c:strRef>
          </c:tx>
          <c:marker>
            <c:symbol val="none"/>
          </c:marker>
          <c:cat>
            <c:numRef>
              <c:f>工作表1!$A$2:$A$12</c:f>
              <c:numCache>
                <c:formatCode>General</c:formatCode>
                <c:ptCount val="11"/>
              </c:numCache>
            </c:numRef>
          </c:cat>
          <c:val>
            <c:numRef>
              <c:f>工作表1!$H$2:$H$12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1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ser>
          <c:idx val="7"/>
          <c:order val="7"/>
          <c:tx>
            <c:strRef>
              <c:f>工作表1!$I$1</c:f>
              <c:strCache>
                <c:ptCount val="1"/>
                <c:pt idx="0">
                  <c:v>數列 8</c:v>
                </c:pt>
              </c:strCache>
            </c:strRef>
          </c:tx>
          <c:marker>
            <c:symbol val="none"/>
          </c:marker>
          <c:cat>
            <c:numRef>
              <c:f>工作表1!$A$2:$A$12</c:f>
              <c:numCache>
                <c:formatCode>General</c:formatCode>
                <c:ptCount val="11"/>
              </c:numCache>
            </c:numRef>
          </c:cat>
          <c:val>
            <c:numRef>
              <c:f>工作表1!$I$2:$I$12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1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  <c:smooth val="0"/>
        </c:ser>
        <c:ser>
          <c:idx val="8"/>
          <c:order val="8"/>
          <c:tx>
            <c:strRef>
              <c:f>工作表1!$J$1</c:f>
              <c:strCache>
                <c:ptCount val="1"/>
                <c:pt idx="0">
                  <c:v>數列 9</c:v>
                </c:pt>
              </c:strCache>
            </c:strRef>
          </c:tx>
          <c:marker>
            <c:symbol val="none"/>
          </c:marker>
          <c:cat>
            <c:numRef>
              <c:f>工作表1!$A$2:$A$12</c:f>
              <c:numCache>
                <c:formatCode>General</c:formatCode>
                <c:ptCount val="11"/>
              </c:numCache>
            </c:numRef>
          </c:cat>
          <c:val>
            <c:numRef>
              <c:f>工作表1!$J$2:$J$12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1</c:v>
                </c:pt>
                <c:pt idx="10">
                  <c:v>0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6169728"/>
        <c:axId val="36775616"/>
      </c:lineChart>
      <c:catAx>
        <c:axId val="36169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36775616"/>
        <c:crosses val="autoZero"/>
        <c:auto val="1"/>
        <c:lblAlgn val="ctr"/>
        <c:lblOffset val="100"/>
        <c:noMultiLvlLbl val="0"/>
      </c:catAx>
      <c:valAx>
        <c:axId val="3677561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36169728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A</c:v>
                </c:pt>
              </c:strCache>
            </c:strRef>
          </c:tx>
          <c:marker>
            <c:symbol val="none"/>
          </c:marker>
          <c:cat>
            <c:numRef>
              <c:f>工作表1!$A$2:$A$7</c:f>
              <c:numCache>
                <c:formatCode>0.0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cat>
          <c:val>
            <c:numRef>
              <c:f>工作表1!$B$2:$B$7</c:f>
              <c:numCache>
                <c:formatCode>General</c:formatCode>
                <c:ptCount val="6"/>
                <c:pt idx="0">
                  <c:v>0</c:v>
                </c:pt>
                <c:pt idx="1">
                  <c:v>0.8</c:v>
                </c:pt>
                <c:pt idx="2">
                  <c:v>0.96</c:v>
                </c:pt>
                <c:pt idx="3">
                  <c:v>0.98</c:v>
                </c:pt>
                <c:pt idx="4">
                  <c:v>0.99</c:v>
                </c:pt>
                <c:pt idx="5">
                  <c:v>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B</c:v>
                </c:pt>
              </c:strCache>
            </c:strRef>
          </c:tx>
          <c:marker>
            <c:symbol val="none"/>
          </c:marker>
          <c:cat>
            <c:numRef>
              <c:f>工作表1!$A$2:$A$7</c:f>
              <c:numCache>
                <c:formatCode>0.0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cat>
          <c:val>
            <c:numRef>
              <c:f>工作表1!$C$2:$C$7</c:f>
              <c:numCache>
                <c:formatCode>General</c:formatCode>
                <c:ptCount val="6"/>
                <c:pt idx="0">
                  <c:v>0</c:v>
                </c:pt>
                <c:pt idx="1">
                  <c:v>0.2</c:v>
                </c:pt>
                <c:pt idx="2">
                  <c:v>0.4</c:v>
                </c:pt>
                <c:pt idx="3">
                  <c:v>0.6</c:v>
                </c:pt>
                <c:pt idx="4">
                  <c:v>0.8</c:v>
                </c:pt>
                <c:pt idx="5">
                  <c:v>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691392"/>
        <c:axId val="99413376"/>
      </c:lineChart>
      <c:catAx>
        <c:axId val="3769139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en-US" altLang="zh-TW" dirty="0" smtClean="0"/>
                  <a:t>False Positive Rate</a:t>
                </a:r>
                <a:endParaRPr lang="zh-TW" altLang="en-US" dirty="0"/>
              </a:p>
            </c:rich>
          </c:tx>
          <c:layout/>
          <c:overlay val="0"/>
        </c:title>
        <c:numFmt formatCode="0.0" sourceLinked="1"/>
        <c:majorTickMark val="out"/>
        <c:minorTickMark val="none"/>
        <c:tickLblPos val="nextTo"/>
        <c:crossAx val="99413376"/>
        <c:crossesAt val="0"/>
        <c:auto val="1"/>
        <c:lblAlgn val="ctr"/>
        <c:lblOffset val="100"/>
        <c:noMultiLvlLbl val="0"/>
      </c:catAx>
      <c:valAx>
        <c:axId val="99413376"/>
        <c:scaling>
          <c:orientation val="minMax"/>
          <c:max val="1"/>
          <c:min val="0"/>
        </c:scaling>
        <c:delete val="0"/>
        <c:axPos val="l"/>
        <c:title>
          <c:tx>
            <c:rich>
              <a:bodyPr rot="-5400000" vert="horz"/>
              <a:lstStyle/>
              <a:p>
                <a:pPr>
                  <a:defRPr/>
                </a:pPr>
                <a:r>
                  <a:rPr lang="en-US" altLang="zh-TW" dirty="0" smtClean="0"/>
                  <a:t>True Positive Rate</a:t>
                </a:r>
                <a:endParaRPr lang="zh-TW" altLang="en-US" dirty="0"/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37691392"/>
        <c:crosses val="autoZero"/>
        <c:crossBetween val="between"/>
      </c:valAx>
      <c:spPr>
        <a:noFill/>
        <a:ln w="25400">
          <a:noFill/>
        </a:ln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zh-TW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953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1130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82975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31086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9586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005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34983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13074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3432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23875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1329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E52AD-F64A-4438-932C-9C994E6FA4BE}" type="datetimeFigureOut">
              <a:rPr lang="zh-TW" altLang="en-US" smtClean="0"/>
              <a:t>2012/6/13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74F6BB-ACF1-4940-BDED-E25ECE7D012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47092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A fuzzy guided genetic algorithm for operon prediction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2000" dirty="0" smtClean="0">
                <a:solidFill>
                  <a:schemeClr val="tx1"/>
                </a:solidFill>
              </a:rPr>
              <a:t>E. Jacob, R. </a:t>
            </a:r>
            <a:r>
              <a:rPr lang="en-US" altLang="zh-TW" sz="2000" dirty="0" err="1" smtClean="0">
                <a:solidFill>
                  <a:schemeClr val="tx1"/>
                </a:solidFill>
              </a:rPr>
              <a:t>Sasikumar</a:t>
            </a:r>
            <a:r>
              <a:rPr lang="en-US" altLang="zh-TW" sz="2000" dirty="0" smtClean="0">
                <a:solidFill>
                  <a:schemeClr val="tx1"/>
                </a:solidFill>
              </a:rPr>
              <a:t> and K. N. R. Nair</a:t>
            </a:r>
          </a:p>
          <a:p>
            <a:r>
              <a:rPr lang="pt-BR" altLang="zh-TW" sz="2000" dirty="0" smtClean="0">
                <a:solidFill>
                  <a:schemeClr val="tx1"/>
                </a:solidFill>
              </a:rPr>
              <a:t>Bioinformatics Vol. 21 no. 8 2005, pages 1403–1407</a:t>
            </a:r>
          </a:p>
          <a:p>
            <a:r>
              <a:rPr lang="pt-BR" altLang="zh-TW" sz="2000" dirty="0" smtClean="0">
                <a:solidFill>
                  <a:schemeClr val="tx1"/>
                </a:solidFill>
              </a:rPr>
              <a:t>Presenter: Yi-Pu Guo (M003040025)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1525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Operon (</a:t>
            </a:r>
            <a:r>
              <a:rPr lang="zh-TW" altLang="en-US" sz="2400" dirty="0" smtClean="0"/>
              <a:t>操縱組</a:t>
            </a:r>
            <a:r>
              <a:rPr lang="en-US" altLang="zh-TW" dirty="0" smtClean="0"/>
              <a:t>): </a:t>
            </a:r>
            <a:r>
              <a:rPr lang="zh-TW" altLang="en-US" sz="2400" dirty="0" smtClean="0"/>
              <a:t>於原核生物</a:t>
            </a:r>
            <a:endParaRPr lang="en-US" altLang="zh-TW" dirty="0" smtClean="0"/>
          </a:p>
        </p:txBody>
      </p:sp>
      <p:cxnSp>
        <p:nvCxnSpPr>
          <p:cNvPr id="7" name="直線接點 6"/>
          <p:cNvCxnSpPr/>
          <p:nvPr/>
        </p:nvCxnSpPr>
        <p:spPr>
          <a:xfrm>
            <a:off x="1691680" y="3429000"/>
            <a:ext cx="720080" cy="0"/>
          </a:xfrm>
          <a:prstGeom prst="line">
            <a:avLst/>
          </a:prstGeom>
          <a:ln w="304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411760" y="3429000"/>
            <a:ext cx="1440160" cy="0"/>
          </a:xfrm>
          <a:prstGeom prst="line">
            <a:avLst/>
          </a:prstGeom>
          <a:ln w="304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851920" y="3429000"/>
            <a:ext cx="720080" cy="0"/>
          </a:xfrm>
          <a:prstGeom prst="line">
            <a:avLst/>
          </a:prstGeom>
          <a:ln w="304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4572000" y="3429000"/>
            <a:ext cx="3600400" cy="0"/>
          </a:xfrm>
          <a:prstGeom prst="line">
            <a:avLst/>
          </a:prstGeom>
          <a:ln w="3048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79879" y="3240766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DNA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596520" y="4335602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mRNA</a:t>
            </a:r>
            <a:endParaRPr lang="zh-TW" altLang="en-US" dirty="0"/>
          </a:p>
        </p:txBody>
      </p:sp>
      <p:cxnSp>
        <p:nvCxnSpPr>
          <p:cNvPr id="31" name="弧形接點 30"/>
          <p:cNvCxnSpPr/>
          <p:nvPr/>
        </p:nvCxnSpPr>
        <p:spPr>
          <a:xfrm rot="-1800000">
            <a:off x="1372888" y="4160227"/>
            <a:ext cx="1440160" cy="720080"/>
          </a:xfrm>
          <a:prstGeom prst="curvedConnector3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546027" y="53732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蛋白質</a:t>
            </a:r>
            <a:endParaRPr lang="zh-TW" altLang="en-US" dirty="0"/>
          </a:p>
        </p:txBody>
      </p:sp>
      <p:sp>
        <p:nvSpPr>
          <p:cNvPr id="35" name="等於 34"/>
          <p:cNvSpPr/>
          <p:nvPr/>
        </p:nvSpPr>
        <p:spPr>
          <a:xfrm rot="16200000">
            <a:off x="3750224" y="3355652"/>
            <a:ext cx="914400" cy="914400"/>
          </a:xfrm>
          <a:prstGeom prst="mathEqual">
            <a:avLst>
              <a:gd name="adj1" fmla="val 15728"/>
              <a:gd name="adj2" fmla="val 14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39" name="群組 38"/>
          <p:cNvGrpSpPr/>
          <p:nvPr/>
        </p:nvGrpSpPr>
        <p:grpSpPr>
          <a:xfrm>
            <a:off x="1594520" y="5100682"/>
            <a:ext cx="914400" cy="803011"/>
            <a:chOff x="1594520" y="5100682"/>
            <a:chExt cx="914400" cy="803011"/>
          </a:xfrm>
        </p:grpSpPr>
        <p:sp>
          <p:nvSpPr>
            <p:cNvPr id="36" name="等於 35"/>
            <p:cNvSpPr/>
            <p:nvPr/>
          </p:nvSpPr>
          <p:spPr>
            <a:xfrm rot="16200000">
              <a:off x="1730787" y="4964415"/>
              <a:ext cx="641866" cy="914400"/>
            </a:xfrm>
            <a:prstGeom prst="mathEqual">
              <a:avLst>
                <a:gd name="adj1" fmla="val 15728"/>
                <a:gd name="adj2" fmla="val 1435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691680" y="5330053"/>
              <a:ext cx="720080" cy="4124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>
            <a:xfrm>
              <a:off x="1871700" y="5534361"/>
              <a:ext cx="360040" cy="3693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3754760" y="3397862"/>
            <a:ext cx="914400" cy="803011"/>
            <a:chOff x="1594520" y="5100682"/>
            <a:chExt cx="914400" cy="803011"/>
          </a:xfrm>
        </p:grpSpPr>
        <p:sp>
          <p:nvSpPr>
            <p:cNvPr id="41" name="等於 40"/>
            <p:cNvSpPr/>
            <p:nvPr/>
          </p:nvSpPr>
          <p:spPr>
            <a:xfrm rot="16200000">
              <a:off x="1730787" y="4964415"/>
              <a:ext cx="641866" cy="914400"/>
            </a:xfrm>
            <a:prstGeom prst="mathEqual">
              <a:avLst>
                <a:gd name="adj1" fmla="val 15728"/>
                <a:gd name="adj2" fmla="val 1435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691680" y="5330053"/>
              <a:ext cx="720080" cy="4124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橢圓 42"/>
            <p:cNvSpPr/>
            <p:nvPr/>
          </p:nvSpPr>
          <p:spPr>
            <a:xfrm>
              <a:off x="1871700" y="5534361"/>
              <a:ext cx="360040" cy="3693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cxnSp>
        <p:nvCxnSpPr>
          <p:cNvPr id="45" name="直線單箭頭接點 44"/>
          <p:cNvCxnSpPr/>
          <p:nvPr/>
        </p:nvCxnSpPr>
        <p:spPr>
          <a:xfrm flipV="1">
            <a:off x="2896596" y="4270052"/>
            <a:ext cx="1310828" cy="1264309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5940152" y="4704934"/>
            <a:ext cx="432048" cy="39574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流程圖: 延遲 46"/>
          <p:cNvSpPr/>
          <p:nvPr/>
        </p:nvSpPr>
        <p:spPr>
          <a:xfrm>
            <a:off x="3131840" y="3139974"/>
            <a:ext cx="792088" cy="578821"/>
          </a:xfrm>
          <a:prstGeom prst="flowChartDelay">
            <a:avLst/>
          </a:prstGeom>
          <a:solidFill>
            <a:srgbClr val="8064A2">
              <a:alpha val="50196"/>
            </a:srgb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2791359" y="3823423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RNA </a:t>
            </a:r>
            <a:r>
              <a:rPr lang="zh-TW" altLang="en-US" sz="1200" dirty="0" smtClean="0"/>
              <a:t>聚合酶</a:t>
            </a:r>
            <a:endParaRPr lang="zh-TW" altLang="en-US" sz="1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651610" y="277123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調節基因</a:t>
            </a:r>
            <a:endParaRPr lang="zh-TW" altLang="en-US" sz="12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2808674" y="277123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起動子</a:t>
            </a:r>
            <a:endParaRPr lang="zh-TW" altLang="en-US" sz="12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3855479" y="275177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操作子</a:t>
            </a:r>
            <a:endParaRPr lang="zh-TW" altLang="en-US" sz="12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5972090" y="276035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構造基因</a:t>
            </a:r>
            <a:endParaRPr lang="zh-TW" altLang="en-US" sz="1200" dirty="0"/>
          </a:p>
        </p:txBody>
      </p:sp>
      <p:sp>
        <p:nvSpPr>
          <p:cNvPr id="5" name="左大括弧 4"/>
          <p:cNvSpPr/>
          <p:nvPr/>
        </p:nvSpPr>
        <p:spPr>
          <a:xfrm rot="5400000">
            <a:off x="2828747" y="1078713"/>
            <a:ext cx="535995" cy="2810130"/>
          </a:xfrm>
          <a:prstGeom prst="leftBrace">
            <a:avLst>
              <a:gd name="adj1" fmla="val 37665"/>
              <a:gd name="adj2" fmla="val 50000"/>
            </a:avLst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7621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Operon (</a:t>
            </a:r>
            <a:r>
              <a:rPr lang="zh-TW" altLang="en-US" sz="2400" dirty="0" smtClean="0"/>
              <a:t>操縱組</a:t>
            </a:r>
            <a:r>
              <a:rPr lang="en-US" altLang="zh-TW" dirty="0" smtClean="0"/>
              <a:t>):</a:t>
            </a:r>
          </a:p>
        </p:txBody>
      </p:sp>
      <p:cxnSp>
        <p:nvCxnSpPr>
          <p:cNvPr id="7" name="直線接點 6"/>
          <p:cNvCxnSpPr/>
          <p:nvPr/>
        </p:nvCxnSpPr>
        <p:spPr>
          <a:xfrm>
            <a:off x="1691680" y="3429000"/>
            <a:ext cx="720080" cy="0"/>
          </a:xfrm>
          <a:prstGeom prst="line">
            <a:avLst/>
          </a:prstGeom>
          <a:ln w="30480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接點 7"/>
          <p:cNvCxnSpPr/>
          <p:nvPr/>
        </p:nvCxnSpPr>
        <p:spPr>
          <a:xfrm>
            <a:off x="2411760" y="3429000"/>
            <a:ext cx="1440160" cy="0"/>
          </a:xfrm>
          <a:prstGeom prst="line">
            <a:avLst/>
          </a:prstGeom>
          <a:ln w="3048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>
            <a:off x="3851920" y="3429000"/>
            <a:ext cx="720080" cy="0"/>
          </a:xfrm>
          <a:prstGeom prst="line">
            <a:avLst/>
          </a:prstGeom>
          <a:ln w="3048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>
            <a:off x="4572000" y="3429000"/>
            <a:ext cx="3600400" cy="0"/>
          </a:xfrm>
          <a:prstGeom prst="line">
            <a:avLst/>
          </a:prstGeom>
          <a:ln w="3048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679879" y="3240766"/>
            <a:ext cx="609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DNA</a:t>
            </a:r>
            <a:endParaRPr lang="zh-TW" altLang="en-US" dirty="0"/>
          </a:p>
        </p:txBody>
      </p:sp>
      <p:sp>
        <p:nvSpPr>
          <p:cNvPr id="25" name="文字方塊 24"/>
          <p:cNvSpPr txBox="1"/>
          <p:nvPr/>
        </p:nvSpPr>
        <p:spPr>
          <a:xfrm>
            <a:off x="596520" y="4335602"/>
            <a:ext cx="776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mRNA</a:t>
            </a:r>
            <a:endParaRPr lang="zh-TW" altLang="en-US" dirty="0"/>
          </a:p>
        </p:txBody>
      </p:sp>
      <p:cxnSp>
        <p:nvCxnSpPr>
          <p:cNvPr id="31" name="弧形接點 30"/>
          <p:cNvCxnSpPr/>
          <p:nvPr/>
        </p:nvCxnSpPr>
        <p:spPr>
          <a:xfrm rot="-1800000">
            <a:off x="1372888" y="4160227"/>
            <a:ext cx="1440160" cy="720080"/>
          </a:xfrm>
          <a:prstGeom prst="curvedConnector3">
            <a:avLst/>
          </a:pr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546027" y="5373216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蛋白質</a:t>
            </a:r>
            <a:endParaRPr lang="zh-TW" altLang="en-US" dirty="0"/>
          </a:p>
        </p:txBody>
      </p:sp>
      <p:sp>
        <p:nvSpPr>
          <p:cNvPr id="35" name="等於 34"/>
          <p:cNvSpPr/>
          <p:nvPr/>
        </p:nvSpPr>
        <p:spPr>
          <a:xfrm rot="16200000">
            <a:off x="3750224" y="3355652"/>
            <a:ext cx="914400" cy="914400"/>
          </a:xfrm>
          <a:prstGeom prst="mathEqual">
            <a:avLst>
              <a:gd name="adj1" fmla="val 15728"/>
              <a:gd name="adj2" fmla="val 143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grpSp>
        <p:nvGrpSpPr>
          <p:cNvPr id="39" name="群組 38"/>
          <p:cNvGrpSpPr/>
          <p:nvPr/>
        </p:nvGrpSpPr>
        <p:grpSpPr>
          <a:xfrm>
            <a:off x="1594520" y="5100682"/>
            <a:ext cx="914400" cy="803011"/>
            <a:chOff x="1594520" y="5100682"/>
            <a:chExt cx="914400" cy="803011"/>
          </a:xfrm>
        </p:grpSpPr>
        <p:sp>
          <p:nvSpPr>
            <p:cNvPr id="36" name="等於 35"/>
            <p:cNvSpPr/>
            <p:nvPr/>
          </p:nvSpPr>
          <p:spPr>
            <a:xfrm rot="16200000">
              <a:off x="1730787" y="4964415"/>
              <a:ext cx="641866" cy="914400"/>
            </a:xfrm>
            <a:prstGeom prst="mathEqual">
              <a:avLst>
                <a:gd name="adj1" fmla="val 15728"/>
                <a:gd name="adj2" fmla="val 1435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1691680" y="5330053"/>
              <a:ext cx="720080" cy="4124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8" name="橢圓 37"/>
            <p:cNvSpPr/>
            <p:nvPr/>
          </p:nvSpPr>
          <p:spPr>
            <a:xfrm>
              <a:off x="1871700" y="5534361"/>
              <a:ext cx="360040" cy="3693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grpSp>
        <p:nvGrpSpPr>
          <p:cNvPr id="40" name="群組 39"/>
          <p:cNvGrpSpPr/>
          <p:nvPr/>
        </p:nvGrpSpPr>
        <p:grpSpPr>
          <a:xfrm>
            <a:off x="3914287" y="4882984"/>
            <a:ext cx="914400" cy="803011"/>
            <a:chOff x="1594520" y="5100682"/>
            <a:chExt cx="914400" cy="803011"/>
          </a:xfrm>
        </p:grpSpPr>
        <p:sp>
          <p:nvSpPr>
            <p:cNvPr id="41" name="等於 40"/>
            <p:cNvSpPr/>
            <p:nvPr/>
          </p:nvSpPr>
          <p:spPr>
            <a:xfrm rot="16200000">
              <a:off x="1730787" y="4964415"/>
              <a:ext cx="641866" cy="914400"/>
            </a:xfrm>
            <a:prstGeom prst="mathEqual">
              <a:avLst>
                <a:gd name="adj1" fmla="val 15728"/>
                <a:gd name="adj2" fmla="val 14357"/>
              </a:avLst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矩形 41"/>
            <p:cNvSpPr/>
            <p:nvPr/>
          </p:nvSpPr>
          <p:spPr>
            <a:xfrm>
              <a:off x="1691680" y="5330053"/>
              <a:ext cx="720080" cy="412495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3" name="橢圓 42"/>
            <p:cNvSpPr/>
            <p:nvPr/>
          </p:nvSpPr>
          <p:spPr>
            <a:xfrm>
              <a:off x="1871700" y="5534361"/>
              <a:ext cx="360040" cy="3693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46" name="橢圓 45"/>
          <p:cNvSpPr/>
          <p:nvPr/>
        </p:nvSpPr>
        <p:spPr>
          <a:xfrm>
            <a:off x="4211960" y="5337248"/>
            <a:ext cx="324000" cy="32400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流程圖: 延遲 46"/>
          <p:cNvSpPr/>
          <p:nvPr/>
        </p:nvSpPr>
        <p:spPr>
          <a:xfrm>
            <a:off x="7776356" y="3157188"/>
            <a:ext cx="792088" cy="578821"/>
          </a:xfrm>
          <a:prstGeom prst="flowChartDelay">
            <a:avLst/>
          </a:prstGeom>
          <a:solidFill>
            <a:srgbClr val="8064A2">
              <a:alpha val="50196"/>
            </a:srgb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7380312" y="3866765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200" dirty="0" smtClean="0"/>
              <a:t>RNA </a:t>
            </a:r>
            <a:r>
              <a:rPr lang="zh-TW" altLang="en-US" sz="1200" dirty="0" smtClean="0"/>
              <a:t>聚合酶</a:t>
            </a:r>
            <a:endParaRPr lang="zh-TW" altLang="en-US" sz="1200" dirty="0"/>
          </a:p>
        </p:txBody>
      </p:sp>
      <p:sp>
        <p:nvSpPr>
          <p:cNvPr id="50" name="文字方塊 49"/>
          <p:cNvSpPr txBox="1"/>
          <p:nvPr/>
        </p:nvSpPr>
        <p:spPr>
          <a:xfrm>
            <a:off x="1651610" y="2771238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調節基因</a:t>
            </a:r>
            <a:endParaRPr lang="zh-TW" altLang="en-US" sz="1200" dirty="0"/>
          </a:p>
        </p:txBody>
      </p:sp>
      <p:sp>
        <p:nvSpPr>
          <p:cNvPr id="51" name="文字方塊 50"/>
          <p:cNvSpPr txBox="1"/>
          <p:nvPr/>
        </p:nvSpPr>
        <p:spPr>
          <a:xfrm>
            <a:off x="2808674" y="2771237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起動子</a:t>
            </a:r>
            <a:endParaRPr lang="zh-TW" altLang="en-US" sz="1200" dirty="0"/>
          </a:p>
        </p:txBody>
      </p:sp>
      <p:sp>
        <p:nvSpPr>
          <p:cNvPr id="52" name="文字方塊 51"/>
          <p:cNvSpPr txBox="1"/>
          <p:nvPr/>
        </p:nvSpPr>
        <p:spPr>
          <a:xfrm>
            <a:off x="3855479" y="2751775"/>
            <a:ext cx="6463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操作子</a:t>
            </a:r>
            <a:endParaRPr lang="zh-TW" altLang="en-US" sz="1200" dirty="0"/>
          </a:p>
        </p:txBody>
      </p:sp>
      <p:sp>
        <p:nvSpPr>
          <p:cNvPr id="53" name="文字方塊 52"/>
          <p:cNvSpPr txBox="1"/>
          <p:nvPr/>
        </p:nvSpPr>
        <p:spPr>
          <a:xfrm>
            <a:off x="5972090" y="276035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200" dirty="0" smtClean="0"/>
              <a:t>構造基因</a:t>
            </a:r>
            <a:endParaRPr lang="zh-TW" altLang="en-US" sz="1200" dirty="0"/>
          </a:p>
        </p:txBody>
      </p:sp>
      <p:cxnSp>
        <p:nvCxnSpPr>
          <p:cNvPr id="29" name="直線單箭頭接點 28"/>
          <p:cNvCxnSpPr/>
          <p:nvPr/>
        </p:nvCxnSpPr>
        <p:spPr>
          <a:xfrm flipV="1">
            <a:off x="2896596" y="5421615"/>
            <a:ext cx="853628" cy="112747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弧形接點 5"/>
          <p:cNvCxnSpPr/>
          <p:nvPr/>
        </p:nvCxnSpPr>
        <p:spPr>
          <a:xfrm rot="-1800000">
            <a:off x="4128225" y="3727629"/>
            <a:ext cx="3456384" cy="933864"/>
          </a:xfrm>
          <a:prstGeom prst="curvedConnector3">
            <a:avLst/>
          </a:prstGeom>
          <a:ln w="381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/>
          <p:cNvCxnSpPr/>
          <p:nvPr/>
        </p:nvCxnSpPr>
        <p:spPr>
          <a:xfrm>
            <a:off x="3684654" y="3719415"/>
            <a:ext cx="3731063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5520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Introduction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smtClean="0"/>
              <a:t>Operon prediction.</a:t>
            </a:r>
            <a:br>
              <a:rPr lang="en-US" altLang="zh-TW" dirty="0" smtClean="0"/>
            </a:br>
            <a:r>
              <a:rPr lang="en-US" altLang="zh-TW" dirty="0" smtClean="0"/>
              <a:t>Genetic algorithm + Fuzzy scoring functions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8341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Scoring criteria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 smtClean="0"/>
              <a:t>Intergenic</a:t>
            </a:r>
            <a:r>
              <a:rPr lang="en-US" altLang="zh-TW" dirty="0" smtClean="0"/>
              <a:t> distance</a:t>
            </a:r>
          </a:p>
          <a:p>
            <a:r>
              <a:rPr lang="en-US" altLang="zh-TW" dirty="0" smtClean="0"/>
              <a:t>Participation in the same </a:t>
            </a:r>
            <a:r>
              <a:rPr lang="en-US" altLang="zh-TW" dirty="0" smtClean="0"/>
              <a:t>metabolic(</a:t>
            </a:r>
            <a:r>
              <a:rPr lang="zh-TW" altLang="en-US" sz="2400" dirty="0" smtClean="0"/>
              <a:t>代謝</a:t>
            </a:r>
            <a:r>
              <a:rPr lang="en-US" altLang="zh-TW" dirty="0" smtClean="0"/>
              <a:t>) </a:t>
            </a:r>
            <a:r>
              <a:rPr lang="en-US" altLang="zh-TW" dirty="0" smtClean="0"/>
              <a:t>pathway</a:t>
            </a:r>
          </a:p>
          <a:p>
            <a:r>
              <a:rPr lang="en-US" altLang="zh-TW" dirty="0" smtClean="0"/>
              <a:t>Conservation(</a:t>
            </a:r>
            <a:r>
              <a:rPr lang="zh-TW" altLang="en-US" sz="2400" dirty="0" smtClean="0"/>
              <a:t>保留</a:t>
            </a:r>
            <a:r>
              <a:rPr lang="en-US" altLang="zh-TW" dirty="0" smtClean="0"/>
              <a:t>) </a:t>
            </a:r>
            <a:r>
              <a:rPr lang="en-US" altLang="zh-TW" dirty="0" smtClean="0"/>
              <a:t>across multiple </a:t>
            </a:r>
            <a:r>
              <a:rPr lang="en-US" altLang="zh-TW" dirty="0" smtClean="0"/>
              <a:t>genomes(</a:t>
            </a:r>
            <a:r>
              <a:rPr lang="zh-TW" altLang="en-US" sz="2400" dirty="0" smtClean="0"/>
              <a:t>基因組</a:t>
            </a:r>
            <a:r>
              <a:rPr lang="en-US" altLang="zh-TW" dirty="0" smtClean="0"/>
              <a:t>)</a:t>
            </a:r>
            <a:endParaRPr lang="en-US" altLang="zh-TW" dirty="0" smtClean="0"/>
          </a:p>
          <a:p>
            <a:r>
              <a:rPr lang="en-US" altLang="zh-TW" dirty="0" smtClean="0"/>
              <a:t>Similarity of protein functions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2512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Genetic </a:t>
            </a:r>
            <a:r>
              <a:rPr lang="en-US" altLang="zh-TW" dirty="0" smtClean="0"/>
              <a:t>algorithm (GA)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400" dirty="0"/>
              <a:t>Representation of potential </a:t>
            </a:r>
            <a:r>
              <a:rPr lang="en-US" altLang="zh-TW" sz="2400" dirty="0" smtClean="0"/>
              <a:t>solutions</a:t>
            </a:r>
            <a:endParaRPr lang="en-US" altLang="zh-TW" sz="2400" dirty="0"/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400" dirty="0" smtClean="0"/>
              <a:t>Creation </a:t>
            </a:r>
            <a:r>
              <a:rPr lang="en-US" altLang="zh-TW" sz="2400" dirty="0"/>
              <a:t>of an initial </a:t>
            </a:r>
            <a:r>
              <a:rPr lang="en-US" altLang="zh-TW" sz="2400" dirty="0" smtClean="0"/>
              <a:t>population</a:t>
            </a:r>
            <a:endParaRPr lang="en-US" altLang="zh-TW" sz="2400" dirty="0"/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400" dirty="0" smtClean="0"/>
              <a:t>A </a:t>
            </a:r>
            <a:r>
              <a:rPr lang="en-US" altLang="zh-TW" sz="2400" dirty="0"/>
              <a:t>fitness function to score the putative </a:t>
            </a:r>
            <a:r>
              <a:rPr lang="en-US" altLang="zh-TW" sz="2400" dirty="0" smtClean="0"/>
              <a:t>operons</a:t>
            </a:r>
            <a:endParaRPr lang="en-US" altLang="zh-TW" sz="2400" dirty="0"/>
          </a:p>
          <a:p>
            <a:pPr marL="514350" indent="-514350">
              <a:lnSpc>
                <a:spcPct val="150000"/>
              </a:lnSpc>
              <a:buFont typeface="+mj-lt"/>
              <a:buAutoNum type="arabicParenR"/>
            </a:pPr>
            <a:r>
              <a:rPr lang="en-US" altLang="zh-TW" sz="2400" dirty="0" smtClean="0"/>
              <a:t>Application </a:t>
            </a:r>
            <a:r>
              <a:rPr lang="en-US" altLang="zh-TW" sz="2400" dirty="0"/>
              <a:t>of the genetic operators—selection, crossover and mutation to evolve the </a:t>
            </a:r>
            <a:r>
              <a:rPr lang="en-US" altLang="zh-TW" sz="2400" dirty="0" smtClean="0"/>
              <a:t>population</a:t>
            </a:r>
            <a:endParaRPr lang="zh-TW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25269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4424" y="285311"/>
            <a:ext cx="3275152" cy="5658640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2663401" y="6165304"/>
            <a:ext cx="3817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Block diagram of the genetic algorithm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696903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/>
              <a:t>Representation and initial population</a:t>
            </a:r>
            <a:endParaRPr lang="zh-TW" altLang="en-US" dirty="0"/>
          </a:p>
        </p:txBody>
      </p:sp>
      <p:graphicFrame>
        <p:nvGraphicFramePr>
          <p:cNvPr id="4" name="內容版面配置區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6754842"/>
              </p:ext>
            </p:extLst>
          </p:nvPr>
        </p:nvGraphicFramePr>
        <p:xfrm>
          <a:off x="648000" y="4896000"/>
          <a:ext cx="7848000" cy="86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36000"/>
                <a:gridCol w="792000"/>
                <a:gridCol w="792000"/>
                <a:gridCol w="792000"/>
                <a:gridCol w="792000"/>
                <a:gridCol w="792000"/>
                <a:gridCol w="792000"/>
                <a:gridCol w="792000"/>
                <a:gridCol w="792000"/>
                <a:gridCol w="576000"/>
              </a:tblGrid>
              <a:tr h="43200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gene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b001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b002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b003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b004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b005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b006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b007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b008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TW" altLang="en-US" dirty="0"/>
                    </a:p>
                  </a:txBody>
                  <a:tcPr anchor="ctr"/>
                </a:tc>
              </a:tr>
              <a:tr h="43200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operon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2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…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5" name="橢圓 4"/>
          <p:cNvSpPr/>
          <p:nvPr/>
        </p:nvSpPr>
        <p:spPr>
          <a:xfrm>
            <a:off x="1907704" y="1628800"/>
            <a:ext cx="5400600" cy="259228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583461" y="4461338"/>
            <a:ext cx="1363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Operon </a:t>
            </a:r>
            <a:r>
              <a:rPr lang="en-US" altLang="zh-TW" dirty="0"/>
              <a:t>map</a:t>
            </a:r>
            <a:endParaRPr lang="zh-TW" altLang="en-US" dirty="0"/>
          </a:p>
        </p:txBody>
      </p:sp>
      <p:sp>
        <p:nvSpPr>
          <p:cNvPr id="7" name="橢圓 6"/>
          <p:cNvSpPr/>
          <p:nvPr/>
        </p:nvSpPr>
        <p:spPr>
          <a:xfrm>
            <a:off x="3303658" y="2225951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4391980" y="2088559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699792" y="308846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868144" y="2196571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302061" y="2747519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707904" y="3567409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4874223" y="3475185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4067182" y="2881808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6300192" y="3196480"/>
            <a:ext cx="216024" cy="216024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文字方塊 15"/>
          <p:cNvSpPr txBox="1"/>
          <p:nvPr/>
        </p:nvSpPr>
        <p:spPr>
          <a:xfrm>
            <a:off x="1365549" y="1530496"/>
            <a:ext cx="1206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Population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7289649" y="3512641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Individuals</a:t>
            </a:r>
            <a:endParaRPr lang="zh-TW" altLang="en-US" dirty="0"/>
          </a:p>
        </p:txBody>
      </p:sp>
      <p:cxnSp>
        <p:nvCxnSpPr>
          <p:cNvPr id="21" name="弧形接點 20"/>
          <p:cNvCxnSpPr>
            <a:stCxn id="17" idx="1"/>
            <a:endCxn id="15" idx="6"/>
          </p:cNvCxnSpPr>
          <p:nvPr/>
        </p:nvCxnSpPr>
        <p:spPr>
          <a:xfrm rot="10800000">
            <a:off x="6516217" y="3304493"/>
            <a:ext cx="773433" cy="392815"/>
          </a:xfrm>
          <a:prstGeom prst="curvedConnector3">
            <a:avLst/>
          </a:pr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手繪多邊形 23"/>
          <p:cNvSpPr/>
          <p:nvPr/>
        </p:nvSpPr>
        <p:spPr>
          <a:xfrm>
            <a:off x="1127484" y="3196480"/>
            <a:ext cx="1547446" cy="1219200"/>
          </a:xfrm>
          <a:custGeom>
            <a:avLst/>
            <a:gdLst>
              <a:gd name="connsiteX0" fmla="*/ 1561886 w 1561886"/>
              <a:gd name="connsiteY0" fmla="*/ 0 h 1219200"/>
              <a:gd name="connsiteX1" fmla="*/ 459917 w 1561886"/>
              <a:gd name="connsiteY1" fmla="*/ 504092 h 1219200"/>
              <a:gd name="connsiteX2" fmla="*/ 14440 w 1561886"/>
              <a:gd name="connsiteY2" fmla="*/ 1219200 h 1219200"/>
              <a:gd name="connsiteX0" fmla="*/ 1561414 w 1561414"/>
              <a:gd name="connsiteY0" fmla="*/ 0 h 1219200"/>
              <a:gd name="connsiteX1" fmla="*/ 471168 w 1561414"/>
              <a:gd name="connsiteY1" fmla="*/ 257908 h 1219200"/>
              <a:gd name="connsiteX2" fmla="*/ 13968 w 1561414"/>
              <a:gd name="connsiteY2" fmla="*/ 1219200 h 1219200"/>
              <a:gd name="connsiteX0" fmla="*/ 1566655 w 1566655"/>
              <a:gd name="connsiteY0" fmla="*/ 0 h 1219200"/>
              <a:gd name="connsiteX1" fmla="*/ 476409 w 1566655"/>
              <a:gd name="connsiteY1" fmla="*/ 257908 h 1219200"/>
              <a:gd name="connsiteX2" fmla="*/ 19209 w 1566655"/>
              <a:gd name="connsiteY2" fmla="*/ 1219200 h 1219200"/>
              <a:gd name="connsiteX0" fmla="*/ 1566655 w 1566655"/>
              <a:gd name="connsiteY0" fmla="*/ 1489 h 1220689"/>
              <a:gd name="connsiteX1" fmla="*/ 476409 w 1566655"/>
              <a:gd name="connsiteY1" fmla="*/ 259397 h 1220689"/>
              <a:gd name="connsiteX2" fmla="*/ 19209 w 1566655"/>
              <a:gd name="connsiteY2" fmla="*/ 1220689 h 1220689"/>
              <a:gd name="connsiteX0" fmla="*/ 1562756 w 1562756"/>
              <a:gd name="connsiteY0" fmla="*/ 1489 h 1220689"/>
              <a:gd name="connsiteX1" fmla="*/ 472510 w 1562756"/>
              <a:gd name="connsiteY1" fmla="*/ 259397 h 1220689"/>
              <a:gd name="connsiteX2" fmla="*/ 15310 w 1562756"/>
              <a:gd name="connsiteY2" fmla="*/ 1220689 h 1220689"/>
              <a:gd name="connsiteX0" fmla="*/ 1547446 w 1547446"/>
              <a:gd name="connsiteY0" fmla="*/ 0 h 1219200"/>
              <a:gd name="connsiteX1" fmla="*/ 0 w 1547446"/>
              <a:gd name="connsiteY1" fmla="*/ 1219200 h 1219200"/>
              <a:gd name="connsiteX0" fmla="*/ 1547446 w 1547446"/>
              <a:gd name="connsiteY0" fmla="*/ 0 h 1219200"/>
              <a:gd name="connsiteX1" fmla="*/ 0 w 1547446"/>
              <a:gd name="connsiteY1" fmla="*/ 1219200 h 1219200"/>
              <a:gd name="connsiteX0" fmla="*/ 1547446 w 1547446"/>
              <a:gd name="connsiteY0" fmla="*/ 0 h 1219200"/>
              <a:gd name="connsiteX1" fmla="*/ 0 w 1547446"/>
              <a:gd name="connsiteY1" fmla="*/ 1219200 h 1219200"/>
              <a:gd name="connsiteX0" fmla="*/ 1547446 w 1547446"/>
              <a:gd name="connsiteY0" fmla="*/ 0 h 1219200"/>
              <a:gd name="connsiteX1" fmla="*/ 0 w 1547446"/>
              <a:gd name="connsiteY1" fmla="*/ 1219200 h 1219200"/>
              <a:gd name="connsiteX0" fmla="*/ 1547446 w 1547446"/>
              <a:gd name="connsiteY0" fmla="*/ 0 h 1219200"/>
              <a:gd name="connsiteX1" fmla="*/ 0 w 1547446"/>
              <a:gd name="connsiteY1" fmla="*/ 1219200 h 121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47446" h="1219200">
                <a:moveTo>
                  <a:pt x="1547446" y="0"/>
                </a:moveTo>
                <a:cubicBezTo>
                  <a:pt x="785446" y="160215"/>
                  <a:pt x="316523" y="437661"/>
                  <a:pt x="0" y="1219200"/>
                </a:cubicBezTo>
              </a:path>
            </a:pathLst>
          </a:custGeom>
          <a:ln w="19050"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2426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Fuzzy Fitness Finder (FFF)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smtClean="0"/>
              <a:t>The numerical values for the scores based on each criterion are then converted into fuzzy scores.</a:t>
            </a:r>
          </a:p>
          <a:p>
            <a:pPr>
              <a:lnSpc>
                <a:spcPct val="150000"/>
              </a:lnSpc>
            </a:pPr>
            <a:r>
              <a:rPr lang="en-US" altLang="zh-TW" sz="2000" dirty="0" smtClean="0"/>
              <a:t>The fuzzy membership functions for the criteria have been fixed using nine triangular sets (V1, ... ,V9) where V1, V2, ... have linguistic interpretations like extremely low, very low, etc.</a:t>
            </a:r>
          </a:p>
        </p:txBody>
      </p:sp>
      <p:graphicFrame>
        <p:nvGraphicFramePr>
          <p:cNvPr id="4" name="圖表 3"/>
          <p:cNvGraphicFramePr/>
          <p:nvPr>
            <p:extLst>
              <p:ext uri="{D42A27DB-BD31-4B8C-83A1-F6EECF244321}">
                <p14:modId xmlns:p14="http://schemas.microsoft.com/office/powerpoint/2010/main" val="3089793839"/>
              </p:ext>
            </p:extLst>
          </p:nvPr>
        </p:nvGraphicFramePr>
        <p:xfrm>
          <a:off x="1259632" y="4293096"/>
          <a:ext cx="6792416" cy="203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文字方塊 4"/>
          <p:cNvSpPr txBox="1"/>
          <p:nvPr/>
        </p:nvSpPr>
        <p:spPr>
          <a:xfrm>
            <a:off x="2439409" y="4522659"/>
            <a:ext cx="5012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 smtClean="0"/>
              <a:t>V1  </a:t>
            </a:r>
            <a:r>
              <a:rPr lang="en-US" altLang="zh-TW" dirty="0" smtClean="0"/>
              <a:t>    </a:t>
            </a:r>
            <a:r>
              <a:rPr lang="en-US" altLang="zh-TW" dirty="0" smtClean="0"/>
              <a:t>V2      V3     V4      V5     V6      V7      V8       V9</a:t>
            </a:r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7236296" y="6124654"/>
            <a:ext cx="1674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numerical value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07334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圖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8049" y="864000"/>
            <a:ext cx="4667902" cy="4639323"/>
          </a:xfrm>
          <a:prstGeom prst="rect">
            <a:avLst/>
          </a:prstGeom>
        </p:spPr>
      </p:pic>
      <p:sp>
        <p:nvSpPr>
          <p:cNvPr id="3" name="文字方塊 2"/>
          <p:cNvSpPr txBox="1"/>
          <p:nvPr/>
        </p:nvSpPr>
        <p:spPr>
          <a:xfrm>
            <a:off x="3328679" y="5908630"/>
            <a:ext cx="24866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Block diagram of the FFF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479762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The Fuzzy Fitness Finder (FFF)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 smtClean="0"/>
              <a:t>The fuzzy scores for the different criteria are then combined to give a single score using a fuzzy inference engine.</a:t>
            </a:r>
          </a:p>
          <a:p>
            <a:pPr>
              <a:lnSpc>
                <a:spcPct val="150000"/>
              </a:lnSpc>
            </a:pPr>
            <a:r>
              <a:rPr lang="en-US" altLang="zh-TW" sz="2000" dirty="0" smtClean="0"/>
              <a:t>The inference engine combines the scores two at a time. (for scalability)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301622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The Fuzzy Fitness Finder (FFF)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TW" sz="2400" dirty="0" smtClean="0"/>
                  <a:t>The final fitness scores are de-</a:t>
                </a:r>
                <a:r>
                  <a:rPr lang="en-US" altLang="zh-TW" sz="2400" dirty="0" err="1"/>
                  <a:t>fuzzified</a:t>
                </a:r>
                <a:r>
                  <a:rPr lang="en-US" altLang="zh-TW" sz="2400" dirty="0"/>
                  <a:t> using the root-sum-squares method to yield a crisp fitness value</a:t>
                </a:r>
                <a:r>
                  <a:rPr lang="en-US" altLang="zh-TW" sz="2400" dirty="0" smtClean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900" b="0" i="1" smtClean="0">
                          <a:latin typeface="Cambria Math"/>
                        </a:rPr>
                        <m:t>𝑅𝑆𝑆</m:t>
                      </m:r>
                      <m:r>
                        <a:rPr lang="en-US" altLang="zh-TW" sz="1900" b="0" i="1" smtClean="0">
                          <a:latin typeface="Cambria Math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1900" b="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n-US" altLang="zh-TW" sz="19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TW" sz="19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0" i="1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1900" b="0" i="1" smtClean="0">
                                      <a:latin typeface="Cambria Math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TW" sz="19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1900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19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TW" sz="19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0" i="1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1900" b="0" i="1" smtClean="0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TW" sz="19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TW" sz="1900" b="0" i="1" smtClean="0">
                              <a:latin typeface="Cambria Math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TW" sz="1900" b="0" i="1" smtClean="0">
                                  <a:latin typeface="Cambria Math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US" altLang="zh-TW" sz="1900" b="0" i="1" smtClean="0">
                                      <a:latin typeface="Cambria Math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1900" b="0" i="1" smtClean="0">
                                      <a:latin typeface="Cambria Math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en-US" altLang="zh-TW" sz="1900" b="0" i="1" smtClean="0">
                                      <a:latin typeface="Cambria Math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US" altLang="zh-TW" sz="1900" b="0" i="1" smtClean="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US" altLang="zh-TW" sz="2400" dirty="0" smtClean="0"/>
              </a:p>
              <a:p>
                <a:pPr>
                  <a:lnSpc>
                    <a:spcPct val="150000"/>
                  </a:lnSpc>
                </a:pPr>
                <a:r>
                  <a:rPr lang="en-US" altLang="zh-TW" sz="2400" dirty="0"/>
                  <a:t>The fitness of an individual is calculated as the summation of the </a:t>
                </a:r>
                <a:r>
                  <a:rPr lang="en-US" altLang="zh-TW" sz="2400" dirty="0" smtClean="0"/>
                  <a:t>fitness scores </a:t>
                </a:r>
                <a:r>
                  <a:rPr lang="en-US" altLang="zh-TW" sz="2400" dirty="0"/>
                  <a:t>of all the putative operons of that individual</a:t>
                </a:r>
                <a:r>
                  <a:rPr lang="en-US" altLang="zh-TW" sz="2400" dirty="0" smtClean="0"/>
                  <a:t>.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700" b="0" i="1" smtClean="0">
                          <a:latin typeface="Cambria Math"/>
                        </a:rPr>
                        <m:t>𝐹𝑖𝑡𝑛𝑒𝑠𝑠</m:t>
                      </m:r>
                      <m:r>
                        <a:rPr lang="en-US" altLang="zh-TW" sz="17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sz="17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sz="17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altLang="zh-TW" sz="17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altLang="zh-TW" sz="1700" b="0" i="1" smtClean="0">
                              <a:latin typeface="Cambria Math"/>
                            </a:rPr>
                            <m:t>𝑘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7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altLang="zh-TW" sz="1700" b="0" i="1" smtClean="0">
                                  <a:latin typeface="Cambria Math"/>
                                </a:rPr>
                                <m:t>𝑓𝑖𝑡𝑛𝑒𝑠𝑠</m:t>
                              </m:r>
                            </m:e>
                            <m:sub>
                              <m:r>
                                <a:rPr lang="en-US" altLang="zh-TW" sz="17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altLang="zh-TW" sz="17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TW" sz="2400" dirty="0"/>
                  <a:t>k: the number of operons in an individual.</a:t>
                </a:r>
                <a:endParaRPr lang="zh-TW" altLang="en-US" sz="2400" dirty="0"/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6452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Results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077072"/>
            <a:ext cx="8229600" cy="2049091"/>
          </a:xfrm>
        </p:spPr>
        <p:txBody>
          <a:bodyPr>
            <a:normAutofit fontScale="70000" lnSpcReduction="20000"/>
          </a:bodyPr>
          <a:lstStyle/>
          <a:p>
            <a:r>
              <a:rPr lang="en-US" altLang="zh-TW" dirty="0" smtClean="0"/>
              <a:t>True Positive Rate	= TP/(TP+FN)</a:t>
            </a:r>
          </a:p>
          <a:p>
            <a:r>
              <a:rPr lang="en-US" altLang="zh-TW" dirty="0" smtClean="0"/>
              <a:t>False Positive Rate	= FP/FP+TN)</a:t>
            </a:r>
          </a:p>
          <a:p>
            <a:r>
              <a:rPr lang="en-US" altLang="zh-TW" dirty="0" smtClean="0"/>
              <a:t>ROC Space (</a:t>
            </a:r>
            <a:r>
              <a:rPr lang="zh-TW" altLang="en-US" dirty="0" smtClean="0"/>
              <a:t>曲線下面積越大越準確</a:t>
            </a:r>
            <a:r>
              <a:rPr lang="en-US" altLang="zh-TW" dirty="0" smtClean="0"/>
              <a:t>)</a:t>
            </a:r>
          </a:p>
          <a:p>
            <a:r>
              <a:rPr lang="en-US" altLang="zh-TW" dirty="0" err="1"/>
              <a:t>RegulonDB</a:t>
            </a:r>
            <a:r>
              <a:rPr lang="en-US" altLang="zh-TW" dirty="0"/>
              <a:t> (http://www.cifn.unam.mx/Computational_Genomics/regulondb)</a:t>
            </a:r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428647"/>
              </p:ext>
            </p:extLst>
          </p:nvPr>
        </p:nvGraphicFramePr>
        <p:xfrm>
          <a:off x="683568" y="1728000"/>
          <a:ext cx="3744000" cy="172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000"/>
                <a:gridCol w="1872000"/>
              </a:tblGrid>
              <a:tr h="86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True Positive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False Positive</a:t>
                      </a:r>
                      <a:endParaRPr lang="zh-TW" altLang="en-US" dirty="0"/>
                    </a:p>
                  </a:txBody>
                  <a:tcPr anchor="ctr"/>
                </a:tc>
              </a:tr>
              <a:tr h="86400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False Negative</a:t>
                      </a:r>
                      <a:endParaRPr lang="zh-TW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/>
                        <a:t>True Negative</a:t>
                      </a:r>
                      <a:endParaRPr lang="zh-TW" altLang="en-US" dirty="0"/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7" name="圖表 6"/>
          <p:cNvGraphicFramePr/>
          <p:nvPr>
            <p:extLst>
              <p:ext uri="{D42A27DB-BD31-4B8C-83A1-F6EECF244321}">
                <p14:modId xmlns:p14="http://schemas.microsoft.com/office/powerpoint/2010/main" val="1626410976"/>
              </p:ext>
            </p:extLst>
          </p:nvPr>
        </p:nvGraphicFramePr>
        <p:xfrm>
          <a:off x="4680000" y="1340768"/>
          <a:ext cx="3888000" cy="27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55885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4691" y="1600200"/>
            <a:ext cx="6034617" cy="4525963"/>
          </a:xfrm>
        </p:spPr>
      </p:pic>
    </p:spTree>
    <p:extLst>
      <p:ext uri="{BB962C8B-B14F-4D97-AF65-F5344CB8AC3E}">
        <p14:creationId xmlns:p14="http://schemas.microsoft.com/office/powerpoint/2010/main" val="2344108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 smtClean="0"/>
              <a:t>Thanks for listening.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28751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398</TotalTime>
  <Words>419</Words>
  <Application>Microsoft Office PowerPoint</Application>
  <PresentationFormat>如螢幕大小 (4:3)</PresentationFormat>
  <Paragraphs>88</Paragraphs>
  <Slides>15</Slides>
  <Notes>0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6" baseType="lpstr">
      <vt:lpstr>Office 佈景主題</vt:lpstr>
      <vt:lpstr>A fuzzy guided genetic algorithm for operon prediction</vt:lpstr>
      <vt:lpstr>Introduction</vt:lpstr>
      <vt:lpstr>Introduction</vt:lpstr>
      <vt:lpstr>Introduction</vt:lpstr>
      <vt:lpstr>Scoring criteria</vt:lpstr>
      <vt:lpstr>Genetic algorithm (GA)</vt:lpstr>
      <vt:lpstr>PowerPoint 簡報</vt:lpstr>
      <vt:lpstr>Representation and initial population</vt:lpstr>
      <vt:lpstr>The Fuzzy Fitness Finder (FFF)</vt:lpstr>
      <vt:lpstr>PowerPoint 簡報</vt:lpstr>
      <vt:lpstr>The Fuzzy Fitness Finder (FFF)</vt:lpstr>
      <vt:lpstr>The Fuzzy Fitness Finder (FFF)</vt:lpstr>
      <vt:lpstr>Results</vt:lpstr>
      <vt:lpstr>Results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fuzzy guided genetic algorithm for operon prediction</dc:title>
  <dc:creator>YiPo</dc:creator>
  <cp:lastModifiedBy>YiPo</cp:lastModifiedBy>
  <cp:revision>36</cp:revision>
  <dcterms:created xsi:type="dcterms:W3CDTF">2012-05-30T20:13:46Z</dcterms:created>
  <dcterms:modified xsi:type="dcterms:W3CDTF">2012-06-13T10:33:28Z</dcterms:modified>
</cp:coreProperties>
</file>