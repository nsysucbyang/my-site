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0" r:id="rId6"/>
    <p:sldId id="273" r:id="rId7"/>
    <p:sldId id="274" r:id="rId8"/>
    <p:sldId id="262" r:id="rId9"/>
    <p:sldId id="268" r:id="rId10"/>
    <p:sldId id="266" r:id="rId11"/>
    <p:sldId id="265" r:id="rId12"/>
    <p:sldId id="275" r:id="rId13"/>
    <p:sldId id="267" r:id="rId14"/>
    <p:sldId id="263" r:id="rId15"/>
    <p:sldId id="272" r:id="rId16"/>
    <p:sldId id="271" r:id="rId17"/>
    <p:sldId id="269"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23" autoAdjust="0"/>
    <p:restoredTop sz="94660"/>
  </p:normalViewPr>
  <p:slideViewPr>
    <p:cSldViewPr>
      <p:cViewPr>
        <p:scale>
          <a:sx n="80" d="100"/>
          <a:sy n="80" d="100"/>
        </p:scale>
        <p:origin x="-792" y="-6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2187378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3454991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2799929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328265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1231139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945695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2488998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936330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2378545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1182300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0B9323D-0EAF-4EE8-83C5-30662A1685BD}" type="datetimeFigureOut">
              <a:rPr lang="zh-TW" altLang="en-US" smtClean="0"/>
              <a:t>2012/2/6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2857470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B9323D-0EAF-4EE8-83C5-30662A1685BD}" type="datetimeFigureOut">
              <a:rPr lang="zh-TW" altLang="en-US" smtClean="0"/>
              <a:t>2012/2/6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7EBA43-775B-489D-8CDB-77ED293B7C80}" type="slidenum">
              <a:rPr lang="zh-TW" altLang="en-US" smtClean="0"/>
              <a:t>‹#›</a:t>
            </a:fld>
            <a:endParaRPr lang="zh-TW" altLang="en-US"/>
          </a:p>
        </p:txBody>
      </p:sp>
    </p:spTree>
    <p:extLst>
      <p:ext uri="{BB962C8B-B14F-4D97-AF65-F5344CB8AC3E}">
        <p14:creationId xmlns:p14="http://schemas.microsoft.com/office/powerpoint/2010/main" val="3734708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en.wikipedia.org/wiki/Covalent_bond" TargetMode="External"/><Relationship Id="rId2" Type="http://schemas.openxmlformats.org/officeDocument/2006/relationships/hyperlink" Target="http://en.wikipedia.org/wiki/Heteroat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ts.bioengr.uic.edu/castp/"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The Structural Basis</a:t>
            </a:r>
            <a:br>
              <a:rPr lang="en-US" altLang="zh-TW" dirty="0" smtClean="0"/>
            </a:br>
            <a:r>
              <a:rPr lang="en-US" altLang="zh-TW" dirty="0" smtClean="0"/>
              <a:t>of Peptide-Protein Binding Strategies</a:t>
            </a:r>
            <a:endParaRPr lang="zh-TW" altLang="en-US" dirty="0"/>
          </a:p>
        </p:txBody>
      </p:sp>
      <p:sp>
        <p:nvSpPr>
          <p:cNvPr id="3" name="副標題 2"/>
          <p:cNvSpPr>
            <a:spLocks noGrp="1"/>
          </p:cNvSpPr>
          <p:nvPr>
            <p:ph type="subTitle" idx="1"/>
          </p:nvPr>
        </p:nvSpPr>
        <p:spPr/>
        <p:txBody>
          <a:bodyPr>
            <a:normAutofit fontScale="55000" lnSpcReduction="20000"/>
          </a:bodyPr>
          <a:lstStyle/>
          <a:p>
            <a:r>
              <a:rPr lang="en-US" altLang="zh-TW" dirty="0" err="1" smtClean="0"/>
              <a:t>Nir</a:t>
            </a:r>
            <a:r>
              <a:rPr lang="en-US" altLang="zh-TW" dirty="0" smtClean="0"/>
              <a:t> London, Dana </a:t>
            </a:r>
            <a:r>
              <a:rPr lang="en-US" altLang="zh-TW" dirty="0" err="1" smtClean="0"/>
              <a:t>Movshovitz-Attias</a:t>
            </a:r>
            <a:r>
              <a:rPr lang="en-US" altLang="zh-TW" dirty="0" smtClean="0"/>
              <a:t>, and </a:t>
            </a:r>
            <a:r>
              <a:rPr lang="en-US" altLang="zh-TW" dirty="0" err="1" smtClean="0"/>
              <a:t>Ora</a:t>
            </a:r>
            <a:r>
              <a:rPr lang="en-US" altLang="zh-TW" dirty="0" smtClean="0"/>
              <a:t> </a:t>
            </a:r>
            <a:r>
              <a:rPr lang="en-US" altLang="zh-TW" dirty="0" err="1" smtClean="0"/>
              <a:t>Schueler</a:t>
            </a:r>
            <a:r>
              <a:rPr lang="en-US" altLang="zh-TW" dirty="0" smtClean="0"/>
              <a:t>-Furman</a:t>
            </a:r>
          </a:p>
          <a:p>
            <a:r>
              <a:rPr lang="en-US" altLang="zh-TW" dirty="0" smtClean="0"/>
              <a:t>Structure 18, </a:t>
            </a:r>
            <a:r>
              <a:rPr lang="en-US" altLang="zh-TW" dirty="0"/>
              <a:t>188–199, February 10, 2010</a:t>
            </a:r>
            <a:endParaRPr lang="en-US" altLang="zh-TW" dirty="0" smtClean="0"/>
          </a:p>
          <a:p>
            <a:endParaRPr lang="en-US" altLang="zh-TW" dirty="0" smtClean="0"/>
          </a:p>
          <a:p>
            <a:r>
              <a:rPr lang="en-US" altLang="zh-TW" dirty="0" smtClean="0"/>
              <a:t>Presenter: Yi-</a:t>
            </a:r>
            <a:r>
              <a:rPr lang="en-US" altLang="zh-TW" dirty="0" err="1" smtClean="0"/>
              <a:t>Pu</a:t>
            </a:r>
            <a:r>
              <a:rPr lang="en-US" altLang="zh-TW" dirty="0" smtClean="0"/>
              <a:t> </a:t>
            </a:r>
            <a:r>
              <a:rPr lang="en-US" altLang="zh-TW" dirty="0" err="1" smtClean="0"/>
              <a:t>Guo</a:t>
            </a:r>
            <a:endParaRPr lang="en-US" altLang="zh-TW" dirty="0" smtClean="0"/>
          </a:p>
          <a:p>
            <a:r>
              <a:rPr lang="en-US" altLang="zh-TW" dirty="0" smtClean="0"/>
              <a:t>2012/2/6</a:t>
            </a:r>
            <a:endParaRPr lang="zh-TW" altLang="en-US" dirty="0"/>
          </a:p>
        </p:txBody>
      </p:sp>
    </p:spTree>
    <p:extLst>
      <p:ext uri="{BB962C8B-B14F-4D97-AF65-F5344CB8AC3E}">
        <p14:creationId xmlns:p14="http://schemas.microsoft.com/office/powerpoint/2010/main" val="28493603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Summary (1/2)</a:t>
            </a:r>
            <a:endParaRPr lang="zh-TW" altLang="en-US" dirty="0"/>
          </a:p>
        </p:txBody>
      </p:sp>
      <p:sp>
        <p:nvSpPr>
          <p:cNvPr id="3" name="內容版面配置區 2"/>
          <p:cNvSpPr>
            <a:spLocks noGrp="1"/>
          </p:cNvSpPr>
          <p:nvPr>
            <p:ph idx="1"/>
          </p:nvPr>
        </p:nvSpPr>
        <p:spPr/>
        <p:txBody>
          <a:bodyPr>
            <a:noAutofit/>
          </a:bodyPr>
          <a:lstStyle/>
          <a:p>
            <a:pPr marL="0" indent="457200">
              <a:lnSpc>
                <a:spcPct val="150000"/>
              </a:lnSpc>
              <a:buNone/>
            </a:pPr>
            <a:r>
              <a:rPr lang="en-US" altLang="zh-TW" sz="2000" dirty="0" smtClean="0"/>
              <a:t>Peptide-protein interactions are very prevalent, mediating key processes such as signal transduction and protein trafficking. How can peptides overcome the entropic cost involved in switching from an unstructured, flexible peptide to a rigid, well-defined bound structure? A structure-based analysis of peptide-protein interactions unravels that most peptides do not induce conformational changes on their partner upon binding, thus minimizing the entropic cost of binding. Furthermore, peptides display interfaces that are better packed than protein-protein interfaces and contain significantly more hydrogen bonds, mainly those involving the peptide backbone.</a:t>
            </a:r>
            <a:endParaRPr lang="zh-TW" altLang="en-US" sz="2000" dirty="0"/>
          </a:p>
        </p:txBody>
      </p:sp>
    </p:spTree>
    <p:extLst>
      <p:ext uri="{BB962C8B-B14F-4D97-AF65-F5344CB8AC3E}">
        <p14:creationId xmlns:p14="http://schemas.microsoft.com/office/powerpoint/2010/main" val="34042735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Summary (2/2)</a:t>
            </a:r>
            <a:endParaRPr lang="zh-TW" altLang="en-US" dirty="0"/>
          </a:p>
        </p:txBody>
      </p:sp>
      <p:sp>
        <p:nvSpPr>
          <p:cNvPr id="3" name="內容版面配置區 2"/>
          <p:cNvSpPr>
            <a:spLocks noGrp="1"/>
          </p:cNvSpPr>
          <p:nvPr>
            <p:ph idx="1"/>
          </p:nvPr>
        </p:nvSpPr>
        <p:spPr/>
        <p:txBody>
          <a:bodyPr>
            <a:normAutofit/>
          </a:bodyPr>
          <a:lstStyle/>
          <a:p>
            <a:pPr marL="0" indent="0">
              <a:lnSpc>
                <a:spcPct val="150000"/>
              </a:lnSpc>
              <a:buNone/>
            </a:pPr>
            <a:r>
              <a:rPr lang="en-US" altLang="zh-TW" sz="2000" dirty="0" smtClean="0"/>
              <a:t>Additionally, "hot spot" residues contribute most of the binding energy. Finally, peptides tend to bind in the largest pockets available on the protein surface. Our study is based on </a:t>
            </a:r>
            <a:r>
              <a:rPr lang="en-US" altLang="zh-TW" sz="2000" dirty="0" err="1" smtClean="0"/>
              <a:t>peptiDB</a:t>
            </a:r>
            <a:r>
              <a:rPr lang="en-US" altLang="zh-TW" sz="2000" dirty="0" smtClean="0"/>
              <a:t>, a new and comprehensive data set of 103 high-resolution peptide-protein complex structures. In addition to improved understanding of peptide-protein interactions, our findings have direct implications for the structural modeling, design, and manipulation of these interactions.</a:t>
            </a:r>
            <a:endParaRPr lang="zh-TW" altLang="en-US" sz="2000" dirty="0"/>
          </a:p>
        </p:txBody>
      </p:sp>
    </p:spTree>
    <p:extLst>
      <p:ext uri="{BB962C8B-B14F-4D97-AF65-F5344CB8AC3E}">
        <p14:creationId xmlns:p14="http://schemas.microsoft.com/office/powerpoint/2010/main" val="13254007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0"/>
          <p:cNvSpPr>
            <a:spLocks noGrp="1"/>
          </p:cNvSpPr>
          <p:nvPr>
            <p:ph type="title"/>
          </p:nvPr>
        </p:nvSpPr>
        <p:spPr/>
        <p:txBody>
          <a:bodyPr/>
          <a:lstStyle/>
          <a:p>
            <a:r>
              <a:rPr lang="en-US" altLang="zh-TW" smtClean="0"/>
              <a:t>Introduction</a:t>
            </a:r>
            <a:endParaRPr lang="zh-TW" altLang="en-US" dirty="0"/>
          </a:p>
        </p:txBody>
      </p:sp>
      <p:sp>
        <p:nvSpPr>
          <p:cNvPr id="5" name="內容版面配置區 4"/>
          <p:cNvSpPr>
            <a:spLocks noGrp="1"/>
          </p:cNvSpPr>
          <p:nvPr>
            <p:ph idx="1"/>
          </p:nvPr>
        </p:nvSpPr>
        <p:spPr/>
        <p:txBody>
          <a:bodyPr>
            <a:normAutofit/>
          </a:bodyPr>
          <a:lstStyle/>
          <a:p>
            <a:pPr marL="0" indent="0">
              <a:lnSpc>
                <a:spcPct val="150000"/>
              </a:lnSpc>
              <a:buNone/>
            </a:pPr>
            <a:r>
              <a:rPr lang="en-US" altLang="zh-TW" sz="2000" dirty="0" smtClean="0"/>
              <a:t>Peptide-protein interactions have been acknowledged as important mediators of protein-protein interactions.</a:t>
            </a:r>
          </a:p>
          <a:p>
            <a:pPr>
              <a:lnSpc>
                <a:spcPct val="150000"/>
              </a:lnSpc>
            </a:pPr>
            <a:endParaRPr lang="en-US" altLang="zh-TW" sz="2000" dirty="0" smtClean="0"/>
          </a:p>
          <a:p>
            <a:pPr>
              <a:lnSpc>
                <a:spcPct val="150000"/>
              </a:lnSpc>
            </a:pPr>
            <a:r>
              <a:rPr lang="en-US" altLang="zh-TW" sz="2000" dirty="0" smtClean="0"/>
              <a:t>What are the strategies that peptides use for binding?</a:t>
            </a:r>
          </a:p>
          <a:p>
            <a:pPr>
              <a:lnSpc>
                <a:spcPct val="150000"/>
              </a:lnSpc>
            </a:pPr>
            <a:r>
              <a:rPr lang="en-US" altLang="zh-TW" sz="2000" dirty="0" smtClean="0"/>
              <a:t>How do they compensate for the </a:t>
            </a:r>
            <a:r>
              <a:rPr lang="en-US" altLang="zh-TW" sz="2000" dirty="0" err="1" smtClean="0"/>
              <a:t>configurational</a:t>
            </a:r>
            <a:r>
              <a:rPr lang="en-US" altLang="zh-TW" sz="2000" dirty="0" smtClean="0"/>
              <a:t> entropy lost upon binding?</a:t>
            </a:r>
          </a:p>
          <a:p>
            <a:pPr marL="0" indent="0">
              <a:lnSpc>
                <a:spcPct val="150000"/>
              </a:lnSpc>
              <a:buNone/>
            </a:pPr>
            <a:r>
              <a:rPr lang="en-US" altLang="zh-TW" sz="2000" dirty="0" smtClean="0"/>
              <a:t>To address these questions, there is a need for a comprehensive structural data set of peptide-protein interactions.</a:t>
            </a:r>
            <a:endParaRPr lang="zh-TW" altLang="en-US" sz="2000" dirty="0" smtClean="0"/>
          </a:p>
          <a:p>
            <a:pPr>
              <a:lnSpc>
                <a:spcPct val="150000"/>
              </a:lnSpc>
            </a:pPr>
            <a:endParaRPr lang="zh-TW" altLang="en-US" sz="2000" dirty="0"/>
          </a:p>
        </p:txBody>
      </p:sp>
    </p:spTree>
    <p:extLst>
      <p:ext uri="{BB962C8B-B14F-4D97-AF65-F5344CB8AC3E}">
        <p14:creationId xmlns:p14="http://schemas.microsoft.com/office/powerpoint/2010/main" val="2334353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peptiDB</a:t>
            </a:r>
            <a:r>
              <a:rPr lang="en-US" altLang="zh-TW" dirty="0" smtClean="0"/>
              <a:t> (</a:t>
            </a:r>
            <a:r>
              <a:rPr lang="en-US" altLang="zh-TW" dirty="0" smtClean="0"/>
              <a:t>1/3)</a:t>
            </a:r>
            <a:endParaRPr lang="zh-TW" altLang="en-US" dirty="0"/>
          </a:p>
        </p:txBody>
      </p:sp>
      <p:sp>
        <p:nvSpPr>
          <p:cNvPr id="5" name="內容版面配置區 4"/>
          <p:cNvSpPr>
            <a:spLocks noGrp="1"/>
          </p:cNvSpPr>
          <p:nvPr>
            <p:ph idx="1"/>
          </p:nvPr>
        </p:nvSpPr>
        <p:spPr/>
        <p:txBody>
          <a:bodyPr>
            <a:normAutofit/>
          </a:bodyPr>
          <a:lstStyle/>
          <a:p>
            <a:pPr marL="0" indent="0">
              <a:lnSpc>
                <a:spcPct val="150000"/>
              </a:lnSpc>
              <a:buNone/>
            </a:pPr>
            <a:r>
              <a:rPr lang="en-US" altLang="zh-TW" sz="2000" dirty="0" smtClean="0"/>
              <a:t>The PDB (version of 08.08.2008) (Berman et al., 2000) was queried:</a:t>
            </a:r>
          </a:p>
          <a:p>
            <a:pPr marL="457200" indent="-457200">
              <a:lnSpc>
                <a:spcPct val="150000"/>
              </a:lnSpc>
              <a:buFont typeface="+mj-lt"/>
              <a:buAutoNum type="arabicParenR"/>
            </a:pPr>
            <a:r>
              <a:rPr lang="en-US" altLang="zh-TW" sz="2000" dirty="0" smtClean="0"/>
              <a:t>the structure contains more than one chain,</a:t>
            </a:r>
          </a:p>
          <a:p>
            <a:pPr marL="457200" indent="-457200">
              <a:lnSpc>
                <a:spcPct val="150000"/>
              </a:lnSpc>
              <a:buFont typeface="+mj-lt"/>
              <a:buAutoNum type="arabicParenR"/>
            </a:pPr>
            <a:r>
              <a:rPr lang="en-US" altLang="zh-TW" sz="2000" dirty="0" smtClean="0"/>
              <a:t>one of the chains is between 5 and 15 amino acids long,</a:t>
            </a:r>
          </a:p>
          <a:p>
            <a:pPr marL="457200" indent="-457200">
              <a:lnSpc>
                <a:spcPct val="150000"/>
              </a:lnSpc>
              <a:buFont typeface="+mj-lt"/>
              <a:buAutoNum type="arabicParenR"/>
            </a:pPr>
            <a:r>
              <a:rPr lang="en-US" altLang="zh-TW" sz="2000" dirty="0" smtClean="0"/>
              <a:t>the structure does not contain DNA or RNA, and</a:t>
            </a:r>
          </a:p>
          <a:p>
            <a:pPr marL="457200" indent="-457200">
              <a:lnSpc>
                <a:spcPct val="150000"/>
              </a:lnSpc>
              <a:buFont typeface="+mj-lt"/>
              <a:buAutoNum type="arabicParenR"/>
            </a:pPr>
            <a:r>
              <a:rPr lang="en-US" altLang="zh-TW" sz="2000" dirty="0" smtClean="0"/>
              <a:t>it is a crystal structure with resolution ≤ 2.0 Å.</a:t>
            </a:r>
          </a:p>
          <a:p>
            <a:pPr marL="0" indent="0">
              <a:lnSpc>
                <a:spcPct val="150000"/>
              </a:lnSpc>
              <a:buNone/>
            </a:pPr>
            <a:r>
              <a:rPr lang="en-US" altLang="zh-TW" sz="2000" dirty="0" smtClean="0"/>
              <a:t>This query extracted 866 putative</a:t>
            </a:r>
            <a:r>
              <a:rPr lang="zh-TW" altLang="en-US" sz="1800" dirty="0" smtClean="0"/>
              <a:t>被公認</a:t>
            </a:r>
            <a:r>
              <a:rPr lang="en-US" altLang="zh-TW" sz="2000" dirty="0" smtClean="0"/>
              <a:t> complexes. These were </a:t>
            </a:r>
            <a:r>
              <a:rPr lang="en-US" altLang="zh-TW" sz="2000" dirty="0"/>
              <a:t>filtered for complexes that do not include any </a:t>
            </a:r>
            <a:r>
              <a:rPr lang="en-US" altLang="zh-TW" sz="2000" dirty="0">
                <a:hlinkClick r:id="rId2"/>
              </a:rPr>
              <a:t>heteroatom</a:t>
            </a:r>
            <a:r>
              <a:rPr lang="en-US" altLang="zh-TW" sz="2000" dirty="0"/>
              <a:t> at the </a:t>
            </a:r>
            <a:r>
              <a:rPr lang="en-US" altLang="zh-TW" sz="2000" dirty="0" smtClean="0"/>
              <a:t>interface, </a:t>
            </a:r>
            <a:r>
              <a:rPr lang="en-US" altLang="zh-TW" sz="2000" dirty="0"/>
              <a:t>and are not </a:t>
            </a:r>
            <a:r>
              <a:rPr lang="en-US" altLang="zh-TW" sz="2000" dirty="0" smtClean="0">
                <a:hlinkClick r:id="rId3"/>
              </a:rPr>
              <a:t>covalently</a:t>
            </a:r>
            <a:r>
              <a:rPr lang="zh-TW" altLang="en-US" sz="1800" dirty="0" smtClean="0"/>
              <a:t>共價</a:t>
            </a:r>
            <a:r>
              <a:rPr lang="en-US" altLang="zh-TW" sz="2000" dirty="0" smtClean="0"/>
              <a:t> linked</a:t>
            </a:r>
            <a:r>
              <a:rPr lang="en-US" altLang="zh-TW" sz="2000" dirty="0"/>
              <a:t>, reducing the size to 387 complexes.</a:t>
            </a:r>
            <a:endParaRPr lang="zh-TW" altLang="en-US" sz="2000" dirty="0"/>
          </a:p>
        </p:txBody>
      </p:sp>
    </p:spTree>
    <p:extLst>
      <p:ext uri="{BB962C8B-B14F-4D97-AF65-F5344CB8AC3E}">
        <p14:creationId xmlns:p14="http://schemas.microsoft.com/office/powerpoint/2010/main" val="2887287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peptiDB</a:t>
            </a:r>
            <a:r>
              <a:rPr lang="en-US" altLang="zh-TW" dirty="0" smtClean="0"/>
              <a:t> (2/3)</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000" dirty="0" smtClean="0"/>
              <a:t>We clustered these complexes according to sequence similarity of the protein-binding partner, and created a set of </a:t>
            </a:r>
            <a:r>
              <a:rPr lang="en-US" altLang="zh-TW" sz="2000" dirty="0" err="1" smtClean="0"/>
              <a:t>nonredundant</a:t>
            </a:r>
            <a:r>
              <a:rPr lang="en-US" altLang="zh-TW" sz="2000" dirty="0" smtClean="0"/>
              <a:t> protein-peptide complexes with pairwise sequence identity below 70%.</a:t>
            </a:r>
          </a:p>
          <a:p>
            <a:pPr>
              <a:lnSpc>
                <a:spcPct val="150000"/>
              </a:lnSpc>
            </a:pPr>
            <a:r>
              <a:rPr lang="en-US" altLang="zh-TW" sz="2000" dirty="0" smtClean="0"/>
              <a:t>From each cluster, the structure presenting the best resolution was chosen.</a:t>
            </a:r>
          </a:p>
          <a:p>
            <a:pPr>
              <a:lnSpc>
                <a:spcPct val="150000"/>
              </a:lnSpc>
            </a:pPr>
            <a:endParaRPr lang="en-US" altLang="zh-TW" sz="2000" dirty="0"/>
          </a:p>
          <a:p>
            <a:pPr>
              <a:lnSpc>
                <a:spcPct val="150000"/>
              </a:lnSpc>
            </a:pPr>
            <a:r>
              <a:rPr lang="en-US" altLang="zh-TW" sz="2000" dirty="0"/>
              <a:t>In the few cases where these structures contain </a:t>
            </a:r>
            <a:r>
              <a:rPr lang="en-US" altLang="zh-TW" sz="2000" dirty="0" smtClean="0"/>
              <a:t>clashes</a:t>
            </a:r>
            <a:r>
              <a:rPr lang="zh-TW" altLang="en-US" sz="1800" dirty="0" smtClean="0"/>
              <a:t>衝突</a:t>
            </a:r>
            <a:r>
              <a:rPr lang="en-US" altLang="zh-TW" sz="2000" dirty="0" smtClean="0"/>
              <a:t> </a:t>
            </a:r>
            <a:r>
              <a:rPr lang="en-US" altLang="zh-TW" sz="2000" dirty="0"/>
              <a:t>at the peptide-protein interface, they were replaced by another representative from the same cluster.</a:t>
            </a:r>
            <a:endParaRPr lang="zh-TW" altLang="en-US" sz="2000" dirty="0"/>
          </a:p>
        </p:txBody>
      </p:sp>
    </p:spTree>
    <p:extLst>
      <p:ext uri="{BB962C8B-B14F-4D97-AF65-F5344CB8AC3E}">
        <p14:creationId xmlns:p14="http://schemas.microsoft.com/office/powerpoint/2010/main" val="3846954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peptiDB (3/3)</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000" dirty="0" smtClean="0"/>
              <a:t>103 high-resolution peptide-protein complexes.</a:t>
            </a:r>
          </a:p>
          <a:p>
            <a:pPr>
              <a:lnSpc>
                <a:spcPct val="150000"/>
              </a:lnSpc>
            </a:pPr>
            <a:r>
              <a:rPr lang="en-US" altLang="zh-TW" sz="2000" dirty="0"/>
              <a:t>The peptide-protein interactions included are </a:t>
            </a:r>
            <a:r>
              <a:rPr lang="en-US" altLang="zh-TW" sz="2000" dirty="0" smtClean="0"/>
              <a:t/>
            </a:r>
            <a:br>
              <a:rPr lang="en-US" altLang="zh-TW" sz="2000" dirty="0" smtClean="0"/>
            </a:br>
            <a:r>
              <a:rPr lang="en-US" altLang="zh-TW" sz="2000" dirty="0" smtClean="0"/>
              <a:t>involved </a:t>
            </a:r>
            <a:r>
              <a:rPr lang="en-US" altLang="zh-TW" sz="2000" dirty="0"/>
              <a:t>in various cellular activities, such as</a:t>
            </a:r>
          </a:p>
          <a:p>
            <a:pPr lvl="1">
              <a:lnSpc>
                <a:spcPct val="150000"/>
              </a:lnSpc>
            </a:pPr>
            <a:r>
              <a:rPr lang="en-US" altLang="zh-TW" sz="1600" dirty="0"/>
              <a:t>signal transduction,</a:t>
            </a:r>
          </a:p>
          <a:p>
            <a:pPr lvl="1">
              <a:lnSpc>
                <a:spcPct val="150000"/>
              </a:lnSpc>
            </a:pPr>
            <a:r>
              <a:rPr lang="en-US" altLang="zh-TW" sz="1600" dirty="0"/>
              <a:t>protein trafficking and transport,</a:t>
            </a:r>
          </a:p>
          <a:p>
            <a:pPr lvl="1">
              <a:lnSpc>
                <a:spcPct val="150000"/>
              </a:lnSpc>
            </a:pPr>
            <a:r>
              <a:rPr lang="en-US" altLang="zh-TW" sz="1600" dirty="0"/>
              <a:t>antigen binding,</a:t>
            </a:r>
          </a:p>
          <a:p>
            <a:pPr lvl="1">
              <a:lnSpc>
                <a:spcPct val="150000"/>
              </a:lnSpc>
            </a:pPr>
            <a:r>
              <a:rPr lang="en-US" altLang="zh-TW" sz="1600" dirty="0"/>
              <a:t>enzyme substrates/inhibition, and</a:t>
            </a:r>
          </a:p>
          <a:p>
            <a:pPr lvl="1">
              <a:lnSpc>
                <a:spcPct val="150000"/>
              </a:lnSpc>
            </a:pPr>
            <a:r>
              <a:rPr lang="en-US" altLang="zh-TW" sz="1600" dirty="0" smtClean="0"/>
              <a:t>Others.</a:t>
            </a:r>
            <a:endParaRPr lang="zh-TW" altLang="en-US" sz="2000" dirty="0"/>
          </a:p>
        </p:txBody>
      </p:sp>
    </p:spTree>
    <p:extLst>
      <p:ext uri="{BB962C8B-B14F-4D97-AF65-F5344CB8AC3E}">
        <p14:creationId xmlns:p14="http://schemas.microsoft.com/office/powerpoint/2010/main" val="23723017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648" y="1195098"/>
            <a:ext cx="8606705" cy="2809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字方塊 1"/>
          <p:cNvSpPr txBox="1"/>
          <p:nvPr/>
        </p:nvSpPr>
        <p:spPr>
          <a:xfrm>
            <a:off x="2099432" y="4604935"/>
            <a:ext cx="4945136" cy="1200329"/>
          </a:xfrm>
          <a:prstGeom prst="rect">
            <a:avLst/>
          </a:prstGeom>
          <a:noFill/>
        </p:spPr>
        <p:txBody>
          <a:bodyPr wrap="none" rtlCol="0">
            <a:spAutoFit/>
          </a:bodyPr>
          <a:lstStyle/>
          <a:p>
            <a:r>
              <a:rPr lang="en-US" altLang="zh-TW" dirty="0"/>
              <a:t>The distribution of different features is shown.</a:t>
            </a:r>
          </a:p>
          <a:p>
            <a:r>
              <a:rPr lang="en-US" altLang="zh-TW" dirty="0"/>
              <a:t>(A) Peptide sizes in the data set.</a:t>
            </a:r>
          </a:p>
          <a:p>
            <a:r>
              <a:rPr lang="en-US" altLang="zh-TW" dirty="0"/>
              <a:t>(B) Peptide secondary structure.</a:t>
            </a:r>
          </a:p>
          <a:p>
            <a:r>
              <a:rPr lang="en-US" altLang="zh-TW" dirty="0"/>
              <a:t>(C) Conformational changes of the binding protein.</a:t>
            </a:r>
            <a:endParaRPr lang="zh-TW" altLang="en-US" dirty="0"/>
          </a:p>
        </p:txBody>
      </p:sp>
    </p:spTree>
    <p:extLst>
      <p:ext uri="{BB962C8B-B14F-4D97-AF65-F5344CB8AC3E}">
        <p14:creationId xmlns:p14="http://schemas.microsoft.com/office/powerpoint/2010/main" val="598115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000" dirty="0"/>
              <a:t>Characterization of Peptide-Protein Binding versus Protein-Protein Binding</a:t>
            </a:r>
          </a:p>
          <a:p>
            <a:pPr>
              <a:lnSpc>
                <a:spcPct val="150000"/>
              </a:lnSpc>
            </a:pPr>
            <a:r>
              <a:rPr lang="en-US" altLang="zh-TW" sz="2000" dirty="0"/>
              <a:t>Peptides Use More Hydrogen Bonds Than Proteins in Binding to Their Protein Partner, and Many of the Hydrogen Bonds Involve the Peptide Backbone</a:t>
            </a:r>
          </a:p>
          <a:p>
            <a:pPr>
              <a:lnSpc>
                <a:spcPct val="150000"/>
              </a:lnSpc>
            </a:pPr>
            <a:r>
              <a:rPr lang="en-US" altLang="zh-TW" sz="2000" dirty="0"/>
              <a:t>Peptides Use Hot Spots to Bind to Proteins</a:t>
            </a:r>
          </a:p>
          <a:p>
            <a:pPr>
              <a:lnSpc>
                <a:spcPct val="150000"/>
              </a:lnSpc>
            </a:pPr>
            <a:r>
              <a:rPr lang="en-US" altLang="zh-TW" sz="2000" dirty="0"/>
              <a:t>Amino Acid Propensities of Peptide Residues and of Peptide Hot Spot Residues</a:t>
            </a:r>
          </a:p>
          <a:p>
            <a:pPr>
              <a:lnSpc>
                <a:spcPct val="150000"/>
              </a:lnSpc>
            </a:pPr>
            <a:r>
              <a:rPr lang="en-US" altLang="zh-TW" sz="2000" dirty="0"/>
              <a:t>Peptides Adapt Themselves to the Unbound Structure of the Protein</a:t>
            </a:r>
          </a:p>
          <a:p>
            <a:pPr>
              <a:lnSpc>
                <a:spcPct val="150000"/>
              </a:lnSpc>
            </a:pPr>
            <a:r>
              <a:rPr lang="en-US" altLang="zh-TW" sz="2000" dirty="0"/>
              <a:t>Peptides Tend to Bind in the Largest Pocket on the Protein Surface</a:t>
            </a:r>
            <a:endParaRPr lang="zh-TW" altLang="en-US" sz="2000" dirty="0"/>
          </a:p>
        </p:txBody>
      </p:sp>
    </p:spTree>
    <p:extLst>
      <p:ext uri="{BB962C8B-B14F-4D97-AF65-F5344CB8AC3E}">
        <p14:creationId xmlns:p14="http://schemas.microsoft.com/office/powerpoint/2010/main" val="9736641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smtClean="0"/>
              <a:t>Peptides Use More Hydrogen Bonds</a:t>
            </a:r>
            <a:br>
              <a:rPr lang="en-US" altLang="zh-TW" sz="3200" dirty="0" smtClean="0"/>
            </a:br>
            <a:r>
              <a:rPr lang="en-US" altLang="zh-TW" sz="3200" dirty="0" smtClean="0"/>
              <a:t>Than Proteins in Binding</a:t>
            </a:r>
            <a:endParaRPr lang="zh-TW" altLang="en-US" sz="3200" dirty="0"/>
          </a:p>
        </p:txBody>
      </p:sp>
      <p:sp>
        <p:nvSpPr>
          <p:cNvPr id="5" name="內容版面配置區 4"/>
          <p:cNvSpPr>
            <a:spLocks noGrp="1"/>
          </p:cNvSpPr>
          <p:nvPr>
            <p:ph idx="1"/>
          </p:nvPr>
        </p:nvSpPr>
        <p:spPr/>
        <p:txBody>
          <a:bodyPr/>
          <a:lstStyle/>
          <a:p>
            <a:endParaRPr lang="zh-TW" altLang="en-US"/>
          </a:p>
        </p:txBody>
      </p:sp>
    </p:spTree>
    <p:extLst>
      <p:ext uri="{BB962C8B-B14F-4D97-AF65-F5344CB8AC3E}">
        <p14:creationId xmlns:p14="http://schemas.microsoft.com/office/powerpoint/2010/main" val="1252161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smtClean="0"/>
              <a:t>Peptides Use Hot Spots to Bind to Proteins</a:t>
            </a:r>
            <a:endParaRPr lang="zh-TW" altLang="en-US" sz="3200" dirty="0"/>
          </a:p>
        </p:txBody>
      </p:sp>
      <p:sp>
        <p:nvSpPr>
          <p:cNvPr id="5" name="內容版面配置區 4"/>
          <p:cNvSpPr>
            <a:spLocks noGrp="1"/>
          </p:cNvSpPr>
          <p:nvPr>
            <p:ph idx="1"/>
          </p:nvPr>
        </p:nvSpPr>
        <p:spPr/>
        <p:txBody>
          <a:bodyPr>
            <a:normAutofit/>
          </a:bodyPr>
          <a:lstStyle/>
          <a:p>
            <a:pPr>
              <a:lnSpc>
                <a:spcPct val="150000"/>
              </a:lnSpc>
            </a:pPr>
            <a:r>
              <a:rPr lang="en-US" altLang="zh-TW" sz="2000" dirty="0" smtClean="0"/>
              <a:t>It is well established that in protein-protein interfaces the critical contribution to binding energy is due to a small number of residues, which have been termed hot spot residues (</a:t>
            </a:r>
            <a:r>
              <a:rPr lang="en-US" altLang="zh-TW" sz="2000" dirty="0" err="1" smtClean="0"/>
              <a:t>Clackson</a:t>
            </a:r>
            <a:r>
              <a:rPr lang="en-US" altLang="zh-TW" sz="2000" dirty="0" smtClean="0"/>
              <a:t> and Wells, 1995; </a:t>
            </a:r>
            <a:r>
              <a:rPr lang="en-US" altLang="zh-TW" sz="2000" dirty="0" err="1" smtClean="0"/>
              <a:t>Dall’Acqua</a:t>
            </a:r>
            <a:r>
              <a:rPr lang="en-US" altLang="zh-TW" sz="2000" dirty="0" smtClean="0"/>
              <a:t> et al., 1996).</a:t>
            </a:r>
          </a:p>
          <a:p>
            <a:pPr>
              <a:lnSpc>
                <a:spcPct val="150000"/>
              </a:lnSpc>
            </a:pPr>
            <a:r>
              <a:rPr lang="en-US" altLang="zh-TW" sz="2000" dirty="0"/>
              <a:t>W</a:t>
            </a:r>
            <a:r>
              <a:rPr lang="en-US" altLang="zh-TW" sz="2000" dirty="0" smtClean="0"/>
              <a:t>hether hot spots are also observed in peptide-protein interactions.</a:t>
            </a:r>
            <a:endParaRPr lang="en-US" altLang="zh-TW" sz="2000" dirty="0" smtClean="0"/>
          </a:p>
          <a:p>
            <a:pPr>
              <a:lnSpc>
                <a:spcPct val="150000"/>
              </a:lnSpc>
            </a:pPr>
            <a:endParaRPr lang="en-US" altLang="zh-TW" sz="2000" dirty="0" smtClean="0"/>
          </a:p>
          <a:p>
            <a:pPr>
              <a:lnSpc>
                <a:spcPct val="150000"/>
              </a:lnSpc>
            </a:pPr>
            <a:r>
              <a:rPr lang="en-US" altLang="zh-TW" sz="2000" dirty="0" smtClean="0"/>
              <a:t>For that purpose we used computational alanine</a:t>
            </a:r>
            <a:r>
              <a:rPr lang="zh-TW" altLang="en-US" sz="2000" dirty="0" smtClean="0"/>
              <a:t>丙氨酸 </a:t>
            </a:r>
            <a:r>
              <a:rPr lang="en-US" altLang="zh-TW" sz="2000" dirty="0" smtClean="0"/>
              <a:t>scanning (see Experimental Procedures) to mutate</a:t>
            </a:r>
            <a:r>
              <a:rPr lang="zh-TW" altLang="en-US" sz="2000" dirty="0" smtClean="0"/>
              <a:t>變異 </a:t>
            </a:r>
            <a:r>
              <a:rPr lang="en-US" altLang="zh-TW" sz="2000" dirty="0" smtClean="0"/>
              <a:t>in turn every peptide residue in each of the complexes to alanine.</a:t>
            </a:r>
            <a:endParaRPr lang="zh-TW" altLang="en-US" sz="2000" dirty="0"/>
          </a:p>
        </p:txBody>
      </p:sp>
    </p:spTree>
    <p:extLst>
      <p:ext uri="{BB962C8B-B14F-4D97-AF65-F5344CB8AC3E}">
        <p14:creationId xmlns:p14="http://schemas.microsoft.com/office/powerpoint/2010/main" val="4878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563" y="865188"/>
            <a:ext cx="8524875"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230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smtClean="0"/>
              <a:t>Peptides Adapt Themselves</a:t>
            </a:r>
            <a:br>
              <a:rPr lang="en-US" altLang="zh-TW" sz="3200" dirty="0" smtClean="0"/>
            </a:br>
            <a:r>
              <a:rPr lang="en-US" altLang="zh-TW" sz="3200" dirty="0" smtClean="0"/>
              <a:t>to the Unbound Structure of the Protein</a:t>
            </a:r>
            <a:endParaRPr lang="zh-TW" altLang="en-US" sz="3200" dirty="0"/>
          </a:p>
        </p:txBody>
      </p:sp>
      <p:sp>
        <p:nvSpPr>
          <p:cNvPr id="5" name="內容版面配置區 4"/>
          <p:cNvSpPr>
            <a:spLocks noGrp="1"/>
          </p:cNvSpPr>
          <p:nvPr>
            <p:ph idx="1"/>
          </p:nvPr>
        </p:nvSpPr>
        <p:spPr/>
        <p:txBody>
          <a:bodyPr/>
          <a:lstStyle/>
          <a:p>
            <a:endParaRPr lang="zh-TW" altLang="en-US"/>
          </a:p>
        </p:txBody>
      </p:sp>
    </p:spTree>
    <p:extLst>
      <p:ext uri="{BB962C8B-B14F-4D97-AF65-F5344CB8AC3E}">
        <p14:creationId xmlns:p14="http://schemas.microsoft.com/office/powerpoint/2010/main" val="38049148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smtClean="0"/>
              <a:t>Peptides Tend to Bind in the Largest Pocket</a:t>
            </a:r>
            <a:br>
              <a:rPr lang="en-US" altLang="zh-TW" sz="3200" dirty="0" smtClean="0"/>
            </a:br>
            <a:r>
              <a:rPr lang="en-US" altLang="zh-TW" sz="3200" dirty="0" smtClean="0"/>
              <a:t>on the Protein Surface (1/2)</a:t>
            </a:r>
            <a:endParaRPr lang="zh-TW" altLang="en-US" sz="3200" dirty="0"/>
          </a:p>
        </p:txBody>
      </p:sp>
      <p:sp>
        <p:nvSpPr>
          <p:cNvPr id="7" name="內容版面配置區 6"/>
          <p:cNvSpPr>
            <a:spLocks noGrp="1"/>
          </p:cNvSpPr>
          <p:nvPr>
            <p:ph idx="1"/>
          </p:nvPr>
        </p:nvSpPr>
        <p:spPr/>
        <p:txBody>
          <a:bodyPr>
            <a:normAutofit/>
          </a:bodyPr>
          <a:lstStyle/>
          <a:p>
            <a:pPr marL="0" indent="0">
              <a:lnSpc>
                <a:spcPct val="150000"/>
              </a:lnSpc>
              <a:buNone/>
            </a:pPr>
            <a:r>
              <a:rPr lang="en-US" altLang="zh-TW" sz="2000" dirty="0" smtClean="0"/>
              <a:t>Use the </a:t>
            </a:r>
            <a:r>
              <a:rPr lang="en-US" altLang="zh-TW" sz="2000" dirty="0" err="1" smtClean="0">
                <a:hlinkClick r:id="rId2"/>
              </a:rPr>
              <a:t>CASTp</a:t>
            </a:r>
            <a:r>
              <a:rPr lang="en-US" altLang="zh-TW" sz="2000" dirty="0" smtClean="0">
                <a:hlinkClick r:id="rId2"/>
              </a:rPr>
              <a:t> server</a:t>
            </a:r>
            <a:r>
              <a:rPr lang="en-US" altLang="zh-TW" sz="2000" dirty="0" smtClean="0"/>
              <a:t> (</a:t>
            </a:r>
            <a:r>
              <a:rPr lang="en-US" altLang="zh-TW" sz="2000" dirty="0" err="1" smtClean="0"/>
              <a:t>Dundas</a:t>
            </a:r>
            <a:r>
              <a:rPr lang="en-US" altLang="zh-TW" sz="2000" dirty="0" smtClean="0"/>
              <a:t> et al., 2006) to define pockets on the protein structure.</a:t>
            </a:r>
          </a:p>
          <a:p>
            <a:pPr marL="0" indent="0">
              <a:lnSpc>
                <a:spcPct val="150000"/>
              </a:lnSpc>
              <a:buNone/>
            </a:pPr>
            <a:r>
              <a:rPr lang="en-US" altLang="zh-TW" sz="2000" dirty="0" smtClean="0"/>
              <a:t>Two main binding strategies regarding the utilization of pockets:</a:t>
            </a:r>
          </a:p>
          <a:p>
            <a:pPr>
              <a:lnSpc>
                <a:spcPct val="150000"/>
              </a:lnSpc>
            </a:pPr>
            <a:r>
              <a:rPr lang="en-US" altLang="zh-TW" sz="2000" dirty="0" smtClean="0"/>
              <a:t>22 peptides (26%) bind to a very large pocket (pocket ASA &gt; 100 Å</a:t>
            </a:r>
            <a:r>
              <a:rPr lang="en-US" altLang="zh-TW" sz="2000" baseline="30000" dirty="0" smtClean="0"/>
              <a:t>2</a:t>
            </a:r>
            <a:r>
              <a:rPr lang="en-US" altLang="zh-TW" sz="2000" dirty="0" smtClean="0"/>
              <a:t>)</a:t>
            </a:r>
            <a:br>
              <a:rPr lang="en-US" altLang="zh-TW" sz="2000" dirty="0" smtClean="0"/>
            </a:br>
            <a:r>
              <a:rPr lang="en-US" altLang="zh-TW" sz="2000" dirty="0" smtClean="0"/>
              <a:t>in most cases to the largest pocket available on the protein surface (18/22)</a:t>
            </a:r>
          </a:p>
          <a:p>
            <a:pPr>
              <a:lnSpc>
                <a:spcPct val="150000"/>
              </a:lnSpc>
            </a:pPr>
            <a:r>
              <a:rPr lang="en-US" altLang="zh-TW" sz="2000" dirty="0" smtClean="0"/>
              <a:t>40 peptides (47%) bind to a small pocket (pocket ASA &lt; 100 Å</a:t>
            </a:r>
            <a:r>
              <a:rPr lang="en-US" altLang="zh-TW" sz="2000" baseline="30000" dirty="0" smtClean="0"/>
              <a:t>2</a:t>
            </a:r>
            <a:r>
              <a:rPr lang="en-US" altLang="zh-TW" sz="2000" dirty="0" smtClean="0"/>
              <a:t>)</a:t>
            </a:r>
            <a:br>
              <a:rPr lang="en-US" altLang="zh-TW" sz="2000" dirty="0" smtClean="0"/>
            </a:br>
            <a:r>
              <a:rPr lang="en-US" altLang="zh-TW" sz="2000" dirty="0" smtClean="0"/>
              <a:t>buried in a knob-hole fashion</a:t>
            </a:r>
            <a:br>
              <a:rPr lang="en-US" altLang="zh-TW" sz="2000" dirty="0" smtClean="0"/>
            </a:br>
            <a:r>
              <a:rPr lang="en-US" altLang="zh-TW" sz="2000" dirty="0" smtClean="0"/>
              <a:t>in general the largest pocket available on the protein (29/40).</a:t>
            </a:r>
            <a:endParaRPr lang="zh-TW" altLang="en-US" sz="2000" dirty="0"/>
          </a:p>
        </p:txBody>
      </p:sp>
      <p:pic>
        <p:nvPicPr>
          <p:cNvPr id="307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0258"/>
          <a:stretch/>
        </p:blipFill>
        <p:spPr bwMode="auto">
          <a:xfrm>
            <a:off x="7596335" y="4725144"/>
            <a:ext cx="1295363" cy="1391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03520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818" y="809030"/>
            <a:ext cx="8314365" cy="5239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16302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smtClean="0"/>
              <a:t>Peptides Tend to Bind in the Largest Pocket</a:t>
            </a:r>
            <a:br>
              <a:rPr lang="en-US" altLang="zh-TW" sz="3200" dirty="0" smtClean="0"/>
            </a:br>
            <a:r>
              <a:rPr lang="en-US" altLang="zh-TW" sz="3200" dirty="0" smtClean="0"/>
              <a:t>on the Protein Surface (2/2)</a:t>
            </a:r>
            <a:endParaRPr lang="zh-TW" altLang="en-US" sz="3200" dirty="0"/>
          </a:p>
        </p:txBody>
      </p:sp>
      <p:sp>
        <p:nvSpPr>
          <p:cNvPr id="41" name="內容版面配置區 40"/>
          <p:cNvSpPr>
            <a:spLocks noGrp="1"/>
          </p:cNvSpPr>
          <p:nvPr>
            <p:ph idx="1"/>
          </p:nvPr>
        </p:nvSpPr>
        <p:spPr/>
        <p:txBody>
          <a:bodyPr>
            <a:normAutofit/>
          </a:bodyPr>
          <a:lstStyle/>
          <a:p>
            <a:pPr>
              <a:lnSpc>
                <a:spcPct val="150000"/>
              </a:lnSpc>
            </a:pPr>
            <a:r>
              <a:rPr lang="en-US" altLang="zh-TW" sz="2000" dirty="0" smtClean="0"/>
              <a:t>Of the peptides that did not bind to any kind of pocket on the protein surface (detected by </a:t>
            </a:r>
            <a:r>
              <a:rPr lang="en-US" altLang="zh-TW" sz="2000" dirty="0" err="1" smtClean="0"/>
              <a:t>CASTp</a:t>
            </a:r>
            <a:r>
              <a:rPr lang="en-US" altLang="zh-TW" sz="2000" dirty="0" smtClean="0"/>
              <a:t>), nine are </a:t>
            </a:r>
            <a:r>
              <a:rPr lang="en-US" altLang="zh-TW" sz="2000" dirty="0" err="1" smtClean="0"/>
              <a:t>polyproline</a:t>
            </a:r>
            <a:r>
              <a:rPr lang="zh-TW" altLang="en-US" sz="2000" dirty="0" smtClean="0"/>
              <a:t>聚脯氨酸 </a:t>
            </a:r>
            <a:r>
              <a:rPr lang="en-US" altLang="zh-TW" sz="2000" dirty="0" smtClean="0"/>
              <a:t>peptides.</a:t>
            </a:r>
          </a:p>
          <a:p>
            <a:pPr>
              <a:lnSpc>
                <a:spcPct val="150000"/>
              </a:lnSpc>
            </a:pPr>
            <a:endParaRPr lang="en-US" altLang="zh-TW" sz="2000" dirty="0" smtClean="0"/>
          </a:p>
          <a:p>
            <a:pPr>
              <a:lnSpc>
                <a:spcPct val="150000"/>
              </a:lnSpc>
            </a:pPr>
            <a:r>
              <a:rPr lang="en-US" altLang="zh-TW" sz="2000" dirty="0" smtClean="0"/>
              <a:t>2 peptides were bound in a cavity (not accessible to solvent</a:t>
            </a:r>
            <a:r>
              <a:rPr lang="zh-TW" altLang="en-US" sz="2000" dirty="0" smtClean="0"/>
              <a:t>溶劑</a:t>
            </a:r>
            <a:r>
              <a:rPr lang="en-US" altLang="zh-TW" sz="2000" dirty="0" smtClean="0"/>
              <a:t>)</a:t>
            </a:r>
          </a:p>
          <a:p>
            <a:pPr>
              <a:lnSpc>
                <a:spcPct val="150000"/>
              </a:lnSpc>
            </a:pPr>
            <a:r>
              <a:rPr lang="en-US" altLang="zh-TW" sz="2000" dirty="0" smtClean="0"/>
              <a:t>2 more peptides seem to bind in a pocket undetected by </a:t>
            </a:r>
            <a:r>
              <a:rPr lang="en-US" altLang="zh-TW" sz="2000" dirty="0" err="1" smtClean="0"/>
              <a:t>CASTp</a:t>
            </a:r>
            <a:r>
              <a:rPr lang="en-US" altLang="zh-TW" sz="2000" dirty="0" smtClean="0"/>
              <a:t/>
            </a:r>
            <a:br>
              <a:rPr lang="en-US" altLang="zh-TW" sz="2000" dirty="0" smtClean="0"/>
            </a:br>
            <a:r>
              <a:rPr lang="en-US" altLang="zh-TW" sz="2000" dirty="0" smtClean="0"/>
              <a:t>(PDB IDs 1CZY and 1KL3).</a:t>
            </a:r>
            <a:endParaRPr lang="zh-TW" altLang="en-US" sz="2000" dirty="0"/>
          </a:p>
        </p:txBody>
      </p:sp>
    </p:spTree>
    <p:extLst>
      <p:ext uri="{BB962C8B-B14F-4D97-AF65-F5344CB8AC3E}">
        <p14:creationId xmlns:p14="http://schemas.microsoft.com/office/powerpoint/2010/main" val="7171034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Discussion</a:t>
            </a:r>
            <a:endParaRPr lang="zh-TW" altLang="en-US" dirty="0"/>
          </a:p>
        </p:txBody>
      </p:sp>
      <p:sp>
        <p:nvSpPr>
          <p:cNvPr id="3" name="內容版面配置區 2"/>
          <p:cNvSpPr>
            <a:spLocks noGrp="1"/>
          </p:cNvSpPr>
          <p:nvPr>
            <p:ph idx="1"/>
          </p:nvPr>
        </p:nvSpPr>
        <p:spPr/>
        <p:txBody>
          <a:bodyPr/>
          <a:lstStyle/>
          <a:p>
            <a:pPr>
              <a:lnSpc>
                <a:spcPct val="150000"/>
              </a:lnSpc>
            </a:pPr>
            <a:r>
              <a:rPr lang="en-US" altLang="zh-TW" dirty="0" smtClean="0"/>
              <a:t>Ways to Optimize Peptide Binding to Proteins</a:t>
            </a:r>
          </a:p>
          <a:p>
            <a:pPr>
              <a:lnSpc>
                <a:spcPct val="150000"/>
              </a:lnSpc>
            </a:pPr>
            <a:r>
              <a:rPr lang="en-US" altLang="zh-TW" dirty="0" smtClean="0"/>
              <a:t>Recognition of Binding Site on the Protein Monomer</a:t>
            </a:r>
          </a:p>
          <a:p>
            <a:pPr>
              <a:lnSpc>
                <a:spcPct val="150000"/>
              </a:lnSpc>
            </a:pPr>
            <a:r>
              <a:rPr lang="en-US" altLang="zh-TW" dirty="0" smtClean="0"/>
              <a:t>Implication for Computational Modeling</a:t>
            </a:r>
            <a:endParaRPr lang="zh-TW" altLang="en-US" dirty="0"/>
          </a:p>
        </p:txBody>
      </p:sp>
    </p:spTree>
    <p:extLst>
      <p:ext uri="{BB962C8B-B14F-4D97-AF65-F5344CB8AC3E}">
        <p14:creationId xmlns:p14="http://schemas.microsoft.com/office/powerpoint/2010/main" val="21357599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897</TotalTime>
  <Words>797</Words>
  <Application>Microsoft Office PowerPoint</Application>
  <PresentationFormat>如螢幕大小 (4:3)</PresentationFormat>
  <Paragraphs>68</Paragraphs>
  <Slides>17</Slides>
  <Notes>0</Notes>
  <HiddenSlides>2</HiddenSlides>
  <MMClips>0</MMClips>
  <ScaleCrop>false</ScaleCrop>
  <HeadingPairs>
    <vt:vector size="4" baseType="variant">
      <vt:variant>
        <vt:lpstr>佈景主題</vt:lpstr>
      </vt:variant>
      <vt:variant>
        <vt:i4>1</vt:i4>
      </vt:variant>
      <vt:variant>
        <vt:lpstr>投影片標題</vt:lpstr>
      </vt:variant>
      <vt:variant>
        <vt:i4>17</vt:i4>
      </vt:variant>
    </vt:vector>
  </HeadingPairs>
  <TitlesOfParts>
    <vt:vector size="18" baseType="lpstr">
      <vt:lpstr>Office 佈景主題</vt:lpstr>
      <vt:lpstr>The Structural Basis of Peptide-Protein Binding Strategies</vt:lpstr>
      <vt:lpstr>Summary (1/2)</vt:lpstr>
      <vt:lpstr>Summary (2/2)</vt:lpstr>
      <vt:lpstr>Introduction</vt:lpstr>
      <vt:lpstr>peptiDB (1/3)</vt:lpstr>
      <vt:lpstr>peptiDB (2/3)</vt:lpstr>
      <vt:lpstr>peptiDB (3/3)</vt:lpstr>
      <vt:lpstr>PowerPoint 簡報</vt:lpstr>
      <vt:lpstr>Result</vt:lpstr>
      <vt:lpstr>Peptides Use More Hydrogen Bonds Than Proteins in Binding</vt:lpstr>
      <vt:lpstr>Peptides Use Hot Spots to Bind to Proteins</vt:lpstr>
      <vt:lpstr>PowerPoint 簡報</vt:lpstr>
      <vt:lpstr>Peptides Adapt Themselves to the Unbound Structure of the Protein</vt:lpstr>
      <vt:lpstr>Peptides Tend to Bind in the Largest Pocket on the Protein Surface (1/2)</vt:lpstr>
      <vt:lpstr>PowerPoint 簡報</vt:lpstr>
      <vt:lpstr>Peptides Tend to Bind in the Largest Pocket on the Protein Surface (2/2)</vt:lpstr>
      <vt:lpstr>Discussion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Structural Basis of Peptide-Protein Binding Strategies</dc:title>
  <dc:creator>YiPo</dc:creator>
  <cp:lastModifiedBy>YiPo</cp:lastModifiedBy>
  <cp:revision>27</cp:revision>
  <dcterms:created xsi:type="dcterms:W3CDTF">2012-02-05T14:44:13Z</dcterms:created>
  <dcterms:modified xsi:type="dcterms:W3CDTF">2012-02-06T07:33:49Z</dcterms:modified>
</cp:coreProperties>
</file>