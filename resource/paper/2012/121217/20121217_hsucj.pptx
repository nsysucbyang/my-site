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65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7" r:id="rId12"/>
    <p:sldId id="266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86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2012/12/15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4000" b="1" dirty="0"/>
              <a:t>Time-Series Classification based on </a:t>
            </a:r>
            <a:r>
              <a:rPr lang="en-US" altLang="zh-TW" sz="4000" b="1" dirty="0" err="1"/>
              <a:t>Individualised</a:t>
            </a:r>
            <a:r>
              <a:rPr lang="en-US" altLang="zh-TW" sz="4000" b="1" dirty="0"/>
              <a:t> Error Prediction</a:t>
            </a:r>
            <a:endParaRPr lang="zh-TW" altLang="en-US" sz="4000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Krisztian</a:t>
            </a:r>
            <a:r>
              <a:rPr lang="en-US" altLang="zh-TW" sz="2800" dirty="0"/>
              <a:t> </a:t>
            </a:r>
            <a:r>
              <a:rPr lang="en-US" altLang="zh-TW" sz="2800" dirty="0" err="1"/>
              <a:t>Buza</a:t>
            </a:r>
            <a:r>
              <a:rPr lang="en-US" altLang="zh-TW" sz="2800" dirty="0"/>
              <a:t>, </a:t>
            </a:r>
            <a:r>
              <a:rPr lang="en-US" altLang="zh-TW" sz="2800" dirty="0" err="1"/>
              <a:t>Alexandros</a:t>
            </a:r>
            <a:r>
              <a:rPr lang="en-US" altLang="zh-TW" sz="2800" dirty="0"/>
              <a:t> </a:t>
            </a:r>
            <a:r>
              <a:rPr lang="en-US" altLang="zh-TW" sz="2800" dirty="0" err="1"/>
              <a:t>Nanopoulos</a:t>
            </a:r>
            <a:r>
              <a:rPr lang="en-US" altLang="zh-TW" sz="2800" dirty="0"/>
              <a:t>, Lars </a:t>
            </a:r>
            <a:r>
              <a:rPr lang="en-US" altLang="zh-TW" sz="2800" dirty="0" smtClean="0"/>
              <a:t>Schmidt-</a:t>
            </a:r>
            <a:r>
              <a:rPr lang="en-US" altLang="zh-TW" sz="2800" dirty="0" err="1" smtClean="0"/>
              <a:t>Thieme</a:t>
            </a:r>
            <a:endParaRPr lang="en-US" altLang="zh-TW" sz="2800" dirty="0" smtClean="0"/>
          </a:p>
          <a:p>
            <a:r>
              <a:rPr lang="en-US" altLang="zh-TW" sz="2800" dirty="0"/>
              <a:t>IEEE 13th International Conference </a:t>
            </a:r>
            <a:r>
              <a:rPr lang="en-US" altLang="zh-TW" sz="2800" dirty="0" smtClean="0"/>
              <a:t>on Computational </a:t>
            </a:r>
            <a:r>
              <a:rPr lang="en-US" altLang="zh-TW" sz="2800" dirty="0"/>
              <a:t>Science and Engineering (CSE), </a:t>
            </a:r>
            <a:r>
              <a:rPr lang="en-US" altLang="zh-TW" sz="2800" dirty="0" smtClean="0"/>
              <a:t>2010</a:t>
            </a: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Date: </a:t>
            </a:r>
            <a:fld id="{3DC95CE2-72FD-4627-B4FE-7CBC89963158}" type="datetime1">
              <a:rPr lang="zh-TW" altLang="en-US" sz="2800" smtClean="0">
                <a:solidFill>
                  <a:schemeClr val="tx1"/>
                </a:solidFill>
              </a:rPr>
              <a:t>2012/12/15</a:t>
            </a:fld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 (1/2)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540000" algn="just">
              <a:buNone/>
            </a:pPr>
            <a:r>
              <a:rPr lang="en-US" altLang="zh-TW" sz="2400" dirty="0"/>
              <a:t>Time-series classification is an active </a:t>
            </a:r>
            <a:r>
              <a:rPr lang="en-US" altLang="zh-TW" sz="2400" dirty="0" smtClean="0"/>
              <a:t>research topic </a:t>
            </a:r>
            <a:r>
              <a:rPr lang="en-US" altLang="zh-TW" sz="2400" dirty="0"/>
              <a:t>in machine learning, as it finds applications in </a:t>
            </a:r>
            <a:r>
              <a:rPr lang="en-US" altLang="zh-TW" sz="2400" dirty="0" smtClean="0"/>
              <a:t>numerous domains</a:t>
            </a:r>
            <a:r>
              <a:rPr lang="en-US" altLang="zh-TW" sz="2400" dirty="0"/>
              <a:t>. The k-NN classifier, based on the discrete </a:t>
            </a:r>
            <a:r>
              <a:rPr lang="en-US" altLang="zh-TW" sz="2400" dirty="0" smtClean="0"/>
              <a:t>time warping </a:t>
            </a:r>
            <a:r>
              <a:rPr lang="en-US" altLang="zh-TW" sz="2400" dirty="0"/>
              <a:t>(DTW) distance, had been shown to be </a:t>
            </a:r>
            <a:r>
              <a:rPr lang="en-US" altLang="zh-TW" sz="2400" dirty="0" smtClean="0"/>
              <a:t>competitive to </a:t>
            </a:r>
            <a:r>
              <a:rPr lang="en-US" altLang="zh-TW" sz="2400" dirty="0"/>
              <a:t>many state-of-the art time-series classification </a:t>
            </a:r>
            <a:r>
              <a:rPr lang="en-US" altLang="zh-TW" sz="2400" dirty="0" smtClean="0"/>
              <a:t>methods. Nevertheless</a:t>
            </a:r>
            <a:r>
              <a:rPr lang="en-US" altLang="zh-TW" sz="2400" dirty="0"/>
              <a:t>, due to the complexity of time-series data </a:t>
            </a:r>
            <a:r>
              <a:rPr lang="en-US" altLang="zh-TW" sz="2400" dirty="0" smtClean="0"/>
              <a:t>sets, our </a:t>
            </a:r>
            <a:r>
              <a:rPr lang="en-US" altLang="zh-TW" sz="2400" dirty="0"/>
              <a:t>investigation demonstrates that a single, global </a:t>
            </a:r>
            <a:r>
              <a:rPr lang="en-US" altLang="zh-TW" sz="2400" dirty="0" smtClean="0"/>
              <a:t>choice for </a:t>
            </a:r>
            <a:r>
              <a:rPr lang="en-US" altLang="zh-TW" sz="2400" dirty="0"/>
              <a:t>k </a:t>
            </a:r>
            <a:r>
              <a:rPr lang="en-US" altLang="zh-TW" sz="2400" dirty="0" smtClean="0"/>
              <a:t>(≥1</a:t>
            </a:r>
            <a:r>
              <a:rPr lang="en-US" altLang="zh-TW" sz="2400" dirty="0"/>
              <a:t>) can become suboptimal, because each </a:t>
            </a:r>
            <a:r>
              <a:rPr lang="en-US" altLang="zh-TW" sz="2400" dirty="0" smtClean="0"/>
              <a:t>individual region </a:t>
            </a:r>
            <a:r>
              <a:rPr lang="en-US" altLang="zh-TW" sz="2400" dirty="0"/>
              <a:t>of a data set may require a different k </a:t>
            </a:r>
            <a:r>
              <a:rPr lang="en-US" altLang="zh-TW" sz="2400" dirty="0" smtClean="0"/>
              <a:t>value. 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6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 </a:t>
            </a:r>
            <a:r>
              <a:rPr lang="en-US" altLang="zh-TW" b="1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540000" algn="just">
              <a:buNone/>
            </a:pPr>
            <a:r>
              <a:rPr lang="en-US" altLang="zh-TW" sz="2400" dirty="0"/>
              <a:t>In this paper, we proposed a novel individualized error prediction (IEP) mechanism that considers a range of k-NN classifiers (for different k values) and uses secondary regression models that predict the error of each such classifier. </a:t>
            </a:r>
            <a:r>
              <a:rPr lang="en-US" altLang="zh-TW" sz="2400" dirty="0" smtClean="0"/>
              <a:t>This </a:t>
            </a:r>
            <a:r>
              <a:rPr lang="en-US" altLang="zh-TW" sz="2400" dirty="0"/>
              <a:t>permits to perform k-NN time-series classification in a more fine grained fashion that adapts to the varying characteristics among different regions by avoiding the restriction of a single value of k. </a:t>
            </a:r>
            <a:r>
              <a:rPr lang="en-US" altLang="zh-TW" sz="2400" dirty="0"/>
              <a:t>Our experimental evaluation, using a large collection of real </a:t>
            </a:r>
            <a:r>
              <a:rPr lang="en-US" altLang="zh-TW" sz="2400" dirty="0" err="1"/>
              <a:t>timeseries</a:t>
            </a:r>
            <a:r>
              <a:rPr lang="en-US" altLang="zh-TW" sz="2400" dirty="0"/>
              <a:t> data, indicates that the proposed method is more robust and compares favorably against two examined baselines by resulting in significant reduction in the classification error</a:t>
            </a:r>
            <a:r>
              <a:rPr lang="en-US" altLang="zh-TW" sz="2400" dirty="0" smtClean="0"/>
              <a:t>.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43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k</a:t>
            </a:r>
            <a:r>
              <a:rPr lang="en-US" altLang="zh-TW" b="1" dirty="0" smtClean="0"/>
              <a:t>-NN time series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5" t="14597" r="33937" b="4900"/>
          <a:stretch/>
        </p:blipFill>
        <p:spPr bwMode="auto">
          <a:xfrm>
            <a:off x="1907704" y="1294747"/>
            <a:ext cx="5261035" cy="542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270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2" t="39076" r="5795" b="25305"/>
          <a:stretch/>
        </p:blipFill>
        <p:spPr bwMode="auto">
          <a:xfrm>
            <a:off x="539552" y="4221088"/>
            <a:ext cx="8188063" cy="256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IEP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/>
              <a:t>Primary models, which classify time series with the </a:t>
            </a:r>
            <a:r>
              <a:rPr lang="en-US" altLang="zh-TW" dirty="0" smtClean="0"/>
              <a:t>k-NN </a:t>
            </a:r>
            <a:r>
              <a:rPr lang="en-US" altLang="zh-TW" dirty="0"/>
              <a:t>classifier (based on the DTW distance</a:t>
            </a:r>
            <a:r>
              <a:rPr lang="en-US" altLang="zh-TW" dirty="0" smtClean="0"/>
              <a:t>).</a:t>
            </a:r>
          </a:p>
          <a:p>
            <a:pPr algn="just"/>
            <a:r>
              <a:rPr lang="en-US" altLang="zh-TW" dirty="0" smtClean="0"/>
              <a:t>Secondary </a:t>
            </a:r>
            <a:r>
              <a:rPr lang="en-US" altLang="zh-TW" dirty="0"/>
              <a:t>models, which predict the error of the </a:t>
            </a:r>
            <a:r>
              <a:rPr lang="en-US" altLang="zh-TW" dirty="0" smtClean="0"/>
              <a:t>primary models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896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IEP Algorithm (1/3)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altLang="zh-TW" dirty="0" smtClean="0"/>
                  <a:t>Partition </a:t>
                </a:r>
                <a:r>
                  <a:rPr lang="en-US" altLang="zh-TW" dirty="0"/>
                  <a:t>the </a:t>
                </a:r>
                <a:r>
                  <a:rPr lang="en-US" altLang="zh-TW" dirty="0" smtClean="0"/>
                  <a:t>original training </a:t>
                </a:r>
                <a:r>
                  <a:rPr lang="en-US" altLang="zh-TW" dirty="0"/>
                  <a:t>data </a:t>
                </a:r>
                <a:r>
                  <a:rPr lang="en-US" altLang="zh-TW" dirty="0" smtClean="0"/>
                  <a:t>set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𝐷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in two disjoint subsets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  <a:ea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𝐷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∩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  <a:ea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/>
                        <a:ea typeface="Cambria Math"/>
                      </a:rPr>
                      <m:t>=</m:t>
                    </m:r>
                    <m:r>
                      <a:rPr lang="zh-TW" altLang="en-US" i="1" dirty="0" smtClean="0">
                        <a:latin typeface="Cambria Math"/>
                        <a:ea typeface="Cambria Math"/>
                      </a:rPr>
                      <m:t>𝜙</m:t>
                    </m:r>
                  </m:oMath>
                </a14:m>
                <a:r>
                  <a:rPr lang="en-US" altLang="zh-TW" dirty="0" smtClean="0"/>
                  <a:t>)</a:t>
                </a:r>
              </a:p>
              <a:p>
                <a:pPr algn="just"/>
                <a:r>
                  <a:rPr lang="en-US" altLang="zh-TW" dirty="0" smtClean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to classify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𝑡</m:t>
                    </m:r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∈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  <a:ea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) </a:t>
                </a:r>
                <a:r>
                  <a:rPr lang="en-US" altLang="zh-TW" dirty="0"/>
                  <a:t>with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-NN classifier (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altLang="zh-TW" dirty="0" smtClean="0"/>
                  <a:t>). If correct, associated error value is 0, otherwise, </a:t>
                </a:r>
                <a:r>
                  <a:rPr lang="en-US" altLang="zh-TW" dirty="0"/>
                  <a:t>associated error value is </a:t>
                </a:r>
                <a:r>
                  <a:rPr lang="en-US" altLang="zh-TW" dirty="0" smtClean="0"/>
                  <a:t>1.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331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IEP Algorithm (2/3)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altLang="zh-TW" dirty="0" smtClean="0"/>
                  <a:t>Generate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zh-TW" dirty="0"/>
                  <a:t> new data sets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en-US" altLang="zh-TW" dirty="0" smtClean="0"/>
                  <a:t>)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acts as the training set for </a:t>
                </a:r>
                <a:r>
                  <a:rPr lang="en-US" altLang="zh-TW" dirty="0" smtClean="0"/>
                  <a:t>the corresponding </a:t>
                </a:r>
                <a:r>
                  <a:rPr lang="en-US" altLang="zh-TW" dirty="0"/>
                  <a:t>secondary </a:t>
                </a:r>
                <a:r>
                  <a:rPr lang="en-US" altLang="zh-TW" dirty="0" smtClean="0"/>
                  <a:t>model.</a:t>
                </a:r>
              </a:p>
              <a:p>
                <a:pPr algn="just"/>
                <a:r>
                  <a:rPr lang="en-US" altLang="zh-TW" dirty="0"/>
                  <a:t>Implement </a:t>
                </a:r>
                <a:r>
                  <a:rPr lang="en-US" altLang="zh-TW" dirty="0"/>
                  <a:t>each secondary level model as </a:t>
                </a:r>
                <a:r>
                  <a:rPr lang="en-US" altLang="zh-TW" dirty="0"/>
                  <a:t>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altLang="zh-TW" i="1" dirty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/>
                  <a:t>-</a:t>
                </a:r>
                <a:r>
                  <a:rPr lang="en-US" altLang="zh-TW" dirty="0"/>
                  <a:t>NN regression </a:t>
                </a:r>
                <a:r>
                  <a:rPr lang="en-US" altLang="zh-TW" dirty="0"/>
                  <a:t>model based on the DTW distance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146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IEP Algorithm</a:t>
            </a:r>
            <a:r>
              <a:rPr lang="en-US" altLang="zh-TW" b="1" dirty="0"/>
              <a:t> </a:t>
            </a:r>
            <a:r>
              <a:rPr lang="en-US" altLang="zh-TW" b="1" dirty="0" smtClean="0"/>
              <a:t>(3/3)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altLang="zh-TW" dirty="0" smtClean="0"/>
                  <a:t>Calculate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b="0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TW" b="0" i="1" dirty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𝑁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altLang="zh-TW" i="1" dirty="0">
                                <a:latin typeface="Cambria Math"/>
                                <a:ea typeface="Cambria Math"/>
                              </a:rPr>
                              <m:t>∈</m:t>
                            </m:r>
                            <m:r>
                              <a:rPr lang="zh-TW" altLang="en-US" i="1" dirty="0" smtClean="0">
                                <a:latin typeface="Cambria Math"/>
                                <a:ea typeface="Cambria Math"/>
                              </a:rPr>
                              <m:t>𝒩</m:t>
                            </m:r>
                            <m:d>
                              <m:dPr>
                                <m:ctrlPr>
                                  <a:rPr lang="en-US" altLang="zh-TW" i="1" dirty="0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dirty="0" smtClean="0">
                                    <a:latin typeface="Cambria Math"/>
                                    <a:ea typeface="Cambria Math"/>
                                  </a:rPr>
                                  <m:t>𝑡</m:t>
                                </m:r>
                              </m:e>
                            </m:d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TW" b="0" i="1" dirty="0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altLang="zh-TW" b="0" i="1" dirty="0" smtClean="0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dirty="0" smtClean="0"/>
                  <a:t>, where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TW" altLang="en-US" i="1" dirty="0">
                        <a:latin typeface="Cambria Math"/>
                        <a:ea typeface="Cambria Math"/>
                      </a:rPr>
                      <m:t>𝒩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⊂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  <a:ea typeface="Cambria Math"/>
                          </a:rPr>
                          <m:t>𝐷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is the 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altLang="zh-TW" i="1" dirty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dirty="0" smtClean="0"/>
                  <a:t>-NNs of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𝑁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is the associated error value of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𝑁</m:t>
                        </m:r>
                      </m:sub>
                    </m:sSub>
                    <m:r>
                      <m:rPr>
                        <m:brk m:alnAt="7"/>
                      </m:rPr>
                      <a:rPr lang="en-US" altLang="zh-TW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zh-TW" altLang="en-US" i="1" dirty="0">
                        <a:latin typeface="Cambria Math"/>
                        <a:ea typeface="Cambria Math"/>
                      </a:rPr>
                      <m:t>𝒩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algn="just"/>
                <a:r>
                  <a:rPr lang="en-US" altLang="zh-TW" dirty="0" smtClean="0"/>
                  <a:t>Select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 smtClean="0"/>
                  <a:t> with minimal estimated error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/>
                          </a:rPr>
                          <m:t>𝑡</m:t>
                        </m:r>
                        <m:r>
                          <a:rPr lang="en-US" altLang="zh-TW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831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1" t="13817" r="4488" b="7485"/>
          <a:stretch/>
        </p:blipFill>
        <p:spPr bwMode="auto">
          <a:xfrm>
            <a:off x="107504" y="793635"/>
            <a:ext cx="8921702" cy="5299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700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Experiment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 smtClean="0"/>
                  <a:t>/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/>
                  <a:t>: </a:t>
                </a:r>
                <a:r>
                  <a:rPr lang="en-US" altLang="zh-TW" dirty="0" smtClean="0"/>
                  <a:t>total number </a:t>
                </a:r>
                <a:r>
                  <a:rPr lang="en-US" altLang="zh-TW" dirty="0"/>
                  <a:t>of time series in the data set, which have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as </a:t>
                </a:r>
                <a:r>
                  <a:rPr lang="en-US" altLang="zh-TW" dirty="0" smtClean="0"/>
                  <a:t>their first </a:t>
                </a:r>
                <a:r>
                  <a:rPr lang="en-US" altLang="zh-TW" dirty="0"/>
                  <a:t>nearest neighbor while </a:t>
                </a:r>
                <a:r>
                  <a:rPr lang="en-US" altLang="zh-TW" dirty="0"/>
                  <a:t>having </a:t>
                </a:r>
                <a:r>
                  <a:rPr lang="en-US" altLang="zh-TW" dirty="0" smtClean="0"/>
                  <a:t>different/same </a:t>
                </a:r>
                <a:r>
                  <a:rPr lang="en-US" altLang="zh-TW" dirty="0"/>
                  <a:t>class label from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algn="just"/>
                <a:r>
                  <a:rPr lang="en-US" altLang="zh-TW" dirty="0" smtClean="0"/>
                  <a:t>Sort </a:t>
                </a:r>
                <a:r>
                  <a:rPr lang="en-US" altLang="zh-TW" dirty="0"/>
                  <a:t>all time </a:t>
                </a:r>
                <a:r>
                  <a:rPr lang="en-US" altLang="zh-TW" dirty="0" smtClean="0"/>
                  <a:t>series according </a:t>
                </a:r>
                <a:r>
                  <a:rPr lang="en-US" altLang="zh-TW" dirty="0"/>
                  <a:t>to the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 smtClean="0"/>
                  <a:t>-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/>
                      </a:rPr>
                      <m:t>𝐵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quantity in descending </a:t>
                </a:r>
                <a:r>
                  <a:rPr lang="en-US" altLang="zh-TW" dirty="0" smtClean="0"/>
                  <a:t>order.</a:t>
                </a:r>
              </a:p>
              <a:p>
                <a:pPr algn="just"/>
                <a:r>
                  <a:rPr lang="en-US" altLang="zh-TW" dirty="0" smtClean="0"/>
                  <a:t>Change </a:t>
                </a:r>
                <a:r>
                  <a:rPr lang="en-US" altLang="zh-TW" dirty="0"/>
                  <a:t>the label of first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TW" dirty="0"/>
                  <a:t> percent time series </a:t>
                </a:r>
                <a:r>
                  <a:rPr lang="en-US" altLang="zh-TW" dirty="0" smtClean="0"/>
                  <a:t>in this ranking.</a:t>
                </a:r>
                <a:endParaRPr lang="zh-TW" altLang="en-US" dirty="0"/>
              </a:p>
            </p:txBody>
          </p:sp>
        </mc:Choice>
        <mc:Fallback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 r="-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908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Experiment result (1/2)</a:t>
            </a:r>
            <a:endParaRPr lang="zh-TW" altLang="en-US" b="1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5" t="45457" r="8139" b="20825"/>
          <a:stretch/>
        </p:blipFill>
        <p:spPr bwMode="auto">
          <a:xfrm>
            <a:off x="265634" y="2204864"/>
            <a:ext cx="8688250" cy="2594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090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9" t="15232" r="9427" b="3296"/>
          <a:stretch/>
        </p:blipFill>
        <p:spPr bwMode="auto">
          <a:xfrm>
            <a:off x="92521" y="399073"/>
            <a:ext cx="8943975" cy="62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25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Quality of secondary model (1/2)</a:t>
            </a:r>
            <a:endParaRPr lang="zh-TW" altLang="en-US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6" t="9714" r="7583" b="3993"/>
          <a:stretch/>
        </p:blipFill>
        <p:spPr bwMode="auto">
          <a:xfrm>
            <a:off x="1180188" y="1268760"/>
            <a:ext cx="7064220" cy="5396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715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9" t="34752" r="10407" b="24147"/>
          <a:stretch/>
        </p:blipFill>
        <p:spPr bwMode="auto">
          <a:xfrm>
            <a:off x="227075" y="3212976"/>
            <a:ext cx="8737413" cy="316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Quality of secondary model (2/2)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altLang="zh-TW" sz="2800" dirty="0" smtClean="0"/>
                  <a:t>The last column </a:t>
                </a:r>
                <a:r>
                  <a:rPr lang="en-US" altLang="zh-TW" sz="2800" dirty="0"/>
                  <a:t>of Table I shows for each dataset the overall </a:t>
                </a:r>
                <a:r>
                  <a:rPr lang="en-US" altLang="zh-TW" sz="2800" dirty="0" smtClean="0"/>
                  <a:t>standard deviation </a:t>
                </a:r>
                <a:r>
                  <a:rPr lang="en-US" altLang="zh-TW" sz="2800" dirty="0"/>
                  <a:t>of the secondary models for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i="1" dirty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altLang="zh-TW" sz="2800" i="1" dirty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800" dirty="0"/>
                  <a:t> values in </a:t>
                </a:r>
                <a:r>
                  <a:rPr lang="en-US" altLang="zh-TW" sz="2800" dirty="0" smtClean="0"/>
                  <a:t>the range </a:t>
                </a:r>
                <a14:m>
                  <m:oMath xmlns:m="http://schemas.openxmlformats.org/officeDocument/2006/math">
                    <m:r>
                      <a:rPr lang="en-US" altLang="zh-TW" sz="2800" b="0" i="0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US" altLang="zh-TW" sz="2800" i="1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en-US" altLang="zh-TW" sz="2800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i="1" dirty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altLang="zh-TW" sz="2800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zh-TW" sz="2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10</m:t>
                    </m:r>
                  </m:oMath>
                </a14:m>
                <a:r>
                  <a:rPr lang="en-US" altLang="zh-TW" sz="2800" dirty="0"/>
                  <a:t>.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259" t="-1213" r="-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561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Execution </a:t>
            </a:r>
            <a:r>
              <a:rPr lang="en-US" altLang="zh-TW" b="1" dirty="0" smtClean="0"/>
              <a:t>time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TW" dirty="0" smtClean="0"/>
              <a:t>Off-line time: the </a:t>
            </a:r>
            <a:r>
              <a:rPr lang="en-US" altLang="zh-TW" dirty="0"/>
              <a:t>time required for training the secondary regression </a:t>
            </a:r>
            <a:r>
              <a:rPr lang="en-US" altLang="zh-TW" dirty="0" smtClean="0"/>
              <a:t>level.</a:t>
            </a:r>
          </a:p>
          <a:p>
            <a:pPr algn="just"/>
            <a:r>
              <a:rPr lang="en-US" altLang="zh-TW" dirty="0"/>
              <a:t>Online </a:t>
            </a:r>
            <a:r>
              <a:rPr lang="en-US" altLang="zh-TW" dirty="0" smtClean="0"/>
              <a:t>time: the </a:t>
            </a:r>
            <a:r>
              <a:rPr lang="en-US" altLang="zh-TW" dirty="0"/>
              <a:t>actual time needed to classify a new time-series.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1" t="34150" r="6173" b="35732"/>
          <a:stretch/>
        </p:blipFill>
        <p:spPr bwMode="auto">
          <a:xfrm>
            <a:off x="104636" y="3789040"/>
            <a:ext cx="9003868" cy="2578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5401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720</Words>
  <Application>Microsoft Office PowerPoint</Application>
  <PresentationFormat>如螢幕大小 (4:3)</PresentationFormat>
  <Paragraphs>49</Paragraphs>
  <Slides>15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Time-Series Classification based on Individualised Error Prediction</vt:lpstr>
      <vt:lpstr>Abstract (1/2)</vt:lpstr>
      <vt:lpstr>Abstract (2/2)</vt:lpstr>
      <vt:lpstr>k-NN time series</vt:lpstr>
      <vt:lpstr>IEP</vt:lpstr>
      <vt:lpstr>IEP Algorithm (1/3)</vt:lpstr>
      <vt:lpstr>IEP Algorithm (2/3)</vt:lpstr>
      <vt:lpstr>IEP Algorithm (3/3)</vt:lpstr>
      <vt:lpstr>PowerPoint 簡報</vt:lpstr>
      <vt:lpstr>Experiment</vt:lpstr>
      <vt:lpstr>Experiment result (1/2)</vt:lpstr>
      <vt:lpstr>PowerPoint 簡報</vt:lpstr>
      <vt:lpstr>Quality of secondary model (1/2)</vt:lpstr>
      <vt:lpstr>Quality of secondary model (2/2)</vt:lpstr>
      <vt:lpstr>Execution 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296</cp:revision>
  <dcterms:created xsi:type="dcterms:W3CDTF">2012-09-09T09:37:21Z</dcterms:created>
  <dcterms:modified xsi:type="dcterms:W3CDTF">2012-12-15T16:29:23Z</dcterms:modified>
</cp:coreProperties>
</file>