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874221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2788420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163322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1669650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919838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1352091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356064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310774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443508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3624468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218734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18274-95A9-4E4D-BF6D-A070FC638AE9}" type="datetimeFigureOut">
              <a:rPr lang="zh-TW" altLang="en-US" smtClean="0"/>
              <a:t>2012/12/17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A35E76-F8F6-48BD-AA18-0D5CD7FF152E}" type="slidenum">
              <a:rPr lang="zh-TW" altLang="en-US" smtClean="0"/>
              <a:t>‹#›</a:t>
            </a:fld>
            <a:endParaRPr lang="zh-TW" altLang="en-US"/>
          </a:p>
        </p:txBody>
      </p:sp>
    </p:spTree>
    <p:extLst>
      <p:ext uri="{BB962C8B-B14F-4D97-AF65-F5344CB8AC3E}">
        <p14:creationId xmlns:p14="http://schemas.microsoft.com/office/powerpoint/2010/main" val="1446471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200" dirty="0" smtClean="0"/>
              <a:t>Time Series Classification Method Based on</a:t>
            </a:r>
            <a:br>
              <a:rPr lang="en-US" altLang="zh-TW" sz="3200" dirty="0" smtClean="0"/>
            </a:br>
            <a:r>
              <a:rPr lang="en-US" altLang="zh-TW" sz="3200" dirty="0" smtClean="0"/>
              <a:t>Longest Common Subsequence</a:t>
            </a:r>
            <a:br>
              <a:rPr lang="en-US" altLang="zh-TW" sz="3200" dirty="0" smtClean="0"/>
            </a:br>
            <a:r>
              <a:rPr lang="en-US" altLang="zh-TW" sz="3200" dirty="0" smtClean="0"/>
              <a:t>and Textual Approximation</a:t>
            </a:r>
            <a:endParaRPr lang="zh-TW" altLang="en-US" sz="3200" dirty="0"/>
          </a:p>
        </p:txBody>
      </p:sp>
      <p:sp>
        <p:nvSpPr>
          <p:cNvPr id="3" name="副標題 2"/>
          <p:cNvSpPr>
            <a:spLocks noGrp="1"/>
          </p:cNvSpPr>
          <p:nvPr>
            <p:ph type="subTitle" idx="1"/>
          </p:nvPr>
        </p:nvSpPr>
        <p:spPr/>
        <p:txBody>
          <a:bodyPr>
            <a:noAutofit/>
          </a:bodyPr>
          <a:lstStyle/>
          <a:p>
            <a:r>
              <a:rPr lang="en-US" altLang="zh-TW" sz="1800" dirty="0" smtClean="0">
                <a:solidFill>
                  <a:schemeClr val="tx1">
                    <a:lumMod val="95000"/>
                    <a:lumOff val="5000"/>
                  </a:schemeClr>
                </a:solidFill>
              </a:rPr>
              <a:t>Abdulla-Al-</a:t>
            </a:r>
            <a:r>
              <a:rPr lang="en-US" altLang="zh-TW" sz="1800" dirty="0" err="1" smtClean="0">
                <a:solidFill>
                  <a:schemeClr val="tx1">
                    <a:lumMod val="95000"/>
                    <a:lumOff val="5000"/>
                  </a:schemeClr>
                </a:solidFill>
              </a:rPr>
              <a:t>Maruf</a:t>
            </a:r>
            <a:r>
              <a:rPr lang="en-US" altLang="zh-TW" sz="1800" dirty="0" smtClean="0">
                <a:solidFill>
                  <a:schemeClr val="tx1">
                    <a:lumMod val="95000"/>
                    <a:lumOff val="5000"/>
                  </a:schemeClr>
                </a:solidFill>
              </a:rPr>
              <a:t>, Hung-</a:t>
            </a:r>
            <a:r>
              <a:rPr lang="en-US" altLang="zh-TW" sz="1800" dirty="0" err="1" smtClean="0">
                <a:solidFill>
                  <a:schemeClr val="tx1">
                    <a:lumMod val="95000"/>
                    <a:lumOff val="5000"/>
                  </a:schemeClr>
                </a:solidFill>
              </a:rPr>
              <a:t>Hsuan</a:t>
            </a:r>
            <a:r>
              <a:rPr lang="en-US" altLang="zh-TW" sz="1800" dirty="0" smtClean="0">
                <a:solidFill>
                  <a:schemeClr val="tx1">
                    <a:lumMod val="95000"/>
                    <a:lumOff val="5000"/>
                  </a:schemeClr>
                </a:solidFill>
              </a:rPr>
              <a:t> Huang and </a:t>
            </a:r>
            <a:r>
              <a:rPr lang="en-US" altLang="zh-TW" sz="1800" dirty="0" err="1" smtClean="0">
                <a:solidFill>
                  <a:schemeClr val="tx1">
                    <a:lumMod val="95000"/>
                    <a:lumOff val="5000"/>
                  </a:schemeClr>
                </a:solidFill>
              </a:rPr>
              <a:t>Kyoji</a:t>
            </a:r>
            <a:r>
              <a:rPr lang="en-US" altLang="zh-TW" sz="1800" dirty="0" smtClean="0">
                <a:solidFill>
                  <a:schemeClr val="tx1">
                    <a:lumMod val="95000"/>
                    <a:lumOff val="5000"/>
                  </a:schemeClr>
                </a:solidFill>
              </a:rPr>
              <a:t> Kawagoe</a:t>
            </a:r>
            <a:br>
              <a:rPr lang="en-US" altLang="zh-TW" sz="1800" dirty="0" smtClean="0">
                <a:solidFill>
                  <a:schemeClr val="tx1">
                    <a:lumMod val="95000"/>
                    <a:lumOff val="5000"/>
                  </a:schemeClr>
                </a:solidFill>
              </a:rPr>
            </a:br>
            <a:r>
              <a:rPr lang="en-US" altLang="zh-TW" sz="1800" dirty="0" err="1" smtClean="0">
                <a:solidFill>
                  <a:schemeClr val="tx1">
                    <a:lumMod val="95000"/>
                    <a:lumOff val="5000"/>
                  </a:schemeClr>
                </a:solidFill>
              </a:rPr>
              <a:t>Ritsumeikan</a:t>
            </a:r>
            <a:r>
              <a:rPr lang="en-US" altLang="zh-TW" sz="1800" dirty="0" smtClean="0">
                <a:solidFill>
                  <a:schemeClr val="tx1">
                    <a:lumMod val="95000"/>
                    <a:lumOff val="5000"/>
                  </a:schemeClr>
                </a:solidFill>
              </a:rPr>
              <a:t> University </a:t>
            </a:r>
            <a:r>
              <a:rPr lang="en-US" altLang="zh-TW" sz="1800" dirty="0" err="1" smtClean="0">
                <a:solidFill>
                  <a:schemeClr val="tx1">
                    <a:lumMod val="95000"/>
                    <a:lumOff val="5000"/>
                  </a:schemeClr>
                </a:solidFill>
              </a:rPr>
              <a:t>Kusatsu</a:t>
            </a:r>
            <a:r>
              <a:rPr lang="en-US" altLang="zh-TW" sz="1800" dirty="0" smtClean="0">
                <a:solidFill>
                  <a:schemeClr val="tx1">
                    <a:lumMod val="95000"/>
                    <a:lumOff val="5000"/>
                  </a:schemeClr>
                </a:solidFill>
              </a:rPr>
              <a:t>, </a:t>
            </a:r>
            <a:r>
              <a:rPr lang="en-US" altLang="zh-TW" sz="1800" dirty="0" smtClean="0">
                <a:solidFill>
                  <a:schemeClr val="tx1">
                    <a:lumMod val="95000"/>
                    <a:lumOff val="5000"/>
                  </a:schemeClr>
                </a:solidFill>
              </a:rPr>
              <a:t>Japan</a:t>
            </a:r>
          </a:p>
          <a:p>
            <a:r>
              <a:rPr lang="en-US" altLang="zh-TW" sz="1800" dirty="0">
                <a:solidFill>
                  <a:schemeClr val="tx1">
                    <a:lumMod val="95000"/>
                    <a:lumOff val="5000"/>
                  </a:schemeClr>
                </a:solidFill>
              </a:rPr>
              <a:t>Digital Information Management (ICDIM), 2012 </a:t>
            </a:r>
            <a:r>
              <a:rPr lang="en-US" altLang="zh-TW" sz="1800" dirty="0" smtClean="0">
                <a:solidFill>
                  <a:schemeClr val="tx1">
                    <a:lumMod val="95000"/>
                    <a:lumOff val="5000"/>
                  </a:schemeClr>
                </a:solidFill>
              </a:rPr>
              <a:t>Seventh p130-137</a:t>
            </a:r>
            <a:endParaRPr lang="en-US" altLang="zh-TW" sz="1800" dirty="0" smtClean="0">
              <a:solidFill>
                <a:schemeClr val="tx1">
                  <a:lumMod val="95000"/>
                  <a:lumOff val="5000"/>
                </a:schemeClr>
              </a:solidFill>
            </a:endParaRPr>
          </a:p>
          <a:p>
            <a:r>
              <a:rPr lang="en-US" altLang="zh-TW" sz="1800" dirty="0" smtClean="0">
                <a:solidFill>
                  <a:schemeClr val="tx1">
                    <a:lumMod val="95000"/>
                    <a:lumOff val="5000"/>
                  </a:schemeClr>
                </a:solidFill>
              </a:rPr>
              <a:t>Presenter: Yi-</a:t>
            </a:r>
            <a:r>
              <a:rPr lang="en-US" altLang="zh-TW" sz="1800" dirty="0" err="1" smtClean="0">
                <a:solidFill>
                  <a:schemeClr val="tx1">
                    <a:lumMod val="95000"/>
                    <a:lumOff val="5000"/>
                  </a:schemeClr>
                </a:solidFill>
              </a:rPr>
              <a:t>Pu</a:t>
            </a:r>
            <a:r>
              <a:rPr lang="en-US" altLang="zh-TW" sz="1800" dirty="0" smtClean="0">
                <a:solidFill>
                  <a:schemeClr val="tx1">
                    <a:lumMod val="95000"/>
                    <a:lumOff val="5000"/>
                  </a:schemeClr>
                </a:solidFill>
              </a:rPr>
              <a:t> </a:t>
            </a:r>
            <a:r>
              <a:rPr lang="en-US" altLang="zh-TW" sz="1800" dirty="0" err="1" smtClean="0">
                <a:solidFill>
                  <a:schemeClr val="tx1">
                    <a:lumMod val="95000"/>
                    <a:lumOff val="5000"/>
                  </a:schemeClr>
                </a:solidFill>
              </a:rPr>
              <a:t>Guo</a:t>
            </a:r>
            <a:r>
              <a:rPr lang="en-US" altLang="zh-TW" sz="1800" dirty="0" smtClean="0">
                <a:solidFill>
                  <a:schemeClr val="tx1">
                    <a:lumMod val="95000"/>
                    <a:lumOff val="5000"/>
                  </a:schemeClr>
                </a:solidFill>
              </a:rPr>
              <a:t/>
            </a:r>
            <a:br>
              <a:rPr lang="en-US" altLang="zh-TW" sz="1800" dirty="0" smtClean="0">
                <a:solidFill>
                  <a:schemeClr val="tx1">
                    <a:lumMod val="95000"/>
                    <a:lumOff val="5000"/>
                  </a:schemeClr>
                </a:solidFill>
              </a:rPr>
            </a:br>
            <a:r>
              <a:rPr lang="en-US" altLang="zh-TW" sz="1800" dirty="0" smtClean="0">
                <a:solidFill>
                  <a:schemeClr val="tx1">
                    <a:lumMod val="95000"/>
                    <a:lumOff val="5000"/>
                  </a:schemeClr>
                </a:solidFill>
              </a:rPr>
              <a:t>2012-12-17</a:t>
            </a:r>
            <a:endParaRPr lang="zh-TW" altLang="en-US" sz="1800" dirty="0">
              <a:solidFill>
                <a:schemeClr val="tx1">
                  <a:lumMod val="95000"/>
                  <a:lumOff val="5000"/>
                </a:schemeClr>
              </a:solidFill>
            </a:endParaRPr>
          </a:p>
        </p:txBody>
      </p:sp>
    </p:spTree>
    <p:extLst>
      <p:ext uri="{BB962C8B-B14F-4D97-AF65-F5344CB8AC3E}">
        <p14:creationId xmlns:p14="http://schemas.microsoft.com/office/powerpoint/2010/main" val="2476270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7" name="內容版面配置區 6"/>
          <p:cNvSpPr>
            <a:spLocks noGrp="1"/>
          </p:cNvSpPr>
          <p:nvPr>
            <p:ph idx="1"/>
          </p:nvPr>
        </p:nvSpPr>
        <p:spPr/>
        <p:txBody>
          <a:bodyPr>
            <a:noAutofit/>
          </a:bodyPr>
          <a:lstStyle/>
          <a:p>
            <a:pPr marL="0" indent="457200">
              <a:lnSpc>
                <a:spcPct val="150000"/>
              </a:lnSpc>
              <a:buNone/>
            </a:pPr>
            <a:r>
              <a:rPr lang="en-US" altLang="zh-TW" sz="1800" dirty="0" smtClean="0"/>
              <a:t>Many symbolic representations of time series have been proposed by researchers over past decades. However, it is still not enough to classify time series with high accuracy in such applications as ubiquitous systems or sensor systems. In this paper, we propose a new symbolic representation of time series called l-TAX to increase the accuracy of time series classification. A time series can be represented by term sequences in l-TAX. l-TAX is based on a document like symbolic representation of time series called TAX. We use longest common subsequence as our distance measure between textually approximated time series. During time series classification, consideration of symbol sequences increases the accuracy significantly. In our evaluation, we have demonstrated that l-TAX is effective for classification as well as searching time series data set.</a:t>
            </a:r>
            <a:endParaRPr lang="zh-TW" altLang="en-US" sz="1800" dirty="0"/>
          </a:p>
        </p:txBody>
      </p:sp>
    </p:spTree>
    <p:extLst>
      <p:ext uri="{BB962C8B-B14F-4D97-AF65-F5344CB8AC3E}">
        <p14:creationId xmlns:p14="http://schemas.microsoft.com/office/powerpoint/2010/main" val="2965625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TAX</a:t>
            </a:r>
            <a:endParaRPr lang="zh-TW" altLang="en-US" dirty="0"/>
          </a:p>
        </p:txBody>
      </p:sp>
      <p:sp>
        <p:nvSpPr>
          <p:cNvPr id="9" name="內容版面配置區 8"/>
          <p:cNvSpPr>
            <a:spLocks noGrp="1"/>
          </p:cNvSpPr>
          <p:nvPr>
            <p:ph idx="1"/>
          </p:nvPr>
        </p:nvSpPr>
        <p:spPr/>
        <p:txBody>
          <a:bodyPr/>
          <a:lstStyle/>
          <a:p>
            <a:pPr lvl="1">
              <a:lnSpc>
                <a:spcPct val="150000"/>
              </a:lnSpc>
            </a:pPr>
            <a:r>
              <a:rPr lang="zh-TW" altLang="en-US" dirty="0" smtClean="0"/>
              <a:t>基於給定 </a:t>
            </a:r>
            <a:r>
              <a:rPr lang="en-US" altLang="zh-TW" dirty="0" smtClean="0"/>
              <a:t>model</a:t>
            </a:r>
            <a:r>
              <a:rPr lang="zh-TW" altLang="en-US" dirty="0" smtClean="0"/>
              <a:t>，自 </a:t>
            </a:r>
            <a:r>
              <a:rPr lang="en-US" altLang="zh-TW" dirty="0" smtClean="0"/>
              <a:t>time series </a:t>
            </a:r>
            <a:r>
              <a:rPr lang="zh-TW" altLang="en-US" dirty="0" smtClean="0"/>
              <a:t>擷取 </a:t>
            </a:r>
            <a:r>
              <a:rPr lang="en-US" altLang="zh-TW" dirty="0" smtClean="0"/>
              <a:t>term</a:t>
            </a:r>
            <a:r>
              <a:rPr lang="zh-TW" altLang="en-US" dirty="0" smtClean="0"/>
              <a:t>：</a:t>
            </a:r>
            <a:r>
              <a:rPr lang="en-US" altLang="zh-TW" dirty="0" smtClean="0"/>
              <a:t/>
            </a:r>
            <a:br>
              <a:rPr lang="en-US" altLang="zh-TW" dirty="0" smtClean="0"/>
            </a:br>
            <a:r>
              <a:rPr lang="en-US" altLang="zh-TW" dirty="0" smtClean="0"/>
              <a:t>time series </a:t>
            </a:r>
            <a:r>
              <a:rPr lang="en-US" altLang="zh-TW" dirty="0" smtClean="0">
                <a:sym typeface="Wingdings" pitchFamily="2" charset="2"/>
              </a:rPr>
              <a:t> document</a:t>
            </a:r>
            <a:endParaRPr lang="en-US" altLang="zh-TW" dirty="0" smtClean="0"/>
          </a:p>
          <a:p>
            <a:pPr lvl="1">
              <a:lnSpc>
                <a:spcPct val="150000"/>
              </a:lnSpc>
            </a:pPr>
            <a:r>
              <a:rPr lang="zh-TW" altLang="en-US" dirty="0" smtClean="0"/>
              <a:t>只考慮 </a:t>
            </a:r>
            <a:r>
              <a:rPr lang="en-US" altLang="zh-TW" dirty="0" smtClean="0"/>
              <a:t>key-point</a:t>
            </a:r>
            <a:r>
              <a:rPr lang="zh-TW" altLang="en-US" dirty="0" smtClean="0"/>
              <a:t>，不是每個點都重要。</a:t>
            </a:r>
            <a:endParaRPr lang="en-US" altLang="zh-TW" dirty="0" smtClean="0"/>
          </a:p>
          <a:p>
            <a:pPr>
              <a:lnSpc>
                <a:spcPct val="150000"/>
              </a:lnSpc>
            </a:pPr>
            <a:r>
              <a:rPr lang="en-US" altLang="zh-TW" dirty="0" smtClean="0"/>
              <a:t>l-TAX</a:t>
            </a:r>
          </a:p>
          <a:p>
            <a:pPr lvl="1">
              <a:lnSpc>
                <a:spcPct val="150000"/>
              </a:lnSpc>
            </a:pPr>
            <a:r>
              <a:rPr lang="zh-TW" altLang="en-US" dirty="0" smtClean="0"/>
              <a:t>考慮順序的 </a:t>
            </a:r>
            <a:r>
              <a:rPr lang="en-US" altLang="zh-TW" dirty="0" smtClean="0"/>
              <a:t>TAX</a:t>
            </a:r>
            <a:endParaRPr lang="zh-TW" altLang="en-US" dirty="0"/>
          </a:p>
        </p:txBody>
      </p:sp>
    </p:spTree>
    <p:extLst>
      <p:ext uri="{BB962C8B-B14F-4D97-AF65-F5344CB8AC3E}">
        <p14:creationId xmlns:p14="http://schemas.microsoft.com/office/powerpoint/2010/main" val="422036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628" y="571101"/>
            <a:ext cx="5334745" cy="4572638"/>
          </a:xfrm>
          <a:prstGeom prst="rect">
            <a:avLst/>
          </a:prstGeom>
        </p:spPr>
      </p:pic>
      <p:sp>
        <p:nvSpPr>
          <p:cNvPr id="3" name="文字方塊 2"/>
          <p:cNvSpPr txBox="1"/>
          <p:nvPr/>
        </p:nvSpPr>
        <p:spPr>
          <a:xfrm>
            <a:off x="1153212" y="5517232"/>
            <a:ext cx="6837577" cy="523220"/>
          </a:xfrm>
          <a:prstGeom prst="rect">
            <a:avLst/>
          </a:prstGeom>
          <a:noFill/>
        </p:spPr>
        <p:txBody>
          <a:bodyPr wrap="none" rtlCol="0">
            <a:spAutoFit/>
          </a:bodyPr>
          <a:lstStyle/>
          <a:p>
            <a:r>
              <a:rPr lang="en-US" altLang="zh-TW" sz="2800" i="1" dirty="0" smtClean="0"/>
              <a:t>the lazy brown dog jumped over the quick fox</a:t>
            </a:r>
            <a:endParaRPr lang="zh-TW" altLang="en-US" sz="2800" i="1" dirty="0"/>
          </a:p>
        </p:txBody>
      </p:sp>
    </p:spTree>
    <p:extLst>
      <p:ext uri="{BB962C8B-B14F-4D97-AF65-F5344CB8AC3E}">
        <p14:creationId xmlns:p14="http://schemas.microsoft.com/office/powerpoint/2010/main" val="25966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Concept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14:m>
                  <m:oMath xmlns:m="http://schemas.openxmlformats.org/officeDocument/2006/math">
                    <m:sSub>
                      <m:sSubPr>
                        <m:ctrlPr>
                          <a:rPr lang="en-US" altLang="zh-TW" i="1" smtClean="0">
                            <a:latin typeface="Cambria Math"/>
                          </a:rPr>
                        </m:ctrlPr>
                      </m:sSubPr>
                      <m:e>
                        <m:r>
                          <a:rPr lang="en-US" altLang="zh-TW" b="0" i="1" smtClean="0">
                            <a:latin typeface="Cambria Math"/>
                          </a:rPr>
                          <m:t>𝑇</m:t>
                        </m:r>
                      </m:e>
                      <m:sub>
                        <m:r>
                          <a:rPr lang="en-US" altLang="zh-TW" b="0" i="1" smtClean="0">
                            <a:latin typeface="Cambria Math"/>
                          </a:rPr>
                          <m:t>𝑡𝑒𝑟𝑚</m:t>
                        </m:r>
                      </m:sub>
                    </m:sSub>
                    <m:r>
                      <a:rPr lang="en-US" altLang="zh-TW" b="0" i="1" smtClean="0">
                        <a:latin typeface="Cambria Math"/>
                      </a:rPr>
                      <m:t>={</m:t>
                    </m:r>
                    <m:r>
                      <a:rPr lang="en-US" altLang="zh-TW" b="0" i="1" smtClean="0">
                        <a:latin typeface="Cambria Math"/>
                      </a:rPr>
                      <m:t>𝑓𝑙𝑎𝑡</m:t>
                    </m:r>
                    <m:r>
                      <a:rPr lang="en-US" altLang="zh-TW" b="0" i="1" smtClean="0">
                        <a:latin typeface="Cambria Math"/>
                      </a:rPr>
                      <m:t>, </m:t>
                    </m:r>
                    <m:r>
                      <a:rPr lang="en-US" altLang="zh-TW" b="0" i="1" smtClean="0">
                        <a:latin typeface="Cambria Math"/>
                      </a:rPr>
                      <m:t>𝑢𝑝</m:t>
                    </m:r>
                    <m:r>
                      <a:rPr lang="en-US" altLang="zh-TW" b="0" i="1" smtClean="0">
                        <a:latin typeface="Cambria Math"/>
                      </a:rPr>
                      <m:t>, </m:t>
                    </m:r>
                    <m:r>
                      <a:rPr lang="en-US" altLang="zh-TW" b="0" i="1" smtClean="0">
                        <a:latin typeface="Cambria Math"/>
                      </a:rPr>
                      <m:t>𝑑𝑜𝑤𝑛</m:t>
                    </m:r>
                    <m:r>
                      <a:rPr lang="en-US" altLang="zh-TW" b="0" i="1" smtClean="0">
                        <a:latin typeface="Cambria Math"/>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489" y="2570797"/>
            <a:ext cx="3429479" cy="2857899"/>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2040" y="2620665"/>
            <a:ext cx="4001059" cy="1600423"/>
          </a:xfrm>
          <a:prstGeom prst="rect">
            <a:avLst/>
          </a:prstGeom>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2040" y="4475780"/>
            <a:ext cx="3372321" cy="1257476"/>
          </a:xfrm>
          <a:prstGeom prst="rect">
            <a:avLst/>
          </a:prstGeom>
        </p:spPr>
      </p:pic>
    </p:spTree>
    <p:extLst>
      <p:ext uri="{BB962C8B-B14F-4D97-AF65-F5344CB8AC3E}">
        <p14:creationId xmlns:p14="http://schemas.microsoft.com/office/powerpoint/2010/main" val="2319488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Algorithm</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buFont typeface="+mj-lt"/>
                  <a:buAutoNum type="arabicPeriod"/>
                </a:pPr>
                <a:r>
                  <a:rPr lang="en-US" altLang="zh-TW" sz="1800" dirty="0" smtClean="0"/>
                  <a:t>Key-point Detection (</a:t>
                </a:r>
                <a:r>
                  <a:rPr lang="zh-TW" altLang="en-US" sz="1800" dirty="0" smtClean="0"/>
                  <a:t>兩種方式</a:t>
                </a:r>
                <a:r>
                  <a:rPr lang="en-US" altLang="zh-TW" sz="1800" dirty="0" smtClean="0"/>
                  <a:t>)</a:t>
                </a:r>
              </a:p>
              <a:p>
                <a:pPr lvl="1"/>
                <a:r>
                  <a:rPr lang="en-US" altLang="zh-TW" sz="1800" dirty="0" smtClean="0"/>
                  <a:t>|2nd difference of the time series|</a:t>
                </a:r>
              </a:p>
              <a:p>
                <a:pPr lvl="1"/>
                <a:r>
                  <a:rPr lang="en-US" altLang="zh-TW" sz="1800" dirty="0" smtClean="0"/>
                  <a:t>|P-points weighted moving average - the time series data|</a:t>
                </a:r>
              </a:p>
              <a:p>
                <a:pPr>
                  <a:buFont typeface="+mj-lt"/>
                  <a:buAutoNum type="arabicPeriod"/>
                </a:pPr>
                <a:r>
                  <a:rPr lang="en-US" altLang="zh-TW" sz="1800" dirty="0" smtClean="0"/>
                  <a:t>Key-point Features</a:t>
                </a:r>
              </a:p>
              <a:p>
                <a:pPr lvl="1"/>
                <a14:m>
                  <m:oMath xmlns:m="http://schemas.openxmlformats.org/officeDocument/2006/math">
                    <m:sSub>
                      <m:sSubPr>
                        <m:ctrlPr>
                          <a:rPr lang="en-US" altLang="zh-TW" sz="1800" smtClean="0"/>
                        </m:ctrlPr>
                      </m:sSubPr>
                      <m:e>
                        <m:r>
                          <a:rPr lang="en-US" altLang="zh-TW" sz="1800" smtClean="0"/>
                          <m:t>𝑑</m:t>
                        </m:r>
                      </m:e>
                      <m:sub>
                        <m:r>
                          <a:rPr lang="en-US" altLang="zh-TW" sz="1800" smtClean="0"/>
                          <m:t>1</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r>
                          <a:rPr lang="en-US" altLang="zh-TW" sz="1800" smtClean="0"/>
                          <m:t>−1</m:t>
                        </m:r>
                      </m:sub>
                    </m:sSub>
                    <m:r>
                      <a:rPr lang="en-US" altLang="zh-TW" sz="1800" smtClean="0"/>
                      <m:t>, </m:t>
                    </m:r>
                    <m:sSub>
                      <m:sSubPr>
                        <m:ctrlPr>
                          <a:rPr lang="en-US" altLang="zh-TW" sz="1800" smtClean="0"/>
                        </m:ctrlPr>
                      </m:sSubPr>
                      <m:e>
                        <m:r>
                          <a:rPr lang="en-US" altLang="zh-TW" sz="1800" smtClean="0"/>
                          <m:t>𝑑</m:t>
                        </m:r>
                      </m:e>
                      <m:sub>
                        <m:r>
                          <a:rPr lang="en-US" altLang="zh-TW" sz="1800" smtClean="0"/>
                          <m:t>2</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r>
                          <a:rPr lang="en-US" altLang="zh-TW" sz="1800" smtClean="0"/>
                          <m:t>−2</m:t>
                        </m:r>
                      </m:sub>
                    </m:sSub>
                    <m:r>
                      <a:rPr lang="en-US" altLang="zh-TW" sz="1800" smtClean="0"/>
                      <m:t>,</m:t>
                    </m:r>
                    <m:sSub>
                      <m:sSubPr>
                        <m:ctrlPr>
                          <a:rPr lang="en-US" altLang="zh-TW" sz="1800" smtClean="0"/>
                        </m:ctrlPr>
                      </m:sSubPr>
                      <m:e>
                        <m:r>
                          <a:rPr lang="en-US" altLang="zh-TW" sz="1800" smtClean="0"/>
                          <m:t>𝑑</m:t>
                        </m:r>
                      </m:e>
                      <m:sub>
                        <m:r>
                          <a:rPr lang="en-US" altLang="zh-TW" sz="1800" smtClean="0"/>
                          <m:t>3</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r>
                          <a:rPr lang="en-US" altLang="zh-TW" sz="1800" smtClean="0"/>
                          <m:t>+1</m:t>
                        </m:r>
                      </m:sub>
                    </m:sSub>
                    <m:r>
                      <a:rPr lang="en-US" altLang="zh-TW" sz="1800" smtClean="0"/>
                      <m:t>,</m:t>
                    </m:r>
                    <m:sSub>
                      <m:sSubPr>
                        <m:ctrlPr>
                          <a:rPr lang="en-US" altLang="zh-TW" sz="1800" smtClean="0"/>
                        </m:ctrlPr>
                      </m:sSubPr>
                      <m:e>
                        <m:r>
                          <a:rPr lang="en-US" altLang="zh-TW" sz="1800" smtClean="0"/>
                          <m:t>𝑑</m:t>
                        </m:r>
                      </m:e>
                      <m:sub>
                        <m:r>
                          <a:rPr lang="en-US" altLang="zh-TW" sz="1800" smtClean="0"/>
                          <m:t>4</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sub>
                    </m:sSub>
                    <m:r>
                      <a:rPr lang="en-US" altLang="zh-TW" sz="1800" smtClean="0"/>
                      <m:t>−</m:t>
                    </m:r>
                    <m:sSub>
                      <m:sSubPr>
                        <m:ctrlPr>
                          <a:rPr lang="en-US" altLang="zh-TW" sz="1800" smtClean="0"/>
                        </m:ctrlPr>
                      </m:sSubPr>
                      <m:e>
                        <m:r>
                          <a:rPr lang="en-US" altLang="zh-TW" sz="1800" smtClean="0"/>
                          <m:t>𝑦</m:t>
                        </m:r>
                      </m:e>
                      <m:sub>
                        <m:r>
                          <a:rPr lang="en-US" altLang="zh-TW" sz="1800" smtClean="0"/>
                          <m:t>𝑥</m:t>
                        </m:r>
                        <m:r>
                          <a:rPr lang="en-US" altLang="zh-TW" sz="1800" smtClean="0"/>
                          <m:t>+2</m:t>
                        </m:r>
                      </m:sub>
                    </m:sSub>
                  </m:oMath>
                </a14:m>
                <a:endParaRPr lang="en-US" altLang="zh-TW" sz="1800" dirty="0" smtClean="0"/>
              </a:p>
              <a:p>
                <a:pPr lvl="1"/>
                <a:r>
                  <a:rPr lang="en-US" altLang="zh-TW" sz="1800" dirty="0" err="1" smtClean="0"/>
                  <a:t>Featrue</a:t>
                </a:r>
                <a:r>
                  <a:rPr lang="en-US" altLang="zh-TW" sz="1800" dirty="0" smtClean="0"/>
                  <a:t> vector: </a:t>
                </a:r>
                <a14:m>
                  <m:oMath xmlns:m="http://schemas.openxmlformats.org/officeDocument/2006/math">
                    <m:r>
                      <a:rPr lang="en-US" altLang="zh-TW" sz="1800" smtClean="0"/>
                      <m:t>(</m:t>
                    </m:r>
                    <m:r>
                      <a:rPr lang="en-US" altLang="zh-TW" sz="1800" smtClean="0"/>
                      <m:t>𝑎𝑣𝑔</m:t>
                    </m:r>
                    <m:d>
                      <m:dPr>
                        <m:ctrlPr>
                          <a:rPr lang="en-US" altLang="zh-TW" sz="1800" smtClean="0"/>
                        </m:ctrlPr>
                      </m:dPr>
                      <m:e>
                        <m:sSub>
                          <m:sSubPr>
                            <m:ctrlPr>
                              <a:rPr lang="en-US" altLang="zh-TW" sz="1800" smtClean="0"/>
                            </m:ctrlPr>
                          </m:sSubPr>
                          <m:e>
                            <m:r>
                              <a:rPr lang="en-US" altLang="zh-TW" sz="1800" smtClean="0"/>
                              <m:t>𝑑</m:t>
                            </m:r>
                          </m:e>
                          <m:sub>
                            <m:r>
                              <a:rPr lang="en-US" altLang="zh-TW" sz="1800" smtClean="0"/>
                              <m:t>1</m:t>
                            </m:r>
                          </m:sub>
                        </m:sSub>
                        <m:r>
                          <a:rPr lang="en-US" altLang="zh-TW" sz="1800" smtClean="0"/>
                          <m:t>−</m:t>
                        </m:r>
                        <m:sSub>
                          <m:sSubPr>
                            <m:ctrlPr>
                              <a:rPr lang="en-US" altLang="zh-TW" sz="1800" smtClean="0"/>
                            </m:ctrlPr>
                          </m:sSubPr>
                          <m:e>
                            <m:r>
                              <a:rPr lang="en-US" altLang="zh-TW" sz="1800" smtClean="0"/>
                              <m:t>𝑑</m:t>
                            </m:r>
                          </m:e>
                          <m:sub>
                            <m:r>
                              <a:rPr lang="en-US" altLang="zh-TW" sz="1800" smtClean="0"/>
                              <m:t>2</m:t>
                            </m:r>
                          </m:sub>
                        </m:sSub>
                      </m:e>
                    </m:d>
                    <m:r>
                      <a:rPr lang="en-US" altLang="zh-TW" sz="1800" smtClean="0"/>
                      <m:t>,</m:t>
                    </m:r>
                    <m:sSub>
                      <m:sSubPr>
                        <m:ctrlPr>
                          <a:rPr lang="en-US" altLang="zh-TW" sz="1800" smtClean="0"/>
                        </m:ctrlPr>
                      </m:sSubPr>
                      <m:e>
                        <m:r>
                          <a:rPr lang="en-US" altLang="zh-TW" sz="1800" smtClean="0"/>
                          <m:t>𝑦</m:t>
                        </m:r>
                      </m:e>
                      <m:sub>
                        <m:r>
                          <a:rPr lang="en-US" altLang="zh-TW" sz="1800" smtClean="0"/>
                          <m:t>𝑥</m:t>
                        </m:r>
                      </m:sub>
                    </m:sSub>
                    <m:r>
                      <a:rPr lang="en-US" altLang="zh-TW" sz="1800" smtClean="0"/>
                      <m:t>,</m:t>
                    </m:r>
                    <m:r>
                      <a:rPr lang="en-US" altLang="zh-TW" sz="1800" smtClean="0"/>
                      <m:t>𝑎𝑣𝑔</m:t>
                    </m:r>
                    <m:d>
                      <m:dPr>
                        <m:ctrlPr>
                          <a:rPr lang="en-US" altLang="zh-TW" sz="1800" smtClean="0"/>
                        </m:ctrlPr>
                      </m:dPr>
                      <m:e>
                        <m:sSub>
                          <m:sSubPr>
                            <m:ctrlPr>
                              <a:rPr lang="en-US" altLang="zh-TW" sz="1800" smtClean="0"/>
                            </m:ctrlPr>
                          </m:sSubPr>
                          <m:e>
                            <m:r>
                              <a:rPr lang="en-US" altLang="zh-TW" sz="1800" smtClean="0"/>
                              <m:t>𝑑</m:t>
                            </m:r>
                          </m:e>
                          <m:sub>
                            <m:r>
                              <a:rPr lang="en-US" altLang="zh-TW" sz="1800" smtClean="0"/>
                              <m:t>3</m:t>
                            </m:r>
                          </m:sub>
                        </m:sSub>
                        <m:r>
                          <a:rPr lang="en-US" altLang="zh-TW" sz="1800" smtClean="0"/>
                          <m:t>−</m:t>
                        </m:r>
                        <m:sSub>
                          <m:sSubPr>
                            <m:ctrlPr>
                              <a:rPr lang="en-US" altLang="zh-TW" sz="1800" smtClean="0"/>
                            </m:ctrlPr>
                          </m:sSubPr>
                          <m:e>
                            <m:r>
                              <a:rPr lang="en-US" altLang="zh-TW" sz="1800" smtClean="0"/>
                              <m:t>𝑑</m:t>
                            </m:r>
                          </m:e>
                          <m:sub>
                            <m:r>
                              <a:rPr lang="en-US" altLang="zh-TW" sz="1800" smtClean="0"/>
                              <m:t>4</m:t>
                            </m:r>
                          </m:sub>
                        </m:sSub>
                      </m:e>
                    </m:d>
                    <m:r>
                      <a:rPr lang="en-US" altLang="zh-TW" sz="1800" smtClean="0"/>
                      <m:t>)</m:t>
                    </m:r>
                  </m:oMath>
                </a14:m>
                <a:endParaRPr lang="zh-TW" altLang="en-US" sz="1800" dirty="0"/>
              </a:p>
              <a:p>
                <a:pPr>
                  <a:buFont typeface="+mj-lt"/>
                  <a:buAutoNum type="arabicPeriod"/>
                </a:pPr>
                <a:r>
                  <a:rPr lang="en-US" altLang="zh-TW" sz="1800" dirty="0"/>
                  <a:t>T-term </a:t>
                </a:r>
                <a:r>
                  <a:rPr lang="en-US" altLang="zh-TW" sz="1800" dirty="0" smtClean="0"/>
                  <a:t>Construction</a:t>
                </a:r>
              </a:p>
              <a:p>
                <a:pPr lvl="1"/>
                <a:r>
                  <a:rPr lang="en-US" altLang="zh-TW" sz="1800" dirty="0" smtClean="0"/>
                  <a:t>k-means</a:t>
                </a:r>
                <a:endParaRPr lang="zh-TW" altLang="en-US" sz="1800" dirty="0"/>
              </a:p>
              <a:p>
                <a:pPr>
                  <a:buFont typeface="+mj-lt"/>
                  <a:buAutoNum type="arabicPeriod"/>
                </a:pPr>
                <a:r>
                  <a:rPr lang="en-US" altLang="zh-TW" sz="1800" dirty="0" smtClean="0"/>
                  <a:t>Term Sequence Construction</a:t>
                </a:r>
                <a:endParaRPr lang="zh-TW" altLang="en-US" sz="1800" dirty="0"/>
              </a:p>
              <a:p>
                <a:pPr lvl="1"/>
                <a:r>
                  <a:rPr lang="en-US" altLang="zh-TW" sz="1800" dirty="0" smtClean="0"/>
                  <a:t>Time series </a:t>
                </a:r>
                <a:r>
                  <a:rPr lang="en-US" altLang="zh-TW" sz="1800" dirty="0" smtClean="0">
                    <a:sym typeface="Wingdings" pitchFamily="2" charset="2"/>
                  </a:rPr>
                  <a:t> symbolic sequence</a:t>
                </a:r>
                <a:endParaRPr lang="en-US" altLang="zh-TW" sz="1800" dirty="0" smtClean="0"/>
              </a:p>
              <a:p>
                <a:pPr>
                  <a:buFont typeface="+mj-lt"/>
                  <a:buAutoNum type="arabicPeriod"/>
                </a:pPr>
                <a:r>
                  <a:rPr lang="en-US" altLang="zh-TW" sz="1800" dirty="0" smtClean="0"/>
                  <a:t>T-term Assignment</a:t>
                </a:r>
              </a:p>
              <a:p>
                <a:pPr>
                  <a:buFont typeface="+mj-lt"/>
                  <a:buAutoNum type="arabicPeriod"/>
                </a:pPr>
                <a:r>
                  <a:rPr lang="en-US" altLang="zh-TW" sz="1800" dirty="0" smtClean="0"/>
                  <a:t>Classification Using </a:t>
                </a:r>
                <a:r>
                  <a:rPr lang="en-US" altLang="zh-TW" sz="1800" dirty="0" err="1" smtClean="0"/>
                  <a:t>lcs</a:t>
                </a:r>
                <a:r>
                  <a:rPr lang="en-US" altLang="zh-TW" sz="1800" dirty="0" smtClean="0"/>
                  <a:t> length</a:t>
                </a:r>
                <a:endParaRPr lang="en-US" altLang="zh-TW" sz="1800" dirty="0"/>
              </a:p>
              <a:p>
                <a:pPr lvl="1"/>
                <a:endParaRPr lang="zh-TW" altLang="en-US" sz="1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593" t="-809"/>
                </a:stretch>
              </a:blipFill>
            </p:spPr>
            <p:txBody>
              <a:bodyPr/>
              <a:lstStyle/>
              <a:p>
                <a:r>
                  <a:rPr lang="zh-TW" altLang="en-US">
                    <a:noFill/>
                  </a:rPr>
                  <a:t> </a:t>
                </a:r>
              </a:p>
            </p:txBody>
          </p:sp>
        </mc:Fallback>
      </mc:AlternateContent>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2120" y="3789040"/>
            <a:ext cx="3048426" cy="2286319"/>
          </a:xfrm>
          <a:prstGeom prst="rect">
            <a:avLst/>
          </a:prstGeom>
        </p:spPr>
      </p:pic>
    </p:spTree>
    <p:extLst>
      <p:ext uri="{BB962C8B-B14F-4D97-AF65-F5344CB8AC3E}">
        <p14:creationId xmlns:p14="http://schemas.microsoft.com/office/powerpoint/2010/main" val="2683767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18745"/>
            <a:ext cx="8229600" cy="4488872"/>
          </a:xfrm>
        </p:spPr>
      </p:pic>
    </p:spTree>
    <p:extLst>
      <p:ext uri="{BB962C8B-B14F-4D97-AF65-F5344CB8AC3E}">
        <p14:creationId xmlns:p14="http://schemas.microsoft.com/office/powerpoint/2010/main" val="110020337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333</Words>
  <Application>Microsoft Office PowerPoint</Application>
  <PresentationFormat>如螢幕大小 (4:3)</PresentationFormat>
  <Paragraphs>28</Paragraphs>
  <Slides>7</Slides>
  <Notes>0</Notes>
  <HiddenSlides>0</HiddenSlides>
  <MMClips>0</MMClips>
  <ScaleCrop>false</ScaleCrop>
  <HeadingPairs>
    <vt:vector size="4" baseType="variant">
      <vt:variant>
        <vt:lpstr>佈景主題</vt:lpstr>
      </vt:variant>
      <vt:variant>
        <vt:i4>1</vt:i4>
      </vt:variant>
      <vt:variant>
        <vt:lpstr>投影片標題</vt:lpstr>
      </vt:variant>
      <vt:variant>
        <vt:i4>7</vt:i4>
      </vt:variant>
    </vt:vector>
  </HeadingPairs>
  <TitlesOfParts>
    <vt:vector size="8" baseType="lpstr">
      <vt:lpstr>Office 佈景主題</vt:lpstr>
      <vt:lpstr>Time Series Classification Method Based on Longest Common Subsequence and Textual Approximation</vt:lpstr>
      <vt:lpstr>Abstract</vt:lpstr>
      <vt:lpstr>TAX</vt:lpstr>
      <vt:lpstr>PowerPoint 簡報</vt:lpstr>
      <vt:lpstr>Concept</vt:lpstr>
      <vt:lpstr>Algorithm</vt:lpstr>
      <vt:lpstr>Result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YiPo</dc:creator>
  <cp:lastModifiedBy>YiPo</cp:lastModifiedBy>
  <cp:revision>13</cp:revision>
  <dcterms:created xsi:type="dcterms:W3CDTF">2012-12-17T05:30:00Z</dcterms:created>
  <dcterms:modified xsi:type="dcterms:W3CDTF">2012-12-17T14:47:38Z</dcterms:modified>
</cp:coreProperties>
</file>