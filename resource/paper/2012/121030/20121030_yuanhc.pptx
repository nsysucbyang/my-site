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261" r:id="rId4"/>
    <p:sldId id="270" r:id="rId5"/>
    <p:sldId id="258" r:id="rId6"/>
    <p:sldId id="269" r:id="rId7"/>
    <p:sldId id="267" r:id="rId8"/>
    <p:sldId id="268" r:id="rId9"/>
    <p:sldId id="271" r:id="rId10"/>
    <p:sldId id="272" r:id="rId11"/>
    <p:sldId id="273" r:id="rId12"/>
    <p:sldId id="274" r:id="rId13"/>
    <p:sldId id="275" r:id="rId14"/>
    <p:sldId id="276" r:id="rId15"/>
    <p:sldId id="278" r:id="rId16"/>
    <p:sldId id="277" r:id="rId17"/>
    <p:sldId id="279" r:id="rId18"/>
    <p:sldId id="280" r:id="rId19"/>
    <p:sldId id="265" r:id="rId2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93DF"/>
    <a:srgbClr val="6F84EB"/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39" autoAdjust="0"/>
    <p:restoredTop sz="96825" autoAdjust="0"/>
  </p:normalViewPr>
  <p:slideViewPr>
    <p:cSldViewPr>
      <p:cViewPr>
        <p:scale>
          <a:sx n="100" d="100"/>
          <a:sy n="100" d="100"/>
        </p:scale>
        <p:origin x="-1386" y="-3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A1E9FC-490C-4865-A082-2CA8BB7D5A91}" type="datetimeFigureOut">
              <a:rPr lang="zh-TW" altLang="en-US" smtClean="0"/>
              <a:t>2012/10/30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BA81C7-1ECC-4CF7-ABF1-426C762021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10503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2458AF-C11A-4B8D-B5DF-F124E30CB17B}" type="datetimeFigureOut">
              <a:rPr lang="zh-TW" altLang="en-US" smtClean="0"/>
              <a:t>2012/10/30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879042-3193-49F2-8086-409E581C9D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3517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1242392" y="1556792"/>
            <a:ext cx="6858000" cy="1656184"/>
          </a:xfrm>
        </p:spPr>
        <p:txBody>
          <a:bodyPr anchor="t" anchorCtr="0"/>
          <a:lstStyle>
            <a:lvl1pPr algn="r">
              <a:defRPr sz="3200" b="1">
                <a:solidFill>
                  <a:schemeClr val="tx1"/>
                </a:solidFill>
              </a:defRPr>
            </a:lvl1pPr>
          </a:lstStyle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219200" y="3429001"/>
            <a:ext cx="6858000" cy="1512167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r>
              <a:rPr lang="en-US" altLang="zh-TW" smtClean="0"/>
              <a:t>2012/10/30</a:t>
            </a:r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904875" y="980728"/>
            <a:ext cx="7315200" cy="2304256"/>
          </a:xfrm>
          <a:prstGeom prst="rect">
            <a:avLst/>
          </a:prstGeom>
          <a:noFill/>
          <a:ln w="6350" cap="rnd" cmpd="sng" algn="ctr">
            <a:solidFill>
              <a:schemeClr val="accent1">
                <a:lumMod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矩形 32"/>
          <p:cNvSpPr/>
          <p:nvPr/>
        </p:nvSpPr>
        <p:spPr>
          <a:xfrm>
            <a:off x="914400" y="3356992"/>
            <a:ext cx="7305675" cy="1656184"/>
          </a:xfrm>
          <a:prstGeom prst="rect">
            <a:avLst/>
          </a:prstGeom>
          <a:noFill/>
          <a:ln w="6350" cap="rnd" cmpd="sng" algn="ctr">
            <a:solidFill>
              <a:schemeClr val="accent3">
                <a:lumMod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矩形 21"/>
          <p:cNvSpPr/>
          <p:nvPr/>
        </p:nvSpPr>
        <p:spPr>
          <a:xfrm>
            <a:off x="904875" y="980728"/>
            <a:ext cx="228600" cy="230425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>
            <a:off x="904875" y="3356992"/>
            <a:ext cx="238125" cy="1656184"/>
          </a:xfrm>
          <a:prstGeom prst="rect">
            <a:avLst/>
          </a:prstGeom>
          <a:solidFill>
            <a:schemeClr val="accent3">
              <a:lumMod val="75000"/>
            </a:schemeClr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2012/10/30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  <a:lvl2pPr>
              <a:defRPr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 eaLnBrk="1" latinLnBrk="0" hangingPunct="1"/>
            <a:r>
              <a:rPr lang="zh-TW" altLang="en-US" dirty="0" smtClean="0"/>
              <a:t>按一下以編輯母片文字樣式</a:t>
            </a:r>
          </a:p>
          <a:p>
            <a:pPr lvl="1" eaLnBrk="1" latinLnBrk="0" hangingPunct="1"/>
            <a:r>
              <a:rPr lang="zh-TW" altLang="en-US" dirty="0" smtClean="0"/>
              <a:t>第二層</a:t>
            </a:r>
          </a:p>
          <a:p>
            <a:pPr lvl="2" eaLnBrk="1" latinLnBrk="0" hangingPunct="1"/>
            <a:r>
              <a:rPr lang="zh-TW" altLang="en-US" dirty="0" smtClean="0"/>
              <a:t>第三層</a:t>
            </a:r>
          </a:p>
          <a:p>
            <a:pPr lvl="3" eaLnBrk="1" latinLnBrk="0" hangingPunct="1"/>
            <a:r>
              <a:rPr lang="zh-TW" altLang="en-US" dirty="0" smtClean="0"/>
              <a:t>第四層</a:t>
            </a:r>
          </a:p>
          <a:p>
            <a:pPr lvl="4" eaLnBrk="1" latinLnBrk="0" hangingPunct="1"/>
            <a:r>
              <a:rPr lang="zh-TW" altLang="en-US" dirty="0" smtClean="0"/>
              <a:t>第五層</a:t>
            </a:r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r>
              <a:rPr lang="en-US" altLang="zh-TW" smtClean="0"/>
              <a:t>2012/10/30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2012/10/30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2012/10/30</a:t>
            </a:r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2012/10/30</a:t>
            </a:r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等腰三角形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2012/10/30</a:t>
            </a:r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直線接點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等腰三角形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2012/10/30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直線接點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等腰三角形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內容版面配置區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2012/10/30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等腰三角形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2012/10/30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2012/10/30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直線接點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等腰三角形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直線接點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smtClean="0"/>
              <a:t>第二層</a:t>
            </a:r>
          </a:p>
          <a:p>
            <a:pPr lvl="2" eaLnBrk="1" latinLnBrk="0" hangingPunct="1"/>
            <a:r>
              <a:rPr kumimoji="0" lang="zh-TW" altLang="en-US" smtClean="0"/>
              <a:t>第三層</a:t>
            </a:r>
          </a:p>
          <a:p>
            <a:pPr lvl="3" eaLnBrk="1" latinLnBrk="0" hangingPunct="1"/>
            <a:r>
              <a:rPr kumimoji="0" lang="zh-TW" altLang="en-US" smtClean="0"/>
              <a:t>第四層</a:t>
            </a:r>
          </a:p>
          <a:p>
            <a:pPr lvl="4" eaLnBrk="1" latinLnBrk="0" hangingPunct="1"/>
            <a:r>
              <a:rPr kumimoji="0" lang="zh-TW" altLang="en-US" smtClean="0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altLang="zh-TW" smtClean="0"/>
              <a:t>2012/10/30</a:t>
            </a:r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8" name="直線接點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直線接點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等腰三角形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 ftr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239416" y="1052736"/>
            <a:ext cx="6858000" cy="2160240"/>
          </a:xfrm>
        </p:spPr>
        <p:txBody>
          <a:bodyPr>
            <a:noAutofit/>
          </a:bodyPr>
          <a:lstStyle/>
          <a:p>
            <a:pPr algn="l"/>
            <a:r>
              <a:rPr lang="en-US" altLang="zh-TW" sz="3600" dirty="0" smtClean="0"/>
              <a:t>DNA </a:t>
            </a:r>
            <a:r>
              <a:rPr lang="en-US" altLang="zh-TW" sz="3600" dirty="0"/>
              <a:t>S</a:t>
            </a:r>
            <a:r>
              <a:rPr lang="en-US" altLang="zh-TW" sz="3600" dirty="0" smtClean="0"/>
              <a:t>plice Site Sequences Clustering Method</a:t>
            </a:r>
            <a:r>
              <a:rPr lang="en-US" altLang="zh-TW" sz="3600" dirty="0"/>
              <a:t/>
            </a:r>
            <a:br>
              <a:rPr lang="en-US" altLang="zh-TW" sz="3600" dirty="0"/>
            </a:br>
            <a:r>
              <a:rPr lang="en-US" altLang="zh-TW" sz="3600" dirty="0"/>
              <a:t>for </a:t>
            </a:r>
            <a:r>
              <a:rPr lang="en-US" altLang="zh-TW" sz="3600" dirty="0" smtClean="0"/>
              <a:t>Conservativeness Analysis</a:t>
            </a:r>
            <a:br>
              <a:rPr lang="en-US" altLang="zh-TW" sz="3600" dirty="0" smtClean="0"/>
            </a:br>
            <a:r>
              <a:rPr lang="en-US" altLang="zh-TW" sz="2400" b="0" dirty="0"/>
              <a:t>Progress in Natural Science </a:t>
            </a:r>
            <a:r>
              <a:rPr lang="en-US" altLang="zh-TW" sz="2400" b="0" dirty="0" smtClean="0"/>
              <a:t>vol.19, pp.511-516, 2009</a:t>
            </a:r>
            <a:r>
              <a:rPr lang="en-US" altLang="zh-TW" sz="2400" dirty="0"/>
              <a:t/>
            </a:r>
            <a:br>
              <a:rPr lang="en-US" altLang="zh-TW" sz="2400" dirty="0"/>
            </a:br>
            <a:endParaRPr lang="zh-TW" altLang="en-US" sz="40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285208" y="3501008"/>
            <a:ext cx="6817568" cy="1414812"/>
          </a:xfrm>
        </p:spPr>
        <p:txBody>
          <a:bodyPr>
            <a:normAutofit/>
          </a:bodyPr>
          <a:lstStyle/>
          <a:p>
            <a:pPr algn="l"/>
            <a:r>
              <a:rPr lang="en-US" altLang="zh-TW" sz="2400" dirty="0" err="1" smtClean="0"/>
              <a:t>Quanwei</a:t>
            </a:r>
            <a:r>
              <a:rPr lang="en-US" altLang="zh-TW" sz="2400" dirty="0" smtClean="0"/>
              <a:t> Zhang, </a:t>
            </a:r>
            <a:r>
              <a:rPr lang="en-US" altLang="zh-TW" sz="2400" dirty="0" err="1" smtClean="0"/>
              <a:t>Qinke</a:t>
            </a:r>
            <a:r>
              <a:rPr lang="en-US" altLang="zh-TW" sz="2400" dirty="0" smtClean="0"/>
              <a:t> </a:t>
            </a:r>
            <a:r>
              <a:rPr lang="en-US" altLang="zh-TW" sz="2400" dirty="0" err="1" smtClean="0"/>
              <a:t>Peng</a:t>
            </a:r>
            <a:r>
              <a:rPr lang="en-US" altLang="zh-TW" sz="2400" dirty="0" smtClean="0"/>
              <a:t> *, Tao </a:t>
            </a:r>
            <a:r>
              <a:rPr lang="en-US" altLang="zh-TW" sz="2400" dirty="0" err="1" smtClean="0"/>
              <a:t>Xu</a:t>
            </a:r>
            <a:r>
              <a:rPr lang="en-US" altLang="zh-TW" dirty="0" smtClean="0">
                <a:solidFill>
                  <a:schemeClr val="tx1"/>
                </a:solidFill>
              </a:rPr>
              <a:t/>
            </a:r>
            <a:br>
              <a:rPr lang="en-US" altLang="zh-TW" dirty="0" smtClean="0">
                <a:solidFill>
                  <a:schemeClr val="tx1"/>
                </a:solidFill>
              </a:rPr>
            </a:br>
            <a:r>
              <a:rPr lang="en-US" altLang="zh-TW" dirty="0"/>
              <a:t>State Key Laboratory for Manufacturing Systems Engineering, School of Electronic and Information </a:t>
            </a:r>
            <a:r>
              <a:rPr lang="en-US" altLang="zh-TW" dirty="0" smtClean="0"/>
              <a:t>Engineering,</a:t>
            </a:r>
            <a:br>
              <a:rPr lang="en-US" altLang="zh-TW" dirty="0" smtClean="0"/>
            </a:br>
            <a:r>
              <a:rPr lang="en-US" altLang="zh-TW" dirty="0" smtClean="0"/>
              <a:t>Xi’an </a:t>
            </a:r>
            <a:r>
              <a:rPr lang="en-US" altLang="zh-TW" dirty="0" err="1" smtClean="0"/>
              <a:t>Jiaotong</a:t>
            </a:r>
            <a:r>
              <a:rPr lang="en-US" altLang="zh-TW" dirty="0" smtClean="0"/>
              <a:t> University, Xi’an 710049, China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1</a:t>
            </a:fld>
            <a:endParaRPr lang="zh-TW" alt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2012/10/30</a:t>
            </a:r>
            <a:endParaRPr lang="zh-TW" altLang="en-US"/>
          </a:p>
        </p:txBody>
      </p:sp>
      <p:sp>
        <p:nvSpPr>
          <p:cNvPr id="6" name="副標題 2"/>
          <p:cNvSpPr txBox="1">
            <a:spLocks/>
          </p:cNvSpPr>
          <p:nvPr/>
        </p:nvSpPr>
        <p:spPr>
          <a:xfrm>
            <a:off x="1259632" y="5257008"/>
            <a:ext cx="6817568" cy="41319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 algn="r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None/>
              <a:defRPr kumimoji="0" sz="2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None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None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None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sz="2400" dirty="0" err="1" smtClean="0">
                <a:solidFill>
                  <a:schemeClr val="tx1"/>
                </a:solidFill>
              </a:rPr>
              <a:t>Presentor</a:t>
            </a:r>
            <a:r>
              <a:rPr lang="zh-TW" altLang="en-US" sz="2400" dirty="0" smtClean="0">
                <a:solidFill>
                  <a:schemeClr val="tx1"/>
                </a:solidFill>
              </a:rPr>
              <a:t>：</a:t>
            </a:r>
            <a:r>
              <a:rPr lang="en-US" altLang="zh-TW" sz="2400" dirty="0" err="1" smtClean="0">
                <a:solidFill>
                  <a:schemeClr val="tx1"/>
                </a:solidFill>
              </a:rPr>
              <a:t>Hsin-Chuan</a:t>
            </a:r>
            <a:r>
              <a:rPr lang="en-US" altLang="zh-TW" sz="2400" dirty="0" smtClean="0">
                <a:solidFill>
                  <a:schemeClr val="tx1"/>
                </a:solidFill>
              </a:rPr>
              <a:t> Yuan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3136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>
                <a:solidFill>
                  <a:schemeClr val="tx1"/>
                </a:solidFill>
              </a:rPr>
              <a:t>Abstract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altLang="zh-TW" dirty="0"/>
              <a:t>DNA sequences that are near to splice sites have remarkable conservativeness, and many researchers have contributed to the </a:t>
            </a:r>
            <a:r>
              <a:rPr lang="en-US" altLang="zh-TW" dirty="0" smtClean="0"/>
              <a:t>prediction of </a:t>
            </a:r>
            <a:r>
              <a:rPr lang="en-US" altLang="zh-TW" dirty="0"/>
              <a:t>splice site. In order to mine the underlying biological knowledge, we analyze the conservativeness of DNA splice site </a:t>
            </a:r>
            <a:r>
              <a:rPr lang="en-US" altLang="zh-TW" dirty="0" smtClean="0"/>
              <a:t>adjacent sequences </a:t>
            </a:r>
            <a:r>
              <a:rPr lang="en-US" altLang="zh-TW" dirty="0"/>
              <a:t>by clustering. Firstly, we propose a kind of DNA splice site sequences clustering method which is based on DBSCAN, </a:t>
            </a:r>
            <a:r>
              <a:rPr lang="en-US" altLang="zh-TW" dirty="0" smtClean="0"/>
              <a:t>and use </a:t>
            </a:r>
            <a:r>
              <a:rPr lang="en-US" altLang="zh-TW" dirty="0"/>
              <a:t>four kinds of dissimilarity calculating methods. Then, we analyze the conservative feature of the clustering results and the </a:t>
            </a:r>
            <a:r>
              <a:rPr lang="en-US" altLang="zh-TW" dirty="0" smtClean="0"/>
              <a:t>experimental data </a:t>
            </a:r>
            <a:r>
              <a:rPr lang="en-US" altLang="zh-TW" dirty="0"/>
              <a:t>set.</a:t>
            </a:r>
            <a:endParaRPr lang="zh-TW" altLang="en-US" dirty="0">
              <a:latin typeface="+mj-lt"/>
              <a:ea typeface="+mj-ea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2012/10/30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7344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梯形 10"/>
          <p:cNvSpPr/>
          <p:nvPr/>
        </p:nvSpPr>
        <p:spPr>
          <a:xfrm rot="10800000">
            <a:off x="1619673" y="2412853"/>
            <a:ext cx="6840760" cy="1872208"/>
          </a:xfrm>
          <a:prstGeom prst="trapezoid">
            <a:avLst>
              <a:gd name="adj" fmla="val 159152"/>
            </a:avLst>
          </a:prstGeom>
          <a:gradFill>
            <a:gsLst>
              <a:gs pos="22000">
                <a:schemeClr val="accent1">
                  <a:lumMod val="26000"/>
                  <a:lumOff val="74000"/>
                </a:schemeClr>
              </a:gs>
              <a:gs pos="100000">
                <a:schemeClr val="accent1">
                  <a:tint val="23500"/>
                  <a:satMod val="160000"/>
                  <a:lumMod val="71000"/>
                  <a:lumOff val="29000"/>
                  <a:alpha val="24000"/>
                </a:schemeClr>
              </a:gs>
            </a:gsLst>
            <a:lin ang="5400000" scaled="0"/>
          </a:gra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RNA Splice </a:t>
            </a:r>
            <a:r>
              <a:rPr lang="en-US" altLang="zh-TW" dirty="0" smtClean="0"/>
              <a:t>Site </a:t>
            </a:r>
            <a:r>
              <a:rPr lang="en-US" altLang="zh-TW" dirty="0" smtClean="0"/>
              <a:t>Adjacent Sequences</a:t>
            </a:r>
            <a:r>
              <a:rPr lang="en-US" altLang="zh-TW" dirty="0" smtClean="0"/>
              <a:t>(1)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2012/10/30</a:t>
            </a:r>
            <a:endParaRPr lang="zh-TW" altLang="en-US"/>
          </a:p>
        </p:txBody>
      </p:sp>
      <p:grpSp>
        <p:nvGrpSpPr>
          <p:cNvPr id="7" name="群組 6"/>
          <p:cNvGrpSpPr/>
          <p:nvPr/>
        </p:nvGrpSpPr>
        <p:grpSpPr>
          <a:xfrm>
            <a:off x="440220" y="3749268"/>
            <a:ext cx="7228124" cy="1623948"/>
            <a:chOff x="1652663" y="1178924"/>
            <a:chExt cx="6304584" cy="1416456"/>
          </a:xfrm>
        </p:grpSpPr>
        <p:pic>
          <p:nvPicPr>
            <p:cNvPr id="5122" name="Picture 2" descr="C:\Users\Robert\Desktop\2000px-Pre-mRNA_to_mRNA.svg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2663" y="1340768"/>
              <a:ext cx="6304584" cy="12546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直線圖說文字 2 5"/>
            <p:cNvSpPr/>
            <p:nvPr/>
          </p:nvSpPr>
          <p:spPr>
            <a:xfrm>
              <a:off x="6887963" y="2097201"/>
              <a:ext cx="924397" cy="323688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-45257"/>
                <a:gd name="adj6" fmla="val -46667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外顯子</a:t>
              </a:r>
            </a:p>
          </p:txBody>
        </p:sp>
        <p:sp>
          <p:nvSpPr>
            <p:cNvPr id="8" name="直線圖說文字 2 7"/>
            <p:cNvSpPr/>
            <p:nvPr/>
          </p:nvSpPr>
          <p:spPr>
            <a:xfrm>
              <a:off x="5959694" y="1178924"/>
              <a:ext cx="924397" cy="323688"/>
            </a:xfrm>
            <a:prstGeom prst="borderCallout2">
              <a:avLst>
                <a:gd name="adj1" fmla="val 51769"/>
                <a:gd name="adj2" fmla="val -4479"/>
                <a:gd name="adj3" fmla="val 51769"/>
                <a:gd name="adj4" fmla="val -19236"/>
                <a:gd name="adj5" fmla="val 105162"/>
                <a:gd name="adj6" fmla="val -47952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內含子</a:t>
              </a:r>
              <a:endParaRPr lang="zh-TW" altLang="en-US" dirty="0"/>
            </a:p>
          </p:txBody>
        </p:sp>
      </p:grpSp>
      <p:pic>
        <p:nvPicPr>
          <p:cNvPr id="5123" name="Picture 3" descr="C:\Users\Robert\Desktop\Ch5A4.gif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116709"/>
            <a:ext cx="8657853" cy="2157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0185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RNA Splice Site Adjacent Sequences(2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2012/10/30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76264"/>
            <a:ext cx="9144000" cy="4509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3" descr="C:\Users\Robert\Desktop\Ch5A4.gif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847" y1="38095" x2="847" y2="63946"/>
                        <a14:foregroundMark x1="339" y1="61905" x2="98644" y2="61905"/>
                        <a14:foregroundMark x1="97966" y1="35374" x2="98136" y2="68707"/>
                        <a14:foregroundMark x1="98475" y1="36735" x2="169" y2="37415"/>
                        <a14:foregroundMark x1="847" y1="33333" x2="847" y2="65306"/>
                        <a14:foregroundMark x1="678" y1="50340" x2="98136" y2="50340"/>
                        <a14:foregroundMark x1="339" y1="56463" x2="98136" y2="56463"/>
                        <a14:foregroundMark x1="847" y1="42857" x2="98136" y2="43537"/>
                        <a14:foregroundMark x1="9492" y1="6803" x2="16780" y2="8163"/>
                        <a14:foregroundMark x1="9153" y1="21769" x2="19492" y2="19048"/>
                        <a14:foregroundMark x1="12712" y1="1361" x2="12373" y2="40816"/>
                        <a14:foregroundMark x1="7966" y1="19048" x2="20847" y2="19048"/>
                        <a14:foregroundMark x1="1864" y1="42857" x2="2034" y2="0"/>
                        <a14:foregroundMark x1="99322" y1="45578" x2="99153" y2="0"/>
                        <a14:foregroundMark x1="508" y1="32653" x2="99831" y2="24490"/>
                        <a14:foregroundMark x1="1525" y1="4082" x2="99831" y2="4762"/>
                        <a14:foregroundMark x1="9492" y1="11565" x2="99831" y2="11565"/>
                        <a14:foregroundMark x1="54407" y1="22449" x2="99831" y2="21088"/>
                      </a14:backgroundRemoval>
                    </a14:imgEffect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116709"/>
            <a:ext cx="8657853" cy="2157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6516216" y="1700808"/>
            <a:ext cx="2754660" cy="737592"/>
          </a:xfrm>
          <a:prstGeom prst="rect">
            <a:avLst/>
          </a:prstGeom>
          <a:gradFill>
            <a:gsLst>
              <a:gs pos="0">
                <a:schemeClr val="bg1">
                  <a:lumMod val="0"/>
                  <a:lumOff val="100000"/>
                  <a:alpha val="0"/>
                </a:schemeClr>
              </a:gs>
              <a:gs pos="99583">
                <a:schemeClr val="bg1"/>
              </a:gs>
              <a:gs pos="35000">
                <a:schemeClr val="bg1">
                  <a:alpha val="5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0800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47086E-6 L 0.38489 0.00162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36" y="6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Robert\Desktop\1000px-DBSCAN-Illustration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1952" y="3212976"/>
            <a:ext cx="4716016" cy="3400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dirty="0" smtClean="0">
                <a:solidFill>
                  <a:schemeClr val="tx1"/>
                </a:solidFill>
              </a:rPr>
              <a:t>DBSCAN(1)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5378152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zh-TW" sz="2800" dirty="0">
                    <a:latin typeface="+mj-lt"/>
                  </a:rPr>
                  <a:t>DBSCAN (for density-based spatial clustering of applications with noise) is a data clustering </a:t>
                </a:r>
                <a:r>
                  <a:rPr lang="en-US" altLang="zh-TW" sz="2800" dirty="0" smtClean="0">
                    <a:latin typeface="+mj-lt"/>
                  </a:rPr>
                  <a:t>algorithm.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TW" sz="2400" dirty="0"/>
                  <a:t> </a:t>
                </a:r>
                <a:r>
                  <a:rPr lang="en-US" altLang="zh-TW" sz="2400" dirty="0" smtClean="0"/>
                  <a:t>It </a:t>
                </a:r>
                <a:r>
                  <a:rPr lang="en-US" altLang="zh-TW" sz="2400" dirty="0"/>
                  <a:t>finds a number of clusters starting from the estimated density distribution of corresponding nodes</a:t>
                </a:r>
                <a:r>
                  <a:rPr lang="en-US" altLang="zh-TW" sz="2400" dirty="0" smtClean="0"/>
                  <a:t>.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TW" sz="2400" dirty="0" smtClean="0"/>
                  <a:t>Parameters: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</a:rPr>
                      <m:t>ɛ(</m:t>
                    </m:r>
                    <m:r>
                      <a:rPr lang="en-US" altLang="zh-TW" i="1" dirty="0" err="1">
                        <a:latin typeface="Cambria Math"/>
                      </a:rPr>
                      <m:t>𝑒𝑝𝑠</m:t>
                    </m:r>
                    <m:r>
                      <a:rPr lang="en-US" altLang="zh-TW" i="1" dirty="0">
                        <a:latin typeface="Cambria Math"/>
                      </a:rPr>
                      <m:t>)</m:t>
                    </m:r>
                  </m:oMath>
                </a14:m>
                <a:r>
                  <a:rPr lang="zh-TW" altLang="en-US" dirty="0"/>
                  <a:t>：</a:t>
                </a:r>
                <a:r>
                  <a:rPr lang="en-US" altLang="zh-TW" dirty="0"/>
                  <a:t>the radius of a circle </a:t>
                </a:r>
              </a:p>
              <a:p>
                <a:pPr marL="274320" lvl="1" indent="0">
                  <a:buNone/>
                </a:pPr>
                <a:r>
                  <a:rPr lang="en-US" altLang="zh-TW" dirty="0"/>
                  <a:t>	contain adjacent points.</a:t>
                </a:r>
              </a:p>
              <a:p>
                <a:pPr lvl="1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</a:rPr>
                      <m:t>𝑀𝑖𝑛𝑝𝑡𝑠</m:t>
                    </m:r>
                  </m:oMath>
                </a14:m>
                <a:r>
                  <a:rPr lang="zh-TW" altLang="en-US" dirty="0"/>
                  <a:t>：</a:t>
                </a:r>
                <a:r>
                  <a:rPr lang="en-US" altLang="zh-TW" dirty="0"/>
                  <a:t>minimum number of</a:t>
                </a:r>
              </a:p>
              <a:p>
                <a:pPr marL="274320" lvl="1" indent="0">
                  <a:lnSpc>
                    <a:spcPct val="90000"/>
                  </a:lnSpc>
                  <a:buNone/>
                </a:pPr>
                <a:r>
                  <a:rPr lang="en-US" altLang="zh-TW" dirty="0" smtClean="0"/>
                  <a:t> points required to form a cluster.</a:t>
                </a:r>
              </a:p>
              <a:p>
                <a:pPr marL="1920240" lvl="8" indent="0">
                  <a:lnSpc>
                    <a:spcPct val="90000"/>
                  </a:lnSpc>
                  <a:buNone/>
                </a:pPr>
                <a:endParaRPr lang="en-US" altLang="zh-TW" sz="1800" dirty="0" smtClean="0"/>
              </a:p>
              <a:p>
                <a:pPr marL="1920240" lvl="8" indent="0">
                  <a:lnSpc>
                    <a:spcPct val="90000"/>
                  </a:lnSpc>
                  <a:buNone/>
                </a:pPr>
                <a:r>
                  <a:rPr lang="en-US" altLang="zh-TW" sz="1800" dirty="0" smtClean="0"/>
                  <a:t>A </a:t>
                </a:r>
                <a:r>
                  <a:rPr lang="en-US" altLang="zh-TW" sz="1800" dirty="0"/>
                  <a:t>are core points. </a:t>
                </a:r>
                <a:endParaRPr lang="en-US" altLang="zh-TW" sz="1800" dirty="0" smtClean="0"/>
              </a:p>
              <a:p>
                <a:pPr marL="1920240" lvl="8" indent="0">
                  <a:lnSpc>
                    <a:spcPct val="90000"/>
                  </a:lnSpc>
                  <a:buNone/>
                </a:pPr>
                <a:r>
                  <a:rPr lang="en-US" altLang="zh-TW" sz="1800" dirty="0" smtClean="0"/>
                  <a:t>B </a:t>
                </a:r>
                <a:r>
                  <a:rPr lang="en-US" altLang="zh-TW" sz="1800" dirty="0"/>
                  <a:t>and C are </a:t>
                </a:r>
                <a:r>
                  <a:rPr lang="en-US" altLang="zh-TW" sz="1800" i="1" dirty="0" smtClean="0"/>
                  <a:t>density-reachable</a:t>
                </a:r>
              </a:p>
              <a:p>
                <a:pPr marL="1920240" lvl="8" indent="0">
                  <a:lnSpc>
                    <a:spcPct val="90000"/>
                  </a:lnSpc>
                  <a:buNone/>
                </a:pPr>
                <a:r>
                  <a:rPr lang="en-US" altLang="zh-TW" sz="1800" dirty="0" smtClean="0"/>
                  <a:t>N </a:t>
                </a:r>
                <a:r>
                  <a:rPr lang="en-US" altLang="zh-TW" sz="1800" dirty="0"/>
                  <a:t>is a noise </a:t>
                </a:r>
                <a:r>
                  <a:rPr lang="en-US" altLang="zh-TW" sz="1800" dirty="0" smtClean="0"/>
                  <a:t>point</a:t>
                </a:r>
              </a:p>
              <a:p>
                <a:pPr marL="1920240" lvl="8" indent="0">
                  <a:lnSpc>
                    <a:spcPct val="90000"/>
                  </a:lnSpc>
                  <a:buNone/>
                </a:pPr>
                <a:r>
                  <a:rPr lang="en-US" altLang="zh-TW" sz="1800" dirty="0" smtClean="0"/>
                  <a:t>(</a:t>
                </a:r>
                <a:r>
                  <a:rPr lang="en-US" altLang="zh-TW" sz="1800" dirty="0" err="1" smtClean="0"/>
                  <a:t>MinPts</a:t>
                </a:r>
                <a:r>
                  <a:rPr lang="en-US" altLang="zh-TW" sz="1800" dirty="0" smtClean="0"/>
                  <a:t>=4)</a:t>
                </a:r>
                <a:endParaRPr lang="en-US" altLang="zh-TW" sz="1800" dirty="0">
                  <a:latin typeface="+mj-lt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5378152"/>
              </a:xfrm>
              <a:blipFill rotWithShape="1">
                <a:blip r:embed="rId3"/>
                <a:stretch>
                  <a:fillRect l="-741" t="-1814" r="-963" b="-11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2012/10/30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1993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dirty="0" smtClean="0"/>
              <a:t>2012/10/30</a:t>
            </a:r>
            <a:endParaRPr lang="zh-TW" altLang="en-US" dirty="0"/>
          </a:p>
        </p:txBody>
      </p:sp>
      <p:pic>
        <p:nvPicPr>
          <p:cNvPr id="7" name="Picture 2" descr="C:\Users\Chuan\Desktop\DBSCAN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580112" y="4436836"/>
            <a:ext cx="4197999" cy="2387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</a:rPr>
              <a:t>DBSCAN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Clr>
                <a:schemeClr val="accent1">
                  <a:lumMod val="50000"/>
                </a:schemeClr>
              </a:buClr>
              <a:buSzPct val="120000"/>
              <a:buFont typeface="Wingdings" pitchFamily="2" charset="2"/>
              <a:buAutoNum type="circleNumWdWhitePlain"/>
            </a:pPr>
            <a:r>
              <a:rPr lang="en-US" altLang="zh-TW" dirty="0"/>
              <a:t>Check the object </a:t>
            </a:r>
            <a:r>
              <a:rPr lang="en-US" altLang="zh-TW" i="1" dirty="0"/>
              <a:t>p</a:t>
            </a:r>
            <a:r>
              <a:rPr lang="en-US" altLang="zh-TW" dirty="0"/>
              <a:t> that has not yet been </a:t>
            </a:r>
            <a:r>
              <a:rPr lang="en-US" altLang="zh-TW" dirty="0" smtClean="0"/>
              <a:t>processed. </a:t>
            </a:r>
            <a:r>
              <a:rPr lang="en-US" altLang="zh-TW" dirty="0">
                <a:solidFill>
                  <a:srgbClr val="FF0000"/>
                </a:solidFill>
              </a:rPr>
              <a:t>If </a:t>
            </a:r>
            <a:r>
              <a:rPr lang="en-US" altLang="zh-TW" i="1" dirty="0">
                <a:solidFill>
                  <a:srgbClr val="FF0000"/>
                </a:solidFill>
              </a:rPr>
              <a:t>p</a:t>
            </a:r>
            <a:r>
              <a:rPr lang="en-US" altLang="zh-TW" dirty="0">
                <a:solidFill>
                  <a:srgbClr val="FF0000"/>
                </a:solidFill>
              </a:rPr>
              <a:t> is a core object, </a:t>
            </a:r>
            <a:r>
              <a:rPr lang="en-US" altLang="zh-TW" dirty="0" smtClean="0">
                <a:solidFill>
                  <a:srgbClr val="FF0000"/>
                </a:solidFill>
              </a:rPr>
              <a:t>a new </a:t>
            </a:r>
            <a:r>
              <a:rPr lang="en-US" altLang="zh-TW" dirty="0">
                <a:solidFill>
                  <a:srgbClr val="FF0000"/>
                </a:solidFill>
              </a:rPr>
              <a:t>cluster </a:t>
            </a:r>
            <a:r>
              <a:rPr lang="en-US" altLang="zh-TW" i="1" dirty="0">
                <a:solidFill>
                  <a:srgbClr val="FF0000"/>
                </a:solidFill>
              </a:rPr>
              <a:t>C</a:t>
            </a:r>
            <a:r>
              <a:rPr lang="en-US" altLang="zh-TW" dirty="0">
                <a:solidFill>
                  <a:srgbClr val="FF0000"/>
                </a:solidFill>
              </a:rPr>
              <a:t> is created, </a:t>
            </a:r>
            <a:r>
              <a:rPr lang="en-US" altLang="zh-TW" dirty="0" smtClean="0">
                <a:solidFill>
                  <a:srgbClr val="FF0000"/>
                </a:solidFill>
              </a:rPr>
              <a:t>the neighbors </a:t>
            </a:r>
            <a:r>
              <a:rPr lang="en-US" altLang="zh-TW" dirty="0">
                <a:solidFill>
                  <a:srgbClr val="FF0000"/>
                </a:solidFill>
              </a:rPr>
              <a:t>of </a:t>
            </a:r>
            <a:r>
              <a:rPr lang="en-US" altLang="zh-TW" i="1" dirty="0">
                <a:solidFill>
                  <a:srgbClr val="FF0000"/>
                </a:solidFill>
              </a:rPr>
              <a:t>p</a:t>
            </a:r>
            <a:r>
              <a:rPr lang="en-US" altLang="zh-TW" dirty="0">
                <a:solidFill>
                  <a:srgbClr val="FF0000"/>
                </a:solidFill>
              </a:rPr>
              <a:t> which are </a:t>
            </a:r>
            <a:r>
              <a:rPr lang="en-US" altLang="zh-TW" dirty="0" smtClean="0">
                <a:solidFill>
                  <a:srgbClr val="FF0000"/>
                </a:solidFill>
              </a:rPr>
              <a:t>not yet </a:t>
            </a:r>
            <a:r>
              <a:rPr lang="en-US" altLang="zh-TW" dirty="0">
                <a:solidFill>
                  <a:srgbClr val="FF0000"/>
                </a:solidFill>
              </a:rPr>
              <a:t>contained in any cluster are added into cluster </a:t>
            </a:r>
            <a:r>
              <a:rPr lang="en-US" altLang="zh-TW" i="1" dirty="0">
                <a:solidFill>
                  <a:srgbClr val="FF0000"/>
                </a:solidFill>
              </a:rPr>
              <a:t>C</a:t>
            </a:r>
            <a:r>
              <a:rPr lang="en-US" altLang="zh-TW" dirty="0">
                <a:solidFill>
                  <a:srgbClr val="FF0000"/>
                </a:solidFill>
              </a:rPr>
              <a:t>.</a:t>
            </a:r>
          </a:p>
          <a:p>
            <a:pPr marL="514350" indent="-514350">
              <a:buClr>
                <a:schemeClr val="accent1">
                  <a:lumMod val="50000"/>
                </a:schemeClr>
              </a:buClr>
              <a:buSzPct val="120000"/>
              <a:buFont typeface="Wingdings" pitchFamily="2" charset="2"/>
              <a:buAutoNum type="circleNumWdWhitePlain"/>
            </a:pPr>
            <a:r>
              <a:rPr lang="en-US" altLang="zh-TW" dirty="0" smtClean="0"/>
              <a:t>Check </a:t>
            </a:r>
            <a:r>
              <a:rPr lang="en-US" altLang="zh-TW" dirty="0"/>
              <a:t>the object </a:t>
            </a:r>
            <a:r>
              <a:rPr lang="en-US" altLang="zh-TW" i="1" dirty="0"/>
              <a:t>q</a:t>
            </a:r>
            <a:r>
              <a:rPr lang="en-US" altLang="zh-TW" dirty="0"/>
              <a:t> in </a:t>
            </a:r>
            <a:r>
              <a:rPr lang="en-US" altLang="zh-TW" i="1" dirty="0"/>
              <a:t>C</a:t>
            </a:r>
            <a:r>
              <a:rPr lang="en-US" altLang="zh-TW" dirty="0"/>
              <a:t> which has not been </a:t>
            </a:r>
            <a:r>
              <a:rPr lang="en-US" altLang="zh-TW" dirty="0" smtClean="0"/>
              <a:t>checked, </a:t>
            </a:r>
            <a:r>
              <a:rPr lang="en-US" altLang="zh-TW" dirty="0" smtClean="0">
                <a:solidFill>
                  <a:srgbClr val="FF0000"/>
                </a:solidFill>
              </a:rPr>
              <a:t>if </a:t>
            </a:r>
            <a:r>
              <a:rPr lang="en-US" altLang="zh-TW" i="1" dirty="0" smtClean="0">
                <a:solidFill>
                  <a:srgbClr val="FF0000"/>
                </a:solidFill>
              </a:rPr>
              <a:t>q</a:t>
            </a:r>
            <a:r>
              <a:rPr lang="en-US" altLang="zh-TW" dirty="0" smtClean="0">
                <a:solidFill>
                  <a:srgbClr val="FF0000"/>
                </a:solidFill>
              </a:rPr>
              <a:t> is a core object, the neighbors of </a:t>
            </a:r>
            <a:r>
              <a:rPr lang="en-US" altLang="zh-TW" i="1" dirty="0" smtClean="0">
                <a:solidFill>
                  <a:srgbClr val="FF0000"/>
                </a:solidFill>
              </a:rPr>
              <a:t>q</a:t>
            </a:r>
            <a:r>
              <a:rPr lang="en-US" altLang="zh-TW" dirty="0" smtClean="0">
                <a:solidFill>
                  <a:srgbClr val="FF0000"/>
                </a:solidFill>
              </a:rPr>
              <a:t> which are not yet contained in any cluster are added into cluster </a:t>
            </a:r>
            <a:r>
              <a:rPr lang="en-US" altLang="zh-TW" i="1" dirty="0" smtClean="0">
                <a:solidFill>
                  <a:srgbClr val="FF0000"/>
                </a:solidFill>
              </a:rPr>
              <a:t>C</a:t>
            </a:r>
            <a:r>
              <a:rPr lang="en-US" altLang="zh-TW" dirty="0" smtClean="0">
                <a:solidFill>
                  <a:srgbClr val="FF0000"/>
                </a:solidFill>
              </a:rPr>
              <a:t>.</a:t>
            </a:r>
          </a:p>
          <a:p>
            <a:pPr marL="514350" indent="-514350">
              <a:buClr>
                <a:schemeClr val="accent1">
                  <a:lumMod val="50000"/>
                </a:schemeClr>
              </a:buClr>
              <a:buSzPct val="120000"/>
              <a:buFont typeface="Wingdings" pitchFamily="2" charset="2"/>
              <a:buAutoNum type="circleNumWdWhitePlain"/>
            </a:pPr>
            <a:r>
              <a:rPr lang="en-US" altLang="zh-TW" dirty="0" smtClean="0"/>
              <a:t>Repeat    until </a:t>
            </a:r>
            <a:r>
              <a:rPr lang="en-US" altLang="zh-TW" dirty="0"/>
              <a:t>all the objects in </a:t>
            </a:r>
            <a:r>
              <a:rPr lang="en-US" altLang="zh-TW" i="1" dirty="0"/>
              <a:t>C</a:t>
            </a:r>
            <a:r>
              <a:rPr lang="en-US" altLang="zh-TW" dirty="0"/>
              <a:t> are </a:t>
            </a:r>
            <a:r>
              <a:rPr lang="en-US" altLang="zh-TW" dirty="0" smtClean="0"/>
              <a:t>checked.</a:t>
            </a:r>
          </a:p>
          <a:p>
            <a:pPr marL="514350" indent="-514350">
              <a:buClr>
                <a:schemeClr val="accent1">
                  <a:lumMod val="50000"/>
                </a:schemeClr>
              </a:buClr>
              <a:buSzPct val="120000"/>
              <a:buFont typeface="Wingdings" pitchFamily="2" charset="2"/>
              <a:buAutoNum type="circleNumWdWhitePlain"/>
            </a:pPr>
            <a:r>
              <a:rPr lang="en-US" altLang="zh-TW" dirty="0" smtClean="0"/>
              <a:t>Repeat    ,     and     until </a:t>
            </a:r>
            <a:r>
              <a:rPr lang="en-US" altLang="zh-TW" dirty="0"/>
              <a:t>all the objects are </a:t>
            </a:r>
            <a:r>
              <a:rPr lang="en-US" altLang="zh-TW" dirty="0" smtClean="0"/>
              <a:t>classified as </a:t>
            </a:r>
            <a:r>
              <a:rPr lang="en-US" altLang="zh-TW" dirty="0"/>
              <a:t>some </a:t>
            </a:r>
            <a:r>
              <a:rPr lang="en-US" altLang="zh-TW" dirty="0" smtClean="0"/>
              <a:t>cluster </a:t>
            </a:r>
            <a:r>
              <a:rPr lang="en-US" altLang="zh-TW" dirty="0"/>
              <a:t>or noise</a:t>
            </a:r>
            <a:r>
              <a:rPr lang="en-US" altLang="zh-TW" dirty="0" smtClean="0"/>
              <a:t>.</a:t>
            </a:r>
          </a:p>
          <a:p>
            <a:pPr>
              <a:buClr>
                <a:schemeClr val="accent1">
                  <a:lumMod val="50000"/>
                </a:schemeClr>
              </a:buClr>
              <a:buSzPct val="120000"/>
            </a:pPr>
            <a:r>
              <a:rPr lang="en-US" altLang="zh-TW" sz="2400" dirty="0"/>
              <a:t>Time complexity: </a:t>
            </a:r>
            <a:r>
              <a:rPr lang="en-US" altLang="zh-TW" sz="2400" dirty="0" smtClean="0"/>
              <a:t>O(m*m)</a:t>
            </a:r>
            <a:endParaRPr lang="en-US" altLang="zh-TW" sz="2400" dirty="0"/>
          </a:p>
          <a:p>
            <a:pPr>
              <a:buClr>
                <a:schemeClr val="accent1">
                  <a:lumMod val="50000"/>
                </a:schemeClr>
              </a:buClr>
              <a:buSzPct val="120000"/>
            </a:pPr>
            <a:endParaRPr lang="zh-TW" altLang="en-US" dirty="0"/>
          </a:p>
        </p:txBody>
      </p:sp>
      <p:sp>
        <p:nvSpPr>
          <p:cNvPr id="6" name="流程圖: 接點 5"/>
          <p:cNvSpPr/>
          <p:nvPr/>
        </p:nvSpPr>
        <p:spPr>
          <a:xfrm>
            <a:off x="2197313" y="4328823"/>
            <a:ext cx="216024" cy="216024"/>
          </a:xfrm>
          <a:prstGeom prst="flowChartConnector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8" name="流程圖: 接點 7"/>
          <p:cNvSpPr/>
          <p:nvPr/>
        </p:nvSpPr>
        <p:spPr>
          <a:xfrm>
            <a:off x="2195736" y="4796875"/>
            <a:ext cx="216024" cy="216024"/>
          </a:xfrm>
          <a:prstGeom prst="flowChartConnector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9" name="流程圖: 接點 8"/>
          <p:cNvSpPr/>
          <p:nvPr/>
        </p:nvSpPr>
        <p:spPr>
          <a:xfrm>
            <a:off x="2627784" y="4796875"/>
            <a:ext cx="216024" cy="216024"/>
          </a:xfrm>
          <a:prstGeom prst="flowChartConnector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10" name="流程圖: 接點 9"/>
          <p:cNvSpPr/>
          <p:nvPr/>
        </p:nvSpPr>
        <p:spPr>
          <a:xfrm>
            <a:off x="3635896" y="4797152"/>
            <a:ext cx="216024" cy="216024"/>
          </a:xfrm>
          <a:prstGeom prst="flowChartConnector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47728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K-means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2012/10/30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7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內容版面配置區 4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 sum of the squares error (SSE)</a:t>
                </a:r>
              </a:p>
              <a:p>
                <a:pPr lvl="1"/>
                <a:r>
                  <a:rPr lang="pt-BR" altLang="zh-TW" sz="3200" dirty="0" smtClean="0"/>
                  <a:t>SSE </a:t>
                </a:r>
                <a14:m>
                  <m:oMath xmlns:m="http://schemas.openxmlformats.org/officeDocument/2006/math">
                    <m:r>
                      <a:rPr lang="pt-BR" altLang="zh-TW" sz="2800" i="1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BR" altLang="zh-TW" sz="2800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2800" b="0" i="1" smtClean="0">
                            <a:latin typeface="Cambria Math"/>
                          </a:rPr>
                          <m:t>𝑖</m:t>
                        </m:r>
                        <m:r>
                          <a:rPr lang="pt-BR" altLang="zh-TW" sz="2800" i="1" smtClean="0">
                            <a:latin typeface="Cambria Math"/>
                          </a:rPr>
                          <m:t>=</m:t>
                        </m:r>
                        <m:r>
                          <a:rPr lang="en-US" altLang="zh-TW" sz="2800" b="0" i="1" smtClean="0"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en-US" altLang="zh-TW" sz="2800" b="0" i="1" smtClean="0">
                            <a:latin typeface="Cambria Math"/>
                          </a:rPr>
                          <m:t>𝐾</m:t>
                        </m:r>
                      </m:sup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pt-BR" altLang="zh-TW" sz="2800" i="1" smtClean="0">
                                <a:latin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TW" sz="2800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en-US" altLang="zh-TW" sz="2800" b="0" i="1" smtClean="0">
                                <a:latin typeface="Cambria Math"/>
                                <a:ea typeface="Cambria Math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en-US" altLang="zh-TW" sz="2800" b="0" i="1" smtClean="0">
                                    <a:latin typeface="Cambria Math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b="0" i="1" smtClean="0">
                                    <a:latin typeface="Cambria Math"/>
                                    <a:ea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zh-TW" sz="2800" b="0" i="1" smtClean="0">
                                    <a:latin typeface="Cambria Math"/>
                                    <a:ea typeface="Cambria Math"/>
                                  </a:rPr>
                                  <m:t>𝑖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zh-TW" sz="2800" b="0" i="1" smtClean="0">
                                <a:latin typeface="Cambria Math"/>
                              </a:rPr>
                              <m:t> 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TW" sz="2800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𝑑𝑖𝑠𝑡</m:t>
                                </m:r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TW" sz="28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i="1">
                                        <a:latin typeface="Cambria Math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TW" sz="2800" i="1"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nary>
                  </m:oMath>
                </a14:m>
                <a:endParaRPr lang="en-US" altLang="zh-TW" dirty="0" smtClean="0"/>
              </a:p>
              <a:p>
                <a:pPr lvl="1"/>
                <a:endParaRPr lang="zh-TW" altLang="en-US" dirty="0"/>
              </a:p>
            </p:txBody>
          </p:sp>
        </mc:Choice>
        <mc:Fallback xmlns="">
          <p:sp>
            <p:nvSpPr>
              <p:cNvPr id="5" name="內容版面配置區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9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C:\Users\Robert\Desktop\K-means_convergence_to_a_local_minimum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921"/>
          <a:stretch/>
        </p:blipFill>
        <p:spPr bwMode="auto">
          <a:xfrm>
            <a:off x="1162406" y="2407791"/>
            <a:ext cx="7838828" cy="1875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:\Users\Robert\Desktop\K-means_convergence_to_a_local_minimum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1162406" y="4437112"/>
            <a:ext cx="7838828" cy="1878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4264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4644006" y="4509120"/>
            <a:ext cx="4581525" cy="2200275"/>
            <a:chOff x="4427984" y="4365104"/>
            <a:chExt cx="4581525" cy="2200275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0" r="100000">
                          <a14:foregroundMark x1="27443" y1="11255" x2="20790" y2="85714"/>
                          <a14:foregroundMark x1="2287" y1="9091" x2="1663" y2="82251"/>
                          <a14:foregroundMark x1="2079" y1="81818" x2="47193" y2="81818"/>
                          <a14:foregroundMark x1="51559" y1="11688" x2="51975" y2="82251"/>
                          <a14:foregroundMark x1="50520" y1="81818" x2="97297" y2="83117"/>
                          <a14:foregroundMark x1="92931" y1="83983" x2="97713" y2="79221"/>
                          <a14:foregroundMark x1="72973" y1="6061" x2="74636" y2="79654"/>
                          <a14:foregroundMark x1="21830" y1="12554" x2="23909" y2="73593"/>
                          <a14:foregroundMark x1="22661" y1="7359" x2="24948" y2="7359"/>
                          <a14:foregroundMark x1="19127" y1="10390" x2="28067" y2="13420"/>
                          <a14:foregroundMark x1="1247" y1="10390" x2="2079" y2="80519"/>
                          <a14:foregroundMark x1="1663" y1="80087" x2="45114" y2="81818"/>
                          <a14:foregroundMark x1="52599" y1="80519" x2="95426" y2="81385"/>
                          <a14:foregroundMark x1="51767" y1="77922" x2="95634" y2="79221"/>
                          <a14:foregroundMark x1="2287" y1="9524" x2="3326" y2="83550"/>
                          <a14:foregroundMark x1="52599" y1="15152" x2="53430" y2="71429"/>
                          <a14:foregroundMark x1="2287" y1="77489" x2="46362" y2="77922"/>
                          <a14:foregroundMark x1="27651" y1="79654" x2="46362" y2="79221"/>
                          <a14:backgroundMark x1="12058" y1="13420" x2="12058" y2="22944"/>
                          <a14:backgroundMark x1="52599" y1="11255" x2="58836" y2="13853"/>
                          <a14:backgroundMark x1="41788" y1="9957" x2="42827" y2="35498"/>
                          <a14:backgroundMark x1="29314" y1="92641" x2="67360" y2="93506"/>
                          <a14:backgroundMark x1="6861" y1="91342" x2="97089" y2="93506"/>
                          <a14:backgroundMark x1="10811" y1="8225" x2="2911" y2="3030"/>
                          <a14:backgroundMark x1="46985" y1="87446" x2="52807" y2="8874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27984" y="4365104"/>
              <a:ext cx="4581525" cy="2200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橢圓 6"/>
            <p:cNvSpPr/>
            <p:nvPr/>
          </p:nvSpPr>
          <p:spPr>
            <a:xfrm>
              <a:off x="4994523" y="4860855"/>
              <a:ext cx="45719" cy="45719"/>
            </a:xfrm>
            <a:prstGeom prst="ellipse">
              <a:avLst/>
            </a:prstGeom>
            <a:no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/>
          </p:nvSpPr>
          <p:spPr>
            <a:xfrm>
              <a:off x="4977577" y="5796958"/>
              <a:ext cx="45719" cy="45719"/>
            </a:xfrm>
            <a:prstGeom prst="ellipse">
              <a:avLst/>
            </a:prstGeom>
            <a:no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/>
          </p:nvSpPr>
          <p:spPr>
            <a:xfrm>
              <a:off x="6012160" y="5767933"/>
              <a:ext cx="45719" cy="45719"/>
            </a:xfrm>
            <a:prstGeom prst="ellipse">
              <a:avLst/>
            </a:prstGeom>
            <a:no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橢圓 10"/>
            <p:cNvSpPr/>
            <p:nvPr/>
          </p:nvSpPr>
          <p:spPr>
            <a:xfrm>
              <a:off x="6228184" y="5111472"/>
              <a:ext cx="45719" cy="45719"/>
            </a:xfrm>
            <a:prstGeom prst="ellipse">
              <a:avLst/>
            </a:prstGeom>
            <a:no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橢圓 11"/>
            <p:cNvSpPr/>
            <p:nvPr/>
          </p:nvSpPr>
          <p:spPr>
            <a:xfrm>
              <a:off x="7285285" y="4823440"/>
              <a:ext cx="45719" cy="4571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橢圓 12"/>
            <p:cNvSpPr/>
            <p:nvPr/>
          </p:nvSpPr>
          <p:spPr>
            <a:xfrm>
              <a:off x="7256150" y="5742652"/>
              <a:ext cx="45719" cy="45719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8316416" y="5742651"/>
              <a:ext cx="45719" cy="45719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/>
            <p:cNvSpPr/>
            <p:nvPr/>
          </p:nvSpPr>
          <p:spPr>
            <a:xfrm>
              <a:off x="8532440" y="5111471"/>
              <a:ext cx="45719" cy="4571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加號 7"/>
            <p:cNvSpPr/>
            <p:nvPr/>
          </p:nvSpPr>
          <p:spPr>
            <a:xfrm>
              <a:off x="7809336" y="4812013"/>
              <a:ext cx="353770" cy="353770"/>
            </a:xfrm>
            <a:prstGeom prst="mathPlus">
              <a:avLst>
                <a:gd name="adj1" fmla="val 8606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加號 16"/>
            <p:cNvSpPr/>
            <p:nvPr/>
          </p:nvSpPr>
          <p:spPr>
            <a:xfrm>
              <a:off x="7524328" y="5488907"/>
              <a:ext cx="353770" cy="353770"/>
            </a:xfrm>
            <a:prstGeom prst="mathPlus">
              <a:avLst>
                <a:gd name="adj1" fmla="val 8606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Comparison of </a:t>
            </a:r>
            <a:r>
              <a:rPr lang="en-US" altLang="zh-TW" dirty="0" smtClean="0"/>
              <a:t>K-means and </a:t>
            </a:r>
            <a:r>
              <a:rPr lang="en-US" altLang="zh-TW" dirty="0">
                <a:solidFill>
                  <a:schemeClr val="tx1"/>
                </a:solidFill>
              </a:rPr>
              <a:t>DBSCAN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2012/10/30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K-means must determine a cluster </a:t>
            </a:r>
            <a:r>
              <a:rPr lang="en-US" altLang="zh-TW" dirty="0" smtClean="0">
                <a:solidFill>
                  <a:srgbClr val="FF0000"/>
                </a:solidFill>
              </a:rPr>
              <a:t>number</a:t>
            </a:r>
            <a:r>
              <a:rPr lang="en-US" altLang="zh-TW" dirty="0" smtClean="0"/>
              <a:t> before </a:t>
            </a:r>
            <a:r>
              <a:rPr lang="en-US" altLang="zh-TW" dirty="0"/>
              <a:t>clustering, while DBSCAN does not need </a:t>
            </a:r>
            <a:r>
              <a:rPr lang="en-US" altLang="zh-TW" dirty="0" smtClean="0"/>
              <a:t>it, DBSCAN </a:t>
            </a:r>
            <a:r>
              <a:rPr lang="en-US" altLang="zh-TW" dirty="0"/>
              <a:t>finds dense clusters automatically for a </a:t>
            </a:r>
            <a:r>
              <a:rPr lang="en-US" altLang="zh-TW" dirty="0" smtClean="0"/>
              <a:t>given density threshold. </a:t>
            </a:r>
          </a:p>
          <a:p>
            <a:r>
              <a:rPr lang="en-US" altLang="zh-TW" dirty="0" smtClean="0"/>
              <a:t>K-means </a:t>
            </a:r>
            <a:r>
              <a:rPr lang="en-US" altLang="zh-TW" dirty="0"/>
              <a:t>is sensitive with </a:t>
            </a:r>
            <a:r>
              <a:rPr lang="en-US" altLang="zh-TW" dirty="0" smtClean="0"/>
              <a:t>noises, but </a:t>
            </a:r>
            <a:r>
              <a:rPr lang="en-US" altLang="zh-TW" dirty="0">
                <a:solidFill>
                  <a:srgbClr val="FF0000"/>
                </a:solidFill>
              </a:rPr>
              <a:t>DBSCAN handles noises </a:t>
            </a:r>
            <a:r>
              <a:rPr lang="en-US" altLang="zh-TW" dirty="0" smtClean="0">
                <a:solidFill>
                  <a:srgbClr val="FF0000"/>
                </a:solidFill>
              </a:rPr>
              <a:t>well</a:t>
            </a:r>
            <a:r>
              <a:rPr lang="en-US" altLang="zh-TW" dirty="0"/>
              <a:t>.</a:t>
            </a:r>
            <a:endParaRPr lang="en-US" altLang="zh-TW" dirty="0" smtClean="0"/>
          </a:p>
          <a:p>
            <a:r>
              <a:rPr lang="en-US" altLang="zh-TW" dirty="0" smtClean="0"/>
              <a:t>K-means </a:t>
            </a:r>
            <a:r>
              <a:rPr lang="en-US" altLang="zh-TW" dirty="0"/>
              <a:t>is </a:t>
            </a:r>
            <a:r>
              <a:rPr lang="en-US" altLang="zh-TW" dirty="0" smtClean="0"/>
              <a:t>only applicable </a:t>
            </a:r>
            <a:r>
              <a:rPr lang="en-US" altLang="zh-TW" dirty="0"/>
              <a:t>to find circular or spherical clusters, </a:t>
            </a:r>
            <a:r>
              <a:rPr lang="en-US" altLang="zh-TW" dirty="0" smtClean="0"/>
              <a:t>but </a:t>
            </a:r>
            <a:r>
              <a:rPr lang="en-US" altLang="zh-TW" dirty="0" smtClean="0">
                <a:solidFill>
                  <a:srgbClr val="FF0000"/>
                </a:solidFill>
              </a:rPr>
              <a:t>DBSCAN </a:t>
            </a:r>
            <a:r>
              <a:rPr lang="en-US" altLang="zh-TW" dirty="0">
                <a:solidFill>
                  <a:srgbClr val="FF0000"/>
                </a:solidFill>
              </a:rPr>
              <a:t>can find clusters with arbitrary </a:t>
            </a:r>
            <a:r>
              <a:rPr lang="en-US" altLang="zh-TW" dirty="0" smtClean="0">
                <a:solidFill>
                  <a:srgbClr val="FF0000"/>
                </a:solidFill>
              </a:rPr>
              <a:t>shapes</a:t>
            </a:r>
            <a:r>
              <a:rPr lang="en-US" altLang="zh-TW" dirty="0" smtClean="0"/>
              <a:t>.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K-means has the numeric-only </a:t>
            </a:r>
            <a:r>
              <a:rPr lang="en-US" altLang="zh-TW" dirty="0" smtClean="0">
                <a:solidFill>
                  <a:schemeClr val="bg1"/>
                </a:solidFill>
              </a:rPr>
              <a:t/>
            </a:r>
            <a:br>
              <a:rPr lang="en-US" altLang="zh-TW" dirty="0" smtClean="0">
                <a:solidFill>
                  <a:schemeClr val="bg1"/>
                </a:solidFill>
              </a:rPr>
            </a:br>
            <a:r>
              <a:rPr lang="en-US" altLang="zh-TW" dirty="0" smtClean="0">
                <a:solidFill>
                  <a:schemeClr val="bg1"/>
                </a:solidFill>
              </a:rPr>
              <a:t>limitation</a:t>
            </a:r>
            <a:r>
              <a:rPr lang="en-US" altLang="zh-TW" dirty="0">
                <a:solidFill>
                  <a:schemeClr val="bg1"/>
                </a:solidFill>
              </a:rPr>
              <a:t>, but </a:t>
            </a:r>
            <a:r>
              <a:rPr lang="en-US" altLang="zh-TW" dirty="0" smtClean="0">
                <a:solidFill>
                  <a:schemeClr val="bg1"/>
                </a:solidFill>
              </a:rPr>
              <a:t>DBSCAN can </a:t>
            </a:r>
            <a:br>
              <a:rPr lang="en-US" altLang="zh-TW" dirty="0" smtClean="0">
                <a:solidFill>
                  <a:schemeClr val="bg1"/>
                </a:solidFill>
              </a:rPr>
            </a:br>
            <a:r>
              <a:rPr lang="en-US" altLang="zh-TW" dirty="0" smtClean="0">
                <a:solidFill>
                  <a:schemeClr val="bg1"/>
                </a:solidFill>
              </a:rPr>
              <a:t>work </a:t>
            </a:r>
            <a:r>
              <a:rPr lang="en-US" altLang="zh-TW" dirty="0">
                <a:solidFill>
                  <a:schemeClr val="bg1"/>
                </a:solidFill>
              </a:rPr>
              <a:t>well with categorical </a:t>
            </a:r>
            <a:r>
              <a:rPr lang="en-US" altLang="zh-TW" dirty="0" smtClean="0">
                <a:solidFill>
                  <a:schemeClr val="bg1"/>
                </a:solidFill>
              </a:rPr>
              <a:t/>
            </a:r>
            <a:br>
              <a:rPr lang="en-US" altLang="zh-TW" dirty="0" smtClean="0">
                <a:solidFill>
                  <a:schemeClr val="bg1"/>
                </a:solidFill>
              </a:rPr>
            </a:br>
            <a:r>
              <a:rPr lang="en-US" altLang="zh-TW" dirty="0" smtClean="0">
                <a:solidFill>
                  <a:schemeClr val="bg1"/>
                </a:solidFill>
              </a:rPr>
              <a:t>data</a:t>
            </a:r>
            <a:r>
              <a:rPr lang="en-US" altLang="zh-TW" dirty="0">
                <a:solidFill>
                  <a:schemeClr val="bg1"/>
                </a:solidFill>
              </a:rPr>
              <a:t>.</a:t>
            </a:r>
            <a:endParaRPr lang="zh-TW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5858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Direct alignment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2012/10/30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9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內容版面配置區 4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Given two DNA sequences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</a:rPr>
                      <m:t>𝑋</m:t>
                    </m:r>
                    <m:r>
                      <a:rPr lang="en-US" altLang="zh-TW" i="1" dirty="0" smtClean="0">
                        <a:latin typeface="Cambria Math"/>
                      </a:rPr>
                      <m:t> = (</m:t>
                    </m:r>
                    <m:r>
                      <a:rPr lang="en-US" altLang="zh-TW" i="1" dirty="0" smtClean="0">
                        <a:latin typeface="Cambria Math"/>
                      </a:rPr>
                      <m:t>𝑥</m:t>
                    </m:r>
                    <m:r>
                      <a:rPr lang="en-US" altLang="zh-TW" i="1" dirty="0" smtClean="0">
                        <a:latin typeface="Cambria Math"/>
                      </a:rPr>
                      <m:t>1, </m:t>
                    </m:r>
                    <m:r>
                      <a:rPr lang="en-US" altLang="zh-TW" i="1" dirty="0" smtClean="0">
                        <a:latin typeface="Cambria Math"/>
                      </a:rPr>
                      <m:t>𝑥</m:t>
                    </m:r>
                    <m:r>
                      <a:rPr lang="en-US" altLang="zh-TW" i="1" dirty="0" smtClean="0">
                        <a:latin typeface="Cambria Math"/>
                      </a:rPr>
                      <m:t>2,. . .</m:t>
                    </m:r>
                    <m:r>
                      <a:rPr lang="en-US" altLang="zh-TW" i="1" dirty="0">
                        <a:latin typeface="Cambria Math"/>
                      </a:rPr>
                      <m:t> , </m:t>
                    </m:r>
                    <m:r>
                      <a:rPr lang="en-US" altLang="zh-TW" i="1" dirty="0" err="1" smtClean="0">
                        <a:latin typeface="Cambria Math"/>
                      </a:rPr>
                      <m:t>𝑥𝑛</m:t>
                    </m:r>
                    <m:r>
                      <a:rPr lang="en-US" altLang="zh-TW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dirty="0" smtClean="0"/>
                  <a:t> and </a:t>
                </a:r>
                <a:br>
                  <a:rPr lang="en-US" altLang="zh-TW" dirty="0" smtClean="0"/>
                </a:b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</a:rPr>
                      <m:t>𝑌</m:t>
                    </m:r>
                    <m:r>
                      <a:rPr lang="en-US" altLang="zh-TW" i="1" dirty="0" smtClean="0">
                        <a:latin typeface="Cambria Math"/>
                      </a:rPr>
                      <m:t> = ( </m:t>
                    </m:r>
                    <m:r>
                      <a:rPr lang="en-US" altLang="zh-TW" i="1" dirty="0" smtClean="0">
                        <a:latin typeface="Cambria Math"/>
                      </a:rPr>
                      <m:t>𝑦</m:t>
                    </m:r>
                    <m:r>
                      <a:rPr lang="en-US" altLang="zh-TW" i="1" dirty="0" smtClean="0">
                        <a:latin typeface="Cambria Math"/>
                      </a:rPr>
                      <m:t>1,</m:t>
                    </m:r>
                    <m:r>
                      <a:rPr lang="en-US" altLang="zh-TW" i="1" dirty="0" smtClean="0">
                        <a:latin typeface="Cambria Math"/>
                      </a:rPr>
                      <m:t>𝑦</m:t>
                    </m:r>
                    <m:r>
                      <a:rPr lang="en-US" altLang="zh-TW" i="1" dirty="0" smtClean="0">
                        <a:latin typeface="Cambria Math"/>
                      </a:rPr>
                      <m:t>2, . . . ,</m:t>
                    </m:r>
                    <m:r>
                      <a:rPr lang="en-US" altLang="zh-TW" i="1" dirty="0" err="1" smtClean="0">
                        <a:latin typeface="Cambria Math"/>
                      </a:rPr>
                      <m:t>𝑦𝑛</m:t>
                    </m:r>
                    <m:r>
                      <a:rPr lang="en-US" altLang="zh-TW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dirty="0" smtClean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altLang="zh-TW" b="1" i="1" dirty="0" smtClean="0">
                        <a:latin typeface="Cambria Math"/>
                      </a:rPr>
                      <m:t>𝑫𝒊𝒔𝒕</m:t>
                    </m:r>
                    <m:r>
                      <a:rPr lang="en-US" altLang="zh-TW" i="1" dirty="0" smtClean="0">
                        <a:latin typeface="Cambria Math"/>
                      </a:rPr>
                      <m:t>(</m:t>
                    </m:r>
                    <m:r>
                      <a:rPr lang="en-US" altLang="zh-TW" i="1" dirty="0" smtClean="0">
                        <a:latin typeface="Cambria Math"/>
                      </a:rPr>
                      <m:t>𝑋</m:t>
                    </m:r>
                    <m:r>
                      <a:rPr lang="en-US" altLang="zh-TW" i="1" dirty="0" smtClean="0">
                        <a:latin typeface="Cambria Math"/>
                      </a:rPr>
                      <m:t>,</m:t>
                    </m:r>
                    <m:r>
                      <a:rPr lang="en-US" altLang="zh-TW" i="1" dirty="0" smtClean="0">
                        <a:latin typeface="Cambria Math"/>
                      </a:rPr>
                      <m:t>𝑌</m:t>
                    </m:r>
                    <m:r>
                      <a:rPr lang="en-US" altLang="zh-TW" i="1" dirty="0" smtClean="0">
                        <a:latin typeface="Cambria Math"/>
                      </a:rPr>
                      <m:t>) =</m:t>
                    </m:r>
                    <m:nary>
                      <m:naryPr>
                        <m:chr m:val="∑"/>
                        <m:ctrlPr>
                          <a:rPr lang="pt-BR" altLang="zh-TW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  <m:r>
                          <a:rPr lang="pt-BR" altLang="zh-TW" i="1" smtClean="0">
                            <a:latin typeface="Cambria Math"/>
                          </a:rPr>
                          <m:t>=0</m:t>
                        </m:r>
                      </m:sub>
                      <m:sup>
                        <m:r>
                          <a:rPr lang="en-US" altLang="zh-TW" b="0" i="1" smtClean="0">
                            <a:latin typeface="Cambria Math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l-GR" altLang="zh-TW" i="1" smtClean="0">
                            <a:latin typeface="Cambria Math"/>
                          </a:rPr>
                          <m:t>σ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endParaRPr lang="en-US" altLang="zh-TW" dirty="0" smtClean="0"/>
              </a:p>
              <a:p>
                <a:r>
                  <a:rPr lang="en-US" altLang="zh-TW" dirty="0" smtClean="0"/>
                  <a:t>where</a:t>
                </a:r>
                <a:r>
                  <a:rPr lang="el-GR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l-GR" altLang="zh-TW" i="1">
                        <a:latin typeface="Cambria Math"/>
                      </a:rPr>
                      <m:t>σ</m:t>
                    </m:r>
                    <m:d>
                      <m:dPr>
                        <m:ctrlPr>
                          <a:rPr lang="en-US" altLang="zh-TW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eqArr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0,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TW" b="0" i="1" smtClean="0">
                                <a:latin typeface="Cambria Math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1,</m:t>
                            </m:r>
                            <m:r>
                              <a:rPr lang="en-US" altLang="zh-TW" i="1">
                                <a:latin typeface="Cambria Math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TW" i="1" smtClean="0">
                                <a:latin typeface="Cambria Math"/>
                                <a:ea typeface="Cambria Math"/>
                              </a:rPr>
                              <m:t>≠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endParaRPr lang="en-US" altLang="zh-TW" dirty="0" smtClean="0"/>
              </a:p>
              <a:p>
                <a:endParaRPr lang="en-US" altLang="zh-TW" dirty="0" smtClean="0"/>
              </a:p>
              <a:p>
                <a:endParaRPr lang="en-US" altLang="zh-TW" dirty="0"/>
              </a:p>
            </p:txBody>
          </p:sp>
        </mc:Choice>
        <mc:Fallback>
          <p:sp>
            <p:nvSpPr>
              <p:cNvPr id="5" name="內容版面配置區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988" r="-2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111202"/>
              </p:ext>
            </p:extLst>
          </p:nvPr>
        </p:nvGraphicFramePr>
        <p:xfrm>
          <a:off x="4788024" y="4249896"/>
          <a:ext cx="3888430" cy="1483360"/>
        </p:xfrm>
        <a:graphic>
          <a:graphicData uri="http://schemas.openxmlformats.org/drawingml/2006/table">
            <a:tbl>
              <a:tblPr lastRow="1" bandRow="1">
                <a:tableStyleId>{69CF1AB2-1976-4502-BF36-3FF5EA218861}</a:tableStyleId>
              </a:tblPr>
              <a:tblGrid>
                <a:gridCol w="388843"/>
                <a:gridCol w="388843"/>
                <a:gridCol w="388843"/>
                <a:gridCol w="388843"/>
                <a:gridCol w="388843"/>
                <a:gridCol w="388843"/>
                <a:gridCol w="388843"/>
                <a:gridCol w="388843"/>
                <a:gridCol w="388843"/>
                <a:gridCol w="38884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G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C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G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G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A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G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T</a:t>
                      </a:r>
                      <a:endParaRPr lang="zh-TW" alt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A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G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A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G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C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C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C</a:t>
                      </a:r>
                      <a:endParaRPr lang="zh-TW" alt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1</a:t>
                      </a:r>
                      <a:endParaRPr lang="zh-TW" altLang="en-US" b="1" dirty="0"/>
                    </a:p>
                  </a:txBody>
                  <a:tcPr/>
                </a:tc>
              </a:tr>
              <a:tr h="370840">
                <a:tc gridSpan="9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sum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8742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Dynamic programming alignment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2012/10/30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10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內容版面配置區 4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altLang="zh-TW" sz="2400" b="1" dirty="0" smtClean="0"/>
                  <a:t>Smith–Waterman</a:t>
                </a:r>
                <a:r>
                  <a:rPr lang="en-US" altLang="zh-TW" sz="2400" dirty="0" smtClean="0"/>
                  <a:t> Algorithm</a:t>
                </a:r>
              </a:p>
              <a:p>
                <a:r>
                  <a:rPr lang="en-US" altLang="zh-TW" sz="2400" dirty="0" smtClean="0"/>
                  <a:t> </a:t>
                </a:r>
                <a:r>
                  <a:rPr lang="en-US" altLang="zh-TW" sz="2400" dirty="0" err="1" smtClean="0"/>
                  <a:t>V</a:t>
                </a:r>
                <a:r>
                  <a:rPr lang="en-US" altLang="zh-TW" sz="2400" baseline="-25000" dirty="0" err="1" smtClean="0"/>
                  <a:t>i,j</a:t>
                </a:r>
                <a:r>
                  <a:rPr lang="en-US" altLang="zh-TW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/>
                      </a:rPr>
                      <m:t>min</m:t>
                    </m:r>
                    <m:d>
                      <m:dPr>
                        <m:begChr m:val="{"/>
                        <m:endChr m:val=""/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sz="2400" b="0" i="1" smtClean="0">
                                <a:latin typeface="Cambria Math"/>
                              </a:rPr>
                            </m:ctrlPr>
                          </m:eqArrPr>
                          <m:e>
                            <m:r>
                              <m:rPr>
                                <m:nor/>
                              </m:rPr>
                              <a:rPr lang="en-US" altLang="zh-TW" sz="2400" b="0" i="0" smtClean="0">
                                <a:latin typeface="Cambria Math"/>
                              </a:rPr>
                              <m:t>V</m:t>
                            </m:r>
                            <m:r>
                              <m:rPr>
                                <m:nor/>
                              </m:rPr>
                              <a:rPr lang="en-US" altLang="zh-TW" sz="2400" baseline="-25000" dirty="0"/>
                              <m:t>i</m:t>
                            </m:r>
                            <m:r>
                              <m:rPr>
                                <m:nor/>
                              </m:rPr>
                              <a:rPr lang="en-US" altLang="zh-TW" sz="2400" baseline="-25000" dirty="0"/>
                              <m:t>−1, </m:t>
                            </m:r>
                            <m:r>
                              <m:rPr>
                                <m:nor/>
                              </m:rPr>
                              <a:rPr lang="en-US" altLang="zh-TW" sz="2400" baseline="-25000" dirty="0"/>
                              <m:t>j</m:t>
                            </m:r>
                            <m:r>
                              <m:rPr>
                                <m:nor/>
                              </m:rPr>
                              <a:rPr lang="en-US" altLang="zh-TW" sz="2400" baseline="-25000" dirty="0"/>
                              <m:t> + 1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en-US" altLang="zh-TW" sz="2400" b="0" i="0" smtClean="0">
                                <a:latin typeface="Cambria Math"/>
                              </a:rPr>
                              <m:t>V</m:t>
                            </m:r>
                            <m:r>
                              <m:rPr>
                                <m:nor/>
                              </m:rPr>
                              <a:rPr lang="en-US" altLang="zh-TW" sz="2400" baseline="-25000" dirty="0"/>
                              <m:t>i</m:t>
                            </m:r>
                            <m:r>
                              <m:rPr>
                                <m:nor/>
                              </m:rPr>
                              <a:rPr lang="en-US" altLang="zh-TW" sz="2400" baseline="-25000" dirty="0"/>
                              <m:t>, </m:t>
                            </m:r>
                            <m:r>
                              <m:rPr>
                                <m:nor/>
                              </m:rPr>
                              <a:rPr lang="en-US" altLang="zh-TW" sz="2400" baseline="-25000" dirty="0"/>
                              <m:t>j</m:t>
                            </m:r>
                            <m:r>
                              <m:rPr>
                                <m:nor/>
                              </m:rPr>
                              <a:rPr lang="en-US" altLang="zh-TW" sz="2400" baseline="-25000" dirty="0"/>
                              <m:t>−1 + 1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en-US" altLang="zh-TW" sz="2400" b="0" i="0" smtClean="0">
                                <a:latin typeface="Cambria Math"/>
                              </a:rPr>
                              <m:t>    </m:t>
                            </m:r>
                            <m:r>
                              <m:rPr>
                                <m:nor/>
                              </m:rPr>
                              <a:rPr lang="en-US" altLang="zh-TW" sz="2400" b="0" i="0" smtClean="0">
                                <a:latin typeface="Cambria Math"/>
                              </a:rPr>
                              <m:t>V</m:t>
                            </m:r>
                            <m:r>
                              <m:rPr>
                                <m:nor/>
                              </m:rPr>
                              <a:rPr lang="en-US" altLang="zh-TW" sz="2400" baseline="-25000" dirty="0"/>
                              <m:t>i</m:t>
                            </m:r>
                            <m:r>
                              <m:rPr>
                                <m:nor/>
                              </m:rPr>
                              <a:rPr lang="en-US" altLang="zh-TW" sz="2400" baseline="-25000" dirty="0"/>
                              <m:t>−1, </m:t>
                            </m:r>
                            <m:r>
                              <m:rPr>
                                <m:nor/>
                              </m:rPr>
                              <a:rPr lang="en-US" altLang="zh-TW" sz="2400" baseline="-25000" dirty="0"/>
                              <m:t>j</m:t>
                            </m:r>
                            <m:r>
                              <m:rPr>
                                <m:nor/>
                              </m:rPr>
                              <a:rPr lang="en-US" altLang="zh-TW" sz="2400" baseline="-25000" dirty="0"/>
                              <m:t>−1 + </m:t>
                            </m:r>
                            <m:r>
                              <m:rPr>
                                <m:nor/>
                              </m:rPr>
                              <a:rPr lang="en-US" altLang="zh-TW" sz="2400" dirty="0" smtClean="0"/>
                              <m:t>t</m:t>
                            </m:r>
                            <m:r>
                              <m:rPr>
                                <m:nor/>
                              </m:rPr>
                              <a:rPr lang="en-US" altLang="zh-TW" sz="2400" baseline="-25000" dirty="0" smtClean="0"/>
                              <m:t>i</m:t>
                            </m:r>
                            <m:r>
                              <m:rPr>
                                <m:nor/>
                              </m:rPr>
                              <a:rPr lang="en-US" altLang="zh-TW" sz="2400" baseline="-25000" dirty="0" smtClean="0"/>
                              <m:t>, </m:t>
                            </m:r>
                            <m:r>
                              <m:rPr>
                                <m:nor/>
                              </m:rPr>
                              <a:rPr lang="en-US" altLang="zh-TW" sz="2400" baseline="-25000" dirty="0" smtClean="0"/>
                              <m:t>j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TW" sz="2400" dirty="0"/>
                  <a:t> </a:t>
                </a:r>
                <a:endParaRPr lang="en-US" altLang="zh-TW" sz="2400" dirty="0" smtClean="0"/>
              </a:p>
              <a:p>
                <a:pPr>
                  <a:buFont typeface="Wingdings" pitchFamily="2" charset="2"/>
                  <a:buNone/>
                </a:pPr>
                <a:endParaRPr lang="en-US" altLang="zh-TW" sz="2400" dirty="0" smtClean="0">
                  <a:sym typeface="Symbol" pitchFamily="18" charset="2"/>
                </a:endParaRPr>
              </a:p>
              <a:p>
                <a:r>
                  <a:rPr lang="en-US" altLang="zh-TW" sz="2400" dirty="0" smtClean="0">
                    <a:sym typeface="Symbol" pitchFamily="18" charset="2"/>
                  </a:rPr>
                  <a:t>where </a:t>
                </a:r>
                <a:r>
                  <a:rPr lang="en-US" altLang="zh-TW" sz="2400" dirty="0">
                    <a:sym typeface="Symbol" pitchFamily="18" charset="2"/>
                  </a:rPr>
                  <a:t>	</a:t>
                </a:r>
                <a:r>
                  <a:rPr lang="en-US" altLang="zh-TW" sz="2400" dirty="0" err="1" smtClean="0">
                    <a:sym typeface="Symbol" pitchFamily="18" charset="2"/>
                  </a:rPr>
                  <a:t>t</a:t>
                </a:r>
                <a:r>
                  <a:rPr lang="en-US" altLang="zh-TW" sz="2400" baseline="-25000" dirty="0" err="1" smtClean="0">
                    <a:sym typeface="Symbol" pitchFamily="18" charset="2"/>
                  </a:rPr>
                  <a:t>i</a:t>
                </a:r>
                <a:r>
                  <a:rPr lang="en-US" altLang="zh-TW" sz="2400" baseline="-25000" dirty="0">
                    <a:sym typeface="Symbol" pitchFamily="18" charset="2"/>
                  </a:rPr>
                  <a:t>, j</a:t>
                </a:r>
                <a:r>
                  <a:rPr lang="en-US" altLang="zh-TW" sz="2400" dirty="0">
                    <a:sym typeface="Symbol" pitchFamily="18" charset="2"/>
                  </a:rPr>
                  <a:t> = </a:t>
                </a:r>
                <a:r>
                  <a:rPr lang="en-US" altLang="zh-TW" sz="2400" dirty="0" smtClean="0">
                    <a:sym typeface="Symbol" pitchFamily="18" charset="2"/>
                  </a:rPr>
                  <a:t>0,	if </a:t>
                </a:r>
                <a:r>
                  <a:rPr lang="en-US" altLang="zh-TW" sz="2400" dirty="0" err="1">
                    <a:sym typeface="Symbol" pitchFamily="18" charset="2"/>
                  </a:rPr>
                  <a:t>a</a:t>
                </a:r>
                <a:r>
                  <a:rPr lang="en-US" altLang="zh-TW" sz="2400" baseline="-25000" dirty="0" err="1">
                    <a:sym typeface="Symbol" pitchFamily="18" charset="2"/>
                  </a:rPr>
                  <a:t>i</a:t>
                </a:r>
                <a:r>
                  <a:rPr lang="en-US" altLang="zh-TW" sz="2400" dirty="0">
                    <a:sym typeface="Symbol" pitchFamily="18" charset="2"/>
                  </a:rPr>
                  <a:t> = </a:t>
                </a:r>
                <a:r>
                  <a:rPr lang="en-US" altLang="zh-TW" sz="2400" dirty="0" err="1" smtClean="0">
                    <a:sym typeface="Symbol" pitchFamily="18" charset="2"/>
                  </a:rPr>
                  <a:t>b</a:t>
                </a:r>
                <a:r>
                  <a:rPr lang="en-US" altLang="zh-TW" sz="2400" baseline="-25000" dirty="0" err="1" smtClean="0">
                    <a:sym typeface="Symbol" pitchFamily="18" charset="2"/>
                  </a:rPr>
                  <a:t>j</a:t>
                </a:r>
                <a:endParaRPr lang="en-US" altLang="zh-TW" sz="2400" baseline="-25000" dirty="0" smtClean="0">
                  <a:sym typeface="Symbol" pitchFamily="18" charset="2"/>
                </a:endParaRPr>
              </a:p>
              <a:p>
                <a:pPr>
                  <a:buFont typeface="Wingdings" pitchFamily="2" charset="2"/>
                  <a:buNone/>
                </a:pPr>
                <a:r>
                  <a:rPr lang="en-US" altLang="zh-TW" sz="2400" dirty="0" smtClean="0">
                    <a:sym typeface="Symbol" pitchFamily="18" charset="2"/>
                  </a:rPr>
                  <a:t> 			</a:t>
                </a:r>
                <a:r>
                  <a:rPr lang="en-US" altLang="zh-TW" sz="2400" dirty="0" err="1" smtClean="0">
                    <a:sym typeface="Symbol" pitchFamily="18" charset="2"/>
                  </a:rPr>
                  <a:t>t</a:t>
                </a:r>
                <a:r>
                  <a:rPr lang="en-US" altLang="zh-TW" sz="2400" baseline="-25000" dirty="0" err="1" smtClean="0">
                    <a:sym typeface="Symbol" pitchFamily="18" charset="2"/>
                  </a:rPr>
                  <a:t>i</a:t>
                </a:r>
                <a:r>
                  <a:rPr lang="en-US" altLang="zh-TW" sz="2400" baseline="-25000" dirty="0">
                    <a:sym typeface="Symbol" pitchFamily="18" charset="2"/>
                  </a:rPr>
                  <a:t>, j</a:t>
                </a:r>
                <a:r>
                  <a:rPr lang="en-US" altLang="zh-TW" sz="2400" dirty="0">
                    <a:sym typeface="Symbol" pitchFamily="18" charset="2"/>
                  </a:rPr>
                  <a:t> = </a:t>
                </a:r>
                <a:r>
                  <a:rPr lang="en-US" altLang="zh-TW" sz="2400" dirty="0" smtClean="0">
                    <a:sym typeface="Symbol" pitchFamily="18" charset="2"/>
                  </a:rPr>
                  <a:t>1,</a:t>
                </a:r>
                <a:r>
                  <a:rPr lang="en-US" altLang="zh-TW" sz="2400" dirty="0">
                    <a:sym typeface="Symbol" pitchFamily="18" charset="2"/>
                  </a:rPr>
                  <a:t>	</a:t>
                </a:r>
                <a:r>
                  <a:rPr lang="en-US" altLang="zh-TW" sz="2400" dirty="0" smtClean="0">
                    <a:sym typeface="Symbol" pitchFamily="18" charset="2"/>
                  </a:rPr>
                  <a:t>if </a:t>
                </a:r>
                <a:r>
                  <a:rPr lang="en-US" altLang="zh-TW" sz="2400" dirty="0" err="1">
                    <a:sym typeface="Symbol" pitchFamily="18" charset="2"/>
                  </a:rPr>
                  <a:t>a</a:t>
                </a:r>
                <a:r>
                  <a:rPr lang="en-US" altLang="zh-TW" sz="2400" baseline="-25000" dirty="0" err="1">
                    <a:sym typeface="Symbol" pitchFamily="18" charset="2"/>
                  </a:rPr>
                  <a:t>i</a:t>
                </a:r>
                <a:r>
                  <a:rPr lang="en-US" altLang="zh-TW" sz="2400" dirty="0">
                    <a:sym typeface="Symbol" pitchFamily="18" charset="2"/>
                  </a:rPr>
                  <a:t>  </a:t>
                </a:r>
                <a:r>
                  <a:rPr lang="en-US" altLang="zh-TW" sz="2400" dirty="0" err="1" smtClean="0">
                    <a:sym typeface="Symbol" pitchFamily="18" charset="2"/>
                  </a:rPr>
                  <a:t>b</a:t>
                </a:r>
                <a:r>
                  <a:rPr lang="en-US" altLang="zh-TW" sz="2400" baseline="-25000" dirty="0" err="1" smtClean="0">
                    <a:sym typeface="Symbol" pitchFamily="18" charset="2"/>
                  </a:rPr>
                  <a:t>j</a:t>
                </a:r>
                <a:endParaRPr lang="en-US" altLang="zh-TW" sz="2400" baseline="-25000" dirty="0" smtClean="0">
                  <a:sym typeface="Symbol" pitchFamily="18" charset="2"/>
                </a:endParaRPr>
              </a:p>
              <a:p>
                <a:endParaRPr lang="en-US" altLang="zh-TW" sz="2400" dirty="0" smtClean="0"/>
              </a:p>
              <a:p>
                <a:r>
                  <a:rPr lang="en-US" altLang="zh-TW" sz="2400" dirty="0" smtClean="0"/>
                  <a:t>Time </a:t>
                </a:r>
                <a:r>
                  <a:rPr lang="en-US" altLang="zh-TW" sz="2400" dirty="0"/>
                  <a:t>complexity: O(</a:t>
                </a:r>
                <a:r>
                  <a:rPr lang="en-US" altLang="zh-TW" sz="2400" dirty="0" err="1"/>
                  <a:t>mn</a:t>
                </a:r>
                <a:r>
                  <a:rPr lang="en-US" altLang="zh-TW" sz="2400" dirty="0"/>
                  <a:t>)</a:t>
                </a:r>
                <a:endParaRPr lang="zh-TW" altLang="en-US" sz="2400" dirty="0"/>
              </a:p>
              <a:p>
                <a:pPr>
                  <a:buFont typeface="Wingdings" pitchFamily="2" charset="2"/>
                  <a:buNone/>
                </a:pPr>
                <a:endParaRPr lang="en-US" altLang="zh-TW" sz="2400" dirty="0">
                  <a:sym typeface="Symbol" pitchFamily="18" charset="2"/>
                </a:endParaRPr>
              </a:p>
              <a:p>
                <a:endParaRPr lang="zh-TW" altLang="en-US" dirty="0"/>
              </a:p>
            </p:txBody>
          </p:sp>
        </mc:Choice>
        <mc:Fallback>
          <p:sp>
            <p:nvSpPr>
              <p:cNvPr id="5" name="內容版面配置區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444" t="-8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7310471"/>
              </p:ext>
            </p:extLst>
          </p:nvPr>
        </p:nvGraphicFramePr>
        <p:xfrm>
          <a:off x="4788026" y="4260696"/>
          <a:ext cx="3888430" cy="1112520"/>
        </p:xfrm>
        <a:graphic>
          <a:graphicData uri="http://schemas.openxmlformats.org/drawingml/2006/table">
            <a:tbl>
              <a:tblPr lastRow="1" bandRow="1">
                <a:tableStyleId>{69CF1AB2-1976-4502-BF36-3FF5EA218861}</a:tableStyleId>
              </a:tblPr>
              <a:tblGrid>
                <a:gridCol w="388843"/>
                <a:gridCol w="388843"/>
                <a:gridCol w="388843"/>
                <a:gridCol w="388843"/>
                <a:gridCol w="388843"/>
                <a:gridCol w="388843"/>
                <a:gridCol w="388843"/>
                <a:gridCol w="388843"/>
                <a:gridCol w="388843"/>
                <a:gridCol w="38884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G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C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G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G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A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G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T</a:t>
                      </a:r>
                      <a:endParaRPr lang="zh-TW" alt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A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G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A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G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C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C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C</a:t>
                      </a:r>
                      <a:endParaRPr lang="zh-TW" altLang="en-US" b="1" dirty="0"/>
                    </a:p>
                  </a:txBody>
                  <a:tcPr/>
                </a:tc>
              </a:tr>
              <a:tr h="370840">
                <a:tc gridSpan="9">
                  <a:txBody>
                    <a:bodyPr/>
                    <a:lstStyle/>
                    <a:p>
                      <a:pPr algn="ctr"/>
                      <a:r>
                        <a:rPr lang="en-US" altLang="zh-TW" sz="1800" dirty="0" err="1" smtClean="0"/>
                        <a:t>V</a:t>
                      </a:r>
                      <a:r>
                        <a:rPr lang="en-US" altLang="zh-TW" sz="1800" baseline="-25000" dirty="0" err="1" smtClean="0"/>
                        <a:t>i,j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5765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51520" y="6165304"/>
            <a:ext cx="8712968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Statistical probability-based method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2012/10/30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11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內容版面配置區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563880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altLang="zh-TW" dirty="0" smtClean="0"/>
                  <a:t>calculate the percentage of various bases contained in </a:t>
                </a:r>
                <a:r>
                  <a:rPr lang="en-US" altLang="zh-TW" dirty="0"/>
                  <a:t>each </a:t>
                </a:r>
                <a:r>
                  <a:rPr lang="en-US" altLang="zh-TW" dirty="0" smtClean="0"/>
                  <a:t>sequence.</a:t>
                </a:r>
              </a:p>
              <a:p>
                <a:r>
                  <a:rPr lang="en-US" altLang="zh-TW" dirty="0"/>
                  <a:t>standardize the data by the following steps</a:t>
                </a:r>
                <a:r>
                  <a:rPr lang="en-US" altLang="zh-TW" dirty="0" smtClean="0"/>
                  <a:t>.</a:t>
                </a:r>
              </a:p>
              <a:p>
                <a:pPr lvl="1"/>
                <a:r>
                  <a:rPr lang="en-US" altLang="zh-TW" sz="2500" dirty="0"/>
                  <a:t>Suppose that the number of the sequences is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/>
                      </a:rPr>
                      <m:t>𝑁</m:t>
                    </m:r>
                  </m:oMath>
                </a14:m>
                <a:r>
                  <a:rPr lang="en-US" altLang="zh-TW" sz="2500" dirty="0"/>
                  <a:t>, and </a:t>
                </a:r>
                <a:r>
                  <a:rPr lang="en-US" altLang="zh-TW" sz="2500" dirty="0" smtClean="0"/>
                  <a:t>the percentage </a:t>
                </a:r>
                <a:r>
                  <a:rPr lang="en-US" altLang="zh-TW" sz="2500" dirty="0"/>
                  <a:t>of base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/>
                      </a:rPr>
                      <m:t>h</m:t>
                    </m:r>
                  </m:oMath>
                </a14:m>
                <a:r>
                  <a:rPr lang="en-US" altLang="zh-TW" sz="2500" dirty="0"/>
                  <a:t> contained in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altLang="zh-TW" sz="2500" b="0" i="1" smtClean="0">
                            <a:latin typeface="Cambria Math"/>
                          </a:rPr>
                          <m:t>𝑡h</m:t>
                        </m:r>
                      </m:sub>
                    </m:sSub>
                  </m:oMath>
                </a14:m>
                <a:r>
                  <a:rPr lang="en-US" altLang="zh-TW" sz="2500" dirty="0" smtClean="0"/>
                  <a:t> sequence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latin typeface="Cambria Math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en-US" altLang="zh-TW" sz="25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500" b="0" i="1" smtClean="0">
                                <a:latin typeface="Cambria Math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TW" sz="2500" b="0" i="1" smtClean="0">
                                <a:latin typeface="Cambria Math"/>
                              </a:rPr>
                              <m:t>h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500" dirty="0" smtClean="0"/>
                  <a:t>.</a:t>
                </a:r>
              </a:p>
              <a:p>
                <a:pPr marL="731520" lvl="1" indent="-457200">
                  <a:buFont typeface="+mj-lt"/>
                  <a:buAutoNum type="arabicParenR"/>
                </a:pPr>
                <a:r>
                  <a:rPr lang="en-US" altLang="zh-TW" dirty="0"/>
                  <a:t>Calculate the mean absolute deviation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altLang="zh-TW" sz="2400" i="1">
                            <a:latin typeface="Cambria Math"/>
                          </a:rPr>
                          <m:t>h</m:t>
                        </m:r>
                      </m:sub>
                    </m:sSub>
                    <m:r>
                      <a:rPr lang="en-US" altLang="zh-TW" sz="2400" b="0" i="1" smtClean="0">
                        <a:latin typeface="Cambria Math"/>
                      </a:rPr>
                      <m:t>.</m:t>
                    </m:r>
                  </m:oMath>
                </a14:m>
                <a:endParaRPr lang="en-US" altLang="zh-TW" dirty="0" smtClean="0"/>
              </a:p>
              <a:p>
                <a:pPr marL="274320" lvl="1" indent="0">
                  <a:buNone/>
                </a:pPr>
                <a:r>
                  <a:rPr lang="en-US" altLang="zh-TW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altLang="zh-TW">
                            <a:latin typeface="Cambria Math"/>
                          </a:rPr>
                          <m:t>h</m:t>
                        </m:r>
                      </m:sub>
                    </m:sSub>
                    <m:r>
                      <a:rPr lang="en-US" altLang="zh-TW" b="0" i="0" smtClean="0">
                        <a:latin typeface="Cambria Math"/>
                      </a:rPr>
                      <m:t>=</m:t>
                    </m:r>
                    <m:box>
                      <m:box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altLang="zh-TW" b="0" i="1" smtClean="0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b="0" i="1" smtClean="0">
                                <a:latin typeface="Cambria Math"/>
                              </a:rPr>
                              <m:t>𝑁</m:t>
                            </m:r>
                          </m:den>
                        </m:f>
                      </m:e>
                    </m:box>
                    <m:nary>
                      <m:naryPr>
                        <m:chr m:val="∑"/>
                        <m:limLoc m:val="subSup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altLang="zh-TW" b="0" i="1" smtClean="0">
                            <a:latin typeface="Cambria Math"/>
                          </a:rPr>
                          <m:t>𝑁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𝐹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h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zh-TW" b="0" i="1" smtClean="0"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h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altLang="zh-TW" dirty="0" smtClean="0"/>
              </a:p>
              <a:p>
                <a:pPr marL="731520" lvl="1" indent="-457200">
                  <a:buFont typeface="+mj-lt"/>
                  <a:buAutoNum type="arabicParenR" startAt="2"/>
                </a:pPr>
                <a:r>
                  <a:rPr lang="en-US" altLang="zh-TW" dirty="0"/>
                  <a:t> Calculate the standardized </a:t>
                </a:r>
                <a:r>
                  <a:rPr lang="en-US" altLang="zh-TW" dirty="0" smtClean="0"/>
                  <a:t>values</a:t>
                </a:r>
                <a:r>
                  <a:rPr lang="en-US" altLang="zh-TW" sz="2400" dirty="0"/>
                  <a:t> </a:t>
                </a:r>
                <a:r>
                  <a:rPr lang="en-US" altLang="zh-TW" sz="2400" dirty="0" smtClean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 smtClean="0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en-US" altLang="zh-TW" sz="24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/>
                              </a:rPr>
                              <m:t>h</m:t>
                            </m:r>
                          </m:sub>
                        </m:sSub>
                      </m:sub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′</m:t>
                        </m:r>
                      </m:sup>
                    </m:sSubSup>
                  </m:oMath>
                </a14:m>
                <a:endParaRPr lang="en-US" altLang="zh-TW" sz="2400" i="1" dirty="0" smtClean="0">
                  <a:latin typeface="Cambria Math"/>
                </a:endParaRPr>
              </a:p>
              <a:p>
                <a:pPr marL="274320" lvl="1" indent="0">
                  <a:buNone/>
                </a:pPr>
                <a:r>
                  <a:rPr lang="en-US" altLang="zh-TW" dirty="0" smtClean="0"/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>
                            <a:latin typeface="Cambria Math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>
                                <a:latin typeface="Cambria Math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TW">
                                <a:latin typeface="Cambria Math"/>
                              </a:rPr>
                              <m:t>h</m:t>
                            </m:r>
                          </m:sub>
                        </m:sSub>
                      </m:sub>
                      <m:sup>
                        <m:r>
                          <a:rPr lang="en-US" altLang="zh-TW"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en-US" altLang="zh-TW">
                        <a:latin typeface="Cambria Math"/>
                      </a:rPr>
                      <m:t>=(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>
                            <a:latin typeface="Cambria Math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>
                                <a:latin typeface="Cambria Math"/>
                              </a:rPr>
                              <m:t>1</m:t>
                            </m:r>
                          </m:e>
                          <m:sub>
                            <m:r>
                              <a:rPr lang="en-US" altLang="zh-TW">
                                <a:latin typeface="Cambria Math"/>
                              </a:rPr>
                              <m:t>h</m:t>
                            </m:r>
                          </m:sub>
                        </m:sSub>
                      </m:sub>
                    </m:sSub>
                    <m:r>
                      <a:rPr lang="en-US" altLang="zh-TW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altLang="zh-TW">
                            <a:latin typeface="Cambria Math"/>
                          </a:rPr>
                          <m:t>h</m:t>
                        </m:r>
                      </m:sub>
                    </m:sSub>
                    <m:r>
                      <a:rPr lang="en-US" altLang="zh-TW">
                        <a:latin typeface="Cambria Math"/>
                      </a:rPr>
                      <m:t>)</m:t>
                    </m:r>
                    <m:r>
                      <a:rPr lang="en-US" altLang="zh-TW" b="0" i="0" smtClean="0">
                        <a:latin typeface="Cambria Math"/>
                      </a:rPr>
                      <m:t>/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altLang="zh-TW">
                            <a:latin typeface="Cambria Math"/>
                          </a:rPr>
                          <m:t>h</m:t>
                        </m:r>
                      </m:sub>
                    </m:sSub>
                  </m:oMath>
                </a14:m>
                <a:endParaRPr lang="en-US" altLang="zh-TW" dirty="0" smtClean="0"/>
              </a:p>
              <a:p>
                <a:r>
                  <a:rPr lang="en-US" altLang="zh-TW" dirty="0"/>
                  <a:t>Calculate dissimilarities between sequences</a:t>
                </a:r>
                <a:r>
                  <a:rPr lang="en-US" altLang="zh-TW" dirty="0" smtClean="0"/>
                  <a:t>.</a:t>
                </a:r>
                <a:r>
                  <a:rPr lang="en-US" altLang="zh-TW" dirty="0"/>
                  <a:t> the dissimilarity </a:t>
                </a:r>
                <a:r>
                  <a:rPr lang="en-US" altLang="zh-TW" dirty="0" smtClean="0"/>
                  <a:t>between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</a:rPr>
                      <m:t>𝑋</m:t>
                    </m:r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/>
                  <a:t>and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</a:rPr>
                      <m:t>𝑌</m:t>
                    </m:r>
                  </m:oMath>
                </a14:m>
                <a:r>
                  <a:rPr lang="en-US" altLang="zh-TW" dirty="0"/>
                  <a:t> </a:t>
                </a:r>
                <a:r>
                  <a:rPr lang="en-US" altLang="zh-TW" dirty="0" smtClean="0"/>
                  <a:t>is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b="1" i="1" dirty="0"/>
                      <m:t>Dist</m:t>
                    </m:r>
                    <m:r>
                      <m:rPr>
                        <m:nor/>
                      </m:rPr>
                      <a:rPr lang="en-US" altLang="zh-TW" i="1" dirty="0"/>
                      <m:t>(</m:t>
                    </m:r>
                    <m:r>
                      <m:rPr>
                        <m:nor/>
                      </m:rPr>
                      <a:rPr lang="en-US" altLang="zh-TW" i="1" dirty="0"/>
                      <m:t>X</m:t>
                    </m:r>
                    <m:r>
                      <m:rPr>
                        <m:nor/>
                      </m:rPr>
                      <a:rPr lang="en-US" altLang="zh-TW" i="1" dirty="0"/>
                      <m:t>,</m:t>
                    </m:r>
                    <m:r>
                      <m:rPr>
                        <m:nor/>
                      </m:rPr>
                      <a:rPr lang="en-US" altLang="zh-TW" i="1" dirty="0"/>
                      <m:t>Y</m:t>
                    </m:r>
                    <m:r>
                      <m:rPr>
                        <m:nor/>
                      </m:rPr>
                      <a:rPr lang="en-US" altLang="zh-TW" i="1" dirty="0"/>
                      <m:t>)</m:t>
                    </m:r>
                    <m:r>
                      <m:rPr>
                        <m:nor/>
                      </m:rPr>
                      <a:rPr lang="en-US" altLang="zh-TW" b="0" i="0" dirty="0" smtClean="0"/>
                      <m:t>=</m:t>
                    </m:r>
                    <m:rad>
                      <m:radPr>
                        <m:degHide m:val="on"/>
                        <m:ctrlPr>
                          <a:rPr lang="en-US" altLang="zh-TW" b="0" i="1" dirty="0" smtClean="0">
                            <a:latin typeface="Cambria Math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altLang="zh-TW" b="0" i="1" dirty="0" smtClean="0">
                                <a:latin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altLang="zh-TW" b="0" i="1" dirty="0" smtClean="0">
                                <a:latin typeface="Cambria Math"/>
                              </a:rPr>
                              <m:t>h</m:t>
                            </m:r>
                            <m:r>
                              <a:rPr lang="en-US" altLang="zh-TW" b="0" i="1" dirty="0" smtClean="0">
                                <a:latin typeface="Cambria Math"/>
                                <a:ea typeface="Cambria Math"/>
                              </a:rPr>
                              <m:t>∈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zh-TW" b="0" i="1" dirty="0" smtClean="0">
                                    <a:latin typeface="Cambria Math"/>
                                    <a:ea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zh-TW" b="0" i="1" dirty="0" smtClean="0">
                                    <a:latin typeface="Cambria Math"/>
                                    <a:ea typeface="Cambria Math"/>
                                  </a:rPr>
                                  <m:t>𝐴</m:t>
                                </m:r>
                                <m:r>
                                  <a:rPr lang="en-US" altLang="zh-TW" b="0" i="1" dirty="0" smtClean="0">
                                    <a:latin typeface="Cambria Math"/>
                                    <a:ea typeface="Cambria Math"/>
                                  </a:rPr>
                                  <m:t>,</m:t>
                                </m:r>
                                <m:r>
                                  <a:rPr lang="en-US" altLang="zh-TW" b="0" i="1" dirty="0" smtClean="0">
                                    <a:latin typeface="Cambria Math"/>
                                    <a:ea typeface="Cambria Math"/>
                                  </a:rPr>
                                  <m:t>𝑇</m:t>
                                </m:r>
                                <m:r>
                                  <a:rPr lang="en-US" altLang="zh-TW" b="0" i="1" dirty="0" smtClean="0">
                                    <a:latin typeface="Cambria Math"/>
                                    <a:ea typeface="Cambria Math"/>
                                  </a:rPr>
                                  <m:t>,</m:t>
                                </m:r>
                                <m:r>
                                  <a:rPr lang="en-US" altLang="zh-TW" b="0" i="1" dirty="0" smtClean="0">
                                    <a:latin typeface="Cambria Math"/>
                                    <a:ea typeface="Cambria Math"/>
                                  </a:rPr>
                                  <m:t>𝐺</m:t>
                                </m:r>
                                <m:r>
                                  <a:rPr lang="en-US" altLang="zh-TW" b="0" i="1" dirty="0" smtClean="0">
                                    <a:latin typeface="Cambria Math"/>
                                    <a:ea typeface="Cambria Math"/>
                                  </a:rPr>
                                  <m:t>,</m:t>
                                </m:r>
                                <m:r>
                                  <a:rPr lang="en-US" altLang="zh-TW" b="0" i="1" dirty="0" smtClean="0">
                                    <a:latin typeface="Cambria Math"/>
                                    <a:ea typeface="Cambria Math"/>
                                  </a:rPr>
                                  <m:t>𝐶</m:t>
                                </m:r>
                              </m:e>
                            </m:d>
                          </m:sub>
                          <m:sup/>
                          <m:e>
                            <m:sSup>
                              <m:sSupPr>
                                <m:ctrlPr>
                                  <a:rPr lang="en-US" altLang="zh-TW" b="0" i="1" dirty="0" smtClean="0">
                                    <a:latin typeface="Cambria Math"/>
                                  </a:rPr>
                                </m:ctrlPr>
                              </m:sSupPr>
                              <m:e>
                                <m:sSubSup>
                                  <m:sSubSupPr>
                                    <m:ctrlPr>
                                      <a:rPr lang="en-US" altLang="zh-TW" i="1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b="0" i="0" smtClean="0">
                                        <a:latin typeface="Cambria Math"/>
                                      </a:rPr>
                                      <m:t>(</m:t>
                                    </m:r>
                                    <m:r>
                                      <a:rPr lang="en-US" altLang="zh-TW">
                                        <a:latin typeface="Cambria Math"/>
                                      </a:rPr>
                                      <m:t>𝐹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altLang="zh-TW">
                                            <a:latin typeface="Cambria Math"/>
                                          </a:rPr>
                                          <m:t>h</m:t>
                                        </m:r>
                                      </m:sub>
                                    </m:sSub>
                                  </m:sub>
                                  <m:sup>
                                    <m:r>
                                      <a:rPr lang="en-US" altLang="zh-TW">
                                        <a:latin typeface="Cambria Math"/>
                                      </a:rPr>
                                      <m:t>′</m:t>
                                    </m:r>
                                  </m:sup>
                                </m:sSubSup>
                                <m:r>
                                  <a:rPr lang="en-US" altLang="zh-TW" i="1">
                                    <a:latin typeface="Cambria Math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altLang="zh-TW" i="1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>
                                        <a:latin typeface="Cambria Math"/>
                                      </a:rPr>
                                      <m:t>𝐹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>
                                            <a:latin typeface="Cambria Math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en-US" altLang="zh-TW">
                                            <a:latin typeface="Cambria Math"/>
                                          </a:rPr>
                                          <m:t>h</m:t>
                                        </m:r>
                                      </m:sub>
                                    </m:sSub>
                                  </m:sub>
                                  <m:sup>
                                    <m:r>
                                      <a:rPr lang="en-US" altLang="zh-TW">
                                        <a:latin typeface="Cambria Math"/>
                                      </a:rPr>
                                      <m:t>′</m:t>
                                    </m:r>
                                  </m:sup>
                                </m:sSubSup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TW" b="0" i="1" dirty="0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5" name="內容版面配置區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5638800"/>
              </a:xfrm>
              <a:blipFill rotWithShape="1">
                <a:blip r:embed="rId2"/>
                <a:stretch>
                  <a:fillRect l="-444" t="-1405" r="-17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5444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dirty="0"/>
              <a:t>Direct alignment in combination </a:t>
            </a:r>
            <a:br>
              <a:rPr lang="en-US" altLang="zh-TW" dirty="0"/>
            </a:br>
            <a:r>
              <a:rPr lang="en-US" altLang="zh-TW" dirty="0" smtClean="0"/>
              <a:t>with </a:t>
            </a:r>
            <a:r>
              <a:rPr lang="en-US" altLang="zh-TW" dirty="0"/>
              <a:t>statistical information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2012/10/30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12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內容版面配置區 4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TW" i="1" smtClean="0">
                            <a:latin typeface="Cambria Math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i="1" smtClean="0">
                                <a:latin typeface="Cambria Math"/>
                              </a:rPr>
                            </m:ctrlPr>
                          </m:eqArrPr>
                          <m:e>
                            <m:r>
                              <a:rPr lang="el-GR" altLang="zh-TW" i="1" smtClean="0">
                                <a:latin typeface="Cambria Math"/>
                              </a:rPr>
                              <m:t>𝜇</m:t>
                            </m:r>
                            <m:d>
                              <m:dPr>
                                <m:ctrlPr>
                                  <a:rPr lang="en-US" altLang="zh-TW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en-US" altLang="zh-TW" b="0" i="1" smtClean="0">
                                <a:latin typeface="Cambria Math"/>
                              </a:rPr>
                              <m:t>=</m:t>
                            </m:r>
                            <m:d>
                              <m:dPr>
                                <m:begChr m:val="{"/>
                                <m:endChr m:val=""/>
                                <m:ctrlPr>
                                  <a:rPr lang="en-US" altLang="zh-TW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eqArr>
                                  <m:eqArrPr>
                                    <m:ctrlPr>
                                      <a:rPr lang="en-US" altLang="zh-TW" b="0" i="1" smtClean="0">
                                        <a:latin typeface="Cambria Math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0, </m:t>
                                    </m:r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=</m:t>
                                    </m:r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1, </m:t>
                                    </m:r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  <m:r>
                                      <a:rPr lang="en-US" altLang="zh-TW" b="0" i="1" smtClean="0">
                                        <a:latin typeface="Cambria Math"/>
                                        <a:ea typeface="Cambria Math"/>
                                      </a:rPr>
                                      <m:t>≠</m:t>
                                    </m:r>
                                    <m:r>
                                      <a:rPr lang="en-US" altLang="zh-TW" b="0" i="1" smtClean="0">
                                        <a:latin typeface="Cambria Math"/>
                                        <a:ea typeface="Cambria Math"/>
                                      </a:rPr>
                                      <m:t>𝑦</m:t>
                                    </m:r>
                                  </m:e>
                                </m:eqArr>
                              </m:e>
                            </m:d>
                          </m:e>
                          <m:e>
                            <m:r>
                              <m:rPr>
                                <m:sty m:val="p"/>
                              </m:rPr>
                              <a:rPr lang="el-GR" altLang="zh-TW" i="1">
                                <a:latin typeface="Cambria Math"/>
                              </a:rPr>
                              <m:t>σ</m:t>
                            </m:r>
                            <m:d>
                              <m:d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TW" i="1">
                                    <a:latin typeface="Cambria Math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TW" b="0" i="1" smtClean="0">
                                <a:latin typeface="Cambria Math"/>
                              </a:rPr>
                              <m:t>=</m:t>
                            </m:r>
                            <m:d>
                              <m:dPr>
                                <m:ctrlPr>
                                  <a:rPr lang="en-US" altLang="zh-TW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TW" b="0" i="1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𝑓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TW" b="0" i="1" smtClean="0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TW" b="0" i="1" smtClean="0">
                                                <a:latin typeface="Cambria Math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b="0" i="1" smtClean="0">
                                                <a:latin typeface="Cambria Math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b="0" i="1" smtClean="0">
                                                <a:latin typeface="Cambria Math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𝑓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TW" i="1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TW" i="1">
                                                <a:latin typeface="Cambria Math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b="0" i="1" smtClean="0">
                                                <a:latin typeface="Cambria Math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i="1">
                                                <a:latin typeface="Cambria Math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+1</m:t>
                                </m:r>
                              </m:e>
                            </m:d>
                            <m:r>
                              <a:rPr lang="en-US" altLang="zh-TW" i="1">
                                <a:latin typeface="Cambria Math"/>
                                <a:ea typeface="Cambria Math"/>
                              </a:rPr>
                              <m:t>×</m:t>
                            </m:r>
                            <m:r>
                              <a:rPr lang="el-GR" altLang="zh-TW" i="1">
                                <a:latin typeface="Cambria Math"/>
                              </a:rPr>
                              <m:t>𝜇</m:t>
                            </m:r>
                            <m:d>
                              <m:d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TW" i="1">
                                    <a:latin typeface="Cambria Math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e>
                            <m:r>
                              <m:rPr>
                                <m:nor/>
                              </m:rPr>
                              <a:rPr lang="en-US" altLang="zh-TW" b="1" i="1" dirty="0"/>
                              <m:t>Dist</m:t>
                            </m:r>
                            <m:r>
                              <m:rPr>
                                <m:nor/>
                              </m:rPr>
                              <a:rPr lang="en-US" altLang="zh-TW" i="1" dirty="0"/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altLang="zh-TW" i="1" dirty="0"/>
                              <m:t>X</m:t>
                            </m:r>
                            <m:r>
                              <m:rPr>
                                <m:nor/>
                              </m:rPr>
                              <a:rPr lang="en-US" altLang="zh-TW" i="1" dirty="0"/>
                              <m:t>,</m:t>
                            </m:r>
                            <m:r>
                              <m:rPr>
                                <m:nor/>
                              </m:rPr>
                              <a:rPr lang="en-US" altLang="zh-TW" i="1" dirty="0"/>
                              <m:t>Y</m:t>
                            </m:r>
                            <m:r>
                              <m:rPr>
                                <m:nor/>
                              </m:rPr>
                              <a:rPr lang="en-US" altLang="zh-TW" i="1" dirty="0"/>
                              <m:t>)</m:t>
                            </m:r>
                            <m:r>
                              <a:rPr lang="pt-BR" altLang="zh-TW" i="1">
                                <a:latin typeface="Cambria Math"/>
                              </a:rPr>
                              <m:t>=</m:t>
                            </m:r>
                            <m:nary>
                              <m:naryPr>
                                <m:chr m:val="∑"/>
                                <m:ctrlPr>
                                  <a:rPr lang="pt-BR" altLang="zh-TW" i="1">
                                    <a:latin typeface="Cambria Math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TW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pt-BR" altLang="zh-TW" i="1">
                                    <a:latin typeface="Cambria Math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 lang="en-US" altLang="zh-TW" i="1">
                                    <a:latin typeface="Cambria Math"/>
                                  </a:rPr>
                                  <m:t>𝑛</m:t>
                                </m:r>
                              </m:sup>
                              <m:e>
                                <m:r>
                                  <m:rPr>
                                    <m:sty m:val="p"/>
                                  </m:rPr>
                                  <a:rPr lang="el-GR" altLang="zh-TW" i="1">
                                    <a:latin typeface="Cambria Math"/>
                                  </a:rPr>
                                  <m:t>σ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TW" i="1">
                                    <a:latin typeface="Cambria Math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TW" i="1">
                                    <a:latin typeface="Cambria Math"/>
                                  </a:rPr>
                                  <m:t>)</m:t>
                                </m:r>
                              </m:e>
                            </m:nary>
                          </m:e>
                        </m:eqArr>
                      </m:e>
                    </m:d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altLang="zh-TW" dirty="0"/>
                  <a:t>(the occurrence times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/>
                  <a:t> at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𝑡h</m:t>
                        </m:r>
                      </m:sub>
                    </m:sSub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/>
                  <a:t>position)/</a:t>
                </a:r>
                <a:r>
                  <a:rPr lang="en-US" altLang="zh-TW" dirty="0" smtClean="0"/>
                  <a:t>N</a:t>
                </a:r>
              </a:p>
              <a:p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altLang="zh-TW" dirty="0" smtClean="0"/>
                  <a:t>(</a:t>
                </a:r>
                <a:r>
                  <a:rPr lang="en-US" altLang="zh-TW" dirty="0"/>
                  <a:t>the occurrence times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/>
                  <a:t> at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𝑡h</m:t>
                        </m:r>
                      </m:sub>
                    </m:sSub>
                  </m:oMath>
                </a14:m>
                <a:r>
                  <a:rPr lang="en-US" altLang="zh-TW" sz="2800" dirty="0"/>
                  <a:t> </a:t>
                </a:r>
                <a:r>
                  <a:rPr lang="en-US" altLang="zh-TW" dirty="0" smtClean="0"/>
                  <a:t>position</a:t>
                </a:r>
                <a:r>
                  <a:rPr lang="en-US" altLang="zh-TW" dirty="0"/>
                  <a:t>)/</a:t>
                </a:r>
                <a:r>
                  <a:rPr lang="en-US" altLang="zh-TW" dirty="0" smtClean="0"/>
                  <a:t>N</a:t>
                </a:r>
              </a:p>
              <a:p>
                <a:endParaRPr lang="en-US" altLang="zh-TW" dirty="0" smtClean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TW" i="1">
                            <a:latin typeface="Cambria Math"/>
                          </a:rPr>
                          <m:t>−</m:t>
                        </m:r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/>
                  <a:t>presents how difficult for other bases </a:t>
                </a:r>
                <a:r>
                  <a:rPr lang="en-US" altLang="zh-TW" dirty="0" smtClean="0"/>
                  <a:t>to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substitute </a:t>
                </a:r>
                <a:r>
                  <a:rPr lang="en-US" altLang="zh-TW" dirty="0"/>
                  <a:t>the base.</a:t>
                </a:r>
                <a:endParaRPr lang="en-US" altLang="zh-TW" dirty="0" smtClean="0"/>
              </a:p>
              <a:p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>
          <p:sp>
            <p:nvSpPr>
              <p:cNvPr id="5" name="內容版面配置區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5091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results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2012/10/30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13</a:t>
            </a:fld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2796 donor sequences of human being as </a:t>
            </a:r>
            <a:r>
              <a:rPr lang="en-US" altLang="zh-TW" dirty="0" smtClean="0"/>
              <a:t>the experimental </a:t>
            </a:r>
            <a:r>
              <a:rPr lang="en-US" altLang="zh-TW" dirty="0"/>
              <a:t>data set</a:t>
            </a:r>
            <a:endParaRPr lang="zh-TW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76264"/>
            <a:ext cx="9144000" cy="4509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左-右雙向箭號 6"/>
          <p:cNvSpPr/>
          <p:nvPr/>
        </p:nvSpPr>
        <p:spPr>
          <a:xfrm>
            <a:off x="3779912" y="6165304"/>
            <a:ext cx="3744416" cy="485006"/>
          </a:xfrm>
          <a:prstGeom prst="leftRightArrow">
            <a:avLst/>
          </a:prstGeom>
          <a:solidFill>
            <a:schemeClr val="accent6">
              <a:lumMod val="75000"/>
              <a:alpha val="49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0542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Frequencies of various bases at each position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2012/10/30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Dissimilarity definition </a:t>
            </a:r>
            <a:r>
              <a:rPr lang="en-US" altLang="zh-TW" dirty="0" smtClean="0"/>
              <a:t>formula</a:t>
            </a:r>
            <a:r>
              <a:rPr lang="zh-TW" altLang="en-US" dirty="0" smtClean="0"/>
              <a:t>：</a:t>
            </a:r>
            <a:endParaRPr lang="en-US" altLang="zh-TW" dirty="0" smtClean="0"/>
          </a:p>
          <a:p>
            <a:pPr marL="274320" lvl="1" indent="0">
              <a:buNone/>
            </a:pPr>
            <a:r>
              <a:rPr lang="en-US" altLang="zh-TW" dirty="0" smtClean="0"/>
              <a:t>using </a:t>
            </a:r>
            <a:r>
              <a:rPr lang="en-US" altLang="zh-TW" b="1" dirty="0"/>
              <a:t>Direct alignment in combination </a:t>
            </a:r>
            <a:r>
              <a:rPr lang="en-US" altLang="zh-TW" b="1" dirty="0" smtClean="0"/>
              <a:t>with </a:t>
            </a:r>
            <a:r>
              <a:rPr lang="en-US" altLang="zh-TW" b="1" dirty="0"/>
              <a:t>statistical information</a:t>
            </a:r>
            <a:endParaRPr lang="en-US" altLang="zh-TW" b="1" dirty="0" smtClean="0"/>
          </a:p>
          <a:p>
            <a:r>
              <a:rPr lang="pt-BR" altLang="zh-TW" dirty="0" smtClean="0"/>
              <a:t>parameters</a:t>
            </a:r>
            <a:r>
              <a:rPr lang="zh-TW" altLang="en-US" dirty="0" smtClean="0"/>
              <a:t>：</a:t>
            </a:r>
            <a:r>
              <a:rPr lang="pt-BR" altLang="zh-TW" dirty="0" smtClean="0"/>
              <a:t>MinPts </a:t>
            </a:r>
            <a:r>
              <a:rPr lang="pt-BR" altLang="zh-TW" dirty="0"/>
              <a:t>= 6, e = </a:t>
            </a:r>
            <a:r>
              <a:rPr lang="pt-BR" altLang="zh-TW" dirty="0" smtClean="0"/>
              <a:t>1.57</a:t>
            </a:r>
            <a:endParaRPr lang="pt-BR" altLang="zh-TW" dirty="0"/>
          </a:p>
          <a:p>
            <a:r>
              <a:rPr lang="en-US" altLang="zh-TW" dirty="0" smtClean="0"/>
              <a:t>Results</a:t>
            </a:r>
            <a:r>
              <a:rPr lang="zh-TW" altLang="en-US" dirty="0" smtClean="0"/>
              <a:t>：</a:t>
            </a:r>
            <a:r>
              <a:rPr lang="en-US" altLang="zh-TW" dirty="0" smtClean="0">
                <a:solidFill>
                  <a:srgbClr val="FF0000"/>
                </a:solidFill>
              </a:rPr>
              <a:t>4 </a:t>
            </a:r>
            <a:r>
              <a:rPr lang="en-US" altLang="zh-TW" dirty="0">
                <a:solidFill>
                  <a:srgbClr val="FF0000"/>
                </a:solidFill>
              </a:rPr>
              <a:t>clusters </a:t>
            </a:r>
            <a:r>
              <a:rPr lang="en-US" altLang="zh-TW" dirty="0"/>
              <a:t>and </a:t>
            </a:r>
            <a:r>
              <a:rPr lang="en-US" altLang="zh-TW" dirty="0">
                <a:solidFill>
                  <a:srgbClr val="FF0000"/>
                </a:solidFill>
              </a:rPr>
              <a:t>153 noise </a:t>
            </a:r>
            <a:r>
              <a:rPr lang="en-US" altLang="zh-TW" dirty="0" smtClean="0">
                <a:solidFill>
                  <a:srgbClr val="FF0000"/>
                </a:solidFill>
              </a:rPr>
              <a:t>objects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1235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2012/10/30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15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1545"/>
            <a:ext cx="8068767" cy="6823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62083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Noise set analysis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2012/10/30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Dissimilarity definition formula</a:t>
            </a:r>
            <a:r>
              <a:rPr lang="zh-TW" altLang="en-US" dirty="0"/>
              <a:t>：</a:t>
            </a:r>
            <a:endParaRPr lang="en-US" altLang="zh-TW" dirty="0"/>
          </a:p>
          <a:p>
            <a:pPr marL="274320" lvl="1" indent="0">
              <a:buNone/>
            </a:pPr>
            <a:r>
              <a:rPr lang="en-US" altLang="zh-TW" dirty="0"/>
              <a:t>using </a:t>
            </a:r>
            <a:r>
              <a:rPr lang="en-US" altLang="zh-TW" b="1" dirty="0"/>
              <a:t>Direct alignment in combination with statistical information</a:t>
            </a:r>
          </a:p>
          <a:p>
            <a:r>
              <a:rPr lang="pt-BR" altLang="zh-TW" dirty="0"/>
              <a:t>parameters</a:t>
            </a:r>
            <a:r>
              <a:rPr lang="zh-TW" altLang="en-US" dirty="0"/>
              <a:t>：</a:t>
            </a:r>
            <a:r>
              <a:rPr lang="pt-BR" altLang="zh-TW" dirty="0"/>
              <a:t>MinPts = </a:t>
            </a:r>
            <a:r>
              <a:rPr lang="en-US" altLang="zh-TW" dirty="0" smtClean="0"/>
              <a:t>4</a:t>
            </a:r>
            <a:r>
              <a:rPr lang="pt-BR" altLang="zh-TW" dirty="0" smtClean="0"/>
              <a:t>, </a:t>
            </a:r>
            <a:r>
              <a:rPr lang="pt-BR" altLang="zh-TW" dirty="0"/>
              <a:t>e = </a:t>
            </a:r>
            <a:r>
              <a:rPr lang="en-US" altLang="zh-TW" dirty="0" smtClean="0"/>
              <a:t>2.0</a:t>
            </a:r>
            <a:endParaRPr lang="pt-BR" altLang="zh-TW" dirty="0"/>
          </a:p>
          <a:p>
            <a:r>
              <a:rPr lang="en-US" altLang="zh-TW" dirty="0"/>
              <a:t>Results</a:t>
            </a:r>
            <a:r>
              <a:rPr lang="zh-TW" altLang="en-US" dirty="0" smtClean="0"/>
              <a:t>：</a:t>
            </a:r>
            <a:r>
              <a:rPr lang="en-US" altLang="zh-TW" dirty="0" smtClean="0">
                <a:solidFill>
                  <a:srgbClr val="FF0000"/>
                </a:solidFill>
              </a:rPr>
              <a:t>1 </a:t>
            </a:r>
            <a:r>
              <a:rPr lang="en-US" altLang="zh-TW" dirty="0">
                <a:solidFill>
                  <a:srgbClr val="FF0000"/>
                </a:solidFill>
              </a:rPr>
              <a:t>clusters </a:t>
            </a:r>
            <a:r>
              <a:rPr lang="en-US" altLang="zh-TW" dirty="0"/>
              <a:t>and </a:t>
            </a:r>
            <a:r>
              <a:rPr lang="en-US" altLang="zh-TW" dirty="0" smtClean="0">
                <a:solidFill>
                  <a:srgbClr val="FF0000"/>
                </a:solidFill>
              </a:rPr>
              <a:t>15 </a:t>
            </a:r>
            <a:r>
              <a:rPr lang="en-US" altLang="zh-TW" dirty="0">
                <a:solidFill>
                  <a:srgbClr val="FF0000"/>
                </a:solidFill>
              </a:rPr>
              <a:t>noise objects</a:t>
            </a:r>
            <a:endParaRPr lang="zh-TW" altLang="en-US" dirty="0">
              <a:solidFill>
                <a:srgbClr val="FF0000"/>
              </a:solidFill>
            </a:endParaRPr>
          </a:p>
          <a:p>
            <a:endParaRPr lang="zh-TW" altLang="en-US" dirty="0"/>
          </a:p>
        </p:txBody>
      </p:sp>
      <p:pic>
        <p:nvPicPr>
          <p:cNvPr id="1027" name="Picture 3" descr="C:\Users\Chuan\Desktop\未命名-1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06077" y="4221088"/>
            <a:ext cx="10153128" cy="1893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44" y="3356992"/>
            <a:ext cx="9151643" cy="3528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1264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Frequency of base combinations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2012/10/30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17</a:t>
            </a:fld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the percentage of </a:t>
            </a:r>
            <a:r>
              <a:rPr lang="en-US" altLang="zh-TW" dirty="0" smtClean="0"/>
              <a:t>”T+C</a:t>
            </a:r>
            <a:r>
              <a:rPr lang="en-US" altLang="zh-TW" dirty="0"/>
              <a:t>” (</a:t>
            </a:r>
            <a:r>
              <a:rPr lang="en-US" altLang="zh-TW" dirty="0" smtClean="0"/>
              <a:t>or “A+G</a:t>
            </a:r>
            <a:r>
              <a:rPr lang="en-US" altLang="zh-TW" dirty="0"/>
              <a:t>”) is used to describe a given sequence sometimes.</a:t>
            </a:r>
          </a:p>
          <a:p>
            <a:r>
              <a:rPr lang="en-US" altLang="zh-TW" dirty="0" smtClean="0"/>
              <a:t>A </a:t>
            </a:r>
            <a:r>
              <a:rPr lang="en-US" altLang="zh-TW" dirty="0"/>
              <a:t>and C have the same </a:t>
            </a:r>
            <a:r>
              <a:rPr lang="en-US" altLang="zh-TW" dirty="0" smtClean="0"/>
              <a:t>functional amino-group</a:t>
            </a:r>
          </a:p>
          <a:p>
            <a:r>
              <a:rPr lang="en-US" altLang="zh-TW" dirty="0" smtClean="0"/>
              <a:t>T </a:t>
            </a:r>
            <a:r>
              <a:rPr lang="en-US" altLang="zh-TW" dirty="0"/>
              <a:t>and G have functional </a:t>
            </a:r>
            <a:r>
              <a:rPr lang="en-US" altLang="zh-TW" dirty="0" err="1" smtClean="0"/>
              <a:t>keto</a:t>
            </a:r>
            <a:r>
              <a:rPr lang="en-US" altLang="zh-TW" dirty="0" smtClean="0"/>
              <a:t>-group</a:t>
            </a:r>
            <a:endParaRPr lang="en-US" altLang="zh-TW" dirty="0"/>
          </a:p>
        </p:txBody>
      </p:sp>
      <p:pic>
        <p:nvPicPr>
          <p:cNvPr id="2050" name="Picture 2" descr="C:\Users\Chuan\Desktop\dna_bases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69568"/>
            <a:ext cx="3888432" cy="388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2943" y="3284984"/>
            <a:ext cx="5638800" cy="355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直線單箭頭接點 6"/>
          <p:cNvCxnSpPr/>
          <p:nvPr/>
        </p:nvCxnSpPr>
        <p:spPr>
          <a:xfrm flipH="1">
            <a:off x="2771800" y="2969568"/>
            <a:ext cx="1872208" cy="675456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4644008" y="2969568"/>
            <a:ext cx="167833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2345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dirty="0" smtClean="0"/>
              <a:t>2012/10/30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755"/>
          <a:stretch/>
        </p:blipFill>
        <p:spPr bwMode="auto">
          <a:xfrm>
            <a:off x="4380218" y="3861048"/>
            <a:ext cx="4853252" cy="2786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100"/>
          <a:stretch/>
        </p:blipFill>
        <p:spPr bwMode="auto">
          <a:xfrm>
            <a:off x="10929" y="3861048"/>
            <a:ext cx="4831853" cy="2929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Di-bases bias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18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內容版面配置區 4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zh-TW" sz="2400" dirty="0" smtClean="0"/>
                  <a:t> </a:t>
                </a:r>
                <a:r>
                  <a:rPr lang="en-US" altLang="zh-TW" sz="2400" dirty="0"/>
                  <a:t>denote the frequency of the base </a:t>
                </a:r>
                <a:r>
                  <a:rPr lang="en-US" altLang="zh-TW" sz="2400" dirty="0"/>
                  <a:t/>
                </a:r>
                <a:br>
                  <a:rPr lang="en-US" altLang="zh-TW" sz="2400" dirty="0"/>
                </a:b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/>
                      </a:rPr>
                      <m:t>𝑋</m:t>
                    </m:r>
                    <m:r>
                      <a:rPr lang="en-US" altLang="zh-TW" sz="2400" i="1" dirty="0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altLang="zh-TW" sz="2400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400" i="1" dirty="0">
                            <a:latin typeface="Cambria Math"/>
                          </a:rPr>
                          <m:t>𝑋</m:t>
                        </m:r>
                        <m:r>
                          <a:rPr lang="en-US" altLang="zh-TW" sz="2400" i="1" dirty="0">
                            <a:latin typeface="Cambria Math"/>
                            <a:ea typeface="Cambria Math"/>
                          </a:rPr>
                          <m:t>∈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TW" sz="2400" i="1" dirty="0" smtClean="0"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altLang="zh-TW" sz="2400" i="1" dirty="0">
                                <a:latin typeface="Cambria Math"/>
                              </a:rPr>
                              <m:t>𝐴</m:t>
                            </m:r>
                            <m:r>
                              <a:rPr lang="en-US" altLang="zh-TW" sz="2400" i="1" dirty="0">
                                <a:latin typeface="Cambria Math"/>
                              </a:rPr>
                              <m:t>,</m:t>
                            </m:r>
                            <m:r>
                              <a:rPr lang="en-US" altLang="zh-TW" sz="2400" i="1" dirty="0">
                                <a:latin typeface="Cambria Math"/>
                              </a:rPr>
                              <m:t>𝑇</m:t>
                            </m:r>
                            <m:r>
                              <a:rPr lang="en-US" altLang="zh-TW" sz="2400" i="1" dirty="0">
                                <a:latin typeface="Cambria Math"/>
                              </a:rPr>
                              <m:t>,</m:t>
                            </m:r>
                            <m:r>
                              <a:rPr lang="en-US" altLang="zh-TW" sz="2400" i="1" dirty="0">
                                <a:latin typeface="Cambria Math"/>
                              </a:rPr>
                              <m:t>𝐺</m:t>
                            </m:r>
                            <m:r>
                              <a:rPr lang="en-US" altLang="zh-TW" sz="2400" i="1" dirty="0">
                                <a:latin typeface="Cambria Math"/>
                              </a:rPr>
                              <m:t>,</m:t>
                            </m:r>
                            <m:r>
                              <a:rPr lang="en-US" altLang="zh-TW" sz="2400" i="1" dirty="0">
                                <a:latin typeface="Cambria Math"/>
                              </a:rPr>
                              <m:t>𝐶</m:t>
                            </m:r>
                          </m:e>
                        </m:d>
                      </m:e>
                    </m:d>
                  </m:oMath>
                </a14:m>
                <a:endParaRPr lang="en-US" altLang="zh-TW" sz="240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sz="2400" i="1">
                            <a:latin typeface="Cambria Math"/>
                          </a:rPr>
                          <m:t>𝑥</m:t>
                        </m:r>
                        <m:r>
                          <a:rPr lang="en-US" altLang="zh-TW" sz="2400" b="0" i="1" smtClean="0">
                            <a:latin typeface="Cambria Math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altLang="zh-TW" sz="2400" dirty="0" smtClean="0"/>
                  <a:t> </a:t>
                </a:r>
                <a:r>
                  <a:rPr lang="en-US" altLang="zh-TW" sz="2400" dirty="0"/>
                  <a:t>denote </a:t>
                </a:r>
                <a:r>
                  <a:rPr lang="en-US" altLang="zh-TW" sz="2400" dirty="0" smtClean="0"/>
                  <a:t>the </a:t>
                </a:r>
                <a:r>
                  <a:rPr lang="en-US" altLang="zh-TW" sz="2400" dirty="0"/>
                  <a:t>frequency of </a:t>
                </a:r>
                <a:r>
                  <a:rPr lang="en-US" altLang="zh-TW" sz="2400" dirty="0" smtClean="0"/>
                  <a:t>di-bases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/>
                      </a:rPr>
                      <m:t>𝑋𝑌</m:t>
                    </m:r>
                    <m:r>
                      <a:rPr lang="en-US" altLang="zh-TW" sz="2400" b="0" i="0" dirty="0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altLang="zh-TW" sz="24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400" i="1" dirty="0">
                            <a:latin typeface="Cambria Math"/>
                          </a:rPr>
                          <m:t>𝑋</m:t>
                        </m:r>
                        <m:r>
                          <a:rPr lang="en-US" altLang="zh-TW" sz="2400" b="0" i="1" dirty="0" smtClean="0">
                            <a:latin typeface="Cambria Math"/>
                          </a:rPr>
                          <m:t>,</m:t>
                        </m:r>
                        <m:r>
                          <a:rPr lang="en-US" altLang="zh-TW" sz="2400" b="0" i="1" dirty="0" smtClean="0">
                            <a:latin typeface="Cambria Math"/>
                          </a:rPr>
                          <m:t>𝑌</m:t>
                        </m:r>
                        <m:r>
                          <a:rPr lang="en-US" altLang="zh-TW" sz="2400" i="1" dirty="0">
                            <a:latin typeface="Cambria Math"/>
                            <a:ea typeface="Cambria Math"/>
                          </a:rPr>
                          <m:t>∈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TW" sz="2400" i="1" dirty="0"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altLang="zh-TW" sz="2400" i="1" dirty="0">
                                <a:latin typeface="Cambria Math"/>
                              </a:rPr>
                              <m:t>𝐴</m:t>
                            </m:r>
                            <m:r>
                              <a:rPr lang="en-US" altLang="zh-TW" sz="2400" i="1" dirty="0">
                                <a:latin typeface="Cambria Math"/>
                              </a:rPr>
                              <m:t>,</m:t>
                            </m:r>
                            <m:r>
                              <a:rPr lang="en-US" altLang="zh-TW" sz="2400" i="1" dirty="0">
                                <a:latin typeface="Cambria Math"/>
                              </a:rPr>
                              <m:t>𝑇</m:t>
                            </m:r>
                            <m:r>
                              <a:rPr lang="en-US" altLang="zh-TW" sz="2400" i="1" dirty="0">
                                <a:latin typeface="Cambria Math"/>
                              </a:rPr>
                              <m:t>,</m:t>
                            </m:r>
                            <m:r>
                              <a:rPr lang="en-US" altLang="zh-TW" sz="2400" i="1" dirty="0">
                                <a:latin typeface="Cambria Math"/>
                              </a:rPr>
                              <m:t>𝐺</m:t>
                            </m:r>
                            <m:r>
                              <a:rPr lang="en-US" altLang="zh-TW" sz="2400" i="1" dirty="0">
                                <a:latin typeface="Cambria Math"/>
                              </a:rPr>
                              <m:t>,</m:t>
                            </m:r>
                            <m:r>
                              <a:rPr lang="en-US" altLang="zh-TW" sz="2400" i="1" dirty="0">
                                <a:latin typeface="Cambria Math"/>
                              </a:rPr>
                              <m:t>𝐶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TW" sz="2400" dirty="0"/>
                  <a:t>.</a:t>
                </a:r>
                <a:endParaRPr lang="en-US" altLang="zh-TW" sz="2400" dirty="0" smtClean="0"/>
              </a:p>
              <a:p>
                <a:r>
                  <a:rPr lang="en-US" altLang="zh-TW" dirty="0" smtClean="0"/>
                  <a:t>We </a:t>
                </a:r>
                <a:r>
                  <a:rPr lang="en-US" altLang="zh-TW" dirty="0"/>
                  <a:t>can </a:t>
                </a:r>
                <a:r>
                  <a:rPr lang="en-US" altLang="zh-TW" dirty="0" smtClean="0"/>
                  <a:t>use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solidFill>
                          <a:srgbClr val="C00000"/>
                        </a:solidFill>
                        <a:latin typeface="Cambria Math"/>
                      </a:rPr>
                      <m:t>𝑃𝑥𝑦</m:t>
                    </m:r>
                    <m:r>
                      <a:rPr lang="en-US" altLang="zh-TW" i="1" dirty="0" smtClean="0">
                        <a:solidFill>
                          <a:srgbClr val="C00000"/>
                        </a:solidFill>
                        <a:latin typeface="Cambria Math"/>
                      </a:rPr>
                      <m:t> =</m:t>
                    </m:r>
                    <m:f>
                      <m:fPr>
                        <m:ctrlPr>
                          <a:rPr lang="en-US" altLang="zh-TW" i="1" dirty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i="1" dirty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𝑓𝑥𝑦</m:t>
                        </m:r>
                      </m:num>
                      <m:den>
                        <m:r>
                          <a:rPr lang="en-US" altLang="zh-TW" i="1" dirty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𝑓𝑥</m:t>
                        </m:r>
                        <m:r>
                          <a:rPr lang="en-US" altLang="zh-TW" i="1" dirty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altLang="zh-TW" i="1" dirty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𝑓𝑦</m:t>
                        </m:r>
                      </m:den>
                    </m:f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/>
                  <a:t>to describe the bias of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</a:rPr>
                      <m:t>𝑋𝑌</m:t>
                    </m:r>
                  </m:oMath>
                </a14:m>
                <a:r>
                  <a:rPr lang="en-US" altLang="zh-TW" dirty="0"/>
                  <a:t> in the </a:t>
                </a:r>
                <a:r>
                  <a:rPr lang="en-US" altLang="zh-TW" dirty="0" smtClean="0"/>
                  <a:t>sequence.</a:t>
                </a:r>
                <a:endParaRPr lang="zh-TW" altLang="en-US" dirty="0"/>
              </a:p>
            </p:txBody>
          </p:sp>
        </mc:Choice>
        <mc:Fallback>
          <p:sp>
            <p:nvSpPr>
              <p:cNvPr id="5" name="內容版面配置區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3"/>
                <a:stretch>
                  <a:fillRect l="-593" t="-8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9866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Conclusions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19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rgbClr val="C00000"/>
                </a:solidFill>
              </a:rPr>
              <a:t>These features can help us to predict the </a:t>
            </a:r>
            <a:r>
              <a:rPr lang="en-US" altLang="zh-TW" dirty="0" smtClean="0">
                <a:solidFill>
                  <a:srgbClr val="C00000"/>
                </a:solidFill>
              </a:rPr>
              <a:t>functions of </a:t>
            </a:r>
            <a:r>
              <a:rPr lang="en-US" altLang="zh-TW" dirty="0">
                <a:solidFill>
                  <a:srgbClr val="C00000"/>
                </a:solidFill>
              </a:rPr>
              <a:t>the sequences in each cluster</a:t>
            </a:r>
            <a:r>
              <a:rPr lang="en-US" altLang="zh-TW" dirty="0"/>
              <a:t>, and it will be also helpful </a:t>
            </a:r>
            <a:r>
              <a:rPr lang="en-US" altLang="zh-TW" dirty="0" smtClean="0"/>
              <a:t>to mine </a:t>
            </a:r>
            <a:r>
              <a:rPr lang="en-US" altLang="zh-TW" dirty="0"/>
              <a:t>more biological knowledge from the clustering </a:t>
            </a:r>
            <a:r>
              <a:rPr lang="en-US" altLang="zh-TW" dirty="0" smtClean="0"/>
              <a:t>results</a:t>
            </a:r>
            <a:r>
              <a:rPr lang="en-US" altLang="zh-TW" dirty="0"/>
              <a:t>.</a:t>
            </a:r>
          </a:p>
          <a:p>
            <a:r>
              <a:rPr lang="en-US" altLang="zh-TW" dirty="0"/>
              <a:t>Although the clustering results show us some </a:t>
            </a:r>
            <a:r>
              <a:rPr lang="en-US" altLang="zh-TW" dirty="0" smtClean="0"/>
              <a:t>important features</a:t>
            </a:r>
            <a:r>
              <a:rPr lang="en-US" altLang="zh-TW" dirty="0"/>
              <a:t>, they do not provide enough biological </a:t>
            </a:r>
            <a:r>
              <a:rPr lang="en-US" altLang="zh-TW" dirty="0" smtClean="0"/>
              <a:t>knowledge directly</a:t>
            </a:r>
            <a:r>
              <a:rPr lang="en-US" altLang="zh-TW" dirty="0"/>
              <a:t>. In the future, some further works will be </a:t>
            </a:r>
            <a:r>
              <a:rPr lang="en-US" altLang="zh-TW" dirty="0" smtClean="0"/>
              <a:t>done based </a:t>
            </a:r>
            <a:r>
              <a:rPr lang="en-US" altLang="zh-TW" dirty="0"/>
              <a:t>on the clustering results to improve the </a:t>
            </a:r>
            <a:r>
              <a:rPr lang="en-US" altLang="zh-TW" dirty="0" smtClean="0"/>
              <a:t>prediction accuracy </a:t>
            </a:r>
            <a:r>
              <a:rPr lang="en-US" altLang="zh-TW" dirty="0"/>
              <a:t>of splice sites.</a:t>
            </a:r>
            <a:endParaRPr lang="zh-TW" alt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2012/10/30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6314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原創">
  <a:themeElements>
    <a:clrScheme name="自訂 3">
      <a:dk1>
        <a:sysClr val="windowText" lastClr="000000"/>
      </a:dk1>
      <a:lt1>
        <a:sysClr val="window" lastClr="FFFFFF"/>
      </a:lt1>
      <a:dk2>
        <a:srgbClr val="000000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0000"/>
      </a:hlink>
      <a:folHlink>
        <a:srgbClr val="0000FF"/>
      </a:folHlink>
    </a:clrScheme>
    <a:fontScheme name="自訂 1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原創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1369</TotalTime>
  <Words>910</Words>
  <Application>Microsoft Office PowerPoint</Application>
  <PresentationFormat>如螢幕大小 (4:3)</PresentationFormat>
  <Paragraphs>183</Paragraphs>
  <Slides>19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0" baseType="lpstr">
      <vt:lpstr>原創</vt:lpstr>
      <vt:lpstr>DNA Splice Site Sequences Clustering Method for Conservativeness Analysis Progress in Natural Science vol.19, pp.511-516, 2009 </vt:lpstr>
      <vt:lpstr>Abstract</vt:lpstr>
      <vt:lpstr>RNA Splice Site Adjacent Sequences(1)</vt:lpstr>
      <vt:lpstr>RNA Splice Site Adjacent Sequences(2)</vt:lpstr>
      <vt:lpstr>DBSCAN(1)</vt:lpstr>
      <vt:lpstr>DBSCAN</vt:lpstr>
      <vt:lpstr>K-means</vt:lpstr>
      <vt:lpstr>Comparison of K-means and DBSCAN</vt:lpstr>
      <vt:lpstr>Direct alignment</vt:lpstr>
      <vt:lpstr>Dynamic programming alignment</vt:lpstr>
      <vt:lpstr>Statistical probability-based method</vt:lpstr>
      <vt:lpstr>Direct alignment in combination  with statistical information</vt:lpstr>
      <vt:lpstr>Experimental results</vt:lpstr>
      <vt:lpstr>Frequencies of various bases at each position</vt:lpstr>
      <vt:lpstr>PowerPoint 簡報</vt:lpstr>
      <vt:lpstr>Noise set analysis</vt:lpstr>
      <vt:lpstr>Frequency of base combinations</vt:lpstr>
      <vt:lpstr>Di-bases bias</vt:lpstr>
      <vt:lpstr>Conclusions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Quadratic-time algorithm for a string constrained LCS problem</dc:title>
  <dc:creator>Robert</dc:creator>
  <cp:lastModifiedBy>Chuan</cp:lastModifiedBy>
  <cp:revision>102</cp:revision>
  <cp:lastPrinted>2012-09-10T21:31:19Z</cp:lastPrinted>
  <dcterms:created xsi:type="dcterms:W3CDTF">2012-09-10T08:29:10Z</dcterms:created>
  <dcterms:modified xsi:type="dcterms:W3CDTF">2012-10-30T10:31:53Z</dcterms:modified>
</cp:coreProperties>
</file>