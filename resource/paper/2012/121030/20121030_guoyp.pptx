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1" r:id="rId8"/>
    <p:sldId id="263" r:id="rId9"/>
    <p:sldId id="264" r:id="rId10"/>
    <p:sldId id="265" r:id="rId11"/>
    <p:sldId id="266" r:id="rId12"/>
    <p:sldId id="267" r:id="rId13"/>
    <p:sldId id="268" r:id="rId14"/>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727" autoAdjust="0"/>
    <p:restoredTop sz="94660"/>
  </p:normalViewPr>
  <p:slideViewPr>
    <p:cSldViewPr>
      <p:cViewPr varScale="1">
        <p:scale>
          <a:sx n="90" d="100"/>
          <a:sy n="90" d="100"/>
        </p:scale>
        <p:origin x="-120" y="-21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27164012-4FED-4FE6-9D41-E22ECA6DF810}" type="datetimeFigureOut">
              <a:rPr lang="zh-TW" altLang="en-US" smtClean="0"/>
              <a:t>2012/10/30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34CA237-43F2-499D-8B40-19B5D0046B30}" type="slidenum">
              <a:rPr lang="zh-TW" altLang="en-US" smtClean="0"/>
              <a:t>‹#›</a:t>
            </a:fld>
            <a:endParaRPr lang="zh-TW" altLang="en-US"/>
          </a:p>
        </p:txBody>
      </p:sp>
    </p:spTree>
    <p:extLst>
      <p:ext uri="{BB962C8B-B14F-4D97-AF65-F5344CB8AC3E}">
        <p14:creationId xmlns:p14="http://schemas.microsoft.com/office/powerpoint/2010/main" val="16753249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27164012-4FED-4FE6-9D41-E22ECA6DF810}" type="datetimeFigureOut">
              <a:rPr lang="zh-TW" altLang="en-US" smtClean="0"/>
              <a:t>2012/10/30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34CA237-43F2-499D-8B40-19B5D0046B30}" type="slidenum">
              <a:rPr lang="zh-TW" altLang="en-US" smtClean="0"/>
              <a:t>‹#›</a:t>
            </a:fld>
            <a:endParaRPr lang="zh-TW" altLang="en-US"/>
          </a:p>
        </p:txBody>
      </p:sp>
    </p:spTree>
    <p:extLst>
      <p:ext uri="{BB962C8B-B14F-4D97-AF65-F5344CB8AC3E}">
        <p14:creationId xmlns:p14="http://schemas.microsoft.com/office/powerpoint/2010/main" val="312787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27164012-4FED-4FE6-9D41-E22ECA6DF810}" type="datetimeFigureOut">
              <a:rPr lang="zh-TW" altLang="en-US" smtClean="0"/>
              <a:t>2012/10/30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34CA237-43F2-499D-8B40-19B5D0046B30}" type="slidenum">
              <a:rPr lang="zh-TW" altLang="en-US" smtClean="0"/>
              <a:t>‹#›</a:t>
            </a:fld>
            <a:endParaRPr lang="zh-TW" altLang="en-US"/>
          </a:p>
        </p:txBody>
      </p:sp>
    </p:spTree>
    <p:extLst>
      <p:ext uri="{BB962C8B-B14F-4D97-AF65-F5344CB8AC3E}">
        <p14:creationId xmlns:p14="http://schemas.microsoft.com/office/powerpoint/2010/main" val="34644595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27164012-4FED-4FE6-9D41-E22ECA6DF810}" type="datetimeFigureOut">
              <a:rPr lang="zh-TW" altLang="en-US" smtClean="0"/>
              <a:t>2012/10/30</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A34CA237-43F2-499D-8B40-19B5D0046B30}" type="slidenum">
              <a:rPr lang="zh-TW" altLang="en-US" smtClean="0"/>
              <a:t>‹#›</a:t>
            </a:fld>
            <a:endParaRPr lang="zh-TW" altLang="en-US"/>
          </a:p>
        </p:txBody>
      </p:sp>
    </p:spTree>
    <p:extLst>
      <p:ext uri="{BB962C8B-B14F-4D97-AF65-F5344CB8AC3E}">
        <p14:creationId xmlns:p14="http://schemas.microsoft.com/office/powerpoint/2010/main" val="12158910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27164012-4FED-4FE6-9D41-E22ECA6DF810}" type="datetimeFigureOut">
              <a:rPr lang="zh-TW" altLang="en-US" smtClean="0"/>
              <a:t>2012/10/30</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A34CA237-43F2-499D-8B40-19B5D0046B30}" type="slidenum">
              <a:rPr lang="zh-TW" altLang="en-US" smtClean="0"/>
              <a:t>‹#›</a:t>
            </a:fld>
            <a:endParaRPr lang="zh-TW" altLang="en-US"/>
          </a:p>
        </p:txBody>
      </p:sp>
    </p:spTree>
    <p:extLst>
      <p:ext uri="{BB962C8B-B14F-4D97-AF65-F5344CB8AC3E}">
        <p14:creationId xmlns:p14="http://schemas.microsoft.com/office/powerpoint/2010/main" val="32035362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27164012-4FED-4FE6-9D41-E22ECA6DF810}" type="datetimeFigureOut">
              <a:rPr lang="zh-TW" altLang="en-US" smtClean="0"/>
              <a:t>2012/10/30</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A34CA237-43F2-499D-8B40-19B5D0046B30}" type="slidenum">
              <a:rPr lang="zh-TW" altLang="en-US" smtClean="0"/>
              <a:t>‹#›</a:t>
            </a:fld>
            <a:endParaRPr lang="zh-TW" altLang="en-US"/>
          </a:p>
        </p:txBody>
      </p:sp>
    </p:spTree>
    <p:extLst>
      <p:ext uri="{BB962C8B-B14F-4D97-AF65-F5344CB8AC3E}">
        <p14:creationId xmlns:p14="http://schemas.microsoft.com/office/powerpoint/2010/main" val="8437872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27164012-4FED-4FE6-9D41-E22ECA6DF810}" type="datetimeFigureOut">
              <a:rPr lang="zh-TW" altLang="en-US" smtClean="0"/>
              <a:t>2012/10/30</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A34CA237-43F2-499D-8B40-19B5D0046B30}" type="slidenum">
              <a:rPr lang="zh-TW" altLang="en-US" smtClean="0"/>
              <a:t>‹#›</a:t>
            </a:fld>
            <a:endParaRPr lang="zh-TW" altLang="en-US"/>
          </a:p>
        </p:txBody>
      </p:sp>
    </p:spTree>
    <p:extLst>
      <p:ext uri="{BB962C8B-B14F-4D97-AF65-F5344CB8AC3E}">
        <p14:creationId xmlns:p14="http://schemas.microsoft.com/office/powerpoint/2010/main" val="26730766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27164012-4FED-4FE6-9D41-E22ECA6DF810}" type="datetimeFigureOut">
              <a:rPr lang="zh-TW" altLang="en-US" smtClean="0"/>
              <a:t>2012/10/30</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A34CA237-43F2-499D-8B40-19B5D0046B30}" type="slidenum">
              <a:rPr lang="zh-TW" altLang="en-US" smtClean="0"/>
              <a:t>‹#›</a:t>
            </a:fld>
            <a:endParaRPr lang="zh-TW" altLang="en-US"/>
          </a:p>
        </p:txBody>
      </p:sp>
    </p:spTree>
    <p:extLst>
      <p:ext uri="{BB962C8B-B14F-4D97-AF65-F5344CB8AC3E}">
        <p14:creationId xmlns:p14="http://schemas.microsoft.com/office/powerpoint/2010/main" val="20104331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27164012-4FED-4FE6-9D41-E22ECA6DF810}" type="datetimeFigureOut">
              <a:rPr lang="zh-TW" altLang="en-US" smtClean="0"/>
              <a:t>2012/10/30</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A34CA237-43F2-499D-8B40-19B5D0046B30}" type="slidenum">
              <a:rPr lang="zh-TW" altLang="en-US" smtClean="0"/>
              <a:t>‹#›</a:t>
            </a:fld>
            <a:endParaRPr lang="zh-TW" altLang="en-US"/>
          </a:p>
        </p:txBody>
      </p:sp>
    </p:spTree>
    <p:extLst>
      <p:ext uri="{BB962C8B-B14F-4D97-AF65-F5344CB8AC3E}">
        <p14:creationId xmlns:p14="http://schemas.microsoft.com/office/powerpoint/2010/main" val="128734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27164012-4FED-4FE6-9D41-E22ECA6DF810}" type="datetimeFigureOut">
              <a:rPr lang="zh-TW" altLang="en-US" smtClean="0"/>
              <a:t>2012/10/30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34CA237-43F2-499D-8B40-19B5D0046B30}" type="slidenum">
              <a:rPr lang="zh-TW" altLang="en-US" smtClean="0"/>
              <a:t>‹#›</a:t>
            </a:fld>
            <a:endParaRPr lang="zh-TW" altLang="en-US"/>
          </a:p>
        </p:txBody>
      </p:sp>
    </p:spTree>
    <p:extLst>
      <p:ext uri="{BB962C8B-B14F-4D97-AF65-F5344CB8AC3E}">
        <p14:creationId xmlns:p14="http://schemas.microsoft.com/office/powerpoint/2010/main" val="238807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27164012-4FED-4FE6-9D41-E22ECA6DF810}" type="datetimeFigureOut">
              <a:rPr lang="zh-TW" altLang="en-US" smtClean="0"/>
              <a:t>2012/10/30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34CA237-43F2-499D-8B40-19B5D0046B30}" type="slidenum">
              <a:rPr lang="zh-TW" altLang="en-US" smtClean="0"/>
              <a:t>‹#›</a:t>
            </a:fld>
            <a:endParaRPr lang="zh-TW" altLang="en-US"/>
          </a:p>
        </p:txBody>
      </p:sp>
    </p:spTree>
    <p:extLst>
      <p:ext uri="{BB962C8B-B14F-4D97-AF65-F5344CB8AC3E}">
        <p14:creationId xmlns:p14="http://schemas.microsoft.com/office/powerpoint/2010/main" val="22148097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164012-4FED-4FE6-9D41-E22ECA6DF810}" type="datetimeFigureOut">
              <a:rPr lang="zh-TW" altLang="en-US" smtClean="0"/>
              <a:t>2012/10/30</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34CA237-43F2-499D-8B40-19B5D0046B30}" type="slidenum">
              <a:rPr lang="zh-TW" altLang="en-US" smtClean="0"/>
              <a:t>‹#›</a:t>
            </a:fld>
            <a:endParaRPr lang="zh-TW" altLang="en-US"/>
          </a:p>
        </p:txBody>
      </p:sp>
    </p:spTree>
    <p:extLst>
      <p:ext uri="{BB962C8B-B14F-4D97-AF65-F5344CB8AC3E}">
        <p14:creationId xmlns:p14="http://schemas.microsoft.com/office/powerpoint/2010/main" val="1875568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noAutofit/>
          </a:bodyPr>
          <a:lstStyle/>
          <a:p>
            <a:r>
              <a:rPr lang="en-US" altLang="zh-TW" sz="3200" dirty="0" smtClean="0"/>
              <a:t>Approximating the Smallest Grammar:</a:t>
            </a:r>
            <a:br>
              <a:rPr lang="en-US" altLang="zh-TW" sz="3200" dirty="0" smtClean="0"/>
            </a:br>
            <a:r>
              <a:rPr lang="en-US" altLang="zh-TW" sz="3200" dirty="0" smtClean="0"/>
              <a:t>Kolmogorov Complexity in Natural Models</a:t>
            </a:r>
            <a:endParaRPr lang="zh-TW" altLang="en-US" sz="3200" dirty="0"/>
          </a:p>
        </p:txBody>
      </p:sp>
      <p:sp>
        <p:nvSpPr>
          <p:cNvPr id="3" name="副標題 2"/>
          <p:cNvSpPr>
            <a:spLocks noGrp="1"/>
          </p:cNvSpPr>
          <p:nvPr>
            <p:ph type="subTitle" idx="1"/>
          </p:nvPr>
        </p:nvSpPr>
        <p:spPr>
          <a:xfrm>
            <a:off x="612000" y="3886200"/>
            <a:ext cx="7920000" cy="1752600"/>
          </a:xfrm>
        </p:spPr>
        <p:txBody>
          <a:bodyPr>
            <a:normAutofit/>
          </a:bodyPr>
          <a:lstStyle/>
          <a:p>
            <a:r>
              <a:rPr lang="en-US" altLang="zh-TW" sz="1800" dirty="0" smtClean="0">
                <a:solidFill>
                  <a:schemeClr val="tx1"/>
                </a:solidFill>
              </a:rPr>
              <a:t>Eric </a:t>
            </a:r>
            <a:r>
              <a:rPr lang="en-US" altLang="zh-TW" sz="1800" dirty="0" err="1" smtClean="0">
                <a:solidFill>
                  <a:schemeClr val="tx1"/>
                </a:solidFill>
              </a:rPr>
              <a:t>Lehmany</a:t>
            </a:r>
            <a:r>
              <a:rPr lang="en-US" altLang="zh-TW" sz="1800" dirty="0" smtClean="0">
                <a:solidFill>
                  <a:schemeClr val="tx1"/>
                </a:solidFill>
              </a:rPr>
              <a:t>, Ding Liu, </a:t>
            </a:r>
            <a:r>
              <a:rPr lang="en-US" altLang="zh-TW" sz="1800" dirty="0" err="1" smtClean="0">
                <a:solidFill>
                  <a:schemeClr val="tx1"/>
                </a:solidFill>
              </a:rPr>
              <a:t>Rina</a:t>
            </a:r>
            <a:r>
              <a:rPr lang="en-US" altLang="zh-TW" sz="1800" dirty="0" smtClean="0">
                <a:solidFill>
                  <a:schemeClr val="tx1"/>
                </a:solidFill>
              </a:rPr>
              <a:t> </a:t>
            </a:r>
            <a:r>
              <a:rPr lang="en-US" altLang="zh-TW" sz="1800" dirty="0" err="1" smtClean="0">
                <a:solidFill>
                  <a:schemeClr val="tx1"/>
                </a:solidFill>
              </a:rPr>
              <a:t>Panigrahyz</a:t>
            </a:r>
            <a:r>
              <a:rPr lang="en-US" altLang="zh-TW" sz="1800" dirty="0" smtClean="0">
                <a:solidFill>
                  <a:schemeClr val="tx1"/>
                </a:solidFill>
              </a:rPr>
              <a:t>, April </a:t>
            </a:r>
            <a:r>
              <a:rPr lang="en-US" altLang="zh-TW" sz="1800" dirty="0" err="1" smtClean="0">
                <a:solidFill>
                  <a:schemeClr val="tx1"/>
                </a:solidFill>
              </a:rPr>
              <a:t>Rasalay</a:t>
            </a:r>
            <a:r>
              <a:rPr lang="en-US" altLang="zh-TW" sz="1800" dirty="0" smtClean="0">
                <a:solidFill>
                  <a:schemeClr val="tx1"/>
                </a:solidFill>
              </a:rPr>
              <a:t>, </a:t>
            </a:r>
            <a:r>
              <a:rPr lang="en-US" altLang="zh-TW" sz="1800" dirty="0" err="1" smtClean="0">
                <a:solidFill>
                  <a:schemeClr val="tx1"/>
                </a:solidFill>
              </a:rPr>
              <a:t>Amit</a:t>
            </a:r>
            <a:r>
              <a:rPr lang="en-US" altLang="zh-TW" sz="1800" dirty="0" smtClean="0">
                <a:solidFill>
                  <a:schemeClr val="tx1"/>
                </a:solidFill>
              </a:rPr>
              <a:t> </a:t>
            </a:r>
            <a:r>
              <a:rPr lang="en-US" altLang="zh-TW" sz="1800" dirty="0" err="1" smtClean="0">
                <a:solidFill>
                  <a:schemeClr val="tx1"/>
                </a:solidFill>
              </a:rPr>
              <a:t>Sahai</a:t>
            </a:r>
            <a:r>
              <a:rPr lang="en-US" altLang="zh-TW" sz="1800" dirty="0">
                <a:solidFill>
                  <a:schemeClr val="tx1"/>
                </a:solidFill>
              </a:rPr>
              <a:t> </a:t>
            </a:r>
            <a:r>
              <a:rPr lang="en-US" altLang="zh-TW" sz="1800" dirty="0" smtClean="0">
                <a:solidFill>
                  <a:schemeClr val="tx1"/>
                </a:solidFill>
              </a:rPr>
              <a:t>and </a:t>
            </a:r>
            <a:r>
              <a:rPr lang="en-US" altLang="zh-TW" sz="1800" dirty="0" err="1" smtClean="0">
                <a:solidFill>
                  <a:schemeClr val="tx1"/>
                </a:solidFill>
              </a:rPr>
              <a:t>abhi</a:t>
            </a:r>
            <a:r>
              <a:rPr lang="en-US" altLang="zh-TW" sz="1800" dirty="0" smtClean="0">
                <a:solidFill>
                  <a:schemeClr val="tx1"/>
                </a:solidFill>
              </a:rPr>
              <a:t> </a:t>
            </a:r>
            <a:r>
              <a:rPr lang="en-US" altLang="zh-TW" sz="1800" dirty="0" err="1" smtClean="0">
                <a:solidFill>
                  <a:schemeClr val="tx1"/>
                </a:solidFill>
              </a:rPr>
              <a:t>shelaty</a:t>
            </a:r>
            <a:endParaRPr lang="en-US" altLang="zh-TW" sz="1800" dirty="0" smtClean="0">
              <a:solidFill>
                <a:schemeClr val="tx1"/>
              </a:solidFill>
            </a:endParaRPr>
          </a:p>
          <a:p>
            <a:r>
              <a:rPr lang="en-US" altLang="zh-TW" sz="1800" dirty="0" smtClean="0">
                <a:solidFill>
                  <a:schemeClr val="tx1"/>
                </a:solidFill>
              </a:rPr>
              <a:t>STOC '02 Proceedings of the 34th annual ACM symposium on Theory of computing</a:t>
            </a:r>
          </a:p>
          <a:p>
            <a:r>
              <a:rPr lang="en-US" altLang="zh-TW" sz="1800" dirty="0" smtClean="0">
                <a:solidFill>
                  <a:schemeClr val="tx1"/>
                </a:solidFill>
              </a:rPr>
              <a:t>Pages 792-801</a:t>
            </a:r>
          </a:p>
          <a:p>
            <a:r>
              <a:rPr lang="en-US" altLang="zh-TW" sz="1800" dirty="0" smtClean="0">
                <a:solidFill>
                  <a:schemeClr val="tx1"/>
                </a:solidFill>
              </a:rPr>
              <a:t>Presenter: Yi-</a:t>
            </a:r>
            <a:r>
              <a:rPr lang="en-US" altLang="zh-TW" sz="1800" dirty="0" err="1" smtClean="0">
                <a:solidFill>
                  <a:schemeClr val="tx1"/>
                </a:solidFill>
              </a:rPr>
              <a:t>Pu</a:t>
            </a:r>
            <a:r>
              <a:rPr lang="en-US" altLang="zh-TW" sz="1800" dirty="0" smtClean="0">
                <a:solidFill>
                  <a:schemeClr val="tx1"/>
                </a:solidFill>
              </a:rPr>
              <a:t> </a:t>
            </a:r>
            <a:r>
              <a:rPr lang="en-US" altLang="zh-TW" sz="1800" dirty="0" err="1" smtClean="0">
                <a:solidFill>
                  <a:schemeClr val="tx1"/>
                </a:solidFill>
              </a:rPr>
              <a:t>Guo</a:t>
            </a:r>
            <a:endParaRPr lang="en-US" altLang="zh-TW" sz="1800" dirty="0" smtClean="0">
              <a:solidFill>
                <a:schemeClr val="tx1"/>
              </a:solidFill>
            </a:endParaRPr>
          </a:p>
          <a:p>
            <a:r>
              <a:rPr lang="en-US" altLang="zh-TW" sz="1800" dirty="0" smtClean="0">
                <a:solidFill>
                  <a:schemeClr val="tx1"/>
                </a:solidFill>
              </a:rPr>
              <a:t>2012-10-30</a:t>
            </a:r>
            <a:endParaRPr lang="zh-TW" altLang="en-US" sz="1800" dirty="0">
              <a:solidFill>
                <a:schemeClr val="tx1"/>
              </a:solidFill>
            </a:endParaRPr>
          </a:p>
        </p:txBody>
      </p:sp>
    </p:spTree>
    <p:extLst>
      <p:ext uri="{BB962C8B-B14F-4D97-AF65-F5344CB8AC3E}">
        <p14:creationId xmlns:p14="http://schemas.microsoft.com/office/powerpoint/2010/main" val="4356985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 (1/2)</a:t>
            </a:r>
            <a:endParaRPr lang="zh-TW" altLang="en-US" dirty="0"/>
          </a:p>
        </p:txBody>
      </p:sp>
      <p:sp>
        <p:nvSpPr>
          <p:cNvPr id="3" name="內容版面配置區 2"/>
          <p:cNvSpPr>
            <a:spLocks noGrp="1"/>
          </p:cNvSpPr>
          <p:nvPr>
            <p:ph idx="1"/>
          </p:nvPr>
        </p:nvSpPr>
        <p:spPr/>
        <p:txBody>
          <a:bodyPr>
            <a:noAutofit/>
          </a:bodyPr>
          <a:lstStyle/>
          <a:p>
            <a:pPr marL="0" indent="457200" algn="just">
              <a:lnSpc>
                <a:spcPct val="150000"/>
              </a:lnSpc>
              <a:buNone/>
            </a:pPr>
            <a:r>
              <a:rPr lang="en-US" altLang="zh-TW" sz="1800" dirty="0" smtClean="0"/>
              <a:t>We consider the problem of finding the smallest context-free grammar that generates exactly one given string of length n. The size of this grammar is of theoretical interest as an efficiently computable variant of Kolmogorov complexity. The problem is of practical importance in areas such as data compression and pattern extraction.</a:t>
            </a:r>
          </a:p>
          <a:p>
            <a:pPr marL="0" indent="457200" algn="just">
              <a:lnSpc>
                <a:spcPct val="150000"/>
              </a:lnSpc>
              <a:buNone/>
            </a:pPr>
            <a:r>
              <a:rPr lang="en-US" altLang="zh-TW" sz="1800" dirty="0" smtClean="0"/>
              <a:t>The smallest grammar is known to be hard to approximate to within a constant factor, and an </a:t>
            </a:r>
            <a:r>
              <a:rPr lang="en-US" altLang="zh-TW" sz="1800" dirty="0" smtClean="0"/>
              <a:t>o(</a:t>
            </a:r>
            <a:r>
              <a:rPr lang="en-US" altLang="zh-TW" sz="1800" dirty="0" err="1" smtClean="0"/>
              <a:t>logn</a:t>
            </a:r>
            <a:r>
              <a:rPr lang="en-US" altLang="zh-TW" sz="1800" dirty="0" smtClean="0"/>
              <a:t>/</a:t>
            </a:r>
            <a:r>
              <a:rPr lang="en-US" altLang="zh-TW" sz="1800" dirty="0" err="1" smtClean="0"/>
              <a:t>loglogn</a:t>
            </a:r>
            <a:r>
              <a:rPr lang="en-US" altLang="zh-TW" sz="1800" dirty="0" smtClean="0"/>
              <a:t>) approximation would require progress on a long-standing algebraic problem [10]. Previously, the best proved approximation ratio was O(n</a:t>
            </a:r>
            <a:r>
              <a:rPr lang="en-US" altLang="zh-TW" sz="1800" baseline="30000" dirty="0" smtClean="0"/>
              <a:t>1/2</a:t>
            </a:r>
            <a:r>
              <a:rPr lang="en-US" altLang="zh-TW" sz="1800" dirty="0" smtClean="0"/>
              <a:t>) for the Bisection algorithm [8]. Our main result is an exponential improvement of this ratio; we give an O(log (n/g*)) approximation algorithm, where g* is the size of the smallest grammar.</a:t>
            </a:r>
            <a:endParaRPr lang="zh-TW" altLang="en-US" sz="1800" dirty="0"/>
          </a:p>
        </p:txBody>
      </p:sp>
    </p:spTree>
    <p:extLst>
      <p:ext uri="{BB962C8B-B14F-4D97-AF65-F5344CB8AC3E}">
        <p14:creationId xmlns:p14="http://schemas.microsoft.com/office/powerpoint/2010/main" val="39789131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 (2/2)</a:t>
            </a:r>
            <a:endParaRPr lang="zh-TW" altLang="en-US" dirty="0"/>
          </a:p>
        </p:txBody>
      </p:sp>
      <p:sp>
        <p:nvSpPr>
          <p:cNvPr id="3" name="內容版面配置區 2"/>
          <p:cNvSpPr>
            <a:spLocks noGrp="1"/>
          </p:cNvSpPr>
          <p:nvPr>
            <p:ph idx="1"/>
          </p:nvPr>
        </p:nvSpPr>
        <p:spPr/>
        <p:txBody>
          <a:bodyPr>
            <a:normAutofit/>
          </a:bodyPr>
          <a:lstStyle/>
          <a:p>
            <a:pPr marL="0" indent="457200" algn="just">
              <a:lnSpc>
                <a:spcPct val="150000"/>
              </a:lnSpc>
              <a:buNone/>
            </a:pPr>
            <a:r>
              <a:rPr lang="en-US" altLang="zh-TW" sz="1800" dirty="0" smtClean="0"/>
              <a:t>We then consider other computable variants of </a:t>
            </a:r>
            <a:r>
              <a:rPr lang="en-US" altLang="zh-TW" sz="1800" dirty="0" err="1" smtClean="0"/>
              <a:t>Kolomogorov</a:t>
            </a:r>
            <a:r>
              <a:rPr lang="en-US" altLang="zh-TW" sz="1800" dirty="0" smtClean="0"/>
              <a:t> complexity. In particular we give an O(log</a:t>
            </a:r>
            <a:r>
              <a:rPr lang="en-US" altLang="zh-TW" sz="1800" baseline="30000" dirty="0" smtClean="0"/>
              <a:t>2</a:t>
            </a:r>
            <a:r>
              <a:rPr lang="en-US" altLang="zh-TW" sz="1800" dirty="0" smtClean="0"/>
              <a:t> n) approximation for the smallest non-deterministic finite automaton with advice that produces a given string. We also apply our techniques to "advice-grammars" and "edit-grammars", two other natural models of string complexity.</a:t>
            </a:r>
            <a:endParaRPr lang="zh-TW" altLang="en-US" sz="1800" dirty="0"/>
          </a:p>
        </p:txBody>
      </p:sp>
    </p:spTree>
    <p:extLst>
      <p:ext uri="{BB962C8B-B14F-4D97-AF65-F5344CB8AC3E}">
        <p14:creationId xmlns:p14="http://schemas.microsoft.com/office/powerpoint/2010/main" val="10732444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The Problem to Solve</a:t>
            </a:r>
            <a:endParaRPr lang="zh-TW" altLang="en-US" dirty="0"/>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p:txBody>
              <a:bodyPr>
                <a:normAutofit/>
              </a:bodyPr>
              <a:lstStyle/>
              <a:p>
                <a:pPr>
                  <a:lnSpc>
                    <a:spcPct val="150000"/>
                  </a:lnSpc>
                </a:pPr>
                <a:r>
                  <a:rPr lang="en-US" altLang="zh-TW" sz="2400" b="1" dirty="0" smtClean="0"/>
                  <a:t>Input</a:t>
                </a:r>
                <a:r>
                  <a:rPr lang="en-US" altLang="zh-TW" sz="2400" dirty="0" smtClean="0"/>
                  <a:t>: A string compressed by LZ77.</a:t>
                </a:r>
              </a:p>
              <a:p>
                <a:pPr>
                  <a:lnSpc>
                    <a:spcPct val="150000"/>
                  </a:lnSpc>
                </a:pPr>
                <a:r>
                  <a:rPr lang="en-US" altLang="zh-TW" sz="2400" b="1" dirty="0" smtClean="0"/>
                  <a:t>Output</a:t>
                </a:r>
                <a:r>
                  <a:rPr lang="en-US" altLang="zh-TW" sz="2400" dirty="0" smtClean="0"/>
                  <a:t>: </a:t>
                </a:r>
                <a14:m>
                  <m:oMath xmlns:m="http://schemas.openxmlformats.org/officeDocument/2006/math">
                    <m:r>
                      <a:rPr lang="en-US" altLang="zh-TW" sz="2400" smtClean="0"/>
                      <m:t>𝑂</m:t>
                    </m:r>
                    <m:d>
                      <m:dPr>
                        <m:ctrlPr>
                          <a:rPr lang="en-US" altLang="zh-TW" sz="2400" smtClean="0"/>
                        </m:ctrlPr>
                      </m:dPr>
                      <m:e>
                        <m:func>
                          <m:funcPr>
                            <m:ctrlPr>
                              <a:rPr lang="en-US" altLang="zh-TW" sz="2400" smtClean="0"/>
                            </m:ctrlPr>
                          </m:funcPr>
                          <m:fName>
                            <m:r>
                              <m:rPr>
                                <m:sty m:val="p"/>
                              </m:rPr>
                              <a:rPr lang="en-US" altLang="zh-TW" sz="2400" smtClean="0"/>
                              <m:t>log</m:t>
                            </m:r>
                          </m:fName>
                          <m:e>
                            <m:d>
                              <m:dPr>
                                <m:ctrlPr>
                                  <a:rPr lang="en-US" altLang="zh-TW" sz="2400" smtClean="0"/>
                                </m:ctrlPr>
                              </m:dPr>
                              <m:e>
                                <m:f>
                                  <m:fPr>
                                    <m:ctrlPr>
                                      <a:rPr lang="en-US" altLang="zh-TW" sz="2400" smtClean="0"/>
                                    </m:ctrlPr>
                                  </m:fPr>
                                  <m:num>
                                    <m:r>
                                      <a:rPr lang="en-US" altLang="zh-TW" sz="2400" smtClean="0"/>
                                      <m:t>𝑛</m:t>
                                    </m:r>
                                  </m:num>
                                  <m:den>
                                    <m:sSup>
                                      <m:sSupPr>
                                        <m:ctrlPr>
                                          <a:rPr lang="en-US" altLang="zh-TW" sz="2400" smtClean="0"/>
                                        </m:ctrlPr>
                                      </m:sSupPr>
                                      <m:e>
                                        <m:r>
                                          <a:rPr lang="en-US" altLang="zh-TW" sz="2400" smtClean="0"/>
                                          <m:t>𝑔</m:t>
                                        </m:r>
                                      </m:e>
                                      <m:sup>
                                        <m:r>
                                          <a:rPr lang="en-US" altLang="zh-TW" sz="2400" smtClean="0"/>
                                          <m:t>∗</m:t>
                                        </m:r>
                                      </m:sup>
                                    </m:sSup>
                                  </m:den>
                                </m:f>
                              </m:e>
                            </m:d>
                          </m:e>
                        </m:func>
                      </m:e>
                    </m:d>
                  </m:oMath>
                </a14:m>
                <a:r>
                  <a:rPr lang="en-US" altLang="zh-TW" sz="2400" dirty="0" smtClean="0"/>
                  <a:t>-approximation balanced</a:t>
                </a:r>
                <a:r>
                  <a:rPr lang="zh-TW" altLang="en-US" sz="2400" dirty="0" smtClean="0"/>
                  <a:t> </a:t>
                </a:r>
                <a:r>
                  <a:rPr lang="en-US" altLang="zh-TW" sz="2400" dirty="0" smtClean="0"/>
                  <a:t>binary </a:t>
                </a:r>
                <a:r>
                  <a:rPr lang="en-US" altLang="zh-TW" sz="2400" dirty="0" smtClean="0"/>
                  <a:t>grammar (</a:t>
                </a:r>
                <a:r>
                  <a:rPr lang="en-US" altLang="zh-TW" sz="2400" dirty="0" err="1" smtClean="0"/>
                  <a:t>n:the</a:t>
                </a:r>
                <a:r>
                  <a:rPr lang="en-US" altLang="zh-TW" sz="2400" dirty="0" smtClean="0"/>
                  <a:t> length of the </a:t>
                </a:r>
                <a:r>
                  <a:rPr lang="en-US" altLang="zh-TW" sz="2400" dirty="0" err="1" smtClean="0"/>
                  <a:t>stirng</a:t>
                </a:r>
                <a:r>
                  <a:rPr lang="en-US" altLang="zh-TW" sz="2400" dirty="0" smtClean="0"/>
                  <a:t>; g: the size of grammar; g*: the size of the smallest grammar)</a:t>
                </a:r>
                <a:endParaRPr lang="zh-TW" altLang="en-US" sz="2400" dirty="0"/>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a:stretch>
                  <a:fillRect l="-96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8590594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LZ77</a:t>
            </a:r>
            <a:endParaRPr lang="zh-TW" altLang="en-US" dirty="0"/>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p:txBody>
              <a:bodyPr>
                <a:normAutofit/>
              </a:bodyPr>
              <a:lstStyle/>
              <a:p>
                <a:pPr marL="0" indent="0">
                  <a:lnSpc>
                    <a:spcPct val="150000"/>
                  </a:lnSpc>
                  <a:buNone/>
                </a:pPr>
                <a:r>
                  <a:rPr lang="en-US" altLang="zh-TW" sz="2400" dirty="0" smtClean="0"/>
                  <a:t>A string </a:t>
                </a:r>
                <a:r>
                  <a:rPr lang="el-GR" altLang="zh-TW" sz="2400" dirty="0" smtClean="0"/>
                  <a:t>σ</a:t>
                </a:r>
                <a:r>
                  <a:rPr lang="en-US" altLang="zh-TW" sz="2400" dirty="0" smtClean="0"/>
                  <a:t>: </a:t>
                </a:r>
                <a14:m>
                  <m:oMath xmlns:m="http://schemas.openxmlformats.org/officeDocument/2006/math">
                    <m:d>
                      <m:dPr>
                        <m:ctrlPr>
                          <a:rPr lang="en-US" altLang="zh-TW" sz="2400" smtClean="0"/>
                        </m:ctrlPr>
                      </m:dPr>
                      <m:e>
                        <m:sSub>
                          <m:sSubPr>
                            <m:ctrlPr>
                              <a:rPr lang="en-US" altLang="zh-TW" sz="2400"/>
                            </m:ctrlPr>
                          </m:sSubPr>
                          <m:e>
                            <m:r>
                              <a:rPr lang="en-US" altLang="zh-TW" sz="2400"/>
                              <m:t>𝑝</m:t>
                            </m:r>
                          </m:e>
                          <m:sub>
                            <m:r>
                              <a:rPr lang="en-US" altLang="zh-TW" sz="2400" smtClean="0"/>
                              <m:t>1</m:t>
                            </m:r>
                          </m:sub>
                        </m:sSub>
                        <m:r>
                          <a:rPr lang="en-US" altLang="zh-TW" sz="2400"/>
                          <m:t>,</m:t>
                        </m:r>
                        <m:sSub>
                          <m:sSubPr>
                            <m:ctrlPr>
                              <a:rPr lang="en-US" altLang="zh-TW" sz="2400" smtClean="0"/>
                            </m:ctrlPr>
                          </m:sSubPr>
                          <m:e>
                            <m:r>
                              <a:rPr lang="en-US" altLang="zh-TW" sz="2400"/>
                              <m:t>𝑙</m:t>
                            </m:r>
                          </m:e>
                          <m:sub>
                            <m:r>
                              <a:rPr lang="en-US" altLang="zh-TW" sz="2400" smtClean="0"/>
                              <m:t>1</m:t>
                            </m:r>
                          </m:sub>
                        </m:sSub>
                      </m:e>
                    </m:d>
                    <m:r>
                      <a:rPr lang="en-US" altLang="zh-TW" sz="2400" smtClean="0"/>
                      <m:t>,</m:t>
                    </m:r>
                    <m:d>
                      <m:dPr>
                        <m:ctrlPr>
                          <a:rPr lang="en-US" altLang="zh-TW" sz="2400" smtClean="0"/>
                        </m:ctrlPr>
                      </m:dPr>
                      <m:e>
                        <m:sSub>
                          <m:sSubPr>
                            <m:ctrlPr>
                              <a:rPr lang="en-US" altLang="zh-TW" sz="2400" smtClean="0"/>
                            </m:ctrlPr>
                          </m:sSubPr>
                          <m:e>
                            <m:r>
                              <a:rPr lang="en-US" altLang="zh-TW" sz="2400"/>
                              <m:t>𝑝</m:t>
                            </m:r>
                          </m:e>
                          <m:sub>
                            <m:r>
                              <a:rPr lang="en-US" altLang="zh-TW" sz="2400" smtClean="0"/>
                              <m:t>2</m:t>
                            </m:r>
                          </m:sub>
                        </m:sSub>
                        <m:r>
                          <a:rPr lang="en-US" altLang="zh-TW" sz="2400"/>
                          <m:t>,</m:t>
                        </m:r>
                        <m:sSub>
                          <m:sSubPr>
                            <m:ctrlPr>
                              <a:rPr lang="en-US" altLang="zh-TW" sz="2400" smtClean="0"/>
                            </m:ctrlPr>
                          </m:sSubPr>
                          <m:e>
                            <m:r>
                              <a:rPr lang="en-US" altLang="zh-TW" sz="2400"/>
                              <m:t>𝑙</m:t>
                            </m:r>
                          </m:e>
                          <m:sub>
                            <m:r>
                              <a:rPr lang="en-US" altLang="zh-TW" sz="2400" smtClean="0"/>
                              <m:t>2</m:t>
                            </m:r>
                          </m:sub>
                        </m:sSub>
                      </m:e>
                    </m:d>
                    <m:r>
                      <a:rPr lang="en-US" altLang="zh-TW" sz="2400" smtClean="0"/>
                      <m:t>,…,</m:t>
                    </m:r>
                    <m:d>
                      <m:dPr>
                        <m:ctrlPr>
                          <a:rPr lang="en-US" altLang="zh-TW" sz="2400" smtClean="0"/>
                        </m:ctrlPr>
                      </m:dPr>
                      <m:e>
                        <m:sSub>
                          <m:sSubPr>
                            <m:ctrlPr>
                              <a:rPr lang="en-US" altLang="zh-TW" sz="2400" smtClean="0"/>
                            </m:ctrlPr>
                          </m:sSubPr>
                          <m:e>
                            <m:r>
                              <a:rPr lang="en-US" altLang="zh-TW" sz="2400"/>
                              <m:t>𝑝</m:t>
                            </m:r>
                          </m:e>
                          <m:sub>
                            <m:r>
                              <a:rPr lang="en-US" altLang="zh-TW" sz="2400" smtClean="0"/>
                              <m:t>𝑠</m:t>
                            </m:r>
                          </m:sub>
                        </m:sSub>
                        <m:r>
                          <a:rPr lang="en-US" altLang="zh-TW" sz="2400"/>
                          <m:t>,</m:t>
                        </m:r>
                        <m:sSub>
                          <m:sSubPr>
                            <m:ctrlPr>
                              <a:rPr lang="en-US" altLang="zh-TW" sz="2400" smtClean="0"/>
                            </m:ctrlPr>
                          </m:sSubPr>
                          <m:e>
                            <m:r>
                              <a:rPr lang="en-US" altLang="zh-TW" sz="2400"/>
                              <m:t>𝑙</m:t>
                            </m:r>
                          </m:e>
                          <m:sub>
                            <m:r>
                              <a:rPr lang="en-US" altLang="zh-TW" sz="2400" smtClean="0"/>
                              <m:t>𝑠</m:t>
                            </m:r>
                          </m:sub>
                        </m:sSub>
                      </m:e>
                    </m:d>
                  </m:oMath>
                </a14:m>
                <a:endParaRPr lang="en-US" altLang="zh-TW" sz="2400" dirty="0" smtClean="0"/>
              </a:p>
              <a:p>
                <a:pPr marL="0" indent="0">
                  <a:lnSpc>
                    <a:spcPct val="150000"/>
                  </a:lnSpc>
                  <a:buNone/>
                </a:pPr>
                <a14:m>
                  <m:oMath xmlns:m="http://schemas.openxmlformats.org/officeDocument/2006/math">
                    <m:r>
                      <a:rPr lang="en-US" altLang="zh-TW" sz="2400" smtClean="0"/>
                      <m:t>𝑖𝑓</m:t>
                    </m:r>
                    <m:r>
                      <a:rPr lang="en-US" altLang="zh-TW" sz="2400" smtClean="0"/>
                      <m:t> </m:t>
                    </m:r>
                    <m:sSub>
                      <m:sSubPr>
                        <m:ctrlPr>
                          <a:rPr lang="en-US" altLang="zh-TW" sz="2400" smtClean="0"/>
                        </m:ctrlPr>
                      </m:sSubPr>
                      <m:e>
                        <m:r>
                          <a:rPr lang="en-US" altLang="zh-TW" sz="2400" smtClean="0"/>
                          <m:t>𝑝</m:t>
                        </m:r>
                      </m:e>
                      <m:sub>
                        <m:r>
                          <a:rPr lang="en-US" altLang="zh-TW" sz="2400" smtClean="0"/>
                          <m:t>𝑖</m:t>
                        </m:r>
                      </m:sub>
                    </m:sSub>
                    <m:r>
                      <a:rPr lang="en-US" altLang="zh-TW" sz="2400" smtClean="0"/>
                      <m:t>=0, </m:t>
                    </m:r>
                    <m:d>
                      <m:dPr>
                        <m:ctrlPr>
                          <a:rPr lang="en-US" altLang="zh-TW" sz="2400" smtClean="0"/>
                        </m:ctrlPr>
                      </m:dPr>
                      <m:e>
                        <m:sSub>
                          <m:sSubPr>
                            <m:ctrlPr>
                              <a:rPr lang="en-US" altLang="zh-TW" sz="2400" smtClean="0"/>
                            </m:ctrlPr>
                          </m:sSubPr>
                          <m:e>
                            <m:r>
                              <a:rPr lang="en-US" altLang="zh-TW" sz="2400" smtClean="0"/>
                              <m:t>𝑝</m:t>
                            </m:r>
                          </m:e>
                          <m:sub>
                            <m:r>
                              <a:rPr lang="en-US" altLang="zh-TW" sz="2400" smtClean="0"/>
                              <m:t>𝑖</m:t>
                            </m:r>
                          </m:sub>
                        </m:sSub>
                        <m:r>
                          <a:rPr lang="en-US" altLang="zh-TW" sz="2400" smtClean="0"/>
                          <m:t>,</m:t>
                        </m:r>
                        <m:sSub>
                          <m:sSubPr>
                            <m:ctrlPr>
                              <a:rPr lang="en-US" altLang="zh-TW" sz="2400" smtClean="0"/>
                            </m:ctrlPr>
                          </m:sSubPr>
                          <m:e>
                            <m:r>
                              <a:rPr lang="en-US" altLang="zh-TW" sz="2400" smtClean="0"/>
                              <m:t>𝑙</m:t>
                            </m:r>
                          </m:e>
                          <m:sub>
                            <m:r>
                              <a:rPr lang="en-US" altLang="zh-TW" sz="2400" smtClean="0"/>
                              <m:t>𝑖</m:t>
                            </m:r>
                          </m:sub>
                        </m:sSub>
                      </m:e>
                    </m:d>
                  </m:oMath>
                </a14:m>
                <a:r>
                  <a:rPr lang="zh-TW" altLang="en-US" sz="2400" dirty="0" smtClean="0"/>
                  <a:t> 表示終端字串 </a:t>
                </a:r>
                <a14:m>
                  <m:oMath xmlns:m="http://schemas.openxmlformats.org/officeDocument/2006/math">
                    <m:sSub>
                      <m:sSubPr>
                        <m:ctrlPr>
                          <a:rPr lang="en-US" altLang="zh-TW" sz="2400" smtClean="0"/>
                        </m:ctrlPr>
                      </m:sSubPr>
                      <m:e>
                        <m:r>
                          <a:rPr lang="en-US" altLang="zh-TW" sz="2400" smtClean="0"/>
                          <m:t>𝑙</m:t>
                        </m:r>
                      </m:e>
                      <m:sub>
                        <m:r>
                          <a:rPr lang="en-US" altLang="zh-TW" sz="2400" smtClean="0"/>
                          <m:t>𝑖</m:t>
                        </m:r>
                      </m:sub>
                    </m:sSub>
                  </m:oMath>
                </a14:m>
                <a:endParaRPr lang="en-US" altLang="zh-TW" sz="2400" dirty="0" smtClean="0"/>
              </a:p>
              <a:p>
                <a:pPr marL="0" indent="0">
                  <a:lnSpc>
                    <a:spcPct val="150000"/>
                  </a:lnSpc>
                  <a:buNone/>
                </a:pPr>
                <a14:m>
                  <m:oMath xmlns:m="http://schemas.openxmlformats.org/officeDocument/2006/math">
                    <m:r>
                      <a:rPr lang="en-US" altLang="zh-TW" sz="2400" smtClean="0"/>
                      <m:t>𝑖𝑓</m:t>
                    </m:r>
                    <m:r>
                      <a:rPr lang="en-US" altLang="zh-TW" sz="2400" smtClean="0"/>
                      <m:t> </m:t>
                    </m:r>
                    <m:sSub>
                      <m:sSubPr>
                        <m:ctrlPr>
                          <a:rPr lang="en-US" altLang="zh-TW" sz="2400" smtClean="0"/>
                        </m:ctrlPr>
                      </m:sSubPr>
                      <m:e>
                        <m:r>
                          <a:rPr lang="en-US" altLang="zh-TW" sz="2400" smtClean="0"/>
                          <m:t>𝑝</m:t>
                        </m:r>
                      </m:e>
                      <m:sub>
                        <m:r>
                          <a:rPr lang="en-US" altLang="zh-TW" sz="2400" smtClean="0"/>
                          <m:t>𝑖</m:t>
                        </m:r>
                      </m:sub>
                    </m:sSub>
                    <m:r>
                      <a:rPr lang="en-US" altLang="zh-TW" sz="2400" smtClean="0"/>
                      <m:t>≠0, (</m:t>
                    </m:r>
                    <m:sSub>
                      <m:sSubPr>
                        <m:ctrlPr>
                          <a:rPr lang="en-US" altLang="zh-TW" sz="2400" smtClean="0"/>
                        </m:ctrlPr>
                      </m:sSubPr>
                      <m:e>
                        <m:r>
                          <a:rPr lang="en-US" altLang="zh-TW" sz="2400" smtClean="0"/>
                          <m:t>𝑝</m:t>
                        </m:r>
                      </m:e>
                      <m:sub>
                        <m:r>
                          <a:rPr lang="en-US" altLang="zh-TW" sz="2400" smtClean="0"/>
                          <m:t>𝑖</m:t>
                        </m:r>
                      </m:sub>
                    </m:sSub>
                    <m:r>
                      <a:rPr lang="en-US" altLang="zh-TW" sz="2400" smtClean="0"/>
                      <m:t>,</m:t>
                    </m:r>
                    <m:sSub>
                      <m:sSubPr>
                        <m:ctrlPr>
                          <a:rPr lang="en-US" altLang="zh-TW" sz="2400" smtClean="0"/>
                        </m:ctrlPr>
                      </m:sSubPr>
                      <m:e>
                        <m:r>
                          <a:rPr lang="en-US" altLang="zh-TW" sz="2400" smtClean="0"/>
                          <m:t>𝑙</m:t>
                        </m:r>
                      </m:e>
                      <m:sub>
                        <m:r>
                          <a:rPr lang="en-US" altLang="zh-TW" sz="2400" smtClean="0"/>
                          <m:t>𝑖</m:t>
                        </m:r>
                      </m:sub>
                    </m:sSub>
                    <m:r>
                      <a:rPr lang="en-US" altLang="zh-TW" sz="2400" smtClean="0"/>
                      <m:t>)</m:t>
                    </m:r>
                  </m:oMath>
                </a14:m>
                <a:r>
                  <a:rPr lang="en-US" altLang="zh-TW" sz="2400" dirty="0" smtClean="0"/>
                  <a:t> </a:t>
                </a:r>
                <a:r>
                  <a:rPr lang="zh-TW" altLang="en-US" sz="2400" dirty="0" smtClean="0"/>
                  <a:t>表示從 </a:t>
                </a:r>
                <a14:m>
                  <m:oMath xmlns:m="http://schemas.openxmlformats.org/officeDocument/2006/math">
                    <m:sSub>
                      <m:sSubPr>
                        <m:ctrlPr>
                          <a:rPr lang="en-US" altLang="zh-TW" sz="2400" smtClean="0"/>
                        </m:ctrlPr>
                      </m:sSubPr>
                      <m:e>
                        <m:r>
                          <a:rPr lang="en-US" altLang="zh-TW" sz="2400" smtClean="0"/>
                          <m:t>𝑝</m:t>
                        </m:r>
                      </m:e>
                      <m:sub>
                        <m:r>
                          <a:rPr lang="en-US" altLang="zh-TW" sz="2400" smtClean="0"/>
                          <m:t>𝑖</m:t>
                        </m:r>
                      </m:sub>
                    </m:sSub>
                  </m:oMath>
                </a14:m>
                <a:r>
                  <a:rPr lang="en-US" altLang="zh-TW" sz="2400" dirty="0" smtClean="0"/>
                  <a:t> </a:t>
                </a:r>
                <a:r>
                  <a:rPr lang="zh-TW" altLang="en-US" sz="2400" dirty="0" smtClean="0"/>
                  <a:t>開始算長度 </a:t>
                </a:r>
                <a14:m>
                  <m:oMath xmlns:m="http://schemas.openxmlformats.org/officeDocument/2006/math">
                    <m:sSub>
                      <m:sSubPr>
                        <m:ctrlPr>
                          <a:rPr lang="en-US" altLang="zh-TW" sz="2400" smtClean="0"/>
                        </m:ctrlPr>
                      </m:sSubPr>
                      <m:e>
                        <m:r>
                          <a:rPr lang="en-US" altLang="zh-TW" sz="2400" smtClean="0"/>
                          <m:t>𝑙</m:t>
                        </m:r>
                      </m:e>
                      <m:sub>
                        <m:r>
                          <a:rPr lang="en-US" altLang="zh-TW" sz="2400" smtClean="0"/>
                          <m:t>𝑖</m:t>
                        </m:r>
                      </m:sub>
                    </m:sSub>
                  </m:oMath>
                </a14:m>
                <a:r>
                  <a:rPr lang="en-US" altLang="zh-TW" sz="2400" dirty="0" smtClean="0"/>
                  <a:t> </a:t>
                </a:r>
                <a:r>
                  <a:rPr lang="zh-TW" altLang="en-US" sz="2400" dirty="0" smtClean="0"/>
                  <a:t>的字串</a:t>
                </a:r>
                <a:endParaRPr lang="en-US" altLang="zh-TW" sz="2400" dirty="0" smtClean="0"/>
              </a:p>
              <a:p>
                <a:pPr marL="0" indent="0">
                  <a:lnSpc>
                    <a:spcPct val="150000"/>
                  </a:lnSpc>
                  <a:buNone/>
                </a:pPr>
                <a:endParaRPr lang="en-US" altLang="zh-TW" sz="2400" dirty="0"/>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a:stretch>
                  <a:fillRect l="-111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847090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Definitions</a:t>
            </a:r>
            <a:endParaRPr lang="zh-TW" altLang="en-US" dirty="0"/>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p:txBody>
              <a:bodyPr>
                <a:normAutofit/>
              </a:bodyPr>
              <a:lstStyle/>
              <a:p>
                <a:pPr>
                  <a:lnSpc>
                    <a:spcPct val="150000"/>
                  </a:lnSpc>
                </a:pPr>
                <a:r>
                  <a:rPr lang="en-US" altLang="zh-TW" sz="2800" dirty="0" smtClean="0"/>
                  <a:t>[β]: the length of the expansion string</a:t>
                </a:r>
              </a:p>
              <a:p>
                <a:pPr>
                  <a:lnSpc>
                    <a:spcPct val="150000"/>
                  </a:lnSpc>
                </a:pPr>
                <a:r>
                  <a:rPr lang="en-US" altLang="zh-TW" sz="2800" dirty="0" smtClean="0"/>
                  <a:t>α-balanced: (α&lt;=0.5)</a:t>
                </a:r>
                <a:br>
                  <a:rPr lang="en-US" altLang="zh-TW" sz="2800" dirty="0" smtClean="0"/>
                </a:br>
                <a14:m>
                  <m:oMath xmlns:m="http://schemas.openxmlformats.org/officeDocument/2006/math">
                    <m:f>
                      <m:fPr>
                        <m:ctrlPr>
                          <a:rPr lang="en-US" altLang="zh-TW" sz="2800" smtClean="0"/>
                        </m:ctrlPr>
                      </m:fPr>
                      <m:num>
                        <m:r>
                          <a:rPr lang="zh-TW" altLang="en-US" sz="2800" smtClean="0"/>
                          <m:t>𝛼</m:t>
                        </m:r>
                      </m:num>
                      <m:den>
                        <m:r>
                          <a:rPr lang="en-US" altLang="zh-TW" sz="2800" smtClean="0"/>
                          <m:t>1−</m:t>
                        </m:r>
                        <m:r>
                          <a:rPr lang="zh-TW" altLang="en-US" sz="2800" smtClean="0"/>
                          <m:t>𝛼</m:t>
                        </m:r>
                      </m:den>
                    </m:f>
                    <m:r>
                      <a:rPr lang="en-US" altLang="zh-TW" sz="2800" smtClean="0"/>
                      <m:t>≤</m:t>
                    </m:r>
                    <m:f>
                      <m:fPr>
                        <m:ctrlPr>
                          <a:rPr lang="en-US" altLang="zh-TW" sz="2800" smtClean="0"/>
                        </m:ctrlPr>
                      </m:fPr>
                      <m:num>
                        <m:r>
                          <a:rPr lang="en-US" altLang="zh-TW" sz="2800" smtClean="0"/>
                          <m:t>[</m:t>
                        </m:r>
                        <m:r>
                          <a:rPr lang="zh-TW" altLang="en-US" sz="2800" smtClean="0"/>
                          <m:t>𝛽</m:t>
                        </m:r>
                        <m:r>
                          <a:rPr lang="en-US" altLang="zh-TW" sz="2800" smtClean="0"/>
                          <m:t>]</m:t>
                        </m:r>
                      </m:num>
                      <m:den>
                        <m:r>
                          <a:rPr lang="en-US" altLang="zh-TW" sz="2800" smtClean="0"/>
                          <m:t>[</m:t>
                        </m:r>
                        <m:r>
                          <a:rPr lang="zh-TW" altLang="en-US" sz="2800" smtClean="0"/>
                          <m:t>𝛾</m:t>
                        </m:r>
                        <m:r>
                          <a:rPr lang="en-US" altLang="zh-TW" sz="2800" smtClean="0"/>
                          <m:t>]</m:t>
                        </m:r>
                      </m:den>
                    </m:f>
                    <m:r>
                      <a:rPr lang="en-US" altLang="zh-TW" sz="2800" smtClean="0"/>
                      <m:t>≤</m:t>
                    </m:r>
                    <m:f>
                      <m:fPr>
                        <m:ctrlPr>
                          <a:rPr lang="en-US" altLang="zh-TW" sz="2800" smtClean="0"/>
                        </m:ctrlPr>
                      </m:fPr>
                      <m:num>
                        <m:r>
                          <a:rPr lang="en-US" altLang="zh-TW" sz="2800" smtClean="0"/>
                          <m:t>1−</m:t>
                        </m:r>
                        <m:r>
                          <a:rPr lang="zh-TW" altLang="en-US" sz="2800" smtClean="0"/>
                          <m:t>𝛼</m:t>
                        </m:r>
                      </m:num>
                      <m:den>
                        <m:r>
                          <a:rPr lang="zh-TW" altLang="en-US" sz="2800" smtClean="0"/>
                          <m:t>𝛼</m:t>
                        </m:r>
                      </m:den>
                    </m:f>
                  </m:oMath>
                </a14:m>
                <a:endParaRPr lang="en-US" altLang="zh-TW" sz="2800" dirty="0" smtClean="0"/>
              </a:p>
              <a:p>
                <a:pPr>
                  <a:lnSpc>
                    <a:spcPct val="150000"/>
                  </a:lnSpc>
                </a:pPr>
                <a:r>
                  <a:rPr lang="en-US" altLang="zh-TW" sz="2800" dirty="0"/>
                  <a:t>binary </a:t>
                </a:r>
                <a:r>
                  <a:rPr lang="en-US" altLang="zh-TW" sz="2800" dirty="0" smtClean="0"/>
                  <a:t>grammar:</a:t>
                </a:r>
                <a:br>
                  <a:rPr lang="en-US" altLang="zh-TW" sz="2800" dirty="0" smtClean="0"/>
                </a:br>
                <a:r>
                  <a:rPr lang="en-US" altLang="zh-TW" sz="2800" dirty="0" smtClean="0"/>
                  <a:t>R = XY</a:t>
                </a: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a:stretch>
                  <a:fillRect l="-1259"/>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2249881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ADDPAIR</a:t>
            </a:r>
            <a:endParaRPr lang="zh-TW" altLang="en-US" dirty="0"/>
          </a:p>
        </p:txBody>
      </p:sp>
      <p:sp>
        <p:nvSpPr>
          <p:cNvPr id="3" name="內容版面配置區 2"/>
          <p:cNvSpPr>
            <a:spLocks noGrp="1"/>
          </p:cNvSpPr>
          <p:nvPr>
            <p:ph idx="1"/>
          </p:nvPr>
        </p:nvSpPr>
        <p:spPr/>
        <p:txBody>
          <a:bodyPr>
            <a:noAutofit/>
          </a:bodyPr>
          <a:lstStyle/>
          <a:p>
            <a:pPr>
              <a:lnSpc>
                <a:spcPct val="150000"/>
              </a:lnSpc>
            </a:pPr>
            <a:r>
              <a:rPr lang="en-US" altLang="zh-TW" sz="2400" b="1" dirty="0" smtClean="0"/>
              <a:t>Input</a:t>
            </a:r>
            <a:r>
              <a:rPr lang="en-US" altLang="zh-TW" sz="2400" dirty="0" smtClean="0"/>
              <a:t>: Two balanced symbols X, Y</a:t>
            </a:r>
          </a:p>
          <a:p>
            <a:pPr>
              <a:lnSpc>
                <a:spcPct val="150000"/>
              </a:lnSpc>
            </a:pPr>
            <a:r>
              <a:rPr lang="en-US" altLang="zh-TW" sz="2400" b="1" dirty="0" smtClean="0"/>
              <a:t>Output</a:t>
            </a:r>
            <a:r>
              <a:rPr lang="en-US" altLang="zh-TW" sz="2400" dirty="0" smtClean="0"/>
              <a:t>: A balanced symbol Z, </a:t>
            </a:r>
            <a:r>
              <a:rPr lang="en-US" altLang="zh-TW" sz="2400" dirty="0" err="1" smtClean="0"/>
              <a:t>val</a:t>
            </a:r>
            <a:r>
              <a:rPr lang="en-US" altLang="zh-TW" sz="2400" dirty="0" smtClean="0"/>
              <a:t>(Z) = </a:t>
            </a:r>
            <a:r>
              <a:rPr lang="en-US" altLang="zh-TW" sz="2400" dirty="0" err="1" smtClean="0"/>
              <a:t>val</a:t>
            </a:r>
            <a:r>
              <a:rPr lang="en-US" altLang="zh-TW" sz="2400" dirty="0" smtClean="0"/>
              <a:t>(X) </a:t>
            </a:r>
            <a:r>
              <a:rPr lang="en-US" altLang="zh-TW" sz="2400" dirty="0" err="1" smtClean="0"/>
              <a:t>val</a:t>
            </a:r>
            <a:r>
              <a:rPr lang="en-US" altLang="zh-TW" sz="2400" dirty="0" smtClean="0"/>
              <a:t>(Y)</a:t>
            </a:r>
          </a:p>
          <a:p>
            <a:pPr>
              <a:lnSpc>
                <a:spcPct val="150000"/>
              </a:lnSpc>
            </a:pPr>
            <a:r>
              <a:rPr lang="en-US" altLang="zh-TW" sz="2400" b="1" dirty="0" smtClean="0"/>
              <a:t>The active rule</a:t>
            </a:r>
            <a:r>
              <a:rPr lang="en-US" altLang="zh-TW" sz="2400" dirty="0" smtClean="0"/>
              <a:t>:</a:t>
            </a:r>
            <a:br>
              <a:rPr lang="en-US" altLang="zh-TW" sz="2400" dirty="0" smtClean="0"/>
            </a:br>
            <a:r>
              <a:rPr lang="en-US" altLang="zh-TW" sz="2400" dirty="0" smtClean="0"/>
              <a:t>X Y</a:t>
            </a:r>
            <a:br>
              <a:rPr lang="en-US" altLang="zh-TW" sz="2400" dirty="0" smtClean="0"/>
            </a:br>
            <a:r>
              <a:rPr lang="en-US" altLang="zh-TW" sz="2400" dirty="0" smtClean="0"/>
              <a:t>X Y</a:t>
            </a:r>
            <a:r>
              <a:rPr lang="en-US" altLang="zh-TW" sz="2400" baseline="-25000" dirty="0" smtClean="0"/>
              <a:t>1</a:t>
            </a:r>
            <a:r>
              <a:rPr lang="en-US" altLang="zh-TW" sz="2400" dirty="0" smtClean="0"/>
              <a:t>Y</a:t>
            </a:r>
            <a:r>
              <a:rPr lang="en-US" altLang="zh-TW" sz="2400" baseline="-25000" dirty="0" smtClean="0"/>
              <a:t>2</a:t>
            </a:r>
            <a:r>
              <a:rPr lang="en-US" altLang="zh-TW" sz="2400" dirty="0" smtClean="0"/>
              <a:t/>
            </a:r>
            <a:br>
              <a:rPr lang="en-US" altLang="zh-TW" sz="2400" dirty="0" smtClean="0"/>
            </a:br>
            <a:r>
              <a:rPr lang="en-US" altLang="zh-TW" sz="2400" dirty="0" smtClean="0"/>
              <a:t>X Y</a:t>
            </a:r>
            <a:r>
              <a:rPr lang="en-US" altLang="zh-TW" sz="2400" baseline="-25000" dirty="0" smtClean="0"/>
              <a:t>1</a:t>
            </a:r>
            <a:r>
              <a:rPr lang="en-US" altLang="zh-TW" sz="2400" dirty="0" smtClean="0"/>
              <a:t>Y</a:t>
            </a:r>
            <a:r>
              <a:rPr lang="en-US" altLang="zh-TW" sz="2400" baseline="-25000" dirty="0" smtClean="0"/>
              <a:t>2</a:t>
            </a:r>
            <a:r>
              <a:rPr lang="en-US" altLang="zh-TW" sz="2400" dirty="0" smtClean="0"/>
              <a:t> … </a:t>
            </a:r>
            <a:r>
              <a:rPr lang="en-US" altLang="zh-TW" sz="2400" dirty="0" err="1" smtClean="0"/>
              <a:t>Y</a:t>
            </a:r>
            <a:r>
              <a:rPr lang="en-US" altLang="zh-TW" sz="2400" baseline="-25000" dirty="0" err="1" smtClean="0"/>
              <a:t>t</a:t>
            </a:r>
            <a:r>
              <a:rPr lang="en-US" altLang="zh-TW" sz="2400" dirty="0" smtClean="0"/>
              <a:t>	until Y</a:t>
            </a:r>
            <a:r>
              <a:rPr lang="en-US" altLang="zh-TW" sz="2400" baseline="-25000" dirty="0" smtClean="0"/>
              <a:t>1</a:t>
            </a:r>
            <a:r>
              <a:rPr lang="en-US" altLang="zh-TW" sz="2400" dirty="0" smtClean="0"/>
              <a:t> is in balanced with X</a:t>
            </a:r>
            <a:br>
              <a:rPr lang="en-US" altLang="zh-TW" sz="2400" dirty="0" smtClean="0"/>
            </a:br>
            <a:r>
              <a:rPr lang="en-US" altLang="zh-TW" sz="2400" dirty="0" smtClean="0"/>
              <a:t>and create a new rule Z</a:t>
            </a:r>
            <a:r>
              <a:rPr lang="en-US" altLang="zh-TW" sz="2400" baseline="-25000" dirty="0" smtClean="0"/>
              <a:t>1</a:t>
            </a:r>
            <a:r>
              <a:rPr lang="en-US" altLang="zh-TW" sz="2400" dirty="0" smtClean="0"/>
              <a:t> </a:t>
            </a:r>
            <a:r>
              <a:rPr lang="en-US" altLang="zh-TW" sz="2400" dirty="0" smtClean="0">
                <a:sym typeface="Wingdings" pitchFamily="2" charset="2"/>
              </a:rPr>
              <a:t> X Y</a:t>
            </a:r>
            <a:r>
              <a:rPr lang="en-US" altLang="zh-TW" sz="2400" baseline="-25000" dirty="0" smtClean="0">
                <a:sym typeface="Wingdings" pitchFamily="2" charset="2"/>
              </a:rPr>
              <a:t>1</a:t>
            </a:r>
            <a:r>
              <a:rPr lang="en-US" altLang="zh-TW" sz="2400" dirty="0" smtClean="0">
                <a:sym typeface="Wingdings" pitchFamily="2" charset="2"/>
              </a:rPr>
              <a:t>.</a:t>
            </a:r>
          </a:p>
          <a:p>
            <a:pPr>
              <a:lnSpc>
                <a:spcPct val="150000"/>
              </a:lnSpc>
            </a:pPr>
            <a:r>
              <a:rPr lang="zh-TW" altLang="en-US" sz="2400" dirty="0" smtClean="0">
                <a:sym typeface="Wingdings" pitchFamily="2" charset="2"/>
              </a:rPr>
              <a:t>接著便一個個向右合併過去，直到 </a:t>
            </a:r>
            <a:r>
              <a:rPr lang="en-US" altLang="zh-TW" sz="2400" dirty="0" err="1" smtClean="0">
                <a:sym typeface="Wingdings" pitchFamily="2" charset="2"/>
              </a:rPr>
              <a:t>Z</a:t>
            </a:r>
            <a:r>
              <a:rPr lang="en-US" altLang="zh-TW" sz="2400" baseline="-25000" dirty="0" err="1" smtClean="0">
                <a:sym typeface="Wingdings" pitchFamily="2" charset="2"/>
              </a:rPr>
              <a:t>t</a:t>
            </a:r>
            <a:r>
              <a:rPr lang="zh-TW" altLang="en-US" sz="2400" dirty="0" smtClean="0">
                <a:sym typeface="Wingdings" pitchFamily="2" charset="2"/>
              </a:rPr>
              <a:t>。</a:t>
            </a:r>
            <a:endParaRPr lang="zh-TW" altLang="en-US" sz="2400" dirty="0"/>
          </a:p>
        </p:txBody>
      </p:sp>
      <p:pic>
        <p:nvPicPr>
          <p:cNvPr id="10" name="圖片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52000" y="3789040"/>
            <a:ext cx="2286319" cy="2286319"/>
          </a:xfrm>
          <a:prstGeom prst="rect">
            <a:avLst/>
          </a:prstGeom>
        </p:spPr>
      </p:pic>
    </p:spTree>
    <p:extLst>
      <p:ext uri="{BB962C8B-B14F-4D97-AF65-F5344CB8AC3E}">
        <p14:creationId xmlns:p14="http://schemas.microsoft.com/office/powerpoint/2010/main" val="2390443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圖片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16016" y="2645312"/>
            <a:ext cx="3810532" cy="3810532"/>
          </a:xfrm>
          <a:prstGeom prst="rect">
            <a:avLst/>
          </a:prstGeom>
        </p:spPr>
      </p:pic>
      <p:sp>
        <p:nvSpPr>
          <p:cNvPr id="2" name="標題 1"/>
          <p:cNvSpPr>
            <a:spLocks noGrp="1"/>
          </p:cNvSpPr>
          <p:nvPr>
            <p:ph type="title"/>
          </p:nvPr>
        </p:nvSpPr>
        <p:spPr/>
        <p:txBody>
          <a:bodyPr/>
          <a:lstStyle/>
          <a:p>
            <a:r>
              <a:rPr lang="en-US" altLang="zh-TW" smtClean="0"/>
              <a:t>ADDPAIR – Case 1</a:t>
            </a:r>
            <a:endParaRPr lang="zh-TW" altLang="en-US" dirty="0"/>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p:txBody>
              <a:bodyPr>
                <a:normAutofit/>
              </a:bodyPr>
              <a:lstStyle/>
              <a:p>
                <a:pPr>
                  <a:lnSpc>
                    <a:spcPct val="150000"/>
                  </a:lnSpc>
                </a:pPr>
                <a14:m>
                  <m:oMath xmlns:m="http://schemas.openxmlformats.org/officeDocument/2006/math">
                    <m:r>
                      <a:rPr lang="en-US" altLang="zh-TW" sz="2800" smtClean="0"/>
                      <m:t>𝑖𝑓</m:t>
                    </m:r>
                    <m:r>
                      <a:rPr lang="en-US" altLang="zh-TW" sz="2800" smtClean="0"/>
                      <m:t> </m:t>
                    </m:r>
                    <m:sSub>
                      <m:sSubPr>
                        <m:ctrlPr>
                          <a:rPr lang="en-US" altLang="zh-TW" sz="2800" smtClean="0"/>
                        </m:ctrlPr>
                      </m:sSubPr>
                      <m:e>
                        <m:r>
                          <a:rPr lang="en-US" altLang="zh-TW" sz="2800" smtClean="0"/>
                          <m:t>𝑍</m:t>
                        </m:r>
                      </m:e>
                      <m:sub>
                        <m:r>
                          <a:rPr lang="en-US" altLang="zh-TW" sz="2800" smtClean="0"/>
                          <m:t>𝑖</m:t>
                        </m:r>
                      </m:sub>
                    </m:sSub>
                    <m:r>
                      <a:rPr lang="en-US" altLang="zh-TW" sz="2800" smtClean="0"/>
                      <m:t> </m:t>
                    </m:r>
                    <m:r>
                      <a:rPr lang="en-US" altLang="zh-TW" sz="2800" smtClean="0"/>
                      <m:t>𝑎𝑛𝑑</m:t>
                    </m:r>
                    <m:r>
                      <a:rPr lang="en-US" altLang="zh-TW" sz="2800" smtClean="0"/>
                      <m:t> </m:t>
                    </m:r>
                    <m:sSub>
                      <m:sSubPr>
                        <m:ctrlPr>
                          <a:rPr lang="en-US" altLang="zh-TW" sz="2800" smtClean="0"/>
                        </m:ctrlPr>
                      </m:sSubPr>
                      <m:e>
                        <m:r>
                          <a:rPr lang="en-US" altLang="zh-TW" sz="2800" smtClean="0"/>
                          <m:t>𝑌</m:t>
                        </m:r>
                      </m:e>
                      <m:sub>
                        <m:r>
                          <a:rPr lang="en-US" altLang="zh-TW" sz="2800" smtClean="0"/>
                          <m:t>𝑖</m:t>
                        </m:r>
                        <m:r>
                          <a:rPr lang="en-US" altLang="zh-TW" sz="2800" b="0" i="0" smtClean="0">
                            <a:latin typeface="Cambria Math"/>
                          </a:rPr>
                          <m:t>+1</m:t>
                        </m:r>
                      </m:sub>
                    </m:sSub>
                    <m:r>
                      <a:rPr lang="en-US" altLang="zh-TW" sz="2800" smtClean="0"/>
                      <m:t> </m:t>
                    </m:r>
                    <m:r>
                      <a:rPr lang="en-US" altLang="zh-TW" sz="2800" smtClean="0"/>
                      <m:t>𝑎𝑟𝑒</m:t>
                    </m:r>
                    <m:r>
                      <a:rPr lang="en-US" altLang="zh-TW" sz="2800" smtClean="0"/>
                      <m:t> </m:t>
                    </m:r>
                    <m:r>
                      <a:rPr lang="en-US" altLang="zh-TW" sz="2800" smtClean="0"/>
                      <m:t>𝑖𝑛</m:t>
                    </m:r>
                    <m:r>
                      <a:rPr lang="en-US" altLang="zh-TW" sz="2800" smtClean="0"/>
                      <m:t> </m:t>
                    </m:r>
                    <m:r>
                      <a:rPr lang="en-US" altLang="zh-TW" sz="2800" smtClean="0"/>
                      <m:t>𝑏𝑎𝑙𝑎𝑛𝑐𝑒𝑑</m:t>
                    </m:r>
                  </m:oMath>
                </a14:m>
                <a:r>
                  <a:rPr lang="en-US" altLang="zh-TW" sz="2800" dirty="0" smtClean="0"/>
                  <a:t>,</a:t>
                </a:r>
                <a:br>
                  <a:rPr lang="en-US" altLang="zh-TW" sz="2800" dirty="0" smtClean="0"/>
                </a:br>
                <a:r>
                  <a:rPr lang="en-US" altLang="zh-TW" sz="2800" dirty="0" smtClean="0"/>
                  <a:t>create a new rule </a:t>
                </a:r>
                <a14:m>
                  <m:oMath xmlns:m="http://schemas.openxmlformats.org/officeDocument/2006/math">
                    <m:sSub>
                      <m:sSubPr>
                        <m:ctrlPr>
                          <a:rPr lang="en-US" altLang="zh-TW" sz="2800" i="1" smtClean="0">
                            <a:latin typeface="Cambria Math"/>
                          </a:rPr>
                        </m:ctrlPr>
                      </m:sSubPr>
                      <m:e>
                        <m:r>
                          <a:rPr lang="en-US" altLang="zh-TW" sz="2800" b="0" i="1" smtClean="0">
                            <a:latin typeface="Cambria Math"/>
                          </a:rPr>
                          <m:t>𝑍</m:t>
                        </m:r>
                      </m:e>
                      <m:sub>
                        <m:r>
                          <a:rPr lang="en-US" altLang="zh-TW" sz="2800" b="0" i="1" smtClean="0">
                            <a:latin typeface="Cambria Math"/>
                          </a:rPr>
                          <m:t>𝑖</m:t>
                        </m:r>
                        <m:r>
                          <a:rPr lang="en-US" altLang="zh-TW" sz="2800" b="0" i="1" smtClean="0">
                            <a:latin typeface="Cambria Math"/>
                          </a:rPr>
                          <m:t>+1</m:t>
                        </m:r>
                      </m:sub>
                    </m:sSub>
                    <m:r>
                      <a:rPr lang="en-US" altLang="zh-TW" sz="2800" b="0" i="1" smtClean="0">
                        <a:latin typeface="Cambria Math"/>
                      </a:rPr>
                      <m:t>→</m:t>
                    </m:r>
                    <m:sSub>
                      <m:sSubPr>
                        <m:ctrlPr>
                          <a:rPr lang="en-US" altLang="zh-TW" sz="2800" b="0" i="1" smtClean="0">
                            <a:latin typeface="Cambria Math"/>
                          </a:rPr>
                        </m:ctrlPr>
                      </m:sSubPr>
                      <m:e>
                        <m:r>
                          <a:rPr lang="en-US" altLang="zh-TW" sz="2800" b="0" i="1" smtClean="0">
                            <a:latin typeface="Cambria Math"/>
                          </a:rPr>
                          <m:t>𝑍</m:t>
                        </m:r>
                      </m:e>
                      <m:sub>
                        <m:r>
                          <a:rPr lang="en-US" altLang="zh-TW" sz="2800" b="0" i="1" smtClean="0">
                            <a:latin typeface="Cambria Math"/>
                          </a:rPr>
                          <m:t>𝑖</m:t>
                        </m:r>
                      </m:sub>
                    </m:sSub>
                    <m:sSub>
                      <m:sSubPr>
                        <m:ctrlPr>
                          <a:rPr lang="en-US" altLang="zh-TW" sz="2800" b="0" i="1" smtClean="0">
                            <a:latin typeface="Cambria Math"/>
                          </a:rPr>
                        </m:ctrlPr>
                      </m:sSubPr>
                      <m:e>
                        <m:r>
                          <a:rPr lang="en-US" altLang="zh-TW" sz="2800" b="0" i="1" smtClean="0">
                            <a:latin typeface="Cambria Math"/>
                          </a:rPr>
                          <m:t>𝑌</m:t>
                        </m:r>
                      </m:e>
                      <m:sub>
                        <m:r>
                          <a:rPr lang="en-US" altLang="zh-TW" sz="2800" b="0" i="1" smtClean="0">
                            <a:latin typeface="Cambria Math"/>
                          </a:rPr>
                          <m:t>𝑖</m:t>
                        </m:r>
                        <m:r>
                          <a:rPr lang="en-US" altLang="zh-TW" sz="2800" b="0" i="1" smtClean="0">
                            <a:latin typeface="Cambria Math"/>
                          </a:rPr>
                          <m:t>+1</m:t>
                        </m:r>
                      </m:sub>
                    </m:sSub>
                  </m:oMath>
                </a14:m>
                <a:r>
                  <a:rPr lang="en-US" altLang="zh-TW" sz="2800" dirty="0" smtClean="0"/>
                  <a:t>.</a:t>
                </a:r>
              </a:p>
              <a:p>
                <a:pPr>
                  <a:lnSpc>
                    <a:spcPct val="150000"/>
                  </a:lnSpc>
                </a:pPr>
                <a:endParaRPr lang="en-US" altLang="zh-TW" sz="2800" dirty="0" smtClean="0"/>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3"/>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1690941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95936" y="3068960"/>
            <a:ext cx="4572638" cy="3048426"/>
          </a:xfrm>
          <a:prstGeom prst="rect">
            <a:avLst/>
          </a:prstGeom>
        </p:spPr>
      </p:pic>
      <p:sp>
        <p:nvSpPr>
          <p:cNvPr id="2" name="標題 1"/>
          <p:cNvSpPr>
            <a:spLocks noGrp="1"/>
          </p:cNvSpPr>
          <p:nvPr>
            <p:ph type="title"/>
          </p:nvPr>
        </p:nvSpPr>
        <p:spPr/>
        <p:txBody>
          <a:bodyPr/>
          <a:lstStyle/>
          <a:p>
            <a:r>
              <a:rPr lang="en-US" altLang="zh-TW" dirty="0" smtClean="0"/>
              <a:t>ADDPAIR – Case 2</a:t>
            </a:r>
            <a:endParaRPr lang="zh-TW" altLang="en-US" dirty="0"/>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p:txBody>
              <a:bodyPr>
                <a:normAutofit/>
              </a:bodyPr>
              <a:lstStyle/>
              <a:p>
                <a:pPr>
                  <a:lnSpc>
                    <a:spcPct val="150000"/>
                  </a:lnSpc>
                </a:pPr>
                <a14:m>
                  <m:oMath xmlns:m="http://schemas.openxmlformats.org/officeDocument/2006/math">
                    <m:r>
                      <a:rPr lang="en-US" altLang="zh-TW" sz="2800" b="0" i="1" smtClean="0">
                        <a:latin typeface="Cambria Math"/>
                      </a:rPr>
                      <m:t>𝑂𝑡h𝑒𝑟𝑤𝑖𝑠𝑒</m:t>
                    </m:r>
                    <m:r>
                      <a:rPr lang="en-US" altLang="zh-TW" sz="2800" b="0" i="1" smtClean="0">
                        <a:latin typeface="Cambria Math"/>
                      </a:rPr>
                      <m:t>, </m:t>
                    </m:r>
                    <m:r>
                      <a:rPr lang="en-US" altLang="zh-TW" sz="2800" b="0" i="1" smtClean="0">
                        <a:latin typeface="Cambria Math"/>
                      </a:rPr>
                      <m:t>𝑖𝑓</m:t>
                    </m:r>
                    <m:r>
                      <a:rPr lang="en-US" altLang="zh-TW" sz="2800" b="0" i="1" smtClean="0">
                        <a:latin typeface="Cambria Math"/>
                      </a:rPr>
                      <m:t> </m:t>
                    </m:r>
                    <m:sSub>
                      <m:sSubPr>
                        <m:ctrlPr>
                          <a:rPr lang="en-US" altLang="zh-TW" sz="2800" b="0" i="1" smtClean="0">
                            <a:latin typeface="Cambria Math"/>
                          </a:rPr>
                        </m:ctrlPr>
                      </m:sSubPr>
                      <m:e>
                        <m:r>
                          <a:rPr lang="en-US" altLang="zh-TW" sz="2800" b="0" i="1" smtClean="0">
                            <a:latin typeface="Cambria Math"/>
                          </a:rPr>
                          <m:t>𝐴</m:t>
                        </m:r>
                      </m:e>
                      <m:sub>
                        <m:r>
                          <a:rPr lang="en-US" altLang="zh-TW" sz="2800" b="0" i="1" smtClean="0">
                            <a:latin typeface="Cambria Math"/>
                          </a:rPr>
                          <m:t>𝑖</m:t>
                        </m:r>
                      </m:sub>
                    </m:sSub>
                    <m:r>
                      <a:rPr lang="en-US" altLang="zh-TW" sz="2800" b="0" i="1" smtClean="0">
                        <a:latin typeface="Cambria Math"/>
                      </a:rPr>
                      <m:t> </m:t>
                    </m:r>
                    <m:r>
                      <a:rPr lang="en-US" altLang="zh-TW" sz="2800" b="0" i="1" smtClean="0">
                        <a:latin typeface="Cambria Math"/>
                      </a:rPr>
                      <m:t>𝑖𝑠</m:t>
                    </m:r>
                    <m:r>
                      <a:rPr lang="en-US" altLang="zh-TW" sz="2800" b="0" i="1" smtClean="0">
                        <a:latin typeface="Cambria Math"/>
                      </a:rPr>
                      <m:t> </m:t>
                    </m:r>
                    <m:r>
                      <a:rPr lang="en-US" altLang="zh-TW" sz="2800" b="0" i="1" smtClean="0">
                        <a:latin typeface="Cambria Math"/>
                      </a:rPr>
                      <m:t>𝑏𝑎𝑙𝑎𝑛𝑐𝑒</m:t>
                    </m:r>
                    <m:r>
                      <a:rPr lang="en-US" altLang="zh-TW" sz="2800" b="0" i="1" smtClean="0">
                        <a:latin typeface="Cambria Math"/>
                      </a:rPr>
                      <m:t> </m:t>
                    </m:r>
                    <m:r>
                      <a:rPr lang="en-US" altLang="zh-TW" sz="2800" b="0" i="1" smtClean="0">
                        <a:latin typeface="Cambria Math"/>
                      </a:rPr>
                      <m:t>𝑤𝑖𝑡h</m:t>
                    </m:r>
                    <m:r>
                      <a:rPr lang="en-US" altLang="zh-TW" sz="2800" b="0" i="1" smtClean="0">
                        <a:latin typeface="Cambria Math"/>
                      </a:rPr>
                      <m:t> </m:t>
                    </m:r>
                    <m:sSub>
                      <m:sSubPr>
                        <m:ctrlPr>
                          <a:rPr lang="en-US" altLang="zh-TW" sz="2800" b="0" i="1" smtClean="0">
                            <a:latin typeface="Cambria Math"/>
                          </a:rPr>
                        </m:ctrlPr>
                      </m:sSubPr>
                      <m:e>
                        <m:r>
                          <a:rPr lang="en-US" altLang="zh-TW" sz="2800" b="0" i="1" smtClean="0">
                            <a:latin typeface="Cambria Math"/>
                          </a:rPr>
                          <m:t>𝐵</m:t>
                        </m:r>
                      </m:e>
                      <m:sub>
                        <m:r>
                          <a:rPr lang="en-US" altLang="zh-TW" sz="2800" b="0" i="1" smtClean="0">
                            <a:latin typeface="Cambria Math"/>
                          </a:rPr>
                          <m:t>𝑖</m:t>
                        </m:r>
                      </m:sub>
                    </m:sSub>
                    <m:sSub>
                      <m:sSubPr>
                        <m:ctrlPr>
                          <a:rPr lang="en-US" altLang="zh-TW" sz="2800" b="0" i="1" smtClean="0">
                            <a:latin typeface="Cambria Math"/>
                          </a:rPr>
                        </m:ctrlPr>
                      </m:sSubPr>
                      <m:e>
                        <m:r>
                          <a:rPr lang="en-US" altLang="zh-TW" sz="2800" b="0" i="1" smtClean="0">
                            <a:latin typeface="Cambria Math"/>
                          </a:rPr>
                          <m:t>𝑌</m:t>
                        </m:r>
                      </m:e>
                      <m:sub>
                        <m:r>
                          <a:rPr lang="en-US" altLang="zh-TW" sz="2800" b="0" i="1" smtClean="0">
                            <a:latin typeface="Cambria Math"/>
                          </a:rPr>
                          <m:t>𝑖</m:t>
                        </m:r>
                        <m:r>
                          <a:rPr lang="en-US" altLang="zh-TW" sz="2800" b="0" i="1" smtClean="0">
                            <a:latin typeface="Cambria Math"/>
                          </a:rPr>
                          <m:t>+1</m:t>
                        </m:r>
                      </m:sub>
                    </m:sSub>
                  </m:oMath>
                </a14:m>
                <a:r>
                  <a:rPr lang="en-US" altLang="zh-TW" sz="2800" dirty="0" smtClean="0"/>
                  <a:t>,</a:t>
                </a:r>
                <a:br>
                  <a:rPr lang="en-US" altLang="zh-TW" sz="2800" dirty="0" smtClean="0"/>
                </a:br>
                <a:r>
                  <a:rPr lang="en-US" altLang="zh-TW" sz="2800" dirty="0" smtClean="0"/>
                  <a:t>create 2 new rules:</a:t>
                </a:r>
                <a:br>
                  <a:rPr lang="en-US" altLang="zh-TW" sz="2800" dirty="0" smtClean="0"/>
                </a:br>
                <a14:m>
                  <m:oMath xmlns:m="http://schemas.openxmlformats.org/officeDocument/2006/math">
                    <m:sSub>
                      <m:sSubPr>
                        <m:ctrlPr>
                          <a:rPr lang="en-US" altLang="zh-TW" sz="2800" i="1" smtClean="0">
                            <a:latin typeface="Cambria Math"/>
                          </a:rPr>
                        </m:ctrlPr>
                      </m:sSubPr>
                      <m:e>
                        <m:r>
                          <a:rPr lang="en-US" altLang="zh-TW" sz="2800" b="0" i="1" smtClean="0">
                            <a:latin typeface="Cambria Math"/>
                          </a:rPr>
                          <m:t>𝑍</m:t>
                        </m:r>
                      </m:e>
                      <m:sub>
                        <m:r>
                          <a:rPr lang="en-US" altLang="zh-TW" sz="2800" b="0" i="1" smtClean="0">
                            <a:latin typeface="Cambria Math"/>
                          </a:rPr>
                          <m:t>𝑖</m:t>
                        </m:r>
                        <m:r>
                          <a:rPr lang="en-US" altLang="zh-TW" sz="2800" b="0" i="1" smtClean="0">
                            <a:latin typeface="Cambria Math"/>
                          </a:rPr>
                          <m:t>+1</m:t>
                        </m:r>
                      </m:sub>
                    </m:sSub>
                    <m:r>
                      <a:rPr lang="en-US" altLang="zh-TW" sz="2800" b="0" i="1" smtClean="0">
                        <a:latin typeface="Cambria Math"/>
                      </a:rPr>
                      <m:t>→</m:t>
                    </m:r>
                    <m:sSub>
                      <m:sSubPr>
                        <m:ctrlPr>
                          <a:rPr lang="en-US" altLang="zh-TW" sz="2800" b="0" i="1" smtClean="0">
                            <a:latin typeface="Cambria Math"/>
                          </a:rPr>
                        </m:ctrlPr>
                      </m:sSubPr>
                      <m:e>
                        <m:r>
                          <a:rPr lang="en-US" altLang="zh-TW" sz="2800" b="0" i="1" smtClean="0">
                            <a:latin typeface="Cambria Math"/>
                          </a:rPr>
                          <m:t>𝐴</m:t>
                        </m:r>
                      </m:e>
                      <m:sub>
                        <m:r>
                          <a:rPr lang="en-US" altLang="zh-TW" sz="2800" b="0" i="1" smtClean="0">
                            <a:latin typeface="Cambria Math"/>
                          </a:rPr>
                          <m:t>𝑖</m:t>
                        </m:r>
                      </m:sub>
                    </m:sSub>
                    <m:sSub>
                      <m:sSubPr>
                        <m:ctrlPr>
                          <a:rPr lang="en-US" altLang="zh-TW" sz="2800" b="0" i="1" smtClean="0">
                            <a:latin typeface="Cambria Math"/>
                          </a:rPr>
                        </m:ctrlPr>
                      </m:sSubPr>
                      <m:e>
                        <m:r>
                          <a:rPr lang="en-US" altLang="zh-TW" sz="2800" b="0" i="1" smtClean="0">
                            <a:latin typeface="Cambria Math"/>
                          </a:rPr>
                          <m:t>𝑇</m:t>
                        </m:r>
                      </m:e>
                      <m:sub>
                        <m:r>
                          <a:rPr lang="en-US" altLang="zh-TW" sz="2800" b="0" i="1" smtClean="0">
                            <a:latin typeface="Cambria Math"/>
                          </a:rPr>
                          <m:t>𝑖</m:t>
                        </m:r>
                      </m:sub>
                    </m:sSub>
                  </m:oMath>
                </a14:m>
                <a:r>
                  <a:rPr lang="en-US" altLang="zh-TW" sz="2800" dirty="0" smtClean="0"/>
                  <a:t/>
                </a:r>
                <a:br>
                  <a:rPr lang="en-US" altLang="zh-TW" sz="2800" dirty="0" smtClean="0"/>
                </a:br>
                <a14:m>
                  <m:oMath xmlns:m="http://schemas.openxmlformats.org/officeDocument/2006/math">
                    <m:sSub>
                      <m:sSubPr>
                        <m:ctrlPr>
                          <a:rPr lang="en-US" altLang="zh-TW" sz="2800" i="1" smtClean="0">
                            <a:latin typeface="Cambria Math"/>
                          </a:rPr>
                        </m:ctrlPr>
                      </m:sSubPr>
                      <m:e>
                        <m:r>
                          <a:rPr lang="en-US" altLang="zh-TW" sz="2800" b="0" i="1" smtClean="0">
                            <a:latin typeface="Cambria Math"/>
                          </a:rPr>
                          <m:t>𝑇</m:t>
                        </m:r>
                      </m:e>
                      <m:sub>
                        <m:r>
                          <a:rPr lang="en-US" altLang="zh-TW" sz="2800" b="0" i="1" smtClean="0">
                            <a:latin typeface="Cambria Math"/>
                          </a:rPr>
                          <m:t>𝑖</m:t>
                        </m:r>
                      </m:sub>
                    </m:sSub>
                    <m:r>
                      <a:rPr lang="en-US" altLang="zh-TW" sz="2800" b="0" i="1" smtClean="0">
                        <a:latin typeface="Cambria Math"/>
                      </a:rPr>
                      <m:t>→</m:t>
                    </m:r>
                    <m:sSub>
                      <m:sSubPr>
                        <m:ctrlPr>
                          <a:rPr lang="en-US" altLang="zh-TW" sz="2800" b="0" i="1" smtClean="0">
                            <a:latin typeface="Cambria Math"/>
                          </a:rPr>
                        </m:ctrlPr>
                      </m:sSubPr>
                      <m:e>
                        <m:r>
                          <a:rPr lang="en-US" altLang="zh-TW" sz="2800" b="0" i="1" smtClean="0">
                            <a:latin typeface="Cambria Math"/>
                          </a:rPr>
                          <m:t>𝐵</m:t>
                        </m:r>
                      </m:e>
                      <m:sub>
                        <m:r>
                          <a:rPr lang="en-US" altLang="zh-TW" sz="2800" b="0" i="1" smtClean="0">
                            <a:latin typeface="Cambria Math"/>
                          </a:rPr>
                          <m:t>𝑖</m:t>
                        </m:r>
                      </m:sub>
                    </m:sSub>
                    <m:sSub>
                      <m:sSubPr>
                        <m:ctrlPr>
                          <a:rPr lang="en-US" altLang="zh-TW" sz="2800" b="0" i="1" smtClean="0">
                            <a:latin typeface="Cambria Math"/>
                          </a:rPr>
                        </m:ctrlPr>
                      </m:sSubPr>
                      <m:e>
                        <m:r>
                          <a:rPr lang="en-US" altLang="zh-TW" sz="2800" b="0" i="1" smtClean="0">
                            <a:latin typeface="Cambria Math"/>
                          </a:rPr>
                          <m:t>𝑌</m:t>
                        </m:r>
                      </m:e>
                      <m:sub>
                        <m:r>
                          <a:rPr lang="en-US" altLang="zh-TW" sz="2800" b="0" i="1" smtClean="0">
                            <a:latin typeface="Cambria Math"/>
                          </a:rPr>
                          <m:t>𝑖</m:t>
                        </m:r>
                        <m:r>
                          <a:rPr lang="en-US" altLang="zh-TW" sz="2800" b="0" i="1" smtClean="0">
                            <a:latin typeface="Cambria Math"/>
                          </a:rPr>
                          <m:t>+1</m:t>
                        </m:r>
                      </m:sub>
                    </m:sSub>
                  </m:oMath>
                </a14:m>
                <a:endParaRPr lang="zh-TW" altLang="en-US" sz="2800" dirty="0"/>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3"/>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9204984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88024" y="2495275"/>
            <a:ext cx="3810532" cy="3810532"/>
          </a:xfrm>
          <a:prstGeom prst="rect">
            <a:avLst/>
          </a:prstGeom>
        </p:spPr>
      </p:pic>
      <p:sp>
        <p:nvSpPr>
          <p:cNvPr id="2" name="標題 1"/>
          <p:cNvSpPr>
            <a:spLocks noGrp="1"/>
          </p:cNvSpPr>
          <p:nvPr>
            <p:ph type="title"/>
          </p:nvPr>
        </p:nvSpPr>
        <p:spPr/>
        <p:txBody>
          <a:bodyPr/>
          <a:lstStyle/>
          <a:p>
            <a:r>
              <a:rPr lang="en-US" altLang="zh-TW" dirty="0" smtClean="0"/>
              <a:t>ADDPAIR – Case 3</a:t>
            </a:r>
            <a:endParaRPr lang="zh-TW" altLang="en-US" dirty="0"/>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p:txBody>
              <a:bodyPr>
                <a:normAutofit/>
              </a:bodyPr>
              <a:lstStyle/>
              <a:p>
                <a:pPr>
                  <a:lnSpc>
                    <a:spcPct val="150000"/>
                  </a:lnSpc>
                </a:pPr>
                <a14:m>
                  <m:oMath xmlns:m="http://schemas.openxmlformats.org/officeDocument/2006/math">
                    <m:r>
                      <a:rPr lang="en-US" altLang="zh-TW" sz="2800" b="0" i="1" smtClean="0">
                        <a:latin typeface="Cambria Math"/>
                      </a:rPr>
                      <m:t>𝑖𝑓</m:t>
                    </m:r>
                    <m:r>
                      <a:rPr lang="en-US" altLang="zh-TW" sz="2800" b="0" i="1" smtClean="0">
                        <a:latin typeface="Cambria Math"/>
                      </a:rPr>
                      <m:t> </m:t>
                    </m:r>
                    <m:r>
                      <a:rPr lang="en-US" altLang="zh-TW" sz="2800" b="0" i="1" smtClean="0">
                        <a:latin typeface="Cambria Math"/>
                      </a:rPr>
                      <m:t>𝑤𝑒</m:t>
                    </m:r>
                    <m:r>
                      <a:rPr lang="en-US" altLang="zh-TW" sz="2800" b="0" i="1" smtClean="0">
                        <a:latin typeface="Cambria Math"/>
                      </a:rPr>
                      <m:t> </m:t>
                    </m:r>
                    <m:r>
                      <a:rPr lang="en-US" altLang="zh-TW" sz="2800" b="0" i="1" smtClean="0">
                        <a:latin typeface="Cambria Math"/>
                      </a:rPr>
                      <m:t>𝑏𝑦𝑝𝑎𝑠𝑠</m:t>
                    </m:r>
                    <m:r>
                      <a:rPr lang="en-US" altLang="zh-TW" sz="2800" b="0" i="1" smtClean="0">
                        <a:latin typeface="Cambria Math"/>
                      </a:rPr>
                      <m:t> </m:t>
                    </m:r>
                    <m:r>
                      <a:rPr lang="en-US" altLang="zh-TW" sz="2800" b="0" i="1" smtClean="0">
                        <a:latin typeface="Cambria Math"/>
                      </a:rPr>
                      <m:t>𝑐𝑎𝑠𝑒𝑠</m:t>
                    </m:r>
                    <m:r>
                      <a:rPr lang="en-US" altLang="zh-TW" sz="2800" b="0" i="1" smtClean="0">
                        <a:latin typeface="Cambria Math"/>
                      </a:rPr>
                      <m:t> 1 </m:t>
                    </m:r>
                    <m:r>
                      <a:rPr lang="en-US" altLang="zh-TW" sz="2800" b="0" i="1" smtClean="0">
                        <a:latin typeface="Cambria Math"/>
                      </a:rPr>
                      <m:t>𝑎𝑛𝑑</m:t>
                    </m:r>
                    <m:r>
                      <a:rPr lang="en-US" altLang="zh-TW" sz="2800" b="0" i="1" smtClean="0">
                        <a:latin typeface="Cambria Math"/>
                      </a:rPr>
                      <m:t> 2</m:t>
                    </m:r>
                  </m:oMath>
                </a14:m>
                <a:r>
                  <a:rPr lang="en-US" altLang="zh-TW" sz="2800" dirty="0" smtClean="0"/>
                  <a:t>,</a:t>
                </a:r>
                <a:br>
                  <a:rPr lang="en-US" altLang="zh-TW" sz="2800" dirty="0" smtClean="0"/>
                </a:br>
                <a:r>
                  <a:rPr lang="en-US" altLang="zh-TW" sz="2800" dirty="0" smtClean="0"/>
                  <a:t>create 3 new rules: (</a:t>
                </a:r>
                <a14:m>
                  <m:oMath xmlns:m="http://schemas.openxmlformats.org/officeDocument/2006/math">
                    <m:sSub>
                      <m:sSubPr>
                        <m:ctrlPr>
                          <a:rPr lang="en-US" altLang="zh-TW" sz="2800" i="1" smtClean="0">
                            <a:latin typeface="Cambria Math"/>
                          </a:rPr>
                        </m:ctrlPr>
                      </m:sSubPr>
                      <m:e>
                        <m:r>
                          <a:rPr lang="en-US" altLang="zh-TW" sz="2800" b="0" i="1" smtClean="0">
                            <a:latin typeface="Cambria Math"/>
                          </a:rPr>
                          <m:t>𝐵</m:t>
                        </m:r>
                      </m:e>
                      <m:sub>
                        <m:r>
                          <a:rPr lang="en-US" altLang="zh-TW" sz="2800" b="0" i="1" smtClean="0">
                            <a:latin typeface="Cambria Math"/>
                          </a:rPr>
                          <m:t>𝑖</m:t>
                        </m:r>
                      </m:sub>
                    </m:sSub>
                    <m:r>
                      <a:rPr lang="en-US" altLang="zh-TW" sz="2800" b="0" i="1" smtClean="0">
                        <a:latin typeface="Cambria Math"/>
                      </a:rPr>
                      <m:t>→</m:t>
                    </m:r>
                    <m:r>
                      <a:rPr lang="en-US" altLang="zh-TW" sz="2800" b="0" i="1" smtClean="0">
                        <a:latin typeface="Cambria Math"/>
                      </a:rPr>
                      <m:t>𝑈𝑉</m:t>
                    </m:r>
                  </m:oMath>
                </a14:m>
                <a:r>
                  <a:rPr lang="en-US" altLang="zh-TW" sz="2800" dirty="0" smtClean="0"/>
                  <a:t>)</a:t>
                </a:r>
                <a:br>
                  <a:rPr lang="en-US" altLang="zh-TW" sz="2800" dirty="0" smtClean="0"/>
                </a:br>
                <a14:m>
                  <m:oMath xmlns:m="http://schemas.openxmlformats.org/officeDocument/2006/math">
                    <m:sSub>
                      <m:sSubPr>
                        <m:ctrlPr>
                          <a:rPr lang="en-US" altLang="zh-TW" sz="2800" i="1" smtClean="0">
                            <a:latin typeface="Cambria Math"/>
                          </a:rPr>
                        </m:ctrlPr>
                      </m:sSubPr>
                      <m:e>
                        <m:r>
                          <a:rPr lang="en-US" altLang="zh-TW" sz="2800" b="0" i="1" smtClean="0">
                            <a:latin typeface="Cambria Math"/>
                          </a:rPr>
                          <m:t>𝑍</m:t>
                        </m:r>
                      </m:e>
                      <m:sub>
                        <m:r>
                          <a:rPr lang="en-US" altLang="zh-TW" sz="2800" b="0" i="1" smtClean="0">
                            <a:latin typeface="Cambria Math"/>
                          </a:rPr>
                          <m:t>𝑖</m:t>
                        </m:r>
                        <m:r>
                          <a:rPr lang="en-US" altLang="zh-TW" sz="2800" b="0" i="1" smtClean="0">
                            <a:latin typeface="Cambria Math"/>
                          </a:rPr>
                          <m:t>+1</m:t>
                        </m:r>
                      </m:sub>
                    </m:sSub>
                    <m:r>
                      <a:rPr lang="en-US" altLang="zh-TW" sz="2800" b="0" i="1" smtClean="0">
                        <a:latin typeface="Cambria Math"/>
                      </a:rPr>
                      <m:t>→</m:t>
                    </m:r>
                    <m:sSub>
                      <m:sSubPr>
                        <m:ctrlPr>
                          <a:rPr lang="en-US" altLang="zh-TW" sz="2800" b="0" i="1" smtClean="0">
                            <a:latin typeface="Cambria Math"/>
                          </a:rPr>
                        </m:ctrlPr>
                      </m:sSubPr>
                      <m:e>
                        <m:r>
                          <a:rPr lang="en-US" altLang="zh-TW" sz="2800" b="0" i="1" smtClean="0">
                            <a:latin typeface="Cambria Math"/>
                          </a:rPr>
                          <m:t>𝑃</m:t>
                        </m:r>
                      </m:e>
                      <m:sub>
                        <m:r>
                          <a:rPr lang="en-US" altLang="zh-TW" sz="2800" b="0" i="1" smtClean="0">
                            <a:latin typeface="Cambria Math"/>
                          </a:rPr>
                          <m:t>𝑖</m:t>
                        </m:r>
                      </m:sub>
                    </m:sSub>
                    <m:sSub>
                      <m:sSubPr>
                        <m:ctrlPr>
                          <a:rPr lang="en-US" altLang="zh-TW" sz="2800" b="0" i="1" smtClean="0">
                            <a:latin typeface="Cambria Math"/>
                          </a:rPr>
                        </m:ctrlPr>
                      </m:sSubPr>
                      <m:e>
                        <m:r>
                          <a:rPr lang="en-US" altLang="zh-TW" sz="2800" b="0" i="1" smtClean="0">
                            <a:latin typeface="Cambria Math"/>
                          </a:rPr>
                          <m:t>𝑄</m:t>
                        </m:r>
                      </m:e>
                      <m:sub>
                        <m:r>
                          <a:rPr lang="en-US" altLang="zh-TW" sz="2800" b="0" i="1" smtClean="0">
                            <a:latin typeface="Cambria Math"/>
                          </a:rPr>
                          <m:t>𝑖</m:t>
                        </m:r>
                      </m:sub>
                    </m:sSub>
                  </m:oMath>
                </a14:m>
                <a:r>
                  <a:rPr lang="en-US" altLang="zh-TW" sz="2800" b="0" dirty="0" smtClean="0"/>
                  <a:t/>
                </a:r>
                <a:br>
                  <a:rPr lang="en-US" altLang="zh-TW" sz="2800" b="0" dirty="0" smtClean="0"/>
                </a:br>
                <a14:m>
                  <m:oMath xmlns:m="http://schemas.openxmlformats.org/officeDocument/2006/math">
                    <m:sSub>
                      <m:sSubPr>
                        <m:ctrlPr>
                          <a:rPr lang="en-US" altLang="zh-TW" sz="2800" b="0" i="1" smtClean="0">
                            <a:latin typeface="Cambria Math"/>
                          </a:rPr>
                        </m:ctrlPr>
                      </m:sSubPr>
                      <m:e>
                        <m:r>
                          <a:rPr lang="en-US" altLang="zh-TW" sz="2800" b="0" i="1" smtClean="0">
                            <a:latin typeface="Cambria Math"/>
                          </a:rPr>
                          <m:t>𝑃</m:t>
                        </m:r>
                      </m:e>
                      <m:sub>
                        <m:r>
                          <a:rPr lang="en-US" altLang="zh-TW" sz="2800" b="0" i="1" smtClean="0">
                            <a:latin typeface="Cambria Math"/>
                          </a:rPr>
                          <m:t>𝑖</m:t>
                        </m:r>
                      </m:sub>
                    </m:sSub>
                    <m:r>
                      <a:rPr lang="en-US" altLang="zh-TW" sz="2800" b="0" i="1" smtClean="0">
                        <a:latin typeface="Cambria Math"/>
                      </a:rPr>
                      <m:t>→</m:t>
                    </m:r>
                    <m:sSub>
                      <m:sSubPr>
                        <m:ctrlPr>
                          <a:rPr lang="en-US" altLang="zh-TW" sz="2800" b="0" i="1" smtClean="0">
                            <a:latin typeface="Cambria Math"/>
                          </a:rPr>
                        </m:ctrlPr>
                      </m:sSubPr>
                      <m:e>
                        <m:r>
                          <a:rPr lang="en-US" altLang="zh-TW" sz="2800" b="0" i="1" smtClean="0">
                            <a:latin typeface="Cambria Math"/>
                          </a:rPr>
                          <m:t>𝐴</m:t>
                        </m:r>
                      </m:e>
                      <m:sub>
                        <m:r>
                          <a:rPr lang="en-US" altLang="zh-TW" sz="2800" b="0" i="1" smtClean="0">
                            <a:latin typeface="Cambria Math"/>
                          </a:rPr>
                          <m:t>𝑖</m:t>
                        </m:r>
                      </m:sub>
                    </m:sSub>
                    <m:r>
                      <a:rPr lang="en-US" altLang="zh-TW" sz="2800" b="0" i="1" smtClean="0">
                        <a:latin typeface="Cambria Math"/>
                      </a:rPr>
                      <m:t>𝑈</m:t>
                    </m:r>
                  </m:oMath>
                </a14:m>
                <a:r>
                  <a:rPr lang="en-US" altLang="zh-TW" sz="2800" b="0" dirty="0" smtClean="0"/>
                  <a:t/>
                </a:r>
                <a:br>
                  <a:rPr lang="en-US" altLang="zh-TW" sz="2800" b="0" dirty="0" smtClean="0"/>
                </a:br>
                <a14:m>
                  <m:oMath xmlns:m="http://schemas.openxmlformats.org/officeDocument/2006/math">
                    <m:sSub>
                      <m:sSubPr>
                        <m:ctrlPr>
                          <a:rPr lang="en-US" altLang="zh-TW" sz="2800" b="0" i="1" smtClean="0">
                            <a:latin typeface="Cambria Math"/>
                          </a:rPr>
                        </m:ctrlPr>
                      </m:sSubPr>
                      <m:e>
                        <m:r>
                          <a:rPr lang="en-US" altLang="zh-TW" sz="2800" b="0" i="1" smtClean="0">
                            <a:latin typeface="Cambria Math"/>
                          </a:rPr>
                          <m:t>𝑄</m:t>
                        </m:r>
                      </m:e>
                      <m:sub>
                        <m:r>
                          <a:rPr lang="en-US" altLang="zh-TW" sz="2800" b="0" i="1" smtClean="0">
                            <a:latin typeface="Cambria Math"/>
                          </a:rPr>
                          <m:t>𝑖</m:t>
                        </m:r>
                      </m:sub>
                    </m:sSub>
                    <m:r>
                      <a:rPr lang="en-US" altLang="zh-TW" sz="2800" b="0" i="1" smtClean="0">
                        <a:latin typeface="Cambria Math"/>
                      </a:rPr>
                      <m:t>→</m:t>
                    </m:r>
                    <m:r>
                      <a:rPr lang="en-US" altLang="zh-TW" sz="2800" b="0" i="1" smtClean="0">
                        <a:latin typeface="Cambria Math"/>
                      </a:rPr>
                      <m:t>𝑉</m:t>
                    </m:r>
                    <m:sSub>
                      <m:sSubPr>
                        <m:ctrlPr>
                          <a:rPr lang="en-US" altLang="zh-TW" sz="2800" b="0" i="1" smtClean="0">
                            <a:latin typeface="Cambria Math"/>
                          </a:rPr>
                        </m:ctrlPr>
                      </m:sSubPr>
                      <m:e>
                        <m:r>
                          <a:rPr lang="en-US" altLang="zh-TW" sz="2800" b="0" i="1" smtClean="0">
                            <a:latin typeface="Cambria Math"/>
                          </a:rPr>
                          <m:t>𝑌</m:t>
                        </m:r>
                      </m:e>
                      <m:sub>
                        <m:r>
                          <a:rPr lang="en-US" altLang="zh-TW" sz="2800" b="0" i="1" smtClean="0">
                            <a:latin typeface="Cambria Math"/>
                          </a:rPr>
                          <m:t>𝑖</m:t>
                        </m:r>
                        <m:r>
                          <a:rPr lang="en-US" altLang="zh-TW" sz="2800" b="0" i="1" smtClean="0">
                            <a:latin typeface="Cambria Math"/>
                          </a:rPr>
                          <m:t>+1</m:t>
                        </m:r>
                      </m:sub>
                    </m:sSub>
                  </m:oMath>
                </a14:m>
                <a:endParaRPr lang="zh-TW" altLang="en-US" sz="2800" dirty="0"/>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3"/>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0647699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標題 12"/>
          <p:cNvSpPr>
            <a:spLocks noGrp="1"/>
          </p:cNvSpPr>
          <p:nvPr>
            <p:ph type="title"/>
          </p:nvPr>
        </p:nvSpPr>
        <p:spPr/>
        <p:txBody>
          <a:bodyPr/>
          <a:lstStyle/>
          <a:p>
            <a:r>
              <a:rPr lang="en-US" altLang="zh-TW" dirty="0" smtClean="0"/>
              <a:t>All the 3 tools</a:t>
            </a:r>
            <a:endParaRPr lang="zh-TW" altLang="en-US" dirty="0"/>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p:txBody>
              <a:bodyPr>
                <a:normAutofit lnSpcReduction="10000"/>
              </a:bodyPr>
              <a:lstStyle/>
              <a:p>
                <a:pPr>
                  <a:lnSpc>
                    <a:spcPct val="150000"/>
                  </a:lnSpc>
                </a:pPr>
                <a:r>
                  <a:rPr lang="en-US" altLang="zh-TW" sz="2400" dirty="0" smtClean="0"/>
                  <a:t>ADDPAIR (</a:t>
                </a:r>
                <a:r>
                  <a:rPr lang="zh-TW" altLang="en-US" sz="2000" dirty="0" smtClean="0"/>
                  <a:t>所增加的 </a:t>
                </a:r>
                <a:r>
                  <a:rPr lang="en-US" altLang="zh-TW" sz="2400" dirty="0" smtClean="0"/>
                  <a:t>symbol)</a:t>
                </a:r>
                <a:br>
                  <a:rPr lang="en-US" altLang="zh-TW" sz="2400" dirty="0" smtClean="0"/>
                </a:br>
                <a14:m>
                  <m:oMath xmlns:m="http://schemas.openxmlformats.org/officeDocument/2006/math">
                    <m:r>
                      <a:rPr lang="en-US" altLang="zh-TW" sz="2400" smtClean="0"/>
                      <m:t>𝑂</m:t>
                    </m:r>
                    <m:r>
                      <a:rPr lang="en-US" altLang="zh-TW" sz="2400" smtClean="0"/>
                      <m:t>(1+</m:t>
                    </m:r>
                    <m:d>
                      <m:dPr>
                        <m:begChr m:val="|"/>
                        <m:endChr m:val="|"/>
                        <m:ctrlPr>
                          <a:rPr lang="en-US" altLang="zh-TW" sz="2400" smtClean="0"/>
                        </m:ctrlPr>
                      </m:dPr>
                      <m:e>
                        <m:r>
                          <a:rPr lang="en-US" altLang="zh-TW" sz="2400" smtClean="0"/>
                          <m:t>𝑙𝑜𝑔</m:t>
                        </m:r>
                        <m:f>
                          <m:fPr>
                            <m:ctrlPr>
                              <a:rPr lang="en-US" altLang="zh-TW" sz="2400" smtClean="0"/>
                            </m:ctrlPr>
                          </m:fPr>
                          <m:num>
                            <m:r>
                              <a:rPr lang="en-US" altLang="zh-TW" sz="2400" smtClean="0"/>
                              <m:t>[</m:t>
                            </m:r>
                            <m:r>
                              <a:rPr lang="en-US" altLang="zh-TW" sz="2400" smtClean="0"/>
                              <m:t>𝑋</m:t>
                            </m:r>
                            <m:r>
                              <a:rPr lang="en-US" altLang="zh-TW" sz="2400" smtClean="0"/>
                              <m:t>]</m:t>
                            </m:r>
                          </m:num>
                          <m:den>
                            <m:r>
                              <a:rPr lang="en-US" altLang="zh-TW" sz="2400" smtClean="0"/>
                              <m:t>[</m:t>
                            </m:r>
                            <m:r>
                              <a:rPr lang="en-US" altLang="zh-TW" sz="2400" smtClean="0"/>
                              <m:t>𝑌</m:t>
                            </m:r>
                            <m:r>
                              <a:rPr lang="en-US" altLang="zh-TW" sz="2400" smtClean="0"/>
                              <m:t>]</m:t>
                            </m:r>
                          </m:den>
                        </m:f>
                      </m:e>
                    </m:d>
                    <m:r>
                      <a:rPr lang="en-US" altLang="zh-TW" sz="2400" smtClean="0"/>
                      <m:t>)</m:t>
                    </m:r>
                  </m:oMath>
                </a14:m>
                <a:endParaRPr lang="en-US" altLang="zh-TW" sz="2400" dirty="0" smtClean="0"/>
              </a:p>
              <a:p>
                <a:pPr>
                  <a:lnSpc>
                    <a:spcPct val="150000"/>
                  </a:lnSpc>
                </a:pPr>
                <a:r>
                  <a:rPr lang="en-US" altLang="zh-TW" sz="2400" dirty="0" smtClean="0"/>
                  <a:t>ADDSQEUENCE</a:t>
                </a:r>
                <a:br>
                  <a:rPr lang="en-US" altLang="zh-TW" sz="2400" dirty="0" smtClean="0"/>
                </a:br>
                <a14:m>
                  <m:oMath xmlns:m="http://schemas.openxmlformats.org/officeDocument/2006/math">
                    <m:r>
                      <a:rPr lang="en-US" altLang="zh-TW" sz="2400" smtClean="0"/>
                      <m:t>𝑂</m:t>
                    </m:r>
                    <m:r>
                      <a:rPr lang="en-US" altLang="zh-TW" sz="2400" smtClean="0"/>
                      <m:t>(</m:t>
                    </m:r>
                    <m:r>
                      <a:rPr lang="en-US" altLang="zh-TW" sz="2400" smtClean="0"/>
                      <m:t>𝑡</m:t>
                    </m:r>
                    <m:r>
                      <a:rPr lang="en-US" altLang="zh-TW" sz="2400" smtClean="0"/>
                      <m:t>(1+</m:t>
                    </m:r>
                    <m:r>
                      <a:rPr lang="en-US" altLang="zh-TW" sz="2400" smtClean="0"/>
                      <m:t>𝑙𝑜𝑔</m:t>
                    </m:r>
                    <m:f>
                      <m:fPr>
                        <m:ctrlPr>
                          <a:rPr lang="en-US" altLang="zh-TW" sz="2400" smtClean="0"/>
                        </m:ctrlPr>
                      </m:fPr>
                      <m:num>
                        <m:r>
                          <a:rPr lang="en-US" altLang="zh-TW" sz="2400" smtClean="0"/>
                          <m:t>[</m:t>
                        </m:r>
                        <m:sSub>
                          <m:sSubPr>
                            <m:ctrlPr>
                              <a:rPr lang="en-US" altLang="zh-TW" sz="2400" smtClean="0"/>
                            </m:ctrlPr>
                          </m:sSubPr>
                          <m:e>
                            <m:r>
                              <a:rPr lang="en-US" altLang="zh-TW" sz="2400" smtClean="0"/>
                              <m:t>𝑋</m:t>
                            </m:r>
                          </m:e>
                          <m:sub>
                            <m:r>
                              <a:rPr lang="en-US" altLang="zh-TW" sz="2400" smtClean="0"/>
                              <m:t>1</m:t>
                            </m:r>
                          </m:sub>
                        </m:sSub>
                        <m:r>
                          <a:rPr lang="en-US" altLang="zh-TW" sz="2400" smtClean="0"/>
                          <m:t>…</m:t>
                        </m:r>
                        <m:sSub>
                          <m:sSubPr>
                            <m:ctrlPr>
                              <a:rPr lang="en-US" altLang="zh-TW" sz="2400" smtClean="0"/>
                            </m:ctrlPr>
                          </m:sSubPr>
                          <m:e>
                            <m:r>
                              <a:rPr lang="en-US" altLang="zh-TW" sz="2400" smtClean="0"/>
                              <m:t>𝑋</m:t>
                            </m:r>
                          </m:e>
                          <m:sub>
                            <m:r>
                              <a:rPr lang="en-US" altLang="zh-TW" sz="2400" smtClean="0"/>
                              <m:t>𝑡</m:t>
                            </m:r>
                          </m:sub>
                        </m:sSub>
                        <m:r>
                          <a:rPr lang="en-US" altLang="zh-TW" sz="2400" smtClean="0"/>
                          <m:t>]</m:t>
                        </m:r>
                      </m:num>
                      <m:den>
                        <m:r>
                          <a:rPr lang="en-US" altLang="zh-TW" sz="2400" smtClean="0"/>
                          <m:t>𝑡</m:t>
                        </m:r>
                      </m:den>
                    </m:f>
                    <m:r>
                      <a:rPr lang="en-US" altLang="zh-TW" sz="2400" smtClean="0"/>
                      <m:t>))</m:t>
                    </m:r>
                  </m:oMath>
                </a14:m>
                <a:endParaRPr lang="en-US" altLang="zh-TW" sz="2400" dirty="0" smtClean="0"/>
              </a:p>
              <a:p>
                <a:pPr>
                  <a:lnSpc>
                    <a:spcPct val="150000"/>
                  </a:lnSpc>
                </a:pPr>
                <a:r>
                  <a:rPr lang="en-US" altLang="zh-TW" sz="2400" dirty="0" smtClean="0"/>
                  <a:t>ADDSUBSTRING</a:t>
                </a:r>
                <a:br>
                  <a:rPr lang="en-US" altLang="zh-TW" sz="2400" dirty="0" smtClean="0"/>
                </a:br>
                <a14:m>
                  <m:oMath xmlns:m="http://schemas.openxmlformats.org/officeDocument/2006/math">
                    <m:r>
                      <a:rPr lang="en-US" altLang="zh-TW" sz="2400" smtClean="0"/>
                      <m:t>𝑂</m:t>
                    </m:r>
                    <m:r>
                      <a:rPr lang="en-US" altLang="zh-TW" sz="2400" smtClean="0"/>
                      <m:t>(</m:t>
                    </m:r>
                    <m:r>
                      <a:rPr lang="en-US" altLang="zh-TW" sz="2400" smtClean="0"/>
                      <m:t>𝑙𝑜𝑔</m:t>
                    </m:r>
                    <m:d>
                      <m:dPr>
                        <m:begChr m:val="|"/>
                        <m:endChr m:val="|"/>
                        <m:ctrlPr>
                          <a:rPr lang="en-US" altLang="zh-TW" sz="2400" smtClean="0"/>
                        </m:ctrlPr>
                      </m:dPr>
                      <m:e>
                        <m:r>
                          <a:rPr lang="zh-TW" altLang="en-US" sz="2400" smtClean="0"/>
                          <m:t>𝛽</m:t>
                        </m:r>
                      </m:e>
                    </m:d>
                    <m:r>
                      <a:rPr lang="en-US" altLang="zh-TW" sz="2400" smtClean="0"/>
                      <m:t>)</m:t>
                    </m:r>
                  </m:oMath>
                </a14:m>
                <a:endParaRPr lang="en-US" altLang="zh-TW" sz="2400" dirty="0" smtClean="0"/>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a:stretch>
                  <a:fillRect l="-96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0116631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The Algorithm (1/1)</a:t>
            </a:r>
            <a:endParaRPr lang="zh-TW" altLang="en-US" dirty="0"/>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p:txBody>
              <a:bodyPr/>
              <a:lstStyle/>
              <a:p>
                <a:r>
                  <a:rPr lang="en-US" altLang="zh-TW" dirty="0" smtClean="0"/>
                  <a:t>We maintain an active list:</a:t>
                </a:r>
              </a:p>
              <a:p>
                <a14:m>
                  <m:oMath xmlns:m="http://schemas.openxmlformats.org/officeDocument/2006/math">
                    <m:sSub>
                      <m:sSubPr>
                        <m:ctrlPr>
                          <a:rPr lang="en-US" altLang="zh-TW" i="1" smtClean="0">
                            <a:latin typeface="Cambria Math"/>
                          </a:rPr>
                        </m:ctrlPr>
                      </m:sSubPr>
                      <m:e>
                        <m:r>
                          <a:rPr lang="en-US" altLang="zh-TW" b="0" i="1" smtClean="0">
                            <a:latin typeface="Cambria Math"/>
                          </a:rPr>
                          <m:t>𝑙</m:t>
                        </m:r>
                      </m:e>
                      <m:sub>
                        <m:r>
                          <a:rPr lang="en-US" altLang="zh-TW" b="0" i="1" smtClean="0">
                            <a:latin typeface="Cambria Math"/>
                          </a:rPr>
                          <m:t>𝑖</m:t>
                        </m:r>
                      </m:sub>
                    </m:sSub>
                  </m:oMath>
                </a14:m>
                <a:endParaRPr lang="en-US" altLang="zh-TW" dirty="0" smtClean="0"/>
              </a:p>
              <a:p>
                <a14:m>
                  <m:oMath xmlns:m="http://schemas.openxmlformats.org/officeDocument/2006/math">
                    <m:r>
                      <a:rPr lang="en-US" altLang="zh-TW" b="0" i="1" smtClean="0">
                        <a:latin typeface="Cambria Math"/>
                      </a:rPr>
                      <m:t>𝑖𝑓</m:t>
                    </m:r>
                    <m:r>
                      <a:rPr lang="en-US" altLang="zh-TW" b="0" i="1" smtClean="0">
                        <a:latin typeface="Cambria Math"/>
                      </a:rPr>
                      <m:t> </m:t>
                    </m:r>
                    <m:sSub>
                      <m:sSubPr>
                        <m:ctrlPr>
                          <a:rPr lang="en-US" altLang="zh-TW" b="0" i="1" smtClean="0">
                            <a:latin typeface="Cambria Math"/>
                          </a:rPr>
                        </m:ctrlPr>
                      </m:sSubPr>
                      <m:e>
                        <m:r>
                          <a:rPr lang="en-US" altLang="zh-TW" b="0" i="1" smtClean="0">
                            <a:latin typeface="Cambria Math"/>
                          </a:rPr>
                          <m:t>𝑝</m:t>
                        </m:r>
                      </m:e>
                      <m:sub>
                        <m:r>
                          <a:rPr lang="en-US" altLang="zh-TW" b="0" i="1" smtClean="0">
                            <a:latin typeface="Cambria Math"/>
                          </a:rPr>
                          <m:t>𝑖</m:t>
                        </m:r>
                        <m:r>
                          <a:rPr lang="en-US" altLang="zh-TW" b="0" i="1" smtClean="0">
                            <a:latin typeface="Cambria Math"/>
                          </a:rPr>
                          <m:t>+1</m:t>
                        </m:r>
                      </m:sub>
                    </m:sSub>
                    <m:r>
                      <a:rPr lang="en-US" altLang="zh-TW" b="0" i="1" smtClean="0">
                        <a:latin typeface="Cambria Math"/>
                      </a:rPr>
                      <m:t>=0</m:t>
                    </m:r>
                  </m:oMath>
                </a14:m>
                <a:r>
                  <a:rPr lang="en-US" altLang="zh-TW" dirty="0" smtClean="0"/>
                  <a:t>, append it to active list.</a:t>
                </a:r>
              </a:p>
              <a:p>
                <a14:m>
                  <m:oMath xmlns:m="http://schemas.openxmlformats.org/officeDocument/2006/math">
                    <m:r>
                      <a:rPr lang="en-US" altLang="zh-TW" b="0" i="1" smtClean="0">
                        <a:latin typeface="Cambria Math"/>
                      </a:rPr>
                      <m:t>𝑖𝑓</m:t>
                    </m:r>
                    <m:r>
                      <a:rPr lang="en-US" altLang="zh-TW" b="0" i="1" smtClean="0">
                        <a:latin typeface="Cambria Math"/>
                      </a:rPr>
                      <m:t> </m:t>
                    </m:r>
                    <m:sSub>
                      <m:sSubPr>
                        <m:ctrlPr>
                          <a:rPr lang="en-US" altLang="zh-TW" b="0" i="1" smtClean="0">
                            <a:latin typeface="Cambria Math"/>
                          </a:rPr>
                        </m:ctrlPr>
                      </m:sSubPr>
                      <m:e>
                        <m:r>
                          <a:rPr lang="en-US" altLang="zh-TW" b="0" i="1" smtClean="0">
                            <a:latin typeface="Cambria Math"/>
                          </a:rPr>
                          <m:t>𝑝</m:t>
                        </m:r>
                      </m:e>
                      <m:sub>
                        <m:r>
                          <a:rPr lang="en-US" altLang="zh-TW" b="0" i="1" smtClean="0">
                            <a:latin typeface="Cambria Math"/>
                          </a:rPr>
                          <m:t>𝑖</m:t>
                        </m:r>
                        <m:r>
                          <a:rPr lang="en-US" altLang="zh-TW" b="0" i="1" smtClean="0">
                            <a:latin typeface="Cambria Math"/>
                          </a:rPr>
                          <m:t>+1</m:t>
                        </m:r>
                      </m:sub>
                    </m:sSub>
                    <m:r>
                      <a:rPr lang="en-US" altLang="zh-TW" b="0" i="1" smtClean="0">
                        <a:latin typeface="Cambria Math"/>
                        <a:ea typeface="Cambria Math"/>
                      </a:rPr>
                      <m:t>≠0,</m:t>
                    </m:r>
                  </m:oMath>
                </a14:m>
                <a:r>
                  <a:rPr lang="en-US" altLang="zh-TW" b="0" dirty="0" smtClean="0">
                    <a:ea typeface="Cambria Math"/>
                  </a:rPr>
                  <a:t> a substring β</a:t>
                </a:r>
                <a:r>
                  <a:rPr lang="en-US" altLang="zh-TW" b="0" dirty="0" err="1" smtClean="0">
                    <a:ea typeface="Cambria Math"/>
                  </a:rPr>
                  <a:t>i</a:t>
                </a:r>
                <a:endParaRPr lang="en-US" altLang="zh-TW" b="0" dirty="0" smtClean="0">
                  <a:ea typeface="Cambria Math"/>
                </a:endParaRPr>
              </a:p>
              <a:p>
                <a:pPr lvl="1"/>
                <a:r>
                  <a:rPr lang="el-GR" altLang="zh-TW" dirty="0" smtClean="0"/>
                  <a:t>β</a:t>
                </a:r>
                <a:r>
                  <a:rPr lang="en-US" altLang="zh-TW" dirty="0" err="1" smtClean="0"/>
                  <a:t>i</a:t>
                </a:r>
                <a:r>
                  <a:rPr lang="en-US" altLang="zh-TW" dirty="0" smtClean="0"/>
                  <a:t> is contained in the expansion of a single symbol.</a:t>
                </a:r>
                <a:br>
                  <a:rPr lang="en-US" altLang="zh-TW" dirty="0" smtClean="0"/>
                </a:br>
                <a:r>
                  <a:rPr lang="en-US" altLang="zh-TW" dirty="0" smtClean="0"/>
                  <a:t>use ADDSUBSTRING to gen symbol and </a:t>
                </a:r>
                <a:r>
                  <a:rPr lang="en-US" altLang="zh-TW" dirty="0" err="1" smtClean="0"/>
                  <a:t>appedd</a:t>
                </a:r>
                <a:endParaRPr lang="en-US" altLang="zh-TW" dirty="0" smtClean="0"/>
              </a:p>
              <a:p>
                <a:pPr lvl="1"/>
                <a:r>
                  <a:rPr lang="en-US" altLang="zh-TW" dirty="0" smtClean="0"/>
                  <a:t>Otherwise,…</a:t>
                </a:r>
                <a:endParaRPr lang="zh-TW" altLang="en-US" dirty="0"/>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a:stretch>
                  <a:fillRect l="-1630" t="-1752" r="-1259"/>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6885415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The Algorithm (2/2)</a:t>
            </a:r>
            <a:endParaRPr lang="zh-TW" altLang="en-US" dirty="0"/>
          </a:p>
        </p:txBody>
      </p:sp>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09018" y="1600200"/>
            <a:ext cx="4525963" cy="4525963"/>
          </a:xfrm>
        </p:spPr>
      </p:pic>
    </p:spTree>
    <p:extLst>
      <p:ext uri="{BB962C8B-B14F-4D97-AF65-F5344CB8AC3E}">
        <p14:creationId xmlns:p14="http://schemas.microsoft.com/office/powerpoint/2010/main" val="3558719026"/>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298</TotalTime>
  <Words>561</Words>
  <Application>Microsoft Office PowerPoint</Application>
  <PresentationFormat>如螢幕大小 (4:3)</PresentationFormat>
  <Paragraphs>45</Paragraphs>
  <Slides>13</Slides>
  <Notes>0</Notes>
  <HiddenSlides>0</HiddenSlides>
  <MMClips>0</MMClips>
  <ScaleCrop>false</ScaleCrop>
  <HeadingPairs>
    <vt:vector size="4" baseType="variant">
      <vt:variant>
        <vt:lpstr>佈景主題</vt:lpstr>
      </vt:variant>
      <vt:variant>
        <vt:i4>1</vt:i4>
      </vt:variant>
      <vt:variant>
        <vt:lpstr>投影片標題</vt:lpstr>
      </vt:variant>
      <vt:variant>
        <vt:i4>13</vt:i4>
      </vt:variant>
    </vt:vector>
  </HeadingPairs>
  <TitlesOfParts>
    <vt:vector size="14" baseType="lpstr">
      <vt:lpstr>Office 佈景主題</vt:lpstr>
      <vt:lpstr>Approximating the Smallest Grammar: Kolmogorov Complexity in Natural Models</vt:lpstr>
      <vt:lpstr>Abstract (1/2)</vt:lpstr>
      <vt:lpstr>Abstract (2/2)</vt:lpstr>
      <vt:lpstr>The Problem to Solve</vt:lpstr>
      <vt:lpstr>LZ77</vt:lpstr>
      <vt:lpstr>Definitions</vt:lpstr>
      <vt:lpstr>ADDPAIR</vt:lpstr>
      <vt:lpstr>ADDPAIR – Case 1</vt:lpstr>
      <vt:lpstr>ADDPAIR – Case 2</vt:lpstr>
      <vt:lpstr>ADDPAIR – Case 3</vt:lpstr>
      <vt:lpstr>All the 3 tools</vt:lpstr>
      <vt:lpstr>The Algorithm (1/1)</vt:lpstr>
      <vt:lpstr>The Algorithm (2/2)</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Approximating the Smallest Grammar: Kolmogorov Complexity in Natural Models</dc:title>
  <dc:creator>YiPo</dc:creator>
  <cp:lastModifiedBy>YiPo</cp:lastModifiedBy>
  <cp:revision>20</cp:revision>
  <dcterms:created xsi:type="dcterms:W3CDTF">2012-10-30T04:43:40Z</dcterms:created>
  <dcterms:modified xsi:type="dcterms:W3CDTF">2012-10-30T10:25:42Z</dcterms:modified>
</cp:coreProperties>
</file>