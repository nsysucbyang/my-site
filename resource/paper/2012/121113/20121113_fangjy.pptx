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7" r:id="rId4"/>
    <p:sldId id="259" r:id="rId5"/>
    <p:sldId id="260" r:id="rId6"/>
    <p:sldId id="262" r:id="rId7"/>
    <p:sldId id="263" r:id="rId8"/>
    <p:sldId id="269" r:id="rId9"/>
    <p:sldId id="268" r:id="rId10"/>
    <p:sldId id="267" r:id="rId11"/>
    <p:sldId id="265" r:id="rId12"/>
    <p:sldId id="266" r:id="rId13"/>
    <p:sldId id="261" r:id="rId14"/>
    <p:sldId id="264" r:id="rId15"/>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7" d="100"/>
          <a:sy n="87" d="100"/>
        </p:scale>
        <p:origin x="-78" y="-28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ABFB3296-705A-4264-BF48-F2AACB631E85}" type="datetimeFigureOut">
              <a:rPr lang="zh-TW" altLang="en-US" smtClean="0"/>
              <a:t>2012/11/13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AB7C5CA-F8C8-4844-A36B-1FC3AC1326B4}" type="slidenum">
              <a:rPr lang="zh-TW" altLang="en-US" smtClean="0"/>
              <a:t>‹#›</a:t>
            </a:fld>
            <a:endParaRPr lang="zh-TW" altLang="en-US"/>
          </a:p>
        </p:txBody>
      </p:sp>
    </p:spTree>
    <p:extLst>
      <p:ext uri="{BB962C8B-B14F-4D97-AF65-F5344CB8AC3E}">
        <p14:creationId xmlns:p14="http://schemas.microsoft.com/office/powerpoint/2010/main" val="29296474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ABFB3296-705A-4264-BF48-F2AACB631E85}" type="datetimeFigureOut">
              <a:rPr lang="zh-TW" altLang="en-US" smtClean="0"/>
              <a:t>2012/11/13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AB7C5CA-F8C8-4844-A36B-1FC3AC1326B4}" type="slidenum">
              <a:rPr lang="zh-TW" altLang="en-US" smtClean="0"/>
              <a:t>‹#›</a:t>
            </a:fld>
            <a:endParaRPr lang="zh-TW" altLang="en-US"/>
          </a:p>
        </p:txBody>
      </p:sp>
    </p:spTree>
    <p:extLst>
      <p:ext uri="{BB962C8B-B14F-4D97-AF65-F5344CB8AC3E}">
        <p14:creationId xmlns:p14="http://schemas.microsoft.com/office/powerpoint/2010/main" val="26412164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ABFB3296-705A-4264-BF48-F2AACB631E85}" type="datetimeFigureOut">
              <a:rPr lang="zh-TW" altLang="en-US" smtClean="0"/>
              <a:t>2012/11/13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AB7C5CA-F8C8-4844-A36B-1FC3AC1326B4}" type="slidenum">
              <a:rPr lang="zh-TW" altLang="en-US" smtClean="0"/>
              <a:t>‹#›</a:t>
            </a:fld>
            <a:endParaRPr lang="zh-TW" altLang="en-US"/>
          </a:p>
        </p:txBody>
      </p:sp>
    </p:spTree>
    <p:extLst>
      <p:ext uri="{BB962C8B-B14F-4D97-AF65-F5344CB8AC3E}">
        <p14:creationId xmlns:p14="http://schemas.microsoft.com/office/powerpoint/2010/main" val="2539762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ABFB3296-705A-4264-BF48-F2AACB631E85}" type="datetimeFigureOut">
              <a:rPr lang="zh-TW" altLang="en-US" smtClean="0"/>
              <a:t>2012/11/13</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AB7C5CA-F8C8-4844-A36B-1FC3AC1326B4}" type="slidenum">
              <a:rPr lang="zh-TW" altLang="en-US" smtClean="0"/>
              <a:t>‹#›</a:t>
            </a:fld>
            <a:endParaRPr lang="zh-TW" altLang="en-US"/>
          </a:p>
        </p:txBody>
      </p:sp>
    </p:spTree>
    <p:extLst>
      <p:ext uri="{BB962C8B-B14F-4D97-AF65-F5344CB8AC3E}">
        <p14:creationId xmlns:p14="http://schemas.microsoft.com/office/powerpoint/2010/main" val="38157285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ABFB3296-705A-4264-BF48-F2AACB631E85}" type="datetimeFigureOut">
              <a:rPr lang="zh-TW" altLang="en-US" smtClean="0"/>
              <a:t>2012/11/13</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7AB7C5CA-F8C8-4844-A36B-1FC3AC1326B4}" type="slidenum">
              <a:rPr lang="zh-TW" altLang="en-US" smtClean="0"/>
              <a:t>‹#›</a:t>
            </a:fld>
            <a:endParaRPr lang="zh-TW" altLang="en-US"/>
          </a:p>
        </p:txBody>
      </p:sp>
    </p:spTree>
    <p:extLst>
      <p:ext uri="{BB962C8B-B14F-4D97-AF65-F5344CB8AC3E}">
        <p14:creationId xmlns:p14="http://schemas.microsoft.com/office/powerpoint/2010/main" val="34223559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ABFB3296-705A-4264-BF48-F2AACB631E85}" type="datetimeFigureOut">
              <a:rPr lang="zh-TW" altLang="en-US" smtClean="0"/>
              <a:t>2012/11/13</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7AB7C5CA-F8C8-4844-A36B-1FC3AC1326B4}" type="slidenum">
              <a:rPr lang="zh-TW" altLang="en-US" smtClean="0"/>
              <a:t>‹#›</a:t>
            </a:fld>
            <a:endParaRPr lang="zh-TW" altLang="en-US"/>
          </a:p>
        </p:txBody>
      </p:sp>
    </p:spTree>
    <p:extLst>
      <p:ext uri="{BB962C8B-B14F-4D97-AF65-F5344CB8AC3E}">
        <p14:creationId xmlns:p14="http://schemas.microsoft.com/office/powerpoint/2010/main" val="29439329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ABFB3296-705A-4264-BF48-F2AACB631E85}" type="datetimeFigureOut">
              <a:rPr lang="zh-TW" altLang="en-US" smtClean="0"/>
              <a:t>2012/11/13</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7AB7C5CA-F8C8-4844-A36B-1FC3AC1326B4}" type="slidenum">
              <a:rPr lang="zh-TW" altLang="en-US" smtClean="0"/>
              <a:t>‹#›</a:t>
            </a:fld>
            <a:endParaRPr lang="zh-TW" altLang="en-US"/>
          </a:p>
        </p:txBody>
      </p:sp>
    </p:spTree>
    <p:extLst>
      <p:ext uri="{BB962C8B-B14F-4D97-AF65-F5344CB8AC3E}">
        <p14:creationId xmlns:p14="http://schemas.microsoft.com/office/powerpoint/2010/main" val="8425014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ABFB3296-705A-4264-BF48-F2AACB631E85}" type="datetimeFigureOut">
              <a:rPr lang="zh-TW" altLang="en-US" smtClean="0"/>
              <a:t>2012/11/13</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AB7C5CA-F8C8-4844-A36B-1FC3AC1326B4}" type="slidenum">
              <a:rPr lang="zh-TW" altLang="en-US" smtClean="0"/>
              <a:t>‹#›</a:t>
            </a:fld>
            <a:endParaRPr lang="zh-TW" altLang="en-US"/>
          </a:p>
        </p:txBody>
      </p:sp>
    </p:spTree>
    <p:extLst>
      <p:ext uri="{BB962C8B-B14F-4D97-AF65-F5344CB8AC3E}">
        <p14:creationId xmlns:p14="http://schemas.microsoft.com/office/powerpoint/2010/main" val="9596176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ABFB3296-705A-4264-BF48-F2AACB631E85}" type="datetimeFigureOut">
              <a:rPr lang="zh-TW" altLang="en-US" smtClean="0"/>
              <a:t>2012/11/13</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AB7C5CA-F8C8-4844-A36B-1FC3AC1326B4}" type="slidenum">
              <a:rPr lang="zh-TW" altLang="en-US" smtClean="0"/>
              <a:t>‹#›</a:t>
            </a:fld>
            <a:endParaRPr lang="zh-TW" altLang="en-US"/>
          </a:p>
        </p:txBody>
      </p:sp>
    </p:spTree>
    <p:extLst>
      <p:ext uri="{BB962C8B-B14F-4D97-AF65-F5344CB8AC3E}">
        <p14:creationId xmlns:p14="http://schemas.microsoft.com/office/powerpoint/2010/main" val="29151136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ABFB3296-705A-4264-BF48-F2AACB631E85}" type="datetimeFigureOut">
              <a:rPr lang="zh-TW" altLang="en-US" smtClean="0"/>
              <a:t>2012/11/13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AB7C5CA-F8C8-4844-A36B-1FC3AC1326B4}" type="slidenum">
              <a:rPr lang="zh-TW" altLang="en-US" smtClean="0"/>
              <a:t>‹#›</a:t>
            </a:fld>
            <a:endParaRPr lang="zh-TW" altLang="en-US"/>
          </a:p>
        </p:txBody>
      </p:sp>
    </p:spTree>
    <p:extLst>
      <p:ext uri="{BB962C8B-B14F-4D97-AF65-F5344CB8AC3E}">
        <p14:creationId xmlns:p14="http://schemas.microsoft.com/office/powerpoint/2010/main" val="5419308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ABFB3296-705A-4264-BF48-F2AACB631E85}" type="datetimeFigureOut">
              <a:rPr lang="zh-TW" altLang="en-US" smtClean="0"/>
              <a:t>2012/11/13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AB7C5CA-F8C8-4844-A36B-1FC3AC1326B4}" type="slidenum">
              <a:rPr lang="zh-TW" altLang="en-US" smtClean="0"/>
              <a:t>‹#›</a:t>
            </a:fld>
            <a:endParaRPr lang="zh-TW" altLang="en-US"/>
          </a:p>
        </p:txBody>
      </p:sp>
    </p:spTree>
    <p:extLst>
      <p:ext uri="{BB962C8B-B14F-4D97-AF65-F5344CB8AC3E}">
        <p14:creationId xmlns:p14="http://schemas.microsoft.com/office/powerpoint/2010/main" val="32109018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BFB3296-705A-4264-BF48-F2AACB631E85}" type="datetimeFigureOut">
              <a:rPr lang="zh-TW" altLang="en-US" smtClean="0"/>
              <a:t>2012/11/13</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AB7C5CA-F8C8-4844-A36B-1FC3AC1326B4}" type="slidenum">
              <a:rPr lang="zh-TW" altLang="en-US" smtClean="0"/>
              <a:t>‹#›</a:t>
            </a:fld>
            <a:endParaRPr lang="zh-TW" altLang="en-US"/>
          </a:p>
        </p:txBody>
      </p:sp>
    </p:spTree>
    <p:extLst>
      <p:ext uri="{BB962C8B-B14F-4D97-AF65-F5344CB8AC3E}">
        <p14:creationId xmlns:p14="http://schemas.microsoft.com/office/powerpoint/2010/main" val="3581462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683568" y="1628800"/>
            <a:ext cx="7772400" cy="1470025"/>
          </a:xfrm>
        </p:spPr>
        <p:txBody>
          <a:bodyPr>
            <a:normAutofit fontScale="90000"/>
          </a:bodyPr>
          <a:lstStyle/>
          <a:p>
            <a:r>
              <a:rPr lang="en-US" altLang="zh-TW" b="1" dirty="0" smtClean="0">
                <a:effectLst/>
              </a:rPr>
              <a:t>Improved algorithms for the </a:t>
            </a:r>
            <a:r>
              <a:rPr lang="en-US" altLang="zh-TW" b="1" i="1" dirty="0" smtClean="0">
                <a:effectLst/>
              </a:rPr>
              <a:t>K</a:t>
            </a:r>
            <a:r>
              <a:rPr lang="en-US" altLang="zh-TW" b="1" dirty="0" smtClean="0">
                <a:effectLst/>
              </a:rPr>
              <a:t> overlapping maximum convex sum problem</a:t>
            </a:r>
            <a:endParaRPr lang="zh-TW" altLang="en-US" dirty="0"/>
          </a:p>
        </p:txBody>
      </p:sp>
      <p:sp>
        <p:nvSpPr>
          <p:cNvPr id="3" name="副標題 2"/>
          <p:cNvSpPr>
            <a:spLocks noGrp="1"/>
          </p:cNvSpPr>
          <p:nvPr>
            <p:ph type="subTitle" idx="1"/>
          </p:nvPr>
        </p:nvSpPr>
        <p:spPr>
          <a:xfrm>
            <a:off x="1331640" y="3573016"/>
            <a:ext cx="6400800" cy="1752600"/>
          </a:xfrm>
        </p:spPr>
        <p:txBody>
          <a:bodyPr>
            <a:normAutofit fontScale="47500" lnSpcReduction="20000"/>
          </a:bodyPr>
          <a:lstStyle/>
          <a:p>
            <a:r>
              <a:rPr lang="en-US" altLang="zh-TW" dirty="0" smtClean="0">
                <a:solidFill>
                  <a:schemeClr val="tx1"/>
                </a:solidFill>
                <a:effectLst/>
              </a:rPr>
              <a:t>Mohammed </a:t>
            </a:r>
            <a:r>
              <a:rPr lang="en-US" altLang="zh-TW" dirty="0" err="1" smtClean="0">
                <a:solidFill>
                  <a:schemeClr val="tx1"/>
                </a:solidFill>
                <a:effectLst/>
              </a:rPr>
              <a:t>Thaher</a:t>
            </a:r>
            <a:r>
              <a:rPr lang="en-US" altLang="zh-TW" dirty="0" smtClean="0">
                <a:solidFill>
                  <a:schemeClr val="tx1"/>
                </a:solidFill>
                <a:effectLst/>
              </a:rPr>
              <a:t>,  </a:t>
            </a:r>
            <a:r>
              <a:rPr lang="en-US" altLang="zh-TW" dirty="0" err="1" smtClean="0">
                <a:solidFill>
                  <a:schemeClr val="tx1"/>
                </a:solidFill>
                <a:effectLst/>
              </a:rPr>
              <a:t>Tadao</a:t>
            </a:r>
            <a:r>
              <a:rPr lang="en-US" altLang="zh-TW" dirty="0" smtClean="0">
                <a:solidFill>
                  <a:schemeClr val="tx1"/>
                </a:solidFill>
                <a:effectLst/>
              </a:rPr>
              <a:t> Takaoka</a:t>
            </a:r>
          </a:p>
          <a:p>
            <a:endParaRPr lang="en-US" altLang="zh-TW" dirty="0" smtClean="0">
              <a:solidFill>
                <a:schemeClr val="tx1"/>
              </a:solidFill>
              <a:effectLst/>
            </a:endParaRPr>
          </a:p>
          <a:p>
            <a:r>
              <a:rPr lang="en-US" altLang="zh-TW" dirty="0" err="1" smtClean="0">
                <a:solidFill>
                  <a:schemeClr val="tx1"/>
                </a:solidFill>
                <a:effectLst/>
              </a:rPr>
              <a:t>Procedia</a:t>
            </a:r>
            <a:r>
              <a:rPr lang="en-US" altLang="zh-TW" dirty="0" smtClean="0">
                <a:solidFill>
                  <a:schemeClr val="tx1"/>
                </a:solidFill>
                <a:effectLst/>
              </a:rPr>
              <a:t> Computer Science</a:t>
            </a:r>
          </a:p>
          <a:p>
            <a:r>
              <a:rPr lang="en-US" altLang="zh-TW" dirty="0" smtClean="0">
                <a:solidFill>
                  <a:schemeClr val="tx1"/>
                </a:solidFill>
                <a:effectLst/>
              </a:rPr>
              <a:t>Volume 9, 2012, Pages 754–763</a:t>
            </a:r>
          </a:p>
          <a:p>
            <a:endParaRPr lang="en-US" altLang="zh-TW" dirty="0" smtClean="0">
              <a:solidFill>
                <a:schemeClr val="tx1"/>
              </a:solidFill>
              <a:effectLst/>
            </a:endParaRPr>
          </a:p>
          <a:p>
            <a:r>
              <a:rPr lang="en-US" altLang="zh-TW" dirty="0" smtClean="0">
                <a:solidFill>
                  <a:schemeClr val="tx1"/>
                </a:solidFill>
                <a:effectLst/>
              </a:rPr>
              <a:t>Department of Computer Science and Software Engineering, University of Canterbury, Christchurch 8140, New Zealand</a:t>
            </a:r>
          </a:p>
          <a:p>
            <a:endParaRPr lang="en-US" altLang="zh-TW" dirty="0" smtClean="0">
              <a:effectLst/>
            </a:endParaRPr>
          </a:p>
          <a:p>
            <a:endParaRPr lang="zh-TW" altLang="en-US" dirty="0"/>
          </a:p>
        </p:txBody>
      </p:sp>
      <p:sp>
        <p:nvSpPr>
          <p:cNvPr id="4" name="文字方塊 3"/>
          <p:cNvSpPr txBox="1"/>
          <p:nvPr/>
        </p:nvSpPr>
        <p:spPr>
          <a:xfrm>
            <a:off x="5796136" y="6021288"/>
            <a:ext cx="1656184" cy="369332"/>
          </a:xfrm>
          <a:prstGeom prst="rect">
            <a:avLst/>
          </a:prstGeom>
          <a:noFill/>
        </p:spPr>
        <p:txBody>
          <a:bodyPr wrap="square" rtlCol="0">
            <a:spAutoFit/>
          </a:bodyPr>
          <a:lstStyle/>
          <a:p>
            <a:endParaRPr lang="zh-TW" altLang="en-US" dirty="0"/>
          </a:p>
        </p:txBody>
      </p:sp>
      <p:sp>
        <p:nvSpPr>
          <p:cNvPr id="5" name="Text Box 4"/>
          <p:cNvSpPr txBox="1">
            <a:spLocks noChangeArrowheads="1"/>
          </p:cNvSpPr>
          <p:nvPr/>
        </p:nvSpPr>
        <p:spPr bwMode="auto">
          <a:xfrm>
            <a:off x="5364088" y="5805264"/>
            <a:ext cx="36004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0" lang="en-US" altLang="zh-TW" dirty="0">
                <a:latin typeface="Times New Roman" pitchFamily="18" charset="0"/>
              </a:rPr>
              <a:t>Presenter: </a:t>
            </a:r>
            <a:r>
              <a:rPr lang="zh-TW" altLang="en-US" dirty="0">
                <a:latin typeface="Times New Roman" pitchFamily="18" charset="0"/>
              </a:rPr>
              <a:t>方鈞毅</a:t>
            </a:r>
            <a:endParaRPr kumimoji="0" lang="en-US" altLang="zh-TW" dirty="0">
              <a:latin typeface="Times New Roman" pitchFamily="18" charset="0"/>
            </a:endParaRPr>
          </a:p>
          <a:p>
            <a:r>
              <a:rPr kumimoji="0" lang="en-US" altLang="zh-TW" dirty="0">
                <a:latin typeface="Times New Roman" pitchFamily="18" charset="0"/>
              </a:rPr>
              <a:t>Date: </a:t>
            </a:r>
            <a:r>
              <a:rPr kumimoji="0" lang="en-US" altLang="zh-TW" dirty="0" smtClean="0">
                <a:latin typeface="Times New Roman" pitchFamily="18" charset="0"/>
              </a:rPr>
              <a:t>Oct. 09, 2012</a:t>
            </a:r>
            <a:endParaRPr kumimoji="0" lang="en-US" altLang="zh-TW" dirty="0">
              <a:latin typeface="Times New Roman" pitchFamily="18" charset="0"/>
            </a:endParaRPr>
          </a:p>
        </p:txBody>
      </p:sp>
    </p:spTree>
    <p:extLst>
      <p:ext uri="{BB962C8B-B14F-4D97-AF65-F5344CB8AC3E}">
        <p14:creationId xmlns:p14="http://schemas.microsoft.com/office/powerpoint/2010/main" val="83575441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itchFamily="18" charset="0"/>
              </a:rPr>
              <a:t>Abstract</a:t>
            </a:r>
            <a:endParaRPr lang="zh-TW" altLang="en-US" dirty="0"/>
          </a:p>
        </p:txBody>
      </p:sp>
      <p:sp>
        <p:nvSpPr>
          <p:cNvPr id="3" name="內容版面配置區 2"/>
          <p:cNvSpPr>
            <a:spLocks noGrp="1"/>
          </p:cNvSpPr>
          <p:nvPr>
            <p:ph idx="1"/>
          </p:nvPr>
        </p:nvSpPr>
        <p:spPr/>
        <p:txBody>
          <a:bodyPr>
            <a:normAutofit fontScale="85000" lnSpcReduction="20000"/>
          </a:bodyPr>
          <a:lstStyle/>
          <a:p>
            <a:r>
              <a:rPr lang="en-US" altLang="zh-TW" dirty="0"/>
              <a:t>This paper presents efficient algorithms that improve the time complexity of the </a:t>
            </a:r>
            <a:r>
              <a:rPr lang="en-US" altLang="zh-TW" i="1" dirty="0"/>
              <a:t>K-Overlapping Maximum Convex Sum Problem </a:t>
            </a:r>
            <a:r>
              <a:rPr lang="en-US" altLang="zh-TW" dirty="0"/>
              <a:t>(</a:t>
            </a:r>
            <a:r>
              <a:rPr lang="en-US" altLang="zh-TW" i="1" dirty="0"/>
              <a:t>K-OMCSP</a:t>
            </a:r>
            <a:r>
              <a:rPr lang="en-US" altLang="zh-TW" dirty="0"/>
              <a:t>).</a:t>
            </a:r>
          </a:p>
          <a:p>
            <a:r>
              <a:rPr lang="en-US" altLang="zh-TW" dirty="0"/>
              <a:t>Previous research has solved this problem by using the </a:t>
            </a:r>
            <a:r>
              <a:rPr lang="en-US" altLang="zh-TW" i="1" dirty="0"/>
              <a:t>K-tuples </a:t>
            </a:r>
            <a:r>
              <a:rPr lang="en-US" altLang="zh-TW" dirty="0"/>
              <a:t>approach in a time complexity </a:t>
            </a:r>
            <a:r>
              <a:rPr lang="en-US" altLang="zh-TW" dirty="0" smtClean="0"/>
              <a:t>of O(Kn^3).</a:t>
            </a:r>
            <a:r>
              <a:rPr lang="en-US" altLang="zh-TW" dirty="0"/>
              <a:t> </a:t>
            </a:r>
            <a:endParaRPr lang="en-US" altLang="zh-TW" dirty="0" smtClean="0"/>
          </a:p>
          <a:p>
            <a:r>
              <a:rPr lang="en-US" altLang="zh-TW" dirty="0" smtClean="0"/>
              <a:t>In </a:t>
            </a:r>
            <a:r>
              <a:rPr lang="en-US" altLang="zh-TW" dirty="0"/>
              <a:t>this paper, efficient </a:t>
            </a:r>
            <a:r>
              <a:rPr lang="en-US" altLang="zh-TW" dirty="0" smtClean="0"/>
              <a:t>algorithms based </a:t>
            </a:r>
            <a:r>
              <a:rPr lang="en-US" altLang="zh-TW" dirty="0"/>
              <a:t>on dynamic programming are derived to improve the time complexity for the overlapping case. The algorithms find the first, second </a:t>
            </a:r>
            <a:r>
              <a:rPr lang="en-US" altLang="zh-TW" dirty="0" smtClean="0"/>
              <a:t>and third </a:t>
            </a:r>
            <a:r>
              <a:rPr lang="en-US" altLang="zh-TW" dirty="0"/>
              <a:t>maximum convex sum, and up to </a:t>
            </a:r>
            <a:r>
              <a:rPr lang="en-US" altLang="zh-TW" dirty="0" smtClean="0"/>
              <a:t>the K-</a:t>
            </a:r>
            <a:r>
              <a:rPr lang="en-US" altLang="zh-TW" dirty="0" err="1" smtClean="0"/>
              <a:t>th</a:t>
            </a:r>
            <a:r>
              <a:rPr lang="en-US" altLang="zh-TW" dirty="0" smtClean="0"/>
              <a:t> </a:t>
            </a:r>
            <a:r>
              <a:rPr lang="en-US" altLang="zh-TW" dirty="0"/>
              <a:t>maximum convex sum in the time complexity of </a:t>
            </a:r>
            <a:r>
              <a:rPr lang="en-US" altLang="zh-TW" i="1" dirty="0"/>
              <a:t>O</a:t>
            </a:r>
            <a:r>
              <a:rPr lang="en-US" altLang="zh-TW" i="1" dirty="0" smtClean="0"/>
              <a:t>( n^3 + Kn^2 )</a:t>
            </a:r>
            <a:r>
              <a:rPr lang="en-US" altLang="zh-TW" dirty="0"/>
              <a:t> applying a new method which </a:t>
            </a:r>
            <a:r>
              <a:rPr lang="en-US" altLang="zh-TW" dirty="0" smtClean="0"/>
              <a:t>we call </a:t>
            </a:r>
            <a:r>
              <a:rPr lang="en-US" altLang="zh-TW" i="1" dirty="0"/>
              <a:t>Active Trace Overlapping-Shape </a:t>
            </a:r>
            <a:r>
              <a:rPr lang="en-US" altLang="zh-TW" dirty="0"/>
              <a:t>(</a:t>
            </a:r>
            <a:r>
              <a:rPr lang="en-US" altLang="zh-TW" i="1" dirty="0"/>
              <a:t>ATOS</a:t>
            </a:r>
            <a:r>
              <a:rPr lang="en-US" altLang="zh-TW" dirty="0"/>
              <a:t>). </a:t>
            </a:r>
          </a:p>
        </p:txBody>
      </p:sp>
    </p:spTree>
    <p:extLst>
      <p:ext uri="{BB962C8B-B14F-4D97-AF65-F5344CB8AC3E}">
        <p14:creationId xmlns:p14="http://schemas.microsoft.com/office/powerpoint/2010/main" val="65275791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itchFamily="18" charset="0"/>
              </a:rPr>
              <a:t>Abstract</a:t>
            </a:r>
            <a:endParaRPr lang="zh-TW" altLang="en-US" dirty="0"/>
          </a:p>
        </p:txBody>
      </p:sp>
      <p:sp>
        <p:nvSpPr>
          <p:cNvPr id="3" name="內容版面配置區 2"/>
          <p:cNvSpPr>
            <a:spLocks noGrp="1"/>
          </p:cNvSpPr>
          <p:nvPr>
            <p:ph idx="1"/>
          </p:nvPr>
        </p:nvSpPr>
        <p:spPr>
          <a:xfrm>
            <a:off x="457200" y="1600201"/>
            <a:ext cx="8229600" cy="2332855"/>
          </a:xfrm>
        </p:spPr>
        <p:txBody>
          <a:bodyPr>
            <a:normAutofit fontScale="92500" lnSpcReduction="10000"/>
          </a:bodyPr>
          <a:lstStyle/>
          <a:p>
            <a:r>
              <a:rPr lang="en-US" altLang="zh-TW" sz="2900" dirty="0" smtClean="0"/>
              <a:t>In addition, efficient techniques have been developed for designing and implementing the derived algorithms. Moreover, experiments performed to compare the running time for the two methods. The experiments showed that the running time of </a:t>
            </a:r>
            <a:r>
              <a:rPr lang="en-US" altLang="zh-TW" sz="2900" i="1" dirty="0" smtClean="0"/>
              <a:t>ATOS </a:t>
            </a:r>
            <a:r>
              <a:rPr lang="en-US" altLang="zh-TW" sz="2900" dirty="0" smtClean="0"/>
              <a:t>was faster than the </a:t>
            </a:r>
            <a:r>
              <a:rPr lang="en-US" altLang="zh-TW" sz="2900" i="1" dirty="0" smtClean="0"/>
              <a:t>K-tuples.</a:t>
            </a:r>
            <a:endParaRPr lang="zh-TW" altLang="en-US" sz="2900" dirty="0" smtClean="0"/>
          </a:p>
          <a:p>
            <a:endParaRPr lang="zh-TW" altLang="en-US" dirty="0"/>
          </a:p>
        </p:txBody>
      </p:sp>
    </p:spTree>
    <p:extLst>
      <p:ext uri="{BB962C8B-B14F-4D97-AF65-F5344CB8AC3E}">
        <p14:creationId xmlns:p14="http://schemas.microsoft.com/office/powerpoint/2010/main" val="413645803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i="1" dirty="0"/>
              <a:t>Maximum </a:t>
            </a:r>
            <a:r>
              <a:rPr lang="en-US" altLang="zh-TW" i="1" dirty="0" err="1"/>
              <a:t>Subarray</a:t>
            </a:r>
            <a:r>
              <a:rPr lang="en-US" altLang="zh-TW" i="1" dirty="0"/>
              <a:t> </a:t>
            </a:r>
            <a:r>
              <a:rPr lang="en-US" altLang="zh-TW" i="1" dirty="0" smtClean="0"/>
              <a:t>Problem(MSP)</a:t>
            </a:r>
            <a:endParaRPr lang="zh-TW" altLang="en-US" dirty="0"/>
          </a:p>
        </p:txBody>
      </p:sp>
      <p:sp>
        <p:nvSpPr>
          <p:cNvPr id="3" name="內容版面配置區 2"/>
          <p:cNvSpPr>
            <a:spLocks noGrp="1"/>
          </p:cNvSpPr>
          <p:nvPr>
            <p:ph idx="1"/>
          </p:nvPr>
        </p:nvSpPr>
        <p:spPr/>
        <p:txBody>
          <a:bodyPr/>
          <a:lstStyle/>
          <a:p>
            <a:r>
              <a:rPr lang="en-US" altLang="zh-TW" dirty="0" smtClean="0"/>
              <a:t>Find the maximum </a:t>
            </a:r>
            <a:r>
              <a:rPr lang="en-US" altLang="zh-TW" dirty="0" err="1" smtClean="0"/>
              <a:t>subarray</a:t>
            </a:r>
            <a:r>
              <a:rPr lang="en-US" altLang="zh-TW" dirty="0" smtClean="0"/>
              <a:t> in a given array</a:t>
            </a:r>
          </a:p>
          <a:p>
            <a:pPr lvl="1"/>
            <a:r>
              <a:rPr lang="en-US" altLang="zh-TW" dirty="0" smtClean="0"/>
              <a:t>1D array</a:t>
            </a:r>
          </a:p>
          <a:p>
            <a:endParaRPr lang="en-US" altLang="zh-TW" dirty="0" smtClean="0"/>
          </a:p>
          <a:p>
            <a:pPr lvl="1"/>
            <a:r>
              <a:rPr lang="en-US" altLang="zh-TW" dirty="0" smtClean="0"/>
              <a:t>2D array</a:t>
            </a:r>
          </a:p>
          <a:p>
            <a:pPr lvl="2"/>
            <a:r>
              <a:rPr lang="en-US" altLang="zh-TW" dirty="0" smtClean="0"/>
              <a:t>Find a </a:t>
            </a:r>
            <a:r>
              <a:rPr lang="en-US" altLang="zh-TW" i="1" dirty="0" smtClean="0"/>
              <a:t>rectangular regions</a:t>
            </a:r>
            <a:r>
              <a:rPr lang="en-US" altLang="zh-TW" dirty="0" smtClean="0"/>
              <a:t> of a given m × n array of real numbers , which has the maximal sum .</a:t>
            </a:r>
          </a:p>
          <a:p>
            <a:endParaRPr lang="zh-TW" altLang="en-US" dirty="0"/>
          </a:p>
        </p:txBody>
      </p:sp>
      <p:pic>
        <p:nvPicPr>
          <p:cNvPr id="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1506" y="2645960"/>
            <a:ext cx="5405644" cy="659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35429" y="4672640"/>
            <a:ext cx="3240360" cy="14971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48064" y="5725432"/>
            <a:ext cx="3142109" cy="428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8751748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pt-BR" altLang="zh-TW" i="1" dirty="0"/>
              <a:t>Maximum Convex Sum Problem (MCSP</a:t>
            </a:r>
            <a:r>
              <a:rPr lang="pt-BR" altLang="zh-TW" i="1" dirty="0" smtClean="0"/>
              <a:t>)</a:t>
            </a:r>
            <a:endParaRPr lang="zh-TW" altLang="en-US" dirty="0"/>
          </a:p>
        </p:txBody>
      </p:sp>
      <p:sp>
        <p:nvSpPr>
          <p:cNvPr id="3" name="內容版面配置區 2"/>
          <p:cNvSpPr>
            <a:spLocks noGrp="1"/>
          </p:cNvSpPr>
          <p:nvPr>
            <p:ph idx="1"/>
          </p:nvPr>
        </p:nvSpPr>
        <p:spPr/>
        <p:txBody>
          <a:bodyPr/>
          <a:lstStyle/>
          <a:p>
            <a:r>
              <a:rPr lang="en-US" altLang="zh-TW" dirty="0" smtClean="0"/>
              <a:t>MCSP is to use a </a:t>
            </a:r>
            <a:r>
              <a:rPr lang="en-US" altLang="zh-TW" i="1" dirty="0"/>
              <a:t>convex </a:t>
            </a:r>
            <a:r>
              <a:rPr lang="en-US" altLang="zh-TW" i="1" dirty="0" smtClean="0"/>
              <a:t>shape</a:t>
            </a:r>
            <a:r>
              <a:rPr lang="en-US" altLang="zh-TW" dirty="0" smtClean="0"/>
              <a:t> instead the previous </a:t>
            </a:r>
            <a:r>
              <a:rPr lang="en-US" altLang="zh-TW" i="1" dirty="0"/>
              <a:t>rectangular </a:t>
            </a:r>
            <a:r>
              <a:rPr lang="en-US" altLang="zh-TW" i="1" dirty="0" smtClean="0"/>
              <a:t>shape(MSP)</a:t>
            </a:r>
          </a:p>
          <a:p>
            <a:pPr lvl="1"/>
            <a:r>
              <a:rPr lang="en-US" altLang="zh-TW" i="1" dirty="0" smtClean="0"/>
              <a:t>convex shape is the combine of W ship and N ship here. </a:t>
            </a:r>
            <a:endParaRPr lang="zh-TW" altLang="en-US" i="1" dirty="0"/>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2148" y="5733256"/>
            <a:ext cx="7956376"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9632" y="3501008"/>
            <a:ext cx="2895600" cy="197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0336" y="3517269"/>
            <a:ext cx="3133725" cy="1933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2807618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i="1" dirty="0" smtClean="0">
                <a:effectLst/>
              </a:rPr>
              <a:t>K</a:t>
            </a:r>
            <a:r>
              <a:rPr lang="en-US" altLang="zh-TW" dirty="0"/>
              <a:t>-</a:t>
            </a:r>
            <a:r>
              <a:rPr lang="en-US" altLang="zh-TW" i="1" dirty="0" smtClean="0"/>
              <a:t>O</a:t>
            </a:r>
            <a:r>
              <a:rPr lang="en-US" altLang="zh-TW" i="1" dirty="0" smtClean="0">
                <a:effectLst/>
              </a:rPr>
              <a:t>verlapping</a:t>
            </a:r>
            <a:r>
              <a:rPr lang="en-US" altLang="zh-TW" dirty="0" smtClean="0">
                <a:effectLst/>
              </a:rPr>
              <a:t> </a:t>
            </a:r>
            <a:r>
              <a:rPr lang="pt-BR" altLang="zh-TW" i="1" dirty="0" smtClean="0"/>
              <a:t>MCSP(K-OMCSP)</a:t>
            </a:r>
            <a:endParaRPr lang="zh-TW" altLang="en-US" dirty="0"/>
          </a:p>
        </p:txBody>
      </p:sp>
      <p:sp>
        <p:nvSpPr>
          <p:cNvPr id="3" name="內容版面配置區 2"/>
          <p:cNvSpPr>
            <a:spLocks noGrp="1"/>
          </p:cNvSpPr>
          <p:nvPr>
            <p:ph idx="1"/>
          </p:nvPr>
        </p:nvSpPr>
        <p:spPr/>
        <p:txBody>
          <a:bodyPr/>
          <a:lstStyle/>
          <a:p>
            <a:endParaRPr lang="zh-TW" altLang="en-US"/>
          </a:p>
        </p:txBody>
      </p:sp>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5616" y="1458888"/>
            <a:ext cx="6728662" cy="35634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031" y="5157192"/>
            <a:ext cx="8924925" cy="219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7305649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Meaning of the Three </a:t>
            </a:r>
            <a:r>
              <a:rPr lang="en-US" altLang="zh-TW" dirty="0"/>
              <a:t>C</a:t>
            </a:r>
            <a:r>
              <a:rPr lang="en-US" altLang="zh-TW" dirty="0" smtClean="0"/>
              <a:t>ase</a:t>
            </a:r>
            <a:endParaRPr lang="zh-TW" altLang="en-US" dirty="0"/>
          </a:p>
        </p:txBody>
      </p:sp>
      <p:sp>
        <p:nvSpPr>
          <p:cNvPr id="3" name="內容版面配置區 2"/>
          <p:cNvSpPr>
            <a:spLocks noGrp="1"/>
          </p:cNvSpPr>
          <p:nvPr>
            <p:ph idx="1"/>
          </p:nvPr>
        </p:nvSpPr>
        <p:spPr/>
        <p:txBody>
          <a:bodyPr/>
          <a:lstStyle/>
          <a:p>
            <a:endParaRPr lang="zh-TW" altLang="en-US"/>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7704" y="1772816"/>
            <a:ext cx="5400675"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2586145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pt-BR" altLang="zh-TW" i="1" dirty="0" smtClean="0"/>
              <a:t>How to Find K-OMCSP</a:t>
            </a:r>
            <a:endParaRPr lang="zh-TW" altLang="en-US" dirty="0"/>
          </a:p>
        </p:txBody>
      </p:sp>
      <p:sp>
        <p:nvSpPr>
          <p:cNvPr id="3" name="內容版面配置區 2"/>
          <p:cNvSpPr>
            <a:spLocks noGrp="1"/>
          </p:cNvSpPr>
          <p:nvPr>
            <p:ph idx="1"/>
          </p:nvPr>
        </p:nvSpPr>
        <p:spPr/>
        <p:txBody>
          <a:bodyPr>
            <a:normAutofit fontScale="92500" lnSpcReduction="10000"/>
          </a:bodyPr>
          <a:lstStyle/>
          <a:p>
            <a:pPr marL="0" indent="0">
              <a:buNone/>
            </a:pPr>
            <a:endParaRPr lang="en-US" altLang="zh-TW" dirty="0" smtClean="0"/>
          </a:p>
          <a:p>
            <a:r>
              <a:rPr lang="en-US" altLang="zh-TW" dirty="0" smtClean="0"/>
              <a:t>Find the first convex shape and record the anchor column</a:t>
            </a:r>
          </a:p>
          <a:p>
            <a:r>
              <a:rPr lang="en-US" altLang="zh-TW" dirty="0" smtClean="0"/>
              <a:t>Build a tournament tree and trace back the winner path </a:t>
            </a:r>
          </a:p>
          <a:p>
            <a:r>
              <a:rPr lang="en-US" altLang="zh-TW" dirty="0" smtClean="0"/>
              <a:t>Set negative infinite to the bottom of the winning path and update it to find the next winner </a:t>
            </a:r>
            <a:r>
              <a:rPr lang="en-US" altLang="zh-TW" dirty="0" smtClean="0">
                <a:solidFill>
                  <a:schemeClr val="bg1">
                    <a:lumMod val="85000"/>
                  </a:schemeClr>
                </a:solidFill>
              </a:rPr>
              <a:t>^</a:t>
            </a:r>
          </a:p>
          <a:p>
            <a:r>
              <a:rPr lang="en-US" altLang="zh-TW" dirty="0" smtClean="0"/>
              <a:t>Finally run a top tournament between different anchor columns and ranking them</a:t>
            </a:r>
            <a:endParaRPr lang="en-US" altLang="zh-TW" dirty="0" smtClean="0">
              <a:solidFill>
                <a:schemeClr val="bg1">
                  <a:lumMod val="85000"/>
                </a:schemeClr>
              </a:solidFill>
            </a:endParaRPr>
          </a:p>
          <a:p>
            <a:endParaRPr lang="zh-TW" altLang="en-US" dirty="0"/>
          </a:p>
        </p:txBody>
      </p:sp>
    </p:spTree>
    <p:extLst>
      <p:ext uri="{BB962C8B-B14F-4D97-AF65-F5344CB8AC3E}">
        <p14:creationId xmlns:p14="http://schemas.microsoft.com/office/powerpoint/2010/main" val="2251520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3608" y="0"/>
            <a:ext cx="7129512" cy="69002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6246635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normAutofit fontScale="90000"/>
          </a:bodyPr>
          <a:lstStyle/>
          <a:p>
            <a:r>
              <a:rPr lang="en-US" altLang="zh-TW" dirty="0" smtClean="0"/>
              <a:t>Trace Up</a:t>
            </a:r>
            <a:endParaRPr lang="zh-TW" altLang="en-US" dirty="0"/>
          </a:p>
        </p:txBody>
      </p:sp>
      <p:sp>
        <p:nvSpPr>
          <p:cNvPr id="3" name="內容版面配置區 2"/>
          <p:cNvSpPr>
            <a:spLocks noGrp="1"/>
          </p:cNvSpPr>
          <p:nvPr>
            <p:ph idx="1"/>
          </p:nvPr>
        </p:nvSpPr>
        <p:spPr/>
        <p:txBody>
          <a:bodyPr/>
          <a:lstStyle/>
          <a:p>
            <a:endParaRPr lang="zh-TW" altLang="en-US"/>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406" y="404663"/>
            <a:ext cx="9120594" cy="56532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4778606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Results</a:t>
            </a:r>
            <a:endParaRPr lang="zh-TW" altLang="en-US" dirty="0"/>
          </a:p>
        </p:txBody>
      </p:sp>
      <p:sp>
        <p:nvSpPr>
          <p:cNvPr id="3" name="內容版面配置區 2"/>
          <p:cNvSpPr>
            <a:spLocks noGrp="1"/>
          </p:cNvSpPr>
          <p:nvPr>
            <p:ph idx="1"/>
          </p:nvPr>
        </p:nvSpPr>
        <p:spPr/>
        <p:txBody>
          <a:bodyPr/>
          <a:lstStyle/>
          <a:p>
            <a:endParaRPr lang="zh-TW" altLang="en-US"/>
          </a:p>
        </p:txBody>
      </p:sp>
      <p:pic>
        <p:nvPicPr>
          <p:cNvPr id="614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561" y="1091865"/>
            <a:ext cx="7866544" cy="41461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283" y="5517232"/>
            <a:ext cx="8801100" cy="49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50496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Results</a:t>
            </a:r>
            <a:endParaRPr lang="zh-TW" altLang="en-US" dirty="0"/>
          </a:p>
        </p:txBody>
      </p:sp>
      <p:sp>
        <p:nvSpPr>
          <p:cNvPr id="3" name="內容版面配置區 2"/>
          <p:cNvSpPr>
            <a:spLocks noGrp="1"/>
          </p:cNvSpPr>
          <p:nvPr>
            <p:ph idx="1"/>
          </p:nvPr>
        </p:nvSpPr>
        <p:spPr/>
        <p:txBody>
          <a:bodyPr/>
          <a:lstStyle/>
          <a:p>
            <a:endParaRPr lang="zh-TW" altLang="en-US"/>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560" y="1556792"/>
            <a:ext cx="7956376" cy="3563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1540" y="5307999"/>
            <a:ext cx="8316416" cy="4972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0463888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Algorithm 1</a:t>
            </a:r>
            <a:endParaRPr lang="zh-TW" altLang="en-US" dirty="0"/>
          </a:p>
        </p:txBody>
      </p:sp>
      <p:sp>
        <p:nvSpPr>
          <p:cNvPr id="3" name="內容版面配置區 2"/>
          <p:cNvSpPr>
            <a:spLocks noGrp="1"/>
          </p:cNvSpPr>
          <p:nvPr>
            <p:ph idx="1"/>
          </p:nvPr>
        </p:nvSpPr>
        <p:spPr/>
        <p:txBody>
          <a:bodyPr/>
          <a:lstStyle/>
          <a:p>
            <a:endParaRPr lang="zh-TW" altLang="en-US"/>
          </a:p>
        </p:txBody>
      </p:sp>
      <p:pic>
        <p:nvPicPr>
          <p:cNvPr id="30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630" y="2276872"/>
            <a:ext cx="9289032" cy="35320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6786354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Algorithm 2</a:t>
            </a:r>
            <a:endParaRPr lang="zh-TW" altLang="en-US" dirty="0"/>
          </a:p>
        </p:txBody>
      </p:sp>
      <p:sp>
        <p:nvSpPr>
          <p:cNvPr id="3" name="內容版面配置區 2"/>
          <p:cNvSpPr>
            <a:spLocks noGrp="1"/>
          </p:cNvSpPr>
          <p:nvPr>
            <p:ph idx="1"/>
          </p:nvPr>
        </p:nvSpPr>
        <p:spPr/>
        <p:txBody>
          <a:bodyPr/>
          <a:lstStyle/>
          <a:p>
            <a:endParaRPr lang="zh-TW" altLang="en-US"/>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3568" y="2348880"/>
            <a:ext cx="7272808" cy="21038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7767968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339</TotalTime>
  <Words>347</Words>
  <Application>Microsoft Office PowerPoint</Application>
  <PresentationFormat>如螢幕大小 (4:3)</PresentationFormat>
  <Paragraphs>37</Paragraphs>
  <Slides>14</Slides>
  <Notes>0</Notes>
  <HiddenSlides>0</HiddenSlides>
  <MMClips>0</MMClips>
  <ScaleCrop>false</ScaleCrop>
  <HeadingPairs>
    <vt:vector size="4" baseType="variant">
      <vt:variant>
        <vt:lpstr>佈景主題</vt:lpstr>
      </vt:variant>
      <vt:variant>
        <vt:i4>1</vt:i4>
      </vt:variant>
      <vt:variant>
        <vt:lpstr>投影片標題</vt:lpstr>
      </vt:variant>
      <vt:variant>
        <vt:i4>14</vt:i4>
      </vt:variant>
    </vt:vector>
  </HeadingPairs>
  <TitlesOfParts>
    <vt:vector size="15" baseType="lpstr">
      <vt:lpstr>Office 佈景主題</vt:lpstr>
      <vt:lpstr>Improved algorithms for the K overlapping maximum convex sum problem</vt:lpstr>
      <vt:lpstr>Abstract</vt:lpstr>
      <vt:lpstr>Abstract</vt:lpstr>
      <vt:lpstr>Maximum Subarray Problem(MSP)</vt:lpstr>
      <vt:lpstr>Maximum Convex Sum Problem (MCSP)</vt:lpstr>
      <vt:lpstr>K-Overlapping MCSP(K-OMCSP)</vt:lpstr>
      <vt:lpstr>Meaning of the Three Case</vt:lpstr>
      <vt:lpstr>How to Find K-OMCSP</vt:lpstr>
      <vt:lpstr>PowerPoint 簡報</vt:lpstr>
      <vt:lpstr>Trace Up</vt:lpstr>
      <vt:lpstr>Results</vt:lpstr>
      <vt:lpstr>Results</vt:lpstr>
      <vt:lpstr>Algorithm 1</vt:lpstr>
      <vt:lpstr>Algorithm 2</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Improved algorithms for the K overlapping maximum convex sum problem</dc:title>
  <dc:creator>fjy</dc:creator>
  <cp:lastModifiedBy>fjy</cp:lastModifiedBy>
  <cp:revision>13</cp:revision>
  <dcterms:created xsi:type="dcterms:W3CDTF">2012-11-13T04:44:07Z</dcterms:created>
  <dcterms:modified xsi:type="dcterms:W3CDTF">2012-11-13T10:23:17Z</dcterms:modified>
</cp:coreProperties>
</file>