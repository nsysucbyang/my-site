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0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729" autoAdjust="0"/>
  </p:normalViewPr>
  <p:slideViewPr>
    <p:cSldViewPr>
      <p:cViewPr>
        <p:scale>
          <a:sx n="100" d="100"/>
          <a:sy n="100" d="100"/>
        </p:scale>
        <p:origin x="-288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42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48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98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6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22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64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83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80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181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81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00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F65FA-FE3B-45D4-99BA-E077D6E01AA6}" type="datetimeFigureOut">
              <a:rPr lang="zh-TW" altLang="en-US" smtClean="0"/>
              <a:t>2012/7/17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9B095-B7D5-4791-BA0E-D6CEDE985F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62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2000" y="1700808"/>
            <a:ext cx="7920000" cy="1800000"/>
          </a:xfrm>
        </p:spPr>
        <p:txBody>
          <a:bodyPr>
            <a:noAutofit/>
          </a:bodyPr>
          <a:lstStyle/>
          <a:p>
            <a:r>
              <a:rPr lang="en-US" altLang="zh-TW" sz="3200" dirty="0" smtClean="0"/>
              <a:t>A New Filtration Method</a:t>
            </a:r>
            <a:br>
              <a:rPr lang="en-US" altLang="zh-TW" sz="3200" dirty="0" smtClean="0"/>
            </a:br>
            <a:r>
              <a:rPr lang="en-US" altLang="zh-TW" sz="3200" dirty="0" smtClean="0"/>
              <a:t>Based on the Locality Property</a:t>
            </a:r>
            <a:br>
              <a:rPr lang="en-US" altLang="zh-TW" sz="3200" dirty="0" smtClean="0"/>
            </a:br>
            <a:r>
              <a:rPr lang="en-US" altLang="zh-TW" sz="3200" dirty="0" smtClean="0"/>
              <a:t>for Approximate String Matching</a:t>
            </a:r>
            <a:endParaRPr lang="zh-TW" altLang="en-US" sz="3200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52000" y="3886200"/>
            <a:ext cx="8640000" cy="1800000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Chia Wei Lu (</a:t>
            </a:r>
            <a:r>
              <a:rPr lang="zh-TW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呂嘉維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and R. C. T. Lee (</a:t>
            </a:r>
            <a:r>
              <a:rPr lang="zh-TW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李家同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The 29th Workshop on Combinatorial Mathematics and Computation Theory</a:t>
            </a:r>
          </a:p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Presenter: Yi-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Pu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Guo</a:t>
            </a:r>
            <a:endParaRPr lang="en-US" altLang="zh-TW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2012-07-17</a:t>
            </a:r>
            <a:endParaRPr lang="zh-TW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34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32000"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TW" sz="2000" dirty="0" smtClean="0"/>
              <a:t>In this paper, we consider the approximate string matching problem. We give a method to eliminate candidate locations in text T as there can be no substring S ending at those locations such that the edit distance between S and pattern P is smaller than or equal to a specified error bound k. Our method is simple to implement. Experimental results show that our method is effective. For instance, for a DNA type data, when the text is 10M characters long, patterns are 10 characters long and k=1, in average, 99% of locations are eliminated by our method. We have also performed comparisons with other algorithms, and the results showed that our algorithm can eliminate more parts than most of the others.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7889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3600" dirty="0" smtClean="0">
                <a:latin typeface="Courier New" pitchFamily="49" charset="0"/>
                <a:cs typeface="Courier New" pitchFamily="49" charset="0"/>
              </a:rPr>
              <a:t>kitten</a:t>
            </a:r>
          </a:p>
          <a:p>
            <a:pPr marL="0" indent="0" algn="ctr">
              <a:buNone/>
            </a:pPr>
            <a:r>
              <a:rPr lang="en-US" altLang="zh-TW" sz="36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altLang="zh-TW" sz="3600" dirty="0" err="1" smtClean="0">
                <a:latin typeface="Courier New" pitchFamily="49" charset="0"/>
                <a:cs typeface="Courier New" pitchFamily="49" charset="0"/>
              </a:rPr>
              <a:t>itten</a:t>
            </a:r>
            <a:endParaRPr lang="en-US" altLang="zh-TW" sz="3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altLang="zh-TW" sz="3600" dirty="0" err="1" smtClean="0">
                <a:latin typeface="Courier New" pitchFamily="49" charset="0"/>
                <a:cs typeface="Courier New" pitchFamily="49" charset="0"/>
              </a:rPr>
              <a:t>sitt</a:t>
            </a:r>
            <a:r>
              <a:rPr lang="en-US" altLang="zh-TW" sz="36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TW" sz="3600" dirty="0" err="1" smtClean="0">
                <a:latin typeface="Courier New" pitchFamily="49" charset="0"/>
                <a:cs typeface="Courier New" pitchFamily="49" charset="0"/>
              </a:rPr>
              <a:t>n</a:t>
            </a:r>
            <a:endParaRPr lang="en-US" altLang="zh-TW" sz="36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altLang="zh-TW" sz="3600" dirty="0" smtClean="0">
                <a:latin typeface="Courier New" pitchFamily="49" charset="0"/>
                <a:cs typeface="Courier New" pitchFamily="49" charset="0"/>
              </a:rPr>
              <a:t>sittin</a:t>
            </a:r>
            <a:r>
              <a:rPr lang="en-US" altLang="zh-TW" sz="36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</a:p>
          <a:p>
            <a:pPr marL="0" indent="0" algn="ctr">
              <a:buNone/>
            </a:pPr>
            <a:endParaRPr lang="en-US" altLang="zh-TW" sz="3600" dirty="0" smtClean="0"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altLang="zh-TW" sz="3600" dirty="0" smtClean="0">
                <a:cs typeface="Courier New" pitchFamily="49" charset="0"/>
              </a:rPr>
              <a:t>ED(A,B)=3</a:t>
            </a:r>
            <a:endParaRPr lang="zh-TW" altLang="en-US" sz="3600" dirty="0">
              <a:cs typeface="Courier New" pitchFamily="49" charset="0"/>
            </a:endParaRPr>
          </a:p>
        </p:txBody>
      </p:sp>
      <p:sp>
        <p:nvSpPr>
          <p:cNvPr id="25" name="內容版面配置區 2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/>
              <a:t>每次</a:t>
            </a:r>
            <a:endParaRPr lang="en-US" altLang="zh-TW" dirty="0" smtClean="0"/>
          </a:p>
          <a:p>
            <a:pPr>
              <a:lnSpc>
                <a:spcPct val="150000"/>
              </a:lnSpc>
            </a:pPr>
            <a:r>
              <a:rPr lang="zh-TW" altLang="en-US" dirty="0" smtClean="0"/>
              <a:t>插入 </a:t>
            </a:r>
            <a:r>
              <a:rPr lang="en-US" altLang="zh-TW" dirty="0"/>
              <a:t>(insertion</a:t>
            </a:r>
            <a:r>
              <a:rPr lang="en-US" altLang="zh-TW" dirty="0" smtClean="0"/>
              <a:t>)</a:t>
            </a:r>
            <a:r>
              <a:rPr lang="zh-TW" altLang="en-US" dirty="0" smtClean="0"/>
              <a:t>、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刪除 </a:t>
            </a:r>
            <a:r>
              <a:rPr lang="en-US" altLang="zh-TW" dirty="0"/>
              <a:t>(deletion</a:t>
            </a:r>
            <a:r>
              <a:rPr lang="en-US" altLang="zh-TW" dirty="0" smtClean="0"/>
              <a:t>) </a:t>
            </a:r>
            <a:r>
              <a:rPr lang="zh-TW" altLang="en-US" dirty="0" smtClean="0"/>
              <a:t>或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取代 </a:t>
            </a:r>
            <a:r>
              <a:rPr lang="en-US" altLang="zh-TW" dirty="0"/>
              <a:t>(substitution</a:t>
            </a:r>
            <a:r>
              <a:rPr lang="en-US" altLang="zh-TW" dirty="0" smtClean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/>
              <a:t>一個字元，從字串 </a:t>
            </a:r>
            <a:r>
              <a:rPr lang="en-US" altLang="zh-TW" dirty="0" smtClean="0"/>
              <a:t>A </a:t>
            </a:r>
            <a:r>
              <a:rPr lang="zh-TW" altLang="en-US" dirty="0" smtClean="0"/>
              <a:t>到 </a:t>
            </a:r>
            <a:r>
              <a:rPr lang="en-US" altLang="zh-TW" dirty="0" smtClean="0"/>
              <a:t>B</a:t>
            </a:r>
            <a:br>
              <a:rPr lang="en-US" altLang="zh-TW" dirty="0" smtClean="0"/>
            </a:br>
            <a:r>
              <a:rPr lang="zh-TW" altLang="en-US" dirty="0" smtClean="0"/>
              <a:t>所需的步驟數。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268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 differences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 smtClean="0"/>
                  <a:t>T: </a:t>
                </a:r>
                <a:r>
                  <a:rPr lang="en-US" altLang="zh-TW" dirty="0" err="1" smtClean="0"/>
                  <a:t>acabc</a:t>
                </a:r>
                <a:r>
                  <a:rPr lang="en-US" altLang="zh-TW" dirty="0" err="1" smtClean="0">
                    <a:solidFill>
                      <a:srgbClr val="C00000"/>
                    </a:solidFill>
                  </a:rPr>
                  <a:t>ab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dirty="0" err="1" smtClean="0">
                    <a:solidFill>
                      <a:srgbClr val="C00000"/>
                    </a:solidFill>
                  </a:rPr>
                  <a:t>ab</a:t>
                </a:r>
                <a:r>
                  <a:rPr lang="en-US" altLang="zh-TW" dirty="0" err="1" smtClean="0"/>
                  <a:t>cabcacabcabcaacbc</a:t>
                </a:r>
                <a:r>
                  <a:rPr lang="en-US" altLang="zh-TW" dirty="0" smtClean="0"/>
                  <a:t> (T=t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t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…</a:t>
                </a:r>
                <a:r>
                  <a:rPr lang="en-US" altLang="zh-TW" dirty="0" err="1" smtClean="0"/>
                  <a:t>t</a:t>
                </a:r>
                <a:r>
                  <a:rPr lang="en-US" altLang="zh-TW" baseline="-25000" dirty="0" err="1" smtClean="0"/>
                  <a:t>n</a:t>
                </a:r>
                <a:r>
                  <a:rPr lang="en-US" altLang="zh-TW" dirty="0" smtClean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 smtClean="0"/>
                  <a:t>P: </a:t>
                </a:r>
                <a:r>
                  <a:rPr lang="en-US" altLang="zh-TW" dirty="0" err="1" smtClean="0"/>
                  <a:t>abbab</a:t>
                </a:r>
                <a:r>
                  <a:rPr lang="en-US" altLang="zh-TW" dirty="0" smtClean="0"/>
                  <a:t> (P=p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…p</a:t>
                </a:r>
                <a:r>
                  <a:rPr lang="en-US" altLang="zh-TW" baseline="-25000" dirty="0" smtClean="0"/>
                  <a:t>m</a:t>
                </a:r>
                <a:r>
                  <a:rPr lang="en-US" altLang="zh-TW" dirty="0" smtClean="0"/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dirty="0" smtClean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𝐸𝐷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𝑃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altLang="zh-TW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 smtClean="0"/>
                  <a:t>Find all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𝑑𝑒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22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Non-filtration &amp; Filtration approach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內容版面配置區 50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 smtClean="0"/>
                  <a:t>Non-filtration approach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 smtClean="0"/>
                  <a:t>Filtration </a:t>
                </a:r>
                <a:r>
                  <a:rPr lang="en-US" altLang="zh-TW" dirty="0"/>
                  <a:t>approach</a:t>
                </a:r>
                <a:endParaRPr lang="en-US" altLang="zh-TW" dirty="0" smtClean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arenR"/>
                </a:pPr>
                <a:r>
                  <a:rPr lang="zh-TW" altLang="en-US" sz="2400" dirty="0" smtClean="0"/>
                  <a:t>開個 </a:t>
                </a:r>
                <a:r>
                  <a:rPr lang="en-US" altLang="zh-TW" sz="2400" dirty="0"/>
                  <a:t>window </a:t>
                </a:r>
                <a:r>
                  <a:rPr lang="zh-TW" altLang="en-US" sz="2400" dirty="0"/>
                  <a:t>以 </a:t>
                </a:r>
                <a:r>
                  <a:rPr lang="en-US" altLang="zh-TW" sz="2400" dirty="0" err="1"/>
                  <a:t>t</a:t>
                </a:r>
                <a:r>
                  <a:rPr lang="en-US" altLang="zh-TW" sz="2400" baseline="-25000" dirty="0" err="1"/>
                  <a:t>i</a:t>
                </a:r>
                <a:r>
                  <a:rPr lang="en-US" altLang="zh-TW" sz="2400" dirty="0"/>
                  <a:t> </a:t>
                </a:r>
                <a:r>
                  <a:rPr lang="zh-TW" altLang="en-US" sz="2400" dirty="0"/>
                  <a:t>結尾，計算 </a:t>
                </a:r>
                <a:r>
                  <a:rPr lang="en-US" altLang="zh-TW" sz="2400" dirty="0"/>
                  <a:t>filtration function</a:t>
                </a:r>
                <a:r>
                  <a:rPr lang="zh-TW" altLang="en-US" sz="2400" dirty="0"/>
                  <a:t>。若知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smtClean="0">
                            <a:latin typeface="Cambria Math"/>
                          </a:rPr>
                          <m:t>𝑑𝑒</m:t>
                        </m:r>
                      </m:e>
                      <m:sub>
                        <m:r>
                          <a:rPr lang="en-US" altLang="zh-TW" sz="240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smtClean="0">
                        <a:latin typeface="Cambria Math"/>
                      </a:rPr>
                      <m:t>&gt;</m:t>
                    </m:r>
                    <m:r>
                      <a:rPr lang="en-US" altLang="zh-TW" sz="2400" smtClean="0">
                        <a:latin typeface="Cambria Math"/>
                      </a:rPr>
                      <m:t>𝑘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zh-TW" altLang="en-US" sz="2400" dirty="0"/>
                  <a:t>則跳過 </a:t>
                </a:r>
                <a:r>
                  <a:rPr lang="en-US" altLang="zh-TW" sz="2400" dirty="0" err="1"/>
                  <a:t>i</a:t>
                </a:r>
                <a:r>
                  <a:rPr lang="zh-TW" altLang="en-US" sz="2400" dirty="0"/>
                  <a:t>，否則標記 </a:t>
                </a:r>
                <a:r>
                  <a:rPr lang="en-US" altLang="zh-TW" sz="2400" dirty="0" err="1"/>
                  <a:t>i</a:t>
                </a:r>
                <a:r>
                  <a:rPr lang="zh-TW" altLang="en-US" sz="2400" dirty="0" smtClean="0"/>
                  <a:t>。</a:t>
                </a:r>
                <a:endParaRPr lang="en-US" altLang="zh-TW" sz="2400" dirty="0" smtClean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arenR"/>
                </a:pPr>
                <a:r>
                  <a:rPr lang="zh-TW" altLang="en-US" sz="2400" dirty="0" smtClean="0"/>
                  <a:t>對每個有標記的 </a:t>
                </a:r>
                <a:r>
                  <a:rPr lang="en-US" altLang="zh-TW" sz="2400" dirty="0" err="1" smtClean="0"/>
                  <a:t>i</a:t>
                </a:r>
                <a:r>
                  <a:rPr lang="zh-TW" altLang="en-US" sz="2400" dirty="0" smtClean="0"/>
                  <a:t>，才以 </a:t>
                </a:r>
                <a:r>
                  <a:rPr lang="en-US" altLang="zh-TW" sz="2400" dirty="0" smtClean="0"/>
                  <a:t>Non-filtration </a:t>
                </a:r>
                <a:r>
                  <a:rPr lang="zh-TW" altLang="en-US" sz="2400" dirty="0" smtClean="0"/>
                  <a:t>的方法檢查。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1" name="內容版面配置區 5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30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Partial Exact Matching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400" dirty="0" smtClean="0"/>
                  <a:t>Divide P into (k+1) non-overlapping pieces,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400" dirty="0" smtClean="0"/>
                  <a:t>then at least one of the pieces must appear in the string S,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400" dirty="0" smtClean="0"/>
                  <a:t>where S is a substring of T and </a:t>
                </a:r>
                <a14:m>
                  <m:oMath xmlns:m="http://schemas.openxmlformats.org/officeDocument/2006/math">
                    <m:r>
                      <a:rPr lang="en-US" altLang="zh-TW" sz="2400" smtClean="0">
                        <a:latin typeface="Cambria Math"/>
                      </a:rPr>
                      <m:t>𝐸𝐷</m:t>
                    </m:r>
                    <m:r>
                      <a:rPr lang="en-US" altLang="zh-TW" sz="2400" smtClean="0">
                        <a:latin typeface="Cambria Math"/>
                      </a:rPr>
                      <m:t>(</m:t>
                    </m:r>
                    <m:r>
                      <a:rPr lang="en-US" altLang="zh-TW" sz="2400" smtClean="0">
                        <a:latin typeface="Cambria Math"/>
                      </a:rPr>
                      <m:t>𝑆</m:t>
                    </m:r>
                    <m:r>
                      <a:rPr lang="en-US" altLang="zh-TW" sz="2400" smtClean="0">
                        <a:latin typeface="Cambria Math"/>
                      </a:rPr>
                      <m:t>,</m:t>
                    </m:r>
                    <m:r>
                      <a:rPr lang="en-US" altLang="zh-TW" sz="2400" smtClean="0">
                        <a:latin typeface="Cambria Math"/>
                      </a:rPr>
                      <m:t>𝑃</m:t>
                    </m:r>
                    <m:r>
                      <a:rPr lang="en-US" altLang="zh-TW" sz="2400" smtClean="0">
                        <a:latin typeface="Cambria Math"/>
                      </a:rPr>
                      <m:t>)≤</m:t>
                    </m:r>
                    <m:r>
                      <a:rPr lang="en-US" altLang="zh-TW" sz="240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400" dirty="0" smtClean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/>
                  <a:t>P: </a:t>
                </a:r>
                <a:r>
                  <a:rPr lang="en-US" altLang="zh-TW" sz="2400" dirty="0" err="1" smtClean="0">
                    <a:latin typeface="Courier New" pitchFamily="49" charset="0"/>
                    <a:cs typeface="Courier New" pitchFamily="49" charset="0"/>
                  </a:rPr>
                  <a:t>abbcbabac</a:t>
                </a:r>
                <a:r>
                  <a:rPr lang="en-US" altLang="zh-TW" sz="2400" dirty="0" smtClean="0"/>
                  <a:t> (k=2)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/>
                  <a:t>Pieces of P: </a:t>
                </a:r>
                <a:r>
                  <a:rPr lang="en-US" altLang="zh-TW" sz="2400" dirty="0" err="1" smtClean="0">
                    <a:latin typeface="Courier New" pitchFamily="49" charset="0"/>
                    <a:cs typeface="Courier New" pitchFamily="49" charset="0"/>
                  </a:rPr>
                  <a:t>abb</a:t>
                </a:r>
                <a:r>
                  <a:rPr lang="en-US" altLang="zh-TW" sz="2400" dirty="0" smtClean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altLang="zh-TW" sz="2400" dirty="0" err="1">
                    <a:latin typeface="Courier New" pitchFamily="49" charset="0"/>
                    <a:cs typeface="Courier New" pitchFamily="49" charset="0"/>
                  </a:rPr>
                  <a:t>cba</a:t>
                </a:r>
                <a:r>
                  <a:rPr lang="en-US" altLang="zh-TW" sz="2400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altLang="zh-TW" sz="2400" dirty="0" err="1" smtClean="0">
                    <a:latin typeface="Courier New" pitchFamily="49" charset="0"/>
                    <a:cs typeface="Courier New" pitchFamily="49" charset="0"/>
                  </a:rPr>
                  <a:t>bac</a:t>
                </a:r>
                <a:r>
                  <a:rPr lang="en-US" altLang="zh-TW" sz="2400" dirty="0" smtClean="0"/>
                  <a:t> (k+1=3)</a:t>
                </a:r>
                <a:endParaRPr lang="en-US" altLang="zh-TW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 smtClean="0"/>
                  <a:t>S: </a:t>
                </a:r>
                <a:r>
                  <a:rPr lang="en-US" altLang="zh-TW" sz="2400" dirty="0" err="1" smtClean="0">
                    <a:solidFill>
                      <a:srgbClr val="0070C0"/>
                    </a:solidFill>
                    <a:latin typeface="Courier New" pitchFamily="49" charset="0"/>
                    <a:cs typeface="Courier New" pitchFamily="49" charset="0"/>
                  </a:rPr>
                  <a:t>abb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d</a:t>
                </a:r>
                <a:r>
                  <a:rPr lang="en-US" altLang="zh-TW" sz="2400" dirty="0" err="1" smtClean="0">
                    <a:latin typeface="Courier New" pitchFamily="49" charset="0"/>
                    <a:cs typeface="Courier New" pitchFamily="49" charset="0"/>
                  </a:rPr>
                  <a:t>ba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e</a:t>
                </a:r>
                <a:r>
                  <a:rPr lang="en-US" altLang="zh-TW" sz="2400" dirty="0" err="1" smtClean="0">
                    <a:latin typeface="Courier New" pitchFamily="49" charset="0"/>
                    <a:cs typeface="Courier New" pitchFamily="49" charset="0"/>
                  </a:rPr>
                  <a:t>ac</a:t>
                </a:r>
                <a:endParaRPr lang="en-US" altLang="zh-TW" sz="2400" dirty="0" smtClean="0">
                  <a:latin typeface="Courier New" pitchFamily="49" charset="0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37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q-gram (1/2)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10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smtClean="0">
                            <a:latin typeface="Cambria Math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mtClean="0">
                            <a:latin typeface="Cambria Math"/>
                          </a:rPr>
                          <m:t>𝑥</m:t>
                        </m:r>
                        <m:r>
                          <a:rPr lang="en-US" altLang="zh-TW" smtClean="0">
                            <a:latin typeface="Cambria Math"/>
                          </a:rPr>
                          <m:t>,</m:t>
                        </m:r>
                        <m:r>
                          <a:rPr lang="en-US" altLang="zh-TW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altLang="zh-TW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mtClean="0">
                            <a:latin typeface="Cambria Math"/>
                          </a:rPr>
                          <m:t>𝑣</m:t>
                        </m:r>
                        <m:r>
                          <a:rPr lang="en-US" altLang="zh-TW" smtClean="0">
                            <a:latin typeface="Cambria Math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smtClean="0">
                                <a:latin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zh-TW" smtClean="0">
                                <a:latin typeface="Cambria Math"/>
                              </a:rPr>
                              <m:t>𝑞</m:t>
                            </m:r>
                          </m:sup>
                        </m:sSup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mtClean="0">
                                <a:latin typeface="Cambria Math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zh-TW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smtClean="0">
                                <a:latin typeface="Cambria Math"/>
                              </a:rPr>
                              <m:t>𝐺</m:t>
                            </m:r>
                            <m:r>
                              <a:rPr lang="en-US" altLang="zh-TW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mtClean="0">
                                <a:latin typeface="Cambria Math"/>
                              </a:rPr>
                              <m:t>𝑦</m:t>
                            </m:r>
                            <m:r>
                              <a:rPr lang="en-US" altLang="zh-TW" smtClean="0">
                                <a:latin typeface="Cambria Math"/>
                              </a:rPr>
                              <m:t>)[</m:t>
                            </m:r>
                            <m:r>
                              <a:rPr lang="en-US" altLang="zh-TW" smtClean="0">
                                <a:latin typeface="Cambria Math"/>
                              </a:rPr>
                              <m:t>𝑣</m:t>
                            </m:r>
                            <m:r>
                              <a:rPr lang="en-US" altLang="zh-TW" smtClean="0">
                                <a:latin typeface="Cambria Math"/>
                              </a:rPr>
                              <m:t>]</m:t>
                            </m:r>
                          </m:e>
                        </m:d>
                      </m:e>
                    </m:nary>
                  </m:oMath>
                </a14:m>
                <a:endParaRPr lang="en-US" altLang="zh-TW" dirty="0" smtClean="0"/>
              </a:p>
              <a:p>
                <a:pPr>
                  <a:lnSpc>
                    <a:spcPct val="150000"/>
                  </a:lnSpc>
                </a:pPr>
                <a:r>
                  <a:rPr lang="es-ES" altLang="zh-TW" dirty="0"/>
                  <a:t>1-gram</a:t>
                </a:r>
              </a:p>
              <a:p>
                <a:pPr marL="0" indent="0">
                  <a:buNone/>
                </a:pPr>
                <a:r>
                  <a:rPr lang="es-ES" altLang="zh-TW" sz="2400" dirty="0"/>
                  <a:t>x=</a:t>
                </a:r>
                <a:r>
                  <a:rPr lang="es-ES" altLang="zh-TW" sz="2400" dirty="0">
                    <a:latin typeface="Courier New" pitchFamily="49" charset="0"/>
                    <a:cs typeface="Courier New" pitchFamily="49" charset="0"/>
                  </a:rPr>
                  <a:t>abaaab</a:t>
                </a:r>
              </a:p>
              <a:p>
                <a:pPr marL="0" indent="0">
                  <a:buNone/>
                </a:pPr>
                <a:r>
                  <a:rPr lang="es-ES" altLang="zh-TW" sz="2400" dirty="0"/>
                  <a:t>y=</a:t>
                </a:r>
                <a:r>
                  <a:rPr lang="es-ES" altLang="zh-TW" sz="2400" dirty="0">
                    <a:latin typeface="Courier New" pitchFamily="49" charset="0"/>
                    <a:cs typeface="Courier New" pitchFamily="49" charset="0"/>
                  </a:rPr>
                  <a:t>bbaab</a:t>
                </a:r>
              </a:p>
              <a:p>
                <a:pPr marL="0" indent="0">
                  <a:buNone/>
                </a:pPr>
                <a:r>
                  <a:rPr lang="es-ES" altLang="zh-TW" sz="2400" dirty="0"/>
                  <a:t>G(x)[a]=4, G(x)[b]=2</a:t>
                </a:r>
              </a:p>
              <a:p>
                <a:pPr marL="0" indent="0">
                  <a:buNone/>
                </a:pPr>
                <a:r>
                  <a:rPr lang="es-ES" altLang="zh-TW" sz="2400" dirty="0"/>
                  <a:t>G(y)[a]=2, G(y)[b]=3</a:t>
                </a:r>
              </a:p>
              <a:p>
                <a:pPr marL="0" indent="0">
                  <a:buNone/>
                </a:pPr>
                <a:r>
                  <a:rPr lang="es-ES" altLang="zh-TW" sz="2400" dirty="0"/>
                  <a:t>D</a:t>
                </a:r>
                <a:r>
                  <a:rPr lang="es-ES" altLang="zh-TW" sz="2400" baseline="-25000" dirty="0"/>
                  <a:t>1</a:t>
                </a:r>
                <a:r>
                  <a:rPr lang="es-ES" altLang="zh-TW" sz="2400" dirty="0"/>
                  <a:t>(x,y)=|4-2|+|2-3|=2+1=3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1" name="內容版面配置區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05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q-gram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 smtClean="0"/>
              <a:t>2-gram</a:t>
            </a:r>
          </a:p>
          <a:p>
            <a:pPr marL="0" indent="0">
              <a:buNone/>
            </a:pPr>
            <a:r>
              <a:rPr lang="en-US" altLang="zh-TW" sz="2400" dirty="0"/>
              <a:t>x=</a:t>
            </a:r>
            <a:r>
              <a:rPr lang="en-US" altLang="zh-TW" sz="2400" dirty="0" err="1">
                <a:latin typeface="Courier New" pitchFamily="49" charset="0"/>
                <a:cs typeface="Courier New" pitchFamily="49" charset="0"/>
              </a:rPr>
              <a:t>abaaab</a:t>
            </a:r>
            <a:endParaRPr lang="en-US" altLang="zh-TW" sz="2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TW" sz="2400" dirty="0" smtClean="0"/>
              <a:t>y=</a:t>
            </a:r>
            <a:r>
              <a:rPr lang="en-US" altLang="zh-TW" sz="2400" dirty="0" err="1" smtClean="0">
                <a:latin typeface="Courier New" pitchFamily="49" charset="0"/>
                <a:cs typeface="Courier New" pitchFamily="49" charset="0"/>
              </a:rPr>
              <a:t>bbaab</a:t>
            </a:r>
            <a:endParaRPr lang="en-US" altLang="zh-TW" sz="2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TW" sz="2400" dirty="0" smtClean="0"/>
              <a:t>G(x)[</a:t>
            </a:r>
            <a:r>
              <a:rPr lang="en-US" altLang="zh-TW" sz="2400" dirty="0" err="1" smtClean="0"/>
              <a:t>aa</a:t>
            </a:r>
            <a:r>
              <a:rPr lang="en-US" altLang="zh-TW" sz="2400" dirty="0" smtClean="0"/>
              <a:t>]=2, G(x)[</a:t>
            </a:r>
            <a:r>
              <a:rPr lang="en-US" altLang="zh-TW" sz="2400" dirty="0" err="1" smtClean="0"/>
              <a:t>ab</a:t>
            </a:r>
            <a:r>
              <a:rPr lang="en-US" altLang="zh-TW" sz="2400" dirty="0" smtClean="0"/>
              <a:t>]=2, G(x)[</a:t>
            </a:r>
            <a:r>
              <a:rPr lang="en-US" altLang="zh-TW" sz="2400" dirty="0" err="1" smtClean="0"/>
              <a:t>ba</a:t>
            </a:r>
            <a:r>
              <a:rPr lang="en-US" altLang="zh-TW" sz="2400" dirty="0" smtClean="0"/>
              <a:t>]=1, G(x)[bb]=0</a:t>
            </a:r>
          </a:p>
          <a:p>
            <a:pPr marL="0" indent="0">
              <a:buNone/>
            </a:pPr>
            <a:r>
              <a:rPr lang="en-US" altLang="zh-TW" sz="2400" dirty="0" smtClean="0"/>
              <a:t>G(y)[</a:t>
            </a:r>
            <a:r>
              <a:rPr lang="en-US" altLang="zh-TW" sz="2400" dirty="0" err="1" smtClean="0"/>
              <a:t>aa</a:t>
            </a:r>
            <a:r>
              <a:rPr lang="en-US" altLang="zh-TW" sz="2400" dirty="0" smtClean="0"/>
              <a:t>]=1, G(y)[</a:t>
            </a:r>
            <a:r>
              <a:rPr lang="en-US" altLang="zh-TW" sz="2400" dirty="0" err="1" smtClean="0"/>
              <a:t>ab</a:t>
            </a:r>
            <a:r>
              <a:rPr lang="en-US" altLang="zh-TW" sz="2400" dirty="0" smtClean="0"/>
              <a:t>]=1, G(y)[</a:t>
            </a:r>
            <a:r>
              <a:rPr lang="en-US" altLang="zh-TW" sz="2400" dirty="0" err="1" smtClean="0"/>
              <a:t>ba</a:t>
            </a:r>
            <a:r>
              <a:rPr lang="en-US" altLang="zh-TW" sz="2400" dirty="0" smtClean="0"/>
              <a:t>]=1, G(y)[bb]=1</a:t>
            </a:r>
          </a:p>
          <a:p>
            <a:pPr marL="0" indent="0">
              <a:buNone/>
            </a:pPr>
            <a:r>
              <a:rPr lang="en-US" altLang="zh-TW" sz="2400" dirty="0" smtClean="0"/>
              <a:t>D</a:t>
            </a:r>
            <a:r>
              <a:rPr lang="en-US" altLang="zh-TW" sz="2400" baseline="-25000" dirty="0" smtClean="0"/>
              <a:t>2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x,y</a:t>
            </a:r>
            <a:r>
              <a:rPr lang="en-US" altLang="zh-TW" sz="2400" dirty="0" smtClean="0"/>
              <a:t>)=|2-1|+|2-1|+|1-1|+|0-1|=1+1+0+1=3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599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This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2400" dirty="0" smtClean="0"/>
                  <a:t>將 </a:t>
                </a:r>
                <a:r>
                  <a:rPr lang="en-US" altLang="zh-TW" sz="2400" dirty="0" smtClean="0"/>
                  <a:t>P </a:t>
                </a:r>
                <a:r>
                  <a:rPr lang="zh-TW" altLang="en-US" sz="2400" dirty="0" smtClean="0"/>
                  <a:t>分做 </a:t>
                </a:r>
                <a:r>
                  <a:rPr lang="en-US" altLang="zh-TW" sz="2400" dirty="0" smtClean="0"/>
                  <a:t>k+1 </a:t>
                </a:r>
                <a:r>
                  <a:rPr lang="zh-TW" altLang="en-US" sz="2400" dirty="0" smtClean="0"/>
                  <a:t>等份，若 </a:t>
                </a:r>
                <a:r>
                  <a:rPr lang="en-US" altLang="zh-TW" sz="2400" dirty="0" smtClean="0"/>
                  <a:t>window W </a:t>
                </a:r>
                <a:r>
                  <a:rPr lang="zh-TW" altLang="en-US" sz="2400" dirty="0" smtClean="0"/>
                  <a:t>內不含任何部份的 </a:t>
                </a:r>
                <a:r>
                  <a:rPr lang="en-US" altLang="zh-TW" sz="2400" dirty="0" smtClean="0"/>
                  <a:t>P</a:t>
                </a:r>
                <a:r>
                  <a:rPr lang="zh-TW" altLang="en-US" sz="2400" dirty="0" smtClean="0"/>
                  <a:t>，則略過此 </a:t>
                </a:r>
                <a:r>
                  <a:rPr lang="en-US" altLang="zh-TW" sz="2400" dirty="0" smtClean="0"/>
                  <a:t>W</a:t>
                </a:r>
                <a:r>
                  <a:rPr lang="zh-TW" altLang="en-US" sz="2400" dirty="0" smtClean="0"/>
                  <a:t>。 </a:t>
                </a:r>
                <a:r>
                  <a:rPr lang="en-US" altLang="zh-TW" sz="2400" dirty="0"/>
                  <a:t>(Partial Exact Matching)</a:t>
                </a:r>
                <a:endParaRPr lang="zh-TW" altLang="en-US" sz="2400" dirty="0" smtClean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2400" dirty="0" smtClean="0"/>
                  <a:t>使用特別的 </a:t>
                </a:r>
                <a:r>
                  <a:rPr lang="en-US" altLang="zh-TW" sz="2400" dirty="0" smtClean="0"/>
                  <a:t>q-gram checking function </a:t>
                </a:r>
                <a:r>
                  <a:rPr lang="zh-TW" altLang="en-US" sz="2400" dirty="0" smtClean="0"/>
                  <a:t>來決定，是否存在有任一部份的 </a:t>
                </a:r>
                <a:r>
                  <a:rPr lang="en-US" altLang="zh-TW" sz="2400" dirty="0" smtClean="0"/>
                  <a:t>P </a:t>
                </a:r>
                <a:r>
                  <a:rPr lang="zh-TW" altLang="en-US" sz="2400" dirty="0" smtClean="0"/>
                  <a:t>在 </a:t>
                </a:r>
                <a:r>
                  <a:rPr lang="en-US" altLang="zh-TW" sz="2400" dirty="0" smtClean="0"/>
                  <a:t>W </a:t>
                </a:r>
                <a:r>
                  <a:rPr lang="zh-TW" altLang="en-US" sz="2400" dirty="0" smtClean="0"/>
                  <a:t>裡頭。</a:t>
                </a:r>
                <a:endParaRPr lang="en-US" altLang="zh-TW" sz="24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TW" sz="2400" dirty="0"/>
                  <a:t>q-gram checking function</a:t>
                </a:r>
                <a:r>
                  <a:rPr lang="en-US" altLang="zh-TW" sz="2400" dirty="0" smtClean="0"/>
                  <a:t>:</a:t>
                </a:r>
                <a:r>
                  <a:rPr lang="en-US" altLang="zh-TW" sz="2400" i="1" dirty="0" smtClean="0">
                    <a:latin typeface="Cambria Math"/>
                  </a:rPr>
                  <a:t/>
                </a:r>
                <a:br>
                  <a:rPr lang="en-US" altLang="zh-TW" sz="240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𝐷𝐿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𝐴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zh-TW" altLang="en-US" sz="2400" b="0" i="1" smtClean="0">
                            <a:latin typeface="Cambria Math"/>
                          </a:rPr>
                          <m:t>𝜈</m:t>
                        </m:r>
                        <m:r>
                          <a:rPr lang="zh-TW" altLang="en-US" sz="2400" b="0" i="1" smtClean="0">
                            <a:latin typeface="Cambria Math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sz="2400" b="0" i="1" smtClean="0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𝑞</m:t>
                            </m:r>
                          </m:sup>
                        </m:sSup>
                      </m:sub>
                      <m:sup/>
                      <m:e>
                        <m:func>
                          <m:func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𝑚𝑎𝑥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𝐴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zh-TW" sz="24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𝐵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altLang="zh-TW" sz="2400" b="0" i="1" smtClean="0">
                                <a:latin typeface="Cambria Math"/>
                              </a:rPr>
                              <m:t>,0)</m:t>
                            </m:r>
                          </m:e>
                        </m:func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07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 smtClean="0"/>
              <a:t>Lemma 1 </a:t>
            </a:r>
            <a:r>
              <a:rPr lang="en-US" altLang="zh-TW" sz="2400" dirty="0" smtClean="0"/>
              <a:t>If String A exactly appears in string B, </a:t>
            </a:r>
            <a:r>
              <a:rPr lang="en-US" altLang="zh-TW" sz="2400" dirty="0" err="1" smtClean="0"/>
              <a:t>DL</a:t>
            </a:r>
            <a:r>
              <a:rPr lang="en-US" altLang="zh-TW" sz="2400" baseline="-25000" dirty="0" err="1" smtClean="0"/>
              <a:t>q</a:t>
            </a:r>
            <a:r>
              <a:rPr lang="en-US" altLang="zh-TW" sz="2400" dirty="0" smtClean="0"/>
              <a:t>(A,B)=0.</a:t>
            </a:r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P</a:t>
            </a:r>
            <a:r>
              <a:rPr lang="en-US" altLang="zh-TW" sz="2400" baseline="-25000" dirty="0" smtClean="0"/>
              <a:t>i</a:t>
            </a:r>
            <a:r>
              <a:rPr lang="en-US" altLang="zh-TW" sz="2400" dirty="0" smtClean="0"/>
              <a:t> must appear in the corresponding segment W</a:t>
            </a:r>
            <a:r>
              <a:rPr lang="en-US" altLang="zh-TW" sz="2400" baseline="-25000" dirty="0" smtClean="0"/>
              <a:t>i</a:t>
            </a:r>
            <a:r>
              <a:rPr lang="en-US" altLang="zh-TW" sz="24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zh-TW" sz="2400" dirty="0"/>
          </a:p>
          <a:p>
            <a:pPr>
              <a:lnSpc>
                <a:spcPct val="150000"/>
              </a:lnSpc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…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r>
              <a:rPr lang="en-US" altLang="zh-TW" sz="2400" b="1" dirty="0"/>
              <a:t>Theorem 3 </a:t>
            </a:r>
            <a:r>
              <a:rPr lang="en-US" altLang="zh-TW" sz="2400" dirty="0"/>
              <a:t>If for some 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, </a:t>
            </a:r>
            <a:r>
              <a:rPr lang="en-US" altLang="zh-TW" sz="2400" dirty="0"/>
              <a:t>W=T(i-m-k+1,i), and there is no one piece </a:t>
            </a:r>
            <a:r>
              <a:rPr lang="en-US" altLang="zh-TW" sz="2400" dirty="0" err="1"/>
              <a:t>P</a:t>
            </a:r>
            <a:r>
              <a:rPr lang="en-US" altLang="zh-TW" sz="2400" baseline="-25000" dirty="0" err="1"/>
              <a:t>x</a:t>
            </a:r>
            <a:r>
              <a:rPr lang="en-US" altLang="zh-TW" sz="2400" dirty="0"/>
              <a:t> of P such that </a:t>
            </a:r>
            <a:r>
              <a:rPr lang="en-US" altLang="zh-TW" sz="2400" dirty="0" err="1"/>
              <a:t>DL</a:t>
            </a:r>
            <a:r>
              <a:rPr lang="en-US" altLang="zh-TW" sz="2400" baseline="-25000" dirty="0" err="1"/>
              <a:t>q</a:t>
            </a:r>
            <a:r>
              <a:rPr lang="en-US" altLang="zh-TW" sz="2400" dirty="0"/>
              <a:t>(</a:t>
            </a:r>
            <a:r>
              <a:rPr lang="en-US" altLang="zh-TW" sz="2400" dirty="0" err="1"/>
              <a:t>P</a:t>
            </a:r>
            <a:r>
              <a:rPr lang="en-US" altLang="zh-TW" sz="2400" baseline="-25000" dirty="0" err="1"/>
              <a:t>x</a:t>
            </a:r>
            <a:r>
              <a:rPr lang="en-US" altLang="zh-TW" sz="2400" dirty="0" err="1"/>
              <a:t>,W</a:t>
            </a:r>
            <a:r>
              <a:rPr lang="en-US" altLang="zh-TW" sz="2400" baseline="-25000" dirty="0" err="1"/>
              <a:t>x</a:t>
            </a:r>
            <a:r>
              <a:rPr lang="en-US" altLang="zh-TW" sz="2400" dirty="0"/>
              <a:t>)=0, then </a:t>
            </a:r>
            <a:r>
              <a:rPr lang="en-US" altLang="zh-TW" sz="2400" dirty="0" err="1"/>
              <a:t>de</a:t>
            </a:r>
            <a:r>
              <a:rPr lang="en-US" altLang="zh-TW" sz="2400" baseline="-25000" dirty="0" err="1"/>
              <a:t>i</a:t>
            </a:r>
            <a:r>
              <a:rPr lang="en-US" altLang="zh-TW" sz="2400" dirty="0"/>
              <a:t>&gt;k.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784" y="2891886"/>
            <a:ext cx="666843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3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Shifting window</a:t>
            </a:r>
          </a:p>
          <a:p>
            <a:pPr>
              <a:lnSpc>
                <a:spcPct val="150000"/>
              </a:lnSpc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When position 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 needs to be checked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784" y="2204864"/>
            <a:ext cx="6668431" cy="190526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691680" y="4869160"/>
            <a:ext cx="5760640" cy="2880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131839" y="5229200"/>
            <a:ext cx="1440160" cy="288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i</a:t>
            </a:r>
            <a:endParaRPr lang="zh-TW" altLang="en-US" baseline="-25000" dirty="0"/>
          </a:p>
        </p:txBody>
      </p:sp>
      <p:sp>
        <p:nvSpPr>
          <p:cNvPr id="11" name="矩形 10"/>
          <p:cNvSpPr/>
          <p:nvPr/>
        </p:nvSpPr>
        <p:spPr>
          <a:xfrm>
            <a:off x="3347864" y="5589240"/>
            <a:ext cx="1440160" cy="288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t</a:t>
            </a:r>
            <a:r>
              <a:rPr lang="en-US" altLang="zh-TW" baseline="-25000" dirty="0" smtClean="0"/>
              <a:t>i+1</a:t>
            </a:r>
            <a:endParaRPr lang="zh-TW" altLang="en-US" baseline="-25000" dirty="0"/>
          </a:p>
        </p:txBody>
      </p:sp>
      <p:sp>
        <p:nvSpPr>
          <p:cNvPr id="12" name="左大括弧 11"/>
          <p:cNvSpPr/>
          <p:nvPr/>
        </p:nvSpPr>
        <p:spPr>
          <a:xfrm rot="16200000">
            <a:off x="3795806" y="5285316"/>
            <a:ext cx="328256" cy="1656186"/>
          </a:xfrm>
          <a:prstGeom prst="leftBrace">
            <a:avLst>
              <a:gd name="adj1" fmla="val 48957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070598" y="6237312"/>
            <a:ext cx="478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more efficient to apply </a:t>
            </a:r>
            <a:r>
              <a:rPr lang="en-US" altLang="zh-TW" dirty="0" smtClean="0"/>
              <a:t>DP to the whole blue part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004048" y="5548590"/>
            <a:ext cx="386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If Position i+1 also needs to be checked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241257" y="486916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684959" y="5189666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W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771800" y="55465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W'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982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P: m={10,20,50}</a:t>
            </a:r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T: n=10M, </a:t>
            </a:r>
            <a:r>
              <a:rPr lang="el-GR" altLang="zh-TW" sz="2400" dirty="0" smtClean="0"/>
              <a:t>Σ</a:t>
            </a:r>
            <a:r>
              <a:rPr lang="en-US" altLang="zh-TW" sz="2400" dirty="0" smtClean="0"/>
              <a:t>={</a:t>
            </a:r>
            <a:r>
              <a:rPr lang="en-US" altLang="zh-TW" sz="2400" dirty="0" err="1" smtClean="0"/>
              <a:t>a,c,g,t</a:t>
            </a:r>
            <a:r>
              <a:rPr lang="en-US" altLang="zh-TW" sz="2400" dirty="0" smtClean="0"/>
              <a:t>} (randomly generate)</a:t>
            </a:r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1≤k≤10</a:t>
            </a:r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Parameter q: 1≤q≤5 (the best performance one).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4591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Experiments (m=10)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612257"/>
              </p:ext>
            </p:extLst>
          </p:nvPr>
        </p:nvGraphicFramePr>
        <p:xfrm>
          <a:off x="972000" y="1600200"/>
          <a:ext cx="7200000" cy="3600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</a:rPr>
                        <a:t>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3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CL90_LET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48.71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98.97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CL90_SET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99.11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CM94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100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FN04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0.87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33.02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97.76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NR00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0.98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43.5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99.89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WM92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2.32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47.95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98.47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U92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1.48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49.43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93.51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Our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0.47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30.29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91.94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</a:rPr>
                        <a:t>Our+NR00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0.23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18.08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90.76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99592" y="543593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percentage of positions needed </a:t>
            </a:r>
            <a:r>
              <a:rPr lang="en-US" altLang="zh-TW" dirty="0" smtClean="0"/>
              <a:t>to check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073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 (</a:t>
            </a:r>
            <a:r>
              <a:rPr lang="en-US" altLang="zh-TW" dirty="0" smtClean="0"/>
              <a:t>m=20)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458050"/>
              </p:ext>
            </p:extLst>
          </p:nvPr>
        </p:nvGraphicFramePr>
        <p:xfrm>
          <a:off x="1332000" y="1600200"/>
          <a:ext cx="6480000" cy="3600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0000"/>
                <a:gridCol w="1080000"/>
                <a:gridCol w="1080000"/>
                <a:gridCol w="1080000"/>
                <a:gridCol w="1080000"/>
                <a:gridCol w="1080000"/>
              </a:tblGrid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</a:rPr>
                        <a:t>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</a:rPr>
                        <a:t>CL90_LET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2.68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52.38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98.36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CL90_SET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88.87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CM94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8.86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70.27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FN04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0.89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26.42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91.62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NR00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59.03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WM92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1.74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9.66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42.23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94.09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U92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5.46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54.54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95.86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Our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32.25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90.74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Our+NR00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2.87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49.03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99592" y="543593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percentage of positions needed </a:t>
            </a:r>
            <a:r>
              <a:rPr lang="en-US" altLang="zh-TW" dirty="0" smtClean="0"/>
              <a:t>to check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574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 (</a:t>
            </a:r>
            <a:r>
              <a:rPr lang="en-US" altLang="zh-TW" dirty="0" smtClean="0"/>
              <a:t>m=50)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219011"/>
              </p:ext>
            </p:extLst>
          </p:nvPr>
        </p:nvGraphicFramePr>
        <p:xfrm>
          <a:off x="432000" y="1600200"/>
          <a:ext cx="8280000" cy="3600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0000"/>
                <a:gridCol w="720000"/>
                <a:gridCol w="720000"/>
                <a:gridCol w="720000"/>
                <a:gridCol w="720000"/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</a:rPr>
                        <a:t>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6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CL90_LET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1.32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23.64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80.09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98.89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CL90_SET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0.16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8.94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84.79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99.7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CM94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0.38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4.42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82.93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98.76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99.99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FN04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0.45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11.59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NR00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WM92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0.55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2.61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11.8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44.07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48.57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94.76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U92_Qgram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0.21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6.22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42.72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91.55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Our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0.09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3.29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24.65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83.98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Our+NR00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99592" y="543593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percentage of positions needed </a:t>
            </a:r>
            <a:r>
              <a:rPr lang="en-US" altLang="zh-TW" dirty="0" smtClean="0"/>
              <a:t>to check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6332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The End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Thank you for listening.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446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930</Words>
  <Application>Microsoft Office PowerPoint</Application>
  <PresentationFormat>如螢幕大小 (4:3)</PresentationFormat>
  <Paragraphs>299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A New Filtration Method Based on the Locality Property for Approximate String Matching</vt:lpstr>
      <vt:lpstr>Abstract</vt:lpstr>
      <vt:lpstr>Edit distance</vt:lpstr>
      <vt:lpstr>k differences problem</vt:lpstr>
      <vt:lpstr>Non-filtration &amp; Filtration approach</vt:lpstr>
      <vt:lpstr>The Partial Exact Matching</vt:lpstr>
      <vt:lpstr>q-gram (1/2)</vt:lpstr>
      <vt:lpstr>q-gram (2/2)</vt:lpstr>
      <vt:lpstr>This Algorithm</vt:lpstr>
      <vt:lpstr>Proof</vt:lpstr>
      <vt:lpstr>PowerPoint 簡報</vt:lpstr>
      <vt:lpstr>Experiments</vt:lpstr>
      <vt:lpstr>Experiments (m=10)</vt:lpstr>
      <vt:lpstr>Experiments (m=20)</vt:lpstr>
      <vt:lpstr>Experiments (m=50)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Filtration Method Based on the Locality Property for Approximate String Matching</dc:title>
  <dc:creator>YiPo</dc:creator>
  <cp:lastModifiedBy>YiPo</cp:lastModifiedBy>
  <cp:revision>30</cp:revision>
  <dcterms:created xsi:type="dcterms:W3CDTF">2012-07-16T16:08:21Z</dcterms:created>
  <dcterms:modified xsi:type="dcterms:W3CDTF">2012-07-17T08:26:58Z</dcterms:modified>
</cp:coreProperties>
</file>