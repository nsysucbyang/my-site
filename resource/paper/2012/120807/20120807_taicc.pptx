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77" r:id="rId5"/>
    <p:sldId id="275" r:id="rId6"/>
    <p:sldId id="276" r:id="rId7"/>
    <p:sldId id="263" r:id="rId8"/>
    <p:sldId id="260" r:id="rId9"/>
    <p:sldId id="266" r:id="rId10"/>
    <p:sldId id="278" r:id="rId11"/>
    <p:sldId id="269" r:id="rId12"/>
    <p:sldId id="270" r:id="rId13"/>
    <p:sldId id="274"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00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6BA1B2-5654-4C6A-9BC9-259264143649}" type="datetimeFigureOut">
              <a:rPr lang="zh-TW" altLang="en-US" smtClean="0"/>
              <a:t>2012/8/7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E593DB-A9F0-43A9-ADFD-864742618F80}" type="slidenum">
              <a:rPr lang="zh-TW" altLang="en-US" smtClean="0"/>
              <a:t>‹#›</a:t>
            </a:fld>
            <a:endParaRPr lang="zh-TW" altLang="en-US"/>
          </a:p>
        </p:txBody>
      </p:sp>
    </p:spTree>
    <p:extLst>
      <p:ext uri="{BB962C8B-B14F-4D97-AF65-F5344CB8AC3E}">
        <p14:creationId xmlns:p14="http://schemas.microsoft.com/office/powerpoint/2010/main" val="629082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FB55EB1C-CCAB-410B-BDBF-A95636BA528E}" type="slidenum">
              <a:rPr lang="zh-TW" altLang="en-US" smtClean="0"/>
              <a:pPr/>
              <a:t>1</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3923096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3334374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2537355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2682445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1425218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1189376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1561011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3300401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1393601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249189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46D2AB3-D148-43B2-A6FB-3353178849D3}" type="datetimeFigureOut">
              <a:rPr lang="zh-TW" altLang="en-US" smtClean="0"/>
              <a:t>2012/8/7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524745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6D2AB3-D148-43B2-A6FB-3353178849D3}" type="datetimeFigureOut">
              <a:rPr lang="zh-TW" altLang="en-US" smtClean="0"/>
              <a:t>2012/8/7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6D5F50-B029-45B8-9115-CCA671E63E34}" type="slidenum">
              <a:rPr lang="zh-TW" altLang="en-US" smtClean="0"/>
              <a:t>‹#›</a:t>
            </a:fld>
            <a:endParaRPr lang="zh-TW" altLang="en-US"/>
          </a:p>
        </p:txBody>
      </p:sp>
    </p:spTree>
    <p:extLst>
      <p:ext uri="{BB962C8B-B14F-4D97-AF65-F5344CB8AC3E}">
        <p14:creationId xmlns:p14="http://schemas.microsoft.com/office/powerpoint/2010/main" val="710372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692696"/>
            <a:ext cx="9144000" cy="1470025"/>
          </a:xfrm>
        </p:spPr>
        <p:txBody>
          <a:bodyPr>
            <a:noAutofit/>
          </a:bodyPr>
          <a:lstStyle/>
          <a:p>
            <a:r>
              <a:rPr lang="en-US" altLang="zh-TW" sz="3200" dirty="0" smtClean="0"/>
              <a:t>Using Support Vector Machine Combined with Auto </a:t>
            </a:r>
            <a:br>
              <a:rPr lang="en-US" altLang="zh-TW" sz="3200" dirty="0" smtClean="0"/>
            </a:br>
            <a:r>
              <a:rPr lang="en-US" altLang="zh-TW" sz="3200" dirty="0" smtClean="0"/>
              <a:t>Covariance to Predict Protein–protein </a:t>
            </a:r>
            <a:r>
              <a:rPr lang="en-US" altLang="zh-TW" sz="3200" dirty="0"/>
              <a:t>I</a:t>
            </a:r>
            <a:r>
              <a:rPr lang="en-US" altLang="zh-TW" sz="3200" dirty="0" smtClean="0"/>
              <a:t>nteractions </a:t>
            </a:r>
            <a:br>
              <a:rPr lang="en-US" altLang="zh-TW" sz="3200" dirty="0" smtClean="0"/>
            </a:br>
            <a:r>
              <a:rPr lang="en-US" altLang="zh-TW" sz="3200" dirty="0" smtClean="0"/>
              <a:t>from Protein Sequences</a:t>
            </a:r>
            <a:endParaRPr lang="en-US" altLang="zh-TW" sz="3200" dirty="0"/>
          </a:p>
        </p:txBody>
      </p:sp>
      <p:sp>
        <p:nvSpPr>
          <p:cNvPr id="4" name="副標題 2"/>
          <p:cNvSpPr>
            <a:spLocks noGrp="1"/>
          </p:cNvSpPr>
          <p:nvPr>
            <p:ph type="subTitle" idx="1"/>
          </p:nvPr>
        </p:nvSpPr>
        <p:spPr>
          <a:xfrm>
            <a:off x="35496" y="2780928"/>
            <a:ext cx="9108504" cy="1512168"/>
          </a:xfrm>
        </p:spPr>
        <p:txBody>
          <a:bodyPr anchor="ctr">
            <a:normAutofit/>
          </a:bodyPr>
          <a:lstStyle/>
          <a:p>
            <a:r>
              <a:rPr lang="en-US" altLang="zh-TW" sz="2300" dirty="0" err="1" smtClean="0">
                <a:solidFill>
                  <a:schemeClr val="tx1">
                    <a:lumMod val="65000"/>
                    <a:lumOff val="35000"/>
                  </a:schemeClr>
                </a:solidFill>
                <a:ea typeface="微軟正黑體" pitchFamily="34" charset="-120"/>
                <a:cs typeface="Times New Roman" pitchFamily="18" charset="0"/>
              </a:rPr>
              <a:t>Yanzhi</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Guo</a:t>
            </a:r>
            <a:r>
              <a:rPr lang="en-US" altLang="zh-TW" sz="2300" dirty="0" smtClean="0">
                <a:solidFill>
                  <a:schemeClr val="tx1">
                    <a:lumMod val="65000"/>
                    <a:lumOff val="35000"/>
                  </a:schemeClr>
                </a:solidFill>
                <a:ea typeface="微軟正黑體" pitchFamily="34" charset="-120"/>
                <a:cs typeface="Times New Roman" pitchFamily="18" charset="0"/>
              </a:rPr>
              <a:t>(</a:t>
            </a:r>
            <a:r>
              <a:rPr lang="zh-TW" altLang="en-US" sz="2300" dirty="0" smtClean="0">
                <a:solidFill>
                  <a:schemeClr val="tx1">
                    <a:lumMod val="65000"/>
                    <a:lumOff val="35000"/>
                  </a:schemeClr>
                </a:solidFill>
                <a:ea typeface="微軟正黑體" pitchFamily="34" charset="-120"/>
                <a:cs typeface="Times New Roman" pitchFamily="18" charset="0"/>
              </a:rPr>
              <a:t>郭研芝</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Lezheng</a:t>
            </a:r>
            <a:r>
              <a:rPr lang="en-US" altLang="zh-TW" sz="2300" dirty="0" smtClean="0">
                <a:solidFill>
                  <a:schemeClr val="tx1">
                    <a:lumMod val="65000"/>
                    <a:lumOff val="35000"/>
                  </a:schemeClr>
                </a:solidFill>
                <a:ea typeface="微軟正黑體" pitchFamily="34" charset="-120"/>
                <a:cs typeface="Times New Roman" pitchFamily="18" charset="0"/>
              </a:rPr>
              <a:t> Yu(</a:t>
            </a:r>
            <a:r>
              <a:rPr lang="zh-TW" altLang="en-US" sz="2300" dirty="0" smtClean="0">
                <a:solidFill>
                  <a:schemeClr val="tx1">
                    <a:lumMod val="65000"/>
                    <a:lumOff val="35000"/>
                  </a:schemeClr>
                </a:solidFill>
                <a:ea typeface="微軟正黑體" pitchFamily="34" charset="-120"/>
                <a:cs typeface="Times New Roman" pitchFamily="18" charset="0"/>
              </a:rPr>
              <a:t>余樂正</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Zhining</a:t>
            </a:r>
            <a:r>
              <a:rPr lang="en-US" altLang="zh-TW" sz="2300" dirty="0" smtClean="0">
                <a:solidFill>
                  <a:schemeClr val="tx1">
                    <a:lumMod val="65000"/>
                    <a:lumOff val="35000"/>
                  </a:schemeClr>
                </a:solidFill>
                <a:ea typeface="微軟正黑體" pitchFamily="34" charset="-120"/>
                <a:cs typeface="Times New Roman" pitchFamily="18" charset="0"/>
              </a:rPr>
              <a:t> Wen(</a:t>
            </a:r>
            <a:r>
              <a:rPr lang="zh-TW" altLang="en-US" sz="2300" dirty="0" smtClean="0">
                <a:solidFill>
                  <a:schemeClr val="tx1">
                    <a:lumMod val="65000"/>
                    <a:lumOff val="35000"/>
                  </a:schemeClr>
                </a:solidFill>
                <a:ea typeface="微軟正黑體" pitchFamily="34" charset="-120"/>
                <a:cs typeface="Times New Roman" pitchFamily="18" charset="0"/>
              </a:rPr>
              <a:t>文志寧</a:t>
            </a:r>
            <a:r>
              <a:rPr lang="en-US" altLang="zh-TW" sz="2300" dirty="0" smtClean="0">
                <a:solidFill>
                  <a:schemeClr val="tx1">
                    <a:lumMod val="65000"/>
                    <a:lumOff val="35000"/>
                  </a:schemeClr>
                </a:solidFill>
                <a:ea typeface="微軟正黑體" pitchFamily="34" charset="-120"/>
                <a:cs typeface="Times New Roman" pitchFamily="18" charset="0"/>
              </a:rPr>
              <a:t>) and </a:t>
            </a:r>
            <a:r>
              <a:rPr lang="en-US" altLang="zh-TW" sz="2300" dirty="0" err="1" smtClean="0">
                <a:solidFill>
                  <a:schemeClr val="tx1">
                    <a:lumMod val="65000"/>
                    <a:lumOff val="35000"/>
                  </a:schemeClr>
                </a:solidFill>
                <a:ea typeface="微軟正黑體" pitchFamily="34" charset="-120"/>
                <a:cs typeface="Times New Roman" pitchFamily="18" charset="0"/>
              </a:rPr>
              <a:t>Menglong</a:t>
            </a:r>
            <a:r>
              <a:rPr lang="en-US" altLang="zh-TW" sz="2300" dirty="0" smtClean="0">
                <a:solidFill>
                  <a:schemeClr val="tx1">
                    <a:lumMod val="65000"/>
                    <a:lumOff val="35000"/>
                  </a:schemeClr>
                </a:solidFill>
                <a:ea typeface="微軟正黑體" pitchFamily="34" charset="-120"/>
                <a:cs typeface="Times New Roman" pitchFamily="18" charset="0"/>
              </a:rPr>
              <a:t> Li(</a:t>
            </a:r>
            <a:r>
              <a:rPr lang="zh-TW" altLang="en-US" sz="2300" dirty="0" smtClean="0">
                <a:solidFill>
                  <a:schemeClr val="tx1">
                    <a:lumMod val="65000"/>
                    <a:lumOff val="35000"/>
                  </a:schemeClr>
                </a:solidFill>
                <a:ea typeface="微軟正黑體" pitchFamily="34" charset="-120"/>
                <a:cs typeface="Times New Roman" pitchFamily="18" charset="0"/>
              </a:rPr>
              <a:t>李夢龍</a:t>
            </a:r>
            <a:r>
              <a:rPr lang="en-US" altLang="zh-TW" sz="2300" dirty="0" smtClean="0">
                <a:solidFill>
                  <a:schemeClr val="tx1">
                    <a:lumMod val="65000"/>
                    <a:lumOff val="35000"/>
                  </a:schemeClr>
                </a:solidFill>
                <a:ea typeface="微軟正黑體" pitchFamily="34" charset="-120"/>
                <a:cs typeface="Times New Roman" pitchFamily="18" charset="0"/>
              </a:rPr>
              <a:t>)</a:t>
            </a:r>
            <a:r>
              <a:rPr lang="en-US" altLang="zh-TW" sz="2300" dirty="0" smtClean="0">
                <a:solidFill>
                  <a:schemeClr val="tx1">
                    <a:lumMod val="65000"/>
                    <a:lumOff val="35000"/>
                  </a:schemeClr>
                </a:solidFill>
              </a:rPr>
              <a:t/>
            </a:r>
            <a:br>
              <a:rPr lang="en-US" altLang="zh-TW" sz="2300" dirty="0" smtClean="0">
                <a:solidFill>
                  <a:schemeClr val="tx1">
                    <a:lumMod val="65000"/>
                    <a:lumOff val="35000"/>
                  </a:schemeClr>
                </a:solidFill>
              </a:rPr>
            </a:br>
            <a:r>
              <a:rPr lang="en-US" altLang="zh-TW" sz="2300" dirty="0" smtClean="0">
                <a:solidFill>
                  <a:schemeClr val="tx1">
                    <a:lumMod val="65000"/>
                    <a:lumOff val="35000"/>
                  </a:schemeClr>
                </a:solidFill>
              </a:rPr>
              <a:t> Nucleic Acids Research, Volume 36, No. 9, Pages </a:t>
            </a:r>
            <a:r>
              <a:rPr lang="en-US" altLang="zh-TW" sz="2300" dirty="0" smtClean="0">
                <a:solidFill>
                  <a:schemeClr val="tx1">
                    <a:lumMod val="65000"/>
                    <a:lumOff val="35000"/>
                  </a:schemeClr>
                </a:solidFill>
              </a:rPr>
              <a:t>3025-3030, April 2008.</a:t>
            </a:r>
            <a:endParaRPr lang="zh-TW" altLang="en-US" sz="2300" dirty="0">
              <a:solidFill>
                <a:schemeClr val="tx1">
                  <a:lumMod val="65000"/>
                  <a:lumOff val="35000"/>
                </a:schemeClr>
              </a:solidFill>
              <a:ea typeface="微軟正黑體" pitchFamily="34" charset="-120"/>
              <a:cs typeface="Times New Roman" pitchFamily="18" charset="0"/>
            </a:endParaRPr>
          </a:p>
        </p:txBody>
      </p:sp>
      <p:sp>
        <p:nvSpPr>
          <p:cNvPr id="6" name="文字方塊 5"/>
          <p:cNvSpPr txBox="1"/>
          <p:nvPr/>
        </p:nvSpPr>
        <p:spPr>
          <a:xfrm>
            <a:off x="4860032" y="5301208"/>
            <a:ext cx="3384376" cy="830997"/>
          </a:xfrm>
          <a:prstGeom prst="rect">
            <a:avLst/>
          </a:prstGeom>
          <a:noFill/>
        </p:spPr>
        <p:txBody>
          <a:bodyPr wrap="square" rtlCol="0">
            <a:spAutoFit/>
          </a:bodyPr>
          <a:lstStyle/>
          <a:p>
            <a:r>
              <a:rPr lang="en-US" altLang="zh-TW" sz="2400" dirty="0" smtClean="0">
                <a:solidFill>
                  <a:schemeClr val="tx1">
                    <a:lumMod val="65000"/>
                    <a:lumOff val="35000"/>
                  </a:schemeClr>
                </a:solidFill>
                <a:cs typeface="Times New Roman" pitchFamily="18" charset="0"/>
              </a:rPr>
              <a:t>Presenter: Chun-</a:t>
            </a:r>
            <a:r>
              <a:rPr lang="en-US" altLang="zh-TW" sz="2400" dirty="0" err="1" smtClean="0">
                <a:solidFill>
                  <a:schemeClr val="tx1">
                    <a:lumMod val="65000"/>
                    <a:lumOff val="35000"/>
                  </a:schemeClr>
                </a:solidFill>
                <a:cs typeface="Times New Roman" pitchFamily="18" charset="0"/>
              </a:rPr>
              <a:t>Chieh</a:t>
            </a:r>
            <a:r>
              <a:rPr lang="en-US" altLang="zh-TW" sz="2400" dirty="0" smtClean="0">
                <a:solidFill>
                  <a:schemeClr val="tx1">
                    <a:lumMod val="65000"/>
                    <a:lumOff val="35000"/>
                  </a:schemeClr>
                </a:solidFill>
                <a:cs typeface="Times New Roman" pitchFamily="18" charset="0"/>
              </a:rPr>
              <a:t> Tai</a:t>
            </a:r>
          </a:p>
          <a:p>
            <a:r>
              <a:rPr lang="en-US" altLang="zh-TW" sz="2400" dirty="0" smtClean="0">
                <a:solidFill>
                  <a:schemeClr val="tx1">
                    <a:lumMod val="65000"/>
                    <a:lumOff val="35000"/>
                  </a:schemeClr>
                </a:solidFill>
                <a:cs typeface="Times New Roman" pitchFamily="18" charset="0"/>
              </a:rPr>
              <a:t>Date</a:t>
            </a:r>
            <a:r>
              <a:rPr lang="en-US" altLang="zh-TW" sz="2400" dirty="0">
                <a:solidFill>
                  <a:schemeClr val="tx1">
                    <a:lumMod val="65000"/>
                    <a:lumOff val="35000"/>
                  </a:schemeClr>
                </a:solidFill>
                <a:cs typeface="Times New Roman" pitchFamily="18" charset="0"/>
              </a:rPr>
              <a:t>: </a:t>
            </a:r>
            <a:r>
              <a:rPr lang="en-US" altLang="zh-TW" sz="2400" dirty="0" smtClean="0">
                <a:solidFill>
                  <a:schemeClr val="tx1">
                    <a:lumMod val="65000"/>
                    <a:lumOff val="35000"/>
                  </a:schemeClr>
                </a:solidFill>
                <a:cs typeface="Times New Roman" pitchFamily="18" charset="0"/>
              </a:rPr>
              <a:t>August 7, 2012</a:t>
            </a:r>
            <a:endParaRPr lang="zh-TW" altLang="en-US" sz="2400" dirty="0">
              <a:solidFill>
                <a:schemeClr val="tx1">
                  <a:lumMod val="65000"/>
                  <a:lumOff val="35000"/>
                </a:schemeClr>
              </a:solidFill>
              <a:cs typeface="Times New Roman" pitchFamily="18" charset="0"/>
            </a:endParaRPr>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1</a:t>
            </a:fld>
            <a:endParaRPr lang="zh-TW" altLang="en-US"/>
          </a:p>
        </p:txBody>
      </p:sp>
    </p:spTree>
    <p:extLst>
      <p:ext uri="{BB962C8B-B14F-4D97-AF65-F5344CB8AC3E}">
        <p14:creationId xmlns:p14="http://schemas.microsoft.com/office/powerpoint/2010/main" val="16492516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p:txBody>
          <a:bodyPr>
            <a:noAutofit/>
          </a:bodyPr>
          <a:lstStyle/>
          <a:p>
            <a:pPr algn="just">
              <a:buNone/>
            </a:pPr>
            <a:r>
              <a:rPr lang="en-US" altLang="zh-TW" sz="2400" dirty="0" smtClean="0"/>
              <a:t>	</a:t>
            </a:r>
            <a:r>
              <a:rPr lang="en-US" altLang="zh-TW" sz="2400" dirty="0" smtClean="0"/>
              <a:t>	Compared </a:t>
            </a:r>
            <a:r>
              <a:rPr lang="en-US" altLang="zh-TW" sz="2400" dirty="0" smtClean="0"/>
              <a:t>to the available protein sequences of different organisms, the number of revealed protein–protein interactions (PPIs) is still very limited. So many computational methods have been developed to facilitate the identification of novel PPIs. However, the methods only using the information of protein sequences are more universal than those that depend on some additional information or predictions about the proteins. In this article, a sequence-based method is proposed by combining a new feature representation using auto covariance (AC) and support vector machine (SVM). </a:t>
            </a: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extLst>
      <p:ext uri="{BB962C8B-B14F-4D97-AF65-F5344CB8AC3E}">
        <p14:creationId xmlns:p14="http://schemas.microsoft.com/office/powerpoint/2010/main" val="32985374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p:txBody>
          <a:bodyPr vert="horz" lIns="91440" tIns="45720" rIns="91440" bIns="45720" rtlCol="0">
            <a:normAutofit fontScale="92500"/>
          </a:bodyPr>
          <a:lstStyle/>
          <a:p>
            <a:pPr algn="just">
              <a:buNone/>
            </a:pPr>
            <a:r>
              <a:rPr lang="en-US" altLang="zh-TW" sz="2400" dirty="0" smtClean="0"/>
              <a:t>	</a:t>
            </a:r>
            <a:r>
              <a:rPr lang="en-US" altLang="zh-TW" sz="2400" dirty="0" smtClean="0"/>
              <a:t>	AC </a:t>
            </a:r>
            <a:r>
              <a:rPr lang="en-US" altLang="zh-TW" sz="2400" dirty="0" smtClean="0"/>
              <a:t>accounts for the interactions between residues a certain distance apart in the sequence, so this method adequately takes the </a:t>
            </a:r>
            <a:r>
              <a:rPr lang="en-US" altLang="zh-TW" sz="2400" dirty="0" err="1" smtClean="0"/>
              <a:t>neighbouring</a:t>
            </a:r>
            <a:r>
              <a:rPr lang="en-US" altLang="zh-TW" sz="2400" dirty="0" smtClean="0"/>
              <a:t> effect into account. When performed on the PPI data of yeast Saccharomyces </a:t>
            </a:r>
            <a:r>
              <a:rPr lang="en-US" altLang="zh-TW" sz="2400" dirty="0" err="1" smtClean="0"/>
              <a:t>cerevisiae</a:t>
            </a:r>
            <a:r>
              <a:rPr lang="en-US" altLang="zh-TW" sz="2400" dirty="0" smtClean="0"/>
              <a:t>(</a:t>
            </a:r>
            <a:r>
              <a:rPr lang="zh-TW" altLang="en-US" sz="2400" dirty="0"/>
              <a:t>釀酒</a:t>
            </a:r>
            <a:r>
              <a:rPr lang="zh-TW" altLang="en-US" sz="2400" dirty="0" smtClean="0"/>
              <a:t>酵母</a:t>
            </a:r>
            <a:r>
              <a:rPr lang="en-US" altLang="zh-TW" sz="2400" dirty="0" smtClean="0"/>
              <a:t>), </a:t>
            </a:r>
            <a:r>
              <a:rPr lang="en-US" altLang="zh-TW" sz="2400" dirty="0" smtClean="0"/>
              <a:t>the method achieved a very promising prediction result. An independent data set of 11474 yeast PPIs was used to evaluate this prediction model and the prediction accuracy is 88.09%. The performance of this method is superior to those of the existing sequence-based methods, so it can be a useful supplementary tool for future proteomics studies</a:t>
            </a:r>
            <a:r>
              <a:rPr lang="en-US" altLang="zh-TW" sz="2400" dirty="0" smtClean="0"/>
              <a:t>.</a:t>
            </a:r>
          </a:p>
          <a:p>
            <a:pPr algn="just">
              <a:buNone/>
            </a:pPr>
            <a:r>
              <a:rPr lang="en-US" altLang="zh-TW" sz="2400" dirty="0"/>
              <a:t>	</a:t>
            </a:r>
            <a:r>
              <a:rPr lang="en-US" altLang="zh-TW" sz="2400" dirty="0" smtClean="0"/>
              <a:t>	</a:t>
            </a:r>
            <a:r>
              <a:rPr lang="en-US" altLang="zh-TW" sz="2400" dirty="0" smtClean="0"/>
              <a:t>The </a:t>
            </a:r>
            <a:r>
              <a:rPr lang="en-US" altLang="zh-TW" sz="2400" dirty="0" smtClean="0"/>
              <a:t>prediction software and all data sets used in this article are freely available at http://www.scucic.cn/Predict_PPI/index.htm.</a:t>
            </a: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extLst>
      <p:ext uri="{BB962C8B-B14F-4D97-AF65-F5344CB8AC3E}">
        <p14:creationId xmlns:p14="http://schemas.microsoft.com/office/powerpoint/2010/main" val="40907006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4638"/>
            <a:ext cx="9144000" cy="1143000"/>
          </a:xfrm>
        </p:spPr>
        <p:txBody>
          <a:bodyPr>
            <a:noAutofit/>
          </a:bodyPr>
          <a:lstStyle/>
          <a:p>
            <a:r>
              <a:rPr lang="en-US" altLang="zh-TW" sz="4000" dirty="0" smtClean="0"/>
              <a:t>Seven Physicochemical Properties</a:t>
            </a:r>
            <a:br>
              <a:rPr lang="en-US" altLang="zh-TW" sz="4000" dirty="0" smtClean="0"/>
            </a:br>
            <a:r>
              <a:rPr lang="en-US" altLang="zh-TW" sz="4000" dirty="0" smtClean="0"/>
              <a:t> of Amino Acids </a:t>
            </a:r>
            <a:endParaRPr lang="zh-TW" altLang="en-US" sz="4000" dirty="0"/>
          </a:p>
        </p:txBody>
      </p:sp>
      <p:sp>
        <p:nvSpPr>
          <p:cNvPr id="3" name="內容版面配置區 2"/>
          <p:cNvSpPr>
            <a:spLocks noGrp="1"/>
          </p:cNvSpPr>
          <p:nvPr>
            <p:ph idx="1"/>
          </p:nvPr>
        </p:nvSpPr>
        <p:spPr/>
        <p:txBody>
          <a:bodyPr>
            <a:normAutofit fontScale="70000" lnSpcReduction="20000"/>
          </a:bodyPr>
          <a:lstStyle/>
          <a:p>
            <a:r>
              <a:rPr lang="en-US" altLang="zh-TW" dirty="0" smtClean="0"/>
              <a:t>Hydrophobicity</a:t>
            </a:r>
          </a:p>
          <a:p>
            <a:pPr lvl="1"/>
            <a:r>
              <a:rPr lang="zh-TW" altLang="en-US" dirty="0" smtClean="0"/>
              <a:t>疏水性</a:t>
            </a:r>
            <a:endParaRPr lang="en-US" altLang="zh-TW" dirty="0" smtClean="0"/>
          </a:p>
          <a:p>
            <a:r>
              <a:rPr lang="en-US" altLang="zh-TW" dirty="0" err="1" smtClean="0"/>
              <a:t>Hydrophicility</a:t>
            </a:r>
            <a:r>
              <a:rPr lang="en-US" altLang="zh-TW" dirty="0" smtClean="0"/>
              <a:t> </a:t>
            </a:r>
          </a:p>
          <a:p>
            <a:r>
              <a:rPr lang="en-US" altLang="zh-TW" dirty="0" smtClean="0"/>
              <a:t>Volumes of side chains of amino acids</a:t>
            </a:r>
          </a:p>
          <a:p>
            <a:pPr lvl="1"/>
            <a:r>
              <a:rPr lang="zh-TW" altLang="en-US" dirty="0" smtClean="0"/>
              <a:t>氨基酸</a:t>
            </a:r>
            <a:r>
              <a:rPr lang="zh-TW" altLang="en-US" dirty="0"/>
              <a:t>側鏈</a:t>
            </a:r>
            <a:r>
              <a:rPr lang="zh-TW" altLang="en-US" dirty="0" smtClean="0"/>
              <a:t>卷</a:t>
            </a:r>
            <a:endParaRPr lang="en-US" altLang="zh-TW" dirty="0" smtClean="0"/>
          </a:p>
          <a:p>
            <a:r>
              <a:rPr lang="en-US" altLang="zh-TW" dirty="0" smtClean="0"/>
              <a:t>Polarity</a:t>
            </a:r>
          </a:p>
          <a:p>
            <a:pPr lvl="1"/>
            <a:r>
              <a:rPr lang="zh-TW" altLang="en-US" dirty="0" smtClean="0"/>
              <a:t>極性</a:t>
            </a:r>
            <a:endParaRPr lang="en-US" altLang="zh-TW" dirty="0" smtClean="0"/>
          </a:p>
          <a:p>
            <a:r>
              <a:rPr lang="en-US" altLang="zh-TW" dirty="0" err="1" smtClean="0"/>
              <a:t>Polarizability</a:t>
            </a:r>
            <a:endParaRPr lang="en-US" altLang="zh-TW" dirty="0" smtClean="0"/>
          </a:p>
          <a:p>
            <a:pPr lvl="1"/>
            <a:r>
              <a:rPr lang="zh-TW" altLang="en-US" dirty="0" smtClean="0"/>
              <a:t>極化</a:t>
            </a:r>
            <a:endParaRPr lang="en-US" altLang="zh-TW" dirty="0" smtClean="0"/>
          </a:p>
          <a:p>
            <a:r>
              <a:rPr lang="en-US" altLang="zh-TW" dirty="0"/>
              <a:t>solvent-</a:t>
            </a:r>
            <a:r>
              <a:rPr lang="en-US" altLang="zh-TW" dirty="0" err="1"/>
              <a:t>accessiblesurfacearea</a:t>
            </a:r>
            <a:r>
              <a:rPr lang="en-US" altLang="zh-TW" dirty="0"/>
              <a:t>(SASA</a:t>
            </a:r>
            <a:r>
              <a:rPr lang="en-US" altLang="zh-TW" dirty="0" smtClean="0"/>
              <a:t>)</a:t>
            </a:r>
          </a:p>
          <a:p>
            <a:pPr lvl="1"/>
            <a:r>
              <a:rPr lang="zh-TW" altLang="en-US" dirty="0" smtClean="0"/>
              <a:t>溶劑</a:t>
            </a:r>
            <a:r>
              <a:rPr lang="zh-TW" altLang="en-US" dirty="0"/>
              <a:t>可接近表面</a:t>
            </a:r>
            <a:r>
              <a:rPr lang="zh-TW" altLang="en-US" dirty="0" smtClean="0"/>
              <a:t>面積</a:t>
            </a:r>
            <a:endParaRPr lang="en-US" altLang="zh-TW" dirty="0" smtClean="0"/>
          </a:p>
          <a:p>
            <a:r>
              <a:rPr lang="en-US" altLang="zh-TW" dirty="0" smtClean="0"/>
              <a:t>Net charge index (NCI) of side chains of amino acids</a:t>
            </a:r>
          </a:p>
          <a:p>
            <a:pPr lvl="1"/>
            <a:r>
              <a:rPr lang="zh-TW" altLang="en-US" dirty="0" smtClean="0"/>
              <a:t>淨</a:t>
            </a:r>
            <a:r>
              <a:rPr lang="zh-TW" altLang="en-US" dirty="0"/>
              <a:t>電荷指數（</a:t>
            </a:r>
            <a:r>
              <a:rPr lang="en-US" altLang="zh-TW" dirty="0"/>
              <a:t>NCI</a:t>
            </a:r>
            <a:r>
              <a:rPr lang="zh-TW" altLang="en-US" dirty="0"/>
              <a:t>）的側鏈</a:t>
            </a:r>
            <a:r>
              <a:rPr lang="zh-TW" altLang="en-US" dirty="0" smtClean="0"/>
              <a:t>氨基酸</a:t>
            </a:r>
            <a:endParaRPr lang="zh-TW" altLang="en-US" dirty="0"/>
          </a:p>
        </p:txBody>
      </p:sp>
    </p:spTree>
    <p:extLst>
      <p:ext uri="{BB962C8B-B14F-4D97-AF65-F5344CB8AC3E}">
        <p14:creationId xmlns:p14="http://schemas.microsoft.com/office/powerpoint/2010/main" val="1858851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1027"/>
            <a:ext cx="7523758" cy="683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72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Normalized</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To Zero mean and unit standard deviation</a:t>
            </a:r>
          </a:p>
          <a:p>
            <a:endParaRPr lang="en-US" altLang="zh-TW" dirty="0"/>
          </a:p>
          <a:p>
            <a:endParaRPr lang="en-US" altLang="zh-TW" dirty="0" smtClean="0"/>
          </a:p>
          <a:p>
            <a:endParaRPr lang="en-US" altLang="zh-TW" dirty="0"/>
          </a:p>
          <a:p>
            <a:endParaRPr lang="en-US" altLang="zh-TW" dirty="0" smtClean="0"/>
          </a:p>
          <a:p>
            <a:r>
              <a:rPr lang="en-US" altLang="zh-TW" dirty="0" err="1" smtClean="0"/>
              <a:t>P</a:t>
            </a:r>
            <a:r>
              <a:rPr lang="en-US" altLang="zh-TW" baseline="-25000" dirty="0" err="1" smtClean="0"/>
              <a:t>i,j</a:t>
            </a:r>
            <a:r>
              <a:rPr lang="en-US" altLang="zh-TW" dirty="0"/>
              <a:t>: the </a:t>
            </a:r>
            <a:r>
              <a:rPr lang="en-US" altLang="zh-TW" dirty="0" smtClean="0"/>
              <a:t>j-</a:t>
            </a:r>
            <a:r>
              <a:rPr lang="en-US" altLang="zh-TW" dirty="0" err="1" smtClean="0"/>
              <a:t>th</a:t>
            </a:r>
            <a:r>
              <a:rPr lang="en-US" altLang="zh-TW" dirty="0" smtClean="0"/>
              <a:t> descriptor value for </a:t>
            </a:r>
            <a:r>
              <a:rPr lang="en-US" altLang="zh-TW" dirty="0" err="1" smtClean="0"/>
              <a:t>i-th</a:t>
            </a:r>
            <a:r>
              <a:rPr lang="en-US" altLang="zh-TW" dirty="0" smtClean="0"/>
              <a:t> amino acid</a:t>
            </a:r>
          </a:p>
          <a:p>
            <a:r>
              <a:rPr lang="en-US" altLang="zh-TW" dirty="0" err="1" smtClean="0"/>
              <a:t>P</a:t>
            </a:r>
            <a:r>
              <a:rPr lang="en-US" altLang="zh-TW" baseline="-25000" dirty="0" err="1" smtClean="0"/>
              <a:t>j</a:t>
            </a:r>
            <a:r>
              <a:rPr lang="en-US" altLang="zh-TW" dirty="0"/>
              <a:t>: </a:t>
            </a:r>
            <a:r>
              <a:rPr lang="en-US" altLang="zh-TW" dirty="0" smtClean="0"/>
              <a:t>the mean of j-</a:t>
            </a:r>
            <a:r>
              <a:rPr lang="en-US" altLang="zh-TW" dirty="0" err="1" smtClean="0"/>
              <a:t>th</a:t>
            </a:r>
            <a:r>
              <a:rPr lang="en-US" altLang="zh-TW" dirty="0" smtClean="0"/>
              <a:t> descriptor over the 20 amino acids</a:t>
            </a:r>
          </a:p>
          <a:p>
            <a:r>
              <a:rPr lang="en-US" altLang="zh-TW" dirty="0" err="1" smtClean="0"/>
              <a:t>S</a:t>
            </a:r>
            <a:r>
              <a:rPr lang="en-US" altLang="zh-TW" baseline="-25000" dirty="0" err="1" smtClean="0"/>
              <a:t>j</a:t>
            </a:r>
            <a:r>
              <a:rPr lang="en-US" altLang="zh-TW" dirty="0"/>
              <a:t>: </a:t>
            </a:r>
            <a:r>
              <a:rPr lang="en-US" altLang="zh-TW" dirty="0" smtClean="0"/>
              <a:t>the </a:t>
            </a:r>
            <a:r>
              <a:rPr lang="en-US" altLang="zh-TW" dirty="0"/>
              <a:t>corresponding </a:t>
            </a:r>
            <a:r>
              <a:rPr lang="en-US" altLang="zh-TW" dirty="0" smtClean="0"/>
              <a:t>standard deviation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173558"/>
            <a:ext cx="4104456" cy="193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7104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Auto </a:t>
            </a:r>
            <a:r>
              <a:rPr lang="en-US" altLang="zh-TW" dirty="0" err="1" smtClean="0"/>
              <a:t>Convariance</a:t>
            </a:r>
            <a:r>
              <a:rPr lang="en-US" altLang="zh-TW" dirty="0" smtClean="0"/>
              <a:t> Variables</a:t>
            </a:r>
            <a:endParaRPr lang="zh-TW" altLang="en-US" dirty="0"/>
          </a:p>
        </p:txBody>
      </p:sp>
      <p:sp>
        <p:nvSpPr>
          <p:cNvPr id="3" name="內容版面配置區 2"/>
          <p:cNvSpPr>
            <a:spLocks noGrp="1"/>
          </p:cNvSpPr>
          <p:nvPr>
            <p:ph idx="1"/>
          </p:nvPr>
        </p:nvSpPr>
        <p:spPr>
          <a:xfrm>
            <a:off x="457200" y="4221088"/>
            <a:ext cx="8229600" cy="1905075"/>
          </a:xfrm>
        </p:spPr>
        <p:txBody>
          <a:bodyPr>
            <a:normAutofit fontScale="85000" lnSpcReduction="20000"/>
          </a:bodyPr>
          <a:lstStyle/>
          <a:p>
            <a:r>
              <a:rPr lang="en-US" altLang="zh-TW" dirty="0" smtClean="0"/>
              <a:t>lag: the distance between an amino acid residue and its neighbor a certain number of residues away, lag = 1, 2, …, </a:t>
            </a:r>
            <a:r>
              <a:rPr lang="en-US" altLang="zh-TW" dirty="0" err="1" smtClean="0"/>
              <a:t>lg</a:t>
            </a:r>
            <a:endParaRPr lang="en-US" altLang="zh-TW" dirty="0" smtClean="0"/>
          </a:p>
          <a:p>
            <a:r>
              <a:rPr lang="en-US" altLang="zh-TW" dirty="0" smtClean="0"/>
              <a:t>J: descriptor(</a:t>
            </a:r>
            <a:r>
              <a:rPr lang="en-US" altLang="zh-TW" dirty="0" err="1" smtClean="0"/>
              <a:t>hydrophobicity</a:t>
            </a:r>
            <a:r>
              <a:rPr lang="en-US" altLang="zh-TW" dirty="0" smtClean="0"/>
              <a:t> and polarity)</a:t>
            </a:r>
          </a:p>
          <a:p>
            <a:r>
              <a:rPr lang="en-US" altLang="zh-TW" dirty="0" smtClean="0"/>
              <a:t>Number of AC: 2*</a:t>
            </a:r>
            <a:r>
              <a:rPr lang="en-US" altLang="zh-TW" dirty="0" err="1" smtClean="0"/>
              <a:t>lg</a:t>
            </a:r>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7</a:t>
            </a:fld>
            <a:endParaRPr lang="zh-TW" altLang="en-US"/>
          </a:p>
        </p:txBody>
      </p:sp>
      <p:pic>
        <p:nvPicPr>
          <p:cNvPr id="3075" name="Picture 3"/>
          <p:cNvPicPr>
            <a:picLocks noChangeAspect="1" noChangeArrowheads="1"/>
          </p:cNvPicPr>
          <p:nvPr/>
        </p:nvPicPr>
        <p:blipFill>
          <a:blip r:embed="rId2" cstate="print"/>
          <a:srcRect r="2811" b="7030"/>
          <a:stretch>
            <a:fillRect/>
          </a:stretch>
        </p:blipFill>
        <p:spPr bwMode="auto">
          <a:xfrm>
            <a:off x="833438" y="1412776"/>
            <a:ext cx="7266954" cy="2736304"/>
          </a:xfrm>
          <a:prstGeom prst="rect">
            <a:avLst/>
          </a:prstGeom>
          <a:noFill/>
          <a:ln w="9525">
            <a:noFill/>
            <a:miter lim="800000"/>
            <a:headEnd/>
            <a:tailEnd/>
          </a:ln>
        </p:spPr>
      </p:pic>
    </p:spTree>
    <p:extLst>
      <p:ext uri="{BB962C8B-B14F-4D97-AF65-F5344CB8AC3E}">
        <p14:creationId xmlns:p14="http://schemas.microsoft.com/office/powerpoint/2010/main" val="5749271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Support Vector Machine (SVM)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8</a:t>
            </a:fld>
            <a:endParaRPr lang="zh-TW" altLang="en-US"/>
          </a:p>
        </p:txBody>
      </p:sp>
      <p:grpSp>
        <p:nvGrpSpPr>
          <p:cNvPr id="11" name="群組 10"/>
          <p:cNvGrpSpPr/>
          <p:nvPr/>
        </p:nvGrpSpPr>
        <p:grpSpPr>
          <a:xfrm>
            <a:off x="755576" y="1196752"/>
            <a:ext cx="8028384" cy="5328592"/>
            <a:chOff x="2362200" y="1752600"/>
            <a:chExt cx="6096000" cy="4305300"/>
          </a:xfrm>
        </p:grpSpPr>
        <p:pic>
          <p:nvPicPr>
            <p:cNvPr id="8" name="Picture 5" descr="svmcon_2"/>
            <p:cNvPicPr>
              <a:picLocks noChangeAspect="1" noChangeArrowheads="1"/>
            </p:cNvPicPr>
            <p:nvPr/>
          </p:nvPicPr>
          <p:blipFill>
            <a:blip r:embed="rId2" cstate="print"/>
            <a:srcRect/>
            <a:stretch>
              <a:fillRect/>
            </a:stretch>
          </p:blipFill>
          <p:spPr bwMode="auto">
            <a:xfrm>
              <a:off x="2362200" y="1905000"/>
              <a:ext cx="4486275" cy="3819525"/>
            </a:xfrm>
            <a:prstGeom prst="rect">
              <a:avLst/>
            </a:prstGeom>
            <a:noFill/>
          </p:spPr>
        </p:pic>
        <p:sp>
          <p:nvSpPr>
            <p:cNvPr id="9" name="AutoShape 6"/>
            <p:cNvSpPr>
              <a:spLocks/>
            </p:cNvSpPr>
            <p:nvPr/>
          </p:nvSpPr>
          <p:spPr bwMode="auto">
            <a:xfrm>
              <a:off x="4419600" y="5448300"/>
              <a:ext cx="2362200" cy="609600"/>
            </a:xfrm>
            <a:prstGeom prst="borderCallout1">
              <a:avLst>
                <a:gd name="adj1" fmla="val 18750"/>
                <a:gd name="adj2" fmla="val -3227"/>
                <a:gd name="adj3" fmla="val -106250"/>
                <a:gd name="adj4" fmla="val -19356"/>
              </a:avLst>
            </a:prstGeom>
            <a:noFill/>
            <a:ln w="9525">
              <a:solidFill>
                <a:schemeClr val="tx1"/>
              </a:solidFill>
              <a:miter lim="800000"/>
              <a:headEnd/>
              <a:tailEnd/>
            </a:ln>
            <a:effectLst/>
          </p:spPr>
          <p:txBody>
            <a:bodyPr/>
            <a:lstStyle/>
            <a:p>
              <a:pPr algn="ctr"/>
              <a:r>
                <a:rPr lang="en-US" altLang="zh-TW" sz="2400" dirty="0">
                  <a:solidFill>
                    <a:schemeClr val="hlink"/>
                  </a:solidFill>
                </a:rPr>
                <a:t>maximizing</a:t>
              </a:r>
              <a:r>
                <a:rPr lang="en-US" altLang="zh-TW" dirty="0">
                  <a:solidFill>
                    <a:schemeClr val="hlink"/>
                  </a:solidFill>
                </a:rPr>
                <a:t> </a:t>
              </a:r>
            </a:p>
          </p:txBody>
        </p:sp>
        <p:sp>
          <p:nvSpPr>
            <p:cNvPr id="10" name="AutoShape 7"/>
            <p:cNvSpPr>
              <a:spLocks/>
            </p:cNvSpPr>
            <p:nvPr/>
          </p:nvSpPr>
          <p:spPr bwMode="auto">
            <a:xfrm>
              <a:off x="7010400" y="1752600"/>
              <a:ext cx="1447800" cy="381000"/>
            </a:xfrm>
            <a:prstGeom prst="borderCallout2">
              <a:avLst>
                <a:gd name="adj1" fmla="val 30000"/>
                <a:gd name="adj2" fmla="val -5264"/>
                <a:gd name="adj3" fmla="val 30000"/>
                <a:gd name="adj4" fmla="val -34431"/>
                <a:gd name="adj5" fmla="val 156250"/>
                <a:gd name="adj6" fmla="val -64694"/>
              </a:avLst>
            </a:prstGeom>
            <a:noFill/>
            <a:ln w="28575">
              <a:solidFill>
                <a:schemeClr val="accent2"/>
              </a:solidFill>
              <a:miter lim="800000"/>
              <a:headEnd/>
              <a:tailEnd/>
            </a:ln>
            <a:effectLst/>
          </p:spPr>
          <p:txBody>
            <a:bodyPr/>
            <a:lstStyle/>
            <a:p>
              <a:pPr algn="ctr"/>
              <a:r>
                <a:rPr lang="en-US" altLang="zh-TW" sz="2000"/>
                <a:t>Hyperplan</a:t>
              </a:r>
            </a:p>
          </p:txBody>
        </p:sp>
      </p:grpSp>
    </p:spTree>
    <p:extLst>
      <p:ext uri="{BB962C8B-B14F-4D97-AF65-F5344CB8AC3E}">
        <p14:creationId xmlns:p14="http://schemas.microsoft.com/office/powerpoint/2010/main" val="8871094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Performance Measures</a:t>
            </a:r>
            <a:endParaRPr lang="zh-TW" altLang="en-US" dirty="0"/>
          </a:p>
        </p:txBody>
      </p:sp>
      <p:sp>
        <p:nvSpPr>
          <p:cNvPr id="3" name="內容版面配置區 2"/>
          <p:cNvSpPr>
            <a:spLocks noGrp="1"/>
          </p:cNvSpPr>
          <p:nvPr>
            <p:ph idx="1"/>
          </p:nvPr>
        </p:nvSpPr>
        <p:spPr/>
        <p:txBody>
          <a:bodyPr>
            <a:normAutofit fontScale="85000" lnSpcReduction="20000"/>
          </a:bodyPr>
          <a:lstStyle/>
          <a:p>
            <a:pPr>
              <a:tabLst>
                <a:tab pos="2244725" algn="l"/>
              </a:tabLst>
            </a:pPr>
            <a:r>
              <a:rPr lang="en-US" altLang="zh-TW" dirty="0" smtClean="0"/>
              <a:t>Sensitivity = TP/(TP+FN)</a:t>
            </a:r>
          </a:p>
          <a:p>
            <a:pPr>
              <a:tabLst>
                <a:tab pos="2244725" algn="l"/>
              </a:tabLst>
            </a:pPr>
            <a:r>
              <a:rPr lang="en-US" altLang="zh-TW" dirty="0" smtClean="0"/>
              <a:t>Specificity = TN/(TN+FP)</a:t>
            </a:r>
          </a:p>
          <a:p>
            <a:pPr>
              <a:tabLst>
                <a:tab pos="2244725" algn="l"/>
              </a:tabLst>
            </a:pPr>
            <a:r>
              <a:rPr lang="en-US" altLang="zh-TW" dirty="0" smtClean="0"/>
              <a:t>Accuracy   = (TP+ TN)/N</a:t>
            </a:r>
          </a:p>
          <a:p>
            <a:pPr lvl="1"/>
            <a:r>
              <a:rPr lang="en-US" altLang="zh-TW" dirty="0" smtClean="0"/>
              <a:t>N: total # of cases</a:t>
            </a:r>
          </a:p>
          <a:p>
            <a:pPr lvl="1"/>
            <a:r>
              <a:rPr lang="zh-TW" altLang="en-US" dirty="0" smtClean="0"/>
              <a:t>真陽性 </a:t>
            </a:r>
            <a:r>
              <a:rPr lang="en-US" altLang="zh-TW" dirty="0" smtClean="0"/>
              <a:t>(true positive, TP)</a:t>
            </a:r>
            <a:r>
              <a:rPr lang="zh-TW" altLang="en-US" dirty="0" smtClean="0"/>
              <a:t>表示在真正有病的族群中，檢驗的結果也真的是陽性。</a:t>
            </a:r>
          </a:p>
          <a:p>
            <a:pPr lvl="1"/>
            <a:r>
              <a:rPr lang="zh-TW" altLang="en-US" dirty="0" smtClean="0"/>
              <a:t>真陰性 </a:t>
            </a:r>
            <a:r>
              <a:rPr lang="en-US" altLang="zh-TW" dirty="0" smtClean="0"/>
              <a:t>(true negative, TN)</a:t>
            </a:r>
            <a:r>
              <a:rPr lang="zh-TW" altLang="en-US" dirty="0" smtClean="0"/>
              <a:t>表示在沒病的族群中，檢驗的結果也是陰性。</a:t>
            </a:r>
          </a:p>
          <a:p>
            <a:pPr lvl="1"/>
            <a:r>
              <a:rPr lang="zh-TW" altLang="en-US" dirty="0" smtClean="0"/>
              <a:t>偽陽性 </a:t>
            </a:r>
            <a:r>
              <a:rPr lang="en-US" altLang="zh-TW" dirty="0" smtClean="0"/>
              <a:t>(false positive, FP)</a:t>
            </a:r>
            <a:r>
              <a:rPr lang="zh-TW" altLang="en-US" dirty="0" smtClean="0"/>
              <a:t>表示在沒病的族群中，檢驗的結果卻是陽性。</a:t>
            </a:r>
          </a:p>
          <a:p>
            <a:pPr lvl="1"/>
            <a:r>
              <a:rPr lang="zh-TW" altLang="en-US" dirty="0" smtClean="0"/>
              <a:t>偽陰性 </a:t>
            </a:r>
            <a:r>
              <a:rPr lang="en-US" altLang="zh-TW" dirty="0" smtClean="0"/>
              <a:t>(false negative, FN) </a:t>
            </a:r>
            <a:r>
              <a:rPr lang="zh-TW" altLang="en-US" dirty="0" smtClean="0"/>
              <a:t>表示在真正有病的族群中，檢驗的結果卻是陰性。</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9</a:t>
            </a:fld>
            <a:endParaRPr lang="zh-TW" altLang="en-US"/>
          </a:p>
        </p:txBody>
      </p:sp>
    </p:spTree>
    <p:extLst>
      <p:ext uri="{BB962C8B-B14F-4D97-AF65-F5344CB8AC3E}">
        <p14:creationId xmlns:p14="http://schemas.microsoft.com/office/powerpoint/2010/main" val="879404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normAutofit/>
          </a:bodyPr>
          <a:lstStyle/>
          <a:p>
            <a:r>
              <a:rPr lang="en-US" altLang="zh-TW" dirty="0" smtClean="0"/>
              <a:t>Result(1/3)</a:t>
            </a:r>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944"/>
            <a:ext cx="9108717" cy="185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0776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Result(2/3)</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11</a:t>
            </a:fld>
            <a:endParaRPr lang="zh-TW" altLang="en-US"/>
          </a:p>
        </p:txBody>
      </p:sp>
      <p:pic>
        <p:nvPicPr>
          <p:cNvPr id="4098" name="Picture 2"/>
          <p:cNvPicPr>
            <a:picLocks noGrp="1" noChangeAspect="1" noChangeArrowheads="1"/>
          </p:cNvPicPr>
          <p:nvPr>
            <p:ph idx="1"/>
          </p:nvPr>
        </p:nvPicPr>
        <p:blipFill>
          <a:blip r:embed="rId2" cstate="print"/>
          <a:srcRect/>
          <a:stretch>
            <a:fillRect/>
          </a:stretch>
        </p:blipFill>
        <p:spPr bwMode="auto">
          <a:xfrm>
            <a:off x="1372834" y="1129011"/>
            <a:ext cx="6398332" cy="5468342"/>
          </a:xfrm>
          <a:prstGeom prst="rect">
            <a:avLst/>
          </a:prstGeom>
          <a:noFill/>
          <a:ln w="9525">
            <a:noFill/>
            <a:miter lim="800000"/>
            <a:headEnd/>
            <a:tailEnd/>
          </a:ln>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124744"/>
            <a:ext cx="6624736" cy="5667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2509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Result(3/3)</a:t>
            </a:r>
            <a:endParaRPr lang="zh-TW" altLang="en-US" dirty="0"/>
          </a:p>
        </p:txBody>
      </p:sp>
      <p:sp>
        <p:nvSpPr>
          <p:cNvPr id="5" name="內容版面配置區 4"/>
          <p:cNvSpPr>
            <a:spLocks noGrp="1"/>
          </p:cNvSpPr>
          <p:nvPr>
            <p:ph idx="1"/>
          </p:nvPr>
        </p:nvSpPr>
        <p:spPr/>
        <p:txBody>
          <a:bodyPr/>
          <a:lstStyle/>
          <a:p>
            <a:r>
              <a:rPr lang="en-US" altLang="zh-TW" dirty="0" smtClean="0"/>
              <a:t>ACC</a:t>
            </a:r>
            <a:r>
              <a:rPr lang="en-US" altLang="zh-TW" dirty="0"/>
              <a:t> : 2940-dimensional (2x30x7x7) </a:t>
            </a:r>
            <a:r>
              <a:rPr lang="en-US" altLang="zh-TW" dirty="0" smtClean="0"/>
              <a:t>vector</a:t>
            </a:r>
          </a:p>
          <a:p>
            <a:r>
              <a:rPr lang="en-US" altLang="zh-TW" dirty="0" smtClean="0"/>
              <a:t>AC</a:t>
            </a:r>
            <a:r>
              <a:rPr lang="en-US" altLang="zh-TW" dirty="0"/>
              <a:t> : 420-dimensional (2x30x7)</a:t>
            </a:r>
            <a:r>
              <a:rPr lang="en-US" altLang="zh-TW" dirty="0" smtClean="0"/>
              <a:t> vector</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12</a:t>
            </a:fld>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68" y="3212976"/>
            <a:ext cx="9170068" cy="319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556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08920"/>
            <a:ext cx="8229600" cy="1143000"/>
          </a:xfrm>
        </p:spPr>
        <p:txBody>
          <a:bodyPr/>
          <a:lstStyle/>
          <a:p>
            <a:r>
              <a:rPr lang="en-US" altLang="zh-TW" dirty="0" smtClean="0"/>
              <a:t>Thanks for your listening.</a:t>
            </a:r>
            <a:endParaRPr lang="zh-TW" altLang="en-US" dirty="0"/>
          </a:p>
        </p:txBody>
      </p:sp>
      <p:sp>
        <p:nvSpPr>
          <p:cNvPr id="3" name="投影片編號版面配置區 2"/>
          <p:cNvSpPr>
            <a:spLocks noGrp="1"/>
          </p:cNvSpPr>
          <p:nvPr>
            <p:ph type="sldNum" sz="quarter" idx="12"/>
          </p:nvPr>
        </p:nvSpPr>
        <p:spPr/>
        <p:txBody>
          <a:bodyPr/>
          <a:lstStyle/>
          <a:p>
            <a:fld id="{73DA0BB7-265A-403C-9275-D587AB510EDC}" type="slidenum">
              <a:rPr lang="zh-TW" altLang="en-US" smtClean="0"/>
              <a:pPr/>
              <a:t>13</a:t>
            </a:fld>
            <a:endParaRPr lang="zh-TW" altLang="en-US"/>
          </a:p>
        </p:txBody>
      </p:sp>
    </p:spTree>
    <p:extLst>
      <p:ext uri="{BB962C8B-B14F-4D97-AF65-F5344CB8AC3E}">
        <p14:creationId xmlns:p14="http://schemas.microsoft.com/office/powerpoint/2010/main" val="41320668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496</TotalTime>
  <Words>337</Words>
  <Application>Microsoft Office PowerPoint</Application>
  <PresentationFormat>如螢幕大小 (4:3)</PresentationFormat>
  <Paragraphs>64</Paragraphs>
  <Slides>13</Slides>
  <Notes>1</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Using Support Vector Machine Combined with Auto  Covariance to Predict Protein–protein Interactions  from Protein Sequences</vt:lpstr>
      <vt:lpstr>Abstract(1/2)</vt:lpstr>
      <vt:lpstr>Abstract(2/2)</vt:lpstr>
      <vt:lpstr>Seven Physicochemical Properties  of Amino Acids </vt:lpstr>
      <vt:lpstr>PowerPoint 簡報</vt:lpstr>
      <vt:lpstr>Normalized</vt:lpstr>
      <vt:lpstr>Auto Convariance Variables</vt:lpstr>
      <vt:lpstr>Support Vector Machine (SVM)</vt:lpstr>
      <vt:lpstr>Performance Measures</vt:lpstr>
      <vt:lpstr>Result(1/3)</vt:lpstr>
      <vt:lpstr>Result(2/3)</vt:lpstr>
      <vt:lpstr>Result(3/3)</vt:lpstr>
      <vt:lpstr>Thanks for your listening.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Support Vector Machine Combined with Auto  Covariance to Predict Protein–protein Interactions  from Protein Sequences</dc:title>
  <dc:creator>Tai, Chun-Chieh</dc:creator>
  <cp:lastModifiedBy>Tai, Chun-Chieh</cp:lastModifiedBy>
  <cp:revision>10</cp:revision>
  <dcterms:created xsi:type="dcterms:W3CDTF">2012-08-07T00:11:24Z</dcterms:created>
  <dcterms:modified xsi:type="dcterms:W3CDTF">2012-08-07T10:25:16Z</dcterms:modified>
</cp:coreProperties>
</file>