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4" r:id="rId9"/>
    <p:sldId id="265" r:id="rId10"/>
    <p:sldId id="266" r:id="rId11"/>
    <p:sldId id="267" r:id="rId12"/>
    <p:sldId id="269" r:id="rId13"/>
    <p:sldId id="268" r:id="rId14"/>
    <p:sldId id="313" r:id="rId15"/>
    <p:sldId id="275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  <p:sldId id="286" r:id="rId32"/>
    <p:sldId id="287" r:id="rId33"/>
    <p:sldId id="288" r:id="rId34"/>
    <p:sldId id="289" r:id="rId35"/>
    <p:sldId id="290" r:id="rId36"/>
    <p:sldId id="317" r:id="rId37"/>
    <p:sldId id="311" r:id="rId38"/>
    <p:sldId id="315" r:id="rId39"/>
    <p:sldId id="291" r:id="rId40"/>
    <p:sldId id="292" r:id="rId41"/>
    <p:sldId id="318" r:id="rId42"/>
    <p:sldId id="293" r:id="rId43"/>
    <p:sldId id="294" r:id="rId44"/>
    <p:sldId id="297" r:id="rId45"/>
    <p:sldId id="298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09" r:id="rId54"/>
    <p:sldId id="312" r:id="rId5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63E09-9D8A-41E8-A59B-82F6DD2EA117}" type="datetimeFigureOut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996D8-F998-44E7-A8C2-EFD64236F3C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0178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2334-03E3-4558-A7FE-9CF4802D6058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2776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0031-4B0C-46FB-A4F4-DCB1125D1CF9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1981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85FA7-FF1F-4645-A5C2-A5D7E7A2CA28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8550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0D244-9BD8-4A30-A974-DC82E78858A6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1620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AC422-6665-4329-AC3B-DE4055E45024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1452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13D54-1D2A-4E9C-A582-BDA9F67CDC45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8263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2ABE1-D575-4756-BD6F-A7A985FE2132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188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A38E-98DB-40AE-BC9B-165668DBB666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5531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9D9FA-0306-4A1B-ADD7-EC109D186CEB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8960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90F5-B047-4D16-A06A-66E3D027628D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2286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48CA-BC24-4392-BD29-96D40726059B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0508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D6128-5326-47E1-99DC-14A5106FC568}" type="datetime1">
              <a:rPr lang="zh-TW" altLang="en-US" smtClean="0"/>
              <a:pPr/>
              <a:t>2012/8/21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A84EE-EB87-41B7-96B4-C7F12396139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3717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2602" y="3645024"/>
            <a:ext cx="1885348" cy="288152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23528" y="332656"/>
            <a:ext cx="8496944" cy="1470025"/>
          </a:xfrm>
        </p:spPr>
        <p:txBody>
          <a:bodyPr>
            <a:noAutofit/>
          </a:bodyPr>
          <a:lstStyle/>
          <a:p>
            <a:r>
              <a:rPr lang="en-US" altLang="zh-TW" sz="3200" dirty="0" smtClean="0"/>
              <a:t>Dynamic </a:t>
            </a:r>
            <a:r>
              <a:rPr lang="en-US" altLang="zh-TW" sz="3200" dirty="0" err="1" smtClean="0"/>
              <a:t>Multiobjective</a:t>
            </a:r>
            <a:r>
              <a:rPr lang="en-US" altLang="zh-TW" sz="3200" dirty="0" smtClean="0"/>
              <a:t> Optimization Problems: Test Cases, Approximations, and Applications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31640" y="1844824"/>
            <a:ext cx="6616824" cy="1080120"/>
          </a:xfrm>
        </p:spPr>
        <p:txBody>
          <a:bodyPr/>
          <a:lstStyle/>
          <a:p>
            <a:r>
              <a:rPr lang="it-IT" altLang="zh-TW" dirty="0" smtClean="0"/>
              <a:t>Marco Farina, Kalyanmoy Deb, and Paolo Amato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043608" y="3356992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/>
              <a:t>IEEE TRANSACTION ON EVOLUTIONARY COMPUTATION, VOL. 8, NO.5 PP. 425-442, 2004</a:t>
            </a:r>
            <a:endParaRPr lang="zh-TW" altLang="en-US" sz="2400" dirty="0"/>
          </a:p>
        </p:txBody>
      </p:sp>
      <p:sp>
        <p:nvSpPr>
          <p:cNvPr id="5" name="文字方塊 6"/>
          <p:cNvSpPr txBox="1"/>
          <p:nvPr/>
        </p:nvSpPr>
        <p:spPr>
          <a:xfrm>
            <a:off x="3743400" y="5157192"/>
            <a:ext cx="54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 smtClean="0"/>
              <a:t>Presenter: Hung-</a:t>
            </a:r>
            <a:r>
              <a:rPr lang="en-US" altLang="zh-TW" sz="2400" dirty="0" err="1" smtClean="0"/>
              <a:t>Hsin</a:t>
            </a:r>
            <a:r>
              <a:rPr lang="en-US" altLang="zh-TW" sz="2400" dirty="0" smtClean="0"/>
              <a:t> Chen (</a:t>
            </a:r>
            <a:r>
              <a:rPr lang="en-US" altLang="zh-TW" sz="2400" dirty="0" err="1" smtClean="0">
                <a:latin typeface="微軟正黑體" pitchFamily="34" charset="-120"/>
                <a:ea typeface="微軟正黑體" pitchFamily="34" charset="-120"/>
              </a:rPr>
              <a:t>陳紘昕</a:t>
            </a:r>
            <a:r>
              <a:rPr lang="en-US" altLang="zh-TW" sz="2400" dirty="0" smtClean="0"/>
              <a:t>)</a:t>
            </a:r>
          </a:p>
          <a:p>
            <a:r>
              <a:rPr lang="en-US" altLang="zh-TW" sz="2400" dirty="0" smtClean="0"/>
              <a:t>Date: Aug. 21, 2012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105802162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Abstract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66124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600" dirty="0"/>
              <a:t>After demonstrating adequately the usefulness </a:t>
            </a:r>
            <a:r>
              <a:rPr lang="en-US" altLang="zh-TW" sz="2600" dirty="0" smtClean="0"/>
              <a:t>of evolutionary </a:t>
            </a:r>
            <a:r>
              <a:rPr lang="en-US" altLang="zh-TW" sz="2600" dirty="0" err="1"/>
              <a:t>multiobjective</a:t>
            </a:r>
            <a:r>
              <a:rPr lang="en-US" altLang="zh-TW" sz="2600" dirty="0"/>
              <a:t> optimization (EMO) algorithms </a:t>
            </a:r>
            <a:r>
              <a:rPr lang="en-US" altLang="zh-TW" sz="2600" dirty="0" smtClean="0"/>
              <a:t>in finding </a:t>
            </a:r>
            <a:r>
              <a:rPr lang="en-US" altLang="zh-TW" sz="2600" dirty="0"/>
              <a:t>multiple Pareto-optimal solutions for static </a:t>
            </a:r>
            <a:r>
              <a:rPr lang="en-US" altLang="zh-TW" sz="2600" dirty="0" err="1" smtClean="0"/>
              <a:t>multiobjective</a:t>
            </a:r>
            <a:r>
              <a:rPr lang="en-US" altLang="zh-TW" sz="2600" dirty="0" smtClean="0"/>
              <a:t> optimization </a:t>
            </a:r>
            <a:r>
              <a:rPr lang="en-US" altLang="zh-TW" sz="2600" dirty="0"/>
              <a:t>problems, there is now a growing need for solving </a:t>
            </a:r>
            <a:r>
              <a:rPr lang="en-US" altLang="zh-TW" sz="2600" dirty="0" smtClean="0"/>
              <a:t>dynamic </a:t>
            </a:r>
            <a:r>
              <a:rPr lang="en-US" altLang="zh-TW" sz="2600" dirty="0" err="1" smtClean="0"/>
              <a:t>multiobjective</a:t>
            </a:r>
            <a:r>
              <a:rPr lang="en-US" altLang="zh-TW" sz="2600" dirty="0" smtClean="0"/>
              <a:t> </a:t>
            </a:r>
            <a:r>
              <a:rPr lang="en-US" altLang="zh-TW" sz="2600" dirty="0"/>
              <a:t>optimization problems in a similar manner</a:t>
            </a:r>
            <a:r>
              <a:rPr lang="en-US" altLang="zh-TW" sz="2600" dirty="0" smtClean="0"/>
              <a:t>.  In this paper, we focus on addressing this issue by developing a number </a:t>
            </a:r>
            <a:r>
              <a:rPr lang="en-US" altLang="zh-TW" sz="2600" dirty="0"/>
              <a:t>of test problems and by suggesting a baseline algorithm</a:t>
            </a:r>
            <a:r>
              <a:rPr lang="en-US" altLang="zh-TW" sz="2600" dirty="0" smtClean="0"/>
              <a:t>. </a:t>
            </a:r>
            <a:r>
              <a:rPr lang="en-US" altLang="zh-TW" sz="2600" dirty="0"/>
              <a:t>Since in a dynamic </a:t>
            </a:r>
            <a:r>
              <a:rPr lang="en-US" altLang="zh-TW" sz="2600" dirty="0" err="1"/>
              <a:t>multiobjective</a:t>
            </a:r>
            <a:r>
              <a:rPr lang="en-US" altLang="zh-TW" sz="2600" dirty="0"/>
              <a:t> optimization problem, </a:t>
            </a:r>
            <a:r>
              <a:rPr lang="en-US" altLang="zh-TW" sz="2600" dirty="0" smtClean="0"/>
              <a:t>the resulting Pareto-optimal set is expected to change with time (or, iteration of the optimization process), a suite of five test problems offering different patterns of such changes and different difficulties in tracking the dynamic Pareto-optimal front by a </a:t>
            </a:r>
            <a:r>
              <a:rPr lang="en-US" altLang="zh-TW" sz="2600" dirty="0" err="1" smtClean="0"/>
              <a:t>multiobjective</a:t>
            </a:r>
            <a:r>
              <a:rPr lang="en-US" altLang="zh-TW" sz="2600" dirty="0" smtClean="0"/>
              <a:t> optimization algorithm is presented. </a:t>
            </a:r>
            <a:endParaRPr lang="en-US" altLang="zh-TW" sz="2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63405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340768"/>
            <a:ext cx="8496944" cy="4525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altLang="zh-TW" dirty="0" smtClean="0"/>
              <a:t>Moreover, a simple example of a dynamic </a:t>
            </a:r>
            <a:r>
              <a:rPr lang="en-US" altLang="zh-TW" dirty="0" err="1" smtClean="0"/>
              <a:t>multiobjective</a:t>
            </a:r>
            <a:r>
              <a:rPr lang="en-US" altLang="zh-TW" dirty="0" smtClean="0"/>
              <a:t> optimization problem arising from a dynamic control loop is presented. An extension to a previously proposed direction-based search method is proposed for solving such problems and tested on the proposed test problems. The test problems introduced in this paper should encourage researchers interested in </a:t>
            </a:r>
            <a:r>
              <a:rPr lang="en-US" altLang="zh-TW" dirty="0" err="1" smtClean="0"/>
              <a:t>multiobjective</a:t>
            </a:r>
            <a:r>
              <a:rPr lang="en-US" altLang="zh-TW" dirty="0" smtClean="0"/>
              <a:t> optimization and dynamic optimization problems to develop more efficient algorithms in the near future.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8844227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Pareto front (static)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9552" y="1340768"/>
            <a:ext cx="7920880" cy="5308676"/>
          </a:xfr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8130317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Pareto front (dynamic)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7584" y="1196752"/>
            <a:ext cx="5184576" cy="5168065"/>
          </a:xfrm>
        </p:spPr>
      </p:pic>
      <p:sp>
        <p:nvSpPr>
          <p:cNvPr id="5" name="向上箭號 4"/>
          <p:cNvSpPr/>
          <p:nvPr/>
        </p:nvSpPr>
        <p:spPr>
          <a:xfrm rot="3513494">
            <a:off x="7402257" y="4281740"/>
            <a:ext cx="612068" cy="144016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372199" y="2924944"/>
            <a:ext cx="2110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Front changes with time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589499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Dominance definition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內容版面配置區 3"/>
              <p:cNvSpPr txBox="1"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780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Weak dominance</a:t>
                </a:r>
                <a:r>
                  <a:rPr lang="en-US" altLang="zh-TW" sz="2400" dirty="0" smtClean="0"/>
                  <a:t>: e.g. (1,2) &lt;= (1, 3)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≼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⟺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≤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 ∀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𝑎𝑛𝑑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endParaRPr lang="en-US" altLang="zh-TW" sz="2400" dirty="0" smtClean="0"/>
              </a:p>
              <a:p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Strong dominance</a:t>
                </a:r>
                <a:r>
                  <a:rPr lang="en-US" altLang="zh-TW" sz="2400" dirty="0" smtClean="0"/>
                  <a:t>: (1,2) </a:t>
                </a:r>
                <a:r>
                  <a:rPr lang="en-US" altLang="zh-TW" sz="2400" dirty="0"/>
                  <a:t>&lt;</a:t>
                </a:r>
                <a:r>
                  <a:rPr lang="en-US" altLang="zh-TW" sz="2400" dirty="0" smtClean="0"/>
                  <a:t> (2, 3)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/>
                      </a:rPr>
                      <m:t>𝑥</m:t>
                    </m:r>
                    <m:r>
                      <a:rPr lang="en-US" altLang="zh-TW" sz="2400" i="1" smtClean="0">
                        <a:latin typeface="Cambria Math"/>
                        <a:ea typeface="Cambria Math"/>
                      </a:rPr>
                      <m:t>≺</m:t>
                    </m:r>
                    <m:r>
                      <a:rPr lang="en-US" altLang="zh-TW" sz="2400" i="1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altLang="zh-TW" sz="2400" i="1">
                        <a:latin typeface="Cambria Math"/>
                        <a:ea typeface="Cambria Math"/>
                      </a:rPr>
                      <m:t>⟺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&lt;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Cambria Math"/>
                      </a:rPr>
                      <m:t> ∀</m:t>
                    </m:r>
                    <m:r>
                      <a:rPr lang="en-US" altLang="zh-TW" sz="24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altLang="zh-TW" sz="2400" dirty="0" smtClean="0">
                  <a:ea typeface="Cambria Math"/>
                </a:endParaRPr>
              </a:p>
              <a:p>
                <a:pPr lvl="1"/>
                <a:endParaRPr lang="en-US" altLang="zh-TW" sz="2400" dirty="0" smtClean="0"/>
              </a:p>
              <a:p>
                <a:r>
                  <a:rPr lang="en-US" altLang="zh-TW" sz="2400" dirty="0" smtClean="0">
                    <a:solidFill>
                      <a:srgbClr val="FF0000"/>
                    </a:solidFill>
                  </a:rPr>
                  <a:t>Epsilon dominance</a:t>
                </a:r>
                <a:r>
                  <a:rPr lang="en-US" altLang="zh-TW" sz="2400" dirty="0" smtClean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𝑥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𝜖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Cambria Math"/>
                      </a:rPr>
                      <m:t>𝑦</m:t>
                    </m:r>
                  </m:oMath>
                </a14:m>
                <a:r>
                  <a:rPr lang="en-US" altLang="zh-TW" sz="2400" dirty="0">
                    <a:ea typeface="Cambria Math"/>
                  </a:rPr>
                  <a:t/>
                </a:r>
                <a:r>
                  <a:rPr lang="en-US" altLang="zh-TW" sz="2400" dirty="0" smtClean="0"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𝜖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</m:sup>
                    </m:sSup>
                    <m:r>
                      <a:rPr lang="en-US" altLang="zh-TW" sz="2400" i="1">
                        <a:latin typeface="Cambria Math"/>
                        <a:ea typeface="Cambria Math"/>
                      </a:rPr>
                      <m:t>⟺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(1+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𝜖</m:t>
                    </m:r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)</m:t>
                    </m:r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i="1">
                        <a:latin typeface="Cambria Math"/>
                        <a:ea typeface="Cambria Math"/>
                      </a:rPr>
                      <m:t> ∀</m:t>
                    </m:r>
                    <m:r>
                      <a:rPr lang="en-US" altLang="zh-TW" sz="24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en-US" altLang="zh-TW" sz="24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altLang="zh-TW" sz="2400" dirty="0" smtClean="0"/>
              </a:p>
              <a:p>
                <a:pPr lvl="1"/>
                <a:r>
                  <a:rPr lang="en-US" altLang="zh-TW" sz="2400" dirty="0" err="1" smtClean="0"/>
                  <a:t>E.g</a:t>
                </a:r>
                <a:r>
                  <a:rPr lang="en-US" altLang="zh-TW" sz="2400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𝜖</m:t>
                    </m:r>
                    <m:r>
                      <a:rPr lang="en-US" altLang="zh-TW" sz="2400" b="0" i="1" smtClean="0">
                        <a:latin typeface="Cambria Math"/>
                      </a:rPr>
                      <m:t>=0.2</m:t>
                    </m:r>
                  </m:oMath>
                </a14:m>
                <a:endParaRPr lang="en-US" altLang="zh-TW" sz="2400" b="0" dirty="0" smtClean="0"/>
              </a:p>
              <a:p>
                <a:pPr lvl="1"/>
                <a:r>
                  <a:rPr lang="en-US" altLang="zh-TW" sz="2400" dirty="0" smtClean="0">
                    <a:ea typeface="Cambria Math"/>
                  </a:rPr>
                  <a:t>(1, 2)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≼</m:t>
                        </m:r>
                      </m:e>
                      <m:sub>
                        <m:r>
                          <a:rPr lang="en-US" altLang="zh-TW" sz="2400" i="1">
                            <a:latin typeface="Cambria Math"/>
                            <a:ea typeface="Cambria Math"/>
                          </a:rPr>
                          <m:t>𝜖</m:t>
                        </m:r>
                      </m:sub>
                    </m:sSub>
                    <m:r>
                      <a:rPr lang="en-US" altLang="zh-TW" sz="2400" b="0" i="1" smtClean="0">
                        <a:latin typeface="Cambria Math"/>
                        <a:ea typeface="Cambria Math"/>
                      </a:rPr>
                      <m:t>(0.99,  1.99)</m:t>
                    </m:r>
                  </m:oMath>
                </a14:m>
                <a:endParaRPr lang="en-US" altLang="zh-TW" sz="2400" dirty="0" smtClean="0"/>
              </a:p>
              <a:p>
                <a:endParaRPr lang="en-US" altLang="zh-TW" sz="2400" dirty="0"/>
              </a:p>
              <a:p>
                <a:endParaRPr lang="en-US" altLang="zh-TW" sz="2400" dirty="0" smtClean="0"/>
              </a:p>
              <a:p>
                <a:endParaRPr lang="zh-TW" altLang="en-US" sz="2400" dirty="0"/>
              </a:p>
            </p:txBody>
          </p:sp>
        </mc:Choice>
        <mc:Fallback>
          <p:sp>
            <p:nvSpPr>
              <p:cNvPr id="4" name="內容版面配置區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780044"/>
              </a:xfrm>
              <a:prstGeom prst="rect">
                <a:avLst/>
              </a:prstGeom>
              <a:blipFill rotWithShape="1">
                <a:blip r:embed="rId2"/>
                <a:stretch>
                  <a:fillRect l="-963" t="-8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396538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8864" y="8580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Dominance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4725" y="1124744"/>
            <a:ext cx="8697527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4089760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Introduction of dynamic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TW" u="sng" dirty="0" smtClean="0"/>
              <a:t>Lack of test problems </a:t>
            </a:r>
            <a:r>
              <a:rPr lang="en-US" altLang="zh-TW" dirty="0" smtClean="0"/>
              <a:t>for dynamic evolutionary </a:t>
            </a:r>
            <a:r>
              <a:rPr lang="en-US" altLang="zh-TW" dirty="0" err="1" smtClean="0"/>
              <a:t>multiobjective</a:t>
            </a:r>
            <a:r>
              <a:rPr lang="en-US" altLang="zh-TW" dirty="0" smtClean="0"/>
              <a:t> optimization.</a:t>
            </a:r>
          </a:p>
          <a:p>
            <a:pPr>
              <a:lnSpc>
                <a:spcPct val="150000"/>
              </a:lnSpc>
            </a:pPr>
            <a:r>
              <a:rPr lang="en-US" altLang="zh-TW" dirty="0" smtClean="0"/>
              <a:t>GA for time-dependent fitness landscape, the operators requires reaction for balance between </a:t>
            </a:r>
            <a:r>
              <a:rPr lang="en-US" altLang="zh-TW" u="sng" dirty="0" smtClean="0"/>
              <a:t>convergence</a:t>
            </a:r>
            <a:r>
              <a:rPr lang="en-US" altLang="zh-TW" dirty="0" smtClean="0"/>
              <a:t> and </a:t>
            </a:r>
            <a:r>
              <a:rPr lang="en-US" altLang="zh-TW" u="sng" dirty="0" smtClean="0"/>
              <a:t>exploration.</a:t>
            </a:r>
          </a:p>
          <a:p>
            <a:pPr>
              <a:lnSpc>
                <a:spcPct val="150000"/>
              </a:lnSpc>
            </a:pPr>
            <a:r>
              <a:rPr lang="en-US" altLang="zh-TW" u="sng" dirty="0" smtClean="0"/>
              <a:t>Artificial life paradigm</a:t>
            </a:r>
            <a:r>
              <a:rPr lang="en-US" altLang="zh-TW" dirty="0" smtClean="0"/>
              <a:t> and </a:t>
            </a:r>
            <a:r>
              <a:rPr lang="en-US" altLang="zh-TW" u="sng" dirty="0" smtClean="0"/>
              <a:t>hybridization</a:t>
            </a:r>
            <a:r>
              <a:rPr lang="en-US" altLang="zh-TW" dirty="0" smtClean="0"/>
              <a:t> of it with evolutionary are suitable for the problems.</a:t>
            </a:r>
            <a:endParaRPr lang="en-US" altLang="zh-TW" dirty="0"/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427204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Problem definition (general)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996952"/>
                <a:ext cx="8229600" cy="3129211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TW" dirty="0" smtClean="0"/>
                  <a:t>: variables for optimization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:</m:t>
                    </m:r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imposed variables, independent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Usually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={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 smtClean="0"/>
                  <a:t>Objective functions and constraint functions can be nonlinear.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996952"/>
                <a:ext cx="8229600" cy="3129211"/>
              </a:xfrm>
              <a:blipFill rotWithShape="1">
                <a:blip r:embed="rId2"/>
                <a:stretch>
                  <a:fillRect l="-1481" t="-38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8316863" cy="1512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431601" y="1268760"/>
            <a:ext cx="8172847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071241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Dynamic </a:t>
            </a:r>
            <a:r>
              <a:rPr lang="en-US" altLang="zh-TW" dirty="0" err="1" smtClean="0"/>
              <a:t>mult</a:t>
            </a:r>
            <a:r>
              <a:rPr lang="en-US" altLang="zh-TW" dirty="0" err="1"/>
              <a:t>i</a:t>
            </a:r>
            <a:r>
              <a:rPr lang="en-US" altLang="zh-TW" dirty="0" err="1" smtClean="0"/>
              <a:t>objective</a:t>
            </a:r>
            <a:r>
              <a:rPr lang="en-US" altLang="zh-TW" dirty="0" smtClean="0"/>
              <a:t> minimization problem of M objectives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3717032"/>
                <a:ext cx="3466728" cy="276917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altLang="zh-TW" dirty="0" smtClean="0"/>
                  <a:t>t=1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min</m:t>
                        </m:r>
                      </m:fName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/>
                          </a:rPr>
                          <m:t>=2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+3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TW" b="0" dirty="0" smtClean="0"/>
              </a:p>
              <a:p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/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4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+3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≤12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−2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≤2</m:t>
                    </m:r>
                  </m:oMath>
                </a14:m>
                <a:endParaRPr lang="en-US" altLang="zh-TW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≥0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3717032"/>
                <a:ext cx="3466728" cy="2769171"/>
              </a:xfrm>
              <a:blipFill rotWithShape="1">
                <a:blip r:embed="rId2"/>
                <a:stretch>
                  <a:fillRect l="-2641" t="-3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0188" y="1771675"/>
            <a:ext cx="67246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內容版面配置區 2"/>
              <p:cNvSpPr txBox="1">
                <a:spLocks/>
              </p:cNvSpPr>
              <p:nvPr/>
            </p:nvSpPr>
            <p:spPr>
              <a:xfrm>
                <a:off x="4736579" y="3612157"/>
                <a:ext cx="3466728" cy="27691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TW" dirty="0" smtClean="0"/>
                  <a:t>t=2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mtClean="0">
                            <a:latin typeface="Cambria Math"/>
                          </a:rPr>
                          <m:t>min</m:t>
                        </m:r>
                      </m:fName>
                      <m:e>
                        <m:r>
                          <a:rPr lang="en-US" altLang="zh-TW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altLang="zh-TW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smtClean="0">
                            <a:latin typeface="Cambria Math"/>
                          </a:rPr>
                          <m:t>+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TW" dirty="0" smtClean="0"/>
              </a:p>
              <a:p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/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5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4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≤12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≤2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/>
                      </a:rPr>
                      <m:t>≥0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79" y="3612157"/>
                <a:ext cx="3466728" cy="2769171"/>
              </a:xfrm>
              <a:prstGeom prst="rect">
                <a:avLst/>
              </a:prstGeom>
              <a:blipFill rotWithShape="1">
                <a:blip r:embed="rId4"/>
                <a:stretch>
                  <a:fillRect l="-2636" t="-3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491727" y="1563291"/>
            <a:ext cx="8172847" cy="1656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335991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7584" y="1203338"/>
            <a:ext cx="7276237" cy="4876628"/>
          </a:xfrm>
        </p:spPr>
      </p:pic>
      <p:sp>
        <p:nvSpPr>
          <p:cNvPr id="5" name="圓角矩形圖說文字 4"/>
          <p:cNvSpPr/>
          <p:nvPr/>
        </p:nvSpPr>
        <p:spPr>
          <a:xfrm>
            <a:off x="278421" y="476672"/>
            <a:ext cx="2088232" cy="835147"/>
          </a:xfrm>
          <a:prstGeom prst="wedgeRoundRectCallout">
            <a:avLst>
              <a:gd name="adj1" fmla="val 54731"/>
              <a:gd name="adj2" fmla="val 49607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 smtClean="0"/>
              <a:t>F</a:t>
            </a:r>
            <a:r>
              <a:rPr lang="en-US" altLang="zh-TW" sz="2400" baseline="-25000" dirty="0" err="1" smtClean="0"/>
              <a:t>p</a:t>
            </a:r>
            <a:r>
              <a:rPr lang="en-US" altLang="zh-TW" sz="2400" dirty="0" smtClean="0"/>
              <a:t>(t): Pareto front at time t</a:t>
            </a:r>
            <a:endParaRPr lang="zh-TW" altLang="en-US" sz="2400" dirty="0"/>
          </a:p>
        </p:txBody>
      </p:sp>
      <p:sp>
        <p:nvSpPr>
          <p:cNvPr id="7" name="圓角矩形圖說文字 6"/>
          <p:cNvSpPr/>
          <p:nvPr/>
        </p:nvSpPr>
        <p:spPr>
          <a:xfrm>
            <a:off x="5436096" y="894246"/>
            <a:ext cx="3240360" cy="720080"/>
          </a:xfrm>
          <a:prstGeom prst="wedgeRoundRectCallout">
            <a:avLst>
              <a:gd name="adj1" fmla="val -9650"/>
              <a:gd name="adj2" fmla="val 76389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altLang="zh-TW" sz="2400" dirty="0" smtClean="0">
                <a:latin typeface="Times New Roman"/>
                <a:cs typeface="Times New Roman"/>
              </a:rPr>
              <a:t>Ω</a:t>
            </a:r>
            <a:r>
              <a:rPr lang="en-US" altLang="zh-TW" sz="2400" dirty="0" smtClean="0"/>
              <a:t>(t): feasible set at time t</a:t>
            </a:r>
            <a:endParaRPr lang="zh-TW" altLang="en-US" sz="2400" dirty="0"/>
          </a:p>
        </p:txBody>
      </p:sp>
      <p:sp>
        <p:nvSpPr>
          <p:cNvPr id="8" name="圓角矩形圖說文字 7"/>
          <p:cNvSpPr/>
          <p:nvPr/>
        </p:nvSpPr>
        <p:spPr>
          <a:xfrm>
            <a:off x="107504" y="3193269"/>
            <a:ext cx="2088232" cy="835147"/>
          </a:xfrm>
          <a:prstGeom prst="wedgeRoundRectCallout">
            <a:avLst>
              <a:gd name="adj1" fmla="val -4109"/>
              <a:gd name="adj2" fmla="val 135146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U</a:t>
            </a:r>
            <a:r>
              <a:rPr lang="en-US" altLang="zh-TW" sz="2400" dirty="0" smtClean="0"/>
              <a:t>(t): Utopia point at time t</a:t>
            </a:r>
            <a:endParaRPr lang="zh-TW" altLang="en-US" sz="2400" dirty="0"/>
          </a:p>
        </p:txBody>
      </p:sp>
      <p:sp>
        <p:nvSpPr>
          <p:cNvPr id="9" name="圓角矩形圖說文字 8"/>
          <p:cNvSpPr/>
          <p:nvPr/>
        </p:nvSpPr>
        <p:spPr>
          <a:xfrm>
            <a:off x="6516216" y="2909613"/>
            <a:ext cx="2448272" cy="720080"/>
          </a:xfrm>
          <a:prstGeom prst="wedgeRoundRectCallout">
            <a:avLst>
              <a:gd name="adj1" fmla="val -6262"/>
              <a:gd name="adj2" fmla="val 46627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 smtClean="0"/>
              <a:t>S</a:t>
            </a:r>
            <a:r>
              <a:rPr lang="en-US" altLang="zh-TW" sz="2400" baseline="-25000" dirty="0" err="1" smtClean="0"/>
              <a:t>p</a:t>
            </a:r>
            <a:r>
              <a:rPr lang="en-US" altLang="zh-TW" sz="2400" dirty="0" smtClean="0"/>
              <a:t>(t): Pareto-opt. set at time t</a:t>
            </a:r>
            <a:endParaRPr lang="zh-TW" altLang="en-US" sz="24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278421" y="5739842"/>
            <a:ext cx="5157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rgbClr val="FF0000"/>
                </a:solidFill>
              </a:rPr>
              <a:t>Utopia point: feasible set</a:t>
            </a:r>
            <a:r>
              <a:rPr lang="zh-TW" altLang="en-US" sz="2000" dirty="0" smtClean="0">
                <a:solidFill>
                  <a:srgbClr val="FF0000"/>
                </a:solidFill>
              </a:rPr>
              <a:t>中，每一維度都只考慮單一</a:t>
            </a:r>
            <a:r>
              <a:rPr lang="en-US" altLang="zh-TW" sz="2000" dirty="0" smtClean="0">
                <a:solidFill>
                  <a:srgbClr val="FF0000"/>
                </a:solidFill>
              </a:rPr>
              <a:t>objective</a:t>
            </a:r>
            <a:r>
              <a:rPr lang="zh-TW" altLang="en-US" sz="2000" dirty="0" smtClean="0">
                <a:solidFill>
                  <a:srgbClr val="FF0000"/>
                </a:solidFill>
              </a:rPr>
              <a:t>的最佳值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5087453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633" y="2113304"/>
            <a:ext cx="8806160" cy="1387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圓角矩形圖說文字 4"/>
          <p:cNvSpPr/>
          <p:nvPr/>
        </p:nvSpPr>
        <p:spPr>
          <a:xfrm>
            <a:off x="179512" y="1268760"/>
            <a:ext cx="2448272" cy="720080"/>
          </a:xfrm>
          <a:prstGeom prst="wedgeRoundRectCallout">
            <a:avLst>
              <a:gd name="adj1" fmla="val 12526"/>
              <a:gd name="adj2" fmla="val 76389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altLang="zh-TW" sz="2400" dirty="0" smtClean="0">
                <a:latin typeface="Times New Roman"/>
                <a:cs typeface="Times New Roman"/>
              </a:rPr>
              <a:t>Ω</a:t>
            </a:r>
            <a:r>
              <a:rPr lang="en-US" altLang="zh-TW" sz="2400" dirty="0" smtClean="0"/>
              <a:t>(t): feasible set</a:t>
            </a:r>
            <a:endParaRPr lang="zh-TW" altLang="en-US" sz="2400" dirty="0"/>
          </a:p>
        </p:txBody>
      </p:sp>
      <p:sp>
        <p:nvSpPr>
          <p:cNvPr id="6" name="圓角矩形圖說文字 5"/>
          <p:cNvSpPr/>
          <p:nvPr/>
        </p:nvSpPr>
        <p:spPr>
          <a:xfrm>
            <a:off x="5940152" y="1268760"/>
            <a:ext cx="2808312" cy="720080"/>
          </a:xfrm>
          <a:prstGeom prst="wedgeRoundRectCallout">
            <a:avLst>
              <a:gd name="adj1" fmla="val -13384"/>
              <a:gd name="adj2" fmla="val 72421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err="1" smtClean="0"/>
              <a:t>S</a:t>
            </a:r>
            <a:r>
              <a:rPr lang="en-US" altLang="zh-TW" sz="2400" baseline="-25000" dirty="0" err="1" smtClean="0"/>
              <a:t>p</a:t>
            </a:r>
            <a:r>
              <a:rPr lang="en-US" altLang="zh-TW" sz="2400" dirty="0" smtClean="0"/>
              <a:t>(t): Pareto-opt. set</a:t>
            </a:r>
            <a:endParaRPr lang="zh-TW" altLang="en-US" sz="24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90114562"/>
              </p:ext>
            </p:extLst>
          </p:nvPr>
        </p:nvGraphicFramePr>
        <p:xfrm>
          <a:off x="827584" y="3861048"/>
          <a:ext cx="705678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/>
                <a:gridCol w="3888433"/>
              </a:tblGrid>
              <a:tr h="788957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Optimal decision</a:t>
                      </a:r>
                      <a:r>
                        <a:rPr lang="en-US" altLang="zh-TW" sz="2800" baseline="0" dirty="0" smtClean="0"/>
                        <a:t> variables, </a:t>
                      </a:r>
                      <a:r>
                        <a:rPr lang="en-US" altLang="zh-TW" sz="2800" baseline="0" dirty="0" err="1" smtClean="0"/>
                        <a:t>Sp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Optimal</a:t>
                      </a:r>
                      <a:r>
                        <a:rPr lang="en-US" altLang="zh-TW" sz="2800" baseline="0" dirty="0" smtClean="0"/>
                        <a:t> objective values, </a:t>
                      </a:r>
                      <a:r>
                        <a:rPr lang="en-US" altLang="zh-TW" sz="2800" baseline="0" dirty="0" err="1" smtClean="0"/>
                        <a:t>Fp</a:t>
                      </a:r>
                      <a:endParaRPr lang="zh-TW" altLang="en-US" sz="2800" dirty="0"/>
                    </a:p>
                  </a:txBody>
                  <a:tcPr/>
                </a:tc>
              </a:tr>
              <a:tr h="457094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X=0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Objectives: (0, 4)</a:t>
                      </a:r>
                      <a:endParaRPr lang="zh-TW" altLang="en-US" sz="2800" dirty="0"/>
                    </a:p>
                  </a:txBody>
                  <a:tcPr/>
                </a:tc>
              </a:tr>
              <a:tr h="457094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X=1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Objectives: (1,</a:t>
                      </a:r>
                      <a:r>
                        <a:rPr lang="en-US" altLang="zh-TW" sz="2800" baseline="0" dirty="0" smtClean="0"/>
                        <a:t> 1)</a:t>
                      </a:r>
                    </a:p>
                  </a:txBody>
                  <a:tcPr/>
                </a:tc>
              </a:tr>
              <a:tr h="457094">
                <a:tc>
                  <a:txBody>
                    <a:bodyPr/>
                    <a:lstStyle/>
                    <a:p>
                      <a:r>
                        <a:rPr lang="en-US" altLang="zh-TW" sz="2800" dirty="0" smtClean="0"/>
                        <a:t>X=2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800" baseline="0" dirty="0" smtClean="0"/>
                        <a:t>Objectives: (4, 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1975052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Test problems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96752"/>
            <a:ext cx="6585570" cy="3689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615603" y="5013176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/>
              <a:t>No attention to the decision maker’s preference.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TW" sz="2800" dirty="0" smtClean="0">
                <a:solidFill>
                  <a:srgbClr val="FF0000"/>
                </a:solidFill>
              </a:rPr>
              <a:t>The rate of change of the problem with time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solidFill>
                  <a:srgbClr val="FF0000"/>
                </a:solidFill>
              </a:rPr>
              <a:t>slowly or suddenly change</a:t>
            </a:r>
            <a:r>
              <a:rPr lang="en-US" altLang="zh-TW" sz="2800" dirty="0" smtClean="0"/>
              <a:t>)</a:t>
            </a:r>
            <a:endParaRPr lang="zh-TW" altLang="en-US" sz="28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548514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66771826"/>
              </p:ext>
            </p:extLst>
          </p:nvPr>
        </p:nvGraphicFramePr>
        <p:xfrm>
          <a:off x="251520" y="1556792"/>
          <a:ext cx="85689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302"/>
                <a:gridCol w="2387098"/>
                <a:gridCol w="2826317"/>
                <a:gridCol w="2142238"/>
              </a:tblGrid>
              <a:tr h="226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Type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Objective functions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Opt. Pareto fronts, </a:t>
                      </a:r>
                      <a:r>
                        <a:rPr lang="en-US" altLang="zh-TW" sz="2400" dirty="0" err="1" smtClean="0"/>
                        <a:t>Fp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/>
                        <a:t>Opt.</a:t>
                      </a:r>
                      <a:r>
                        <a:rPr lang="en-US" altLang="zh-TW" sz="2400" baseline="0" dirty="0" err="1" smtClean="0"/>
                        <a:t>soltions</a:t>
                      </a:r>
                      <a:r>
                        <a:rPr lang="en-US" altLang="zh-TW" sz="2400" baseline="0" dirty="0" smtClean="0"/>
                        <a:t>, </a:t>
                      </a:r>
                      <a:r>
                        <a:rPr lang="en-US" altLang="zh-TW" sz="2400" baseline="0" dirty="0" err="1" smtClean="0"/>
                        <a:t>Sp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baseline="0" dirty="0" smtClean="0"/>
                        <a:t>static</a:t>
                      </a:r>
                      <a:endParaRPr lang="zh-TW" altLang="en-US" sz="2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F1(x)=x</a:t>
                      </a:r>
                      <a:r>
                        <a:rPr lang="en-US" altLang="zh-TW" sz="2400" baseline="30000" dirty="0" smtClean="0"/>
                        <a:t>2</a:t>
                      </a:r>
                    </a:p>
                    <a:p>
                      <a:r>
                        <a:rPr lang="en-US" altLang="zh-TW" sz="2400" dirty="0" smtClean="0"/>
                        <a:t>F2(x)=(x-2)</a:t>
                      </a:r>
                      <a:r>
                        <a:rPr lang="en-US" altLang="zh-TW" sz="2400" baseline="30000" dirty="0" smtClean="0"/>
                        <a:t>2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(0,4), …,(1, 1), …,(4,0)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 in [0, 2]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baseline="0" dirty="0" smtClean="0"/>
                        <a:t>Only </a:t>
                      </a:r>
                      <a:r>
                        <a:rPr lang="en-US" altLang="zh-TW" sz="2400" baseline="0" dirty="0" err="1" smtClean="0"/>
                        <a:t>Sp</a:t>
                      </a:r>
                      <a:r>
                        <a:rPr lang="en-US" altLang="zh-TW" sz="2400" baseline="0" dirty="0" smtClean="0"/>
                        <a:t> changes</a:t>
                      </a:r>
                      <a:endParaRPr lang="zh-TW" altLang="en-US" sz="2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aseline="0" dirty="0" smtClean="0"/>
                        <a:t>F1(x, t)=(x-t)</a:t>
                      </a:r>
                      <a:r>
                        <a:rPr lang="en-US" altLang="zh-TW" sz="2400" baseline="30000" dirty="0" smtClean="0"/>
                        <a:t>2</a:t>
                      </a:r>
                    </a:p>
                    <a:p>
                      <a:r>
                        <a:rPr lang="en-US" altLang="zh-TW" sz="2400" baseline="0" dirty="0" smtClean="0"/>
                        <a:t>F2(x, t)=(x-2-t)</a:t>
                      </a:r>
                      <a:r>
                        <a:rPr lang="en-US" altLang="zh-TW" sz="2400" baseline="30000" dirty="0" smtClean="0"/>
                        <a:t>2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/>
                        <a:t>(0,4), …,(1, 1), …,(4,0)</a:t>
                      </a:r>
                      <a:endParaRPr lang="zh-TW" altLang="en-US" sz="2400" dirty="0" smtClean="0"/>
                    </a:p>
                    <a:p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 in [t, t+2]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baseline="0" dirty="0" smtClean="0"/>
                        <a:t>Only </a:t>
                      </a:r>
                      <a:r>
                        <a:rPr lang="en-US" altLang="zh-TW" sz="2400" baseline="0" dirty="0" err="1" smtClean="0"/>
                        <a:t>Fp</a:t>
                      </a:r>
                      <a:r>
                        <a:rPr lang="en-US" altLang="zh-TW" sz="2400" baseline="0" dirty="0" smtClean="0"/>
                        <a:t> changes</a:t>
                      </a:r>
                      <a:endParaRPr lang="zh-TW" altLang="en-US" sz="2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baseline="0" dirty="0" smtClean="0"/>
                        <a:t>F1(x, t)=x</a:t>
                      </a:r>
                      <a:r>
                        <a:rPr lang="en-US" altLang="zh-TW" sz="2400" baseline="30000" dirty="0" smtClean="0"/>
                        <a:t>2</a:t>
                      </a:r>
                      <a:r>
                        <a:rPr lang="en-US" altLang="zh-TW" sz="2400" baseline="0" dirty="0" smtClean="0"/>
                        <a:t>+t</a:t>
                      </a:r>
                    </a:p>
                    <a:p>
                      <a:r>
                        <a:rPr lang="en-US" altLang="zh-TW" sz="2400" baseline="0" dirty="0" smtClean="0"/>
                        <a:t>F2(x, t)=(x-2)</a:t>
                      </a:r>
                      <a:r>
                        <a:rPr lang="en-US" altLang="zh-TW" sz="2400" baseline="30000" dirty="0" smtClean="0"/>
                        <a:t>2</a:t>
                      </a:r>
                      <a:r>
                        <a:rPr lang="en-US" altLang="zh-TW" sz="2400" baseline="0" dirty="0" smtClean="0"/>
                        <a:t>+t</a:t>
                      </a:r>
                      <a:endParaRPr lang="zh-TW" altLang="en-US" sz="24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[t, 4+t],…,[t,</a:t>
                      </a:r>
                      <a:r>
                        <a:rPr lang="en-US" altLang="zh-TW" sz="2400" baseline="0" dirty="0" smtClean="0"/>
                        <a:t> t+1], …[4+t, t]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 in [0, 2]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baseline="0" dirty="0" smtClean="0"/>
                        <a:t>Both changes</a:t>
                      </a:r>
                      <a:endParaRPr lang="zh-TW" altLang="en-US" sz="2400" baseline="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smtClean="0"/>
                        <a:t>Trivial</a:t>
                      </a:r>
                      <a:endParaRPr lang="zh-TW" altLang="en-US" sz="2400" baseline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5054907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Static ZDT problem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5" y="1412776"/>
            <a:ext cx="8478095" cy="4273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314101" y="5877272"/>
            <a:ext cx="8640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K. </a:t>
            </a:r>
            <a:r>
              <a:rPr lang="en-US" altLang="zh-TW" dirty="0"/>
              <a:t>Deb, </a:t>
            </a:r>
            <a:r>
              <a:rPr lang="en-US" altLang="zh-TW" dirty="0" smtClean="0"/>
              <a:t>A. </a:t>
            </a:r>
            <a:r>
              <a:rPr lang="en-US" altLang="zh-TW" dirty="0" err="1"/>
              <a:t>Pratap</a:t>
            </a:r>
            <a:r>
              <a:rPr lang="en-US" altLang="zh-TW" dirty="0"/>
              <a:t>, </a:t>
            </a:r>
            <a:r>
              <a:rPr lang="en-US" altLang="zh-TW" dirty="0" smtClean="0"/>
              <a:t>S. </a:t>
            </a:r>
            <a:r>
              <a:rPr lang="en-US" altLang="zh-TW" dirty="0" err="1"/>
              <a:t>Agarwal</a:t>
            </a:r>
            <a:r>
              <a:rPr lang="en-US" altLang="zh-TW" dirty="0"/>
              <a:t>, and T. </a:t>
            </a:r>
            <a:r>
              <a:rPr lang="en-US" altLang="zh-TW" dirty="0" err="1" smtClean="0"/>
              <a:t>Meyarivan</a:t>
            </a:r>
            <a:r>
              <a:rPr lang="en-US" altLang="zh-TW" dirty="0"/>
              <a:t>, “A Fast and Elitist </a:t>
            </a:r>
            <a:r>
              <a:rPr lang="en-US" altLang="zh-TW" dirty="0" err="1"/>
              <a:t>Multiobjective</a:t>
            </a:r>
            <a:r>
              <a:rPr lang="en-US" altLang="zh-TW" dirty="0"/>
              <a:t> Genetic </a:t>
            </a:r>
            <a:r>
              <a:rPr lang="en-US" altLang="zh-TW" dirty="0" smtClean="0"/>
              <a:t>Algorithm: NSGA-II,” IEEE transaction on evolutionary computation, Vol. 6, No. 2, 2002.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7162304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Dynamic ZDT problems (two-objective)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8508454" cy="111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395536" y="2780927"/>
                <a:ext cx="813690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800" dirty="0" smtClean="0"/>
                  <a:t>X</a:t>
                </a:r>
                <a:r>
                  <a:rPr lang="en-US" altLang="zh-TW" sz="2800" baseline="-25000" dirty="0" smtClean="0"/>
                  <a:t>I</a:t>
                </a:r>
                <a:r>
                  <a:rPr lang="en-US" altLang="zh-TW" sz="2800" dirty="0"/>
                  <a:t>,</a:t>
                </a:r>
                <a:r>
                  <a:rPr lang="en-US" altLang="zh-TW" sz="2800" dirty="0" smtClean="0"/>
                  <a:t> X</a:t>
                </a:r>
                <a:r>
                  <a:rPr lang="en-US" altLang="zh-TW" sz="2800" baseline="-25000" dirty="0" smtClean="0"/>
                  <a:t>II</a:t>
                </a:r>
                <a:r>
                  <a:rPr lang="en-US" altLang="zh-TW" sz="2800" dirty="0" smtClean="0"/>
                  <a:t>, X</a:t>
                </a:r>
                <a:r>
                  <a:rPr lang="en-US" altLang="zh-TW" sz="2800" baseline="-25000" dirty="0" smtClean="0"/>
                  <a:t>III</a:t>
                </a:r>
                <a:r>
                  <a:rPr lang="en-US" altLang="zh-TW" sz="2800" dirty="0" smtClean="0"/>
                  <a:t> are subsets of variables set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𝑥</m:t>
                    </m:r>
                    <m:r>
                      <a:rPr lang="en-US" altLang="zh-TW" sz="28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800" b="0" i="0" smtClean="0">
                            <a:latin typeface="Cambria Math"/>
                          </a:rPr>
                          <m:t>Ω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sz="2800" b="0" dirty="0" smtClean="0"/>
              </a:p>
              <a:p>
                <a:pPr marL="457200" indent="-457200">
                  <a:buFont typeface="Arial" pitchFamily="34" charset="0"/>
                  <a:buChar char="•"/>
                </a:pPr>
                <a:r>
                  <a:rPr lang="en-US" altLang="zh-TW" sz="2800" dirty="0" smtClean="0"/>
                  <a:t>Each function can be changed with time, e.g.</a:t>
                </a:r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780927"/>
                <a:ext cx="8136904" cy="954107"/>
              </a:xfrm>
              <a:prstGeom prst="rect">
                <a:avLst/>
              </a:prstGeom>
              <a:blipFill rotWithShape="1">
                <a:blip r:embed="rId3"/>
                <a:stretch>
                  <a:fillRect l="-1348" t="-5732" b="-17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17576" y="3735035"/>
            <a:ext cx="5664374" cy="3005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95536" y="1484784"/>
            <a:ext cx="8352928" cy="1112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6490781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 1 (type I, only S</a:t>
            </a:r>
            <a:r>
              <a:rPr lang="en-US" altLang="zh-TW" baseline="-25000" dirty="0" smtClean="0"/>
              <a:t>P</a:t>
            </a:r>
            <a:r>
              <a:rPr lang="en-US" altLang="zh-TW" dirty="0" smtClean="0"/>
              <a:t> changes)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88056" y="2924944"/>
                <a:ext cx="8438145" cy="3384376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/>
                  <a:t>f1 and h are kept fixed as introduced.</a:t>
                </a:r>
              </a:p>
              <a:p>
                <a:r>
                  <a:rPr lang="en-US" altLang="zh-TW" sz="2400" dirty="0" smtClean="0"/>
                  <a:t>The opt. solutions: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 ∀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𝐼𝐼</m:t>
                        </m:r>
                      </m:sub>
                    </m:sSub>
                  </m:oMath>
                </a14:m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∵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sz="2400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changes with time, </a:t>
                </a:r>
                <a:endParaRPr lang="en-US" altLang="zh-TW" sz="2400" b="0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∴</m:t>
                    </m:r>
                  </m:oMath>
                </a14:m>
                <a:r>
                  <a:rPr lang="zh-TW" altLang="en-US" sz="2400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400" baseline="-25000" dirty="0" smtClean="0">
                    <a:solidFill>
                      <a:srgbClr val="FF0000"/>
                    </a:solidFill>
                  </a:rPr>
                  <a:t>P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 (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Optimal decision variables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) changes with time</a:t>
                </a:r>
              </a:p>
              <a:p>
                <a:endParaRPr lang="en-US" altLang="zh-TW" sz="2400" dirty="0">
                  <a:solidFill>
                    <a:srgbClr val="FF0000"/>
                  </a:solidFill>
                </a:endParaRPr>
              </a:p>
              <a:p>
                <a:r>
                  <a:rPr lang="en-US" altLang="zh-TW" sz="2400" dirty="0" smtClean="0">
                    <a:solidFill>
                      <a:srgbClr val="0070C0"/>
                    </a:solidFill>
                  </a:rPr>
                  <a:t>However, the result (optimal objective values) F</a:t>
                </a:r>
                <a:r>
                  <a:rPr lang="en-US" altLang="zh-TW" sz="2400" baseline="-25000" dirty="0" smtClean="0">
                    <a:solidFill>
                      <a:srgbClr val="0070C0"/>
                    </a:solidFill>
                  </a:rPr>
                  <a:t>P</a:t>
                </a:r>
                <a:r>
                  <a:rPr lang="en-US" altLang="zh-TW" sz="2400" dirty="0" smtClean="0">
                    <a:solidFill>
                      <a:srgbClr val="0070C0"/>
                    </a:solidFill>
                  </a:rPr>
                  <a:t> does not change.</a:t>
                </a:r>
                <a:endParaRPr lang="zh-TW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8056" y="2924944"/>
                <a:ext cx="8438145" cy="3384376"/>
              </a:xfrm>
              <a:blipFill rotWithShape="1">
                <a:blip r:embed="rId2"/>
                <a:stretch>
                  <a:fillRect l="-1012" t="-14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646690" cy="131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79512" y="1340768"/>
            <a:ext cx="8646690" cy="14133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056527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Scenario 2 (Type II, both S</a:t>
            </a:r>
            <a:r>
              <a:rPr lang="en-US" altLang="zh-TW" sz="3600" baseline="-25000" dirty="0" smtClean="0"/>
              <a:t>P</a:t>
            </a:r>
            <a:r>
              <a:rPr lang="en-US" altLang="zh-TW" sz="3600" dirty="0" smtClean="0"/>
              <a:t> and F</a:t>
            </a:r>
            <a:r>
              <a:rPr lang="en-US" altLang="zh-TW" sz="3600" baseline="-25000" dirty="0" smtClean="0"/>
              <a:t>P</a:t>
            </a:r>
            <a:r>
              <a:rPr lang="en-US" altLang="zh-TW" sz="3600" dirty="0" smtClean="0"/>
              <a:t> change)</a:t>
            </a:r>
            <a:endParaRPr lang="zh-TW" alt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7441" y="1628800"/>
            <a:ext cx="8261698" cy="2083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79513" y="4648547"/>
            <a:ext cx="871296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/>
              <a:t>f1 and </a:t>
            </a:r>
            <a:r>
              <a:rPr lang="en-US" altLang="zh-TW" sz="2800" dirty="0" smtClean="0"/>
              <a:t>g </a:t>
            </a:r>
            <a:r>
              <a:rPr lang="en-US" altLang="zh-TW" sz="2800" dirty="0"/>
              <a:t>are kept fixed as introduced</a:t>
            </a:r>
            <a:r>
              <a:rPr lang="en-US" altLang="zh-TW" sz="2800" dirty="0" smtClean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800" dirty="0" smtClean="0">
                <a:solidFill>
                  <a:srgbClr val="0070C0"/>
                </a:solidFill>
              </a:rPr>
              <a:t> </a:t>
            </a:r>
            <a:r>
              <a:rPr lang="en-US" altLang="zh-TW" sz="2800" dirty="0">
                <a:solidFill>
                  <a:srgbClr val="0070C0"/>
                </a:solidFill>
              </a:rPr>
              <a:t>the result (optimal objective values) F</a:t>
            </a:r>
            <a:r>
              <a:rPr lang="en-US" altLang="zh-TW" sz="2800" baseline="-25000" dirty="0">
                <a:solidFill>
                  <a:srgbClr val="0070C0"/>
                </a:solidFill>
              </a:rPr>
              <a:t>P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sz="2800" dirty="0" smtClean="0">
                <a:solidFill>
                  <a:srgbClr val="0070C0"/>
                </a:solidFill>
              </a:rPr>
              <a:t>changes with X</a:t>
            </a:r>
            <a:r>
              <a:rPr lang="en-US" altLang="zh-TW" sz="2800" baseline="-25000" dirty="0" smtClean="0">
                <a:solidFill>
                  <a:srgbClr val="0070C0"/>
                </a:solidFill>
              </a:rPr>
              <a:t>III </a:t>
            </a:r>
            <a:r>
              <a:rPr lang="en-US" altLang="zh-TW" sz="2800" dirty="0" smtClean="0">
                <a:solidFill>
                  <a:srgbClr val="0070C0"/>
                </a:solidFill>
              </a:rPr>
              <a:t>(S</a:t>
            </a:r>
            <a:r>
              <a:rPr lang="en-US" altLang="zh-TW" sz="2800" baseline="-25000" dirty="0" smtClean="0">
                <a:solidFill>
                  <a:srgbClr val="0070C0"/>
                </a:solidFill>
              </a:rPr>
              <a:t>P</a:t>
            </a:r>
            <a:r>
              <a:rPr lang="en-US" altLang="zh-TW" sz="2800" dirty="0" smtClean="0">
                <a:solidFill>
                  <a:srgbClr val="0070C0"/>
                </a:solidFill>
              </a:rPr>
              <a:t>).</a:t>
            </a:r>
            <a:endParaRPr lang="zh-TW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395536" y="1561275"/>
            <a:ext cx="8352928" cy="2227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61268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 3(Type III, only </a:t>
            </a:r>
            <a:r>
              <a:rPr lang="en-US" altLang="zh-TW" dirty="0" err="1" smtClean="0"/>
              <a:t>F</a:t>
            </a:r>
            <a:r>
              <a:rPr lang="en-US" altLang="zh-TW" baseline="-25000" dirty="0" err="1" smtClean="0"/>
              <a:t>p</a:t>
            </a:r>
            <a:r>
              <a:rPr lang="en-US" altLang="zh-TW" dirty="0" smtClean="0"/>
              <a:t> changes)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4077072"/>
            <a:ext cx="8625830" cy="1800200"/>
          </a:xfrm>
        </p:spPr>
        <p:txBody>
          <a:bodyPr>
            <a:noAutofit/>
          </a:bodyPr>
          <a:lstStyle/>
          <a:p>
            <a:r>
              <a:rPr lang="en-US" altLang="zh-TW" sz="2800" dirty="0" smtClean="0">
                <a:solidFill>
                  <a:srgbClr val="0070C0"/>
                </a:solidFill>
              </a:rPr>
              <a:t>the </a:t>
            </a:r>
            <a:r>
              <a:rPr lang="en-US" altLang="zh-TW" sz="2800" dirty="0">
                <a:solidFill>
                  <a:srgbClr val="0070C0"/>
                </a:solidFill>
              </a:rPr>
              <a:t>result (optimal objective values) </a:t>
            </a:r>
            <a:r>
              <a:rPr lang="en-US" altLang="zh-TW" sz="2800" dirty="0" smtClean="0">
                <a:solidFill>
                  <a:srgbClr val="0070C0"/>
                </a:solidFill>
              </a:rPr>
              <a:t>F</a:t>
            </a:r>
            <a:r>
              <a:rPr lang="en-US" altLang="zh-TW" sz="2800" baseline="-25000" dirty="0" smtClean="0">
                <a:solidFill>
                  <a:srgbClr val="0070C0"/>
                </a:solidFill>
              </a:rPr>
              <a:t>P </a:t>
            </a:r>
            <a:r>
              <a:rPr lang="en-US" altLang="zh-TW" sz="2800" dirty="0" smtClean="0">
                <a:solidFill>
                  <a:srgbClr val="0070C0"/>
                </a:solidFill>
              </a:rPr>
              <a:t>change with F(t).</a:t>
            </a:r>
          </a:p>
          <a:p>
            <a:r>
              <a:rPr lang="en-US" altLang="zh-TW" sz="2800" dirty="0" smtClean="0">
                <a:solidFill>
                  <a:srgbClr val="FF0000"/>
                </a:solidFill>
              </a:rPr>
              <a:t>S</a:t>
            </a:r>
            <a:r>
              <a:rPr lang="en-US" altLang="zh-TW" sz="2800" baseline="-25000" dirty="0" smtClean="0">
                <a:solidFill>
                  <a:srgbClr val="FF0000"/>
                </a:solidFill>
              </a:rPr>
              <a:t>P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(Optimal decision </a:t>
            </a:r>
            <a:r>
              <a:rPr lang="en-US" altLang="zh-TW" sz="2800" dirty="0" smtClean="0">
                <a:solidFill>
                  <a:srgbClr val="FF0000"/>
                </a:solidFill>
              </a:rPr>
              <a:t>variables) do not change.</a:t>
            </a:r>
            <a:endParaRPr lang="en-US" altLang="zh-TW" sz="2800" dirty="0">
              <a:solidFill>
                <a:srgbClr val="FF0000"/>
              </a:solidFill>
            </a:endParaRPr>
          </a:p>
          <a:p>
            <a:endParaRPr lang="zh-TW" altLang="en-US" sz="2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65324" y="1700808"/>
            <a:ext cx="758190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95536" y="2041045"/>
            <a:ext cx="8352928" cy="1387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906663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600" dirty="0" smtClean="0"/>
              <a:t>Scenario 4 (complex situation)</a:t>
            </a:r>
            <a:endParaRPr lang="zh-TW" altLang="en-US" sz="36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8102" y="1412776"/>
            <a:ext cx="8646690" cy="131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7344866" cy="1852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293096"/>
            <a:ext cx="6518709" cy="1605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827584" y="6021288"/>
            <a:ext cx="7585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>
                <a:solidFill>
                  <a:srgbClr val="0070C0"/>
                </a:solidFill>
              </a:rPr>
              <a:t>Varying G(t), H(t), F(t), the F</a:t>
            </a:r>
            <a:r>
              <a:rPr lang="en-US" altLang="zh-TW" sz="2400" baseline="-25000" dirty="0" smtClean="0">
                <a:solidFill>
                  <a:srgbClr val="0070C0"/>
                </a:solidFill>
              </a:rPr>
              <a:t>P</a:t>
            </a:r>
            <a:r>
              <a:rPr lang="en-US" altLang="zh-TW" sz="2400" dirty="0" smtClean="0">
                <a:solidFill>
                  <a:srgbClr val="0070C0"/>
                </a:solidFill>
              </a:rPr>
              <a:t> and S</a:t>
            </a:r>
            <a:r>
              <a:rPr lang="en-US" altLang="zh-TW" sz="2400" baseline="-25000" dirty="0" smtClean="0">
                <a:solidFill>
                  <a:srgbClr val="0070C0"/>
                </a:solidFill>
              </a:rPr>
              <a:t>P</a:t>
            </a:r>
            <a:r>
              <a:rPr lang="en-US" altLang="zh-TW" sz="2400" dirty="0" smtClean="0">
                <a:solidFill>
                  <a:srgbClr val="0070C0"/>
                </a:solidFill>
              </a:rPr>
              <a:t> will change.</a:t>
            </a:r>
            <a:endParaRPr lang="en-US" altLang="zh-TW" sz="24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8102" y="1484784"/>
            <a:ext cx="8580362" cy="42484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4770006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Static DTLZ-2 problem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8984" y="1412776"/>
            <a:ext cx="8712968" cy="3388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539552" y="5013176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altLang="zh-TW" sz="2800" dirty="0" smtClean="0"/>
              <a:t>M-objective, n-variable problem</a:t>
            </a:r>
            <a:endParaRPr lang="zh-TW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179512" y="1484784"/>
            <a:ext cx="8856984" cy="3528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0412963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Test suite for continuous search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en-US" altLang="zh-TW" dirty="0" smtClean="0"/>
              <a:t>Test suite of </a:t>
            </a:r>
            <a:r>
              <a:rPr lang="en-US" altLang="zh-TW" dirty="0" smtClean="0">
                <a:solidFill>
                  <a:srgbClr val="FF0000"/>
                </a:solidFill>
              </a:rPr>
              <a:t>five test problems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20888"/>
            <a:ext cx="8377584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395536" y="2276872"/>
            <a:ext cx="8352928" cy="4104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4674021" y="3038652"/>
            <a:ext cx="392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only S</a:t>
            </a:r>
            <a:r>
              <a:rPr lang="en-US" altLang="zh-TW" sz="2800" baseline="-25000" dirty="0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changes 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313746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FDA1-Sp and </a:t>
            </a:r>
            <a:r>
              <a:rPr lang="en-US" altLang="zh-TW" dirty="0" err="1" smtClean="0"/>
              <a:t>Fp</a:t>
            </a:r>
            <a:r>
              <a:rPr lang="en-US" altLang="zh-TW" dirty="0" smtClean="0"/>
              <a:t> figures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040" y="2060849"/>
            <a:ext cx="4496893" cy="40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26559" y="2060848"/>
            <a:ext cx="4637929" cy="4036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537256" y="1393611"/>
            <a:ext cx="392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only S</a:t>
            </a:r>
            <a:r>
              <a:rPr lang="en-US" altLang="zh-TW" sz="2800" baseline="-25000" dirty="0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changes 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152404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FDA2</a:t>
            </a:r>
            <a:endParaRPr lang="zh-TW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029" y="1556792"/>
            <a:ext cx="8902731" cy="474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644008" y="2204864"/>
            <a:ext cx="3960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only </a:t>
            </a:r>
            <a:r>
              <a:rPr lang="en-US" altLang="zh-TW" sz="2800" dirty="0" smtClean="0">
                <a:solidFill>
                  <a:srgbClr val="FF0000"/>
                </a:solidFill>
              </a:rPr>
              <a:t>F</a:t>
            </a:r>
            <a:r>
              <a:rPr lang="en-US" altLang="zh-TW" sz="2800" baseline="-25000" dirty="0" smtClean="0">
                <a:solidFill>
                  <a:srgbClr val="FF0000"/>
                </a:solidFill>
              </a:rPr>
              <a:t>P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changes 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136" y="1547664"/>
            <a:ext cx="8706624" cy="4905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536664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FDA2-Sp and </a:t>
            </a:r>
            <a:r>
              <a:rPr lang="en-US" altLang="zh-TW" dirty="0" err="1" smtClean="0"/>
              <a:t>Fp</a:t>
            </a:r>
            <a:r>
              <a:rPr lang="en-US" altLang="zh-TW" dirty="0" smtClean="0"/>
              <a:t> figures</a:t>
            </a:r>
            <a:endParaRPr lang="zh-TW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598" y="2206624"/>
            <a:ext cx="4544410" cy="410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349451"/>
            <a:ext cx="4405265" cy="388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935093" y="1556792"/>
            <a:ext cx="3960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only </a:t>
            </a:r>
            <a:r>
              <a:rPr lang="en-US" altLang="zh-TW" sz="2800" dirty="0" smtClean="0">
                <a:solidFill>
                  <a:srgbClr val="FF0000"/>
                </a:solidFill>
              </a:rPr>
              <a:t>F</a:t>
            </a:r>
            <a:r>
              <a:rPr lang="en-US" altLang="zh-TW" sz="2800" baseline="-25000" dirty="0" smtClean="0">
                <a:solidFill>
                  <a:srgbClr val="FF0000"/>
                </a:solidFill>
              </a:rPr>
              <a:t>P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>
                <a:solidFill>
                  <a:srgbClr val="FF0000"/>
                </a:solidFill>
              </a:rPr>
              <a:t>changes 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338673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FDA3</a:t>
            </a:r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8583" y="1412776"/>
            <a:ext cx="9182510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51520" y="1268760"/>
            <a:ext cx="8712968" cy="5112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4499992" y="2060848"/>
            <a:ext cx="4181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Both </a:t>
            </a:r>
            <a:r>
              <a:rPr lang="en-US" altLang="zh-TW" sz="2400" dirty="0" err="1" smtClean="0">
                <a:solidFill>
                  <a:srgbClr val="FF0000"/>
                </a:solidFill>
              </a:rPr>
              <a:t>S</a:t>
            </a:r>
            <a:r>
              <a:rPr lang="en-US" altLang="zh-TW" sz="2400" baseline="-25000" dirty="0" err="1" smtClean="0">
                <a:solidFill>
                  <a:srgbClr val="FF0000"/>
                </a:solidFill>
              </a:rPr>
              <a:t>p</a:t>
            </a:r>
            <a:r>
              <a:rPr lang="en-US" altLang="zh-TW" sz="2400" dirty="0" smtClean="0">
                <a:solidFill>
                  <a:srgbClr val="FF0000"/>
                </a:solidFill>
              </a:rPr>
              <a:t> and </a:t>
            </a:r>
            <a:r>
              <a:rPr lang="en-US" altLang="zh-TW" sz="2400" dirty="0">
                <a:solidFill>
                  <a:srgbClr val="FF0000"/>
                </a:solidFill>
              </a:rPr>
              <a:t>F</a:t>
            </a:r>
            <a:r>
              <a:rPr lang="en-US" altLang="zh-TW" sz="2400" baseline="-25000" dirty="0">
                <a:solidFill>
                  <a:srgbClr val="FF0000"/>
                </a:solidFill>
              </a:rPr>
              <a:t>P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 smtClean="0">
                <a:solidFill>
                  <a:srgbClr val="FF0000"/>
                </a:solidFill>
              </a:rPr>
              <a:t>change </a:t>
            </a:r>
            <a:r>
              <a:rPr lang="en-US" altLang="zh-TW" sz="2400" dirty="0">
                <a:solidFill>
                  <a:srgbClr val="FF0000"/>
                </a:solidFill>
              </a:rPr>
              <a:t>with time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64771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FDA3-Sp </a:t>
            </a:r>
            <a:r>
              <a:rPr lang="en-US" altLang="zh-TW" dirty="0"/>
              <a:t>and </a:t>
            </a:r>
            <a:r>
              <a:rPr lang="en-US" altLang="zh-TW" dirty="0" err="1"/>
              <a:t>Fp</a:t>
            </a:r>
            <a:r>
              <a:rPr lang="en-US" altLang="zh-TW" dirty="0"/>
              <a:t> figures</a:t>
            </a:r>
            <a:endParaRPr lang="zh-TW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77" y="2188851"/>
            <a:ext cx="4610412" cy="4055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4641" y="2420888"/>
            <a:ext cx="4469847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2443637" y="1492508"/>
            <a:ext cx="485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Both </a:t>
            </a:r>
            <a:r>
              <a:rPr lang="en-US" altLang="zh-TW" sz="2800" dirty="0" err="1">
                <a:solidFill>
                  <a:srgbClr val="FF0000"/>
                </a:solidFill>
              </a:rPr>
              <a:t>S</a:t>
            </a:r>
            <a:r>
              <a:rPr lang="en-US" altLang="zh-TW" sz="2800" baseline="-25000" dirty="0" err="1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and F</a:t>
            </a:r>
            <a:r>
              <a:rPr lang="en-US" altLang="zh-TW" sz="2800" baseline="-25000" dirty="0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change 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184030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FDA4</a:t>
            </a:r>
            <a:endParaRPr lang="zh-TW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7293099" cy="4942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5244968" y="620688"/>
            <a:ext cx="39247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only </a:t>
            </a:r>
            <a:r>
              <a:rPr lang="en-US" altLang="zh-TW" sz="2800" dirty="0" err="1">
                <a:solidFill>
                  <a:srgbClr val="FF0000"/>
                </a:solidFill>
              </a:rPr>
              <a:t>S</a:t>
            </a:r>
            <a:r>
              <a:rPr lang="en-US" altLang="zh-TW" sz="2800" baseline="-25000" dirty="0" err="1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changes </a:t>
            </a:r>
            <a:r>
              <a:rPr lang="en-US" altLang="zh-TW" sz="2800" dirty="0">
                <a:solidFill>
                  <a:srgbClr val="FF0000"/>
                </a:solidFill>
              </a:rPr>
              <a:t>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1520" y="1268760"/>
            <a:ext cx="8712968" cy="5112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406923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FDA4-Sp </a:t>
            </a:r>
            <a:r>
              <a:rPr lang="en-US" altLang="zh-TW" dirty="0"/>
              <a:t>and </a:t>
            </a:r>
            <a:r>
              <a:rPr lang="en-US" altLang="zh-TW" dirty="0" err="1"/>
              <a:t>Fp</a:t>
            </a:r>
            <a:r>
              <a:rPr lang="en-US" altLang="zh-TW" dirty="0"/>
              <a:t> figures</a:t>
            </a:r>
            <a:endParaRPr lang="zh-TW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2492896"/>
            <a:ext cx="4396648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242631"/>
            <a:ext cx="4176464" cy="3850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33894" y="1844824"/>
            <a:ext cx="39247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solidFill>
                  <a:srgbClr val="FF0000"/>
                </a:solidFill>
              </a:rPr>
              <a:t>only </a:t>
            </a:r>
            <a:r>
              <a:rPr lang="en-US" altLang="zh-TW" sz="2800" dirty="0" err="1">
                <a:solidFill>
                  <a:srgbClr val="FF0000"/>
                </a:solidFill>
              </a:rPr>
              <a:t>S</a:t>
            </a:r>
            <a:r>
              <a:rPr lang="en-US" altLang="zh-TW" sz="2800" baseline="-25000" dirty="0" err="1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changes </a:t>
            </a:r>
            <a:r>
              <a:rPr lang="en-US" altLang="zh-TW" sz="2800" dirty="0">
                <a:solidFill>
                  <a:srgbClr val="FF0000"/>
                </a:solidFill>
              </a:rPr>
              <a:t>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782550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FDA5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45916"/>
            <a:ext cx="6912768" cy="5589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827584" y="1124744"/>
            <a:ext cx="7488832" cy="57104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773345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FDA5-Sp </a:t>
            </a:r>
            <a:r>
              <a:rPr lang="en-US" altLang="zh-TW" dirty="0"/>
              <a:t>and </a:t>
            </a:r>
            <a:r>
              <a:rPr lang="en-US" altLang="zh-TW" dirty="0" err="1"/>
              <a:t>Fp</a:t>
            </a:r>
            <a:r>
              <a:rPr lang="en-US" altLang="zh-TW" dirty="0"/>
              <a:t> figures</a:t>
            </a:r>
            <a:endParaRPr lang="zh-TW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684" y="2555206"/>
            <a:ext cx="4377299" cy="373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340050"/>
            <a:ext cx="4415566" cy="3954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443637" y="1492508"/>
            <a:ext cx="485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Both </a:t>
            </a:r>
            <a:r>
              <a:rPr lang="en-US" altLang="zh-TW" sz="2800" dirty="0" err="1">
                <a:solidFill>
                  <a:srgbClr val="FF0000"/>
                </a:solidFill>
              </a:rPr>
              <a:t>S</a:t>
            </a:r>
            <a:r>
              <a:rPr lang="en-US" altLang="zh-TW" sz="2800" baseline="-25000" dirty="0" err="1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and F</a:t>
            </a:r>
            <a:r>
              <a:rPr lang="en-US" altLang="zh-TW" sz="2800" baseline="-25000" dirty="0">
                <a:solidFill>
                  <a:srgbClr val="FF0000"/>
                </a:solidFill>
              </a:rPr>
              <a:t>P</a:t>
            </a:r>
            <a:r>
              <a:rPr lang="en-US" altLang="zh-TW" sz="2800" dirty="0">
                <a:solidFill>
                  <a:srgbClr val="FF0000"/>
                </a:solidFill>
              </a:rPr>
              <a:t> change with time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64233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Discrete search space test problems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Dynamic knapsack </a:t>
            </a:r>
            <a:r>
              <a:rPr lang="en-US" altLang="zh-TW" dirty="0" smtClean="0">
                <a:solidFill>
                  <a:srgbClr val="FF0000"/>
                </a:solidFill>
              </a:rPr>
              <a:t>problem </a:t>
            </a:r>
            <a:r>
              <a:rPr lang="en-US" altLang="zh-TW" dirty="0" smtClean="0"/>
              <a:t>having M knapsacks.</a:t>
            </a:r>
            <a:endParaRPr lang="zh-TW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76351"/>
            <a:ext cx="8032601" cy="291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11559" y="2876351"/>
            <a:ext cx="7888585" cy="3216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405127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Dynamic traveling salesman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 is a permutation of the cities.</a:t>
            </a:r>
          </a:p>
          <a:p>
            <a:endParaRPr lang="zh-TW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1063" y="2348880"/>
            <a:ext cx="7381875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539552" y="4313572"/>
                <a:ext cx="7848872" cy="1419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b="0" dirty="0" smtClean="0"/>
                  <a:t>n cities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sz="2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altLang="zh-TW" sz="2800" b="0" i="1" smtClean="0">
                        <a:latin typeface="Cambria Math"/>
                      </a:rPr>
                      <m:t>(</m:t>
                    </m:r>
                    <m:r>
                      <a:rPr lang="en-US" altLang="zh-TW" sz="2800" b="0" i="1" smtClean="0">
                        <a:latin typeface="Cambria Math"/>
                      </a:rPr>
                      <m:t>𝑝</m:t>
                    </m:r>
                    <m:r>
                      <a:rPr lang="en-US" altLang="zh-TW" sz="2800" b="0" i="1" smtClean="0">
                        <a:latin typeface="Cambria Math"/>
                      </a:rPr>
                      <m:t>, </m:t>
                    </m:r>
                    <m:r>
                      <a:rPr lang="en-US" altLang="zh-TW" sz="2800" b="0" i="1" smtClean="0">
                        <a:latin typeface="Cambria Math"/>
                      </a:rPr>
                      <m:t>𝑡</m:t>
                    </m:r>
                    <m:r>
                      <a:rPr lang="en-US" altLang="zh-TW" sz="2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800" dirty="0" smtClean="0"/>
                  <a:t>: can be the traffic condition on the path or the change in the location of the cities.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313572"/>
                <a:ext cx="7848872" cy="1419684"/>
              </a:xfrm>
              <a:prstGeom prst="rect">
                <a:avLst/>
              </a:prstGeom>
              <a:blipFill rotWithShape="1">
                <a:blip r:embed="rId3"/>
                <a:stretch>
                  <a:fillRect l="-1632" t="-3879" r="-1088" b="-116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827584" y="2348880"/>
            <a:ext cx="7488832" cy="19646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6616659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Dynamic </a:t>
            </a:r>
            <a:r>
              <a:rPr lang="en-US" altLang="zh-TW" dirty="0" err="1" smtClean="0"/>
              <a:t>multiobjective</a:t>
            </a:r>
            <a:r>
              <a:rPr lang="en-US" altLang="zh-TW" dirty="0" smtClean="0"/>
              <a:t> optimal control problems</a:t>
            </a:r>
            <a:endParaRPr lang="zh-TW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8432938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69949185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Dynamic EMO algorithm, </a:t>
            </a:r>
            <a:br>
              <a:rPr lang="en-US" altLang="zh-TW" dirty="0" smtClean="0"/>
            </a:br>
            <a:r>
              <a:rPr lang="en-US" altLang="zh-TW" dirty="0" smtClean="0"/>
              <a:t>a directed-based approach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/>
              <a:t>The following conditions will happen in solving problem: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smtClean="0"/>
              <a:t>The time dependence is slow but continuous (mode A).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dirty="0" smtClean="0">
                <a:solidFill>
                  <a:srgbClr val="FF0000"/>
                </a:solidFill>
              </a:rPr>
              <a:t>The time dependence is seldom but sudden and random (mode B).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[considering a sudden random time-dependent change.]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51202040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SCH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39510004"/>
              </p:ext>
            </p:extLst>
          </p:nvPr>
        </p:nvGraphicFramePr>
        <p:xfrm>
          <a:off x="251520" y="1412776"/>
          <a:ext cx="8280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371"/>
                <a:gridCol w="3181839"/>
                <a:gridCol w="2411710"/>
              </a:tblGrid>
              <a:tr h="2268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Objective functions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Opt. Pareto fronts, </a:t>
                      </a:r>
                      <a:r>
                        <a:rPr lang="en-US" altLang="zh-TW" sz="2400" dirty="0" err="1" smtClean="0"/>
                        <a:t>Fp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/>
                        <a:t>Opt.</a:t>
                      </a:r>
                      <a:r>
                        <a:rPr lang="en-US" altLang="zh-TW" sz="2400" baseline="0" dirty="0" err="1" smtClean="0"/>
                        <a:t>soltions</a:t>
                      </a:r>
                      <a:r>
                        <a:rPr lang="en-US" altLang="zh-TW" sz="2400" baseline="0" dirty="0" smtClean="0"/>
                        <a:t>, </a:t>
                      </a:r>
                      <a:r>
                        <a:rPr lang="en-US" altLang="zh-TW" sz="2400" baseline="0" dirty="0" err="1" smtClean="0"/>
                        <a:t>Sp</a:t>
                      </a:r>
                      <a:endParaRPr lang="zh-TW" altLang="en-US" sz="24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F1(x)=x</a:t>
                      </a:r>
                      <a:r>
                        <a:rPr lang="en-US" altLang="zh-TW" sz="2400" baseline="30000" dirty="0" smtClean="0"/>
                        <a:t>2</a:t>
                      </a:r>
                    </a:p>
                    <a:p>
                      <a:r>
                        <a:rPr lang="en-US" altLang="zh-TW" sz="2400" dirty="0" smtClean="0"/>
                        <a:t>F2(x)=(x-2)</a:t>
                      </a:r>
                      <a:r>
                        <a:rPr lang="en-US" altLang="zh-TW" sz="2400" baseline="30000" dirty="0" smtClean="0"/>
                        <a:t>2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(0,4), …,(1, 1), …,(4,0)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x in [0, 2]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文字方塊 5"/>
              <p:cNvSpPr txBox="1"/>
              <p:nvPr/>
            </p:nvSpPr>
            <p:spPr>
              <a:xfrm>
                <a:off x="323528" y="3108970"/>
                <a:ext cx="8604448" cy="3006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smtClean="0"/>
                  <a:t>Optimization problem: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𝑁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𝑀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 (</m:t>
                    </m:r>
                    <m:r>
                      <a:rPr lang="en-US" altLang="zh-TW" sz="2400" b="0" i="1" smtClean="0">
                        <a:latin typeface="Cambria Math"/>
                      </a:rPr>
                      <m:t>h𝑒𝑟𝑒</m:t>
                    </m:r>
                    <m:r>
                      <a:rPr lang="en-US" altLang="zh-TW" sz="2400" b="0" i="1" smtClean="0">
                        <a:latin typeface="Cambria Math"/>
                      </a:rPr>
                      <m:t> </m:t>
                    </m:r>
                    <m:r>
                      <a:rPr lang="en-US" altLang="zh-TW" sz="2400" b="0" i="1" smtClean="0">
                        <a:latin typeface="Cambria Math"/>
                      </a:rPr>
                      <m:t>𝑁</m:t>
                    </m:r>
                    <m:r>
                      <a:rPr lang="en-US" altLang="zh-TW" sz="2400" b="0" i="1" smtClean="0">
                        <a:latin typeface="Cambria Math"/>
                      </a:rPr>
                      <m:t>=1, </m:t>
                    </m:r>
                    <m:r>
                      <a:rPr lang="en-US" altLang="zh-TW" sz="2400" b="0" i="1" smtClean="0">
                        <a:latin typeface="Cambria Math"/>
                      </a:rPr>
                      <m:t>𝑀</m:t>
                    </m:r>
                    <m:r>
                      <a:rPr lang="en-US" altLang="zh-TW" sz="2400" b="0" i="1" smtClean="0">
                        <a:latin typeface="Cambria Math"/>
                      </a:rPr>
                      <m:t>=2)</m:t>
                    </m:r>
                  </m:oMath>
                </a14:m>
                <a:endParaRPr lang="en-US" altLang="zh-TW" sz="2400" dirty="0" smtClean="0"/>
              </a:p>
              <a:p>
                <a:endParaRPr lang="en-US" altLang="zh-TW" sz="2400" dirty="0"/>
              </a:p>
              <a:p>
                <a:r>
                  <a:rPr lang="en-US" altLang="zh-TW" sz="2400" dirty="0" smtClean="0"/>
                  <a:t>Utopia point: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0,0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𝑀</m:t>
                        </m:r>
                      </m:sup>
                    </m:sSup>
                  </m:oMath>
                </a14:m>
                <a:endParaRPr lang="en-US" altLang="zh-TW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𝑖</m:t>
                      </m:r>
                      <m:r>
                        <a:rPr lang="en-US" altLang="zh-TW" sz="2400" b="0" i="1" smtClean="0">
                          <a:latin typeface="Cambria Math"/>
                        </a:rPr>
                        <m:t>,:)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4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400" b="0" i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400" b="0" i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/>
                            </a:rPr>
                            <m:t>v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. 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</m:d>
                          <m:r>
                            <a:rPr lang="en-US" altLang="zh-TW" sz="2400" b="0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/>
                            </a:rPr>
                            <m:t>𝑀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×</m:t>
                          </m:r>
                          <m:r>
                            <a:rPr lang="en-US" altLang="zh-TW" sz="2400" b="0" i="1" smtClean="0">
                              <a:latin typeface="Cambria Math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altLang="zh-TW" sz="2400" b="0" dirty="0" smtClean="0"/>
              </a:p>
              <a:p>
                <a:pPr/>
                <a:r>
                  <a:rPr lang="en-US" altLang="zh-TW" sz="2400" dirty="0" smtClean="0"/>
                  <a:t>Payoff matrix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𝑀</m:t>
                        </m:r>
                      </m:e>
                    </m:d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TW" sz="2400" b="0" i="1" smtClean="0">
                                <a:latin typeface="Cambria Math"/>
                              </a:rPr>
                              <m:t>,   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𝑖𝑓𝑖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𝑗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altLang="zh-TW" sz="2400" b="0" i="1" smtClean="0">
                                        <a:latin typeface="Cambria Math"/>
                                      </a:rPr>
                                      <m:t>,:</m:t>
                                    </m:r>
                                  </m:e>
                                </m:d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sz="240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TW" sz="24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altLang="zh-TW" sz="2400" b="0" i="1" smtClean="0">
                                <a:latin typeface="Cambria Math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sz="2400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sz="24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sz="2400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sz="2400" dirty="0" smtClean="0"/>
              </a:p>
              <a:p>
                <a:pPr/>
                <a:r>
                  <a:rPr lang="en-US" altLang="zh-TW" sz="2400" dirty="0" smtClean="0"/>
                  <a:t>Nadir point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/>
                      </a:rPr>
                      <m:t>𝑅</m:t>
                    </m:r>
                    <m:r>
                      <a:rPr lang="en-US" altLang="zh-TW" sz="2400" b="0" i="1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𝑀</m:t>
                        </m:r>
                      </m:sup>
                    </m:sSup>
                    <m:r>
                      <a:rPr lang="en-US" altLang="zh-TW" sz="24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4, 4</m:t>
                        </m:r>
                      </m:e>
                    </m:d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108970"/>
                <a:ext cx="8604448" cy="3006913"/>
              </a:xfrm>
              <a:prstGeom prst="rect">
                <a:avLst/>
              </a:prstGeom>
              <a:blipFill rotWithShape="1">
                <a:blip r:embed="rId2"/>
                <a:stretch>
                  <a:fillRect l="-1062" t="-1623" b="-38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628881491"/>
      </p:ext>
    </p:extLst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mtClean="0"/>
              <a:t>Checking the suddenly change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92605" y="1196752"/>
            <a:ext cx="6030671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611560" y="3501008"/>
                <a:ext cx="7848872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altLang="zh-TW" sz="2800" dirty="0" smtClean="0"/>
                  <a:t>R(t): time-dependent nadir point</a:t>
                </a:r>
              </a:p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altLang="zh-TW" sz="2800" dirty="0" smtClean="0"/>
                  <a:t>U(t): time-dependent utopia point</a:t>
                </a:r>
              </a:p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: num. of points for detecting change</a:t>
                </a:r>
              </a:p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altLang="zh-TW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𝜖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zh-TW" sz="2800" b="0" i="1" smtClean="0">
                        <a:latin typeface="Cambria Math"/>
                      </a:rPr>
                      <m:t>&gt;</m:t>
                    </m:r>
                    <m:acc>
                      <m:accPr>
                        <m:chr m:val="̃"/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800" i="1">
                            <a:latin typeface="Cambria Math"/>
                          </a:rPr>
                          <m:t>𝜖</m:t>
                        </m:r>
                      </m:e>
                    </m:acc>
                    <m:r>
                      <a:rPr lang="en-US" altLang="zh-TW" sz="2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800" dirty="0" smtClean="0"/>
                  <a:t>(user-defined threshold) then occurs</a:t>
                </a:r>
              </a:p>
              <a:p>
                <a:pPr marL="285750" indent="-28575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altLang="zh-TW" sz="2800" b="0" i="1" smtClean="0">
                        <a:latin typeface="Cambria Math"/>
                      </a:rPr>
                      <m:t>&lt;</m:t>
                    </m:r>
                    <m:acc>
                      <m:accPr>
                        <m:chr m:val="̃"/>
                        <m:ctrlPr>
                          <a:rPr lang="en-US" altLang="zh-TW" sz="2800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sz="2800" i="1">
                            <a:latin typeface="Cambria Math"/>
                          </a:rPr>
                          <m:t>𝜖</m:t>
                        </m:r>
                      </m:e>
                    </m:acc>
                    <m:r>
                      <a:rPr lang="en-US" altLang="zh-TW" sz="2800" b="0" i="1" smtClean="0">
                        <a:latin typeface="Cambria Math"/>
                      </a:rPr>
                      <m:t>&lt;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zh-TW" altLang="en-US" sz="2800" dirty="0" smtClean="0"/>
                  <a:t/>
                </a:r>
                <a:r>
                  <a:rPr lang="en-US" altLang="zh-TW" sz="2800" dirty="0" smtClean="0"/>
                  <a:t>or problem-dependent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501008"/>
                <a:ext cx="7848872" cy="3323987"/>
              </a:xfrm>
              <a:prstGeom prst="rect">
                <a:avLst/>
              </a:prstGeom>
              <a:blipFill rotWithShape="1">
                <a:blip r:embed="rId3"/>
                <a:stretch>
                  <a:fillRect l="-1320" b="-21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31640" y="1412776"/>
            <a:ext cx="6408712" cy="20882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2243618"/>
      </p:ext>
    </p:extLst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Convergence measure </a:t>
            </a:r>
            <a:br>
              <a:rPr lang="en-US" altLang="zh-TW" dirty="0" smtClean="0"/>
            </a:br>
            <a:r>
              <a:rPr lang="en-US" altLang="zh-TW" dirty="0" smtClean="0"/>
              <a:t>(in decision space and objective space)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38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7052270" cy="2753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文字方塊 4"/>
              <p:cNvSpPr txBox="1"/>
              <p:nvPr/>
            </p:nvSpPr>
            <p:spPr>
              <a:xfrm>
                <a:off x="251520" y="4365103"/>
                <a:ext cx="8604448" cy="1712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itchFamily="34" charset="0"/>
                  <a:buChar char="•"/>
                </a:pPr>
                <a:r>
                  <a:rPr lang="en-US" altLang="zh-TW" sz="2400" dirty="0" smtClean="0"/>
                  <a:t>nh: # of sampling points used the represent the known </a:t>
                </a:r>
                <a:r>
                  <a:rPr lang="en-US" altLang="zh-TW" sz="2400" dirty="0" err="1" smtClean="0"/>
                  <a:t>Fp</a:t>
                </a:r>
                <a:r>
                  <a:rPr lang="en-US" altLang="zh-TW" sz="2400" dirty="0" smtClean="0"/>
                  <a:t> and Sp.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US" altLang="zh-TW" sz="2400" dirty="0" err="1" smtClean="0"/>
                  <a:t>np</a:t>
                </a:r>
                <a:r>
                  <a:rPr lang="en-US" altLang="zh-TW" sz="2400" dirty="0" smtClean="0"/>
                  <a:t>: # of obtained non-dominated solutions.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𝑠𝑜𝑙</m:t>
                        </m:r>
                      </m:sup>
                    </m:sSubSup>
                    <m:r>
                      <a:rPr lang="en-US" altLang="zh-TW" sz="2400" b="0" i="1" smtClean="0">
                        <a:latin typeface="Cambria Math"/>
                      </a:rPr>
                      <m:t>(</m:t>
                    </m:r>
                    <m:r>
                      <a:rPr lang="en-US" altLang="zh-TW" sz="2400" b="0" i="1" smtClean="0">
                        <a:latin typeface="Cambria Math"/>
                      </a:rPr>
                      <m:t>𝑡</m:t>
                    </m:r>
                    <m:r>
                      <a:rPr lang="en-US" altLang="zh-TW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400" dirty="0" smtClean="0"/>
                  <a:t>: computed solutions in decision variable space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/>
                          </a:rPr>
                          <m:t>𝑠𝑜𝑙</m:t>
                        </m:r>
                      </m:sup>
                    </m:sSubSup>
                    <m:r>
                      <a:rPr lang="en-US" altLang="zh-TW" sz="2400" b="0" i="1" smtClean="0">
                        <a:latin typeface="Cambria Math"/>
                      </a:rPr>
                      <m:t>(</m:t>
                    </m:r>
                    <m:r>
                      <a:rPr lang="en-US" altLang="zh-TW" sz="2400" b="0" i="1" smtClean="0">
                        <a:latin typeface="Cambria Math"/>
                      </a:rPr>
                      <m:t>𝑡</m:t>
                    </m:r>
                    <m:r>
                      <a:rPr lang="en-US" altLang="zh-TW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sz="2400" dirty="0" smtClean="0"/>
                  <a:t>: computed solutions in objective space.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365103"/>
                <a:ext cx="8604448" cy="1712520"/>
              </a:xfrm>
              <a:prstGeom prst="rect">
                <a:avLst/>
              </a:prstGeom>
              <a:blipFill rotWithShape="1">
                <a:blip r:embed="rId3"/>
                <a:stretch>
                  <a:fillRect l="-921" t="-2847" r="-1416" b="-49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88703418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28625"/>
          <a:stretch/>
        </p:blipFill>
        <p:spPr bwMode="auto">
          <a:xfrm>
            <a:off x="-36512" y="116632"/>
            <a:ext cx="7416824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020272" y="674369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err="1" smtClean="0">
                <a:solidFill>
                  <a:srgbClr val="FF0000"/>
                </a:solidFill>
              </a:rPr>
              <a:t>t</a:t>
            </a:r>
            <a:r>
              <a:rPr lang="en-US" altLang="zh-TW" sz="2000" baseline="-25000" dirty="0" err="1" smtClean="0">
                <a:solidFill>
                  <a:srgbClr val="FF0000"/>
                </a:solidFill>
              </a:rPr>
              <a:t>s</a:t>
            </a:r>
            <a:r>
              <a:rPr lang="en-US" altLang="zh-TW" sz="2000" dirty="0" smtClean="0">
                <a:solidFill>
                  <a:srgbClr val="FF0000"/>
                </a:solidFill>
              </a:rPr>
              <a:t>: stop time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4" name="圓角矩形圖說文字 3"/>
          <p:cNvSpPr/>
          <p:nvPr/>
        </p:nvSpPr>
        <p:spPr>
          <a:xfrm>
            <a:off x="3491880" y="1265932"/>
            <a:ext cx="3384376" cy="506884"/>
          </a:xfrm>
          <a:prstGeom prst="wedgeRoundRectCallout">
            <a:avLst>
              <a:gd name="adj1" fmla="val -63375"/>
              <a:gd name="adj2" fmla="val 3820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/>
              <a:t>Suddenly change occurs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763688" y="1916832"/>
            <a:ext cx="5472608" cy="180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圖說文字 6"/>
          <p:cNvSpPr/>
          <p:nvPr/>
        </p:nvSpPr>
        <p:spPr>
          <a:xfrm>
            <a:off x="7376268" y="2052290"/>
            <a:ext cx="1692188" cy="1296144"/>
          </a:xfrm>
          <a:prstGeom prst="wedgeRoundRectCallout">
            <a:avLst>
              <a:gd name="adj1" fmla="val -59153"/>
              <a:gd name="adj2" fmla="val 1395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400" dirty="0" smtClean="0"/>
              <a:t>找出單一目標的最佳值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1763688" y="4149080"/>
            <a:ext cx="5472608" cy="2448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圖說文字 8"/>
          <p:cNvSpPr/>
          <p:nvPr/>
        </p:nvSpPr>
        <p:spPr>
          <a:xfrm>
            <a:off x="7376268" y="4077072"/>
            <a:ext cx="1760494" cy="2232248"/>
          </a:xfrm>
          <a:prstGeom prst="wedgeRoundRectCallout">
            <a:avLst>
              <a:gd name="adj1" fmla="val -59153"/>
              <a:gd name="adj2" fmla="val 13955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200" dirty="0" smtClean="0"/>
              <a:t>在新的估計區間產生</a:t>
            </a:r>
            <a:r>
              <a:rPr lang="en-US" altLang="zh-TW" sz="2200" dirty="0" smtClean="0"/>
              <a:t>chromosome</a:t>
            </a:r>
            <a:r>
              <a:rPr lang="zh-TW" altLang="en-US" sz="2200" dirty="0" smtClean="0"/>
              <a:t>重新演化</a:t>
            </a: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16202699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70060"/>
          <a:stretch/>
        </p:blipFill>
        <p:spPr bwMode="auto">
          <a:xfrm>
            <a:off x="467544" y="764704"/>
            <a:ext cx="8135896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516214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Pareto front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41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84784"/>
            <a:ext cx="7124700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854" y="4077072"/>
            <a:ext cx="7834160" cy="12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545647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FDA1</a:t>
            </a:r>
            <a:endParaRPr lang="zh-TW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4625948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69131" y="1916832"/>
            <a:ext cx="4495357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0725667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FDA1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4381118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35159" y="1578636"/>
            <a:ext cx="4462778" cy="3772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2190601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FDA2</a:t>
            </a:r>
            <a:endParaRPr lang="zh-TW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4495" y="1484784"/>
            <a:ext cx="4543157" cy="3800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89558" y="1704396"/>
            <a:ext cx="4232783" cy="379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4376562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541" y="1918532"/>
            <a:ext cx="3971950" cy="324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87381"/>
            <a:ext cx="4064817" cy="3359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標題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FDA2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575179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FDA3</a:t>
            </a:r>
            <a:endParaRPr lang="zh-TW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3981" y="1603970"/>
            <a:ext cx="4161440" cy="340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05764"/>
            <a:ext cx="3911972" cy="320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4762947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FDA3</a:t>
            </a:r>
            <a:endParaRPr lang="zh-TW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44824"/>
            <a:ext cx="4032448" cy="3312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844824"/>
            <a:ext cx="4239819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7013998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FDA4</a:t>
            </a:r>
            <a:endParaRPr lang="zh-TW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782554" cy="5335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129804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FDA4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58000"/>
            <a:ext cx="6702212" cy="5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306514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FDA4</a:t>
            </a:r>
            <a:endParaRPr lang="zh-TW" alt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158" y="1916832"/>
            <a:ext cx="9033842" cy="387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841105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FDA5</a:t>
            </a:r>
            <a:endParaRPr lang="zh-TW" alt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72816"/>
            <a:ext cx="5886450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0767591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FDA5</a:t>
            </a:r>
            <a:endParaRPr lang="zh-TW" alt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6439151" cy="518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528077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FDA5</a:t>
            </a:r>
            <a:endParaRPr lang="zh-TW" alt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28800"/>
            <a:ext cx="4139456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18968" y="1545307"/>
            <a:ext cx="4357488" cy="370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A84EE-EB87-41B7-96B4-C7F123961390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2665928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442758" y="431515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9600" dirty="0" smtClean="0"/>
              <a:t>Thank you!!</a:t>
            </a:r>
            <a:endParaRPr lang="zh-TW" altLang="en-US" sz="9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2D449-FE15-4C98-AE90-32963C8A7493}" type="slidenum">
              <a:rPr lang="zh-TW" altLang="en-US" smtClean="0"/>
              <a:pPr/>
              <a:t>54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23078" y="2477835"/>
            <a:ext cx="3312368" cy="360040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9160" y="2503869"/>
            <a:ext cx="3831946" cy="383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880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1004</Words>
  <Application>Microsoft Office PowerPoint</Application>
  <PresentationFormat>如螢幕大小 (4:3)</PresentationFormat>
  <Paragraphs>196</Paragraphs>
  <Slides>54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55" baseType="lpstr">
      <vt:lpstr>Office 佈景主題</vt:lpstr>
      <vt:lpstr>Dynamic Multiobjective Optimization Problems: Test Cases, Approximations, and Applications</vt:lpstr>
      <vt:lpstr>Abstract (1/2)</vt:lpstr>
      <vt:lpstr>Abstract (2/2)</vt:lpstr>
      <vt:lpstr>Pareto front (static)</vt:lpstr>
      <vt:lpstr>Pareto front (dynamic)</vt:lpstr>
      <vt:lpstr>Dominance definition</vt:lpstr>
      <vt:lpstr>Dominance</vt:lpstr>
      <vt:lpstr>Introduction of dynamic optimization</vt:lpstr>
      <vt:lpstr>Problem definition (general)</vt:lpstr>
      <vt:lpstr>Dynamic multiobjective minimization problem of M objectives</vt:lpstr>
      <vt:lpstr>投影片 11</vt:lpstr>
      <vt:lpstr>Example</vt:lpstr>
      <vt:lpstr>Test problems</vt:lpstr>
      <vt:lpstr>SCH problem</vt:lpstr>
      <vt:lpstr>Static ZDT problem</vt:lpstr>
      <vt:lpstr>Dynamic ZDT problems (two-objective)</vt:lpstr>
      <vt:lpstr>Scenario 1 (type I, only SP changes)</vt:lpstr>
      <vt:lpstr>Scenario 2 (Type II, both SP and FP change)</vt:lpstr>
      <vt:lpstr>Scenario 3(Type III, only Fp changes)</vt:lpstr>
      <vt:lpstr>Scenario 4 (complex situation)</vt:lpstr>
      <vt:lpstr>Static DTLZ-2 problem</vt:lpstr>
      <vt:lpstr>Test suite for continuous search space</vt:lpstr>
      <vt:lpstr>FDA1-Sp and Fp figures</vt:lpstr>
      <vt:lpstr>FDA2</vt:lpstr>
      <vt:lpstr>FDA2-Sp and Fp figures</vt:lpstr>
      <vt:lpstr>FDA3</vt:lpstr>
      <vt:lpstr>FDA3-Sp and Fp figures</vt:lpstr>
      <vt:lpstr>FDA4</vt:lpstr>
      <vt:lpstr>FDA4-Sp and Fp figures</vt:lpstr>
      <vt:lpstr>FDA5</vt:lpstr>
      <vt:lpstr>FDA5-Sp and Fp figures</vt:lpstr>
      <vt:lpstr>Discrete search space test problems</vt:lpstr>
      <vt:lpstr>Dynamic traveling salesman problem</vt:lpstr>
      <vt:lpstr>Dynamic multiobjective optimal control problems</vt:lpstr>
      <vt:lpstr>Dynamic EMO algorithm,  a directed-based approach</vt:lpstr>
      <vt:lpstr>SCH problem</vt:lpstr>
      <vt:lpstr>Checking the suddenly change</vt:lpstr>
      <vt:lpstr>Convergence measure  (in decision space and objective space)</vt:lpstr>
      <vt:lpstr>投影片 39</vt:lpstr>
      <vt:lpstr>投影片 40</vt:lpstr>
      <vt:lpstr>Pareto front</vt:lpstr>
      <vt:lpstr>FDA1</vt:lpstr>
      <vt:lpstr>FDA1</vt:lpstr>
      <vt:lpstr>FDA2</vt:lpstr>
      <vt:lpstr>投影片 45</vt:lpstr>
      <vt:lpstr>FDA3</vt:lpstr>
      <vt:lpstr>FDA3</vt:lpstr>
      <vt:lpstr>FDA4</vt:lpstr>
      <vt:lpstr>FDA4</vt:lpstr>
      <vt:lpstr>FDA4</vt:lpstr>
      <vt:lpstr>FDA5</vt:lpstr>
      <vt:lpstr>FDA5</vt:lpstr>
      <vt:lpstr>FDA5</vt:lpstr>
      <vt:lpstr>投影片 54</vt:lpstr>
    </vt:vector>
  </TitlesOfParts>
  <Company>comstar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Multiobjective Optimization Problems: Test Cases, Approximations, and Applications</dc:title>
  <dc:creator>chenhh</dc:creator>
  <cp:lastModifiedBy>admin</cp:lastModifiedBy>
  <cp:revision>144</cp:revision>
  <dcterms:created xsi:type="dcterms:W3CDTF">2012-08-07T07:23:43Z</dcterms:created>
  <dcterms:modified xsi:type="dcterms:W3CDTF">2012-08-21T11:48:35Z</dcterms:modified>
</cp:coreProperties>
</file>