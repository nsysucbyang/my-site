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258" r:id="rId3"/>
    <p:sldId id="260" r:id="rId4"/>
    <p:sldId id="261" r:id="rId5"/>
    <p:sldId id="267" r:id="rId6"/>
    <p:sldId id="268" r:id="rId7"/>
    <p:sldId id="262" r:id="rId8"/>
    <p:sldId id="263" r:id="rId9"/>
    <p:sldId id="264" r:id="rId10"/>
    <p:sldId id="265" r:id="rId11"/>
    <p:sldId id="266" r:id="rId12"/>
    <p:sldId id="259" r:id="rId13"/>
    <p:sldId id="310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91" r:id="rId28"/>
    <p:sldId id="292" r:id="rId29"/>
    <p:sldId id="293" r:id="rId30"/>
    <p:sldId id="300" r:id="rId31"/>
    <p:sldId id="301" r:id="rId32"/>
    <p:sldId id="307" r:id="rId33"/>
    <p:sldId id="302" r:id="rId34"/>
    <p:sldId id="306" r:id="rId35"/>
    <p:sldId id="303" r:id="rId36"/>
    <p:sldId id="304" r:id="rId37"/>
    <p:sldId id="305" r:id="rId38"/>
    <p:sldId id="282" r:id="rId39"/>
    <p:sldId id="283" r:id="rId40"/>
    <p:sldId id="284" r:id="rId41"/>
    <p:sldId id="286" r:id="rId42"/>
    <p:sldId id="287" r:id="rId43"/>
    <p:sldId id="288" r:id="rId44"/>
    <p:sldId id="294" r:id="rId45"/>
    <p:sldId id="295" r:id="rId46"/>
    <p:sldId id="289" r:id="rId47"/>
    <p:sldId id="290" r:id="rId48"/>
    <p:sldId id="297" r:id="rId49"/>
    <p:sldId id="308" r:id="rId50"/>
    <p:sldId id="309" r:id="rId51"/>
    <p:sldId id="298" r:id="rId52"/>
    <p:sldId id="299" r:id="rId53"/>
    <p:sldId id="296" r:id="rId54"/>
    <p:sldId id="257" r:id="rId5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77" autoAdjust="0"/>
  </p:normalViewPr>
  <p:slideViewPr>
    <p:cSldViewPr>
      <p:cViewPr>
        <p:scale>
          <a:sx n="66" d="100"/>
          <a:sy n="66" d="100"/>
        </p:scale>
        <p:origin x="-150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E9CFA-9683-4797-82FD-864728D184FF}" type="datetimeFigureOut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92C78-1704-4508-A750-E8B5B4007D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902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54EE3-6891-49DE-8682-38FB143E2418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930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0D245-77F7-42AB-A9E8-14027F2C9182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CC012-B141-47C6-9E6A-326AD2EE781D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22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7C3-89D2-4FCB-9D0F-15245F71F135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825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7288-7E4A-46B4-9AE1-79E260819CB9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3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1F5D4-24AA-4CFB-AF2B-943031EDEBD6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149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1A49-F5DF-4DC9-909D-A6BB05A73025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460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B6A9-96B3-4474-B67B-564D2C388AE7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25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150D2-A7C5-42B3-8BB4-80826A580E0B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13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DA602-A43B-42C7-A932-5965A55178EB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73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0157F-E429-470D-B0E5-90250BA8176E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32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7E986-CDBB-48B8-B574-69CB34952EC0}" type="datetime1">
              <a:rPr lang="zh-TW" altLang="en-US" smtClean="0"/>
              <a:t>2012/10/23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0500E-3D02-4427-B514-133FF01109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75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1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2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Microsoft_Word_97_-_2003___3.doc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__4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Microsoft_Word_97_-_2003___5.doc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://abel.ee.ucla.edu/cvxopt/userguide/coneprog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1560" y="260648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600" dirty="0" smtClean="0"/>
              <a:t>Optimal Dynamic Portfolio Selection: </a:t>
            </a:r>
            <a:r>
              <a:rPr lang="en-US" altLang="zh-TW" sz="3600" dirty="0" err="1" smtClean="0"/>
              <a:t>Multiperiod</a:t>
            </a:r>
            <a:r>
              <a:rPr lang="en-US" altLang="zh-TW" sz="3600" dirty="0" smtClean="0"/>
              <a:t> Mean-Variance Formulation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94032" y="4221088"/>
            <a:ext cx="8789846" cy="76693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Mathematical Finance, Vol. 10, No. 3 pp. 387–406, 2000</a:t>
            </a:r>
            <a:endParaRPr lang="zh-TW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179512" y="1988840"/>
            <a:ext cx="87129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 err="1" smtClean="0"/>
              <a:t>Duan</a:t>
            </a:r>
            <a:r>
              <a:rPr lang="en-US" altLang="zh-TW" sz="2800" dirty="0" smtClean="0"/>
              <a:t> Li (</a:t>
            </a:r>
            <a:r>
              <a:rPr lang="en-US" altLang="zh-TW" sz="2800" dirty="0" err="1" smtClean="0"/>
              <a:t>李端</a:t>
            </a:r>
            <a:r>
              <a:rPr lang="en-US" altLang="zh-TW" sz="2800" dirty="0" smtClean="0"/>
              <a:t>) and Wan-Lung Ng </a:t>
            </a:r>
          </a:p>
          <a:p>
            <a:pPr algn="ctr"/>
            <a:r>
              <a:rPr lang="en-US" altLang="zh-TW" sz="2800" dirty="0" smtClean="0"/>
              <a:t>Department of Systems Engineering and Engineering Management,</a:t>
            </a:r>
          </a:p>
          <a:p>
            <a:pPr algn="ctr"/>
            <a:r>
              <a:rPr lang="en-US" altLang="zh-TW" sz="2800" dirty="0" smtClean="0"/>
              <a:t>Chinese University of Hong Kong</a:t>
            </a:r>
            <a:endParaRPr lang="zh-TW" altLang="en-US" sz="2800" dirty="0"/>
          </a:p>
        </p:txBody>
      </p:sp>
      <p:sp>
        <p:nvSpPr>
          <p:cNvPr id="5" name="文字方塊 6"/>
          <p:cNvSpPr txBox="1"/>
          <p:nvPr/>
        </p:nvSpPr>
        <p:spPr>
          <a:xfrm>
            <a:off x="3419872" y="5122274"/>
            <a:ext cx="54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 smtClean="0"/>
              <a:t>Presenter: Hung-</a:t>
            </a:r>
            <a:r>
              <a:rPr lang="en-US" altLang="zh-TW" sz="2400" dirty="0" err="1" smtClean="0"/>
              <a:t>Hsin</a:t>
            </a:r>
            <a:r>
              <a:rPr lang="en-US" altLang="zh-TW" sz="2400" dirty="0" smtClean="0"/>
              <a:t> Chen (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陳紘昕</a:t>
            </a:r>
            <a:r>
              <a:rPr lang="en-US" altLang="zh-TW" sz="2400" dirty="0" smtClean="0"/>
              <a:t>)</a:t>
            </a:r>
          </a:p>
          <a:p>
            <a:r>
              <a:rPr lang="en-US" altLang="zh-TW" sz="2400" dirty="0" smtClean="0"/>
              <a:t>Date: Oct. 23, 2012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26740" y="4974060"/>
            <a:ext cx="1251714" cy="132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70912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zh-TW" dirty="0" smtClean="0"/>
              <a:t>The mean-variance formulation by Markowitz in the 1950s paved a foundation for modern portfolio selection analysis in a single period. This paper considers an analytical optimal solution to the mean-variance formulation in </a:t>
            </a:r>
            <a:r>
              <a:rPr lang="en-US" altLang="zh-TW" dirty="0" err="1" smtClean="0"/>
              <a:t>multiperiod</a:t>
            </a:r>
            <a:r>
              <a:rPr lang="en-US" altLang="zh-TW" dirty="0" smtClean="0"/>
              <a:t> portfolio selection. Speciﬁcally, analytical optimal portfolio policy and analytical expression of the mean-variance efﬁcient frontier are derived in this paper for the </a:t>
            </a:r>
            <a:r>
              <a:rPr lang="en-US" altLang="zh-TW" dirty="0" err="1" smtClean="0"/>
              <a:t>multiperiod</a:t>
            </a:r>
            <a:r>
              <a:rPr lang="en-US" altLang="zh-TW" dirty="0" smtClean="0"/>
              <a:t> mean-variance formulation. An efﬁcient algorithm is also proposed for ﬁnding an optimal portfolio policy to maximize a utility function of the expected value and the variance of the terminal wealth.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0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Lagrange multiplier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40768"/>
            <a:ext cx="4238625" cy="3705225"/>
          </a:xfrm>
        </p:spPr>
      </p:pic>
      <p:sp>
        <p:nvSpPr>
          <p:cNvPr id="5" name="文字方塊 4"/>
          <p:cNvSpPr txBox="1"/>
          <p:nvPr/>
        </p:nvSpPr>
        <p:spPr>
          <a:xfrm>
            <a:off x="395536" y="5157192"/>
            <a:ext cx="417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圖</a:t>
            </a:r>
            <a:r>
              <a:rPr lang="en-US" altLang="zh-TW" dirty="0"/>
              <a:t>1</a:t>
            </a:r>
            <a:r>
              <a:rPr lang="zh-TW" altLang="en-US" dirty="0"/>
              <a:t>：綠線標出的是約束</a:t>
            </a:r>
            <a:r>
              <a:rPr lang="en-US" altLang="zh-TW" dirty="0"/>
              <a:t>g(</a:t>
            </a:r>
            <a:r>
              <a:rPr lang="en-US" altLang="zh-TW" dirty="0" err="1"/>
              <a:t>x,y</a:t>
            </a:r>
            <a:r>
              <a:rPr lang="en-US" altLang="zh-TW" dirty="0"/>
              <a:t>) = c</a:t>
            </a:r>
            <a:r>
              <a:rPr lang="zh-TW" altLang="en-US" dirty="0"/>
              <a:t>的點的軌跡。藍線是</a:t>
            </a:r>
            <a:r>
              <a:rPr lang="en-US" altLang="zh-TW" dirty="0"/>
              <a:t>f</a:t>
            </a:r>
            <a:r>
              <a:rPr lang="zh-TW" altLang="en-US" dirty="0"/>
              <a:t>的等高線。箭頭表示斜率，和等高線的法線平行。</a:t>
            </a:r>
            <a:endParaRPr lang="en-US" altLang="zh-TW" dirty="0" smtClean="0"/>
          </a:p>
          <a:p>
            <a:r>
              <a:rPr lang="en-US" altLang="zh-TW" dirty="0" smtClean="0"/>
              <a:t>From </a:t>
            </a:r>
            <a:r>
              <a:rPr lang="en-US" altLang="zh-TW" dirty="0" err="1" smtClean="0"/>
              <a:t>wikipedia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932040" y="1628800"/>
                <a:ext cx="4104456" cy="384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min</m:t>
                          </m:r>
                        </m:fName>
                        <m:e/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𝑠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.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𝑡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. 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: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altLang="zh-TW" sz="2000" b="0" dirty="0" smtClean="0"/>
              </a:p>
              <a:p>
                <a:endParaRPr lang="en-US" altLang="zh-TW" sz="2000" dirty="0" smtClean="0"/>
              </a:p>
              <a:p>
                <a:r>
                  <a:rPr lang="zh-TW" altLang="en-US" sz="2000" dirty="0" smtClean="0">
                    <a:solidFill>
                      <a:srgbClr val="FF0000"/>
                    </a:solidFill>
                  </a:rPr>
                  <a:t>極值必定</a:t>
                </a:r>
                <a:r>
                  <a:rPr lang="zh-TW" altLang="en-US" sz="2000" smtClean="0">
                    <a:solidFill>
                      <a:srgbClr val="FF0000"/>
                    </a:solidFill>
                  </a:rPr>
                  <a:t>發生在方程式</a:t>
                </a:r>
                <a:r>
                  <a:rPr lang="zh-TW" altLang="en-US" sz="2000" dirty="0" smtClean="0">
                    <a:solidFill>
                      <a:srgbClr val="FF0000"/>
                    </a:solidFill>
                  </a:rPr>
                  <a:t>相交</a:t>
                </a:r>
                <a:r>
                  <a:rPr lang="zh-TW" altLang="en-US" sz="2000" smtClean="0">
                    <a:solidFill>
                      <a:srgbClr val="FF0000"/>
                    </a:solidFill>
                  </a:rPr>
                  <a:t>之處</a:t>
                </a:r>
                <a:endParaRPr lang="en-US" altLang="zh-TW" sz="2000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=−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𝜆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TW" sz="20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𝜆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/>
                        </a:rPr>
                        <m:t>𝑦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+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𝜆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0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000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zh-TW" sz="2000" dirty="0" smtClean="0"/>
              </a:p>
              <a:p>
                <a:endParaRPr lang="en-US" altLang="zh-TW" sz="2000" dirty="0"/>
              </a:p>
              <a:p>
                <a:r>
                  <a:rPr lang="zh-TW" altLang="en-US" sz="2000" dirty="0" smtClean="0"/>
                  <a:t>而</a:t>
                </a:r>
                <a:r>
                  <a:rPr lang="en-US" altLang="zh-TW" sz="2000" dirty="0" smtClean="0"/>
                  <a:t>L(.)</a:t>
                </a:r>
                <a:r>
                  <a:rPr lang="zh-TW" altLang="en-US" sz="2000" dirty="0" smtClean="0"/>
                  <a:t>的極值在微分</a:t>
                </a:r>
                <a:r>
                  <a:rPr lang="en-US" altLang="zh-TW" sz="2000" dirty="0" smtClean="0"/>
                  <a:t>=0</a:t>
                </a:r>
                <a:r>
                  <a:rPr lang="zh-TW" altLang="en-US" sz="2000" dirty="0" smtClean="0"/>
                  <a:t>之處</a:t>
                </a:r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/>
                        </a:rPr>
                        <m:t>𝛻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𝐿</m:t>
                      </m:r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𝑥𝑦</m:t>
                                </m:r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+2</m:t>
                                </m:r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𝜆</m:t>
                                </m:r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+2</m:t>
                                </m:r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𝜆</m:t>
                                </m:r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/>
                        </a:rPr>
                        <m:t>⇒</m:t>
                      </m:r>
                      <m:func>
                        <m:func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/>
                            </a:rPr>
                            <m:t>min</m:t>
                          </m:r>
                        </m:fName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000" b="0" i="1" smtClean="0">
                              <a:latin typeface="Cambria Math"/>
                            </a:rPr>
                            <m:t>=−0.3849</m:t>
                          </m:r>
                        </m:e>
                      </m:fun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040" y="1628800"/>
                <a:ext cx="4104456" cy="3840539"/>
              </a:xfrm>
              <a:prstGeom prst="rect">
                <a:avLst/>
              </a:prstGeom>
              <a:blipFill rotWithShape="1">
                <a:blip r:embed="rId3"/>
                <a:stretch>
                  <a:fillRect l="-1486" b="-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65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Portfolio return</a:t>
            </a:r>
            <a:endParaRPr lang="zh-TW" altLang="en-US" dirty="0"/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268760"/>
            <a:ext cx="5388074" cy="181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572296"/>
              </p:ext>
            </p:extLst>
          </p:nvPr>
        </p:nvGraphicFramePr>
        <p:xfrm>
          <a:off x="323528" y="3284984"/>
          <a:ext cx="8352932" cy="206423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73804"/>
                <a:gridCol w="1374468"/>
                <a:gridCol w="984110"/>
                <a:gridCol w="984110"/>
                <a:gridCol w="984110"/>
                <a:gridCol w="984110"/>
                <a:gridCol w="984110"/>
                <a:gridCol w="984110"/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Stock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Period 1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2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3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4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+mn-lt"/>
                        </a:rPr>
                        <a:t>5</a:t>
                      </a:r>
                      <a:endParaRPr lang="zh-TW" alt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E(.)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W</a:t>
                      </a:r>
                      <a:r>
                        <a:rPr lang="en-US" altLang="zh-TW" sz="2400" i="1" baseline="-250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i</a:t>
                      </a:r>
                      <a:endParaRPr lang="zh-TW" altLang="en-US" sz="2400" i="1" baseline="-250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5880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/>
                        <a:t>Stock1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0.3%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0.2%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1.0%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-0.7%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-0.9%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-0.02%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25%</a:t>
                      </a:r>
                      <a:endParaRPr lang="en-US" altLang="zh-TW" sz="2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/>
                        <a:t>Stock 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 smtClean="0">
                          <a:effectLst/>
                          <a:latin typeface="+mn-lt"/>
                        </a:rPr>
                        <a:t>0.3%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  <a:latin typeface="+mn-lt"/>
                        </a:rPr>
                        <a:t>2</a:t>
                      </a:r>
                      <a:r>
                        <a:rPr lang="en-US" altLang="zh-TW" sz="2400" u="none" strike="noStrike" dirty="0" smtClean="0">
                          <a:effectLst/>
                          <a:latin typeface="+mn-lt"/>
                        </a:rPr>
                        <a:t>.40</a:t>
                      </a:r>
                      <a:r>
                        <a:rPr lang="en-US" altLang="zh-TW" sz="2400" u="none" strike="noStrike" dirty="0">
                          <a:effectLst/>
                          <a:latin typeface="+mn-lt"/>
                        </a:rPr>
                        <a:t>%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  <a:latin typeface="+mn-lt"/>
                        </a:rPr>
                        <a:t>-1.32%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  <a:latin typeface="+mn-lt"/>
                        </a:rPr>
                        <a:t>0.53%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u="none" strike="noStrike" dirty="0">
                          <a:effectLst/>
                          <a:latin typeface="+mn-lt"/>
                        </a:rPr>
                        <a:t>0.41%</a:t>
                      </a:r>
                      <a:endParaRPr lang="en-US" altLang="zh-TW" sz="2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0.46%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40%</a:t>
                      </a:r>
                      <a:endParaRPr lang="en-US" altLang="zh-TW" sz="2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/>
                        <a:t>Stock 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-0.1%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2.1%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-0.3%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1.1%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>
                          <a:latin typeface="+mn-lt"/>
                        </a:rPr>
                        <a:t>0.13%</a:t>
                      </a:r>
                      <a:endParaRPr lang="zh-TW" altLang="en-US" sz="2400" baseline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0.59%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24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35%</a:t>
                      </a:r>
                      <a:endParaRPr lang="en-US" altLang="zh-TW" sz="2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1025922" y="5733256"/>
                <a:ext cx="7272808" cy="885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=25%∗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−0.02%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+40%∗0.46%+35%∗0.59%=0.3855%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922" y="5733256"/>
                <a:ext cx="7272808" cy="8859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3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Covariance matrix </a:t>
            </a:r>
            <a:r>
              <a:rPr lang="el-GR" altLang="zh-TW" dirty="0" smtClean="0"/>
              <a:t>Σ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FD6A-CD28-4AD1-997B-38CF7B9E77E7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25847" y="1124744"/>
            <a:ext cx="3642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微軟正黑體" pitchFamily="34" charset="-120"/>
                <a:ea typeface="微軟正黑體" pitchFamily="34" charset="-120"/>
              </a:rPr>
              <a:t>Covariance of data X, Y: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8" name="方程式" r:id="rId3" imgW="114120" imgH="215640" progId="Equation.3">
                  <p:embed/>
                </p:oleObj>
              </mc:Choice>
              <mc:Fallback>
                <p:oleObj name="方程式" r:id="rId3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454908"/>
              </p:ext>
            </p:extLst>
          </p:nvPr>
        </p:nvGraphicFramePr>
        <p:xfrm>
          <a:off x="611560" y="1628800"/>
          <a:ext cx="7313613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9" name="Equation" r:id="rId5" imgW="4038480" imgH="672840" progId="Equation.3">
                  <p:embed/>
                </p:oleObj>
              </mc:Choice>
              <mc:Fallback>
                <p:oleObj name="Equation" r:id="rId5" imgW="4038480" imgH="672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628800"/>
                        <a:ext cx="7313613" cy="1316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611560" y="2948751"/>
            <a:ext cx="5904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ea typeface="微軟正黑體" pitchFamily="34" charset="-120"/>
              </a:rPr>
              <a:t>X=[1, 2 ,3], Y=[4,5,6]</a:t>
            </a:r>
          </a:p>
          <a:p>
            <a:r>
              <a:rPr lang="en-US" altLang="zh-TW" sz="2400" dirty="0" smtClean="0">
                <a:ea typeface="微軟正黑體" pitchFamily="34" charset="-120"/>
              </a:rPr>
              <a:t>E(x) = 2, E(y)=5, E(</a:t>
            </a:r>
            <a:r>
              <a:rPr lang="en-US" altLang="zh-TW" sz="2400" dirty="0" err="1" smtClean="0">
                <a:ea typeface="微軟正黑體" pitchFamily="34" charset="-120"/>
              </a:rPr>
              <a:t>xy</a:t>
            </a:r>
            <a:r>
              <a:rPr lang="en-US" altLang="zh-TW" sz="2400" dirty="0" smtClean="0">
                <a:ea typeface="微軟正黑體" pitchFamily="34" charset="-120"/>
              </a:rPr>
              <a:t>) = (4+10+18)/3 = 32/3</a:t>
            </a:r>
          </a:p>
          <a:p>
            <a:r>
              <a:rPr lang="el-GR" altLang="zh-TW" sz="2400" dirty="0" smtClean="0">
                <a:ea typeface="微軟正黑體" pitchFamily="34" charset="-120"/>
              </a:rPr>
              <a:t>σ</a:t>
            </a:r>
            <a:r>
              <a:rPr lang="en-US" altLang="zh-TW" sz="2400" baseline="-25000" dirty="0" err="1" smtClean="0">
                <a:ea typeface="微軟正黑體" pitchFamily="34" charset="-120"/>
              </a:rPr>
              <a:t>xy</a:t>
            </a:r>
            <a:r>
              <a:rPr lang="en-US" altLang="zh-TW" sz="2400" dirty="0" smtClean="0">
                <a:ea typeface="微軟正黑體" pitchFamily="34" charset="-120"/>
              </a:rPr>
              <a:t> = 32/3 – 10 = 2/3</a:t>
            </a:r>
            <a:endParaRPr lang="zh-TW" altLang="en-US" sz="2400" dirty="0">
              <a:ea typeface="微軟正黑體" pitchFamily="34" charset="-120"/>
            </a:endParaRPr>
          </a:p>
        </p:txBody>
      </p:sp>
      <p:graphicFrame>
        <p:nvGraphicFramePr>
          <p:cNvPr id="1105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563336"/>
              </p:ext>
            </p:extLst>
          </p:nvPr>
        </p:nvGraphicFramePr>
        <p:xfrm>
          <a:off x="1043608" y="4149080"/>
          <a:ext cx="6457316" cy="2418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0" name="方程式" r:id="rId7" imgW="3517560" imgH="1218960" progId="Equation.3">
                  <p:embed/>
                </p:oleObj>
              </mc:Choice>
              <mc:Fallback>
                <p:oleObj name="方程式" r:id="rId7" imgW="3517560" imgH="1218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149080"/>
                        <a:ext cx="6457316" cy="24181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492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5" y="465966"/>
            <a:ext cx="9013106" cy="588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48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Portfolio risk (standard deviation)</a:t>
            </a:r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419989"/>
              </p:ext>
            </p:extLst>
          </p:nvPr>
        </p:nvGraphicFramePr>
        <p:xfrm>
          <a:off x="827088" y="1341438"/>
          <a:ext cx="7273925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" name="Equation" r:id="rId3" imgW="2361960" imgH="1955520" progId="Equation.3">
                  <p:embed/>
                </p:oleObj>
              </mc:Choice>
              <mc:Fallback>
                <p:oleObj name="Equation" r:id="rId3" imgW="2361960" imgH="1955520" progId="Equation.3">
                  <p:embed/>
                  <p:pic>
                    <p:nvPicPr>
                      <p:cNvPr id="0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341438"/>
                        <a:ext cx="7273925" cy="487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圓角矩形圖說文字 7"/>
          <p:cNvSpPr/>
          <p:nvPr/>
        </p:nvSpPr>
        <p:spPr>
          <a:xfrm>
            <a:off x="6084168" y="5589240"/>
            <a:ext cx="2664296" cy="1080120"/>
          </a:xfrm>
          <a:prstGeom prst="wedgeRoundRectCallout">
            <a:avLst>
              <a:gd name="adj1" fmla="val -115152"/>
              <a:gd name="adj2" fmla="val -46328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000" dirty="0" smtClean="0"/>
              <a:t>Covariance matrix</a:t>
            </a:r>
            <a:endParaRPr lang="zh-TW" altLang="en-US" sz="40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63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Correlation of the assets</a:t>
            </a:r>
            <a:endParaRPr lang="zh-TW" altLang="en-US" dirty="0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/>
        </p:nvGraphicFramePr>
        <p:xfrm>
          <a:off x="2124075" y="1412875"/>
          <a:ext cx="4262438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方程式" r:id="rId3" imgW="1879600" imgH="952500" progId="Equation.3">
                  <p:embed/>
                </p:oleObj>
              </mc:Choice>
              <mc:Fallback>
                <p:oleObj name="方程式" r:id="rId3" imgW="1879600" imgH="952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412875"/>
                        <a:ext cx="4262438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4211960" y="161453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B0F0"/>
                </a:solidFill>
              </a:rPr>
              <a:t>Pearson correlation coefficient</a:t>
            </a:r>
            <a:endParaRPr lang="zh-TW" altLang="en-US" sz="2400" dirty="0">
              <a:solidFill>
                <a:srgbClr val="00B0F0"/>
              </a:solidFill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356121" y="3933056"/>
            <a:ext cx="8452569" cy="1754326"/>
            <a:chOff x="395536" y="4221088"/>
            <a:chExt cx="8452569" cy="1754326"/>
          </a:xfrm>
        </p:grpSpPr>
        <p:sp>
          <p:nvSpPr>
            <p:cNvPr id="8" name="文字方塊 7"/>
            <p:cNvSpPr txBox="1"/>
            <p:nvPr/>
          </p:nvSpPr>
          <p:spPr>
            <a:xfrm>
              <a:off x="395536" y="4221088"/>
              <a:ext cx="684076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l-GR" altLang="zh-TW" sz="2400" i="1" dirty="0" smtClean="0"/>
                <a:t>γ</a:t>
              </a:r>
              <a:r>
                <a:rPr lang="en-US" altLang="zh-TW" sz="2400" baseline="-25000" dirty="0" smtClean="0"/>
                <a:t>12</a:t>
              </a:r>
              <a:r>
                <a:rPr lang="en-US" altLang="zh-TW" sz="2400" dirty="0" smtClean="0"/>
                <a:t> = 1 (</a:t>
              </a:r>
              <a:r>
                <a:rPr lang="en-US" altLang="zh-TW" sz="2400" dirty="0" err="1" smtClean="0"/>
                <a:t>完全正相關</a:t>
              </a:r>
              <a:r>
                <a:rPr lang="en-US" altLang="zh-TW" sz="2400" dirty="0" smtClean="0"/>
                <a:t>) </a:t>
              </a:r>
            </a:p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l-GR" altLang="zh-TW" sz="2400" i="1" dirty="0"/>
                <a:t>γ </a:t>
              </a:r>
              <a:r>
                <a:rPr lang="en-US" altLang="zh-TW" sz="2400" baseline="-25000" dirty="0" smtClean="0"/>
                <a:t>12 </a:t>
              </a:r>
              <a:r>
                <a:rPr lang="en-US" altLang="zh-TW" sz="2400" dirty="0" smtClean="0"/>
                <a:t> = -1(</a:t>
              </a:r>
              <a:r>
                <a:rPr lang="en-US" altLang="zh-TW" sz="2400" dirty="0" err="1" smtClean="0"/>
                <a:t>完全負相關</a:t>
              </a:r>
              <a:r>
                <a:rPr lang="en-US" altLang="zh-TW" sz="2400" dirty="0" smtClean="0"/>
                <a:t>)</a:t>
              </a:r>
            </a:p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TW" sz="2400" dirty="0" smtClean="0"/>
                <a:t>-1 &lt;</a:t>
              </a:r>
              <a:r>
                <a:rPr lang="el-GR" altLang="zh-TW" sz="2400" i="1" dirty="0"/>
                <a:t> γ </a:t>
              </a:r>
              <a:r>
                <a:rPr lang="en-US" altLang="zh-TW" sz="2400" baseline="-25000" dirty="0" smtClean="0"/>
                <a:t>12 </a:t>
              </a:r>
              <a:r>
                <a:rPr lang="en-US" altLang="zh-TW" sz="2400" dirty="0" smtClean="0"/>
                <a:t>&lt; 1 (</a:t>
              </a:r>
              <a:r>
                <a:rPr lang="en-US" altLang="zh-TW" sz="2400" dirty="0" err="1" smtClean="0"/>
                <a:t>部分相關</a:t>
              </a:r>
              <a:r>
                <a:rPr lang="en-US" altLang="zh-TW" sz="2400" dirty="0" smtClean="0"/>
                <a:t>)</a:t>
              </a:r>
              <a:endParaRPr lang="zh-TW" altLang="en-US" sz="2400" dirty="0"/>
            </a:p>
          </p:txBody>
        </p:sp>
        <p:graphicFrame>
          <p:nvGraphicFramePr>
            <p:cNvPr id="9" name="Object 3"/>
            <p:cNvGraphicFramePr>
              <a:graphicFrameLocks noChangeAspect="1"/>
            </p:cNvGraphicFramePr>
            <p:nvPr/>
          </p:nvGraphicFramePr>
          <p:xfrm>
            <a:off x="3491880" y="4221088"/>
            <a:ext cx="2908300" cy="576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4" name="方程式" r:id="rId5" imgW="1282680" imgH="253800" progId="Equation.3">
                    <p:embed/>
                  </p:oleObj>
                </mc:Choice>
                <mc:Fallback>
                  <p:oleObj name="方程式" r:id="rId5" imgW="1282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4221088"/>
                          <a:ext cx="2908300" cy="5762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4"/>
            <p:cNvGraphicFramePr>
              <a:graphicFrameLocks noChangeAspect="1"/>
            </p:cNvGraphicFramePr>
            <p:nvPr/>
          </p:nvGraphicFramePr>
          <p:xfrm>
            <a:off x="3491880" y="4797152"/>
            <a:ext cx="2908300" cy="57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" name="方程式" r:id="rId7" imgW="1282680" imgH="253800" progId="Equation.3">
                    <p:embed/>
                  </p:oleObj>
                </mc:Choice>
                <mc:Fallback>
                  <p:oleObj name="方程式" r:id="rId7" imgW="1282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4797152"/>
                          <a:ext cx="2908300" cy="576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5"/>
            <p:cNvGraphicFramePr>
              <a:graphicFrameLocks noChangeAspect="1"/>
            </p:cNvGraphicFramePr>
            <p:nvPr/>
          </p:nvGraphicFramePr>
          <p:xfrm>
            <a:off x="3491880" y="5373216"/>
            <a:ext cx="5356225" cy="57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方程式" r:id="rId9" imgW="2361960" imgH="253800" progId="Equation.3">
                    <p:embed/>
                  </p:oleObj>
                </mc:Choice>
                <mc:Fallback>
                  <p:oleObj name="方程式" r:id="rId9" imgW="236196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5373216"/>
                          <a:ext cx="5356225" cy="576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字方塊 16"/>
          <p:cNvSpPr txBox="1"/>
          <p:nvPr/>
        </p:nvSpPr>
        <p:spPr>
          <a:xfrm>
            <a:off x="657300" y="5859718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FF0000"/>
                </a:solidFill>
              </a:rPr>
              <a:t>資產間相關性越低，投資組合風險</a:t>
            </a:r>
            <a:r>
              <a:rPr lang="en-US" altLang="zh-TW" sz="2800" dirty="0" smtClean="0">
                <a:solidFill>
                  <a:srgbClr val="FF0000"/>
                </a:solidFill>
              </a:rPr>
              <a:t>(deviation)</a:t>
            </a:r>
            <a:r>
              <a:rPr lang="zh-TW" altLang="en-US" sz="2800" dirty="0" smtClean="0">
                <a:solidFill>
                  <a:srgbClr val="FF0000"/>
                </a:solidFill>
              </a:rPr>
              <a:t>越小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47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85C2-6A2E-4873-8297-09AE79A8BE0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95736" y="476672"/>
            <a:ext cx="503989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TW" sz="32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細明體" pitchFamily="49" charset="-120"/>
              </a:rPr>
              <a:t>A</a:t>
            </a:r>
            <a:r>
              <a:rPr lang="zh-TW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32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細明體" pitchFamily="49" charset="-120"/>
              </a:rPr>
              <a:t>B</a:t>
            </a:r>
            <a:r>
              <a:rPr lang="zh-TW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32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細明體" pitchFamily="49" charset="-120"/>
              </a:rPr>
              <a:t>C</a:t>
            </a:r>
            <a:r>
              <a:rPr lang="en-US" altLang="zh-TW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細明體" pitchFamily="49" charset="-120"/>
              </a:rPr>
              <a:t> </a:t>
            </a:r>
            <a:r>
              <a:rPr lang="zh-TW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標楷體" pitchFamily="65" charset="-120"/>
                <a:ea typeface="標楷體" pitchFamily="65" charset="-120"/>
              </a:rPr>
              <a:t>證券之報酬率</a:t>
            </a:r>
            <a:r>
              <a:rPr lang="zh-TW" altLang="en-US" sz="3200" dirty="0">
                <a:solidFill>
                  <a:schemeClr val="tx2"/>
                </a:solidFill>
              </a:rPr>
              <a:t> </a:t>
            </a:r>
          </a:p>
        </p:txBody>
      </p:sp>
      <p:graphicFrame>
        <p:nvGraphicFramePr>
          <p:cNvPr id="6" name="Object 1024"/>
          <p:cNvGraphicFramePr>
            <a:graphicFrameLocks noChangeAspect="1"/>
          </p:cNvGraphicFramePr>
          <p:nvPr/>
        </p:nvGraphicFramePr>
        <p:xfrm>
          <a:off x="467544" y="1340768"/>
          <a:ext cx="8124825" cy="4536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" name="文件" r:id="rId3" imgW="6501785" imgH="2769052" progId="Word.Document.8">
                  <p:embed/>
                </p:oleObj>
              </mc:Choice>
              <mc:Fallback>
                <p:oleObj name="文件" r:id="rId3" imgW="6501785" imgH="27690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340768"/>
                        <a:ext cx="8124825" cy="4536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550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85C2-6A2E-4873-8297-09AE79A8BE05}" type="slidenum">
              <a:rPr lang="zh-TW" altLang="en-US" smtClean="0"/>
              <a:pPr/>
              <a:t>10</a:t>
            </a:fld>
            <a:endParaRPr lang="zh-TW" altLang="en-US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1259632" y="116632"/>
          <a:ext cx="6281936" cy="3382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" name="文件" r:id="rId3" imgW="5753880" imgH="3169440" progId="Word.Document.8">
                  <p:embed/>
                </p:oleObj>
              </mc:Choice>
              <mc:Fallback>
                <p:oleObj name="文件" r:id="rId3" imgW="5753880" imgH="3169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16632"/>
                        <a:ext cx="6281936" cy="33823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331640" y="3573016"/>
          <a:ext cx="6133728" cy="325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" name="文件" r:id="rId5" imgW="5801400" imgH="3080160" progId="Word.Document.8">
                  <p:embed/>
                </p:oleObj>
              </mc:Choice>
              <mc:Fallback>
                <p:oleObj name="文件" r:id="rId5" imgW="5801400" imgH="3080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573016"/>
                        <a:ext cx="6133728" cy="32563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769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20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85C2-6A2E-4873-8297-09AE79A8BE05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1115616" y="116632"/>
          <a:ext cx="6425952" cy="331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" name="文件" r:id="rId3" imgW="6001560" imgH="3095280" progId="Word.Document.8">
                  <p:embed/>
                </p:oleObj>
              </mc:Choice>
              <mc:Fallback>
                <p:oleObj name="文件" r:id="rId3" imgW="6001560" imgH="3095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16632"/>
                        <a:ext cx="6425952" cy="331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/>
        </p:nvGraphicFramePr>
        <p:xfrm>
          <a:off x="1115616" y="3429000"/>
          <a:ext cx="6408712" cy="3202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" name="文件" r:id="rId5" imgW="5715720" imgH="2927520" progId="Word.Document.8">
                  <p:embed/>
                </p:oleObj>
              </mc:Choice>
              <mc:Fallback>
                <p:oleObj name="文件" r:id="rId5" imgW="5715720" imgH="29275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429000"/>
                        <a:ext cx="6408712" cy="32027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025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444" y="3958404"/>
            <a:ext cx="2928857" cy="220746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Mean-Variance model (single period)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16" y="1233507"/>
            <a:ext cx="8353375" cy="2047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圓角矩形圖說文字 3"/>
          <p:cNvSpPr/>
          <p:nvPr/>
        </p:nvSpPr>
        <p:spPr>
          <a:xfrm>
            <a:off x="5817454" y="3140968"/>
            <a:ext cx="3257344" cy="2177718"/>
          </a:xfrm>
          <a:prstGeom prst="wedgeRoundRectCallout">
            <a:avLst>
              <a:gd name="adj1" fmla="val -41189"/>
              <a:gd name="adj2" fmla="val -64342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Inequality constraints, </a:t>
            </a:r>
            <a:r>
              <a:rPr lang="zh-TW" altLang="en-US" sz="2400" dirty="0" smtClean="0"/>
              <a:t>如果有此類限制式時，必須使用</a:t>
            </a:r>
            <a:r>
              <a:rPr lang="en-US" altLang="zh-TW" sz="2400" dirty="0" smtClean="0"/>
              <a:t>KKT</a:t>
            </a:r>
            <a:r>
              <a:rPr lang="zh-TW" altLang="en-US" sz="2400" dirty="0"/>
              <a:t> </a:t>
            </a:r>
            <a:r>
              <a:rPr lang="en-US" altLang="zh-TW" sz="2400" dirty="0" smtClean="0"/>
              <a:t>condition</a:t>
            </a:r>
            <a:r>
              <a:rPr lang="zh-TW" altLang="en-US" sz="2400" dirty="0" smtClean="0"/>
              <a:t>求</a:t>
            </a:r>
            <a:r>
              <a:rPr lang="en-US" altLang="zh-TW" sz="2400" dirty="0" smtClean="0"/>
              <a:t>analytic solution</a:t>
            </a:r>
            <a:r>
              <a:rPr lang="zh-TW" altLang="en-US" sz="2400" dirty="0" smtClean="0"/>
              <a:t>，或使用數值分析軟體求解</a:t>
            </a:r>
            <a:endParaRPr lang="zh-TW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4510062" y="2420888"/>
            <a:ext cx="1404156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12661" y="3429000"/>
            <a:ext cx="57606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4"/>
              </a:rPr>
              <a:t>http://abel.ee.ucla.edu/cvxopt/userguide/coneprog.html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0" y="3890313"/>
            <a:ext cx="3109541" cy="2343644"/>
          </a:xfrm>
          <a:prstGeom prst="rect">
            <a:avLst/>
          </a:prstGeom>
        </p:spPr>
      </p:pic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79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Efficient frontier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1412775"/>
            <a:ext cx="7776865" cy="4282651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82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Mean-variance model (multi-period)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4682589"/>
                  </p:ext>
                </p:extLst>
              </p:nvPr>
            </p:nvGraphicFramePr>
            <p:xfrm>
              <a:off x="395535" y="911919"/>
              <a:ext cx="8208911" cy="28051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746"/>
                    <a:gridCol w="1367970"/>
                    <a:gridCol w="1367970"/>
                    <a:gridCol w="1367970"/>
                    <a:gridCol w="936103"/>
                    <a:gridCol w="1368152"/>
                  </a:tblGrid>
                  <a:tr h="375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return/period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t=0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2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T-1</a:t>
                          </a:r>
                          <a:endParaRPr lang="zh-TW" altLang="en-US" sz="2000" dirty="0"/>
                        </a:p>
                      </a:txBody>
                      <a:tcPr/>
                    </a:tc>
                  </a:tr>
                  <a:tr h="3837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dirty="0" smtClean="0"/>
                            <a:t>0(risk or risk-free)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11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  (risk)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182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2 (risk)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3337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3 (risk)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057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4( risk)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75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Vector form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𝑻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4682589"/>
                  </p:ext>
                </p:extLst>
              </p:nvPr>
            </p:nvGraphicFramePr>
            <p:xfrm>
              <a:off x="395535" y="911919"/>
              <a:ext cx="8208911" cy="28051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746"/>
                    <a:gridCol w="1367970"/>
                    <a:gridCol w="1367970"/>
                    <a:gridCol w="1367970"/>
                    <a:gridCol w="936103"/>
                    <a:gridCol w="1368152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return/period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t=0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2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T-1</a:t>
                          </a:r>
                          <a:endParaRPr lang="zh-TW" altLang="en-US" sz="2000" dirty="0"/>
                        </a:p>
                      </a:txBody>
                      <a:tcPr/>
                    </a:tc>
                  </a:tr>
                  <a:tr h="4041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dirty="0" smtClean="0"/>
                            <a:t>0(risk or risk-free</a:t>
                          </a:r>
                          <a:r>
                            <a:rPr lang="en-US" altLang="zh-TW" sz="1600" dirty="0" smtClean="0"/>
                            <a:t>)</a:t>
                          </a:r>
                          <a:endParaRPr lang="zh-TW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106061" r="-367556" b="-5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106061" r="-269196" b="-5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106061" r="-169196" b="-5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1339" t="-106061" r="-446" b="-525758"/>
                          </a:stretch>
                        </a:blipFill>
                      </a:tcPr>
                    </a:tc>
                  </a:tr>
                  <a:tr h="401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  (risk)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206061" r="-367556" b="-4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206061" r="-269196" b="-4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206061" r="-169196" b="-4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1339" t="-206061" r="-446" b="-425758"/>
                          </a:stretch>
                        </a:blipFill>
                      </a:tcPr>
                    </a:tc>
                  </a:tr>
                  <a:tr h="40220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2 (risk)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306061" r="-367556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306061" r="-269196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306061" r="-169196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1339" t="-306061" r="-446" b="-325758"/>
                          </a:stretch>
                        </a:blipFill>
                      </a:tcPr>
                    </a:tc>
                  </a:tr>
                  <a:tr h="403797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3 (risk)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406061" r="-367556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406061" r="-269196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406061" r="-169196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1339" t="-406061" r="-446" b="-225758"/>
                          </a:stretch>
                        </a:blipFill>
                      </a:tcPr>
                    </a:tc>
                  </a:tr>
                  <a:tr h="40093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000" dirty="0" smtClean="0"/>
                            <a:t>4( risk)</a:t>
                          </a:r>
                          <a:endParaRPr lang="zh-TW" altLang="en-US" sz="20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506061" r="-367556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506061" r="-269196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506061" r="-169196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1339" t="-506061" r="-446" b="-125758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Vector form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615385" r="-36755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615385" r="-26919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615385" r="-16919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1339" t="-615385" r="-446" b="-2769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446354" y="3861048"/>
                <a:ext cx="8374118" cy="3017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dirty="0" smtClean="0"/>
                  <a:t>Assumption: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400" b="1" i="1" smtClean="0"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,  0≤</m:t>
                    </m:r>
                    <m:r>
                      <a:rPr lang="en-US" altLang="zh-TW" sz="2400" b="0" i="1" smtClean="0">
                        <a:latin typeface="Cambria Math"/>
                      </a:rPr>
                      <m:t>𝑡</m:t>
                    </m:r>
                    <m:r>
                      <a:rPr lang="en-US" altLang="zh-TW" sz="2400" b="0" i="1" smtClean="0">
                        <a:latin typeface="Cambria Math"/>
                      </a:rPr>
                      <m:t>≤</m:t>
                    </m:r>
                    <m:r>
                      <a:rPr lang="en-US" altLang="zh-TW" sz="2400" b="0" i="1" smtClean="0">
                        <a:latin typeface="Cambria Math"/>
                      </a:rPr>
                      <m:t>𝑇</m:t>
                    </m:r>
                    <m:r>
                      <a:rPr lang="en-US" altLang="zh-TW" sz="2400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statistically independent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1" i="1" smtClean="0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400" b="1" i="1" smtClean="0"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TW" sz="2400" b="1" dirty="0" smtClean="0"/>
                  <a:t> </a:t>
                </a:r>
                <a:r>
                  <a:rPr lang="en-US" altLang="zh-TW" sz="2400" dirty="0" smtClean="0"/>
                  <a:t>has a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known mean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1" i="1" smtClean="0">
                                <a:latin typeface="Cambria Math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TW" sz="2400" b="1" i="1" smtClean="0">
                                <a:latin typeface="Cambria Math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400" b="0" i="1" smtClean="0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TW" sz="2400" b="0" i="1" smtClean="0">
                                            <a:latin typeface="Cambria Math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r>
                                          <a:rPr lang="en-US" altLang="zh-TW" sz="2400" b="0" i="1" smtClean="0">
                                            <a:latin typeface="Cambria Math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TW" sz="2400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</a:rPr>
                                                  <m:t>𝑛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400" dirty="0" smtClean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400" b="1" i="1"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zh-TW" sz="2400" dirty="0" smtClean="0"/>
                  <a:t> has a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known</a:t>
                </a:r>
                <a:r>
                  <a:rPr lang="en-US" altLang="zh-TW" sz="2400" dirty="0" smtClean="0"/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covariance matrix</a:t>
                </a:r>
                <a:r>
                  <a:rPr lang="en-US" altLang="zh-TW" sz="2400" dirty="0" smtClean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𝐶𝑜𝑣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,00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,0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,0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𝑛𝑛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54" y="3861048"/>
                <a:ext cx="8374118" cy="3017877"/>
              </a:xfrm>
              <a:prstGeom prst="rect">
                <a:avLst/>
              </a:prstGeom>
              <a:blipFill rotWithShape="1">
                <a:blip r:embed="rId3"/>
                <a:stretch>
                  <a:fillRect l="-1092" t="-16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60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804491"/>
                  </p:ext>
                </p:extLst>
              </p:nvPr>
            </p:nvGraphicFramePr>
            <p:xfrm>
              <a:off x="395536" y="260648"/>
              <a:ext cx="8208912" cy="279723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800746"/>
                    <a:gridCol w="1367606"/>
                    <a:gridCol w="1368152"/>
                    <a:gridCol w="1368152"/>
                    <a:gridCol w="792088"/>
                    <a:gridCol w="1512168"/>
                  </a:tblGrid>
                  <a:tr h="375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weight/period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t=0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2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T-1</a:t>
                          </a:r>
                          <a:endParaRPr lang="zh-TW" altLang="en-US" sz="2000" dirty="0"/>
                        </a:p>
                      </a:txBody>
                      <a:tcPr/>
                    </a:tc>
                  </a:tr>
                  <a:tr h="3837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0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1600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zh-TW" altLang="en-US" sz="2000" dirty="0" smtClean="0"/>
                            <a:t> 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1600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zh-TW" altLang="en-US" sz="2000" dirty="0" smtClean="0"/>
                            <a:t> 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1600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zh-TW" altLang="en-US" sz="2000" dirty="0" smtClean="0"/>
                            <a:t> 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TW" sz="1600" b="0" i="1" smtClean="0">
                                  <a:latin typeface="Cambria Math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zh-TW" sz="1600" b="0" i="1" smtClean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1600" b="0" i="1" smtClean="0">
                                      <a:latin typeface="Cambria Math"/>
                                    </a:rPr>
                                    <m:t>4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1600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−1</m:t>
                                      </m:r>
                                    </m:sub>
                                    <m:sup>
                                      <m:r>
                                        <a:rPr lang="en-US" altLang="zh-TW" sz="16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zh-TW" altLang="en-US" sz="2000" dirty="0" smtClean="0"/>
                            <a:t> </a:t>
                          </a:r>
                          <a:endParaRPr lang="zh-TW" altLang="en-US" sz="2000" dirty="0"/>
                        </a:p>
                      </a:txBody>
                      <a:tcPr/>
                    </a:tc>
                  </a:tr>
                  <a:tr h="3811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18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2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33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3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80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4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000" b="0" i="1" smtClean="0">
                                        <a:latin typeface="Cambria Math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𝑇</m:t>
                                    </m:r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sz="20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000" dirty="0"/>
                        </a:p>
                      </a:txBody>
                      <a:tcPr/>
                    </a:tc>
                  </a:tr>
                  <a:tr h="3758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Vector form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1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𝑻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TW" sz="20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000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804491"/>
                  </p:ext>
                </p:extLst>
              </p:nvPr>
            </p:nvGraphicFramePr>
            <p:xfrm>
              <a:off x="395536" y="260648"/>
              <a:ext cx="8208912" cy="279723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800746"/>
                    <a:gridCol w="1367606"/>
                    <a:gridCol w="1368152"/>
                    <a:gridCol w="1368152"/>
                    <a:gridCol w="792088"/>
                    <a:gridCol w="1512168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weight/period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t=0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2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T-1</a:t>
                          </a:r>
                          <a:endParaRPr lang="zh-TW" altLang="en-US" sz="2000" dirty="0"/>
                        </a:p>
                      </a:txBody>
                      <a:tcPr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0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107692" r="-367556" b="-53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107692" r="-269196" b="-53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107692" r="-169196" b="-53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3145" t="-107692" r="-403" b="-533846"/>
                          </a:stretch>
                        </a:blipFill>
                      </a:tcPr>
                    </a:tc>
                  </a:tr>
                  <a:tr h="401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1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204545" r="-367556" b="-4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204545" r="-269196" b="-4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204545" r="-169196" b="-4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3145" t="-204545" r="-403" b="-425758"/>
                          </a:stretch>
                        </a:blipFill>
                      </a:tcPr>
                    </a:tc>
                  </a:tr>
                  <a:tr h="4022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2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304545" r="-367556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304545" r="-269196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304545" r="-169196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3145" t="-304545" r="-403" b="-325758"/>
                          </a:stretch>
                        </a:blipFill>
                      </a:tcPr>
                    </a:tc>
                  </a:tr>
                  <a:tr h="403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3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404545" r="-367556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404545" r="-269196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404545" r="-169196" b="-2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3145" t="-404545" r="-403" b="-225758"/>
                          </a:stretch>
                        </a:blipFill>
                      </a:tcPr>
                    </a:tc>
                  </a:tr>
                  <a:tr h="4009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4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504545" r="-367556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504545" r="-269196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504545" r="-169196" b="-1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3145" t="-504545" r="-403" b="-125758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Vector form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31556" t="-613846" r="-36755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32589" t="-613846" r="-26919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2589" t="-613846" r="-169196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/>
                            <a:t>…</a:t>
                          </a:r>
                          <a:endParaRPr lang="zh-TW" alt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43145" t="-613846" r="-403" b="-2769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395536" y="3284984"/>
                <a:ext cx="8352928" cy="3096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000" dirty="0" smtClean="0"/>
                  <a:t>: the wealth of the investor at the beginning of the </a:t>
                </a:r>
                <a:r>
                  <a:rPr lang="en-US" altLang="zh-TW" sz="2000" i="1" dirty="0" err="1" smtClean="0"/>
                  <a:t>t</a:t>
                </a:r>
                <a:r>
                  <a:rPr lang="en-US" altLang="zh-TW" sz="2000" dirty="0" err="1" smtClean="0"/>
                  <a:t>th</a:t>
                </a:r>
                <a:r>
                  <a:rPr lang="en-US" altLang="zh-TW" sz="2000" dirty="0" smtClean="0"/>
                  <a:t> period.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en-US" altLang="zh-TW" sz="2000" dirty="0" smtClean="0"/>
              </a:p>
              <a:p>
                <a:r>
                  <a:rPr lang="en-US" altLang="zh-TW" sz="2000" b="1" dirty="0" smtClean="0"/>
                  <a:t>Goal:</a:t>
                </a:r>
              </a:p>
              <a:p>
                <a:r>
                  <a:rPr lang="en-US" altLang="zh-TW" sz="2000" dirty="0" smtClean="0"/>
                  <a:t>Seeking a best investment strategy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altLang="zh-TW" sz="20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TW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TW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TW" sz="20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/>
                                              </a:rPr>
                                              <m:t>𝑛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TW" sz="2000" b="0" i="0" smtClean="0">
                        <a:latin typeface="Cambria Math"/>
                      </a:rPr>
                      <m:t>, 0≤</m:t>
                    </m:r>
                    <m:r>
                      <a:rPr lang="en-US" altLang="zh-TW" sz="2000" b="0" i="1" smtClean="0">
                        <a:latin typeface="Cambria Math"/>
                      </a:rPr>
                      <m:t>𝑡</m:t>
                    </m:r>
                    <m:r>
                      <a:rPr lang="en-US" altLang="zh-TW" sz="2000" b="0" i="0" smtClean="0">
                        <a:latin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/>
                      </a:rPr>
                      <m:t>T</m:t>
                    </m:r>
                    <m:r>
                      <a:rPr lang="en-US" altLang="zh-TW" sz="2000" b="0" i="0" smtClean="0">
                        <a:latin typeface="Cambria Math"/>
                      </a:rPr>
                      <m:t>−1</m:t>
                    </m:r>
                  </m:oMath>
                </a14:m>
                <a:r>
                  <a:rPr lang="zh-TW" altLang="en-US" sz="2000" dirty="0" smtClean="0"/>
                  <a:t> </a:t>
                </a:r>
                <a:endParaRPr lang="en-US" altLang="zh-TW" sz="2000" dirty="0"/>
              </a:p>
              <a:p>
                <a:r>
                  <a:rPr lang="en-US" altLang="zh-TW" sz="2000" dirty="0" smtClean="0"/>
                  <a:t>Such that </a:t>
                </a:r>
              </a:p>
              <a:p>
                <a:pPr marL="342900" indent="-3429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Maximized the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expected return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000" dirty="0" smtClean="0">
                    <a:solidFill>
                      <a:srgbClr val="FF0000"/>
                    </a:solidFill>
                  </a:rPr>
                  <a:t>of terminal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TW" alt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/>
                </a:r>
                <a:br>
                  <a:rPr lang="en-US" altLang="zh-TW" sz="2000" dirty="0" smtClean="0">
                    <a:solidFill>
                      <a:srgbClr val="FF0000"/>
                    </a:solidFill>
                  </a:rPr>
                </a:br>
                <a:r>
                  <a:rPr lang="en-US" altLang="zh-TW" sz="2000" dirty="0" smtClean="0"/>
                  <a:t>if the variance of the terminal wealth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&lt;= preselected risk level or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The variance of the terminal wealth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𝑉𝑎𝑟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0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is minimize</a:t>
                </a:r>
                <a:r>
                  <a:rPr lang="en-US" altLang="zh-TW" sz="2000" dirty="0" smtClean="0"/>
                  <a:t/>
                </a:r>
                <a:br>
                  <a:rPr lang="en-US" altLang="zh-TW" sz="2000" dirty="0" smtClean="0"/>
                </a:br>
                <a:r>
                  <a:rPr lang="en-US" altLang="zh-TW" sz="2000" dirty="0" smtClean="0"/>
                  <a:t>if the expected terminal wealth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𝐸</m:t>
                    </m:r>
                    <m:r>
                      <a:rPr lang="en-US" altLang="zh-TW" sz="20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/>
                          </a:rPr>
                          <m:t>𝑇</m:t>
                        </m:r>
                      </m:sub>
                    </m:sSub>
                    <m:r>
                      <a:rPr lang="en-US" altLang="zh-TW" sz="20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&gt;= preselected level.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284984"/>
                <a:ext cx="8352928" cy="3096344"/>
              </a:xfrm>
              <a:prstGeom prst="rect">
                <a:avLst/>
              </a:prstGeom>
              <a:blipFill rotWithShape="1">
                <a:blip r:embed="rId3"/>
                <a:stretch>
                  <a:fillRect l="-803" t="-9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12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Multi-period MV model </a:t>
            </a:r>
            <a:br>
              <a:rPr lang="en-US" altLang="zh-TW" dirty="0" smtClean="0"/>
            </a:br>
            <a:r>
              <a:rPr lang="en-US" altLang="zh-TW" dirty="0" smtClean="0"/>
              <a:t>(maximize return)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8687544" cy="295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18" y="5259475"/>
            <a:ext cx="8693646" cy="97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838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Multi-period MV model </a:t>
            </a:r>
            <a:br>
              <a:rPr lang="en-US" altLang="zh-TW" dirty="0"/>
            </a:br>
            <a:r>
              <a:rPr lang="en-US" altLang="zh-TW" dirty="0" smtClean="0"/>
              <a:t>(minimize risk)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8173963" cy="263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8" y="5013176"/>
            <a:ext cx="8693646" cy="97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960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Multi-period MV model </a:t>
            </a:r>
            <a:br>
              <a:rPr lang="en-US" altLang="zh-TW" dirty="0"/>
            </a:br>
            <a:r>
              <a:rPr lang="en-US" altLang="zh-TW" dirty="0" smtClean="0"/>
              <a:t>(combination)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66"/>
          <a:stretch/>
        </p:blipFill>
        <p:spPr bwMode="auto">
          <a:xfrm>
            <a:off x="539552" y="1697166"/>
            <a:ext cx="7796926" cy="184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07" t="61117" r="1595"/>
          <a:stretch/>
        </p:blipFill>
        <p:spPr bwMode="auto">
          <a:xfrm>
            <a:off x="3242498" y="3733418"/>
            <a:ext cx="5284519" cy="765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797152"/>
            <a:ext cx="4429894" cy="752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91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Covariance matrix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61" y="1340768"/>
            <a:ext cx="620077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12261" y="3001805"/>
                <a:ext cx="70567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Assuming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TW" sz="24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𝒕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𝒕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, ∀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zh-TW" altLang="en-US" sz="24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is positive definite (P.D.), </a:t>
                </a:r>
                <a:r>
                  <a:rPr lang="en-US" altLang="zh-TW" sz="2400" dirty="0" smtClean="0"/>
                  <a:t>i.e.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61" y="3001805"/>
                <a:ext cx="7056784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38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53"/>
          <a:stretch/>
        </p:blipFill>
        <p:spPr bwMode="auto">
          <a:xfrm>
            <a:off x="412261" y="3661550"/>
            <a:ext cx="7068816" cy="201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79" t="38283" b="28360"/>
          <a:stretch/>
        </p:blipFill>
        <p:spPr bwMode="auto">
          <a:xfrm>
            <a:off x="6951886" y="5671720"/>
            <a:ext cx="2051223" cy="445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751111" y="2276872"/>
                <a:ext cx="75653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∵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b="1" i="1" smtClean="0">
                                <a:latin typeface="Cambria Math"/>
                              </a:rPr>
                              <m:t>𝒙</m:t>
                            </m:r>
                            <m:sSup>
                              <m:sSupPr>
                                <m:ctrlPr>
                                  <a:rPr lang="en-US" altLang="zh-TW" sz="2400" b="1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b="1" i="1" smtClean="0">
                                    <a:latin typeface="Cambria Math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TW" sz="2400" b="1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altLang="zh-TW" sz="2400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𝐶𝑜𝑣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sz="24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1" i="1" smtClean="0">
                            <a:latin typeface="Cambria Math"/>
                          </a:rPr>
                          <m:t>𝒙𝒙</m:t>
                        </m:r>
                        <m:r>
                          <a:rPr lang="en-US" altLang="zh-TW" sz="2400" b="1" i="1" smtClean="0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−</m:t>
                    </m:r>
                    <m:r>
                      <a:rPr lang="en-US" altLang="zh-TW" sz="24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𝐸</m:t>
                    </m:r>
                    <m:r>
                      <a:rPr lang="en-US" altLang="zh-TW" sz="2400" b="0" i="1" smtClean="0">
                        <a:latin typeface="Cambria Math"/>
                      </a:rPr>
                      <m:t>(</m:t>
                    </m:r>
                    <m:r>
                      <a:rPr lang="en-US" altLang="zh-TW" sz="2400" b="1" i="1" smtClean="0">
                        <a:latin typeface="Cambria Math"/>
                      </a:rPr>
                      <m:t>𝒙</m:t>
                    </m:r>
                    <m:r>
                      <a:rPr lang="en-US" altLang="zh-TW" sz="2400" b="1" i="1" smtClean="0">
                        <a:latin typeface="Cambria Math"/>
                      </a:rPr>
                      <m:t>′</m:t>
                    </m:r>
                    <m:r>
                      <a:rPr lang="en-US" altLang="zh-TW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1" y="2276872"/>
                <a:ext cx="7565305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209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202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49" y="4437112"/>
            <a:ext cx="6117606" cy="899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5229199"/>
            <a:ext cx="8820473" cy="67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38" y="1279884"/>
            <a:ext cx="689574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258307" y="764704"/>
            <a:ext cx="2994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Then we can get=&gt;</a:t>
            </a:r>
            <a:endParaRPr lang="zh-TW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323527" y="4437112"/>
            <a:ext cx="8712969" cy="1512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45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Multi-period portfolio policy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12776"/>
            <a:ext cx="7169700" cy="270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4581128"/>
            <a:ext cx="9296060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148064" y="4581128"/>
            <a:ext cx="936104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455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Analytic solution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268760"/>
            <a:ext cx="8893753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569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8640"/>
            <a:ext cx="7704856" cy="648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618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" y="980728"/>
            <a:ext cx="914483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602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8712968" cy="5293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4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Analytic form of efficient frontier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36" y="2132856"/>
            <a:ext cx="86868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185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95536" y="1388759"/>
                <a:ext cx="8424936" cy="2255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800" dirty="0" smtClean="0"/>
                  <a:t>T=4</a:t>
                </a:r>
              </a:p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800" dirty="0" smtClean="0"/>
                  <a:t>Three risky securities, A, B, and C.</a:t>
                </a:r>
              </a:p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800" dirty="0" smtClean="0"/>
                  <a:t>To maximize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 </m:t>
                    </m:r>
                    <m:r>
                      <a:rPr lang="en-US" altLang="zh-TW" sz="2800" b="0" i="1" smtClean="0">
                        <a:latin typeface="Cambria Math"/>
                      </a:rPr>
                      <m:t>𝑎𝑛𝑑</m:t>
                    </m:r>
                    <m:r>
                      <a:rPr lang="en-US" altLang="zh-TW" sz="2800" b="0" i="1" smtClean="0">
                        <a:latin typeface="Cambria Math"/>
                      </a:rPr>
                      <m:t> </m:t>
                    </m:r>
                    <m:r>
                      <a:rPr lang="en-US" altLang="zh-TW" sz="2800" b="0" i="1" smtClean="0">
                        <a:latin typeface="Cambria Math"/>
                      </a:rPr>
                      <m:t>𝜎</m:t>
                    </m:r>
                    <m:r>
                      <a:rPr lang="en-US" altLang="zh-TW" sz="2800" b="0" i="1" smtClean="0">
                        <a:latin typeface="Cambria Math"/>
                      </a:rPr>
                      <m:t>≤2</m:t>
                    </m:r>
                  </m:oMath>
                </a14:m>
                <a:endParaRPr lang="en-US" altLang="zh-TW" sz="2800" dirty="0" smtClean="0"/>
              </a:p>
              <a:p>
                <a:pPr marL="457200" indent="-4572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𝐵</m:t>
                                </m:r>
                              </m:sup>
                            </m:sSubSup>
                            <m:r>
                              <a:rPr lang="en-US" altLang="zh-TW" sz="2800" b="0" i="1" smtClean="0">
                                <a:latin typeface="Cambria Math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2800" b="0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𝐶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 b="0" i="1" dirty="0" smtClean="0">
                    <a:latin typeface="Cambria Math"/>
                  </a:rPr>
                  <a:t/>
                </a:r>
                <a:br>
                  <a:rPr lang="en-US" altLang="zh-TW" sz="2800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1.162, 1.246, 1.228</m:t>
                            </m:r>
                          </m:e>
                        </m:d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TW" sz="2800" b="0" i="1" smtClean="0">
                        <a:latin typeface="Cambria Math"/>
                      </a:rPr>
                      <m:t>, 0≤</m:t>
                    </m:r>
                    <m:r>
                      <a:rPr lang="en-US" altLang="zh-TW" sz="2800" b="0" i="1" smtClean="0">
                        <a:latin typeface="Cambria Math"/>
                      </a:rPr>
                      <m:t>𝑡</m:t>
                    </m:r>
                    <m:r>
                      <a:rPr lang="en-US" altLang="zh-TW" sz="2800" b="0" i="1" smtClean="0">
                        <a:latin typeface="Cambria Math"/>
                      </a:rPr>
                      <m:t>≤3</m:t>
                    </m: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88759"/>
                <a:ext cx="8424936" cy="2255105"/>
              </a:xfrm>
              <a:prstGeom prst="rect">
                <a:avLst/>
              </a:prstGeom>
              <a:blipFill rotWithShape="1">
                <a:blip r:embed="rId2"/>
                <a:stretch>
                  <a:fillRect l="-1302" t="-24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42" y="3861048"/>
            <a:ext cx="7337958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614264" y="5715485"/>
            <a:ext cx="648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Take A as the reference asset,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8799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2392"/>
            <a:ext cx="7974002" cy="334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683568" y="4005064"/>
                <a:ext cx="7344816" cy="2310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=0.3566, 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/>
                        </a:rPr>
                        <m:t>=0.7424, 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/>
                        </a:rPr>
                        <m:t>=0.8711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, 0≤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/>
                        </a:rPr>
                        <m:t>t</m:t>
                      </m:r>
                      <m:r>
                        <a:rPr lang="en-US" altLang="zh-TW" sz="2400" b="0" i="0" smtClean="0">
                          <a:latin typeface="Cambria Math"/>
                        </a:rPr>
                        <m:t>≤3</m:t>
                      </m:r>
                    </m:oMath>
                  </m:oMathPara>
                </a14:m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𝑢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=0.3038,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𝑣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=0.4077,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𝑎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=0.0376, </m:t>
                      </m:r>
                    </m:oMath>
                  </m:oMathPara>
                </a14:m>
                <a:endParaRPr lang="en-US" altLang="zh-TW" sz="2400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𝑏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=3.2933,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𝑐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=0.0754</m:t>
                      </m:r>
                    </m:oMath>
                  </m:oMathPara>
                </a14:m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the MV efficient frontier: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=0.2262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sz="2400" b="0" i="1" smtClean="0">
                                <a:latin typeface="Cambria Math"/>
                              </a:rPr>
                              <m:t>−1.6465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 smtClean="0"/>
                  <a:t>+0.0754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𝑤h𝑒𝑟𝑒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≥1.6465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005064"/>
                <a:ext cx="7344816" cy="2310761"/>
              </a:xfrm>
              <a:prstGeom prst="rect">
                <a:avLst/>
              </a:prstGeom>
              <a:blipFill rotWithShape="1">
                <a:blip r:embed="rId3"/>
                <a:stretch>
                  <a:fillRect l="-1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29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611560" y="332656"/>
                <a:ext cx="8136904" cy="5336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 dirty="0" smtClean="0"/>
                  <a:t>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>=0.75773 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</a:rPr>
                        <m:t>∵</m:t>
                      </m:r>
                      <m:sSubSup>
                        <m:sSubSup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altLang="zh-TW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sz="28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8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zh-TW" sz="2800" b="1" dirty="0" smtClean="0"/>
              </a:p>
              <a:p>
                <a:r>
                  <a:rPr lang="zh-TW" altLang="en-US" sz="2800" b="1" dirty="0" smtClean="0"/>
                  <a:t>已知：</a:t>
                </a:r>
                <a:endParaRPr lang="en-US" altLang="zh-TW" sz="2800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sz="28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altLang="zh-TW" sz="2800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.6238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4.2907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, 0≤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𝑡</m:t>
                      </m:r>
                      <m:r>
                        <a:rPr lang="en-US" altLang="zh-TW" sz="2800" b="0" i="1" smtClean="0">
                          <a:latin typeface="Cambria Math"/>
                        </a:rPr>
                        <m:t>≤3</m:t>
                      </m:r>
                    </m:oMath>
                  </m:oMathPara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.3548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11.9327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8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.1094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14.0004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800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.9948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16.4263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b="0" i="0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TW" sz="28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8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800" b="1" i="1" smtClean="0">
                              <a:latin typeface="Cambria Math"/>
                            </a:rPr>
                            <m:t>𝟑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800" b="0" i="1" smtClean="0">
                                    <a:latin typeface="Cambria Math"/>
                                  </a:rPr>
                                  <m:t>7</m:t>
                                </m:r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.0335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b="0" i="1" smtClean="0">
                                    <a:latin typeface="Cambria Math"/>
                                  </a:rPr>
                                  <m:t>19.2726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800" dirty="0" smtClean="0"/>
              </a:p>
              <a:p>
                <a:endParaRPr lang="en-US" altLang="zh-TW" sz="2800" dirty="0"/>
              </a:p>
              <a:p>
                <a:r>
                  <a:rPr lang="zh-TW" altLang="en-US" sz="2800" dirty="0" smtClean="0"/>
                  <a:t>最後可得到</a:t>
                </a:r>
                <a:r>
                  <a:rPr lang="en-US" altLang="zh-TW" sz="2800" dirty="0" smtClean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=4.5632</m:t>
                      </m:r>
                    </m:oMath>
                  </m:oMathPara>
                </a14:m>
                <a:endParaRPr lang="en-US" altLang="zh-TW" sz="28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/>
                        </a:rPr>
                        <m:t>𝑉𝑎𝑟</m:t>
                      </m:r>
                      <m:d>
                        <m:dPr>
                          <m:ctrlPr>
                            <a:rPr lang="en-US" altLang="zh-TW" sz="28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32656"/>
                <a:ext cx="8136904" cy="5336974"/>
              </a:xfrm>
              <a:prstGeom prst="rect">
                <a:avLst/>
              </a:prstGeom>
              <a:blipFill rotWithShape="1">
                <a:blip r:embed="rId2"/>
                <a:stretch>
                  <a:fillRect l="-1498" t="-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07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Derivation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51520" y="1412776"/>
                <a:ext cx="8712968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2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tractable</m:t>
                      </m:r>
                      <m: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auxiliary</m:t>
                      </m:r>
                      <m: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problem</m:t>
                      </m:r>
                      <m: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, </m:t>
                      </m:r>
                      <m:d>
                        <m:d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𝐴</m:t>
                          </m:r>
                          <m:d>
                            <m:d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𝜆</m:t>
                              </m:r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solve</m:t>
                      </m:r>
                      <m: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𝐴</m:t>
                          </m:r>
                          <m:d>
                            <m:d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𝜆</m:t>
                              </m:r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zh-TW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12776"/>
                <a:ext cx="8712968" cy="474489"/>
              </a:xfrm>
              <a:prstGeom prst="rect">
                <a:avLst/>
              </a:prstGeom>
              <a:blipFill rotWithShape="1">
                <a:blip r:embed="rId2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04736" y="2190934"/>
                <a:ext cx="7488832" cy="1300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problem</m:t>
                      </m:r>
                      <m:r>
                        <a:rPr lang="en-US" altLang="zh-TW" sz="240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:</m:t>
                      </m:r>
                    </m:oMath>
                  </m:oMathPara>
                </a14:m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𝑤𝑉𝑎𝑟</m:t>
                          </m:r>
                          <m:d>
                            <m:d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zh-TW" sz="2400" dirty="0"/>
              </a:p>
              <a:p>
                <a:pPr algn="ctr"/>
                <a:r>
                  <a:rPr lang="en-US" altLang="zh-TW" sz="2400" dirty="0" err="1"/>
                  <a:t>s.t.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t</m:t>
                        </m:r>
                        <m:r>
                          <a:rPr lang="en-US" altLang="zh-TW" sz="240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0</m:t>
                        </m:r>
                      </m:sup>
                    </m:sSubSup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zh-TW" altLang="zh-TW" sz="24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sz="2400" b="1" i="1">
                            <a:latin typeface="Cambria Math"/>
                          </a:rPr>
                          <m:t>𝒕</m:t>
                        </m:r>
                      </m:sub>
                      <m:sup>
                        <m:r>
                          <a:rPr lang="en-US" altLang="zh-TW" sz="2400" b="1" i="1">
                            <a:latin typeface="Cambria Math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zh-TW" altLang="zh-TW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400" b="1" i="1"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, 0≤</m:t>
                    </m:r>
                    <m:r>
                      <a:rPr lang="en-US" altLang="zh-TW" sz="2400" i="1">
                        <a:latin typeface="Cambria Math"/>
                      </a:rPr>
                      <m:t>𝑡</m:t>
                    </m:r>
                    <m:r>
                      <a:rPr lang="en-US" altLang="zh-TW" sz="2400" i="1">
                        <a:latin typeface="Cambria Math"/>
                      </a:rPr>
                      <m:t>≤</m:t>
                    </m:r>
                    <m:r>
                      <a:rPr lang="en-US" altLang="zh-TW" sz="2400" i="1">
                        <a:latin typeface="Cambria Math"/>
                      </a:rPr>
                      <m:t>𝑇</m:t>
                    </m:r>
                    <m:r>
                      <a:rPr lang="en-US" altLang="zh-TW" sz="2400" i="1">
                        <a:latin typeface="Cambria Math"/>
                      </a:rPr>
                      <m:t>−1</m:t>
                    </m:r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36" y="2190934"/>
                <a:ext cx="7488832" cy="1300741"/>
              </a:xfrm>
              <a:prstGeom prst="rect">
                <a:avLst/>
              </a:prstGeom>
              <a:blipFill rotWithShape="1">
                <a:blip r:embed="rId3"/>
                <a:stretch>
                  <a:fillRect b="-93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44163" y="3789040"/>
                <a:ext cx="8548317" cy="21831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 smtClean="0"/>
                  <a:t>Define:</a:t>
                </a:r>
                <a:endParaRPr lang="zh-TW" altLang="zh-TW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/>
                          </a:rPr>
                          <m:t>E</m:t>
                        </m:r>
                      </m:sub>
                    </m:sSub>
                    <m:d>
                      <m:dPr>
                        <m:ctrlPr>
                          <a:rPr lang="zh-TW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TW" sz="2000" dirty="0"/>
                  <a:t>: the set of optimal solutions of problem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zh-TW" altLang="zh-TW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000" dirty="0"/>
                  <a:t> with given w</a:t>
                </a:r>
                <a:endParaRPr lang="zh-TW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E</m:t>
                          </m:r>
                        </m:sub>
                      </m:sSub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𝜋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| 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𝜋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𝑖𝑠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𝑎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𝑚𝑎𝑥𝑖𝑚𝑖𝑧𝑒𝑟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𝑜𝑓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TW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𝑈</m:t>
                          </m:r>
                        </m:e>
                      </m:acc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2000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=</m:t>
                      </m:r>
                      <m:r>
                        <a:rPr lang="en-US" altLang="zh-TW" sz="20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−</m:t>
                      </m:r>
                      <m:r>
                        <a:rPr lang="en-US" altLang="zh-TW" sz="2000" i="1">
                          <a:latin typeface="Cambria Math"/>
                        </a:rPr>
                        <m:t>𝑤𝑉𝑎𝑟</m:t>
                      </m:r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=</m:t>
                      </m:r>
                      <m:r>
                        <a:rPr lang="en-US" altLang="zh-TW" sz="20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−</m:t>
                      </m:r>
                      <m:r>
                        <a:rPr lang="en-US" altLang="zh-TW" sz="2000" i="1">
                          <a:latin typeface="Cambria Math"/>
                        </a:rPr>
                        <m:t>𝑤</m:t>
                      </m:r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=−</m:t>
                      </m:r>
                      <m:r>
                        <a:rPr lang="en-US" altLang="zh-TW" sz="2000" i="1">
                          <a:latin typeface="Cambria Math"/>
                        </a:rPr>
                        <m:t>𝑤𝐸</m:t>
                      </m:r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𝑤</m:t>
                          </m:r>
                          <m:sSup>
                            <m:sSup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000" i="1">
                              <a:latin typeface="Cambria Math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0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000">
                        <a:latin typeface="Cambria Math"/>
                      </a:rPr>
                      <m:t>∴</m:t>
                    </m:r>
                    <m:acc>
                      <m:accPr>
                        <m:chr m:val="̃"/>
                        <m:ctrlPr>
                          <a:rPr lang="zh-TW" altLang="zh-TW" sz="20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 altLang="zh-TW" sz="2000" dirty="0"/>
                  <a:t> is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 convex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(concave?)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function</a:t>
                </a:r>
                <a:r>
                  <a:rPr lang="en-US" altLang="zh-TW" sz="2000" dirty="0"/>
                  <a:t>. </a:t>
                </a:r>
                <a:endParaRPr lang="zh-TW" altLang="zh-TW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63" y="3789040"/>
                <a:ext cx="8548317" cy="2183162"/>
              </a:xfrm>
              <a:prstGeom prst="rect">
                <a:avLst/>
              </a:prstGeom>
              <a:blipFill rotWithShape="1">
                <a:blip r:embed="rId4"/>
                <a:stretch>
                  <a:fillRect l="-713" t="-1397" b="-41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99592" y="2190934"/>
            <a:ext cx="6408712" cy="1300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51916" y="4864563"/>
            <a:ext cx="8252532" cy="1107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13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79512" y="548680"/>
                <a:ext cx="8712968" cy="6017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Auxiliary problem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4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zh-TW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𝜆</m:t>
                            </m:r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altLang="zh-TW" sz="2400" i="1">
                        <a:latin typeface="Cambria Math"/>
                      </a:rPr>
                      <m:t>:</m:t>
                    </m:r>
                  </m:oMath>
                </a14:m>
                <a:endParaRPr lang="zh-TW" altLang="zh-TW" sz="2400" dirty="0"/>
              </a:p>
              <a:p>
                <a:r>
                  <a:rPr lang="en-US" altLang="zh-TW" sz="24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TW" altLang="zh-TW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max</m:t>
                        </m:r>
                      </m:fName>
                      <m:e>
                        <m:r>
                          <a:rPr lang="en-US" altLang="zh-TW" sz="2400" i="1">
                            <a:latin typeface="Cambria Math"/>
                          </a:rPr>
                          <m:t> </m:t>
                        </m:r>
                        <m:r>
                          <a:rPr lang="en-US" altLang="zh-TW" sz="2400" i="1">
                            <a:latin typeface="Cambria Math"/>
                          </a:rPr>
                          <m:t>𝐸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TW" altLang="zh-TW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𝑤</m:t>
                            </m:r>
                            <m:sSubSup>
                              <m:sSubSupPr>
                                <m:ctrlPr>
                                  <a:rPr lang="zh-TW" altLang="zh-TW" sz="2400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TW" sz="2400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𝜆</m:t>
                            </m:r>
                            <m:sSub>
                              <m:sSubPr>
                                <m:ctrlPr>
                                  <a:rPr lang="zh-TW" altLang="zh-TW" sz="24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b="0" i="1" smtClean="0">
                            <a:latin typeface="Cambria Math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𝑤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𝜆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sz="2400" b="0" i="1" smtClean="0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zh-TW" altLang="zh-TW" sz="2400" dirty="0"/>
              </a:p>
              <a:p>
                <a:r>
                  <a:rPr lang="en-US" altLang="zh-TW" sz="240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/>
                      </a:rPr>
                      <m:t>s</m:t>
                    </m:r>
                    <m:r>
                      <a:rPr lang="en-US" altLang="zh-TW" sz="2400">
                        <a:latin typeface="Cambria Math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TW" sz="2400">
                        <a:latin typeface="Cambria Math"/>
                      </a:rPr>
                      <m:t>t</m:t>
                    </m:r>
                    <m:r>
                      <a:rPr lang="en-US" altLang="zh-TW" sz="240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t</m:t>
                        </m:r>
                        <m:r>
                          <a:rPr lang="en-US" altLang="zh-TW" sz="240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𝑡</m:t>
                        </m:r>
                      </m:sub>
                      <m:sup>
                        <m:r>
                          <a:rPr lang="en-US" altLang="zh-TW" sz="2400" i="1">
                            <a:latin typeface="Cambria Math"/>
                          </a:rPr>
                          <m:t>0</m:t>
                        </m:r>
                      </m:sup>
                    </m:sSubSup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zh-TW" altLang="zh-TW" sz="24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sz="2400" b="1" i="1">
                            <a:latin typeface="Cambria Math"/>
                          </a:rPr>
                          <m:t>𝒕</m:t>
                        </m:r>
                      </m:sub>
                      <m:sup>
                        <m:r>
                          <a:rPr lang="en-US" altLang="zh-TW" sz="2400" b="1" i="1">
                            <a:latin typeface="Cambria Math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zh-TW" altLang="zh-TW" sz="24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400" b="1" i="1"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,  0≤</m:t>
                    </m:r>
                    <m:r>
                      <a:rPr lang="en-US" altLang="zh-TW" sz="2400" i="1">
                        <a:latin typeface="Cambria Math"/>
                      </a:rPr>
                      <m:t>𝑡</m:t>
                    </m:r>
                    <m:r>
                      <a:rPr lang="en-US" altLang="zh-TW" sz="2400" i="1">
                        <a:latin typeface="Cambria Math"/>
                      </a:rPr>
                      <m:t>≤</m:t>
                    </m:r>
                    <m:r>
                      <a:rPr lang="en-US" altLang="zh-TW" sz="2400" i="1">
                        <a:latin typeface="Cambria Math"/>
                      </a:rPr>
                      <m:t>𝑇</m:t>
                    </m:r>
                    <m:r>
                      <a:rPr lang="en-US" altLang="zh-TW" sz="2400" i="1">
                        <a:latin typeface="Cambria Math"/>
                      </a:rPr>
                      <m:t>−1</m:t>
                    </m:r>
                  </m:oMath>
                </a14:m>
                <a:endParaRPr lang="zh-TW" altLang="zh-TW" sz="2400" dirty="0"/>
              </a:p>
              <a:p>
                <a:r>
                  <a:rPr lang="en-US" altLang="zh-TW" sz="2400" dirty="0"/>
                  <a:t> </a:t>
                </a:r>
                <a:endParaRPr lang="zh-TW" altLang="zh-TW" sz="2400" dirty="0"/>
              </a:p>
              <a:p>
                <a:r>
                  <a:rPr lang="en-US" altLang="zh-TW" sz="2400" dirty="0"/>
                  <a:t>Define:</a:t>
                </a:r>
                <a:endParaRPr lang="zh-TW" altLang="zh-TW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zh-TW" altLang="zh-TW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</a:rPr>
                          <m:t>𝜆</m:t>
                        </m:r>
                        <m:r>
                          <a:rPr lang="en-US" altLang="zh-TW" sz="2400" i="1">
                            <a:latin typeface="Cambria Math"/>
                          </a:rPr>
                          <m:t>,</m:t>
                        </m:r>
                        <m:r>
                          <a:rPr lang="en-US" altLang="zh-TW" sz="2400" i="1">
                            <a:latin typeface="Cambria Math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TW" sz="2400" dirty="0"/>
                  <a:t>: the set of optimal solutions of problem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zh-TW" altLang="zh-TW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𝜆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/>
                  <a:t> for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/>
                      </a:rPr>
                      <m:t>λ</m:t>
                    </m:r>
                  </m:oMath>
                </a14:m>
                <a:r>
                  <a:rPr lang="en-US" altLang="zh-TW" sz="2400" dirty="0"/>
                  <a:t> and w.</a:t>
                </a:r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A</m:t>
                          </m:r>
                        </m:sub>
                      </m:sSub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𝜆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𝜋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|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𝜋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𝑖𝑠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𝑚𝑎𝑥𝑖𝑚𝑖𝑧𝑒𝑟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 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𝑜𝑓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𝜆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TW" altLang="zh-TW" sz="2400" dirty="0"/>
              </a:p>
              <a:p>
                <a:r>
                  <a:rPr lang="en-US" altLang="zh-TW" sz="2400" dirty="0"/>
                  <a:t>Denote:</a:t>
                </a:r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/>
                                </a:rPr>
                                <m:t>d</m:t>
                              </m:r>
                              <m:d>
                                <m:d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𝜋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zh-TW" altLang="zh-TW" sz="24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𝑈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TW" altLang="zh-TW" sz="2400" i="1"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𝑇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zh-TW" sz="24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𝑇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𝜋</m:t>
                          </m:r>
                        </m:sub>
                      </m:sSub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𝜕</m:t>
                                  </m:r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𝑤𝐸</m:t>
                                      </m:r>
                                      <m:d>
                                        <m:d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zh-TW" altLang="zh-TW" sz="2400" i="1"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𝑇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+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𝑤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TW" altLang="zh-TW" sz="2400" i="1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𝐸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24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d>
                                            <m:dPr>
                                              <m:ctrlPr>
                                                <a:rPr lang="zh-TW" altLang="zh-TW" sz="24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TW" altLang="zh-TW" sz="2400" i="1">
                                                      <a:latin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4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400" i="1">
                                                      <a:latin typeface="Cambria Math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ctrlPr>
                                                <a:rPr lang="zh-TW" altLang="zh-TW" sz="24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TW" altLang="zh-TW" sz="2400" i="1">
                                                      <a:latin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4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400" i="1">
                                                      <a:latin typeface="Cambria Math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𝜕</m:t>
                                  </m:r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4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𝜋</m:t>
                          </m:r>
                        </m:sub>
                      </m:sSub>
                      <m:r>
                        <a:rPr lang="en-US" altLang="zh-TW" sz="240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>
                                  <a:latin typeface="Cambria Math"/>
                                </a:rPr>
                                <m:t>1+2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/>
                                </a:rPr>
                                <m:t>wE</m:t>
                              </m:r>
                              <m:d>
                                <m:d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4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548680"/>
                <a:ext cx="8712968" cy="6017288"/>
              </a:xfrm>
              <a:prstGeom prst="rect">
                <a:avLst/>
              </a:prstGeom>
              <a:blipFill rotWithShape="1">
                <a:blip r:embed="rId2"/>
                <a:stretch>
                  <a:fillRect l="-1049" t="-3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79512" y="548680"/>
            <a:ext cx="6912768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29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Convex function,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condition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7966658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116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2626" y="188640"/>
                <a:ext cx="914501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dirty="0" smtClean="0">
                    <a:solidFill>
                      <a:srgbClr val="FF0000"/>
                    </a:solidFill>
                  </a:rPr>
                  <a:t>Theorem 1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:</a:t>
                </a:r>
                <a:endParaRPr lang="zh-TW" altLang="zh-TW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>
                          <a:latin typeface="Cambria Math"/>
                        </a:rPr>
                        <m:t>∀ 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π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→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𝜋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sz="24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TW" sz="2400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E</m:t>
                          </m:r>
                        </m:sub>
                      </m:sSub>
                      <m:r>
                        <a:rPr lang="zh-TW" altLang="zh-TW" sz="2400">
                          <a:latin typeface="Cambria Math"/>
                        </a:rPr>
                        <m:t>之最佳解，必為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zh-TW" altLang="zh-TW" sz="2400">
                          <a:latin typeface="Cambria Math"/>
                        </a:rPr>
                        <m:t>之最佳解</m:t>
                      </m:r>
                      <m:r>
                        <a:rPr lang="en-US" altLang="zh-TW" sz="2400">
                          <a:latin typeface="Cambria Math"/>
                        </a:rPr>
                        <m:t> (</m:t>
                      </m:r>
                      <m:r>
                        <a:rPr lang="zh-TW" altLang="zh-TW" sz="2400">
                          <a:latin typeface="Cambria Math"/>
                        </a:rPr>
                        <m:t>反之不一定成立</m:t>
                      </m:r>
                      <m:r>
                        <a:rPr lang="en-US" altLang="zh-TW" sz="2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zh-TW" sz="24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6" y="188640"/>
                <a:ext cx="9145016" cy="1200329"/>
              </a:xfrm>
              <a:prstGeom prst="rect">
                <a:avLst/>
              </a:prstGeom>
              <a:blipFill rotWithShape="1">
                <a:blip r:embed="rId2"/>
                <a:stretch>
                  <a:fillRect l="-1000" t="-4061" b="-6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179512" y="1628800"/>
                <a:ext cx="8568952" cy="4840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/>
                        </a:rPr>
                        <m:t>𝑎𝑠𝑠𝑢𝑚𝑒</m:t>
                      </m:r>
                      <m:r>
                        <a:rPr lang="en-US" altLang="zh-TW" sz="2200" b="0" i="1" smtClean="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200" b="0" i="1" smtClean="0">
                              <a:latin typeface="Cambria Math"/>
                            </a:rPr>
                            <m:t>𝜋</m:t>
                          </m:r>
                        </m:e>
                        <m:sup>
                          <m:r>
                            <a:rPr lang="en-US" altLang="zh-TW" sz="2200" b="0" i="1" smtClean="0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200" i="1">
                          <a:latin typeface="Cambria Math"/>
                          <a:ea typeface="Cambria Math"/>
                        </a:rPr>
                        <m:t>∉</m:t>
                      </m:r>
                      <m:sSub>
                        <m:sSubPr>
                          <m:ctrlP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200" b="0" i="0" smtClean="0">
                              <a:latin typeface="Cambria Math"/>
                              <a:ea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TW" sz="22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200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200" b="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TW" sz="2200" b="0" i="1" smtClean="0">
                                      <a:latin typeface="Cambria Math"/>
                                      <a:ea typeface="Cambria Math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TW" sz="2200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TW" sz="2200" b="0" i="1" smtClean="0">
                                  <a:latin typeface="Cambria Math"/>
                                  <a:ea typeface="Cambria Math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  <m:t>𝑤</m:t>
                          </m:r>
                        </m:e>
                      </m:d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𝑒</m:t>
                      </m:r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. ∃ </m:t>
                      </m:r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TW" sz="22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𝑤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, 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  <m:t>,</m:t>
                                      </m:r>
                                      <m: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TW" sz="2200" i="1">
                                            <a:latin typeface="Cambria Math"/>
                                            <a:ea typeface="Cambria Math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2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  <a:ea typeface="Cambria Math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2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TW" sz="22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sub>
                      </m:sSub>
                      <m:r>
                        <a:rPr lang="en-US" altLang="zh-TW" sz="2200" b="0" i="1" smtClean="0">
                          <a:latin typeface="Cambria Math"/>
                          <a:ea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altLang="zh-TW" sz="22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TW" sz="22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𝑤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, 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  <m:t>,</m:t>
                                      </m:r>
                                      <m: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2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2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TW" sz="2200" i="1">
                                            <a:latin typeface="Cambria Math"/>
                                            <a:ea typeface="Cambria Math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2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  <a:ea typeface="Cambria Math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200" i="1">
                                                <a:latin typeface="Cambria Math"/>
                                                <a:ea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200" i="1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altLang="zh-TW" sz="22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2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TW" sz="2200" b="0" i="1" smtClean="0">
                                  <a:latin typeface="Cambria Math"/>
                                  <a:ea typeface="Cambria Math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altLang="zh-TW" sz="2200" dirty="0" smtClean="0"/>
              </a:p>
              <a:p>
                <a:r>
                  <a:rPr lang="en-US" altLang="zh-TW" sz="2200" dirty="0" smtClean="0"/>
                  <a:t>Also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200" i="1">
                              <a:latin typeface="Cambria Math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𝑈</m:t>
                              </m:r>
                            </m:e>
                          </m:acc>
                          <m:d>
                            <m:d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  <m:sup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TW" sz="22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sz="2200" i="1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2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2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zh-TW" sz="22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200" i="1">
                              <a:latin typeface="Cambria Math"/>
                            </a:rPr>
                            <m:t>𝜕</m:t>
                          </m:r>
                          <m:d>
                            <m:d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200" i="1">
                                  <a:latin typeface="Cambria Math"/>
                                </a:rPr>
                                <m:t>𝑤𝐸</m:t>
                              </m:r>
                              <m:d>
                                <m:dPr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  <m:sup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TW" sz="2200" i="1">
                                  <a:latin typeface="Cambria Math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𝑤</m:t>
                                  </m:r>
                                  <m:sSup>
                                    <m:sSup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2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2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200" i="1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2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2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200" i="1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2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2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zh-TW" sz="2200">
                          <a:latin typeface="Cambria Math"/>
                        </a:rPr>
                        <m:t>=</m:t>
                      </m:r>
                      <m:r>
                        <a:rPr lang="en-US" altLang="zh-TW" sz="2200" b="0" i="0" smtClean="0"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2200" b="0" i="0" smtClean="0">
                          <a:latin typeface="Cambria Math"/>
                        </a:rPr>
                        <m:t>w</m:t>
                      </m:r>
                    </m:oMath>
                  </m:oMathPara>
                </a14:m>
                <a:endParaRPr lang="en-US" altLang="zh-TW" sz="2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/>
                        </a:rPr>
                        <m:t>∵</m:t>
                      </m:r>
                      <m:acc>
                        <m:accPr>
                          <m:chr m:val="̃"/>
                          <m:ctrlPr>
                            <a:rPr lang="zh-TW" altLang="zh-TW" sz="22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𝑈</m:t>
                          </m:r>
                        </m:e>
                      </m:acc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𝑖𝑠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𝑐𝑜𝑛𝑣𝑒𝑥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𝑓𝑢𝑛𝑐𝑡𝑖𝑜𝑛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altLang="zh-TW" sz="22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 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2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200" b="0" dirty="0" smtClean="0"/>
              </a:p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∴</m:t>
                    </m:r>
                    <m:sSub>
                      <m:sSub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𝑈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TW" sz="2200" i="1">
                            <a:latin typeface="Cambria Math"/>
                          </a:rPr>
                          <m:t>𝜋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</a:rPr>
                      <m:t> ≥</m:t>
                    </m:r>
                    <m:sSub>
                      <m:sSubPr>
                        <m:ctrlPr>
                          <a:rPr lang="en-US" altLang="zh-TW" sz="2200" i="1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𝑈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sz="22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zh-TW" sz="2200" b="0" i="1" smtClean="0">
                        <a:latin typeface="Cambria Math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2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sz="22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TW" sz="2200" i="1">
                            <a:latin typeface="Cambria Math"/>
                            <a:ea typeface="Cambria Math"/>
                          </a:rPr>
                          <m:t>𝑤</m:t>
                        </m:r>
                        <m:r>
                          <a:rPr lang="en-US" altLang="zh-TW" sz="2200" i="1">
                            <a:latin typeface="Cambria Math"/>
                            <a:ea typeface="Cambria Math"/>
                          </a:rPr>
                          <m:t>, </m:t>
                        </m:r>
                        <m:r>
                          <a:rPr lang="en-US" altLang="zh-TW" sz="2200" i="1">
                            <a:latin typeface="Cambria Math"/>
                            <a:ea typeface="Cambria Math"/>
                          </a:rPr>
                          <m:t>𝑑</m:t>
                        </m:r>
                        <m:d>
                          <m:dPr>
                            <m:ctrlPr>
                              <a:rPr lang="en-US" altLang="zh-TW" sz="2200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2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200" i="1"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TW" sz="2200" i="1">
                                    <a:latin typeface="Cambria Math"/>
                                    <a:ea typeface="Cambria Math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zh-TW" sz="2200" i="1">
                                <a:latin typeface="Cambria Math"/>
                                <a:ea typeface="Cambria Math"/>
                              </a:rPr>
                              <m:t>,</m:t>
                            </m:r>
                            <m:r>
                              <a:rPr lang="en-US" altLang="zh-TW" sz="2200" i="1">
                                <a:latin typeface="Cambria Math"/>
                                <a:ea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TW" sz="220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22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200" i="1"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2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2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  <a:ea typeface="Cambria Math"/>
                              </a:rPr>
                              <m:t>𝜋</m:t>
                            </m:r>
                          </m:sub>
                        </m:sSub>
                        <m: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TW" sz="2200" i="1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22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200" i="1">
                                            <a:latin typeface="Cambria Math"/>
                                            <a:ea typeface="Cambria Math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2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d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TW" sz="2200" i="1">
                                              <a:latin typeface="Cambria Math"/>
                                              <a:ea typeface="Cambria Math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TW" sz="22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sz="22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sSup>
                              <m:sSupPr>
                                <m:ctrlPr>
                                  <a:rPr lang="en-US" altLang="zh-TW" sz="22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200" i="1"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zh-TW" sz="2200" b="0" i="1" smtClean="0">
                                    <a:latin typeface="Cambria Math"/>
                                    <a:ea typeface="Cambria Math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</m:e>
                    </m:d>
                  </m:oMath>
                </a14:m>
                <a:r>
                  <a:rPr lang="en-US" altLang="zh-TW" sz="2200" dirty="0" smtClean="0"/>
                  <a:t> </a:t>
                </a:r>
              </a:p>
              <a:p>
                <a:r>
                  <a:rPr lang="en-US" altLang="zh-TW" sz="2200" dirty="0" smtClean="0"/>
                  <a:t>=&gt;</a:t>
                </a:r>
                <a:r>
                  <a:rPr lang="en-US" altLang="zh-TW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𝑈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TW" sz="2200" i="1">
                            <a:latin typeface="Cambria Math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>&gt;</a:t>
                </a:r>
                <a:r>
                  <a:rPr lang="en-US" altLang="zh-TW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𝑈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zh-TW" altLang="zh-TW" sz="22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zh-TW" altLang="zh-TW" sz="22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TW" altLang="zh-TW" sz="22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200" i="1">
                                            <a:latin typeface="Cambria Math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sz="22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zh-TW" sz="2200" b="0" i="1" smtClean="0">
                        <a:latin typeface="Cambria Math"/>
                      </a:rPr>
                      <m:t> 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→←</m:t>
                    </m:r>
                    <m:sSup>
                      <m:sSupPr>
                        <m:ctrlP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</m:sup>
                    </m:sSup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200" b="0" i="0" smtClean="0">
                            <a:latin typeface="Cambria Math"/>
                            <a:ea typeface="Cambria Math"/>
                          </a:rPr>
                          <m:t>Π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/>
                            <a:ea typeface="Cambria Math"/>
                          </a:rPr>
                          <m:t>𝐸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altLang="zh-TW" sz="22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zh-TW" sz="2200" dirty="0" smtClean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628800"/>
                <a:ext cx="8568952" cy="4840299"/>
              </a:xfrm>
              <a:prstGeom prst="rect">
                <a:avLst/>
              </a:prstGeom>
              <a:blipFill rotWithShape="1">
                <a:blip r:embed="rId3"/>
                <a:stretch>
                  <a:fillRect l="-853" b="-1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31782" y="185777"/>
            <a:ext cx="8284633" cy="1299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79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52711" y="260648"/>
                <a:ext cx="864096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1" dirty="0">
                    <a:solidFill>
                      <a:srgbClr val="FF0000"/>
                    </a:solidFill>
                  </a:rPr>
                  <a:t>Theorem 2:</a:t>
                </a:r>
                <a:endParaRPr lang="zh-TW" altLang="zh-TW" sz="2400" dirty="0">
                  <a:solidFill>
                    <a:srgbClr val="FF0000"/>
                  </a:solidFill>
                </a:endParaRPr>
              </a:p>
              <a:p>
                <a:r>
                  <a:rPr lang="en-US" altLang="zh-TW" sz="2400" dirty="0"/>
                  <a:t>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π</m:t>
                        </m:r>
                      </m:e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TW" sz="2400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zh-TW" altLang="zh-TW" sz="2400" i="1"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TW" altLang="zh-TW" sz="24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/>
                          </a:rPr>
                          <m:t>,</m:t>
                        </m:r>
                        <m:r>
                          <a:rPr lang="en-US" altLang="zh-TW" sz="2400" i="1">
                            <a:latin typeface="Cambria Math"/>
                          </a:rPr>
                          <m:t>𝑤</m:t>
                        </m:r>
                      </m:e>
                    </m:d>
                    <m:r>
                      <a:rPr lang="en-US" altLang="zh-TW" sz="2400" i="1">
                        <a:latin typeface="Cambria Math"/>
                      </a:rPr>
                      <m:t>. </m:t>
                    </m:r>
                    <m:r>
                      <a:rPr lang="en-US" altLang="zh-TW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𝑖𝑓</m:t>
                    </m:r>
                    <m:r>
                      <a:rPr lang="en-US" altLang="zh-TW" sz="240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zh-TW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𝜆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</a:rPr>
                      <m:t>=1+2</m:t>
                    </m:r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/>
                      </a:rPr>
                      <m:t>𝑤</m:t>
                    </m:r>
                    <m:sSub>
                      <m:sSubPr>
                        <m:ctrlPr>
                          <a:rPr lang="zh-TW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zh-TW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zh-TW" altLang="zh-TW" sz="24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zh-TW" sz="24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𝑇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sSup>
                          <m:sSupPr>
                            <m:ctrlPr>
                              <a:rPr lang="zh-TW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zh-TW" sz="2400" i="1">
                        <a:latin typeface="Cambria Math"/>
                      </a:rPr>
                      <m:t> </m:t>
                    </m:r>
                    <m:r>
                      <a:rPr lang="en-US" altLang="zh-TW" sz="2400" i="1">
                        <a:latin typeface="Cambria Math"/>
                      </a:rPr>
                      <m:t>𝑡h𝑒𝑛</m:t>
                    </m:r>
                    <m:r>
                      <a:rPr lang="en-US" altLang="zh-TW" sz="24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TW" sz="2400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zh-TW" altLang="zh-TW" sz="2400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</a:rPr>
                          <m:t>𝐸</m:t>
                        </m:r>
                      </m:sub>
                    </m:sSub>
                    <m:d>
                      <m:dPr>
                        <m:ctrlPr>
                          <a:rPr lang="zh-TW" altLang="zh-TW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</a:rPr>
                          <m:t>𝑤</m:t>
                        </m:r>
                      </m:e>
                    </m:d>
                  </m:oMath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11" y="260648"/>
                <a:ext cx="8640960" cy="830997"/>
              </a:xfrm>
              <a:prstGeom prst="rect">
                <a:avLst/>
              </a:prstGeom>
              <a:blipFill rotWithShape="1">
                <a:blip r:embed="rId2"/>
                <a:stretch>
                  <a:fillRect l="-1058" t="-28676" b="-10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23528" y="1268760"/>
                <a:ext cx="8712968" cy="4749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 smtClean="0"/>
                  <a:t>For a given w, the solution set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𝜆</m:t>
                            </m:r>
                            <m:r>
                              <a:rPr lang="en-US" altLang="zh-TW" sz="20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can be parameterized by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𝜆</m:t>
                    </m:r>
                  </m:oMath>
                </a14:m>
                <a:endParaRPr lang="en-US" altLang="zh-TW" sz="2000" dirty="0" smtClean="0"/>
              </a:p>
              <a:p>
                <a:r>
                  <a:rPr lang="en-US" altLang="zh-TW" sz="2000" dirty="0" smtClean="0"/>
                  <a:t>i.e.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/>
                          </a:rPr>
                          <m:t>𝑤</m:t>
                        </m:r>
                      </m:e>
                    </m:d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𝑐𝑎𝑛</m:t>
                    </m:r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𝑏𝑒</m:t>
                    </m:r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𝑟𝑒𝑑𝑢𝑐𝑒𝑑</m:t>
                    </m:r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𝑖𝑛</m:t>
                    </m:r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𝑡h𝑒</m:t>
                    </m:r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𝑒𝑞𝑢𝑖𝑣𝑎𝑙</m:t>
                    </m:r>
                    <m:r>
                      <a:rPr lang="en-US" altLang="zh-TW" sz="2000" b="0" i="1" smtClean="0"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latin typeface="Cambria Math"/>
                      </a:rPr>
                      <m:t>𝑓𝑜𝑟𝑚</m:t>
                    </m:r>
                    <m:r>
                      <a:rPr lang="en-US" altLang="zh-TW" sz="2000" b="0" i="1" smtClean="0">
                        <a:latin typeface="Cambria Math"/>
                      </a:rPr>
                      <m:t>:</m:t>
                    </m:r>
                  </m:oMath>
                </a14:m>
                <a:endParaRPr lang="en-US" altLang="zh-TW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00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𝜆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̃"/>
                              <m:ctrlPr>
                                <a:rPr lang="en-US" altLang="zh-TW" sz="20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  <m:sup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𝜆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𝜆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TW" sz="2000" b="0" i="1" smtClean="0">
                          <a:latin typeface="Cambria Math"/>
                        </a:rPr>
                        <m:t>=</m:t>
                      </m:r>
                      <m:limLow>
                        <m:limLowPr>
                          <m:ctrlPr>
                            <a:rPr lang="en-US" altLang="zh-TW" sz="2000" i="1">
                              <a:latin typeface="Cambria Math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max</m:t>
                          </m:r>
                        </m:e>
                        <m:lim>
                          <m:r>
                            <a:rPr lang="en-US" altLang="zh-TW" sz="2000" i="1">
                              <a:latin typeface="Cambria Math"/>
                            </a:rPr>
                            <m:t>𝜆</m:t>
                          </m:r>
                        </m:lim>
                      </m:limLow>
                      <m:d>
                        <m:dPr>
                          <m:ctrlPr>
                            <a:rPr lang="en-US" altLang="zh-TW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latin typeface="Cambria Math"/>
                            </a:rPr>
                            <m:t>𝑤𝐸</m:t>
                          </m:r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𝜆</m:t>
                                  </m:r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sz="2000" b="0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  <m:sup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𝜆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zh-TW" sz="20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TW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0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𝜆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, </m:t>
                                      </m:r>
                                      <m:r>
                                        <a:rPr lang="en-US" altLang="zh-TW" sz="2000" b="0" i="1" smtClean="0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000" dirty="0" smtClean="0"/>
              </a:p>
              <a:p>
                <a:r>
                  <a:rPr lang="en-US" altLang="zh-TW" sz="2000" dirty="0"/>
                  <a:t>1st order condition for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000" i="1"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/>
                          </a:rPr>
                          <m:t>λ</m:t>
                        </m:r>
                      </m:e>
                      <m:sup>
                        <m:r>
                          <a:rPr lang="en-US" altLang="zh-TW" sz="20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000" dirty="0"/>
                  <a:t>:</a:t>
                </a:r>
                <a:endParaRPr lang="zh-TW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2000">
                          <a:latin typeface="Cambria Math"/>
                        </a:rPr>
                        <m:t>w</m:t>
                      </m:r>
                      <m:f>
                        <m:f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>
                              <a:latin typeface="Cambria Math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E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000" i="1">
                              <a:latin typeface="Cambria Math"/>
                            </a:rPr>
                            <m:t>𝜕𝜆</m:t>
                          </m:r>
                        </m:den>
                      </m:f>
                      <m:r>
                        <a:rPr lang="en-US" altLang="zh-TW" sz="200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1+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𝑤𝐸</m:t>
                                  </m:r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f>
                        <m:f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000" i="1">
                              <a:latin typeface="Cambria Math"/>
                            </a:rPr>
                            <m:t>𝜕𝜆</m:t>
                          </m:r>
                        </m:den>
                      </m:f>
                      <m:r>
                        <a:rPr lang="en-US" altLang="zh-TW" sz="200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TW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/>
                        </a:rPr>
                        <m:t>when</m:t>
                      </m:r>
                      <m:r>
                        <a:rPr lang="en-US" altLang="zh-TW" sz="2000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π</m:t>
                          </m:r>
                        </m:e>
                        <m:sup>
                          <m:r>
                            <a:rPr lang="en-US" altLang="zh-TW" sz="20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000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altLang="zh-TW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TW" sz="2000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 </m:t>
                      </m:r>
                      <m:r>
                        <a:rPr lang="en-US" altLang="zh-TW" sz="2000" i="1">
                          <a:latin typeface="Cambria Math"/>
                        </a:rPr>
                        <m:t>𝑡h𝑒𝑛</m:t>
                      </m:r>
                      <m:r>
                        <a:rPr lang="en-US" altLang="zh-TW" sz="2000" i="1">
                          <a:latin typeface="Cambria Math"/>
                        </a:rPr>
                        <m:t> (</m:t>
                      </m:r>
                      <m:r>
                        <a:rPr lang="en-US" altLang="zh-TW" sz="2000" i="1">
                          <a:latin typeface="Cambria Math"/>
                        </a:rPr>
                        <m:t>𝑎𝑛𝑜𝑡h𝑒𝑟</m:t>
                      </m:r>
                      <m:r>
                        <a:rPr lang="en-US" altLang="zh-TW" sz="2000" i="1">
                          <a:latin typeface="Cambria Math"/>
                        </a:rPr>
                        <m:t> </m:t>
                      </m:r>
                      <m:r>
                        <a:rPr lang="en-US" altLang="zh-TW" sz="2000" i="1">
                          <a:latin typeface="Cambria Math"/>
                        </a:rPr>
                        <m:t>𝑝𝑎𝑝𝑒𝑟</m:t>
                      </m:r>
                      <m:r>
                        <a:rPr lang="en-US" altLang="zh-TW" sz="20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TW" sz="2000">
                          <a:latin typeface="Cambria Math"/>
                        </a:rPr>
                        <m:t>w</m:t>
                      </m:r>
                      <m:f>
                        <m:f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>
                              <a:latin typeface="Cambria Math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/>
                            </a:rPr>
                            <m:t>E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000" i="1">
                              <a:latin typeface="Cambria Math"/>
                            </a:rPr>
                            <m:t>𝜕𝜆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altLang="zh-TW" sz="2000" i="1">
                              <a:latin typeface="Cambria Math"/>
                            </a:rPr>
                            <m:t>∗</m:t>
                          </m:r>
                        </m:sup>
                      </m:sSup>
                      <m:f>
                        <m:f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000" i="1">
                              <a:latin typeface="Cambria Math"/>
                            </a:rPr>
                            <m:t>𝜕𝜆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TW" altLang="zh-TW" sz="2000" dirty="0"/>
              </a:p>
              <a:p>
                <a:r>
                  <a:rPr lang="en-US" altLang="zh-TW" sz="2000" dirty="0"/>
                  <a:t>Then</a:t>
                </a:r>
                <a:endParaRPr lang="zh-TW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𝑤</m:t>
                          </m:r>
                          <m:r>
                            <a:rPr lang="en-US" altLang="zh-TW" sz="2000" i="1">
                              <a:latin typeface="Cambria Math"/>
                            </a:rPr>
                            <m:t>,1+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𝑤𝐸</m:t>
                                  </m:r>
                                  <m:d>
                                    <m:d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zh-TW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/>
                                            </a:rPr>
                                            <m:t>𝑇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sSup>
                                <m:sSup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TW" sz="20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 </m:t>
                      </m:r>
                      <m:r>
                        <a:rPr lang="en-US" altLang="zh-TW" sz="2000" i="1">
                          <a:latin typeface="Cambria Math"/>
                        </a:rPr>
                        <m:t>𝑖𝑠</m:t>
                      </m:r>
                      <m:r>
                        <a:rPr lang="en-US" altLang="zh-TW" sz="2000" i="1">
                          <a:latin typeface="Cambria Math"/>
                        </a:rPr>
                        <m:t> </m:t>
                      </m:r>
                      <m:r>
                        <a:rPr lang="en-US" altLang="zh-TW" sz="2000" i="1">
                          <a:latin typeface="Cambria Math"/>
                        </a:rPr>
                        <m:t>𝑝𝑟𝑜𝑝𝑜𝑟𝑡𝑖𝑜𝑛𝑎𝑙</m:t>
                      </m:r>
                      <m:r>
                        <a:rPr lang="en-US" altLang="zh-TW" sz="2000" i="1">
                          <a:latin typeface="Cambria Math"/>
                        </a:rPr>
                        <m:t> </m:t>
                      </m:r>
                      <m:r>
                        <a:rPr lang="en-US" altLang="zh-TW" sz="2000" i="1">
                          <a:latin typeface="Cambria Math"/>
                        </a:rPr>
                        <m:t>𝑡𝑜</m:t>
                      </m:r>
                      <m:r>
                        <a:rPr lang="en-US" altLang="zh-TW" sz="2000" i="1"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TW" sz="2000" i="1">
                                    <a:latin typeface="Cambria Math"/>
                                  </a:rPr>
                                  <m:t>𝑤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zh-TW" altLang="zh-TW" sz="2000" i="1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US" altLang="zh-TW" sz="2000" i="1">
                                        <a:latin typeface="Cambria Math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⟹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altLang="zh-TW" sz="20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000" i="1">
                          <a:latin typeface="Cambria Math"/>
                        </a:rPr>
                        <m:t>=1+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altLang="zh-TW" sz="2000" i="1">
                                  <a:latin typeface="Cambria Math"/>
                                </a:rPr>
                                <m:t>𝑤𝐸</m:t>
                              </m:r>
                              <m:d>
                                <m:dPr>
                                  <m:ctrlPr>
                                    <a:rPr lang="zh-TW" altLang="zh-TW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zh-TW" altLang="zh-TW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268760"/>
                <a:ext cx="8712968" cy="4749377"/>
              </a:xfrm>
              <a:prstGeom prst="rect">
                <a:avLst/>
              </a:prstGeom>
              <a:blipFill rotWithShape="1">
                <a:blip r:embed="rId3"/>
                <a:stretch>
                  <a:fillRect l="-700" t="-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252711" y="260648"/>
            <a:ext cx="8640960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3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47370" y="2348880"/>
                <a:ext cx="8185070" cy="33809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Where</a:t>
                </a:r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/>
                        </a:rPr>
                        <m:t>γ</m:t>
                      </m:r>
                      <m:r>
                        <a:rPr lang="en-US" altLang="zh-TW" sz="24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λ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/>
                            </a:rPr>
                            <m:t>w</m:t>
                          </m:r>
                        </m:den>
                      </m:f>
                      <m:r>
                        <a:rPr lang="en-US" altLang="zh-TW" sz="2400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zh-TW" sz="2400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/>
                                </a:rPr>
                                <m:t>0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 0≤</m:t>
                      </m:r>
                      <m:r>
                        <a:rPr lang="en-US" altLang="zh-TW" sz="2400" i="1">
                          <a:latin typeface="Cambria Math"/>
                        </a:rPr>
                        <m:t>𝑡</m:t>
                      </m:r>
                      <m:r>
                        <a:rPr lang="en-US" altLang="zh-TW" sz="2400" i="1">
                          <a:latin typeface="Cambria Math"/>
                        </a:rPr>
                        <m:t>≤</m:t>
                      </m:r>
                      <m:r>
                        <a:rPr lang="en-US" altLang="zh-TW" sz="2400" i="1">
                          <a:latin typeface="Cambria Math"/>
                        </a:rPr>
                        <m:t>𝑇</m:t>
                      </m:r>
                      <m:r>
                        <a:rPr lang="en-US" altLang="zh-TW" sz="24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TW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/>
                            </a:rPr>
                            <m:t>𝐯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/>
                            </a:rPr>
                            <m:t>𝐭</m:t>
                          </m:r>
                        </m:sub>
                      </m:sSub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𝛾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/>
                                </a:rPr>
                                <m:t>𝑇</m:t>
                              </m:r>
                              <m:r>
                                <a:rPr lang="en-US" altLang="zh-TW" sz="2400" i="1">
                                  <a:latin typeface="Cambria Math"/>
                                </a:rPr>
                                <m:t>−1</m:t>
                              </m:r>
                            </m:sup>
                          </m:sSubSup>
                          <m:f>
                            <m:f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1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zh-TW" altLang="zh-TW" sz="24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zh-TW" sz="2400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 0≤</m:t>
                      </m:r>
                      <m:r>
                        <a:rPr lang="en-US" altLang="zh-TW" sz="2400" i="1">
                          <a:latin typeface="Cambria Math"/>
                        </a:rPr>
                        <m:t>𝑡</m:t>
                      </m:r>
                      <m:r>
                        <a:rPr lang="en-US" altLang="zh-TW" sz="2400" i="1">
                          <a:latin typeface="Cambria Math"/>
                        </a:rPr>
                        <m:t>≤</m:t>
                      </m:r>
                      <m:r>
                        <a:rPr lang="en-US" altLang="zh-TW" sz="2400" i="1">
                          <a:latin typeface="Cambria Math"/>
                        </a:rPr>
                        <m:t>𝑇</m:t>
                      </m:r>
                      <m:r>
                        <a:rPr lang="en-US" altLang="zh-TW" sz="24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zh-TW" altLang="zh-TW" sz="2400" dirty="0"/>
              </a:p>
              <a:p>
                <a:r>
                  <a:rPr lang="en-US" altLang="zh-TW" sz="2400" dirty="0"/>
                  <a:t>with the following boundary condition:</a:t>
                </a:r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/>
                            </a:rPr>
                            <m:t>𝐯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/>
                            </a:rPr>
                            <m:t>𝐓</m:t>
                          </m:r>
                          <m:r>
                            <a:rPr lang="en-US" altLang="zh-TW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4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𝛾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</m:e>
                        <m:sup>
                          <m:r>
                            <a:rPr lang="en-US" altLang="zh-TW" sz="24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𝑻</m:t>
                              </m:r>
                              <m:r>
                                <a:rPr lang="en-US" altLang="zh-TW" sz="24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4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𝑻</m:t>
                              </m:r>
                              <m:r>
                                <a:rPr lang="en-US" altLang="zh-TW" sz="24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400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TW" sz="2400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𝑻</m:t>
                              </m:r>
                              <m:r>
                                <a:rPr lang="en-US" altLang="zh-TW" sz="24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4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70" y="2348880"/>
                <a:ext cx="8185070" cy="3380926"/>
              </a:xfrm>
              <a:prstGeom prst="rect">
                <a:avLst/>
              </a:prstGeom>
              <a:blipFill rotWithShape="1">
                <a:blip r:embed="rId2"/>
                <a:stretch>
                  <a:fillRect l="-1191" t="-14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23528" y="404664"/>
                <a:ext cx="8640960" cy="1617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The optimal solution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zh-TW" altLang="zh-TW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𝜆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TW" sz="2400" i="1"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/>
                  <a:t> can be get using dynamic programming.</a:t>
                </a:r>
                <a:endParaRPr lang="zh-TW" altLang="zh-TW" sz="2400" dirty="0"/>
              </a:p>
              <a:p>
                <a:r>
                  <a:rPr lang="en-US" altLang="zh-TW" sz="2400" dirty="0">
                    <a:solidFill>
                      <a:srgbClr val="FF0000"/>
                    </a:solidFill>
                  </a:rPr>
                  <a:t>The optimal policy at each time period </a:t>
                </a:r>
                <a:r>
                  <a:rPr lang="en-US" altLang="zh-TW" sz="2400" i="1" dirty="0">
                    <a:solidFill>
                      <a:srgbClr val="FF0000"/>
                    </a:solidFill>
                  </a:rPr>
                  <a:t>t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is (Li, Chan and Ng (98))</a:t>
                </a:r>
                <a:r>
                  <a:rPr lang="en-US" altLang="zh-TW" sz="2400" dirty="0" smtClean="0"/>
                  <a:t>:</a:t>
                </a:r>
                <a:endParaRPr lang="zh-TW" altLang="zh-TW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400" b="1" i="1">
                              <a:latin typeface="Cambria Math"/>
                            </a:rPr>
                            <m:t>𝐮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/>
                            </a:rPr>
                            <m:t>𝐭</m:t>
                          </m:r>
                        </m:sub>
                        <m:sup>
                          <m:r>
                            <a:rPr lang="en-US" altLang="zh-TW" sz="2400" b="1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/>
                            </a:rPr>
                            <m:t>;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sz="2400">
                          <a:latin typeface="Cambria Math"/>
                        </a:rPr>
                        <m:t>=</m:t>
                      </m:r>
                      <m:r>
                        <a:rPr lang="en-US" altLang="zh-TW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TW" altLang="zh-TW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/>
                            </a:rPr>
                            <m:t>𝐊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/>
                            </a:rPr>
                            <m:t>𝐭</m:t>
                          </m:r>
                        </m:sub>
                      </m:sSub>
                      <m:sSub>
                        <m:sSub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zh-TW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400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zh-TW" altLang="zh-TW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, 0≤</m:t>
                      </m:r>
                      <m:r>
                        <a:rPr lang="en-US" altLang="zh-TW" sz="2400" i="1">
                          <a:latin typeface="Cambria Math"/>
                        </a:rPr>
                        <m:t>𝑡</m:t>
                      </m:r>
                      <m:r>
                        <a:rPr lang="en-US" altLang="zh-TW" sz="2400" i="1">
                          <a:latin typeface="Cambria Math"/>
                        </a:rPr>
                        <m:t>≤</m:t>
                      </m:r>
                      <m:r>
                        <a:rPr lang="en-US" altLang="zh-TW" sz="2400" i="1">
                          <a:latin typeface="Cambria Math"/>
                        </a:rPr>
                        <m:t>𝑇</m:t>
                      </m:r>
                      <m:r>
                        <a:rPr lang="en-US" altLang="zh-TW" sz="2400" i="1">
                          <a:latin typeface="Cambria Math"/>
                        </a:rPr>
                        <m:t>−1,</m:t>
                      </m:r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04664"/>
                <a:ext cx="8640960" cy="1617174"/>
              </a:xfrm>
              <a:prstGeom prst="rect">
                <a:avLst/>
              </a:prstGeom>
              <a:blipFill rotWithShape="1">
                <a:blip r:embed="rId3"/>
                <a:stretch>
                  <a:fillRect l="-1058" t="-1128" b="-1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252711" y="260648"/>
            <a:ext cx="8640960" cy="18722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43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79512" y="116632"/>
                <a:ext cx="8784976" cy="61981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zh-TW" dirty="0"/>
                  <a:t>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/>
                          </a:rPr>
                          <m:t>𝐮</m:t>
                        </m:r>
                      </m:e>
                      <m:sub>
                        <m:r>
                          <a:rPr lang="en-US" altLang="zh-TW" b="1" i="1">
                            <a:latin typeface="Cambria Math"/>
                          </a:rPr>
                          <m:t>𝐭</m:t>
                        </m:r>
                      </m:sub>
                      <m:sup>
                        <m:r>
                          <a:rPr lang="en-US" altLang="zh-TW" b="1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TW" altLang="zh-TW" dirty="0"/>
                  <a:t>代入式子中得</a:t>
                </a:r>
                <a:r>
                  <a:rPr lang="en-US" altLang="zh-TW" dirty="0"/>
                  <a:t>wealth</a:t>
                </a:r>
                <a:r>
                  <a:rPr lang="zh-TW" altLang="zh-TW" dirty="0"/>
                  <a:t>的變化為：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/>
                            </a:rPr>
                            <m:t>t</m:t>
                          </m:r>
                          <m:r>
                            <a:rPr lang="en-US" altLang="zh-TW">
                              <a:latin typeface="Cambria Math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  <m:sup>
                          <m:r>
                            <a:rPr lang="en-US" altLang="zh-TW" b="1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zh-TW" altLang="zh-TW" dirty="0"/>
              </a:p>
              <a:p>
                <a:r>
                  <a:rPr lang="en-US" altLang="zh-TW" dirty="0"/>
                  <a:t> </a:t>
                </a:r>
                <a:endParaRPr lang="zh-TW" altLang="zh-TW" dirty="0"/>
              </a:p>
              <a:p>
                <a:r>
                  <a:rPr lang="zh-TW" altLang="zh-TW" dirty="0"/>
                  <a:t>將上式兩邊取期望值，因為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TW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0</m:t>
                            </m:r>
                          </m:sup>
                        </m:sSubSup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zh-TW" altLang="zh-TW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𝑎𝑛𝑑</m:t>
                    </m:r>
                    <m:r>
                      <a:rPr lang="en-US" altLang="zh-TW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zh-TW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/>
                  <a:t> are statistically independent, then</a:t>
                </a:r>
                <a:endParaRPr lang="zh-TW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1</m:t>
                          </m:r>
                        </m:sup>
                      </m:sSubSup>
                      <m:r>
                        <a:rPr lang="en-US" altLang="zh-TW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num>
                        <m:den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𝑇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−1</m:t>
                              </m:r>
                            </m:sup>
                          </m:sSubSup>
                          <m:f>
                            <m:f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1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b>
                        <m:sSub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zh-TW" altLang="zh-TW" dirty="0"/>
              </a:p>
              <a:p>
                <a:r>
                  <a:rPr lang="en-US" altLang="zh-TW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TW" altLang="zh-TW" b="1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b="1" i="1"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zh-TW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/>
                              </a:rPr>
                              <m:t>𝒕</m:t>
                            </m:r>
                          </m:sub>
                        </m:sSub>
                        <m:sSubSup>
                          <m:sSubSupPr>
                            <m:ctrlPr>
                              <a:rPr lang="zh-TW" altLang="zh-TW" b="1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b="1" i="1"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en-US" altLang="zh-TW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TW" b="1" i="1">
                                <a:latin typeface="Cambria Math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/>
                      </a:rPr>
                      <m:t>, 0≤</m:t>
                    </m:r>
                    <m:r>
                      <a:rPr lang="en-US" altLang="zh-TW" i="1">
                        <a:latin typeface="Cambria Math"/>
                      </a:rPr>
                      <m:t>𝑡</m:t>
                    </m:r>
                    <m:r>
                      <a:rPr lang="en-US" altLang="zh-TW" i="1">
                        <a:latin typeface="Cambria Math"/>
                      </a:rPr>
                      <m:t>≤</m:t>
                    </m:r>
                    <m:r>
                      <a:rPr lang="en-US" altLang="zh-TW" i="1">
                        <a:latin typeface="Cambria Math"/>
                      </a:rPr>
                      <m:t>𝑇</m:t>
                    </m:r>
                    <m:r>
                      <a:rPr lang="en-US" altLang="zh-TW" i="1">
                        <a:latin typeface="Cambria Math"/>
                      </a:rPr>
                      <m:t>−1</m:t>
                    </m:r>
                  </m:oMath>
                </a14:m>
                <a:endParaRPr lang="zh-TW" altLang="zh-TW" dirty="0"/>
              </a:p>
              <a:p>
                <a:r>
                  <a:rPr lang="en-US" altLang="zh-TW" dirty="0"/>
                  <a:t> </a:t>
                </a:r>
                <a:endParaRPr lang="zh-TW" altLang="zh-TW" dirty="0"/>
              </a:p>
              <a:p>
                <a:r>
                  <a:rPr lang="zh-TW" altLang="zh-TW" dirty="0"/>
                  <a:t>若將</a:t>
                </a:r>
                <a:r>
                  <a:rPr lang="en-US" altLang="zh-TW" dirty="0"/>
                  <a:t>wealth eq.</a:t>
                </a:r>
                <a:r>
                  <a:rPr lang="zh-TW" altLang="zh-TW" dirty="0"/>
                  <a:t>兩邊取平方時，得：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  <m:r>
                            <a:rPr lang="en-US" altLang="zh-TW" i="1">
                              <a:latin typeface="Cambria Math"/>
                            </a:rPr>
                            <m:t>+1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TW" altLang="zh-TW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0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/>
                            </a:rPr>
                            <m:t>−2</m:t>
                          </m:r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  <m:sSup>
                            <m:sSup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altLang="zh-TW">
                              <a:latin typeface="Cambria Math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+2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TW" altLang="zh-TW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sSubSup>
                        <m:sSubSup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  <m:sup>
                          <m:r>
                            <a:rPr lang="en-US" altLang="zh-TW" b="1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sSup>
                        <m:s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  <m:sup>
                          <m:r>
                            <a:rPr lang="en-US" altLang="zh-TW" i="1">
                              <a:latin typeface="Cambria Math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sSubSup>
                        <m:sSubSup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  <m:sup>
                          <m:r>
                            <a:rPr lang="en-US" altLang="zh-TW" b="1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zh-TW" altLang="zh-TW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𝒕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</m:d>
                      <m:r>
                        <a:rPr lang="en-US" altLang="zh-TW">
                          <a:latin typeface="Cambria Math"/>
                        </a:rPr>
                        <m:t>, 0≤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/>
                        </a:rPr>
                        <m:t>t</m:t>
                      </m:r>
                      <m:r>
                        <a:rPr lang="en-US" altLang="zh-TW">
                          <a:latin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/>
                        </a:rPr>
                        <m:t>T</m:t>
                      </m:r>
                      <m:r>
                        <a:rPr lang="en-US" altLang="zh-TW" i="1">
                          <a:latin typeface="Cambria Math"/>
                        </a:rPr>
                        <m:t>−</m:t>
                      </m:r>
                      <m:r>
                        <a:rPr lang="en-US" altLang="zh-TW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zh-TW" altLang="zh-TW" dirty="0"/>
              </a:p>
              <a:p>
                <a:r>
                  <a:rPr lang="zh-TW" altLang="zh-TW" dirty="0"/>
                  <a:t>再將上式兩邊取期望值，得：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  <m:r>
                            <a:rPr lang="en-US" altLang="zh-TW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i="1">
                              <a:latin typeface="Cambria Math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𝑇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zh-TW" altLang="zh-TW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zh-TW" altLang="zh-TW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1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zh-TW" altLang="zh-TW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  <a:p>
                <a:r>
                  <a:rPr lang="en-US" altLang="zh-TW" dirty="0"/>
                  <a:t> </a:t>
                </a:r>
                <a:endParaRPr lang="zh-TW" altLang="zh-TW" dirty="0"/>
              </a:p>
              <a:p>
                <a:r>
                  <a:rPr lang="zh-TW" altLang="zh-TW" dirty="0"/>
                  <a:t>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/>
                      </a:rPr>
                      <m:t>E</m:t>
                    </m:r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+1</m:t>
                            </m:r>
                          </m:sub>
                        </m:sSub>
                        <m:d>
                          <m:dPr>
                            <m:ctrlPr>
                              <a:rPr lang="zh-TW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𝛾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zh-TW" dirty="0"/>
                  <a:t>與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TW" altLang="zh-TW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d>
                          <m:dPr>
                            <m:ctrlPr>
                              <a:rPr lang="zh-TW" altLang="zh-TW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𝛾</m:t>
                            </m:r>
                          </m:e>
                        </m:d>
                        <m:r>
                          <a:rPr lang="en-US" altLang="zh-TW" i="1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zh-TW" altLang="zh-TW" dirty="0"/>
                  <a:t>遞移計算，可算出</a:t>
                </a:r>
                <a:r>
                  <a:rPr lang="en-US" altLang="zh-TW" dirty="0"/>
                  <a:t>t=T</a:t>
                </a:r>
                <a:r>
                  <a:rPr lang="zh-TW" altLang="zh-TW" dirty="0"/>
                  <a:t>時的期望值，而與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/>
                          </a:rPr>
                          <m:t>𝐮</m:t>
                        </m:r>
                      </m:e>
                      <m:sub>
                        <m:r>
                          <a:rPr lang="en-US" altLang="zh-TW" b="1" i="1">
                            <a:latin typeface="Cambria Math"/>
                          </a:rPr>
                          <m:t>𝐭</m:t>
                        </m:r>
                      </m:sub>
                      <m:sup>
                        <m:r>
                          <a:rPr lang="en-US" altLang="zh-TW" b="1" i="1">
                            <a:latin typeface="Cambria Math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zh-TW" altLang="zh-TW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;</m:t>
                        </m:r>
                        <m:r>
                          <a:rPr lang="en-US" altLang="zh-TW" i="1">
                            <a:latin typeface="Cambria Math"/>
                          </a:rPr>
                          <m:t>𝛾</m:t>
                        </m:r>
                      </m:e>
                    </m:d>
                  </m:oMath>
                </a14:m>
                <a:r>
                  <a:rPr lang="zh-TW" altLang="zh-TW" dirty="0"/>
                  <a:t>計算可得：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solidFill>
                            <a:srgbClr val="FF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𝑢</m:t>
                      </m:r>
                      <m:sSub>
                        <m:sSub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𝛾</m:t>
                      </m:r>
                    </m:oMath>
                  </m:oMathPara>
                </a14:m>
                <a:endParaRPr lang="zh-TW" altLang="zh-TW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TW" altLang="zh-TW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r>
                        <a:rPr lang="en-US" altLang="zh-TW" i="1">
                          <a:latin typeface="Cambria Math"/>
                        </a:rPr>
                        <m:t>𝜏</m:t>
                      </m:r>
                      <m:sSubSup>
                        <m:sSub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altLang="zh-TW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/>
                            </a:rPr>
                            <m:t>𝑣</m:t>
                          </m:r>
                        </m:num>
                        <m:den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zh-TW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altLang="zh-TW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zh-TW" dirty="0"/>
              </a:p>
              <a:p>
                <a:r>
                  <a:rPr lang="zh-TW" altLang="zh-TW" dirty="0"/>
                  <a:t>而</a:t>
                </a:r>
                <a:r>
                  <a:rPr lang="en-US" altLang="zh-TW" dirty="0"/>
                  <a:t>variance</a:t>
                </a:r>
                <a:r>
                  <a:rPr lang="zh-TW" altLang="zh-TW" dirty="0"/>
                  <a:t>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solidFill>
                            <a:srgbClr val="FF0000"/>
                          </a:solidFill>
                          <a:latin typeface="Cambria Math"/>
                        </a:rPr>
                        <m:t>Var</m:t>
                      </m:r>
                      <m:d>
                        <m:d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𝛾</m:t>
                              </m:r>
                            </m:e>
                          </m:d>
                        </m:e>
                      </m:d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𝛾</m:t>
                              </m:r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zh-TW" altLang="zh-TW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TW" i="1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  <m:sSubSup>
                        <m:sSubSupPr>
                          <m:ctrlPr>
                            <a:rPr lang="zh-TW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16632"/>
                <a:ext cx="8784976" cy="6198172"/>
              </a:xfrm>
              <a:prstGeom prst="rect">
                <a:avLst/>
              </a:prstGeom>
              <a:blipFill rotWithShape="1">
                <a:blip r:embed="rId2"/>
                <a:stretch>
                  <a:fillRect l="-555" t="-492" r="-3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57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23528" y="548680"/>
                <a:ext cx="8640960" cy="56605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zh-TW" sz="2200" dirty="0" smtClean="0"/>
                  <a:t>可知</a:t>
                </a:r>
                <a:endParaRPr lang="en-US" altLang="zh-TW" sz="2200" dirty="0" smtClean="0"/>
              </a:p>
              <a:p>
                <a:r>
                  <a:rPr lang="en-US" altLang="zh-TW" sz="2200" b="1" dirty="0" smtClean="0">
                    <a:solidFill>
                      <a:srgbClr val="FF0000"/>
                    </a:solidFill>
                  </a:rPr>
                  <a:t>expected </a:t>
                </a:r>
                <a:r>
                  <a:rPr lang="en-US" altLang="zh-TW" sz="2200" b="1" dirty="0">
                    <a:solidFill>
                      <a:srgbClr val="FF0000"/>
                    </a:solidFill>
                  </a:rPr>
                  <a:t>terminal wealth </a:t>
                </a:r>
                <a14:m>
                  <m:oMath xmlns:m="http://schemas.openxmlformats.org/officeDocument/2006/math">
                    <m:r>
                      <a:rPr lang="en-US" altLang="zh-TW" sz="2200" b="1" i="1">
                        <a:solidFill>
                          <a:srgbClr val="FF0000"/>
                        </a:solidFill>
                        <a:latin typeface="Cambria Math"/>
                      </a:rPr>
                      <m:t>𝐄</m:t>
                    </m:r>
                    <m:d>
                      <m:dPr>
                        <m:ctrlPr>
                          <a:rPr lang="zh-TW" altLang="zh-TW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𝑻</m:t>
                            </m:r>
                          </m:sub>
                        </m:sSub>
                        <m:d>
                          <m:dPr>
                            <m:ctrlPr>
                              <a:rPr lang="zh-TW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𝜸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200" b="1" dirty="0">
                    <a:solidFill>
                      <a:srgbClr val="FF0000"/>
                    </a:solidFill>
                  </a:rPr>
                  <a:t> is an increasing linear function of </a:t>
                </a:r>
                <a14:m>
                  <m:oMath xmlns:m="http://schemas.openxmlformats.org/officeDocument/2006/math">
                    <m:r>
                      <a:rPr lang="en-US" altLang="zh-TW" sz="2200" b="1" i="1">
                        <a:solidFill>
                          <a:srgbClr val="FF0000"/>
                        </a:solidFill>
                        <a:latin typeface="Cambria Math"/>
                      </a:rPr>
                      <m:t>𝛄</m:t>
                    </m:r>
                  </m:oMath>
                </a14:m>
                <a:r>
                  <a:rPr lang="en-US" altLang="zh-TW" sz="2200" b="1" dirty="0">
                    <a:solidFill>
                      <a:srgbClr val="FF0000"/>
                    </a:solidFill>
                  </a:rPr>
                  <a:t>.</a:t>
                </a:r>
                <a:endParaRPr lang="zh-TW" altLang="zh-TW" sz="2200" b="1" dirty="0">
                  <a:solidFill>
                    <a:srgbClr val="FF0000"/>
                  </a:solidFill>
                </a:endParaRPr>
              </a:p>
              <a:p>
                <a:r>
                  <a:rPr lang="en-US" altLang="zh-TW" sz="2200" b="1" dirty="0">
                    <a:solidFill>
                      <a:srgbClr val="FF0000"/>
                    </a:solidFill>
                  </a:rPr>
                  <a:t>Variance of the terminal wealth </a:t>
                </a:r>
                <a14:m>
                  <m:oMath xmlns:m="http://schemas.openxmlformats.org/officeDocument/2006/math">
                    <m:r>
                      <a:rPr lang="en-US" altLang="zh-TW" sz="2200" b="1" i="1">
                        <a:solidFill>
                          <a:srgbClr val="FF0000"/>
                        </a:solidFill>
                        <a:latin typeface="Cambria Math"/>
                      </a:rPr>
                      <m:t>𝐕𝐚𝐫</m:t>
                    </m:r>
                    <m:d>
                      <m:dPr>
                        <m:ctrlPr>
                          <a:rPr lang="zh-TW" altLang="zh-TW" sz="22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𝑻</m:t>
                            </m:r>
                          </m:sub>
                        </m:sSub>
                        <m:d>
                          <m:dPr>
                            <m:ctrlPr>
                              <a:rPr lang="zh-TW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2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𝜸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200" b="1" dirty="0">
                    <a:solidFill>
                      <a:srgbClr val="FF0000"/>
                    </a:solidFill>
                  </a:rPr>
                  <a:t> is a quadratic function of</a:t>
                </a:r>
                <a:r>
                  <a:rPr lang="en-US" altLang="zh-TW" sz="2200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200" b="1" i="1">
                        <a:solidFill>
                          <a:srgbClr val="FF0000"/>
                        </a:solidFill>
                        <a:latin typeface="Cambria Math"/>
                      </a:rPr>
                      <m:t>𝛄</m:t>
                    </m:r>
                  </m:oMath>
                </a14:m>
                <a:r>
                  <a:rPr lang="en-US" altLang="zh-TW" sz="2200" b="1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r>
                  <a:rPr lang="en-US" altLang="zh-TW" sz="2200" b="1" dirty="0" smtClean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sz="2200" b="1" dirty="0" err="1" smtClean="0">
                    <a:solidFill>
                      <a:srgbClr val="FF0000"/>
                    </a:solidFill>
                  </a:rPr>
                  <a:t>所以重點是如何得到</a:t>
                </a:r>
                <a:r>
                  <a:rPr lang="en-US" altLang="zh-TW" sz="2200" b="1" dirty="0">
                    <a:solidFill>
                      <a:srgbClr val="FF0000"/>
                    </a:solidFill>
                  </a:rPr>
                  <a:t> </a:t>
                </a:r>
                <a:r>
                  <a:rPr lang="zh-TW" altLang="en-US" sz="2200" b="1" dirty="0" smtClean="0">
                    <a:solidFill>
                      <a:srgbClr val="FF0000"/>
                    </a:solidFill>
                  </a:rPr>
                  <a:t>期望值、變異數與</a:t>
                </a:r>
                <a14:m>
                  <m:oMath xmlns:m="http://schemas.openxmlformats.org/officeDocument/2006/math">
                    <m:r>
                      <a:rPr lang="en-US" altLang="zh-TW" sz="2200" b="1" i="1">
                        <a:solidFill>
                          <a:srgbClr val="FF0000"/>
                        </a:solidFill>
                        <a:latin typeface="Cambria Math"/>
                      </a:rPr>
                      <m:t>𝛄</m:t>
                    </m:r>
                  </m:oMath>
                </a14:m>
                <a:r>
                  <a:rPr lang="en-US" altLang="zh-TW" sz="2200" b="1" dirty="0" err="1" smtClean="0">
                    <a:solidFill>
                      <a:srgbClr val="FF0000"/>
                    </a:solidFill>
                  </a:rPr>
                  <a:t>的關係式</a:t>
                </a:r>
                <a:r>
                  <a:rPr lang="en-US" altLang="zh-TW" sz="2200" b="1" dirty="0" smtClean="0">
                    <a:solidFill>
                      <a:srgbClr val="FF0000"/>
                    </a:solidFill>
                  </a:rPr>
                  <a:t>)</a:t>
                </a:r>
                <a:endParaRPr lang="zh-TW" altLang="zh-TW" sz="2200" b="1" dirty="0">
                  <a:solidFill>
                    <a:srgbClr val="FF0000"/>
                  </a:solidFill>
                </a:endParaRPr>
              </a:p>
              <a:p>
                <a:r>
                  <a:rPr lang="en-US" altLang="zh-TW" sz="2200" dirty="0"/>
                  <a:t>Then</a:t>
                </a:r>
                <a:endParaRPr lang="zh-TW" altLang="zh-TW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𝑈</m:t>
                          </m:r>
                        </m:e>
                      </m:acc>
                      <m:d>
                        <m:d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  <m:sup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2200" i="1">
                              <a:latin typeface="Cambria Math"/>
                            </a:rPr>
                            <m:t>, 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r>
                        <a:rPr lang="en-US" altLang="zh-TW" sz="2200" i="1">
                          <a:latin typeface="Cambria Math"/>
                        </a:rPr>
                        <m:t>𝑢</m:t>
                      </m:r>
                      <m:sSub>
                        <m:sSub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2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r>
                        <a:rPr lang="en-US" altLang="zh-TW" sz="2200" i="1">
                          <a:latin typeface="Cambria Math"/>
                        </a:rPr>
                        <m:t>𝑣</m:t>
                      </m:r>
                      <m:r>
                        <a:rPr lang="en-US" altLang="zh-TW" sz="2200" i="1">
                          <a:latin typeface="Cambria Math"/>
                        </a:rPr>
                        <m:t>𝛾</m:t>
                      </m:r>
                      <m:r>
                        <a:rPr lang="en-US" altLang="zh-TW" sz="2200" i="1">
                          <a:latin typeface="Cambria Math"/>
                        </a:rPr>
                        <m:t>−</m:t>
                      </m:r>
                      <m:r>
                        <a:rPr lang="en-US" altLang="zh-TW" sz="2200" i="1">
                          <a:latin typeface="Cambria Math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𝑎</m:t>
                          </m:r>
                          <m:sSup>
                            <m:sSup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sz="22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𝛾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200" i="1">
                                      <a:latin typeface="Cambria Math"/>
                                    </a:rPr>
                                    <m:t>𝑏</m:t>
                                  </m:r>
                                  <m:sSub>
                                    <m:sSubPr>
                                      <m:ctrlPr>
                                        <a:rPr lang="zh-TW" altLang="zh-TW" sz="22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2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TW" sz="22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200" i="1">
                              <a:latin typeface="Cambria Math"/>
                            </a:rPr>
                            <m:t>+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𝑐</m:t>
                          </m:r>
                          <m:sSubSup>
                            <m:sSubSup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2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sz="22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zh-TW" sz="2200" dirty="0"/>
              </a:p>
              <a:p>
                <a:r>
                  <a:rPr lang="en-US" altLang="zh-TW" sz="2200" dirty="0"/>
                  <a:t>=&gt;</a:t>
                </a:r>
                <a:endParaRPr lang="zh-TW" altLang="zh-TW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̃"/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𝑑𝑈</m:t>
                              </m:r>
                            </m:e>
                          </m:acc>
                        </m:num>
                        <m:den>
                          <m:r>
                            <a:rPr lang="en-US" altLang="zh-TW" sz="2200" i="1">
                              <a:latin typeface="Cambria Math"/>
                            </a:rPr>
                            <m:t>𝑑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𝛾</m:t>
                          </m:r>
                        </m:den>
                      </m:f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r>
                        <a:rPr lang="en-US" altLang="zh-TW" sz="2200" i="1">
                          <a:latin typeface="Cambria Math"/>
                        </a:rPr>
                        <m:t>𝑣</m:t>
                      </m:r>
                      <m:r>
                        <a:rPr lang="en-US" altLang="zh-TW" sz="2200" i="1">
                          <a:latin typeface="Cambria Math"/>
                        </a:rPr>
                        <m:t>−2</m:t>
                      </m:r>
                      <m:r>
                        <a:rPr lang="en-US" altLang="zh-TW" sz="2200" i="1">
                          <a:latin typeface="Cambria Math"/>
                        </a:rPr>
                        <m:t>𝑤𝑎</m:t>
                      </m:r>
                      <m:d>
                        <m:d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𝛾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−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𝑏</m:t>
                          </m:r>
                          <m:sSub>
                            <m:sSubPr>
                              <m:ctrlPr>
                                <a:rPr lang="zh-TW" altLang="zh-TW" sz="2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2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TW" sz="22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TW" altLang="zh-TW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TW" sz="2200">
                              <a:latin typeface="Cambria Math"/>
                            </a:rPr>
                            <m:t>γ</m:t>
                          </m:r>
                        </m:e>
                        <m:sup>
                          <m:r>
                            <a:rPr lang="en-US" altLang="zh-TW" sz="22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r>
                        <a:rPr lang="en-US" altLang="zh-TW" sz="2200" i="1">
                          <a:latin typeface="Cambria Math"/>
                        </a:rPr>
                        <m:t>𝑏</m:t>
                      </m:r>
                      <m:sSub>
                        <m:sSub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2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TW" altLang="zh-TW" sz="22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200" i="1">
                              <a:latin typeface="Cambria Math"/>
                            </a:rPr>
                            <m:t>𝑣</m:t>
                          </m:r>
                        </m:num>
                        <m:den>
                          <m:r>
                            <a:rPr lang="en-US" altLang="zh-TW" sz="2200" i="1">
                              <a:latin typeface="Cambria Math"/>
                            </a:rPr>
                            <m:t>2</m:t>
                          </m:r>
                          <m:r>
                            <a:rPr lang="en-US" altLang="zh-TW" sz="2200" i="1">
                              <a:latin typeface="Cambria Math"/>
                            </a:rPr>
                            <m:t>𝑤𝑎</m:t>
                          </m:r>
                        </m:den>
                      </m:f>
                    </m:oMath>
                  </m:oMathPara>
                </a14:m>
                <a:endParaRPr lang="zh-TW" altLang="zh-TW" sz="2200" dirty="0"/>
              </a:p>
              <a:p>
                <a:r>
                  <a:rPr lang="en-US" altLang="zh-TW" sz="2200" dirty="0"/>
                  <a:t>Then we get:</a:t>
                </a:r>
                <a:endParaRPr lang="zh-TW" altLang="zh-TW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200" smtClean="0">
                          <a:solidFill>
                            <a:srgbClr val="FF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𝑤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altLang="zh-TW" sz="22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𝑏𝑣</m:t>
                          </m:r>
                        </m:e>
                      </m:d>
                      <m:sSub>
                        <m:sSub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22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𝑤𝑎</m:t>
                          </m:r>
                        </m:den>
                      </m:f>
                    </m:oMath>
                  </m:oMathPara>
                </a14:m>
                <a:endParaRPr lang="zh-TW" altLang="zh-TW" sz="22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200">
                          <a:solidFill>
                            <a:srgbClr val="FF0000"/>
                          </a:solidFill>
                          <a:latin typeface="Cambria Math"/>
                        </a:rPr>
                        <m:t>Var</m:t>
                      </m:r>
                      <m:d>
                        <m:d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𝑤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altLang="zh-TW" sz="22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  <m:sSup>
                            <m:sSupPr>
                              <m:ctrlPr>
                                <a:rPr lang="zh-TW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2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TW" sz="22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altLang="zh-TW" sz="2200" i="1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  <m:sSubSup>
                        <m:sSubSupPr>
                          <m:ctrlPr>
                            <a:rPr lang="zh-TW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2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48680"/>
                <a:ext cx="8640960" cy="5660589"/>
              </a:xfrm>
              <a:prstGeom prst="rect">
                <a:avLst/>
              </a:prstGeom>
              <a:blipFill rotWithShape="1">
                <a:blip r:embed="rId2"/>
                <a:stretch>
                  <a:fillRect l="-846" t="-7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51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Investment with one riskless asset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95536" y="1412776"/>
                <a:ext cx="7416824" cy="105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en-US" altLang="zh-TW" sz="2000" dirty="0" smtClean="0"/>
                  <a:t>0th asset is riskless (risk-free)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</m:sSubSup>
                      </m:e>
                    </m:d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,  </m:t>
                    </m:r>
                    <m:sSub>
                      <m:sSub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𝑖𝑠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𝑎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𝑐𝑜𝑛𝑠𝑡𝑎𝑛𝑡</m:t>
                    </m:r>
                  </m:oMath>
                </a14:m>
                <a:endParaRPr lang="en-US" altLang="zh-TW" sz="2000" b="0" dirty="0" smtClean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𝐶𝑜𝑣</m:t>
                    </m:r>
                    <m:d>
                      <m:dPr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</m:sSubSup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p>
                        </m:sSubSup>
                      </m:e>
                    </m:d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=0,0≤0≤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, 0≤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𝑇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−1</m:t>
                    </m:r>
                  </m:oMath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12776"/>
                <a:ext cx="7416824" cy="1059264"/>
              </a:xfrm>
              <a:prstGeom prst="rect">
                <a:avLst/>
              </a:prstGeom>
              <a:blipFill rotWithShape="1">
                <a:blip r:embed="rId2"/>
                <a:stretch>
                  <a:fillRect l="-740" t="-2874" b="-57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11" y="2544048"/>
            <a:ext cx="6936283" cy="3549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68" y="6051585"/>
            <a:ext cx="4894759" cy="62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373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39</a:t>
            </a:fld>
            <a:endParaRPr lang="zh-TW" altLang="en-US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6041554"/>
            <a:ext cx="77152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32656"/>
            <a:ext cx="5271867" cy="6042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094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40</a:t>
            </a:fld>
            <a:endParaRPr lang="zh-TW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04664"/>
            <a:ext cx="855345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15" y="2996952"/>
            <a:ext cx="8515350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2267744" y="1556792"/>
            <a:ext cx="4320480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02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8621935" cy="2810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979712" y="2348880"/>
            <a:ext cx="4824536" cy="1802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136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1" y="620688"/>
            <a:ext cx="9168491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561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43</a:t>
            </a:fld>
            <a:endParaRPr lang="zh-TW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896" y="1772816"/>
            <a:ext cx="9090238" cy="296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2708919"/>
            <a:ext cx="8208912" cy="10801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74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44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515166" y="1298737"/>
                <a:ext cx="7920880" cy="21302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200" dirty="0" smtClean="0"/>
                  <a:t>T=4</a:t>
                </a:r>
              </a:p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200" dirty="0"/>
                  <a:t>Tree risky securities, a, B, and </a:t>
                </a:r>
                <a:r>
                  <a:rPr lang="en-US" altLang="zh-TW" sz="2200" dirty="0" smtClean="0"/>
                  <a:t>C and one riskless asset with return 1.04</a:t>
                </a:r>
                <a:endParaRPr lang="en-US" altLang="zh-TW" sz="2200" dirty="0"/>
              </a:p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200" dirty="0"/>
                  <a:t>To maximize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2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2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TW" sz="2200" i="1">
                        <a:latin typeface="Cambria Math"/>
                      </a:rPr>
                      <m:t> </m:t>
                    </m:r>
                    <m:r>
                      <a:rPr lang="en-US" altLang="zh-TW" sz="2200" b="0" i="1" smtClean="0">
                        <a:latin typeface="Cambria Math"/>
                      </a:rPr>
                      <m:t>−2</m:t>
                    </m:r>
                    <m:r>
                      <a:rPr lang="en-US" altLang="zh-TW" sz="22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200" dirty="0"/>
              </a:p>
              <a:p>
                <a:pPr marL="457200" indent="-4572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𝒕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2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200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en-US" altLang="zh-TW" sz="2200" i="1">
                                <a:latin typeface="Cambria Math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altLang="zh-TW" sz="2200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𝐵</m:t>
                                </m:r>
                              </m:sup>
                            </m:sSubSup>
                            <m:r>
                              <a:rPr lang="en-US" altLang="zh-TW" sz="2200" i="1">
                                <a:latin typeface="Cambria Math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2200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TW" sz="2200" i="1">
                                    <a:latin typeface="Cambria Math"/>
                                  </a:rPr>
                                  <m:t>𝐶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TW" sz="22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200" i="1" dirty="0">
                    <a:latin typeface="Cambria Math"/>
                  </a:rPr>
                  <a:t/>
                </a:r>
                <a:br>
                  <a:rPr lang="en-US" altLang="zh-TW" sz="2200" i="1" dirty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TW" sz="22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1.162, 1.246, 1.228</m:t>
                            </m:r>
                          </m:e>
                        </m:d>
                      </m:e>
                      <m:sup>
                        <m:r>
                          <a:rPr lang="en-US" altLang="zh-TW" sz="22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TW" sz="2200" i="1">
                        <a:latin typeface="Cambria Math"/>
                      </a:rPr>
                      <m:t>, 0≤</m:t>
                    </m:r>
                    <m:r>
                      <a:rPr lang="en-US" altLang="zh-TW" sz="2200" i="1">
                        <a:latin typeface="Cambria Math"/>
                      </a:rPr>
                      <m:t>𝑡</m:t>
                    </m:r>
                    <m:r>
                      <a:rPr lang="en-US" altLang="zh-TW" sz="2200" i="1">
                        <a:latin typeface="Cambria Math"/>
                      </a:rPr>
                      <m:t>≤3</m:t>
                    </m:r>
                  </m:oMath>
                </a14:m>
                <a:endParaRPr lang="zh-TW" altLang="en-US" sz="22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66" y="1298737"/>
                <a:ext cx="7920880" cy="2130263"/>
              </a:xfrm>
              <a:prstGeom prst="rect">
                <a:avLst/>
              </a:prstGeom>
              <a:blipFill rotWithShape="1">
                <a:blip r:embed="rId2"/>
                <a:stretch>
                  <a:fillRect l="-924" t="-1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3032001"/>
            <a:ext cx="7224141" cy="54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54" y="3645024"/>
            <a:ext cx="7229246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4581128"/>
            <a:ext cx="7373619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5678822"/>
            <a:ext cx="5403122" cy="918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896124" y="5229200"/>
            <a:ext cx="2746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MV frontier: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5238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45</a:t>
            </a:fld>
            <a:endParaRPr lang="zh-TW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1"/>
          <a:stretch/>
        </p:blipFill>
        <p:spPr bwMode="auto">
          <a:xfrm>
            <a:off x="92085" y="1733796"/>
            <a:ext cx="9016419" cy="3711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571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Multi-period portfolio selection via maximizing utility function 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59286"/>
            <a:ext cx="8272264" cy="35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73102"/>
            <a:ext cx="8436248" cy="360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971600" y="3573016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>
                <a:solidFill>
                  <a:srgbClr val="FF0000"/>
                </a:solidFill>
              </a:rPr>
              <a:t>期望報酬率最大化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27584" y="5229200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 smtClean="0">
                <a:solidFill>
                  <a:srgbClr val="FF0000"/>
                </a:solidFill>
              </a:rPr>
              <a:t>變異數</a:t>
            </a:r>
            <a:r>
              <a:rPr lang="en-US" altLang="zh-TW" sz="2000" dirty="0" smtClean="0">
                <a:solidFill>
                  <a:srgbClr val="FF0000"/>
                </a:solidFill>
              </a:rPr>
              <a:t>(</a:t>
            </a:r>
            <a:r>
              <a:rPr lang="en-US" altLang="zh-TW" sz="2000" dirty="0" err="1" smtClean="0">
                <a:solidFill>
                  <a:srgbClr val="FF0000"/>
                </a:solidFill>
              </a:rPr>
              <a:t>風險</a:t>
            </a:r>
            <a:r>
              <a:rPr lang="en-US" altLang="zh-TW" sz="2000" dirty="0" smtClean="0">
                <a:solidFill>
                  <a:srgbClr val="FF0000"/>
                </a:solidFill>
              </a:rPr>
              <a:t>)</a:t>
            </a:r>
            <a:r>
              <a:rPr lang="zh-TW" altLang="en-US" sz="2000" dirty="0" smtClean="0">
                <a:solidFill>
                  <a:srgbClr val="FF0000"/>
                </a:solidFill>
              </a:rPr>
              <a:t>最小化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57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Generalized multi-period </a:t>
            </a:r>
            <a:r>
              <a:rPr lang="en-US" altLang="zh-TW" sz="2800" dirty="0"/>
              <a:t>portfolio </a:t>
            </a:r>
            <a:r>
              <a:rPr lang="en-US" altLang="zh-TW" sz="2800" dirty="0" smtClean="0"/>
              <a:t>selection problem</a:t>
            </a:r>
            <a:endParaRPr lang="zh-TW" altLang="en-US" sz="28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47</a:t>
            </a:fld>
            <a:endParaRPr lang="zh-TW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6" y="1546014"/>
            <a:ext cx="8882980" cy="14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3" y="4005064"/>
            <a:ext cx="9178317" cy="1112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70148" y="1609818"/>
            <a:ext cx="8722331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64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48</a:t>
            </a:fld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6" y="405553"/>
            <a:ext cx="8812535" cy="713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/>
              <p:cNvSpPr txBox="1"/>
              <p:nvPr/>
            </p:nvSpPr>
            <p:spPr>
              <a:xfrm>
                <a:off x="107503" y="2060848"/>
                <a:ext cx="8734517" cy="4101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dirty="0" smtClean="0"/>
                  <a:t>U is increasing function of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200" dirty="0" smtClean="0"/>
                  <a:t> </a:t>
                </a:r>
                <a:r>
                  <a:rPr lang="en-US" altLang="zh-TW" sz="2200" dirty="0" smtClean="0"/>
                  <a:t>and a decreasing function of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2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en-US" altLang="zh-TW" sz="2200" dirty="0" smtClean="0"/>
                  <a:t>the optimal solution of (U) must be on MV efficient frontier in the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200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sz="2200" b="0" i="1" smtClean="0">
                            <a:latin typeface="Cambria Math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2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200" b="0" i="1" smtClean="0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sz="2200" dirty="0" smtClean="0"/>
                  <a:t> space.</a:t>
                </a:r>
              </a:p>
              <a:p>
                <a:endParaRPr lang="en-US" altLang="zh-TW" sz="2200" dirty="0"/>
              </a:p>
              <a:p>
                <a:r>
                  <a:rPr lang="en-US" altLang="zh-TW" sz="2200" dirty="0" smtClean="0"/>
                  <a:t>From MV frontier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/>
                        </a:rPr>
                        <m:t>𝑉𝑎𝑟</m:t>
                      </m:r>
                      <m:d>
                        <m:d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200" b="0" i="1" smtClean="0">
                              <a:latin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sz="2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TW" sz="22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2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2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2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TW" sz="22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𝜇</m:t>
                                  </m:r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𝑏𝑣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TW" sz="22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2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2200" b="0" i="1" smtClean="0">
                          <a:latin typeface="Cambria Math"/>
                        </a:rPr>
                        <m:t>+</m:t>
                      </m:r>
                      <m:r>
                        <a:rPr lang="en-US" altLang="zh-TW" sz="2200" b="0" i="1" smtClean="0">
                          <a:latin typeface="Cambria Math"/>
                        </a:rPr>
                        <m:t>𝑐</m:t>
                      </m:r>
                      <m:sSubSup>
                        <m:sSubSup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2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2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2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TW" sz="2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latin typeface="Cambria Math"/>
                        </a:rPr>
                        <m:t>𝑓𝑜𝑟</m:t>
                      </m:r>
                      <m:r>
                        <a:rPr lang="en-US" altLang="zh-TW" sz="22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2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latin typeface="Cambria Math"/>
                        </a:rPr>
                        <m:t>≥</m:t>
                      </m:r>
                      <m:d>
                        <m:d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latin typeface="Cambria Math"/>
                            </a:rPr>
                            <m:t>𝜇</m:t>
                          </m:r>
                          <m:r>
                            <a:rPr lang="en-US" altLang="zh-TW" sz="22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altLang="zh-TW" sz="2200" b="0" i="1" smtClean="0">
                              <a:latin typeface="Cambria Math"/>
                            </a:rPr>
                            <m:t>𝑏𝑣</m:t>
                          </m:r>
                        </m:e>
                      </m:d>
                      <m:sSub>
                        <m:sSub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2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TW" sz="2200" dirty="0" smtClean="0"/>
              </a:p>
              <a:p>
                <a:r>
                  <a:rPr lang="en-US" altLang="zh-TW" sz="2200" dirty="0" smtClean="0"/>
                  <a:t>We know that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200" dirty="0" smtClean="0"/>
                  <a:t> is a convex function of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2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en-US" altLang="zh-TW" sz="2200" dirty="0" smtClean="0"/>
                  <a:t>supporting lines exist everywhere on the frontier.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∴</m:t>
                    </m:r>
                  </m:oMath>
                </a14:m>
                <a:r>
                  <a:rPr lang="en-US" altLang="zh-TW" sz="2200" dirty="0" smtClean="0"/>
                  <a:t>every efficient solution can be generated by auxiliary problem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sz="22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sz="2200" b="0" i="1" smtClean="0">
                                <a:latin typeface="Cambria Math"/>
                              </a:rPr>
                              <m:t>𝑤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200" dirty="0" smtClean="0"/>
                  <a:t>.</a:t>
                </a:r>
              </a:p>
              <a:p>
                <a:endParaRPr lang="zh-TW" altLang="en-US" sz="22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" y="2060848"/>
                <a:ext cx="8734517" cy="4101444"/>
              </a:xfrm>
              <a:prstGeom prst="rect">
                <a:avLst/>
              </a:prstGeom>
              <a:blipFill rotWithShape="1">
                <a:blip r:embed="rId3"/>
                <a:stretch>
                  <a:fillRect l="-908" t="-8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/>
          <p:cNvSpPr txBox="1"/>
          <p:nvPr/>
        </p:nvSpPr>
        <p:spPr>
          <a:xfrm>
            <a:off x="367301" y="1163370"/>
            <a:ext cx="8136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可從</a:t>
            </a:r>
            <a:r>
              <a:rPr lang="en-US" altLang="zh-TW" sz="2400" dirty="0" err="1" smtClean="0"/>
              <a:t>problem</a:t>
            </a:r>
            <a:r>
              <a:rPr lang="en-US" altLang="zh-TW" sz="2400" dirty="0" smtClean="0"/>
              <a:t> (E(w)</a:t>
            </a:r>
            <a:r>
              <a:rPr lang="en-US" altLang="zh-TW" sz="2400" dirty="0" err="1" smtClean="0"/>
              <a:t>得到</a:t>
            </a:r>
            <a:r>
              <a:rPr lang="en-US" altLang="zh-TW" sz="2400" dirty="0" smtClean="0"/>
              <a:t> problem (U) </a:t>
            </a:r>
            <a:r>
              <a:rPr lang="en-US" altLang="zh-TW" sz="2400" dirty="0" err="1" smtClean="0"/>
              <a:t>的最佳解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22462" y="298379"/>
            <a:ext cx="8553993" cy="1296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13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49</a:t>
            </a:fld>
            <a:endParaRPr lang="zh-TW" alt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2" y="116632"/>
            <a:ext cx="8951810" cy="2790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402330" y="3140968"/>
                <a:ext cx="8490149" cy="3351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Pf:</a:t>
                </a:r>
              </a:p>
              <a:p>
                <a:r>
                  <a:rPr lang="en-US" altLang="zh-TW" sz="2400" dirty="0"/>
                  <a:t> The efﬁcient frontier in the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4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space can be parameterized </a:t>
                </a:r>
                <a:r>
                  <a:rPr lang="en-US" altLang="zh-TW" sz="2400" dirty="0" smtClean="0"/>
                  <a:t>by the </a:t>
                </a:r>
                <a:r>
                  <a:rPr lang="en-US" altLang="zh-TW" sz="2400" dirty="0"/>
                  <a:t>coefﬁcient w. </a:t>
                </a:r>
                <a:endParaRPr lang="en-US" altLang="zh-TW" sz="2400" dirty="0" smtClean="0"/>
              </a:p>
              <a:p>
                <a:pPr marL="285750" indent="-285750">
                  <a:buFont typeface="Symbol"/>
                  <a:buChar char="Þ"/>
                </a:pPr>
                <a:r>
                  <a:rPr lang="en-US" altLang="zh-TW" sz="2400" dirty="0" smtClean="0"/>
                  <a:t>each </a:t>
                </a:r>
                <a:r>
                  <a:rPr lang="en-US" altLang="zh-TW" sz="2400" dirty="0"/>
                  <a:t>point on the efﬁcient frontier can be </a:t>
                </a:r>
                <a:r>
                  <a:rPr lang="en-US" altLang="zh-TW" sz="2400" dirty="0" smtClean="0"/>
                  <a:t>represented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𝑤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)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/>
                          </a:rPr>
                          <m:t>, </m:t>
                        </m:r>
                        <m:r>
                          <a:rPr lang="en-US" altLang="zh-TW" sz="2400" b="0" i="1" smtClean="0">
                            <a:latin typeface="Cambria Math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𝑤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endParaRPr lang="en-US" altLang="zh-TW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∵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𝑈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⊆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2400" b="0" i="1" smtClean="0">
                              <a:latin typeface="Cambria Math"/>
                            </a:rPr>
                            <m:t>𝑤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≥0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</m:e>
                      </m:nary>
                      <m:r>
                        <a:rPr lang="en-US" altLang="zh-TW" sz="2400" b="0" i="1" smtClean="0">
                          <a:latin typeface="Cambria Math"/>
                        </a:rPr>
                        <m:t>∴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𝑡h𝑒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𝑒𝑞𝑢𝑖𝑣𝑎𝑙𝑒𝑛𝑡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𝑓𝑜𝑟𝑚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𝑜𝑓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𝑈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:</m:t>
                      </m:r>
                    </m:oMath>
                  </m:oMathPara>
                </a14:m>
                <a:endParaRPr lang="en-US" altLang="zh-TW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𝑤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≥0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𝑤</m:t>
                                  </m:r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𝑤</m:t>
                                  </m:r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400" dirty="0" smtClean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0" y="3140968"/>
                <a:ext cx="8490149" cy="3351302"/>
              </a:xfrm>
              <a:prstGeom prst="rect">
                <a:avLst/>
              </a:prstGeom>
              <a:blipFill rotWithShape="1">
                <a:blip r:embed="rId3"/>
                <a:stretch>
                  <a:fillRect l="-1149" t="-1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39579" y="2259093"/>
            <a:ext cx="8752901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81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50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79512" y="1484784"/>
                <a:ext cx="8784976" cy="38329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 smtClean="0"/>
                  <a:t>1</a:t>
                </a:r>
                <a:r>
                  <a:rPr lang="en-US" altLang="zh-TW" sz="2400" baseline="30000" dirty="0"/>
                  <a:t>st</a:t>
                </a:r>
                <a:r>
                  <a:rPr lang="en-US" altLang="zh-TW" sz="2400" dirty="0"/>
                  <a:t> condition for optimal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altLang="zh-TW" sz="24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TW" sz="2400" i="1">
                        <a:latin typeface="Cambria Math"/>
                      </a:rPr>
                      <m:t>&gt;0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den>
                      </m:f>
                      <m:r>
                        <a:rPr lang="en-US" altLang="zh-TW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400" i="1">
                              <a:latin typeface="Cambria Math"/>
                            </a:rPr>
                            <m:t>𝑉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TW" sz="24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𝑉𝑎𝑟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den>
                      </m:f>
                      <m:r>
                        <a:rPr lang="en-US" altLang="zh-TW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𝑖𝑓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𝐸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(</m:t>
                    </m:r>
                    <m:r>
                      <a:rPr lang="en-US" altLang="zh-TW" sz="2400" b="0" i="1" smtClean="0">
                        <a:latin typeface="Cambria Math"/>
                      </a:rPr>
                      <m:t>𝑤</m:t>
                    </m:r>
                    <m:r>
                      <a:rPr lang="en-US" altLang="zh-TW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400" dirty="0" smtClean="0"/>
                  <a:t>, from (Reid and Citron (71)):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i="1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altLang="zh-TW" sz="2400" i="1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∗</m:t>
                          </m:r>
                        </m:sup>
                      </m:sSup>
                      <m:f>
                        <m:f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𝑉𝑎𝑟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/>
                                </a:rPr>
                                <m:t>𝑇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/>
                            </a:rPr>
                            <m:t>𝑤</m:t>
                          </m:r>
                        </m:den>
                      </m:f>
                      <m:r>
                        <a:rPr lang="en-US" altLang="zh-TW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𝐸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TW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𝑉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𝑖𝑠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𝑝𝑟𝑜𝑝𝑜𝑟𝑡𝑖𝑜𝑛𝑎𝑙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𝑡𝑜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1, −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⇒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/>
                        </a:rPr>
                        <m:t>=−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𝑉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𝜋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/>
                                    </a:rPr>
                                    <m:t>𝐸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endParaRPr lang="zh-TW" altLang="en-US" sz="24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484784"/>
                <a:ext cx="8784976" cy="3832972"/>
              </a:xfrm>
              <a:prstGeom prst="rect">
                <a:avLst/>
              </a:prstGeom>
              <a:blipFill rotWithShape="1">
                <a:blip r:embed="rId2"/>
                <a:stretch>
                  <a:fillRect l="-1040" t="-1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84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51</a:t>
            </a:fld>
            <a:endParaRPr lang="zh-TW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3407"/>
            <a:ext cx="8963593" cy="1935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4" y="2852936"/>
            <a:ext cx="8952917" cy="406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19091" y="302514"/>
            <a:ext cx="8752901" cy="1470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02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52</a:t>
            </a:fld>
            <a:endParaRPr lang="zh-TW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884001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444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500E-3D02-4427-B514-133FF011095C}" type="slidenum">
              <a:rPr lang="zh-TW" altLang="en-US" smtClean="0"/>
              <a:t>53</a:t>
            </a:fld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68492"/>
            <a:ext cx="4695187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539552" y="1382276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Same conditions as above example</a:t>
            </a:r>
            <a:endParaRPr lang="zh-TW" altLang="en-US" sz="20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71" y="2492896"/>
            <a:ext cx="7143089" cy="981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690" y="3519460"/>
            <a:ext cx="6126569" cy="3221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687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442758" y="431515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 dirty="0" smtClean="0"/>
              <a:t>Thank you!!</a:t>
            </a:r>
            <a:endParaRPr lang="zh-TW" altLang="en-US" sz="9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2D449-FE15-4C98-AE90-32963C8A7493}" type="slidenum">
              <a:rPr lang="zh-TW" altLang="en-US" smtClean="0"/>
              <a:t>54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204864"/>
            <a:ext cx="3967379" cy="396737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1" t="25400"/>
          <a:stretch/>
        </p:blipFill>
        <p:spPr>
          <a:xfrm>
            <a:off x="4427984" y="2569651"/>
            <a:ext cx="3744416" cy="360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0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3323</Words>
  <Application>Microsoft Office PowerPoint</Application>
  <PresentationFormat>如螢幕大小 (4:3)</PresentationFormat>
  <Paragraphs>372</Paragraphs>
  <Slides>54</Slides>
  <Notes>0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3</vt:i4>
      </vt:variant>
      <vt:variant>
        <vt:lpstr>投影片標題</vt:lpstr>
      </vt:variant>
      <vt:variant>
        <vt:i4>54</vt:i4>
      </vt:variant>
    </vt:vector>
  </HeadingPairs>
  <TitlesOfParts>
    <vt:vector size="58" baseType="lpstr">
      <vt:lpstr>Office 佈景主題</vt:lpstr>
      <vt:lpstr>方程式</vt:lpstr>
      <vt:lpstr>Equation</vt:lpstr>
      <vt:lpstr>文件</vt:lpstr>
      <vt:lpstr>Optimal Dynamic Portfolio Selection: Multiperiod Mean-Variance Formulation</vt:lpstr>
      <vt:lpstr>Abstract</vt:lpstr>
      <vt:lpstr>Lagrange multiplier</vt:lpstr>
      <vt:lpstr>Portfolio return</vt:lpstr>
      <vt:lpstr>Covariance matrix Σ</vt:lpstr>
      <vt:lpstr>PowerPoint 簡報</vt:lpstr>
      <vt:lpstr>Portfolio risk (standard deviation)</vt:lpstr>
      <vt:lpstr>Correlation of the assets</vt:lpstr>
      <vt:lpstr>PowerPoint 簡報</vt:lpstr>
      <vt:lpstr>PowerPoint 簡報</vt:lpstr>
      <vt:lpstr>PowerPoint 簡報</vt:lpstr>
      <vt:lpstr>Mean-Variance model (single period)</vt:lpstr>
      <vt:lpstr>Efficient frontier</vt:lpstr>
      <vt:lpstr>Mean-variance model (multi-period)</vt:lpstr>
      <vt:lpstr>PowerPoint 簡報</vt:lpstr>
      <vt:lpstr>Multi-period MV model  (maximize return)</vt:lpstr>
      <vt:lpstr>Multi-period MV model  (minimize risk)</vt:lpstr>
      <vt:lpstr>Multi-period MV model  (combination)</vt:lpstr>
      <vt:lpstr>Covariance matrix</vt:lpstr>
      <vt:lpstr>PowerPoint 簡報</vt:lpstr>
      <vt:lpstr>Multi-period portfolio policy</vt:lpstr>
      <vt:lpstr>Analytic solution</vt:lpstr>
      <vt:lpstr>PowerPoint 簡報</vt:lpstr>
      <vt:lpstr>PowerPoint 簡報</vt:lpstr>
      <vt:lpstr>PowerPoint 簡報</vt:lpstr>
      <vt:lpstr>Analytic form of efficient frontier</vt:lpstr>
      <vt:lpstr>Example</vt:lpstr>
      <vt:lpstr>PowerPoint 簡報</vt:lpstr>
      <vt:lpstr>PowerPoint 簡報</vt:lpstr>
      <vt:lpstr>Derivation</vt:lpstr>
      <vt:lpstr>PowerPoint 簡報</vt:lpstr>
      <vt:lpstr>Convex function, 1st condition</vt:lpstr>
      <vt:lpstr>PowerPoint 簡報</vt:lpstr>
      <vt:lpstr>PowerPoint 簡報</vt:lpstr>
      <vt:lpstr>PowerPoint 簡報</vt:lpstr>
      <vt:lpstr>PowerPoint 簡報</vt:lpstr>
      <vt:lpstr>PowerPoint 簡報</vt:lpstr>
      <vt:lpstr>Investment with one riskless asset</vt:lpstr>
      <vt:lpstr>PowerPoint 簡報</vt:lpstr>
      <vt:lpstr>PowerPoint 簡報</vt:lpstr>
      <vt:lpstr>PowerPoint 簡報</vt:lpstr>
      <vt:lpstr>PowerPoint 簡報</vt:lpstr>
      <vt:lpstr>PowerPoint 簡報</vt:lpstr>
      <vt:lpstr>Example</vt:lpstr>
      <vt:lpstr>PowerPoint 簡報</vt:lpstr>
      <vt:lpstr>Multi-period portfolio selection via maximizing utility function </vt:lpstr>
      <vt:lpstr>Generalized multi-period portfolio selection problem</vt:lpstr>
      <vt:lpstr>PowerPoint 簡報</vt:lpstr>
      <vt:lpstr>PowerPoint 簡報</vt:lpstr>
      <vt:lpstr>PowerPoint 簡報</vt:lpstr>
      <vt:lpstr>PowerPoint 簡報</vt:lpstr>
      <vt:lpstr>PowerPoint 簡報</vt:lpstr>
      <vt:lpstr>Example</vt:lpstr>
      <vt:lpstr>PowerPoint 簡報</vt:lpstr>
    </vt:vector>
  </TitlesOfParts>
  <Company>comstar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DYNAMIC PORTFOLIO SELECTION: MULTIPERIOD MEAN-VARIANCE FORMULATION</dc:title>
  <dc:creator>chenhh</dc:creator>
  <cp:lastModifiedBy>chenhh</cp:lastModifiedBy>
  <cp:revision>295</cp:revision>
  <dcterms:created xsi:type="dcterms:W3CDTF">2012-10-16T07:45:01Z</dcterms:created>
  <dcterms:modified xsi:type="dcterms:W3CDTF">2012-10-23T10:51:57Z</dcterms:modified>
</cp:coreProperties>
</file>