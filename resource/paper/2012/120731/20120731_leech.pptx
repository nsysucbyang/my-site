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9" r:id="rId3"/>
    <p:sldId id="258" r:id="rId4"/>
    <p:sldId id="260" r:id="rId5"/>
    <p:sldId id="261" r:id="rId6"/>
    <p:sldId id="270" r:id="rId7"/>
    <p:sldId id="263" r:id="rId8"/>
    <p:sldId id="262" r:id="rId9"/>
    <p:sldId id="264" r:id="rId10"/>
    <p:sldId id="265" r:id="rId11"/>
    <p:sldId id="266" r:id="rId12"/>
    <p:sldId id="267" r:id="rId13"/>
    <p:sldId id="268" r:id="rId14"/>
  </p:sldIdLst>
  <p:sldSz cx="9144000" cy="6858000" type="screen4x3"/>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無樣式、無格線">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73A0DAA-6AF3-43AB-8588-CEC1D06C72B9}" styleName="中等深淺樣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8" d="100"/>
          <a:sy n="88" d="100"/>
        </p:scale>
        <p:origin x="-1123" y="-7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2130425"/>
            <a:ext cx="7772400" cy="1470025"/>
          </a:xfrm>
        </p:spPr>
        <p:txBody>
          <a:bodyPr/>
          <a:lstStyle/>
          <a:p>
            <a:r>
              <a:rPr lang="zh-TW" altLang="en-US" smtClean="0"/>
              <a:t>按一下以編輯母片標題樣式</a:t>
            </a:r>
            <a:endParaRPr lang="zh-TW" altLang="en-US"/>
          </a:p>
        </p:txBody>
      </p:sp>
      <p:sp>
        <p:nvSpPr>
          <p:cNvPr id="3" name="副標題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TW" altLang="en-US" smtClean="0"/>
              <a:t>按一下以編輯母片副標題樣式</a:t>
            </a:r>
            <a:endParaRPr lang="zh-TW" altLang="en-US"/>
          </a:p>
        </p:txBody>
      </p:sp>
      <p:sp>
        <p:nvSpPr>
          <p:cNvPr id="4" name="日期版面配置區 3"/>
          <p:cNvSpPr>
            <a:spLocks noGrp="1"/>
          </p:cNvSpPr>
          <p:nvPr>
            <p:ph type="dt" sz="half" idx="10"/>
          </p:nvPr>
        </p:nvSpPr>
        <p:spPr/>
        <p:txBody>
          <a:bodyPr/>
          <a:lstStyle/>
          <a:p>
            <a:fld id="{9E92BF08-628A-4D97-AD68-3636D2D418AD}" type="datetimeFigureOut">
              <a:rPr lang="zh-TW" altLang="en-US" smtClean="0"/>
              <a:t>2012/7/31</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185328E6-59E3-4BCE-9E98-8E8238F9AB72}" type="slidenum">
              <a:rPr lang="zh-TW" altLang="en-US" smtClean="0"/>
              <a:t>‹#›</a:t>
            </a:fld>
            <a:endParaRPr lang="zh-TW" altLang="en-US"/>
          </a:p>
        </p:txBody>
      </p:sp>
    </p:spTree>
    <p:extLst>
      <p:ext uri="{BB962C8B-B14F-4D97-AF65-F5344CB8AC3E}">
        <p14:creationId xmlns:p14="http://schemas.microsoft.com/office/powerpoint/2010/main" val="12438712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idx="1"/>
          </p:nvPr>
        </p:nvSpPr>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9E92BF08-628A-4D97-AD68-3636D2D418AD}" type="datetimeFigureOut">
              <a:rPr lang="zh-TW" altLang="en-US" smtClean="0"/>
              <a:t>2012/7/31</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185328E6-59E3-4BCE-9E98-8E8238F9AB72}" type="slidenum">
              <a:rPr lang="zh-TW" altLang="en-US" smtClean="0"/>
              <a:t>‹#›</a:t>
            </a:fld>
            <a:endParaRPr lang="zh-TW" altLang="en-US"/>
          </a:p>
        </p:txBody>
      </p:sp>
    </p:spTree>
    <p:extLst>
      <p:ext uri="{BB962C8B-B14F-4D97-AF65-F5344CB8AC3E}">
        <p14:creationId xmlns:p14="http://schemas.microsoft.com/office/powerpoint/2010/main" val="20007413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0"/>
            <a:ext cx="7772400" cy="1362075"/>
          </a:xfrm>
        </p:spPr>
        <p:txBody>
          <a:bodyPr anchor="t"/>
          <a:lstStyle>
            <a:lvl1pPr algn="l">
              <a:defRPr sz="4000" b="1" cap="all"/>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smtClean="0"/>
              <a:t>按一下以編輯母片文字樣式</a:t>
            </a:r>
          </a:p>
        </p:txBody>
      </p:sp>
      <p:sp>
        <p:nvSpPr>
          <p:cNvPr id="4" name="日期版面配置區 3"/>
          <p:cNvSpPr>
            <a:spLocks noGrp="1"/>
          </p:cNvSpPr>
          <p:nvPr>
            <p:ph type="dt" sz="half" idx="10"/>
          </p:nvPr>
        </p:nvSpPr>
        <p:spPr/>
        <p:txBody>
          <a:bodyPr/>
          <a:lstStyle/>
          <a:p>
            <a:fld id="{9E92BF08-628A-4D97-AD68-3636D2D418AD}" type="datetimeFigureOut">
              <a:rPr lang="zh-TW" altLang="en-US" smtClean="0"/>
              <a:t>2012/7/31</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185328E6-59E3-4BCE-9E98-8E8238F9AB72}" type="slidenum">
              <a:rPr lang="zh-TW" altLang="en-US" smtClean="0"/>
              <a:t>‹#›</a:t>
            </a:fld>
            <a:endParaRPr lang="zh-TW" altLang="en-US"/>
          </a:p>
        </p:txBody>
      </p:sp>
    </p:spTree>
    <p:extLst>
      <p:ext uri="{BB962C8B-B14F-4D97-AF65-F5344CB8AC3E}">
        <p14:creationId xmlns:p14="http://schemas.microsoft.com/office/powerpoint/2010/main" val="28632908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內容版面配置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日期版面配置區 4"/>
          <p:cNvSpPr>
            <a:spLocks noGrp="1"/>
          </p:cNvSpPr>
          <p:nvPr>
            <p:ph type="dt" sz="half" idx="10"/>
          </p:nvPr>
        </p:nvSpPr>
        <p:spPr/>
        <p:txBody>
          <a:bodyPr/>
          <a:lstStyle/>
          <a:p>
            <a:fld id="{9E92BF08-628A-4D97-AD68-3636D2D418AD}" type="datetimeFigureOut">
              <a:rPr lang="zh-TW" altLang="en-US" smtClean="0"/>
              <a:t>2012/7/31</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185328E6-59E3-4BCE-9E98-8E8238F9AB72}" type="slidenum">
              <a:rPr lang="zh-TW" altLang="en-US" smtClean="0"/>
              <a:t>‹#›</a:t>
            </a:fld>
            <a:endParaRPr lang="zh-TW" altLang="en-US"/>
          </a:p>
        </p:txBody>
      </p:sp>
    </p:spTree>
    <p:extLst>
      <p:ext uri="{BB962C8B-B14F-4D97-AF65-F5344CB8AC3E}">
        <p14:creationId xmlns:p14="http://schemas.microsoft.com/office/powerpoint/2010/main" val="35289431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lvl1pPr>
              <a:defRPr/>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4" name="內容版面配置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文字版面配置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6" name="內容版面配置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7" name="日期版面配置區 6"/>
          <p:cNvSpPr>
            <a:spLocks noGrp="1"/>
          </p:cNvSpPr>
          <p:nvPr>
            <p:ph type="dt" sz="half" idx="10"/>
          </p:nvPr>
        </p:nvSpPr>
        <p:spPr/>
        <p:txBody>
          <a:bodyPr/>
          <a:lstStyle/>
          <a:p>
            <a:fld id="{9E92BF08-628A-4D97-AD68-3636D2D418AD}" type="datetimeFigureOut">
              <a:rPr lang="zh-TW" altLang="en-US" smtClean="0"/>
              <a:t>2012/7/31</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185328E6-59E3-4BCE-9E98-8E8238F9AB72}" type="slidenum">
              <a:rPr lang="zh-TW" altLang="en-US" smtClean="0"/>
              <a:t>‹#›</a:t>
            </a:fld>
            <a:endParaRPr lang="zh-TW" altLang="en-US"/>
          </a:p>
        </p:txBody>
      </p:sp>
    </p:spTree>
    <p:extLst>
      <p:ext uri="{BB962C8B-B14F-4D97-AF65-F5344CB8AC3E}">
        <p14:creationId xmlns:p14="http://schemas.microsoft.com/office/powerpoint/2010/main" val="20112787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日期版面配置區 2"/>
          <p:cNvSpPr>
            <a:spLocks noGrp="1"/>
          </p:cNvSpPr>
          <p:nvPr>
            <p:ph type="dt" sz="half" idx="10"/>
          </p:nvPr>
        </p:nvSpPr>
        <p:spPr/>
        <p:txBody>
          <a:bodyPr/>
          <a:lstStyle/>
          <a:p>
            <a:fld id="{9E92BF08-628A-4D97-AD68-3636D2D418AD}" type="datetimeFigureOut">
              <a:rPr lang="zh-TW" altLang="en-US" smtClean="0"/>
              <a:t>2012/7/31</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185328E6-59E3-4BCE-9E98-8E8238F9AB72}" type="slidenum">
              <a:rPr lang="zh-TW" altLang="en-US" smtClean="0"/>
              <a:t>‹#›</a:t>
            </a:fld>
            <a:endParaRPr lang="zh-TW" altLang="en-US"/>
          </a:p>
        </p:txBody>
      </p:sp>
    </p:spTree>
    <p:extLst>
      <p:ext uri="{BB962C8B-B14F-4D97-AF65-F5344CB8AC3E}">
        <p14:creationId xmlns:p14="http://schemas.microsoft.com/office/powerpoint/2010/main" val="26245749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9E92BF08-628A-4D97-AD68-3636D2D418AD}" type="datetimeFigureOut">
              <a:rPr lang="zh-TW" altLang="en-US" smtClean="0"/>
              <a:t>2012/7/31</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185328E6-59E3-4BCE-9E98-8E8238F9AB72}" type="slidenum">
              <a:rPr lang="zh-TW" altLang="en-US" smtClean="0"/>
              <a:t>‹#›</a:t>
            </a:fld>
            <a:endParaRPr lang="zh-TW" altLang="en-US"/>
          </a:p>
        </p:txBody>
      </p:sp>
    </p:spTree>
    <p:extLst>
      <p:ext uri="{BB962C8B-B14F-4D97-AF65-F5344CB8AC3E}">
        <p14:creationId xmlns:p14="http://schemas.microsoft.com/office/powerpoint/2010/main" val="14113756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050"/>
            <a:ext cx="3008313" cy="1162050"/>
          </a:xfrm>
        </p:spPr>
        <p:txBody>
          <a:bodyPr anchor="b"/>
          <a:lstStyle>
            <a:lvl1pPr algn="l">
              <a:defRPr sz="2000" b="1"/>
            </a:lvl1pPr>
          </a:lstStyle>
          <a:p>
            <a:r>
              <a:rPr lang="zh-TW" altLang="en-US" smtClean="0"/>
              <a:t>按一下以編輯母片標題樣式</a:t>
            </a:r>
            <a:endParaRPr lang="zh-TW" altLang="en-US"/>
          </a:p>
        </p:txBody>
      </p:sp>
      <p:sp>
        <p:nvSpPr>
          <p:cNvPr id="3" name="內容版面配置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文字版面配置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9E92BF08-628A-4D97-AD68-3636D2D418AD}" type="datetimeFigureOut">
              <a:rPr lang="zh-TW" altLang="en-US" smtClean="0"/>
              <a:t>2012/7/31</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185328E6-59E3-4BCE-9E98-8E8238F9AB72}" type="slidenum">
              <a:rPr lang="zh-TW" altLang="en-US" smtClean="0"/>
              <a:t>‹#›</a:t>
            </a:fld>
            <a:endParaRPr lang="zh-TW" altLang="en-US"/>
          </a:p>
        </p:txBody>
      </p:sp>
    </p:spTree>
    <p:extLst>
      <p:ext uri="{BB962C8B-B14F-4D97-AF65-F5344CB8AC3E}">
        <p14:creationId xmlns:p14="http://schemas.microsoft.com/office/powerpoint/2010/main" val="30890052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4800600"/>
            <a:ext cx="5486400" cy="566738"/>
          </a:xfrm>
        </p:spPr>
        <p:txBody>
          <a:bodyPr anchor="b"/>
          <a:lstStyle>
            <a:lvl1pPr algn="l">
              <a:defRPr sz="2000" b="1"/>
            </a:lvl1pPr>
          </a:lstStyle>
          <a:p>
            <a:r>
              <a:rPr lang="zh-TW" altLang="en-US" smtClean="0"/>
              <a:t>按一下以編輯母片標題樣式</a:t>
            </a:r>
            <a:endParaRPr lang="zh-TW" altLang="en-US"/>
          </a:p>
        </p:txBody>
      </p:sp>
      <p:sp>
        <p:nvSpPr>
          <p:cNvPr id="3" name="圖片版面配置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9E92BF08-628A-4D97-AD68-3636D2D418AD}" type="datetimeFigureOut">
              <a:rPr lang="zh-TW" altLang="en-US" smtClean="0"/>
              <a:t>2012/7/31</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185328E6-59E3-4BCE-9E98-8E8238F9AB72}" type="slidenum">
              <a:rPr lang="zh-TW" altLang="en-US" smtClean="0"/>
              <a:t>‹#›</a:t>
            </a:fld>
            <a:endParaRPr lang="zh-TW" altLang="en-US"/>
          </a:p>
        </p:txBody>
      </p:sp>
    </p:spTree>
    <p:extLst>
      <p:ext uri="{BB962C8B-B14F-4D97-AF65-F5344CB8AC3E}">
        <p14:creationId xmlns:p14="http://schemas.microsoft.com/office/powerpoint/2010/main" val="15797441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9E92BF08-628A-4D97-AD68-3636D2D418AD}" type="datetimeFigureOut">
              <a:rPr lang="zh-TW" altLang="en-US" smtClean="0"/>
              <a:t>2012/7/31</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185328E6-59E3-4BCE-9E98-8E8238F9AB72}" type="slidenum">
              <a:rPr lang="zh-TW" altLang="en-US" smtClean="0"/>
              <a:t>‹#›</a:t>
            </a:fld>
            <a:endParaRPr lang="zh-TW" altLang="en-US"/>
          </a:p>
        </p:txBody>
      </p:sp>
    </p:spTree>
    <p:extLst>
      <p:ext uri="{BB962C8B-B14F-4D97-AF65-F5344CB8AC3E}">
        <p14:creationId xmlns:p14="http://schemas.microsoft.com/office/powerpoint/2010/main" val="26691634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629400" y="274638"/>
            <a:ext cx="2057400" cy="5851525"/>
          </a:xfrm>
        </p:spPr>
        <p:txBody>
          <a:bodyPr vert="eaVert"/>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a:xfrm>
            <a:off x="457200" y="274638"/>
            <a:ext cx="6019800" cy="5851525"/>
          </a:xfrm>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9E92BF08-628A-4D97-AD68-3636D2D418AD}" type="datetimeFigureOut">
              <a:rPr lang="zh-TW" altLang="en-US" smtClean="0"/>
              <a:t>2012/7/31</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185328E6-59E3-4BCE-9E98-8E8238F9AB72}" type="slidenum">
              <a:rPr lang="zh-TW" altLang="en-US" smtClean="0"/>
              <a:t>‹#›</a:t>
            </a:fld>
            <a:endParaRPr lang="zh-TW" altLang="en-US"/>
          </a:p>
        </p:txBody>
      </p:sp>
    </p:spTree>
    <p:extLst>
      <p:ext uri="{BB962C8B-B14F-4D97-AF65-F5344CB8AC3E}">
        <p14:creationId xmlns:p14="http://schemas.microsoft.com/office/powerpoint/2010/main" val="3019916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E92BF08-628A-4D97-AD68-3636D2D418AD}" type="datetimeFigureOut">
              <a:rPr lang="zh-TW" altLang="en-US" smtClean="0"/>
              <a:t>2012/7/31</a:t>
            </a:fld>
            <a:endParaRPr lang="zh-TW" altLang="en-US"/>
          </a:p>
        </p:txBody>
      </p:sp>
      <p:sp>
        <p:nvSpPr>
          <p:cNvPr id="5" name="頁尾版面配置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85328E6-59E3-4BCE-9E98-8E8238F9AB72}" type="slidenum">
              <a:rPr lang="zh-TW" altLang="en-US" smtClean="0"/>
              <a:t>‹#›</a:t>
            </a:fld>
            <a:endParaRPr lang="zh-TW" altLang="en-US"/>
          </a:p>
        </p:txBody>
      </p:sp>
    </p:spTree>
    <p:extLst>
      <p:ext uri="{BB962C8B-B14F-4D97-AF65-F5344CB8AC3E}">
        <p14:creationId xmlns:p14="http://schemas.microsoft.com/office/powerpoint/2010/main" val="395816956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p:txBody>
          <a:bodyPr>
            <a:normAutofit fontScale="90000"/>
          </a:bodyPr>
          <a:lstStyle/>
          <a:p>
            <a:r>
              <a:rPr lang="en-US" altLang="zh-TW" dirty="0" err="1" smtClean="0"/>
              <a:t>Memetic</a:t>
            </a:r>
            <a:r>
              <a:rPr lang="en-US" altLang="zh-TW" dirty="0" smtClean="0"/>
              <a:t> programming with adaptive local search using tree data structures</a:t>
            </a:r>
            <a:endParaRPr lang="zh-TW" altLang="en-US" dirty="0"/>
          </a:p>
        </p:txBody>
      </p:sp>
      <p:sp>
        <p:nvSpPr>
          <p:cNvPr id="3" name="副標題 2"/>
          <p:cNvSpPr>
            <a:spLocks noGrp="1"/>
          </p:cNvSpPr>
          <p:nvPr>
            <p:ph type="subTitle" idx="1"/>
          </p:nvPr>
        </p:nvSpPr>
        <p:spPr>
          <a:xfrm>
            <a:off x="827584" y="3886200"/>
            <a:ext cx="7776864" cy="1198984"/>
          </a:xfrm>
        </p:spPr>
        <p:txBody>
          <a:bodyPr>
            <a:normAutofit/>
          </a:bodyPr>
          <a:lstStyle/>
          <a:p>
            <a:pPr algn="l"/>
            <a:r>
              <a:rPr lang="en-US" altLang="zh-TW" sz="2000" dirty="0" smtClean="0"/>
              <a:t>CSTST '08 Proceedings of the 5th international conference on Soft computing as </a:t>
            </a:r>
            <a:r>
              <a:rPr lang="en-US" altLang="zh-TW" sz="2000" dirty="0" err="1" smtClean="0"/>
              <a:t>transdisciplinary</a:t>
            </a:r>
            <a:r>
              <a:rPr lang="en-US" altLang="zh-TW" sz="2000" dirty="0" smtClean="0"/>
              <a:t> science and technology, pages 258-264 </a:t>
            </a:r>
            <a:endParaRPr lang="zh-TW" altLang="en-US" sz="2000" dirty="0"/>
          </a:p>
        </p:txBody>
      </p:sp>
      <p:sp>
        <p:nvSpPr>
          <p:cNvPr id="4" name="文字方塊 3"/>
          <p:cNvSpPr txBox="1"/>
          <p:nvPr/>
        </p:nvSpPr>
        <p:spPr>
          <a:xfrm>
            <a:off x="4788024" y="4941168"/>
            <a:ext cx="3384376" cy="646331"/>
          </a:xfrm>
          <a:prstGeom prst="rect">
            <a:avLst/>
          </a:prstGeom>
          <a:noFill/>
        </p:spPr>
        <p:txBody>
          <a:bodyPr wrap="square" rtlCol="0">
            <a:spAutoFit/>
          </a:bodyPr>
          <a:lstStyle/>
          <a:p>
            <a:r>
              <a:rPr lang="en-US" altLang="zh-TW" dirty="0" smtClean="0"/>
              <a:t>Presenter : Cheng-Han Lee</a:t>
            </a:r>
          </a:p>
          <a:p>
            <a:r>
              <a:rPr lang="en-US" altLang="zh-TW" dirty="0" smtClean="0"/>
              <a:t>Date : 2012/07/31</a:t>
            </a:r>
            <a:endParaRPr lang="zh-TW" altLang="en-US" dirty="0"/>
          </a:p>
        </p:txBody>
      </p:sp>
    </p:spTree>
    <p:extLst>
      <p:ext uri="{BB962C8B-B14F-4D97-AF65-F5344CB8AC3E}">
        <p14:creationId xmlns:p14="http://schemas.microsoft.com/office/powerpoint/2010/main" val="15861735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Abstract</a:t>
            </a:r>
            <a:endParaRPr lang="zh-TW" altLang="en-US" dirty="0"/>
          </a:p>
        </p:txBody>
      </p:sp>
      <p:sp>
        <p:nvSpPr>
          <p:cNvPr id="3" name="內容版面配置區 2"/>
          <p:cNvSpPr>
            <a:spLocks noGrp="1"/>
          </p:cNvSpPr>
          <p:nvPr>
            <p:ph idx="1"/>
          </p:nvPr>
        </p:nvSpPr>
        <p:spPr/>
        <p:txBody>
          <a:bodyPr>
            <a:normAutofit fontScale="77500" lnSpcReduction="20000"/>
          </a:bodyPr>
          <a:lstStyle/>
          <a:p>
            <a:r>
              <a:rPr lang="en-US" altLang="zh-TW" dirty="0" smtClean="0"/>
              <a:t>Meta-heuristics are general frameworks of heuristics methods for solving combinatorial optimization problems, where exploring the exact solutions for these problems becomes very hard due to some limitations like extremely large running time. In this paper, new local searches over tree space are defined. Using these local searches, various meta-heuristics can be generalized to deal with tree data structures to introduce a more general framework of meta-heuristics called Meta-Heuristics Programming (MHP) as general machine learning tools. As an alternative to Genetic Programming (GP) algorithm, </a:t>
            </a:r>
            <a:r>
              <a:rPr lang="en-US" altLang="zh-TW" dirty="0" err="1" smtClean="0"/>
              <a:t>Memetic</a:t>
            </a:r>
            <a:r>
              <a:rPr lang="en-US" altLang="zh-TW" dirty="0" smtClean="0"/>
              <a:t> Programming (MP) algorithm is proposed as a new outcome of the MHP framework. The efficiency of the proposed MP Algorithm is examined through comparative numerical experiments.</a:t>
            </a:r>
            <a:endParaRPr lang="zh-TW" altLang="en-US" dirty="0"/>
          </a:p>
        </p:txBody>
      </p:sp>
    </p:spTree>
    <p:extLst>
      <p:ext uri="{BB962C8B-B14F-4D97-AF65-F5344CB8AC3E}">
        <p14:creationId xmlns:p14="http://schemas.microsoft.com/office/powerpoint/2010/main" val="33822137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err="1" smtClean="0"/>
              <a:t>Memetic</a:t>
            </a:r>
            <a:r>
              <a:rPr lang="en-US" altLang="zh-TW" dirty="0" smtClean="0"/>
              <a:t> algorithms(MA)</a:t>
            </a:r>
            <a:endParaRPr lang="zh-TW" altLang="en-US" dirty="0"/>
          </a:p>
        </p:txBody>
      </p:sp>
      <p:sp>
        <p:nvSpPr>
          <p:cNvPr id="3" name="內容版面配置區 2"/>
          <p:cNvSpPr>
            <a:spLocks noGrp="1"/>
          </p:cNvSpPr>
          <p:nvPr>
            <p:ph idx="1"/>
          </p:nvPr>
        </p:nvSpPr>
        <p:spPr/>
        <p:txBody>
          <a:bodyPr/>
          <a:lstStyle/>
          <a:p>
            <a:r>
              <a:rPr lang="en-US" altLang="zh-TW" dirty="0" smtClean="0"/>
              <a:t>Meme(</a:t>
            </a:r>
            <a:r>
              <a:rPr lang="zh-TW" altLang="en-US" dirty="0" smtClean="0"/>
              <a:t>文化基因</a:t>
            </a:r>
            <a:r>
              <a:rPr lang="en-US" altLang="zh-TW" dirty="0" smtClean="0"/>
              <a:t>)</a:t>
            </a:r>
          </a:p>
          <a:p>
            <a:endParaRPr lang="en-US" altLang="zh-TW" dirty="0" smtClean="0"/>
          </a:p>
          <a:p>
            <a:r>
              <a:rPr lang="en-US" altLang="zh-TW" dirty="0" smtClean="0"/>
              <a:t>The term “</a:t>
            </a:r>
            <a:r>
              <a:rPr lang="en-US" altLang="zh-TW" dirty="0" err="1" smtClean="0"/>
              <a:t>Memetic</a:t>
            </a:r>
            <a:r>
              <a:rPr lang="en-US" altLang="zh-TW" dirty="0" smtClean="0"/>
              <a:t> Algorithm” (MA) was first introduced by </a:t>
            </a:r>
            <a:r>
              <a:rPr lang="en-US" altLang="zh-TW" dirty="0" err="1" smtClean="0"/>
              <a:t>Moscato</a:t>
            </a:r>
            <a:r>
              <a:rPr lang="en-US" altLang="zh-TW" dirty="0" smtClean="0"/>
              <a:t> in his technical report in 1989.</a:t>
            </a:r>
          </a:p>
          <a:p>
            <a:endParaRPr lang="en-US" altLang="zh-TW" dirty="0"/>
          </a:p>
          <a:p>
            <a:r>
              <a:rPr lang="en-US" altLang="zh-TW" dirty="0" smtClean="0"/>
              <a:t>It </a:t>
            </a:r>
            <a:r>
              <a:rPr lang="en-US" altLang="zh-TW" dirty="0" smtClean="0"/>
              <a:t>combines </a:t>
            </a:r>
            <a:r>
              <a:rPr lang="en-US" altLang="zh-TW" dirty="0" smtClean="0"/>
              <a:t>global search and local search</a:t>
            </a:r>
            <a:endParaRPr lang="zh-TW" altLang="en-US" dirty="0" smtClean="0"/>
          </a:p>
          <a:p>
            <a:endParaRPr lang="zh-TW" altLang="en-US" dirty="0"/>
          </a:p>
        </p:txBody>
      </p:sp>
    </p:spTree>
    <p:extLst>
      <p:ext uri="{BB962C8B-B14F-4D97-AF65-F5344CB8AC3E}">
        <p14:creationId xmlns:p14="http://schemas.microsoft.com/office/powerpoint/2010/main" val="21194368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Pseudo code</a:t>
            </a:r>
            <a:endParaRPr lang="zh-TW" altLang="en-US" dirty="0"/>
          </a:p>
        </p:txBody>
      </p:sp>
      <p:sp>
        <p:nvSpPr>
          <p:cNvPr id="3" name="內容版面配置區 2"/>
          <p:cNvSpPr>
            <a:spLocks noGrp="1"/>
          </p:cNvSpPr>
          <p:nvPr>
            <p:ph idx="1"/>
          </p:nvPr>
        </p:nvSpPr>
        <p:spPr/>
        <p:txBody>
          <a:bodyPr>
            <a:normAutofit/>
          </a:bodyPr>
          <a:lstStyle/>
          <a:p>
            <a:pPr marL="0" indent="0">
              <a:buNone/>
            </a:pPr>
            <a:r>
              <a:rPr lang="en-US" altLang="zh-TW" b="1" dirty="0" smtClean="0"/>
              <a:t>Initialize: </a:t>
            </a:r>
            <a:r>
              <a:rPr lang="en-US" altLang="zh-TW" dirty="0" smtClean="0"/>
              <a:t>Population</a:t>
            </a:r>
          </a:p>
          <a:p>
            <a:pPr marL="0" indent="0">
              <a:buNone/>
            </a:pPr>
            <a:r>
              <a:rPr lang="en-US" altLang="zh-TW" b="1" dirty="0" smtClean="0"/>
              <a:t>while</a:t>
            </a:r>
            <a:r>
              <a:rPr lang="en-US" altLang="zh-TW" dirty="0" smtClean="0"/>
              <a:t> Stopping conditions are not satisfied </a:t>
            </a:r>
            <a:r>
              <a:rPr lang="en-US" altLang="zh-TW" b="1" dirty="0" smtClean="0"/>
              <a:t>do</a:t>
            </a:r>
          </a:p>
          <a:p>
            <a:pPr marL="0" indent="0">
              <a:buNone/>
            </a:pPr>
            <a:r>
              <a:rPr lang="en-US" altLang="zh-TW" dirty="0" smtClean="0"/>
              <a:t>	Evaluate fitness function</a:t>
            </a:r>
          </a:p>
          <a:p>
            <a:pPr marL="0" indent="0">
              <a:buNone/>
            </a:pPr>
            <a:r>
              <a:rPr lang="en-US" altLang="zh-TW" dirty="0" smtClean="0"/>
              <a:t>	Evolve a new population</a:t>
            </a:r>
          </a:p>
          <a:p>
            <a:pPr marL="0" indent="0">
              <a:buNone/>
            </a:pPr>
            <a:r>
              <a:rPr lang="en-US" altLang="zh-TW" dirty="0" smtClean="0"/>
              <a:t> 	Local search</a:t>
            </a:r>
          </a:p>
          <a:p>
            <a:pPr marL="0" indent="0">
              <a:buNone/>
            </a:pPr>
            <a:r>
              <a:rPr lang="en-US" altLang="zh-TW" b="1" dirty="0" smtClean="0"/>
              <a:t>end while</a:t>
            </a:r>
          </a:p>
        </p:txBody>
      </p:sp>
    </p:spTree>
    <p:extLst>
      <p:ext uri="{BB962C8B-B14F-4D97-AF65-F5344CB8AC3E}">
        <p14:creationId xmlns:p14="http://schemas.microsoft.com/office/powerpoint/2010/main" val="24903195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dirty="0" smtClean="0"/>
              <a:t>Example : Solving MAX Clique</a:t>
            </a:r>
            <a:endParaRPr lang="zh-TW" altLang="en-US" dirty="0"/>
          </a:p>
        </p:txBody>
      </p:sp>
      <p:sp>
        <p:nvSpPr>
          <p:cNvPr id="3" name="內容版面配置區 2"/>
          <p:cNvSpPr>
            <a:spLocks noGrp="1"/>
          </p:cNvSpPr>
          <p:nvPr>
            <p:ph idx="1"/>
          </p:nvPr>
        </p:nvSpPr>
        <p:spPr>
          <a:xfrm>
            <a:off x="457200" y="1600200"/>
            <a:ext cx="8003232" cy="4525963"/>
          </a:xfrm>
        </p:spPr>
        <p:txBody>
          <a:bodyPr>
            <a:normAutofit/>
          </a:bodyPr>
          <a:lstStyle/>
          <a:p>
            <a:r>
              <a:rPr lang="en-US" altLang="zh-TW" dirty="0" smtClean="0"/>
              <a:t>Coding</a:t>
            </a:r>
          </a:p>
          <a:p>
            <a:pPr marL="0" indent="0">
              <a:buNone/>
            </a:pPr>
            <a:r>
              <a:rPr lang="en-US" altLang="zh-TW" dirty="0" smtClean="0"/>
              <a:t>	 a b c d e f</a:t>
            </a:r>
            <a:endParaRPr lang="en-US" altLang="zh-TW" dirty="0"/>
          </a:p>
          <a:p>
            <a:pPr marL="0" indent="0">
              <a:buNone/>
            </a:pPr>
            <a:r>
              <a:rPr lang="en-US" altLang="zh-TW" dirty="0" smtClean="0"/>
              <a:t>	[0 1 1 1 0 0]</a:t>
            </a:r>
          </a:p>
          <a:p>
            <a:r>
              <a:rPr lang="en-US" altLang="zh-TW" dirty="0" smtClean="0"/>
              <a:t>Crossover</a:t>
            </a:r>
          </a:p>
          <a:p>
            <a:pPr marL="457200" lvl="1" indent="0">
              <a:buNone/>
            </a:pPr>
            <a:r>
              <a:rPr lang="en-US" altLang="zh-TW" dirty="0" smtClean="0"/>
              <a:t>	 [0 1 1 | 1 0 0]	 [0 1 1 0 1 1]</a:t>
            </a:r>
          </a:p>
          <a:p>
            <a:pPr marL="457200" lvl="1" indent="0">
              <a:buNone/>
            </a:pPr>
            <a:r>
              <a:rPr lang="en-US" altLang="zh-TW" dirty="0" smtClean="0"/>
              <a:t>	 [1 0 1 | 0 1 1]	 [1 0 1 1 0 0]</a:t>
            </a:r>
            <a:endParaRPr lang="en-US" altLang="zh-TW" dirty="0" smtClean="0"/>
          </a:p>
          <a:p>
            <a:r>
              <a:rPr lang="en-US" altLang="zh-TW" dirty="0" smtClean="0"/>
              <a:t>Mutation</a:t>
            </a:r>
          </a:p>
          <a:p>
            <a:pPr marL="914400" lvl="2" indent="0">
              <a:buNone/>
            </a:pPr>
            <a:r>
              <a:rPr lang="en-US" altLang="zh-TW" sz="2800" dirty="0" smtClean="0"/>
              <a:t> [0 1 1 | 1 </a:t>
            </a:r>
            <a:r>
              <a:rPr lang="en-US" altLang="zh-TW" sz="2800" dirty="0" smtClean="0">
                <a:solidFill>
                  <a:srgbClr val="FF0000"/>
                </a:solidFill>
              </a:rPr>
              <a:t>0</a:t>
            </a:r>
            <a:r>
              <a:rPr lang="en-US" altLang="zh-TW" sz="2800" dirty="0" smtClean="0"/>
              <a:t> 0]	  [0 1 1 | 1 </a:t>
            </a:r>
            <a:r>
              <a:rPr lang="en-US" altLang="zh-TW" sz="2800" dirty="0" smtClean="0">
                <a:solidFill>
                  <a:srgbClr val="FF0000"/>
                </a:solidFill>
              </a:rPr>
              <a:t>1</a:t>
            </a:r>
            <a:r>
              <a:rPr lang="en-US" altLang="zh-TW" sz="2800" dirty="0" smtClean="0"/>
              <a:t> 0]</a:t>
            </a:r>
            <a:endParaRPr lang="zh-TW" altLang="en-US" sz="2800" dirty="0"/>
          </a:p>
        </p:txBody>
      </p:sp>
      <p:sp>
        <p:nvSpPr>
          <p:cNvPr id="6" name="文字方塊 5"/>
          <p:cNvSpPr txBox="1"/>
          <p:nvPr/>
        </p:nvSpPr>
        <p:spPr>
          <a:xfrm>
            <a:off x="6948264" y="1700808"/>
            <a:ext cx="1512168" cy="369332"/>
          </a:xfrm>
          <a:prstGeom prst="rect">
            <a:avLst/>
          </a:prstGeom>
          <a:noFill/>
        </p:spPr>
        <p:txBody>
          <a:bodyPr wrap="square" rtlCol="0">
            <a:spAutoFit/>
          </a:bodyPr>
          <a:lstStyle/>
          <a:p>
            <a:endParaRPr lang="zh-TW" altLang="en-US" dirty="0"/>
          </a:p>
        </p:txBody>
      </p:sp>
      <p:sp>
        <p:nvSpPr>
          <p:cNvPr id="9" name="橢圓 8"/>
          <p:cNvSpPr/>
          <p:nvPr/>
        </p:nvSpPr>
        <p:spPr>
          <a:xfrm>
            <a:off x="4572000" y="2070140"/>
            <a:ext cx="360040" cy="35074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 name="文字方塊 10"/>
          <p:cNvSpPr txBox="1"/>
          <p:nvPr/>
        </p:nvSpPr>
        <p:spPr>
          <a:xfrm>
            <a:off x="4644008" y="2060848"/>
            <a:ext cx="144016" cy="369332"/>
          </a:xfrm>
          <a:prstGeom prst="rect">
            <a:avLst/>
          </a:prstGeom>
          <a:noFill/>
        </p:spPr>
        <p:txBody>
          <a:bodyPr wrap="square" rtlCol="0">
            <a:spAutoFit/>
          </a:bodyPr>
          <a:lstStyle/>
          <a:p>
            <a:r>
              <a:rPr lang="en-US" altLang="zh-TW" dirty="0"/>
              <a:t>a</a:t>
            </a:r>
            <a:endParaRPr lang="zh-TW" altLang="en-US" dirty="0"/>
          </a:p>
        </p:txBody>
      </p:sp>
      <p:sp>
        <p:nvSpPr>
          <p:cNvPr id="12" name="橢圓 11"/>
          <p:cNvSpPr/>
          <p:nvPr/>
        </p:nvSpPr>
        <p:spPr>
          <a:xfrm>
            <a:off x="5289403" y="2646204"/>
            <a:ext cx="360040" cy="35074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3" name="文字方塊 12"/>
          <p:cNvSpPr txBox="1"/>
          <p:nvPr/>
        </p:nvSpPr>
        <p:spPr>
          <a:xfrm>
            <a:off x="5361411" y="2636912"/>
            <a:ext cx="144016" cy="369332"/>
          </a:xfrm>
          <a:prstGeom prst="rect">
            <a:avLst/>
          </a:prstGeom>
          <a:noFill/>
        </p:spPr>
        <p:txBody>
          <a:bodyPr wrap="square" rtlCol="0">
            <a:spAutoFit/>
          </a:bodyPr>
          <a:lstStyle/>
          <a:p>
            <a:r>
              <a:rPr lang="en-US" altLang="zh-TW" dirty="0" smtClean="0"/>
              <a:t>b</a:t>
            </a:r>
            <a:endParaRPr lang="zh-TW" altLang="en-US" dirty="0"/>
          </a:p>
        </p:txBody>
      </p:sp>
      <p:sp>
        <p:nvSpPr>
          <p:cNvPr id="14" name="橢圓 13"/>
          <p:cNvSpPr/>
          <p:nvPr/>
        </p:nvSpPr>
        <p:spPr>
          <a:xfrm>
            <a:off x="5390408" y="1844352"/>
            <a:ext cx="360040" cy="35074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5" name="文字方塊 14"/>
          <p:cNvSpPr txBox="1"/>
          <p:nvPr/>
        </p:nvSpPr>
        <p:spPr>
          <a:xfrm>
            <a:off x="5462416" y="1835060"/>
            <a:ext cx="144016" cy="369332"/>
          </a:xfrm>
          <a:prstGeom prst="rect">
            <a:avLst/>
          </a:prstGeom>
          <a:noFill/>
        </p:spPr>
        <p:txBody>
          <a:bodyPr wrap="square" rtlCol="0">
            <a:spAutoFit/>
          </a:bodyPr>
          <a:lstStyle/>
          <a:p>
            <a:r>
              <a:rPr lang="en-US" altLang="zh-TW" dirty="0" smtClean="0"/>
              <a:t>c</a:t>
            </a:r>
            <a:endParaRPr lang="zh-TW" altLang="en-US" dirty="0"/>
          </a:p>
        </p:txBody>
      </p:sp>
      <p:sp>
        <p:nvSpPr>
          <p:cNvPr id="16" name="橢圓 15"/>
          <p:cNvSpPr/>
          <p:nvPr/>
        </p:nvSpPr>
        <p:spPr>
          <a:xfrm>
            <a:off x="6156176" y="2397914"/>
            <a:ext cx="360040" cy="35074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7" name="文字方塊 16"/>
          <p:cNvSpPr txBox="1"/>
          <p:nvPr/>
        </p:nvSpPr>
        <p:spPr>
          <a:xfrm>
            <a:off x="6228184" y="2388622"/>
            <a:ext cx="144016" cy="369332"/>
          </a:xfrm>
          <a:prstGeom prst="rect">
            <a:avLst/>
          </a:prstGeom>
          <a:noFill/>
        </p:spPr>
        <p:txBody>
          <a:bodyPr wrap="square" rtlCol="0">
            <a:spAutoFit/>
          </a:bodyPr>
          <a:lstStyle/>
          <a:p>
            <a:r>
              <a:rPr lang="en-US" altLang="zh-TW" dirty="0" smtClean="0"/>
              <a:t>d</a:t>
            </a:r>
            <a:endParaRPr lang="zh-TW" altLang="en-US" dirty="0"/>
          </a:p>
        </p:txBody>
      </p:sp>
      <p:sp>
        <p:nvSpPr>
          <p:cNvPr id="18" name="橢圓 17"/>
          <p:cNvSpPr/>
          <p:nvPr/>
        </p:nvSpPr>
        <p:spPr>
          <a:xfrm>
            <a:off x="6876256" y="1834165"/>
            <a:ext cx="360040" cy="35074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9" name="文字方塊 18"/>
          <p:cNvSpPr txBox="1"/>
          <p:nvPr/>
        </p:nvSpPr>
        <p:spPr>
          <a:xfrm>
            <a:off x="6948264" y="1824873"/>
            <a:ext cx="144016" cy="369332"/>
          </a:xfrm>
          <a:prstGeom prst="rect">
            <a:avLst/>
          </a:prstGeom>
          <a:noFill/>
        </p:spPr>
        <p:txBody>
          <a:bodyPr wrap="square" rtlCol="0">
            <a:spAutoFit/>
          </a:bodyPr>
          <a:lstStyle/>
          <a:p>
            <a:r>
              <a:rPr lang="en-US" altLang="zh-TW" dirty="0" smtClean="0"/>
              <a:t>e</a:t>
            </a:r>
            <a:endParaRPr lang="zh-TW" altLang="en-US" dirty="0"/>
          </a:p>
        </p:txBody>
      </p:sp>
      <p:sp>
        <p:nvSpPr>
          <p:cNvPr id="20" name="橢圓 19"/>
          <p:cNvSpPr/>
          <p:nvPr/>
        </p:nvSpPr>
        <p:spPr>
          <a:xfrm>
            <a:off x="7208908" y="2830870"/>
            <a:ext cx="360040" cy="35074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1" name="文字方塊 20"/>
          <p:cNvSpPr txBox="1"/>
          <p:nvPr/>
        </p:nvSpPr>
        <p:spPr>
          <a:xfrm>
            <a:off x="7280916" y="2821578"/>
            <a:ext cx="144016" cy="369332"/>
          </a:xfrm>
          <a:prstGeom prst="rect">
            <a:avLst/>
          </a:prstGeom>
          <a:noFill/>
        </p:spPr>
        <p:txBody>
          <a:bodyPr wrap="square" rtlCol="0">
            <a:spAutoFit/>
          </a:bodyPr>
          <a:lstStyle/>
          <a:p>
            <a:r>
              <a:rPr lang="en-US" altLang="zh-TW" dirty="0" smtClean="0"/>
              <a:t>f</a:t>
            </a:r>
            <a:endParaRPr lang="zh-TW" altLang="en-US" dirty="0"/>
          </a:p>
        </p:txBody>
      </p:sp>
      <p:cxnSp>
        <p:nvCxnSpPr>
          <p:cNvPr id="25" name="直線接點 24"/>
          <p:cNvCxnSpPr>
            <a:stCxn id="9" idx="4"/>
            <a:endCxn id="12" idx="2"/>
          </p:cNvCxnSpPr>
          <p:nvPr/>
        </p:nvCxnSpPr>
        <p:spPr>
          <a:xfrm>
            <a:off x="4752020" y="2420888"/>
            <a:ext cx="537383" cy="400690"/>
          </a:xfrm>
          <a:prstGeom prst="line">
            <a:avLst/>
          </a:prstGeom>
        </p:spPr>
        <p:style>
          <a:lnRef idx="1">
            <a:schemeClr val="accent1"/>
          </a:lnRef>
          <a:fillRef idx="0">
            <a:schemeClr val="accent1"/>
          </a:fillRef>
          <a:effectRef idx="0">
            <a:schemeClr val="accent1"/>
          </a:effectRef>
          <a:fontRef idx="minor">
            <a:schemeClr val="tx1"/>
          </a:fontRef>
        </p:style>
      </p:cxnSp>
      <p:cxnSp>
        <p:nvCxnSpPr>
          <p:cNvPr id="27" name="直線接點 26"/>
          <p:cNvCxnSpPr>
            <a:stCxn id="9" idx="0"/>
            <a:endCxn id="14" idx="2"/>
          </p:cNvCxnSpPr>
          <p:nvPr/>
        </p:nvCxnSpPr>
        <p:spPr>
          <a:xfrm flipV="1">
            <a:off x="4752020" y="2019726"/>
            <a:ext cx="638388" cy="50414"/>
          </a:xfrm>
          <a:prstGeom prst="line">
            <a:avLst/>
          </a:prstGeom>
        </p:spPr>
        <p:style>
          <a:lnRef idx="1">
            <a:schemeClr val="accent1"/>
          </a:lnRef>
          <a:fillRef idx="0">
            <a:schemeClr val="accent1"/>
          </a:fillRef>
          <a:effectRef idx="0">
            <a:schemeClr val="accent1"/>
          </a:effectRef>
          <a:fontRef idx="minor">
            <a:schemeClr val="tx1"/>
          </a:fontRef>
        </p:style>
      </p:cxnSp>
      <p:cxnSp>
        <p:nvCxnSpPr>
          <p:cNvPr id="29" name="直線接點 28"/>
          <p:cNvCxnSpPr>
            <a:stCxn id="14" idx="4"/>
            <a:endCxn id="12" idx="0"/>
          </p:cNvCxnSpPr>
          <p:nvPr/>
        </p:nvCxnSpPr>
        <p:spPr>
          <a:xfrm flipH="1">
            <a:off x="5469423" y="2195100"/>
            <a:ext cx="101005" cy="451104"/>
          </a:xfrm>
          <a:prstGeom prst="line">
            <a:avLst/>
          </a:prstGeom>
        </p:spPr>
        <p:style>
          <a:lnRef idx="1">
            <a:schemeClr val="accent1"/>
          </a:lnRef>
          <a:fillRef idx="0">
            <a:schemeClr val="accent1"/>
          </a:fillRef>
          <a:effectRef idx="0">
            <a:schemeClr val="accent1"/>
          </a:effectRef>
          <a:fontRef idx="minor">
            <a:schemeClr val="tx1"/>
          </a:fontRef>
        </p:style>
      </p:cxnSp>
      <p:cxnSp>
        <p:nvCxnSpPr>
          <p:cNvPr id="33" name="直線接點 32"/>
          <p:cNvCxnSpPr>
            <a:stCxn id="14" idx="5"/>
            <a:endCxn id="16" idx="1"/>
          </p:cNvCxnSpPr>
          <p:nvPr/>
        </p:nvCxnSpPr>
        <p:spPr>
          <a:xfrm>
            <a:off x="5697721" y="2143734"/>
            <a:ext cx="511182" cy="305546"/>
          </a:xfrm>
          <a:prstGeom prst="line">
            <a:avLst/>
          </a:prstGeom>
        </p:spPr>
        <p:style>
          <a:lnRef idx="1">
            <a:schemeClr val="accent1"/>
          </a:lnRef>
          <a:fillRef idx="0">
            <a:schemeClr val="accent1"/>
          </a:fillRef>
          <a:effectRef idx="0">
            <a:schemeClr val="accent1"/>
          </a:effectRef>
          <a:fontRef idx="minor">
            <a:schemeClr val="tx1"/>
          </a:fontRef>
        </p:style>
      </p:cxnSp>
      <p:cxnSp>
        <p:nvCxnSpPr>
          <p:cNvPr id="35" name="直線接點 34"/>
          <p:cNvCxnSpPr>
            <a:stCxn id="14" idx="6"/>
            <a:endCxn id="18" idx="2"/>
          </p:cNvCxnSpPr>
          <p:nvPr/>
        </p:nvCxnSpPr>
        <p:spPr>
          <a:xfrm flipV="1">
            <a:off x="5750448" y="2009539"/>
            <a:ext cx="1125808" cy="10187"/>
          </a:xfrm>
          <a:prstGeom prst="line">
            <a:avLst/>
          </a:prstGeom>
        </p:spPr>
        <p:style>
          <a:lnRef idx="1">
            <a:schemeClr val="accent1"/>
          </a:lnRef>
          <a:fillRef idx="0">
            <a:schemeClr val="accent1"/>
          </a:fillRef>
          <a:effectRef idx="0">
            <a:schemeClr val="accent1"/>
          </a:effectRef>
          <a:fontRef idx="minor">
            <a:schemeClr val="tx1"/>
          </a:fontRef>
        </p:style>
      </p:cxnSp>
      <p:cxnSp>
        <p:nvCxnSpPr>
          <p:cNvPr id="40" name="直線接點 39"/>
          <p:cNvCxnSpPr>
            <a:stCxn id="18" idx="5"/>
            <a:endCxn id="20" idx="0"/>
          </p:cNvCxnSpPr>
          <p:nvPr/>
        </p:nvCxnSpPr>
        <p:spPr>
          <a:xfrm>
            <a:off x="7183569" y="2133547"/>
            <a:ext cx="205359" cy="697323"/>
          </a:xfrm>
          <a:prstGeom prst="line">
            <a:avLst/>
          </a:prstGeom>
        </p:spPr>
        <p:style>
          <a:lnRef idx="1">
            <a:schemeClr val="accent1"/>
          </a:lnRef>
          <a:fillRef idx="0">
            <a:schemeClr val="accent1"/>
          </a:fillRef>
          <a:effectRef idx="0">
            <a:schemeClr val="accent1"/>
          </a:effectRef>
          <a:fontRef idx="minor">
            <a:schemeClr val="tx1"/>
          </a:fontRef>
        </p:style>
      </p:cxnSp>
      <p:cxnSp>
        <p:nvCxnSpPr>
          <p:cNvPr id="43" name="直線接點 42"/>
          <p:cNvCxnSpPr>
            <a:stCxn id="16" idx="5"/>
            <a:endCxn id="20" idx="2"/>
          </p:cNvCxnSpPr>
          <p:nvPr/>
        </p:nvCxnSpPr>
        <p:spPr>
          <a:xfrm>
            <a:off x="6463489" y="2697296"/>
            <a:ext cx="745419" cy="308948"/>
          </a:xfrm>
          <a:prstGeom prst="line">
            <a:avLst/>
          </a:prstGeom>
        </p:spPr>
        <p:style>
          <a:lnRef idx="1">
            <a:schemeClr val="accent1"/>
          </a:lnRef>
          <a:fillRef idx="0">
            <a:schemeClr val="accent1"/>
          </a:fillRef>
          <a:effectRef idx="0">
            <a:schemeClr val="accent1"/>
          </a:effectRef>
          <a:fontRef idx="minor">
            <a:schemeClr val="tx1"/>
          </a:fontRef>
        </p:style>
      </p:cxnSp>
      <p:cxnSp>
        <p:nvCxnSpPr>
          <p:cNvPr id="45" name="直線接點 44"/>
          <p:cNvCxnSpPr>
            <a:stCxn id="18" idx="3"/>
            <a:endCxn id="16" idx="7"/>
          </p:cNvCxnSpPr>
          <p:nvPr/>
        </p:nvCxnSpPr>
        <p:spPr>
          <a:xfrm flipH="1">
            <a:off x="6463489" y="2133547"/>
            <a:ext cx="465494" cy="315733"/>
          </a:xfrm>
          <a:prstGeom prst="line">
            <a:avLst/>
          </a:prstGeom>
        </p:spPr>
        <p:style>
          <a:lnRef idx="1">
            <a:schemeClr val="accent1"/>
          </a:lnRef>
          <a:fillRef idx="0">
            <a:schemeClr val="accent1"/>
          </a:fillRef>
          <a:effectRef idx="0">
            <a:schemeClr val="accent1"/>
          </a:effectRef>
          <a:fontRef idx="minor">
            <a:schemeClr val="tx1"/>
          </a:fontRef>
        </p:style>
      </p:cxnSp>
      <p:cxnSp>
        <p:nvCxnSpPr>
          <p:cNvPr id="47" name="直線接點 46"/>
          <p:cNvCxnSpPr>
            <a:stCxn id="16" idx="3"/>
            <a:endCxn id="12" idx="6"/>
          </p:cNvCxnSpPr>
          <p:nvPr/>
        </p:nvCxnSpPr>
        <p:spPr>
          <a:xfrm flipH="1">
            <a:off x="5649443" y="2697296"/>
            <a:ext cx="559460" cy="124282"/>
          </a:xfrm>
          <a:prstGeom prst="line">
            <a:avLst/>
          </a:prstGeom>
        </p:spPr>
        <p:style>
          <a:lnRef idx="1">
            <a:schemeClr val="accent1"/>
          </a:lnRef>
          <a:fillRef idx="0">
            <a:schemeClr val="accent1"/>
          </a:fillRef>
          <a:effectRef idx="0">
            <a:schemeClr val="accent1"/>
          </a:effectRef>
          <a:fontRef idx="minor">
            <a:schemeClr val="tx1"/>
          </a:fontRef>
        </p:style>
      </p:cxnSp>
      <p:cxnSp>
        <p:nvCxnSpPr>
          <p:cNvPr id="49" name="直線接點 48"/>
          <p:cNvCxnSpPr>
            <a:stCxn id="9" idx="6"/>
            <a:endCxn id="16" idx="2"/>
          </p:cNvCxnSpPr>
          <p:nvPr/>
        </p:nvCxnSpPr>
        <p:spPr>
          <a:xfrm>
            <a:off x="4932040" y="2245514"/>
            <a:ext cx="1224136" cy="327774"/>
          </a:xfrm>
          <a:prstGeom prst="line">
            <a:avLst/>
          </a:prstGeom>
        </p:spPr>
        <p:style>
          <a:lnRef idx="1">
            <a:schemeClr val="accent1"/>
          </a:lnRef>
          <a:fillRef idx="0">
            <a:schemeClr val="accent1"/>
          </a:fillRef>
          <a:effectRef idx="0">
            <a:schemeClr val="accent1"/>
          </a:effectRef>
          <a:fontRef idx="minor">
            <a:schemeClr val="tx1"/>
          </a:fontRef>
        </p:style>
      </p:cxnSp>
      <p:sp>
        <p:nvSpPr>
          <p:cNvPr id="51" name="橢圓 50"/>
          <p:cNvSpPr/>
          <p:nvPr/>
        </p:nvSpPr>
        <p:spPr>
          <a:xfrm>
            <a:off x="5071214" y="1556792"/>
            <a:ext cx="1625022" cy="18002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2" name="向右箭號 51"/>
          <p:cNvSpPr/>
          <p:nvPr/>
        </p:nvSpPr>
        <p:spPr>
          <a:xfrm>
            <a:off x="3707904" y="4388488"/>
            <a:ext cx="432048" cy="2880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56" name="直線接點 55"/>
          <p:cNvCxnSpPr/>
          <p:nvPr/>
        </p:nvCxnSpPr>
        <p:spPr>
          <a:xfrm flipV="1">
            <a:off x="2051720" y="4388488"/>
            <a:ext cx="792088" cy="144016"/>
          </a:xfrm>
          <a:prstGeom prst="line">
            <a:avLst/>
          </a:prstGeom>
        </p:spPr>
        <p:style>
          <a:lnRef idx="1">
            <a:schemeClr val="accent1"/>
          </a:lnRef>
          <a:fillRef idx="0">
            <a:schemeClr val="accent1"/>
          </a:fillRef>
          <a:effectRef idx="0">
            <a:schemeClr val="accent1"/>
          </a:effectRef>
          <a:fontRef idx="minor">
            <a:schemeClr val="tx1"/>
          </a:fontRef>
        </p:style>
      </p:cxnSp>
      <p:cxnSp>
        <p:nvCxnSpPr>
          <p:cNvPr id="58" name="直線接點 57"/>
          <p:cNvCxnSpPr/>
          <p:nvPr/>
        </p:nvCxnSpPr>
        <p:spPr>
          <a:xfrm>
            <a:off x="2051720" y="4388488"/>
            <a:ext cx="792088" cy="144016"/>
          </a:xfrm>
          <a:prstGeom prst="line">
            <a:avLst/>
          </a:prstGeom>
        </p:spPr>
        <p:style>
          <a:lnRef idx="1">
            <a:schemeClr val="accent1"/>
          </a:lnRef>
          <a:fillRef idx="0">
            <a:schemeClr val="accent1"/>
          </a:fillRef>
          <a:effectRef idx="0">
            <a:schemeClr val="accent1"/>
          </a:effectRef>
          <a:fontRef idx="minor">
            <a:schemeClr val="tx1"/>
          </a:fontRef>
        </p:style>
      </p:cxnSp>
      <p:sp>
        <p:nvSpPr>
          <p:cNvPr id="59" name="向右箭號 58"/>
          <p:cNvSpPr/>
          <p:nvPr/>
        </p:nvSpPr>
        <p:spPr>
          <a:xfrm>
            <a:off x="3707904" y="5661248"/>
            <a:ext cx="432048" cy="2880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2913680638"/>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Example : Solving MAX Clique</a:t>
            </a:r>
            <a:endParaRPr lang="zh-TW" altLang="en-US" dirty="0"/>
          </a:p>
        </p:txBody>
      </p:sp>
      <p:sp>
        <p:nvSpPr>
          <p:cNvPr id="3" name="內容版面配置區 2"/>
          <p:cNvSpPr>
            <a:spLocks noGrp="1"/>
          </p:cNvSpPr>
          <p:nvPr>
            <p:ph idx="1"/>
          </p:nvPr>
        </p:nvSpPr>
        <p:spPr/>
        <p:txBody>
          <a:bodyPr/>
          <a:lstStyle/>
          <a:p>
            <a:r>
              <a:rPr lang="en-US" altLang="zh-TW" dirty="0" smtClean="0"/>
              <a:t>Local Search</a:t>
            </a:r>
          </a:p>
          <a:p>
            <a:pPr lvl="1"/>
            <a:r>
              <a:rPr lang="en-US" altLang="zh-TW" dirty="0" smtClean="0"/>
              <a:t>Add neighbor nodes </a:t>
            </a:r>
          </a:p>
          <a:p>
            <a:pPr lvl="1"/>
            <a:endParaRPr lang="en-US" altLang="zh-TW" dirty="0" smtClean="0"/>
          </a:p>
          <a:p>
            <a:pPr lvl="1"/>
            <a:endParaRPr lang="en-US" altLang="zh-TW" dirty="0" smtClean="0"/>
          </a:p>
          <a:p>
            <a:pPr lvl="1"/>
            <a:endParaRPr lang="en-US" altLang="zh-TW" dirty="0" smtClean="0"/>
          </a:p>
          <a:p>
            <a:pPr lvl="1"/>
            <a:r>
              <a:rPr lang="en-US" altLang="zh-TW" dirty="0"/>
              <a:t>o</a:t>
            </a:r>
            <a:r>
              <a:rPr lang="en-US" altLang="zh-TW" dirty="0" smtClean="0"/>
              <a:t>r Remove nodes without any connection</a:t>
            </a:r>
          </a:p>
          <a:p>
            <a:pPr lvl="1"/>
            <a:endParaRPr lang="en-US" altLang="zh-TW" dirty="0" smtClean="0"/>
          </a:p>
          <a:p>
            <a:pPr lvl="1"/>
            <a:endParaRPr lang="zh-TW" altLang="en-US" dirty="0"/>
          </a:p>
        </p:txBody>
      </p:sp>
      <p:sp>
        <p:nvSpPr>
          <p:cNvPr id="27" name="橢圓 26"/>
          <p:cNvSpPr/>
          <p:nvPr/>
        </p:nvSpPr>
        <p:spPr>
          <a:xfrm>
            <a:off x="1017288" y="3085771"/>
            <a:ext cx="360040" cy="35074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8" name="文字方塊 27"/>
          <p:cNvSpPr txBox="1"/>
          <p:nvPr/>
        </p:nvSpPr>
        <p:spPr>
          <a:xfrm>
            <a:off x="1089296" y="3076479"/>
            <a:ext cx="144016" cy="369332"/>
          </a:xfrm>
          <a:prstGeom prst="rect">
            <a:avLst/>
          </a:prstGeom>
          <a:noFill/>
        </p:spPr>
        <p:txBody>
          <a:bodyPr wrap="square" rtlCol="0">
            <a:spAutoFit/>
          </a:bodyPr>
          <a:lstStyle/>
          <a:p>
            <a:r>
              <a:rPr lang="en-US" altLang="zh-TW" dirty="0"/>
              <a:t>a</a:t>
            </a:r>
            <a:endParaRPr lang="zh-TW" altLang="en-US" dirty="0"/>
          </a:p>
        </p:txBody>
      </p:sp>
      <p:sp>
        <p:nvSpPr>
          <p:cNvPr id="29" name="橢圓 28"/>
          <p:cNvSpPr/>
          <p:nvPr/>
        </p:nvSpPr>
        <p:spPr>
          <a:xfrm>
            <a:off x="1734691" y="3661835"/>
            <a:ext cx="360040" cy="35074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0" name="文字方塊 29"/>
          <p:cNvSpPr txBox="1"/>
          <p:nvPr/>
        </p:nvSpPr>
        <p:spPr>
          <a:xfrm>
            <a:off x="1806699" y="3652543"/>
            <a:ext cx="144016" cy="369332"/>
          </a:xfrm>
          <a:prstGeom prst="rect">
            <a:avLst/>
          </a:prstGeom>
          <a:noFill/>
        </p:spPr>
        <p:txBody>
          <a:bodyPr wrap="square" rtlCol="0">
            <a:spAutoFit/>
          </a:bodyPr>
          <a:lstStyle/>
          <a:p>
            <a:r>
              <a:rPr lang="en-US" altLang="zh-TW" dirty="0" smtClean="0"/>
              <a:t>b</a:t>
            </a:r>
            <a:endParaRPr lang="zh-TW" altLang="en-US" dirty="0"/>
          </a:p>
        </p:txBody>
      </p:sp>
      <p:sp>
        <p:nvSpPr>
          <p:cNvPr id="31" name="橢圓 30"/>
          <p:cNvSpPr/>
          <p:nvPr/>
        </p:nvSpPr>
        <p:spPr>
          <a:xfrm>
            <a:off x="1835696" y="2859983"/>
            <a:ext cx="360040" cy="35074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2" name="文字方塊 31"/>
          <p:cNvSpPr txBox="1"/>
          <p:nvPr/>
        </p:nvSpPr>
        <p:spPr>
          <a:xfrm>
            <a:off x="1907704" y="2850691"/>
            <a:ext cx="144016" cy="369332"/>
          </a:xfrm>
          <a:prstGeom prst="rect">
            <a:avLst/>
          </a:prstGeom>
          <a:noFill/>
        </p:spPr>
        <p:txBody>
          <a:bodyPr wrap="square" rtlCol="0">
            <a:spAutoFit/>
          </a:bodyPr>
          <a:lstStyle/>
          <a:p>
            <a:r>
              <a:rPr lang="en-US" altLang="zh-TW" dirty="0" smtClean="0"/>
              <a:t>c</a:t>
            </a:r>
            <a:endParaRPr lang="zh-TW" altLang="en-US" dirty="0"/>
          </a:p>
        </p:txBody>
      </p:sp>
      <p:sp>
        <p:nvSpPr>
          <p:cNvPr id="33" name="橢圓 32"/>
          <p:cNvSpPr/>
          <p:nvPr/>
        </p:nvSpPr>
        <p:spPr>
          <a:xfrm>
            <a:off x="2601464" y="3413545"/>
            <a:ext cx="360040" cy="35074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4" name="文字方塊 33"/>
          <p:cNvSpPr txBox="1"/>
          <p:nvPr/>
        </p:nvSpPr>
        <p:spPr>
          <a:xfrm>
            <a:off x="2673472" y="3404253"/>
            <a:ext cx="144016" cy="369332"/>
          </a:xfrm>
          <a:prstGeom prst="rect">
            <a:avLst/>
          </a:prstGeom>
          <a:noFill/>
        </p:spPr>
        <p:txBody>
          <a:bodyPr wrap="square" rtlCol="0">
            <a:spAutoFit/>
          </a:bodyPr>
          <a:lstStyle/>
          <a:p>
            <a:r>
              <a:rPr lang="en-US" altLang="zh-TW" dirty="0" smtClean="0"/>
              <a:t>d</a:t>
            </a:r>
            <a:endParaRPr lang="zh-TW" altLang="en-US" dirty="0"/>
          </a:p>
        </p:txBody>
      </p:sp>
      <p:sp>
        <p:nvSpPr>
          <p:cNvPr id="35" name="橢圓 34"/>
          <p:cNvSpPr/>
          <p:nvPr/>
        </p:nvSpPr>
        <p:spPr>
          <a:xfrm>
            <a:off x="3321544" y="2849796"/>
            <a:ext cx="360040" cy="35074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6" name="文字方塊 35"/>
          <p:cNvSpPr txBox="1"/>
          <p:nvPr/>
        </p:nvSpPr>
        <p:spPr>
          <a:xfrm>
            <a:off x="3393552" y="2840504"/>
            <a:ext cx="144016" cy="369332"/>
          </a:xfrm>
          <a:prstGeom prst="rect">
            <a:avLst/>
          </a:prstGeom>
          <a:noFill/>
        </p:spPr>
        <p:txBody>
          <a:bodyPr wrap="square" rtlCol="0">
            <a:spAutoFit/>
          </a:bodyPr>
          <a:lstStyle/>
          <a:p>
            <a:r>
              <a:rPr lang="en-US" altLang="zh-TW" dirty="0" smtClean="0"/>
              <a:t>e</a:t>
            </a:r>
            <a:endParaRPr lang="zh-TW" altLang="en-US" dirty="0"/>
          </a:p>
        </p:txBody>
      </p:sp>
      <p:sp>
        <p:nvSpPr>
          <p:cNvPr id="37" name="橢圓 36"/>
          <p:cNvSpPr/>
          <p:nvPr/>
        </p:nvSpPr>
        <p:spPr>
          <a:xfrm>
            <a:off x="3654196" y="3846501"/>
            <a:ext cx="360040" cy="35074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8" name="文字方塊 37"/>
          <p:cNvSpPr txBox="1"/>
          <p:nvPr/>
        </p:nvSpPr>
        <p:spPr>
          <a:xfrm>
            <a:off x="3726204" y="3837209"/>
            <a:ext cx="144016" cy="369332"/>
          </a:xfrm>
          <a:prstGeom prst="rect">
            <a:avLst/>
          </a:prstGeom>
          <a:noFill/>
        </p:spPr>
        <p:txBody>
          <a:bodyPr wrap="square" rtlCol="0">
            <a:spAutoFit/>
          </a:bodyPr>
          <a:lstStyle/>
          <a:p>
            <a:r>
              <a:rPr lang="en-US" altLang="zh-TW" dirty="0" smtClean="0"/>
              <a:t>f</a:t>
            </a:r>
            <a:endParaRPr lang="zh-TW" altLang="en-US" dirty="0"/>
          </a:p>
        </p:txBody>
      </p:sp>
      <p:cxnSp>
        <p:nvCxnSpPr>
          <p:cNvPr id="39" name="直線接點 38"/>
          <p:cNvCxnSpPr>
            <a:stCxn id="27" idx="4"/>
            <a:endCxn id="29" idx="2"/>
          </p:cNvCxnSpPr>
          <p:nvPr/>
        </p:nvCxnSpPr>
        <p:spPr>
          <a:xfrm>
            <a:off x="1197308" y="3436519"/>
            <a:ext cx="537383" cy="400690"/>
          </a:xfrm>
          <a:prstGeom prst="line">
            <a:avLst/>
          </a:prstGeom>
        </p:spPr>
        <p:style>
          <a:lnRef idx="1">
            <a:schemeClr val="accent1"/>
          </a:lnRef>
          <a:fillRef idx="0">
            <a:schemeClr val="accent1"/>
          </a:fillRef>
          <a:effectRef idx="0">
            <a:schemeClr val="accent1"/>
          </a:effectRef>
          <a:fontRef idx="minor">
            <a:schemeClr val="tx1"/>
          </a:fontRef>
        </p:style>
      </p:cxnSp>
      <p:cxnSp>
        <p:nvCxnSpPr>
          <p:cNvPr id="40" name="直線接點 39"/>
          <p:cNvCxnSpPr>
            <a:stCxn id="27" idx="0"/>
            <a:endCxn id="31" idx="2"/>
          </p:cNvCxnSpPr>
          <p:nvPr/>
        </p:nvCxnSpPr>
        <p:spPr>
          <a:xfrm flipV="1">
            <a:off x="1197308" y="3035357"/>
            <a:ext cx="638388" cy="50414"/>
          </a:xfrm>
          <a:prstGeom prst="line">
            <a:avLst/>
          </a:prstGeom>
        </p:spPr>
        <p:style>
          <a:lnRef idx="1">
            <a:schemeClr val="accent1"/>
          </a:lnRef>
          <a:fillRef idx="0">
            <a:schemeClr val="accent1"/>
          </a:fillRef>
          <a:effectRef idx="0">
            <a:schemeClr val="accent1"/>
          </a:effectRef>
          <a:fontRef idx="minor">
            <a:schemeClr val="tx1"/>
          </a:fontRef>
        </p:style>
      </p:cxnSp>
      <p:cxnSp>
        <p:nvCxnSpPr>
          <p:cNvPr id="41" name="直線接點 40"/>
          <p:cNvCxnSpPr>
            <a:stCxn id="31" idx="4"/>
            <a:endCxn id="29" idx="0"/>
          </p:cNvCxnSpPr>
          <p:nvPr/>
        </p:nvCxnSpPr>
        <p:spPr>
          <a:xfrm flipH="1">
            <a:off x="1914711" y="3210731"/>
            <a:ext cx="101005" cy="451104"/>
          </a:xfrm>
          <a:prstGeom prst="line">
            <a:avLst/>
          </a:prstGeom>
        </p:spPr>
        <p:style>
          <a:lnRef idx="1">
            <a:schemeClr val="accent1"/>
          </a:lnRef>
          <a:fillRef idx="0">
            <a:schemeClr val="accent1"/>
          </a:fillRef>
          <a:effectRef idx="0">
            <a:schemeClr val="accent1"/>
          </a:effectRef>
          <a:fontRef idx="minor">
            <a:schemeClr val="tx1"/>
          </a:fontRef>
        </p:style>
      </p:cxnSp>
      <p:cxnSp>
        <p:nvCxnSpPr>
          <p:cNvPr id="42" name="直線接點 41"/>
          <p:cNvCxnSpPr>
            <a:stCxn id="31" idx="5"/>
            <a:endCxn id="33" idx="1"/>
          </p:cNvCxnSpPr>
          <p:nvPr/>
        </p:nvCxnSpPr>
        <p:spPr>
          <a:xfrm>
            <a:off x="2143009" y="3159365"/>
            <a:ext cx="511182" cy="305546"/>
          </a:xfrm>
          <a:prstGeom prst="line">
            <a:avLst/>
          </a:prstGeom>
        </p:spPr>
        <p:style>
          <a:lnRef idx="1">
            <a:schemeClr val="accent1"/>
          </a:lnRef>
          <a:fillRef idx="0">
            <a:schemeClr val="accent1"/>
          </a:fillRef>
          <a:effectRef idx="0">
            <a:schemeClr val="accent1"/>
          </a:effectRef>
          <a:fontRef idx="minor">
            <a:schemeClr val="tx1"/>
          </a:fontRef>
        </p:style>
      </p:cxnSp>
      <p:cxnSp>
        <p:nvCxnSpPr>
          <p:cNvPr id="43" name="直線接點 42"/>
          <p:cNvCxnSpPr>
            <a:stCxn id="31" idx="6"/>
            <a:endCxn id="35" idx="2"/>
          </p:cNvCxnSpPr>
          <p:nvPr/>
        </p:nvCxnSpPr>
        <p:spPr>
          <a:xfrm flipV="1">
            <a:off x="2195736" y="3025170"/>
            <a:ext cx="1125808" cy="10187"/>
          </a:xfrm>
          <a:prstGeom prst="line">
            <a:avLst/>
          </a:prstGeom>
        </p:spPr>
        <p:style>
          <a:lnRef idx="1">
            <a:schemeClr val="accent1"/>
          </a:lnRef>
          <a:fillRef idx="0">
            <a:schemeClr val="accent1"/>
          </a:fillRef>
          <a:effectRef idx="0">
            <a:schemeClr val="accent1"/>
          </a:effectRef>
          <a:fontRef idx="minor">
            <a:schemeClr val="tx1"/>
          </a:fontRef>
        </p:style>
      </p:cxnSp>
      <p:cxnSp>
        <p:nvCxnSpPr>
          <p:cNvPr id="44" name="直線接點 43"/>
          <p:cNvCxnSpPr>
            <a:stCxn id="35" idx="5"/>
            <a:endCxn id="37" idx="0"/>
          </p:cNvCxnSpPr>
          <p:nvPr/>
        </p:nvCxnSpPr>
        <p:spPr>
          <a:xfrm>
            <a:off x="3628857" y="3149178"/>
            <a:ext cx="205359" cy="697323"/>
          </a:xfrm>
          <a:prstGeom prst="line">
            <a:avLst/>
          </a:prstGeom>
        </p:spPr>
        <p:style>
          <a:lnRef idx="1">
            <a:schemeClr val="accent1"/>
          </a:lnRef>
          <a:fillRef idx="0">
            <a:schemeClr val="accent1"/>
          </a:fillRef>
          <a:effectRef idx="0">
            <a:schemeClr val="accent1"/>
          </a:effectRef>
          <a:fontRef idx="minor">
            <a:schemeClr val="tx1"/>
          </a:fontRef>
        </p:style>
      </p:cxnSp>
      <p:cxnSp>
        <p:nvCxnSpPr>
          <p:cNvPr id="45" name="直線接點 44"/>
          <p:cNvCxnSpPr>
            <a:stCxn id="33" idx="5"/>
            <a:endCxn id="37" idx="2"/>
          </p:cNvCxnSpPr>
          <p:nvPr/>
        </p:nvCxnSpPr>
        <p:spPr>
          <a:xfrm>
            <a:off x="2908777" y="3712927"/>
            <a:ext cx="745419" cy="308948"/>
          </a:xfrm>
          <a:prstGeom prst="line">
            <a:avLst/>
          </a:prstGeom>
        </p:spPr>
        <p:style>
          <a:lnRef idx="1">
            <a:schemeClr val="accent1"/>
          </a:lnRef>
          <a:fillRef idx="0">
            <a:schemeClr val="accent1"/>
          </a:fillRef>
          <a:effectRef idx="0">
            <a:schemeClr val="accent1"/>
          </a:effectRef>
          <a:fontRef idx="minor">
            <a:schemeClr val="tx1"/>
          </a:fontRef>
        </p:style>
      </p:cxnSp>
      <p:cxnSp>
        <p:nvCxnSpPr>
          <p:cNvPr id="46" name="直線接點 45"/>
          <p:cNvCxnSpPr>
            <a:stCxn id="35" idx="3"/>
            <a:endCxn id="33" idx="7"/>
          </p:cNvCxnSpPr>
          <p:nvPr/>
        </p:nvCxnSpPr>
        <p:spPr>
          <a:xfrm flipH="1">
            <a:off x="2908777" y="3149178"/>
            <a:ext cx="465494" cy="315733"/>
          </a:xfrm>
          <a:prstGeom prst="line">
            <a:avLst/>
          </a:prstGeom>
        </p:spPr>
        <p:style>
          <a:lnRef idx="1">
            <a:schemeClr val="accent1"/>
          </a:lnRef>
          <a:fillRef idx="0">
            <a:schemeClr val="accent1"/>
          </a:fillRef>
          <a:effectRef idx="0">
            <a:schemeClr val="accent1"/>
          </a:effectRef>
          <a:fontRef idx="minor">
            <a:schemeClr val="tx1"/>
          </a:fontRef>
        </p:style>
      </p:cxnSp>
      <p:cxnSp>
        <p:nvCxnSpPr>
          <p:cNvPr id="47" name="直線接點 46"/>
          <p:cNvCxnSpPr>
            <a:stCxn id="33" idx="3"/>
            <a:endCxn id="29" idx="6"/>
          </p:cNvCxnSpPr>
          <p:nvPr/>
        </p:nvCxnSpPr>
        <p:spPr>
          <a:xfrm flipH="1">
            <a:off x="2094731" y="3712927"/>
            <a:ext cx="559460" cy="124282"/>
          </a:xfrm>
          <a:prstGeom prst="line">
            <a:avLst/>
          </a:prstGeom>
        </p:spPr>
        <p:style>
          <a:lnRef idx="1">
            <a:schemeClr val="accent1"/>
          </a:lnRef>
          <a:fillRef idx="0">
            <a:schemeClr val="accent1"/>
          </a:fillRef>
          <a:effectRef idx="0">
            <a:schemeClr val="accent1"/>
          </a:effectRef>
          <a:fontRef idx="minor">
            <a:schemeClr val="tx1"/>
          </a:fontRef>
        </p:style>
      </p:cxnSp>
      <p:cxnSp>
        <p:nvCxnSpPr>
          <p:cNvPr id="48" name="直線接點 47"/>
          <p:cNvCxnSpPr>
            <a:stCxn id="27" idx="6"/>
            <a:endCxn id="33" idx="2"/>
          </p:cNvCxnSpPr>
          <p:nvPr/>
        </p:nvCxnSpPr>
        <p:spPr>
          <a:xfrm>
            <a:off x="1377328" y="3261145"/>
            <a:ext cx="1224136" cy="327774"/>
          </a:xfrm>
          <a:prstGeom prst="line">
            <a:avLst/>
          </a:prstGeom>
        </p:spPr>
        <p:style>
          <a:lnRef idx="1">
            <a:schemeClr val="accent1"/>
          </a:lnRef>
          <a:fillRef idx="0">
            <a:schemeClr val="accent1"/>
          </a:fillRef>
          <a:effectRef idx="0">
            <a:schemeClr val="accent1"/>
          </a:effectRef>
          <a:fontRef idx="minor">
            <a:schemeClr val="tx1"/>
          </a:fontRef>
        </p:style>
      </p:cxnSp>
      <p:sp>
        <p:nvSpPr>
          <p:cNvPr id="49" name="橢圓 48"/>
          <p:cNvSpPr/>
          <p:nvPr/>
        </p:nvSpPr>
        <p:spPr>
          <a:xfrm>
            <a:off x="1516502" y="2572423"/>
            <a:ext cx="1625022" cy="18002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0" name="橢圓 49"/>
          <p:cNvSpPr/>
          <p:nvPr/>
        </p:nvSpPr>
        <p:spPr>
          <a:xfrm>
            <a:off x="5013859" y="2993034"/>
            <a:ext cx="360040" cy="35074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1" name="文字方塊 50"/>
          <p:cNvSpPr txBox="1"/>
          <p:nvPr/>
        </p:nvSpPr>
        <p:spPr>
          <a:xfrm>
            <a:off x="5085867" y="2983742"/>
            <a:ext cx="144016" cy="369332"/>
          </a:xfrm>
          <a:prstGeom prst="rect">
            <a:avLst/>
          </a:prstGeom>
          <a:noFill/>
        </p:spPr>
        <p:txBody>
          <a:bodyPr wrap="square" rtlCol="0">
            <a:spAutoFit/>
          </a:bodyPr>
          <a:lstStyle/>
          <a:p>
            <a:r>
              <a:rPr lang="en-US" altLang="zh-TW" dirty="0"/>
              <a:t>a</a:t>
            </a:r>
            <a:endParaRPr lang="zh-TW" altLang="en-US" dirty="0"/>
          </a:p>
        </p:txBody>
      </p:sp>
      <p:sp>
        <p:nvSpPr>
          <p:cNvPr id="52" name="橢圓 51"/>
          <p:cNvSpPr/>
          <p:nvPr/>
        </p:nvSpPr>
        <p:spPr>
          <a:xfrm>
            <a:off x="5731262" y="3569098"/>
            <a:ext cx="360040" cy="35074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3" name="文字方塊 52"/>
          <p:cNvSpPr txBox="1"/>
          <p:nvPr/>
        </p:nvSpPr>
        <p:spPr>
          <a:xfrm>
            <a:off x="5803270" y="3559806"/>
            <a:ext cx="144016" cy="369332"/>
          </a:xfrm>
          <a:prstGeom prst="rect">
            <a:avLst/>
          </a:prstGeom>
          <a:noFill/>
        </p:spPr>
        <p:txBody>
          <a:bodyPr wrap="square" rtlCol="0">
            <a:spAutoFit/>
          </a:bodyPr>
          <a:lstStyle/>
          <a:p>
            <a:r>
              <a:rPr lang="en-US" altLang="zh-TW" dirty="0" smtClean="0"/>
              <a:t>b</a:t>
            </a:r>
            <a:endParaRPr lang="zh-TW" altLang="en-US" dirty="0"/>
          </a:p>
        </p:txBody>
      </p:sp>
      <p:sp>
        <p:nvSpPr>
          <p:cNvPr id="54" name="橢圓 53"/>
          <p:cNvSpPr/>
          <p:nvPr/>
        </p:nvSpPr>
        <p:spPr>
          <a:xfrm>
            <a:off x="5832267" y="2767246"/>
            <a:ext cx="360040" cy="35074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5" name="文字方塊 54"/>
          <p:cNvSpPr txBox="1"/>
          <p:nvPr/>
        </p:nvSpPr>
        <p:spPr>
          <a:xfrm>
            <a:off x="5904275" y="2757954"/>
            <a:ext cx="144016" cy="369332"/>
          </a:xfrm>
          <a:prstGeom prst="rect">
            <a:avLst/>
          </a:prstGeom>
          <a:noFill/>
        </p:spPr>
        <p:txBody>
          <a:bodyPr wrap="square" rtlCol="0">
            <a:spAutoFit/>
          </a:bodyPr>
          <a:lstStyle/>
          <a:p>
            <a:r>
              <a:rPr lang="en-US" altLang="zh-TW" dirty="0" smtClean="0"/>
              <a:t>c</a:t>
            </a:r>
            <a:endParaRPr lang="zh-TW" altLang="en-US" dirty="0"/>
          </a:p>
        </p:txBody>
      </p:sp>
      <p:sp>
        <p:nvSpPr>
          <p:cNvPr id="56" name="橢圓 55"/>
          <p:cNvSpPr/>
          <p:nvPr/>
        </p:nvSpPr>
        <p:spPr>
          <a:xfrm>
            <a:off x="6598035" y="3320808"/>
            <a:ext cx="360040" cy="35074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7" name="文字方塊 56"/>
          <p:cNvSpPr txBox="1"/>
          <p:nvPr/>
        </p:nvSpPr>
        <p:spPr>
          <a:xfrm>
            <a:off x="6670043" y="3311516"/>
            <a:ext cx="144016" cy="369332"/>
          </a:xfrm>
          <a:prstGeom prst="rect">
            <a:avLst/>
          </a:prstGeom>
          <a:noFill/>
        </p:spPr>
        <p:txBody>
          <a:bodyPr wrap="square" rtlCol="0">
            <a:spAutoFit/>
          </a:bodyPr>
          <a:lstStyle/>
          <a:p>
            <a:r>
              <a:rPr lang="en-US" altLang="zh-TW" dirty="0" smtClean="0"/>
              <a:t>d</a:t>
            </a:r>
            <a:endParaRPr lang="zh-TW" altLang="en-US" dirty="0"/>
          </a:p>
        </p:txBody>
      </p:sp>
      <p:sp>
        <p:nvSpPr>
          <p:cNvPr id="58" name="橢圓 57"/>
          <p:cNvSpPr/>
          <p:nvPr/>
        </p:nvSpPr>
        <p:spPr>
          <a:xfrm>
            <a:off x="7318115" y="2757059"/>
            <a:ext cx="360040" cy="35074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9" name="文字方塊 58"/>
          <p:cNvSpPr txBox="1"/>
          <p:nvPr/>
        </p:nvSpPr>
        <p:spPr>
          <a:xfrm>
            <a:off x="7390123" y="2747767"/>
            <a:ext cx="144016" cy="369332"/>
          </a:xfrm>
          <a:prstGeom prst="rect">
            <a:avLst/>
          </a:prstGeom>
          <a:noFill/>
        </p:spPr>
        <p:txBody>
          <a:bodyPr wrap="square" rtlCol="0">
            <a:spAutoFit/>
          </a:bodyPr>
          <a:lstStyle/>
          <a:p>
            <a:r>
              <a:rPr lang="en-US" altLang="zh-TW" dirty="0" smtClean="0"/>
              <a:t>e</a:t>
            </a:r>
            <a:endParaRPr lang="zh-TW" altLang="en-US" dirty="0"/>
          </a:p>
        </p:txBody>
      </p:sp>
      <p:sp>
        <p:nvSpPr>
          <p:cNvPr id="60" name="橢圓 59"/>
          <p:cNvSpPr/>
          <p:nvPr/>
        </p:nvSpPr>
        <p:spPr>
          <a:xfrm>
            <a:off x="7650767" y="3753764"/>
            <a:ext cx="360040" cy="35074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1" name="文字方塊 60"/>
          <p:cNvSpPr txBox="1"/>
          <p:nvPr/>
        </p:nvSpPr>
        <p:spPr>
          <a:xfrm>
            <a:off x="7722775" y="3744472"/>
            <a:ext cx="144016" cy="369332"/>
          </a:xfrm>
          <a:prstGeom prst="rect">
            <a:avLst/>
          </a:prstGeom>
          <a:noFill/>
        </p:spPr>
        <p:txBody>
          <a:bodyPr wrap="square" rtlCol="0">
            <a:spAutoFit/>
          </a:bodyPr>
          <a:lstStyle/>
          <a:p>
            <a:r>
              <a:rPr lang="en-US" altLang="zh-TW" dirty="0" smtClean="0"/>
              <a:t>f</a:t>
            </a:r>
            <a:endParaRPr lang="zh-TW" altLang="en-US" dirty="0"/>
          </a:p>
        </p:txBody>
      </p:sp>
      <p:cxnSp>
        <p:nvCxnSpPr>
          <p:cNvPr id="62" name="直線接點 61"/>
          <p:cNvCxnSpPr>
            <a:stCxn id="50" idx="4"/>
            <a:endCxn id="52" idx="2"/>
          </p:cNvCxnSpPr>
          <p:nvPr/>
        </p:nvCxnSpPr>
        <p:spPr>
          <a:xfrm>
            <a:off x="5193879" y="3343782"/>
            <a:ext cx="537383" cy="400690"/>
          </a:xfrm>
          <a:prstGeom prst="line">
            <a:avLst/>
          </a:prstGeom>
        </p:spPr>
        <p:style>
          <a:lnRef idx="1">
            <a:schemeClr val="accent1"/>
          </a:lnRef>
          <a:fillRef idx="0">
            <a:schemeClr val="accent1"/>
          </a:fillRef>
          <a:effectRef idx="0">
            <a:schemeClr val="accent1"/>
          </a:effectRef>
          <a:fontRef idx="minor">
            <a:schemeClr val="tx1"/>
          </a:fontRef>
        </p:style>
      </p:cxnSp>
      <p:cxnSp>
        <p:nvCxnSpPr>
          <p:cNvPr id="63" name="直線接點 62"/>
          <p:cNvCxnSpPr>
            <a:stCxn id="50" idx="0"/>
            <a:endCxn id="54" idx="2"/>
          </p:cNvCxnSpPr>
          <p:nvPr/>
        </p:nvCxnSpPr>
        <p:spPr>
          <a:xfrm flipV="1">
            <a:off x="5193879" y="2942620"/>
            <a:ext cx="638388" cy="50414"/>
          </a:xfrm>
          <a:prstGeom prst="line">
            <a:avLst/>
          </a:prstGeom>
        </p:spPr>
        <p:style>
          <a:lnRef idx="1">
            <a:schemeClr val="accent1"/>
          </a:lnRef>
          <a:fillRef idx="0">
            <a:schemeClr val="accent1"/>
          </a:fillRef>
          <a:effectRef idx="0">
            <a:schemeClr val="accent1"/>
          </a:effectRef>
          <a:fontRef idx="minor">
            <a:schemeClr val="tx1"/>
          </a:fontRef>
        </p:style>
      </p:cxnSp>
      <p:cxnSp>
        <p:nvCxnSpPr>
          <p:cNvPr id="64" name="直線接點 63"/>
          <p:cNvCxnSpPr>
            <a:stCxn id="54" idx="4"/>
            <a:endCxn id="52" idx="0"/>
          </p:cNvCxnSpPr>
          <p:nvPr/>
        </p:nvCxnSpPr>
        <p:spPr>
          <a:xfrm flipH="1">
            <a:off x="5911282" y="3117994"/>
            <a:ext cx="101005" cy="451104"/>
          </a:xfrm>
          <a:prstGeom prst="line">
            <a:avLst/>
          </a:prstGeom>
        </p:spPr>
        <p:style>
          <a:lnRef idx="1">
            <a:schemeClr val="accent1"/>
          </a:lnRef>
          <a:fillRef idx="0">
            <a:schemeClr val="accent1"/>
          </a:fillRef>
          <a:effectRef idx="0">
            <a:schemeClr val="accent1"/>
          </a:effectRef>
          <a:fontRef idx="minor">
            <a:schemeClr val="tx1"/>
          </a:fontRef>
        </p:style>
      </p:cxnSp>
      <p:cxnSp>
        <p:nvCxnSpPr>
          <p:cNvPr id="65" name="直線接點 64"/>
          <p:cNvCxnSpPr>
            <a:stCxn id="54" idx="5"/>
            <a:endCxn id="56" idx="1"/>
          </p:cNvCxnSpPr>
          <p:nvPr/>
        </p:nvCxnSpPr>
        <p:spPr>
          <a:xfrm>
            <a:off x="6139580" y="3066628"/>
            <a:ext cx="511182" cy="305546"/>
          </a:xfrm>
          <a:prstGeom prst="line">
            <a:avLst/>
          </a:prstGeom>
        </p:spPr>
        <p:style>
          <a:lnRef idx="1">
            <a:schemeClr val="accent1"/>
          </a:lnRef>
          <a:fillRef idx="0">
            <a:schemeClr val="accent1"/>
          </a:fillRef>
          <a:effectRef idx="0">
            <a:schemeClr val="accent1"/>
          </a:effectRef>
          <a:fontRef idx="minor">
            <a:schemeClr val="tx1"/>
          </a:fontRef>
        </p:style>
      </p:cxnSp>
      <p:cxnSp>
        <p:nvCxnSpPr>
          <p:cNvPr id="66" name="直線接點 65"/>
          <p:cNvCxnSpPr>
            <a:stCxn id="54" idx="6"/>
            <a:endCxn id="58" idx="2"/>
          </p:cNvCxnSpPr>
          <p:nvPr/>
        </p:nvCxnSpPr>
        <p:spPr>
          <a:xfrm flipV="1">
            <a:off x="6192307" y="2932433"/>
            <a:ext cx="1125808" cy="10187"/>
          </a:xfrm>
          <a:prstGeom prst="line">
            <a:avLst/>
          </a:prstGeom>
        </p:spPr>
        <p:style>
          <a:lnRef idx="1">
            <a:schemeClr val="accent1"/>
          </a:lnRef>
          <a:fillRef idx="0">
            <a:schemeClr val="accent1"/>
          </a:fillRef>
          <a:effectRef idx="0">
            <a:schemeClr val="accent1"/>
          </a:effectRef>
          <a:fontRef idx="minor">
            <a:schemeClr val="tx1"/>
          </a:fontRef>
        </p:style>
      </p:cxnSp>
      <p:cxnSp>
        <p:nvCxnSpPr>
          <p:cNvPr id="67" name="直線接點 66"/>
          <p:cNvCxnSpPr>
            <a:stCxn id="58" idx="5"/>
            <a:endCxn id="60" idx="0"/>
          </p:cNvCxnSpPr>
          <p:nvPr/>
        </p:nvCxnSpPr>
        <p:spPr>
          <a:xfrm>
            <a:off x="7625428" y="3056441"/>
            <a:ext cx="205359" cy="697323"/>
          </a:xfrm>
          <a:prstGeom prst="line">
            <a:avLst/>
          </a:prstGeom>
        </p:spPr>
        <p:style>
          <a:lnRef idx="1">
            <a:schemeClr val="accent1"/>
          </a:lnRef>
          <a:fillRef idx="0">
            <a:schemeClr val="accent1"/>
          </a:fillRef>
          <a:effectRef idx="0">
            <a:schemeClr val="accent1"/>
          </a:effectRef>
          <a:fontRef idx="minor">
            <a:schemeClr val="tx1"/>
          </a:fontRef>
        </p:style>
      </p:cxnSp>
      <p:cxnSp>
        <p:nvCxnSpPr>
          <p:cNvPr id="68" name="直線接點 67"/>
          <p:cNvCxnSpPr>
            <a:stCxn id="56" idx="5"/>
            <a:endCxn id="60" idx="2"/>
          </p:cNvCxnSpPr>
          <p:nvPr/>
        </p:nvCxnSpPr>
        <p:spPr>
          <a:xfrm>
            <a:off x="6905348" y="3620190"/>
            <a:ext cx="745419" cy="308948"/>
          </a:xfrm>
          <a:prstGeom prst="line">
            <a:avLst/>
          </a:prstGeom>
        </p:spPr>
        <p:style>
          <a:lnRef idx="1">
            <a:schemeClr val="accent1"/>
          </a:lnRef>
          <a:fillRef idx="0">
            <a:schemeClr val="accent1"/>
          </a:fillRef>
          <a:effectRef idx="0">
            <a:schemeClr val="accent1"/>
          </a:effectRef>
          <a:fontRef idx="minor">
            <a:schemeClr val="tx1"/>
          </a:fontRef>
        </p:style>
      </p:cxnSp>
      <p:cxnSp>
        <p:nvCxnSpPr>
          <p:cNvPr id="69" name="直線接點 68"/>
          <p:cNvCxnSpPr>
            <a:stCxn id="58" idx="3"/>
            <a:endCxn id="56" idx="7"/>
          </p:cNvCxnSpPr>
          <p:nvPr/>
        </p:nvCxnSpPr>
        <p:spPr>
          <a:xfrm flipH="1">
            <a:off x="6905348" y="3056441"/>
            <a:ext cx="465494" cy="315733"/>
          </a:xfrm>
          <a:prstGeom prst="line">
            <a:avLst/>
          </a:prstGeom>
        </p:spPr>
        <p:style>
          <a:lnRef idx="1">
            <a:schemeClr val="accent1"/>
          </a:lnRef>
          <a:fillRef idx="0">
            <a:schemeClr val="accent1"/>
          </a:fillRef>
          <a:effectRef idx="0">
            <a:schemeClr val="accent1"/>
          </a:effectRef>
          <a:fontRef idx="minor">
            <a:schemeClr val="tx1"/>
          </a:fontRef>
        </p:style>
      </p:cxnSp>
      <p:cxnSp>
        <p:nvCxnSpPr>
          <p:cNvPr id="70" name="直線接點 69"/>
          <p:cNvCxnSpPr>
            <a:stCxn id="56" idx="3"/>
            <a:endCxn id="52" idx="6"/>
          </p:cNvCxnSpPr>
          <p:nvPr/>
        </p:nvCxnSpPr>
        <p:spPr>
          <a:xfrm flipH="1">
            <a:off x="6091302" y="3620190"/>
            <a:ext cx="559460" cy="124282"/>
          </a:xfrm>
          <a:prstGeom prst="line">
            <a:avLst/>
          </a:prstGeom>
        </p:spPr>
        <p:style>
          <a:lnRef idx="1">
            <a:schemeClr val="accent1"/>
          </a:lnRef>
          <a:fillRef idx="0">
            <a:schemeClr val="accent1"/>
          </a:fillRef>
          <a:effectRef idx="0">
            <a:schemeClr val="accent1"/>
          </a:effectRef>
          <a:fontRef idx="minor">
            <a:schemeClr val="tx1"/>
          </a:fontRef>
        </p:style>
      </p:cxnSp>
      <p:cxnSp>
        <p:nvCxnSpPr>
          <p:cNvPr id="71" name="直線接點 70"/>
          <p:cNvCxnSpPr>
            <a:stCxn id="50" idx="6"/>
            <a:endCxn id="56" idx="2"/>
          </p:cNvCxnSpPr>
          <p:nvPr/>
        </p:nvCxnSpPr>
        <p:spPr>
          <a:xfrm>
            <a:off x="5373899" y="3168408"/>
            <a:ext cx="1224136" cy="327774"/>
          </a:xfrm>
          <a:prstGeom prst="line">
            <a:avLst/>
          </a:prstGeom>
        </p:spPr>
        <p:style>
          <a:lnRef idx="1">
            <a:schemeClr val="accent1"/>
          </a:lnRef>
          <a:fillRef idx="0">
            <a:schemeClr val="accent1"/>
          </a:fillRef>
          <a:effectRef idx="0">
            <a:schemeClr val="accent1"/>
          </a:effectRef>
          <a:fontRef idx="minor">
            <a:schemeClr val="tx1"/>
          </a:fontRef>
        </p:style>
      </p:cxnSp>
      <p:sp>
        <p:nvSpPr>
          <p:cNvPr id="72" name="橢圓 71"/>
          <p:cNvSpPr/>
          <p:nvPr/>
        </p:nvSpPr>
        <p:spPr>
          <a:xfrm>
            <a:off x="4860032" y="2479686"/>
            <a:ext cx="2278063" cy="18002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3" name="向右箭號 72"/>
          <p:cNvSpPr/>
          <p:nvPr/>
        </p:nvSpPr>
        <p:spPr>
          <a:xfrm>
            <a:off x="4211960" y="3327305"/>
            <a:ext cx="432048" cy="2880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4" name="橢圓 73"/>
          <p:cNvSpPr/>
          <p:nvPr/>
        </p:nvSpPr>
        <p:spPr>
          <a:xfrm>
            <a:off x="4942507" y="5248256"/>
            <a:ext cx="360040" cy="35074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5" name="文字方塊 74"/>
          <p:cNvSpPr txBox="1"/>
          <p:nvPr/>
        </p:nvSpPr>
        <p:spPr>
          <a:xfrm>
            <a:off x="5014515" y="5238964"/>
            <a:ext cx="144016" cy="369332"/>
          </a:xfrm>
          <a:prstGeom prst="rect">
            <a:avLst/>
          </a:prstGeom>
          <a:noFill/>
        </p:spPr>
        <p:txBody>
          <a:bodyPr wrap="square" rtlCol="0">
            <a:spAutoFit/>
          </a:bodyPr>
          <a:lstStyle/>
          <a:p>
            <a:r>
              <a:rPr lang="en-US" altLang="zh-TW" dirty="0"/>
              <a:t>a</a:t>
            </a:r>
            <a:endParaRPr lang="zh-TW" altLang="en-US" dirty="0"/>
          </a:p>
        </p:txBody>
      </p:sp>
      <p:sp>
        <p:nvSpPr>
          <p:cNvPr id="76" name="橢圓 75"/>
          <p:cNvSpPr/>
          <p:nvPr/>
        </p:nvSpPr>
        <p:spPr>
          <a:xfrm>
            <a:off x="5659910" y="5824320"/>
            <a:ext cx="360040" cy="35074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7" name="文字方塊 76"/>
          <p:cNvSpPr txBox="1"/>
          <p:nvPr/>
        </p:nvSpPr>
        <p:spPr>
          <a:xfrm>
            <a:off x="5731918" y="5815028"/>
            <a:ext cx="144016" cy="369332"/>
          </a:xfrm>
          <a:prstGeom prst="rect">
            <a:avLst/>
          </a:prstGeom>
          <a:noFill/>
        </p:spPr>
        <p:txBody>
          <a:bodyPr wrap="square" rtlCol="0">
            <a:spAutoFit/>
          </a:bodyPr>
          <a:lstStyle/>
          <a:p>
            <a:r>
              <a:rPr lang="en-US" altLang="zh-TW" dirty="0" smtClean="0"/>
              <a:t>b</a:t>
            </a:r>
            <a:endParaRPr lang="zh-TW" altLang="en-US" dirty="0"/>
          </a:p>
        </p:txBody>
      </p:sp>
      <p:sp>
        <p:nvSpPr>
          <p:cNvPr id="78" name="橢圓 77"/>
          <p:cNvSpPr/>
          <p:nvPr/>
        </p:nvSpPr>
        <p:spPr>
          <a:xfrm>
            <a:off x="5760915" y="5022468"/>
            <a:ext cx="360040" cy="35074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9" name="文字方塊 78"/>
          <p:cNvSpPr txBox="1"/>
          <p:nvPr/>
        </p:nvSpPr>
        <p:spPr>
          <a:xfrm>
            <a:off x="5832923" y="5013176"/>
            <a:ext cx="144016" cy="369332"/>
          </a:xfrm>
          <a:prstGeom prst="rect">
            <a:avLst/>
          </a:prstGeom>
          <a:noFill/>
        </p:spPr>
        <p:txBody>
          <a:bodyPr wrap="square" rtlCol="0">
            <a:spAutoFit/>
          </a:bodyPr>
          <a:lstStyle/>
          <a:p>
            <a:r>
              <a:rPr lang="en-US" altLang="zh-TW" dirty="0" smtClean="0"/>
              <a:t>c</a:t>
            </a:r>
            <a:endParaRPr lang="zh-TW" altLang="en-US" dirty="0"/>
          </a:p>
        </p:txBody>
      </p:sp>
      <p:sp>
        <p:nvSpPr>
          <p:cNvPr id="80" name="橢圓 79"/>
          <p:cNvSpPr/>
          <p:nvPr/>
        </p:nvSpPr>
        <p:spPr>
          <a:xfrm>
            <a:off x="6526683" y="5576030"/>
            <a:ext cx="360040" cy="35074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1" name="文字方塊 80"/>
          <p:cNvSpPr txBox="1"/>
          <p:nvPr/>
        </p:nvSpPr>
        <p:spPr>
          <a:xfrm>
            <a:off x="6598691" y="5566738"/>
            <a:ext cx="144016" cy="369332"/>
          </a:xfrm>
          <a:prstGeom prst="rect">
            <a:avLst/>
          </a:prstGeom>
          <a:noFill/>
        </p:spPr>
        <p:txBody>
          <a:bodyPr wrap="square" rtlCol="0">
            <a:spAutoFit/>
          </a:bodyPr>
          <a:lstStyle/>
          <a:p>
            <a:r>
              <a:rPr lang="en-US" altLang="zh-TW" dirty="0" smtClean="0"/>
              <a:t>d</a:t>
            </a:r>
            <a:endParaRPr lang="zh-TW" altLang="en-US" dirty="0"/>
          </a:p>
        </p:txBody>
      </p:sp>
      <p:sp>
        <p:nvSpPr>
          <p:cNvPr id="82" name="橢圓 81"/>
          <p:cNvSpPr/>
          <p:nvPr/>
        </p:nvSpPr>
        <p:spPr>
          <a:xfrm>
            <a:off x="7246763" y="5012281"/>
            <a:ext cx="360040" cy="35074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3" name="文字方塊 82"/>
          <p:cNvSpPr txBox="1"/>
          <p:nvPr/>
        </p:nvSpPr>
        <p:spPr>
          <a:xfrm>
            <a:off x="7318771" y="5002989"/>
            <a:ext cx="144016" cy="369332"/>
          </a:xfrm>
          <a:prstGeom prst="rect">
            <a:avLst/>
          </a:prstGeom>
          <a:noFill/>
        </p:spPr>
        <p:txBody>
          <a:bodyPr wrap="square" rtlCol="0">
            <a:spAutoFit/>
          </a:bodyPr>
          <a:lstStyle/>
          <a:p>
            <a:r>
              <a:rPr lang="en-US" altLang="zh-TW" dirty="0" smtClean="0"/>
              <a:t>e</a:t>
            </a:r>
            <a:endParaRPr lang="zh-TW" altLang="en-US" dirty="0"/>
          </a:p>
        </p:txBody>
      </p:sp>
      <p:sp>
        <p:nvSpPr>
          <p:cNvPr id="84" name="橢圓 83"/>
          <p:cNvSpPr/>
          <p:nvPr/>
        </p:nvSpPr>
        <p:spPr>
          <a:xfrm>
            <a:off x="7579415" y="6008986"/>
            <a:ext cx="360040" cy="35074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5" name="文字方塊 84"/>
          <p:cNvSpPr txBox="1"/>
          <p:nvPr/>
        </p:nvSpPr>
        <p:spPr>
          <a:xfrm>
            <a:off x="7651423" y="5999694"/>
            <a:ext cx="144016" cy="369332"/>
          </a:xfrm>
          <a:prstGeom prst="rect">
            <a:avLst/>
          </a:prstGeom>
          <a:noFill/>
        </p:spPr>
        <p:txBody>
          <a:bodyPr wrap="square" rtlCol="0">
            <a:spAutoFit/>
          </a:bodyPr>
          <a:lstStyle/>
          <a:p>
            <a:r>
              <a:rPr lang="en-US" altLang="zh-TW" dirty="0" smtClean="0"/>
              <a:t>f</a:t>
            </a:r>
            <a:endParaRPr lang="zh-TW" altLang="en-US" dirty="0"/>
          </a:p>
        </p:txBody>
      </p:sp>
      <p:cxnSp>
        <p:nvCxnSpPr>
          <p:cNvPr id="86" name="直線接點 85"/>
          <p:cNvCxnSpPr>
            <a:stCxn id="74" idx="4"/>
            <a:endCxn id="76" idx="2"/>
          </p:cNvCxnSpPr>
          <p:nvPr/>
        </p:nvCxnSpPr>
        <p:spPr>
          <a:xfrm>
            <a:off x="5122527" y="5599004"/>
            <a:ext cx="537383" cy="400690"/>
          </a:xfrm>
          <a:prstGeom prst="line">
            <a:avLst/>
          </a:prstGeom>
        </p:spPr>
        <p:style>
          <a:lnRef idx="1">
            <a:schemeClr val="accent1"/>
          </a:lnRef>
          <a:fillRef idx="0">
            <a:schemeClr val="accent1"/>
          </a:fillRef>
          <a:effectRef idx="0">
            <a:schemeClr val="accent1"/>
          </a:effectRef>
          <a:fontRef idx="minor">
            <a:schemeClr val="tx1"/>
          </a:fontRef>
        </p:style>
      </p:cxnSp>
      <p:cxnSp>
        <p:nvCxnSpPr>
          <p:cNvPr id="87" name="直線接點 86"/>
          <p:cNvCxnSpPr>
            <a:stCxn id="74" idx="0"/>
            <a:endCxn id="78" idx="2"/>
          </p:cNvCxnSpPr>
          <p:nvPr/>
        </p:nvCxnSpPr>
        <p:spPr>
          <a:xfrm flipV="1">
            <a:off x="5122527" y="5197842"/>
            <a:ext cx="638388" cy="50414"/>
          </a:xfrm>
          <a:prstGeom prst="line">
            <a:avLst/>
          </a:prstGeom>
        </p:spPr>
        <p:style>
          <a:lnRef idx="1">
            <a:schemeClr val="accent1"/>
          </a:lnRef>
          <a:fillRef idx="0">
            <a:schemeClr val="accent1"/>
          </a:fillRef>
          <a:effectRef idx="0">
            <a:schemeClr val="accent1"/>
          </a:effectRef>
          <a:fontRef idx="minor">
            <a:schemeClr val="tx1"/>
          </a:fontRef>
        </p:style>
      </p:cxnSp>
      <p:cxnSp>
        <p:nvCxnSpPr>
          <p:cNvPr id="88" name="直線接點 87"/>
          <p:cNvCxnSpPr>
            <a:stCxn id="78" idx="4"/>
            <a:endCxn id="76" idx="0"/>
          </p:cNvCxnSpPr>
          <p:nvPr/>
        </p:nvCxnSpPr>
        <p:spPr>
          <a:xfrm flipH="1">
            <a:off x="5839930" y="5373216"/>
            <a:ext cx="101005" cy="451104"/>
          </a:xfrm>
          <a:prstGeom prst="line">
            <a:avLst/>
          </a:prstGeom>
        </p:spPr>
        <p:style>
          <a:lnRef idx="1">
            <a:schemeClr val="accent1"/>
          </a:lnRef>
          <a:fillRef idx="0">
            <a:schemeClr val="accent1"/>
          </a:fillRef>
          <a:effectRef idx="0">
            <a:schemeClr val="accent1"/>
          </a:effectRef>
          <a:fontRef idx="minor">
            <a:schemeClr val="tx1"/>
          </a:fontRef>
        </p:style>
      </p:cxnSp>
      <p:cxnSp>
        <p:nvCxnSpPr>
          <p:cNvPr id="89" name="直線接點 88"/>
          <p:cNvCxnSpPr>
            <a:stCxn id="78" idx="5"/>
            <a:endCxn id="80" idx="1"/>
          </p:cNvCxnSpPr>
          <p:nvPr/>
        </p:nvCxnSpPr>
        <p:spPr>
          <a:xfrm>
            <a:off x="6068228" y="5321850"/>
            <a:ext cx="511182" cy="305546"/>
          </a:xfrm>
          <a:prstGeom prst="line">
            <a:avLst/>
          </a:prstGeom>
        </p:spPr>
        <p:style>
          <a:lnRef idx="1">
            <a:schemeClr val="accent1"/>
          </a:lnRef>
          <a:fillRef idx="0">
            <a:schemeClr val="accent1"/>
          </a:fillRef>
          <a:effectRef idx="0">
            <a:schemeClr val="accent1"/>
          </a:effectRef>
          <a:fontRef idx="minor">
            <a:schemeClr val="tx1"/>
          </a:fontRef>
        </p:style>
      </p:cxnSp>
      <p:cxnSp>
        <p:nvCxnSpPr>
          <p:cNvPr id="90" name="直線接點 89"/>
          <p:cNvCxnSpPr>
            <a:stCxn id="78" idx="6"/>
            <a:endCxn id="82" idx="2"/>
          </p:cNvCxnSpPr>
          <p:nvPr/>
        </p:nvCxnSpPr>
        <p:spPr>
          <a:xfrm flipV="1">
            <a:off x="6120955" y="5187655"/>
            <a:ext cx="1125808" cy="10187"/>
          </a:xfrm>
          <a:prstGeom prst="line">
            <a:avLst/>
          </a:prstGeom>
        </p:spPr>
        <p:style>
          <a:lnRef idx="1">
            <a:schemeClr val="accent1"/>
          </a:lnRef>
          <a:fillRef idx="0">
            <a:schemeClr val="accent1"/>
          </a:fillRef>
          <a:effectRef idx="0">
            <a:schemeClr val="accent1"/>
          </a:effectRef>
          <a:fontRef idx="minor">
            <a:schemeClr val="tx1"/>
          </a:fontRef>
        </p:style>
      </p:cxnSp>
      <p:cxnSp>
        <p:nvCxnSpPr>
          <p:cNvPr id="91" name="直線接點 90"/>
          <p:cNvCxnSpPr>
            <a:stCxn id="82" idx="5"/>
            <a:endCxn id="84" idx="0"/>
          </p:cNvCxnSpPr>
          <p:nvPr/>
        </p:nvCxnSpPr>
        <p:spPr>
          <a:xfrm>
            <a:off x="7554076" y="5311663"/>
            <a:ext cx="205359" cy="697323"/>
          </a:xfrm>
          <a:prstGeom prst="line">
            <a:avLst/>
          </a:prstGeom>
        </p:spPr>
        <p:style>
          <a:lnRef idx="1">
            <a:schemeClr val="accent1"/>
          </a:lnRef>
          <a:fillRef idx="0">
            <a:schemeClr val="accent1"/>
          </a:fillRef>
          <a:effectRef idx="0">
            <a:schemeClr val="accent1"/>
          </a:effectRef>
          <a:fontRef idx="minor">
            <a:schemeClr val="tx1"/>
          </a:fontRef>
        </p:style>
      </p:cxnSp>
      <p:cxnSp>
        <p:nvCxnSpPr>
          <p:cNvPr id="92" name="直線接點 91"/>
          <p:cNvCxnSpPr>
            <a:stCxn id="80" idx="5"/>
            <a:endCxn id="84" idx="2"/>
          </p:cNvCxnSpPr>
          <p:nvPr/>
        </p:nvCxnSpPr>
        <p:spPr>
          <a:xfrm>
            <a:off x="6833996" y="5875412"/>
            <a:ext cx="745419" cy="308948"/>
          </a:xfrm>
          <a:prstGeom prst="line">
            <a:avLst/>
          </a:prstGeom>
        </p:spPr>
        <p:style>
          <a:lnRef idx="1">
            <a:schemeClr val="accent1"/>
          </a:lnRef>
          <a:fillRef idx="0">
            <a:schemeClr val="accent1"/>
          </a:fillRef>
          <a:effectRef idx="0">
            <a:schemeClr val="accent1"/>
          </a:effectRef>
          <a:fontRef idx="minor">
            <a:schemeClr val="tx1"/>
          </a:fontRef>
        </p:style>
      </p:cxnSp>
      <p:cxnSp>
        <p:nvCxnSpPr>
          <p:cNvPr id="93" name="直線接點 92"/>
          <p:cNvCxnSpPr>
            <a:stCxn id="82" idx="3"/>
            <a:endCxn id="80" idx="7"/>
          </p:cNvCxnSpPr>
          <p:nvPr/>
        </p:nvCxnSpPr>
        <p:spPr>
          <a:xfrm flipH="1">
            <a:off x="6833996" y="5311663"/>
            <a:ext cx="465494" cy="315733"/>
          </a:xfrm>
          <a:prstGeom prst="line">
            <a:avLst/>
          </a:prstGeom>
        </p:spPr>
        <p:style>
          <a:lnRef idx="1">
            <a:schemeClr val="accent1"/>
          </a:lnRef>
          <a:fillRef idx="0">
            <a:schemeClr val="accent1"/>
          </a:fillRef>
          <a:effectRef idx="0">
            <a:schemeClr val="accent1"/>
          </a:effectRef>
          <a:fontRef idx="minor">
            <a:schemeClr val="tx1"/>
          </a:fontRef>
        </p:style>
      </p:cxnSp>
      <p:cxnSp>
        <p:nvCxnSpPr>
          <p:cNvPr id="94" name="直線接點 93"/>
          <p:cNvCxnSpPr>
            <a:stCxn id="80" idx="3"/>
            <a:endCxn id="76" idx="6"/>
          </p:cNvCxnSpPr>
          <p:nvPr/>
        </p:nvCxnSpPr>
        <p:spPr>
          <a:xfrm flipH="1">
            <a:off x="6019950" y="5875412"/>
            <a:ext cx="559460" cy="124282"/>
          </a:xfrm>
          <a:prstGeom prst="line">
            <a:avLst/>
          </a:prstGeom>
        </p:spPr>
        <p:style>
          <a:lnRef idx="1">
            <a:schemeClr val="accent1"/>
          </a:lnRef>
          <a:fillRef idx="0">
            <a:schemeClr val="accent1"/>
          </a:fillRef>
          <a:effectRef idx="0">
            <a:schemeClr val="accent1"/>
          </a:effectRef>
          <a:fontRef idx="minor">
            <a:schemeClr val="tx1"/>
          </a:fontRef>
        </p:style>
      </p:cxnSp>
      <p:cxnSp>
        <p:nvCxnSpPr>
          <p:cNvPr id="95" name="直線接點 94"/>
          <p:cNvCxnSpPr>
            <a:stCxn id="74" idx="6"/>
            <a:endCxn id="80" idx="2"/>
          </p:cNvCxnSpPr>
          <p:nvPr/>
        </p:nvCxnSpPr>
        <p:spPr>
          <a:xfrm>
            <a:off x="5302547" y="5423630"/>
            <a:ext cx="1224136" cy="327774"/>
          </a:xfrm>
          <a:prstGeom prst="line">
            <a:avLst/>
          </a:prstGeom>
        </p:spPr>
        <p:style>
          <a:lnRef idx="1">
            <a:schemeClr val="accent1"/>
          </a:lnRef>
          <a:fillRef idx="0">
            <a:schemeClr val="accent1"/>
          </a:fillRef>
          <a:effectRef idx="0">
            <a:schemeClr val="accent1"/>
          </a:effectRef>
          <a:fontRef idx="minor">
            <a:schemeClr val="tx1"/>
          </a:fontRef>
        </p:style>
      </p:cxnSp>
      <p:sp>
        <p:nvSpPr>
          <p:cNvPr id="96" name="橢圓 95"/>
          <p:cNvSpPr/>
          <p:nvPr/>
        </p:nvSpPr>
        <p:spPr>
          <a:xfrm>
            <a:off x="5441721" y="4734908"/>
            <a:ext cx="1625022" cy="18002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7" name="橢圓 96"/>
          <p:cNvSpPr/>
          <p:nvPr/>
        </p:nvSpPr>
        <p:spPr>
          <a:xfrm>
            <a:off x="981284" y="5263935"/>
            <a:ext cx="360040" cy="35074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8" name="文字方塊 97"/>
          <p:cNvSpPr txBox="1"/>
          <p:nvPr/>
        </p:nvSpPr>
        <p:spPr>
          <a:xfrm>
            <a:off x="1053292" y="5254643"/>
            <a:ext cx="144016" cy="369332"/>
          </a:xfrm>
          <a:prstGeom prst="rect">
            <a:avLst/>
          </a:prstGeom>
          <a:noFill/>
        </p:spPr>
        <p:txBody>
          <a:bodyPr wrap="square" rtlCol="0">
            <a:spAutoFit/>
          </a:bodyPr>
          <a:lstStyle/>
          <a:p>
            <a:r>
              <a:rPr lang="en-US" altLang="zh-TW" dirty="0"/>
              <a:t>a</a:t>
            </a:r>
            <a:endParaRPr lang="zh-TW" altLang="en-US" dirty="0"/>
          </a:p>
        </p:txBody>
      </p:sp>
      <p:sp>
        <p:nvSpPr>
          <p:cNvPr id="99" name="橢圓 98"/>
          <p:cNvSpPr/>
          <p:nvPr/>
        </p:nvSpPr>
        <p:spPr>
          <a:xfrm>
            <a:off x="1698687" y="5839999"/>
            <a:ext cx="360040" cy="35074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0" name="文字方塊 99"/>
          <p:cNvSpPr txBox="1"/>
          <p:nvPr/>
        </p:nvSpPr>
        <p:spPr>
          <a:xfrm>
            <a:off x="1770695" y="5830707"/>
            <a:ext cx="144016" cy="369332"/>
          </a:xfrm>
          <a:prstGeom prst="rect">
            <a:avLst/>
          </a:prstGeom>
          <a:noFill/>
        </p:spPr>
        <p:txBody>
          <a:bodyPr wrap="square" rtlCol="0">
            <a:spAutoFit/>
          </a:bodyPr>
          <a:lstStyle/>
          <a:p>
            <a:r>
              <a:rPr lang="en-US" altLang="zh-TW" dirty="0" smtClean="0"/>
              <a:t>b</a:t>
            </a:r>
            <a:endParaRPr lang="zh-TW" altLang="en-US" dirty="0"/>
          </a:p>
        </p:txBody>
      </p:sp>
      <p:sp>
        <p:nvSpPr>
          <p:cNvPr id="101" name="橢圓 100"/>
          <p:cNvSpPr/>
          <p:nvPr/>
        </p:nvSpPr>
        <p:spPr>
          <a:xfrm>
            <a:off x="1799692" y="5038147"/>
            <a:ext cx="360040" cy="35074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2" name="文字方塊 101"/>
          <p:cNvSpPr txBox="1"/>
          <p:nvPr/>
        </p:nvSpPr>
        <p:spPr>
          <a:xfrm>
            <a:off x="1871700" y="5028855"/>
            <a:ext cx="144016" cy="369332"/>
          </a:xfrm>
          <a:prstGeom prst="rect">
            <a:avLst/>
          </a:prstGeom>
          <a:noFill/>
        </p:spPr>
        <p:txBody>
          <a:bodyPr wrap="square" rtlCol="0">
            <a:spAutoFit/>
          </a:bodyPr>
          <a:lstStyle/>
          <a:p>
            <a:r>
              <a:rPr lang="en-US" altLang="zh-TW" dirty="0" smtClean="0"/>
              <a:t>c</a:t>
            </a:r>
            <a:endParaRPr lang="zh-TW" altLang="en-US" dirty="0"/>
          </a:p>
        </p:txBody>
      </p:sp>
      <p:sp>
        <p:nvSpPr>
          <p:cNvPr id="103" name="橢圓 102"/>
          <p:cNvSpPr/>
          <p:nvPr/>
        </p:nvSpPr>
        <p:spPr>
          <a:xfrm>
            <a:off x="2565460" y="5591709"/>
            <a:ext cx="360040" cy="35074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4" name="文字方塊 103"/>
          <p:cNvSpPr txBox="1"/>
          <p:nvPr/>
        </p:nvSpPr>
        <p:spPr>
          <a:xfrm>
            <a:off x="2637468" y="5582417"/>
            <a:ext cx="144016" cy="369332"/>
          </a:xfrm>
          <a:prstGeom prst="rect">
            <a:avLst/>
          </a:prstGeom>
          <a:noFill/>
        </p:spPr>
        <p:txBody>
          <a:bodyPr wrap="square" rtlCol="0">
            <a:spAutoFit/>
          </a:bodyPr>
          <a:lstStyle/>
          <a:p>
            <a:r>
              <a:rPr lang="en-US" altLang="zh-TW" dirty="0" smtClean="0"/>
              <a:t>d</a:t>
            </a:r>
            <a:endParaRPr lang="zh-TW" altLang="en-US" dirty="0"/>
          </a:p>
        </p:txBody>
      </p:sp>
      <p:sp>
        <p:nvSpPr>
          <p:cNvPr id="105" name="橢圓 104"/>
          <p:cNvSpPr/>
          <p:nvPr/>
        </p:nvSpPr>
        <p:spPr>
          <a:xfrm>
            <a:off x="3285540" y="5027960"/>
            <a:ext cx="360040" cy="35074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6" name="文字方塊 105"/>
          <p:cNvSpPr txBox="1"/>
          <p:nvPr/>
        </p:nvSpPr>
        <p:spPr>
          <a:xfrm>
            <a:off x="3357548" y="5018668"/>
            <a:ext cx="144016" cy="369332"/>
          </a:xfrm>
          <a:prstGeom prst="rect">
            <a:avLst/>
          </a:prstGeom>
          <a:noFill/>
        </p:spPr>
        <p:txBody>
          <a:bodyPr wrap="square" rtlCol="0">
            <a:spAutoFit/>
          </a:bodyPr>
          <a:lstStyle/>
          <a:p>
            <a:r>
              <a:rPr lang="en-US" altLang="zh-TW" dirty="0" smtClean="0"/>
              <a:t>e</a:t>
            </a:r>
            <a:endParaRPr lang="zh-TW" altLang="en-US" dirty="0"/>
          </a:p>
        </p:txBody>
      </p:sp>
      <p:sp>
        <p:nvSpPr>
          <p:cNvPr id="107" name="橢圓 106"/>
          <p:cNvSpPr/>
          <p:nvPr/>
        </p:nvSpPr>
        <p:spPr>
          <a:xfrm>
            <a:off x="3618192" y="6024665"/>
            <a:ext cx="360040" cy="35074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8" name="文字方塊 107"/>
          <p:cNvSpPr txBox="1"/>
          <p:nvPr/>
        </p:nvSpPr>
        <p:spPr>
          <a:xfrm>
            <a:off x="3690200" y="6015373"/>
            <a:ext cx="144016" cy="369332"/>
          </a:xfrm>
          <a:prstGeom prst="rect">
            <a:avLst/>
          </a:prstGeom>
          <a:noFill/>
        </p:spPr>
        <p:txBody>
          <a:bodyPr wrap="square" rtlCol="0">
            <a:spAutoFit/>
          </a:bodyPr>
          <a:lstStyle/>
          <a:p>
            <a:r>
              <a:rPr lang="en-US" altLang="zh-TW" dirty="0" smtClean="0"/>
              <a:t>f</a:t>
            </a:r>
            <a:endParaRPr lang="zh-TW" altLang="en-US" dirty="0"/>
          </a:p>
        </p:txBody>
      </p:sp>
      <p:cxnSp>
        <p:nvCxnSpPr>
          <p:cNvPr id="109" name="直線接點 108"/>
          <p:cNvCxnSpPr>
            <a:stCxn id="97" idx="4"/>
            <a:endCxn id="99" idx="2"/>
          </p:cNvCxnSpPr>
          <p:nvPr/>
        </p:nvCxnSpPr>
        <p:spPr>
          <a:xfrm>
            <a:off x="1161304" y="5614683"/>
            <a:ext cx="537383" cy="400690"/>
          </a:xfrm>
          <a:prstGeom prst="line">
            <a:avLst/>
          </a:prstGeom>
        </p:spPr>
        <p:style>
          <a:lnRef idx="1">
            <a:schemeClr val="accent1"/>
          </a:lnRef>
          <a:fillRef idx="0">
            <a:schemeClr val="accent1"/>
          </a:fillRef>
          <a:effectRef idx="0">
            <a:schemeClr val="accent1"/>
          </a:effectRef>
          <a:fontRef idx="minor">
            <a:schemeClr val="tx1"/>
          </a:fontRef>
        </p:style>
      </p:cxnSp>
      <p:cxnSp>
        <p:nvCxnSpPr>
          <p:cNvPr id="110" name="直線接點 109"/>
          <p:cNvCxnSpPr>
            <a:stCxn id="97" idx="0"/>
            <a:endCxn id="101" idx="2"/>
          </p:cNvCxnSpPr>
          <p:nvPr/>
        </p:nvCxnSpPr>
        <p:spPr>
          <a:xfrm flipV="1">
            <a:off x="1161304" y="5213521"/>
            <a:ext cx="638388" cy="50414"/>
          </a:xfrm>
          <a:prstGeom prst="line">
            <a:avLst/>
          </a:prstGeom>
        </p:spPr>
        <p:style>
          <a:lnRef idx="1">
            <a:schemeClr val="accent1"/>
          </a:lnRef>
          <a:fillRef idx="0">
            <a:schemeClr val="accent1"/>
          </a:fillRef>
          <a:effectRef idx="0">
            <a:schemeClr val="accent1"/>
          </a:effectRef>
          <a:fontRef idx="minor">
            <a:schemeClr val="tx1"/>
          </a:fontRef>
        </p:style>
      </p:cxnSp>
      <p:cxnSp>
        <p:nvCxnSpPr>
          <p:cNvPr id="111" name="直線接點 110"/>
          <p:cNvCxnSpPr>
            <a:stCxn id="101" idx="4"/>
            <a:endCxn id="99" idx="0"/>
          </p:cNvCxnSpPr>
          <p:nvPr/>
        </p:nvCxnSpPr>
        <p:spPr>
          <a:xfrm flipH="1">
            <a:off x="1878707" y="5388895"/>
            <a:ext cx="101005" cy="451104"/>
          </a:xfrm>
          <a:prstGeom prst="line">
            <a:avLst/>
          </a:prstGeom>
        </p:spPr>
        <p:style>
          <a:lnRef idx="1">
            <a:schemeClr val="accent1"/>
          </a:lnRef>
          <a:fillRef idx="0">
            <a:schemeClr val="accent1"/>
          </a:fillRef>
          <a:effectRef idx="0">
            <a:schemeClr val="accent1"/>
          </a:effectRef>
          <a:fontRef idx="minor">
            <a:schemeClr val="tx1"/>
          </a:fontRef>
        </p:style>
      </p:cxnSp>
      <p:cxnSp>
        <p:nvCxnSpPr>
          <p:cNvPr id="112" name="直線接點 111"/>
          <p:cNvCxnSpPr>
            <a:stCxn id="101" idx="5"/>
            <a:endCxn id="103" idx="1"/>
          </p:cNvCxnSpPr>
          <p:nvPr/>
        </p:nvCxnSpPr>
        <p:spPr>
          <a:xfrm>
            <a:off x="2107005" y="5337529"/>
            <a:ext cx="511182" cy="305546"/>
          </a:xfrm>
          <a:prstGeom prst="line">
            <a:avLst/>
          </a:prstGeom>
        </p:spPr>
        <p:style>
          <a:lnRef idx="1">
            <a:schemeClr val="accent1"/>
          </a:lnRef>
          <a:fillRef idx="0">
            <a:schemeClr val="accent1"/>
          </a:fillRef>
          <a:effectRef idx="0">
            <a:schemeClr val="accent1"/>
          </a:effectRef>
          <a:fontRef idx="minor">
            <a:schemeClr val="tx1"/>
          </a:fontRef>
        </p:style>
      </p:cxnSp>
      <p:cxnSp>
        <p:nvCxnSpPr>
          <p:cNvPr id="113" name="直線接點 112"/>
          <p:cNvCxnSpPr>
            <a:stCxn id="101" idx="6"/>
            <a:endCxn id="105" idx="2"/>
          </p:cNvCxnSpPr>
          <p:nvPr/>
        </p:nvCxnSpPr>
        <p:spPr>
          <a:xfrm flipV="1">
            <a:off x="2159732" y="5203334"/>
            <a:ext cx="1125808" cy="10187"/>
          </a:xfrm>
          <a:prstGeom prst="line">
            <a:avLst/>
          </a:prstGeom>
        </p:spPr>
        <p:style>
          <a:lnRef idx="1">
            <a:schemeClr val="accent1"/>
          </a:lnRef>
          <a:fillRef idx="0">
            <a:schemeClr val="accent1"/>
          </a:fillRef>
          <a:effectRef idx="0">
            <a:schemeClr val="accent1"/>
          </a:effectRef>
          <a:fontRef idx="minor">
            <a:schemeClr val="tx1"/>
          </a:fontRef>
        </p:style>
      </p:cxnSp>
      <p:cxnSp>
        <p:nvCxnSpPr>
          <p:cNvPr id="114" name="直線接點 113"/>
          <p:cNvCxnSpPr>
            <a:stCxn id="105" idx="5"/>
            <a:endCxn id="107" idx="0"/>
          </p:cNvCxnSpPr>
          <p:nvPr/>
        </p:nvCxnSpPr>
        <p:spPr>
          <a:xfrm>
            <a:off x="3592853" y="5327342"/>
            <a:ext cx="205359" cy="697323"/>
          </a:xfrm>
          <a:prstGeom prst="line">
            <a:avLst/>
          </a:prstGeom>
        </p:spPr>
        <p:style>
          <a:lnRef idx="1">
            <a:schemeClr val="accent1"/>
          </a:lnRef>
          <a:fillRef idx="0">
            <a:schemeClr val="accent1"/>
          </a:fillRef>
          <a:effectRef idx="0">
            <a:schemeClr val="accent1"/>
          </a:effectRef>
          <a:fontRef idx="minor">
            <a:schemeClr val="tx1"/>
          </a:fontRef>
        </p:style>
      </p:cxnSp>
      <p:cxnSp>
        <p:nvCxnSpPr>
          <p:cNvPr id="115" name="直線接點 114"/>
          <p:cNvCxnSpPr>
            <a:stCxn id="103" idx="5"/>
            <a:endCxn id="107" idx="2"/>
          </p:cNvCxnSpPr>
          <p:nvPr/>
        </p:nvCxnSpPr>
        <p:spPr>
          <a:xfrm>
            <a:off x="2872773" y="5891091"/>
            <a:ext cx="745419" cy="308948"/>
          </a:xfrm>
          <a:prstGeom prst="line">
            <a:avLst/>
          </a:prstGeom>
        </p:spPr>
        <p:style>
          <a:lnRef idx="1">
            <a:schemeClr val="accent1"/>
          </a:lnRef>
          <a:fillRef idx="0">
            <a:schemeClr val="accent1"/>
          </a:fillRef>
          <a:effectRef idx="0">
            <a:schemeClr val="accent1"/>
          </a:effectRef>
          <a:fontRef idx="minor">
            <a:schemeClr val="tx1"/>
          </a:fontRef>
        </p:style>
      </p:cxnSp>
      <p:cxnSp>
        <p:nvCxnSpPr>
          <p:cNvPr id="116" name="直線接點 115"/>
          <p:cNvCxnSpPr>
            <a:stCxn id="105" idx="3"/>
            <a:endCxn id="103" idx="7"/>
          </p:cNvCxnSpPr>
          <p:nvPr/>
        </p:nvCxnSpPr>
        <p:spPr>
          <a:xfrm flipH="1">
            <a:off x="2872773" y="5327342"/>
            <a:ext cx="465494" cy="315733"/>
          </a:xfrm>
          <a:prstGeom prst="line">
            <a:avLst/>
          </a:prstGeom>
        </p:spPr>
        <p:style>
          <a:lnRef idx="1">
            <a:schemeClr val="accent1"/>
          </a:lnRef>
          <a:fillRef idx="0">
            <a:schemeClr val="accent1"/>
          </a:fillRef>
          <a:effectRef idx="0">
            <a:schemeClr val="accent1"/>
          </a:effectRef>
          <a:fontRef idx="minor">
            <a:schemeClr val="tx1"/>
          </a:fontRef>
        </p:style>
      </p:cxnSp>
      <p:cxnSp>
        <p:nvCxnSpPr>
          <p:cNvPr id="117" name="直線接點 116"/>
          <p:cNvCxnSpPr>
            <a:stCxn id="103" idx="3"/>
            <a:endCxn id="99" idx="6"/>
          </p:cNvCxnSpPr>
          <p:nvPr/>
        </p:nvCxnSpPr>
        <p:spPr>
          <a:xfrm flipH="1">
            <a:off x="2058727" y="5891091"/>
            <a:ext cx="559460" cy="124282"/>
          </a:xfrm>
          <a:prstGeom prst="line">
            <a:avLst/>
          </a:prstGeom>
        </p:spPr>
        <p:style>
          <a:lnRef idx="1">
            <a:schemeClr val="accent1"/>
          </a:lnRef>
          <a:fillRef idx="0">
            <a:schemeClr val="accent1"/>
          </a:fillRef>
          <a:effectRef idx="0">
            <a:schemeClr val="accent1"/>
          </a:effectRef>
          <a:fontRef idx="minor">
            <a:schemeClr val="tx1"/>
          </a:fontRef>
        </p:style>
      </p:cxnSp>
      <p:cxnSp>
        <p:nvCxnSpPr>
          <p:cNvPr id="118" name="直線接點 117"/>
          <p:cNvCxnSpPr>
            <a:stCxn id="97" idx="6"/>
            <a:endCxn id="103" idx="2"/>
          </p:cNvCxnSpPr>
          <p:nvPr/>
        </p:nvCxnSpPr>
        <p:spPr>
          <a:xfrm>
            <a:off x="1341324" y="5439309"/>
            <a:ext cx="1224136" cy="327774"/>
          </a:xfrm>
          <a:prstGeom prst="line">
            <a:avLst/>
          </a:prstGeom>
        </p:spPr>
        <p:style>
          <a:lnRef idx="1">
            <a:schemeClr val="accent1"/>
          </a:lnRef>
          <a:fillRef idx="0">
            <a:schemeClr val="accent1"/>
          </a:fillRef>
          <a:effectRef idx="0">
            <a:schemeClr val="accent1"/>
          </a:effectRef>
          <a:fontRef idx="minor">
            <a:schemeClr val="tx1"/>
          </a:fontRef>
        </p:style>
      </p:cxnSp>
      <p:sp>
        <p:nvSpPr>
          <p:cNvPr id="119" name="橢圓 118"/>
          <p:cNvSpPr/>
          <p:nvPr/>
        </p:nvSpPr>
        <p:spPr>
          <a:xfrm>
            <a:off x="1480498" y="4750587"/>
            <a:ext cx="1625022" cy="18002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2" name="橢圓 121"/>
          <p:cNvSpPr/>
          <p:nvPr/>
        </p:nvSpPr>
        <p:spPr>
          <a:xfrm>
            <a:off x="3465560" y="5875412"/>
            <a:ext cx="602384" cy="659696"/>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3" name="向右箭號 122"/>
          <p:cNvSpPr/>
          <p:nvPr/>
        </p:nvSpPr>
        <p:spPr>
          <a:xfrm>
            <a:off x="4211960" y="5473098"/>
            <a:ext cx="432048" cy="2880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41147277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In this paper …</a:t>
            </a:r>
            <a:endParaRPr lang="zh-TW" altLang="en-US" dirty="0"/>
          </a:p>
        </p:txBody>
      </p:sp>
      <p:sp>
        <p:nvSpPr>
          <p:cNvPr id="3" name="內容版面配置區 2"/>
          <p:cNvSpPr>
            <a:spLocks noGrp="1"/>
          </p:cNvSpPr>
          <p:nvPr>
            <p:ph idx="1"/>
          </p:nvPr>
        </p:nvSpPr>
        <p:spPr/>
        <p:txBody>
          <a:bodyPr/>
          <a:lstStyle/>
          <a:p>
            <a:r>
              <a:rPr lang="en-US" altLang="zh-TW" dirty="0" smtClean="0"/>
              <a:t>Local Search Over Tree Space</a:t>
            </a:r>
          </a:p>
          <a:p>
            <a:pPr lvl="1"/>
            <a:r>
              <a:rPr lang="en-US" altLang="zh-TW" dirty="0" smtClean="0"/>
              <a:t>Shaking</a:t>
            </a:r>
          </a:p>
          <a:p>
            <a:pPr lvl="1"/>
            <a:r>
              <a:rPr lang="en-US" altLang="zh-TW" dirty="0" smtClean="0"/>
              <a:t>Grafting</a:t>
            </a:r>
          </a:p>
          <a:p>
            <a:pPr lvl="1"/>
            <a:r>
              <a:rPr lang="en-US" altLang="zh-TW" dirty="0" smtClean="0"/>
              <a:t>Pruning</a:t>
            </a:r>
            <a:endParaRPr lang="zh-TW" altLang="en-US" dirty="0"/>
          </a:p>
        </p:txBody>
      </p:sp>
    </p:spTree>
    <p:extLst>
      <p:ext uri="{BB962C8B-B14F-4D97-AF65-F5344CB8AC3E}">
        <p14:creationId xmlns:p14="http://schemas.microsoft.com/office/powerpoint/2010/main" val="33724892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Local Search Over Tree Space</a:t>
            </a:r>
            <a:endParaRPr lang="zh-TW" altLang="en-US" dirty="0"/>
          </a:p>
        </p:txBody>
      </p:sp>
      <p:sp>
        <p:nvSpPr>
          <p:cNvPr id="3" name="內容版面配置區 2"/>
          <p:cNvSpPr>
            <a:spLocks noGrp="1"/>
          </p:cNvSpPr>
          <p:nvPr>
            <p:ph idx="1"/>
          </p:nvPr>
        </p:nvSpPr>
        <p:spPr/>
        <p:txBody>
          <a:bodyPr/>
          <a:lstStyle/>
          <a:p>
            <a:endParaRPr lang="zh-TW" altLang="en-US"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91003" y="1196752"/>
            <a:ext cx="5807425" cy="5400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0436370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Experiments</a:t>
            </a:r>
            <a:endParaRPr lang="zh-TW" altLang="en-US" dirty="0"/>
          </a:p>
        </p:txBody>
      </p:sp>
      <p:sp>
        <p:nvSpPr>
          <p:cNvPr id="3" name="內容版面配置區 2"/>
          <p:cNvSpPr>
            <a:spLocks noGrp="1"/>
          </p:cNvSpPr>
          <p:nvPr>
            <p:ph idx="1"/>
          </p:nvPr>
        </p:nvSpPr>
        <p:spPr/>
        <p:txBody>
          <a:bodyPr/>
          <a:lstStyle/>
          <a:p>
            <a:r>
              <a:rPr lang="en-US" altLang="zh-TW" dirty="0" smtClean="0"/>
              <a:t>Symbolic Regression Problem </a:t>
            </a:r>
          </a:p>
          <a:p>
            <a:endParaRPr lang="en-US" altLang="zh-TW" dirty="0"/>
          </a:p>
          <a:p>
            <a:r>
              <a:rPr lang="en-US" altLang="zh-TW" dirty="0" smtClean="0"/>
              <a:t>6-Bit Multiplexer Problem</a:t>
            </a:r>
            <a:endParaRPr lang="zh-TW" altLang="en-US" dirty="0"/>
          </a:p>
        </p:txBody>
      </p:sp>
    </p:spTree>
    <p:extLst>
      <p:ext uri="{BB962C8B-B14F-4D97-AF65-F5344CB8AC3E}">
        <p14:creationId xmlns:p14="http://schemas.microsoft.com/office/powerpoint/2010/main" val="255152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Best Solution in the Best Run</a:t>
            </a:r>
            <a:endParaRPr lang="zh-TW" altLang="en-US" dirty="0"/>
          </a:p>
        </p:txBody>
      </p:sp>
      <p:sp>
        <p:nvSpPr>
          <p:cNvPr id="3" name="內容版面配置區 2"/>
          <p:cNvSpPr>
            <a:spLocks noGrp="1"/>
          </p:cNvSpPr>
          <p:nvPr>
            <p:ph idx="1"/>
          </p:nvPr>
        </p:nvSpPr>
        <p:spPr/>
        <p:txBody>
          <a:bodyPr/>
          <a:lstStyle/>
          <a:p>
            <a:endParaRPr lang="zh-TW" altLang="en-US"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7000" y="2060848"/>
            <a:ext cx="8890000" cy="330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6886561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fontScale="90000"/>
          </a:bodyPr>
          <a:lstStyle/>
          <a:p>
            <a:r>
              <a:rPr lang="en-US" altLang="zh-TW" dirty="0" smtClean="0"/>
              <a:t>Average of all Best Solutions in all Runs</a:t>
            </a:r>
            <a:endParaRPr lang="zh-TW" altLang="en-US" dirty="0"/>
          </a:p>
        </p:txBody>
      </p:sp>
      <p:sp>
        <p:nvSpPr>
          <p:cNvPr id="3" name="內容版面配置區 2"/>
          <p:cNvSpPr>
            <a:spLocks noGrp="1"/>
          </p:cNvSpPr>
          <p:nvPr>
            <p:ph idx="1"/>
          </p:nvPr>
        </p:nvSpPr>
        <p:spPr/>
        <p:txBody>
          <a:bodyPr/>
          <a:lstStyle/>
          <a:p>
            <a:endParaRPr lang="zh-TW" altLang="en-US" dirty="0"/>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7000" y="1778000"/>
            <a:ext cx="8890000" cy="330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940132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Amount of the Computations</a:t>
            </a:r>
            <a:endParaRPr lang="zh-TW" altLang="en-US" dirty="0"/>
          </a:p>
        </p:txBody>
      </p:sp>
      <p:sp>
        <p:nvSpPr>
          <p:cNvPr id="3" name="內容版面配置區 2"/>
          <p:cNvSpPr>
            <a:spLocks noGrp="1"/>
          </p:cNvSpPr>
          <p:nvPr>
            <p:ph idx="1"/>
          </p:nvPr>
        </p:nvSpPr>
        <p:spPr/>
        <p:txBody>
          <a:bodyPr/>
          <a:lstStyle/>
          <a:p>
            <a:endParaRPr lang="zh-TW" altLang="en-US" dirty="0"/>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7000" y="1778000"/>
            <a:ext cx="8890000" cy="330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0404576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a:xfrm>
            <a:off x="457200" y="2780928"/>
            <a:ext cx="8229600" cy="3345235"/>
          </a:xfrm>
        </p:spPr>
        <p:txBody>
          <a:bodyPr/>
          <a:lstStyle/>
          <a:p>
            <a:pPr marL="0" indent="0" algn="ctr">
              <a:buNone/>
            </a:pPr>
            <a:r>
              <a:rPr lang="en-US" altLang="zh-TW" sz="7200" dirty="0" smtClean="0">
                <a:latin typeface="John Handy LET" pitchFamily="2" charset="0"/>
              </a:rPr>
              <a:t>THE END</a:t>
            </a:r>
            <a:endParaRPr lang="zh-TW" altLang="en-US" sz="7200" dirty="0">
              <a:latin typeface="John Handy LET" pitchFamily="2" charset="0"/>
            </a:endParaRPr>
          </a:p>
        </p:txBody>
      </p:sp>
    </p:spTree>
    <p:extLst>
      <p:ext uri="{BB962C8B-B14F-4D97-AF65-F5344CB8AC3E}">
        <p14:creationId xmlns:p14="http://schemas.microsoft.com/office/powerpoint/2010/main" val="1559919146"/>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207</TotalTime>
  <Words>306</Words>
  <Application>Microsoft Office PowerPoint</Application>
  <PresentationFormat>如螢幕大小 (4:3)</PresentationFormat>
  <Paragraphs>79</Paragraphs>
  <Slides>13</Slides>
  <Notes>0</Notes>
  <HiddenSlides>0</HiddenSlides>
  <MMClips>0</MMClips>
  <ScaleCrop>false</ScaleCrop>
  <HeadingPairs>
    <vt:vector size="4" baseType="variant">
      <vt:variant>
        <vt:lpstr>佈景主題</vt:lpstr>
      </vt:variant>
      <vt:variant>
        <vt:i4>1</vt:i4>
      </vt:variant>
      <vt:variant>
        <vt:lpstr>投影片標題</vt:lpstr>
      </vt:variant>
      <vt:variant>
        <vt:i4>13</vt:i4>
      </vt:variant>
    </vt:vector>
  </HeadingPairs>
  <TitlesOfParts>
    <vt:vector size="14" baseType="lpstr">
      <vt:lpstr>Office 佈景主題</vt:lpstr>
      <vt:lpstr>Memetic programming with adaptive local search using tree data structures</vt:lpstr>
      <vt:lpstr>Abstract</vt:lpstr>
      <vt:lpstr>Memetic algorithms(MA)</vt:lpstr>
      <vt:lpstr>Pseudo code</vt:lpstr>
      <vt:lpstr>Example : Solving MAX Clique</vt:lpstr>
      <vt:lpstr>Example : Solving MAX Clique</vt:lpstr>
      <vt:lpstr>In this paper …</vt:lpstr>
      <vt:lpstr>Local Search Over Tree Space</vt:lpstr>
      <vt:lpstr>Experiments</vt:lpstr>
      <vt:lpstr>Best Solution in the Best Run</vt:lpstr>
      <vt:lpstr>Average of all Best Solutions in all Runs</vt:lpstr>
      <vt:lpstr>Amount of the Computations</vt:lpstr>
      <vt:lpstr>PowerPoint 簡報</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Memetic programming with adaptive local search using tree data structures</dc:title>
  <dc:creator>user</dc:creator>
  <cp:lastModifiedBy>user</cp:lastModifiedBy>
  <cp:revision>29</cp:revision>
  <dcterms:created xsi:type="dcterms:W3CDTF">2012-07-31T04:20:24Z</dcterms:created>
  <dcterms:modified xsi:type="dcterms:W3CDTF">2012-07-31T07:48:07Z</dcterms:modified>
</cp:coreProperties>
</file>