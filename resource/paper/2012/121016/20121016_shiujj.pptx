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73" r:id="rId7"/>
    <p:sldId id="262" r:id="rId8"/>
    <p:sldId id="261" r:id="rId9"/>
    <p:sldId id="263" r:id="rId10"/>
    <p:sldId id="264" r:id="rId11"/>
    <p:sldId id="265" r:id="rId12"/>
    <p:sldId id="266" r:id="rId13"/>
    <p:sldId id="267" r:id="rId14"/>
    <p:sldId id="268" r:id="rId15"/>
    <p:sldId id="269" r:id="rId16"/>
    <p:sldId id="270" r:id="rId17"/>
    <p:sldId id="271" r:id="rId18"/>
    <p:sldId id="272" r:id="rId1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80" d="100"/>
          <a:sy n="80" d="100"/>
        </p:scale>
        <p:origin x="-84" y="-16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9C2111-A704-446A-A750-D23C38C11AEE}" type="datetimeFigureOut">
              <a:rPr lang="zh-TW" altLang="en-US" smtClean="0"/>
              <a:t>2012/10/16</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3FAF9F-B1AD-439C-A38A-351511E06EFA}" type="slidenum">
              <a:rPr lang="zh-TW" altLang="en-US" smtClean="0"/>
              <a:t>‹#›</a:t>
            </a:fld>
            <a:endParaRPr lang="zh-TW" altLang="en-US"/>
          </a:p>
        </p:txBody>
      </p:sp>
    </p:spTree>
    <p:extLst>
      <p:ext uri="{BB962C8B-B14F-4D97-AF65-F5344CB8AC3E}">
        <p14:creationId xmlns:p14="http://schemas.microsoft.com/office/powerpoint/2010/main" val="40642471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333FAF9F-B1AD-439C-A38A-351511E06EFA}" type="slidenum">
              <a:rPr lang="zh-TW" altLang="en-US" smtClean="0"/>
              <a:t>4</a:t>
            </a:fld>
            <a:endParaRPr lang="zh-TW" altLang="en-US"/>
          </a:p>
        </p:txBody>
      </p:sp>
    </p:spTree>
    <p:extLst>
      <p:ext uri="{BB962C8B-B14F-4D97-AF65-F5344CB8AC3E}">
        <p14:creationId xmlns:p14="http://schemas.microsoft.com/office/powerpoint/2010/main" val="27863225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80C761AE-9309-4BFC-BC01-2177CC28FCB5}" type="datetime1">
              <a:rPr lang="zh-TW" altLang="en-US" smtClean="0"/>
              <a:t>2012/10/16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B87B99EC-5027-4CB4-B1AF-681ED81640F5}" type="datetime1">
              <a:rPr lang="zh-TW" altLang="en-US" smtClean="0"/>
              <a:t>2012/10/16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D9499BD1-D2D1-4390-A7E2-C82B9B5DF68F}" type="datetime1">
              <a:rPr lang="zh-TW" altLang="en-US" smtClean="0"/>
              <a:t>2012/10/16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3D93DB4A-5559-43F8-9D81-5E90A2436FD0}" type="datetime1">
              <a:rPr lang="zh-TW" altLang="en-US" smtClean="0"/>
              <a:t>2012/10/16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A9ADA89E-55C9-431B-9E3D-ADFF5BC89F5A}" type="datetime1">
              <a:rPr lang="zh-TW" altLang="en-US" smtClean="0"/>
              <a:t>2012/10/16</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3712574F-E9BE-4EE4-A1EE-7F5FEF5318AD}" type="datetime1">
              <a:rPr lang="zh-TW" altLang="en-US" smtClean="0"/>
              <a:t>2012/10/16</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CF688405-CD4D-41F1-9D5F-2D98CC81F660}" type="datetime1">
              <a:rPr lang="zh-TW" altLang="en-US" smtClean="0"/>
              <a:t>2012/10/16</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F9B7EA2F-7A6B-4FB4-9BB5-1D0F4CD5646F}" type="datetime1">
              <a:rPr lang="zh-TW" altLang="en-US" smtClean="0"/>
              <a:t>2012/10/16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63765F9-7033-4CA1-9B28-C6BCD1EDF25E}" type="datetime1">
              <a:rPr lang="zh-TW" altLang="en-US" smtClean="0"/>
              <a:t>2012/10/16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9F8E7DC-B820-459C-9045-C18B9A76AD4C}" type="datetime1">
              <a:rPr lang="zh-TW" altLang="en-US" smtClean="0"/>
              <a:t>2012/10/16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E5D3CD6-3417-409D-929E-5A5E5F4F54B4}" type="datetime1">
              <a:rPr lang="zh-TW" altLang="en-US" smtClean="0"/>
              <a:t>2012/10/16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4B5EB8-DC10-4AF8-83CE-3E742B483AA2}" type="datetime1">
              <a:rPr lang="zh-TW" altLang="en-US" smtClean="0"/>
              <a:t>2012/10/16</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a:t>Correlation based dynamic time warping of multivariate time series</a:t>
            </a:r>
            <a:endParaRPr lang="zh-TW" altLang="en-US" dirty="0"/>
          </a:p>
        </p:txBody>
      </p:sp>
      <p:sp>
        <p:nvSpPr>
          <p:cNvPr id="3" name="副標題 2"/>
          <p:cNvSpPr>
            <a:spLocks noGrp="1"/>
          </p:cNvSpPr>
          <p:nvPr>
            <p:ph type="subTitle" idx="1"/>
          </p:nvPr>
        </p:nvSpPr>
        <p:spPr/>
        <p:txBody>
          <a:bodyPr>
            <a:normAutofit/>
          </a:bodyPr>
          <a:lstStyle/>
          <a:p>
            <a:pPr algn="l"/>
            <a:r>
              <a:rPr lang="en-US" altLang="zh-TW" sz="1400" dirty="0"/>
              <a:t>Expert Systems with Applications, Volume 39, Issue 17, 1 December 2012, </a:t>
            </a:r>
            <a:r>
              <a:rPr lang="en-US" altLang="zh-TW" sz="1400" dirty="0" smtClean="0"/>
              <a:t>Pages 12814–12823</a:t>
            </a:r>
          </a:p>
          <a:p>
            <a:pPr algn="l"/>
            <a:r>
              <a:rPr lang="en-US" altLang="zh-TW" sz="1400" dirty="0" smtClean="0"/>
              <a:t>University </a:t>
            </a:r>
            <a:r>
              <a:rPr lang="en-US" altLang="zh-TW" sz="1400" dirty="0"/>
              <a:t>of Pannonia, Department of Process Engineering, P.O. Box 158, H-8200, Veszprem, </a:t>
            </a:r>
            <a:r>
              <a:rPr lang="en-US" altLang="zh-TW" sz="1400" dirty="0" smtClean="0"/>
              <a:t>Hungary</a:t>
            </a:r>
          </a:p>
          <a:p>
            <a:pPr algn="l"/>
            <a:endParaRPr lang="en-US" altLang="zh-TW" sz="1400" dirty="0"/>
          </a:p>
          <a:p>
            <a:pPr algn="l"/>
            <a:r>
              <a:rPr lang="en-US" altLang="zh-TW" sz="1800" dirty="0" err="1"/>
              <a:t>Zoltán</a:t>
            </a:r>
            <a:r>
              <a:rPr lang="en-US" altLang="zh-TW" sz="1800" dirty="0"/>
              <a:t> </a:t>
            </a:r>
            <a:r>
              <a:rPr lang="en-US" altLang="zh-TW" sz="1800" dirty="0" err="1"/>
              <a:t>Bankó</a:t>
            </a:r>
            <a:r>
              <a:rPr lang="en-US" altLang="zh-TW" sz="1800" dirty="0"/>
              <a:t>,  </a:t>
            </a:r>
            <a:r>
              <a:rPr lang="en-US" altLang="zh-TW" sz="1800" dirty="0" err="1"/>
              <a:t>János</a:t>
            </a:r>
            <a:r>
              <a:rPr lang="en-US" altLang="zh-TW" sz="1800" dirty="0"/>
              <a:t> </a:t>
            </a:r>
            <a:r>
              <a:rPr lang="en-US" altLang="zh-TW" sz="1800" dirty="0" err="1"/>
              <a:t>Abonyi</a:t>
            </a:r>
            <a:endParaRPr lang="zh-TW" altLang="en-US" sz="1800"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1</a:t>
            </a:fld>
            <a:endParaRPr lang="zh-TW" altLang="en-US"/>
          </a:p>
        </p:txBody>
      </p:sp>
    </p:spTree>
    <p:extLst>
      <p:ext uri="{BB962C8B-B14F-4D97-AF65-F5344CB8AC3E}">
        <p14:creationId xmlns:p14="http://schemas.microsoft.com/office/powerpoint/2010/main" val="27628757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Abstract</a:t>
            </a:r>
            <a:endParaRPr lang="zh-TW" altLang="en-US" dirty="0"/>
          </a:p>
        </p:txBody>
      </p:sp>
      <p:sp>
        <p:nvSpPr>
          <p:cNvPr id="3" name="內容版面配置區 2"/>
          <p:cNvSpPr>
            <a:spLocks noGrp="1"/>
          </p:cNvSpPr>
          <p:nvPr>
            <p:ph idx="1"/>
          </p:nvPr>
        </p:nvSpPr>
        <p:spPr/>
        <p:txBody>
          <a:bodyPr>
            <a:normAutofit fontScale="92500" lnSpcReduction="20000"/>
          </a:bodyPr>
          <a:lstStyle/>
          <a:p>
            <a:r>
              <a:rPr lang="en-US" altLang="zh-TW" dirty="0"/>
              <a:t>In recent years, dynamic time warping (DTW) has begun to become the most widely </a:t>
            </a:r>
            <a:r>
              <a:rPr lang="en-US" altLang="zh-TW" dirty="0" smtClean="0"/>
              <a:t>used technique for </a:t>
            </a:r>
            <a:r>
              <a:rPr lang="en-US" altLang="zh-TW" dirty="0"/>
              <a:t>comparison of time series data where extensive a priori knowledge is not available. However, it is often expected a multivariate comparison method to consider the correlation between the variables as this correlation carries the real information in many cases. Thus, principal component analysis (PCA) based similarity measures, such as PCA similarity factor (SPCA), are used in many industrial applications.</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2</a:t>
            </a:fld>
            <a:endParaRPr lang="zh-TW" altLang="en-US"/>
          </a:p>
        </p:txBody>
      </p:sp>
    </p:spTree>
    <p:extLst>
      <p:ext uri="{BB962C8B-B14F-4D97-AF65-F5344CB8AC3E}">
        <p14:creationId xmlns:p14="http://schemas.microsoft.com/office/powerpoint/2010/main" val="30655855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Abstract</a:t>
            </a:r>
            <a:endParaRPr lang="zh-TW" altLang="en-US" dirty="0"/>
          </a:p>
        </p:txBody>
      </p:sp>
      <p:sp>
        <p:nvSpPr>
          <p:cNvPr id="3" name="內容版面配置區 2"/>
          <p:cNvSpPr>
            <a:spLocks noGrp="1"/>
          </p:cNvSpPr>
          <p:nvPr>
            <p:ph idx="1"/>
          </p:nvPr>
        </p:nvSpPr>
        <p:spPr/>
        <p:txBody>
          <a:bodyPr>
            <a:normAutofit fontScale="77500" lnSpcReduction="20000"/>
          </a:bodyPr>
          <a:lstStyle/>
          <a:p>
            <a:r>
              <a:rPr lang="en-US" altLang="zh-TW" dirty="0"/>
              <a:t>In this paper, we present a novel algorithm called correlation based dynamic time warping (CBDTW) which combines DTW and PCA based similarity measures. To preserve correlation, multivariate time series are segmented and the local dissimilarity function of DTW originated from SPCA. The segments are obtained by bottom-up segmentation using special, PCA related costs. Our novel technique qualified on two databases, the database of signature verification competition 2004 and the commonly used AUSLAN dataset. We show that CBDTW outperforms the standard SPCA and the most commonly used, Euclidean distance based multivariate DTW in case of datasets with complex correlation structure.</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3</a:t>
            </a:fld>
            <a:endParaRPr lang="zh-TW" altLang="en-US"/>
          </a:p>
        </p:txBody>
      </p:sp>
    </p:spTree>
    <p:extLst>
      <p:ext uri="{BB962C8B-B14F-4D97-AF65-F5344CB8AC3E}">
        <p14:creationId xmlns:p14="http://schemas.microsoft.com/office/powerpoint/2010/main" val="18278646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Introduction</a:t>
            </a:r>
            <a:br>
              <a:rPr lang="en-US" altLang="zh-TW" dirty="0"/>
            </a:br>
            <a:endParaRPr lang="zh-TW" altLang="en-US" dirty="0"/>
          </a:p>
        </p:txBody>
      </p:sp>
      <p:sp>
        <p:nvSpPr>
          <p:cNvPr id="3" name="內容版面配置區 2"/>
          <p:cNvSpPr>
            <a:spLocks noGrp="1"/>
          </p:cNvSpPr>
          <p:nvPr>
            <p:ph idx="1"/>
          </p:nvPr>
        </p:nvSpPr>
        <p:spPr/>
        <p:txBody>
          <a:bodyPr/>
          <a:lstStyle/>
          <a:p>
            <a:r>
              <a:rPr lang="en-US" altLang="zh-TW" dirty="0" smtClean="0"/>
              <a:t>Time series</a:t>
            </a:r>
          </a:p>
          <a:p>
            <a:r>
              <a:rPr lang="en-US" altLang="zh-TW" dirty="0" smtClean="0"/>
              <a:t>Multivariate </a:t>
            </a:r>
            <a:r>
              <a:rPr lang="en-US" altLang="zh-TW" dirty="0"/>
              <a:t>time </a:t>
            </a:r>
            <a:r>
              <a:rPr lang="en-US" altLang="zh-TW" dirty="0" smtClean="0"/>
              <a:t>series</a:t>
            </a:r>
          </a:p>
          <a:p>
            <a:r>
              <a:rPr lang="en-US" altLang="zh-TW" dirty="0" smtClean="0"/>
              <a:t>Dynamic </a:t>
            </a:r>
            <a:r>
              <a:rPr lang="en-US" altLang="zh-TW" dirty="0"/>
              <a:t>time </a:t>
            </a:r>
            <a:r>
              <a:rPr lang="en-US" altLang="zh-TW" dirty="0" smtClean="0"/>
              <a:t>warping (DTW)</a:t>
            </a:r>
          </a:p>
          <a:p>
            <a:r>
              <a:rPr lang="en-US" altLang="zh-TW" dirty="0" smtClean="0"/>
              <a:t>Principal </a:t>
            </a:r>
            <a:r>
              <a:rPr lang="en-US" altLang="zh-TW" dirty="0"/>
              <a:t>component </a:t>
            </a:r>
            <a:r>
              <a:rPr lang="en-US" altLang="zh-TW" dirty="0" smtClean="0"/>
              <a:t>analysis (PCA)</a:t>
            </a:r>
            <a:endParaRPr lang="en-US" altLang="zh-TW"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4</a:t>
            </a:fld>
            <a:endParaRPr lang="zh-TW" altLang="en-US"/>
          </a:p>
        </p:txBody>
      </p:sp>
    </p:spTree>
    <p:extLst>
      <p:ext uri="{BB962C8B-B14F-4D97-AF65-F5344CB8AC3E}">
        <p14:creationId xmlns:p14="http://schemas.microsoft.com/office/powerpoint/2010/main" val="22174765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Dynamic </a:t>
            </a:r>
            <a:r>
              <a:rPr lang="en-US" altLang="zh-TW" dirty="0" smtClean="0"/>
              <a:t>Time Warping </a:t>
            </a:r>
            <a:r>
              <a:rPr lang="en-US" altLang="zh-TW" dirty="0"/>
              <a:t>(DTW)</a:t>
            </a:r>
          </a:p>
        </p:txBody>
      </p:sp>
      <p:sp>
        <p:nvSpPr>
          <p:cNvPr id="3" name="內容版面配置區 2"/>
          <p:cNvSpPr>
            <a:spLocks noGrp="1"/>
          </p:cNvSpPr>
          <p:nvPr>
            <p:ph idx="1"/>
          </p:nvPr>
        </p:nvSpPr>
        <p:spPr>
          <a:xfrm>
            <a:off x="457200" y="1412776"/>
            <a:ext cx="8229600" cy="4713387"/>
          </a:xfrm>
        </p:spPr>
        <p:txBody>
          <a:bodyPr>
            <a:normAutofit/>
          </a:bodyPr>
          <a:lstStyle/>
          <a:p>
            <a:r>
              <a:rPr lang="zh-TW" altLang="en-US" sz="2000" dirty="0" smtClean="0"/>
              <a:t>假設兩個向量</a:t>
            </a:r>
            <a:r>
              <a:rPr lang="en-US" altLang="zh-TW" sz="2000" dirty="0" smtClean="0"/>
              <a:t>t</a:t>
            </a:r>
            <a:r>
              <a:rPr lang="zh-TW" altLang="en-US" sz="2000" dirty="0" smtClean="0"/>
              <a:t> </a:t>
            </a:r>
            <a:r>
              <a:rPr lang="zh-TW" altLang="en-US" sz="2000" dirty="0"/>
              <a:t>、 </a:t>
            </a:r>
            <a:r>
              <a:rPr lang="en-US" altLang="zh-TW" sz="2000" dirty="0" smtClean="0"/>
              <a:t>r</a:t>
            </a:r>
            <a:r>
              <a:rPr lang="zh-TW" altLang="en-US" sz="2000" dirty="0" smtClean="0"/>
              <a:t>長度分別為</a:t>
            </a:r>
            <a:r>
              <a:rPr lang="en-US" altLang="zh-TW" sz="2000" dirty="0" smtClean="0"/>
              <a:t>m</a:t>
            </a:r>
            <a:r>
              <a:rPr lang="zh-TW" altLang="en-US" sz="2000" dirty="0"/>
              <a:t>、</a:t>
            </a:r>
            <a:r>
              <a:rPr lang="en-US" altLang="zh-TW" sz="2000" dirty="0" smtClean="0"/>
              <a:t>n</a:t>
            </a:r>
            <a:r>
              <a:rPr lang="zh-TW" altLang="en-US" sz="2000" dirty="0" smtClean="0"/>
              <a:t>，</a:t>
            </a:r>
            <a:r>
              <a:rPr lang="zh-TW" altLang="en-US" sz="2000" dirty="0"/>
              <a:t>那</a:t>
            </a:r>
            <a:r>
              <a:rPr lang="en-US" altLang="zh-TW" sz="2000" dirty="0" smtClean="0"/>
              <a:t>DTW</a:t>
            </a:r>
            <a:r>
              <a:rPr lang="zh-TW" altLang="en-US" sz="2000" dirty="0" smtClean="0"/>
              <a:t>的目標就是找到一組路徑</a:t>
            </a:r>
            <a:r>
              <a:rPr lang="en-US" altLang="zh-TW" sz="2000" dirty="0" smtClean="0"/>
              <a:t>( p1, q1 )</a:t>
            </a:r>
            <a:r>
              <a:rPr lang="zh-TW" altLang="en-US" sz="2000" dirty="0" smtClean="0"/>
              <a:t> </a:t>
            </a:r>
            <a:r>
              <a:rPr lang="zh-TW" altLang="en-US" sz="2000" dirty="0"/>
              <a:t>、</a:t>
            </a:r>
            <a:r>
              <a:rPr lang="en-US" altLang="zh-TW" sz="2000" dirty="0" smtClean="0"/>
              <a:t> ( p2, q2 </a:t>
            </a:r>
            <a:r>
              <a:rPr lang="en-US" altLang="zh-TW" sz="2000" dirty="0"/>
              <a:t>)</a:t>
            </a:r>
            <a:r>
              <a:rPr lang="zh-TW" altLang="en-US" sz="2000" dirty="0" smtClean="0"/>
              <a:t> </a:t>
            </a:r>
            <a:r>
              <a:rPr lang="en-US" altLang="zh-TW" sz="2000" dirty="0" smtClean="0"/>
              <a:t>,…,(</a:t>
            </a:r>
            <a:r>
              <a:rPr lang="en-US" altLang="zh-TW" sz="2000" dirty="0" err="1" smtClean="0"/>
              <a:t>pk</a:t>
            </a:r>
            <a:r>
              <a:rPr lang="en-US" altLang="zh-TW" sz="2000" dirty="0" smtClean="0"/>
              <a:t>, </a:t>
            </a:r>
            <a:r>
              <a:rPr lang="en-US" altLang="zh-TW" sz="2000" dirty="0" err="1" smtClean="0"/>
              <a:t>qk</a:t>
            </a:r>
            <a:r>
              <a:rPr lang="en-US" altLang="zh-TW" sz="2000" dirty="0" smtClean="0"/>
              <a:t>)</a:t>
            </a:r>
            <a:r>
              <a:rPr lang="zh-TW" altLang="en-US" sz="2000" dirty="0" smtClean="0"/>
              <a:t>最小值。</a:t>
            </a:r>
            <a:endParaRPr lang="en-US" altLang="zh-TW" sz="2000" dirty="0" smtClean="0"/>
          </a:p>
          <a:p>
            <a:r>
              <a:rPr lang="zh-TW" altLang="en-US" sz="2000" dirty="0"/>
              <a:t>滿足兩端點</a:t>
            </a:r>
            <a:r>
              <a:rPr lang="en-US" altLang="zh-TW" sz="2000" dirty="0" smtClean="0"/>
              <a:t>( p1, q1 ) = ( 1, 1 )</a:t>
            </a:r>
            <a:r>
              <a:rPr lang="zh-TW" altLang="en-US" sz="2000" dirty="0" smtClean="0"/>
              <a:t>，</a:t>
            </a:r>
            <a:r>
              <a:rPr lang="en-US" altLang="zh-TW" sz="2000" dirty="0" smtClean="0"/>
              <a:t>( </a:t>
            </a:r>
            <a:r>
              <a:rPr lang="en-US" altLang="zh-TW" sz="2000" dirty="0" err="1" smtClean="0"/>
              <a:t>pk</a:t>
            </a:r>
            <a:r>
              <a:rPr lang="en-US" altLang="zh-TW" sz="2000" dirty="0" smtClean="0"/>
              <a:t>, </a:t>
            </a:r>
            <a:r>
              <a:rPr lang="en-US" altLang="zh-TW" sz="2000" dirty="0" err="1" smtClean="0"/>
              <a:t>qk</a:t>
            </a:r>
            <a:r>
              <a:rPr lang="en-US" altLang="zh-TW" sz="2000" dirty="0" smtClean="0"/>
              <a:t> ) = (m, n)</a:t>
            </a:r>
          </a:p>
          <a:p>
            <a:r>
              <a:rPr lang="en-US" altLang="zh-TW" sz="2000" dirty="0" smtClean="0"/>
              <a:t>D(</a:t>
            </a:r>
            <a:r>
              <a:rPr lang="en-US" altLang="zh-TW" sz="2000" dirty="0" err="1" smtClean="0"/>
              <a:t>i</a:t>
            </a:r>
            <a:r>
              <a:rPr lang="en-US" altLang="zh-TW" sz="2000" dirty="0" smtClean="0"/>
              <a:t>, j) = distance(t</a:t>
            </a:r>
            <a:r>
              <a:rPr lang="zh-TW" altLang="en-US" sz="2000" dirty="0" smtClean="0"/>
              <a:t> </a:t>
            </a:r>
            <a:r>
              <a:rPr lang="en-US" altLang="zh-TW" sz="2000" dirty="0" smtClean="0"/>
              <a:t>[1, </a:t>
            </a:r>
            <a:r>
              <a:rPr lang="en-US" altLang="zh-TW" sz="2000" dirty="0" err="1" smtClean="0"/>
              <a:t>i</a:t>
            </a:r>
            <a:r>
              <a:rPr lang="en-US" altLang="zh-TW" sz="2000" dirty="0" smtClean="0"/>
              <a:t>], r[j, 1])</a:t>
            </a:r>
          </a:p>
          <a:p>
            <a:r>
              <a:rPr lang="en-US" altLang="zh-TW" sz="2800" dirty="0" smtClean="0"/>
              <a:t>Example</a:t>
            </a:r>
            <a:r>
              <a:rPr lang="en-US" altLang="zh-TW" sz="2000" dirty="0" smtClean="0"/>
              <a:t>:</a:t>
            </a:r>
          </a:p>
          <a:p>
            <a:pPr lvl="0"/>
            <a:r>
              <a:rPr lang="en-US" altLang="zh-TW" sz="2000" dirty="0" smtClean="0"/>
              <a:t>Char a</a:t>
            </a:r>
            <a:r>
              <a:rPr lang="en-US" altLang="zh-TW" sz="2000" dirty="0"/>
              <a:t>, b : 0 if a==b else 1</a:t>
            </a:r>
            <a:endParaRPr kumimoji="1" lang="zh-TW" altLang="zh-TW" sz="2000" dirty="0">
              <a:latin typeface="Arial" pitchFamily="34" charset="0"/>
              <a:ea typeface="新細明體" pitchFamily="18" charset="-120"/>
              <a:cs typeface="新細明體" pitchFamily="18" charset="-120"/>
            </a:endParaRPr>
          </a:p>
          <a:p>
            <a:endParaRPr lang="zh-TW" altLang="en-US" sz="2800"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5</a:t>
            </a:fld>
            <a:endParaRPr lang="zh-TW" altLang="en-US"/>
          </a:p>
        </p:txBody>
      </p:sp>
      <p:sp>
        <p:nvSpPr>
          <p:cNvPr id="7" name="Rectangle 1"/>
          <p:cNvSpPr>
            <a:spLocks noChangeArrowheads="1"/>
          </p:cNvSpPr>
          <p:nvPr/>
        </p:nvSpPr>
        <p:spPr bwMode="auto">
          <a:xfrm>
            <a:off x="457200"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TW" altLang="zh-TW" sz="1800" b="0" i="0" u="none" strike="noStrike" cap="none" normalizeH="0" baseline="0" smtClean="0">
                <a:ln>
                  <a:noFill/>
                </a:ln>
                <a:solidFill>
                  <a:schemeClr val="tx1"/>
                </a:solidFill>
                <a:effectLst/>
                <a:latin typeface="Arial" pitchFamily="34" charset="0"/>
                <a:ea typeface="新細明體" pitchFamily="18" charset="-120"/>
                <a:cs typeface="新細明體" pitchFamily="18" charset="-120"/>
              </a:rPr>
              <a:t/>
            </a:r>
            <a:br>
              <a:rPr kumimoji="1" lang="zh-TW" altLang="zh-TW" sz="1800" b="0" i="0" u="none" strike="noStrike" cap="none" normalizeH="0" baseline="0" smtClean="0">
                <a:ln>
                  <a:noFill/>
                </a:ln>
                <a:solidFill>
                  <a:schemeClr val="tx1"/>
                </a:solidFill>
                <a:effectLst/>
                <a:latin typeface="Arial" pitchFamily="34" charset="0"/>
                <a:ea typeface="新細明體" pitchFamily="18" charset="-120"/>
                <a:cs typeface="新細明體" pitchFamily="18" charset="-120"/>
              </a:rPr>
            </a:br>
            <a:endParaRPr kumimoji="1" lang="zh-TW" altLang="zh-TW" sz="1800" b="0" i="0" u="none" strike="noStrike" cap="none" normalizeH="0" baseline="0" smtClean="0">
              <a:ln>
                <a:noFill/>
              </a:ln>
              <a:solidFill>
                <a:schemeClr val="tx1"/>
              </a:solidFill>
              <a:effectLst/>
              <a:latin typeface="Arial" pitchFamily="34" charset="0"/>
              <a:ea typeface="新細明體" pitchFamily="18" charset="-120"/>
              <a:cs typeface="新細明體" pitchFamily="18" charset="-120"/>
            </a:endParaRPr>
          </a:p>
        </p:txBody>
      </p:sp>
      <p:graphicFrame>
        <p:nvGraphicFramePr>
          <p:cNvPr id="8" name="表格 7"/>
          <p:cNvGraphicFramePr>
            <a:graphicFrameLocks noGrp="1"/>
          </p:cNvGraphicFramePr>
          <p:nvPr>
            <p:extLst>
              <p:ext uri="{D42A27DB-BD31-4B8C-83A1-F6EECF244321}">
                <p14:modId xmlns:p14="http://schemas.microsoft.com/office/powerpoint/2010/main" val="443247254"/>
              </p:ext>
            </p:extLst>
          </p:nvPr>
        </p:nvGraphicFramePr>
        <p:xfrm>
          <a:off x="251520" y="3789040"/>
          <a:ext cx="8229606" cy="2926080"/>
        </p:xfrm>
        <a:graphic>
          <a:graphicData uri="http://schemas.openxmlformats.org/drawingml/2006/table">
            <a:tbl>
              <a:tblPr/>
              <a:tblGrid>
                <a:gridCol w="374073"/>
                <a:gridCol w="374073"/>
                <a:gridCol w="374073"/>
                <a:gridCol w="374073"/>
                <a:gridCol w="374073"/>
                <a:gridCol w="374073"/>
                <a:gridCol w="374073"/>
                <a:gridCol w="374073"/>
                <a:gridCol w="374073"/>
                <a:gridCol w="374073"/>
                <a:gridCol w="374073"/>
                <a:gridCol w="374073"/>
                <a:gridCol w="374073"/>
                <a:gridCol w="374073"/>
                <a:gridCol w="374073"/>
                <a:gridCol w="374073"/>
                <a:gridCol w="374073"/>
                <a:gridCol w="374073"/>
                <a:gridCol w="374073"/>
                <a:gridCol w="374073"/>
                <a:gridCol w="374073"/>
                <a:gridCol w="374073"/>
              </a:tblGrid>
              <a:tr h="365760">
                <a:tc>
                  <a:txBody>
                    <a:bodyPr/>
                    <a:lstStyle/>
                    <a:p>
                      <a:endParaRPr lang="zh-TW" altLang="en-US" sz="1800" dirty="0"/>
                    </a:p>
                  </a:txBody>
                  <a:tcPr anchor="ctr">
                    <a:lnL>
                      <a:noFill/>
                    </a:lnL>
                    <a:lnR>
                      <a:noFill/>
                    </a:lnR>
                    <a:lnT>
                      <a:noFill/>
                    </a:lnT>
                    <a:lnB>
                      <a:noFill/>
                    </a:lnB>
                    <a:solidFill>
                      <a:srgbClr val="FFFFFF"/>
                    </a:solidFill>
                  </a:tcPr>
                </a:tc>
                <a:tc>
                  <a:txBody>
                    <a:bodyPr/>
                    <a:lstStyle/>
                    <a:p>
                      <a:r>
                        <a:rPr lang="zh-TW" altLang="en-US" sz="1800" dirty="0" smtClean="0"/>
                        <a:t>讚</a:t>
                      </a:r>
                      <a:endParaRPr lang="zh-TW" altLang="en-US" sz="1800" dirty="0"/>
                    </a:p>
                  </a:txBody>
                  <a:tcPr anchor="ctr">
                    <a:lnL>
                      <a:noFill/>
                    </a:lnL>
                    <a:lnR>
                      <a:noFill/>
                    </a:lnR>
                    <a:lnT>
                      <a:noFill/>
                    </a:lnT>
                    <a:lnB>
                      <a:noFill/>
                    </a:lnB>
                    <a:solidFill>
                      <a:srgbClr val="FFFFFF"/>
                    </a:solidFill>
                  </a:tcPr>
                </a:tc>
                <a:tc>
                  <a:txBody>
                    <a:bodyPr/>
                    <a:lstStyle/>
                    <a:p>
                      <a:r>
                        <a:rPr lang="zh-TW" altLang="en-US" sz="1800"/>
                        <a:t>啦</a:t>
                      </a:r>
                    </a:p>
                  </a:txBody>
                  <a:tcPr anchor="ctr">
                    <a:lnL>
                      <a:noFill/>
                    </a:lnL>
                    <a:lnR>
                      <a:noFill/>
                    </a:lnR>
                    <a:lnT>
                      <a:noFill/>
                    </a:lnT>
                    <a:lnB>
                      <a:noFill/>
                    </a:lnB>
                    <a:solidFill>
                      <a:srgbClr val="FFFFFF"/>
                    </a:solidFill>
                  </a:tcPr>
                </a:tc>
                <a:tc>
                  <a:txBody>
                    <a:bodyPr/>
                    <a:lstStyle/>
                    <a:p>
                      <a:r>
                        <a:rPr lang="zh-TW" altLang="en-US" sz="1800" dirty="0"/>
                        <a:t>今</a:t>
                      </a:r>
                    </a:p>
                  </a:txBody>
                  <a:tcPr anchor="ctr">
                    <a:lnL>
                      <a:noFill/>
                    </a:lnL>
                    <a:lnR>
                      <a:noFill/>
                    </a:lnR>
                    <a:lnT>
                      <a:noFill/>
                    </a:lnT>
                    <a:lnB>
                      <a:noFill/>
                    </a:lnB>
                    <a:solidFill>
                      <a:srgbClr val="FFFFFF"/>
                    </a:solidFill>
                  </a:tcPr>
                </a:tc>
                <a:tc>
                  <a:txBody>
                    <a:bodyPr/>
                    <a:lstStyle/>
                    <a:p>
                      <a:r>
                        <a:rPr lang="zh-TW" altLang="en-US" sz="1800" dirty="0"/>
                        <a:t>今</a:t>
                      </a:r>
                    </a:p>
                  </a:txBody>
                  <a:tcPr anchor="ctr">
                    <a:lnL>
                      <a:noFill/>
                    </a:lnL>
                    <a:lnR>
                      <a:noFill/>
                    </a:lnR>
                    <a:lnT>
                      <a:noFill/>
                    </a:lnT>
                    <a:lnB>
                      <a:noFill/>
                    </a:lnB>
                    <a:solidFill>
                      <a:srgbClr val="FFFFFF"/>
                    </a:solidFill>
                  </a:tcPr>
                </a:tc>
                <a:tc>
                  <a:txBody>
                    <a:bodyPr/>
                    <a:lstStyle/>
                    <a:p>
                      <a:r>
                        <a:rPr lang="zh-TW" altLang="en-US" sz="1800" dirty="0"/>
                        <a:t>今</a:t>
                      </a:r>
                    </a:p>
                  </a:txBody>
                  <a:tcPr anchor="ctr">
                    <a:lnL>
                      <a:noFill/>
                    </a:lnL>
                    <a:lnR>
                      <a:noFill/>
                    </a:lnR>
                    <a:lnT>
                      <a:noFill/>
                    </a:lnT>
                    <a:lnB>
                      <a:noFill/>
                    </a:lnB>
                    <a:solidFill>
                      <a:srgbClr val="FFFFFF"/>
                    </a:solidFill>
                  </a:tcPr>
                </a:tc>
                <a:tc>
                  <a:txBody>
                    <a:bodyPr/>
                    <a:lstStyle/>
                    <a:p>
                      <a:r>
                        <a:rPr lang="zh-TW" altLang="en-US" sz="1800" dirty="0"/>
                        <a:t>今</a:t>
                      </a:r>
                    </a:p>
                  </a:txBody>
                  <a:tcPr anchor="ctr">
                    <a:lnL>
                      <a:noFill/>
                    </a:lnL>
                    <a:lnR>
                      <a:noFill/>
                    </a:lnR>
                    <a:lnT>
                      <a:noFill/>
                    </a:lnT>
                    <a:lnB>
                      <a:noFill/>
                    </a:lnB>
                    <a:solidFill>
                      <a:srgbClr val="FFFFFF"/>
                    </a:solidFill>
                  </a:tcPr>
                </a:tc>
                <a:tc>
                  <a:txBody>
                    <a:bodyPr/>
                    <a:lstStyle/>
                    <a:p>
                      <a:r>
                        <a:rPr lang="zh-TW" altLang="en-US" sz="1800" dirty="0"/>
                        <a:t>今</a:t>
                      </a:r>
                    </a:p>
                  </a:txBody>
                  <a:tcPr anchor="ctr">
                    <a:lnL>
                      <a:noFill/>
                    </a:lnL>
                    <a:lnR>
                      <a:noFill/>
                    </a:lnR>
                    <a:lnT>
                      <a:noFill/>
                    </a:lnT>
                    <a:lnB>
                      <a:noFill/>
                    </a:lnB>
                    <a:solidFill>
                      <a:srgbClr val="FFFFFF"/>
                    </a:solidFill>
                  </a:tcPr>
                </a:tc>
                <a:tc>
                  <a:txBody>
                    <a:bodyPr/>
                    <a:lstStyle/>
                    <a:p>
                      <a:r>
                        <a:rPr lang="zh-TW" altLang="en-US" sz="1800" dirty="0"/>
                        <a:t>天</a:t>
                      </a:r>
                    </a:p>
                  </a:txBody>
                  <a:tcPr anchor="ctr">
                    <a:lnL>
                      <a:noFill/>
                    </a:lnL>
                    <a:lnR>
                      <a:noFill/>
                    </a:lnR>
                    <a:lnT>
                      <a:noFill/>
                    </a:lnT>
                    <a:lnB>
                      <a:noFill/>
                    </a:lnB>
                    <a:solidFill>
                      <a:srgbClr val="FFFFFF"/>
                    </a:solidFill>
                  </a:tcPr>
                </a:tc>
                <a:tc>
                  <a:txBody>
                    <a:bodyPr/>
                    <a:lstStyle/>
                    <a:p>
                      <a:r>
                        <a:rPr lang="zh-TW" altLang="en-US" sz="1800" dirty="0"/>
                        <a:t>天</a:t>
                      </a:r>
                    </a:p>
                  </a:txBody>
                  <a:tcPr anchor="ctr">
                    <a:lnL>
                      <a:noFill/>
                    </a:lnL>
                    <a:lnR>
                      <a:noFill/>
                    </a:lnR>
                    <a:lnT>
                      <a:noFill/>
                    </a:lnT>
                    <a:lnB>
                      <a:noFill/>
                    </a:lnB>
                    <a:solidFill>
                      <a:srgbClr val="FFFFFF"/>
                    </a:solidFill>
                  </a:tcPr>
                </a:tc>
                <a:tc>
                  <a:txBody>
                    <a:bodyPr/>
                    <a:lstStyle/>
                    <a:p>
                      <a:r>
                        <a:rPr lang="zh-TW" altLang="en-US" sz="1800" dirty="0"/>
                        <a:t>氣</a:t>
                      </a:r>
                    </a:p>
                  </a:txBody>
                  <a:tcPr anchor="ctr">
                    <a:lnL>
                      <a:noFill/>
                    </a:lnL>
                    <a:lnR>
                      <a:noFill/>
                    </a:lnR>
                    <a:lnT>
                      <a:noFill/>
                    </a:lnT>
                    <a:lnB>
                      <a:noFill/>
                    </a:lnB>
                    <a:solidFill>
                      <a:srgbClr val="FFFFFF"/>
                    </a:solidFill>
                  </a:tcPr>
                </a:tc>
                <a:tc>
                  <a:txBody>
                    <a:bodyPr/>
                    <a:lstStyle/>
                    <a:p>
                      <a:r>
                        <a:rPr lang="zh-TW" altLang="en-US" sz="1800"/>
                        <a:t>氣</a:t>
                      </a:r>
                    </a:p>
                  </a:txBody>
                  <a:tcPr anchor="ctr">
                    <a:lnL>
                      <a:noFill/>
                    </a:lnL>
                    <a:lnR>
                      <a:noFill/>
                    </a:lnR>
                    <a:lnT>
                      <a:noFill/>
                    </a:lnT>
                    <a:lnB>
                      <a:noFill/>
                    </a:lnB>
                    <a:solidFill>
                      <a:srgbClr val="FFFFFF"/>
                    </a:solidFill>
                  </a:tcPr>
                </a:tc>
                <a:tc>
                  <a:txBody>
                    <a:bodyPr/>
                    <a:lstStyle/>
                    <a:p>
                      <a:r>
                        <a:rPr lang="zh-TW" altLang="en-US" sz="1800" dirty="0"/>
                        <a:t>氣</a:t>
                      </a:r>
                    </a:p>
                  </a:txBody>
                  <a:tcPr anchor="ctr">
                    <a:lnL>
                      <a:noFill/>
                    </a:lnL>
                    <a:lnR>
                      <a:noFill/>
                    </a:lnR>
                    <a:lnT>
                      <a:noFill/>
                    </a:lnT>
                    <a:lnB>
                      <a:noFill/>
                    </a:lnB>
                    <a:solidFill>
                      <a:srgbClr val="FFFFFF"/>
                    </a:solidFill>
                  </a:tcPr>
                </a:tc>
                <a:tc>
                  <a:txBody>
                    <a:bodyPr/>
                    <a:lstStyle/>
                    <a:p>
                      <a:r>
                        <a:rPr lang="zh-TW" altLang="en-US" sz="1800" dirty="0"/>
                        <a:t>氣</a:t>
                      </a:r>
                    </a:p>
                  </a:txBody>
                  <a:tcPr anchor="ctr">
                    <a:lnL>
                      <a:noFill/>
                    </a:lnL>
                    <a:lnR>
                      <a:noFill/>
                    </a:lnR>
                    <a:lnT>
                      <a:noFill/>
                    </a:lnT>
                    <a:lnB>
                      <a:noFill/>
                    </a:lnB>
                    <a:solidFill>
                      <a:srgbClr val="FFFFFF"/>
                    </a:solidFill>
                  </a:tcPr>
                </a:tc>
                <a:tc>
                  <a:txBody>
                    <a:bodyPr/>
                    <a:lstStyle/>
                    <a:p>
                      <a:r>
                        <a:rPr lang="zh-TW" altLang="en-US" sz="1800"/>
                        <a:t>氣</a:t>
                      </a:r>
                    </a:p>
                  </a:txBody>
                  <a:tcPr anchor="ctr">
                    <a:lnL>
                      <a:noFill/>
                    </a:lnL>
                    <a:lnR>
                      <a:noFill/>
                    </a:lnR>
                    <a:lnT>
                      <a:noFill/>
                    </a:lnT>
                    <a:lnB>
                      <a:noFill/>
                    </a:lnB>
                    <a:solidFill>
                      <a:srgbClr val="FFFFFF"/>
                    </a:solidFill>
                  </a:tcPr>
                </a:tc>
                <a:tc>
                  <a:txBody>
                    <a:bodyPr/>
                    <a:lstStyle/>
                    <a:p>
                      <a:r>
                        <a:rPr lang="zh-TW" altLang="en-US" sz="1800" dirty="0"/>
                        <a:t>好</a:t>
                      </a:r>
                    </a:p>
                  </a:txBody>
                  <a:tcPr anchor="ctr">
                    <a:lnL>
                      <a:noFill/>
                    </a:lnL>
                    <a:lnR>
                      <a:noFill/>
                    </a:lnR>
                    <a:lnT>
                      <a:noFill/>
                    </a:lnT>
                    <a:lnB>
                      <a:noFill/>
                    </a:lnB>
                    <a:solidFill>
                      <a:srgbClr val="FFFFFF"/>
                    </a:solidFill>
                  </a:tcPr>
                </a:tc>
                <a:tc>
                  <a:txBody>
                    <a:bodyPr/>
                    <a:lstStyle/>
                    <a:p>
                      <a:r>
                        <a:rPr lang="zh-TW" altLang="en-US" sz="1800" dirty="0"/>
                        <a:t>好</a:t>
                      </a:r>
                    </a:p>
                  </a:txBody>
                  <a:tcPr anchor="ctr">
                    <a:lnL>
                      <a:noFill/>
                    </a:lnL>
                    <a:lnR>
                      <a:noFill/>
                    </a:lnR>
                    <a:lnT>
                      <a:noFill/>
                    </a:lnT>
                    <a:lnB>
                      <a:noFill/>
                    </a:lnB>
                    <a:solidFill>
                      <a:srgbClr val="FFFFFF"/>
                    </a:solidFill>
                  </a:tcPr>
                </a:tc>
                <a:tc>
                  <a:txBody>
                    <a:bodyPr/>
                    <a:lstStyle/>
                    <a:p>
                      <a:r>
                        <a:rPr lang="zh-TW" altLang="en-US" sz="1800"/>
                        <a:t>好</a:t>
                      </a:r>
                    </a:p>
                  </a:txBody>
                  <a:tcPr anchor="ctr">
                    <a:lnL>
                      <a:noFill/>
                    </a:lnL>
                    <a:lnR>
                      <a:noFill/>
                    </a:lnR>
                    <a:lnT>
                      <a:noFill/>
                    </a:lnT>
                    <a:lnB>
                      <a:noFill/>
                    </a:lnB>
                    <a:solidFill>
                      <a:srgbClr val="FFFFFF"/>
                    </a:solidFill>
                  </a:tcPr>
                </a:tc>
                <a:tc>
                  <a:txBody>
                    <a:bodyPr/>
                    <a:lstStyle/>
                    <a:p>
                      <a:r>
                        <a:rPr lang="zh-TW" altLang="en-US" sz="1800" dirty="0"/>
                        <a:t>好</a:t>
                      </a:r>
                    </a:p>
                  </a:txBody>
                  <a:tcPr anchor="ctr">
                    <a:lnL>
                      <a:noFill/>
                    </a:lnL>
                    <a:lnR>
                      <a:noFill/>
                    </a:lnR>
                    <a:lnT>
                      <a:noFill/>
                    </a:lnT>
                    <a:lnB>
                      <a:noFill/>
                    </a:lnB>
                    <a:solidFill>
                      <a:srgbClr val="FFFFFF"/>
                    </a:solidFill>
                  </a:tcPr>
                </a:tc>
                <a:tc>
                  <a:txBody>
                    <a:bodyPr/>
                    <a:lstStyle/>
                    <a:p>
                      <a:r>
                        <a:rPr lang="zh-TW" altLang="en-US" sz="1800" dirty="0"/>
                        <a:t>啊</a:t>
                      </a:r>
                    </a:p>
                  </a:txBody>
                  <a:tcPr anchor="ctr">
                    <a:lnL>
                      <a:noFill/>
                    </a:lnL>
                    <a:lnR>
                      <a:noFill/>
                    </a:lnR>
                    <a:lnT>
                      <a:noFill/>
                    </a:lnT>
                    <a:lnB>
                      <a:noFill/>
                    </a:lnB>
                    <a:solidFill>
                      <a:srgbClr val="FFFFFF"/>
                    </a:solidFill>
                  </a:tcPr>
                </a:tc>
                <a:tc>
                  <a:txBody>
                    <a:bodyPr/>
                    <a:lstStyle/>
                    <a:p>
                      <a:r>
                        <a:rPr lang="zh-TW" altLang="en-US" sz="1800" dirty="0"/>
                        <a:t>啊</a:t>
                      </a:r>
                    </a:p>
                  </a:txBody>
                  <a:tcPr anchor="ctr">
                    <a:lnL>
                      <a:noFill/>
                    </a:lnL>
                    <a:lnR>
                      <a:noFill/>
                    </a:lnR>
                    <a:lnT>
                      <a:noFill/>
                    </a:lnT>
                    <a:lnB>
                      <a:noFill/>
                    </a:lnB>
                    <a:solidFill>
                      <a:srgbClr val="FFFFFF"/>
                    </a:solidFill>
                  </a:tcPr>
                </a:tc>
                <a:tc>
                  <a:txBody>
                    <a:bodyPr/>
                    <a:lstStyle/>
                    <a:p>
                      <a:r>
                        <a:rPr lang="zh-TW" altLang="en-US" sz="1800" dirty="0"/>
                        <a:t>啊</a:t>
                      </a:r>
                    </a:p>
                  </a:txBody>
                  <a:tcPr anchor="ctr">
                    <a:lnL>
                      <a:noFill/>
                    </a:lnL>
                    <a:lnR>
                      <a:noFill/>
                    </a:lnR>
                    <a:lnT>
                      <a:noFill/>
                    </a:lnT>
                    <a:lnB>
                      <a:noFill/>
                    </a:lnB>
                    <a:solidFill>
                      <a:srgbClr val="FFFFFF"/>
                    </a:solidFill>
                  </a:tcPr>
                </a:tc>
              </a:tr>
              <a:tr h="365760">
                <a:tc>
                  <a:txBody>
                    <a:bodyPr/>
                    <a:lstStyle/>
                    <a:p>
                      <a:r>
                        <a:rPr lang="zh-TW" altLang="en-US" sz="1800"/>
                        <a:t>今</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b="1"/>
                        <a:t>0</a:t>
                      </a:r>
                      <a:endParaRPr lang="zh-TW" altLang="en-US" sz="1800"/>
                    </a:p>
                  </a:txBody>
                  <a:tcPr anchor="ctr">
                    <a:lnL>
                      <a:noFill/>
                    </a:lnL>
                    <a:lnR>
                      <a:noFill/>
                    </a:lnR>
                    <a:lnT>
                      <a:noFill/>
                    </a:lnT>
                    <a:lnB>
                      <a:noFill/>
                    </a:lnB>
                    <a:solidFill>
                      <a:srgbClr val="FFFFFF"/>
                    </a:solidFill>
                  </a:tcPr>
                </a:tc>
                <a:tc>
                  <a:txBody>
                    <a:bodyPr/>
                    <a:lstStyle/>
                    <a:p>
                      <a:r>
                        <a:rPr lang="en-US" altLang="zh-TW" sz="1800" b="1"/>
                        <a:t>0</a:t>
                      </a:r>
                      <a:endParaRPr lang="zh-TW" altLang="en-US" sz="1800"/>
                    </a:p>
                  </a:txBody>
                  <a:tcPr anchor="ctr">
                    <a:lnL>
                      <a:noFill/>
                    </a:lnL>
                    <a:lnR>
                      <a:noFill/>
                    </a:lnR>
                    <a:lnT>
                      <a:noFill/>
                    </a:lnT>
                    <a:lnB>
                      <a:noFill/>
                    </a:lnB>
                    <a:solidFill>
                      <a:srgbClr val="FFFFFF"/>
                    </a:solidFill>
                  </a:tcPr>
                </a:tc>
                <a:tc>
                  <a:txBody>
                    <a:bodyPr/>
                    <a:lstStyle/>
                    <a:p>
                      <a:r>
                        <a:rPr lang="en-US" altLang="zh-TW" sz="1800" b="1"/>
                        <a:t>0</a:t>
                      </a:r>
                      <a:endParaRPr lang="zh-TW" altLang="en-US" sz="1800"/>
                    </a:p>
                  </a:txBody>
                  <a:tcPr anchor="ctr">
                    <a:lnL>
                      <a:noFill/>
                    </a:lnL>
                    <a:lnR>
                      <a:noFill/>
                    </a:lnR>
                    <a:lnT>
                      <a:noFill/>
                    </a:lnT>
                    <a:lnB>
                      <a:noFill/>
                    </a:lnB>
                    <a:solidFill>
                      <a:srgbClr val="FFFFFF"/>
                    </a:solidFill>
                  </a:tcPr>
                </a:tc>
                <a:tc>
                  <a:txBody>
                    <a:bodyPr/>
                    <a:lstStyle/>
                    <a:p>
                      <a:r>
                        <a:rPr lang="en-US" altLang="zh-TW" sz="1800" b="1"/>
                        <a:t>0</a:t>
                      </a:r>
                      <a:endParaRPr lang="zh-TW" altLang="en-US" sz="1800"/>
                    </a:p>
                  </a:txBody>
                  <a:tcPr anchor="ctr">
                    <a:lnL>
                      <a:noFill/>
                    </a:lnL>
                    <a:lnR>
                      <a:noFill/>
                    </a:lnR>
                    <a:lnT>
                      <a:noFill/>
                    </a:lnT>
                    <a:lnB>
                      <a:noFill/>
                    </a:lnB>
                    <a:solidFill>
                      <a:srgbClr val="FFFFFF"/>
                    </a:solidFill>
                  </a:tcPr>
                </a:tc>
                <a:tc>
                  <a:txBody>
                    <a:bodyPr/>
                    <a:lstStyle/>
                    <a:p>
                      <a:r>
                        <a:rPr lang="en-US" altLang="zh-TW" sz="1800" b="1"/>
                        <a:t>0</a:t>
                      </a:r>
                      <a:endParaRPr lang="zh-TW" altLang="en-US" sz="1800"/>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r>
              <a:tr h="365760">
                <a:tc>
                  <a:txBody>
                    <a:bodyPr/>
                    <a:lstStyle/>
                    <a:p>
                      <a:r>
                        <a:rPr lang="zh-TW" altLang="en-US" sz="1800"/>
                        <a:t>天</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b="1"/>
                        <a:t>0</a:t>
                      </a:r>
                      <a:endParaRPr lang="zh-TW" altLang="en-US" sz="1800"/>
                    </a:p>
                  </a:txBody>
                  <a:tcPr anchor="ctr">
                    <a:lnL>
                      <a:noFill/>
                    </a:lnL>
                    <a:lnR>
                      <a:noFill/>
                    </a:lnR>
                    <a:lnT>
                      <a:noFill/>
                    </a:lnT>
                    <a:lnB>
                      <a:noFill/>
                    </a:lnB>
                    <a:solidFill>
                      <a:srgbClr val="FFFFFF"/>
                    </a:solidFill>
                  </a:tcPr>
                </a:tc>
                <a:tc>
                  <a:txBody>
                    <a:bodyPr/>
                    <a:lstStyle/>
                    <a:p>
                      <a:r>
                        <a:rPr lang="en-US" altLang="zh-TW" sz="1800" b="1"/>
                        <a:t>0</a:t>
                      </a:r>
                      <a:endParaRPr lang="zh-TW" altLang="en-US" sz="1800"/>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dirty="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r>
              <a:tr h="365760">
                <a:tc>
                  <a:txBody>
                    <a:bodyPr/>
                    <a:lstStyle/>
                    <a:p>
                      <a:r>
                        <a:rPr lang="zh-TW" altLang="en-US" sz="1800"/>
                        <a:t>天</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b="1"/>
                        <a:t>0</a:t>
                      </a:r>
                      <a:endParaRPr lang="zh-TW" altLang="en-US" sz="1800"/>
                    </a:p>
                  </a:txBody>
                  <a:tcPr anchor="ctr">
                    <a:lnL>
                      <a:noFill/>
                    </a:lnL>
                    <a:lnR>
                      <a:noFill/>
                    </a:lnR>
                    <a:lnT>
                      <a:noFill/>
                    </a:lnT>
                    <a:lnB>
                      <a:noFill/>
                    </a:lnB>
                    <a:solidFill>
                      <a:srgbClr val="FFFFFF"/>
                    </a:solidFill>
                  </a:tcPr>
                </a:tc>
                <a:tc>
                  <a:txBody>
                    <a:bodyPr/>
                    <a:lstStyle/>
                    <a:p>
                      <a:r>
                        <a:rPr lang="en-US" altLang="zh-TW" sz="1800" b="1"/>
                        <a:t>0</a:t>
                      </a:r>
                      <a:endParaRPr lang="zh-TW" altLang="en-US" sz="1800"/>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r>
              <a:tr h="365760">
                <a:tc>
                  <a:txBody>
                    <a:bodyPr/>
                    <a:lstStyle/>
                    <a:p>
                      <a:r>
                        <a:rPr lang="zh-TW" altLang="en-US" sz="1800"/>
                        <a:t>氣</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b="1"/>
                        <a:t>0</a:t>
                      </a:r>
                      <a:endParaRPr lang="zh-TW" altLang="en-US" sz="1800"/>
                    </a:p>
                  </a:txBody>
                  <a:tcPr anchor="ctr">
                    <a:lnL>
                      <a:noFill/>
                    </a:lnL>
                    <a:lnR>
                      <a:noFill/>
                    </a:lnR>
                    <a:lnT>
                      <a:noFill/>
                    </a:lnT>
                    <a:lnB>
                      <a:noFill/>
                    </a:lnB>
                    <a:solidFill>
                      <a:srgbClr val="FFFFFF"/>
                    </a:solidFill>
                  </a:tcPr>
                </a:tc>
                <a:tc>
                  <a:txBody>
                    <a:bodyPr/>
                    <a:lstStyle/>
                    <a:p>
                      <a:r>
                        <a:rPr lang="en-US" altLang="zh-TW" sz="1800" b="1"/>
                        <a:t>0</a:t>
                      </a:r>
                      <a:endParaRPr lang="zh-TW" altLang="en-US" sz="1800"/>
                    </a:p>
                  </a:txBody>
                  <a:tcPr anchor="ctr">
                    <a:lnL>
                      <a:noFill/>
                    </a:lnL>
                    <a:lnR>
                      <a:noFill/>
                    </a:lnR>
                    <a:lnT>
                      <a:noFill/>
                    </a:lnT>
                    <a:lnB>
                      <a:noFill/>
                    </a:lnB>
                    <a:solidFill>
                      <a:srgbClr val="FFFFFF"/>
                    </a:solidFill>
                  </a:tcPr>
                </a:tc>
                <a:tc>
                  <a:txBody>
                    <a:bodyPr/>
                    <a:lstStyle/>
                    <a:p>
                      <a:r>
                        <a:rPr lang="en-US" altLang="zh-TW" sz="1800" b="1"/>
                        <a:t>0</a:t>
                      </a:r>
                      <a:endParaRPr lang="zh-TW" altLang="en-US" sz="1800"/>
                    </a:p>
                  </a:txBody>
                  <a:tcPr anchor="ctr">
                    <a:lnL>
                      <a:noFill/>
                    </a:lnL>
                    <a:lnR>
                      <a:noFill/>
                    </a:lnR>
                    <a:lnT>
                      <a:noFill/>
                    </a:lnT>
                    <a:lnB>
                      <a:noFill/>
                    </a:lnB>
                    <a:solidFill>
                      <a:srgbClr val="FFFFFF"/>
                    </a:solidFill>
                  </a:tcPr>
                </a:tc>
                <a:tc>
                  <a:txBody>
                    <a:bodyPr/>
                    <a:lstStyle/>
                    <a:p>
                      <a:r>
                        <a:rPr lang="en-US" altLang="zh-TW" sz="1800" b="1"/>
                        <a:t>0</a:t>
                      </a:r>
                      <a:endParaRPr lang="zh-TW" altLang="en-US" sz="1800"/>
                    </a:p>
                  </a:txBody>
                  <a:tcPr anchor="ctr">
                    <a:lnL>
                      <a:noFill/>
                    </a:lnL>
                    <a:lnR>
                      <a:noFill/>
                    </a:lnR>
                    <a:lnT>
                      <a:noFill/>
                    </a:lnT>
                    <a:lnB>
                      <a:noFill/>
                    </a:lnB>
                    <a:solidFill>
                      <a:srgbClr val="FFFFFF"/>
                    </a:solidFill>
                  </a:tcPr>
                </a:tc>
                <a:tc>
                  <a:txBody>
                    <a:bodyPr/>
                    <a:lstStyle/>
                    <a:p>
                      <a:r>
                        <a:rPr lang="en-US" altLang="zh-TW" sz="1800" b="1"/>
                        <a:t>0</a:t>
                      </a:r>
                      <a:endParaRPr lang="zh-TW" altLang="en-US" sz="1800"/>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r>
              <a:tr h="365760">
                <a:tc>
                  <a:txBody>
                    <a:bodyPr/>
                    <a:lstStyle/>
                    <a:p>
                      <a:r>
                        <a:rPr lang="zh-TW" altLang="en-US" sz="1800"/>
                        <a:t>好</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b="1"/>
                        <a:t>0</a:t>
                      </a:r>
                      <a:endParaRPr lang="zh-TW" altLang="en-US" sz="1800"/>
                    </a:p>
                  </a:txBody>
                  <a:tcPr anchor="ctr">
                    <a:lnL>
                      <a:noFill/>
                    </a:lnL>
                    <a:lnR>
                      <a:noFill/>
                    </a:lnR>
                    <a:lnT>
                      <a:noFill/>
                    </a:lnT>
                    <a:lnB>
                      <a:noFill/>
                    </a:lnB>
                    <a:solidFill>
                      <a:srgbClr val="FFFFFF"/>
                    </a:solidFill>
                  </a:tcPr>
                </a:tc>
                <a:tc>
                  <a:txBody>
                    <a:bodyPr/>
                    <a:lstStyle/>
                    <a:p>
                      <a:r>
                        <a:rPr lang="en-US" altLang="zh-TW" sz="1800" b="1"/>
                        <a:t>0</a:t>
                      </a:r>
                      <a:endParaRPr lang="zh-TW" altLang="en-US" sz="1800"/>
                    </a:p>
                  </a:txBody>
                  <a:tcPr anchor="ctr">
                    <a:lnL>
                      <a:noFill/>
                    </a:lnL>
                    <a:lnR>
                      <a:noFill/>
                    </a:lnR>
                    <a:lnT>
                      <a:noFill/>
                    </a:lnT>
                    <a:lnB>
                      <a:noFill/>
                    </a:lnB>
                    <a:solidFill>
                      <a:srgbClr val="FFFFFF"/>
                    </a:solidFill>
                  </a:tcPr>
                </a:tc>
                <a:tc>
                  <a:txBody>
                    <a:bodyPr/>
                    <a:lstStyle/>
                    <a:p>
                      <a:r>
                        <a:rPr lang="en-US" altLang="zh-TW" sz="1800" b="1"/>
                        <a:t>0</a:t>
                      </a:r>
                      <a:endParaRPr lang="zh-TW" altLang="en-US" sz="1800"/>
                    </a:p>
                  </a:txBody>
                  <a:tcPr anchor="ctr">
                    <a:lnL>
                      <a:noFill/>
                    </a:lnL>
                    <a:lnR>
                      <a:noFill/>
                    </a:lnR>
                    <a:lnT>
                      <a:noFill/>
                    </a:lnT>
                    <a:lnB>
                      <a:noFill/>
                    </a:lnB>
                    <a:solidFill>
                      <a:srgbClr val="FFFFFF"/>
                    </a:solidFill>
                  </a:tcPr>
                </a:tc>
                <a:tc>
                  <a:txBody>
                    <a:bodyPr/>
                    <a:lstStyle/>
                    <a:p>
                      <a:r>
                        <a:rPr lang="en-US" altLang="zh-TW" sz="1800" b="1"/>
                        <a:t>0</a:t>
                      </a:r>
                      <a:endParaRPr lang="zh-TW" altLang="en-US" sz="1800"/>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r>
              <a:tr h="365760">
                <a:tc>
                  <a:txBody>
                    <a:bodyPr/>
                    <a:lstStyle/>
                    <a:p>
                      <a:r>
                        <a:rPr lang="zh-TW" altLang="en-US" sz="1800"/>
                        <a:t>好</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b="1"/>
                        <a:t>0</a:t>
                      </a:r>
                      <a:endParaRPr lang="zh-TW" altLang="en-US" sz="1800"/>
                    </a:p>
                  </a:txBody>
                  <a:tcPr anchor="ctr">
                    <a:lnL>
                      <a:noFill/>
                    </a:lnL>
                    <a:lnR>
                      <a:noFill/>
                    </a:lnR>
                    <a:lnT>
                      <a:noFill/>
                    </a:lnT>
                    <a:lnB>
                      <a:noFill/>
                    </a:lnB>
                    <a:solidFill>
                      <a:srgbClr val="FFFFFF"/>
                    </a:solidFill>
                  </a:tcPr>
                </a:tc>
                <a:tc>
                  <a:txBody>
                    <a:bodyPr/>
                    <a:lstStyle/>
                    <a:p>
                      <a:r>
                        <a:rPr lang="en-US" altLang="zh-TW" sz="1800" b="1"/>
                        <a:t>0</a:t>
                      </a:r>
                      <a:endParaRPr lang="zh-TW" altLang="en-US" sz="1800"/>
                    </a:p>
                  </a:txBody>
                  <a:tcPr anchor="ctr">
                    <a:lnL>
                      <a:noFill/>
                    </a:lnL>
                    <a:lnR>
                      <a:noFill/>
                    </a:lnR>
                    <a:lnT>
                      <a:noFill/>
                    </a:lnT>
                    <a:lnB>
                      <a:noFill/>
                    </a:lnB>
                    <a:solidFill>
                      <a:srgbClr val="FFFFFF"/>
                    </a:solidFill>
                  </a:tcPr>
                </a:tc>
                <a:tc>
                  <a:txBody>
                    <a:bodyPr/>
                    <a:lstStyle/>
                    <a:p>
                      <a:r>
                        <a:rPr lang="en-US" altLang="zh-TW" sz="1800" b="1"/>
                        <a:t>0</a:t>
                      </a:r>
                      <a:endParaRPr lang="zh-TW" altLang="en-US" sz="1800"/>
                    </a:p>
                  </a:txBody>
                  <a:tcPr anchor="ctr">
                    <a:lnL>
                      <a:noFill/>
                    </a:lnL>
                    <a:lnR>
                      <a:noFill/>
                    </a:lnR>
                    <a:lnT>
                      <a:noFill/>
                    </a:lnT>
                    <a:lnB>
                      <a:noFill/>
                    </a:lnB>
                    <a:solidFill>
                      <a:srgbClr val="FFFFFF"/>
                    </a:solidFill>
                  </a:tcPr>
                </a:tc>
                <a:tc>
                  <a:txBody>
                    <a:bodyPr/>
                    <a:lstStyle/>
                    <a:p>
                      <a:r>
                        <a:rPr lang="en-US" altLang="zh-TW" sz="1800" b="1"/>
                        <a:t>0</a:t>
                      </a:r>
                      <a:endParaRPr lang="zh-TW" altLang="en-US" sz="1800"/>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r>
              <a:tr h="365760">
                <a:tc>
                  <a:txBody>
                    <a:bodyPr/>
                    <a:lstStyle/>
                    <a:p>
                      <a:r>
                        <a:rPr lang="zh-TW" altLang="en-US" sz="1800"/>
                        <a:t>啊</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a:t>1</a:t>
                      </a:r>
                    </a:p>
                  </a:txBody>
                  <a:tcPr anchor="ctr">
                    <a:lnL>
                      <a:noFill/>
                    </a:lnL>
                    <a:lnR>
                      <a:noFill/>
                    </a:lnR>
                    <a:lnT>
                      <a:noFill/>
                    </a:lnT>
                    <a:lnB>
                      <a:noFill/>
                    </a:lnB>
                    <a:solidFill>
                      <a:srgbClr val="FFFFFF"/>
                    </a:solidFill>
                  </a:tcPr>
                </a:tc>
                <a:tc>
                  <a:txBody>
                    <a:bodyPr/>
                    <a:lstStyle/>
                    <a:p>
                      <a:r>
                        <a:rPr lang="en-US" altLang="zh-TW" sz="1800" b="1"/>
                        <a:t>0</a:t>
                      </a:r>
                      <a:endParaRPr lang="zh-TW" altLang="en-US" sz="1800"/>
                    </a:p>
                  </a:txBody>
                  <a:tcPr anchor="ctr">
                    <a:lnL>
                      <a:noFill/>
                    </a:lnL>
                    <a:lnR>
                      <a:noFill/>
                    </a:lnR>
                    <a:lnT>
                      <a:noFill/>
                    </a:lnT>
                    <a:lnB>
                      <a:noFill/>
                    </a:lnB>
                    <a:solidFill>
                      <a:srgbClr val="FFFFFF"/>
                    </a:solidFill>
                  </a:tcPr>
                </a:tc>
                <a:tc>
                  <a:txBody>
                    <a:bodyPr/>
                    <a:lstStyle/>
                    <a:p>
                      <a:r>
                        <a:rPr lang="en-US" altLang="zh-TW" sz="1800" b="1"/>
                        <a:t>0</a:t>
                      </a:r>
                      <a:endParaRPr lang="zh-TW" altLang="en-US" sz="1800"/>
                    </a:p>
                  </a:txBody>
                  <a:tcPr anchor="ctr">
                    <a:lnL>
                      <a:noFill/>
                    </a:lnL>
                    <a:lnR>
                      <a:noFill/>
                    </a:lnR>
                    <a:lnT>
                      <a:noFill/>
                    </a:lnT>
                    <a:lnB>
                      <a:noFill/>
                    </a:lnB>
                    <a:solidFill>
                      <a:srgbClr val="FFFFFF"/>
                    </a:solidFill>
                  </a:tcPr>
                </a:tc>
                <a:tc>
                  <a:txBody>
                    <a:bodyPr/>
                    <a:lstStyle/>
                    <a:p>
                      <a:r>
                        <a:rPr lang="en-US" altLang="zh-TW" sz="1800" b="1" dirty="0"/>
                        <a:t>0</a:t>
                      </a:r>
                      <a:endParaRPr lang="zh-TW" altLang="en-US" sz="1800" dirty="0"/>
                    </a:p>
                  </a:txBody>
                  <a:tcPr anchor="ctr">
                    <a:lnL>
                      <a:noFill/>
                    </a:lnL>
                    <a:lnR>
                      <a:noFill/>
                    </a:lnR>
                    <a:lnT>
                      <a:noFill/>
                    </a:lnT>
                    <a:lnB>
                      <a:noFill/>
                    </a:lnB>
                    <a:solidFill>
                      <a:srgbClr val="FFFFFF"/>
                    </a:solidFill>
                  </a:tcPr>
                </a:tc>
              </a:tr>
            </a:tbl>
          </a:graphicData>
        </a:graphic>
      </p:graphicFrame>
      <p:sp>
        <p:nvSpPr>
          <p:cNvPr id="9" name="Rectangle 2"/>
          <p:cNvSpPr>
            <a:spLocks noChangeArrowheads="1"/>
          </p:cNvSpPr>
          <p:nvPr/>
        </p:nvSpPr>
        <p:spPr bwMode="auto">
          <a:xfrm>
            <a:off x="457200"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TW" altLang="zh-TW" sz="1800" b="0" i="0" u="none" strike="noStrike" cap="none" normalizeH="0" baseline="0" smtClean="0">
                <a:ln>
                  <a:noFill/>
                </a:ln>
                <a:solidFill>
                  <a:schemeClr val="tx1"/>
                </a:solidFill>
                <a:effectLst/>
                <a:latin typeface="Arial" pitchFamily="34" charset="0"/>
                <a:ea typeface="新細明體" pitchFamily="18" charset="-120"/>
                <a:cs typeface="新細明體" pitchFamily="18" charset="-120"/>
              </a:rPr>
              <a:t/>
            </a:r>
            <a:br>
              <a:rPr kumimoji="1" lang="zh-TW" altLang="zh-TW" sz="1800" b="0" i="0" u="none" strike="noStrike" cap="none" normalizeH="0" baseline="0" smtClean="0">
                <a:ln>
                  <a:noFill/>
                </a:ln>
                <a:solidFill>
                  <a:schemeClr val="tx1"/>
                </a:solidFill>
                <a:effectLst/>
                <a:latin typeface="Arial" pitchFamily="34" charset="0"/>
                <a:ea typeface="新細明體" pitchFamily="18" charset="-120"/>
                <a:cs typeface="新細明體" pitchFamily="18" charset="-120"/>
              </a:rPr>
            </a:br>
            <a:endParaRPr kumimoji="1" lang="zh-TW" altLang="zh-TW" sz="1800" b="0" i="0" u="none" strike="noStrike" cap="none" normalizeH="0" baseline="0" smtClean="0">
              <a:ln>
                <a:noFill/>
              </a:ln>
              <a:solidFill>
                <a:schemeClr val="tx1"/>
              </a:solidFill>
              <a:effectLst/>
              <a:latin typeface="Arial" pitchFamily="34" charset="0"/>
              <a:ea typeface="新細明體" pitchFamily="18" charset="-120"/>
              <a:cs typeface="新細明體" pitchFamily="18" charset="-120"/>
            </a:endParaRPr>
          </a:p>
        </p:txBody>
      </p:sp>
    </p:spTree>
    <p:extLst>
      <p:ext uri="{BB962C8B-B14F-4D97-AF65-F5344CB8AC3E}">
        <p14:creationId xmlns:p14="http://schemas.microsoft.com/office/powerpoint/2010/main" val="1166004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6</a:t>
            </a:fld>
            <a:endParaRPr lang="zh-TW" altLang="en-US"/>
          </a:p>
        </p:txBody>
      </p:sp>
      <p:pic>
        <p:nvPicPr>
          <p:cNvPr id="5" name="Picture 3" descr="C:\Users\shiujj\Desktop\006.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31640" y="1052736"/>
            <a:ext cx="6087013"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79623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Multivariate </a:t>
            </a:r>
            <a:r>
              <a:rPr lang="en-US" altLang="zh-TW" dirty="0" smtClean="0"/>
              <a:t>Time Series</a:t>
            </a:r>
            <a:r>
              <a:rPr lang="en-US" altLang="zh-TW" dirty="0"/>
              <a:t/>
            </a:r>
            <a:br>
              <a:rPr lang="en-US" altLang="zh-TW" dirty="0"/>
            </a:br>
            <a:endParaRPr lang="zh-TW" altLang="en-US" dirty="0"/>
          </a:p>
        </p:txBody>
      </p:sp>
      <p:sp>
        <p:nvSpPr>
          <p:cNvPr id="3" name="內容版面配置區 2"/>
          <p:cNvSpPr>
            <a:spLocks noGrp="1"/>
          </p:cNvSpPr>
          <p:nvPr>
            <p:ph idx="1"/>
          </p:nvPr>
        </p:nvSpPr>
        <p:spPr/>
        <p:txBody>
          <a:bodyPr>
            <a:normAutofit/>
          </a:bodyPr>
          <a:lstStyle/>
          <a:p>
            <a:r>
              <a:rPr lang="en-US" altLang="zh-TW" sz="2400" dirty="0" err="1" smtClean="0"/>
              <a:t>X</a:t>
            </a:r>
            <a:r>
              <a:rPr lang="en-US" altLang="zh-TW" sz="2400" baseline="-25000" dirty="0" err="1" smtClean="0"/>
              <a:t>n</a:t>
            </a:r>
            <a:r>
              <a:rPr lang="en-US" altLang="zh-TW" sz="2400" dirty="0" smtClean="0"/>
              <a:t> is </a:t>
            </a:r>
            <a:r>
              <a:rPr lang="en-US" altLang="zh-TW" sz="2400" dirty="0"/>
              <a:t>an n-variable, m-element time series where </a:t>
            </a:r>
            <a:r>
              <a:rPr lang="en-US" altLang="zh-TW" sz="2400" dirty="0" smtClean="0"/>
              <a:t>x</a:t>
            </a:r>
            <a:r>
              <a:rPr lang="en-US" altLang="zh-TW" sz="2400" baseline="-25000" dirty="0" smtClean="0"/>
              <a:t>i</a:t>
            </a:r>
            <a:r>
              <a:rPr lang="en-US" altLang="zh-TW" sz="2400" dirty="0" smtClean="0"/>
              <a:t> </a:t>
            </a:r>
            <a:r>
              <a:rPr lang="en-US" altLang="zh-TW" sz="2400" dirty="0"/>
              <a:t>is the </a:t>
            </a:r>
            <a:r>
              <a:rPr lang="en-US" altLang="zh-TW" sz="2400" dirty="0" err="1"/>
              <a:t>ith</a:t>
            </a:r>
            <a:endParaRPr lang="en-US" altLang="zh-TW" sz="2400" dirty="0"/>
          </a:p>
          <a:p>
            <a:r>
              <a:rPr lang="en-US" altLang="zh-TW" sz="2400" dirty="0"/>
              <a:t>variable </a:t>
            </a:r>
            <a:r>
              <a:rPr lang="en-US" altLang="zh-TW" sz="2400" dirty="0" smtClean="0"/>
              <a:t>and </a:t>
            </a:r>
            <a:r>
              <a:rPr lang="en-US" altLang="zh-TW" sz="2400" dirty="0"/>
              <a:t>x</a:t>
            </a:r>
            <a:r>
              <a:rPr lang="en-US" altLang="zh-TW" sz="2400" baseline="-25000" dirty="0"/>
              <a:t>i</a:t>
            </a:r>
            <a:r>
              <a:rPr lang="en-US" altLang="zh-TW" sz="2400" dirty="0"/>
              <a:t>(j) </a:t>
            </a:r>
            <a:r>
              <a:rPr lang="en-US" altLang="zh-TW" sz="2400" dirty="0" smtClean="0"/>
              <a:t>denotes </a:t>
            </a:r>
            <a:r>
              <a:rPr lang="en-US" altLang="zh-TW" sz="2400" dirty="0"/>
              <a:t>its </a:t>
            </a:r>
            <a:r>
              <a:rPr lang="en-US" altLang="zh-TW" sz="2400" dirty="0" err="1"/>
              <a:t>jth</a:t>
            </a:r>
            <a:r>
              <a:rPr lang="en-US" altLang="zh-TW" sz="2400" dirty="0"/>
              <a:t> </a:t>
            </a:r>
            <a:r>
              <a:rPr lang="en-US" altLang="zh-TW" sz="2400" dirty="0" smtClean="0"/>
              <a:t>element: </a:t>
            </a:r>
            <a:r>
              <a:rPr lang="en-US" altLang="zh-TW" sz="2400" dirty="0"/>
              <a:t>homogenous</a:t>
            </a:r>
            <a:endParaRPr lang="en-US" altLang="zh-TW" sz="2400" dirty="0" smtClean="0"/>
          </a:p>
          <a:p>
            <a:r>
              <a:rPr lang="sv-SE" altLang="zh-TW" sz="2400" dirty="0"/>
              <a:t>X</a:t>
            </a:r>
            <a:r>
              <a:rPr lang="sv-SE" altLang="zh-TW" sz="2400" baseline="-25000" dirty="0" smtClean="0"/>
              <a:t>n</a:t>
            </a:r>
            <a:r>
              <a:rPr lang="sv-SE" altLang="zh-TW" sz="2400" dirty="0" smtClean="0"/>
              <a:t> = [x</a:t>
            </a:r>
            <a:r>
              <a:rPr lang="sv-SE" altLang="zh-TW" sz="2400" baseline="-25000" dirty="0" smtClean="0"/>
              <a:t>1</a:t>
            </a:r>
            <a:r>
              <a:rPr lang="sv-SE" altLang="zh-TW" sz="2400" dirty="0"/>
              <a:t>,</a:t>
            </a:r>
            <a:r>
              <a:rPr lang="sv-SE" altLang="zh-TW" sz="2400" dirty="0" smtClean="0"/>
              <a:t> x</a:t>
            </a:r>
            <a:r>
              <a:rPr lang="sv-SE" altLang="zh-TW" sz="2400" baseline="-25000" dirty="0" smtClean="0"/>
              <a:t>2</a:t>
            </a:r>
            <a:r>
              <a:rPr lang="sv-SE" altLang="zh-TW" sz="2400" dirty="0" smtClean="0"/>
              <a:t>, x</a:t>
            </a:r>
            <a:r>
              <a:rPr lang="sv-SE" altLang="zh-TW" sz="2400" baseline="-25000" dirty="0" smtClean="0"/>
              <a:t>3</a:t>
            </a:r>
            <a:r>
              <a:rPr lang="sv-SE" altLang="zh-TW" sz="2400" dirty="0" smtClean="0"/>
              <a:t>, . . . , x</a:t>
            </a:r>
            <a:r>
              <a:rPr lang="sv-SE" altLang="zh-TW" sz="2400" baseline="-25000" dirty="0" smtClean="0"/>
              <a:t>n</a:t>
            </a:r>
            <a:r>
              <a:rPr lang="sv-SE" altLang="zh-TW" sz="2400" dirty="0" smtClean="0"/>
              <a:t>]</a:t>
            </a:r>
          </a:p>
          <a:p>
            <a:r>
              <a:rPr lang="sv-SE" altLang="zh-TW" sz="2400" dirty="0"/>
              <a:t>x</a:t>
            </a:r>
            <a:r>
              <a:rPr lang="sv-SE" altLang="zh-TW" sz="2400" baseline="-25000" dirty="0"/>
              <a:t>i</a:t>
            </a:r>
            <a:r>
              <a:rPr lang="sv-SE" altLang="zh-TW" sz="2400" dirty="0"/>
              <a:t> = [x</a:t>
            </a:r>
            <a:r>
              <a:rPr lang="sv-SE" altLang="zh-TW" sz="2400" baseline="-25000" dirty="0"/>
              <a:t>i</a:t>
            </a:r>
            <a:r>
              <a:rPr lang="sv-SE" altLang="zh-TW" sz="2400" dirty="0"/>
              <a:t>(1), x</a:t>
            </a:r>
            <a:r>
              <a:rPr lang="sv-SE" altLang="zh-TW" sz="2400" baseline="-25000" dirty="0"/>
              <a:t>i</a:t>
            </a:r>
            <a:r>
              <a:rPr lang="sv-SE" altLang="zh-TW" sz="2400" dirty="0"/>
              <a:t>(2), , . . . , x</a:t>
            </a:r>
            <a:r>
              <a:rPr lang="sv-SE" altLang="zh-TW" sz="2400" baseline="-25000" dirty="0"/>
              <a:t>i</a:t>
            </a:r>
            <a:r>
              <a:rPr lang="sv-SE" altLang="zh-TW" sz="2400" dirty="0"/>
              <a:t>(m)]</a:t>
            </a:r>
            <a:r>
              <a:rPr lang="sv-SE" altLang="zh-TW" sz="2400" baseline="30000" dirty="0"/>
              <a:t>T</a:t>
            </a:r>
            <a:endParaRPr lang="sv-SE" altLang="zh-TW" sz="2400" dirty="0" smtClean="0"/>
          </a:p>
          <a:p>
            <a:endParaRPr lang="sv-SE" altLang="zh-TW" sz="2400" dirty="0" smtClean="0"/>
          </a:p>
          <a:p>
            <a:endParaRPr lang="sv-SE" altLang="zh-TW" sz="2400" dirty="0"/>
          </a:p>
          <a:p>
            <a:endParaRPr lang="sv-SE" altLang="zh-TW" sz="2400" dirty="0" smtClean="0"/>
          </a:p>
          <a:p>
            <a:endParaRPr lang="sv-SE" altLang="zh-TW" sz="2400" dirty="0" smtClean="0"/>
          </a:p>
          <a:p>
            <a:endParaRPr lang="sv-SE" altLang="zh-TW" sz="2400" dirty="0"/>
          </a:p>
          <a:p>
            <a:endParaRPr lang="sv-SE" altLang="zh-TW" sz="2400" baseline="30000" dirty="0" smtClean="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7</a:t>
            </a:fld>
            <a:endParaRPr lang="zh-TW" altLang="en-US"/>
          </a:p>
        </p:txBody>
      </p:sp>
      <p:pic>
        <p:nvPicPr>
          <p:cNvPr id="1026" name="Picture 2" descr="C:\Users\shiujj\Desktop\0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1177" y="2525215"/>
            <a:ext cx="3744416" cy="1876511"/>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shiujj\Desktop\00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860" y="3599463"/>
            <a:ext cx="3448051" cy="2857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shiujj\Desktop\003.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037" y="4068351"/>
            <a:ext cx="3752851" cy="333375"/>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Users\shiujj\Desktop\004.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6576" y="4581128"/>
            <a:ext cx="4533901" cy="6858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Users\shiujj\Desktop\005.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6576" y="5305108"/>
            <a:ext cx="2809875" cy="695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97700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Principal </a:t>
            </a:r>
            <a:r>
              <a:rPr lang="en-US" altLang="zh-TW" dirty="0" smtClean="0"/>
              <a:t>Component Analysis </a:t>
            </a:r>
            <a:r>
              <a:rPr lang="en-US" altLang="zh-TW" dirty="0"/>
              <a:t>(PCA)</a:t>
            </a:r>
            <a:br>
              <a:rPr lang="en-US" altLang="zh-TW" dirty="0"/>
            </a:b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8</a:t>
            </a:fld>
            <a:endParaRPr lang="zh-TW" altLang="en-US"/>
          </a:p>
        </p:txBody>
      </p:sp>
      <p:sp>
        <p:nvSpPr>
          <p:cNvPr id="6" name="Rectangle 1"/>
          <p:cNvSpPr>
            <a:spLocks noChangeArrowheads="1"/>
          </p:cNvSpPr>
          <p:nvPr/>
        </p:nvSpPr>
        <p:spPr bwMode="auto">
          <a:xfrm>
            <a:off x="457200"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TW" altLang="zh-TW" sz="1800" b="0" i="0" u="none" strike="noStrike" cap="none" normalizeH="0" baseline="0" smtClean="0">
                <a:ln>
                  <a:noFill/>
                </a:ln>
                <a:solidFill>
                  <a:schemeClr val="tx1"/>
                </a:solidFill>
                <a:effectLst/>
                <a:latin typeface="Arial" charset="0"/>
                <a:ea typeface="新細明體" charset="-120"/>
                <a:cs typeface="新細明體" charset="-120"/>
              </a:rPr>
              <a:t/>
            </a:r>
            <a:br>
              <a:rPr kumimoji="1" lang="zh-TW" altLang="zh-TW" sz="1800" b="0" i="0" u="none" strike="noStrike" cap="none" normalizeH="0" baseline="0" smtClean="0">
                <a:ln>
                  <a:noFill/>
                </a:ln>
                <a:solidFill>
                  <a:schemeClr val="tx1"/>
                </a:solidFill>
                <a:effectLst/>
                <a:latin typeface="Arial" charset="0"/>
                <a:ea typeface="新細明體" charset="-120"/>
                <a:cs typeface="新細明體" charset="-120"/>
              </a:rPr>
            </a:br>
            <a:endParaRPr kumimoji="1" lang="zh-TW" altLang="zh-TW" sz="1800" b="0" i="0" u="none" strike="noStrike" cap="none" normalizeH="0" baseline="0" smtClean="0">
              <a:ln>
                <a:noFill/>
              </a:ln>
              <a:solidFill>
                <a:schemeClr val="tx1"/>
              </a:solidFill>
              <a:effectLst/>
              <a:latin typeface="Arial" charset="0"/>
              <a:ea typeface="新細明體" charset="-120"/>
              <a:cs typeface="新細明體" charset="-120"/>
            </a:endParaRPr>
          </a:p>
        </p:txBody>
      </p:sp>
      <p:pic>
        <p:nvPicPr>
          <p:cNvPr id="3074" name="Picture 2" descr="C:\Users\shiujj\Desktop\00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1357991"/>
            <a:ext cx="6408712" cy="5027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572015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Principal Component Analysis (PCA)</a:t>
            </a:r>
            <a:br>
              <a:rPr lang="en-US" altLang="zh-TW" dirty="0"/>
            </a:br>
            <a:endParaRPr lang="zh-TW" altLang="en-US" dirty="0"/>
          </a:p>
        </p:txBody>
      </p:sp>
      <p:sp>
        <p:nvSpPr>
          <p:cNvPr id="3" name="內容版面配置區 2"/>
          <p:cNvSpPr>
            <a:spLocks noGrp="1"/>
          </p:cNvSpPr>
          <p:nvPr>
            <p:ph idx="1"/>
          </p:nvPr>
        </p:nvSpPr>
        <p:spPr/>
        <p:txBody>
          <a:bodyPr/>
          <a:lstStyle/>
          <a:p>
            <a:endParaRPr lang="en-US" altLang="zh-TW" dirty="0" smtClean="0"/>
          </a:p>
          <a:p>
            <a:endParaRPr lang="en-US" altLang="zh-TW" dirty="0" smtClean="0"/>
          </a:p>
          <a:p>
            <a:pPr marL="0" indent="0">
              <a:buNone/>
            </a:pPr>
            <a:r>
              <a:rPr lang="en-US" altLang="zh-TW" dirty="0" smtClean="0"/>
              <a:t>                         </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9</a:t>
            </a:fld>
            <a:endParaRPr lang="zh-TW" altLang="en-US"/>
          </a:p>
        </p:txBody>
      </p:sp>
      <p:pic>
        <p:nvPicPr>
          <p:cNvPr id="2051" name="Picture 3" descr="C:\Users\shiujj\Desktop\0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3" y="2107495"/>
            <a:ext cx="7516813" cy="5524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Users\shiujj\Desktop\00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7377" y="3787324"/>
            <a:ext cx="4029076" cy="2390775"/>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3342678" y="3809066"/>
            <a:ext cx="2458642" cy="369332"/>
          </a:xfrm>
          <a:prstGeom prst="rect">
            <a:avLst/>
          </a:prstGeom>
        </p:spPr>
        <p:txBody>
          <a:bodyPr wrap="square">
            <a:spAutoFit/>
          </a:bodyPr>
          <a:lstStyle/>
          <a:p>
            <a:r>
              <a:rPr lang="en-US" altLang="zh-TW" dirty="0"/>
              <a:t>(</a:t>
            </a:r>
            <a:r>
              <a:rPr lang="en-US" altLang="zh-TW" dirty="0" err="1"/>
              <a:t>Hotelling’s</a:t>
            </a:r>
            <a:r>
              <a:rPr lang="en-US" altLang="zh-TW" dirty="0"/>
              <a:t> T</a:t>
            </a:r>
            <a:r>
              <a:rPr lang="en-US" altLang="zh-TW" baseline="30000" dirty="0"/>
              <a:t>2</a:t>
            </a:r>
            <a:r>
              <a:rPr lang="en-US" altLang="zh-TW" dirty="0"/>
              <a:t> statistic)</a:t>
            </a:r>
            <a:endParaRPr lang="zh-TW" altLang="en-US" dirty="0"/>
          </a:p>
        </p:txBody>
      </p:sp>
      <p:sp>
        <p:nvSpPr>
          <p:cNvPr id="6" name="矩形 5"/>
          <p:cNvSpPr/>
          <p:nvPr/>
        </p:nvSpPr>
        <p:spPr>
          <a:xfrm>
            <a:off x="971600" y="2659945"/>
            <a:ext cx="2222083" cy="369332"/>
          </a:xfrm>
          <a:prstGeom prst="rect">
            <a:avLst/>
          </a:prstGeom>
        </p:spPr>
        <p:txBody>
          <a:bodyPr wrap="none">
            <a:spAutoFit/>
          </a:bodyPr>
          <a:lstStyle/>
          <a:p>
            <a:r>
              <a:rPr lang="en-US" altLang="zh-TW" dirty="0" smtClean="0"/>
              <a:t>(reconstruction error)</a:t>
            </a:r>
            <a:endParaRPr lang="zh-TW" altLang="en-US" dirty="0"/>
          </a:p>
        </p:txBody>
      </p:sp>
    </p:spTree>
    <p:extLst>
      <p:ext uri="{BB962C8B-B14F-4D97-AF65-F5344CB8AC3E}">
        <p14:creationId xmlns:p14="http://schemas.microsoft.com/office/powerpoint/2010/main" val="21581302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Correlation Based Dynamic Time Warping </a:t>
            </a:r>
            <a:r>
              <a:rPr lang="en-US" altLang="zh-TW" dirty="0"/>
              <a:t>(CBDTW)</a:t>
            </a:r>
            <a:endParaRPr lang="zh-TW" altLang="en-US" dirty="0"/>
          </a:p>
        </p:txBody>
      </p:sp>
      <p:sp>
        <p:nvSpPr>
          <p:cNvPr id="3" name="內容版面配置區 2"/>
          <p:cNvSpPr>
            <a:spLocks noGrp="1"/>
          </p:cNvSpPr>
          <p:nvPr>
            <p:ph idx="1"/>
          </p:nvPr>
        </p:nvSpPr>
        <p:spPr/>
        <p:txBody>
          <a:bodyPr>
            <a:normAutofit/>
          </a:bodyPr>
          <a:lstStyle/>
          <a:p>
            <a:pPr marL="457200" indent="-457200">
              <a:buAutoNum type="arabicPeriod"/>
            </a:pPr>
            <a:r>
              <a:rPr lang="en-US" altLang="zh-TW" sz="2000" dirty="0" smtClean="0"/>
              <a:t>Segment </a:t>
            </a:r>
            <a:r>
              <a:rPr lang="en-US" altLang="zh-TW" sz="2000" dirty="0"/>
              <a:t>the time series of the given database based on </a:t>
            </a:r>
            <a:r>
              <a:rPr lang="en-US" altLang="zh-TW" sz="2000" dirty="0" smtClean="0"/>
              <a:t>correlation to </a:t>
            </a:r>
            <a:r>
              <a:rPr lang="en-US" altLang="zh-TW" sz="2000" dirty="0"/>
              <a:t>create the most homogenous segments. The </a:t>
            </a:r>
            <a:r>
              <a:rPr lang="en-US" altLang="zh-TW" sz="2000" dirty="0" smtClean="0"/>
              <a:t>projection error </a:t>
            </a:r>
            <a:r>
              <a:rPr lang="en-US" altLang="zh-TW" sz="2000" dirty="0"/>
              <a:t>or </a:t>
            </a:r>
            <a:r>
              <a:rPr lang="en-US" altLang="zh-TW" sz="2000" dirty="0" err="1"/>
              <a:t>Hotelling’s</a:t>
            </a:r>
            <a:r>
              <a:rPr lang="en-US" altLang="zh-TW" sz="2000" dirty="0"/>
              <a:t> statistics can be used as basis </a:t>
            </a:r>
            <a:r>
              <a:rPr lang="en-US" altLang="zh-TW" sz="2000" dirty="0" smtClean="0"/>
              <a:t>of the </a:t>
            </a:r>
            <a:r>
              <a:rPr lang="en-US" altLang="zh-TW" sz="2000" dirty="0"/>
              <a:t>cost function. This segmentation can be done off-line </a:t>
            </a:r>
            <a:r>
              <a:rPr lang="en-US" altLang="zh-TW" sz="2000" dirty="0" smtClean="0"/>
              <a:t>in most cases.</a:t>
            </a:r>
          </a:p>
          <a:p>
            <a:pPr marL="457200" indent="-457200">
              <a:buAutoNum type="arabicPeriod"/>
            </a:pPr>
            <a:r>
              <a:rPr lang="en-US" altLang="zh-TW" sz="2000" dirty="0"/>
              <a:t>Segment the </a:t>
            </a:r>
            <a:r>
              <a:rPr lang="en-US" altLang="zh-TW" sz="2000" dirty="0" smtClean="0"/>
              <a:t>query </a:t>
            </a:r>
            <a:r>
              <a:rPr lang="en-US" altLang="zh-TW" sz="2000" dirty="0"/>
              <a:t>time series according to the database</a:t>
            </a:r>
            <a:r>
              <a:rPr lang="en-US" altLang="zh-TW" sz="2000" dirty="0" smtClean="0"/>
              <a:t>.</a:t>
            </a:r>
          </a:p>
          <a:p>
            <a:pPr marL="457200" indent="-457200">
              <a:buAutoNum type="arabicPeriod" startAt="3"/>
            </a:pPr>
            <a:r>
              <a:rPr lang="en-US" altLang="zh-TW" sz="2000" dirty="0" smtClean="0"/>
              <a:t>Calculate </a:t>
            </a:r>
            <a:r>
              <a:rPr lang="en-US" altLang="zh-TW" sz="2000" dirty="0"/>
              <a:t>the DTW dissimilarity between the query </a:t>
            </a:r>
            <a:r>
              <a:rPr lang="en-US" altLang="zh-TW" sz="2000" dirty="0" smtClean="0"/>
              <a:t>and the </a:t>
            </a:r>
            <a:r>
              <a:rPr lang="en-US" altLang="zh-TW" sz="2000" dirty="0"/>
              <a:t>time series of </a:t>
            </a:r>
            <a:r>
              <a:rPr lang="en-US" altLang="zh-TW" sz="2000" dirty="0" smtClean="0"/>
              <a:t>  the </a:t>
            </a:r>
            <a:r>
              <a:rPr lang="en-US" altLang="zh-TW" sz="2000" dirty="0"/>
              <a:t>database. The local </a:t>
            </a:r>
            <a:r>
              <a:rPr lang="en-US" altLang="zh-TW" sz="2000" dirty="0" smtClean="0"/>
              <a:t>dissimilarity measure </a:t>
            </a:r>
            <a:r>
              <a:rPr lang="en-US" altLang="zh-TW" sz="2000" dirty="0"/>
              <a:t>of DTW can be </a:t>
            </a:r>
            <a:r>
              <a:rPr lang="en-US" altLang="zh-TW" sz="2000" dirty="0" smtClean="0"/>
              <a:t>chosen arbitrarily</a:t>
            </a:r>
            <a:r>
              <a:rPr lang="en-US" altLang="zh-TW" sz="2000" dirty="0"/>
              <a:t>. In this </a:t>
            </a:r>
            <a:r>
              <a:rPr lang="en-US" altLang="zh-TW" sz="2000" dirty="0" smtClean="0"/>
              <a:t>paper, it </a:t>
            </a:r>
            <a:r>
              <a:rPr lang="en-US" altLang="zh-TW" sz="2000" dirty="0"/>
              <a:t>is derived from a covariance based </a:t>
            </a:r>
            <a:r>
              <a:rPr lang="en-US" altLang="zh-TW" sz="2000" dirty="0" smtClean="0"/>
              <a:t>similarity measure, i.e</a:t>
            </a:r>
            <a:r>
              <a:rPr lang="en-US" altLang="zh-TW" sz="2000" dirty="0"/>
              <a:t>., 1  SPCA</a:t>
            </a:r>
            <a:r>
              <a:rPr lang="en-US" altLang="zh-TW" sz="2000" dirty="0" smtClean="0"/>
              <a:t>.</a:t>
            </a:r>
          </a:p>
          <a:p>
            <a:pPr marL="0" indent="0">
              <a:buNone/>
            </a:pPr>
            <a:endParaRPr lang="zh-TW" altLang="en-US" sz="2000"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10</a:t>
            </a:fld>
            <a:endParaRPr lang="zh-TW" altLang="en-US"/>
          </a:p>
        </p:txBody>
      </p:sp>
    </p:spTree>
    <p:extLst>
      <p:ext uri="{BB962C8B-B14F-4D97-AF65-F5344CB8AC3E}">
        <p14:creationId xmlns:p14="http://schemas.microsoft.com/office/powerpoint/2010/main" val="30311175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11</a:t>
            </a:fld>
            <a:endParaRPr lang="zh-TW" altLang="en-US"/>
          </a:p>
        </p:txBody>
      </p:sp>
      <p:pic>
        <p:nvPicPr>
          <p:cNvPr id="4098" name="Picture 2" descr="C:\Users\shiujj\Desktop\01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7" y="111215"/>
            <a:ext cx="5667375" cy="67467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4477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a:t>
            </a:r>
            <a:r>
              <a:rPr lang="en-US" altLang="zh-TW" dirty="0" smtClean="0"/>
              <a:t>Results</a:t>
            </a:r>
            <a:endParaRPr lang="zh-TW" altLang="en-US" dirty="0"/>
          </a:p>
        </p:txBody>
      </p:sp>
      <p:sp>
        <p:nvSpPr>
          <p:cNvPr id="3" name="內容版面配置區 2"/>
          <p:cNvSpPr>
            <a:spLocks noGrp="1"/>
          </p:cNvSpPr>
          <p:nvPr>
            <p:ph idx="1"/>
          </p:nvPr>
        </p:nvSpPr>
        <p:spPr/>
        <p:txBody>
          <a:bodyPr/>
          <a:lstStyle/>
          <a:p>
            <a:r>
              <a:rPr lang="en-US" altLang="zh-TW" sz="2400" dirty="0" smtClean="0"/>
              <a:t>1</a:t>
            </a:r>
            <a:r>
              <a:rPr lang="en-US" altLang="zh-TW" dirty="0" smtClean="0"/>
              <a:t>.</a:t>
            </a:r>
            <a:r>
              <a:rPr lang="en-US" altLang="zh-TW" dirty="0"/>
              <a:t> </a:t>
            </a:r>
            <a:r>
              <a:rPr lang="en-US" altLang="zh-TW" sz="2400" dirty="0" smtClean="0"/>
              <a:t>signature verification </a:t>
            </a:r>
            <a:r>
              <a:rPr lang="en-US" altLang="zh-TW" sz="2400" dirty="0"/>
              <a:t>conference </a:t>
            </a:r>
            <a:r>
              <a:rPr lang="en-US" altLang="zh-TW" sz="2400" dirty="0" smtClean="0"/>
              <a:t>2004 (SVC2004)</a:t>
            </a: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12</a:t>
            </a:fld>
            <a:endParaRPr lang="zh-TW" altLang="en-US"/>
          </a:p>
        </p:txBody>
      </p:sp>
      <p:pic>
        <p:nvPicPr>
          <p:cNvPr id="5123" name="Picture 3" descr="C:\Users\shiujj\Desktop\01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2348880"/>
            <a:ext cx="5837939" cy="3744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23869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13</a:t>
            </a:fld>
            <a:endParaRPr lang="zh-TW" altLang="en-US"/>
          </a:p>
        </p:txBody>
      </p:sp>
      <p:pic>
        <p:nvPicPr>
          <p:cNvPr id="6146" name="Picture 2" descr="C:\Users\shiujj\Desktop\01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262767"/>
            <a:ext cx="7812360" cy="44776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75164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14</a:t>
            </a:fld>
            <a:endParaRPr lang="zh-TW" altLang="en-US"/>
          </a:p>
        </p:txBody>
      </p:sp>
      <p:pic>
        <p:nvPicPr>
          <p:cNvPr id="7171" name="Picture 3" descr="C:\Users\shiujj\Desktop\01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764703"/>
            <a:ext cx="7315049" cy="5546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32165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r>
              <a:rPr lang="en-US" altLang="zh-TW" sz="2400" dirty="0"/>
              <a:t>2. Australian language sign dataset (AUSLAN)</a:t>
            </a:r>
            <a:endParaRPr lang="zh-TW" altLang="en-US" sz="2400"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15</a:t>
            </a:fld>
            <a:endParaRPr lang="zh-TW" altLang="en-US"/>
          </a:p>
        </p:txBody>
      </p:sp>
      <p:pic>
        <p:nvPicPr>
          <p:cNvPr id="8194" name="Picture 2" descr="C:\Users\shiujj\Desktop\01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2348880"/>
            <a:ext cx="6682028" cy="3965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96673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16</a:t>
            </a:fld>
            <a:endParaRPr lang="zh-TW" altLang="en-US"/>
          </a:p>
        </p:txBody>
      </p:sp>
      <p:pic>
        <p:nvPicPr>
          <p:cNvPr id="9218" name="Picture 2" descr="C:\Users\shiujj\Desktop\01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764704"/>
            <a:ext cx="8424936" cy="5886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421128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17</a:t>
            </a:fld>
            <a:endParaRPr lang="zh-TW" altLang="en-US"/>
          </a:p>
        </p:txBody>
      </p:sp>
      <p:pic>
        <p:nvPicPr>
          <p:cNvPr id="10242" name="Picture 2" descr="C:\Users\shiujj\Desktop\01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908720"/>
            <a:ext cx="6964362" cy="5314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42053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18</a:t>
            </a:fld>
            <a:endParaRPr lang="zh-TW" altLang="en-US"/>
          </a:p>
        </p:txBody>
      </p:sp>
      <p:pic>
        <p:nvPicPr>
          <p:cNvPr id="11266" name="Picture 2" descr="C:\Users\shiujj\Desktop\01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108814"/>
            <a:ext cx="6192688" cy="6741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643293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562</TotalTime>
  <Words>767</Words>
  <Application>Microsoft Office PowerPoint</Application>
  <PresentationFormat>如螢幕大小 (4:3)</PresentationFormat>
  <Paragraphs>240</Paragraphs>
  <Slides>18</Slides>
  <Notes>1</Notes>
  <HiddenSlides>0</HiddenSlides>
  <MMClips>0</MMClips>
  <ScaleCrop>false</ScaleCrop>
  <HeadingPairs>
    <vt:vector size="4" baseType="variant">
      <vt:variant>
        <vt:lpstr>佈景主題</vt:lpstr>
      </vt:variant>
      <vt:variant>
        <vt:i4>1</vt:i4>
      </vt:variant>
      <vt:variant>
        <vt:lpstr>投影片標題</vt:lpstr>
      </vt:variant>
      <vt:variant>
        <vt:i4>18</vt:i4>
      </vt:variant>
    </vt:vector>
  </HeadingPairs>
  <TitlesOfParts>
    <vt:vector size="19" baseType="lpstr">
      <vt:lpstr>Office 佈景主題</vt:lpstr>
      <vt:lpstr>Correlation based dynamic time warping of multivariate time series</vt:lpstr>
      <vt:lpstr>Abstract</vt:lpstr>
      <vt:lpstr>Abstract</vt:lpstr>
      <vt:lpstr>Introduction </vt:lpstr>
      <vt:lpstr>Dynamic Time Warping (DTW)</vt:lpstr>
      <vt:lpstr>PowerPoint 簡報</vt:lpstr>
      <vt:lpstr>Multivariate Time Series </vt:lpstr>
      <vt:lpstr>Principal Component Analysis (PCA) </vt:lpstr>
      <vt:lpstr>Principal Component Analysis (PCA) </vt:lpstr>
      <vt:lpstr>Correlation Based Dynamic Time Warping (CBDTW)</vt:lpstr>
      <vt:lpstr>PowerPoint 簡報</vt:lpstr>
      <vt:lpstr>Experimental Results</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Correlation based dynamic time warping of multivariate time series</dc:title>
  <dc:creator>Jie</dc:creator>
  <cp:lastModifiedBy>Jie</cp:lastModifiedBy>
  <cp:revision>34</cp:revision>
  <dcterms:created xsi:type="dcterms:W3CDTF">2012-10-07T09:53:42Z</dcterms:created>
  <dcterms:modified xsi:type="dcterms:W3CDTF">2012-10-15T20:21:33Z</dcterms:modified>
</cp:coreProperties>
</file>