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4" r:id="rId3"/>
    <p:sldId id="266" r:id="rId4"/>
    <p:sldId id="267" r:id="rId5"/>
    <p:sldId id="265" r:id="rId6"/>
    <p:sldId id="271" r:id="rId7"/>
    <p:sldId id="274" r:id="rId8"/>
    <p:sldId id="277" r:id="rId9"/>
    <p:sldId id="268" r:id="rId10"/>
    <p:sldId id="270" r:id="rId11"/>
    <p:sldId id="269" r:id="rId12"/>
    <p:sldId id="263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37" autoAdjust="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4EDE0-2BF2-42F8-BCD6-69B388AE1F77}" type="datetimeFigureOut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A121F-F889-48C3-BFAE-6861FE9CAA2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lisons.org/ll/Publications/1986IPL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hlinkClick r:id="rId3"/>
              </a:rPr>
              <a:t>http://www.allisons.org/ll/Publications/1986IPL/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55EB1C-CCAB-410B-BDBF-A95636BA528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7F252-8706-4E8A-9108-FDDDF7A22651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EC682-D292-48D0-97FD-3CB6B6ADB792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DC88-0D9C-409B-835B-E4E681A0A3FB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6346-4E5C-4D54-B3C2-57492E23F358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EDC2-943C-4378-867C-8EF59BFF8A19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657C-E33F-434C-8B2B-DC35273172A5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ECDB-6EC3-411E-90F8-DF9FACC2207E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785FF-3D02-4E8F-ADE4-8F35D4ADDCEA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9643-CE88-4C95-9E40-DD7EF3C6FA04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6C0B-2A3B-45B6-BBF2-9E10421BF667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DCB0-0A9F-407E-AD9E-36B2667F38C6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8A5B6-D4A2-4791-95DC-F952BC0F6CE2}" type="datetime1">
              <a:rPr lang="zh-TW" altLang="en-US" smtClean="0"/>
              <a:pPr/>
              <a:t>2012/5/1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470025"/>
          </a:xfrm>
        </p:spPr>
        <p:txBody>
          <a:bodyPr/>
          <a:lstStyle/>
          <a:p>
            <a:r>
              <a:rPr lang="en-US" altLang="zh-TW" dirty="0" smtClean="0"/>
              <a:t>A Bit-string Longest-Common-Subsequence Algorithm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371600" y="3140968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Lloyd ALLISON and Trevor I. DIX</a:t>
            </a:r>
            <a:b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Information Processing 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Letters, 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Volume 23, Issue 6, 1986, 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pp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en-US" altLang="zh-TW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305-310</a:t>
            </a:r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860032" y="5301208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Presenter: Chun-</a:t>
            </a:r>
            <a:r>
              <a:rPr lang="en-US" altLang="zh-TW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Chieh</a:t>
            </a:r>
            <a:r>
              <a:rPr lang="en-US" altLang="zh-TW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 Tai</a:t>
            </a:r>
          </a:p>
          <a:p>
            <a:r>
              <a:rPr lang="en-US" altLang="zh-TW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Date</a:t>
            </a:r>
            <a:r>
              <a:rPr lang="en-US" altLang="zh-TW" sz="24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: </a:t>
            </a:r>
            <a:r>
              <a:rPr lang="pt-BR" altLang="zh-TW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May </a:t>
            </a:r>
            <a:r>
              <a:rPr lang="en-US" altLang="zh-TW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itchFamily="18" charset="0"/>
              </a:rPr>
              <a:t>1, 2012</a:t>
            </a:r>
            <a:endParaRPr lang="zh-TW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dirty="0" smtClean="0"/>
              <a:t>Ex. 1:</a:t>
            </a:r>
          </a:p>
          <a:p>
            <a:r>
              <a:rPr lang="en-US" altLang="zh-TW" dirty="0" smtClean="0"/>
              <a:t>A = T</a:t>
            </a:r>
            <a:r>
              <a:rPr lang="en-US" altLang="zh-TW" dirty="0" smtClean="0">
                <a:solidFill>
                  <a:srgbClr val="FF0000"/>
                </a:solidFill>
              </a:rPr>
              <a:t>AG</a:t>
            </a:r>
            <a:r>
              <a:rPr lang="en-US" altLang="zh-TW" dirty="0" smtClean="0"/>
              <a:t>TC</a:t>
            </a:r>
            <a:r>
              <a:rPr lang="en-US" altLang="zh-TW" dirty="0" smtClean="0">
                <a:solidFill>
                  <a:srgbClr val="FF0000"/>
                </a:solidFill>
              </a:rPr>
              <a:t>ACG</a:t>
            </a:r>
            <a:endParaRPr lang="en-US" altLang="zh-TW" dirty="0" smtClean="0"/>
          </a:p>
          <a:p>
            <a:r>
              <a:rPr lang="en-US" altLang="zh-TW" dirty="0" smtClean="0"/>
              <a:t>B = </a:t>
            </a:r>
            <a:r>
              <a:rPr lang="en-US" altLang="zh-TW" dirty="0" smtClean="0">
                <a:solidFill>
                  <a:srgbClr val="FF0000"/>
                </a:solidFill>
              </a:rPr>
              <a:t>AGAC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TC</a:t>
            </a:r>
          </a:p>
          <a:p>
            <a:r>
              <a:rPr lang="en-US" altLang="zh-TW" dirty="0" smtClean="0"/>
              <a:t>LCS(A,B) = AGACG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Ex. 2:</a:t>
            </a:r>
          </a:p>
          <a:p>
            <a:r>
              <a:rPr lang="en-US" altLang="zh-TW" dirty="0" smtClean="0"/>
              <a:t>a = GC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GC</a:t>
            </a:r>
            <a:r>
              <a:rPr lang="en-US" altLang="zh-TW" dirty="0" smtClean="0"/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TA</a:t>
            </a:r>
            <a:r>
              <a:rPr lang="en-US" altLang="zh-TW" dirty="0" smtClean="0"/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AT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CTG</a:t>
            </a:r>
            <a:endParaRPr lang="en-US" altLang="zh-TW" dirty="0" smtClean="0"/>
          </a:p>
          <a:p>
            <a:r>
              <a:rPr lang="en-US" altLang="zh-TW" dirty="0" smtClean="0"/>
              <a:t>b = 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A</a:t>
            </a:r>
            <a:r>
              <a:rPr lang="en-US" altLang="zh-TW" dirty="0" smtClean="0">
                <a:solidFill>
                  <a:srgbClr val="FF0000"/>
                </a:solidFill>
              </a:rPr>
              <a:t>GCT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AA</a:t>
            </a:r>
            <a:r>
              <a:rPr lang="en-US" altLang="zh-TW" dirty="0" smtClean="0"/>
              <a:t>GA</a:t>
            </a:r>
            <a:r>
              <a:rPr lang="en-US" altLang="zh-TW" dirty="0" smtClean="0">
                <a:solidFill>
                  <a:srgbClr val="FF0000"/>
                </a:solidFill>
              </a:rPr>
              <a:t>TCT</a:t>
            </a:r>
            <a:r>
              <a:rPr lang="en-US" altLang="zh-TW" dirty="0" smtClean="0"/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G</a:t>
            </a:r>
            <a:r>
              <a:rPr lang="en-US" altLang="zh-TW" dirty="0" smtClean="0"/>
              <a:t>T</a:t>
            </a:r>
          </a:p>
          <a:p>
            <a:r>
              <a:rPr lang="en-US" altLang="zh-TW" dirty="0" smtClean="0"/>
              <a:t>LCS(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) = TGCTAATCTG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827585" y="1268761"/>
            <a:ext cx="5184576" cy="1083028"/>
            <a:chOff x="827584" y="1268760"/>
            <a:chExt cx="6348345" cy="1326133"/>
          </a:xfrm>
        </p:grpSpPr>
        <p:graphicFrame>
          <p:nvGraphicFramePr>
            <p:cNvPr id="1028" name="Object 4"/>
            <p:cNvGraphicFramePr>
              <a:graphicFrameLocks noChangeAspect="1"/>
            </p:cNvGraphicFramePr>
            <p:nvPr/>
          </p:nvGraphicFramePr>
          <p:xfrm>
            <a:off x="827584" y="1340768"/>
            <a:ext cx="4210050" cy="1254125"/>
          </p:xfrm>
          <a:graphic>
            <a:graphicData uri="http://schemas.openxmlformats.org/presentationml/2006/ole">
              <p:oleObj spid="_x0000_s1028" name="方程式" r:id="rId3" imgW="1536480" imgH="457200" progId="Equation.3">
                <p:embed/>
              </p:oleObj>
            </a:graphicData>
          </a:graphic>
        </p:graphicFrame>
        <p:sp>
          <p:nvSpPr>
            <p:cNvPr id="10" name="文字方塊 9"/>
            <p:cNvSpPr txBox="1"/>
            <p:nvPr/>
          </p:nvSpPr>
          <p:spPr>
            <a:xfrm>
              <a:off x="5292080" y="1268760"/>
              <a:ext cx="17171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>
                  <a:latin typeface="Times New Roman" pitchFamily="18" charset="0"/>
                  <a:cs typeface="Times New Roman" pitchFamily="18" charset="0"/>
                </a:rPr>
                <a:t>if </a:t>
              </a:r>
              <a:r>
                <a:rPr lang="en-US" altLang="zh-TW" sz="32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altLang="zh-TW" sz="3200" baseline="-25000" dirty="0" err="1" smtClean="0">
                  <a:latin typeface="Times New Roman" pitchFamily="18" charset="0"/>
                  <a:cs typeface="Times New Roman" pitchFamily="18" charset="0"/>
                </a:rPr>
                <a:t>j</a:t>
              </a:r>
              <a:r>
                <a:rPr lang="en-US" altLang="zh-TW" sz="3200" dirty="0" smtClean="0">
                  <a:latin typeface="Times New Roman" pitchFamily="18" charset="0"/>
                  <a:cs typeface="Times New Roman" pitchFamily="18" charset="0"/>
                </a:rPr>
                <a:t> = b</a:t>
              </a:r>
              <a:r>
                <a:rPr lang="en-US" altLang="zh-TW" sz="3200" baseline="-25000" dirty="0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TW" sz="3200" dirty="0" smtClean="0">
                  <a:latin typeface="Times New Roman" pitchFamily="18" charset="0"/>
                  <a:cs typeface="Times New Roman" pitchFamily="18" charset="0"/>
                </a:rPr>
                <a:t> ,</a:t>
              </a:r>
              <a:endParaRPr lang="en-US" altLang="zh-TW" sz="3200" baseline="-250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292080" y="1916832"/>
              <a:ext cx="18838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dirty="0" smtClean="0">
                  <a:latin typeface="Times New Roman" pitchFamily="18" charset="0"/>
                  <a:cs typeface="Times New Roman" pitchFamily="18" charset="0"/>
                </a:rPr>
                <a:t>otherwise.</a:t>
              </a:r>
              <a:endParaRPr lang="en-US" altLang="zh-TW" sz="3200" baseline="-250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5292080" y="3212976"/>
            <a:ext cx="3347864" cy="2817604"/>
            <a:chOff x="5796136" y="3284984"/>
            <a:chExt cx="3347864" cy="2817604"/>
          </a:xfrm>
        </p:grpSpPr>
        <p:grpSp>
          <p:nvGrpSpPr>
            <p:cNvPr id="38" name="群組 37"/>
            <p:cNvGrpSpPr/>
            <p:nvPr/>
          </p:nvGrpSpPr>
          <p:grpSpPr>
            <a:xfrm>
              <a:off x="5821536" y="3284984"/>
              <a:ext cx="1872208" cy="1884908"/>
              <a:chOff x="5821536" y="3284984"/>
              <a:chExt cx="1872208" cy="1884908"/>
            </a:xfrm>
          </p:grpSpPr>
          <p:cxnSp>
            <p:nvCxnSpPr>
              <p:cNvPr id="14" name="直線單箭頭接點 13"/>
              <p:cNvCxnSpPr/>
              <p:nvPr/>
            </p:nvCxnSpPr>
            <p:spPr>
              <a:xfrm flipV="1">
                <a:off x="7668344" y="3284984"/>
                <a:ext cx="0" cy="188490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/>
              <p:nvPr/>
            </p:nvCxnSpPr>
            <p:spPr>
              <a:xfrm flipH="1">
                <a:off x="5821536" y="5157192"/>
                <a:ext cx="1872208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文字方塊 38"/>
            <p:cNvSpPr txBox="1"/>
            <p:nvPr/>
          </p:nvSpPr>
          <p:spPr>
            <a:xfrm>
              <a:off x="7884368" y="3356992"/>
              <a:ext cx="1127425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.</a:t>
              </a:r>
            </a:p>
            <a:p>
              <a:r>
                <a:rPr lang="en-US" altLang="zh-TW" dirty="0" smtClean="0"/>
                <a:t>.</a:t>
              </a:r>
            </a:p>
            <a:p>
              <a:r>
                <a:rPr lang="en-US" altLang="zh-TW" dirty="0" smtClean="0"/>
                <a:t>.</a:t>
              </a:r>
            </a:p>
            <a:p>
              <a:r>
                <a:rPr lang="en-US" altLang="zh-TW" dirty="0" smtClean="0"/>
                <a:t>b3 – row3</a:t>
              </a:r>
            </a:p>
            <a:p>
              <a:r>
                <a:rPr lang="en-US" altLang="zh-TW" dirty="0" smtClean="0"/>
                <a:t>b2 – row2</a:t>
              </a:r>
            </a:p>
            <a:p>
              <a:r>
                <a:rPr lang="en-US" altLang="zh-TW" dirty="0" smtClean="0"/>
                <a:t>b1 – row1</a:t>
              </a:r>
              <a:endParaRPr lang="zh-TW" altLang="en-US" dirty="0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7308304" y="3284984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 smtClean="0"/>
                <a:t>i</a:t>
              </a:r>
              <a:endParaRPr lang="zh-TW" altLang="en-US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5796136" y="465313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j</a:t>
              </a:r>
              <a:endParaRPr lang="zh-TW" altLang="en-US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6516216" y="5229200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…a3 a2 a1</a:t>
              </a:r>
              <a:endParaRPr lang="zh-TW" altLang="en-US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6156176" y="5733256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string a</a:t>
              </a:r>
              <a:endParaRPr lang="zh-TW" altLang="en-US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8249203" y="3356992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string b</a:t>
              </a:r>
              <a:endParaRPr lang="zh-TW" altLang="en-US" dirty="0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8055753" y="5445224"/>
              <a:ext cx="10882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/>
                <a:t>Matrix </a:t>
              </a:r>
              <a:r>
                <a:rPr lang="en-US" altLang="zh-TW" b="1" dirty="0" err="1" smtClean="0"/>
                <a:t>Lij</a:t>
              </a:r>
              <a:endParaRPr lang="zh-TW" altLang="en-US" b="1" dirty="0"/>
            </a:p>
          </p:txBody>
        </p: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Matrix L of Ex. 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/>
        </p:nvGraphicFramePr>
        <p:xfrm>
          <a:off x="1619670" y="1272444"/>
          <a:ext cx="5843274" cy="528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  <a:gridCol w="343722"/>
              </a:tblGrid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 marL="73068" marR="73068" marT="36534" marB="3653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211960" y="6488668"/>
            <a:ext cx="89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string a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812360" y="350100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string b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Bit-string Algorithm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Alphabet-strings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lvl="3"/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Matrix M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An LCS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699792" y="3789040"/>
          <a:ext cx="2232248" cy="974725"/>
        </p:xfrm>
        <a:graphic>
          <a:graphicData uri="http://schemas.openxmlformats.org/presentationml/2006/ole">
            <p:oleObj spid="_x0000_s2050" name="方程式" r:id="rId3" imgW="799920" imgH="355320" progId="Equation.3">
              <p:embed/>
            </p:oleObj>
          </a:graphicData>
        </a:graphic>
      </p:graphicFrame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755576" y="1988840"/>
          <a:ext cx="7128802" cy="1736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114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  <a:gridCol w="382543"/>
              </a:tblGrid>
              <a:tr h="34738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a:</a:t>
                      </a: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T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C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T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A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A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T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C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G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dirty="0" smtClean="0"/>
                        <a:t>T</a:t>
                      </a:r>
                      <a:endParaRPr lang="zh-TW" altLang="en-US" dirty="0" smtClean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8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A-string:</a:t>
                      </a: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8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C-string:</a:t>
                      </a: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8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G-string:</a:t>
                      </a: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8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T-string:</a:t>
                      </a: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3" name="群組 12"/>
          <p:cNvGrpSpPr/>
          <p:nvPr/>
        </p:nvGrpSpPr>
        <p:grpSpPr>
          <a:xfrm>
            <a:off x="899592" y="4725144"/>
            <a:ext cx="7434096" cy="873388"/>
            <a:chOff x="899592" y="4725144"/>
            <a:chExt cx="7434096" cy="873388"/>
          </a:xfrm>
        </p:grpSpPr>
        <p:graphicFrame>
          <p:nvGraphicFramePr>
            <p:cNvPr id="2051" name="Object 3"/>
            <p:cNvGraphicFramePr>
              <a:graphicFrameLocks noChangeAspect="1"/>
            </p:cNvGraphicFramePr>
            <p:nvPr/>
          </p:nvGraphicFramePr>
          <p:xfrm>
            <a:off x="899592" y="4725144"/>
            <a:ext cx="5845175" cy="557213"/>
          </p:xfrm>
          <a:graphic>
            <a:graphicData uri="http://schemas.openxmlformats.org/presentationml/2006/ole">
              <p:oleObj spid="_x0000_s2051" name="方程式" r:id="rId4" imgW="2133360" imgH="203040" progId="Equation.3">
                <p:embed/>
              </p:oleObj>
            </a:graphicData>
          </a:graphic>
        </p:graphicFrame>
        <p:sp>
          <p:nvSpPr>
            <p:cNvPr id="12" name="文字方塊 11"/>
            <p:cNvSpPr txBox="1"/>
            <p:nvPr/>
          </p:nvSpPr>
          <p:spPr>
            <a:xfrm>
              <a:off x="5652120" y="5229200"/>
              <a:ext cx="2681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where x = row</a:t>
              </a:r>
              <a:r>
                <a:rPr lang="en-US" altLang="zh-TW" baseline="-25000" dirty="0" smtClean="0"/>
                <a:t>i-1</a:t>
              </a:r>
              <a:r>
                <a:rPr lang="en-US" altLang="zh-TW" dirty="0" smtClean="0"/>
                <a:t> v b</a:t>
              </a:r>
              <a:r>
                <a:rPr lang="en-US" altLang="zh-TW" baseline="-25000" dirty="0" smtClean="0"/>
                <a:t>i</a:t>
              </a:r>
              <a:r>
                <a:rPr lang="en-US" altLang="zh-TW" dirty="0" smtClean="0"/>
                <a:t>-string</a:t>
              </a:r>
              <a:endParaRPr lang="zh-TW" altLang="en-US" dirty="0"/>
            </a:p>
          </p:txBody>
        </p: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Matrix M of Ex. 2</a:t>
            </a:r>
            <a:endParaRPr lang="zh-TW" altLang="en-US" baseline="-25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7" name="內容版面配置區 4"/>
          <p:cNvGraphicFramePr>
            <a:graphicFrameLocks/>
          </p:cNvGraphicFramePr>
          <p:nvPr/>
        </p:nvGraphicFramePr>
        <p:xfrm>
          <a:off x="1259632" y="980728"/>
          <a:ext cx="6635370" cy="559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  <a:gridCol w="349230"/>
              </a:tblGrid>
              <a:tr h="310885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sz="1500" smtClean="0"/>
                        <a:t>#bits</a:t>
                      </a:r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0885"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3068" marR="73068" marT="36534" marB="365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403648" y="6488668"/>
            <a:ext cx="876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string 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28384" y="184482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string b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736384" y="2798192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-row 11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736384" y="3111500"/>
            <a:ext cx="90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-row 10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916460" y="2847603"/>
            <a:ext cx="5904656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560990" y="2853308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Build </a:t>
            </a:r>
            <a:r>
              <a:rPr lang="en-US" altLang="zh-TW" dirty="0" err="1" smtClean="0"/>
              <a:t>Metrix</a:t>
            </a:r>
            <a:r>
              <a:rPr lang="en-US" altLang="zh-TW" dirty="0" smtClean="0"/>
              <a:t> M(1/2)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Step 1: Let x = row</a:t>
            </a:r>
            <a:r>
              <a:rPr lang="en-US" altLang="zh-TW" baseline="-25000" dirty="0" smtClean="0"/>
              <a:t>i-1</a:t>
            </a:r>
            <a:r>
              <a:rPr lang="en-US" altLang="zh-TW" dirty="0" smtClean="0"/>
              <a:t> v b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-string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Step 2: x’ = x – (row</a:t>
            </a:r>
            <a:r>
              <a:rPr lang="en-US" altLang="zh-TW" baseline="-25000" dirty="0" smtClean="0"/>
              <a:t>i-1</a:t>
            </a:r>
            <a:r>
              <a:rPr lang="en-US" altLang="zh-TW" dirty="0" smtClean="0"/>
              <a:t> &lt;&lt; 1)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2564904"/>
          <a:ext cx="777687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152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row</a:t>
                      </a:r>
                      <a:r>
                        <a:rPr lang="en-US" altLang="zh-TW" baseline="-25000" dirty="0" smtClean="0"/>
                        <a:t>10</a:t>
                      </a:r>
                      <a:r>
                        <a:rPr lang="en-US" altLang="zh-TW" dirty="0" smtClean="0"/>
                        <a:t>:</a:t>
                      </a:r>
                      <a:endParaRPr lang="zh-TW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T-string: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x: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99592" y="4941168"/>
          <a:ext cx="777687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152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x:</a:t>
                      </a:r>
                      <a:endParaRPr lang="zh-TW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row</a:t>
                      </a:r>
                      <a:r>
                        <a:rPr lang="en-US" altLang="zh-TW" baseline="-25000" dirty="0" smtClean="0"/>
                        <a:t>10</a:t>
                      </a:r>
                      <a:r>
                        <a:rPr lang="en-US" altLang="zh-TW" dirty="0" smtClean="0"/>
                        <a:t> &lt;&lt; 1: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73068" marR="73068" marT="36534" marB="36534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x’: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71600" y="2924944"/>
            <a:ext cx="386644" cy="369332"/>
          </a:xfrm>
          <a:prstGeom prst="rect">
            <a:avLst/>
          </a:prstGeom>
          <a:ln w="19050">
            <a:solidFill>
              <a:srgbClr val="92D050"/>
            </a:solidFill>
            <a:prstDash val="sysDash"/>
          </a:ln>
        </p:spPr>
        <p:txBody>
          <a:bodyPr wrap="none">
            <a:spAutoFit/>
          </a:bodyPr>
          <a:lstStyle/>
          <a:p>
            <a:r>
              <a:rPr lang="en-US" altLang="zh-TW" dirty="0" smtClean="0"/>
              <a:t>or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99592" y="5301208"/>
            <a:ext cx="255198" cy="369332"/>
          </a:xfrm>
          <a:prstGeom prst="rect">
            <a:avLst/>
          </a:prstGeom>
          <a:ln w="19050">
            <a:solidFill>
              <a:srgbClr val="92D050"/>
            </a:solidFill>
            <a:prstDash val="sysDash"/>
          </a:ln>
        </p:spPr>
        <p:txBody>
          <a:bodyPr wrap="none">
            <a:spAutoFit/>
          </a:bodyPr>
          <a:lstStyle/>
          <a:p>
            <a:r>
              <a:rPr lang="en-US" altLang="zh-TW" dirty="0" smtClean="0"/>
              <a:t>-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Build </a:t>
            </a:r>
            <a:r>
              <a:rPr lang="en-US" altLang="zh-TW" dirty="0" err="1" smtClean="0"/>
              <a:t>Metrix</a:t>
            </a:r>
            <a:r>
              <a:rPr lang="en-US" altLang="zh-TW" dirty="0" smtClean="0"/>
              <a:t> M(2/2)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Step 3: x’’ = x’ </a:t>
            </a:r>
            <a:r>
              <a:rPr lang="zh-TW" altLang="en-US" dirty="0" smtClean="0"/>
              <a:t>⊕ </a:t>
            </a:r>
            <a:r>
              <a:rPr lang="en-US" altLang="zh-TW" dirty="0" smtClean="0"/>
              <a:t>x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Step 4: </a:t>
            </a:r>
            <a:r>
              <a:rPr lang="en-US" altLang="zh-TW" dirty="0" err="1" smtClean="0"/>
              <a:t>row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= x’’</a:t>
            </a:r>
            <a:r>
              <a:rPr lang="zh-TW" altLang="en-US" dirty="0" smtClean="0"/>
              <a:t> </a:t>
            </a:r>
            <a:r>
              <a:rPr lang="en-US" altLang="zh-TW" dirty="0" smtClean="0"/>
              <a:t>Ʌ</a:t>
            </a:r>
            <a:r>
              <a:rPr lang="zh-TW" altLang="en-US" dirty="0" smtClean="0"/>
              <a:t> </a:t>
            </a:r>
            <a:r>
              <a:rPr lang="en-US" altLang="zh-TW" dirty="0" smtClean="0"/>
              <a:t>x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2564904"/>
          <a:ext cx="777687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152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x’: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 :</a:t>
                      </a:r>
                      <a:endParaRPr lang="zh-TW" altLang="en-US" dirty="0" smtClean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x’’: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99592" y="4941168"/>
          <a:ext cx="777687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152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  <a:gridCol w="400545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x’’: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x:</a:t>
                      </a:r>
                      <a:endParaRPr lang="zh-TW" altLang="en-US" dirty="0" smtClean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row</a:t>
                      </a:r>
                      <a:r>
                        <a:rPr lang="en-US" altLang="zh-TW" baseline="-25000" dirty="0" smtClean="0"/>
                        <a:t>11</a:t>
                      </a:r>
                      <a:r>
                        <a:rPr lang="en-US" altLang="zh-TW" dirty="0" smtClean="0"/>
                        <a:t> :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259632" y="5301208"/>
            <a:ext cx="538930" cy="369332"/>
          </a:xfrm>
          <a:prstGeom prst="rect">
            <a:avLst/>
          </a:prstGeom>
          <a:ln w="19050">
            <a:solidFill>
              <a:srgbClr val="92D050"/>
            </a:solidFill>
            <a:prstDash val="sysDash"/>
          </a:ln>
        </p:spPr>
        <p:txBody>
          <a:bodyPr wrap="none">
            <a:spAutoFit/>
          </a:bodyPr>
          <a:lstStyle/>
          <a:p>
            <a:r>
              <a:rPr lang="en-US" altLang="zh-TW" dirty="0" smtClean="0"/>
              <a:t>and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259632" y="2924944"/>
            <a:ext cx="415498" cy="369332"/>
          </a:xfrm>
          <a:prstGeom prst="rect">
            <a:avLst/>
          </a:prstGeom>
          <a:ln w="19050">
            <a:solidFill>
              <a:srgbClr val="92D050"/>
            </a:solidFill>
            <a:prstDash val="sysDash"/>
          </a:ln>
        </p:spPr>
        <p:txBody>
          <a:bodyPr wrap="none">
            <a:spAutoFit/>
          </a:bodyPr>
          <a:lstStyle/>
          <a:p>
            <a:r>
              <a:rPr lang="zh-TW" altLang="en-US" dirty="0" smtClean="0"/>
              <a:t>⊕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8" name="內容版面配置區 4"/>
          <p:cNvGraphicFramePr>
            <a:graphicFrameLocks/>
          </p:cNvGraphicFramePr>
          <p:nvPr/>
        </p:nvGraphicFramePr>
        <p:xfrm>
          <a:off x="1475656" y="1052736"/>
          <a:ext cx="6131015" cy="5530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48"/>
                <a:gridCol w="213322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  <a:gridCol w="322685"/>
              </a:tblGrid>
              <a:tr h="307264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#bits</a:t>
                      </a:r>
                      <a:endParaRPr lang="zh-TW" altLang="en-US" sz="1500" dirty="0" smtClean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9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8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0</a:t>
                      </a:r>
                      <a:endParaRPr lang="zh-TW" altLang="en-US" sz="1500" dirty="0" smtClean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0</a:t>
                      </a:r>
                      <a:endParaRPr lang="zh-TW" altLang="en-US" sz="1500" dirty="0" smtClean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A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5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264"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G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T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5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5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C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G</a:t>
                      </a:r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 marL="72216" marR="72216" marT="36108" marB="361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259632" y="6488668"/>
            <a:ext cx="876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string a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884368" y="184482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string b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Matrix 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Matrix L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10" name="內容版面配置區 4"/>
          <p:cNvGraphicFramePr>
            <a:graphicFrameLocks noGrp="1"/>
          </p:cNvGraphicFramePr>
          <p:nvPr>
            <p:ph sz="quarter" idx="4"/>
          </p:nvPr>
        </p:nvGraphicFramePr>
        <p:xfrm>
          <a:off x="4789041" y="2174875"/>
          <a:ext cx="4252686" cy="384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  <a:gridCol w="250158"/>
              </a:tblGrid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A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G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A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G</a:t>
                      </a:r>
                      <a:endParaRPr lang="zh-TW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G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1" name="內容版面配置區 4"/>
          <p:cNvGraphicFramePr>
            <a:graphicFrameLocks noGrp="1"/>
          </p:cNvGraphicFramePr>
          <p:nvPr>
            <p:ph sz="half" idx="2"/>
          </p:nvPr>
        </p:nvGraphicFramePr>
        <p:xfrm>
          <a:off x="35496" y="2174875"/>
          <a:ext cx="4514706" cy="384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  <a:gridCol w="250817"/>
              </a:tblGrid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9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8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A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7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G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6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5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4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/>
                        <a:t>0</a:t>
                      </a:r>
                      <a:endParaRPr lang="zh-TW" altLang="en-US" sz="1100" dirty="0" smtClean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3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/>
                        <a:t>0</a:t>
                      </a:r>
                      <a:endParaRPr lang="zh-TW" altLang="en-US" sz="1100" dirty="0" smtClean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A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1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1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0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6260">
                <a:tc>
                  <a:txBody>
                    <a:bodyPr/>
                    <a:lstStyle/>
                    <a:p>
                      <a:pPr algn="ctr"/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solidFill>
                            <a:srgbClr val="FF0000"/>
                          </a:solidFill>
                        </a:rPr>
                        <a:t>G</a:t>
                      </a:r>
                      <a:endParaRPr lang="zh-TW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T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1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zh-TW" altLang="en-US" sz="11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C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G</a:t>
                      </a:r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/>
                    </a:p>
                  </a:txBody>
                  <a:tcPr marL="53178" marR="53178" marT="26589" marB="265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 Result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altLang="zh-TW" dirty="0" smtClean="0"/>
              <a:t>An alphabet of size 4</a:t>
            </a:r>
            <a:endParaRPr lang="zh-TW" altLang="en-US" dirty="0"/>
          </a:p>
        </p:txBody>
      </p:sp>
      <p:graphicFrame>
        <p:nvGraphicFramePr>
          <p:cNvPr id="12" name="內容版面配置區 11"/>
          <p:cNvGraphicFramePr>
            <a:graphicFrameLocks noGrp="1"/>
          </p:cNvGraphicFramePr>
          <p:nvPr>
            <p:ph sz="half" idx="2"/>
          </p:nvPr>
        </p:nvGraphicFramePr>
        <p:xfrm>
          <a:off x="457200" y="2174875"/>
          <a:ext cx="404018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94"/>
                <a:gridCol w="20200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|</a:t>
                      </a:r>
                      <a:r>
                        <a:rPr lang="en-US" altLang="zh-TW" dirty="0" err="1" smtClean="0"/>
                        <a:t>a|x|b</a:t>
                      </a:r>
                      <a:r>
                        <a:rPr lang="en-US" altLang="zh-TW" dirty="0" smtClean="0"/>
                        <a:t>|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Time ratio</a:t>
                      </a:r>
                    </a:p>
                    <a:p>
                      <a:pPr algn="ctr"/>
                      <a:r>
                        <a:rPr lang="en-US" altLang="zh-TW" dirty="0" smtClean="0"/>
                        <a:t>(simple/bit)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 x 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64 x 64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100 x 100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500 x 500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1000 x 1000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4000 x 4000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文字版面配置區 8"/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altLang="zh-TW" dirty="0" smtClean="0"/>
              <a:t>An alphabet of size 256</a:t>
            </a:r>
            <a:endParaRPr lang="zh-TW" altLang="en-US" dirty="0" smtClean="0"/>
          </a:p>
        </p:txBody>
      </p:sp>
      <p:graphicFrame>
        <p:nvGraphicFramePr>
          <p:cNvPr id="13" name="內容版面配置區 12"/>
          <p:cNvGraphicFramePr>
            <a:graphicFrameLocks noGrp="1"/>
          </p:cNvGraphicFramePr>
          <p:nvPr>
            <p:ph sz="quarter" idx="4"/>
          </p:nvPr>
        </p:nvGraphicFramePr>
        <p:xfrm>
          <a:off x="4645025" y="2174875"/>
          <a:ext cx="404177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88"/>
                <a:gridCol w="20208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|</a:t>
                      </a:r>
                      <a:r>
                        <a:rPr lang="en-US" altLang="zh-TW" dirty="0" err="1" smtClean="0"/>
                        <a:t>a|x|b</a:t>
                      </a:r>
                      <a:r>
                        <a:rPr lang="en-US" altLang="zh-TW" dirty="0" smtClean="0"/>
                        <a:t>|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Time ratio</a:t>
                      </a:r>
                    </a:p>
                    <a:p>
                      <a:pPr algn="ctr"/>
                      <a:r>
                        <a:rPr lang="en-US" altLang="zh-TW" dirty="0" smtClean="0"/>
                        <a:t>(simple/bit)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 x 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64 x 64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100 x 100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500 x 500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1000 x 1000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4000 x 4000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1835696" y="5589240"/>
            <a:ext cx="608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(Using C and running  on  a  VAX  11/750  with  a  32-bit  word.)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time complexity of the bit-string LCS algorithm on a computer with </a:t>
            </a:r>
            <a:r>
              <a:rPr lang="en-US" altLang="zh-TW" b="1" dirty="0" smtClean="0"/>
              <a:t>w-bit</a:t>
            </a:r>
            <a:r>
              <a:rPr lang="en-US" altLang="zh-TW" dirty="0" smtClean="0"/>
              <a:t> words for a fixed finite alphabet is </a:t>
            </a:r>
          </a:p>
          <a:p>
            <a:r>
              <a:rPr lang="en-US" altLang="zh-TW" dirty="0" smtClean="0"/>
              <a:t>This gives a speedup over simple             algorithms.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4860032" y="2636912"/>
          <a:ext cx="2232248" cy="621012"/>
        </p:xfrm>
        <a:graphic>
          <a:graphicData uri="http://schemas.openxmlformats.org/presentationml/2006/ole">
            <p:oleObj spid="_x0000_s3074" name="方程式" r:id="rId3" imgW="914400" imgH="253800" progId="Equation.3">
              <p:embed/>
            </p:oleObj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6372201" y="3212976"/>
          <a:ext cx="1440160" cy="588668"/>
        </p:xfrm>
        <a:graphic>
          <a:graphicData uri="http://schemas.openxmlformats.org/presentationml/2006/ole">
            <p:oleObj spid="_x0000_s3076" name="方程式" r:id="rId4" imgW="622080" imgH="253800" progId="Equation.3">
              <p:embed/>
            </p:oleObj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0892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Thanks for your listening.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2124</Words>
  <Application>Microsoft Office PowerPoint</Application>
  <PresentationFormat>如螢幕大小 (4:3)</PresentationFormat>
  <Paragraphs>1901</Paragraphs>
  <Slides>12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4" baseType="lpstr">
      <vt:lpstr>Office 佈景主題</vt:lpstr>
      <vt:lpstr>方程式</vt:lpstr>
      <vt:lpstr>A Bit-string Longest-Common-Subsequence Algorithm</vt:lpstr>
      <vt:lpstr>LCS</vt:lpstr>
      <vt:lpstr>Matrix L of Ex. 2</vt:lpstr>
      <vt:lpstr>Bit-string Algorithm </vt:lpstr>
      <vt:lpstr>Matrix M of Ex. 2</vt:lpstr>
      <vt:lpstr>Build Metrix M(1/2)</vt:lpstr>
      <vt:lpstr>Build Metrix M(2/2)</vt:lpstr>
      <vt:lpstr>An LCS</vt:lpstr>
      <vt:lpstr>投影片 9</vt:lpstr>
      <vt:lpstr>Simulation Result</vt:lpstr>
      <vt:lpstr>Conclusions</vt:lpstr>
      <vt:lpstr>Thanks for your listening.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Dale</dc:creator>
  <cp:lastModifiedBy>Guest</cp:lastModifiedBy>
  <cp:revision>154</cp:revision>
  <dcterms:created xsi:type="dcterms:W3CDTF">2012-04-16T06:42:49Z</dcterms:created>
  <dcterms:modified xsi:type="dcterms:W3CDTF">2012-05-01T12:34:05Z</dcterms:modified>
</cp:coreProperties>
</file>