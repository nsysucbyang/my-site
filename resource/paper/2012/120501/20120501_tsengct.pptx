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65" r:id="rId5"/>
    <p:sldId id="263" r:id="rId6"/>
    <p:sldId id="264" r:id="rId7"/>
    <p:sldId id="266" r:id="rId8"/>
    <p:sldId id="276" r:id="rId9"/>
    <p:sldId id="267" r:id="rId10"/>
    <p:sldId id="269" r:id="rId11"/>
    <p:sldId id="270" r:id="rId12"/>
    <p:sldId id="272" r:id="rId13"/>
    <p:sldId id="271" r:id="rId14"/>
    <p:sldId id="273" r:id="rId15"/>
    <p:sldId id="274" r:id="rId16"/>
    <p:sldId id="275" r:id="rId17"/>
    <p:sldId id="268" r:id="rId18"/>
    <p:sldId id="277" r:id="rId19"/>
    <p:sldId id="279" r:id="rId20"/>
    <p:sldId id="280" r:id="rId21"/>
    <p:sldId id="281" r:id="rId22"/>
    <p:sldId id="282" r:id="rId23"/>
    <p:sldId id="278" r:id="rId24"/>
    <p:sldId id="283" r:id="rId25"/>
    <p:sldId id="285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2D72D-7258-4A88-BD9F-69FE2BDEBE2A}" type="datetimeFigureOut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DCCB8-2368-46E5-88B6-45B94188F2C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D19C-552A-438A-AD1E-F245CA3D5603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7662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F290-A09F-4A38-9BD1-AA123716416B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3707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34BBE-3AC0-44AB-BC4E-249EFAF84ED5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5385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F1852-3537-4011-A0F1-AD03E4922B08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342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2482-D34C-462C-96D1-F244DF69BC41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99882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0FE2-4333-41AF-8E37-D06ADC79E6F5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1254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8C27-0064-44E8-809D-EA1324558CC3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31552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408D0-BEC0-44FF-A2C6-D191DD3A3E96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121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1713D-0581-43E6-9127-4D6723A013C8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428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5271-5208-40C3-AA4D-CBF68DF78E0E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59194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0879B-7E7D-4183-836C-3F5B06E63C72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3306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EE34B-D806-4F94-AF52-52890502E97E}" type="datetime1">
              <a:rPr lang="zh-TW" altLang="en-US" smtClean="0"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75D91-502E-481A-A9E5-B838D63343B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3549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en.wikipedia.org/wiki/File:3dpoly.sv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052736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4800" b="1" dirty="0"/>
              <a:t>A Polyhedral Investigation of the LCS </a:t>
            </a:r>
            <a:r>
              <a:rPr lang="en-US" altLang="zh-TW" sz="4800" b="1" dirty="0" smtClean="0"/>
              <a:t>Problem and </a:t>
            </a:r>
            <a:r>
              <a:rPr lang="en-US" altLang="zh-TW" sz="4800" b="1" dirty="0"/>
              <a:t>a Repetition-Free Variant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96952"/>
            <a:ext cx="6400800" cy="3096344"/>
          </a:xfrm>
        </p:spPr>
        <p:txBody>
          <a:bodyPr>
            <a:noAutofit/>
          </a:bodyPr>
          <a:lstStyle/>
          <a:p>
            <a:r>
              <a:rPr lang="pt-BR" altLang="zh-TW" sz="2400" dirty="0"/>
              <a:t>Cristina G. Fernandes, Carlos E. Ferreira,</a:t>
            </a:r>
          </a:p>
          <a:p>
            <a:r>
              <a:rPr lang="en-US" altLang="zh-TW" sz="2400" dirty="0"/>
              <a:t>Christian </a:t>
            </a:r>
            <a:r>
              <a:rPr lang="en-US" altLang="zh-TW" sz="2400" dirty="0" err="1" smtClean="0"/>
              <a:t>Tjandraatmadja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and Yoshiko </a:t>
            </a:r>
            <a:r>
              <a:rPr lang="en-US" altLang="zh-TW" sz="2400" dirty="0" smtClean="0"/>
              <a:t>Wakabayashi</a:t>
            </a:r>
          </a:p>
          <a:p>
            <a:r>
              <a:rPr lang="en-US" altLang="zh-TW" sz="2400" dirty="0" smtClean="0"/>
              <a:t>Proceedings of the 8th Latin American conference on Theoretical informatics, pp. 329-338, 2008</a:t>
            </a:r>
          </a:p>
          <a:p>
            <a:r>
              <a:rPr lang="en-US" altLang="zh-TW" sz="2400" dirty="0" smtClean="0"/>
              <a:t>Presenter: </a:t>
            </a:r>
            <a:r>
              <a:rPr lang="en-US" altLang="zh-TW" sz="2400" dirty="0" err="1" smtClean="0"/>
              <a:t>Chiou</a:t>
            </a:r>
            <a:r>
              <a:rPr lang="en-US" altLang="zh-TW" sz="2400" dirty="0" smtClean="0"/>
              <a:t>-Ting Tseng</a:t>
            </a:r>
          </a:p>
          <a:p>
            <a:r>
              <a:rPr lang="en-US" altLang="zh-TW" sz="2400" dirty="0" smtClean="0"/>
              <a:t>Date: May  1, 2012</a:t>
            </a:r>
          </a:p>
          <a:p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6302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We consider the longest common subsequence problem </a:t>
            </a:r>
            <a:r>
              <a:rPr lang="en-US" altLang="zh-TW" dirty="0" smtClean="0"/>
              <a:t>(LCS) and </a:t>
            </a:r>
            <a:r>
              <a:rPr lang="en-US" altLang="zh-TW" dirty="0"/>
              <a:t>a variant of it where each symbol may occur at most once in </a:t>
            </a:r>
            <a:r>
              <a:rPr lang="en-US" altLang="zh-TW" dirty="0" smtClean="0"/>
              <a:t>the common </a:t>
            </a:r>
            <a:r>
              <a:rPr lang="en-US" altLang="zh-TW" dirty="0"/>
              <a:t>subsequence. The </a:t>
            </a:r>
            <a:r>
              <a:rPr lang="en-US" altLang="zh-TW" dirty="0" smtClean="0"/>
              <a:t>LCS is </a:t>
            </a:r>
            <a:r>
              <a:rPr lang="en-US" altLang="zh-TW" dirty="0"/>
              <a:t>a well-known problem that can </a:t>
            </a:r>
            <a:r>
              <a:rPr lang="en-US" altLang="zh-TW" dirty="0" smtClean="0"/>
              <a:t>be solved </a:t>
            </a:r>
            <a:r>
              <a:rPr lang="en-US" altLang="zh-TW" dirty="0"/>
              <a:t>in polynomial time by a dynamic programming algorithm. </a:t>
            </a:r>
            <a:r>
              <a:rPr lang="en-US" altLang="zh-TW" dirty="0" smtClean="0">
                <a:solidFill>
                  <a:srgbClr val="FF0000"/>
                </a:solidFill>
              </a:rPr>
              <a:t>We provide </a:t>
            </a:r>
            <a:r>
              <a:rPr lang="en-US" altLang="zh-TW" dirty="0">
                <a:solidFill>
                  <a:srgbClr val="FF0000"/>
                </a:solidFill>
              </a:rPr>
              <a:t>a complete description of a </a:t>
            </a:r>
            <a:r>
              <a:rPr lang="en-US" altLang="zh-TW" b="1" dirty="0" err="1">
                <a:solidFill>
                  <a:srgbClr val="FF0000"/>
                </a:solidFill>
              </a:rPr>
              <a:t>polytope</a:t>
            </a:r>
            <a:r>
              <a:rPr lang="en-US" altLang="zh-TW" dirty="0">
                <a:solidFill>
                  <a:srgbClr val="FF0000"/>
                </a:solidFill>
              </a:rPr>
              <a:t> we associate with the </a:t>
            </a:r>
            <a:r>
              <a:rPr lang="en-US" altLang="zh-TW" dirty="0" smtClean="0">
                <a:solidFill>
                  <a:srgbClr val="FF0000"/>
                </a:solidFill>
              </a:rPr>
              <a:t>LCS</a:t>
            </a:r>
            <a:r>
              <a:rPr lang="en-US" altLang="zh-TW" dirty="0" smtClean="0"/>
              <a:t>. The </a:t>
            </a:r>
            <a:r>
              <a:rPr lang="en-US" altLang="zh-TW" dirty="0"/>
              <a:t>integrality of this </a:t>
            </a:r>
            <a:r>
              <a:rPr lang="en-US" altLang="zh-TW" dirty="0" err="1"/>
              <a:t>polytope</a:t>
            </a:r>
            <a:r>
              <a:rPr lang="en-US" altLang="zh-TW" dirty="0"/>
              <a:t> can be derived by showing that it is </a:t>
            </a:r>
            <a:r>
              <a:rPr lang="en-US" altLang="zh-TW" dirty="0" smtClean="0"/>
              <a:t>in fact </a:t>
            </a:r>
            <a:r>
              <a:rPr lang="en-US" altLang="zh-TW" dirty="0"/>
              <a:t>the clique </a:t>
            </a:r>
            <a:r>
              <a:rPr lang="en-US" altLang="zh-TW" dirty="0" err="1"/>
              <a:t>polytope</a:t>
            </a:r>
            <a:r>
              <a:rPr lang="en-US" altLang="zh-TW" dirty="0"/>
              <a:t> of a perfect graph.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4026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000" dirty="0" smtClean="0"/>
              <a:t>The repetition-free version of the problem is known to be difficult. We also associate a </a:t>
            </a:r>
            <a:r>
              <a:rPr lang="en-US" altLang="zh-TW" sz="3000" dirty="0" err="1" smtClean="0"/>
              <a:t>polytope</a:t>
            </a:r>
            <a:r>
              <a:rPr lang="en-US" altLang="zh-TW" sz="3000" dirty="0" smtClean="0"/>
              <a:t> with this version and investigate its facial structure. We present some valid and facet-defining inequalities for this </a:t>
            </a:r>
            <a:r>
              <a:rPr lang="en-US" altLang="zh-TW" sz="3000" dirty="0" err="1" smtClean="0"/>
              <a:t>polytope</a:t>
            </a:r>
            <a:r>
              <a:rPr lang="en-US" altLang="zh-TW" sz="3000" dirty="0" smtClean="0"/>
              <a:t> and discuss separation procedures. Finally, we present some computational results of a </a:t>
            </a:r>
            <a:r>
              <a:rPr lang="en-US" altLang="zh-TW" sz="3000" dirty="0" smtClean="0">
                <a:solidFill>
                  <a:srgbClr val="FF0000"/>
                </a:solidFill>
              </a:rPr>
              <a:t>branch and cut </a:t>
            </a:r>
            <a:r>
              <a:rPr lang="en-US" altLang="zh-TW" sz="3000" dirty="0" smtClean="0"/>
              <a:t>algorithm we have implemented for this problem.</a:t>
            </a:r>
            <a:endParaRPr lang="zh-TW" altLang="en-US" sz="3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4390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數學家與熱氣球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一切數學家有興趣的東西都是沒用的</a:t>
            </a:r>
            <a:endParaRPr lang="en-US" altLang="zh-TW" dirty="0" smtClean="0"/>
          </a:p>
          <a:p>
            <a:r>
              <a:rPr lang="zh-TW" altLang="en-US" dirty="0"/>
              <a:t>一切沒用的東西都是數學家有興趣</a:t>
            </a:r>
            <a:r>
              <a:rPr lang="zh-TW" altLang="en-US" dirty="0" smtClean="0"/>
              <a:t>的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本篇目</a:t>
            </a:r>
            <a:r>
              <a:rPr lang="zh-TW" altLang="en-US" dirty="0" smtClean="0"/>
              <a:t>的：把</a:t>
            </a:r>
            <a:r>
              <a:rPr lang="en-US" altLang="zh-TW" dirty="0" smtClean="0"/>
              <a:t>LCS</a:t>
            </a:r>
            <a:r>
              <a:rPr lang="zh-TW" altLang="en-US" dirty="0" smtClean="0"/>
              <a:t>轉成</a:t>
            </a:r>
            <a:r>
              <a:rPr lang="en-US" altLang="zh-TW" dirty="0" smtClean="0"/>
              <a:t>n</a:t>
            </a:r>
            <a:r>
              <a:rPr lang="zh-TW" altLang="en-US" dirty="0" smtClean="0"/>
              <a:t>維空間的</a:t>
            </a:r>
            <a:r>
              <a:rPr lang="en-US" altLang="zh-TW" dirty="0" smtClean="0"/>
              <a:t>convex hull</a:t>
            </a:r>
            <a:r>
              <a:rPr lang="zh-TW" altLang="en-US" dirty="0" smtClean="0"/>
              <a:t>問題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1335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Polytope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</a:t>
            </a:r>
            <a:r>
              <a:rPr lang="zh-TW" altLang="en-US" dirty="0" smtClean="0"/>
              <a:t>維多面體</a:t>
            </a:r>
            <a:endParaRPr lang="en-US" altLang="zh-TW" dirty="0" smtClean="0"/>
          </a:p>
          <a:p>
            <a:r>
              <a:rPr lang="en-US" altLang="zh-TW" dirty="0" smtClean="0"/>
              <a:t>In elementary geometry, a </a:t>
            </a:r>
            <a:r>
              <a:rPr lang="en-US" altLang="zh-TW" dirty="0" err="1" smtClean="0"/>
              <a:t>polytope</a:t>
            </a:r>
            <a:r>
              <a:rPr lang="en-US" altLang="zh-TW" dirty="0" smtClean="0"/>
              <a:t> is a geometric object with flat sides, which exists in any general number of dimensions. </a:t>
            </a:r>
          </a:p>
          <a:p>
            <a:r>
              <a:rPr lang="en-US" altLang="zh-TW" dirty="0" smtClean="0"/>
              <a:t>A polygon is a </a:t>
            </a:r>
            <a:r>
              <a:rPr lang="en-US" altLang="zh-TW" dirty="0" err="1" smtClean="0"/>
              <a:t>polytope</a:t>
            </a:r>
            <a:r>
              <a:rPr lang="en-US" altLang="zh-TW" dirty="0" smtClean="0"/>
              <a:t> in two dimensions, a polyhedron in three dimensions, a </a:t>
            </a:r>
            <a:r>
              <a:rPr lang="en-US" altLang="zh-TW" dirty="0" err="1" smtClean="0"/>
              <a:t>polychoron</a:t>
            </a:r>
            <a:r>
              <a:rPr lang="en-US" altLang="zh-TW" dirty="0" smtClean="0"/>
              <a:t> in four dimensions.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859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Transformation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E={ (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) | 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i</a:t>
                </a:r>
                <a:r>
                  <a:rPr lang="en-US" altLang="zh-TW" i="1" baseline="-25000" dirty="0" smtClean="0"/>
                  <a:t> </a:t>
                </a:r>
                <a:r>
                  <a:rPr lang="en-US" altLang="zh-TW" dirty="0" smtClean="0"/>
                  <a:t>= 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baseline="-25000" dirty="0" smtClean="0"/>
                  <a:t> </a:t>
                </a:r>
                <a:r>
                  <a:rPr lang="en-US" altLang="zh-TW" dirty="0" smtClean="0"/>
                  <a:t>}</a:t>
                </a:r>
                <a:r>
                  <a:rPr lang="zh-TW" altLang="en-US" dirty="0" smtClean="0"/>
                  <a:t> ：所有</a:t>
                </a:r>
                <a:r>
                  <a:rPr lang="en-US" altLang="zh-TW" dirty="0" smtClean="0"/>
                  <a:t>match</a:t>
                </a:r>
                <a:r>
                  <a:rPr lang="zh-TW" altLang="en-US" dirty="0" smtClean="0"/>
                  <a:t>位置的集合</a:t>
                </a:r>
                <a:endParaRPr lang="en-US" altLang="zh-TW" dirty="0" smtClean="0"/>
              </a:p>
              <a:p>
                <a:r>
                  <a:rPr lang="en-US" altLang="zh-TW" dirty="0" smtClean="0"/>
                  <a:t>Any </a:t>
                </a:r>
                <a:r>
                  <a:rPr lang="en-US" altLang="zh-TW" dirty="0"/>
                  <a:t>common subsequence </a:t>
                </a:r>
                <a:r>
                  <a:rPr lang="en-US" altLang="zh-TW" i="1" dirty="0"/>
                  <a:t>w </a:t>
                </a:r>
                <a:r>
                  <a:rPr lang="en-US" altLang="zh-TW" dirty="0"/>
                  <a:t>of </a:t>
                </a:r>
                <a:r>
                  <a:rPr lang="en-US" altLang="zh-TW" i="1" dirty="0"/>
                  <a:t>s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t </a:t>
                </a:r>
                <a:r>
                  <a:rPr lang="en-US" altLang="zh-TW" dirty="0"/>
                  <a:t>can be represented by a </a:t>
                </a:r>
                <a:r>
                  <a:rPr lang="en-US" altLang="zh-TW" dirty="0" smtClean="0"/>
                  <a:t>vector</a:t>
                </a:r>
                <a:r>
                  <a:rPr lang="zh-TW" altLang="en-US" dirty="0" smtClean="0"/>
                  <a:t> </a:t>
                </a:r>
                <a:r>
                  <a:rPr lang="en-US" altLang="zh-TW" i="1" dirty="0" smtClean="0"/>
                  <a:t>z </a:t>
                </a:r>
                <a:r>
                  <a:rPr lang="en-US" altLang="zh-TW" dirty="0"/>
                  <a:t>in {0</a:t>
                </a:r>
                <a:r>
                  <a:rPr lang="en-US" altLang="zh-TW" i="1" dirty="0"/>
                  <a:t>, </a:t>
                </a:r>
                <a:r>
                  <a:rPr lang="en-US" altLang="zh-TW" dirty="0"/>
                  <a:t>1}</a:t>
                </a:r>
                <a:r>
                  <a:rPr lang="en-US" altLang="zh-TW" i="1" baseline="30000" dirty="0"/>
                  <a:t>E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as follows. 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𝑤</m:t>
                    </m:r>
                    <m:r>
                      <a:rPr lang="en-US" altLang="zh-TW" i="1" dirty="0" smtClean="0">
                        <a:latin typeface="Cambria Math"/>
                      </a:rPr>
                      <m:t> = 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i="1" dirty="0" smtClean="0">
                        <a:latin typeface="Cambria Math"/>
                      </a:rPr>
                      <m:t>, . . . ,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sub>
                    </m:sSub>
                    <m:r>
                      <a:rPr lang="en-US" altLang="zh-TW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i="1" dirty="0" smtClean="0">
                        <a:latin typeface="Cambria Math"/>
                      </a:rPr>
                      <m:t>, . . . ,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&lt;⋯&lt;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dirty="0" smtClean="0"/>
                  <a:t>and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&lt;⋯&lt;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dirty="0"/>
                  <a:t>, then for each pair </a:t>
                </a:r>
                <a:r>
                  <a:rPr lang="en-US" altLang="zh-TW" i="1" dirty="0" err="1"/>
                  <a:t>ij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in </a:t>
                </a:r>
                <a:r>
                  <a:rPr lang="en-US" altLang="zh-TW" i="1" dirty="0"/>
                  <a:t>E </a:t>
                </a:r>
                <a:r>
                  <a:rPr lang="en-US" altLang="zh-TW" dirty="0"/>
                  <a:t>we have that </a:t>
                </a:r>
                <a:r>
                  <a:rPr lang="en-US" altLang="zh-TW" i="1" dirty="0" err="1"/>
                  <a:t>z</a:t>
                </a:r>
                <a:r>
                  <a:rPr lang="en-US" altLang="zh-TW" i="1" baseline="-25000" dirty="0" err="1"/>
                  <a:t>ij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= 1 if and only if </a:t>
                </a:r>
                <a:r>
                  <a:rPr lang="en-US" altLang="zh-TW" dirty="0" smtClean="0"/>
                  <a:t>there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exists </a:t>
                </a:r>
                <a:r>
                  <a:rPr lang="en-US" altLang="zh-TW" dirty="0"/>
                  <a:t>an index </a:t>
                </a:r>
                <a:r>
                  <a:rPr lang="en-US" altLang="zh-TW" i="1" dirty="0" smtClean="0"/>
                  <a:t>l </a:t>
                </a:r>
                <a:r>
                  <a:rPr lang="en-US" altLang="zh-TW" dirty="0"/>
                  <a:t>in {1</a:t>
                </a:r>
                <a:r>
                  <a:rPr lang="en-US" altLang="zh-TW" i="1" dirty="0"/>
                  <a:t>, . . . , p</a:t>
                </a:r>
                <a:r>
                  <a:rPr lang="en-US" altLang="zh-TW" dirty="0"/>
                  <a:t>}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such that </a:t>
                </a:r>
                <a:r>
                  <a:rPr lang="en-US" altLang="zh-TW" i="1" dirty="0" err="1"/>
                  <a:t>i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= </a:t>
                </a:r>
                <a:r>
                  <a:rPr lang="en-US" altLang="zh-TW" i="1" dirty="0" err="1" smtClean="0"/>
                  <a:t>i</a:t>
                </a:r>
                <a:r>
                  <a:rPr lang="en-US" altLang="zh-TW" i="1" baseline="-25000" dirty="0" err="1" smtClean="0"/>
                  <a:t>l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j </a:t>
                </a:r>
                <a:r>
                  <a:rPr lang="en-US" altLang="zh-TW" dirty="0"/>
                  <a:t>= </a:t>
                </a:r>
                <a:r>
                  <a:rPr lang="en-US" altLang="zh-TW" i="1" dirty="0" err="1" smtClean="0"/>
                  <a:t>j</a:t>
                </a:r>
                <a:r>
                  <a:rPr lang="en-US" altLang="zh-TW" i="1" baseline="-25000" dirty="0" err="1" smtClean="0"/>
                  <a:t>l</a:t>
                </a:r>
                <a:r>
                  <a:rPr lang="en-US" altLang="zh-TW" dirty="0" err="1" smtClean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630" t="-1887" r="-19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3324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800" dirty="0" smtClean="0"/>
              <a:t>A = </a:t>
            </a:r>
            <a:r>
              <a:rPr lang="en-US" altLang="zh-TW" sz="2800" dirty="0" err="1" smtClean="0"/>
              <a:t>atatc</a:t>
            </a:r>
            <a:r>
              <a:rPr lang="en-US" altLang="zh-TW" sz="2800" dirty="0" smtClean="0"/>
              <a:t>, B = </a:t>
            </a:r>
            <a:r>
              <a:rPr lang="en-US" altLang="zh-TW" sz="2800" dirty="0" err="1" smtClean="0"/>
              <a:t>attcac</a:t>
            </a:r>
            <a:endParaRPr lang="en-US" altLang="zh-TW" sz="2800" dirty="0" smtClean="0"/>
          </a:p>
          <a:p>
            <a:r>
              <a:rPr lang="en-US" altLang="zh-TW" sz="2800" dirty="0" smtClean="0"/>
              <a:t>E = {(1,1), (1,5), (3, 1), (3, 5), (2, 2), (2, 3), (4, 2), (4, 3), (5, 4), (5, 6)}</a:t>
            </a:r>
          </a:p>
          <a:p>
            <a:r>
              <a:rPr lang="en-US" altLang="zh-TW" sz="2800" dirty="0" smtClean="0"/>
              <a:t>LCS</a:t>
            </a:r>
            <a:r>
              <a:rPr lang="en-US" altLang="zh-TW" sz="2800" baseline="-25000" dirty="0" smtClean="0"/>
              <a:t>1 </a:t>
            </a:r>
            <a:r>
              <a:rPr lang="en-US" altLang="zh-TW" sz="2800" dirty="0" smtClean="0"/>
              <a:t>= </a:t>
            </a:r>
            <a:r>
              <a:rPr lang="en-US" altLang="zh-TW" sz="2800" dirty="0" err="1" smtClean="0"/>
              <a:t>atac</a:t>
            </a:r>
            <a:r>
              <a:rPr lang="en-US" altLang="zh-TW" sz="2800" dirty="0" smtClean="0"/>
              <a:t> = {(1, 1), (2, 3), (3, 5), (5, 6)} </a:t>
            </a:r>
          </a:p>
          <a:p>
            <a:pPr marL="0" indent="0">
              <a:buNone/>
            </a:pPr>
            <a:r>
              <a:rPr lang="en-US" altLang="zh-TW" sz="2800" dirty="0" smtClean="0"/>
              <a:t>    </a:t>
            </a:r>
            <a:r>
              <a:rPr lang="en-US" altLang="zh-TW" sz="2800" i="1" dirty="0" smtClean="0"/>
              <a:t>z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 = 1001010001</a:t>
            </a:r>
          </a:p>
          <a:p>
            <a:r>
              <a:rPr lang="en-US" altLang="zh-TW" sz="2800" dirty="0" smtClean="0"/>
              <a:t>LCS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 = </a:t>
            </a:r>
            <a:r>
              <a:rPr lang="en-US" altLang="zh-TW" sz="2800" dirty="0" err="1" smtClean="0"/>
              <a:t>attc</a:t>
            </a:r>
            <a:r>
              <a:rPr lang="en-US" altLang="zh-TW" sz="2800" dirty="0" smtClean="0"/>
              <a:t> = {(1, 1), (2, 2), (4, </a:t>
            </a:r>
            <a:r>
              <a:rPr lang="en-US" altLang="zh-TW" sz="2800" dirty="0"/>
              <a:t>3</a:t>
            </a:r>
            <a:r>
              <a:rPr lang="en-US" altLang="zh-TW" sz="2800" dirty="0" smtClean="0"/>
              <a:t>), (5, 4)} </a:t>
            </a:r>
          </a:p>
          <a:p>
            <a:pPr marL="0" indent="0">
              <a:buNone/>
            </a:pPr>
            <a:r>
              <a:rPr lang="en-US" altLang="zh-TW" sz="2800" dirty="0" smtClean="0"/>
              <a:t>     </a:t>
            </a:r>
            <a:r>
              <a:rPr lang="en-US" altLang="zh-TW" sz="2800" i="1" dirty="0" smtClean="0"/>
              <a:t>z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 = 1000100110</a:t>
            </a:r>
          </a:p>
          <a:p>
            <a:r>
              <a:rPr lang="en-US" altLang="zh-TW" sz="2800" dirty="0" smtClean="0"/>
              <a:t>CS</a:t>
            </a:r>
            <a:r>
              <a:rPr lang="en-US" altLang="zh-TW" sz="2800" baseline="-25000" dirty="0" smtClean="0"/>
              <a:t>3</a:t>
            </a:r>
            <a:r>
              <a:rPr lang="en-US" altLang="zh-TW" sz="2800" dirty="0" smtClean="0"/>
              <a:t> = </a:t>
            </a:r>
            <a:r>
              <a:rPr lang="en-US" altLang="zh-TW" sz="2800" dirty="0" err="1" smtClean="0"/>
              <a:t>ttc</a:t>
            </a:r>
            <a:r>
              <a:rPr lang="en-US" altLang="zh-TW" sz="2800" dirty="0" smtClean="0"/>
              <a:t> = {(2, 2), (4, 3), (5, 4)} </a:t>
            </a:r>
          </a:p>
          <a:p>
            <a:pPr marL="0" indent="0">
              <a:buNone/>
            </a:pPr>
            <a:r>
              <a:rPr lang="en-US" altLang="zh-TW" sz="2800" dirty="0" smtClean="0"/>
              <a:t>     </a:t>
            </a:r>
            <a:r>
              <a:rPr lang="en-US" altLang="zh-TW" sz="2800" i="1" dirty="0" smtClean="0"/>
              <a:t>z</a:t>
            </a:r>
            <a:r>
              <a:rPr lang="en-US" altLang="zh-TW" sz="2800" baseline="-25000" dirty="0" smtClean="0"/>
              <a:t>3</a:t>
            </a:r>
            <a:r>
              <a:rPr lang="en-US" altLang="zh-TW" sz="2800" dirty="0" smtClean="0"/>
              <a:t> = 0000100110</a:t>
            </a:r>
            <a:endParaRPr lang="zh-TW" altLang="en-US" sz="28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187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表示法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= </a:t>
            </a:r>
            <a:r>
              <a:rPr lang="en-US" altLang="zh-TW" dirty="0" err="1" smtClean="0"/>
              <a:t>atatc</a:t>
            </a:r>
            <a:r>
              <a:rPr lang="en-US" altLang="zh-TW" dirty="0" smtClean="0"/>
              <a:t>, B = </a:t>
            </a:r>
            <a:r>
              <a:rPr lang="en-US" altLang="zh-TW" dirty="0" err="1" smtClean="0"/>
              <a:t>attcac</a:t>
            </a:r>
            <a:endParaRPr lang="en-US" altLang="zh-TW" dirty="0" smtClean="0"/>
          </a:p>
          <a:p>
            <a:r>
              <a:rPr lang="en-US" altLang="zh-TW" dirty="0" smtClean="0"/>
              <a:t>E = {(1,1), (1,5), (3, 1), (3, 5), (2, 2), (2, 3), (4, 2), (4, 3), (5, 4), (5, 6)}</a:t>
            </a:r>
          </a:p>
          <a:p>
            <a:r>
              <a:rPr lang="en-US" altLang="zh-TW" dirty="0" smtClean="0"/>
              <a:t>LCS</a:t>
            </a:r>
            <a:r>
              <a:rPr lang="en-US" altLang="zh-TW" baseline="-25000" dirty="0" smtClean="0"/>
              <a:t>1 </a:t>
            </a:r>
            <a:r>
              <a:rPr lang="en-US" altLang="zh-TW" dirty="0" smtClean="0"/>
              <a:t>= </a:t>
            </a:r>
            <a:r>
              <a:rPr lang="en-US" altLang="zh-TW" dirty="0" err="1" smtClean="0"/>
              <a:t>atac</a:t>
            </a:r>
            <a:r>
              <a:rPr lang="en-US" altLang="zh-TW" dirty="0" smtClean="0"/>
              <a:t> = {(1, 1), (2, 3), (3, 5), (5, 6)} </a:t>
            </a:r>
          </a:p>
          <a:p>
            <a:pPr marL="0" indent="0">
              <a:buNone/>
            </a:pPr>
            <a:r>
              <a:rPr lang="en-US" altLang="zh-TW" dirty="0" smtClean="0"/>
              <a:t>    </a:t>
            </a:r>
            <a:r>
              <a:rPr lang="en-US" altLang="zh-TW" i="1" dirty="0" smtClean="0"/>
              <a:t>z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1001010001</a:t>
            </a:r>
          </a:p>
          <a:p>
            <a:pPr marL="0" indent="0">
              <a:buNone/>
            </a:pPr>
            <a:r>
              <a:rPr lang="zh-TW" altLang="en-US" dirty="0" smtClean="0"/>
              <a:t>    </a:t>
            </a:r>
            <a:r>
              <a:rPr lang="en-US" altLang="zh-TW" dirty="0" smtClean="0"/>
              <a:t>paper</a:t>
            </a:r>
            <a:r>
              <a:rPr lang="zh-TW" altLang="en-US" dirty="0" smtClean="0"/>
              <a:t>中的表示法是</a:t>
            </a:r>
            <a:r>
              <a:rPr lang="en-US" altLang="zh-TW" dirty="0" smtClean="0"/>
              <a:t>z</a:t>
            </a:r>
            <a:r>
              <a:rPr lang="en-US" altLang="zh-TW" baseline="-25000" dirty="0" smtClean="0"/>
              <a:t>11</a:t>
            </a:r>
            <a:r>
              <a:rPr lang="en-US" altLang="zh-TW" dirty="0" smtClean="0"/>
              <a:t>=1, z</a:t>
            </a:r>
            <a:r>
              <a:rPr lang="en-US" altLang="zh-TW" baseline="-25000" dirty="0" smtClean="0"/>
              <a:t>15</a:t>
            </a:r>
            <a:r>
              <a:rPr lang="en-US" altLang="zh-TW" dirty="0" smtClean="0"/>
              <a:t>=0, z</a:t>
            </a:r>
            <a:r>
              <a:rPr lang="en-US" altLang="zh-TW" baseline="-25000" dirty="0" smtClean="0"/>
              <a:t>31</a:t>
            </a:r>
            <a:r>
              <a:rPr lang="en-US" altLang="zh-TW" dirty="0" smtClean="0"/>
              <a:t>=0, z</a:t>
            </a:r>
            <a:r>
              <a:rPr lang="en-US" altLang="zh-TW" baseline="-25000" dirty="0" smtClean="0"/>
              <a:t>35</a:t>
            </a:r>
            <a:r>
              <a:rPr lang="en-US" altLang="zh-TW" dirty="0" smtClean="0"/>
              <a:t>=1, 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z</a:t>
            </a:r>
            <a:r>
              <a:rPr lang="en-US" altLang="zh-TW" baseline="-25000" dirty="0" smtClean="0"/>
              <a:t>22</a:t>
            </a:r>
            <a:r>
              <a:rPr lang="en-US" altLang="zh-TW" dirty="0" smtClean="0"/>
              <a:t>=0, z</a:t>
            </a:r>
            <a:r>
              <a:rPr lang="en-US" altLang="zh-TW" baseline="-25000" dirty="0" smtClean="0"/>
              <a:t>23</a:t>
            </a:r>
            <a:r>
              <a:rPr lang="en-US" altLang="zh-TW" dirty="0" smtClean="0"/>
              <a:t>=1, z</a:t>
            </a:r>
            <a:r>
              <a:rPr lang="en-US" altLang="zh-TW" baseline="-25000" dirty="0" smtClean="0"/>
              <a:t>42</a:t>
            </a:r>
            <a:r>
              <a:rPr lang="en-US" altLang="zh-TW" dirty="0" smtClean="0"/>
              <a:t>=0, z</a:t>
            </a:r>
            <a:r>
              <a:rPr lang="en-US" altLang="zh-TW" baseline="-25000" dirty="0" smtClean="0"/>
              <a:t>43</a:t>
            </a:r>
            <a:r>
              <a:rPr lang="en-US" altLang="zh-TW" dirty="0" smtClean="0"/>
              <a:t>=0, z</a:t>
            </a:r>
            <a:r>
              <a:rPr lang="en-US" altLang="zh-TW" baseline="-25000" dirty="0" smtClean="0"/>
              <a:t>54</a:t>
            </a:r>
            <a:r>
              <a:rPr lang="en-US" altLang="zh-TW" dirty="0" smtClean="0"/>
              <a:t>=0, z</a:t>
            </a:r>
            <a:r>
              <a:rPr lang="en-US" altLang="zh-TW" baseline="-25000" dirty="0" smtClean="0"/>
              <a:t>56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83820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The feasible solutions </a:t>
            </a:r>
            <a:r>
              <a:rPr lang="en-US" altLang="zh-TW" dirty="0"/>
              <a:t>of this instance of the </a:t>
            </a:r>
            <a:r>
              <a:rPr lang="en-US" altLang="zh-TW" dirty="0" smtClean="0"/>
              <a:t>LCS </a:t>
            </a:r>
            <a:r>
              <a:rPr lang="en-US" altLang="zh-TW" dirty="0"/>
              <a:t>are the vertices of the following </a:t>
            </a:r>
            <a:r>
              <a:rPr lang="en-US" altLang="zh-TW" dirty="0" err="1" smtClean="0"/>
              <a:t>polytope</a:t>
            </a:r>
            <a:r>
              <a:rPr lang="en-US" altLang="zh-TW" dirty="0" smtClean="0"/>
              <a:t> (defined </a:t>
            </a:r>
            <a:r>
              <a:rPr lang="en-US" altLang="zh-TW" dirty="0"/>
              <a:t>as the convex hull of these solutions</a:t>
            </a:r>
            <a:r>
              <a:rPr lang="en-US" altLang="zh-TW" dirty="0" smtClean="0"/>
              <a:t>).</a:t>
            </a:r>
          </a:p>
          <a:p>
            <a:r>
              <a:rPr lang="en-US" altLang="zh-TW" i="1" dirty="0" err="1"/>
              <a:t>P</a:t>
            </a:r>
            <a:r>
              <a:rPr lang="en-US" altLang="zh-TW" baseline="-25000" dirty="0" err="1"/>
              <a:t>lcs</a:t>
            </a:r>
            <a:r>
              <a:rPr lang="en-US" altLang="zh-TW" dirty="0"/>
              <a:t> := </a:t>
            </a:r>
            <a:r>
              <a:rPr lang="en-US" altLang="zh-TW" dirty="0" err="1"/>
              <a:t>conv</a:t>
            </a:r>
            <a:r>
              <a:rPr lang="en-US" altLang="zh-TW" dirty="0"/>
              <a:t>{</a:t>
            </a:r>
            <a:r>
              <a:rPr lang="en-US" altLang="zh-TW" i="1" dirty="0"/>
              <a:t>z </a:t>
            </a:r>
            <a:r>
              <a:rPr lang="en-US" altLang="zh-TW" dirty="0"/>
              <a:t>∈</a:t>
            </a:r>
            <a:r>
              <a:rPr lang="en-US" altLang="zh-TW" i="1" dirty="0"/>
              <a:t> </a:t>
            </a:r>
            <a:r>
              <a:rPr lang="en-US" altLang="zh-TW" dirty="0"/>
              <a:t>{0</a:t>
            </a:r>
            <a:r>
              <a:rPr lang="en-US" altLang="zh-TW" i="1" dirty="0"/>
              <a:t>, </a:t>
            </a:r>
            <a:r>
              <a:rPr lang="en-US" altLang="zh-TW" dirty="0"/>
              <a:t>1}</a:t>
            </a:r>
            <a:r>
              <a:rPr lang="en-US" altLang="zh-TW" i="1" baseline="30000" dirty="0"/>
              <a:t>E</a:t>
            </a:r>
            <a:r>
              <a:rPr lang="en-US" altLang="zh-TW" i="1" dirty="0"/>
              <a:t> </a:t>
            </a:r>
            <a:r>
              <a:rPr lang="en-US" altLang="zh-TW" dirty="0"/>
              <a:t>|</a:t>
            </a:r>
            <a:r>
              <a:rPr lang="en-US" altLang="zh-TW" i="1" dirty="0"/>
              <a:t> z </a:t>
            </a:r>
            <a:r>
              <a:rPr lang="en-US" altLang="zh-TW" dirty="0"/>
              <a:t>represents a common subsequence of </a:t>
            </a:r>
            <a:r>
              <a:rPr lang="en-US" altLang="zh-TW" i="1" dirty="0"/>
              <a:t>s </a:t>
            </a:r>
            <a:r>
              <a:rPr lang="en-US" altLang="zh-TW" dirty="0"/>
              <a:t>and </a:t>
            </a:r>
            <a:r>
              <a:rPr lang="en-US" altLang="zh-TW" i="1" dirty="0"/>
              <a:t>t</a:t>
            </a:r>
            <a:r>
              <a:rPr lang="en-US" altLang="zh-TW" dirty="0" smtClean="0"/>
              <a:t>}</a:t>
            </a:r>
            <a:r>
              <a:rPr lang="en-US" altLang="zh-TW" i="1" dirty="0" smtClean="0"/>
              <a:t>.</a:t>
            </a:r>
          </a:p>
          <a:p>
            <a:r>
              <a:rPr lang="en-US" altLang="zh-TW" dirty="0"/>
              <a:t>Obviously, finding a vector </a:t>
            </a:r>
            <a:r>
              <a:rPr lang="en-US" altLang="zh-TW" i="1" dirty="0"/>
              <a:t>z</a:t>
            </a:r>
            <a:r>
              <a:rPr lang="en-US" altLang="zh-TW" i="1" baseline="30000" dirty="0"/>
              <a:t>∗</a:t>
            </a:r>
            <a:r>
              <a:rPr lang="en-US" altLang="zh-TW" i="1" dirty="0"/>
              <a:t> </a:t>
            </a:r>
            <a:r>
              <a:rPr lang="en-US" altLang="zh-TW" dirty="0"/>
              <a:t>in </a:t>
            </a:r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LCS</a:t>
            </a:r>
            <a:r>
              <a:rPr lang="en-US" altLang="zh-TW" dirty="0" smtClean="0"/>
              <a:t> </a:t>
            </a:r>
            <a:r>
              <a:rPr lang="en-US" altLang="zh-TW" dirty="0"/>
              <a:t>with maximum number of nonzero </a:t>
            </a:r>
            <a:r>
              <a:rPr lang="en-US" altLang="zh-TW" dirty="0" smtClean="0"/>
              <a:t>components is </a:t>
            </a:r>
            <a:r>
              <a:rPr lang="en-US" altLang="zh-TW" dirty="0"/>
              <a:t>equivalent to finding a longest common subsequence of </a:t>
            </a:r>
            <a:r>
              <a:rPr lang="en-US" altLang="zh-TW" i="1" dirty="0"/>
              <a:t>s </a:t>
            </a:r>
            <a:r>
              <a:rPr lang="en-US" altLang="zh-TW" dirty="0"/>
              <a:t>and </a:t>
            </a:r>
            <a:r>
              <a:rPr lang="en-US" altLang="zh-TW" i="1" dirty="0"/>
              <a:t>t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1341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Proposition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err="1"/>
              <a:t>polytope</a:t>
            </a:r>
            <a:r>
              <a:rPr lang="en-US" altLang="zh-TW" dirty="0"/>
              <a:t> </a:t>
            </a:r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LCS</a:t>
            </a:r>
            <a:r>
              <a:rPr lang="en-US" altLang="zh-TW" dirty="0" smtClean="0"/>
              <a:t> </a:t>
            </a:r>
            <a:r>
              <a:rPr lang="en-US" altLang="zh-TW" dirty="0"/>
              <a:t>is full-dimensional.</a:t>
            </a:r>
            <a:endParaRPr lang="en-US" altLang="zh-TW" dirty="0" smtClean="0"/>
          </a:p>
          <a:p>
            <a:r>
              <a:rPr lang="en-US" altLang="zh-TW" dirty="0" smtClean="0">
                <a:effectLst/>
              </a:rPr>
              <a:t>A </a:t>
            </a:r>
            <a:r>
              <a:rPr lang="en-US" altLang="zh-TW" dirty="0" err="1" smtClean="0">
                <a:effectLst/>
              </a:rPr>
              <a:t>polytope</a:t>
            </a:r>
            <a:r>
              <a:rPr lang="en-US" altLang="zh-TW" dirty="0" smtClean="0">
                <a:effectLst/>
              </a:rPr>
              <a:t> is called </a:t>
            </a:r>
            <a:r>
              <a:rPr lang="en-US" altLang="zh-TW" i="1" dirty="0" smtClean="0">
                <a:effectLst/>
              </a:rPr>
              <a:t>full-dimensional</a:t>
            </a:r>
            <a:r>
              <a:rPr lang="en-US" altLang="zh-TW" dirty="0" smtClean="0">
                <a:effectLst/>
              </a:rPr>
              <a:t>, if it is an </a:t>
            </a:r>
            <a:r>
              <a:rPr lang="en-US" altLang="zh-TW" i="1" dirty="0" smtClean="0">
                <a:effectLst/>
              </a:rPr>
              <a:t>n</a:t>
            </a:r>
            <a:r>
              <a:rPr lang="en-US" altLang="zh-TW" dirty="0" smtClean="0">
                <a:effectLst/>
              </a:rPr>
              <a:t>-dimensional object in </a:t>
            </a:r>
            <a:r>
              <a:rPr lang="en-US" altLang="zh-TW" b="1" dirty="0" err="1" smtClean="0">
                <a:effectLst/>
              </a:rPr>
              <a:t>R</a:t>
            </a:r>
            <a:r>
              <a:rPr lang="en-US" altLang="zh-TW" i="1" baseline="30000" dirty="0" err="1" smtClean="0">
                <a:effectLst/>
              </a:rPr>
              <a:t>n</a:t>
            </a:r>
            <a:r>
              <a:rPr lang="en-US" altLang="zh-TW" dirty="0" smtClean="0">
                <a:effectLst/>
              </a:rPr>
              <a:t>.</a:t>
            </a:r>
          </a:p>
          <a:p>
            <a:r>
              <a:rPr lang="zh-TW" altLang="en-US" dirty="0" smtClean="0"/>
              <a:t>取每</a:t>
            </a:r>
            <a:r>
              <a:rPr lang="zh-TW" altLang="en-US" dirty="0"/>
              <a:t>個維</a:t>
            </a:r>
            <a:r>
              <a:rPr lang="zh-TW" altLang="en-US" dirty="0" smtClean="0"/>
              <a:t>度對應的</a:t>
            </a:r>
            <a:r>
              <a:rPr lang="en-US" altLang="zh-TW" dirty="0" smtClean="0"/>
              <a:t>match</a:t>
            </a:r>
            <a:r>
              <a:rPr lang="zh-TW" altLang="en-US" dirty="0" smtClean="0"/>
              <a:t>都是</a:t>
            </a:r>
            <a:r>
              <a:rPr lang="en-US" altLang="zh-TW" dirty="0" smtClean="0"/>
              <a:t>CS</a:t>
            </a:r>
            <a:r>
              <a:rPr lang="zh-TW" altLang="en-US" dirty="0" smtClean="0"/>
              <a:t>的一個</a:t>
            </a:r>
            <a:r>
              <a:rPr lang="en-US" altLang="zh-TW" dirty="0" smtClean="0"/>
              <a:t>feasible solution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466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Integer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say that two distinct pairs (</a:t>
            </a:r>
            <a:r>
              <a:rPr lang="en-US" altLang="zh-TW" i="1" dirty="0" err="1"/>
              <a:t>i</a:t>
            </a:r>
            <a:r>
              <a:rPr lang="en-US" altLang="zh-TW" i="1" dirty="0"/>
              <a:t>, j</a:t>
            </a:r>
            <a:r>
              <a:rPr lang="en-US" altLang="zh-TW" dirty="0"/>
              <a:t>) and (</a:t>
            </a:r>
            <a:r>
              <a:rPr lang="en-US" altLang="zh-TW" i="1" dirty="0"/>
              <a:t>k,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) </a:t>
            </a:r>
            <a:r>
              <a:rPr lang="en-US" altLang="zh-TW" dirty="0"/>
              <a:t>in </a:t>
            </a:r>
            <a:r>
              <a:rPr lang="en-US" altLang="zh-TW" i="1" dirty="0"/>
              <a:t>E </a:t>
            </a:r>
            <a:r>
              <a:rPr lang="en-US" altLang="zh-TW" b="1" dirty="0"/>
              <a:t>cross </a:t>
            </a:r>
            <a:r>
              <a:rPr lang="en-US" altLang="zh-TW" dirty="0"/>
              <a:t>if (</a:t>
            </a:r>
            <a:r>
              <a:rPr lang="en-US" altLang="zh-TW" i="1" dirty="0" err="1"/>
              <a:t>i</a:t>
            </a:r>
            <a:r>
              <a:rPr lang="en-US" altLang="zh-TW" i="1" dirty="0"/>
              <a:t> ≤ k </a:t>
            </a:r>
            <a:r>
              <a:rPr lang="en-US" altLang="zh-TW" dirty="0"/>
              <a:t>and </a:t>
            </a:r>
            <a:r>
              <a:rPr lang="en-US" altLang="zh-TW" i="1" dirty="0"/>
              <a:t>j ≥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) or </a:t>
            </a:r>
            <a:r>
              <a:rPr lang="en-US" altLang="zh-TW" dirty="0"/>
              <a:t>(</a:t>
            </a:r>
            <a:r>
              <a:rPr lang="en-US" altLang="zh-TW" i="1" dirty="0"/>
              <a:t>k ≤ </a:t>
            </a:r>
            <a:r>
              <a:rPr lang="en-US" altLang="zh-TW" i="1" dirty="0" err="1"/>
              <a:t>i</a:t>
            </a:r>
            <a:r>
              <a:rPr lang="en-US" altLang="zh-TW" i="1" dirty="0"/>
              <a:t> </a:t>
            </a:r>
            <a:r>
              <a:rPr lang="en-US" altLang="zh-TW" dirty="0"/>
              <a:t>and </a:t>
            </a:r>
            <a:r>
              <a:rPr lang="en-US" altLang="zh-TW" i="1" dirty="0" smtClean="0"/>
              <a:t>l </a:t>
            </a:r>
            <a:r>
              <a:rPr lang="en-US" altLang="zh-TW" i="1" dirty="0"/>
              <a:t>≥ j</a:t>
            </a:r>
            <a:r>
              <a:rPr lang="en-US" altLang="zh-TW" dirty="0" smtClean="0"/>
              <a:t>).</a:t>
            </a:r>
          </a:p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0013" y="2819400"/>
            <a:ext cx="894397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7280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Facet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A face of a convex </a:t>
            </a:r>
            <a:r>
              <a:rPr lang="en-US" altLang="zh-TW" dirty="0" err="1" smtClean="0"/>
              <a:t>polytope</a:t>
            </a:r>
            <a:r>
              <a:rPr lang="en-US" altLang="zh-TW" dirty="0" smtClean="0"/>
              <a:t> is any intersection of the </a:t>
            </a:r>
            <a:r>
              <a:rPr lang="en-US" altLang="zh-TW" dirty="0" err="1" smtClean="0"/>
              <a:t>polytope</a:t>
            </a:r>
            <a:r>
              <a:rPr lang="en-US" altLang="zh-TW" dirty="0" smtClean="0"/>
              <a:t> with a </a:t>
            </a:r>
            <a:r>
              <a:rPr lang="en-US" altLang="zh-TW" dirty="0" err="1" smtClean="0"/>
              <a:t>halfspace</a:t>
            </a:r>
            <a:r>
              <a:rPr lang="en-US" altLang="zh-TW" dirty="0" smtClean="0"/>
              <a:t> such that none of the interior points of the </a:t>
            </a:r>
            <a:r>
              <a:rPr lang="en-US" altLang="zh-TW" dirty="0" err="1" smtClean="0"/>
              <a:t>polytope</a:t>
            </a:r>
            <a:r>
              <a:rPr lang="en-US" altLang="zh-TW" dirty="0" smtClean="0"/>
              <a:t> lie on the boundary of the </a:t>
            </a:r>
            <a:r>
              <a:rPr lang="en-US" altLang="zh-TW" dirty="0" err="1" smtClean="0"/>
              <a:t>halfspace</a:t>
            </a:r>
            <a:r>
              <a:rPr lang="en-US" altLang="zh-TW" dirty="0" smtClean="0"/>
              <a:t>. </a:t>
            </a:r>
          </a:p>
          <a:p>
            <a:r>
              <a:rPr lang="en-US" altLang="zh-TW" dirty="0" smtClean="0"/>
              <a:t>If a </a:t>
            </a:r>
            <a:r>
              <a:rPr lang="en-US" altLang="zh-TW" dirty="0" err="1" smtClean="0"/>
              <a:t>polytope</a:t>
            </a:r>
            <a:r>
              <a:rPr lang="en-US" altLang="zh-TW" dirty="0" smtClean="0"/>
              <a:t> is d-dimensional, its facets are its (d − 1)-dimensional faces, its vertices are its 0-dimensional faces, its edges are its 1-dimensional faces, and its ridges are its (d − 2)-dimensional faces.</a:t>
            </a:r>
            <a:endParaRPr lang="zh-TW" altLang="en-US" dirty="0"/>
          </a:p>
        </p:txBody>
      </p:sp>
      <p:pic>
        <p:nvPicPr>
          <p:cNvPr id="4098" name="Picture 2" descr="http://upload.wikimedia.org/wikipedia/commons/thumb/e/ef/3dpoly.svg/220px-3dpoly.svg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22963" y="-243408"/>
            <a:ext cx="20955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1813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Proposition 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For every </a:t>
            </a:r>
            <a:r>
              <a:rPr lang="en-US" altLang="zh-TW" dirty="0"/>
              <a:t>(</a:t>
            </a:r>
            <a:r>
              <a:rPr lang="en-US" altLang="zh-TW" i="1" dirty="0" err="1"/>
              <a:t>i</a:t>
            </a:r>
            <a:r>
              <a:rPr lang="en-US" altLang="zh-TW" i="1" dirty="0"/>
              <a:t>, j</a:t>
            </a:r>
            <a:r>
              <a:rPr lang="en-US" altLang="zh-TW" dirty="0"/>
              <a:t>) </a:t>
            </a:r>
            <a:r>
              <a:rPr lang="en-US" altLang="zh-TW" i="1" dirty="0"/>
              <a:t>in E, the inequality </a:t>
            </a:r>
            <a:r>
              <a:rPr lang="en-US" altLang="zh-TW" i="1" dirty="0" err="1"/>
              <a:t>z</a:t>
            </a:r>
            <a:r>
              <a:rPr lang="en-US" altLang="zh-TW" i="1" baseline="-25000" dirty="0" err="1"/>
              <a:t>ij</a:t>
            </a:r>
            <a:r>
              <a:rPr lang="en-US" altLang="zh-TW" i="1" dirty="0"/>
              <a:t> ≥ </a:t>
            </a:r>
            <a:r>
              <a:rPr lang="en-US" altLang="zh-TW" dirty="0"/>
              <a:t>0 </a:t>
            </a:r>
            <a:r>
              <a:rPr lang="en-US" altLang="zh-TW" i="1" dirty="0"/>
              <a:t>defines a facet </a:t>
            </a:r>
            <a:r>
              <a:rPr lang="en-US" altLang="zh-TW" i="1" dirty="0" smtClean="0"/>
              <a:t>of P</a:t>
            </a:r>
            <a:r>
              <a:rPr lang="en-US" altLang="zh-TW" i="1" baseline="-25000" dirty="0" smtClean="0"/>
              <a:t>LCS</a:t>
            </a:r>
            <a:r>
              <a:rPr lang="en-US" altLang="zh-TW" i="1" dirty="0" smtClean="0"/>
              <a:t>.</a:t>
            </a:r>
          </a:p>
          <a:p>
            <a:r>
              <a:rPr lang="en-US" altLang="zh-TW" i="1" dirty="0"/>
              <a:t>Proof</a:t>
            </a:r>
            <a:r>
              <a:rPr lang="en-US" altLang="zh-TW" i="1" dirty="0" smtClean="0"/>
              <a:t>. </a:t>
            </a:r>
            <a:r>
              <a:rPr lang="en-US" altLang="zh-TW" dirty="0" smtClean="0"/>
              <a:t>Fix </a:t>
            </a:r>
            <a:r>
              <a:rPr lang="en-US" altLang="zh-TW" dirty="0"/>
              <a:t>an (</a:t>
            </a:r>
            <a:r>
              <a:rPr lang="en-US" altLang="zh-TW" i="1" dirty="0" err="1"/>
              <a:t>i</a:t>
            </a:r>
            <a:r>
              <a:rPr lang="en-US" altLang="zh-TW" i="1" dirty="0"/>
              <a:t>, j</a:t>
            </a:r>
            <a:r>
              <a:rPr lang="en-US" altLang="zh-TW" dirty="0"/>
              <a:t>) in </a:t>
            </a:r>
            <a:r>
              <a:rPr lang="en-US" altLang="zh-TW" i="1" dirty="0"/>
              <a:t>E</a:t>
            </a:r>
            <a:r>
              <a:rPr lang="en-US" altLang="zh-TW" dirty="0"/>
              <a:t>. It is easy to see that the zero vector and the </a:t>
            </a:r>
            <a:r>
              <a:rPr lang="en-US" altLang="zh-TW" dirty="0" smtClean="0"/>
              <a:t>unit vectors </a:t>
            </a:r>
            <a:r>
              <a:rPr lang="en-US" altLang="zh-TW" i="1" dirty="0" err="1" smtClean="0"/>
              <a:t>e</a:t>
            </a:r>
            <a:r>
              <a:rPr lang="en-US" altLang="zh-TW" i="1" baseline="30000" dirty="0" err="1" smtClean="0"/>
              <a:t>kl</a:t>
            </a:r>
            <a:r>
              <a:rPr lang="en-US" altLang="zh-TW" i="1" dirty="0" smtClean="0"/>
              <a:t> </a:t>
            </a:r>
            <a:r>
              <a:rPr lang="en-US" altLang="zh-TW" dirty="0"/>
              <a:t>for all (</a:t>
            </a:r>
            <a:r>
              <a:rPr lang="en-US" altLang="zh-TW" i="1" dirty="0"/>
              <a:t>k,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) </a:t>
            </a:r>
            <a:r>
              <a:rPr lang="en-US" altLang="zh-TW" dirty="0"/>
              <a:t>= (</a:t>
            </a:r>
            <a:r>
              <a:rPr lang="en-US" altLang="zh-TW" i="1" dirty="0" err="1"/>
              <a:t>i</a:t>
            </a:r>
            <a:r>
              <a:rPr lang="en-US" altLang="zh-TW" i="1" dirty="0"/>
              <a:t>, j</a:t>
            </a:r>
            <a:r>
              <a:rPr lang="en-US" altLang="zh-TW" dirty="0"/>
              <a:t>) are vertices of </a:t>
            </a:r>
            <a:r>
              <a:rPr lang="en-US" altLang="zh-TW" i="1" dirty="0" smtClean="0"/>
              <a:t>P</a:t>
            </a:r>
            <a:r>
              <a:rPr lang="en-US" altLang="zh-TW" baseline="-25000" dirty="0" smtClean="0"/>
              <a:t>LCS</a:t>
            </a:r>
            <a:r>
              <a:rPr lang="en-US" altLang="zh-TW" dirty="0" smtClean="0"/>
              <a:t> </a:t>
            </a:r>
            <a:r>
              <a:rPr lang="en-US" altLang="zh-TW" dirty="0"/>
              <a:t>that satisfy </a:t>
            </a:r>
            <a:r>
              <a:rPr lang="en-US" altLang="zh-TW" i="1" dirty="0" err="1"/>
              <a:t>z</a:t>
            </a:r>
            <a:r>
              <a:rPr lang="en-US" altLang="zh-TW" i="1" baseline="-25000" dirty="0" err="1"/>
              <a:t>ij</a:t>
            </a:r>
            <a:r>
              <a:rPr lang="en-US" altLang="zh-TW" i="1" dirty="0"/>
              <a:t> </a:t>
            </a:r>
            <a:r>
              <a:rPr lang="en-US" altLang="zh-TW" dirty="0"/>
              <a:t>= 0 and </a:t>
            </a:r>
            <a:r>
              <a:rPr lang="en-US" altLang="zh-TW" dirty="0" smtClean="0"/>
              <a:t>they are </a:t>
            </a:r>
            <a:r>
              <a:rPr lang="en-US" altLang="zh-TW" dirty="0" err="1"/>
              <a:t>affinely</a:t>
            </a:r>
            <a:r>
              <a:rPr lang="en-US" altLang="zh-TW" dirty="0"/>
              <a:t> independent.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0132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Star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if </a:t>
                </a:r>
                <a:r>
                  <a:rPr lang="en-US" altLang="zh-TW" i="1" dirty="0"/>
                  <a:t>z </a:t>
                </a:r>
                <a:r>
                  <a:rPr lang="en-US" altLang="zh-TW" dirty="0"/>
                  <a:t>is a vector and </a:t>
                </a:r>
                <a:r>
                  <a:rPr lang="en-US" altLang="zh-TW" i="1" dirty="0"/>
                  <a:t>S </a:t>
                </a:r>
                <a:r>
                  <a:rPr lang="en-US" altLang="zh-TW" dirty="0"/>
                  <a:t>is a subset of </a:t>
                </a:r>
                <a:r>
                  <a:rPr lang="en-US" altLang="zh-TW" i="1" dirty="0"/>
                  <a:t>E</a:t>
                </a:r>
                <a:r>
                  <a:rPr lang="en-US" altLang="zh-TW" dirty="0"/>
                  <a:t>, then we denote by </a:t>
                </a:r>
                <a:r>
                  <a:rPr lang="en-US" altLang="zh-TW" i="1" dirty="0"/>
                  <a:t>z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) </a:t>
                </a:r>
                <a:r>
                  <a:rPr lang="en-US" altLang="zh-TW" dirty="0" smtClean="0"/>
                  <a:t>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TW" i="1" dirty="0" smtClean="0">
                            <a:latin typeface="Cambria Math"/>
                          </a:rPr>
                          <m:t>(</m:t>
                        </m:r>
                        <m:r>
                          <a:rPr lang="en-US" altLang="zh-TW" i="1" dirty="0" err="1">
                            <a:latin typeface="Cambria Math"/>
                          </a:rPr>
                          <m:t>𝑖</m:t>
                        </m:r>
                        <m:r>
                          <a:rPr lang="en-US" altLang="zh-TW" i="1" dirty="0" err="1">
                            <a:latin typeface="Cambria Math"/>
                          </a:rPr>
                          <m:t>,</m:t>
                        </m:r>
                        <m:r>
                          <a:rPr lang="en-US" altLang="zh-TW" i="1" dirty="0" err="1">
                            <a:latin typeface="Cambria Math"/>
                          </a:rPr>
                          <m:t>𝑗</m:t>
                        </m:r>
                        <m:r>
                          <a:rPr lang="en-US" altLang="zh-TW" i="1" dirty="0">
                            <a:latin typeface="Cambria Math"/>
                          </a:rPr>
                          <m:t>)∈</m:t>
                        </m:r>
                        <m:r>
                          <a:rPr lang="en-US" altLang="zh-TW" i="1" dirty="0">
                            <a:latin typeface="Cambria Math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  <a:p>
                <a:r>
                  <a:rPr lang="en-US" altLang="zh-TW" dirty="0"/>
                  <a:t>We say that a set </a:t>
                </a:r>
                <a:r>
                  <a:rPr lang="en-US" altLang="zh-TW" i="1" dirty="0"/>
                  <a:t>S ⊆ E </a:t>
                </a:r>
                <a:r>
                  <a:rPr lang="en-US" altLang="zh-TW" dirty="0"/>
                  <a:t>is a </a:t>
                </a:r>
                <a:r>
                  <a:rPr lang="en-US" altLang="zh-TW" b="1" dirty="0"/>
                  <a:t>star </a:t>
                </a:r>
                <a:r>
                  <a:rPr lang="en-US" altLang="zh-TW" dirty="0"/>
                  <a:t>if any two distinct pairs in </a:t>
                </a:r>
                <a:r>
                  <a:rPr lang="en-US" altLang="zh-TW" i="1" dirty="0"/>
                  <a:t>S </a:t>
                </a:r>
                <a:r>
                  <a:rPr lang="en-US" altLang="zh-TW" dirty="0"/>
                  <a:t>cross.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If </a:t>
                </a:r>
                <a:r>
                  <a:rPr lang="en-US" altLang="zh-TW" i="1" dirty="0"/>
                  <a:t>S </a:t>
                </a:r>
                <a:r>
                  <a:rPr lang="en-US" altLang="zh-TW" dirty="0" smtClean="0"/>
                  <a:t>is a </a:t>
                </a:r>
                <a:r>
                  <a:rPr lang="en-US" altLang="zh-TW" dirty="0"/>
                  <a:t>star then the inequality </a:t>
                </a:r>
                <a:r>
                  <a:rPr lang="en-US" altLang="zh-TW" i="1" dirty="0"/>
                  <a:t>z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) </a:t>
                </a:r>
                <a:r>
                  <a:rPr lang="en-US" altLang="zh-TW" i="1" dirty="0"/>
                  <a:t>≤ </a:t>
                </a:r>
                <a:r>
                  <a:rPr lang="en-US" altLang="zh-TW" dirty="0"/>
                  <a:t>1 is called a </a:t>
                </a:r>
                <a:r>
                  <a:rPr lang="en-US" altLang="zh-TW" b="1" dirty="0"/>
                  <a:t>star inequality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9265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Consider a star S ⊆ E. Then the star inequality z</a:t>
            </a: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) </a:t>
            </a:r>
            <a:r>
              <a:rPr lang="en-US" altLang="zh-TW" i="1" dirty="0"/>
              <a:t>≤ </a:t>
            </a:r>
            <a:r>
              <a:rPr lang="en-US" altLang="zh-TW" dirty="0"/>
              <a:t>1 </a:t>
            </a:r>
            <a:r>
              <a:rPr lang="en-US" altLang="zh-TW" i="1" dirty="0"/>
              <a:t>is </a:t>
            </a:r>
            <a:r>
              <a:rPr lang="en-US" altLang="zh-TW" i="1" dirty="0" smtClean="0"/>
              <a:t>valid for P</a:t>
            </a:r>
            <a:r>
              <a:rPr lang="en-US" altLang="zh-TW" baseline="-25000" dirty="0" smtClean="0"/>
              <a:t>LCS</a:t>
            </a:r>
            <a:r>
              <a:rPr lang="en-US" altLang="zh-TW" i="1" dirty="0" smtClean="0"/>
              <a:t>, </a:t>
            </a:r>
            <a:r>
              <a:rPr lang="en-US" altLang="zh-TW" i="1" dirty="0"/>
              <a:t>and it defines a facet if and only if S is maximal</a:t>
            </a:r>
            <a:r>
              <a:rPr lang="en-US" altLang="zh-TW" i="1" dirty="0" smtClean="0"/>
              <a:t>.</a:t>
            </a:r>
            <a:endParaRPr lang="en-US" altLang="zh-TW" i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3173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Any facet-defining inequality of </a:t>
            </a:r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LCS</a:t>
            </a:r>
            <a:r>
              <a:rPr lang="en-US" altLang="zh-TW" dirty="0" smtClean="0"/>
              <a:t> is either a </a:t>
            </a:r>
            <a:r>
              <a:rPr lang="en-US" altLang="zh-TW" dirty="0" err="1" smtClean="0"/>
              <a:t>nonnegativity</a:t>
            </a:r>
            <a:r>
              <a:rPr lang="en-US" altLang="zh-TW" dirty="0" smtClean="0"/>
              <a:t> inequality or a maximal star inequality</a:t>
            </a:r>
            <a:endParaRPr lang="en-US" altLang="zh-TW" i="1" dirty="0" smtClean="0"/>
          </a:p>
          <a:p>
            <a:r>
              <a:rPr lang="en-US" altLang="zh-TW" i="1" dirty="0" err="1" smtClean="0"/>
              <a:t>P</a:t>
            </a:r>
            <a:r>
              <a:rPr lang="en-US" altLang="zh-TW" baseline="-25000" dirty="0" err="1" smtClean="0"/>
              <a:t>lcs</a:t>
            </a:r>
            <a:r>
              <a:rPr lang="en-US" altLang="zh-TW" dirty="0" smtClean="0"/>
              <a:t> </a:t>
            </a:r>
            <a:r>
              <a:rPr lang="en-US" altLang="zh-TW" dirty="0"/>
              <a:t>= {</a:t>
            </a:r>
            <a:r>
              <a:rPr lang="en-US" altLang="zh-TW" i="1" dirty="0"/>
              <a:t>z </a:t>
            </a:r>
            <a:r>
              <a:rPr lang="en-US" altLang="zh-TW" dirty="0"/>
              <a:t>∈</a:t>
            </a:r>
            <a:r>
              <a:rPr lang="en-US" altLang="zh-TW" i="1" dirty="0"/>
              <a:t> </a:t>
            </a:r>
            <a:r>
              <a:rPr lang="en-US" altLang="zh-TW" dirty="0"/>
              <a:t>R</a:t>
            </a:r>
            <a:r>
              <a:rPr lang="en-US" altLang="zh-TW" i="1" baseline="30000" dirty="0"/>
              <a:t>E</a:t>
            </a:r>
            <a:r>
              <a:rPr lang="en-US" altLang="zh-TW" i="1" dirty="0"/>
              <a:t> </a:t>
            </a:r>
            <a:r>
              <a:rPr lang="en-US" altLang="zh-TW" dirty="0"/>
              <a:t>|</a:t>
            </a:r>
            <a:r>
              <a:rPr lang="en-US" altLang="zh-TW" i="1" dirty="0"/>
              <a:t> </a:t>
            </a:r>
            <a:r>
              <a:rPr lang="en-US" altLang="zh-TW" i="1" dirty="0" err="1"/>
              <a:t>z</a:t>
            </a:r>
            <a:r>
              <a:rPr lang="en-US" altLang="zh-TW" i="1" baseline="-25000" dirty="0" err="1"/>
              <a:t>ij</a:t>
            </a:r>
            <a:r>
              <a:rPr lang="en-US" altLang="zh-TW" i="1" dirty="0"/>
              <a:t> ≥ </a:t>
            </a:r>
            <a:r>
              <a:rPr lang="en-US" altLang="zh-TW" dirty="0"/>
              <a:t>0 </a:t>
            </a:r>
            <a:r>
              <a:rPr lang="en-US" altLang="zh-TW" i="1" dirty="0"/>
              <a:t>for all </a:t>
            </a:r>
            <a:r>
              <a:rPr lang="en-US" altLang="zh-TW" dirty="0"/>
              <a:t>(</a:t>
            </a:r>
            <a:r>
              <a:rPr lang="en-US" altLang="zh-TW" i="1" dirty="0" err="1"/>
              <a:t>i</a:t>
            </a:r>
            <a:r>
              <a:rPr lang="en-US" altLang="zh-TW" i="1" dirty="0"/>
              <a:t>, j</a:t>
            </a:r>
            <a:r>
              <a:rPr lang="en-US" altLang="zh-TW" dirty="0"/>
              <a:t>) ∈</a:t>
            </a:r>
            <a:r>
              <a:rPr lang="en-US" altLang="zh-TW" i="1" dirty="0"/>
              <a:t> E </a:t>
            </a:r>
            <a:r>
              <a:rPr lang="en-US" altLang="zh-TW" i="1" dirty="0" smtClean="0"/>
              <a:t>and z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S</a:t>
            </a:r>
            <a:r>
              <a:rPr lang="en-US" altLang="zh-TW" dirty="0"/>
              <a:t>) </a:t>
            </a:r>
            <a:r>
              <a:rPr lang="en-US" altLang="zh-TW" i="1" dirty="0"/>
              <a:t>≤ </a:t>
            </a:r>
            <a:r>
              <a:rPr lang="en-US" altLang="zh-TW" dirty="0"/>
              <a:t>1 </a:t>
            </a:r>
            <a:r>
              <a:rPr lang="en-US" altLang="zh-TW" i="1" dirty="0"/>
              <a:t>for all maximal star S ⊆ E</a:t>
            </a:r>
            <a:r>
              <a:rPr lang="en-US" altLang="zh-TW" dirty="0"/>
              <a:t>}</a:t>
            </a:r>
            <a:r>
              <a:rPr lang="en-US" altLang="zh-TW" i="1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7084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Finding the Maximal Stars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Consider the problem of finding a maximum weight </a:t>
            </a:r>
            <a:r>
              <a:rPr lang="en-US" altLang="zh-TW" dirty="0" smtClean="0"/>
              <a:t>common subsequence </a:t>
            </a:r>
            <a:r>
              <a:rPr lang="en-US" altLang="zh-TW" dirty="0"/>
              <a:t>of the reversal of </a:t>
            </a:r>
            <a:r>
              <a:rPr lang="en-US" altLang="zh-TW" i="1" dirty="0"/>
              <a:t>s </a:t>
            </a:r>
            <a:r>
              <a:rPr lang="en-US" altLang="zh-TW" dirty="0"/>
              <a:t>and the sequence </a:t>
            </a:r>
            <a:r>
              <a:rPr lang="en-US" altLang="zh-TW" i="1" dirty="0"/>
              <a:t>t</a:t>
            </a:r>
            <a:r>
              <a:rPr lang="en-US" altLang="zh-TW" dirty="0"/>
              <a:t>, where the weight of </a:t>
            </a:r>
            <a:r>
              <a:rPr lang="en-US" altLang="zh-TW" dirty="0" smtClean="0"/>
              <a:t>aligning </a:t>
            </a:r>
            <a:r>
              <a:rPr lang="nl-NL" altLang="zh-TW" i="1" dirty="0" smtClean="0"/>
              <a:t>s</a:t>
            </a:r>
            <a:r>
              <a:rPr lang="nl-NL" altLang="zh-TW" i="1" baseline="-25000" dirty="0" smtClean="0"/>
              <a:t>i</a:t>
            </a:r>
            <a:r>
              <a:rPr lang="nl-NL" altLang="zh-TW" i="1" dirty="0" smtClean="0"/>
              <a:t> </a:t>
            </a:r>
            <a:r>
              <a:rPr lang="nl-NL" altLang="zh-TW" dirty="0"/>
              <a:t>with </a:t>
            </a:r>
            <a:r>
              <a:rPr lang="nl-NL" altLang="zh-TW" i="1" dirty="0"/>
              <a:t>t</a:t>
            </a:r>
            <a:r>
              <a:rPr lang="nl-NL" altLang="zh-TW" i="1" baseline="-25000" dirty="0"/>
              <a:t>j</a:t>
            </a:r>
            <a:r>
              <a:rPr lang="nl-NL" altLang="zh-TW" i="1" dirty="0"/>
              <a:t> </a:t>
            </a:r>
            <a:r>
              <a:rPr lang="nl-NL" altLang="zh-TW" dirty="0"/>
              <a:t>is </a:t>
            </a:r>
            <a:r>
              <a:rPr lang="nl-NL" altLang="zh-TW" i="1" dirty="0" smtClean="0"/>
              <a:t>z</a:t>
            </a:r>
            <a:r>
              <a:rPr lang="nl-NL" altLang="zh-TW" i="1" baseline="-25000" dirty="0" smtClean="0"/>
              <a:t>ij</a:t>
            </a:r>
            <a:r>
              <a:rPr lang="nl-NL" altLang="zh-TW" dirty="0" smtClean="0"/>
              <a:t>.</a:t>
            </a:r>
          </a:p>
          <a:p>
            <a:r>
              <a:rPr lang="en-US" altLang="zh-TW" dirty="0" smtClean="0"/>
              <a:t>If </a:t>
            </a:r>
            <a:r>
              <a:rPr lang="en-US" altLang="zh-TW" dirty="0"/>
              <a:t>such a maximum weight star, say </a:t>
            </a:r>
            <a:r>
              <a:rPr lang="en-US" altLang="zh-TW" i="1" dirty="0"/>
              <a:t>S</a:t>
            </a:r>
            <a:r>
              <a:rPr lang="en-US" altLang="zh-TW" dirty="0"/>
              <a:t>, has value greater than </a:t>
            </a:r>
            <a:r>
              <a:rPr lang="en-US" altLang="zh-TW" dirty="0" smtClean="0"/>
              <a:t>1,</a:t>
            </a:r>
            <a:r>
              <a:rPr lang="zh-TW" altLang="en-US" dirty="0" smtClean="0"/>
              <a:t> </a:t>
            </a:r>
            <a:r>
              <a:rPr lang="en-US" altLang="zh-TW" dirty="0" smtClean="0"/>
              <a:t>the </a:t>
            </a:r>
            <a:r>
              <a:rPr lang="en-US" altLang="zh-TW" dirty="0"/>
              <a:t>corresponding star inequality </a:t>
            </a:r>
            <a:r>
              <a:rPr lang="en-US" altLang="zh-TW" i="1" dirty="0"/>
              <a:t>z</a:t>
            </a: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) </a:t>
            </a:r>
            <a:r>
              <a:rPr lang="en-US" altLang="zh-TW" i="1" dirty="0"/>
              <a:t>≤ </a:t>
            </a:r>
            <a:r>
              <a:rPr lang="en-US" altLang="zh-TW" dirty="0"/>
              <a:t>1 is violated by </a:t>
            </a:r>
            <a:r>
              <a:rPr lang="en-US" altLang="zh-TW" i="1" dirty="0"/>
              <a:t>z</a:t>
            </a:r>
            <a:r>
              <a:rPr lang="en-US" altLang="zh-TW" dirty="0"/>
              <a:t>. </a:t>
            </a:r>
            <a:r>
              <a:rPr lang="en-US" altLang="zh-TW" dirty="0" smtClean="0"/>
              <a:t>Conversely</a:t>
            </a:r>
            <a:r>
              <a:rPr lang="en-US" altLang="zh-TW" dirty="0"/>
              <a:t>, if </a:t>
            </a:r>
            <a:r>
              <a:rPr lang="en-US" altLang="zh-TW" dirty="0" smtClean="0"/>
              <a:t>this</a:t>
            </a:r>
            <a:r>
              <a:rPr lang="zh-TW" altLang="en-US" dirty="0" smtClean="0"/>
              <a:t> </a:t>
            </a:r>
            <a:r>
              <a:rPr lang="en-US" altLang="zh-TW" dirty="0" smtClean="0"/>
              <a:t>value </a:t>
            </a:r>
            <a:r>
              <a:rPr lang="en-US" altLang="zh-TW" dirty="0"/>
              <a:t>is less than or equal to 1, no star inequality is violated by the </a:t>
            </a:r>
            <a:r>
              <a:rPr lang="en-US" altLang="zh-TW" dirty="0" smtClean="0"/>
              <a:t>current</a:t>
            </a:r>
            <a:r>
              <a:rPr lang="zh-TW" altLang="en-US" dirty="0" smtClean="0"/>
              <a:t> </a:t>
            </a:r>
            <a:r>
              <a:rPr lang="en-US" altLang="zh-TW" dirty="0" smtClean="0"/>
              <a:t>solution </a:t>
            </a:r>
            <a:r>
              <a:rPr lang="en-US" altLang="zh-TW" i="1" dirty="0"/>
              <a:t>z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2878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Integrality of the LCS </a:t>
            </a:r>
            <a:r>
              <a:rPr lang="en-US" altLang="zh-TW" dirty="0" err="1" smtClean="0"/>
              <a:t>Polytope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polyhedron P is said to </a:t>
            </a:r>
            <a:r>
              <a:rPr lang="en-US" altLang="zh-TW" dirty="0" smtClean="0"/>
              <a:t>be integral </a:t>
            </a:r>
            <a:r>
              <a:rPr lang="en-US" altLang="zh-TW" dirty="0"/>
              <a:t>if all its vertices or extreme points are integral (belong to Z</a:t>
            </a:r>
            <a:r>
              <a:rPr lang="en-US" altLang="zh-TW" baseline="30000" dirty="0"/>
              <a:t>n</a:t>
            </a:r>
            <a:r>
              <a:rPr lang="en-US" altLang="zh-TW" dirty="0" smtClean="0"/>
              <a:t>).</a:t>
            </a:r>
          </a:p>
          <a:p>
            <a:r>
              <a:rPr lang="zh-TW" altLang="en-US" dirty="0" smtClean="0"/>
              <a:t>略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6893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Repetition-Free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</a:t>
            </a:r>
            <a:r>
              <a:rPr lang="en-US" altLang="zh-TW" dirty="0" smtClean="0"/>
              <a:t>LCS</a:t>
            </a:r>
            <a:r>
              <a:rPr lang="zh-TW" altLang="en-US" dirty="0" smtClean="0"/>
              <a:t>中同樣的字母不能出現兩次</a:t>
            </a:r>
            <a:endParaRPr lang="en-US" altLang="zh-TW" dirty="0" smtClean="0"/>
          </a:p>
          <a:p>
            <a:r>
              <a:rPr lang="en-US" altLang="zh-TW" dirty="0" smtClean="0"/>
              <a:t>It </a:t>
            </a:r>
            <a:r>
              <a:rPr lang="en-US" altLang="zh-TW" dirty="0"/>
              <a:t>has </a:t>
            </a:r>
            <a:r>
              <a:rPr lang="en-US" altLang="zh-TW" dirty="0" smtClean="0"/>
              <a:t>been proved </a:t>
            </a:r>
            <a:r>
              <a:rPr lang="en-US" altLang="zh-TW" dirty="0"/>
              <a:t>that this problem is NP-hard. </a:t>
            </a:r>
            <a:endParaRPr lang="en-US" altLang="zh-TW" dirty="0" smtClean="0"/>
          </a:p>
          <a:p>
            <a:r>
              <a:rPr lang="en-US" altLang="zh-TW" dirty="0" smtClean="0"/>
              <a:t>Indeed</a:t>
            </a:r>
            <a:r>
              <a:rPr lang="en-US" altLang="zh-TW" dirty="0"/>
              <a:t>, </a:t>
            </a:r>
            <a:r>
              <a:rPr lang="en-US" altLang="zh-TW" dirty="0" err="1"/>
              <a:t>Adi</a:t>
            </a:r>
            <a:r>
              <a:rPr lang="en-US" altLang="zh-TW" dirty="0"/>
              <a:t> et al. </a:t>
            </a:r>
            <a:r>
              <a:rPr lang="en-US" altLang="zh-TW" dirty="0" smtClean="0"/>
              <a:t>proved </a:t>
            </a:r>
            <a:r>
              <a:rPr lang="en-US" altLang="zh-TW" dirty="0"/>
              <a:t>that it is </a:t>
            </a:r>
            <a:r>
              <a:rPr lang="en-US" altLang="zh-TW" dirty="0" smtClean="0"/>
              <a:t>APX-hard even </a:t>
            </a:r>
            <a:r>
              <a:rPr lang="en-US" altLang="zh-TW" dirty="0"/>
              <a:t>if each symbol appears at most twice in each of the given sequences.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2294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APX (</a:t>
            </a:r>
            <a:r>
              <a:rPr lang="en-US" altLang="zh-TW" dirty="0" err="1" smtClean="0">
                <a:effectLst/>
              </a:rPr>
              <a:t>approximable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he set of NP optimization problems that allow polynomial-time approximation algorithms with approximation ratio bounded by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constant.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4306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Polynomial-Time </a:t>
            </a:r>
            <a:r>
              <a:rPr lang="en-US" altLang="zh-TW" dirty="0"/>
              <a:t>A</a:t>
            </a:r>
            <a:r>
              <a:rPr lang="en-US" altLang="zh-TW" dirty="0" smtClean="0"/>
              <a:t>pproximation </a:t>
            </a:r>
            <a:r>
              <a:rPr lang="en-US" altLang="zh-TW" dirty="0"/>
              <a:t>S</a:t>
            </a:r>
            <a:r>
              <a:rPr lang="en-US" altLang="zh-TW" dirty="0" smtClean="0"/>
              <a:t>cheme (PTAS).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If there is a polynomial-time algorithm to solve a problem within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every</a:t>
                </a:r>
                <a:r>
                  <a:rPr lang="en-US" altLang="zh-TW" dirty="0" smtClean="0"/>
                  <a:t> fixed percentage greater than zero (one algorithm for each percentage), then the problem is said to have a polynomial-time approximation scheme (PTAS). </a:t>
                </a:r>
              </a:p>
              <a:p>
                <a:r>
                  <a:rPr lang="zh-TW" altLang="en-US" dirty="0"/>
                  <a:t>之前常見的</a:t>
                </a:r>
                <a:r>
                  <a:rPr lang="zh-TW" altLang="en-US" dirty="0" smtClean="0"/>
                  <a:t>是當</a:t>
                </a:r>
                <a:r>
                  <a:rPr lang="en-US" altLang="zh-TW" dirty="0" smtClean="0"/>
                  <a:t>1+</a:t>
                </a:r>
                <a:r>
                  <a:rPr lang="en-US" altLang="zh-TW" dirty="0" smtClean="0">
                    <a:sym typeface="Symbol"/>
                  </a:rPr>
                  <a:t></a:t>
                </a:r>
                <a:r>
                  <a:rPr lang="zh-TW" altLang="en-US" dirty="0" smtClean="0">
                    <a:sym typeface="Symbol"/>
                  </a:rPr>
                  <a:t>倍</a:t>
                </a:r>
                <a:r>
                  <a:rPr lang="en-US" altLang="zh-TW" dirty="0" smtClean="0">
                    <a:sym typeface="Symbol"/>
                  </a:rPr>
                  <a:t>approximation</a:t>
                </a:r>
                <a:r>
                  <a:rPr lang="zh-TW" altLang="en-US" dirty="0" smtClean="0">
                    <a:sym typeface="Symbol"/>
                  </a:rPr>
                  <a:t>時，需要的時間是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  <a:sym typeface="Symbol"/>
                      </a:rPr>
                      <m:t>O</m:t>
                    </m:r>
                    <m:r>
                      <a:rPr lang="en-US" altLang="zh-TW" b="0" i="0" smtClean="0">
                        <a:latin typeface="Cambria Math"/>
                        <a:sym typeface="Symbol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/>
                            <a:sym typeface="Symbol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  <a:sym typeface="Symbol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en-US" altLang="zh-TW" b="0" i="1" smtClean="0">
                                <a:latin typeface="Cambria Math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sym typeface="Symbol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  <a:sym typeface="Symbol"/>
                              </a:rPr>
                              <m:t>𝜖</m:t>
                            </m:r>
                          </m:den>
                        </m:f>
                      </m:sup>
                    </m:sSup>
                    <m:r>
                      <a:rPr lang="en-US" altLang="zh-TW" b="0" i="1" smtClean="0">
                        <a:latin typeface="Cambria Math"/>
                        <a:sym typeface="Symbol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630" t="-1752" r="-1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1374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APX-hard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problem is said to be APX-hard if there is a PTAS reduction from every problem in APX to that problem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Unless P=NP, it can be shown that there are problems that are in APX but not in PTAS; that is, problems that can be approximated within some constant factor, but not every constant factor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3376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Formulation for the RFLCS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7364" y="1628800"/>
            <a:ext cx="882967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4683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Extended Star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a set </a:t>
            </a:r>
            <a:r>
              <a:rPr lang="en-US" altLang="zh-TW" i="1" dirty="0"/>
              <a:t>S </a:t>
            </a:r>
            <a:r>
              <a:rPr lang="en-US" altLang="zh-TW" dirty="0"/>
              <a:t>⊆</a:t>
            </a:r>
            <a:r>
              <a:rPr lang="en-US" altLang="zh-TW" i="1" dirty="0"/>
              <a:t> E</a:t>
            </a:r>
            <a:r>
              <a:rPr lang="en-US" altLang="zh-TW" dirty="0"/>
              <a:t>, let </a:t>
            </a:r>
            <a:r>
              <a:rPr lang="en-US" altLang="zh-TW" i="1" dirty="0"/>
              <a:t>Sa </a:t>
            </a:r>
            <a:r>
              <a:rPr lang="en-US" altLang="zh-TW" dirty="0"/>
              <a:t>= </a:t>
            </a:r>
            <a:r>
              <a:rPr lang="en-US" altLang="zh-TW" i="1" dirty="0"/>
              <a:t>S</a:t>
            </a:r>
            <a:r>
              <a:rPr lang="en-US" altLang="zh-TW" dirty="0"/>
              <a:t>∩(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)</a:t>
            </a:r>
            <a:r>
              <a:rPr lang="en-US" altLang="zh-TW" i="1" dirty="0"/>
              <a:t>×t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)), where </a:t>
            </a:r>
            <a:r>
              <a:rPr lang="en-US" altLang="zh-TW" i="1" dirty="0"/>
              <a:t>a </a:t>
            </a:r>
            <a:r>
              <a:rPr lang="en-US" altLang="zh-TW" dirty="0"/>
              <a:t>is a symbol of the </a:t>
            </a:r>
            <a:r>
              <a:rPr lang="en-US" altLang="zh-TW" dirty="0" smtClean="0"/>
              <a:t>alphabet.</a:t>
            </a:r>
          </a:p>
          <a:p>
            <a:r>
              <a:rPr lang="en-US" altLang="zh-TW" dirty="0" smtClean="0"/>
              <a:t>We </a:t>
            </a:r>
            <a:r>
              <a:rPr lang="en-US" altLang="zh-TW" dirty="0"/>
              <a:t>say that a set </a:t>
            </a:r>
            <a:r>
              <a:rPr lang="en-US" altLang="zh-TW" i="1" dirty="0"/>
              <a:t>S </a:t>
            </a:r>
            <a:r>
              <a:rPr lang="en-US" altLang="zh-TW" dirty="0"/>
              <a:t>⊆</a:t>
            </a:r>
            <a:r>
              <a:rPr lang="en-US" altLang="zh-TW" i="1" dirty="0"/>
              <a:t> E </a:t>
            </a:r>
            <a:r>
              <a:rPr lang="en-US" altLang="zh-TW" dirty="0"/>
              <a:t>is an </a:t>
            </a:r>
            <a:r>
              <a:rPr lang="en-US" altLang="zh-TW" b="1" dirty="0"/>
              <a:t>extended star </a:t>
            </a:r>
            <a:r>
              <a:rPr lang="en-US" altLang="zh-TW" dirty="0"/>
              <a:t>if, for every two distinct symbols </a:t>
            </a:r>
            <a:r>
              <a:rPr lang="en-US" altLang="zh-TW" i="1" dirty="0" smtClean="0"/>
              <a:t>a </a:t>
            </a:r>
            <a:r>
              <a:rPr lang="en-US" altLang="zh-TW" dirty="0" smtClean="0"/>
              <a:t>and </a:t>
            </a:r>
            <a:r>
              <a:rPr lang="en-US" altLang="zh-TW" i="1" dirty="0"/>
              <a:t>b</a:t>
            </a:r>
            <a:r>
              <a:rPr lang="en-US" altLang="zh-TW" dirty="0"/>
              <a:t>, each pair in </a:t>
            </a:r>
            <a:r>
              <a:rPr lang="en-US" altLang="zh-TW" i="1" dirty="0"/>
              <a:t>S</a:t>
            </a:r>
            <a:r>
              <a:rPr lang="en-US" altLang="zh-TW" i="1" baseline="-25000" dirty="0"/>
              <a:t>a</a:t>
            </a:r>
            <a:r>
              <a:rPr lang="en-US" altLang="zh-TW" i="1" dirty="0"/>
              <a:t> </a:t>
            </a:r>
            <a:r>
              <a:rPr lang="en-US" altLang="zh-TW" dirty="0"/>
              <a:t>crosses all pairs in </a:t>
            </a:r>
            <a:r>
              <a:rPr lang="en-US" altLang="zh-TW" i="1" dirty="0"/>
              <a:t>S</a:t>
            </a:r>
            <a:r>
              <a:rPr lang="en-US" altLang="zh-TW" i="1" baseline="-25000" dirty="0"/>
              <a:t>b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7601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 =xxxxfxxxxexxxd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xd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xcb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xb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xxb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xa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xxa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xxa</a:t>
            </a:r>
            <a:r>
              <a:rPr lang="en-US" altLang="zh-TW" baseline="-25000" dirty="0" smtClean="0"/>
              <a:t>1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t =</a:t>
            </a:r>
            <a:r>
              <a:rPr lang="en-US" altLang="zh-TW" dirty="0" err="1" smtClean="0"/>
              <a:t>ayayayybybyyybyyycdyyyyydyeyyfyy</a:t>
            </a:r>
            <a:endParaRPr lang="en-US" altLang="zh-TW" dirty="0" smtClean="0"/>
          </a:p>
          <a:p>
            <a:endParaRPr lang="en-US" altLang="zh-TW" i="1" dirty="0" smtClean="0"/>
          </a:p>
          <a:p>
            <a:endParaRPr lang="en-US" altLang="zh-TW" i="1" dirty="0" smtClean="0"/>
          </a:p>
          <a:p>
            <a:r>
              <a:rPr lang="en-US" altLang="zh-TW" i="1" dirty="0" err="1" smtClean="0"/>
              <a:t>s</a:t>
            </a:r>
            <a:r>
              <a:rPr lang="en-US" altLang="zh-TW" i="1" baseline="30000" dirty="0" err="1" smtClean="0"/>
              <a:t>r</a:t>
            </a:r>
            <a:r>
              <a:rPr lang="en-US" altLang="zh-TW" dirty="0" smtClean="0"/>
              <a:t>=a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xxa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xxa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xb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xxb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xb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cxd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xd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xxxexxxxfxxxx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>
          <a:xfrm flipV="1">
            <a:off x="2123728" y="2060848"/>
            <a:ext cx="5904656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1403648" y="3861048"/>
            <a:ext cx="720080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 flipV="1">
            <a:off x="1763688" y="3861048"/>
            <a:ext cx="36004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 flipV="1">
            <a:off x="1403648" y="3861048"/>
            <a:ext cx="1512168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H="1" flipV="1">
            <a:off x="2627784" y="3861048"/>
            <a:ext cx="1944216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H="1" flipV="1">
            <a:off x="3059832" y="3861048"/>
            <a:ext cx="954106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3383868" y="3861048"/>
            <a:ext cx="468052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H="1" flipV="1">
            <a:off x="4572000" y="3861048"/>
            <a:ext cx="360040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H="1" flipV="1">
            <a:off x="4779024" y="3861048"/>
            <a:ext cx="108912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 flipV="1">
            <a:off x="5323584" y="3861048"/>
            <a:ext cx="544560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 flipH="1" flipV="1">
            <a:off x="6300192" y="3861048"/>
            <a:ext cx="324036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 flipH="1" flipV="1">
            <a:off x="6804248" y="3861048"/>
            <a:ext cx="792088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1763688" y="2060848"/>
            <a:ext cx="5616624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403648" y="2060848"/>
            <a:ext cx="5220580" cy="151216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 flipV="1">
            <a:off x="2627784" y="2060848"/>
            <a:ext cx="2304256" cy="151216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V="1">
            <a:off x="3059832" y="2060848"/>
            <a:ext cx="2448272" cy="151216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3851920" y="2060848"/>
            <a:ext cx="2304256" cy="136815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flipV="1">
            <a:off x="4572000" y="2060848"/>
            <a:ext cx="207023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 flipH="1" flipV="1">
            <a:off x="3851920" y="2060848"/>
            <a:ext cx="936104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 flipH="1" flipV="1">
            <a:off x="4283968" y="2060848"/>
            <a:ext cx="1620180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 flipH="1" flipV="1">
            <a:off x="3059832" y="2060848"/>
            <a:ext cx="3240360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 flipH="1" flipV="1">
            <a:off x="2123728" y="2060848"/>
            <a:ext cx="468052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投影片編號版面配置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3569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Let S be a maximal extended star. The inequality z</a:t>
            </a: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) </a:t>
            </a:r>
            <a:r>
              <a:rPr lang="en-US" altLang="zh-TW" i="1" dirty="0"/>
              <a:t>≤ </a:t>
            </a:r>
            <a:r>
              <a:rPr lang="en-US" altLang="zh-TW" dirty="0"/>
              <a:t>1 </a:t>
            </a:r>
            <a:r>
              <a:rPr lang="en-US" altLang="zh-TW" i="1" dirty="0" smtClean="0"/>
              <a:t>defines a </a:t>
            </a:r>
            <a:r>
              <a:rPr lang="en-US" altLang="zh-TW" i="1" dirty="0"/>
              <a:t>facet of </a:t>
            </a:r>
            <a:r>
              <a:rPr lang="en-US" altLang="zh-TW" i="1" dirty="0" smtClean="0"/>
              <a:t>P</a:t>
            </a:r>
            <a:r>
              <a:rPr lang="en-US" altLang="zh-TW" baseline="-25000" dirty="0" smtClean="0"/>
              <a:t>RFLCS</a:t>
            </a:r>
            <a:r>
              <a:rPr lang="en-US" altLang="zh-TW" i="1" dirty="0" smtClean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8073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Finding the </a:t>
            </a:r>
            <a:r>
              <a:rPr lang="en-US" altLang="zh-TW" dirty="0" smtClean="0"/>
              <a:t>Violating Extended Stars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</a:t>
            </a:r>
            <a:r>
              <a:rPr lang="en-US" altLang="zh-TW" dirty="0" smtClean="0"/>
              <a:t>t </a:t>
            </a:r>
            <a:r>
              <a:rPr lang="en-US" altLang="zh-TW" dirty="0"/>
              <a:t>looks </a:t>
            </a:r>
            <a:r>
              <a:rPr lang="en-US" altLang="zh-TW" dirty="0" smtClean="0"/>
              <a:t>for a </a:t>
            </a:r>
            <a:r>
              <a:rPr lang="en-US" altLang="zh-TW" dirty="0"/>
              <a:t>maximum weight </a:t>
            </a:r>
            <a:r>
              <a:rPr lang="en-US" altLang="zh-TW" dirty="0" smtClean="0"/>
              <a:t>alignment between </a:t>
            </a:r>
            <a:r>
              <a:rPr lang="en-US" altLang="zh-TW" i="1" dirty="0" err="1"/>
              <a:t>s</a:t>
            </a:r>
            <a:r>
              <a:rPr lang="en-US" altLang="zh-TW" i="1" baseline="30000" dirty="0" err="1"/>
              <a:t>r</a:t>
            </a:r>
            <a:r>
              <a:rPr lang="en-US" altLang="zh-TW" i="1" dirty="0"/>
              <a:t> </a:t>
            </a:r>
            <a:r>
              <a:rPr lang="en-US" altLang="zh-TW" dirty="0"/>
              <a:t>and </a:t>
            </a:r>
            <a:r>
              <a:rPr lang="en-US" altLang="zh-TW" i="1" dirty="0"/>
              <a:t>t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weights for the alignments are </a:t>
            </a:r>
            <a:r>
              <a:rPr lang="en-US" altLang="zh-TW" dirty="0" smtClean="0"/>
              <a:t>given by </a:t>
            </a:r>
            <a:r>
              <a:rPr lang="en-US" altLang="zh-TW" i="1" dirty="0"/>
              <a:t>z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Such </a:t>
            </a:r>
            <a:r>
              <a:rPr lang="en-US" altLang="zh-TW" dirty="0"/>
              <a:t>an alignment allows crossings only among pairs corresponding to </a:t>
            </a:r>
            <a:r>
              <a:rPr lang="en-US" altLang="zh-TW" dirty="0" smtClean="0"/>
              <a:t>a common </a:t>
            </a:r>
            <a:r>
              <a:rPr lang="en-US" altLang="zh-TW" dirty="0"/>
              <a:t>symbol. </a:t>
            </a:r>
            <a:endParaRPr lang="en-US" altLang="zh-TW" dirty="0" smtClean="0"/>
          </a:p>
          <a:p>
            <a:r>
              <a:rPr lang="en-US" altLang="zh-TW" dirty="0" smtClean="0"/>
              <a:t>One </a:t>
            </a:r>
            <a:r>
              <a:rPr lang="en-US" altLang="zh-TW" dirty="0"/>
              <a:t>can find such an alignment by a dynamic </a:t>
            </a:r>
            <a:r>
              <a:rPr lang="en-US" altLang="zh-TW" dirty="0" smtClean="0"/>
              <a:t>programming algorithm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5510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Finding the Violating Extended Stars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altLang="zh-TW" sz="4600" dirty="0"/>
                  <a:t>L</a:t>
                </a:r>
                <a:r>
                  <a:rPr lang="en-US" altLang="zh-TW" sz="4600" dirty="0" smtClean="0"/>
                  <a:t>et </a:t>
                </a:r>
                <a:r>
                  <a:rPr lang="en-US" altLang="zh-TW" sz="4600" i="1" dirty="0"/>
                  <a:t>mw</a:t>
                </a:r>
                <a:r>
                  <a:rPr lang="en-US" altLang="zh-TW" sz="4600" dirty="0"/>
                  <a:t>(</a:t>
                </a:r>
                <a:r>
                  <a:rPr lang="en-US" altLang="zh-TW" sz="4600" i="1" dirty="0" err="1"/>
                  <a:t>n,m</a:t>
                </a:r>
                <a:r>
                  <a:rPr lang="en-US" altLang="zh-TW" sz="4600" dirty="0"/>
                  <a:t>) be the weight of such a maximum weight </a:t>
                </a:r>
                <a:r>
                  <a:rPr lang="en-US" altLang="zh-TW" sz="4600" dirty="0" smtClean="0"/>
                  <a:t>alignment between </a:t>
                </a:r>
                <a:r>
                  <a:rPr lang="en-US" altLang="zh-TW" sz="4600" dirty="0"/>
                  <a:t>the sequences </a:t>
                </a:r>
                <a:r>
                  <a:rPr lang="en-US" altLang="zh-TW" sz="4600" i="1" dirty="0" err="1"/>
                  <a:t>s</a:t>
                </a:r>
                <a:r>
                  <a:rPr lang="en-US" altLang="zh-TW" sz="4600" i="1" baseline="30000" dirty="0" err="1"/>
                  <a:t>r</a:t>
                </a:r>
                <a:r>
                  <a:rPr lang="en-US" altLang="zh-TW" sz="4600" dirty="0"/>
                  <a:t>[1 </a:t>
                </a:r>
                <a:r>
                  <a:rPr lang="en-US" altLang="zh-TW" sz="4600" i="1" dirty="0"/>
                  <a:t>. . n</a:t>
                </a:r>
                <a:r>
                  <a:rPr lang="en-US" altLang="zh-TW" sz="4600" dirty="0"/>
                  <a:t>] and </a:t>
                </a:r>
                <a:r>
                  <a:rPr lang="en-US" altLang="zh-TW" sz="4600" i="1" dirty="0"/>
                  <a:t>t</a:t>
                </a:r>
                <a:r>
                  <a:rPr lang="en-US" altLang="zh-TW" sz="4600" dirty="0"/>
                  <a:t>[1 </a:t>
                </a:r>
                <a:r>
                  <a:rPr lang="en-US" altLang="zh-TW" sz="4600" i="1" dirty="0"/>
                  <a:t>. . m</a:t>
                </a:r>
                <a:r>
                  <a:rPr lang="en-US" altLang="zh-TW" sz="4600" dirty="0"/>
                  <a:t>].</a:t>
                </a:r>
                <a:endParaRPr lang="en-US" altLang="zh-TW" sz="4600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𝑚𝑤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=0 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𝑜𝑟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/>
                                </a:rPr>
                                <m:t>max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⁡{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𝑚𝑤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−1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𝑚𝑤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</a:rPr>
                                <m:t>}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𝑟</m:t>
                                  </m:r>
                                </m:sup>
                              </m:sSup>
                              <m:r>
                                <a:rPr lang="en-US" altLang="zh-TW" b="0" i="1" smtClean="0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]≠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[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𝑚𝑎𝑥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≤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≤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{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𝑚𝑤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−1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)}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𝑟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/>
                                </a:rPr>
                                <m:t>≠</m:t>
                              </m:r>
                              <m:r>
                                <a:rPr lang="en-US" altLang="zh-TW" i="1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/>
                                      <a:ea typeface="Cambria Math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b="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0" smtClean="0">
                          <a:latin typeface="Cambria Math"/>
                        </a:rPr>
                        <m:t>where</m:t>
                      </m:r>
                      <m:r>
                        <m:rPr>
                          <m:nor/>
                        </m:rPr>
                        <a:rPr lang="en-US" altLang="zh-TW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 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 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TW" i="1">
                              <a:latin typeface="Cambria Math"/>
                            </a:rPr>
                            <m:t>, 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TW" b="0" i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𝑘𝑙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:1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≤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, 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𝑘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𝑙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TW" b="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630" t="-3639" r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1488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Finding the Violating Extended Stars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</a:t>
            </a:r>
            <a:r>
              <a:rPr lang="en-US" altLang="zh-TW" i="1" dirty="0"/>
              <a:t>mw</a:t>
            </a:r>
            <a:r>
              <a:rPr lang="en-US" altLang="zh-TW" dirty="0"/>
              <a:t>(</a:t>
            </a:r>
            <a:r>
              <a:rPr lang="en-US" altLang="zh-TW" i="1" dirty="0" err="1"/>
              <a:t>n,m</a:t>
            </a:r>
            <a:r>
              <a:rPr lang="en-US" altLang="zh-TW" dirty="0"/>
              <a:t>) </a:t>
            </a:r>
            <a:r>
              <a:rPr lang="en-US" altLang="zh-TW" i="1" dirty="0"/>
              <a:t>&lt; </a:t>
            </a:r>
            <a:r>
              <a:rPr lang="en-US" altLang="zh-TW" dirty="0"/>
              <a:t>1, then such an alignment corresponds to an extended star that is violated. </a:t>
            </a:r>
          </a:p>
          <a:p>
            <a:r>
              <a:rPr lang="en-US" altLang="zh-TW" dirty="0"/>
              <a:t>If </a:t>
            </a:r>
            <a:r>
              <a:rPr lang="en-US" altLang="zh-TW" i="1" dirty="0"/>
              <a:t>mw</a:t>
            </a:r>
            <a:r>
              <a:rPr lang="en-US" altLang="zh-TW" dirty="0"/>
              <a:t>(</a:t>
            </a:r>
            <a:r>
              <a:rPr lang="en-US" altLang="zh-TW" i="1" dirty="0" err="1"/>
              <a:t>n,m</a:t>
            </a:r>
            <a:r>
              <a:rPr lang="en-US" altLang="zh-TW" dirty="0"/>
              <a:t>) </a:t>
            </a:r>
            <a:r>
              <a:rPr lang="en-US" altLang="zh-TW" i="1" dirty="0"/>
              <a:t>≥ </a:t>
            </a:r>
            <a:r>
              <a:rPr lang="en-US" altLang="zh-TW" dirty="0"/>
              <a:t>1, then no extended star is violated.</a:t>
            </a:r>
          </a:p>
          <a:p>
            <a:r>
              <a:rPr lang="en-US" altLang="zh-TW" dirty="0"/>
              <a:t>It is not hard to see that </a:t>
            </a:r>
            <a:r>
              <a:rPr lang="en-US" altLang="zh-TW" i="1" dirty="0"/>
              <a:t>mw</a:t>
            </a:r>
            <a:r>
              <a:rPr lang="en-US" altLang="zh-TW" dirty="0"/>
              <a:t>(</a:t>
            </a:r>
            <a:r>
              <a:rPr lang="en-US" altLang="zh-TW" i="1" dirty="0" err="1"/>
              <a:t>n,m</a:t>
            </a:r>
            <a:r>
              <a:rPr lang="en-US" altLang="zh-TW" dirty="0"/>
              <a:t>) can be computed by an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i="1" dirty="0"/>
              <a:t>m</a:t>
            </a:r>
            <a:r>
              <a:rPr lang="en-US" altLang="zh-TW" baseline="30000" dirty="0"/>
              <a:t>2</a:t>
            </a:r>
            <a:r>
              <a:rPr lang="en-US" altLang="zh-TW" dirty="0"/>
              <a:t>) algorithm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943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We implemented a branch and cut algorithm for the </a:t>
            </a:r>
            <a:r>
              <a:rPr lang="en-US" altLang="zh-TW" dirty="0" smtClean="0"/>
              <a:t>RFLCS </a:t>
            </a:r>
            <a:r>
              <a:rPr lang="en-US" altLang="zh-TW" dirty="0"/>
              <a:t>using the </a:t>
            </a:r>
            <a:r>
              <a:rPr lang="en-US" altLang="zh-TW" dirty="0" smtClean="0"/>
              <a:t>exact separation </a:t>
            </a:r>
            <a:r>
              <a:rPr lang="en-US" altLang="zh-TW" dirty="0"/>
              <a:t>procedure for the extended star </a:t>
            </a:r>
            <a:r>
              <a:rPr lang="en-US" altLang="zh-TW" dirty="0" smtClean="0"/>
              <a:t>inequalities. </a:t>
            </a:r>
          </a:p>
          <a:p>
            <a:r>
              <a:rPr lang="en-US" altLang="zh-TW" dirty="0" smtClean="0"/>
              <a:t>We </a:t>
            </a:r>
            <a:r>
              <a:rPr lang="en-US" altLang="zh-TW" dirty="0"/>
              <a:t>considered instances consisting of two sequences of equal </a:t>
            </a:r>
            <a:r>
              <a:rPr lang="en-US" altLang="zh-TW" dirty="0" smtClean="0"/>
              <a:t>length </a:t>
            </a:r>
            <a:r>
              <a:rPr lang="en-US" altLang="zh-TW" i="1" dirty="0" smtClean="0"/>
              <a:t>n </a:t>
            </a:r>
            <a:r>
              <a:rPr lang="en-US" altLang="zh-TW" dirty="0"/>
              <a:t>= 512, and with alphabet sizes </a:t>
            </a:r>
            <a:r>
              <a:rPr lang="en-US" altLang="zh-TW" dirty="0" smtClean="0"/>
              <a:t>1/8</a:t>
            </a:r>
            <a:r>
              <a:rPr lang="en-US" altLang="zh-TW" i="1" dirty="0" smtClean="0"/>
              <a:t>n</a:t>
            </a:r>
            <a:r>
              <a:rPr lang="en-US" altLang="zh-TW" i="1" dirty="0"/>
              <a:t>, </a:t>
            </a:r>
            <a:r>
              <a:rPr lang="en-US" altLang="zh-TW" dirty="0" smtClean="0"/>
              <a:t>2/8</a:t>
            </a:r>
            <a:r>
              <a:rPr lang="en-US" altLang="zh-TW" i="1" dirty="0" smtClean="0"/>
              <a:t>n</a:t>
            </a:r>
            <a:r>
              <a:rPr lang="en-US" altLang="zh-TW" i="1" dirty="0"/>
              <a:t>, . . . , </a:t>
            </a:r>
            <a:r>
              <a:rPr lang="en-US" altLang="zh-TW" dirty="0" smtClean="0"/>
              <a:t>7/8</a:t>
            </a:r>
            <a:r>
              <a:rPr lang="en-US" altLang="zh-TW" i="1" dirty="0" smtClean="0"/>
              <a:t>n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instances are </a:t>
            </a:r>
            <a:r>
              <a:rPr lang="en-US" altLang="zh-TW" dirty="0" smtClean="0"/>
              <a:t>generated randomly </a:t>
            </a:r>
            <a:r>
              <a:rPr lang="en-US" altLang="zh-TW" dirty="0"/>
              <a:t>with uniform probability. </a:t>
            </a:r>
            <a:endParaRPr lang="en-US" altLang="zh-TW" dirty="0" smtClean="0"/>
          </a:p>
          <a:p>
            <a:r>
              <a:rPr lang="en-US" altLang="zh-TW" dirty="0" smtClean="0"/>
              <a:t>To </a:t>
            </a:r>
            <a:r>
              <a:rPr lang="en-US" altLang="zh-TW" dirty="0"/>
              <a:t>solve the linear programming </a:t>
            </a:r>
            <a:r>
              <a:rPr lang="en-US" altLang="zh-TW" dirty="0" smtClean="0"/>
              <a:t>relaxation we </a:t>
            </a:r>
            <a:r>
              <a:rPr lang="en-US" altLang="zh-TW" dirty="0"/>
              <a:t>use the GLPK (Gnu Linear Programming Kit</a:t>
            </a:r>
            <a:r>
              <a:rPr lang="en-US" altLang="zh-TW" dirty="0" smtClean="0"/>
              <a:t>).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6885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2463" y="1995488"/>
            <a:ext cx="783907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2900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It </a:t>
            </a:r>
            <a:r>
              <a:rPr lang="en-US" altLang="zh-TW" dirty="0"/>
              <a:t>becomes more difficult to solve instances in </a:t>
            </a:r>
            <a:r>
              <a:rPr lang="en-US" altLang="zh-TW" dirty="0" smtClean="0"/>
              <a:t>which the </a:t>
            </a:r>
            <a:r>
              <a:rPr lang="en-US" altLang="zh-TW" dirty="0"/>
              <a:t>alphabet size is small compared to the length of the sequences (up to </a:t>
            </a:r>
            <a:r>
              <a:rPr lang="en-US" altLang="zh-TW" dirty="0" smtClean="0"/>
              <a:t>3/8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).</a:t>
            </a:r>
          </a:p>
          <a:p>
            <a:r>
              <a:rPr lang="en-US" altLang="zh-TW" dirty="0"/>
              <a:t>It is interesting to note </a:t>
            </a:r>
            <a:r>
              <a:rPr lang="en-US" altLang="zh-TW" dirty="0" smtClean="0"/>
              <a:t>that we </a:t>
            </a:r>
            <a:r>
              <a:rPr lang="en-US" altLang="zh-TW" dirty="0"/>
              <a:t>could solve all instances to optimality when the size of the alphabet is </a:t>
            </a:r>
            <a:r>
              <a:rPr lang="en-US" altLang="zh-TW" dirty="0" smtClean="0"/>
              <a:t>at least 1/2</a:t>
            </a:r>
            <a:r>
              <a:rPr lang="en-US" altLang="zh-TW" i="1" dirty="0" smtClean="0"/>
              <a:t>n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79501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order to investigate the strength of the extended star inequalities we </a:t>
            </a:r>
            <a:r>
              <a:rPr lang="en-US" altLang="zh-TW" dirty="0" smtClean="0"/>
              <a:t>ran GLPK </a:t>
            </a:r>
            <a:r>
              <a:rPr lang="en-US" altLang="zh-TW" dirty="0"/>
              <a:t>with the integer programming </a:t>
            </a:r>
            <a:r>
              <a:rPr lang="en-US" altLang="zh-TW" dirty="0" smtClean="0"/>
              <a:t>formulation. </a:t>
            </a:r>
          </a:p>
          <a:p>
            <a:r>
              <a:rPr lang="en-US" altLang="zh-TW" dirty="0" smtClean="0"/>
              <a:t>We </a:t>
            </a:r>
            <a:r>
              <a:rPr lang="en-US" altLang="zh-TW" dirty="0"/>
              <a:t>set the </a:t>
            </a:r>
            <a:r>
              <a:rPr lang="en-US" altLang="zh-TW" dirty="0" smtClean="0"/>
              <a:t>parameters of </a:t>
            </a:r>
            <a:r>
              <a:rPr lang="en-US" altLang="zh-TW" dirty="0"/>
              <a:t>the solver to use clique and </a:t>
            </a:r>
            <a:r>
              <a:rPr lang="en-US" altLang="zh-TW" dirty="0" err="1"/>
              <a:t>Gomory</a:t>
            </a:r>
            <a:r>
              <a:rPr lang="en-US" altLang="zh-TW" dirty="0"/>
              <a:t> </a:t>
            </a:r>
            <a:r>
              <a:rPr lang="en-US" altLang="zh-TW" dirty="0" smtClean="0"/>
              <a:t>cuts.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9889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16832"/>
            <a:ext cx="8830394" cy="2053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5988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End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5D91-502E-481A-A9E5-B838D63343BA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1600</Words>
  <Application>Microsoft Office PowerPoint</Application>
  <PresentationFormat>如螢幕大小 (4:3)</PresentationFormat>
  <Paragraphs>151</Paragraphs>
  <Slides>35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6" baseType="lpstr">
      <vt:lpstr>Office 佈景主題</vt:lpstr>
      <vt:lpstr>A Polyhedral Investigation of the LCS Problem and a Repetition-Free Variant</vt:lpstr>
      <vt:lpstr>Abstract (1/2)</vt:lpstr>
      <vt:lpstr>Abstract (2/2)</vt:lpstr>
      <vt:lpstr>數學家與熱氣球</vt:lpstr>
      <vt:lpstr>Polytope</vt:lpstr>
      <vt:lpstr>Transformation</vt:lpstr>
      <vt:lpstr>Example</vt:lpstr>
      <vt:lpstr>表示法</vt:lpstr>
      <vt:lpstr>LCS</vt:lpstr>
      <vt:lpstr>Proposition 1</vt:lpstr>
      <vt:lpstr>Integer Programming</vt:lpstr>
      <vt:lpstr>Facet</vt:lpstr>
      <vt:lpstr>Proposition 2</vt:lpstr>
      <vt:lpstr>Star</vt:lpstr>
      <vt:lpstr>Lemma 1</vt:lpstr>
      <vt:lpstr>Theorem 1</vt:lpstr>
      <vt:lpstr>Finding the Maximal Stars</vt:lpstr>
      <vt:lpstr>The Integrality of the LCS Polytope</vt:lpstr>
      <vt:lpstr>Repetition-Free LCS</vt:lpstr>
      <vt:lpstr>APX (approximable)</vt:lpstr>
      <vt:lpstr>Polynomial-Time Approximation Scheme (PTAS).</vt:lpstr>
      <vt:lpstr>APX-hard</vt:lpstr>
      <vt:lpstr>Formulation for the RFLCS</vt:lpstr>
      <vt:lpstr>Extended Star</vt:lpstr>
      <vt:lpstr>Example</vt:lpstr>
      <vt:lpstr>Theorem 2</vt:lpstr>
      <vt:lpstr>Finding the Violating Extended Stars</vt:lpstr>
      <vt:lpstr>Finding the Violating Extended Stars</vt:lpstr>
      <vt:lpstr>Finding the Violating Extended Stars</vt:lpstr>
      <vt:lpstr>Results</vt:lpstr>
      <vt:lpstr>Result 1</vt:lpstr>
      <vt:lpstr>Result 1</vt:lpstr>
      <vt:lpstr>Result 2</vt:lpstr>
      <vt:lpstr>Result 2</vt:lpstr>
      <vt:lpstr>End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Polyhedral Investigation of the LCS Problem and a Repetition-Free Variant</dc:title>
  <dc:creator>ab</dc:creator>
  <cp:lastModifiedBy>Guest</cp:lastModifiedBy>
  <cp:revision>39</cp:revision>
  <dcterms:created xsi:type="dcterms:W3CDTF">2012-04-29T03:11:28Z</dcterms:created>
  <dcterms:modified xsi:type="dcterms:W3CDTF">2012-05-01T11:27:35Z</dcterms:modified>
</cp:coreProperties>
</file>