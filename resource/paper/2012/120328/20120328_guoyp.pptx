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5" r:id="rId6"/>
    <p:sldId id="261" r:id="rId7"/>
    <p:sldId id="263" r:id="rId8"/>
    <p:sldId id="264" r:id="rId9"/>
    <p:sldId id="260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864" y="-5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DAB36-A031-4FF2-ABC8-70657604A8B9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C4514-D6E6-4C4A-BBDE-2D86A5D853F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6131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C4514-D6E6-4C4A-BBDE-2D86A5D853FB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77188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0242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50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8535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6554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0744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5381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5301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6893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3138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2863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6160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6D62F-0B05-47DA-91B5-D9A74004FEE6}" type="datetimeFigureOut">
              <a:rPr lang="zh-TW" altLang="en-US" smtClean="0"/>
              <a:pPr/>
              <a:t>2012/3/28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B8A31-AD51-4892-96C0-193E763E382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4794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csb.org/pdb/explore/explore.do?structureId=2OM2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/>
              <a:t>Computational Design of the Sequence</a:t>
            </a:r>
            <a:br>
              <a:rPr lang="en-US" altLang="zh-TW" sz="3200" dirty="0" smtClean="0"/>
            </a:br>
            <a:r>
              <a:rPr lang="en-US" altLang="zh-TW" sz="3200" dirty="0" smtClean="0"/>
              <a:t>and Structure of a Protein-Binding Peptide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200" dirty="0" smtClean="0">
                <a:solidFill>
                  <a:schemeClr val="tx1"/>
                </a:solidFill>
              </a:rPr>
              <a:t>Deanne W. </a:t>
            </a:r>
            <a:r>
              <a:rPr lang="en-US" altLang="zh-TW" sz="1200" dirty="0" err="1" smtClean="0">
                <a:solidFill>
                  <a:schemeClr val="tx1"/>
                </a:solidFill>
              </a:rPr>
              <a:t>Sammond</a:t>
            </a:r>
            <a:r>
              <a:rPr lang="en-US" altLang="zh-TW" sz="1200" dirty="0" smtClean="0">
                <a:solidFill>
                  <a:schemeClr val="tx1"/>
                </a:solidFill>
              </a:rPr>
              <a:t>,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†,§,^</a:t>
            </a:r>
            <a:r>
              <a:rPr lang="en-US" altLang="zh-TW" sz="1200" dirty="0" smtClean="0">
                <a:solidFill>
                  <a:schemeClr val="tx1"/>
                </a:solidFill>
              </a:rPr>
              <a:t> Dustin E. Bosch,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‡,^</a:t>
            </a:r>
            <a:r>
              <a:rPr lang="en-US" altLang="zh-TW" sz="1200" dirty="0" smtClean="0">
                <a:solidFill>
                  <a:schemeClr val="tx1"/>
                </a:solidFill>
              </a:rPr>
              <a:t> Glenn L. </a:t>
            </a:r>
            <a:r>
              <a:rPr lang="en-US" altLang="zh-TW" sz="1200" dirty="0" err="1" smtClean="0">
                <a:solidFill>
                  <a:schemeClr val="tx1"/>
                </a:solidFill>
              </a:rPr>
              <a:t>Butterfoss</a:t>
            </a:r>
            <a:r>
              <a:rPr lang="en-US" altLang="zh-TW" sz="1200" dirty="0" smtClean="0">
                <a:solidFill>
                  <a:schemeClr val="tx1"/>
                </a:solidFill>
              </a:rPr>
              <a:t>,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†,||</a:t>
            </a:r>
            <a:r>
              <a:rPr lang="en-US" altLang="zh-TW" sz="1200" dirty="0" smtClean="0">
                <a:solidFill>
                  <a:schemeClr val="tx1"/>
                </a:solidFill>
              </a:rPr>
              <a:t> Carrie Purbeck,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†</a:t>
            </a:r>
            <a:r>
              <a:rPr lang="en-US" altLang="zh-TW" sz="1200" dirty="0" smtClean="0">
                <a:solidFill>
                  <a:schemeClr val="tx1"/>
                </a:solidFill>
              </a:rPr>
              <a:t> </a:t>
            </a:r>
            <a:r>
              <a:rPr lang="en-US" altLang="zh-TW" sz="1200" dirty="0" err="1" smtClean="0">
                <a:solidFill>
                  <a:schemeClr val="tx1"/>
                </a:solidFill>
              </a:rPr>
              <a:t>Mischa</a:t>
            </a:r>
            <a:r>
              <a:rPr lang="en-US" altLang="zh-TW" sz="1200" dirty="0" smtClean="0">
                <a:solidFill>
                  <a:schemeClr val="tx1"/>
                </a:solidFill>
              </a:rPr>
              <a:t> </a:t>
            </a:r>
            <a:r>
              <a:rPr lang="en-US" altLang="zh-TW" sz="1200" dirty="0" err="1" smtClean="0">
                <a:solidFill>
                  <a:schemeClr val="tx1"/>
                </a:solidFill>
              </a:rPr>
              <a:t>Machius</a:t>
            </a:r>
            <a:r>
              <a:rPr lang="en-US" altLang="zh-TW" sz="1200" dirty="0" smtClean="0">
                <a:solidFill>
                  <a:schemeClr val="tx1"/>
                </a:solidFill>
              </a:rPr>
              <a:t>,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‡</a:t>
            </a:r>
            <a:r>
              <a:rPr lang="en-US" altLang="zh-TW" sz="1200" dirty="0" smtClean="0">
                <a:solidFill>
                  <a:schemeClr val="tx1"/>
                </a:solidFill>
              </a:rPr>
              <a:t> David P. </a:t>
            </a:r>
            <a:r>
              <a:rPr lang="en-US" altLang="zh-TW" sz="1200" dirty="0" err="1" smtClean="0">
                <a:solidFill>
                  <a:schemeClr val="tx1"/>
                </a:solidFill>
              </a:rPr>
              <a:t>Siderovski</a:t>
            </a:r>
            <a:r>
              <a:rPr lang="en-US" altLang="zh-TW" sz="1200" dirty="0" smtClean="0">
                <a:solidFill>
                  <a:schemeClr val="tx1"/>
                </a:solidFill>
              </a:rPr>
              <a:t>,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‡</a:t>
            </a:r>
            <a:r>
              <a:rPr lang="en-US" altLang="zh-TW" sz="1200" dirty="0" smtClean="0">
                <a:solidFill>
                  <a:schemeClr val="tx1"/>
                </a:solidFill>
              </a:rPr>
              <a:t> and Brian Kuhlman 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†,*</a:t>
            </a:r>
          </a:p>
          <a:p>
            <a:r>
              <a:rPr lang="en-US" altLang="zh-TW" sz="1200" baseline="30000" dirty="0" smtClean="0">
                <a:solidFill>
                  <a:schemeClr val="tx1"/>
                </a:solidFill>
              </a:rPr>
              <a:t>†</a:t>
            </a:r>
            <a:r>
              <a:rPr lang="en-US" altLang="zh-TW" sz="1200" dirty="0" smtClean="0">
                <a:solidFill>
                  <a:schemeClr val="tx1"/>
                </a:solidFill>
              </a:rPr>
              <a:t>Department of Biochemistry and Biophysics, University of North Carolina, Chapel Hill, North Carolina 27599-7260, United States </a:t>
            </a:r>
            <a:r>
              <a:rPr lang="en-US" altLang="zh-TW" sz="1200" baseline="30000" dirty="0" smtClean="0">
                <a:solidFill>
                  <a:schemeClr val="tx1"/>
                </a:solidFill>
              </a:rPr>
              <a:t>‡</a:t>
            </a:r>
            <a:r>
              <a:rPr lang="en-US" altLang="zh-TW" sz="1200" dirty="0" smtClean="0">
                <a:solidFill>
                  <a:schemeClr val="tx1"/>
                </a:solidFill>
              </a:rPr>
              <a:t>Department of Pharmacology, University of North Carolina, Chapel Hill, North Carolina 27599-7365, United States</a:t>
            </a:r>
          </a:p>
          <a:p>
            <a:r>
              <a:rPr lang="en-US" altLang="zh-TW" sz="1200" dirty="0" smtClean="0">
                <a:solidFill>
                  <a:schemeClr val="tx1"/>
                </a:solidFill>
              </a:rPr>
              <a:t>Journal of The American Chemical Society 2011, 133, 4190-4192</a:t>
            </a:r>
          </a:p>
          <a:p>
            <a:r>
              <a:rPr lang="en-US" altLang="zh-TW" sz="1200" dirty="0" smtClean="0">
                <a:solidFill>
                  <a:schemeClr val="tx1"/>
                </a:solidFill>
              </a:rPr>
              <a:t>Presenter: Yi-</a:t>
            </a:r>
            <a:r>
              <a:rPr lang="en-US" altLang="zh-TW" sz="1200" dirty="0" err="1" smtClean="0">
                <a:solidFill>
                  <a:schemeClr val="tx1"/>
                </a:solidFill>
              </a:rPr>
              <a:t>Pu</a:t>
            </a:r>
            <a:r>
              <a:rPr lang="en-US" altLang="zh-TW" sz="1200" dirty="0" smtClean="0">
                <a:solidFill>
                  <a:schemeClr val="tx1"/>
                </a:solidFill>
              </a:rPr>
              <a:t> </a:t>
            </a:r>
            <a:r>
              <a:rPr lang="en-US" altLang="zh-TW" sz="1200" dirty="0" err="1" smtClean="0">
                <a:solidFill>
                  <a:schemeClr val="tx1"/>
                </a:solidFill>
              </a:rPr>
              <a:t>Guo</a:t>
            </a:r>
            <a:endParaRPr lang="en-US" altLang="zh-TW" sz="1200" dirty="0" smtClean="0">
              <a:solidFill>
                <a:schemeClr val="tx1"/>
              </a:solidFill>
            </a:endParaRPr>
          </a:p>
          <a:p>
            <a:r>
              <a:rPr lang="en-US" altLang="zh-TW" sz="1200" dirty="0" smtClean="0">
                <a:solidFill>
                  <a:schemeClr val="tx1"/>
                </a:solidFill>
              </a:rPr>
              <a:t>2012-03-28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074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buNone/>
            </a:pPr>
            <a:r>
              <a:rPr lang="en-US" altLang="zh-TW" sz="2000" dirty="0" smtClean="0"/>
              <a:t>The de novo design of protein-binding peptides is challenging because it requires the identification of both a sequence and a backbone conformation favorable for binding. We used a computational strategy that iterates between structure and sequence optimization to redesign the C-terminal portion of the RGS14 </a:t>
            </a:r>
            <a:r>
              <a:rPr lang="en-US" altLang="zh-TW" sz="2000" dirty="0" err="1" smtClean="0"/>
              <a:t>GoLoco</a:t>
            </a:r>
            <a:r>
              <a:rPr lang="en-US" altLang="zh-TW" sz="2000" dirty="0" smtClean="0"/>
              <a:t> motif peptide so that it adopts a new conformation when bound to G</a:t>
            </a:r>
            <a:r>
              <a:rPr lang="el-GR" altLang="zh-TW" sz="2000" dirty="0" smtClean="0"/>
              <a:t>α</a:t>
            </a:r>
            <a:r>
              <a:rPr lang="en-US" altLang="zh-TW" sz="2000" baseline="-25000" dirty="0" smtClean="0"/>
              <a:t>i1</a:t>
            </a:r>
            <a:r>
              <a:rPr lang="en-US" altLang="zh-TW" sz="2000" dirty="0" smtClean="0"/>
              <a:t>. An X-ray crystal structure of the redesigned complex closely matches the computational model, with a backbone </a:t>
            </a:r>
            <a:r>
              <a:rPr lang="en-US" altLang="zh-TW" sz="2000" dirty="0" err="1" smtClean="0"/>
              <a:t>rootmean</a:t>
            </a:r>
            <a:r>
              <a:rPr lang="en-US" altLang="zh-TW" sz="2000" dirty="0" smtClean="0"/>
              <a:t>-square deviation of 1.1 Å.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43644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4680" y="235842"/>
            <a:ext cx="4027320" cy="6386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4716016" y="1505381"/>
            <a:ext cx="4176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(a) Crystal </a:t>
            </a:r>
            <a:r>
              <a:rPr lang="en-US" altLang="zh-TW" dirty="0" smtClean="0"/>
              <a:t>structure of </a:t>
            </a:r>
            <a:r>
              <a:rPr lang="en-US" altLang="zh-TW" dirty="0"/>
              <a:t>the wild-type RGS14 </a:t>
            </a:r>
            <a:r>
              <a:rPr lang="en-US" altLang="zh-TW" dirty="0" err="1"/>
              <a:t>GoLoco</a:t>
            </a:r>
            <a:r>
              <a:rPr lang="en-US" altLang="zh-TW" dirty="0"/>
              <a:t> motif peptide bound to </a:t>
            </a:r>
            <a:r>
              <a:rPr lang="en-US" altLang="zh-TW" dirty="0" smtClean="0"/>
              <a:t>G</a:t>
            </a:r>
            <a:r>
              <a:rPr lang="el-GR" altLang="zh-TW" dirty="0" smtClean="0"/>
              <a:t>α</a:t>
            </a:r>
            <a:r>
              <a:rPr lang="en-US" altLang="zh-TW" baseline="-25000" dirty="0" smtClean="0"/>
              <a:t>i1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4716016" y="4324454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(b</a:t>
            </a:r>
            <a:r>
              <a:rPr lang="en-US" altLang="zh-TW" dirty="0" smtClean="0"/>
              <a:t>) Model </a:t>
            </a:r>
            <a:r>
              <a:rPr lang="en-US" altLang="zh-TW" dirty="0"/>
              <a:t>of the redesigned </a:t>
            </a:r>
            <a:r>
              <a:rPr lang="en-US" altLang="zh-TW" dirty="0" err="1"/>
              <a:t>GoLoco</a:t>
            </a:r>
            <a:r>
              <a:rPr lang="en-US" altLang="zh-TW" dirty="0"/>
              <a:t> motif, GL</a:t>
            </a:r>
            <a:r>
              <a:rPr lang="en-US" altLang="zh-TW" baseline="-25000" dirty="0"/>
              <a:t>helix</a:t>
            </a:r>
            <a:r>
              <a:rPr lang="en-US" altLang="zh-TW" dirty="0"/>
              <a:t>-4, bound to </a:t>
            </a:r>
            <a:r>
              <a:rPr lang="en-US" altLang="zh-TW" dirty="0" smtClean="0"/>
              <a:t>G</a:t>
            </a:r>
            <a:r>
              <a:rPr lang="el-GR" altLang="zh-TW" dirty="0" smtClean="0"/>
              <a:t>α</a:t>
            </a:r>
            <a:r>
              <a:rPr lang="en-US" altLang="zh-TW" baseline="-25000" dirty="0" smtClean="0"/>
              <a:t>i1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524328" y="404664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pdb</a:t>
            </a:r>
            <a:r>
              <a:rPr lang="en-US" altLang="zh-TW" dirty="0"/>
              <a:t>: </a:t>
            </a:r>
            <a:r>
              <a:rPr lang="en-US" altLang="zh-TW" dirty="0">
                <a:hlinkClick r:id="rId3"/>
              </a:rPr>
              <a:t>2OM2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96738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/>
              <a:t>The backbone conformation of the </a:t>
            </a:r>
            <a:r>
              <a:rPr lang="en-US" altLang="zh-TW" sz="2400" dirty="0" err="1"/>
              <a:t>GoLoco</a:t>
            </a:r>
            <a:r>
              <a:rPr lang="en-US" altLang="zh-TW" sz="2400" dirty="0"/>
              <a:t> motif C-terminus was rebuilt using a </a:t>
            </a:r>
            <a:r>
              <a:rPr lang="en-US" altLang="zh-TW" sz="2400" b="1" dirty="0"/>
              <a:t>fragment assembly protocol </a:t>
            </a:r>
            <a:r>
              <a:rPr lang="en-US" altLang="zh-TW" sz="2400" dirty="0"/>
              <a:t>with helical </a:t>
            </a:r>
            <a:r>
              <a:rPr lang="en-US" altLang="zh-TW" sz="2400" dirty="0" smtClean="0"/>
              <a:t>fragments </a:t>
            </a:r>
            <a:r>
              <a:rPr lang="en-US" altLang="zh-TW" sz="2400" dirty="0"/>
              <a:t>from the Protein Data Bank</a:t>
            </a:r>
            <a:r>
              <a:rPr lang="en-US" altLang="zh-TW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TW" sz="2400" dirty="0"/>
              <a:t>A </a:t>
            </a:r>
            <a:r>
              <a:rPr lang="en-US" altLang="zh-TW" sz="2400" b="1" dirty="0" smtClean="0"/>
              <a:t>low-resolution score </a:t>
            </a:r>
            <a:r>
              <a:rPr lang="en-US" altLang="zh-TW" sz="2400" b="1" dirty="0"/>
              <a:t>function </a:t>
            </a:r>
            <a:r>
              <a:rPr lang="en-US" altLang="zh-TW" sz="2400" dirty="0"/>
              <a:t>was used to </a:t>
            </a:r>
            <a:r>
              <a:rPr lang="en-US" altLang="zh-TW" sz="2400" dirty="0" smtClean="0"/>
              <a:t>prevent</a:t>
            </a:r>
            <a:br>
              <a:rPr lang="en-US" altLang="zh-TW" sz="2400" dirty="0" smtClean="0"/>
            </a:br>
            <a:r>
              <a:rPr lang="en-US" altLang="zh-TW" sz="2400" dirty="0" smtClean="0"/>
              <a:t>steric</a:t>
            </a:r>
            <a:r>
              <a:rPr lang="zh-TW" altLang="en-US" sz="1800" dirty="0" smtClean="0"/>
              <a:t>立體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overlap with </a:t>
            </a:r>
            <a:r>
              <a:rPr lang="en-US" altLang="zh-TW" sz="2400" dirty="0" smtClean="0"/>
              <a:t>G</a:t>
            </a:r>
            <a:r>
              <a:rPr lang="el-GR" altLang="zh-TW" sz="2400" dirty="0" smtClean="0"/>
              <a:t>α</a:t>
            </a:r>
            <a:r>
              <a:rPr lang="en-US" altLang="zh-TW" sz="2400" baseline="-25000" dirty="0" smtClean="0"/>
              <a:t>i1</a:t>
            </a:r>
            <a:r>
              <a:rPr lang="en-US" altLang="zh-TW" sz="2400" dirty="0" smtClean="0"/>
              <a:t> and favor </a:t>
            </a:r>
            <a:r>
              <a:rPr lang="en-US" altLang="zh-TW" sz="2400" dirty="0"/>
              <a:t>the burial of </a:t>
            </a:r>
            <a:r>
              <a:rPr lang="en-US" altLang="zh-TW" sz="2400" dirty="0" smtClean="0"/>
              <a:t>hydrophobic</a:t>
            </a:r>
            <a:r>
              <a:rPr lang="zh-TW" altLang="en-US" sz="1800" dirty="0"/>
              <a:t>疏</a:t>
            </a:r>
            <a:r>
              <a:rPr lang="zh-TW" altLang="en-US" sz="1800" dirty="0" smtClean="0"/>
              <a:t>水</a:t>
            </a:r>
            <a:r>
              <a:rPr lang="en-US" altLang="zh-TW" sz="2400" dirty="0" smtClean="0"/>
              <a:t> residues.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3712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Low-resolution models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o </a:t>
            </a:r>
            <a:r>
              <a:rPr lang="en-US" altLang="zh-TW" dirty="0"/>
              <a:t>get a three-dimensional structure from an one-dimensional scattering pattern. 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2774" y="309146"/>
            <a:ext cx="5038453" cy="4632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38105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smtClean="0"/>
              <a:t>Each of the starting structures was optimized with four rounds of sequence design followed by backbone and side-chain minimization with a </a:t>
            </a:r>
            <a:r>
              <a:rPr lang="en-US" altLang="zh-TW" sz="2400" b="1" dirty="0" smtClean="0"/>
              <a:t>high-resolution score function</a:t>
            </a:r>
            <a:r>
              <a:rPr lang="en-US" altLang="zh-TW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TW" sz="2400" dirty="0" smtClean="0"/>
              <a:t>Evaluated: </a:t>
            </a:r>
            <a:r>
              <a:rPr lang="en-US" altLang="zh-TW" sz="2400" dirty="0"/>
              <a:t>van der Waals contacts, hydrogen bonding, </a:t>
            </a:r>
            <a:r>
              <a:rPr lang="en-US" altLang="zh-TW" sz="2400" dirty="0" err="1"/>
              <a:t>desolvation</a:t>
            </a:r>
            <a:r>
              <a:rPr lang="en-US" altLang="zh-TW" sz="2400" dirty="0"/>
              <a:t> energies, backbone and side-chain torsion potentials, and residue-</a:t>
            </a:r>
            <a:r>
              <a:rPr lang="en-US" altLang="zh-TW" sz="2400" dirty="0" err="1"/>
              <a:t>typebased</a:t>
            </a:r>
            <a:r>
              <a:rPr lang="en-US" altLang="zh-TW" sz="2400" dirty="0"/>
              <a:t> reference energies.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989643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/>
              <a:t>Sequence optimization was </a:t>
            </a:r>
            <a:r>
              <a:rPr lang="en-US" altLang="zh-TW" sz="2400" dirty="0" smtClean="0"/>
              <a:t>performed using </a:t>
            </a:r>
            <a:r>
              <a:rPr lang="en-US" altLang="zh-TW" sz="2400" dirty="0"/>
              <a:t>a </a:t>
            </a:r>
            <a:r>
              <a:rPr lang="en-US" altLang="zh-TW" sz="2400" b="1" dirty="0"/>
              <a:t>simulated </a:t>
            </a:r>
            <a:r>
              <a:rPr lang="en-US" altLang="zh-TW" sz="2400" b="1" dirty="0" smtClean="0"/>
              <a:t>annealing</a:t>
            </a:r>
            <a:r>
              <a:rPr lang="zh-TW" altLang="en-US" sz="1800" b="1" dirty="0" smtClean="0"/>
              <a:t>退火 </a:t>
            </a:r>
            <a:r>
              <a:rPr lang="en-US" altLang="zh-TW" sz="2400" b="1" dirty="0" smtClean="0"/>
              <a:t>protocol</a:t>
            </a:r>
            <a:r>
              <a:rPr lang="en-US" altLang="zh-TW" sz="2400" dirty="0" smtClean="0"/>
              <a:t>.</a:t>
            </a:r>
            <a:endParaRPr lang="en-US" altLang="zh-TW" sz="2400" dirty="0"/>
          </a:p>
          <a:p>
            <a:pPr>
              <a:lnSpc>
                <a:spcPct val="150000"/>
              </a:lnSpc>
            </a:pPr>
            <a:r>
              <a:rPr lang="en-US" altLang="zh-TW" sz="2400" dirty="0"/>
              <a:t>Backbone and side-chain torsion angle minimization used a </a:t>
            </a:r>
            <a:r>
              <a:rPr lang="en-US" altLang="zh-TW" sz="2400" b="1" dirty="0"/>
              <a:t>gradient-based quasi-Newtonian method</a:t>
            </a:r>
            <a:r>
              <a:rPr lang="en-US" altLang="zh-TW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73126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 smtClean="0"/>
              <a:t>After </a:t>
            </a:r>
            <a:r>
              <a:rPr lang="en-US" altLang="zh-TW" sz="2400" b="1" dirty="0"/>
              <a:t>four</a:t>
            </a:r>
            <a:r>
              <a:rPr lang="en-US" altLang="zh-TW" sz="2400" dirty="0"/>
              <a:t> rounds of sequence design followed by </a:t>
            </a:r>
            <a:r>
              <a:rPr lang="en-US" altLang="zh-TW" sz="2400" dirty="0" smtClean="0"/>
              <a:t>backbone refinement</a:t>
            </a:r>
            <a:r>
              <a:rPr lang="en-US" altLang="zh-TW" sz="2400" dirty="0"/>
              <a:t>, the energies of the models stopped decreasing</a:t>
            </a:r>
            <a:r>
              <a:rPr lang="en-US" altLang="zh-TW" sz="2400" dirty="0" smtClean="0"/>
              <a:t>, suggesting </a:t>
            </a:r>
            <a:r>
              <a:rPr lang="en-US" altLang="zh-TW" sz="2400" dirty="0"/>
              <a:t>that most of the sequence/structure </a:t>
            </a:r>
            <a:r>
              <a:rPr lang="en-US" altLang="zh-TW" sz="2400" dirty="0" smtClean="0"/>
              <a:t>combinations were </a:t>
            </a:r>
            <a:r>
              <a:rPr lang="en-US" altLang="zh-TW" sz="2400" dirty="0"/>
              <a:t>trapped in local minima on the energy landscape.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44480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Such capabilities represent important steps toward the full de novo design of </a:t>
            </a:r>
            <a:r>
              <a:rPr lang="en-US" altLang="zh-TW" dirty="0" smtClean="0"/>
              <a:t>peptide-protein </a:t>
            </a:r>
            <a:r>
              <a:rPr lang="en-US" altLang="zh-TW" dirty="0"/>
              <a:t>interactions</a:t>
            </a:r>
            <a:r>
              <a:rPr lang="en-US" altLang="zh-TW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TW" sz="2400" dirty="0"/>
              <a:t>In this study, we designed an </a:t>
            </a:r>
            <a:r>
              <a:rPr lang="el-GR" altLang="zh-TW" sz="2400" dirty="0" smtClean="0"/>
              <a:t>α</a:t>
            </a:r>
            <a:r>
              <a:rPr lang="en-US" altLang="zh-TW" sz="2400" dirty="0" smtClean="0"/>
              <a:t>-helical </a:t>
            </a:r>
            <a:r>
              <a:rPr lang="en-US" altLang="zh-TW" sz="2400" dirty="0"/>
              <a:t>peptide to bind to a hydrophobic groove and therefore did not need to consider hydrogen bonds across the interface.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4152327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420</Words>
  <Application>Microsoft Office PowerPoint</Application>
  <PresentationFormat>如螢幕大小 (4:3)</PresentationFormat>
  <Paragraphs>28</Paragraphs>
  <Slides>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Computational Design of the Sequence and Structure of a Protein-Binding Peptide</vt:lpstr>
      <vt:lpstr>Abstract</vt:lpstr>
      <vt:lpstr>投影片 3</vt:lpstr>
      <vt:lpstr>Method</vt:lpstr>
      <vt:lpstr>Low-resolution models</vt:lpstr>
      <vt:lpstr>Method</vt:lpstr>
      <vt:lpstr>Method</vt:lpstr>
      <vt:lpstr>Method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Design of the Sequence and Structure of a Protein-Binding Peptide</dc:title>
  <dc:creator>YiPo</dc:creator>
  <cp:lastModifiedBy>.</cp:lastModifiedBy>
  <cp:revision>9</cp:revision>
  <dcterms:created xsi:type="dcterms:W3CDTF">2012-03-28T08:44:01Z</dcterms:created>
  <dcterms:modified xsi:type="dcterms:W3CDTF">2012-03-28T10:43:41Z</dcterms:modified>
</cp:coreProperties>
</file>