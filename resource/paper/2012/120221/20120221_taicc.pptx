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charts/chart6.xml" ContentType="application/vnd.openxmlformats-officedocument.drawingml.chart+xml"/>
  <Default Extension="xlsx" ContentType="application/vnd.openxmlformats-officedocument.spreadsheetml.sheet"/>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7" r:id="rId2"/>
    <p:sldId id="258" r:id="rId3"/>
    <p:sldId id="269" r:id="rId4"/>
    <p:sldId id="270" r:id="rId5"/>
    <p:sldId id="284" r:id="rId6"/>
    <p:sldId id="271" r:id="rId7"/>
    <p:sldId id="272" r:id="rId8"/>
    <p:sldId id="273" r:id="rId9"/>
    <p:sldId id="274" r:id="rId10"/>
    <p:sldId id="275" r:id="rId11"/>
    <p:sldId id="276" r:id="rId12"/>
    <p:sldId id="277" r:id="rId13"/>
    <p:sldId id="278" r:id="rId14"/>
    <p:sldId id="279" r:id="rId15"/>
    <p:sldId id="280" r:id="rId16"/>
    <p:sldId id="281" r:id="rId17"/>
    <p:sldId id="282" r:id="rId18"/>
    <p:sldId id="283" r:id="rId19"/>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289" autoAdjust="0"/>
    <p:restoredTop sz="89482" autoAdjust="0"/>
  </p:normalViewPr>
  <p:slideViewPr>
    <p:cSldViewPr>
      <p:cViewPr varScale="1">
        <p:scale>
          <a:sx n="77" d="100"/>
          <a:sy n="77" d="100"/>
        </p:scale>
        <p:origin x="-228"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Office_Excel____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Office_Excel____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Office_Excel____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Office_Excel____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Office_Excel____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Office_Excel____6.xlsx"/></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zh-TW"/>
  <c:chart>
    <c:plotArea>
      <c:layout/>
      <c:barChart>
        <c:barDir val="col"/>
        <c:grouping val="clustered"/>
        <c:ser>
          <c:idx val="0"/>
          <c:order val="0"/>
          <c:tx>
            <c:strRef>
              <c:f>Tabelle1!$B$1</c:f>
              <c:strCache>
                <c:ptCount val="1"/>
                <c:pt idx="0">
                  <c:v>Datenreihe 1</c:v>
                </c:pt>
              </c:strCache>
            </c:strRef>
          </c:tx>
          <c:cat>
            <c:strRef>
              <c:f>Tabelle1!$A$2</c:f>
              <c:strCache>
                <c:ptCount val="1"/>
                <c:pt idx="0">
                  <c:v>Kategorie 1</c:v>
                </c:pt>
              </c:strCache>
            </c:strRef>
          </c:cat>
          <c:val>
            <c:numRef>
              <c:f>Tabelle1!$B$2</c:f>
              <c:numCache>
                <c:formatCode>General</c:formatCode>
                <c:ptCount val="1"/>
                <c:pt idx="0">
                  <c:v>4.3</c:v>
                </c:pt>
              </c:numCache>
            </c:numRef>
          </c:val>
        </c:ser>
        <c:ser>
          <c:idx val="1"/>
          <c:order val="1"/>
          <c:tx>
            <c:strRef>
              <c:f>Tabelle1!$C$1</c:f>
              <c:strCache>
                <c:ptCount val="1"/>
                <c:pt idx="0">
                  <c:v>Datenreihe 2</c:v>
                </c:pt>
              </c:strCache>
            </c:strRef>
          </c:tx>
          <c:cat>
            <c:strRef>
              <c:f>Tabelle1!$A$2</c:f>
              <c:strCache>
                <c:ptCount val="1"/>
                <c:pt idx="0">
                  <c:v>Kategorie 1</c:v>
                </c:pt>
              </c:strCache>
            </c:strRef>
          </c:cat>
          <c:val>
            <c:numRef>
              <c:f>Tabelle1!$C$2</c:f>
              <c:numCache>
                <c:formatCode>General</c:formatCode>
                <c:ptCount val="1"/>
                <c:pt idx="0">
                  <c:v>2.4</c:v>
                </c:pt>
              </c:numCache>
            </c:numRef>
          </c:val>
        </c:ser>
        <c:ser>
          <c:idx val="2"/>
          <c:order val="2"/>
          <c:tx>
            <c:strRef>
              <c:f>Tabelle1!$D$1</c:f>
              <c:strCache>
                <c:ptCount val="1"/>
                <c:pt idx="0">
                  <c:v>Datenreihe 3</c:v>
                </c:pt>
              </c:strCache>
            </c:strRef>
          </c:tx>
          <c:cat>
            <c:strRef>
              <c:f>Tabelle1!$A$2</c:f>
              <c:strCache>
                <c:ptCount val="1"/>
                <c:pt idx="0">
                  <c:v>Kategorie 1</c:v>
                </c:pt>
              </c:strCache>
            </c:strRef>
          </c:cat>
          <c:val>
            <c:numRef>
              <c:f>Tabelle1!$D$2</c:f>
              <c:numCache>
                <c:formatCode>General</c:formatCode>
                <c:ptCount val="1"/>
                <c:pt idx="0">
                  <c:v>5</c:v>
                </c:pt>
              </c:numCache>
            </c:numRef>
          </c:val>
        </c:ser>
        <c:ser>
          <c:idx val="3"/>
          <c:order val="3"/>
          <c:tx>
            <c:strRef>
              <c:f>Tabelle1!$E$1</c:f>
              <c:strCache>
                <c:ptCount val="1"/>
                <c:pt idx="0">
                  <c:v>Datenreihe 4</c:v>
                </c:pt>
              </c:strCache>
            </c:strRef>
          </c:tx>
          <c:cat>
            <c:strRef>
              <c:f>Tabelle1!$A$2</c:f>
              <c:strCache>
                <c:ptCount val="1"/>
                <c:pt idx="0">
                  <c:v>Kategorie 1</c:v>
                </c:pt>
              </c:strCache>
            </c:strRef>
          </c:cat>
          <c:val>
            <c:numRef>
              <c:f>Tabelle1!$E$2</c:f>
              <c:numCache>
                <c:formatCode>General</c:formatCode>
                <c:ptCount val="1"/>
                <c:pt idx="0">
                  <c:v>6</c:v>
                </c:pt>
              </c:numCache>
            </c:numRef>
          </c:val>
        </c:ser>
        <c:ser>
          <c:idx val="4"/>
          <c:order val="4"/>
          <c:tx>
            <c:strRef>
              <c:f>Tabelle1!$F$1</c:f>
              <c:strCache>
                <c:ptCount val="1"/>
                <c:pt idx="0">
                  <c:v>Datenreihe 5</c:v>
                </c:pt>
              </c:strCache>
            </c:strRef>
          </c:tx>
          <c:cat>
            <c:strRef>
              <c:f>Tabelle1!$A$2</c:f>
              <c:strCache>
                <c:ptCount val="1"/>
                <c:pt idx="0">
                  <c:v>Kategorie 1</c:v>
                </c:pt>
              </c:strCache>
            </c:strRef>
          </c:cat>
          <c:val>
            <c:numRef>
              <c:f>Tabelle1!$F$2</c:f>
              <c:numCache>
                <c:formatCode>General</c:formatCode>
                <c:ptCount val="1"/>
                <c:pt idx="0">
                  <c:v>2</c:v>
                </c:pt>
              </c:numCache>
            </c:numRef>
          </c:val>
        </c:ser>
        <c:ser>
          <c:idx val="5"/>
          <c:order val="5"/>
          <c:tx>
            <c:strRef>
              <c:f>Tabelle1!$G$1</c:f>
              <c:strCache>
                <c:ptCount val="1"/>
                <c:pt idx="0">
                  <c:v>Datenreihe 6</c:v>
                </c:pt>
              </c:strCache>
            </c:strRef>
          </c:tx>
          <c:cat>
            <c:strRef>
              <c:f>Tabelle1!$A$2</c:f>
              <c:strCache>
                <c:ptCount val="1"/>
                <c:pt idx="0">
                  <c:v>Kategorie 1</c:v>
                </c:pt>
              </c:strCache>
            </c:strRef>
          </c:cat>
          <c:val>
            <c:numRef>
              <c:f>Tabelle1!$G$2</c:f>
              <c:numCache>
                <c:formatCode>General</c:formatCode>
                <c:ptCount val="1"/>
                <c:pt idx="0">
                  <c:v>6</c:v>
                </c:pt>
              </c:numCache>
            </c:numRef>
          </c:val>
        </c:ser>
        <c:ser>
          <c:idx val="6"/>
          <c:order val="6"/>
          <c:tx>
            <c:strRef>
              <c:f>Tabelle1!$H$1</c:f>
              <c:strCache>
                <c:ptCount val="1"/>
                <c:pt idx="0">
                  <c:v>Datenreihe 7</c:v>
                </c:pt>
              </c:strCache>
            </c:strRef>
          </c:tx>
          <c:cat>
            <c:strRef>
              <c:f>Tabelle1!$A$2</c:f>
              <c:strCache>
                <c:ptCount val="1"/>
                <c:pt idx="0">
                  <c:v>Kategorie 1</c:v>
                </c:pt>
              </c:strCache>
            </c:strRef>
          </c:cat>
          <c:val>
            <c:numRef>
              <c:f>Tabelle1!$H$2</c:f>
              <c:numCache>
                <c:formatCode>General</c:formatCode>
                <c:ptCount val="1"/>
                <c:pt idx="0">
                  <c:v>4</c:v>
                </c:pt>
              </c:numCache>
            </c:numRef>
          </c:val>
        </c:ser>
        <c:ser>
          <c:idx val="7"/>
          <c:order val="7"/>
          <c:tx>
            <c:strRef>
              <c:f>Tabelle1!$I$1</c:f>
              <c:strCache>
                <c:ptCount val="1"/>
                <c:pt idx="0">
                  <c:v>Datenreihe 8</c:v>
                </c:pt>
              </c:strCache>
            </c:strRef>
          </c:tx>
          <c:cat>
            <c:strRef>
              <c:f>Tabelle1!$A$2</c:f>
              <c:strCache>
                <c:ptCount val="1"/>
                <c:pt idx="0">
                  <c:v>Kategorie 1</c:v>
                </c:pt>
              </c:strCache>
            </c:strRef>
          </c:cat>
          <c:val>
            <c:numRef>
              <c:f>Tabelle1!$I$2</c:f>
              <c:numCache>
                <c:formatCode>General</c:formatCode>
                <c:ptCount val="1"/>
                <c:pt idx="0">
                  <c:v>1</c:v>
                </c:pt>
              </c:numCache>
            </c:numRef>
          </c:val>
        </c:ser>
        <c:ser>
          <c:idx val="8"/>
          <c:order val="8"/>
          <c:tx>
            <c:strRef>
              <c:f>Tabelle1!$J$1</c:f>
              <c:strCache>
                <c:ptCount val="1"/>
                <c:pt idx="0">
                  <c:v>Datenreihe 9</c:v>
                </c:pt>
              </c:strCache>
            </c:strRef>
          </c:tx>
          <c:cat>
            <c:strRef>
              <c:f>Tabelle1!$A$2</c:f>
              <c:strCache>
                <c:ptCount val="1"/>
                <c:pt idx="0">
                  <c:v>Kategorie 1</c:v>
                </c:pt>
              </c:strCache>
            </c:strRef>
          </c:cat>
          <c:val>
            <c:numRef>
              <c:f>Tabelle1!$J$2</c:f>
              <c:numCache>
                <c:formatCode>General</c:formatCode>
                <c:ptCount val="1"/>
                <c:pt idx="0">
                  <c:v>5</c:v>
                </c:pt>
              </c:numCache>
            </c:numRef>
          </c:val>
        </c:ser>
        <c:ser>
          <c:idx val="9"/>
          <c:order val="9"/>
          <c:tx>
            <c:strRef>
              <c:f>Tabelle1!$K$1</c:f>
              <c:strCache>
                <c:ptCount val="1"/>
                <c:pt idx="0">
                  <c:v>Datenreihe 10</c:v>
                </c:pt>
              </c:strCache>
            </c:strRef>
          </c:tx>
          <c:cat>
            <c:strRef>
              <c:f>Tabelle1!$A$2</c:f>
              <c:strCache>
                <c:ptCount val="1"/>
                <c:pt idx="0">
                  <c:v>Kategorie 1</c:v>
                </c:pt>
              </c:strCache>
            </c:strRef>
          </c:cat>
          <c:val>
            <c:numRef>
              <c:f>Tabelle1!$K$2</c:f>
              <c:numCache>
                <c:formatCode>General</c:formatCode>
                <c:ptCount val="1"/>
                <c:pt idx="0">
                  <c:v>6</c:v>
                </c:pt>
              </c:numCache>
            </c:numRef>
          </c:val>
        </c:ser>
        <c:ser>
          <c:idx val="10"/>
          <c:order val="10"/>
          <c:tx>
            <c:strRef>
              <c:f>Tabelle1!$L$1</c:f>
              <c:strCache>
                <c:ptCount val="1"/>
                <c:pt idx="0">
                  <c:v>Datenreihe 11</c:v>
                </c:pt>
              </c:strCache>
            </c:strRef>
          </c:tx>
          <c:cat>
            <c:strRef>
              <c:f>Tabelle1!$A$2</c:f>
              <c:strCache>
                <c:ptCount val="1"/>
                <c:pt idx="0">
                  <c:v>Kategorie 1</c:v>
                </c:pt>
              </c:strCache>
            </c:strRef>
          </c:cat>
          <c:val>
            <c:numRef>
              <c:f>Tabelle1!$L$2</c:f>
              <c:numCache>
                <c:formatCode>General</c:formatCode>
                <c:ptCount val="1"/>
                <c:pt idx="0">
                  <c:v>3</c:v>
                </c:pt>
              </c:numCache>
            </c:numRef>
          </c:val>
        </c:ser>
        <c:ser>
          <c:idx val="11"/>
          <c:order val="11"/>
          <c:tx>
            <c:strRef>
              <c:f>Tabelle1!$M$1</c:f>
              <c:strCache>
                <c:ptCount val="1"/>
                <c:pt idx="0">
                  <c:v>Datenreihe 12</c:v>
                </c:pt>
              </c:strCache>
            </c:strRef>
          </c:tx>
          <c:cat>
            <c:strRef>
              <c:f>Tabelle1!$A$2</c:f>
              <c:strCache>
                <c:ptCount val="1"/>
                <c:pt idx="0">
                  <c:v>Kategorie 1</c:v>
                </c:pt>
              </c:strCache>
            </c:strRef>
          </c:cat>
          <c:val>
            <c:numRef>
              <c:f>Tabelle1!$M$2</c:f>
              <c:numCache>
                <c:formatCode>General</c:formatCode>
                <c:ptCount val="1"/>
                <c:pt idx="0">
                  <c:v>2</c:v>
                </c:pt>
              </c:numCache>
            </c:numRef>
          </c:val>
        </c:ser>
        <c:ser>
          <c:idx val="12"/>
          <c:order val="12"/>
          <c:tx>
            <c:strRef>
              <c:f>Tabelle1!$N$1</c:f>
              <c:strCache>
                <c:ptCount val="1"/>
                <c:pt idx="0">
                  <c:v>Datenreihe 13</c:v>
                </c:pt>
              </c:strCache>
            </c:strRef>
          </c:tx>
          <c:cat>
            <c:strRef>
              <c:f>Tabelle1!$A$2</c:f>
              <c:strCache>
                <c:ptCount val="1"/>
                <c:pt idx="0">
                  <c:v>Kategorie 1</c:v>
                </c:pt>
              </c:strCache>
            </c:strRef>
          </c:cat>
          <c:val>
            <c:numRef>
              <c:f>Tabelle1!$N$2</c:f>
              <c:numCache>
                <c:formatCode>General</c:formatCode>
                <c:ptCount val="1"/>
                <c:pt idx="0">
                  <c:v>1</c:v>
                </c:pt>
              </c:numCache>
            </c:numRef>
          </c:val>
        </c:ser>
        <c:ser>
          <c:idx val="13"/>
          <c:order val="13"/>
          <c:tx>
            <c:strRef>
              <c:f>Tabelle1!$O$1</c:f>
              <c:strCache>
                <c:ptCount val="1"/>
                <c:pt idx="0">
                  <c:v>Datenreihe 14</c:v>
                </c:pt>
              </c:strCache>
            </c:strRef>
          </c:tx>
          <c:cat>
            <c:strRef>
              <c:f>Tabelle1!$A$2</c:f>
              <c:strCache>
                <c:ptCount val="1"/>
                <c:pt idx="0">
                  <c:v>Kategorie 1</c:v>
                </c:pt>
              </c:strCache>
            </c:strRef>
          </c:cat>
          <c:val>
            <c:numRef>
              <c:f>Tabelle1!$O$2</c:f>
              <c:numCache>
                <c:formatCode>General</c:formatCode>
                <c:ptCount val="1"/>
                <c:pt idx="0">
                  <c:v>5</c:v>
                </c:pt>
              </c:numCache>
            </c:numRef>
          </c:val>
        </c:ser>
        <c:ser>
          <c:idx val="14"/>
          <c:order val="14"/>
          <c:tx>
            <c:strRef>
              <c:f>Tabelle1!$P$1</c:f>
              <c:strCache>
                <c:ptCount val="1"/>
                <c:pt idx="0">
                  <c:v>Datenreihe 15</c:v>
                </c:pt>
              </c:strCache>
            </c:strRef>
          </c:tx>
          <c:cat>
            <c:strRef>
              <c:f>Tabelle1!$A$2</c:f>
              <c:strCache>
                <c:ptCount val="1"/>
                <c:pt idx="0">
                  <c:v>Kategorie 1</c:v>
                </c:pt>
              </c:strCache>
            </c:strRef>
          </c:cat>
          <c:val>
            <c:numRef>
              <c:f>Tabelle1!$P$2</c:f>
              <c:numCache>
                <c:formatCode>General</c:formatCode>
                <c:ptCount val="1"/>
                <c:pt idx="0">
                  <c:v>6</c:v>
                </c:pt>
              </c:numCache>
            </c:numRef>
          </c:val>
        </c:ser>
        <c:ser>
          <c:idx val="15"/>
          <c:order val="15"/>
          <c:tx>
            <c:strRef>
              <c:f>Tabelle1!$Q$1</c:f>
              <c:strCache>
                <c:ptCount val="1"/>
                <c:pt idx="0">
                  <c:v>Datenreihe 16</c:v>
                </c:pt>
              </c:strCache>
            </c:strRef>
          </c:tx>
          <c:cat>
            <c:strRef>
              <c:f>Tabelle1!$A$2</c:f>
              <c:strCache>
                <c:ptCount val="1"/>
                <c:pt idx="0">
                  <c:v>Kategorie 1</c:v>
                </c:pt>
              </c:strCache>
            </c:strRef>
          </c:cat>
          <c:val>
            <c:numRef>
              <c:f>Tabelle1!$Q$2</c:f>
              <c:numCache>
                <c:formatCode>General</c:formatCode>
                <c:ptCount val="1"/>
                <c:pt idx="0">
                  <c:v>9</c:v>
                </c:pt>
              </c:numCache>
            </c:numRef>
          </c:val>
        </c:ser>
        <c:ser>
          <c:idx val="16"/>
          <c:order val="16"/>
          <c:tx>
            <c:strRef>
              <c:f>Tabelle1!$R$1</c:f>
              <c:strCache>
                <c:ptCount val="1"/>
                <c:pt idx="0">
                  <c:v>Datenreihe 17</c:v>
                </c:pt>
              </c:strCache>
            </c:strRef>
          </c:tx>
          <c:cat>
            <c:strRef>
              <c:f>Tabelle1!$A$2</c:f>
              <c:strCache>
                <c:ptCount val="1"/>
                <c:pt idx="0">
                  <c:v>Kategorie 1</c:v>
                </c:pt>
              </c:strCache>
            </c:strRef>
          </c:cat>
          <c:val>
            <c:numRef>
              <c:f>Tabelle1!$R$2</c:f>
              <c:numCache>
                <c:formatCode>General</c:formatCode>
                <c:ptCount val="1"/>
                <c:pt idx="0">
                  <c:v>8</c:v>
                </c:pt>
              </c:numCache>
            </c:numRef>
          </c:val>
        </c:ser>
        <c:ser>
          <c:idx val="17"/>
          <c:order val="17"/>
          <c:tx>
            <c:strRef>
              <c:f>Tabelle1!$S$1</c:f>
              <c:strCache>
                <c:ptCount val="1"/>
                <c:pt idx="0">
                  <c:v>Datenreihe 18</c:v>
                </c:pt>
              </c:strCache>
            </c:strRef>
          </c:tx>
          <c:cat>
            <c:strRef>
              <c:f>Tabelle1!$A$2</c:f>
              <c:strCache>
                <c:ptCount val="1"/>
                <c:pt idx="0">
                  <c:v>Kategorie 1</c:v>
                </c:pt>
              </c:strCache>
            </c:strRef>
          </c:cat>
          <c:val>
            <c:numRef>
              <c:f>Tabelle1!$S$2</c:f>
              <c:numCache>
                <c:formatCode>General</c:formatCode>
                <c:ptCount val="1"/>
                <c:pt idx="0">
                  <c:v>4</c:v>
                </c:pt>
              </c:numCache>
            </c:numRef>
          </c:val>
        </c:ser>
        <c:ser>
          <c:idx val="18"/>
          <c:order val="18"/>
          <c:tx>
            <c:strRef>
              <c:f>Tabelle1!$T$1</c:f>
              <c:strCache>
                <c:ptCount val="1"/>
                <c:pt idx="0">
                  <c:v>Datenreihe 19</c:v>
                </c:pt>
              </c:strCache>
            </c:strRef>
          </c:tx>
          <c:cat>
            <c:strRef>
              <c:f>Tabelle1!$A$2</c:f>
              <c:strCache>
                <c:ptCount val="1"/>
                <c:pt idx="0">
                  <c:v>Kategorie 1</c:v>
                </c:pt>
              </c:strCache>
            </c:strRef>
          </c:cat>
          <c:val>
            <c:numRef>
              <c:f>Tabelle1!$T$2</c:f>
              <c:numCache>
                <c:formatCode>General</c:formatCode>
                <c:ptCount val="1"/>
                <c:pt idx="0">
                  <c:v>2</c:v>
                </c:pt>
              </c:numCache>
            </c:numRef>
          </c:val>
        </c:ser>
        <c:ser>
          <c:idx val="19"/>
          <c:order val="19"/>
          <c:tx>
            <c:strRef>
              <c:f>Tabelle1!$U$1</c:f>
              <c:strCache>
                <c:ptCount val="1"/>
                <c:pt idx="0">
                  <c:v>Datenreihe 20</c:v>
                </c:pt>
              </c:strCache>
            </c:strRef>
          </c:tx>
          <c:cat>
            <c:strRef>
              <c:f>Tabelle1!$A$2</c:f>
              <c:strCache>
                <c:ptCount val="1"/>
                <c:pt idx="0">
                  <c:v>Kategorie 1</c:v>
                </c:pt>
              </c:strCache>
            </c:strRef>
          </c:cat>
          <c:val>
            <c:numRef>
              <c:f>Tabelle1!$U$2</c:f>
              <c:numCache>
                <c:formatCode>General</c:formatCode>
                <c:ptCount val="1"/>
                <c:pt idx="0">
                  <c:v>3</c:v>
                </c:pt>
              </c:numCache>
            </c:numRef>
          </c:val>
        </c:ser>
        <c:ser>
          <c:idx val="20"/>
          <c:order val="20"/>
          <c:tx>
            <c:strRef>
              <c:f>Tabelle1!$V$1</c:f>
              <c:strCache>
                <c:ptCount val="1"/>
                <c:pt idx="0">
                  <c:v>Datenreihe 21</c:v>
                </c:pt>
              </c:strCache>
            </c:strRef>
          </c:tx>
          <c:cat>
            <c:strRef>
              <c:f>Tabelle1!$A$2</c:f>
              <c:strCache>
                <c:ptCount val="1"/>
                <c:pt idx="0">
                  <c:v>Kategorie 1</c:v>
                </c:pt>
              </c:strCache>
            </c:strRef>
          </c:cat>
          <c:val>
            <c:numRef>
              <c:f>Tabelle1!$V$2</c:f>
              <c:numCache>
                <c:formatCode>General</c:formatCode>
                <c:ptCount val="1"/>
                <c:pt idx="0">
                  <c:v>6</c:v>
                </c:pt>
              </c:numCache>
            </c:numRef>
          </c:val>
        </c:ser>
        <c:ser>
          <c:idx val="21"/>
          <c:order val="21"/>
          <c:tx>
            <c:strRef>
              <c:f>Tabelle1!$W$1</c:f>
              <c:strCache>
                <c:ptCount val="1"/>
                <c:pt idx="0">
                  <c:v>Datenreihe 22</c:v>
                </c:pt>
              </c:strCache>
            </c:strRef>
          </c:tx>
          <c:cat>
            <c:strRef>
              <c:f>Tabelle1!$A$2</c:f>
              <c:strCache>
                <c:ptCount val="1"/>
                <c:pt idx="0">
                  <c:v>Kategorie 1</c:v>
                </c:pt>
              </c:strCache>
            </c:strRef>
          </c:cat>
          <c:val>
            <c:numRef>
              <c:f>Tabelle1!$W$2</c:f>
              <c:numCache>
                <c:formatCode>General</c:formatCode>
                <c:ptCount val="1"/>
                <c:pt idx="0">
                  <c:v>5</c:v>
                </c:pt>
              </c:numCache>
            </c:numRef>
          </c:val>
        </c:ser>
        <c:ser>
          <c:idx val="22"/>
          <c:order val="22"/>
          <c:tx>
            <c:strRef>
              <c:f>Tabelle1!$X$1</c:f>
              <c:strCache>
                <c:ptCount val="1"/>
                <c:pt idx="0">
                  <c:v>Datenreihe 23</c:v>
                </c:pt>
              </c:strCache>
            </c:strRef>
          </c:tx>
          <c:cat>
            <c:strRef>
              <c:f>Tabelle1!$A$2</c:f>
              <c:strCache>
                <c:ptCount val="1"/>
                <c:pt idx="0">
                  <c:v>Kategorie 1</c:v>
                </c:pt>
              </c:strCache>
            </c:strRef>
          </c:cat>
          <c:val>
            <c:numRef>
              <c:f>Tabelle1!$X$2</c:f>
              <c:numCache>
                <c:formatCode>General</c:formatCode>
                <c:ptCount val="1"/>
                <c:pt idx="0">
                  <c:v>4</c:v>
                </c:pt>
              </c:numCache>
            </c:numRef>
          </c:val>
        </c:ser>
        <c:ser>
          <c:idx val="23"/>
          <c:order val="23"/>
          <c:tx>
            <c:strRef>
              <c:f>Tabelle1!$Y$1</c:f>
              <c:strCache>
                <c:ptCount val="1"/>
                <c:pt idx="0">
                  <c:v>Datenreihe 24</c:v>
                </c:pt>
              </c:strCache>
            </c:strRef>
          </c:tx>
          <c:cat>
            <c:strRef>
              <c:f>Tabelle1!$A$2</c:f>
              <c:strCache>
                <c:ptCount val="1"/>
                <c:pt idx="0">
                  <c:v>Kategorie 1</c:v>
                </c:pt>
              </c:strCache>
            </c:strRef>
          </c:cat>
          <c:val>
            <c:numRef>
              <c:f>Tabelle1!$Y$2</c:f>
              <c:numCache>
                <c:formatCode>General</c:formatCode>
                <c:ptCount val="1"/>
                <c:pt idx="0">
                  <c:v>8</c:v>
                </c:pt>
              </c:numCache>
            </c:numRef>
          </c:val>
        </c:ser>
        <c:ser>
          <c:idx val="24"/>
          <c:order val="24"/>
          <c:tx>
            <c:strRef>
              <c:f>Tabelle1!$Z$1</c:f>
              <c:strCache>
                <c:ptCount val="1"/>
                <c:pt idx="0">
                  <c:v>Datenreihe 25</c:v>
                </c:pt>
              </c:strCache>
            </c:strRef>
          </c:tx>
          <c:cat>
            <c:strRef>
              <c:f>Tabelle1!$A$2</c:f>
              <c:strCache>
                <c:ptCount val="1"/>
                <c:pt idx="0">
                  <c:v>Kategorie 1</c:v>
                </c:pt>
              </c:strCache>
            </c:strRef>
          </c:cat>
          <c:val>
            <c:numRef>
              <c:f>Tabelle1!$Z$2</c:f>
              <c:numCache>
                <c:formatCode>General</c:formatCode>
                <c:ptCount val="1"/>
                <c:pt idx="0">
                  <c:v>5</c:v>
                </c:pt>
              </c:numCache>
            </c:numRef>
          </c:val>
        </c:ser>
        <c:ser>
          <c:idx val="25"/>
          <c:order val="25"/>
          <c:tx>
            <c:strRef>
              <c:f>Tabelle1!$AA$1</c:f>
              <c:strCache>
                <c:ptCount val="1"/>
                <c:pt idx="0">
                  <c:v>Datenreihe 26</c:v>
                </c:pt>
              </c:strCache>
            </c:strRef>
          </c:tx>
          <c:cat>
            <c:strRef>
              <c:f>Tabelle1!$A$2</c:f>
              <c:strCache>
                <c:ptCount val="1"/>
                <c:pt idx="0">
                  <c:v>Kategorie 1</c:v>
                </c:pt>
              </c:strCache>
            </c:strRef>
          </c:cat>
          <c:val>
            <c:numRef>
              <c:f>Tabelle1!$AA$2</c:f>
              <c:numCache>
                <c:formatCode>General</c:formatCode>
                <c:ptCount val="1"/>
                <c:pt idx="0">
                  <c:v>6</c:v>
                </c:pt>
              </c:numCache>
            </c:numRef>
          </c:val>
        </c:ser>
        <c:ser>
          <c:idx val="26"/>
          <c:order val="26"/>
          <c:tx>
            <c:strRef>
              <c:f>Tabelle1!$AB$1</c:f>
              <c:strCache>
                <c:ptCount val="1"/>
                <c:pt idx="0">
                  <c:v>Datenreihe 27</c:v>
                </c:pt>
              </c:strCache>
            </c:strRef>
          </c:tx>
          <c:cat>
            <c:strRef>
              <c:f>Tabelle1!$A$2</c:f>
              <c:strCache>
                <c:ptCount val="1"/>
                <c:pt idx="0">
                  <c:v>Kategorie 1</c:v>
                </c:pt>
              </c:strCache>
            </c:strRef>
          </c:cat>
          <c:val>
            <c:numRef>
              <c:f>Tabelle1!$AB$2</c:f>
              <c:numCache>
                <c:formatCode>General</c:formatCode>
                <c:ptCount val="1"/>
                <c:pt idx="0">
                  <c:v>5</c:v>
                </c:pt>
              </c:numCache>
            </c:numRef>
          </c:val>
        </c:ser>
        <c:ser>
          <c:idx val="27"/>
          <c:order val="27"/>
          <c:tx>
            <c:strRef>
              <c:f>Tabelle1!$AC$1</c:f>
              <c:strCache>
                <c:ptCount val="1"/>
                <c:pt idx="0">
                  <c:v>Datenreihe 28</c:v>
                </c:pt>
              </c:strCache>
            </c:strRef>
          </c:tx>
          <c:cat>
            <c:strRef>
              <c:f>Tabelle1!$A$2</c:f>
              <c:strCache>
                <c:ptCount val="1"/>
                <c:pt idx="0">
                  <c:v>Kategorie 1</c:v>
                </c:pt>
              </c:strCache>
            </c:strRef>
          </c:cat>
          <c:val>
            <c:numRef>
              <c:f>Tabelle1!$AC$2</c:f>
              <c:numCache>
                <c:formatCode>General</c:formatCode>
                <c:ptCount val="1"/>
                <c:pt idx="0">
                  <c:v>1</c:v>
                </c:pt>
              </c:numCache>
            </c:numRef>
          </c:val>
        </c:ser>
        <c:ser>
          <c:idx val="28"/>
          <c:order val="28"/>
          <c:tx>
            <c:strRef>
              <c:f>Tabelle1!$AD$1</c:f>
              <c:strCache>
                <c:ptCount val="1"/>
                <c:pt idx="0">
                  <c:v>Datenreihe 29</c:v>
                </c:pt>
              </c:strCache>
            </c:strRef>
          </c:tx>
          <c:cat>
            <c:strRef>
              <c:f>Tabelle1!$A$2</c:f>
              <c:strCache>
                <c:ptCount val="1"/>
                <c:pt idx="0">
                  <c:v>Kategorie 1</c:v>
                </c:pt>
              </c:strCache>
            </c:strRef>
          </c:cat>
          <c:val>
            <c:numRef>
              <c:f>Tabelle1!$AD$2</c:f>
              <c:numCache>
                <c:formatCode>General</c:formatCode>
                <c:ptCount val="1"/>
                <c:pt idx="0">
                  <c:v>5</c:v>
                </c:pt>
              </c:numCache>
            </c:numRef>
          </c:val>
        </c:ser>
        <c:ser>
          <c:idx val="29"/>
          <c:order val="29"/>
          <c:tx>
            <c:strRef>
              <c:f>Tabelle1!$AE$1</c:f>
              <c:strCache>
                <c:ptCount val="1"/>
                <c:pt idx="0">
                  <c:v>Datenreihe 30</c:v>
                </c:pt>
              </c:strCache>
            </c:strRef>
          </c:tx>
          <c:cat>
            <c:strRef>
              <c:f>Tabelle1!$A$2</c:f>
              <c:strCache>
                <c:ptCount val="1"/>
                <c:pt idx="0">
                  <c:v>Kategorie 1</c:v>
                </c:pt>
              </c:strCache>
            </c:strRef>
          </c:cat>
          <c:val>
            <c:numRef>
              <c:f>Tabelle1!$AE$2</c:f>
              <c:numCache>
                <c:formatCode>General</c:formatCode>
                <c:ptCount val="1"/>
                <c:pt idx="0">
                  <c:v>6</c:v>
                </c:pt>
              </c:numCache>
            </c:numRef>
          </c:val>
        </c:ser>
        <c:ser>
          <c:idx val="30"/>
          <c:order val="30"/>
          <c:tx>
            <c:strRef>
              <c:f>Tabelle1!$AF$1</c:f>
              <c:strCache>
                <c:ptCount val="1"/>
                <c:pt idx="0">
                  <c:v>Datenreihe 31</c:v>
                </c:pt>
              </c:strCache>
            </c:strRef>
          </c:tx>
          <c:cat>
            <c:strRef>
              <c:f>Tabelle1!$A$2</c:f>
              <c:strCache>
                <c:ptCount val="1"/>
                <c:pt idx="0">
                  <c:v>Kategorie 1</c:v>
                </c:pt>
              </c:strCache>
            </c:strRef>
          </c:cat>
          <c:val>
            <c:numRef>
              <c:f>Tabelle1!$AF$2</c:f>
              <c:numCache>
                <c:formatCode>General</c:formatCode>
                <c:ptCount val="1"/>
                <c:pt idx="0">
                  <c:v>9</c:v>
                </c:pt>
              </c:numCache>
            </c:numRef>
          </c:val>
        </c:ser>
        <c:ser>
          <c:idx val="31"/>
          <c:order val="31"/>
          <c:tx>
            <c:strRef>
              <c:f>Tabelle1!$AG$1</c:f>
              <c:strCache>
                <c:ptCount val="1"/>
                <c:pt idx="0">
                  <c:v>Datenreihe 32</c:v>
                </c:pt>
              </c:strCache>
            </c:strRef>
          </c:tx>
          <c:cat>
            <c:strRef>
              <c:f>Tabelle1!$A$2</c:f>
              <c:strCache>
                <c:ptCount val="1"/>
                <c:pt idx="0">
                  <c:v>Kategorie 1</c:v>
                </c:pt>
              </c:strCache>
            </c:strRef>
          </c:cat>
          <c:val>
            <c:numRef>
              <c:f>Tabelle1!$AG$2</c:f>
              <c:numCache>
                <c:formatCode>General</c:formatCode>
                <c:ptCount val="1"/>
                <c:pt idx="0">
                  <c:v>5</c:v>
                </c:pt>
              </c:numCache>
            </c:numRef>
          </c:val>
        </c:ser>
        <c:ser>
          <c:idx val="32"/>
          <c:order val="32"/>
          <c:tx>
            <c:strRef>
              <c:f>Tabelle1!$AH$1</c:f>
              <c:strCache>
                <c:ptCount val="1"/>
                <c:pt idx="0">
                  <c:v>Datenreihe 33</c:v>
                </c:pt>
              </c:strCache>
            </c:strRef>
          </c:tx>
          <c:cat>
            <c:strRef>
              <c:f>Tabelle1!$A$2</c:f>
              <c:strCache>
                <c:ptCount val="1"/>
                <c:pt idx="0">
                  <c:v>Kategorie 1</c:v>
                </c:pt>
              </c:strCache>
            </c:strRef>
          </c:cat>
          <c:val>
            <c:numRef>
              <c:f>Tabelle1!$AH$2</c:f>
              <c:numCache>
                <c:formatCode>General</c:formatCode>
                <c:ptCount val="1"/>
                <c:pt idx="0">
                  <c:v>6</c:v>
                </c:pt>
              </c:numCache>
            </c:numRef>
          </c:val>
        </c:ser>
        <c:ser>
          <c:idx val="33"/>
          <c:order val="33"/>
          <c:tx>
            <c:strRef>
              <c:f>Tabelle1!$AI$1</c:f>
              <c:strCache>
                <c:ptCount val="1"/>
                <c:pt idx="0">
                  <c:v>Datenreihe 34</c:v>
                </c:pt>
              </c:strCache>
            </c:strRef>
          </c:tx>
          <c:cat>
            <c:strRef>
              <c:f>Tabelle1!$A$2</c:f>
              <c:strCache>
                <c:ptCount val="1"/>
                <c:pt idx="0">
                  <c:v>Kategorie 1</c:v>
                </c:pt>
              </c:strCache>
            </c:strRef>
          </c:cat>
          <c:val>
            <c:numRef>
              <c:f>Tabelle1!$AI$2</c:f>
              <c:numCache>
                <c:formatCode>General</c:formatCode>
                <c:ptCount val="1"/>
                <c:pt idx="0">
                  <c:v>5</c:v>
                </c:pt>
              </c:numCache>
            </c:numRef>
          </c:val>
        </c:ser>
        <c:ser>
          <c:idx val="34"/>
          <c:order val="34"/>
          <c:tx>
            <c:strRef>
              <c:f>Tabelle1!$AJ$1</c:f>
              <c:strCache>
                <c:ptCount val="1"/>
                <c:pt idx="0">
                  <c:v>Datenreihe 35</c:v>
                </c:pt>
              </c:strCache>
            </c:strRef>
          </c:tx>
          <c:cat>
            <c:strRef>
              <c:f>Tabelle1!$A$2</c:f>
              <c:strCache>
                <c:ptCount val="1"/>
                <c:pt idx="0">
                  <c:v>Kategorie 1</c:v>
                </c:pt>
              </c:strCache>
            </c:strRef>
          </c:cat>
          <c:val>
            <c:numRef>
              <c:f>Tabelle1!$AJ$2</c:f>
              <c:numCache>
                <c:formatCode>General</c:formatCode>
                <c:ptCount val="1"/>
                <c:pt idx="0">
                  <c:v>4</c:v>
                </c:pt>
              </c:numCache>
            </c:numRef>
          </c:val>
        </c:ser>
        <c:ser>
          <c:idx val="35"/>
          <c:order val="35"/>
          <c:tx>
            <c:strRef>
              <c:f>Tabelle1!$AK$1</c:f>
              <c:strCache>
                <c:ptCount val="1"/>
                <c:pt idx="0">
                  <c:v>Datenreihe 36</c:v>
                </c:pt>
              </c:strCache>
            </c:strRef>
          </c:tx>
          <c:cat>
            <c:strRef>
              <c:f>Tabelle1!$A$2</c:f>
              <c:strCache>
                <c:ptCount val="1"/>
                <c:pt idx="0">
                  <c:v>Kategorie 1</c:v>
                </c:pt>
              </c:strCache>
            </c:strRef>
          </c:cat>
          <c:val>
            <c:numRef>
              <c:f>Tabelle1!$AK$2</c:f>
              <c:numCache>
                <c:formatCode>General</c:formatCode>
                <c:ptCount val="1"/>
                <c:pt idx="0">
                  <c:v>1</c:v>
                </c:pt>
              </c:numCache>
            </c:numRef>
          </c:val>
        </c:ser>
        <c:ser>
          <c:idx val="36"/>
          <c:order val="36"/>
          <c:tx>
            <c:strRef>
              <c:f>Tabelle1!$AL$1</c:f>
              <c:strCache>
                <c:ptCount val="1"/>
                <c:pt idx="0">
                  <c:v>Datenreihe 37</c:v>
                </c:pt>
              </c:strCache>
            </c:strRef>
          </c:tx>
          <c:cat>
            <c:strRef>
              <c:f>Tabelle1!$A$2</c:f>
              <c:strCache>
                <c:ptCount val="1"/>
                <c:pt idx="0">
                  <c:v>Kategorie 1</c:v>
                </c:pt>
              </c:strCache>
            </c:strRef>
          </c:cat>
          <c:val>
            <c:numRef>
              <c:f>Tabelle1!$AL$2</c:f>
              <c:numCache>
                <c:formatCode>General</c:formatCode>
                <c:ptCount val="1"/>
                <c:pt idx="0">
                  <c:v>2</c:v>
                </c:pt>
              </c:numCache>
            </c:numRef>
          </c:val>
        </c:ser>
        <c:ser>
          <c:idx val="37"/>
          <c:order val="37"/>
          <c:tx>
            <c:strRef>
              <c:f>Tabelle1!$AM$1</c:f>
              <c:strCache>
                <c:ptCount val="1"/>
                <c:pt idx="0">
                  <c:v>Datenreihe 38</c:v>
                </c:pt>
              </c:strCache>
            </c:strRef>
          </c:tx>
          <c:cat>
            <c:strRef>
              <c:f>Tabelle1!$A$2</c:f>
              <c:strCache>
                <c:ptCount val="1"/>
                <c:pt idx="0">
                  <c:v>Kategorie 1</c:v>
                </c:pt>
              </c:strCache>
            </c:strRef>
          </c:cat>
          <c:val>
            <c:numRef>
              <c:f>Tabelle1!$AM$2</c:f>
              <c:numCache>
                <c:formatCode>General</c:formatCode>
                <c:ptCount val="1"/>
                <c:pt idx="0">
                  <c:v>6</c:v>
                </c:pt>
              </c:numCache>
            </c:numRef>
          </c:val>
        </c:ser>
        <c:ser>
          <c:idx val="38"/>
          <c:order val="38"/>
          <c:tx>
            <c:strRef>
              <c:f>Tabelle1!$AN$1</c:f>
              <c:strCache>
                <c:ptCount val="1"/>
                <c:pt idx="0">
                  <c:v>Datenreihe 39</c:v>
                </c:pt>
              </c:strCache>
            </c:strRef>
          </c:tx>
          <c:cat>
            <c:strRef>
              <c:f>Tabelle1!$A$2</c:f>
              <c:strCache>
                <c:ptCount val="1"/>
                <c:pt idx="0">
                  <c:v>Kategorie 1</c:v>
                </c:pt>
              </c:strCache>
            </c:strRef>
          </c:cat>
          <c:val>
            <c:numRef>
              <c:f>Tabelle1!$AN$2</c:f>
              <c:numCache>
                <c:formatCode>General</c:formatCode>
                <c:ptCount val="1"/>
                <c:pt idx="0">
                  <c:v>5</c:v>
                </c:pt>
              </c:numCache>
            </c:numRef>
          </c:val>
        </c:ser>
        <c:ser>
          <c:idx val="39"/>
          <c:order val="39"/>
          <c:tx>
            <c:strRef>
              <c:f>Tabelle1!$AO$1</c:f>
              <c:strCache>
                <c:ptCount val="1"/>
                <c:pt idx="0">
                  <c:v>Datenreihe 40</c:v>
                </c:pt>
              </c:strCache>
            </c:strRef>
          </c:tx>
          <c:cat>
            <c:strRef>
              <c:f>Tabelle1!$A$2</c:f>
              <c:strCache>
                <c:ptCount val="1"/>
                <c:pt idx="0">
                  <c:v>Kategorie 1</c:v>
                </c:pt>
              </c:strCache>
            </c:strRef>
          </c:cat>
          <c:val>
            <c:numRef>
              <c:f>Tabelle1!$AO$2</c:f>
              <c:numCache>
                <c:formatCode>General</c:formatCode>
                <c:ptCount val="1"/>
                <c:pt idx="0">
                  <c:v>4</c:v>
                </c:pt>
              </c:numCache>
            </c:numRef>
          </c:val>
        </c:ser>
        <c:ser>
          <c:idx val="40"/>
          <c:order val="40"/>
          <c:tx>
            <c:strRef>
              <c:f>Tabelle1!$AP$1</c:f>
              <c:strCache>
                <c:ptCount val="1"/>
                <c:pt idx="0">
                  <c:v>Datenreihe 41</c:v>
                </c:pt>
              </c:strCache>
            </c:strRef>
          </c:tx>
          <c:cat>
            <c:strRef>
              <c:f>Tabelle1!$A$2</c:f>
              <c:strCache>
                <c:ptCount val="1"/>
                <c:pt idx="0">
                  <c:v>Kategorie 1</c:v>
                </c:pt>
              </c:strCache>
            </c:strRef>
          </c:cat>
          <c:val>
            <c:numRef>
              <c:f>Tabelle1!$AP$2</c:f>
              <c:numCache>
                <c:formatCode>General</c:formatCode>
                <c:ptCount val="1"/>
                <c:pt idx="0">
                  <c:v>1</c:v>
                </c:pt>
              </c:numCache>
            </c:numRef>
          </c:val>
        </c:ser>
        <c:axId val="95640192"/>
        <c:axId val="95654272"/>
      </c:barChart>
      <c:catAx>
        <c:axId val="95640192"/>
        <c:scaling>
          <c:orientation val="minMax"/>
        </c:scaling>
        <c:delete val="1"/>
        <c:axPos val="b"/>
        <c:tickLblPos val="none"/>
        <c:crossAx val="95654272"/>
        <c:crosses val="autoZero"/>
        <c:auto val="1"/>
        <c:lblAlgn val="ctr"/>
        <c:lblOffset val="100"/>
      </c:catAx>
      <c:valAx>
        <c:axId val="95654272"/>
        <c:scaling>
          <c:orientation val="minMax"/>
        </c:scaling>
        <c:delete val="1"/>
        <c:axPos val="l"/>
        <c:majorGridlines/>
        <c:numFmt formatCode="General" sourceLinked="1"/>
        <c:tickLblPos val="none"/>
        <c:crossAx val="95640192"/>
        <c:crosses val="autoZero"/>
        <c:crossBetween val="between"/>
      </c:valAx>
    </c:plotArea>
    <c:plotVisOnly val="1"/>
    <c:dispBlanksAs val="gap"/>
  </c:chart>
  <c:txPr>
    <a:bodyPr/>
    <a:lstStyle/>
    <a:p>
      <a:pPr>
        <a:defRPr sz="1800"/>
      </a:pPr>
      <a:endParaRPr lang="zh-TW"/>
    </a:p>
  </c:txPr>
  <c:externalData r:id="rId1"/>
</c:chartSpace>
</file>

<file path=ppt/charts/chart2.xml><?xml version="1.0" encoding="utf-8"?>
<c:chartSpace xmlns:c="http://schemas.openxmlformats.org/drawingml/2006/chart" xmlns:a="http://schemas.openxmlformats.org/drawingml/2006/main" xmlns:r="http://schemas.openxmlformats.org/officeDocument/2006/relationships">
  <c:date1904 val="1"/>
  <c:lang val="zh-TW"/>
  <c:chart>
    <c:plotArea>
      <c:layout/>
      <c:barChart>
        <c:barDir val="col"/>
        <c:grouping val="clustered"/>
        <c:ser>
          <c:idx val="0"/>
          <c:order val="0"/>
          <c:tx>
            <c:strRef>
              <c:f>Tabelle1!$B$1</c:f>
              <c:strCache>
                <c:ptCount val="1"/>
                <c:pt idx="0">
                  <c:v>Datenreihe 1</c:v>
                </c:pt>
              </c:strCache>
            </c:strRef>
          </c:tx>
          <c:cat>
            <c:strRef>
              <c:f>Tabelle1!$A$2</c:f>
              <c:strCache>
                <c:ptCount val="1"/>
                <c:pt idx="0">
                  <c:v>Kategorie 1</c:v>
                </c:pt>
              </c:strCache>
            </c:strRef>
          </c:cat>
          <c:val>
            <c:numRef>
              <c:f>Tabelle1!$B$2</c:f>
              <c:numCache>
                <c:formatCode>General</c:formatCode>
                <c:ptCount val="1"/>
                <c:pt idx="0">
                  <c:v>4.3</c:v>
                </c:pt>
              </c:numCache>
            </c:numRef>
          </c:val>
        </c:ser>
        <c:ser>
          <c:idx val="1"/>
          <c:order val="1"/>
          <c:tx>
            <c:strRef>
              <c:f>Tabelle1!$C$1</c:f>
              <c:strCache>
                <c:ptCount val="1"/>
                <c:pt idx="0">
                  <c:v>Datenreihe 2</c:v>
                </c:pt>
              </c:strCache>
            </c:strRef>
          </c:tx>
          <c:cat>
            <c:strRef>
              <c:f>Tabelle1!$A$2</c:f>
              <c:strCache>
                <c:ptCount val="1"/>
                <c:pt idx="0">
                  <c:v>Kategorie 1</c:v>
                </c:pt>
              </c:strCache>
            </c:strRef>
          </c:cat>
          <c:val>
            <c:numRef>
              <c:f>Tabelle1!$C$2</c:f>
              <c:numCache>
                <c:formatCode>General</c:formatCode>
                <c:ptCount val="1"/>
                <c:pt idx="0">
                  <c:v>2.4</c:v>
                </c:pt>
              </c:numCache>
            </c:numRef>
          </c:val>
        </c:ser>
        <c:ser>
          <c:idx val="2"/>
          <c:order val="2"/>
          <c:tx>
            <c:strRef>
              <c:f>Tabelle1!$D$1</c:f>
              <c:strCache>
                <c:ptCount val="1"/>
                <c:pt idx="0">
                  <c:v>Datenreihe 3</c:v>
                </c:pt>
              </c:strCache>
            </c:strRef>
          </c:tx>
          <c:cat>
            <c:strRef>
              <c:f>Tabelle1!$A$2</c:f>
              <c:strCache>
                <c:ptCount val="1"/>
                <c:pt idx="0">
                  <c:v>Kategorie 1</c:v>
                </c:pt>
              </c:strCache>
            </c:strRef>
          </c:cat>
          <c:val>
            <c:numRef>
              <c:f>Tabelle1!$D$2</c:f>
              <c:numCache>
                <c:formatCode>General</c:formatCode>
                <c:ptCount val="1"/>
                <c:pt idx="0">
                  <c:v>5</c:v>
                </c:pt>
              </c:numCache>
            </c:numRef>
          </c:val>
        </c:ser>
        <c:ser>
          <c:idx val="3"/>
          <c:order val="3"/>
          <c:tx>
            <c:strRef>
              <c:f>Tabelle1!$E$1</c:f>
              <c:strCache>
                <c:ptCount val="1"/>
                <c:pt idx="0">
                  <c:v>Datenreihe 4</c:v>
                </c:pt>
              </c:strCache>
            </c:strRef>
          </c:tx>
          <c:cat>
            <c:strRef>
              <c:f>Tabelle1!$A$2</c:f>
              <c:strCache>
                <c:ptCount val="1"/>
                <c:pt idx="0">
                  <c:v>Kategorie 1</c:v>
                </c:pt>
              </c:strCache>
            </c:strRef>
          </c:cat>
          <c:val>
            <c:numRef>
              <c:f>Tabelle1!$E$2</c:f>
              <c:numCache>
                <c:formatCode>General</c:formatCode>
                <c:ptCount val="1"/>
                <c:pt idx="0">
                  <c:v>6</c:v>
                </c:pt>
              </c:numCache>
            </c:numRef>
          </c:val>
        </c:ser>
        <c:ser>
          <c:idx val="4"/>
          <c:order val="4"/>
          <c:tx>
            <c:strRef>
              <c:f>Tabelle1!$F$1</c:f>
              <c:strCache>
                <c:ptCount val="1"/>
                <c:pt idx="0">
                  <c:v>Datenreihe 5</c:v>
                </c:pt>
              </c:strCache>
            </c:strRef>
          </c:tx>
          <c:cat>
            <c:strRef>
              <c:f>Tabelle1!$A$2</c:f>
              <c:strCache>
                <c:ptCount val="1"/>
                <c:pt idx="0">
                  <c:v>Kategorie 1</c:v>
                </c:pt>
              </c:strCache>
            </c:strRef>
          </c:cat>
          <c:val>
            <c:numRef>
              <c:f>Tabelle1!$F$2</c:f>
              <c:numCache>
                <c:formatCode>General</c:formatCode>
                <c:ptCount val="1"/>
                <c:pt idx="0">
                  <c:v>2</c:v>
                </c:pt>
              </c:numCache>
            </c:numRef>
          </c:val>
        </c:ser>
        <c:ser>
          <c:idx val="5"/>
          <c:order val="5"/>
          <c:tx>
            <c:strRef>
              <c:f>Tabelle1!$G$1</c:f>
              <c:strCache>
                <c:ptCount val="1"/>
                <c:pt idx="0">
                  <c:v>Datenreihe 6</c:v>
                </c:pt>
              </c:strCache>
            </c:strRef>
          </c:tx>
          <c:cat>
            <c:strRef>
              <c:f>Tabelle1!$A$2</c:f>
              <c:strCache>
                <c:ptCount val="1"/>
                <c:pt idx="0">
                  <c:v>Kategorie 1</c:v>
                </c:pt>
              </c:strCache>
            </c:strRef>
          </c:cat>
          <c:val>
            <c:numRef>
              <c:f>Tabelle1!$G$2</c:f>
              <c:numCache>
                <c:formatCode>General</c:formatCode>
                <c:ptCount val="1"/>
                <c:pt idx="0">
                  <c:v>6</c:v>
                </c:pt>
              </c:numCache>
            </c:numRef>
          </c:val>
        </c:ser>
        <c:ser>
          <c:idx val="6"/>
          <c:order val="6"/>
          <c:tx>
            <c:strRef>
              <c:f>Tabelle1!$H$1</c:f>
              <c:strCache>
                <c:ptCount val="1"/>
                <c:pt idx="0">
                  <c:v>Datenreihe 7</c:v>
                </c:pt>
              </c:strCache>
            </c:strRef>
          </c:tx>
          <c:cat>
            <c:strRef>
              <c:f>Tabelle1!$A$2</c:f>
              <c:strCache>
                <c:ptCount val="1"/>
                <c:pt idx="0">
                  <c:v>Kategorie 1</c:v>
                </c:pt>
              </c:strCache>
            </c:strRef>
          </c:cat>
          <c:val>
            <c:numRef>
              <c:f>Tabelle1!$H$2</c:f>
              <c:numCache>
                <c:formatCode>General</c:formatCode>
                <c:ptCount val="1"/>
                <c:pt idx="0">
                  <c:v>4</c:v>
                </c:pt>
              </c:numCache>
            </c:numRef>
          </c:val>
        </c:ser>
        <c:ser>
          <c:idx val="7"/>
          <c:order val="7"/>
          <c:tx>
            <c:strRef>
              <c:f>Tabelle1!$I$1</c:f>
              <c:strCache>
                <c:ptCount val="1"/>
                <c:pt idx="0">
                  <c:v>Datenreihe 8</c:v>
                </c:pt>
              </c:strCache>
            </c:strRef>
          </c:tx>
          <c:cat>
            <c:strRef>
              <c:f>Tabelle1!$A$2</c:f>
              <c:strCache>
                <c:ptCount val="1"/>
                <c:pt idx="0">
                  <c:v>Kategorie 1</c:v>
                </c:pt>
              </c:strCache>
            </c:strRef>
          </c:cat>
          <c:val>
            <c:numRef>
              <c:f>Tabelle1!$I$2</c:f>
              <c:numCache>
                <c:formatCode>General</c:formatCode>
                <c:ptCount val="1"/>
                <c:pt idx="0">
                  <c:v>6</c:v>
                </c:pt>
              </c:numCache>
            </c:numRef>
          </c:val>
        </c:ser>
        <c:ser>
          <c:idx val="8"/>
          <c:order val="8"/>
          <c:tx>
            <c:strRef>
              <c:f>Tabelle1!$J$1</c:f>
              <c:strCache>
                <c:ptCount val="1"/>
                <c:pt idx="0">
                  <c:v>Datenreihe 9</c:v>
                </c:pt>
              </c:strCache>
            </c:strRef>
          </c:tx>
          <c:cat>
            <c:strRef>
              <c:f>Tabelle1!$A$2</c:f>
              <c:strCache>
                <c:ptCount val="1"/>
                <c:pt idx="0">
                  <c:v>Kategorie 1</c:v>
                </c:pt>
              </c:strCache>
            </c:strRef>
          </c:cat>
          <c:val>
            <c:numRef>
              <c:f>Tabelle1!$J$2</c:f>
              <c:numCache>
                <c:formatCode>General</c:formatCode>
                <c:ptCount val="1"/>
                <c:pt idx="0">
                  <c:v>2</c:v>
                </c:pt>
              </c:numCache>
            </c:numRef>
          </c:val>
        </c:ser>
        <c:ser>
          <c:idx val="9"/>
          <c:order val="9"/>
          <c:tx>
            <c:strRef>
              <c:f>Tabelle1!$K$1</c:f>
              <c:strCache>
                <c:ptCount val="1"/>
                <c:pt idx="0">
                  <c:v>Datenreihe 10</c:v>
                </c:pt>
              </c:strCache>
            </c:strRef>
          </c:tx>
          <c:cat>
            <c:strRef>
              <c:f>Tabelle1!$A$2</c:f>
              <c:strCache>
                <c:ptCount val="1"/>
                <c:pt idx="0">
                  <c:v>Kategorie 1</c:v>
                </c:pt>
              </c:strCache>
            </c:strRef>
          </c:cat>
          <c:val>
            <c:numRef>
              <c:f>Tabelle1!$K$2</c:f>
              <c:numCache>
                <c:formatCode>General</c:formatCode>
                <c:ptCount val="1"/>
                <c:pt idx="0">
                  <c:v>1</c:v>
                </c:pt>
              </c:numCache>
            </c:numRef>
          </c:val>
        </c:ser>
        <c:ser>
          <c:idx val="10"/>
          <c:order val="10"/>
          <c:tx>
            <c:strRef>
              <c:f>Tabelle1!$L$1</c:f>
              <c:strCache>
                <c:ptCount val="1"/>
                <c:pt idx="0">
                  <c:v>Datenreihe 11</c:v>
                </c:pt>
              </c:strCache>
            </c:strRef>
          </c:tx>
          <c:cat>
            <c:strRef>
              <c:f>Tabelle1!$A$2</c:f>
              <c:strCache>
                <c:ptCount val="1"/>
                <c:pt idx="0">
                  <c:v>Kategorie 1</c:v>
                </c:pt>
              </c:strCache>
            </c:strRef>
          </c:cat>
          <c:val>
            <c:numRef>
              <c:f>Tabelle1!$L$2</c:f>
              <c:numCache>
                <c:formatCode>General</c:formatCode>
                <c:ptCount val="1"/>
                <c:pt idx="0">
                  <c:v>4</c:v>
                </c:pt>
              </c:numCache>
            </c:numRef>
          </c:val>
        </c:ser>
        <c:ser>
          <c:idx val="11"/>
          <c:order val="11"/>
          <c:tx>
            <c:strRef>
              <c:f>Tabelle1!$M$1</c:f>
              <c:strCache>
                <c:ptCount val="1"/>
                <c:pt idx="0">
                  <c:v>Datenreihe 12</c:v>
                </c:pt>
              </c:strCache>
            </c:strRef>
          </c:tx>
          <c:cat>
            <c:strRef>
              <c:f>Tabelle1!$A$2</c:f>
              <c:strCache>
                <c:ptCount val="1"/>
                <c:pt idx="0">
                  <c:v>Kategorie 1</c:v>
                </c:pt>
              </c:strCache>
            </c:strRef>
          </c:cat>
          <c:val>
            <c:numRef>
              <c:f>Tabelle1!$M$2</c:f>
              <c:numCache>
                <c:formatCode>General</c:formatCode>
                <c:ptCount val="1"/>
                <c:pt idx="0">
                  <c:v>6</c:v>
                </c:pt>
              </c:numCache>
            </c:numRef>
          </c:val>
        </c:ser>
        <c:ser>
          <c:idx val="12"/>
          <c:order val="12"/>
          <c:tx>
            <c:strRef>
              <c:f>Tabelle1!$N$1</c:f>
              <c:strCache>
                <c:ptCount val="1"/>
                <c:pt idx="0">
                  <c:v>Datenreihe 13</c:v>
                </c:pt>
              </c:strCache>
            </c:strRef>
          </c:tx>
          <c:cat>
            <c:strRef>
              <c:f>Tabelle1!$A$2</c:f>
              <c:strCache>
                <c:ptCount val="1"/>
                <c:pt idx="0">
                  <c:v>Kategorie 1</c:v>
                </c:pt>
              </c:strCache>
            </c:strRef>
          </c:cat>
          <c:val>
            <c:numRef>
              <c:f>Tabelle1!$N$2</c:f>
              <c:numCache>
                <c:formatCode>General</c:formatCode>
                <c:ptCount val="1"/>
                <c:pt idx="0">
                  <c:v>5</c:v>
                </c:pt>
              </c:numCache>
            </c:numRef>
          </c:val>
        </c:ser>
        <c:ser>
          <c:idx val="13"/>
          <c:order val="13"/>
          <c:tx>
            <c:strRef>
              <c:f>Tabelle1!$O$1</c:f>
              <c:strCache>
                <c:ptCount val="1"/>
                <c:pt idx="0">
                  <c:v>Datenreihe 14</c:v>
                </c:pt>
              </c:strCache>
            </c:strRef>
          </c:tx>
          <c:cat>
            <c:strRef>
              <c:f>Tabelle1!$A$2</c:f>
              <c:strCache>
                <c:ptCount val="1"/>
                <c:pt idx="0">
                  <c:v>Kategorie 1</c:v>
                </c:pt>
              </c:strCache>
            </c:strRef>
          </c:cat>
          <c:val>
            <c:numRef>
              <c:f>Tabelle1!$O$2</c:f>
              <c:numCache>
                <c:formatCode>General</c:formatCode>
                <c:ptCount val="1"/>
                <c:pt idx="0">
                  <c:v>1</c:v>
                </c:pt>
              </c:numCache>
            </c:numRef>
          </c:val>
        </c:ser>
        <c:ser>
          <c:idx val="14"/>
          <c:order val="14"/>
          <c:tx>
            <c:strRef>
              <c:f>Tabelle1!$P$1</c:f>
              <c:strCache>
                <c:ptCount val="1"/>
                <c:pt idx="0">
                  <c:v>Datenreihe 15</c:v>
                </c:pt>
              </c:strCache>
            </c:strRef>
          </c:tx>
          <c:cat>
            <c:strRef>
              <c:f>Tabelle1!$A$2</c:f>
              <c:strCache>
                <c:ptCount val="1"/>
                <c:pt idx="0">
                  <c:v>Kategorie 1</c:v>
                </c:pt>
              </c:strCache>
            </c:strRef>
          </c:cat>
          <c:val>
            <c:numRef>
              <c:f>Tabelle1!$P$2</c:f>
              <c:numCache>
                <c:formatCode>General</c:formatCode>
                <c:ptCount val="1"/>
                <c:pt idx="0">
                  <c:v>4</c:v>
                </c:pt>
              </c:numCache>
            </c:numRef>
          </c:val>
        </c:ser>
        <c:ser>
          <c:idx val="15"/>
          <c:order val="15"/>
          <c:tx>
            <c:strRef>
              <c:f>Tabelle1!$Q$1</c:f>
              <c:strCache>
                <c:ptCount val="1"/>
                <c:pt idx="0">
                  <c:v>Datenreihe 16</c:v>
                </c:pt>
              </c:strCache>
            </c:strRef>
          </c:tx>
          <c:cat>
            <c:strRef>
              <c:f>Tabelle1!$A$2</c:f>
              <c:strCache>
                <c:ptCount val="1"/>
                <c:pt idx="0">
                  <c:v>Kategorie 1</c:v>
                </c:pt>
              </c:strCache>
            </c:strRef>
          </c:cat>
          <c:val>
            <c:numRef>
              <c:f>Tabelle1!$Q$2</c:f>
              <c:numCache>
                <c:formatCode>General</c:formatCode>
                <c:ptCount val="1"/>
                <c:pt idx="0">
                  <c:v>6</c:v>
                </c:pt>
              </c:numCache>
            </c:numRef>
          </c:val>
        </c:ser>
        <c:ser>
          <c:idx val="16"/>
          <c:order val="16"/>
          <c:tx>
            <c:strRef>
              <c:f>Tabelle1!$R$1</c:f>
              <c:strCache>
                <c:ptCount val="1"/>
                <c:pt idx="0">
                  <c:v>Datenreihe 17</c:v>
                </c:pt>
              </c:strCache>
            </c:strRef>
          </c:tx>
          <c:cat>
            <c:strRef>
              <c:f>Tabelle1!$A$2</c:f>
              <c:strCache>
                <c:ptCount val="1"/>
                <c:pt idx="0">
                  <c:v>Kategorie 1</c:v>
                </c:pt>
              </c:strCache>
            </c:strRef>
          </c:cat>
          <c:val>
            <c:numRef>
              <c:f>Tabelle1!$R$2</c:f>
              <c:numCache>
                <c:formatCode>General</c:formatCode>
                <c:ptCount val="1"/>
                <c:pt idx="0">
                  <c:v>5</c:v>
                </c:pt>
              </c:numCache>
            </c:numRef>
          </c:val>
        </c:ser>
        <c:ser>
          <c:idx val="17"/>
          <c:order val="17"/>
          <c:tx>
            <c:strRef>
              <c:f>Tabelle1!$S$1</c:f>
              <c:strCache>
                <c:ptCount val="1"/>
                <c:pt idx="0">
                  <c:v>Datenreihe 18</c:v>
                </c:pt>
              </c:strCache>
            </c:strRef>
          </c:tx>
          <c:cat>
            <c:strRef>
              <c:f>Tabelle1!$A$2</c:f>
              <c:strCache>
                <c:ptCount val="1"/>
                <c:pt idx="0">
                  <c:v>Kategorie 1</c:v>
                </c:pt>
              </c:strCache>
            </c:strRef>
          </c:cat>
          <c:val>
            <c:numRef>
              <c:f>Tabelle1!$S$2</c:f>
              <c:numCache>
                <c:formatCode>General</c:formatCode>
                <c:ptCount val="1"/>
                <c:pt idx="0">
                  <c:v>1</c:v>
                </c:pt>
              </c:numCache>
            </c:numRef>
          </c:val>
        </c:ser>
        <c:ser>
          <c:idx val="18"/>
          <c:order val="18"/>
          <c:tx>
            <c:strRef>
              <c:f>Tabelle1!$T$1</c:f>
              <c:strCache>
                <c:ptCount val="1"/>
                <c:pt idx="0">
                  <c:v>Datenreihe 19</c:v>
                </c:pt>
              </c:strCache>
            </c:strRef>
          </c:tx>
          <c:cat>
            <c:strRef>
              <c:f>Tabelle1!$A$2</c:f>
              <c:strCache>
                <c:ptCount val="1"/>
                <c:pt idx="0">
                  <c:v>Kategorie 1</c:v>
                </c:pt>
              </c:strCache>
            </c:strRef>
          </c:cat>
          <c:val>
            <c:numRef>
              <c:f>Tabelle1!$T$2</c:f>
              <c:numCache>
                <c:formatCode>General</c:formatCode>
                <c:ptCount val="1"/>
                <c:pt idx="0">
                  <c:v>1</c:v>
                </c:pt>
              </c:numCache>
            </c:numRef>
          </c:val>
        </c:ser>
        <c:ser>
          <c:idx val="19"/>
          <c:order val="19"/>
          <c:tx>
            <c:strRef>
              <c:f>Tabelle1!$U$1</c:f>
              <c:strCache>
                <c:ptCount val="1"/>
                <c:pt idx="0">
                  <c:v>Datenreihe 20</c:v>
                </c:pt>
              </c:strCache>
            </c:strRef>
          </c:tx>
          <c:cat>
            <c:strRef>
              <c:f>Tabelle1!$A$2</c:f>
              <c:strCache>
                <c:ptCount val="1"/>
                <c:pt idx="0">
                  <c:v>Kategorie 1</c:v>
                </c:pt>
              </c:strCache>
            </c:strRef>
          </c:cat>
          <c:val>
            <c:numRef>
              <c:f>Tabelle1!$U$2</c:f>
              <c:numCache>
                <c:formatCode>General</c:formatCode>
                <c:ptCount val="1"/>
                <c:pt idx="0">
                  <c:v>1</c:v>
                </c:pt>
              </c:numCache>
            </c:numRef>
          </c:val>
        </c:ser>
        <c:ser>
          <c:idx val="20"/>
          <c:order val="20"/>
          <c:tx>
            <c:strRef>
              <c:f>Tabelle1!$V$1</c:f>
              <c:strCache>
                <c:ptCount val="1"/>
                <c:pt idx="0">
                  <c:v>Datenreihe 21</c:v>
                </c:pt>
              </c:strCache>
            </c:strRef>
          </c:tx>
          <c:cat>
            <c:strRef>
              <c:f>Tabelle1!$A$2</c:f>
              <c:strCache>
                <c:ptCount val="1"/>
                <c:pt idx="0">
                  <c:v>Kategorie 1</c:v>
                </c:pt>
              </c:strCache>
            </c:strRef>
          </c:cat>
          <c:val>
            <c:numRef>
              <c:f>Tabelle1!$V$2</c:f>
              <c:numCache>
                <c:formatCode>General</c:formatCode>
                <c:ptCount val="1"/>
                <c:pt idx="0">
                  <c:v>3</c:v>
                </c:pt>
              </c:numCache>
            </c:numRef>
          </c:val>
        </c:ser>
        <c:ser>
          <c:idx val="21"/>
          <c:order val="21"/>
          <c:tx>
            <c:strRef>
              <c:f>Tabelle1!$W$1</c:f>
              <c:strCache>
                <c:ptCount val="1"/>
                <c:pt idx="0">
                  <c:v>Datenreihe 22</c:v>
                </c:pt>
              </c:strCache>
            </c:strRef>
          </c:tx>
          <c:cat>
            <c:strRef>
              <c:f>Tabelle1!$A$2</c:f>
              <c:strCache>
                <c:ptCount val="1"/>
                <c:pt idx="0">
                  <c:v>Kategorie 1</c:v>
                </c:pt>
              </c:strCache>
            </c:strRef>
          </c:cat>
          <c:val>
            <c:numRef>
              <c:f>Tabelle1!$W$2</c:f>
              <c:numCache>
                <c:formatCode>General</c:formatCode>
                <c:ptCount val="1"/>
                <c:pt idx="0">
                  <c:v>6</c:v>
                </c:pt>
              </c:numCache>
            </c:numRef>
          </c:val>
        </c:ser>
        <c:ser>
          <c:idx val="22"/>
          <c:order val="22"/>
          <c:tx>
            <c:strRef>
              <c:f>Tabelle1!$X$1</c:f>
              <c:strCache>
                <c:ptCount val="1"/>
                <c:pt idx="0">
                  <c:v>Datenreihe 23</c:v>
                </c:pt>
              </c:strCache>
            </c:strRef>
          </c:tx>
          <c:cat>
            <c:strRef>
              <c:f>Tabelle1!$A$2</c:f>
              <c:strCache>
                <c:ptCount val="1"/>
                <c:pt idx="0">
                  <c:v>Kategorie 1</c:v>
                </c:pt>
              </c:strCache>
            </c:strRef>
          </c:cat>
          <c:val>
            <c:numRef>
              <c:f>Tabelle1!$X$2</c:f>
              <c:numCache>
                <c:formatCode>General</c:formatCode>
                <c:ptCount val="1"/>
                <c:pt idx="0">
                  <c:v>5</c:v>
                </c:pt>
              </c:numCache>
            </c:numRef>
          </c:val>
        </c:ser>
        <c:ser>
          <c:idx val="23"/>
          <c:order val="23"/>
          <c:tx>
            <c:strRef>
              <c:f>Tabelle1!$Y$1</c:f>
              <c:strCache>
                <c:ptCount val="1"/>
                <c:pt idx="0">
                  <c:v>Datenreihe 24</c:v>
                </c:pt>
              </c:strCache>
            </c:strRef>
          </c:tx>
          <c:cat>
            <c:strRef>
              <c:f>Tabelle1!$A$2</c:f>
              <c:strCache>
                <c:ptCount val="1"/>
                <c:pt idx="0">
                  <c:v>Kategorie 1</c:v>
                </c:pt>
              </c:strCache>
            </c:strRef>
          </c:cat>
          <c:val>
            <c:numRef>
              <c:f>Tabelle1!$Y$2</c:f>
              <c:numCache>
                <c:formatCode>General</c:formatCode>
                <c:ptCount val="1"/>
                <c:pt idx="0">
                  <c:v>5</c:v>
                </c:pt>
              </c:numCache>
            </c:numRef>
          </c:val>
        </c:ser>
        <c:ser>
          <c:idx val="24"/>
          <c:order val="24"/>
          <c:tx>
            <c:strRef>
              <c:f>Tabelle1!$Z$1</c:f>
              <c:strCache>
                <c:ptCount val="1"/>
                <c:pt idx="0">
                  <c:v>Datenreihe 25</c:v>
                </c:pt>
              </c:strCache>
            </c:strRef>
          </c:tx>
          <c:cat>
            <c:strRef>
              <c:f>Tabelle1!$A$2</c:f>
              <c:strCache>
                <c:ptCount val="1"/>
                <c:pt idx="0">
                  <c:v>Kategorie 1</c:v>
                </c:pt>
              </c:strCache>
            </c:strRef>
          </c:cat>
          <c:val>
            <c:numRef>
              <c:f>Tabelle1!$Z$2</c:f>
              <c:numCache>
                <c:formatCode>General</c:formatCode>
                <c:ptCount val="1"/>
                <c:pt idx="0">
                  <c:v>1</c:v>
                </c:pt>
              </c:numCache>
            </c:numRef>
          </c:val>
        </c:ser>
        <c:ser>
          <c:idx val="25"/>
          <c:order val="25"/>
          <c:tx>
            <c:strRef>
              <c:f>Tabelle1!$AA$1</c:f>
              <c:strCache>
                <c:ptCount val="1"/>
                <c:pt idx="0">
                  <c:v>Datenreihe 26</c:v>
                </c:pt>
              </c:strCache>
            </c:strRef>
          </c:tx>
          <c:cat>
            <c:strRef>
              <c:f>Tabelle1!$A$2</c:f>
              <c:strCache>
                <c:ptCount val="1"/>
                <c:pt idx="0">
                  <c:v>Kategorie 1</c:v>
                </c:pt>
              </c:strCache>
            </c:strRef>
          </c:cat>
          <c:val>
            <c:numRef>
              <c:f>Tabelle1!$AA$2</c:f>
              <c:numCache>
                <c:formatCode>General</c:formatCode>
                <c:ptCount val="1"/>
                <c:pt idx="0">
                  <c:v>1</c:v>
                </c:pt>
              </c:numCache>
            </c:numRef>
          </c:val>
        </c:ser>
        <c:ser>
          <c:idx val="26"/>
          <c:order val="26"/>
          <c:tx>
            <c:strRef>
              <c:f>Tabelle1!$AB$1</c:f>
              <c:strCache>
                <c:ptCount val="1"/>
                <c:pt idx="0">
                  <c:v>Datenreihe 27</c:v>
                </c:pt>
              </c:strCache>
            </c:strRef>
          </c:tx>
          <c:cat>
            <c:strRef>
              <c:f>Tabelle1!$A$2</c:f>
              <c:strCache>
                <c:ptCount val="1"/>
                <c:pt idx="0">
                  <c:v>Kategorie 1</c:v>
                </c:pt>
              </c:strCache>
            </c:strRef>
          </c:cat>
          <c:val>
            <c:numRef>
              <c:f>Tabelle1!$AB$2</c:f>
              <c:numCache>
                <c:formatCode>General</c:formatCode>
                <c:ptCount val="1"/>
                <c:pt idx="0">
                  <c:v>5</c:v>
                </c:pt>
              </c:numCache>
            </c:numRef>
          </c:val>
        </c:ser>
        <c:ser>
          <c:idx val="27"/>
          <c:order val="27"/>
          <c:tx>
            <c:strRef>
              <c:f>Tabelle1!$AC$1</c:f>
              <c:strCache>
                <c:ptCount val="1"/>
                <c:pt idx="0">
                  <c:v>Datenreihe 28</c:v>
                </c:pt>
              </c:strCache>
            </c:strRef>
          </c:tx>
          <c:cat>
            <c:strRef>
              <c:f>Tabelle1!$A$2</c:f>
              <c:strCache>
                <c:ptCount val="1"/>
                <c:pt idx="0">
                  <c:v>Kategorie 1</c:v>
                </c:pt>
              </c:strCache>
            </c:strRef>
          </c:cat>
          <c:val>
            <c:numRef>
              <c:f>Tabelle1!$AC$2</c:f>
              <c:numCache>
                <c:formatCode>General</c:formatCode>
                <c:ptCount val="1"/>
                <c:pt idx="0">
                  <c:v>8</c:v>
                </c:pt>
              </c:numCache>
            </c:numRef>
          </c:val>
        </c:ser>
        <c:ser>
          <c:idx val="28"/>
          <c:order val="28"/>
          <c:tx>
            <c:strRef>
              <c:f>Tabelle1!$AD$1</c:f>
              <c:strCache>
                <c:ptCount val="1"/>
                <c:pt idx="0">
                  <c:v>Datenreihe 29</c:v>
                </c:pt>
              </c:strCache>
            </c:strRef>
          </c:tx>
          <c:cat>
            <c:strRef>
              <c:f>Tabelle1!$A$2</c:f>
              <c:strCache>
                <c:ptCount val="1"/>
                <c:pt idx="0">
                  <c:v>Kategorie 1</c:v>
                </c:pt>
              </c:strCache>
            </c:strRef>
          </c:cat>
          <c:val>
            <c:numRef>
              <c:f>Tabelle1!$AD$2</c:f>
              <c:numCache>
                <c:formatCode>General</c:formatCode>
                <c:ptCount val="1"/>
                <c:pt idx="0">
                  <c:v>9</c:v>
                </c:pt>
              </c:numCache>
            </c:numRef>
          </c:val>
        </c:ser>
        <c:ser>
          <c:idx val="29"/>
          <c:order val="29"/>
          <c:tx>
            <c:strRef>
              <c:f>Tabelle1!$AE$1</c:f>
              <c:strCache>
                <c:ptCount val="1"/>
                <c:pt idx="0">
                  <c:v>Datenreihe 30</c:v>
                </c:pt>
              </c:strCache>
            </c:strRef>
          </c:tx>
          <c:cat>
            <c:strRef>
              <c:f>Tabelle1!$A$2</c:f>
              <c:strCache>
                <c:ptCount val="1"/>
                <c:pt idx="0">
                  <c:v>Kategorie 1</c:v>
                </c:pt>
              </c:strCache>
            </c:strRef>
          </c:cat>
          <c:val>
            <c:numRef>
              <c:f>Tabelle1!$AE$2</c:f>
              <c:numCache>
                <c:formatCode>General</c:formatCode>
                <c:ptCount val="1"/>
                <c:pt idx="0">
                  <c:v>5</c:v>
                </c:pt>
              </c:numCache>
            </c:numRef>
          </c:val>
        </c:ser>
        <c:ser>
          <c:idx val="30"/>
          <c:order val="30"/>
          <c:tx>
            <c:strRef>
              <c:f>Tabelle1!$AF$1</c:f>
              <c:strCache>
                <c:ptCount val="1"/>
                <c:pt idx="0">
                  <c:v>Datenreihe 31</c:v>
                </c:pt>
              </c:strCache>
            </c:strRef>
          </c:tx>
          <c:cat>
            <c:strRef>
              <c:f>Tabelle1!$A$2</c:f>
              <c:strCache>
                <c:ptCount val="1"/>
                <c:pt idx="0">
                  <c:v>Kategorie 1</c:v>
                </c:pt>
              </c:strCache>
            </c:strRef>
          </c:cat>
          <c:val>
            <c:numRef>
              <c:f>Tabelle1!$AF$2</c:f>
              <c:numCache>
                <c:formatCode>General</c:formatCode>
                <c:ptCount val="1"/>
                <c:pt idx="0">
                  <c:v>4</c:v>
                </c:pt>
              </c:numCache>
            </c:numRef>
          </c:val>
        </c:ser>
        <c:ser>
          <c:idx val="31"/>
          <c:order val="31"/>
          <c:tx>
            <c:strRef>
              <c:f>Tabelle1!$AG$1</c:f>
              <c:strCache>
                <c:ptCount val="1"/>
                <c:pt idx="0">
                  <c:v>Datenreihe 32</c:v>
                </c:pt>
              </c:strCache>
            </c:strRef>
          </c:tx>
          <c:cat>
            <c:strRef>
              <c:f>Tabelle1!$A$2</c:f>
              <c:strCache>
                <c:ptCount val="1"/>
                <c:pt idx="0">
                  <c:v>Kategorie 1</c:v>
                </c:pt>
              </c:strCache>
            </c:strRef>
          </c:cat>
          <c:val>
            <c:numRef>
              <c:f>Tabelle1!$AG$2</c:f>
              <c:numCache>
                <c:formatCode>General</c:formatCode>
                <c:ptCount val="1"/>
                <c:pt idx="0">
                  <c:v>1</c:v>
                </c:pt>
              </c:numCache>
            </c:numRef>
          </c:val>
        </c:ser>
        <c:ser>
          <c:idx val="32"/>
          <c:order val="32"/>
          <c:tx>
            <c:strRef>
              <c:f>Tabelle1!$AH$1</c:f>
              <c:strCache>
                <c:ptCount val="1"/>
                <c:pt idx="0">
                  <c:v>Datenreihe 33</c:v>
                </c:pt>
              </c:strCache>
            </c:strRef>
          </c:tx>
          <c:cat>
            <c:strRef>
              <c:f>Tabelle1!$A$2</c:f>
              <c:strCache>
                <c:ptCount val="1"/>
                <c:pt idx="0">
                  <c:v>Kategorie 1</c:v>
                </c:pt>
              </c:strCache>
            </c:strRef>
          </c:cat>
          <c:val>
            <c:numRef>
              <c:f>Tabelle1!$AH$2</c:f>
              <c:numCache>
                <c:formatCode>General</c:formatCode>
                <c:ptCount val="1"/>
                <c:pt idx="0">
                  <c:v>5</c:v>
                </c:pt>
              </c:numCache>
            </c:numRef>
          </c:val>
        </c:ser>
        <c:ser>
          <c:idx val="33"/>
          <c:order val="33"/>
          <c:tx>
            <c:strRef>
              <c:f>Tabelle1!$AI$1</c:f>
              <c:strCache>
                <c:ptCount val="1"/>
                <c:pt idx="0">
                  <c:v>Datenreihe 34</c:v>
                </c:pt>
              </c:strCache>
            </c:strRef>
          </c:tx>
          <c:cat>
            <c:strRef>
              <c:f>Tabelle1!$A$2</c:f>
              <c:strCache>
                <c:ptCount val="1"/>
                <c:pt idx="0">
                  <c:v>Kategorie 1</c:v>
                </c:pt>
              </c:strCache>
            </c:strRef>
          </c:cat>
          <c:val>
            <c:numRef>
              <c:f>Tabelle1!$AI$2</c:f>
              <c:numCache>
                <c:formatCode>General</c:formatCode>
                <c:ptCount val="1"/>
                <c:pt idx="0">
                  <c:v>1</c:v>
                </c:pt>
              </c:numCache>
            </c:numRef>
          </c:val>
        </c:ser>
        <c:ser>
          <c:idx val="34"/>
          <c:order val="34"/>
          <c:tx>
            <c:strRef>
              <c:f>Tabelle1!$AJ$1</c:f>
              <c:strCache>
                <c:ptCount val="1"/>
                <c:pt idx="0">
                  <c:v>Datenreihe 35</c:v>
                </c:pt>
              </c:strCache>
            </c:strRef>
          </c:tx>
          <c:cat>
            <c:strRef>
              <c:f>Tabelle1!$A$2</c:f>
              <c:strCache>
                <c:ptCount val="1"/>
                <c:pt idx="0">
                  <c:v>Kategorie 1</c:v>
                </c:pt>
              </c:strCache>
            </c:strRef>
          </c:cat>
          <c:val>
            <c:numRef>
              <c:f>Tabelle1!$AJ$2</c:f>
              <c:numCache>
                <c:formatCode>General</c:formatCode>
                <c:ptCount val="1"/>
                <c:pt idx="0">
                  <c:v>4</c:v>
                </c:pt>
              </c:numCache>
            </c:numRef>
          </c:val>
        </c:ser>
        <c:ser>
          <c:idx val="35"/>
          <c:order val="35"/>
          <c:tx>
            <c:strRef>
              <c:f>Tabelle1!$AK$1</c:f>
              <c:strCache>
                <c:ptCount val="1"/>
                <c:pt idx="0">
                  <c:v>Datenreihe 36</c:v>
                </c:pt>
              </c:strCache>
            </c:strRef>
          </c:tx>
          <c:cat>
            <c:strRef>
              <c:f>Tabelle1!$A$2</c:f>
              <c:strCache>
                <c:ptCount val="1"/>
                <c:pt idx="0">
                  <c:v>Kategorie 1</c:v>
                </c:pt>
              </c:strCache>
            </c:strRef>
          </c:cat>
          <c:val>
            <c:numRef>
              <c:f>Tabelle1!$AK$2</c:f>
              <c:numCache>
                <c:formatCode>General</c:formatCode>
                <c:ptCount val="1"/>
                <c:pt idx="0">
                  <c:v>2</c:v>
                </c:pt>
              </c:numCache>
            </c:numRef>
          </c:val>
        </c:ser>
        <c:axId val="96101120"/>
        <c:axId val="96102656"/>
      </c:barChart>
      <c:catAx>
        <c:axId val="96101120"/>
        <c:scaling>
          <c:orientation val="minMax"/>
        </c:scaling>
        <c:delete val="1"/>
        <c:axPos val="b"/>
        <c:tickLblPos val="none"/>
        <c:crossAx val="96102656"/>
        <c:crosses val="autoZero"/>
        <c:auto val="1"/>
        <c:lblAlgn val="ctr"/>
        <c:lblOffset val="100"/>
      </c:catAx>
      <c:valAx>
        <c:axId val="96102656"/>
        <c:scaling>
          <c:orientation val="minMax"/>
        </c:scaling>
        <c:delete val="1"/>
        <c:axPos val="l"/>
        <c:majorGridlines/>
        <c:numFmt formatCode="General" sourceLinked="1"/>
        <c:tickLblPos val="none"/>
        <c:crossAx val="96101120"/>
        <c:crosses val="autoZero"/>
        <c:crossBetween val="between"/>
      </c:valAx>
    </c:plotArea>
    <c:plotVisOnly val="1"/>
    <c:dispBlanksAs val="gap"/>
  </c:chart>
  <c:txPr>
    <a:bodyPr/>
    <a:lstStyle/>
    <a:p>
      <a:pPr>
        <a:defRPr sz="1800"/>
      </a:pPr>
      <a:endParaRPr lang="zh-TW"/>
    </a:p>
  </c:txPr>
  <c:externalData r:id="rId1"/>
</c:chartSpace>
</file>

<file path=ppt/charts/chart3.xml><?xml version="1.0" encoding="utf-8"?>
<c:chartSpace xmlns:c="http://schemas.openxmlformats.org/drawingml/2006/chart" xmlns:a="http://schemas.openxmlformats.org/drawingml/2006/main" xmlns:r="http://schemas.openxmlformats.org/officeDocument/2006/relationships">
  <c:date1904 val="1"/>
  <c:lang val="zh-TW"/>
  <c:chart>
    <c:plotArea>
      <c:layout/>
      <c:barChart>
        <c:barDir val="col"/>
        <c:grouping val="clustered"/>
        <c:ser>
          <c:idx val="0"/>
          <c:order val="0"/>
          <c:tx>
            <c:strRef>
              <c:f>Tabelle1!$B$1</c:f>
              <c:strCache>
                <c:ptCount val="1"/>
                <c:pt idx="0">
                  <c:v>Datenreihe 1</c:v>
                </c:pt>
              </c:strCache>
            </c:strRef>
          </c:tx>
          <c:cat>
            <c:strRef>
              <c:f>Tabelle1!$A$2</c:f>
              <c:strCache>
                <c:ptCount val="1"/>
                <c:pt idx="0">
                  <c:v>Kategorie 1</c:v>
                </c:pt>
              </c:strCache>
            </c:strRef>
          </c:cat>
          <c:val>
            <c:numRef>
              <c:f>Tabelle1!$B$2</c:f>
              <c:numCache>
                <c:formatCode>General</c:formatCode>
                <c:ptCount val="1"/>
                <c:pt idx="0">
                  <c:v>1</c:v>
                </c:pt>
              </c:numCache>
            </c:numRef>
          </c:val>
        </c:ser>
        <c:ser>
          <c:idx val="1"/>
          <c:order val="1"/>
          <c:tx>
            <c:strRef>
              <c:f>Tabelle1!$C$1</c:f>
              <c:strCache>
                <c:ptCount val="1"/>
                <c:pt idx="0">
                  <c:v>Datenreihe 2</c:v>
                </c:pt>
              </c:strCache>
            </c:strRef>
          </c:tx>
          <c:cat>
            <c:strRef>
              <c:f>Tabelle1!$A$2</c:f>
              <c:strCache>
                <c:ptCount val="1"/>
                <c:pt idx="0">
                  <c:v>Kategorie 1</c:v>
                </c:pt>
              </c:strCache>
            </c:strRef>
          </c:cat>
          <c:val>
            <c:numRef>
              <c:f>Tabelle1!$C$2</c:f>
              <c:numCache>
                <c:formatCode>General</c:formatCode>
                <c:ptCount val="1"/>
                <c:pt idx="0">
                  <c:v>5</c:v>
                </c:pt>
              </c:numCache>
            </c:numRef>
          </c:val>
        </c:ser>
        <c:ser>
          <c:idx val="2"/>
          <c:order val="2"/>
          <c:tx>
            <c:strRef>
              <c:f>Tabelle1!$D$1</c:f>
              <c:strCache>
                <c:ptCount val="1"/>
                <c:pt idx="0">
                  <c:v>Datenreihe 3</c:v>
                </c:pt>
              </c:strCache>
            </c:strRef>
          </c:tx>
          <c:cat>
            <c:strRef>
              <c:f>Tabelle1!$A$2</c:f>
              <c:strCache>
                <c:ptCount val="1"/>
                <c:pt idx="0">
                  <c:v>Kategorie 1</c:v>
                </c:pt>
              </c:strCache>
            </c:strRef>
          </c:cat>
          <c:val>
            <c:numRef>
              <c:f>Tabelle1!$D$2</c:f>
              <c:numCache>
                <c:formatCode>General</c:formatCode>
                <c:ptCount val="1"/>
                <c:pt idx="0">
                  <c:v>2</c:v>
                </c:pt>
              </c:numCache>
            </c:numRef>
          </c:val>
        </c:ser>
        <c:ser>
          <c:idx val="3"/>
          <c:order val="3"/>
          <c:tx>
            <c:strRef>
              <c:f>Tabelle1!$E$1</c:f>
              <c:strCache>
                <c:ptCount val="1"/>
                <c:pt idx="0">
                  <c:v>Datenreihe 4</c:v>
                </c:pt>
              </c:strCache>
            </c:strRef>
          </c:tx>
          <c:cat>
            <c:strRef>
              <c:f>Tabelle1!$A$2</c:f>
              <c:strCache>
                <c:ptCount val="1"/>
                <c:pt idx="0">
                  <c:v>Kategorie 1</c:v>
                </c:pt>
              </c:strCache>
            </c:strRef>
          </c:cat>
          <c:val>
            <c:numRef>
              <c:f>Tabelle1!$E$2</c:f>
              <c:numCache>
                <c:formatCode>General</c:formatCode>
                <c:ptCount val="1"/>
                <c:pt idx="0">
                  <c:v>3</c:v>
                </c:pt>
              </c:numCache>
            </c:numRef>
          </c:val>
        </c:ser>
        <c:ser>
          <c:idx val="4"/>
          <c:order val="4"/>
          <c:tx>
            <c:strRef>
              <c:f>Tabelle1!$F$1</c:f>
              <c:strCache>
                <c:ptCount val="1"/>
                <c:pt idx="0">
                  <c:v>Datenreihe 5</c:v>
                </c:pt>
              </c:strCache>
            </c:strRef>
          </c:tx>
          <c:cat>
            <c:strRef>
              <c:f>Tabelle1!$A$2</c:f>
              <c:strCache>
                <c:ptCount val="1"/>
                <c:pt idx="0">
                  <c:v>Kategorie 1</c:v>
                </c:pt>
              </c:strCache>
            </c:strRef>
          </c:cat>
          <c:val>
            <c:numRef>
              <c:f>Tabelle1!$F$2</c:f>
              <c:numCache>
                <c:formatCode>General</c:formatCode>
                <c:ptCount val="1"/>
                <c:pt idx="0">
                  <c:v>5</c:v>
                </c:pt>
              </c:numCache>
            </c:numRef>
          </c:val>
        </c:ser>
        <c:ser>
          <c:idx val="5"/>
          <c:order val="5"/>
          <c:tx>
            <c:strRef>
              <c:f>Tabelle1!$G$1</c:f>
              <c:strCache>
                <c:ptCount val="1"/>
                <c:pt idx="0">
                  <c:v>Datenreihe 6</c:v>
                </c:pt>
              </c:strCache>
            </c:strRef>
          </c:tx>
          <c:cat>
            <c:strRef>
              <c:f>Tabelle1!$A$2</c:f>
              <c:strCache>
                <c:ptCount val="1"/>
                <c:pt idx="0">
                  <c:v>Kategorie 1</c:v>
                </c:pt>
              </c:strCache>
            </c:strRef>
          </c:cat>
          <c:val>
            <c:numRef>
              <c:f>Tabelle1!$G$2</c:f>
              <c:numCache>
                <c:formatCode>General</c:formatCode>
                <c:ptCount val="1"/>
                <c:pt idx="0">
                  <c:v>5</c:v>
                </c:pt>
              </c:numCache>
            </c:numRef>
          </c:val>
        </c:ser>
        <c:ser>
          <c:idx val="6"/>
          <c:order val="6"/>
          <c:tx>
            <c:strRef>
              <c:f>Tabelle1!$H$1</c:f>
              <c:strCache>
                <c:ptCount val="1"/>
                <c:pt idx="0">
                  <c:v>Datenreihe 7</c:v>
                </c:pt>
              </c:strCache>
            </c:strRef>
          </c:tx>
          <c:cat>
            <c:strRef>
              <c:f>Tabelle1!$A$2</c:f>
              <c:strCache>
                <c:ptCount val="1"/>
                <c:pt idx="0">
                  <c:v>Kategorie 1</c:v>
                </c:pt>
              </c:strCache>
            </c:strRef>
          </c:cat>
          <c:val>
            <c:numRef>
              <c:f>Tabelle1!$H$2</c:f>
              <c:numCache>
                <c:formatCode>General</c:formatCode>
                <c:ptCount val="1"/>
                <c:pt idx="0">
                  <c:v>4</c:v>
                </c:pt>
              </c:numCache>
            </c:numRef>
          </c:val>
        </c:ser>
        <c:ser>
          <c:idx val="7"/>
          <c:order val="7"/>
          <c:tx>
            <c:strRef>
              <c:f>Tabelle1!$I$1</c:f>
              <c:strCache>
                <c:ptCount val="1"/>
                <c:pt idx="0">
                  <c:v>Datenreihe 8</c:v>
                </c:pt>
              </c:strCache>
            </c:strRef>
          </c:tx>
          <c:cat>
            <c:strRef>
              <c:f>Tabelle1!$A$2</c:f>
              <c:strCache>
                <c:ptCount val="1"/>
                <c:pt idx="0">
                  <c:v>Kategorie 1</c:v>
                </c:pt>
              </c:strCache>
            </c:strRef>
          </c:cat>
          <c:val>
            <c:numRef>
              <c:f>Tabelle1!$I$2</c:f>
              <c:numCache>
                <c:formatCode>General</c:formatCode>
                <c:ptCount val="1"/>
                <c:pt idx="0">
                  <c:v>8</c:v>
                </c:pt>
              </c:numCache>
            </c:numRef>
          </c:val>
        </c:ser>
        <c:ser>
          <c:idx val="8"/>
          <c:order val="8"/>
          <c:tx>
            <c:strRef>
              <c:f>Tabelle1!$J$1</c:f>
              <c:strCache>
                <c:ptCount val="1"/>
                <c:pt idx="0">
                  <c:v>Datenreihe 9</c:v>
                </c:pt>
              </c:strCache>
            </c:strRef>
          </c:tx>
          <c:cat>
            <c:strRef>
              <c:f>Tabelle1!$A$2</c:f>
              <c:strCache>
                <c:ptCount val="1"/>
                <c:pt idx="0">
                  <c:v>Kategorie 1</c:v>
                </c:pt>
              </c:strCache>
            </c:strRef>
          </c:cat>
          <c:val>
            <c:numRef>
              <c:f>Tabelle1!$J$2</c:f>
              <c:numCache>
                <c:formatCode>General</c:formatCode>
                <c:ptCount val="1"/>
                <c:pt idx="0">
                  <c:v>9</c:v>
                </c:pt>
              </c:numCache>
            </c:numRef>
          </c:val>
        </c:ser>
        <c:ser>
          <c:idx val="9"/>
          <c:order val="9"/>
          <c:tx>
            <c:strRef>
              <c:f>Tabelle1!$K$1</c:f>
              <c:strCache>
                <c:ptCount val="1"/>
                <c:pt idx="0">
                  <c:v>Datenreihe 10</c:v>
                </c:pt>
              </c:strCache>
            </c:strRef>
          </c:tx>
          <c:cat>
            <c:strRef>
              <c:f>Tabelle1!$A$2</c:f>
              <c:strCache>
                <c:ptCount val="1"/>
                <c:pt idx="0">
                  <c:v>Kategorie 1</c:v>
                </c:pt>
              </c:strCache>
            </c:strRef>
          </c:cat>
          <c:val>
            <c:numRef>
              <c:f>Tabelle1!$K$2</c:f>
              <c:numCache>
                <c:formatCode>General</c:formatCode>
                <c:ptCount val="1"/>
                <c:pt idx="0">
                  <c:v>5</c:v>
                </c:pt>
              </c:numCache>
            </c:numRef>
          </c:val>
        </c:ser>
        <c:ser>
          <c:idx val="10"/>
          <c:order val="10"/>
          <c:tx>
            <c:strRef>
              <c:f>Tabelle1!$L$1</c:f>
              <c:strCache>
                <c:ptCount val="1"/>
                <c:pt idx="0">
                  <c:v>Datenreihe 11</c:v>
                </c:pt>
              </c:strCache>
            </c:strRef>
          </c:tx>
          <c:cat>
            <c:strRef>
              <c:f>Tabelle1!$A$2</c:f>
              <c:strCache>
                <c:ptCount val="1"/>
                <c:pt idx="0">
                  <c:v>Kategorie 1</c:v>
                </c:pt>
              </c:strCache>
            </c:strRef>
          </c:cat>
          <c:val>
            <c:numRef>
              <c:f>Tabelle1!$L$2</c:f>
              <c:numCache>
                <c:formatCode>General</c:formatCode>
                <c:ptCount val="1"/>
                <c:pt idx="0">
                  <c:v>1</c:v>
                </c:pt>
              </c:numCache>
            </c:numRef>
          </c:val>
        </c:ser>
        <c:ser>
          <c:idx val="11"/>
          <c:order val="11"/>
          <c:tx>
            <c:strRef>
              <c:f>Tabelle1!$M$1</c:f>
              <c:strCache>
                <c:ptCount val="1"/>
                <c:pt idx="0">
                  <c:v>Datenreihe 12</c:v>
                </c:pt>
              </c:strCache>
            </c:strRef>
          </c:tx>
          <c:cat>
            <c:strRef>
              <c:f>Tabelle1!$A$2</c:f>
              <c:strCache>
                <c:ptCount val="1"/>
                <c:pt idx="0">
                  <c:v>Kategorie 1</c:v>
                </c:pt>
              </c:strCache>
            </c:strRef>
          </c:cat>
          <c:val>
            <c:numRef>
              <c:f>Tabelle1!$M$2</c:f>
              <c:numCache>
                <c:formatCode>General</c:formatCode>
                <c:ptCount val="1"/>
                <c:pt idx="0">
                  <c:v>2</c:v>
                </c:pt>
              </c:numCache>
            </c:numRef>
          </c:val>
        </c:ser>
        <c:ser>
          <c:idx val="12"/>
          <c:order val="12"/>
          <c:tx>
            <c:strRef>
              <c:f>Tabelle1!$N$1</c:f>
              <c:strCache>
                <c:ptCount val="1"/>
                <c:pt idx="0">
                  <c:v>Datenreihe 13</c:v>
                </c:pt>
              </c:strCache>
            </c:strRef>
          </c:tx>
          <c:cat>
            <c:strRef>
              <c:f>Tabelle1!$A$2</c:f>
              <c:strCache>
                <c:ptCount val="1"/>
                <c:pt idx="0">
                  <c:v>Kategorie 1</c:v>
                </c:pt>
              </c:strCache>
            </c:strRef>
          </c:cat>
          <c:val>
            <c:numRef>
              <c:f>Tabelle1!$N$2</c:f>
              <c:numCache>
                <c:formatCode>General</c:formatCode>
                <c:ptCount val="1"/>
                <c:pt idx="0">
                  <c:v>6</c:v>
                </c:pt>
              </c:numCache>
            </c:numRef>
          </c:val>
        </c:ser>
        <c:ser>
          <c:idx val="13"/>
          <c:order val="13"/>
          <c:tx>
            <c:strRef>
              <c:f>Tabelle1!$O$1</c:f>
              <c:strCache>
                <c:ptCount val="1"/>
                <c:pt idx="0">
                  <c:v>Datenreihe 14</c:v>
                </c:pt>
              </c:strCache>
            </c:strRef>
          </c:tx>
          <c:cat>
            <c:strRef>
              <c:f>Tabelle1!$A$2</c:f>
              <c:strCache>
                <c:ptCount val="1"/>
                <c:pt idx="0">
                  <c:v>Kategorie 1</c:v>
                </c:pt>
              </c:strCache>
            </c:strRef>
          </c:cat>
          <c:val>
            <c:numRef>
              <c:f>Tabelle1!$O$2</c:f>
              <c:numCache>
                <c:formatCode>General</c:formatCode>
                <c:ptCount val="1"/>
                <c:pt idx="0">
                  <c:v>1</c:v>
                </c:pt>
              </c:numCache>
            </c:numRef>
          </c:val>
        </c:ser>
        <c:ser>
          <c:idx val="14"/>
          <c:order val="14"/>
          <c:tx>
            <c:strRef>
              <c:f>Tabelle1!$P$1</c:f>
              <c:strCache>
                <c:ptCount val="1"/>
                <c:pt idx="0">
                  <c:v>Datenreihe 15</c:v>
                </c:pt>
              </c:strCache>
            </c:strRef>
          </c:tx>
          <c:cat>
            <c:strRef>
              <c:f>Tabelle1!$A$2</c:f>
              <c:strCache>
                <c:ptCount val="1"/>
                <c:pt idx="0">
                  <c:v>Kategorie 1</c:v>
                </c:pt>
              </c:strCache>
            </c:strRef>
          </c:cat>
          <c:val>
            <c:numRef>
              <c:f>Tabelle1!$P$2</c:f>
              <c:numCache>
                <c:formatCode>General</c:formatCode>
                <c:ptCount val="1"/>
                <c:pt idx="0">
                  <c:v>5</c:v>
                </c:pt>
              </c:numCache>
            </c:numRef>
          </c:val>
        </c:ser>
        <c:ser>
          <c:idx val="15"/>
          <c:order val="15"/>
          <c:tx>
            <c:strRef>
              <c:f>Tabelle1!$Q$1</c:f>
              <c:strCache>
                <c:ptCount val="1"/>
                <c:pt idx="0">
                  <c:v>Datenreihe 16</c:v>
                </c:pt>
              </c:strCache>
            </c:strRef>
          </c:tx>
          <c:cat>
            <c:strRef>
              <c:f>Tabelle1!$A$2</c:f>
              <c:strCache>
                <c:ptCount val="1"/>
                <c:pt idx="0">
                  <c:v>Kategorie 1</c:v>
                </c:pt>
              </c:strCache>
            </c:strRef>
          </c:cat>
          <c:val>
            <c:numRef>
              <c:f>Tabelle1!$Q$2</c:f>
              <c:numCache>
                <c:formatCode>General</c:formatCode>
                <c:ptCount val="1"/>
                <c:pt idx="0">
                  <c:v>6</c:v>
                </c:pt>
              </c:numCache>
            </c:numRef>
          </c:val>
        </c:ser>
        <c:ser>
          <c:idx val="16"/>
          <c:order val="16"/>
          <c:tx>
            <c:strRef>
              <c:f>Tabelle1!$R$1</c:f>
              <c:strCache>
                <c:ptCount val="1"/>
                <c:pt idx="0">
                  <c:v>Datenreihe 17</c:v>
                </c:pt>
              </c:strCache>
            </c:strRef>
          </c:tx>
          <c:cat>
            <c:strRef>
              <c:f>Tabelle1!$A$2</c:f>
              <c:strCache>
                <c:ptCount val="1"/>
                <c:pt idx="0">
                  <c:v>Kategorie 1</c:v>
                </c:pt>
              </c:strCache>
            </c:strRef>
          </c:cat>
          <c:val>
            <c:numRef>
              <c:f>Tabelle1!$R$2</c:f>
              <c:numCache>
                <c:formatCode>General</c:formatCode>
                <c:ptCount val="1"/>
                <c:pt idx="0">
                  <c:v>4</c:v>
                </c:pt>
              </c:numCache>
            </c:numRef>
          </c:val>
        </c:ser>
        <c:ser>
          <c:idx val="17"/>
          <c:order val="17"/>
          <c:tx>
            <c:strRef>
              <c:f>Tabelle1!$S$1</c:f>
              <c:strCache>
                <c:ptCount val="1"/>
                <c:pt idx="0">
                  <c:v>Datenreihe 18</c:v>
                </c:pt>
              </c:strCache>
            </c:strRef>
          </c:tx>
          <c:cat>
            <c:strRef>
              <c:f>Tabelle1!$A$2</c:f>
              <c:strCache>
                <c:ptCount val="1"/>
                <c:pt idx="0">
                  <c:v>Kategorie 1</c:v>
                </c:pt>
              </c:strCache>
            </c:strRef>
          </c:cat>
          <c:val>
            <c:numRef>
              <c:f>Tabelle1!$S$2</c:f>
              <c:numCache>
                <c:formatCode>General</c:formatCode>
                <c:ptCount val="1"/>
                <c:pt idx="0">
                  <c:v>1</c:v>
                </c:pt>
              </c:numCache>
            </c:numRef>
          </c:val>
        </c:ser>
        <c:ser>
          <c:idx val="18"/>
          <c:order val="18"/>
          <c:tx>
            <c:strRef>
              <c:f>Tabelle1!$T$1</c:f>
              <c:strCache>
                <c:ptCount val="1"/>
                <c:pt idx="0">
                  <c:v>Datenreihe 19</c:v>
                </c:pt>
              </c:strCache>
            </c:strRef>
          </c:tx>
          <c:cat>
            <c:strRef>
              <c:f>Tabelle1!$A$2</c:f>
              <c:strCache>
                <c:ptCount val="1"/>
                <c:pt idx="0">
                  <c:v>Kategorie 1</c:v>
                </c:pt>
              </c:strCache>
            </c:strRef>
          </c:cat>
          <c:val>
            <c:numRef>
              <c:f>Tabelle1!$T$2</c:f>
              <c:numCache>
                <c:formatCode>General</c:formatCode>
                <c:ptCount val="1"/>
                <c:pt idx="0">
                  <c:v>5</c:v>
                </c:pt>
              </c:numCache>
            </c:numRef>
          </c:val>
        </c:ser>
        <c:ser>
          <c:idx val="19"/>
          <c:order val="19"/>
          <c:tx>
            <c:strRef>
              <c:f>Tabelle1!$U$1</c:f>
              <c:strCache>
                <c:ptCount val="1"/>
                <c:pt idx="0">
                  <c:v>Datenreihe 20</c:v>
                </c:pt>
              </c:strCache>
            </c:strRef>
          </c:tx>
          <c:cat>
            <c:strRef>
              <c:f>Tabelle1!$A$2</c:f>
              <c:strCache>
                <c:ptCount val="1"/>
                <c:pt idx="0">
                  <c:v>Kategorie 1</c:v>
                </c:pt>
              </c:strCache>
            </c:strRef>
          </c:cat>
          <c:val>
            <c:numRef>
              <c:f>Tabelle1!$U$2</c:f>
              <c:numCache>
                <c:formatCode>General</c:formatCode>
                <c:ptCount val="1"/>
                <c:pt idx="0">
                  <c:v>6</c:v>
                </c:pt>
              </c:numCache>
            </c:numRef>
          </c:val>
        </c:ser>
        <c:ser>
          <c:idx val="20"/>
          <c:order val="20"/>
          <c:tx>
            <c:strRef>
              <c:f>Tabelle1!$V$1</c:f>
              <c:strCache>
                <c:ptCount val="1"/>
                <c:pt idx="0">
                  <c:v>Datenreihe 21</c:v>
                </c:pt>
              </c:strCache>
            </c:strRef>
          </c:tx>
          <c:cat>
            <c:strRef>
              <c:f>Tabelle1!$A$2</c:f>
              <c:strCache>
                <c:ptCount val="1"/>
                <c:pt idx="0">
                  <c:v>Kategorie 1</c:v>
                </c:pt>
              </c:strCache>
            </c:strRef>
          </c:cat>
          <c:val>
            <c:numRef>
              <c:f>Tabelle1!$V$2</c:f>
              <c:numCache>
                <c:formatCode>General</c:formatCode>
                <c:ptCount val="1"/>
                <c:pt idx="0">
                  <c:v>2</c:v>
                </c:pt>
              </c:numCache>
            </c:numRef>
          </c:val>
        </c:ser>
        <c:ser>
          <c:idx val="21"/>
          <c:order val="21"/>
          <c:tx>
            <c:strRef>
              <c:f>Tabelle1!$W$1</c:f>
              <c:strCache>
                <c:ptCount val="1"/>
                <c:pt idx="0">
                  <c:v>Datenreihe 22</c:v>
                </c:pt>
              </c:strCache>
            </c:strRef>
          </c:tx>
          <c:cat>
            <c:strRef>
              <c:f>Tabelle1!$A$2</c:f>
              <c:strCache>
                <c:ptCount val="1"/>
                <c:pt idx="0">
                  <c:v>Kategorie 1</c:v>
                </c:pt>
              </c:strCache>
            </c:strRef>
          </c:cat>
          <c:val>
            <c:numRef>
              <c:f>Tabelle1!$W$2</c:f>
              <c:numCache>
                <c:formatCode>General</c:formatCode>
                <c:ptCount val="1"/>
                <c:pt idx="0">
                  <c:v>1</c:v>
                </c:pt>
              </c:numCache>
            </c:numRef>
          </c:val>
        </c:ser>
        <c:ser>
          <c:idx val="22"/>
          <c:order val="22"/>
          <c:tx>
            <c:strRef>
              <c:f>Tabelle1!$X$1</c:f>
              <c:strCache>
                <c:ptCount val="1"/>
                <c:pt idx="0">
                  <c:v>Datenreihe 23</c:v>
                </c:pt>
              </c:strCache>
            </c:strRef>
          </c:tx>
          <c:cat>
            <c:strRef>
              <c:f>Tabelle1!$A$2</c:f>
              <c:strCache>
                <c:ptCount val="1"/>
                <c:pt idx="0">
                  <c:v>Kategorie 1</c:v>
                </c:pt>
              </c:strCache>
            </c:strRef>
          </c:cat>
          <c:val>
            <c:numRef>
              <c:f>Tabelle1!$X$2</c:f>
              <c:numCache>
                <c:formatCode>General</c:formatCode>
                <c:ptCount val="1"/>
                <c:pt idx="0">
                  <c:v>1</c:v>
                </c:pt>
              </c:numCache>
            </c:numRef>
          </c:val>
        </c:ser>
        <c:ser>
          <c:idx val="23"/>
          <c:order val="23"/>
          <c:tx>
            <c:strRef>
              <c:f>Tabelle1!$Y$1</c:f>
              <c:strCache>
                <c:ptCount val="1"/>
                <c:pt idx="0">
                  <c:v>Datenreihe 24</c:v>
                </c:pt>
              </c:strCache>
            </c:strRef>
          </c:tx>
          <c:cat>
            <c:strRef>
              <c:f>Tabelle1!$A$2</c:f>
              <c:strCache>
                <c:ptCount val="1"/>
                <c:pt idx="0">
                  <c:v>Kategorie 1</c:v>
                </c:pt>
              </c:strCache>
            </c:strRef>
          </c:cat>
          <c:val>
            <c:numRef>
              <c:f>Tabelle1!$Y$2</c:f>
              <c:numCache>
                <c:formatCode>General</c:formatCode>
                <c:ptCount val="1"/>
                <c:pt idx="0">
                  <c:v>5</c:v>
                </c:pt>
              </c:numCache>
            </c:numRef>
          </c:val>
        </c:ser>
        <c:ser>
          <c:idx val="24"/>
          <c:order val="24"/>
          <c:tx>
            <c:strRef>
              <c:f>Tabelle1!$Z$1</c:f>
              <c:strCache>
                <c:ptCount val="1"/>
                <c:pt idx="0">
                  <c:v>Datenreihe 25</c:v>
                </c:pt>
              </c:strCache>
            </c:strRef>
          </c:tx>
          <c:cat>
            <c:strRef>
              <c:f>Tabelle1!$A$2</c:f>
              <c:strCache>
                <c:ptCount val="1"/>
                <c:pt idx="0">
                  <c:v>Kategorie 1</c:v>
                </c:pt>
              </c:strCache>
            </c:strRef>
          </c:cat>
          <c:val>
            <c:numRef>
              <c:f>Tabelle1!$Z$2</c:f>
              <c:numCache>
                <c:formatCode>General</c:formatCode>
                <c:ptCount val="1"/>
                <c:pt idx="0">
                  <c:v>1</c:v>
                </c:pt>
              </c:numCache>
            </c:numRef>
          </c:val>
        </c:ser>
        <c:ser>
          <c:idx val="25"/>
          <c:order val="25"/>
          <c:tx>
            <c:strRef>
              <c:f>Tabelle1!$AA$1</c:f>
              <c:strCache>
                <c:ptCount val="1"/>
                <c:pt idx="0">
                  <c:v>Datenreihe 26</c:v>
                </c:pt>
              </c:strCache>
            </c:strRef>
          </c:tx>
          <c:cat>
            <c:strRef>
              <c:f>Tabelle1!$A$2</c:f>
              <c:strCache>
                <c:ptCount val="1"/>
                <c:pt idx="0">
                  <c:v>Kategorie 1</c:v>
                </c:pt>
              </c:strCache>
            </c:strRef>
          </c:cat>
          <c:val>
            <c:numRef>
              <c:f>Tabelle1!$AA$2</c:f>
              <c:numCache>
                <c:formatCode>General</c:formatCode>
                <c:ptCount val="1"/>
                <c:pt idx="0">
                  <c:v>2</c:v>
                </c:pt>
              </c:numCache>
            </c:numRef>
          </c:val>
        </c:ser>
        <c:ser>
          <c:idx val="26"/>
          <c:order val="26"/>
          <c:tx>
            <c:strRef>
              <c:f>Tabelle1!$AB$1</c:f>
              <c:strCache>
                <c:ptCount val="1"/>
                <c:pt idx="0">
                  <c:v>Datenreihe 27</c:v>
                </c:pt>
              </c:strCache>
            </c:strRef>
          </c:tx>
          <c:cat>
            <c:strRef>
              <c:f>Tabelle1!$A$2</c:f>
              <c:strCache>
                <c:ptCount val="1"/>
                <c:pt idx="0">
                  <c:v>Kategorie 1</c:v>
                </c:pt>
              </c:strCache>
            </c:strRef>
          </c:cat>
          <c:val>
            <c:numRef>
              <c:f>Tabelle1!$AB$2</c:f>
              <c:numCache>
                <c:formatCode>General</c:formatCode>
                <c:ptCount val="1"/>
                <c:pt idx="0">
                  <c:v>5</c:v>
                </c:pt>
              </c:numCache>
            </c:numRef>
          </c:val>
        </c:ser>
        <c:ser>
          <c:idx val="27"/>
          <c:order val="27"/>
          <c:tx>
            <c:strRef>
              <c:f>Tabelle1!$AC$1</c:f>
              <c:strCache>
                <c:ptCount val="1"/>
                <c:pt idx="0">
                  <c:v>Datenreihe 28</c:v>
                </c:pt>
              </c:strCache>
            </c:strRef>
          </c:tx>
          <c:cat>
            <c:strRef>
              <c:f>Tabelle1!$A$2</c:f>
              <c:strCache>
                <c:ptCount val="1"/>
                <c:pt idx="0">
                  <c:v>Kategorie 1</c:v>
                </c:pt>
              </c:strCache>
            </c:strRef>
          </c:cat>
          <c:val>
            <c:numRef>
              <c:f>Tabelle1!$AC$2</c:f>
              <c:numCache>
                <c:formatCode>General</c:formatCode>
                <c:ptCount val="1"/>
                <c:pt idx="0">
                  <c:v>6</c:v>
                </c:pt>
              </c:numCache>
            </c:numRef>
          </c:val>
        </c:ser>
        <c:ser>
          <c:idx val="28"/>
          <c:order val="28"/>
          <c:tx>
            <c:strRef>
              <c:f>Tabelle1!$AD$1</c:f>
              <c:strCache>
                <c:ptCount val="1"/>
                <c:pt idx="0">
                  <c:v>Datenreihe 29</c:v>
                </c:pt>
              </c:strCache>
            </c:strRef>
          </c:tx>
          <c:cat>
            <c:strRef>
              <c:f>Tabelle1!$A$2</c:f>
              <c:strCache>
                <c:ptCount val="1"/>
                <c:pt idx="0">
                  <c:v>Kategorie 1</c:v>
                </c:pt>
              </c:strCache>
            </c:strRef>
          </c:cat>
          <c:val>
            <c:numRef>
              <c:f>Tabelle1!$AD$2</c:f>
              <c:numCache>
                <c:formatCode>General</c:formatCode>
                <c:ptCount val="1"/>
                <c:pt idx="0">
                  <c:v>9</c:v>
                </c:pt>
              </c:numCache>
            </c:numRef>
          </c:val>
        </c:ser>
        <c:ser>
          <c:idx val="29"/>
          <c:order val="29"/>
          <c:tx>
            <c:strRef>
              <c:f>Tabelle1!$AE$1</c:f>
              <c:strCache>
                <c:ptCount val="1"/>
                <c:pt idx="0">
                  <c:v>Datenreihe 30</c:v>
                </c:pt>
              </c:strCache>
            </c:strRef>
          </c:tx>
          <c:cat>
            <c:strRef>
              <c:f>Tabelle1!$A$2</c:f>
              <c:strCache>
                <c:ptCount val="1"/>
                <c:pt idx="0">
                  <c:v>Kategorie 1</c:v>
                </c:pt>
              </c:strCache>
            </c:strRef>
          </c:cat>
          <c:val>
            <c:numRef>
              <c:f>Tabelle1!$AE$2</c:f>
              <c:numCache>
                <c:formatCode>General</c:formatCode>
                <c:ptCount val="1"/>
                <c:pt idx="0">
                  <c:v>5</c:v>
                </c:pt>
              </c:numCache>
            </c:numRef>
          </c:val>
        </c:ser>
        <c:ser>
          <c:idx val="30"/>
          <c:order val="30"/>
          <c:tx>
            <c:strRef>
              <c:f>Tabelle1!$AF$1</c:f>
              <c:strCache>
                <c:ptCount val="1"/>
                <c:pt idx="0">
                  <c:v>Datenreihe 31</c:v>
                </c:pt>
              </c:strCache>
            </c:strRef>
          </c:tx>
          <c:cat>
            <c:strRef>
              <c:f>Tabelle1!$A$2</c:f>
              <c:strCache>
                <c:ptCount val="1"/>
                <c:pt idx="0">
                  <c:v>Kategorie 1</c:v>
                </c:pt>
              </c:strCache>
            </c:strRef>
          </c:cat>
          <c:val>
            <c:numRef>
              <c:f>Tabelle1!$AF$2</c:f>
              <c:numCache>
                <c:formatCode>General</c:formatCode>
                <c:ptCount val="1"/>
                <c:pt idx="0">
                  <c:v>1</c:v>
                </c:pt>
              </c:numCache>
            </c:numRef>
          </c:val>
        </c:ser>
        <c:ser>
          <c:idx val="31"/>
          <c:order val="31"/>
          <c:tx>
            <c:strRef>
              <c:f>Tabelle1!$AG$1</c:f>
              <c:strCache>
                <c:ptCount val="1"/>
                <c:pt idx="0">
                  <c:v>Datenreihe 32</c:v>
                </c:pt>
              </c:strCache>
            </c:strRef>
          </c:tx>
          <c:cat>
            <c:strRef>
              <c:f>Tabelle1!$A$2</c:f>
              <c:strCache>
                <c:ptCount val="1"/>
                <c:pt idx="0">
                  <c:v>Kategorie 1</c:v>
                </c:pt>
              </c:strCache>
            </c:strRef>
          </c:cat>
          <c:val>
            <c:numRef>
              <c:f>Tabelle1!$AG$2</c:f>
              <c:numCache>
                <c:formatCode>General</c:formatCode>
                <c:ptCount val="1"/>
                <c:pt idx="0">
                  <c:v>2</c:v>
                </c:pt>
              </c:numCache>
            </c:numRef>
          </c:val>
        </c:ser>
        <c:ser>
          <c:idx val="32"/>
          <c:order val="32"/>
          <c:tx>
            <c:strRef>
              <c:f>Tabelle1!$AH$1</c:f>
              <c:strCache>
                <c:ptCount val="1"/>
                <c:pt idx="0">
                  <c:v>Datenreihe 33</c:v>
                </c:pt>
              </c:strCache>
            </c:strRef>
          </c:tx>
          <c:cat>
            <c:strRef>
              <c:f>Tabelle1!$A$2</c:f>
              <c:strCache>
                <c:ptCount val="1"/>
                <c:pt idx="0">
                  <c:v>Kategorie 1</c:v>
                </c:pt>
              </c:strCache>
            </c:strRef>
          </c:cat>
          <c:val>
            <c:numRef>
              <c:f>Tabelle1!$AH$2</c:f>
              <c:numCache>
                <c:formatCode>General</c:formatCode>
                <c:ptCount val="1"/>
                <c:pt idx="0">
                  <c:v>3</c:v>
                </c:pt>
              </c:numCache>
            </c:numRef>
          </c:val>
        </c:ser>
        <c:ser>
          <c:idx val="33"/>
          <c:order val="33"/>
          <c:tx>
            <c:strRef>
              <c:f>Tabelle1!$AI$1</c:f>
              <c:strCache>
                <c:ptCount val="1"/>
                <c:pt idx="0">
                  <c:v>Datenreihe 34</c:v>
                </c:pt>
              </c:strCache>
            </c:strRef>
          </c:tx>
          <c:cat>
            <c:strRef>
              <c:f>Tabelle1!$A$2</c:f>
              <c:strCache>
                <c:ptCount val="1"/>
                <c:pt idx="0">
                  <c:v>Kategorie 1</c:v>
                </c:pt>
              </c:strCache>
            </c:strRef>
          </c:cat>
          <c:val>
            <c:numRef>
              <c:f>Tabelle1!$AI$2</c:f>
              <c:numCache>
                <c:formatCode>General</c:formatCode>
                <c:ptCount val="1"/>
                <c:pt idx="0">
                  <c:v>5</c:v>
                </c:pt>
              </c:numCache>
            </c:numRef>
          </c:val>
        </c:ser>
        <c:ser>
          <c:idx val="34"/>
          <c:order val="34"/>
          <c:tx>
            <c:strRef>
              <c:f>Tabelle1!$AJ$1</c:f>
              <c:strCache>
                <c:ptCount val="1"/>
                <c:pt idx="0">
                  <c:v>Datenreihe 35</c:v>
                </c:pt>
              </c:strCache>
            </c:strRef>
          </c:tx>
          <c:cat>
            <c:strRef>
              <c:f>Tabelle1!$A$2</c:f>
              <c:strCache>
                <c:ptCount val="1"/>
                <c:pt idx="0">
                  <c:v>Kategorie 1</c:v>
                </c:pt>
              </c:strCache>
            </c:strRef>
          </c:cat>
          <c:val>
            <c:numRef>
              <c:f>Tabelle1!$AJ$2</c:f>
              <c:numCache>
                <c:formatCode>General</c:formatCode>
                <c:ptCount val="1"/>
                <c:pt idx="0">
                  <c:v>4</c:v>
                </c:pt>
              </c:numCache>
            </c:numRef>
          </c:val>
        </c:ser>
        <c:ser>
          <c:idx val="35"/>
          <c:order val="35"/>
          <c:tx>
            <c:strRef>
              <c:f>Tabelle1!$AK$1</c:f>
              <c:strCache>
                <c:ptCount val="1"/>
                <c:pt idx="0">
                  <c:v>Datenreihe 36</c:v>
                </c:pt>
              </c:strCache>
            </c:strRef>
          </c:tx>
          <c:cat>
            <c:strRef>
              <c:f>Tabelle1!$A$2</c:f>
              <c:strCache>
                <c:ptCount val="1"/>
                <c:pt idx="0">
                  <c:v>Kategorie 1</c:v>
                </c:pt>
              </c:strCache>
            </c:strRef>
          </c:cat>
          <c:val>
            <c:numRef>
              <c:f>Tabelle1!$AK$2</c:f>
              <c:numCache>
                <c:formatCode>General</c:formatCode>
                <c:ptCount val="1"/>
                <c:pt idx="0">
                  <c:v>8</c:v>
                </c:pt>
              </c:numCache>
            </c:numRef>
          </c:val>
        </c:ser>
        <c:axId val="96367744"/>
        <c:axId val="96369280"/>
      </c:barChart>
      <c:catAx>
        <c:axId val="96367744"/>
        <c:scaling>
          <c:orientation val="minMax"/>
        </c:scaling>
        <c:delete val="1"/>
        <c:axPos val="b"/>
        <c:tickLblPos val="none"/>
        <c:crossAx val="96369280"/>
        <c:crosses val="autoZero"/>
        <c:auto val="1"/>
        <c:lblAlgn val="ctr"/>
        <c:lblOffset val="100"/>
      </c:catAx>
      <c:valAx>
        <c:axId val="96369280"/>
        <c:scaling>
          <c:orientation val="minMax"/>
        </c:scaling>
        <c:delete val="1"/>
        <c:axPos val="l"/>
        <c:majorGridlines/>
        <c:numFmt formatCode="General" sourceLinked="1"/>
        <c:tickLblPos val="none"/>
        <c:crossAx val="96367744"/>
        <c:crosses val="autoZero"/>
        <c:crossBetween val="between"/>
      </c:valAx>
    </c:plotArea>
    <c:plotVisOnly val="1"/>
    <c:dispBlanksAs val="gap"/>
  </c:chart>
  <c:txPr>
    <a:bodyPr/>
    <a:lstStyle/>
    <a:p>
      <a:pPr>
        <a:defRPr sz="1800"/>
      </a:pPr>
      <a:endParaRPr lang="zh-TW"/>
    </a:p>
  </c:txPr>
  <c:externalData r:id="rId1"/>
</c:chartSpace>
</file>

<file path=ppt/charts/chart4.xml><?xml version="1.0" encoding="utf-8"?>
<c:chartSpace xmlns:c="http://schemas.openxmlformats.org/drawingml/2006/chart" xmlns:a="http://schemas.openxmlformats.org/drawingml/2006/main" xmlns:r="http://schemas.openxmlformats.org/officeDocument/2006/relationships">
  <c:lang val="zh-TW"/>
  <c:chart>
    <c:plotArea>
      <c:layout>
        <c:manualLayout>
          <c:layoutTarget val="inner"/>
          <c:xMode val="edge"/>
          <c:yMode val="edge"/>
          <c:x val="9.2383915014733559E-2"/>
          <c:y val="0.12933748102062764"/>
          <c:w val="0.81523216997053083"/>
          <c:h val="0.74132503795874682"/>
        </c:manualLayout>
      </c:layout>
      <c:barChart>
        <c:barDir val="col"/>
        <c:grouping val="clustered"/>
        <c:ser>
          <c:idx val="0"/>
          <c:order val="0"/>
          <c:tx>
            <c:strRef>
              <c:f>Tabelle1!$B$1</c:f>
              <c:strCache>
                <c:ptCount val="1"/>
                <c:pt idx="0">
                  <c:v>Datenreihe 1</c:v>
                </c:pt>
              </c:strCache>
            </c:strRef>
          </c:tx>
          <c:cat>
            <c:strRef>
              <c:f>Tabelle1!$A$2</c:f>
              <c:strCache>
                <c:ptCount val="1"/>
                <c:pt idx="0">
                  <c:v>Kategorie 1</c:v>
                </c:pt>
              </c:strCache>
            </c:strRef>
          </c:cat>
          <c:val>
            <c:numRef>
              <c:f>Tabelle1!$B$2</c:f>
              <c:numCache>
                <c:formatCode>General</c:formatCode>
                <c:ptCount val="1"/>
                <c:pt idx="0">
                  <c:v>4.3</c:v>
                </c:pt>
              </c:numCache>
            </c:numRef>
          </c:val>
        </c:ser>
        <c:ser>
          <c:idx val="1"/>
          <c:order val="1"/>
          <c:tx>
            <c:strRef>
              <c:f>Tabelle1!$C$1</c:f>
              <c:strCache>
                <c:ptCount val="1"/>
                <c:pt idx="0">
                  <c:v>Datenreihe 2</c:v>
                </c:pt>
              </c:strCache>
            </c:strRef>
          </c:tx>
          <c:cat>
            <c:strRef>
              <c:f>Tabelle1!$A$2</c:f>
              <c:strCache>
                <c:ptCount val="1"/>
                <c:pt idx="0">
                  <c:v>Kategorie 1</c:v>
                </c:pt>
              </c:strCache>
            </c:strRef>
          </c:cat>
          <c:val>
            <c:numRef>
              <c:f>Tabelle1!$C$2</c:f>
              <c:numCache>
                <c:formatCode>General</c:formatCode>
                <c:ptCount val="1"/>
                <c:pt idx="0">
                  <c:v>2.4</c:v>
                </c:pt>
              </c:numCache>
            </c:numRef>
          </c:val>
        </c:ser>
        <c:ser>
          <c:idx val="2"/>
          <c:order val="2"/>
          <c:tx>
            <c:strRef>
              <c:f>Tabelle1!$D$1</c:f>
              <c:strCache>
                <c:ptCount val="1"/>
                <c:pt idx="0">
                  <c:v>Datenreihe 3</c:v>
                </c:pt>
              </c:strCache>
            </c:strRef>
          </c:tx>
          <c:cat>
            <c:strRef>
              <c:f>Tabelle1!$A$2</c:f>
              <c:strCache>
                <c:ptCount val="1"/>
                <c:pt idx="0">
                  <c:v>Kategorie 1</c:v>
                </c:pt>
              </c:strCache>
            </c:strRef>
          </c:cat>
          <c:val>
            <c:numRef>
              <c:f>Tabelle1!$D$2</c:f>
              <c:numCache>
                <c:formatCode>General</c:formatCode>
                <c:ptCount val="1"/>
                <c:pt idx="0">
                  <c:v>5</c:v>
                </c:pt>
              </c:numCache>
            </c:numRef>
          </c:val>
        </c:ser>
        <c:ser>
          <c:idx val="3"/>
          <c:order val="3"/>
          <c:tx>
            <c:strRef>
              <c:f>Tabelle1!$E$1</c:f>
              <c:strCache>
                <c:ptCount val="1"/>
                <c:pt idx="0">
                  <c:v>Datenreihe 4</c:v>
                </c:pt>
              </c:strCache>
            </c:strRef>
          </c:tx>
          <c:cat>
            <c:strRef>
              <c:f>Tabelle1!$A$2</c:f>
              <c:strCache>
                <c:ptCount val="1"/>
                <c:pt idx="0">
                  <c:v>Kategorie 1</c:v>
                </c:pt>
              </c:strCache>
            </c:strRef>
          </c:cat>
          <c:val>
            <c:numRef>
              <c:f>Tabelle1!$E$2</c:f>
              <c:numCache>
                <c:formatCode>General</c:formatCode>
                <c:ptCount val="1"/>
                <c:pt idx="0">
                  <c:v>6</c:v>
                </c:pt>
              </c:numCache>
            </c:numRef>
          </c:val>
        </c:ser>
        <c:ser>
          <c:idx val="4"/>
          <c:order val="4"/>
          <c:tx>
            <c:strRef>
              <c:f>Tabelle1!$F$1</c:f>
              <c:strCache>
                <c:ptCount val="1"/>
                <c:pt idx="0">
                  <c:v>Datenreihe 5</c:v>
                </c:pt>
              </c:strCache>
            </c:strRef>
          </c:tx>
          <c:cat>
            <c:strRef>
              <c:f>Tabelle1!$A$2</c:f>
              <c:strCache>
                <c:ptCount val="1"/>
                <c:pt idx="0">
                  <c:v>Kategorie 1</c:v>
                </c:pt>
              </c:strCache>
            </c:strRef>
          </c:cat>
          <c:val>
            <c:numRef>
              <c:f>Tabelle1!$F$2</c:f>
              <c:numCache>
                <c:formatCode>General</c:formatCode>
                <c:ptCount val="1"/>
                <c:pt idx="0">
                  <c:v>2</c:v>
                </c:pt>
              </c:numCache>
            </c:numRef>
          </c:val>
        </c:ser>
        <c:ser>
          <c:idx val="5"/>
          <c:order val="5"/>
          <c:tx>
            <c:strRef>
              <c:f>Tabelle1!$G$1</c:f>
              <c:strCache>
                <c:ptCount val="1"/>
                <c:pt idx="0">
                  <c:v>Datenreihe 6</c:v>
                </c:pt>
              </c:strCache>
            </c:strRef>
          </c:tx>
          <c:cat>
            <c:strRef>
              <c:f>Tabelle1!$A$2</c:f>
              <c:strCache>
                <c:ptCount val="1"/>
                <c:pt idx="0">
                  <c:v>Kategorie 1</c:v>
                </c:pt>
              </c:strCache>
            </c:strRef>
          </c:cat>
          <c:val>
            <c:numRef>
              <c:f>Tabelle1!$G$2</c:f>
              <c:numCache>
                <c:formatCode>General</c:formatCode>
                <c:ptCount val="1"/>
                <c:pt idx="0">
                  <c:v>6</c:v>
                </c:pt>
              </c:numCache>
            </c:numRef>
          </c:val>
        </c:ser>
        <c:ser>
          <c:idx val="6"/>
          <c:order val="6"/>
          <c:tx>
            <c:strRef>
              <c:f>Tabelle1!$H$1</c:f>
              <c:strCache>
                <c:ptCount val="1"/>
                <c:pt idx="0">
                  <c:v>Datenreihe 7</c:v>
                </c:pt>
              </c:strCache>
            </c:strRef>
          </c:tx>
          <c:cat>
            <c:strRef>
              <c:f>Tabelle1!$A$2</c:f>
              <c:strCache>
                <c:ptCount val="1"/>
                <c:pt idx="0">
                  <c:v>Kategorie 1</c:v>
                </c:pt>
              </c:strCache>
            </c:strRef>
          </c:cat>
          <c:val>
            <c:numRef>
              <c:f>Tabelle1!$H$2</c:f>
              <c:numCache>
                <c:formatCode>General</c:formatCode>
                <c:ptCount val="1"/>
                <c:pt idx="0">
                  <c:v>4</c:v>
                </c:pt>
              </c:numCache>
            </c:numRef>
          </c:val>
        </c:ser>
        <c:ser>
          <c:idx val="7"/>
          <c:order val="7"/>
          <c:tx>
            <c:strRef>
              <c:f>Tabelle1!$I$1</c:f>
              <c:strCache>
                <c:ptCount val="1"/>
                <c:pt idx="0">
                  <c:v>Datenreihe 8</c:v>
                </c:pt>
              </c:strCache>
            </c:strRef>
          </c:tx>
          <c:cat>
            <c:strRef>
              <c:f>Tabelle1!$A$2</c:f>
              <c:strCache>
                <c:ptCount val="1"/>
                <c:pt idx="0">
                  <c:v>Kategorie 1</c:v>
                </c:pt>
              </c:strCache>
            </c:strRef>
          </c:cat>
          <c:val>
            <c:numRef>
              <c:f>Tabelle1!$I$2</c:f>
              <c:numCache>
                <c:formatCode>General</c:formatCode>
                <c:ptCount val="1"/>
                <c:pt idx="0">
                  <c:v>6</c:v>
                </c:pt>
              </c:numCache>
            </c:numRef>
          </c:val>
        </c:ser>
        <c:ser>
          <c:idx val="8"/>
          <c:order val="8"/>
          <c:tx>
            <c:strRef>
              <c:f>Tabelle1!$J$1</c:f>
              <c:strCache>
                <c:ptCount val="1"/>
                <c:pt idx="0">
                  <c:v>Datenreihe 9</c:v>
                </c:pt>
              </c:strCache>
            </c:strRef>
          </c:tx>
          <c:cat>
            <c:strRef>
              <c:f>Tabelle1!$A$2</c:f>
              <c:strCache>
                <c:ptCount val="1"/>
                <c:pt idx="0">
                  <c:v>Kategorie 1</c:v>
                </c:pt>
              </c:strCache>
            </c:strRef>
          </c:cat>
          <c:val>
            <c:numRef>
              <c:f>Tabelle1!$J$2</c:f>
              <c:numCache>
                <c:formatCode>General</c:formatCode>
                <c:ptCount val="1"/>
                <c:pt idx="0">
                  <c:v>4</c:v>
                </c:pt>
              </c:numCache>
            </c:numRef>
          </c:val>
        </c:ser>
        <c:ser>
          <c:idx val="9"/>
          <c:order val="9"/>
          <c:tx>
            <c:strRef>
              <c:f>Tabelle1!$K$1</c:f>
              <c:strCache>
                <c:ptCount val="1"/>
                <c:pt idx="0">
                  <c:v>Datenreihe 10</c:v>
                </c:pt>
              </c:strCache>
            </c:strRef>
          </c:tx>
          <c:cat>
            <c:strRef>
              <c:f>Tabelle1!$A$2</c:f>
              <c:strCache>
                <c:ptCount val="1"/>
                <c:pt idx="0">
                  <c:v>Kategorie 1</c:v>
                </c:pt>
              </c:strCache>
            </c:strRef>
          </c:cat>
          <c:val>
            <c:numRef>
              <c:f>Tabelle1!$K$2</c:f>
              <c:numCache>
                <c:formatCode>General</c:formatCode>
                <c:ptCount val="1"/>
                <c:pt idx="0">
                  <c:v>1</c:v>
                </c:pt>
              </c:numCache>
            </c:numRef>
          </c:val>
        </c:ser>
        <c:ser>
          <c:idx val="10"/>
          <c:order val="10"/>
          <c:tx>
            <c:strRef>
              <c:f>Tabelle1!$L$1</c:f>
              <c:strCache>
                <c:ptCount val="1"/>
                <c:pt idx="0">
                  <c:v>Datenreihe 11</c:v>
                </c:pt>
              </c:strCache>
            </c:strRef>
          </c:tx>
          <c:cat>
            <c:strRef>
              <c:f>Tabelle1!$A$2</c:f>
              <c:strCache>
                <c:ptCount val="1"/>
                <c:pt idx="0">
                  <c:v>Kategorie 1</c:v>
                </c:pt>
              </c:strCache>
            </c:strRef>
          </c:cat>
          <c:val>
            <c:numRef>
              <c:f>Tabelle1!$L$2</c:f>
              <c:numCache>
                <c:formatCode>General</c:formatCode>
                <c:ptCount val="1"/>
                <c:pt idx="0">
                  <c:v>5</c:v>
                </c:pt>
              </c:numCache>
            </c:numRef>
          </c:val>
        </c:ser>
        <c:ser>
          <c:idx val="11"/>
          <c:order val="11"/>
          <c:tx>
            <c:strRef>
              <c:f>Tabelle1!$M$1</c:f>
              <c:strCache>
                <c:ptCount val="1"/>
                <c:pt idx="0">
                  <c:v>Datenreihe 12</c:v>
                </c:pt>
              </c:strCache>
            </c:strRef>
          </c:tx>
          <c:cat>
            <c:strRef>
              <c:f>Tabelle1!$A$2</c:f>
              <c:strCache>
                <c:ptCount val="1"/>
                <c:pt idx="0">
                  <c:v>Kategorie 1</c:v>
                </c:pt>
              </c:strCache>
            </c:strRef>
          </c:cat>
          <c:val>
            <c:numRef>
              <c:f>Tabelle1!$M$2</c:f>
              <c:numCache>
                <c:formatCode>General</c:formatCode>
                <c:ptCount val="1"/>
                <c:pt idx="0">
                  <c:v>6</c:v>
                </c:pt>
              </c:numCache>
            </c:numRef>
          </c:val>
        </c:ser>
        <c:ser>
          <c:idx val="12"/>
          <c:order val="12"/>
          <c:tx>
            <c:strRef>
              <c:f>Tabelle1!$N$1</c:f>
              <c:strCache>
                <c:ptCount val="1"/>
                <c:pt idx="0">
                  <c:v>Datenreihe 13</c:v>
                </c:pt>
              </c:strCache>
            </c:strRef>
          </c:tx>
          <c:cat>
            <c:strRef>
              <c:f>Tabelle1!$A$2</c:f>
              <c:strCache>
                <c:ptCount val="1"/>
                <c:pt idx="0">
                  <c:v>Kategorie 1</c:v>
                </c:pt>
              </c:strCache>
            </c:strRef>
          </c:cat>
          <c:val>
            <c:numRef>
              <c:f>Tabelle1!$N$2</c:f>
              <c:numCache>
                <c:formatCode>General</c:formatCode>
                <c:ptCount val="1"/>
                <c:pt idx="0">
                  <c:v>6</c:v>
                </c:pt>
              </c:numCache>
            </c:numRef>
          </c:val>
        </c:ser>
        <c:ser>
          <c:idx val="13"/>
          <c:order val="13"/>
          <c:tx>
            <c:strRef>
              <c:f>Tabelle1!$O$1</c:f>
              <c:strCache>
                <c:ptCount val="1"/>
                <c:pt idx="0">
                  <c:v>Datenreihe 14</c:v>
                </c:pt>
              </c:strCache>
            </c:strRef>
          </c:tx>
          <c:cat>
            <c:strRef>
              <c:f>Tabelle1!$A$2</c:f>
              <c:strCache>
                <c:ptCount val="1"/>
                <c:pt idx="0">
                  <c:v>Kategorie 1</c:v>
                </c:pt>
              </c:strCache>
            </c:strRef>
          </c:cat>
          <c:val>
            <c:numRef>
              <c:f>Tabelle1!$O$2</c:f>
              <c:numCache>
                <c:formatCode>General</c:formatCode>
                <c:ptCount val="1"/>
                <c:pt idx="0">
                  <c:v>1</c:v>
                </c:pt>
              </c:numCache>
            </c:numRef>
          </c:val>
        </c:ser>
        <c:ser>
          <c:idx val="14"/>
          <c:order val="14"/>
          <c:tx>
            <c:strRef>
              <c:f>Tabelle1!$P$1</c:f>
              <c:strCache>
                <c:ptCount val="1"/>
                <c:pt idx="0">
                  <c:v>Datenreihe 15</c:v>
                </c:pt>
              </c:strCache>
            </c:strRef>
          </c:tx>
          <c:cat>
            <c:strRef>
              <c:f>Tabelle1!$A$2</c:f>
              <c:strCache>
                <c:ptCount val="1"/>
                <c:pt idx="0">
                  <c:v>Kategorie 1</c:v>
                </c:pt>
              </c:strCache>
            </c:strRef>
          </c:cat>
          <c:val>
            <c:numRef>
              <c:f>Tabelle1!$P$2</c:f>
              <c:numCache>
                <c:formatCode>General</c:formatCode>
                <c:ptCount val="1"/>
                <c:pt idx="0">
                  <c:v>5</c:v>
                </c:pt>
              </c:numCache>
            </c:numRef>
          </c:val>
        </c:ser>
        <c:ser>
          <c:idx val="15"/>
          <c:order val="15"/>
          <c:tx>
            <c:strRef>
              <c:f>Tabelle1!$Q$1</c:f>
              <c:strCache>
                <c:ptCount val="1"/>
                <c:pt idx="0">
                  <c:v>Datenreihe 16</c:v>
                </c:pt>
              </c:strCache>
            </c:strRef>
          </c:tx>
          <c:cat>
            <c:strRef>
              <c:f>Tabelle1!$A$2</c:f>
              <c:strCache>
                <c:ptCount val="1"/>
                <c:pt idx="0">
                  <c:v>Kategorie 1</c:v>
                </c:pt>
              </c:strCache>
            </c:strRef>
          </c:cat>
          <c:val>
            <c:numRef>
              <c:f>Tabelle1!$Q$2</c:f>
              <c:numCache>
                <c:formatCode>General</c:formatCode>
                <c:ptCount val="1"/>
                <c:pt idx="0">
                  <c:v>6</c:v>
                </c:pt>
              </c:numCache>
            </c:numRef>
          </c:val>
        </c:ser>
        <c:ser>
          <c:idx val="16"/>
          <c:order val="16"/>
          <c:tx>
            <c:strRef>
              <c:f>Tabelle1!$R$1</c:f>
              <c:strCache>
                <c:ptCount val="1"/>
                <c:pt idx="0">
                  <c:v>Datenreihe 17</c:v>
                </c:pt>
              </c:strCache>
            </c:strRef>
          </c:tx>
          <c:cat>
            <c:strRef>
              <c:f>Tabelle1!$A$2</c:f>
              <c:strCache>
                <c:ptCount val="1"/>
                <c:pt idx="0">
                  <c:v>Kategorie 1</c:v>
                </c:pt>
              </c:strCache>
            </c:strRef>
          </c:cat>
          <c:val>
            <c:numRef>
              <c:f>Tabelle1!$R$2</c:f>
              <c:numCache>
                <c:formatCode>General</c:formatCode>
                <c:ptCount val="1"/>
                <c:pt idx="0">
                  <c:v>4</c:v>
                </c:pt>
              </c:numCache>
            </c:numRef>
          </c:val>
        </c:ser>
        <c:ser>
          <c:idx val="17"/>
          <c:order val="17"/>
          <c:tx>
            <c:strRef>
              <c:f>Tabelle1!$S$1</c:f>
              <c:strCache>
                <c:ptCount val="1"/>
                <c:pt idx="0">
                  <c:v>Datenreihe 18</c:v>
                </c:pt>
              </c:strCache>
            </c:strRef>
          </c:tx>
          <c:cat>
            <c:strRef>
              <c:f>Tabelle1!$A$2</c:f>
              <c:strCache>
                <c:ptCount val="1"/>
                <c:pt idx="0">
                  <c:v>Kategorie 1</c:v>
                </c:pt>
              </c:strCache>
            </c:strRef>
          </c:cat>
          <c:val>
            <c:numRef>
              <c:f>Tabelle1!$S$2</c:f>
              <c:numCache>
                <c:formatCode>General</c:formatCode>
                <c:ptCount val="1"/>
                <c:pt idx="0">
                  <c:v>1</c:v>
                </c:pt>
              </c:numCache>
            </c:numRef>
          </c:val>
        </c:ser>
        <c:ser>
          <c:idx val="18"/>
          <c:order val="18"/>
          <c:tx>
            <c:strRef>
              <c:f>Tabelle1!$T$1</c:f>
              <c:strCache>
                <c:ptCount val="1"/>
                <c:pt idx="0">
                  <c:v>Datenreihe 19</c:v>
                </c:pt>
              </c:strCache>
            </c:strRef>
          </c:tx>
          <c:cat>
            <c:strRef>
              <c:f>Tabelle1!$A$2</c:f>
              <c:strCache>
                <c:ptCount val="1"/>
                <c:pt idx="0">
                  <c:v>Kategorie 1</c:v>
                </c:pt>
              </c:strCache>
            </c:strRef>
          </c:cat>
          <c:val>
            <c:numRef>
              <c:f>Tabelle1!$T$2</c:f>
              <c:numCache>
                <c:formatCode>General</c:formatCode>
                <c:ptCount val="1"/>
                <c:pt idx="0">
                  <c:v>5</c:v>
                </c:pt>
              </c:numCache>
            </c:numRef>
          </c:val>
        </c:ser>
        <c:ser>
          <c:idx val="19"/>
          <c:order val="19"/>
          <c:tx>
            <c:strRef>
              <c:f>Tabelle1!$U$1</c:f>
              <c:strCache>
                <c:ptCount val="1"/>
                <c:pt idx="0">
                  <c:v>Datenreihe 20</c:v>
                </c:pt>
              </c:strCache>
            </c:strRef>
          </c:tx>
          <c:cat>
            <c:strRef>
              <c:f>Tabelle1!$A$2</c:f>
              <c:strCache>
                <c:ptCount val="1"/>
                <c:pt idx="0">
                  <c:v>Kategorie 1</c:v>
                </c:pt>
              </c:strCache>
            </c:strRef>
          </c:cat>
          <c:val>
            <c:numRef>
              <c:f>Tabelle1!$U$2</c:f>
              <c:numCache>
                <c:formatCode>General</c:formatCode>
                <c:ptCount val="1"/>
                <c:pt idx="0">
                  <c:v>6</c:v>
                </c:pt>
              </c:numCache>
            </c:numRef>
          </c:val>
        </c:ser>
        <c:ser>
          <c:idx val="20"/>
          <c:order val="20"/>
          <c:tx>
            <c:strRef>
              <c:f>Tabelle1!$V$1</c:f>
              <c:strCache>
                <c:ptCount val="1"/>
                <c:pt idx="0">
                  <c:v>Datenreihe 21</c:v>
                </c:pt>
              </c:strCache>
            </c:strRef>
          </c:tx>
          <c:cat>
            <c:strRef>
              <c:f>Tabelle1!$A$2</c:f>
              <c:strCache>
                <c:ptCount val="1"/>
                <c:pt idx="0">
                  <c:v>Kategorie 1</c:v>
                </c:pt>
              </c:strCache>
            </c:strRef>
          </c:cat>
          <c:val>
            <c:numRef>
              <c:f>Tabelle1!$V$2</c:f>
              <c:numCache>
                <c:formatCode>General</c:formatCode>
                <c:ptCount val="1"/>
                <c:pt idx="0">
                  <c:v>2</c:v>
                </c:pt>
              </c:numCache>
            </c:numRef>
          </c:val>
        </c:ser>
        <c:ser>
          <c:idx val="21"/>
          <c:order val="21"/>
          <c:tx>
            <c:strRef>
              <c:f>Tabelle1!$W$1</c:f>
              <c:strCache>
                <c:ptCount val="1"/>
                <c:pt idx="0">
                  <c:v>Datenreihe 22</c:v>
                </c:pt>
              </c:strCache>
            </c:strRef>
          </c:tx>
          <c:cat>
            <c:strRef>
              <c:f>Tabelle1!$A$2</c:f>
              <c:strCache>
                <c:ptCount val="1"/>
                <c:pt idx="0">
                  <c:v>Kategorie 1</c:v>
                </c:pt>
              </c:strCache>
            </c:strRef>
          </c:cat>
          <c:val>
            <c:numRef>
              <c:f>Tabelle1!$W$2</c:f>
              <c:numCache>
                <c:formatCode>General</c:formatCode>
                <c:ptCount val="1"/>
                <c:pt idx="0">
                  <c:v>1</c:v>
                </c:pt>
              </c:numCache>
            </c:numRef>
          </c:val>
        </c:ser>
        <c:ser>
          <c:idx val="22"/>
          <c:order val="22"/>
          <c:tx>
            <c:strRef>
              <c:f>Tabelle1!$X$1</c:f>
              <c:strCache>
                <c:ptCount val="1"/>
                <c:pt idx="0">
                  <c:v>Datenreihe 23</c:v>
                </c:pt>
              </c:strCache>
            </c:strRef>
          </c:tx>
          <c:cat>
            <c:strRef>
              <c:f>Tabelle1!$A$2</c:f>
              <c:strCache>
                <c:ptCount val="1"/>
                <c:pt idx="0">
                  <c:v>Kategorie 1</c:v>
                </c:pt>
              </c:strCache>
            </c:strRef>
          </c:cat>
          <c:val>
            <c:numRef>
              <c:f>Tabelle1!$X$2</c:f>
              <c:numCache>
                <c:formatCode>General</c:formatCode>
                <c:ptCount val="1"/>
                <c:pt idx="0">
                  <c:v>1</c:v>
                </c:pt>
              </c:numCache>
            </c:numRef>
          </c:val>
        </c:ser>
        <c:ser>
          <c:idx val="23"/>
          <c:order val="23"/>
          <c:tx>
            <c:strRef>
              <c:f>Tabelle1!$Y$1</c:f>
              <c:strCache>
                <c:ptCount val="1"/>
                <c:pt idx="0">
                  <c:v>Datenreihe 24</c:v>
                </c:pt>
              </c:strCache>
            </c:strRef>
          </c:tx>
          <c:cat>
            <c:strRef>
              <c:f>Tabelle1!$A$2</c:f>
              <c:strCache>
                <c:ptCount val="1"/>
                <c:pt idx="0">
                  <c:v>Kategorie 1</c:v>
                </c:pt>
              </c:strCache>
            </c:strRef>
          </c:cat>
          <c:val>
            <c:numRef>
              <c:f>Tabelle1!$Y$2</c:f>
              <c:numCache>
                <c:formatCode>General</c:formatCode>
                <c:ptCount val="1"/>
                <c:pt idx="0">
                  <c:v>5</c:v>
                </c:pt>
              </c:numCache>
            </c:numRef>
          </c:val>
        </c:ser>
        <c:ser>
          <c:idx val="24"/>
          <c:order val="24"/>
          <c:tx>
            <c:strRef>
              <c:f>Tabelle1!$Z$1</c:f>
              <c:strCache>
                <c:ptCount val="1"/>
                <c:pt idx="0">
                  <c:v>Datenreihe 25</c:v>
                </c:pt>
              </c:strCache>
            </c:strRef>
          </c:tx>
          <c:cat>
            <c:strRef>
              <c:f>Tabelle1!$A$2</c:f>
              <c:strCache>
                <c:ptCount val="1"/>
                <c:pt idx="0">
                  <c:v>Kategorie 1</c:v>
                </c:pt>
              </c:strCache>
            </c:strRef>
          </c:cat>
          <c:val>
            <c:numRef>
              <c:f>Tabelle1!$Z$2</c:f>
              <c:numCache>
                <c:formatCode>General</c:formatCode>
                <c:ptCount val="1"/>
                <c:pt idx="0">
                  <c:v>6</c:v>
                </c:pt>
              </c:numCache>
            </c:numRef>
          </c:val>
        </c:ser>
        <c:ser>
          <c:idx val="25"/>
          <c:order val="25"/>
          <c:tx>
            <c:strRef>
              <c:f>Tabelle1!$AA$1</c:f>
              <c:strCache>
                <c:ptCount val="1"/>
                <c:pt idx="0">
                  <c:v>Datenreihe 26</c:v>
                </c:pt>
              </c:strCache>
            </c:strRef>
          </c:tx>
          <c:cat>
            <c:strRef>
              <c:f>Tabelle1!$A$2</c:f>
              <c:strCache>
                <c:ptCount val="1"/>
                <c:pt idx="0">
                  <c:v>Kategorie 1</c:v>
                </c:pt>
              </c:strCache>
            </c:strRef>
          </c:cat>
          <c:val>
            <c:numRef>
              <c:f>Tabelle1!$AA$2</c:f>
              <c:numCache>
                <c:formatCode>General</c:formatCode>
                <c:ptCount val="1"/>
                <c:pt idx="0">
                  <c:v>6</c:v>
                </c:pt>
              </c:numCache>
            </c:numRef>
          </c:val>
        </c:ser>
        <c:ser>
          <c:idx val="26"/>
          <c:order val="26"/>
          <c:tx>
            <c:strRef>
              <c:f>Tabelle1!$AB$1</c:f>
              <c:strCache>
                <c:ptCount val="1"/>
                <c:pt idx="0">
                  <c:v>Datenreihe 27</c:v>
                </c:pt>
              </c:strCache>
            </c:strRef>
          </c:tx>
          <c:cat>
            <c:strRef>
              <c:f>Tabelle1!$A$2</c:f>
              <c:strCache>
                <c:ptCount val="1"/>
                <c:pt idx="0">
                  <c:v>Kategorie 1</c:v>
                </c:pt>
              </c:strCache>
            </c:strRef>
          </c:cat>
          <c:val>
            <c:numRef>
              <c:f>Tabelle1!$AB$2</c:f>
              <c:numCache>
                <c:formatCode>General</c:formatCode>
                <c:ptCount val="1"/>
                <c:pt idx="0">
                  <c:v>5</c:v>
                </c:pt>
              </c:numCache>
            </c:numRef>
          </c:val>
        </c:ser>
        <c:ser>
          <c:idx val="27"/>
          <c:order val="27"/>
          <c:tx>
            <c:strRef>
              <c:f>Tabelle1!$AC$1</c:f>
              <c:strCache>
                <c:ptCount val="1"/>
                <c:pt idx="0">
                  <c:v>Datenreihe 28</c:v>
                </c:pt>
              </c:strCache>
            </c:strRef>
          </c:tx>
          <c:cat>
            <c:strRef>
              <c:f>Tabelle1!$A$2</c:f>
              <c:strCache>
                <c:ptCount val="1"/>
                <c:pt idx="0">
                  <c:v>Kategorie 1</c:v>
                </c:pt>
              </c:strCache>
            </c:strRef>
          </c:cat>
          <c:val>
            <c:numRef>
              <c:f>Tabelle1!$AC$2</c:f>
              <c:numCache>
                <c:formatCode>General</c:formatCode>
                <c:ptCount val="1"/>
                <c:pt idx="0">
                  <c:v>4</c:v>
                </c:pt>
              </c:numCache>
            </c:numRef>
          </c:val>
        </c:ser>
        <c:ser>
          <c:idx val="28"/>
          <c:order val="28"/>
          <c:tx>
            <c:strRef>
              <c:f>Tabelle1!$AD$1</c:f>
              <c:strCache>
                <c:ptCount val="1"/>
                <c:pt idx="0">
                  <c:v>Datenreihe 29</c:v>
                </c:pt>
              </c:strCache>
            </c:strRef>
          </c:tx>
          <c:cat>
            <c:strRef>
              <c:f>Tabelle1!$A$2</c:f>
              <c:strCache>
                <c:ptCount val="1"/>
                <c:pt idx="0">
                  <c:v>Kategorie 1</c:v>
                </c:pt>
              </c:strCache>
            </c:strRef>
          </c:cat>
          <c:val>
            <c:numRef>
              <c:f>Tabelle1!$AD$2</c:f>
              <c:numCache>
                <c:formatCode>General</c:formatCode>
                <c:ptCount val="1"/>
                <c:pt idx="0">
                  <c:v>5</c:v>
                </c:pt>
              </c:numCache>
            </c:numRef>
          </c:val>
        </c:ser>
        <c:ser>
          <c:idx val="29"/>
          <c:order val="29"/>
          <c:tx>
            <c:strRef>
              <c:f>Tabelle1!$AE$1</c:f>
              <c:strCache>
                <c:ptCount val="1"/>
                <c:pt idx="0">
                  <c:v>Datenreihe 30</c:v>
                </c:pt>
              </c:strCache>
            </c:strRef>
          </c:tx>
          <c:cat>
            <c:strRef>
              <c:f>Tabelle1!$A$2</c:f>
              <c:strCache>
                <c:ptCount val="1"/>
                <c:pt idx="0">
                  <c:v>Kategorie 1</c:v>
                </c:pt>
              </c:strCache>
            </c:strRef>
          </c:cat>
          <c:val>
            <c:numRef>
              <c:f>Tabelle1!$AE$2</c:f>
              <c:numCache>
                <c:formatCode>General</c:formatCode>
                <c:ptCount val="1"/>
                <c:pt idx="0">
                  <c:v>9</c:v>
                </c:pt>
              </c:numCache>
            </c:numRef>
          </c:val>
        </c:ser>
        <c:ser>
          <c:idx val="30"/>
          <c:order val="30"/>
          <c:tx>
            <c:strRef>
              <c:f>Tabelle1!$AF$1</c:f>
              <c:strCache>
                <c:ptCount val="1"/>
                <c:pt idx="0">
                  <c:v>Datenreihe 31</c:v>
                </c:pt>
              </c:strCache>
            </c:strRef>
          </c:tx>
          <c:cat>
            <c:strRef>
              <c:f>Tabelle1!$A$2</c:f>
              <c:strCache>
                <c:ptCount val="1"/>
                <c:pt idx="0">
                  <c:v>Kategorie 1</c:v>
                </c:pt>
              </c:strCache>
            </c:strRef>
          </c:cat>
          <c:val>
            <c:numRef>
              <c:f>Tabelle1!$AF$2</c:f>
              <c:numCache>
                <c:formatCode>General</c:formatCode>
                <c:ptCount val="1"/>
                <c:pt idx="0">
                  <c:v>5</c:v>
                </c:pt>
              </c:numCache>
            </c:numRef>
          </c:val>
        </c:ser>
        <c:ser>
          <c:idx val="31"/>
          <c:order val="31"/>
          <c:tx>
            <c:strRef>
              <c:f>Tabelle1!$AG$1</c:f>
              <c:strCache>
                <c:ptCount val="1"/>
                <c:pt idx="0">
                  <c:v>Datenreihe 32</c:v>
                </c:pt>
              </c:strCache>
            </c:strRef>
          </c:tx>
          <c:cat>
            <c:strRef>
              <c:f>Tabelle1!$A$2</c:f>
              <c:strCache>
                <c:ptCount val="1"/>
                <c:pt idx="0">
                  <c:v>Kategorie 1</c:v>
                </c:pt>
              </c:strCache>
            </c:strRef>
          </c:cat>
          <c:val>
            <c:numRef>
              <c:f>Tabelle1!$AG$2</c:f>
              <c:numCache>
                <c:formatCode>General</c:formatCode>
                <c:ptCount val="1"/>
                <c:pt idx="0">
                  <c:v>4</c:v>
                </c:pt>
              </c:numCache>
            </c:numRef>
          </c:val>
        </c:ser>
        <c:ser>
          <c:idx val="32"/>
          <c:order val="32"/>
          <c:tx>
            <c:strRef>
              <c:f>Tabelle1!$AH$1</c:f>
              <c:strCache>
                <c:ptCount val="1"/>
                <c:pt idx="0">
                  <c:v>Datenreihe 33</c:v>
                </c:pt>
              </c:strCache>
            </c:strRef>
          </c:tx>
          <c:cat>
            <c:strRef>
              <c:f>Tabelle1!$A$2</c:f>
              <c:strCache>
                <c:ptCount val="1"/>
                <c:pt idx="0">
                  <c:v>Kategorie 1</c:v>
                </c:pt>
              </c:strCache>
            </c:strRef>
          </c:cat>
          <c:val>
            <c:numRef>
              <c:f>Tabelle1!$AH$2</c:f>
              <c:numCache>
                <c:formatCode>General</c:formatCode>
                <c:ptCount val="1"/>
                <c:pt idx="0">
                  <c:v>8</c:v>
                </c:pt>
              </c:numCache>
            </c:numRef>
          </c:val>
        </c:ser>
        <c:ser>
          <c:idx val="33"/>
          <c:order val="33"/>
          <c:tx>
            <c:strRef>
              <c:f>Tabelle1!$AI$1</c:f>
              <c:strCache>
                <c:ptCount val="1"/>
                <c:pt idx="0">
                  <c:v>Datenreihe 34</c:v>
                </c:pt>
              </c:strCache>
            </c:strRef>
          </c:tx>
          <c:cat>
            <c:strRef>
              <c:f>Tabelle1!$A$2</c:f>
              <c:strCache>
                <c:ptCount val="1"/>
                <c:pt idx="0">
                  <c:v>Kategorie 1</c:v>
                </c:pt>
              </c:strCache>
            </c:strRef>
          </c:cat>
          <c:val>
            <c:numRef>
              <c:f>Tabelle1!$AI$2</c:f>
              <c:numCache>
                <c:formatCode>General</c:formatCode>
                <c:ptCount val="1"/>
                <c:pt idx="0">
                  <c:v>5</c:v>
                </c:pt>
              </c:numCache>
            </c:numRef>
          </c:val>
        </c:ser>
        <c:ser>
          <c:idx val="34"/>
          <c:order val="34"/>
          <c:tx>
            <c:strRef>
              <c:f>Tabelle1!$AJ$1</c:f>
              <c:strCache>
                <c:ptCount val="1"/>
                <c:pt idx="0">
                  <c:v>Datenreihe 35</c:v>
                </c:pt>
              </c:strCache>
            </c:strRef>
          </c:tx>
          <c:cat>
            <c:strRef>
              <c:f>Tabelle1!$A$2</c:f>
              <c:strCache>
                <c:ptCount val="1"/>
                <c:pt idx="0">
                  <c:v>Kategorie 1</c:v>
                </c:pt>
              </c:strCache>
            </c:strRef>
          </c:cat>
          <c:val>
            <c:numRef>
              <c:f>Tabelle1!$AJ$2</c:f>
              <c:numCache>
                <c:formatCode>General</c:formatCode>
                <c:ptCount val="1"/>
                <c:pt idx="0">
                  <c:v>6</c:v>
                </c:pt>
              </c:numCache>
            </c:numRef>
          </c:val>
        </c:ser>
        <c:ser>
          <c:idx val="35"/>
          <c:order val="35"/>
          <c:tx>
            <c:strRef>
              <c:f>Tabelle1!$AK$1</c:f>
              <c:strCache>
                <c:ptCount val="1"/>
                <c:pt idx="0">
                  <c:v>Datenreihe 36</c:v>
                </c:pt>
              </c:strCache>
            </c:strRef>
          </c:tx>
          <c:cat>
            <c:strRef>
              <c:f>Tabelle1!$A$2</c:f>
              <c:strCache>
                <c:ptCount val="1"/>
                <c:pt idx="0">
                  <c:v>Kategorie 1</c:v>
                </c:pt>
              </c:strCache>
            </c:strRef>
          </c:cat>
          <c:val>
            <c:numRef>
              <c:f>Tabelle1!$AK$2</c:f>
              <c:numCache>
                <c:formatCode>General</c:formatCode>
                <c:ptCount val="1"/>
                <c:pt idx="0">
                  <c:v>2</c:v>
                </c:pt>
              </c:numCache>
            </c:numRef>
          </c:val>
        </c:ser>
        <c:axId val="96528256"/>
        <c:axId val="96529792"/>
      </c:barChart>
      <c:catAx>
        <c:axId val="96528256"/>
        <c:scaling>
          <c:orientation val="minMax"/>
        </c:scaling>
        <c:delete val="1"/>
        <c:axPos val="b"/>
        <c:tickLblPos val="none"/>
        <c:crossAx val="96529792"/>
        <c:crosses val="autoZero"/>
        <c:auto val="1"/>
        <c:lblAlgn val="ctr"/>
        <c:lblOffset val="100"/>
      </c:catAx>
      <c:valAx>
        <c:axId val="96529792"/>
        <c:scaling>
          <c:orientation val="minMax"/>
        </c:scaling>
        <c:delete val="1"/>
        <c:axPos val="l"/>
        <c:majorGridlines/>
        <c:numFmt formatCode="General" sourceLinked="1"/>
        <c:tickLblPos val="none"/>
        <c:crossAx val="96528256"/>
        <c:crosses val="autoZero"/>
        <c:crossBetween val="between"/>
      </c:valAx>
    </c:plotArea>
    <c:plotVisOnly val="1"/>
    <c:dispBlanksAs val="gap"/>
  </c:chart>
  <c:txPr>
    <a:bodyPr/>
    <a:lstStyle/>
    <a:p>
      <a:pPr>
        <a:defRPr sz="1800"/>
      </a:pPr>
      <a:endParaRPr lang="zh-TW"/>
    </a:p>
  </c:txPr>
  <c:externalData r:id="rId1"/>
</c:chartSpace>
</file>

<file path=ppt/charts/chart5.xml><?xml version="1.0" encoding="utf-8"?>
<c:chartSpace xmlns:c="http://schemas.openxmlformats.org/drawingml/2006/chart" xmlns:a="http://schemas.openxmlformats.org/drawingml/2006/main" xmlns:r="http://schemas.openxmlformats.org/officeDocument/2006/relationships">
  <c:lang val="zh-TW"/>
  <c:chart>
    <c:plotArea>
      <c:layout/>
      <c:barChart>
        <c:barDir val="col"/>
        <c:grouping val="clustered"/>
        <c:ser>
          <c:idx val="0"/>
          <c:order val="0"/>
          <c:tx>
            <c:strRef>
              <c:f>Tabelle1!$B$1</c:f>
              <c:strCache>
                <c:ptCount val="1"/>
                <c:pt idx="0">
                  <c:v>Datenreihe 1</c:v>
                </c:pt>
              </c:strCache>
            </c:strRef>
          </c:tx>
          <c:cat>
            <c:strRef>
              <c:f>Tabelle1!$A$2</c:f>
              <c:strCache>
                <c:ptCount val="1"/>
                <c:pt idx="0">
                  <c:v>Kategorie 1</c:v>
                </c:pt>
              </c:strCache>
            </c:strRef>
          </c:cat>
          <c:val>
            <c:numRef>
              <c:f>Tabelle1!$B$2</c:f>
              <c:numCache>
                <c:formatCode>General</c:formatCode>
                <c:ptCount val="1"/>
                <c:pt idx="0">
                  <c:v>0</c:v>
                </c:pt>
              </c:numCache>
            </c:numRef>
          </c:val>
        </c:ser>
        <c:ser>
          <c:idx val="1"/>
          <c:order val="1"/>
          <c:tx>
            <c:strRef>
              <c:f>Tabelle1!$C$1</c:f>
              <c:strCache>
                <c:ptCount val="1"/>
                <c:pt idx="0">
                  <c:v>Datenreihe 2</c:v>
                </c:pt>
              </c:strCache>
            </c:strRef>
          </c:tx>
          <c:cat>
            <c:strRef>
              <c:f>Tabelle1!$A$2</c:f>
              <c:strCache>
                <c:ptCount val="1"/>
                <c:pt idx="0">
                  <c:v>Kategorie 1</c:v>
                </c:pt>
              </c:strCache>
            </c:strRef>
          </c:cat>
          <c:val>
            <c:numRef>
              <c:f>Tabelle1!$C$2</c:f>
              <c:numCache>
                <c:formatCode>General</c:formatCode>
                <c:ptCount val="1"/>
                <c:pt idx="0">
                  <c:v>0</c:v>
                </c:pt>
              </c:numCache>
            </c:numRef>
          </c:val>
        </c:ser>
        <c:ser>
          <c:idx val="2"/>
          <c:order val="2"/>
          <c:tx>
            <c:strRef>
              <c:f>Tabelle1!$D$1</c:f>
              <c:strCache>
                <c:ptCount val="1"/>
                <c:pt idx="0">
                  <c:v>Datenreihe 3</c:v>
                </c:pt>
              </c:strCache>
            </c:strRef>
          </c:tx>
          <c:cat>
            <c:strRef>
              <c:f>Tabelle1!$A$2</c:f>
              <c:strCache>
                <c:ptCount val="1"/>
                <c:pt idx="0">
                  <c:v>Kategorie 1</c:v>
                </c:pt>
              </c:strCache>
            </c:strRef>
          </c:cat>
          <c:val>
            <c:numRef>
              <c:f>Tabelle1!$D$2</c:f>
              <c:numCache>
                <c:formatCode>General</c:formatCode>
                <c:ptCount val="1"/>
                <c:pt idx="0">
                  <c:v>5</c:v>
                </c:pt>
              </c:numCache>
            </c:numRef>
          </c:val>
        </c:ser>
        <c:ser>
          <c:idx val="3"/>
          <c:order val="3"/>
          <c:tx>
            <c:strRef>
              <c:f>Tabelle1!$E$1</c:f>
              <c:strCache>
                <c:ptCount val="1"/>
                <c:pt idx="0">
                  <c:v>Datenreihe 4</c:v>
                </c:pt>
              </c:strCache>
            </c:strRef>
          </c:tx>
          <c:cat>
            <c:strRef>
              <c:f>Tabelle1!$A$2</c:f>
              <c:strCache>
                <c:ptCount val="1"/>
                <c:pt idx="0">
                  <c:v>Kategorie 1</c:v>
                </c:pt>
              </c:strCache>
            </c:strRef>
          </c:cat>
          <c:val>
            <c:numRef>
              <c:f>Tabelle1!$E$2</c:f>
              <c:numCache>
                <c:formatCode>General</c:formatCode>
                <c:ptCount val="1"/>
                <c:pt idx="0">
                  <c:v>6</c:v>
                </c:pt>
              </c:numCache>
            </c:numRef>
          </c:val>
        </c:ser>
        <c:ser>
          <c:idx val="4"/>
          <c:order val="4"/>
          <c:tx>
            <c:strRef>
              <c:f>Tabelle1!$F$1</c:f>
              <c:strCache>
                <c:ptCount val="1"/>
                <c:pt idx="0">
                  <c:v>Datenreihe 5</c:v>
                </c:pt>
              </c:strCache>
            </c:strRef>
          </c:tx>
          <c:cat>
            <c:strRef>
              <c:f>Tabelle1!$A$2</c:f>
              <c:strCache>
                <c:ptCount val="1"/>
                <c:pt idx="0">
                  <c:v>Kategorie 1</c:v>
                </c:pt>
              </c:strCache>
            </c:strRef>
          </c:cat>
          <c:val>
            <c:numRef>
              <c:f>Tabelle1!$F$2</c:f>
              <c:numCache>
                <c:formatCode>General</c:formatCode>
                <c:ptCount val="1"/>
                <c:pt idx="0">
                  <c:v>2</c:v>
                </c:pt>
              </c:numCache>
            </c:numRef>
          </c:val>
        </c:ser>
        <c:ser>
          <c:idx val="5"/>
          <c:order val="5"/>
          <c:tx>
            <c:strRef>
              <c:f>Tabelle1!$G$1</c:f>
              <c:strCache>
                <c:ptCount val="1"/>
                <c:pt idx="0">
                  <c:v>Datenreihe 6</c:v>
                </c:pt>
              </c:strCache>
            </c:strRef>
          </c:tx>
          <c:cat>
            <c:strRef>
              <c:f>Tabelle1!$A$2</c:f>
              <c:strCache>
                <c:ptCount val="1"/>
                <c:pt idx="0">
                  <c:v>Kategorie 1</c:v>
                </c:pt>
              </c:strCache>
            </c:strRef>
          </c:cat>
          <c:val>
            <c:numRef>
              <c:f>Tabelle1!$G$2</c:f>
              <c:numCache>
                <c:formatCode>General</c:formatCode>
                <c:ptCount val="1"/>
                <c:pt idx="0">
                  <c:v>1</c:v>
                </c:pt>
              </c:numCache>
            </c:numRef>
          </c:val>
        </c:ser>
        <c:ser>
          <c:idx val="6"/>
          <c:order val="6"/>
          <c:tx>
            <c:strRef>
              <c:f>Tabelle1!$H$1</c:f>
              <c:strCache>
                <c:ptCount val="1"/>
                <c:pt idx="0">
                  <c:v>Datenreihe 7</c:v>
                </c:pt>
              </c:strCache>
            </c:strRef>
          </c:tx>
          <c:cat>
            <c:strRef>
              <c:f>Tabelle1!$A$2</c:f>
              <c:strCache>
                <c:ptCount val="1"/>
                <c:pt idx="0">
                  <c:v>Kategorie 1</c:v>
                </c:pt>
              </c:strCache>
            </c:strRef>
          </c:cat>
          <c:val>
            <c:numRef>
              <c:f>Tabelle1!$H$2</c:f>
              <c:numCache>
                <c:formatCode>General</c:formatCode>
                <c:ptCount val="1"/>
                <c:pt idx="0">
                  <c:v>2</c:v>
                </c:pt>
              </c:numCache>
            </c:numRef>
          </c:val>
        </c:ser>
        <c:ser>
          <c:idx val="7"/>
          <c:order val="7"/>
          <c:tx>
            <c:strRef>
              <c:f>Tabelle1!$I$1</c:f>
              <c:strCache>
                <c:ptCount val="1"/>
                <c:pt idx="0">
                  <c:v>Datenreihe 8</c:v>
                </c:pt>
              </c:strCache>
            </c:strRef>
          </c:tx>
          <c:cat>
            <c:strRef>
              <c:f>Tabelle1!$A$2</c:f>
              <c:strCache>
                <c:ptCount val="1"/>
                <c:pt idx="0">
                  <c:v>Kategorie 1</c:v>
                </c:pt>
              </c:strCache>
            </c:strRef>
          </c:cat>
          <c:val>
            <c:numRef>
              <c:f>Tabelle1!$I$2</c:f>
              <c:numCache>
                <c:formatCode>General</c:formatCode>
                <c:ptCount val="1"/>
                <c:pt idx="0">
                  <c:v>6</c:v>
                </c:pt>
              </c:numCache>
            </c:numRef>
          </c:val>
        </c:ser>
        <c:ser>
          <c:idx val="8"/>
          <c:order val="8"/>
          <c:tx>
            <c:strRef>
              <c:f>Tabelle1!$J$1</c:f>
              <c:strCache>
                <c:ptCount val="1"/>
                <c:pt idx="0">
                  <c:v>Datenreihe 9</c:v>
                </c:pt>
              </c:strCache>
            </c:strRef>
          </c:tx>
          <c:cat>
            <c:strRef>
              <c:f>Tabelle1!$A$2</c:f>
              <c:strCache>
                <c:ptCount val="1"/>
                <c:pt idx="0">
                  <c:v>Kategorie 1</c:v>
                </c:pt>
              </c:strCache>
            </c:strRef>
          </c:cat>
          <c:val>
            <c:numRef>
              <c:f>Tabelle1!$J$2</c:f>
              <c:numCache>
                <c:formatCode>General</c:formatCode>
                <c:ptCount val="1"/>
                <c:pt idx="0">
                  <c:v>6</c:v>
                </c:pt>
              </c:numCache>
            </c:numRef>
          </c:val>
        </c:ser>
        <c:ser>
          <c:idx val="9"/>
          <c:order val="9"/>
          <c:tx>
            <c:strRef>
              <c:f>Tabelle1!$K$1</c:f>
              <c:strCache>
                <c:ptCount val="1"/>
                <c:pt idx="0">
                  <c:v>Datenreihe 10</c:v>
                </c:pt>
              </c:strCache>
            </c:strRef>
          </c:tx>
          <c:cat>
            <c:strRef>
              <c:f>Tabelle1!$A$2</c:f>
              <c:strCache>
                <c:ptCount val="1"/>
                <c:pt idx="0">
                  <c:v>Kategorie 1</c:v>
                </c:pt>
              </c:strCache>
            </c:strRef>
          </c:cat>
          <c:val>
            <c:numRef>
              <c:f>Tabelle1!$K$2</c:f>
              <c:numCache>
                <c:formatCode>General</c:formatCode>
                <c:ptCount val="1"/>
                <c:pt idx="0">
                  <c:v>5</c:v>
                </c:pt>
              </c:numCache>
            </c:numRef>
          </c:val>
        </c:ser>
        <c:ser>
          <c:idx val="10"/>
          <c:order val="10"/>
          <c:tx>
            <c:strRef>
              <c:f>Tabelle1!$L$1</c:f>
              <c:strCache>
                <c:ptCount val="1"/>
                <c:pt idx="0">
                  <c:v>Datenreihe 11</c:v>
                </c:pt>
              </c:strCache>
            </c:strRef>
          </c:tx>
          <c:cat>
            <c:strRef>
              <c:f>Tabelle1!$A$2</c:f>
              <c:strCache>
                <c:ptCount val="1"/>
                <c:pt idx="0">
                  <c:v>Kategorie 1</c:v>
                </c:pt>
              </c:strCache>
            </c:strRef>
          </c:cat>
          <c:val>
            <c:numRef>
              <c:f>Tabelle1!$L$2</c:f>
              <c:numCache>
                <c:formatCode>General</c:formatCode>
                <c:ptCount val="1"/>
                <c:pt idx="0">
                  <c:v>4</c:v>
                </c:pt>
              </c:numCache>
            </c:numRef>
          </c:val>
        </c:ser>
        <c:ser>
          <c:idx val="11"/>
          <c:order val="11"/>
          <c:tx>
            <c:strRef>
              <c:f>Tabelle1!$M$1</c:f>
              <c:strCache>
                <c:ptCount val="1"/>
                <c:pt idx="0">
                  <c:v>Datenreihe 12</c:v>
                </c:pt>
              </c:strCache>
            </c:strRef>
          </c:tx>
          <c:cat>
            <c:strRef>
              <c:f>Tabelle1!$A$2</c:f>
              <c:strCache>
                <c:ptCount val="1"/>
                <c:pt idx="0">
                  <c:v>Kategorie 1</c:v>
                </c:pt>
              </c:strCache>
            </c:strRef>
          </c:cat>
          <c:val>
            <c:numRef>
              <c:f>Tabelle1!$M$2</c:f>
              <c:numCache>
                <c:formatCode>General</c:formatCode>
                <c:ptCount val="1"/>
                <c:pt idx="0">
                  <c:v>1</c:v>
                </c:pt>
              </c:numCache>
            </c:numRef>
          </c:val>
        </c:ser>
        <c:ser>
          <c:idx val="12"/>
          <c:order val="12"/>
          <c:tx>
            <c:strRef>
              <c:f>Tabelle1!$N$1</c:f>
              <c:strCache>
                <c:ptCount val="1"/>
                <c:pt idx="0">
                  <c:v>Datenreihe 13</c:v>
                </c:pt>
              </c:strCache>
            </c:strRef>
          </c:tx>
          <c:cat>
            <c:strRef>
              <c:f>Tabelle1!$A$2</c:f>
              <c:strCache>
                <c:ptCount val="1"/>
                <c:pt idx="0">
                  <c:v>Kategorie 1</c:v>
                </c:pt>
              </c:strCache>
            </c:strRef>
          </c:cat>
          <c:val>
            <c:numRef>
              <c:f>Tabelle1!$N$2</c:f>
              <c:numCache>
                <c:formatCode>General</c:formatCode>
                <c:ptCount val="1"/>
                <c:pt idx="0">
                  <c:v>5</c:v>
                </c:pt>
              </c:numCache>
            </c:numRef>
          </c:val>
        </c:ser>
        <c:ser>
          <c:idx val="13"/>
          <c:order val="13"/>
          <c:tx>
            <c:strRef>
              <c:f>Tabelle1!$O$1</c:f>
              <c:strCache>
                <c:ptCount val="1"/>
                <c:pt idx="0">
                  <c:v>Datenreihe 14</c:v>
                </c:pt>
              </c:strCache>
            </c:strRef>
          </c:tx>
          <c:cat>
            <c:strRef>
              <c:f>Tabelle1!$A$2</c:f>
              <c:strCache>
                <c:ptCount val="1"/>
                <c:pt idx="0">
                  <c:v>Kategorie 1</c:v>
                </c:pt>
              </c:strCache>
            </c:strRef>
          </c:cat>
          <c:val>
            <c:numRef>
              <c:f>Tabelle1!$O$2</c:f>
              <c:numCache>
                <c:formatCode>General</c:formatCode>
                <c:ptCount val="1"/>
                <c:pt idx="0">
                  <c:v>6</c:v>
                </c:pt>
              </c:numCache>
            </c:numRef>
          </c:val>
        </c:ser>
        <c:ser>
          <c:idx val="14"/>
          <c:order val="14"/>
          <c:tx>
            <c:strRef>
              <c:f>Tabelle1!$P$1</c:f>
              <c:strCache>
                <c:ptCount val="1"/>
                <c:pt idx="0">
                  <c:v>Datenreihe 15</c:v>
                </c:pt>
              </c:strCache>
            </c:strRef>
          </c:tx>
          <c:cat>
            <c:strRef>
              <c:f>Tabelle1!$A$2</c:f>
              <c:strCache>
                <c:ptCount val="1"/>
                <c:pt idx="0">
                  <c:v>Kategorie 1</c:v>
                </c:pt>
              </c:strCache>
            </c:strRef>
          </c:cat>
          <c:val>
            <c:numRef>
              <c:f>Tabelle1!$P$2</c:f>
              <c:numCache>
                <c:formatCode>General</c:formatCode>
                <c:ptCount val="1"/>
                <c:pt idx="0">
                  <c:v>5</c:v>
                </c:pt>
              </c:numCache>
            </c:numRef>
          </c:val>
        </c:ser>
        <c:ser>
          <c:idx val="15"/>
          <c:order val="15"/>
          <c:tx>
            <c:strRef>
              <c:f>Tabelle1!$Q$1</c:f>
              <c:strCache>
                <c:ptCount val="1"/>
                <c:pt idx="0">
                  <c:v>Datenreihe 16</c:v>
                </c:pt>
              </c:strCache>
            </c:strRef>
          </c:tx>
          <c:cat>
            <c:strRef>
              <c:f>Tabelle1!$A$2</c:f>
              <c:strCache>
                <c:ptCount val="1"/>
                <c:pt idx="0">
                  <c:v>Kategorie 1</c:v>
                </c:pt>
              </c:strCache>
            </c:strRef>
          </c:cat>
          <c:val>
            <c:numRef>
              <c:f>Tabelle1!$Q$2</c:f>
              <c:numCache>
                <c:formatCode>General</c:formatCode>
                <c:ptCount val="1"/>
                <c:pt idx="0">
                  <c:v>1</c:v>
                </c:pt>
              </c:numCache>
            </c:numRef>
          </c:val>
        </c:ser>
        <c:ser>
          <c:idx val="16"/>
          <c:order val="16"/>
          <c:tx>
            <c:strRef>
              <c:f>Tabelle1!$R$1</c:f>
              <c:strCache>
                <c:ptCount val="1"/>
                <c:pt idx="0">
                  <c:v>Datenreihe 17</c:v>
                </c:pt>
              </c:strCache>
            </c:strRef>
          </c:tx>
          <c:cat>
            <c:strRef>
              <c:f>Tabelle1!$A$2</c:f>
              <c:strCache>
                <c:ptCount val="1"/>
                <c:pt idx="0">
                  <c:v>Kategorie 1</c:v>
                </c:pt>
              </c:strCache>
            </c:strRef>
          </c:cat>
          <c:val>
            <c:numRef>
              <c:f>Tabelle1!$R$2</c:f>
              <c:numCache>
                <c:formatCode>General</c:formatCode>
                <c:ptCount val="1"/>
                <c:pt idx="0">
                  <c:v>5</c:v>
                </c:pt>
              </c:numCache>
            </c:numRef>
          </c:val>
        </c:ser>
        <c:ser>
          <c:idx val="17"/>
          <c:order val="17"/>
          <c:tx>
            <c:strRef>
              <c:f>Tabelle1!$S$1</c:f>
              <c:strCache>
                <c:ptCount val="1"/>
                <c:pt idx="0">
                  <c:v>Datenreihe 18</c:v>
                </c:pt>
              </c:strCache>
            </c:strRef>
          </c:tx>
          <c:cat>
            <c:strRef>
              <c:f>Tabelle1!$A$2</c:f>
              <c:strCache>
                <c:ptCount val="1"/>
                <c:pt idx="0">
                  <c:v>Kategorie 1</c:v>
                </c:pt>
              </c:strCache>
            </c:strRef>
          </c:cat>
          <c:val>
            <c:numRef>
              <c:f>Tabelle1!$S$2</c:f>
              <c:numCache>
                <c:formatCode>General</c:formatCode>
                <c:ptCount val="1"/>
                <c:pt idx="0">
                  <c:v>2</c:v>
                </c:pt>
              </c:numCache>
            </c:numRef>
          </c:val>
        </c:ser>
        <c:ser>
          <c:idx val="18"/>
          <c:order val="18"/>
          <c:tx>
            <c:strRef>
              <c:f>Tabelle1!$T$1</c:f>
              <c:strCache>
                <c:ptCount val="1"/>
                <c:pt idx="0">
                  <c:v>Datenreihe 19</c:v>
                </c:pt>
              </c:strCache>
            </c:strRef>
          </c:tx>
          <c:cat>
            <c:strRef>
              <c:f>Tabelle1!$A$2</c:f>
              <c:strCache>
                <c:ptCount val="1"/>
                <c:pt idx="0">
                  <c:v>Kategorie 1</c:v>
                </c:pt>
              </c:strCache>
            </c:strRef>
          </c:cat>
          <c:val>
            <c:numRef>
              <c:f>Tabelle1!$T$2</c:f>
              <c:numCache>
                <c:formatCode>General</c:formatCode>
                <c:ptCount val="1"/>
                <c:pt idx="0">
                  <c:v>1</c:v>
                </c:pt>
              </c:numCache>
            </c:numRef>
          </c:val>
        </c:ser>
        <c:ser>
          <c:idx val="19"/>
          <c:order val="19"/>
          <c:tx>
            <c:strRef>
              <c:f>Tabelle1!$U$1</c:f>
              <c:strCache>
                <c:ptCount val="1"/>
                <c:pt idx="0">
                  <c:v>Datenreihe 20</c:v>
                </c:pt>
              </c:strCache>
            </c:strRef>
          </c:tx>
          <c:cat>
            <c:strRef>
              <c:f>Tabelle1!$A$2</c:f>
              <c:strCache>
                <c:ptCount val="1"/>
                <c:pt idx="0">
                  <c:v>Kategorie 1</c:v>
                </c:pt>
              </c:strCache>
            </c:strRef>
          </c:cat>
          <c:val>
            <c:numRef>
              <c:f>Tabelle1!$U$2</c:f>
              <c:numCache>
                <c:formatCode>General</c:formatCode>
                <c:ptCount val="1"/>
                <c:pt idx="0">
                  <c:v>8</c:v>
                </c:pt>
              </c:numCache>
            </c:numRef>
          </c:val>
        </c:ser>
        <c:ser>
          <c:idx val="20"/>
          <c:order val="20"/>
          <c:tx>
            <c:strRef>
              <c:f>Tabelle1!$V$1</c:f>
              <c:strCache>
                <c:ptCount val="1"/>
                <c:pt idx="0">
                  <c:v>Datenreihe 21</c:v>
                </c:pt>
              </c:strCache>
            </c:strRef>
          </c:tx>
          <c:cat>
            <c:strRef>
              <c:f>Tabelle1!$A$2</c:f>
              <c:strCache>
                <c:ptCount val="1"/>
                <c:pt idx="0">
                  <c:v>Kategorie 1</c:v>
                </c:pt>
              </c:strCache>
            </c:strRef>
          </c:cat>
          <c:val>
            <c:numRef>
              <c:f>Tabelle1!$V$2</c:f>
              <c:numCache>
                <c:formatCode>General</c:formatCode>
                <c:ptCount val="1"/>
                <c:pt idx="0">
                  <c:v>7</c:v>
                </c:pt>
              </c:numCache>
            </c:numRef>
          </c:val>
        </c:ser>
        <c:ser>
          <c:idx val="21"/>
          <c:order val="21"/>
          <c:tx>
            <c:strRef>
              <c:f>Tabelle1!$W$1</c:f>
              <c:strCache>
                <c:ptCount val="1"/>
                <c:pt idx="0">
                  <c:v>Datenreihe 22</c:v>
                </c:pt>
              </c:strCache>
            </c:strRef>
          </c:tx>
          <c:cat>
            <c:strRef>
              <c:f>Tabelle1!$A$2</c:f>
              <c:strCache>
                <c:ptCount val="1"/>
                <c:pt idx="0">
                  <c:v>Kategorie 1</c:v>
                </c:pt>
              </c:strCache>
            </c:strRef>
          </c:cat>
          <c:val>
            <c:numRef>
              <c:f>Tabelle1!$W$2</c:f>
              <c:numCache>
                <c:formatCode>General</c:formatCode>
                <c:ptCount val="1"/>
                <c:pt idx="0">
                  <c:v>8</c:v>
                </c:pt>
              </c:numCache>
            </c:numRef>
          </c:val>
        </c:ser>
        <c:ser>
          <c:idx val="22"/>
          <c:order val="22"/>
          <c:tx>
            <c:strRef>
              <c:f>Tabelle1!$X$1</c:f>
              <c:strCache>
                <c:ptCount val="1"/>
                <c:pt idx="0">
                  <c:v>Datenreihe 23</c:v>
                </c:pt>
              </c:strCache>
            </c:strRef>
          </c:tx>
          <c:cat>
            <c:strRef>
              <c:f>Tabelle1!$A$2</c:f>
              <c:strCache>
                <c:ptCount val="1"/>
                <c:pt idx="0">
                  <c:v>Kategorie 1</c:v>
                </c:pt>
              </c:strCache>
            </c:strRef>
          </c:cat>
          <c:val>
            <c:numRef>
              <c:f>Tabelle1!$X$2</c:f>
              <c:numCache>
                <c:formatCode>General</c:formatCode>
                <c:ptCount val="1"/>
                <c:pt idx="0">
                  <c:v>9</c:v>
                </c:pt>
              </c:numCache>
            </c:numRef>
          </c:val>
        </c:ser>
        <c:ser>
          <c:idx val="23"/>
          <c:order val="23"/>
          <c:tx>
            <c:strRef>
              <c:f>Tabelle1!$Y$1</c:f>
              <c:strCache>
                <c:ptCount val="1"/>
                <c:pt idx="0">
                  <c:v>Datenreihe 24</c:v>
                </c:pt>
              </c:strCache>
            </c:strRef>
          </c:tx>
          <c:cat>
            <c:strRef>
              <c:f>Tabelle1!$A$2</c:f>
              <c:strCache>
                <c:ptCount val="1"/>
                <c:pt idx="0">
                  <c:v>Kategorie 1</c:v>
                </c:pt>
              </c:strCache>
            </c:strRef>
          </c:cat>
          <c:val>
            <c:numRef>
              <c:f>Tabelle1!$Y$2</c:f>
              <c:numCache>
                <c:formatCode>General</c:formatCode>
                <c:ptCount val="1"/>
                <c:pt idx="0">
                  <c:v>6</c:v>
                </c:pt>
              </c:numCache>
            </c:numRef>
          </c:val>
        </c:ser>
        <c:ser>
          <c:idx val="24"/>
          <c:order val="24"/>
          <c:tx>
            <c:strRef>
              <c:f>Tabelle1!$Z$1</c:f>
              <c:strCache>
                <c:ptCount val="1"/>
                <c:pt idx="0">
                  <c:v>Datenreihe 25</c:v>
                </c:pt>
              </c:strCache>
            </c:strRef>
          </c:tx>
          <c:cat>
            <c:strRef>
              <c:f>Tabelle1!$A$2</c:f>
              <c:strCache>
                <c:ptCount val="1"/>
                <c:pt idx="0">
                  <c:v>Kategorie 1</c:v>
                </c:pt>
              </c:strCache>
            </c:strRef>
          </c:cat>
          <c:val>
            <c:numRef>
              <c:f>Tabelle1!$Z$2</c:f>
              <c:numCache>
                <c:formatCode>General</c:formatCode>
                <c:ptCount val="1"/>
                <c:pt idx="0">
                  <c:v>5</c:v>
                </c:pt>
              </c:numCache>
            </c:numRef>
          </c:val>
        </c:ser>
        <c:ser>
          <c:idx val="25"/>
          <c:order val="25"/>
          <c:tx>
            <c:strRef>
              <c:f>Tabelle1!$AA$1</c:f>
              <c:strCache>
                <c:ptCount val="1"/>
                <c:pt idx="0">
                  <c:v>Datenreihe 26</c:v>
                </c:pt>
              </c:strCache>
            </c:strRef>
          </c:tx>
          <c:cat>
            <c:strRef>
              <c:f>Tabelle1!$A$2</c:f>
              <c:strCache>
                <c:ptCount val="1"/>
                <c:pt idx="0">
                  <c:v>Kategorie 1</c:v>
                </c:pt>
              </c:strCache>
            </c:strRef>
          </c:cat>
          <c:val>
            <c:numRef>
              <c:f>Tabelle1!$AA$2</c:f>
              <c:numCache>
                <c:formatCode>General</c:formatCode>
                <c:ptCount val="1"/>
                <c:pt idx="0">
                  <c:v>1</c:v>
                </c:pt>
              </c:numCache>
            </c:numRef>
          </c:val>
        </c:ser>
        <c:ser>
          <c:idx val="26"/>
          <c:order val="26"/>
          <c:tx>
            <c:strRef>
              <c:f>Tabelle1!$AB$1</c:f>
              <c:strCache>
                <c:ptCount val="1"/>
                <c:pt idx="0">
                  <c:v>Datenreihe 27</c:v>
                </c:pt>
              </c:strCache>
            </c:strRef>
          </c:tx>
          <c:cat>
            <c:strRef>
              <c:f>Tabelle1!$A$2</c:f>
              <c:strCache>
                <c:ptCount val="1"/>
                <c:pt idx="0">
                  <c:v>Kategorie 1</c:v>
                </c:pt>
              </c:strCache>
            </c:strRef>
          </c:cat>
          <c:val>
            <c:numRef>
              <c:f>Tabelle1!$AB$2</c:f>
              <c:numCache>
                <c:formatCode>General</c:formatCode>
                <c:ptCount val="1"/>
                <c:pt idx="0">
                  <c:v>10</c:v>
                </c:pt>
              </c:numCache>
            </c:numRef>
          </c:val>
        </c:ser>
        <c:ser>
          <c:idx val="27"/>
          <c:order val="27"/>
          <c:tx>
            <c:strRef>
              <c:f>Tabelle1!$AC$1</c:f>
              <c:strCache>
                <c:ptCount val="1"/>
                <c:pt idx="0">
                  <c:v>Datenreihe 28</c:v>
                </c:pt>
              </c:strCache>
            </c:strRef>
          </c:tx>
          <c:cat>
            <c:strRef>
              <c:f>Tabelle1!$A$2</c:f>
              <c:strCache>
                <c:ptCount val="1"/>
                <c:pt idx="0">
                  <c:v>Kategorie 1</c:v>
                </c:pt>
              </c:strCache>
            </c:strRef>
          </c:cat>
          <c:val>
            <c:numRef>
              <c:f>Tabelle1!$AC$2</c:f>
              <c:numCache>
                <c:formatCode>General</c:formatCode>
                <c:ptCount val="1"/>
                <c:pt idx="0">
                  <c:v>15</c:v>
                </c:pt>
              </c:numCache>
            </c:numRef>
          </c:val>
        </c:ser>
        <c:ser>
          <c:idx val="28"/>
          <c:order val="28"/>
          <c:tx>
            <c:strRef>
              <c:f>Tabelle1!$AD$1</c:f>
              <c:strCache>
                <c:ptCount val="1"/>
                <c:pt idx="0">
                  <c:v>Datenreihe 29</c:v>
                </c:pt>
              </c:strCache>
            </c:strRef>
          </c:tx>
          <c:cat>
            <c:strRef>
              <c:f>Tabelle1!$A$2</c:f>
              <c:strCache>
                <c:ptCount val="1"/>
                <c:pt idx="0">
                  <c:v>Kategorie 1</c:v>
                </c:pt>
              </c:strCache>
            </c:strRef>
          </c:cat>
          <c:val>
            <c:numRef>
              <c:f>Tabelle1!$AD$2</c:f>
              <c:numCache>
                <c:formatCode>General</c:formatCode>
                <c:ptCount val="1"/>
                <c:pt idx="0">
                  <c:v>5</c:v>
                </c:pt>
              </c:numCache>
            </c:numRef>
          </c:val>
        </c:ser>
        <c:ser>
          <c:idx val="29"/>
          <c:order val="29"/>
          <c:tx>
            <c:strRef>
              <c:f>Tabelle1!$AE$1</c:f>
              <c:strCache>
                <c:ptCount val="1"/>
                <c:pt idx="0">
                  <c:v>Datenreihe 30</c:v>
                </c:pt>
              </c:strCache>
            </c:strRef>
          </c:tx>
          <c:cat>
            <c:strRef>
              <c:f>Tabelle1!$A$2</c:f>
              <c:strCache>
                <c:ptCount val="1"/>
                <c:pt idx="0">
                  <c:v>Kategorie 1</c:v>
                </c:pt>
              </c:strCache>
            </c:strRef>
          </c:cat>
          <c:val>
            <c:numRef>
              <c:f>Tabelle1!$AE$2</c:f>
              <c:numCache>
                <c:formatCode>General</c:formatCode>
                <c:ptCount val="1"/>
                <c:pt idx="0">
                  <c:v>9</c:v>
                </c:pt>
              </c:numCache>
            </c:numRef>
          </c:val>
        </c:ser>
        <c:ser>
          <c:idx val="30"/>
          <c:order val="30"/>
          <c:tx>
            <c:strRef>
              <c:f>Tabelle1!$AF$1</c:f>
              <c:strCache>
                <c:ptCount val="1"/>
                <c:pt idx="0">
                  <c:v>Datenreihe 31</c:v>
                </c:pt>
              </c:strCache>
            </c:strRef>
          </c:tx>
          <c:cat>
            <c:strRef>
              <c:f>Tabelle1!$A$2</c:f>
              <c:strCache>
                <c:ptCount val="1"/>
                <c:pt idx="0">
                  <c:v>Kategorie 1</c:v>
                </c:pt>
              </c:strCache>
            </c:strRef>
          </c:cat>
          <c:val>
            <c:numRef>
              <c:f>Tabelle1!$AF$2</c:f>
              <c:numCache>
                <c:formatCode>General</c:formatCode>
                <c:ptCount val="1"/>
                <c:pt idx="0">
                  <c:v>5</c:v>
                </c:pt>
              </c:numCache>
            </c:numRef>
          </c:val>
        </c:ser>
        <c:ser>
          <c:idx val="31"/>
          <c:order val="31"/>
          <c:tx>
            <c:strRef>
              <c:f>Tabelle1!$AG$1</c:f>
              <c:strCache>
                <c:ptCount val="1"/>
                <c:pt idx="0">
                  <c:v>Datenreihe 32</c:v>
                </c:pt>
              </c:strCache>
            </c:strRef>
          </c:tx>
          <c:cat>
            <c:strRef>
              <c:f>Tabelle1!$A$2</c:f>
              <c:strCache>
                <c:ptCount val="1"/>
                <c:pt idx="0">
                  <c:v>Kategorie 1</c:v>
                </c:pt>
              </c:strCache>
            </c:strRef>
          </c:cat>
          <c:val>
            <c:numRef>
              <c:f>Tabelle1!$AG$2</c:f>
              <c:numCache>
                <c:formatCode>General</c:formatCode>
                <c:ptCount val="1"/>
                <c:pt idx="0">
                  <c:v>4</c:v>
                </c:pt>
              </c:numCache>
            </c:numRef>
          </c:val>
        </c:ser>
        <c:ser>
          <c:idx val="32"/>
          <c:order val="32"/>
          <c:tx>
            <c:strRef>
              <c:f>Tabelle1!$AH$1</c:f>
              <c:strCache>
                <c:ptCount val="1"/>
                <c:pt idx="0">
                  <c:v>Datenreihe 33</c:v>
                </c:pt>
              </c:strCache>
            </c:strRef>
          </c:tx>
          <c:cat>
            <c:strRef>
              <c:f>Tabelle1!$A$2</c:f>
              <c:strCache>
                <c:ptCount val="1"/>
                <c:pt idx="0">
                  <c:v>Kategorie 1</c:v>
                </c:pt>
              </c:strCache>
            </c:strRef>
          </c:cat>
          <c:val>
            <c:numRef>
              <c:f>Tabelle1!$AH$2</c:f>
              <c:numCache>
                <c:formatCode>General</c:formatCode>
                <c:ptCount val="1"/>
                <c:pt idx="0">
                  <c:v>8</c:v>
                </c:pt>
              </c:numCache>
            </c:numRef>
          </c:val>
        </c:ser>
        <c:ser>
          <c:idx val="33"/>
          <c:order val="33"/>
          <c:tx>
            <c:strRef>
              <c:f>Tabelle1!$AI$1</c:f>
              <c:strCache>
                <c:ptCount val="1"/>
                <c:pt idx="0">
                  <c:v>Datenreihe 34</c:v>
                </c:pt>
              </c:strCache>
            </c:strRef>
          </c:tx>
          <c:cat>
            <c:strRef>
              <c:f>Tabelle1!$A$2</c:f>
              <c:strCache>
                <c:ptCount val="1"/>
                <c:pt idx="0">
                  <c:v>Kategorie 1</c:v>
                </c:pt>
              </c:strCache>
            </c:strRef>
          </c:cat>
          <c:val>
            <c:numRef>
              <c:f>Tabelle1!$AI$2</c:f>
              <c:numCache>
                <c:formatCode>General</c:formatCode>
                <c:ptCount val="1"/>
                <c:pt idx="0">
                  <c:v>5</c:v>
                </c:pt>
              </c:numCache>
            </c:numRef>
          </c:val>
        </c:ser>
        <c:ser>
          <c:idx val="34"/>
          <c:order val="34"/>
          <c:tx>
            <c:strRef>
              <c:f>Tabelle1!$AJ$1</c:f>
              <c:strCache>
                <c:ptCount val="1"/>
                <c:pt idx="0">
                  <c:v>Datenreihe 35</c:v>
                </c:pt>
              </c:strCache>
            </c:strRef>
          </c:tx>
          <c:cat>
            <c:strRef>
              <c:f>Tabelle1!$A$2</c:f>
              <c:strCache>
                <c:ptCount val="1"/>
                <c:pt idx="0">
                  <c:v>Kategorie 1</c:v>
                </c:pt>
              </c:strCache>
            </c:strRef>
          </c:cat>
          <c:val>
            <c:numRef>
              <c:f>Tabelle1!$AJ$2</c:f>
              <c:numCache>
                <c:formatCode>General</c:formatCode>
                <c:ptCount val="1"/>
                <c:pt idx="0">
                  <c:v>6</c:v>
                </c:pt>
              </c:numCache>
            </c:numRef>
          </c:val>
        </c:ser>
        <c:ser>
          <c:idx val="35"/>
          <c:order val="35"/>
          <c:tx>
            <c:strRef>
              <c:f>Tabelle1!$AK$1</c:f>
              <c:strCache>
                <c:ptCount val="1"/>
                <c:pt idx="0">
                  <c:v>Datenreihe 36</c:v>
                </c:pt>
              </c:strCache>
            </c:strRef>
          </c:tx>
          <c:cat>
            <c:strRef>
              <c:f>Tabelle1!$A$2</c:f>
              <c:strCache>
                <c:ptCount val="1"/>
                <c:pt idx="0">
                  <c:v>Kategorie 1</c:v>
                </c:pt>
              </c:strCache>
            </c:strRef>
          </c:cat>
          <c:val>
            <c:numRef>
              <c:f>Tabelle1!$AK$2</c:f>
              <c:numCache>
                <c:formatCode>General</c:formatCode>
                <c:ptCount val="1"/>
                <c:pt idx="0">
                  <c:v>2</c:v>
                </c:pt>
              </c:numCache>
            </c:numRef>
          </c:val>
        </c:ser>
        <c:axId val="96852224"/>
        <c:axId val="96870400"/>
      </c:barChart>
      <c:catAx>
        <c:axId val="96852224"/>
        <c:scaling>
          <c:orientation val="minMax"/>
        </c:scaling>
        <c:delete val="1"/>
        <c:axPos val="b"/>
        <c:tickLblPos val="none"/>
        <c:crossAx val="96870400"/>
        <c:crosses val="autoZero"/>
        <c:auto val="1"/>
        <c:lblAlgn val="ctr"/>
        <c:lblOffset val="100"/>
      </c:catAx>
      <c:valAx>
        <c:axId val="96870400"/>
        <c:scaling>
          <c:orientation val="minMax"/>
        </c:scaling>
        <c:delete val="1"/>
        <c:axPos val="l"/>
        <c:majorGridlines/>
        <c:numFmt formatCode="General" sourceLinked="1"/>
        <c:tickLblPos val="none"/>
        <c:crossAx val="96852224"/>
        <c:crosses val="autoZero"/>
        <c:crossBetween val="between"/>
      </c:valAx>
    </c:plotArea>
    <c:plotVisOnly val="1"/>
    <c:dispBlanksAs val="gap"/>
  </c:chart>
  <c:txPr>
    <a:bodyPr/>
    <a:lstStyle/>
    <a:p>
      <a:pPr>
        <a:defRPr sz="1800"/>
      </a:pPr>
      <a:endParaRPr lang="zh-TW"/>
    </a:p>
  </c:txPr>
  <c:externalData r:id="rId1"/>
</c:chartSpace>
</file>

<file path=ppt/charts/chart6.xml><?xml version="1.0" encoding="utf-8"?>
<c:chartSpace xmlns:c="http://schemas.openxmlformats.org/drawingml/2006/chart" xmlns:a="http://schemas.openxmlformats.org/drawingml/2006/main" xmlns:r="http://schemas.openxmlformats.org/officeDocument/2006/relationships">
  <c:lang val="zh-TW"/>
  <c:chart>
    <c:plotArea>
      <c:layout/>
      <c:barChart>
        <c:barDir val="col"/>
        <c:grouping val="clustered"/>
        <c:ser>
          <c:idx val="0"/>
          <c:order val="0"/>
          <c:tx>
            <c:strRef>
              <c:f>Tabelle1!$B$1</c:f>
              <c:strCache>
                <c:ptCount val="1"/>
                <c:pt idx="0">
                  <c:v>Datenreihe 1</c:v>
                </c:pt>
              </c:strCache>
            </c:strRef>
          </c:tx>
          <c:cat>
            <c:strRef>
              <c:f>Tabelle1!$A$2</c:f>
              <c:strCache>
                <c:ptCount val="1"/>
                <c:pt idx="0">
                  <c:v>Kategorie 1</c:v>
                </c:pt>
              </c:strCache>
            </c:strRef>
          </c:cat>
          <c:val>
            <c:numRef>
              <c:f>Tabelle1!$B$2</c:f>
              <c:numCache>
                <c:formatCode>General</c:formatCode>
                <c:ptCount val="1"/>
                <c:pt idx="0">
                  <c:v>1</c:v>
                </c:pt>
              </c:numCache>
            </c:numRef>
          </c:val>
        </c:ser>
        <c:ser>
          <c:idx val="1"/>
          <c:order val="1"/>
          <c:tx>
            <c:strRef>
              <c:f>Tabelle1!$C$1</c:f>
              <c:strCache>
                <c:ptCount val="1"/>
                <c:pt idx="0">
                  <c:v>Datenreihe 2</c:v>
                </c:pt>
              </c:strCache>
            </c:strRef>
          </c:tx>
          <c:cat>
            <c:strRef>
              <c:f>Tabelle1!$A$2</c:f>
              <c:strCache>
                <c:ptCount val="1"/>
                <c:pt idx="0">
                  <c:v>Kategorie 1</c:v>
                </c:pt>
              </c:strCache>
            </c:strRef>
          </c:cat>
          <c:val>
            <c:numRef>
              <c:f>Tabelle1!$C$2</c:f>
              <c:numCache>
                <c:formatCode>General</c:formatCode>
                <c:ptCount val="1"/>
                <c:pt idx="0">
                  <c:v>9</c:v>
                </c:pt>
              </c:numCache>
            </c:numRef>
          </c:val>
        </c:ser>
        <c:ser>
          <c:idx val="2"/>
          <c:order val="2"/>
          <c:tx>
            <c:strRef>
              <c:f>Tabelle1!$D$1</c:f>
              <c:strCache>
                <c:ptCount val="1"/>
                <c:pt idx="0">
                  <c:v>Datenreihe 3</c:v>
                </c:pt>
              </c:strCache>
            </c:strRef>
          </c:tx>
          <c:cat>
            <c:strRef>
              <c:f>Tabelle1!$A$2</c:f>
              <c:strCache>
                <c:ptCount val="1"/>
                <c:pt idx="0">
                  <c:v>Kategorie 1</c:v>
                </c:pt>
              </c:strCache>
            </c:strRef>
          </c:cat>
          <c:val>
            <c:numRef>
              <c:f>Tabelle1!$D$2</c:f>
              <c:numCache>
                <c:formatCode>General</c:formatCode>
                <c:ptCount val="1"/>
                <c:pt idx="0">
                  <c:v>5</c:v>
                </c:pt>
              </c:numCache>
            </c:numRef>
          </c:val>
        </c:ser>
        <c:ser>
          <c:idx val="3"/>
          <c:order val="3"/>
          <c:tx>
            <c:strRef>
              <c:f>Tabelle1!$E$1</c:f>
              <c:strCache>
                <c:ptCount val="1"/>
                <c:pt idx="0">
                  <c:v>Datenreihe 4</c:v>
                </c:pt>
              </c:strCache>
            </c:strRef>
          </c:tx>
          <c:cat>
            <c:strRef>
              <c:f>Tabelle1!$A$2</c:f>
              <c:strCache>
                <c:ptCount val="1"/>
                <c:pt idx="0">
                  <c:v>Kategorie 1</c:v>
                </c:pt>
              </c:strCache>
            </c:strRef>
          </c:cat>
          <c:val>
            <c:numRef>
              <c:f>Tabelle1!$E$2</c:f>
              <c:numCache>
                <c:formatCode>General</c:formatCode>
                <c:ptCount val="1"/>
                <c:pt idx="0">
                  <c:v>4</c:v>
                </c:pt>
              </c:numCache>
            </c:numRef>
          </c:val>
        </c:ser>
        <c:ser>
          <c:idx val="4"/>
          <c:order val="4"/>
          <c:tx>
            <c:strRef>
              <c:f>Tabelle1!$F$1</c:f>
              <c:strCache>
                <c:ptCount val="1"/>
                <c:pt idx="0">
                  <c:v>Datenreihe 5</c:v>
                </c:pt>
              </c:strCache>
            </c:strRef>
          </c:tx>
          <c:cat>
            <c:strRef>
              <c:f>Tabelle1!$A$2</c:f>
              <c:strCache>
                <c:ptCount val="1"/>
                <c:pt idx="0">
                  <c:v>Kategorie 1</c:v>
                </c:pt>
              </c:strCache>
            </c:strRef>
          </c:cat>
          <c:val>
            <c:numRef>
              <c:f>Tabelle1!$F$2</c:f>
              <c:numCache>
                <c:formatCode>General</c:formatCode>
                <c:ptCount val="1"/>
                <c:pt idx="0">
                  <c:v>5</c:v>
                </c:pt>
              </c:numCache>
            </c:numRef>
          </c:val>
        </c:ser>
        <c:ser>
          <c:idx val="5"/>
          <c:order val="5"/>
          <c:tx>
            <c:strRef>
              <c:f>Tabelle1!$G$1</c:f>
              <c:strCache>
                <c:ptCount val="1"/>
                <c:pt idx="0">
                  <c:v>Datenreihe 6</c:v>
                </c:pt>
              </c:strCache>
            </c:strRef>
          </c:tx>
          <c:cat>
            <c:strRef>
              <c:f>Tabelle1!$A$2</c:f>
              <c:strCache>
                <c:ptCount val="1"/>
                <c:pt idx="0">
                  <c:v>Kategorie 1</c:v>
                </c:pt>
              </c:strCache>
            </c:strRef>
          </c:cat>
          <c:val>
            <c:numRef>
              <c:f>Tabelle1!$G$2</c:f>
              <c:numCache>
                <c:formatCode>General</c:formatCode>
                <c:ptCount val="1"/>
                <c:pt idx="0">
                  <c:v>2</c:v>
                </c:pt>
              </c:numCache>
            </c:numRef>
          </c:val>
        </c:ser>
        <c:ser>
          <c:idx val="6"/>
          <c:order val="6"/>
          <c:tx>
            <c:strRef>
              <c:f>Tabelle1!$H$1</c:f>
              <c:strCache>
                <c:ptCount val="1"/>
                <c:pt idx="0">
                  <c:v>Datenreihe 7</c:v>
                </c:pt>
              </c:strCache>
            </c:strRef>
          </c:tx>
          <c:cat>
            <c:strRef>
              <c:f>Tabelle1!$A$2</c:f>
              <c:strCache>
                <c:ptCount val="1"/>
                <c:pt idx="0">
                  <c:v>Kategorie 1</c:v>
                </c:pt>
              </c:strCache>
            </c:strRef>
          </c:cat>
          <c:val>
            <c:numRef>
              <c:f>Tabelle1!$H$2</c:f>
              <c:numCache>
                <c:formatCode>General</c:formatCode>
                <c:ptCount val="1"/>
                <c:pt idx="0">
                  <c:v>3</c:v>
                </c:pt>
              </c:numCache>
            </c:numRef>
          </c:val>
        </c:ser>
        <c:ser>
          <c:idx val="7"/>
          <c:order val="7"/>
          <c:tx>
            <c:strRef>
              <c:f>Tabelle1!$I$1</c:f>
              <c:strCache>
                <c:ptCount val="1"/>
                <c:pt idx="0">
                  <c:v>Datenreihe 8</c:v>
                </c:pt>
              </c:strCache>
            </c:strRef>
          </c:tx>
          <c:cat>
            <c:strRef>
              <c:f>Tabelle1!$A$2</c:f>
              <c:strCache>
                <c:ptCount val="1"/>
                <c:pt idx="0">
                  <c:v>Kategorie 1</c:v>
                </c:pt>
              </c:strCache>
            </c:strRef>
          </c:cat>
          <c:val>
            <c:numRef>
              <c:f>Tabelle1!$I$2</c:f>
              <c:numCache>
                <c:formatCode>General</c:formatCode>
                <c:ptCount val="1"/>
                <c:pt idx="0">
                  <c:v>6</c:v>
                </c:pt>
              </c:numCache>
            </c:numRef>
          </c:val>
        </c:ser>
        <c:ser>
          <c:idx val="8"/>
          <c:order val="8"/>
          <c:tx>
            <c:strRef>
              <c:f>Tabelle1!$J$1</c:f>
              <c:strCache>
                <c:ptCount val="1"/>
                <c:pt idx="0">
                  <c:v>Datenreihe 9</c:v>
                </c:pt>
              </c:strCache>
            </c:strRef>
          </c:tx>
          <c:cat>
            <c:strRef>
              <c:f>Tabelle1!$A$2</c:f>
              <c:strCache>
                <c:ptCount val="1"/>
                <c:pt idx="0">
                  <c:v>Kategorie 1</c:v>
                </c:pt>
              </c:strCache>
            </c:strRef>
          </c:cat>
          <c:val>
            <c:numRef>
              <c:f>Tabelle1!$J$2</c:f>
              <c:numCache>
                <c:formatCode>General</c:formatCode>
                <c:ptCount val="1"/>
                <c:pt idx="0">
                  <c:v>4</c:v>
                </c:pt>
              </c:numCache>
            </c:numRef>
          </c:val>
        </c:ser>
        <c:ser>
          <c:idx val="9"/>
          <c:order val="9"/>
          <c:tx>
            <c:strRef>
              <c:f>Tabelle1!$K$1</c:f>
              <c:strCache>
                <c:ptCount val="1"/>
                <c:pt idx="0">
                  <c:v>Datenreihe 10</c:v>
                </c:pt>
              </c:strCache>
            </c:strRef>
          </c:tx>
          <c:cat>
            <c:strRef>
              <c:f>Tabelle1!$A$2</c:f>
              <c:strCache>
                <c:ptCount val="1"/>
                <c:pt idx="0">
                  <c:v>Kategorie 1</c:v>
                </c:pt>
              </c:strCache>
            </c:strRef>
          </c:cat>
          <c:val>
            <c:numRef>
              <c:f>Tabelle1!$K$2</c:f>
              <c:numCache>
                <c:formatCode>General</c:formatCode>
                <c:ptCount val="1"/>
                <c:pt idx="0">
                  <c:v>1</c:v>
                </c:pt>
              </c:numCache>
            </c:numRef>
          </c:val>
        </c:ser>
        <c:ser>
          <c:idx val="10"/>
          <c:order val="10"/>
          <c:tx>
            <c:strRef>
              <c:f>Tabelle1!$L$1</c:f>
              <c:strCache>
                <c:ptCount val="1"/>
                <c:pt idx="0">
                  <c:v>Datenreihe 11</c:v>
                </c:pt>
              </c:strCache>
            </c:strRef>
          </c:tx>
          <c:cat>
            <c:strRef>
              <c:f>Tabelle1!$A$2</c:f>
              <c:strCache>
                <c:ptCount val="1"/>
                <c:pt idx="0">
                  <c:v>Kategorie 1</c:v>
                </c:pt>
              </c:strCache>
            </c:strRef>
          </c:cat>
          <c:val>
            <c:numRef>
              <c:f>Tabelle1!$L$2</c:f>
              <c:numCache>
                <c:formatCode>General</c:formatCode>
                <c:ptCount val="1"/>
                <c:pt idx="0">
                  <c:v>5</c:v>
                </c:pt>
              </c:numCache>
            </c:numRef>
          </c:val>
        </c:ser>
        <c:ser>
          <c:idx val="11"/>
          <c:order val="11"/>
          <c:tx>
            <c:strRef>
              <c:f>Tabelle1!$M$1</c:f>
              <c:strCache>
                <c:ptCount val="1"/>
                <c:pt idx="0">
                  <c:v>Datenreihe 12</c:v>
                </c:pt>
              </c:strCache>
            </c:strRef>
          </c:tx>
          <c:cat>
            <c:strRef>
              <c:f>Tabelle1!$A$2</c:f>
              <c:strCache>
                <c:ptCount val="1"/>
                <c:pt idx="0">
                  <c:v>Kategorie 1</c:v>
                </c:pt>
              </c:strCache>
            </c:strRef>
          </c:cat>
          <c:val>
            <c:numRef>
              <c:f>Tabelle1!$M$2</c:f>
              <c:numCache>
                <c:formatCode>General</c:formatCode>
                <c:ptCount val="1"/>
                <c:pt idx="0">
                  <c:v>6</c:v>
                </c:pt>
              </c:numCache>
            </c:numRef>
          </c:val>
        </c:ser>
        <c:ser>
          <c:idx val="12"/>
          <c:order val="12"/>
          <c:tx>
            <c:strRef>
              <c:f>Tabelle1!$N$1</c:f>
              <c:strCache>
                <c:ptCount val="1"/>
                <c:pt idx="0">
                  <c:v>Datenreihe 13</c:v>
                </c:pt>
              </c:strCache>
            </c:strRef>
          </c:tx>
          <c:cat>
            <c:strRef>
              <c:f>Tabelle1!$A$2</c:f>
              <c:strCache>
                <c:ptCount val="1"/>
                <c:pt idx="0">
                  <c:v>Kategorie 1</c:v>
                </c:pt>
              </c:strCache>
            </c:strRef>
          </c:cat>
          <c:val>
            <c:numRef>
              <c:f>Tabelle1!$N$2</c:f>
              <c:numCache>
                <c:formatCode>General</c:formatCode>
                <c:ptCount val="1"/>
                <c:pt idx="0">
                  <c:v>4</c:v>
                </c:pt>
              </c:numCache>
            </c:numRef>
          </c:val>
        </c:ser>
        <c:ser>
          <c:idx val="13"/>
          <c:order val="13"/>
          <c:tx>
            <c:strRef>
              <c:f>Tabelle1!$O$1</c:f>
              <c:strCache>
                <c:ptCount val="1"/>
                <c:pt idx="0">
                  <c:v>Datenreihe 14</c:v>
                </c:pt>
              </c:strCache>
            </c:strRef>
          </c:tx>
          <c:cat>
            <c:strRef>
              <c:f>Tabelle1!$A$2</c:f>
              <c:strCache>
                <c:ptCount val="1"/>
                <c:pt idx="0">
                  <c:v>Kategorie 1</c:v>
                </c:pt>
              </c:strCache>
            </c:strRef>
          </c:cat>
          <c:val>
            <c:numRef>
              <c:f>Tabelle1!$O$2</c:f>
              <c:numCache>
                <c:formatCode>General</c:formatCode>
                <c:ptCount val="1"/>
                <c:pt idx="0">
                  <c:v>1</c:v>
                </c:pt>
              </c:numCache>
            </c:numRef>
          </c:val>
        </c:ser>
        <c:ser>
          <c:idx val="14"/>
          <c:order val="14"/>
          <c:tx>
            <c:strRef>
              <c:f>Tabelle1!$P$1</c:f>
              <c:strCache>
                <c:ptCount val="1"/>
                <c:pt idx="0">
                  <c:v>Datenreihe 15</c:v>
                </c:pt>
              </c:strCache>
            </c:strRef>
          </c:tx>
          <c:cat>
            <c:strRef>
              <c:f>Tabelle1!$A$2</c:f>
              <c:strCache>
                <c:ptCount val="1"/>
                <c:pt idx="0">
                  <c:v>Kategorie 1</c:v>
                </c:pt>
              </c:strCache>
            </c:strRef>
          </c:cat>
          <c:val>
            <c:numRef>
              <c:f>Tabelle1!$P$2</c:f>
              <c:numCache>
                <c:formatCode>General</c:formatCode>
                <c:ptCount val="1"/>
                <c:pt idx="0">
                  <c:v>2</c:v>
                </c:pt>
              </c:numCache>
            </c:numRef>
          </c:val>
        </c:ser>
        <c:ser>
          <c:idx val="15"/>
          <c:order val="15"/>
          <c:tx>
            <c:strRef>
              <c:f>Tabelle1!$Q$1</c:f>
              <c:strCache>
                <c:ptCount val="1"/>
                <c:pt idx="0">
                  <c:v>Datenreihe 16</c:v>
                </c:pt>
              </c:strCache>
            </c:strRef>
          </c:tx>
          <c:cat>
            <c:strRef>
              <c:f>Tabelle1!$A$2</c:f>
              <c:strCache>
                <c:ptCount val="1"/>
                <c:pt idx="0">
                  <c:v>Kategorie 1</c:v>
                </c:pt>
              </c:strCache>
            </c:strRef>
          </c:cat>
          <c:val>
            <c:numRef>
              <c:f>Tabelle1!$Q$2</c:f>
              <c:numCache>
                <c:formatCode>General</c:formatCode>
                <c:ptCount val="1"/>
                <c:pt idx="0">
                  <c:v>6</c:v>
                </c:pt>
              </c:numCache>
            </c:numRef>
          </c:val>
        </c:ser>
        <c:ser>
          <c:idx val="16"/>
          <c:order val="16"/>
          <c:tx>
            <c:strRef>
              <c:f>Tabelle1!$R$1</c:f>
              <c:strCache>
                <c:ptCount val="1"/>
                <c:pt idx="0">
                  <c:v>Datenreihe 17</c:v>
                </c:pt>
              </c:strCache>
            </c:strRef>
          </c:tx>
          <c:cat>
            <c:strRef>
              <c:f>Tabelle1!$A$2</c:f>
              <c:strCache>
                <c:ptCount val="1"/>
                <c:pt idx="0">
                  <c:v>Kategorie 1</c:v>
                </c:pt>
              </c:strCache>
            </c:strRef>
          </c:cat>
          <c:val>
            <c:numRef>
              <c:f>Tabelle1!$R$2</c:f>
              <c:numCache>
                <c:formatCode>General</c:formatCode>
                <c:ptCount val="1"/>
                <c:pt idx="0">
                  <c:v>5</c:v>
                </c:pt>
              </c:numCache>
            </c:numRef>
          </c:val>
        </c:ser>
        <c:ser>
          <c:idx val="17"/>
          <c:order val="17"/>
          <c:tx>
            <c:strRef>
              <c:f>Tabelle1!$S$1</c:f>
              <c:strCache>
                <c:ptCount val="1"/>
                <c:pt idx="0">
                  <c:v>Datenreihe 18</c:v>
                </c:pt>
              </c:strCache>
            </c:strRef>
          </c:tx>
          <c:cat>
            <c:strRef>
              <c:f>Tabelle1!$A$2</c:f>
              <c:strCache>
                <c:ptCount val="1"/>
                <c:pt idx="0">
                  <c:v>Kategorie 1</c:v>
                </c:pt>
              </c:strCache>
            </c:strRef>
          </c:cat>
          <c:val>
            <c:numRef>
              <c:f>Tabelle1!$S$2</c:f>
              <c:numCache>
                <c:formatCode>General</c:formatCode>
                <c:ptCount val="1"/>
                <c:pt idx="0">
                  <c:v>1</c:v>
                </c:pt>
              </c:numCache>
            </c:numRef>
          </c:val>
        </c:ser>
        <c:ser>
          <c:idx val="18"/>
          <c:order val="18"/>
          <c:tx>
            <c:strRef>
              <c:f>Tabelle1!$T$1</c:f>
              <c:strCache>
                <c:ptCount val="1"/>
                <c:pt idx="0">
                  <c:v>Datenreihe 19</c:v>
                </c:pt>
              </c:strCache>
            </c:strRef>
          </c:tx>
          <c:cat>
            <c:strRef>
              <c:f>Tabelle1!$A$2</c:f>
              <c:strCache>
                <c:ptCount val="1"/>
                <c:pt idx="0">
                  <c:v>Kategorie 1</c:v>
                </c:pt>
              </c:strCache>
            </c:strRef>
          </c:cat>
          <c:val>
            <c:numRef>
              <c:f>Tabelle1!$T$2</c:f>
              <c:numCache>
                <c:formatCode>General</c:formatCode>
                <c:ptCount val="1"/>
                <c:pt idx="0">
                  <c:v>5</c:v>
                </c:pt>
              </c:numCache>
            </c:numRef>
          </c:val>
        </c:ser>
        <c:ser>
          <c:idx val="19"/>
          <c:order val="19"/>
          <c:tx>
            <c:strRef>
              <c:f>Tabelle1!$U$1</c:f>
              <c:strCache>
                <c:ptCount val="1"/>
                <c:pt idx="0">
                  <c:v>Datenreihe 20</c:v>
                </c:pt>
              </c:strCache>
            </c:strRef>
          </c:tx>
          <c:cat>
            <c:strRef>
              <c:f>Tabelle1!$A$2</c:f>
              <c:strCache>
                <c:ptCount val="1"/>
                <c:pt idx="0">
                  <c:v>Kategorie 1</c:v>
                </c:pt>
              </c:strCache>
            </c:strRef>
          </c:cat>
          <c:val>
            <c:numRef>
              <c:f>Tabelle1!$U$2</c:f>
              <c:numCache>
                <c:formatCode>General</c:formatCode>
                <c:ptCount val="1"/>
                <c:pt idx="0">
                  <c:v>4</c:v>
                </c:pt>
              </c:numCache>
            </c:numRef>
          </c:val>
        </c:ser>
        <c:ser>
          <c:idx val="20"/>
          <c:order val="20"/>
          <c:tx>
            <c:strRef>
              <c:f>Tabelle1!$V$1</c:f>
              <c:strCache>
                <c:ptCount val="1"/>
                <c:pt idx="0">
                  <c:v>Datenreihe 21</c:v>
                </c:pt>
              </c:strCache>
            </c:strRef>
          </c:tx>
          <c:cat>
            <c:strRef>
              <c:f>Tabelle1!$A$2</c:f>
              <c:strCache>
                <c:ptCount val="1"/>
                <c:pt idx="0">
                  <c:v>Kategorie 1</c:v>
                </c:pt>
              </c:strCache>
            </c:strRef>
          </c:cat>
          <c:val>
            <c:numRef>
              <c:f>Tabelle1!$V$2</c:f>
              <c:numCache>
                <c:formatCode>General</c:formatCode>
                <c:ptCount val="1"/>
                <c:pt idx="0">
                  <c:v>1</c:v>
                </c:pt>
              </c:numCache>
            </c:numRef>
          </c:val>
        </c:ser>
        <c:ser>
          <c:idx val="21"/>
          <c:order val="21"/>
          <c:tx>
            <c:strRef>
              <c:f>Tabelle1!$W$1</c:f>
              <c:strCache>
                <c:ptCount val="1"/>
                <c:pt idx="0">
                  <c:v>Datenreihe 22</c:v>
                </c:pt>
              </c:strCache>
            </c:strRef>
          </c:tx>
          <c:cat>
            <c:strRef>
              <c:f>Tabelle1!$A$2</c:f>
              <c:strCache>
                <c:ptCount val="1"/>
                <c:pt idx="0">
                  <c:v>Kategorie 1</c:v>
                </c:pt>
              </c:strCache>
            </c:strRef>
          </c:cat>
          <c:val>
            <c:numRef>
              <c:f>Tabelle1!$W$2</c:f>
              <c:numCache>
                <c:formatCode>General</c:formatCode>
                <c:ptCount val="1"/>
                <c:pt idx="0">
                  <c:v>2</c:v>
                </c:pt>
              </c:numCache>
            </c:numRef>
          </c:val>
        </c:ser>
        <c:ser>
          <c:idx val="22"/>
          <c:order val="22"/>
          <c:tx>
            <c:strRef>
              <c:f>Tabelle1!$X$1</c:f>
              <c:strCache>
                <c:ptCount val="1"/>
                <c:pt idx="0">
                  <c:v>Datenreihe 23</c:v>
                </c:pt>
              </c:strCache>
            </c:strRef>
          </c:tx>
          <c:cat>
            <c:strRef>
              <c:f>Tabelle1!$A$2</c:f>
              <c:strCache>
                <c:ptCount val="1"/>
                <c:pt idx="0">
                  <c:v>Kategorie 1</c:v>
                </c:pt>
              </c:strCache>
            </c:strRef>
          </c:cat>
          <c:val>
            <c:numRef>
              <c:f>Tabelle1!$X$2</c:f>
              <c:numCache>
                <c:formatCode>General</c:formatCode>
                <c:ptCount val="1"/>
                <c:pt idx="0">
                  <c:v>1</c:v>
                </c:pt>
              </c:numCache>
            </c:numRef>
          </c:val>
        </c:ser>
        <c:ser>
          <c:idx val="23"/>
          <c:order val="23"/>
          <c:tx>
            <c:strRef>
              <c:f>Tabelle1!$Y$1</c:f>
              <c:strCache>
                <c:ptCount val="1"/>
                <c:pt idx="0">
                  <c:v>Datenreihe 24</c:v>
                </c:pt>
              </c:strCache>
            </c:strRef>
          </c:tx>
          <c:cat>
            <c:strRef>
              <c:f>Tabelle1!$A$2</c:f>
              <c:strCache>
                <c:ptCount val="1"/>
                <c:pt idx="0">
                  <c:v>Kategorie 1</c:v>
                </c:pt>
              </c:strCache>
            </c:strRef>
          </c:cat>
          <c:val>
            <c:numRef>
              <c:f>Tabelle1!$Y$2</c:f>
              <c:numCache>
                <c:formatCode>General</c:formatCode>
                <c:ptCount val="1"/>
                <c:pt idx="0">
                  <c:v>6</c:v>
                </c:pt>
              </c:numCache>
            </c:numRef>
          </c:val>
        </c:ser>
        <c:ser>
          <c:idx val="24"/>
          <c:order val="24"/>
          <c:tx>
            <c:strRef>
              <c:f>Tabelle1!$Z$1</c:f>
              <c:strCache>
                <c:ptCount val="1"/>
                <c:pt idx="0">
                  <c:v>Datenreihe 25</c:v>
                </c:pt>
              </c:strCache>
            </c:strRef>
          </c:tx>
          <c:cat>
            <c:strRef>
              <c:f>Tabelle1!$A$2</c:f>
              <c:strCache>
                <c:ptCount val="1"/>
                <c:pt idx="0">
                  <c:v>Kategorie 1</c:v>
                </c:pt>
              </c:strCache>
            </c:strRef>
          </c:cat>
          <c:val>
            <c:numRef>
              <c:f>Tabelle1!$Z$2</c:f>
              <c:numCache>
                <c:formatCode>General</c:formatCode>
                <c:ptCount val="1"/>
                <c:pt idx="0">
                  <c:v>4</c:v>
                </c:pt>
              </c:numCache>
            </c:numRef>
          </c:val>
        </c:ser>
        <c:ser>
          <c:idx val="25"/>
          <c:order val="25"/>
          <c:tx>
            <c:strRef>
              <c:f>Tabelle1!$AA$1</c:f>
              <c:strCache>
                <c:ptCount val="1"/>
                <c:pt idx="0">
                  <c:v>Datenreihe 26</c:v>
                </c:pt>
              </c:strCache>
            </c:strRef>
          </c:tx>
          <c:cat>
            <c:strRef>
              <c:f>Tabelle1!$A$2</c:f>
              <c:strCache>
                <c:ptCount val="1"/>
                <c:pt idx="0">
                  <c:v>Kategorie 1</c:v>
                </c:pt>
              </c:strCache>
            </c:strRef>
          </c:cat>
          <c:val>
            <c:numRef>
              <c:f>Tabelle1!$AA$2</c:f>
              <c:numCache>
                <c:formatCode>General</c:formatCode>
                <c:ptCount val="1"/>
                <c:pt idx="0">
                  <c:v>6</c:v>
                </c:pt>
              </c:numCache>
            </c:numRef>
          </c:val>
        </c:ser>
        <c:ser>
          <c:idx val="26"/>
          <c:order val="26"/>
          <c:tx>
            <c:strRef>
              <c:f>Tabelle1!$AB$1</c:f>
              <c:strCache>
                <c:ptCount val="1"/>
                <c:pt idx="0">
                  <c:v>Datenreihe 27</c:v>
                </c:pt>
              </c:strCache>
            </c:strRef>
          </c:tx>
          <c:cat>
            <c:strRef>
              <c:f>Tabelle1!$A$2</c:f>
              <c:strCache>
                <c:ptCount val="1"/>
                <c:pt idx="0">
                  <c:v>Kategorie 1</c:v>
                </c:pt>
              </c:strCache>
            </c:strRef>
          </c:cat>
          <c:val>
            <c:numRef>
              <c:f>Tabelle1!$AB$2</c:f>
              <c:numCache>
                <c:formatCode>General</c:formatCode>
                <c:ptCount val="1"/>
                <c:pt idx="0">
                  <c:v>5</c:v>
                </c:pt>
              </c:numCache>
            </c:numRef>
          </c:val>
        </c:ser>
        <c:ser>
          <c:idx val="27"/>
          <c:order val="27"/>
          <c:tx>
            <c:strRef>
              <c:f>Tabelle1!$AC$1</c:f>
              <c:strCache>
                <c:ptCount val="1"/>
                <c:pt idx="0">
                  <c:v>Datenreihe 28</c:v>
                </c:pt>
              </c:strCache>
            </c:strRef>
          </c:tx>
          <c:cat>
            <c:strRef>
              <c:f>Tabelle1!$A$2</c:f>
              <c:strCache>
                <c:ptCount val="1"/>
                <c:pt idx="0">
                  <c:v>Kategorie 1</c:v>
                </c:pt>
              </c:strCache>
            </c:strRef>
          </c:cat>
          <c:val>
            <c:numRef>
              <c:f>Tabelle1!$AC$2</c:f>
              <c:numCache>
                <c:formatCode>General</c:formatCode>
                <c:ptCount val="1"/>
                <c:pt idx="0">
                  <c:v>4</c:v>
                </c:pt>
              </c:numCache>
            </c:numRef>
          </c:val>
        </c:ser>
        <c:ser>
          <c:idx val="28"/>
          <c:order val="28"/>
          <c:tx>
            <c:strRef>
              <c:f>Tabelle1!$AD$1</c:f>
              <c:strCache>
                <c:ptCount val="1"/>
                <c:pt idx="0">
                  <c:v>Datenreihe 29</c:v>
                </c:pt>
              </c:strCache>
            </c:strRef>
          </c:tx>
          <c:cat>
            <c:strRef>
              <c:f>Tabelle1!$A$2</c:f>
              <c:strCache>
                <c:ptCount val="1"/>
                <c:pt idx="0">
                  <c:v>Kategorie 1</c:v>
                </c:pt>
              </c:strCache>
            </c:strRef>
          </c:cat>
          <c:val>
            <c:numRef>
              <c:f>Tabelle1!$AD$2</c:f>
              <c:numCache>
                <c:formatCode>General</c:formatCode>
                <c:ptCount val="1"/>
                <c:pt idx="0">
                  <c:v>5</c:v>
                </c:pt>
              </c:numCache>
            </c:numRef>
          </c:val>
        </c:ser>
        <c:ser>
          <c:idx val="29"/>
          <c:order val="29"/>
          <c:tx>
            <c:strRef>
              <c:f>Tabelle1!$AE$1</c:f>
              <c:strCache>
                <c:ptCount val="1"/>
                <c:pt idx="0">
                  <c:v>Datenreihe 30</c:v>
                </c:pt>
              </c:strCache>
            </c:strRef>
          </c:tx>
          <c:cat>
            <c:strRef>
              <c:f>Tabelle1!$A$2</c:f>
              <c:strCache>
                <c:ptCount val="1"/>
                <c:pt idx="0">
                  <c:v>Kategorie 1</c:v>
                </c:pt>
              </c:strCache>
            </c:strRef>
          </c:cat>
          <c:val>
            <c:numRef>
              <c:f>Tabelle1!$AE$2</c:f>
              <c:numCache>
                <c:formatCode>General</c:formatCode>
                <c:ptCount val="1"/>
                <c:pt idx="0">
                  <c:v>9</c:v>
                </c:pt>
              </c:numCache>
            </c:numRef>
          </c:val>
        </c:ser>
        <c:ser>
          <c:idx val="30"/>
          <c:order val="30"/>
          <c:tx>
            <c:strRef>
              <c:f>Tabelle1!$AF$1</c:f>
              <c:strCache>
                <c:ptCount val="1"/>
                <c:pt idx="0">
                  <c:v>Datenreihe 31</c:v>
                </c:pt>
              </c:strCache>
            </c:strRef>
          </c:tx>
          <c:cat>
            <c:strRef>
              <c:f>Tabelle1!$A$2</c:f>
              <c:strCache>
                <c:ptCount val="1"/>
                <c:pt idx="0">
                  <c:v>Kategorie 1</c:v>
                </c:pt>
              </c:strCache>
            </c:strRef>
          </c:cat>
          <c:val>
            <c:numRef>
              <c:f>Tabelle1!$AF$2</c:f>
              <c:numCache>
                <c:formatCode>General</c:formatCode>
                <c:ptCount val="1"/>
                <c:pt idx="0">
                  <c:v>5</c:v>
                </c:pt>
              </c:numCache>
            </c:numRef>
          </c:val>
        </c:ser>
        <c:ser>
          <c:idx val="31"/>
          <c:order val="31"/>
          <c:tx>
            <c:strRef>
              <c:f>Tabelle1!$AG$1</c:f>
              <c:strCache>
                <c:ptCount val="1"/>
                <c:pt idx="0">
                  <c:v>Datenreihe 32</c:v>
                </c:pt>
              </c:strCache>
            </c:strRef>
          </c:tx>
          <c:cat>
            <c:strRef>
              <c:f>Tabelle1!$A$2</c:f>
              <c:strCache>
                <c:ptCount val="1"/>
                <c:pt idx="0">
                  <c:v>Kategorie 1</c:v>
                </c:pt>
              </c:strCache>
            </c:strRef>
          </c:cat>
          <c:val>
            <c:numRef>
              <c:f>Tabelle1!$AG$2</c:f>
              <c:numCache>
                <c:formatCode>General</c:formatCode>
                <c:ptCount val="1"/>
                <c:pt idx="0">
                  <c:v>4</c:v>
                </c:pt>
              </c:numCache>
            </c:numRef>
          </c:val>
        </c:ser>
        <c:ser>
          <c:idx val="32"/>
          <c:order val="32"/>
          <c:tx>
            <c:strRef>
              <c:f>Tabelle1!$AH$1</c:f>
              <c:strCache>
                <c:ptCount val="1"/>
                <c:pt idx="0">
                  <c:v>Datenreihe 33</c:v>
                </c:pt>
              </c:strCache>
            </c:strRef>
          </c:tx>
          <c:cat>
            <c:strRef>
              <c:f>Tabelle1!$A$2</c:f>
              <c:strCache>
                <c:ptCount val="1"/>
                <c:pt idx="0">
                  <c:v>Kategorie 1</c:v>
                </c:pt>
              </c:strCache>
            </c:strRef>
          </c:cat>
          <c:val>
            <c:numRef>
              <c:f>Tabelle1!$AH$2</c:f>
              <c:numCache>
                <c:formatCode>General</c:formatCode>
                <c:ptCount val="1"/>
                <c:pt idx="0">
                  <c:v>8</c:v>
                </c:pt>
              </c:numCache>
            </c:numRef>
          </c:val>
        </c:ser>
        <c:ser>
          <c:idx val="33"/>
          <c:order val="33"/>
          <c:tx>
            <c:strRef>
              <c:f>Tabelle1!$AI$1</c:f>
              <c:strCache>
                <c:ptCount val="1"/>
                <c:pt idx="0">
                  <c:v>Datenreihe 34</c:v>
                </c:pt>
              </c:strCache>
            </c:strRef>
          </c:tx>
          <c:cat>
            <c:strRef>
              <c:f>Tabelle1!$A$2</c:f>
              <c:strCache>
                <c:ptCount val="1"/>
                <c:pt idx="0">
                  <c:v>Kategorie 1</c:v>
                </c:pt>
              </c:strCache>
            </c:strRef>
          </c:cat>
          <c:val>
            <c:numRef>
              <c:f>Tabelle1!$AI$2</c:f>
              <c:numCache>
                <c:formatCode>General</c:formatCode>
                <c:ptCount val="1"/>
                <c:pt idx="0">
                  <c:v>5</c:v>
                </c:pt>
              </c:numCache>
            </c:numRef>
          </c:val>
        </c:ser>
        <c:ser>
          <c:idx val="34"/>
          <c:order val="34"/>
          <c:tx>
            <c:strRef>
              <c:f>Tabelle1!$AJ$1</c:f>
              <c:strCache>
                <c:ptCount val="1"/>
                <c:pt idx="0">
                  <c:v>Datenreihe 35</c:v>
                </c:pt>
              </c:strCache>
            </c:strRef>
          </c:tx>
          <c:cat>
            <c:strRef>
              <c:f>Tabelle1!$A$2</c:f>
              <c:strCache>
                <c:ptCount val="1"/>
                <c:pt idx="0">
                  <c:v>Kategorie 1</c:v>
                </c:pt>
              </c:strCache>
            </c:strRef>
          </c:cat>
          <c:val>
            <c:numRef>
              <c:f>Tabelle1!$AJ$2</c:f>
              <c:numCache>
                <c:formatCode>General</c:formatCode>
                <c:ptCount val="1"/>
                <c:pt idx="0">
                  <c:v>6</c:v>
                </c:pt>
              </c:numCache>
            </c:numRef>
          </c:val>
        </c:ser>
        <c:ser>
          <c:idx val="35"/>
          <c:order val="35"/>
          <c:tx>
            <c:strRef>
              <c:f>Tabelle1!$AK$1</c:f>
              <c:strCache>
                <c:ptCount val="1"/>
                <c:pt idx="0">
                  <c:v>Datenreihe 36</c:v>
                </c:pt>
              </c:strCache>
            </c:strRef>
          </c:tx>
          <c:cat>
            <c:strRef>
              <c:f>Tabelle1!$A$2</c:f>
              <c:strCache>
                <c:ptCount val="1"/>
                <c:pt idx="0">
                  <c:v>Kategorie 1</c:v>
                </c:pt>
              </c:strCache>
            </c:strRef>
          </c:cat>
          <c:val>
            <c:numRef>
              <c:f>Tabelle1!$AK$2</c:f>
              <c:numCache>
                <c:formatCode>General</c:formatCode>
                <c:ptCount val="1"/>
                <c:pt idx="0">
                  <c:v>2</c:v>
                </c:pt>
              </c:numCache>
            </c:numRef>
          </c:val>
        </c:ser>
        <c:axId val="97061504"/>
        <c:axId val="97075584"/>
      </c:barChart>
      <c:catAx>
        <c:axId val="97061504"/>
        <c:scaling>
          <c:orientation val="minMax"/>
        </c:scaling>
        <c:delete val="1"/>
        <c:axPos val="b"/>
        <c:tickLblPos val="none"/>
        <c:crossAx val="97075584"/>
        <c:crosses val="autoZero"/>
        <c:auto val="1"/>
        <c:lblAlgn val="ctr"/>
        <c:lblOffset val="100"/>
      </c:catAx>
      <c:valAx>
        <c:axId val="97075584"/>
        <c:scaling>
          <c:orientation val="minMax"/>
        </c:scaling>
        <c:delete val="1"/>
        <c:axPos val="l"/>
        <c:majorGridlines/>
        <c:numFmt formatCode="General" sourceLinked="1"/>
        <c:tickLblPos val="none"/>
        <c:crossAx val="97061504"/>
        <c:crosses val="autoZero"/>
        <c:crossBetween val="between"/>
      </c:valAx>
    </c:plotArea>
    <c:plotVisOnly val="1"/>
    <c:dispBlanksAs val="gap"/>
  </c:chart>
  <c:txPr>
    <a:bodyPr/>
    <a:lstStyle/>
    <a:p>
      <a:pPr>
        <a:defRPr sz="1800"/>
      </a:pPr>
      <a:endParaRPr lang="zh-TW"/>
    </a:p>
  </c:txPr>
  <c:externalData r:id="rId1"/>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AAC8B82-26DA-488D-8531-B8C20895A440}" type="datetimeFigureOut">
              <a:rPr lang="zh-TW" altLang="en-US" smtClean="0"/>
              <a:pPr/>
              <a:t>2012/2/21</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B55EB1C-CCAB-410B-BDBF-A95636BA528E}"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cholar.googleusercontent.com/scholar?q=cache:emwz5ajcx5oJ:scholar.google.com/+Efficient+Similarity+Retrieval+for+Protein+Binding+Sites+based+on+Histogram+Comparison&amp;hl=zh-TW&amp;as_sdt=0,5"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dirty="0" smtClean="0">
                <a:hlinkClick r:id="rId3"/>
              </a:rPr>
              <a:t>http://scholar.googleusercontent.com/scholar?q=cache:emwz5ajcx5oJ:scholar.google.com/+Efficient+Similarity+Retrieval+for+Protein+Binding+Sites+based+on+Histogram+Comparison&amp;hl=zh-TW&amp;as_sdt=0,5</a:t>
            </a:r>
            <a:endParaRPr lang="zh-TW" altLang="en-US" dirty="0"/>
          </a:p>
        </p:txBody>
      </p:sp>
      <p:sp>
        <p:nvSpPr>
          <p:cNvPr id="4" name="投影片編號版面配置區 3"/>
          <p:cNvSpPr>
            <a:spLocks noGrp="1"/>
          </p:cNvSpPr>
          <p:nvPr>
            <p:ph type="sldNum" sz="quarter" idx="10"/>
          </p:nvPr>
        </p:nvSpPr>
        <p:spPr/>
        <p:txBody>
          <a:bodyPr/>
          <a:lstStyle/>
          <a:p>
            <a:fld id="{FB55EB1C-CCAB-410B-BDBF-A95636BA528E}" type="slidenum">
              <a:rPr lang="zh-TW" altLang="en-US" smtClean="0"/>
              <a:pPr/>
              <a:t>1</a:t>
            </a:fld>
            <a:endParaRPr lang="zh-TW"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E6E779D2-D6DF-4DD5-8020-F220689BAE33}" type="datetimeFigureOut">
              <a:rPr lang="zh-TW" altLang="en-US" smtClean="0"/>
              <a:pPr/>
              <a:t>2012/2/21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3255371-1E9A-4FEE-BDB4-8A2CCE00FD64}"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E6E779D2-D6DF-4DD5-8020-F220689BAE33}" type="datetimeFigureOut">
              <a:rPr lang="zh-TW" altLang="en-US" smtClean="0"/>
              <a:pPr/>
              <a:t>2012/2/21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3255371-1E9A-4FEE-BDB4-8A2CCE00FD64}"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E6E779D2-D6DF-4DD5-8020-F220689BAE33}" type="datetimeFigureOut">
              <a:rPr lang="zh-TW" altLang="en-US" smtClean="0"/>
              <a:pPr/>
              <a:t>2012/2/21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3255371-1E9A-4FEE-BDB4-8A2CCE00FD64}"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E6E779D2-D6DF-4DD5-8020-F220689BAE33}" type="datetimeFigureOut">
              <a:rPr lang="zh-TW" altLang="en-US" smtClean="0"/>
              <a:pPr/>
              <a:t>2012/2/21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3255371-1E9A-4FEE-BDB4-8A2CCE00FD64}"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E6E779D2-D6DF-4DD5-8020-F220689BAE33}" type="datetimeFigureOut">
              <a:rPr lang="zh-TW" altLang="en-US" smtClean="0"/>
              <a:pPr/>
              <a:t>2012/2/21</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3255371-1E9A-4FEE-BDB4-8A2CCE00FD64}"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E6E779D2-D6DF-4DD5-8020-F220689BAE33}" type="datetimeFigureOut">
              <a:rPr lang="zh-TW" altLang="en-US" smtClean="0"/>
              <a:pPr/>
              <a:t>2012/2/21</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3255371-1E9A-4FEE-BDB4-8A2CCE00FD64}"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E6E779D2-D6DF-4DD5-8020-F220689BAE33}" type="datetimeFigureOut">
              <a:rPr lang="zh-TW" altLang="en-US" smtClean="0"/>
              <a:pPr/>
              <a:t>2012/2/21</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3255371-1E9A-4FEE-BDB4-8A2CCE00FD64}"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E6E779D2-D6DF-4DD5-8020-F220689BAE33}" type="datetimeFigureOut">
              <a:rPr lang="zh-TW" altLang="en-US" smtClean="0"/>
              <a:pPr/>
              <a:t>2012/2/21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3255371-1E9A-4FEE-BDB4-8A2CCE00FD64}"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E6E779D2-D6DF-4DD5-8020-F220689BAE33}" type="datetimeFigureOut">
              <a:rPr lang="zh-TW" altLang="en-US" smtClean="0"/>
              <a:pPr/>
              <a:t>2012/2/21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3255371-1E9A-4FEE-BDB4-8A2CCE00FD64}"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E6E779D2-D6DF-4DD5-8020-F220689BAE33}" type="datetimeFigureOut">
              <a:rPr lang="zh-TW" altLang="en-US" smtClean="0"/>
              <a:pPr/>
              <a:t>2012/2/21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3255371-1E9A-4FEE-BDB4-8A2CCE00FD64}"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E6E779D2-D6DF-4DD5-8020-F220689BAE33}" type="datetimeFigureOut">
              <a:rPr lang="zh-TW" altLang="en-US" smtClean="0"/>
              <a:pPr/>
              <a:t>2012/2/21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3255371-1E9A-4FEE-BDB4-8A2CCE00FD64}" type="slidenum">
              <a:rPr lang="zh-TW" altLang="en-US" smtClean="0"/>
              <a:pPr/>
              <a:t>‹#›</a:t>
            </a:fld>
            <a:endParaRPr lang="zh-TW"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11" name="Rectangle 10"/>
          <p:cNvSpPr/>
          <p:nvPr userDrawn="1"/>
        </p:nvSpPr>
        <p:spPr>
          <a:xfrm>
            <a:off x="0" y="0"/>
            <a:ext cx="9144000" cy="1000108"/>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le 1"/>
          <p:cNvSpPr>
            <a:spLocks noGrp="1"/>
          </p:cNvSpPr>
          <p:nvPr>
            <p:ph type="title" hasCustomPrompt="1"/>
          </p:nvPr>
        </p:nvSpPr>
        <p:spPr>
          <a:xfrm>
            <a:off x="1000100" y="182391"/>
            <a:ext cx="6929486" cy="725470"/>
          </a:xfrm>
        </p:spPr>
        <p:txBody>
          <a:bodyPr>
            <a:normAutofit/>
          </a:bodyPr>
          <a:lstStyle>
            <a:lvl1pPr algn="ctr">
              <a:defRPr sz="2400" b="1">
                <a:solidFill>
                  <a:schemeClr val="bg1"/>
                </a:solidFill>
              </a:defRPr>
            </a:lvl1pPr>
          </a:lstStyle>
          <a:p>
            <a:r>
              <a:rPr lang="en-US" dirty="0" smtClean="0"/>
              <a:t>Title</a:t>
            </a:r>
            <a:endParaRPr lang="de-DE" dirty="0"/>
          </a:p>
        </p:txBody>
      </p:sp>
      <p:sp>
        <p:nvSpPr>
          <p:cNvPr id="12" name="Content Placeholder 2"/>
          <p:cNvSpPr>
            <a:spLocks noGrp="1"/>
          </p:cNvSpPr>
          <p:nvPr>
            <p:ph idx="1"/>
          </p:nvPr>
        </p:nvSpPr>
        <p:spPr>
          <a:xfrm>
            <a:off x="457200" y="1214422"/>
            <a:ext cx="8229600" cy="4911741"/>
          </a:xfrm>
        </p:spPr>
        <p:txBody>
          <a:bodyPr/>
          <a:lstStyle>
            <a:lvl1pPr>
              <a:buFont typeface="Wingdings" pitchFamily="2" charset="2"/>
              <a:buChar char="§"/>
              <a:defRPr sz="2000">
                <a:solidFill>
                  <a:schemeClr val="tx1"/>
                </a:solidFill>
              </a:defRPr>
            </a:lvl1pPr>
            <a:lvl2pPr>
              <a:defRPr sz="2000">
                <a:solidFill>
                  <a:schemeClr val="tx1"/>
                </a:solidFill>
              </a:defRPr>
            </a:lvl2pPr>
            <a:lvl3pPr>
              <a:defRPr sz="1800">
                <a:solidFill>
                  <a:schemeClr val="tx1"/>
                </a:solidFill>
              </a:defRPr>
            </a:lvl3pPr>
            <a:lvl4pPr>
              <a:defRPr sz="1800">
                <a:solidFill>
                  <a:schemeClr val="tx1"/>
                </a:solidFill>
              </a:defRPr>
            </a:lvl4pPr>
            <a:lvl5pPr>
              <a:defRPr sz="1600">
                <a:solidFill>
                  <a:schemeClr val="tx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de-DE" dirty="0"/>
          </a:p>
        </p:txBody>
      </p:sp>
      <p:pic>
        <p:nvPicPr>
          <p:cNvPr id="26" name="Picture 25" descr="logo_white_m.png"/>
          <p:cNvPicPr>
            <a:picLocks noChangeAspect="1"/>
          </p:cNvPicPr>
          <p:nvPr userDrawn="1"/>
        </p:nvPicPr>
        <p:blipFill>
          <a:blip r:embed="rId2" cstate="print"/>
          <a:stretch>
            <a:fillRect/>
          </a:stretch>
        </p:blipFill>
        <p:spPr>
          <a:xfrm>
            <a:off x="7765335" y="-42532"/>
            <a:ext cx="1336133" cy="965527"/>
          </a:xfrm>
          <a:prstGeom prst="rect">
            <a:avLst/>
          </a:prstGeom>
        </p:spPr>
      </p:pic>
      <p:sp>
        <p:nvSpPr>
          <p:cNvPr id="27" name="Date Placeholder 26"/>
          <p:cNvSpPr>
            <a:spLocks noGrp="1"/>
          </p:cNvSpPr>
          <p:nvPr>
            <p:ph type="dt" sz="half" idx="10"/>
          </p:nvPr>
        </p:nvSpPr>
        <p:spPr/>
        <p:txBody>
          <a:bodyPr/>
          <a:lstStyle/>
          <a:p>
            <a:endParaRPr lang="de-DE" dirty="0"/>
          </a:p>
        </p:txBody>
      </p:sp>
      <p:sp>
        <p:nvSpPr>
          <p:cNvPr id="28" name="Slide Number Placeholder 27"/>
          <p:cNvSpPr>
            <a:spLocks noGrp="1"/>
          </p:cNvSpPr>
          <p:nvPr>
            <p:ph type="sldNum" sz="quarter" idx="11"/>
          </p:nvPr>
        </p:nvSpPr>
        <p:spPr/>
        <p:txBody>
          <a:bodyPr/>
          <a:lstStyle/>
          <a:p>
            <a:fld id="{3722AAB7-8C13-4FEF-BF4B-87394EDC6C8B}" type="slidenum">
              <a:rPr lang="de-DE" smtClean="0"/>
              <a:pPr/>
              <a:t>‹#›</a:t>
            </a:fld>
            <a:endParaRPr lang="de-DE" dirty="0"/>
          </a:p>
        </p:txBody>
      </p:sp>
      <p:sp>
        <p:nvSpPr>
          <p:cNvPr id="29" name="Footer Placeholder 28"/>
          <p:cNvSpPr>
            <a:spLocks noGrp="1"/>
          </p:cNvSpPr>
          <p:nvPr>
            <p:ph type="ftr" sz="quarter" idx="12"/>
          </p:nvPr>
        </p:nvSpPr>
        <p:spPr/>
        <p:txBody>
          <a:bodyPr/>
          <a:lstStyle/>
          <a:p>
            <a:r>
              <a:rPr lang="de-DE" smtClean="0"/>
              <a:t>Thomas Fober</a:t>
            </a:r>
            <a:endParaRPr lang="de-DE" dirty="0"/>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E779D2-D6DF-4DD5-8020-F220689BAE33}" type="datetimeFigureOut">
              <a:rPr lang="zh-TW" altLang="en-US" smtClean="0"/>
              <a:pPr/>
              <a:t>2012/2/21</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255371-1E9A-4FEE-BDB4-8A2CCE00FD64}"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chart" Target="../charts/chart1.xml"/><Relationship Id="rId7" Type="http://schemas.openxmlformats.org/officeDocument/2006/relationships/chart" Target="../charts/chart5.xml"/><Relationship Id="rId12"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chart" Target="../charts/chart4.xml"/><Relationship Id="rId11" Type="http://schemas.openxmlformats.org/officeDocument/2006/relationships/image" Target="../media/image5.png"/><Relationship Id="rId5" Type="http://schemas.openxmlformats.org/officeDocument/2006/relationships/chart" Target="../charts/chart3.xml"/><Relationship Id="rId10" Type="http://schemas.openxmlformats.org/officeDocument/2006/relationships/image" Target="../media/image4.png"/><Relationship Id="rId4" Type="http://schemas.openxmlformats.org/officeDocument/2006/relationships/chart" Target="../charts/chart2.xml"/><Relationship Id="rId9"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692696"/>
            <a:ext cx="9144000" cy="1470025"/>
          </a:xfrm>
        </p:spPr>
        <p:txBody>
          <a:bodyPr>
            <a:noAutofit/>
          </a:bodyPr>
          <a:lstStyle/>
          <a:p>
            <a:r>
              <a:rPr lang="en-US" altLang="zh-TW" sz="3700" dirty="0" smtClean="0"/>
              <a:t>Efficient Similarity Retrieval for Protein Binding Sites </a:t>
            </a:r>
            <a:r>
              <a:rPr lang="en-US" altLang="zh-TW" sz="3700" dirty="0" smtClean="0"/>
              <a:t>Based </a:t>
            </a:r>
            <a:r>
              <a:rPr lang="en-US" altLang="zh-TW" sz="3700" dirty="0" smtClean="0"/>
              <a:t>on Histogram Comparison</a:t>
            </a:r>
            <a:endParaRPr lang="zh-TW" altLang="en-US" sz="3700" dirty="0"/>
          </a:p>
        </p:txBody>
      </p:sp>
      <p:sp>
        <p:nvSpPr>
          <p:cNvPr id="4" name="副標題 2"/>
          <p:cNvSpPr>
            <a:spLocks noGrp="1"/>
          </p:cNvSpPr>
          <p:nvPr>
            <p:ph type="subTitle" idx="1"/>
          </p:nvPr>
        </p:nvSpPr>
        <p:spPr>
          <a:xfrm>
            <a:off x="395536" y="3068960"/>
            <a:ext cx="8352928" cy="1224136"/>
          </a:xfrm>
        </p:spPr>
        <p:txBody>
          <a:bodyPr anchor="ctr">
            <a:normAutofit/>
          </a:bodyPr>
          <a:lstStyle/>
          <a:p>
            <a:r>
              <a:rPr lang="en-US" altLang="zh-TW" sz="2200" dirty="0" smtClean="0">
                <a:ea typeface="微軟正黑體" pitchFamily="34" charset="-120"/>
                <a:cs typeface="Times New Roman" pitchFamily="18" charset="0"/>
              </a:rPr>
              <a:t>Thomas </a:t>
            </a:r>
            <a:r>
              <a:rPr lang="en-US" altLang="zh-TW" sz="2200" dirty="0" err="1" smtClean="0">
                <a:ea typeface="微軟正黑體" pitchFamily="34" charset="-120"/>
                <a:cs typeface="Times New Roman" pitchFamily="18" charset="0"/>
              </a:rPr>
              <a:t>Fober</a:t>
            </a:r>
            <a:r>
              <a:rPr lang="en-US" altLang="zh-TW" sz="2200" dirty="0" smtClean="0">
                <a:ea typeface="微軟正黑體" pitchFamily="34" charset="-120"/>
                <a:cs typeface="Times New Roman" pitchFamily="18" charset="0"/>
              </a:rPr>
              <a:t>, Marco </a:t>
            </a:r>
            <a:r>
              <a:rPr lang="en-US" altLang="zh-TW" sz="2200" dirty="0" err="1" smtClean="0">
                <a:ea typeface="微軟正黑體" pitchFamily="34" charset="-120"/>
                <a:cs typeface="Times New Roman" pitchFamily="18" charset="0"/>
              </a:rPr>
              <a:t>Mernberger</a:t>
            </a:r>
            <a:r>
              <a:rPr lang="en-US" altLang="zh-TW" sz="2200" dirty="0" smtClean="0">
                <a:ea typeface="微軟正黑體" pitchFamily="34" charset="-120"/>
                <a:cs typeface="Times New Roman" pitchFamily="18" charset="0"/>
              </a:rPr>
              <a:t>, Gerhard </a:t>
            </a:r>
            <a:r>
              <a:rPr lang="en-US" altLang="zh-TW" sz="2200" dirty="0" err="1" smtClean="0">
                <a:ea typeface="微軟正黑體" pitchFamily="34" charset="-120"/>
                <a:cs typeface="Times New Roman" pitchFamily="18" charset="0"/>
              </a:rPr>
              <a:t>Klebe</a:t>
            </a:r>
            <a:r>
              <a:rPr lang="en-US" altLang="zh-TW" sz="2200" dirty="0" smtClean="0">
                <a:ea typeface="微軟正黑體" pitchFamily="34" charset="-120"/>
                <a:cs typeface="Times New Roman" pitchFamily="18" charset="0"/>
              </a:rPr>
              <a:t> and </a:t>
            </a:r>
            <a:r>
              <a:rPr lang="en-US" altLang="zh-TW" sz="2200" dirty="0" err="1" smtClean="0"/>
              <a:t>Eyke</a:t>
            </a:r>
            <a:r>
              <a:rPr lang="en-US" altLang="zh-TW" sz="2200" dirty="0" smtClean="0"/>
              <a:t> </a:t>
            </a:r>
            <a:r>
              <a:rPr lang="en-US" altLang="zh-TW" sz="2200" dirty="0" err="1" smtClean="0"/>
              <a:t>Hüllermeier</a:t>
            </a:r>
            <a:r>
              <a:rPr lang="en-US" altLang="zh-TW" sz="2200" dirty="0" smtClean="0"/>
              <a:t/>
            </a:r>
            <a:br>
              <a:rPr lang="en-US" altLang="zh-TW" sz="2200" dirty="0" smtClean="0"/>
            </a:br>
            <a:r>
              <a:rPr lang="en-US" altLang="zh-TW" sz="2200" dirty="0" smtClean="0"/>
              <a:t> 2010</a:t>
            </a:r>
            <a:r>
              <a:rPr lang="pt-BR" altLang="zh-TW" sz="2200" dirty="0" smtClean="0"/>
              <a:t> </a:t>
            </a:r>
            <a:r>
              <a:rPr lang="en-US" altLang="zh-TW" sz="2200" dirty="0" smtClean="0"/>
              <a:t>German Conference on Bioinformatics</a:t>
            </a:r>
            <a:br>
              <a:rPr lang="en-US" altLang="zh-TW" sz="2200" dirty="0" smtClean="0"/>
            </a:br>
            <a:r>
              <a:rPr lang="en-US" altLang="zh-TW" sz="2200" dirty="0" smtClean="0"/>
              <a:t>(GCB 2010, Sept. </a:t>
            </a:r>
            <a:r>
              <a:rPr lang="nn-NO" altLang="zh-TW" sz="2200" dirty="0" smtClean="0"/>
              <a:t>20 - </a:t>
            </a:r>
            <a:r>
              <a:rPr lang="en-US" altLang="zh-TW" sz="2200" dirty="0" smtClean="0"/>
              <a:t>Sept</a:t>
            </a:r>
            <a:r>
              <a:rPr lang="nn-NO" altLang="zh-TW" sz="2200" dirty="0" smtClean="0"/>
              <a:t>. 22), pp. </a:t>
            </a:r>
            <a:r>
              <a:rPr lang="en-US" altLang="zh-TW" sz="2200" dirty="0" smtClean="0"/>
              <a:t>51-59</a:t>
            </a:r>
            <a:r>
              <a:rPr lang="nn-NO" altLang="zh-TW" sz="2200" dirty="0" smtClean="0"/>
              <a:t>, Braunschweig Germany</a:t>
            </a:r>
            <a:endParaRPr lang="zh-TW" altLang="en-US" sz="2200" dirty="0">
              <a:ea typeface="微軟正黑體" pitchFamily="34" charset="-120"/>
              <a:cs typeface="Times New Roman" pitchFamily="18" charset="0"/>
            </a:endParaRPr>
          </a:p>
        </p:txBody>
      </p:sp>
      <p:sp>
        <p:nvSpPr>
          <p:cNvPr id="6" name="文字方塊 5"/>
          <p:cNvSpPr txBox="1"/>
          <p:nvPr/>
        </p:nvSpPr>
        <p:spPr>
          <a:xfrm>
            <a:off x="4860032" y="5301208"/>
            <a:ext cx="3384376" cy="830997"/>
          </a:xfrm>
          <a:prstGeom prst="rect">
            <a:avLst/>
          </a:prstGeom>
          <a:noFill/>
        </p:spPr>
        <p:txBody>
          <a:bodyPr wrap="square" rtlCol="0">
            <a:spAutoFit/>
          </a:bodyPr>
          <a:lstStyle/>
          <a:p>
            <a:r>
              <a:rPr lang="en-US" altLang="zh-TW" sz="2400" dirty="0" smtClean="0">
                <a:solidFill>
                  <a:srgbClr val="898989"/>
                </a:solidFill>
                <a:cs typeface="Times New Roman" pitchFamily="18" charset="0"/>
              </a:rPr>
              <a:t>Presenter: Chun-</a:t>
            </a:r>
            <a:r>
              <a:rPr lang="en-US" altLang="zh-TW" sz="2400" dirty="0" err="1" smtClean="0">
                <a:solidFill>
                  <a:srgbClr val="898989"/>
                </a:solidFill>
                <a:cs typeface="Times New Roman" pitchFamily="18" charset="0"/>
              </a:rPr>
              <a:t>Chieh</a:t>
            </a:r>
            <a:r>
              <a:rPr lang="en-US" altLang="zh-TW" sz="2400" dirty="0" smtClean="0">
                <a:solidFill>
                  <a:srgbClr val="898989"/>
                </a:solidFill>
                <a:cs typeface="Times New Roman" pitchFamily="18" charset="0"/>
              </a:rPr>
              <a:t> Tai</a:t>
            </a:r>
          </a:p>
          <a:p>
            <a:r>
              <a:rPr lang="en-US" altLang="zh-TW" sz="2400" dirty="0" smtClean="0">
                <a:solidFill>
                  <a:srgbClr val="898989"/>
                </a:solidFill>
                <a:cs typeface="Times New Roman" pitchFamily="18" charset="0"/>
              </a:rPr>
              <a:t>Date</a:t>
            </a:r>
            <a:r>
              <a:rPr lang="en-US" altLang="zh-TW" sz="2400" dirty="0">
                <a:solidFill>
                  <a:srgbClr val="898989"/>
                </a:solidFill>
                <a:cs typeface="Times New Roman" pitchFamily="18" charset="0"/>
              </a:rPr>
              <a:t>: </a:t>
            </a:r>
            <a:r>
              <a:rPr lang="pt-BR" altLang="zh-TW" sz="2400" dirty="0" smtClean="0">
                <a:solidFill>
                  <a:srgbClr val="898989"/>
                </a:solidFill>
                <a:cs typeface="Times New Roman" pitchFamily="18" charset="0"/>
              </a:rPr>
              <a:t>February </a:t>
            </a:r>
            <a:r>
              <a:rPr lang="en-US" altLang="zh-TW" sz="2400" dirty="0" smtClean="0">
                <a:solidFill>
                  <a:srgbClr val="898989"/>
                </a:solidFill>
                <a:cs typeface="Times New Roman" pitchFamily="18" charset="0"/>
              </a:rPr>
              <a:t>21, 2012</a:t>
            </a:r>
            <a:endParaRPr lang="zh-TW" altLang="en-US" sz="2400" dirty="0">
              <a:solidFill>
                <a:srgbClr val="898989"/>
              </a:solidFill>
              <a:cs typeface="Times New Roman" pitchFamily="18" charset="0"/>
            </a:endParaRPr>
          </a:p>
        </p:txBody>
      </p:sp>
    </p:spTree>
  </p:cSld>
  <p:clrMapOvr>
    <a:masterClrMapping/>
  </p:clrMapOvr>
  <p:transition>
    <p:cu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Abstract</a:t>
            </a:r>
            <a:endParaRPr lang="zh-TW" altLang="en-US" dirty="0"/>
          </a:p>
        </p:txBody>
      </p:sp>
      <p:sp>
        <p:nvSpPr>
          <p:cNvPr id="3" name="內容版面配置區 2"/>
          <p:cNvSpPr>
            <a:spLocks noGrp="1"/>
          </p:cNvSpPr>
          <p:nvPr>
            <p:ph idx="1"/>
          </p:nvPr>
        </p:nvSpPr>
        <p:spPr>
          <a:xfrm>
            <a:off x="214282" y="1600200"/>
            <a:ext cx="8643998" cy="4525963"/>
          </a:xfrm>
        </p:spPr>
        <p:txBody>
          <a:bodyPr>
            <a:noAutofit/>
          </a:bodyPr>
          <a:lstStyle/>
          <a:p>
            <a:pPr>
              <a:buNone/>
            </a:pPr>
            <a:r>
              <a:rPr lang="en-US" altLang="zh-TW" sz="2800" dirty="0" smtClean="0"/>
              <a:t>	We propose a method for comparing protein structures or, more specifically, protein binding sites using a histogram-based representation that captures important geometrical and </a:t>
            </a:r>
            <a:r>
              <a:rPr lang="en-US" altLang="zh-TW" sz="2800" dirty="0" err="1" smtClean="0"/>
              <a:t>physico</a:t>
            </a:r>
            <a:r>
              <a:rPr lang="en-US" altLang="zh-TW" sz="2800" dirty="0" smtClean="0"/>
              <a:t>-chemical </a:t>
            </a:r>
            <a:r>
              <a:rPr lang="en-US" altLang="zh-TW" sz="2800" dirty="0" smtClean="0"/>
              <a:t>properties. In comparison to hitherto existing approaches in structural bioinformatics, especially methods from graph theory and computational geometry, our approach is computationally much more efficient. Moreover, despite its simplicity, it appears to capture and recover functional similarities surprisingly well.</a:t>
            </a:r>
            <a:endParaRPr lang="zh-TW" altLang="en-US" sz="2800" dirty="0"/>
          </a:p>
        </p:txBody>
      </p:sp>
    </p:spTree>
  </p:cSld>
  <p:clrMapOvr>
    <a:masterClrMapping/>
  </p:clrMapOvr>
  <p:transition>
    <p:cu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179512" y="274638"/>
            <a:ext cx="8507288" cy="1143000"/>
          </a:xfrm>
        </p:spPr>
        <p:txBody>
          <a:bodyPr>
            <a:normAutofit/>
          </a:bodyPr>
          <a:lstStyle/>
          <a:p>
            <a:r>
              <a:rPr lang="en-US" altLang="zh-TW" sz="3400" dirty="0" smtClean="0"/>
              <a:t>CavBase is a database for protein binding sites</a:t>
            </a:r>
            <a:endParaRPr lang="en-US" altLang="zh-TW" sz="3400" dirty="0"/>
          </a:p>
        </p:txBody>
      </p:sp>
      <p:sp>
        <p:nvSpPr>
          <p:cNvPr id="3" name="Inhaltsplatzhalter 2"/>
          <p:cNvSpPr>
            <a:spLocks noGrp="1"/>
          </p:cNvSpPr>
          <p:nvPr>
            <p:ph idx="1"/>
          </p:nvPr>
        </p:nvSpPr>
        <p:spPr>
          <a:xfrm>
            <a:off x="457200" y="1412776"/>
            <a:ext cx="8229600" cy="4713387"/>
          </a:xfrm>
        </p:spPr>
        <p:txBody>
          <a:bodyPr>
            <a:noAutofit/>
          </a:bodyPr>
          <a:lstStyle/>
          <a:p>
            <a:r>
              <a:rPr lang="en-US" sz="2800" dirty="0" smtClean="0"/>
              <a:t>data base containing protein binding sites</a:t>
            </a:r>
          </a:p>
          <a:p>
            <a:pPr lvl="1"/>
            <a:r>
              <a:rPr lang="en-US" sz="1800" dirty="0" smtClean="0"/>
              <a:t>61,516 proteins, from which </a:t>
            </a:r>
          </a:p>
          <a:p>
            <a:pPr lvl="1"/>
            <a:r>
              <a:rPr lang="en-US" sz="1800" dirty="0" smtClean="0"/>
              <a:t>248,686 protein binding sites are extracted (March 2010)</a:t>
            </a:r>
            <a:endParaRPr lang="en-US" dirty="0" smtClean="0"/>
          </a:p>
          <a:p>
            <a:r>
              <a:rPr lang="en-US" sz="2800" dirty="0" smtClean="0"/>
              <a:t>current comparison approaches</a:t>
            </a:r>
          </a:p>
          <a:p>
            <a:pPr lvl="1"/>
            <a:r>
              <a:rPr lang="en-US" sz="1800" dirty="0" smtClean="0"/>
              <a:t>graph-based: kernel methods, evolutionary optimization, …</a:t>
            </a:r>
          </a:p>
          <a:p>
            <a:pPr lvl="1"/>
            <a:r>
              <a:rPr lang="en-US" sz="1800" dirty="0" smtClean="0"/>
              <a:t>geometric: geometric hashing, labeled point cloud superposition, …</a:t>
            </a:r>
          </a:p>
          <a:p>
            <a:pPr lvl="1"/>
            <a:endParaRPr lang="en-US" sz="1800" dirty="0" smtClean="0"/>
          </a:p>
          <a:p>
            <a:pPr lvl="1"/>
            <a:endParaRPr lang="en-US" dirty="0" smtClean="0"/>
          </a:p>
          <a:p>
            <a:pPr lvl="1"/>
            <a:endParaRPr lang="en-US" dirty="0" smtClean="0"/>
          </a:p>
          <a:p>
            <a:pPr lvl="1"/>
            <a:endParaRPr lang="en-US" dirty="0" smtClean="0"/>
          </a:p>
          <a:p>
            <a:pPr lvl="1">
              <a:buNone/>
            </a:pPr>
            <a:r>
              <a:rPr lang="en-US" sz="1800" dirty="0" smtClean="0">
                <a:sym typeface="Wingdings" pitchFamily="2" charset="2"/>
              </a:rPr>
              <a:t> some with high computational complexity</a:t>
            </a:r>
            <a:endParaRPr lang="de-DE" sz="1800" dirty="0"/>
          </a:p>
          <a:p>
            <a:pPr marL="457200" lvl="1" indent="0">
              <a:buFont typeface="Wingdings" pitchFamily="2" charset="2"/>
              <a:buChar char="à"/>
            </a:pPr>
            <a:r>
              <a:rPr lang="en-US" sz="1800" dirty="0" smtClean="0">
                <a:sym typeface="Wingdings" pitchFamily="2" charset="2"/>
              </a:rPr>
              <a:t> infeasible </a:t>
            </a:r>
            <a:r>
              <a:rPr lang="en-US" sz="1800" dirty="0" smtClean="0"/>
              <a:t>for </a:t>
            </a:r>
            <a:r>
              <a:rPr lang="en-US" sz="1800" dirty="0"/>
              <a:t>large scale </a:t>
            </a:r>
            <a:r>
              <a:rPr lang="en-US" sz="1800" dirty="0" smtClean="0"/>
              <a:t>studies</a:t>
            </a:r>
          </a:p>
        </p:txBody>
      </p:sp>
      <p:sp>
        <p:nvSpPr>
          <p:cNvPr id="4" name="Foliennummernplatzhalter 3"/>
          <p:cNvSpPr>
            <a:spLocks noGrp="1"/>
          </p:cNvSpPr>
          <p:nvPr>
            <p:ph type="sldNum" sz="quarter" idx="12"/>
          </p:nvPr>
        </p:nvSpPr>
        <p:spPr/>
        <p:txBody>
          <a:bodyPr/>
          <a:lstStyle/>
          <a:p>
            <a:fld id="{3722AAB7-8C13-4FEF-BF4B-87394EDC6C8B}" type="slidenum">
              <a:rPr lang="de-DE" smtClean="0"/>
              <a:pPr/>
              <a:t>3</a:t>
            </a:fld>
            <a:endParaRPr lang="de-DE" dirty="0"/>
          </a:p>
        </p:txBody>
      </p:sp>
      <p:graphicFrame>
        <p:nvGraphicFramePr>
          <p:cNvPr id="5" name="Tabelle 4"/>
          <p:cNvGraphicFramePr>
            <a:graphicFrameLocks noGrp="1"/>
          </p:cNvGraphicFramePr>
          <p:nvPr>
            <p:extLst>
              <p:ext uri="{D42A27DB-BD31-4B8C-83A1-F6EECF244321}">
                <p14:modId xmlns="" xmlns:p14="http://schemas.microsoft.com/office/powerpoint/2010/main" val="3665121859"/>
              </p:ext>
            </p:extLst>
          </p:nvPr>
        </p:nvGraphicFramePr>
        <p:xfrm>
          <a:off x="539552" y="3789040"/>
          <a:ext cx="7848875" cy="1752600"/>
        </p:xfrm>
        <a:graphic>
          <a:graphicData uri="http://schemas.openxmlformats.org/drawingml/2006/table">
            <a:tbl>
              <a:tblPr firstRow="1" bandRow="1">
                <a:tableStyleId>{F5AB1C69-6EDB-4FF4-983F-18BD219EF322}</a:tableStyleId>
              </a:tblPr>
              <a:tblGrid>
                <a:gridCol w="1569775"/>
                <a:gridCol w="1569775"/>
                <a:gridCol w="1569775"/>
                <a:gridCol w="1569775"/>
                <a:gridCol w="1569775"/>
              </a:tblGrid>
              <a:tr h="370840">
                <a:tc>
                  <a:txBody>
                    <a:bodyPr/>
                    <a:lstStyle/>
                    <a:p>
                      <a:pPr algn="ctr"/>
                      <a:r>
                        <a:rPr lang="de-DE" dirty="0" smtClean="0"/>
                        <a:t>RW Kernel</a:t>
                      </a:r>
                      <a:endParaRPr lang="de-DE" dirty="0"/>
                    </a:p>
                  </a:txBody>
                  <a:tcPr/>
                </a:tc>
                <a:tc>
                  <a:txBody>
                    <a:bodyPr/>
                    <a:lstStyle/>
                    <a:p>
                      <a:pPr algn="ctr"/>
                      <a:r>
                        <a:rPr lang="de-DE" dirty="0" smtClean="0"/>
                        <a:t>SP Kernel</a:t>
                      </a:r>
                      <a:endParaRPr lang="de-DE" dirty="0"/>
                    </a:p>
                  </a:txBody>
                  <a:tcPr/>
                </a:tc>
                <a:tc>
                  <a:txBody>
                    <a:bodyPr/>
                    <a:lstStyle/>
                    <a:p>
                      <a:pPr algn="ctr"/>
                      <a:r>
                        <a:rPr lang="de-DE" dirty="0" err="1" smtClean="0"/>
                        <a:t>Greedy</a:t>
                      </a:r>
                      <a:r>
                        <a:rPr lang="de-DE" dirty="0" smtClean="0"/>
                        <a:t> </a:t>
                      </a:r>
                      <a:r>
                        <a:rPr lang="de-DE" dirty="0" err="1" smtClean="0"/>
                        <a:t>Heuristic</a:t>
                      </a:r>
                      <a:endParaRPr lang="de-DE" dirty="0"/>
                    </a:p>
                  </a:txBody>
                  <a:tcPr/>
                </a:tc>
                <a:tc>
                  <a:txBody>
                    <a:bodyPr/>
                    <a:lstStyle/>
                    <a:p>
                      <a:pPr algn="ctr"/>
                      <a:r>
                        <a:rPr lang="de-DE" dirty="0" smtClean="0"/>
                        <a:t>GAVEO</a:t>
                      </a:r>
                      <a:endParaRPr lang="de-DE" dirty="0"/>
                    </a:p>
                  </a:txBody>
                  <a:tcPr/>
                </a:tc>
                <a:tc>
                  <a:txBody>
                    <a:bodyPr/>
                    <a:lstStyle/>
                    <a:p>
                      <a:pPr algn="ctr"/>
                      <a:r>
                        <a:rPr lang="en-US" noProof="0" dirty="0" err="1" smtClean="0"/>
                        <a:t>Subgraph</a:t>
                      </a:r>
                      <a:r>
                        <a:rPr lang="en-US" noProof="0" dirty="0" smtClean="0"/>
                        <a:t> Isomorphism</a:t>
                      </a:r>
                      <a:endParaRPr lang="en-US" noProof="0" dirty="0"/>
                    </a:p>
                  </a:txBody>
                  <a:tcPr/>
                </a:tc>
              </a:tr>
              <a:tr h="370840">
                <a:tc>
                  <a:txBody>
                    <a:bodyPr/>
                    <a:lstStyle/>
                    <a:p>
                      <a:pPr algn="ctr"/>
                      <a:r>
                        <a:rPr lang="de-DE" dirty="0" smtClean="0">
                          <a:latin typeface="Lucida Calligraphy" pitchFamily="66" charset="0"/>
                        </a:rPr>
                        <a:t>O</a:t>
                      </a:r>
                      <a:r>
                        <a:rPr lang="de-DE" dirty="0" smtClean="0">
                          <a:latin typeface="+mn-lt"/>
                        </a:rPr>
                        <a:t>(n</a:t>
                      </a:r>
                      <a:r>
                        <a:rPr lang="de-DE" baseline="30000" dirty="0" smtClean="0">
                          <a:latin typeface="+mn-lt"/>
                        </a:rPr>
                        <a:t>6</a:t>
                      </a:r>
                      <a:r>
                        <a:rPr lang="de-DE" dirty="0" smtClean="0">
                          <a:latin typeface="+mn-lt"/>
                        </a:rPr>
                        <a:t>)</a:t>
                      </a:r>
                      <a:endParaRPr lang="de-DE" dirty="0">
                        <a:latin typeface="Lucida Calligraphy" pitchFamily="66"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dirty="0" smtClean="0">
                          <a:latin typeface="Lucida Calligraphy" pitchFamily="66" charset="0"/>
                        </a:rPr>
                        <a:t>O</a:t>
                      </a:r>
                      <a:r>
                        <a:rPr lang="de-DE" dirty="0" smtClean="0">
                          <a:latin typeface="+mn-lt"/>
                        </a:rPr>
                        <a:t>(n</a:t>
                      </a:r>
                      <a:r>
                        <a:rPr lang="de-DE" baseline="30000" dirty="0" smtClean="0">
                          <a:latin typeface="+mn-lt"/>
                        </a:rPr>
                        <a:t>4</a:t>
                      </a:r>
                      <a:r>
                        <a:rPr lang="de-DE" dirty="0" smtClean="0">
                          <a:latin typeface="+mn-lt"/>
                        </a:rPr>
                        <a:t>)</a:t>
                      </a:r>
                      <a:endParaRPr lang="de-DE" dirty="0" smtClean="0">
                        <a:latin typeface="Lucida Calligraphy" pitchFamily="66" charset="0"/>
                      </a:endParaRPr>
                    </a:p>
                  </a:txBody>
                  <a:tcPr/>
                </a:tc>
                <a:tc>
                  <a:txBody>
                    <a:bodyPr/>
                    <a:lstStyle/>
                    <a:p>
                      <a:pPr algn="ctr"/>
                      <a:r>
                        <a:rPr lang="en-US" noProof="0" smtClean="0"/>
                        <a:t>NP-complete</a:t>
                      </a:r>
                      <a:endParaRPr lang="en-US" noProof="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noProof="0" smtClean="0"/>
                        <a:t>NP-complete</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noProof="0" dirty="0" smtClean="0"/>
                        <a:t>NP-complete</a:t>
                      </a:r>
                    </a:p>
                  </a:txBody>
                  <a:tcPr/>
                </a:tc>
              </a:tr>
              <a:tr h="370840">
                <a:tc>
                  <a:txBody>
                    <a:bodyPr/>
                    <a:lstStyle/>
                    <a:p>
                      <a:pPr algn="ctr"/>
                      <a:r>
                        <a:rPr lang="de-DE" dirty="0" smtClean="0"/>
                        <a:t>65.51 s</a:t>
                      </a:r>
                      <a:endParaRPr lang="de-DE" dirty="0"/>
                    </a:p>
                  </a:txBody>
                  <a:tcPr/>
                </a:tc>
                <a:tc>
                  <a:txBody>
                    <a:bodyPr/>
                    <a:lstStyle/>
                    <a:p>
                      <a:pPr algn="ctr"/>
                      <a:r>
                        <a:rPr lang="de-DE" dirty="0" smtClean="0"/>
                        <a:t>9.75 s</a:t>
                      </a:r>
                      <a:endParaRPr lang="de-DE" dirty="0"/>
                    </a:p>
                  </a:txBody>
                  <a:tcPr/>
                </a:tc>
                <a:tc>
                  <a:txBody>
                    <a:bodyPr/>
                    <a:lstStyle/>
                    <a:p>
                      <a:pPr algn="ctr"/>
                      <a:r>
                        <a:rPr lang="de-DE" dirty="0" smtClean="0"/>
                        <a:t>121.74 s</a:t>
                      </a:r>
                      <a:endParaRPr lang="de-DE" dirty="0"/>
                    </a:p>
                  </a:txBody>
                  <a:tcPr/>
                </a:tc>
                <a:tc>
                  <a:txBody>
                    <a:bodyPr/>
                    <a:lstStyle/>
                    <a:p>
                      <a:pPr algn="ctr"/>
                      <a:r>
                        <a:rPr lang="de-DE" dirty="0" smtClean="0"/>
                        <a:t>--- </a:t>
                      </a:r>
                      <a:endParaRPr lang="de-DE" dirty="0"/>
                    </a:p>
                  </a:txBody>
                  <a:tcPr/>
                </a:tc>
                <a:tc>
                  <a:txBody>
                    <a:bodyPr/>
                    <a:lstStyle/>
                    <a:p>
                      <a:pPr algn="ctr"/>
                      <a:r>
                        <a:rPr lang="de-DE" dirty="0" smtClean="0"/>
                        <a:t>---</a:t>
                      </a:r>
                      <a:endParaRPr lang="de-DE" dirty="0"/>
                    </a:p>
                  </a:txBody>
                  <a:tcPr/>
                </a:tc>
              </a:tr>
              <a:tr h="370840">
                <a:tc>
                  <a:txBody>
                    <a:bodyPr/>
                    <a:lstStyle/>
                    <a:p>
                      <a:pPr algn="ctr"/>
                      <a:r>
                        <a:rPr lang="de-DE" dirty="0" smtClean="0"/>
                        <a:t>188 d</a:t>
                      </a:r>
                      <a:endParaRPr lang="de-DE" dirty="0"/>
                    </a:p>
                  </a:txBody>
                  <a:tcPr/>
                </a:tc>
                <a:tc>
                  <a:txBody>
                    <a:bodyPr/>
                    <a:lstStyle/>
                    <a:p>
                      <a:pPr algn="ctr"/>
                      <a:r>
                        <a:rPr lang="de-DE" dirty="0" smtClean="0"/>
                        <a:t>28 d</a:t>
                      </a:r>
                      <a:endParaRPr lang="de-DE" dirty="0"/>
                    </a:p>
                  </a:txBody>
                  <a:tcPr/>
                </a:tc>
                <a:tc>
                  <a:txBody>
                    <a:bodyPr/>
                    <a:lstStyle/>
                    <a:p>
                      <a:pPr algn="ctr"/>
                      <a:r>
                        <a:rPr lang="de-DE" dirty="0" smtClean="0"/>
                        <a:t>350 d</a:t>
                      </a:r>
                      <a:endParaRPr lang="de-DE" dirty="0"/>
                    </a:p>
                  </a:txBody>
                  <a:tcPr/>
                </a:tc>
                <a:tc>
                  <a:txBody>
                    <a:bodyPr/>
                    <a:lstStyle/>
                    <a:p>
                      <a:pPr algn="ctr"/>
                      <a:r>
                        <a:rPr lang="de-DE" dirty="0" smtClean="0"/>
                        <a:t>---</a:t>
                      </a:r>
                      <a:endParaRPr lang="de-DE" dirty="0"/>
                    </a:p>
                  </a:txBody>
                  <a:tcPr/>
                </a:tc>
                <a:tc>
                  <a:txBody>
                    <a:bodyPr/>
                    <a:lstStyle/>
                    <a:p>
                      <a:pPr algn="ctr"/>
                      <a:r>
                        <a:rPr lang="de-DE" dirty="0" smtClean="0"/>
                        <a:t>---</a:t>
                      </a:r>
                      <a:endParaRPr lang="de-DE" dirty="0"/>
                    </a:p>
                  </a:txBody>
                  <a:tcPr/>
                </a:tc>
              </a:tr>
            </a:tbl>
          </a:graphicData>
        </a:graphic>
      </p:graphicFrame>
      <p:sp>
        <p:nvSpPr>
          <p:cNvPr id="7" name="TextBox 6"/>
          <p:cNvSpPr txBox="1"/>
          <p:nvPr/>
        </p:nvSpPr>
        <p:spPr>
          <a:xfrm>
            <a:off x="907916" y="6237312"/>
            <a:ext cx="6677534" cy="369332"/>
          </a:xfrm>
          <a:prstGeom prst="rect">
            <a:avLst/>
          </a:prstGeom>
          <a:noFill/>
          <a:ln>
            <a:solidFill>
              <a:srgbClr val="FF0000"/>
            </a:solidFill>
          </a:ln>
        </p:spPr>
        <p:txBody>
          <a:bodyPr wrap="none" rtlCol="0">
            <a:spAutoFit/>
          </a:bodyPr>
          <a:lstStyle/>
          <a:p>
            <a:pPr marL="0" lvl="1"/>
            <a:r>
              <a:rPr lang="en-US" dirty="0" smtClean="0">
                <a:sym typeface="Wingdings" pitchFamily="2" charset="2"/>
              </a:rPr>
              <a:t> time-efficient methods are needed for large-scale screening!</a:t>
            </a:r>
          </a:p>
        </p:txBody>
      </p:sp>
    </p:spTree>
    <p:extLst>
      <p:ext uri="{BB962C8B-B14F-4D97-AF65-F5344CB8AC3E}">
        <p14:creationId xmlns="" xmlns:p14="http://schemas.microsoft.com/office/powerpoint/2010/main" val="3717395343"/>
      </p:ext>
    </p:extLst>
  </p:cSld>
  <p:clrMapOvr>
    <a:masterClrMapping/>
  </p:clrMapOvr>
  <p:transition>
    <p:cu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de-DE" dirty="0" err="1" smtClean="0"/>
              <a:t>Histograms</a:t>
            </a:r>
            <a:r>
              <a:rPr lang="de-DE" dirty="0" smtClean="0"/>
              <a:t> model </a:t>
            </a:r>
            <a:r>
              <a:rPr lang="de-DE" dirty="0" err="1" smtClean="0"/>
              <a:t>pseudocenter</a:t>
            </a:r>
            <a:r>
              <a:rPr lang="de-DE" dirty="0" smtClean="0"/>
              <a:t> </a:t>
            </a:r>
            <a:r>
              <a:rPr lang="de-DE" dirty="0" err="1" smtClean="0"/>
              <a:t>distribution</a:t>
            </a:r>
            <a:r>
              <a:rPr lang="de-DE" dirty="0" smtClean="0"/>
              <a:t> in 3D </a:t>
            </a:r>
            <a:r>
              <a:rPr lang="de-DE" dirty="0" err="1" smtClean="0"/>
              <a:t>space</a:t>
            </a:r>
            <a:endParaRPr lang="de-DE" dirty="0"/>
          </a:p>
        </p:txBody>
      </p:sp>
      <p:sp>
        <p:nvSpPr>
          <p:cNvPr id="3" name="Content Placeholder 2"/>
          <p:cNvSpPr>
            <a:spLocks noGrp="1"/>
          </p:cNvSpPr>
          <p:nvPr>
            <p:ph idx="1"/>
          </p:nvPr>
        </p:nvSpPr>
        <p:spPr/>
        <p:txBody>
          <a:bodyPr>
            <a:normAutofit fontScale="70000" lnSpcReduction="20000"/>
          </a:bodyPr>
          <a:lstStyle/>
          <a:p>
            <a:r>
              <a:rPr lang="de-DE" dirty="0" err="1" smtClean="0"/>
              <a:t>protein</a:t>
            </a:r>
            <a:r>
              <a:rPr lang="de-DE" dirty="0" smtClean="0"/>
              <a:t> </a:t>
            </a:r>
            <a:r>
              <a:rPr lang="de-DE" dirty="0" err="1" smtClean="0"/>
              <a:t>binding</a:t>
            </a:r>
            <a:r>
              <a:rPr lang="de-DE" dirty="0" smtClean="0"/>
              <a:t> </a:t>
            </a:r>
            <a:r>
              <a:rPr lang="de-DE" dirty="0" err="1" smtClean="0"/>
              <a:t>sites</a:t>
            </a:r>
            <a:r>
              <a:rPr lang="de-DE" dirty="0" smtClean="0"/>
              <a:t> </a:t>
            </a:r>
            <a:r>
              <a:rPr lang="de-DE" dirty="0" err="1" smtClean="0"/>
              <a:t>are</a:t>
            </a:r>
            <a:r>
              <a:rPr lang="de-DE" dirty="0" smtClean="0"/>
              <a:t> </a:t>
            </a:r>
            <a:r>
              <a:rPr lang="de-DE" dirty="0" err="1" smtClean="0"/>
              <a:t>represented</a:t>
            </a:r>
            <a:r>
              <a:rPr lang="de-DE" dirty="0" smtClean="0"/>
              <a:t> </a:t>
            </a:r>
            <a:r>
              <a:rPr lang="de-DE" dirty="0" err="1" smtClean="0"/>
              <a:t>by</a:t>
            </a:r>
            <a:r>
              <a:rPr lang="de-DE" dirty="0" smtClean="0"/>
              <a:t> a </a:t>
            </a:r>
            <a:r>
              <a:rPr lang="de-DE" dirty="0" err="1" smtClean="0"/>
              <a:t>set</a:t>
            </a:r>
            <a:r>
              <a:rPr lang="de-DE" dirty="0" smtClean="0"/>
              <a:t> </a:t>
            </a:r>
            <a:r>
              <a:rPr lang="de-DE" dirty="0" err="1" smtClean="0"/>
              <a:t>of</a:t>
            </a:r>
            <a:r>
              <a:rPr lang="de-DE" dirty="0" smtClean="0"/>
              <a:t> </a:t>
            </a:r>
            <a:r>
              <a:rPr lang="de-DE" dirty="0" err="1" smtClean="0"/>
              <a:t>histograms</a:t>
            </a:r>
            <a:endParaRPr lang="de-DE" dirty="0" smtClean="0"/>
          </a:p>
          <a:p>
            <a:endParaRPr lang="de-DE" dirty="0" smtClean="0"/>
          </a:p>
          <a:p>
            <a:r>
              <a:rPr lang="de-DE" dirty="0" err="1" smtClean="0"/>
              <a:t>each</a:t>
            </a:r>
            <a:r>
              <a:rPr lang="de-DE" dirty="0" smtClean="0"/>
              <a:t> </a:t>
            </a:r>
            <a:r>
              <a:rPr lang="de-DE" dirty="0" err="1" smtClean="0"/>
              <a:t>histogram</a:t>
            </a:r>
            <a:r>
              <a:rPr lang="de-DE" dirty="0" smtClean="0"/>
              <a:t> </a:t>
            </a:r>
            <a:r>
              <a:rPr lang="de-DE" dirty="0" err="1" smtClean="0"/>
              <a:t>summarizes</a:t>
            </a:r>
            <a:r>
              <a:rPr lang="de-DE" dirty="0" smtClean="0"/>
              <a:t> </a:t>
            </a:r>
            <a:r>
              <a:rPr lang="de-DE" dirty="0" err="1" smtClean="0"/>
              <a:t>the</a:t>
            </a:r>
            <a:r>
              <a:rPr lang="de-DE" dirty="0" smtClean="0">
                <a:sym typeface="Wingdings" pitchFamily="2" charset="2"/>
              </a:rPr>
              <a:t> </a:t>
            </a:r>
            <a:r>
              <a:rPr lang="de-DE" dirty="0" err="1" smtClean="0">
                <a:sym typeface="Wingdings" pitchFamily="2" charset="2"/>
              </a:rPr>
              <a:t>d</a:t>
            </a:r>
            <a:r>
              <a:rPr lang="de-DE" dirty="0" err="1" smtClean="0"/>
              <a:t>istance</a:t>
            </a:r>
            <a:r>
              <a:rPr lang="de-DE" dirty="0" smtClean="0"/>
              <a:t> </a:t>
            </a:r>
            <a:r>
              <a:rPr lang="de-DE" dirty="0" err="1" smtClean="0"/>
              <a:t>distribution</a:t>
            </a:r>
            <a:r>
              <a:rPr lang="de-DE" dirty="0" smtClean="0"/>
              <a:t> </a:t>
            </a:r>
            <a:r>
              <a:rPr lang="de-DE" dirty="0" err="1" smtClean="0"/>
              <a:t>for</a:t>
            </a:r>
            <a:r>
              <a:rPr lang="de-DE" dirty="0" smtClean="0"/>
              <a:t> </a:t>
            </a:r>
            <a:r>
              <a:rPr lang="de-DE" dirty="0" err="1" smtClean="0"/>
              <a:t>each</a:t>
            </a:r>
            <a:r>
              <a:rPr lang="de-DE" dirty="0" smtClean="0"/>
              <a:t> </a:t>
            </a:r>
            <a:r>
              <a:rPr lang="de-DE" dirty="0" err="1" smtClean="0"/>
              <a:t>combination</a:t>
            </a:r>
            <a:r>
              <a:rPr lang="de-DE" dirty="0" smtClean="0"/>
              <a:t> </a:t>
            </a:r>
            <a:r>
              <a:rPr lang="de-DE" dirty="0" err="1" smtClean="0"/>
              <a:t>of</a:t>
            </a:r>
            <a:r>
              <a:rPr lang="de-DE" dirty="0" smtClean="0"/>
              <a:t> </a:t>
            </a:r>
            <a:r>
              <a:rPr lang="de-DE" dirty="0" err="1" smtClean="0"/>
              <a:t>pseudocenter</a:t>
            </a:r>
            <a:r>
              <a:rPr lang="de-DE" dirty="0" smtClean="0"/>
              <a:t> </a:t>
            </a:r>
            <a:r>
              <a:rPr lang="de-DE" dirty="0" err="1" smtClean="0"/>
              <a:t>types</a:t>
            </a:r>
            <a:r>
              <a:rPr lang="de-DE" dirty="0" smtClean="0"/>
              <a:t>:</a:t>
            </a:r>
          </a:p>
          <a:p>
            <a:endParaRPr lang="de-DE" dirty="0" smtClean="0"/>
          </a:p>
          <a:p>
            <a:pPr lvl="1"/>
            <a:r>
              <a:rPr lang="de-DE" dirty="0" err="1" smtClean="0"/>
              <a:t>D</a:t>
            </a:r>
            <a:r>
              <a:rPr lang="de-DE" baseline="-25000" dirty="0" err="1" smtClean="0"/>
              <a:t>i,j</a:t>
            </a:r>
            <a:r>
              <a:rPr lang="de-DE" dirty="0" smtClean="0"/>
              <a:t> </a:t>
            </a:r>
            <a:r>
              <a:rPr lang="de-DE" dirty="0" err="1" smtClean="0"/>
              <a:t>distribution</a:t>
            </a:r>
            <a:r>
              <a:rPr lang="de-DE" dirty="0" smtClean="0"/>
              <a:t> </a:t>
            </a:r>
            <a:r>
              <a:rPr lang="de-DE" dirty="0" err="1" smtClean="0"/>
              <a:t>of</a:t>
            </a:r>
            <a:r>
              <a:rPr lang="de-DE" dirty="0" smtClean="0"/>
              <a:t> </a:t>
            </a:r>
            <a:r>
              <a:rPr lang="de-DE" dirty="0" err="1" smtClean="0"/>
              <a:t>distances</a:t>
            </a:r>
            <a:r>
              <a:rPr lang="de-DE" dirty="0" smtClean="0"/>
              <a:t> </a:t>
            </a:r>
            <a:r>
              <a:rPr lang="de-DE" dirty="0" err="1" smtClean="0"/>
              <a:t>between</a:t>
            </a:r>
            <a:r>
              <a:rPr lang="de-DE" dirty="0" smtClean="0"/>
              <a:t> </a:t>
            </a:r>
            <a:r>
              <a:rPr lang="de-DE" dirty="0" err="1" smtClean="0"/>
              <a:t>pseudocenters</a:t>
            </a:r>
            <a:r>
              <a:rPr lang="de-DE" dirty="0" smtClean="0"/>
              <a:t> </a:t>
            </a:r>
            <a:r>
              <a:rPr lang="de-DE" dirty="0" err="1" smtClean="0"/>
              <a:t>of</a:t>
            </a:r>
            <a:r>
              <a:rPr lang="de-DE" dirty="0" smtClean="0"/>
              <a:t> type i </a:t>
            </a:r>
            <a:r>
              <a:rPr lang="de-DE" dirty="0" err="1" smtClean="0"/>
              <a:t>and</a:t>
            </a:r>
            <a:r>
              <a:rPr lang="de-DE" dirty="0" smtClean="0"/>
              <a:t> j</a:t>
            </a:r>
          </a:p>
          <a:p>
            <a:pPr lvl="1"/>
            <a:r>
              <a:rPr lang="de-DE" dirty="0" err="1" smtClean="0"/>
              <a:t>for</a:t>
            </a:r>
            <a:r>
              <a:rPr lang="de-DE" dirty="0" smtClean="0"/>
              <a:t> </a:t>
            </a:r>
            <a:r>
              <a:rPr lang="de-DE" dirty="0" err="1" smtClean="0"/>
              <a:t>each</a:t>
            </a:r>
            <a:r>
              <a:rPr lang="de-DE" dirty="0" smtClean="0"/>
              <a:t> </a:t>
            </a:r>
            <a:r>
              <a:rPr lang="de-DE" dirty="0" err="1" smtClean="0"/>
              <a:t>D</a:t>
            </a:r>
            <a:r>
              <a:rPr lang="de-DE" baseline="-25000" dirty="0" err="1" smtClean="0"/>
              <a:t>i,j</a:t>
            </a:r>
            <a:r>
              <a:rPr lang="de-DE" dirty="0" smtClean="0"/>
              <a:t> a </a:t>
            </a:r>
            <a:r>
              <a:rPr lang="de-DE" dirty="0" err="1" smtClean="0"/>
              <a:t>histogram</a:t>
            </a:r>
            <a:r>
              <a:rPr lang="de-DE" dirty="0" smtClean="0"/>
              <a:t> h </a:t>
            </a:r>
            <a:r>
              <a:rPr lang="de-DE" dirty="0" err="1" smtClean="0"/>
              <a:t>is</a:t>
            </a:r>
            <a:r>
              <a:rPr lang="de-DE" dirty="0" smtClean="0"/>
              <a:t> </a:t>
            </a:r>
            <a:r>
              <a:rPr lang="de-DE" dirty="0" err="1" smtClean="0"/>
              <a:t>created</a:t>
            </a:r>
            <a:endParaRPr lang="de-DE" dirty="0" smtClean="0"/>
          </a:p>
          <a:p>
            <a:pPr lvl="1"/>
            <a:r>
              <a:rPr lang="de-DE" dirty="0" err="1" smtClean="0"/>
              <a:t>set</a:t>
            </a:r>
            <a:r>
              <a:rPr lang="de-DE" dirty="0" smtClean="0"/>
              <a:t> </a:t>
            </a:r>
            <a:r>
              <a:rPr lang="de-DE" dirty="0" err="1" smtClean="0"/>
              <a:t>of</a:t>
            </a:r>
            <a:r>
              <a:rPr lang="de-DE" dirty="0" smtClean="0"/>
              <a:t> </a:t>
            </a:r>
            <a:r>
              <a:rPr lang="de-DE" dirty="0" err="1" smtClean="0"/>
              <a:t>bins</a:t>
            </a:r>
            <a:r>
              <a:rPr lang="de-DE" dirty="0" smtClean="0"/>
              <a:t> </a:t>
            </a:r>
            <a:r>
              <a:rPr lang="de-DE" dirty="0" smtClean="0">
                <a:latin typeface="cmsy10"/>
              </a:rPr>
              <a:t>B</a:t>
            </a:r>
            <a:r>
              <a:rPr lang="de-DE" dirty="0" smtClean="0"/>
              <a:t> = {1, …, </a:t>
            </a:r>
            <a:r>
              <a:rPr lang="de-DE" dirty="0" err="1" smtClean="0"/>
              <a:t>b</a:t>
            </a:r>
            <a:r>
              <a:rPr lang="de-DE" baseline="-25000" dirty="0" err="1" smtClean="0"/>
              <a:t>max</a:t>
            </a:r>
            <a:r>
              <a:rPr lang="de-DE" dirty="0" smtClean="0"/>
              <a:t>}</a:t>
            </a:r>
          </a:p>
          <a:p>
            <a:pPr lvl="1"/>
            <a:r>
              <a:rPr lang="de-DE" dirty="0" smtClean="0"/>
              <a:t>h(b) = </a:t>
            </a:r>
            <a:r>
              <a:rPr lang="de-DE" dirty="0" err="1" smtClean="0"/>
              <a:t>percentage</a:t>
            </a:r>
            <a:r>
              <a:rPr lang="de-DE" dirty="0" smtClean="0"/>
              <a:t> </a:t>
            </a:r>
            <a:r>
              <a:rPr lang="de-DE" dirty="0" err="1" smtClean="0"/>
              <a:t>of</a:t>
            </a:r>
            <a:r>
              <a:rPr lang="de-DE" dirty="0" smtClean="0"/>
              <a:t> </a:t>
            </a:r>
            <a:r>
              <a:rPr lang="de-DE" dirty="0" err="1" smtClean="0"/>
              <a:t>distances</a:t>
            </a:r>
            <a:r>
              <a:rPr lang="de-DE" dirty="0" smtClean="0"/>
              <a:t> d </a:t>
            </a:r>
            <a:r>
              <a:rPr lang="de-DE" dirty="0" smtClean="0">
                <a:latin typeface="cmsy10"/>
              </a:rPr>
              <a:t>2</a:t>
            </a:r>
            <a:r>
              <a:rPr lang="de-DE" dirty="0" smtClean="0"/>
              <a:t> [b-1, b[</a:t>
            </a:r>
          </a:p>
          <a:p>
            <a:pPr lvl="1"/>
            <a:endParaRPr lang="de-DE" dirty="0" smtClean="0"/>
          </a:p>
          <a:p>
            <a:pPr lvl="1">
              <a:buNone/>
            </a:pPr>
            <a:endParaRPr lang="de-DE" dirty="0" smtClean="0"/>
          </a:p>
          <a:p>
            <a:pPr lvl="1"/>
            <a:r>
              <a:rPr lang="de-DE" dirty="0" smtClean="0"/>
              <a:t>7 </a:t>
            </a:r>
            <a:r>
              <a:rPr lang="de-DE" dirty="0" err="1" smtClean="0"/>
              <a:t>pseudocenter</a:t>
            </a:r>
            <a:r>
              <a:rPr lang="de-DE" dirty="0" smtClean="0"/>
              <a:t> </a:t>
            </a:r>
            <a:r>
              <a:rPr lang="de-DE" dirty="0" err="1" smtClean="0"/>
              <a:t>types</a:t>
            </a:r>
            <a:r>
              <a:rPr lang="de-DE" dirty="0" smtClean="0"/>
              <a:t>: H-</a:t>
            </a:r>
            <a:r>
              <a:rPr lang="de-DE" dirty="0" err="1" smtClean="0"/>
              <a:t>acceptor</a:t>
            </a:r>
            <a:r>
              <a:rPr lang="de-DE" dirty="0" smtClean="0"/>
              <a:t>, H-</a:t>
            </a:r>
            <a:r>
              <a:rPr lang="de-DE" dirty="0" err="1" smtClean="0"/>
              <a:t>donor</a:t>
            </a:r>
            <a:r>
              <a:rPr lang="de-DE" dirty="0" smtClean="0"/>
              <a:t>, </a:t>
            </a:r>
            <a:r>
              <a:rPr lang="de-DE" dirty="0" err="1" smtClean="0"/>
              <a:t>mixed</a:t>
            </a:r>
            <a:r>
              <a:rPr lang="de-DE" dirty="0" smtClean="0"/>
              <a:t> </a:t>
            </a:r>
            <a:r>
              <a:rPr lang="de-DE" dirty="0" err="1" smtClean="0"/>
              <a:t>donor</a:t>
            </a:r>
            <a:r>
              <a:rPr lang="de-DE" dirty="0" smtClean="0"/>
              <a:t>/</a:t>
            </a:r>
            <a:r>
              <a:rPr lang="de-DE" dirty="0" err="1" smtClean="0"/>
              <a:t>acceptor</a:t>
            </a:r>
            <a:r>
              <a:rPr lang="de-DE" dirty="0" smtClean="0"/>
              <a:t>, </a:t>
            </a:r>
            <a:r>
              <a:rPr lang="de-DE" dirty="0" err="1" smtClean="0"/>
              <a:t>aromatic</a:t>
            </a:r>
            <a:r>
              <a:rPr lang="de-DE" dirty="0" smtClean="0"/>
              <a:t>, </a:t>
            </a:r>
            <a:r>
              <a:rPr lang="de-DE" dirty="0" err="1" smtClean="0"/>
              <a:t>aliphatic</a:t>
            </a:r>
            <a:r>
              <a:rPr lang="de-DE" dirty="0" smtClean="0"/>
              <a:t>, </a:t>
            </a:r>
            <a:r>
              <a:rPr lang="de-DE" dirty="0" err="1" smtClean="0"/>
              <a:t>metal</a:t>
            </a:r>
            <a:r>
              <a:rPr lang="de-DE" dirty="0" smtClean="0"/>
              <a:t>, </a:t>
            </a:r>
            <a:r>
              <a:rPr lang="de-DE" dirty="0" err="1" smtClean="0"/>
              <a:t>pi</a:t>
            </a:r>
            <a:endParaRPr lang="de-DE" dirty="0" smtClean="0"/>
          </a:p>
          <a:p>
            <a:pPr lvl="1"/>
            <a:r>
              <a:rPr lang="de-DE" dirty="0" err="1" smtClean="0">
                <a:latin typeface="Calibri"/>
              </a:rPr>
              <a:t>b</a:t>
            </a:r>
            <a:r>
              <a:rPr lang="de-DE" baseline="-25000" dirty="0" err="1" smtClean="0">
                <a:latin typeface="Calibri"/>
              </a:rPr>
              <a:t>max</a:t>
            </a:r>
            <a:r>
              <a:rPr lang="de-DE" dirty="0" smtClean="0"/>
              <a:t> = 11 Å</a:t>
            </a:r>
          </a:p>
          <a:p>
            <a:pPr>
              <a:buNone/>
            </a:pPr>
            <a:endParaRPr lang="de-DE" dirty="0" smtClean="0"/>
          </a:p>
        </p:txBody>
      </p:sp>
      <p:sp>
        <p:nvSpPr>
          <p:cNvPr id="4" name="Slide Number Placeholder 3"/>
          <p:cNvSpPr>
            <a:spLocks noGrp="1"/>
          </p:cNvSpPr>
          <p:nvPr>
            <p:ph type="sldNum" sz="quarter" idx="12"/>
          </p:nvPr>
        </p:nvSpPr>
        <p:spPr/>
        <p:txBody>
          <a:bodyPr/>
          <a:lstStyle/>
          <a:p>
            <a:fld id="{3722AAB7-8C13-4FEF-BF4B-87394EDC6C8B}" type="slidenum">
              <a:rPr lang="de-DE" smtClean="0"/>
              <a:pPr/>
              <a:t>4</a:t>
            </a:fld>
            <a:endParaRPr lang="de-DE" dirty="0"/>
          </a:p>
        </p:txBody>
      </p:sp>
    </p:spTree>
  </p:cSld>
  <p:clrMapOvr>
    <a:masterClrMapping/>
  </p:clrMapOvr>
  <p:transition>
    <p:cu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7" name="Gerade Verbindung 116"/>
          <p:cNvCxnSpPr/>
          <p:nvPr/>
        </p:nvCxnSpPr>
        <p:spPr>
          <a:xfrm>
            <a:off x="5415907" y="5999937"/>
            <a:ext cx="0" cy="144016"/>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119" name="Gerade Verbindung 118"/>
          <p:cNvCxnSpPr/>
          <p:nvPr/>
        </p:nvCxnSpPr>
        <p:spPr>
          <a:xfrm>
            <a:off x="8395226" y="6008321"/>
            <a:ext cx="0" cy="144016"/>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113" name="Gerade Verbindung 112"/>
          <p:cNvCxnSpPr/>
          <p:nvPr/>
        </p:nvCxnSpPr>
        <p:spPr>
          <a:xfrm>
            <a:off x="5444480" y="4264187"/>
            <a:ext cx="0" cy="144016"/>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title"/>
          </p:nvPr>
        </p:nvSpPr>
        <p:spPr/>
        <p:txBody>
          <a:bodyPr>
            <a:noAutofit/>
          </a:bodyPr>
          <a:lstStyle/>
          <a:p>
            <a:r>
              <a:rPr lang="en-US" dirty="0" smtClean="0"/>
              <a:t>Each histogram represents a combination of </a:t>
            </a:r>
            <a:r>
              <a:rPr lang="en-US" dirty="0" err="1" smtClean="0"/>
              <a:t>pseudocenter</a:t>
            </a:r>
            <a:r>
              <a:rPr lang="en-US" dirty="0" smtClean="0"/>
              <a:t> types</a:t>
            </a:r>
            <a:endParaRPr lang="en-US" dirty="0"/>
          </a:p>
        </p:txBody>
      </p:sp>
      <p:sp>
        <p:nvSpPr>
          <p:cNvPr id="4" name="Foliennummernplatzhalter 3"/>
          <p:cNvSpPr>
            <a:spLocks noGrp="1"/>
          </p:cNvSpPr>
          <p:nvPr>
            <p:ph type="sldNum" sz="quarter" idx="11"/>
          </p:nvPr>
        </p:nvSpPr>
        <p:spPr/>
        <p:txBody>
          <a:bodyPr/>
          <a:lstStyle/>
          <a:p>
            <a:fld id="{3722AAB7-8C13-4FEF-BF4B-87394EDC6C8B}" type="slidenum">
              <a:rPr lang="de-DE" smtClean="0"/>
              <a:pPr/>
              <a:t>5</a:t>
            </a:fld>
            <a:endParaRPr lang="de-DE" dirty="0"/>
          </a:p>
        </p:txBody>
      </p:sp>
      <p:sp>
        <p:nvSpPr>
          <p:cNvPr id="5" name="Ellipse 4"/>
          <p:cNvSpPr/>
          <p:nvPr/>
        </p:nvSpPr>
        <p:spPr>
          <a:xfrm>
            <a:off x="714985" y="3284984"/>
            <a:ext cx="216024" cy="216024"/>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Ellipse 5"/>
          <p:cNvSpPr/>
          <p:nvPr/>
        </p:nvSpPr>
        <p:spPr>
          <a:xfrm>
            <a:off x="1358447" y="2996952"/>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Ellipse 6"/>
          <p:cNvSpPr/>
          <p:nvPr/>
        </p:nvSpPr>
        <p:spPr>
          <a:xfrm>
            <a:off x="503271" y="4040783"/>
            <a:ext cx="216024" cy="216024"/>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Ellipse 7"/>
          <p:cNvSpPr/>
          <p:nvPr/>
        </p:nvSpPr>
        <p:spPr>
          <a:xfrm>
            <a:off x="1665827" y="3400518"/>
            <a:ext cx="216024" cy="216024"/>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9" name="Ellipse 8"/>
          <p:cNvSpPr/>
          <p:nvPr/>
        </p:nvSpPr>
        <p:spPr>
          <a:xfrm>
            <a:off x="1207278" y="4567808"/>
            <a:ext cx="216024" cy="216024"/>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Ellipse 9"/>
          <p:cNvSpPr/>
          <p:nvPr/>
        </p:nvSpPr>
        <p:spPr>
          <a:xfrm>
            <a:off x="2227153" y="3717032"/>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Ellipse 10"/>
          <p:cNvSpPr/>
          <p:nvPr/>
        </p:nvSpPr>
        <p:spPr>
          <a:xfrm>
            <a:off x="2103645" y="4394608"/>
            <a:ext cx="216024" cy="216024"/>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Ellipse 11"/>
          <p:cNvSpPr/>
          <p:nvPr/>
        </p:nvSpPr>
        <p:spPr>
          <a:xfrm>
            <a:off x="1293857" y="3810702"/>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16" name="Gerade Verbindung mit Pfeil 15"/>
          <p:cNvCxnSpPr/>
          <p:nvPr/>
        </p:nvCxnSpPr>
        <p:spPr>
          <a:xfrm flipV="1">
            <a:off x="3275856" y="1268760"/>
            <a:ext cx="0" cy="1336516"/>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19" name="Gerade Verbindung mit Pfeil 18"/>
          <p:cNvCxnSpPr/>
          <p:nvPr/>
        </p:nvCxnSpPr>
        <p:spPr>
          <a:xfrm>
            <a:off x="3131840" y="2461260"/>
            <a:ext cx="2664296" cy="0"/>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sp>
        <p:nvSpPr>
          <p:cNvPr id="20" name="Ellipse 19"/>
          <p:cNvSpPr/>
          <p:nvPr/>
        </p:nvSpPr>
        <p:spPr>
          <a:xfrm>
            <a:off x="3347864" y="1309132"/>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Ellipse 20"/>
          <p:cNvSpPr/>
          <p:nvPr/>
        </p:nvSpPr>
        <p:spPr>
          <a:xfrm>
            <a:off x="3635896" y="1309132"/>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22" name="Gerade Verbindung mit Pfeil 21"/>
          <p:cNvCxnSpPr/>
          <p:nvPr/>
        </p:nvCxnSpPr>
        <p:spPr>
          <a:xfrm flipV="1">
            <a:off x="3267653" y="3120478"/>
            <a:ext cx="8203" cy="1368152"/>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23" name="Gerade Verbindung mit Pfeil 22"/>
          <p:cNvCxnSpPr/>
          <p:nvPr/>
        </p:nvCxnSpPr>
        <p:spPr>
          <a:xfrm>
            <a:off x="3123637" y="4344614"/>
            <a:ext cx="2672499" cy="0"/>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sp>
        <p:nvSpPr>
          <p:cNvPr id="24" name="Ellipse 23"/>
          <p:cNvSpPr/>
          <p:nvPr/>
        </p:nvSpPr>
        <p:spPr>
          <a:xfrm>
            <a:off x="3347864" y="3181340"/>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6" name="Ellipse 25"/>
          <p:cNvSpPr/>
          <p:nvPr/>
        </p:nvSpPr>
        <p:spPr>
          <a:xfrm>
            <a:off x="3644099" y="3181340"/>
            <a:ext cx="216024" cy="216024"/>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28" name="Gerade Verbindung 27"/>
          <p:cNvCxnSpPr/>
          <p:nvPr/>
        </p:nvCxnSpPr>
        <p:spPr>
          <a:xfrm>
            <a:off x="3987733" y="2389252"/>
            <a:ext cx="0" cy="144016"/>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29" name="Gerade Verbindung 28"/>
          <p:cNvCxnSpPr/>
          <p:nvPr/>
        </p:nvCxnSpPr>
        <p:spPr>
          <a:xfrm>
            <a:off x="4716016" y="2389252"/>
            <a:ext cx="0" cy="144016"/>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30" name="Gerade Verbindung 29"/>
          <p:cNvCxnSpPr/>
          <p:nvPr/>
        </p:nvCxnSpPr>
        <p:spPr>
          <a:xfrm>
            <a:off x="4716016" y="4272606"/>
            <a:ext cx="0" cy="144016"/>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31" name="Gerade Verbindung 30"/>
          <p:cNvCxnSpPr/>
          <p:nvPr/>
        </p:nvCxnSpPr>
        <p:spPr>
          <a:xfrm>
            <a:off x="3995936" y="4272606"/>
            <a:ext cx="0" cy="144016"/>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32" name="Textfeld 31"/>
          <p:cNvSpPr txBox="1"/>
          <p:nvPr/>
        </p:nvSpPr>
        <p:spPr>
          <a:xfrm>
            <a:off x="3852666" y="2541687"/>
            <a:ext cx="256802" cy="261610"/>
          </a:xfrm>
          <a:prstGeom prst="rect">
            <a:avLst/>
          </a:prstGeom>
          <a:noFill/>
        </p:spPr>
        <p:txBody>
          <a:bodyPr wrap="none" rtlCol="0">
            <a:spAutoFit/>
          </a:bodyPr>
          <a:lstStyle/>
          <a:p>
            <a:r>
              <a:rPr lang="de-DE" sz="1100" b="1" dirty="0" smtClean="0">
                <a:latin typeface="+mn-lt"/>
              </a:rPr>
              <a:t>1</a:t>
            </a:r>
            <a:endParaRPr lang="de-DE" sz="2000" b="1" dirty="0" smtClean="0">
              <a:latin typeface="+mn-lt"/>
            </a:endParaRPr>
          </a:p>
        </p:txBody>
      </p:sp>
      <p:sp>
        <p:nvSpPr>
          <p:cNvPr id="33" name="Textfeld 32"/>
          <p:cNvSpPr txBox="1"/>
          <p:nvPr/>
        </p:nvSpPr>
        <p:spPr>
          <a:xfrm>
            <a:off x="4587615" y="2541687"/>
            <a:ext cx="256802" cy="261610"/>
          </a:xfrm>
          <a:prstGeom prst="rect">
            <a:avLst/>
          </a:prstGeom>
          <a:noFill/>
        </p:spPr>
        <p:txBody>
          <a:bodyPr wrap="none" rtlCol="0">
            <a:spAutoFit/>
          </a:bodyPr>
          <a:lstStyle/>
          <a:p>
            <a:r>
              <a:rPr lang="de-DE" sz="1100" b="1" dirty="0" smtClean="0">
                <a:latin typeface="+mn-lt"/>
              </a:rPr>
              <a:t>2</a:t>
            </a:r>
            <a:endParaRPr lang="de-DE" sz="2000" b="1" dirty="0" smtClean="0">
              <a:latin typeface="+mn-lt"/>
            </a:endParaRPr>
          </a:p>
        </p:txBody>
      </p:sp>
      <p:sp>
        <p:nvSpPr>
          <p:cNvPr id="34" name="Textfeld 33"/>
          <p:cNvSpPr txBox="1"/>
          <p:nvPr/>
        </p:nvSpPr>
        <p:spPr>
          <a:xfrm>
            <a:off x="3876665" y="4423514"/>
            <a:ext cx="256802" cy="261610"/>
          </a:xfrm>
          <a:prstGeom prst="rect">
            <a:avLst/>
          </a:prstGeom>
          <a:noFill/>
        </p:spPr>
        <p:txBody>
          <a:bodyPr wrap="none" rtlCol="0">
            <a:spAutoFit/>
          </a:bodyPr>
          <a:lstStyle/>
          <a:p>
            <a:r>
              <a:rPr lang="de-DE" sz="1100" b="1" dirty="0" smtClean="0">
                <a:latin typeface="+mn-lt"/>
              </a:rPr>
              <a:t>1</a:t>
            </a:r>
            <a:endParaRPr lang="de-DE" sz="2000" b="1" dirty="0" smtClean="0">
              <a:latin typeface="+mn-lt"/>
            </a:endParaRPr>
          </a:p>
        </p:txBody>
      </p:sp>
      <p:sp>
        <p:nvSpPr>
          <p:cNvPr id="35" name="Textfeld 34"/>
          <p:cNvSpPr txBox="1"/>
          <p:nvPr/>
        </p:nvSpPr>
        <p:spPr>
          <a:xfrm>
            <a:off x="4611614" y="4423514"/>
            <a:ext cx="256802" cy="261610"/>
          </a:xfrm>
          <a:prstGeom prst="rect">
            <a:avLst/>
          </a:prstGeom>
          <a:noFill/>
        </p:spPr>
        <p:txBody>
          <a:bodyPr wrap="none" rtlCol="0">
            <a:spAutoFit/>
          </a:bodyPr>
          <a:lstStyle/>
          <a:p>
            <a:r>
              <a:rPr lang="de-DE" sz="1100" b="1" dirty="0" smtClean="0">
                <a:latin typeface="+mn-lt"/>
              </a:rPr>
              <a:t>2</a:t>
            </a:r>
            <a:endParaRPr lang="de-DE" sz="2000" b="1" dirty="0" smtClean="0">
              <a:latin typeface="+mn-lt"/>
            </a:endParaRPr>
          </a:p>
        </p:txBody>
      </p:sp>
      <p:cxnSp>
        <p:nvCxnSpPr>
          <p:cNvPr id="37" name="Gerade Verbindung 36"/>
          <p:cNvCxnSpPr>
            <a:stCxn id="6" idx="4"/>
            <a:endCxn id="12" idx="0"/>
          </p:cNvCxnSpPr>
          <p:nvPr/>
        </p:nvCxnSpPr>
        <p:spPr>
          <a:xfrm flipH="1">
            <a:off x="1401869" y="3212976"/>
            <a:ext cx="64590" cy="597726"/>
          </a:xfrm>
          <a:prstGeom prst="line">
            <a:avLst/>
          </a:prstGeom>
        </p:spPr>
        <p:style>
          <a:lnRef idx="1">
            <a:schemeClr val="accent1"/>
          </a:lnRef>
          <a:fillRef idx="0">
            <a:schemeClr val="accent1"/>
          </a:fillRef>
          <a:effectRef idx="0">
            <a:schemeClr val="accent1"/>
          </a:effectRef>
          <a:fontRef idx="minor">
            <a:schemeClr val="tx1"/>
          </a:fontRef>
        </p:style>
      </p:cxnSp>
      <p:sp>
        <p:nvSpPr>
          <p:cNvPr id="39" name="Textfeld 38"/>
          <p:cNvSpPr txBox="1"/>
          <p:nvPr/>
        </p:nvSpPr>
        <p:spPr>
          <a:xfrm>
            <a:off x="1131586" y="3377725"/>
            <a:ext cx="367408" cy="261610"/>
          </a:xfrm>
          <a:prstGeom prst="rect">
            <a:avLst/>
          </a:prstGeom>
          <a:noFill/>
        </p:spPr>
        <p:txBody>
          <a:bodyPr wrap="none" rtlCol="0">
            <a:spAutoFit/>
          </a:bodyPr>
          <a:lstStyle/>
          <a:p>
            <a:r>
              <a:rPr lang="de-DE" sz="1100" b="1" dirty="0" smtClean="0">
                <a:latin typeface="+mn-lt"/>
              </a:rPr>
              <a:t>0.8</a:t>
            </a:r>
            <a:endParaRPr lang="de-DE" sz="2000" b="1" dirty="0" smtClean="0">
              <a:latin typeface="+mn-lt"/>
            </a:endParaRPr>
          </a:p>
        </p:txBody>
      </p:sp>
      <p:sp>
        <p:nvSpPr>
          <p:cNvPr id="40" name="Rechteck 39"/>
          <p:cNvSpPr/>
          <p:nvPr/>
        </p:nvSpPr>
        <p:spPr>
          <a:xfrm>
            <a:off x="3779912" y="2284347"/>
            <a:ext cx="432048" cy="176913"/>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1" name="Rechteck 40"/>
          <p:cNvSpPr/>
          <p:nvPr/>
        </p:nvSpPr>
        <p:spPr>
          <a:xfrm>
            <a:off x="3779912" y="2087900"/>
            <a:ext cx="432048" cy="37336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2" name="Rechteck 41"/>
          <p:cNvSpPr/>
          <p:nvPr/>
        </p:nvSpPr>
        <p:spPr>
          <a:xfrm>
            <a:off x="4499992" y="2284347"/>
            <a:ext cx="432048" cy="176913"/>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3" name="Rechteck 42"/>
          <p:cNvSpPr/>
          <p:nvPr/>
        </p:nvSpPr>
        <p:spPr>
          <a:xfrm>
            <a:off x="3789042" y="4167701"/>
            <a:ext cx="432048" cy="176913"/>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48" name="Gerade Verbindung 47"/>
          <p:cNvCxnSpPr>
            <a:stCxn id="12" idx="6"/>
            <a:endCxn id="10" idx="2"/>
          </p:cNvCxnSpPr>
          <p:nvPr/>
        </p:nvCxnSpPr>
        <p:spPr>
          <a:xfrm flipV="1">
            <a:off x="1509881" y="3825044"/>
            <a:ext cx="717272" cy="93670"/>
          </a:xfrm>
          <a:prstGeom prst="line">
            <a:avLst/>
          </a:prstGeom>
        </p:spPr>
        <p:style>
          <a:lnRef idx="1">
            <a:schemeClr val="accent1"/>
          </a:lnRef>
          <a:fillRef idx="0">
            <a:schemeClr val="accent1"/>
          </a:fillRef>
          <a:effectRef idx="0">
            <a:schemeClr val="accent1"/>
          </a:effectRef>
          <a:fontRef idx="minor">
            <a:schemeClr val="tx1"/>
          </a:fontRef>
        </p:style>
      </p:cxnSp>
      <p:sp>
        <p:nvSpPr>
          <p:cNvPr id="49" name="Textfeld 48"/>
          <p:cNvSpPr txBox="1"/>
          <p:nvPr/>
        </p:nvSpPr>
        <p:spPr>
          <a:xfrm>
            <a:off x="1665827" y="3792970"/>
            <a:ext cx="367408" cy="261610"/>
          </a:xfrm>
          <a:prstGeom prst="rect">
            <a:avLst/>
          </a:prstGeom>
          <a:noFill/>
        </p:spPr>
        <p:txBody>
          <a:bodyPr wrap="none" rtlCol="0">
            <a:spAutoFit/>
          </a:bodyPr>
          <a:lstStyle/>
          <a:p>
            <a:r>
              <a:rPr lang="de-DE" sz="1100" b="1" dirty="0" smtClean="0">
                <a:latin typeface="+mn-lt"/>
              </a:rPr>
              <a:t>0.9</a:t>
            </a:r>
            <a:endParaRPr lang="de-DE" sz="2000" b="1" dirty="0" smtClean="0">
              <a:latin typeface="+mn-lt"/>
            </a:endParaRPr>
          </a:p>
        </p:txBody>
      </p:sp>
      <p:cxnSp>
        <p:nvCxnSpPr>
          <p:cNvPr id="51" name="Gerade Verbindung 50"/>
          <p:cNvCxnSpPr>
            <a:stCxn id="6" idx="5"/>
            <a:endCxn id="10" idx="1"/>
          </p:cNvCxnSpPr>
          <p:nvPr/>
        </p:nvCxnSpPr>
        <p:spPr>
          <a:xfrm>
            <a:off x="1542835" y="3181340"/>
            <a:ext cx="715954" cy="567328"/>
          </a:xfrm>
          <a:prstGeom prst="line">
            <a:avLst/>
          </a:prstGeom>
        </p:spPr>
        <p:style>
          <a:lnRef idx="1">
            <a:schemeClr val="accent1"/>
          </a:lnRef>
          <a:fillRef idx="0">
            <a:schemeClr val="accent1"/>
          </a:fillRef>
          <a:effectRef idx="0">
            <a:schemeClr val="accent1"/>
          </a:effectRef>
          <a:fontRef idx="minor">
            <a:schemeClr val="tx1"/>
          </a:fontRef>
        </p:style>
      </p:cxnSp>
      <p:sp>
        <p:nvSpPr>
          <p:cNvPr id="52" name="Textfeld 51"/>
          <p:cNvSpPr txBox="1"/>
          <p:nvPr/>
        </p:nvSpPr>
        <p:spPr>
          <a:xfrm>
            <a:off x="1919941" y="3261039"/>
            <a:ext cx="367408" cy="261610"/>
          </a:xfrm>
          <a:prstGeom prst="rect">
            <a:avLst/>
          </a:prstGeom>
          <a:noFill/>
        </p:spPr>
        <p:txBody>
          <a:bodyPr wrap="none" rtlCol="0">
            <a:spAutoFit/>
          </a:bodyPr>
          <a:lstStyle/>
          <a:p>
            <a:r>
              <a:rPr lang="de-DE" sz="1100" b="1" dirty="0" smtClean="0">
                <a:latin typeface="+mn-lt"/>
              </a:rPr>
              <a:t>1.5</a:t>
            </a:r>
            <a:endParaRPr lang="de-DE" sz="2000" b="1" dirty="0" smtClean="0">
              <a:latin typeface="+mn-lt"/>
            </a:endParaRPr>
          </a:p>
        </p:txBody>
      </p:sp>
      <p:cxnSp>
        <p:nvCxnSpPr>
          <p:cNvPr id="54" name="Gerade Verbindung 53"/>
          <p:cNvCxnSpPr>
            <a:stCxn id="10" idx="4"/>
            <a:endCxn id="11" idx="0"/>
          </p:cNvCxnSpPr>
          <p:nvPr/>
        </p:nvCxnSpPr>
        <p:spPr>
          <a:xfrm flipH="1">
            <a:off x="2211657" y="3933056"/>
            <a:ext cx="123508" cy="461552"/>
          </a:xfrm>
          <a:prstGeom prst="line">
            <a:avLst/>
          </a:prstGeom>
        </p:spPr>
        <p:style>
          <a:lnRef idx="1">
            <a:schemeClr val="accent1"/>
          </a:lnRef>
          <a:fillRef idx="0">
            <a:schemeClr val="accent1"/>
          </a:fillRef>
          <a:effectRef idx="0">
            <a:schemeClr val="accent1"/>
          </a:effectRef>
          <a:fontRef idx="minor">
            <a:schemeClr val="tx1"/>
          </a:fontRef>
        </p:style>
      </p:cxnSp>
      <p:sp>
        <p:nvSpPr>
          <p:cNvPr id="57" name="Textfeld 56"/>
          <p:cNvSpPr txBox="1"/>
          <p:nvPr/>
        </p:nvSpPr>
        <p:spPr>
          <a:xfrm>
            <a:off x="2260376" y="4037358"/>
            <a:ext cx="367408" cy="261610"/>
          </a:xfrm>
          <a:prstGeom prst="rect">
            <a:avLst/>
          </a:prstGeom>
          <a:noFill/>
        </p:spPr>
        <p:txBody>
          <a:bodyPr wrap="none" rtlCol="0">
            <a:spAutoFit/>
          </a:bodyPr>
          <a:lstStyle/>
          <a:p>
            <a:r>
              <a:rPr lang="de-DE" sz="1100" b="1" dirty="0" smtClean="0">
                <a:latin typeface="+mn-lt"/>
              </a:rPr>
              <a:t>0.6</a:t>
            </a:r>
            <a:endParaRPr lang="de-DE" sz="2000" b="1" dirty="0" smtClean="0">
              <a:latin typeface="+mn-lt"/>
            </a:endParaRPr>
          </a:p>
        </p:txBody>
      </p:sp>
      <p:cxnSp>
        <p:nvCxnSpPr>
          <p:cNvPr id="66" name="Gerade Verbindung mit Pfeil 65"/>
          <p:cNvCxnSpPr/>
          <p:nvPr/>
        </p:nvCxnSpPr>
        <p:spPr>
          <a:xfrm flipV="1">
            <a:off x="6372200" y="1268760"/>
            <a:ext cx="0" cy="1344900"/>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67" name="Gerade Verbindung mit Pfeil 66"/>
          <p:cNvCxnSpPr/>
          <p:nvPr/>
        </p:nvCxnSpPr>
        <p:spPr>
          <a:xfrm>
            <a:off x="6228184" y="2469644"/>
            <a:ext cx="2664296" cy="0"/>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sp>
        <p:nvSpPr>
          <p:cNvPr id="68" name="Ellipse 67"/>
          <p:cNvSpPr/>
          <p:nvPr/>
        </p:nvSpPr>
        <p:spPr>
          <a:xfrm>
            <a:off x="6444208" y="1309132"/>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9" name="Ellipse 68"/>
          <p:cNvSpPr/>
          <p:nvPr/>
        </p:nvSpPr>
        <p:spPr>
          <a:xfrm>
            <a:off x="6732240" y="1309132"/>
            <a:ext cx="216024" cy="216024"/>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70" name="Gerade Verbindung mit Pfeil 69"/>
          <p:cNvCxnSpPr/>
          <p:nvPr/>
        </p:nvCxnSpPr>
        <p:spPr>
          <a:xfrm flipV="1">
            <a:off x="6363997" y="3120478"/>
            <a:ext cx="8203" cy="1376536"/>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71" name="Gerade Verbindung mit Pfeil 70"/>
          <p:cNvCxnSpPr/>
          <p:nvPr/>
        </p:nvCxnSpPr>
        <p:spPr>
          <a:xfrm>
            <a:off x="6219981" y="4352998"/>
            <a:ext cx="2672499" cy="9974"/>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sp>
        <p:nvSpPr>
          <p:cNvPr id="72" name="Ellipse 71"/>
          <p:cNvSpPr/>
          <p:nvPr/>
        </p:nvSpPr>
        <p:spPr>
          <a:xfrm>
            <a:off x="6444208" y="3181340"/>
            <a:ext cx="216024" cy="216024"/>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rgbClr val="00B050"/>
              </a:solidFill>
            </a:endParaRPr>
          </a:p>
        </p:txBody>
      </p:sp>
      <p:sp>
        <p:nvSpPr>
          <p:cNvPr id="73" name="Ellipse 72"/>
          <p:cNvSpPr/>
          <p:nvPr/>
        </p:nvSpPr>
        <p:spPr>
          <a:xfrm>
            <a:off x="6740443" y="3181340"/>
            <a:ext cx="216024" cy="216024"/>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74" name="Gerade Verbindung 73"/>
          <p:cNvCxnSpPr/>
          <p:nvPr/>
        </p:nvCxnSpPr>
        <p:spPr>
          <a:xfrm>
            <a:off x="7084077" y="2397636"/>
            <a:ext cx="0" cy="144016"/>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75" name="Gerade Verbindung 74"/>
          <p:cNvCxnSpPr/>
          <p:nvPr/>
        </p:nvCxnSpPr>
        <p:spPr>
          <a:xfrm>
            <a:off x="7812360" y="2397636"/>
            <a:ext cx="0" cy="144016"/>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76" name="Gerade Verbindung 75"/>
          <p:cNvCxnSpPr/>
          <p:nvPr/>
        </p:nvCxnSpPr>
        <p:spPr>
          <a:xfrm>
            <a:off x="7812360" y="4280990"/>
            <a:ext cx="0" cy="144016"/>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77" name="Gerade Verbindung 76"/>
          <p:cNvCxnSpPr/>
          <p:nvPr/>
        </p:nvCxnSpPr>
        <p:spPr>
          <a:xfrm>
            <a:off x="7092280" y="4280990"/>
            <a:ext cx="0" cy="144016"/>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78" name="Textfeld 77"/>
          <p:cNvSpPr txBox="1"/>
          <p:nvPr/>
        </p:nvSpPr>
        <p:spPr>
          <a:xfrm>
            <a:off x="6949010" y="2550071"/>
            <a:ext cx="256802" cy="261610"/>
          </a:xfrm>
          <a:prstGeom prst="rect">
            <a:avLst/>
          </a:prstGeom>
          <a:noFill/>
        </p:spPr>
        <p:txBody>
          <a:bodyPr wrap="none" rtlCol="0">
            <a:spAutoFit/>
          </a:bodyPr>
          <a:lstStyle/>
          <a:p>
            <a:r>
              <a:rPr lang="de-DE" sz="1100" b="1" dirty="0" smtClean="0">
                <a:latin typeface="+mn-lt"/>
              </a:rPr>
              <a:t>1</a:t>
            </a:r>
            <a:endParaRPr lang="de-DE" sz="2000" b="1" dirty="0" smtClean="0">
              <a:latin typeface="+mn-lt"/>
            </a:endParaRPr>
          </a:p>
        </p:txBody>
      </p:sp>
      <p:sp>
        <p:nvSpPr>
          <p:cNvPr id="79" name="Textfeld 78"/>
          <p:cNvSpPr txBox="1"/>
          <p:nvPr/>
        </p:nvSpPr>
        <p:spPr>
          <a:xfrm>
            <a:off x="7683959" y="2550071"/>
            <a:ext cx="256802" cy="261610"/>
          </a:xfrm>
          <a:prstGeom prst="rect">
            <a:avLst/>
          </a:prstGeom>
          <a:noFill/>
        </p:spPr>
        <p:txBody>
          <a:bodyPr wrap="none" rtlCol="0">
            <a:spAutoFit/>
          </a:bodyPr>
          <a:lstStyle/>
          <a:p>
            <a:r>
              <a:rPr lang="de-DE" sz="1100" b="1" dirty="0" smtClean="0">
                <a:latin typeface="+mn-lt"/>
              </a:rPr>
              <a:t>2</a:t>
            </a:r>
            <a:endParaRPr lang="de-DE" sz="2000" b="1" dirty="0" smtClean="0">
              <a:latin typeface="+mn-lt"/>
            </a:endParaRPr>
          </a:p>
        </p:txBody>
      </p:sp>
      <p:sp>
        <p:nvSpPr>
          <p:cNvPr id="80" name="Textfeld 79"/>
          <p:cNvSpPr txBox="1"/>
          <p:nvPr/>
        </p:nvSpPr>
        <p:spPr>
          <a:xfrm>
            <a:off x="6973009" y="4431898"/>
            <a:ext cx="256802" cy="261610"/>
          </a:xfrm>
          <a:prstGeom prst="rect">
            <a:avLst/>
          </a:prstGeom>
          <a:noFill/>
        </p:spPr>
        <p:txBody>
          <a:bodyPr wrap="none" rtlCol="0">
            <a:spAutoFit/>
          </a:bodyPr>
          <a:lstStyle/>
          <a:p>
            <a:r>
              <a:rPr lang="de-DE" sz="1100" b="1" dirty="0" smtClean="0">
                <a:latin typeface="+mn-lt"/>
              </a:rPr>
              <a:t>1</a:t>
            </a:r>
            <a:endParaRPr lang="de-DE" sz="2000" b="1" dirty="0" smtClean="0">
              <a:latin typeface="+mn-lt"/>
            </a:endParaRPr>
          </a:p>
        </p:txBody>
      </p:sp>
      <p:sp>
        <p:nvSpPr>
          <p:cNvPr id="81" name="Textfeld 80"/>
          <p:cNvSpPr txBox="1"/>
          <p:nvPr/>
        </p:nvSpPr>
        <p:spPr>
          <a:xfrm>
            <a:off x="7707958" y="4431898"/>
            <a:ext cx="256802" cy="261610"/>
          </a:xfrm>
          <a:prstGeom prst="rect">
            <a:avLst/>
          </a:prstGeom>
          <a:noFill/>
        </p:spPr>
        <p:txBody>
          <a:bodyPr wrap="none" rtlCol="0">
            <a:spAutoFit/>
          </a:bodyPr>
          <a:lstStyle/>
          <a:p>
            <a:r>
              <a:rPr lang="de-DE" sz="1100" b="1" dirty="0" smtClean="0">
                <a:latin typeface="+mn-lt"/>
              </a:rPr>
              <a:t>2</a:t>
            </a:r>
            <a:endParaRPr lang="de-DE" sz="2000" b="1" dirty="0" smtClean="0">
              <a:latin typeface="+mn-lt"/>
            </a:endParaRPr>
          </a:p>
        </p:txBody>
      </p:sp>
      <p:sp>
        <p:nvSpPr>
          <p:cNvPr id="83" name="Rechteck 82"/>
          <p:cNvSpPr/>
          <p:nvPr/>
        </p:nvSpPr>
        <p:spPr>
          <a:xfrm>
            <a:off x="6861387" y="2274580"/>
            <a:ext cx="432048" cy="195064"/>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4" name="Rechteck 83"/>
          <p:cNvSpPr/>
          <p:nvPr/>
        </p:nvSpPr>
        <p:spPr>
          <a:xfrm>
            <a:off x="7596336" y="2372112"/>
            <a:ext cx="432048" cy="97532"/>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5" name="Rechteck 84"/>
          <p:cNvSpPr/>
          <p:nvPr/>
        </p:nvSpPr>
        <p:spPr>
          <a:xfrm>
            <a:off x="7596336" y="4054978"/>
            <a:ext cx="432048" cy="30605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86" name="Gerade Verbindung mit Pfeil 85"/>
          <p:cNvCxnSpPr/>
          <p:nvPr/>
        </p:nvCxnSpPr>
        <p:spPr>
          <a:xfrm flipV="1">
            <a:off x="3240033" y="4856228"/>
            <a:ext cx="8203" cy="1368152"/>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87" name="Gerade Verbindung mit Pfeil 86"/>
          <p:cNvCxnSpPr/>
          <p:nvPr/>
        </p:nvCxnSpPr>
        <p:spPr>
          <a:xfrm>
            <a:off x="3096017" y="6080364"/>
            <a:ext cx="2700119" cy="8384"/>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sp>
        <p:nvSpPr>
          <p:cNvPr id="88" name="Ellipse 87"/>
          <p:cNvSpPr/>
          <p:nvPr/>
        </p:nvSpPr>
        <p:spPr>
          <a:xfrm>
            <a:off x="3347864" y="4909532"/>
            <a:ext cx="216024" cy="216024"/>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9" name="Ellipse 88"/>
          <p:cNvSpPr/>
          <p:nvPr/>
        </p:nvSpPr>
        <p:spPr>
          <a:xfrm>
            <a:off x="3644099" y="4909532"/>
            <a:ext cx="216024" cy="216024"/>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90" name="Gerade Verbindung 89"/>
          <p:cNvCxnSpPr/>
          <p:nvPr/>
        </p:nvCxnSpPr>
        <p:spPr>
          <a:xfrm>
            <a:off x="4688396" y="6008356"/>
            <a:ext cx="0" cy="144016"/>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91" name="Gerade Verbindung 90"/>
          <p:cNvCxnSpPr/>
          <p:nvPr/>
        </p:nvCxnSpPr>
        <p:spPr>
          <a:xfrm>
            <a:off x="3968316" y="6008356"/>
            <a:ext cx="0" cy="144016"/>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92" name="Textfeld 91"/>
          <p:cNvSpPr txBox="1"/>
          <p:nvPr/>
        </p:nvSpPr>
        <p:spPr>
          <a:xfrm>
            <a:off x="3849045" y="6159264"/>
            <a:ext cx="256802" cy="261610"/>
          </a:xfrm>
          <a:prstGeom prst="rect">
            <a:avLst/>
          </a:prstGeom>
          <a:noFill/>
        </p:spPr>
        <p:txBody>
          <a:bodyPr wrap="none" rtlCol="0">
            <a:spAutoFit/>
          </a:bodyPr>
          <a:lstStyle/>
          <a:p>
            <a:r>
              <a:rPr lang="de-DE" sz="1100" b="1" dirty="0" smtClean="0">
                <a:latin typeface="+mn-lt"/>
              </a:rPr>
              <a:t>1</a:t>
            </a:r>
            <a:endParaRPr lang="de-DE" sz="2000" b="1" dirty="0" smtClean="0">
              <a:latin typeface="+mn-lt"/>
            </a:endParaRPr>
          </a:p>
        </p:txBody>
      </p:sp>
      <p:sp>
        <p:nvSpPr>
          <p:cNvPr id="93" name="Textfeld 92"/>
          <p:cNvSpPr txBox="1"/>
          <p:nvPr/>
        </p:nvSpPr>
        <p:spPr>
          <a:xfrm>
            <a:off x="4583994" y="6159264"/>
            <a:ext cx="256802" cy="261610"/>
          </a:xfrm>
          <a:prstGeom prst="rect">
            <a:avLst/>
          </a:prstGeom>
          <a:noFill/>
        </p:spPr>
        <p:txBody>
          <a:bodyPr wrap="none" rtlCol="0">
            <a:spAutoFit/>
          </a:bodyPr>
          <a:lstStyle/>
          <a:p>
            <a:r>
              <a:rPr lang="de-DE" sz="1100" b="1" dirty="0" smtClean="0">
                <a:latin typeface="+mn-lt"/>
              </a:rPr>
              <a:t>2</a:t>
            </a:r>
            <a:endParaRPr lang="de-DE" sz="2000" b="1" dirty="0" smtClean="0">
              <a:latin typeface="+mn-lt"/>
            </a:endParaRPr>
          </a:p>
        </p:txBody>
      </p:sp>
      <p:sp>
        <p:nvSpPr>
          <p:cNvPr id="94" name="Rechteck 93"/>
          <p:cNvSpPr/>
          <p:nvPr/>
        </p:nvSpPr>
        <p:spPr>
          <a:xfrm>
            <a:off x="5204457" y="5544497"/>
            <a:ext cx="432048" cy="535868"/>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95" name="Gerade Verbindung mit Pfeil 94"/>
          <p:cNvCxnSpPr/>
          <p:nvPr/>
        </p:nvCxnSpPr>
        <p:spPr>
          <a:xfrm flipV="1">
            <a:off x="6336377" y="4856228"/>
            <a:ext cx="8203" cy="1376536"/>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96" name="Gerade Verbindung mit Pfeil 95"/>
          <p:cNvCxnSpPr/>
          <p:nvPr/>
        </p:nvCxnSpPr>
        <p:spPr>
          <a:xfrm flipV="1">
            <a:off x="6192361" y="6080364"/>
            <a:ext cx="2700119" cy="8384"/>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sp>
        <p:nvSpPr>
          <p:cNvPr id="97" name="Ellipse 96"/>
          <p:cNvSpPr/>
          <p:nvPr/>
        </p:nvSpPr>
        <p:spPr>
          <a:xfrm>
            <a:off x="6436005" y="4909532"/>
            <a:ext cx="216024" cy="216024"/>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rgbClr val="00B050"/>
              </a:solidFill>
            </a:endParaRPr>
          </a:p>
        </p:txBody>
      </p:sp>
      <p:sp>
        <p:nvSpPr>
          <p:cNvPr id="98" name="Ellipse 97"/>
          <p:cNvSpPr/>
          <p:nvPr/>
        </p:nvSpPr>
        <p:spPr>
          <a:xfrm>
            <a:off x="6732240" y="4909532"/>
            <a:ext cx="216024" cy="216024"/>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99" name="Gerade Verbindung 98"/>
          <p:cNvCxnSpPr/>
          <p:nvPr/>
        </p:nvCxnSpPr>
        <p:spPr>
          <a:xfrm>
            <a:off x="7784740" y="6016740"/>
            <a:ext cx="0" cy="144016"/>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100" name="Gerade Verbindung 99"/>
          <p:cNvCxnSpPr/>
          <p:nvPr/>
        </p:nvCxnSpPr>
        <p:spPr>
          <a:xfrm>
            <a:off x="7064660" y="6016740"/>
            <a:ext cx="0" cy="144016"/>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101" name="Textfeld 100"/>
          <p:cNvSpPr txBox="1"/>
          <p:nvPr/>
        </p:nvSpPr>
        <p:spPr>
          <a:xfrm>
            <a:off x="6945389" y="6167648"/>
            <a:ext cx="256802" cy="261610"/>
          </a:xfrm>
          <a:prstGeom prst="rect">
            <a:avLst/>
          </a:prstGeom>
          <a:noFill/>
        </p:spPr>
        <p:txBody>
          <a:bodyPr wrap="none" rtlCol="0">
            <a:spAutoFit/>
          </a:bodyPr>
          <a:lstStyle/>
          <a:p>
            <a:r>
              <a:rPr lang="de-DE" sz="1100" b="1" dirty="0" smtClean="0">
                <a:latin typeface="+mn-lt"/>
              </a:rPr>
              <a:t>1</a:t>
            </a:r>
            <a:endParaRPr lang="de-DE" sz="2000" b="1" dirty="0" smtClean="0">
              <a:latin typeface="+mn-lt"/>
            </a:endParaRPr>
          </a:p>
        </p:txBody>
      </p:sp>
      <p:sp>
        <p:nvSpPr>
          <p:cNvPr id="102" name="Textfeld 101"/>
          <p:cNvSpPr txBox="1"/>
          <p:nvPr/>
        </p:nvSpPr>
        <p:spPr>
          <a:xfrm>
            <a:off x="7680338" y="6167648"/>
            <a:ext cx="256802" cy="261610"/>
          </a:xfrm>
          <a:prstGeom prst="rect">
            <a:avLst/>
          </a:prstGeom>
          <a:noFill/>
        </p:spPr>
        <p:txBody>
          <a:bodyPr wrap="none" rtlCol="0">
            <a:spAutoFit/>
          </a:bodyPr>
          <a:lstStyle/>
          <a:p>
            <a:r>
              <a:rPr lang="de-DE" sz="1100" b="1" dirty="0" smtClean="0">
                <a:latin typeface="+mn-lt"/>
              </a:rPr>
              <a:t>2</a:t>
            </a:r>
            <a:endParaRPr lang="de-DE" sz="2000" b="1" dirty="0" smtClean="0">
              <a:latin typeface="+mn-lt"/>
            </a:endParaRPr>
          </a:p>
        </p:txBody>
      </p:sp>
      <p:sp>
        <p:nvSpPr>
          <p:cNvPr id="103" name="Rechteck 102"/>
          <p:cNvSpPr/>
          <p:nvPr/>
        </p:nvSpPr>
        <p:spPr>
          <a:xfrm>
            <a:off x="6857766" y="5911835"/>
            <a:ext cx="432048" cy="176913"/>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4" name="Rechteck 103"/>
          <p:cNvSpPr/>
          <p:nvPr/>
        </p:nvSpPr>
        <p:spPr>
          <a:xfrm>
            <a:off x="3789042" y="3920503"/>
            <a:ext cx="432048" cy="26894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5" name="Rechteck 104"/>
          <p:cNvSpPr/>
          <p:nvPr/>
        </p:nvSpPr>
        <p:spPr>
          <a:xfrm>
            <a:off x="4498397" y="4162442"/>
            <a:ext cx="432048" cy="176913"/>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7" name="Rechteck 106"/>
          <p:cNvSpPr/>
          <p:nvPr/>
        </p:nvSpPr>
        <p:spPr>
          <a:xfrm>
            <a:off x="8175164" y="5733256"/>
            <a:ext cx="432048" cy="33868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8" name="Rechteck 107"/>
          <p:cNvSpPr/>
          <p:nvPr/>
        </p:nvSpPr>
        <p:spPr>
          <a:xfrm>
            <a:off x="5199883" y="4232881"/>
            <a:ext cx="432048" cy="88457"/>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109" name="Gerade Verbindung 108"/>
          <p:cNvCxnSpPr/>
          <p:nvPr/>
        </p:nvCxnSpPr>
        <p:spPr>
          <a:xfrm>
            <a:off x="5420481" y="2402428"/>
            <a:ext cx="0" cy="144016"/>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110" name="Textfeld 109"/>
          <p:cNvSpPr txBox="1"/>
          <p:nvPr/>
        </p:nvSpPr>
        <p:spPr>
          <a:xfrm>
            <a:off x="5292080" y="2554863"/>
            <a:ext cx="256802" cy="261610"/>
          </a:xfrm>
          <a:prstGeom prst="rect">
            <a:avLst/>
          </a:prstGeom>
          <a:noFill/>
        </p:spPr>
        <p:txBody>
          <a:bodyPr wrap="none" rtlCol="0">
            <a:spAutoFit/>
          </a:bodyPr>
          <a:lstStyle/>
          <a:p>
            <a:r>
              <a:rPr lang="de-DE" sz="1100" b="1" dirty="0" smtClean="0">
                <a:latin typeface="+mn-lt"/>
              </a:rPr>
              <a:t>3</a:t>
            </a:r>
            <a:endParaRPr lang="de-DE" sz="2000" b="1" dirty="0" smtClean="0">
              <a:latin typeface="+mn-lt"/>
            </a:endParaRPr>
          </a:p>
        </p:txBody>
      </p:sp>
      <p:cxnSp>
        <p:nvCxnSpPr>
          <p:cNvPr id="111" name="Gerade Verbindung 110"/>
          <p:cNvCxnSpPr/>
          <p:nvPr/>
        </p:nvCxnSpPr>
        <p:spPr>
          <a:xfrm>
            <a:off x="8399800" y="2394009"/>
            <a:ext cx="0" cy="144016"/>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112" name="Textfeld 111"/>
          <p:cNvSpPr txBox="1"/>
          <p:nvPr/>
        </p:nvSpPr>
        <p:spPr>
          <a:xfrm>
            <a:off x="8271399" y="2546444"/>
            <a:ext cx="256802" cy="261610"/>
          </a:xfrm>
          <a:prstGeom prst="rect">
            <a:avLst/>
          </a:prstGeom>
          <a:noFill/>
        </p:spPr>
        <p:txBody>
          <a:bodyPr wrap="none" rtlCol="0">
            <a:spAutoFit/>
          </a:bodyPr>
          <a:lstStyle/>
          <a:p>
            <a:r>
              <a:rPr lang="de-DE" sz="1100" b="1" dirty="0" smtClean="0">
                <a:latin typeface="+mn-lt"/>
              </a:rPr>
              <a:t>3</a:t>
            </a:r>
            <a:endParaRPr lang="de-DE" sz="2000" b="1" dirty="0" smtClean="0">
              <a:latin typeface="+mn-lt"/>
            </a:endParaRPr>
          </a:p>
        </p:txBody>
      </p:sp>
      <p:sp>
        <p:nvSpPr>
          <p:cNvPr id="114" name="Textfeld 113"/>
          <p:cNvSpPr txBox="1"/>
          <p:nvPr/>
        </p:nvSpPr>
        <p:spPr>
          <a:xfrm>
            <a:off x="5316079" y="4416622"/>
            <a:ext cx="256802" cy="261610"/>
          </a:xfrm>
          <a:prstGeom prst="rect">
            <a:avLst/>
          </a:prstGeom>
          <a:noFill/>
        </p:spPr>
        <p:txBody>
          <a:bodyPr wrap="none" rtlCol="0">
            <a:spAutoFit/>
          </a:bodyPr>
          <a:lstStyle/>
          <a:p>
            <a:r>
              <a:rPr lang="de-DE" sz="1100" b="1" dirty="0" smtClean="0">
                <a:latin typeface="+mn-lt"/>
              </a:rPr>
              <a:t>3</a:t>
            </a:r>
            <a:endParaRPr lang="de-DE" sz="2000" b="1" dirty="0" smtClean="0">
              <a:latin typeface="+mn-lt"/>
            </a:endParaRPr>
          </a:p>
        </p:txBody>
      </p:sp>
      <p:cxnSp>
        <p:nvCxnSpPr>
          <p:cNvPr id="115" name="Gerade Verbindung 114"/>
          <p:cNvCxnSpPr/>
          <p:nvPr/>
        </p:nvCxnSpPr>
        <p:spPr>
          <a:xfrm>
            <a:off x="8404039" y="4272571"/>
            <a:ext cx="0" cy="144016"/>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116" name="Textfeld 115"/>
          <p:cNvSpPr txBox="1"/>
          <p:nvPr/>
        </p:nvSpPr>
        <p:spPr>
          <a:xfrm>
            <a:off x="8275638" y="4425006"/>
            <a:ext cx="256802" cy="261610"/>
          </a:xfrm>
          <a:prstGeom prst="rect">
            <a:avLst/>
          </a:prstGeom>
          <a:noFill/>
        </p:spPr>
        <p:txBody>
          <a:bodyPr wrap="none" rtlCol="0">
            <a:spAutoFit/>
          </a:bodyPr>
          <a:lstStyle/>
          <a:p>
            <a:r>
              <a:rPr lang="de-DE" sz="1100" b="1" dirty="0" smtClean="0">
                <a:latin typeface="+mn-lt"/>
              </a:rPr>
              <a:t>3</a:t>
            </a:r>
            <a:endParaRPr lang="de-DE" sz="2000" b="1" dirty="0" smtClean="0">
              <a:latin typeface="+mn-lt"/>
            </a:endParaRPr>
          </a:p>
        </p:txBody>
      </p:sp>
      <p:sp>
        <p:nvSpPr>
          <p:cNvPr id="118" name="Textfeld 117"/>
          <p:cNvSpPr txBox="1"/>
          <p:nvPr/>
        </p:nvSpPr>
        <p:spPr>
          <a:xfrm>
            <a:off x="5287506" y="6152372"/>
            <a:ext cx="256802" cy="261610"/>
          </a:xfrm>
          <a:prstGeom prst="rect">
            <a:avLst/>
          </a:prstGeom>
          <a:noFill/>
        </p:spPr>
        <p:txBody>
          <a:bodyPr wrap="none" rtlCol="0">
            <a:spAutoFit/>
          </a:bodyPr>
          <a:lstStyle/>
          <a:p>
            <a:r>
              <a:rPr lang="de-DE" sz="1100" b="1" dirty="0" smtClean="0">
                <a:latin typeface="+mn-lt"/>
              </a:rPr>
              <a:t>3</a:t>
            </a:r>
            <a:endParaRPr lang="de-DE" sz="2000" b="1" dirty="0" smtClean="0">
              <a:latin typeface="+mn-lt"/>
            </a:endParaRPr>
          </a:p>
        </p:txBody>
      </p:sp>
      <p:sp>
        <p:nvSpPr>
          <p:cNvPr id="120" name="Textfeld 119"/>
          <p:cNvSpPr txBox="1"/>
          <p:nvPr/>
        </p:nvSpPr>
        <p:spPr>
          <a:xfrm>
            <a:off x="8266825" y="6160756"/>
            <a:ext cx="256802" cy="261610"/>
          </a:xfrm>
          <a:prstGeom prst="rect">
            <a:avLst/>
          </a:prstGeom>
          <a:noFill/>
        </p:spPr>
        <p:txBody>
          <a:bodyPr wrap="none" rtlCol="0">
            <a:spAutoFit/>
          </a:bodyPr>
          <a:lstStyle/>
          <a:p>
            <a:r>
              <a:rPr lang="de-DE" sz="1100" b="1" dirty="0" smtClean="0">
                <a:latin typeface="+mn-lt"/>
              </a:rPr>
              <a:t>3</a:t>
            </a:r>
            <a:endParaRPr lang="de-DE" sz="2000" b="1" dirty="0" smtClean="0">
              <a:latin typeface="+mn-lt"/>
            </a:endParaRPr>
          </a:p>
        </p:txBody>
      </p:sp>
      <p:sp>
        <p:nvSpPr>
          <p:cNvPr id="121" name="Rechteck 120"/>
          <p:cNvSpPr/>
          <p:nvPr/>
        </p:nvSpPr>
        <p:spPr>
          <a:xfrm>
            <a:off x="8188015" y="4054353"/>
            <a:ext cx="432048" cy="30605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2" name="Rechteck 121"/>
          <p:cNvSpPr/>
          <p:nvPr/>
        </p:nvSpPr>
        <p:spPr>
          <a:xfrm>
            <a:off x="8192552" y="2274580"/>
            <a:ext cx="432048" cy="199856"/>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 xmlns:p14="http://schemas.microsoft.com/office/powerpoint/2010/main" val="2397215349"/>
      </p:ext>
    </p:ext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37"/>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39"/>
                                        </p:tgtEl>
                                        <p:attrNameLst>
                                          <p:attrName>style.visibility</p:attrName>
                                        </p:attrNameLst>
                                      </p:cBhvr>
                                      <p:to>
                                        <p:strVal val="hidden"/>
                                      </p:to>
                                    </p:set>
                                  </p:childTnLst>
                                </p:cTn>
                              </p:par>
                              <p:par>
                                <p:cTn id="19" presetID="1" presetClass="entr" presetSubtype="0" fill="hold" grpId="0" nodeType="withEffect">
                                  <p:stCondLst>
                                    <p:cond delay="0"/>
                                  </p:stCondLst>
                                  <p:childTnLst>
                                    <p:set>
                                      <p:cBhvr>
                                        <p:cTn id="20" dur="1" fill="hold">
                                          <p:stCondLst>
                                            <p:cond delay="0"/>
                                          </p:stCondLst>
                                        </p:cTn>
                                        <p:tgtEl>
                                          <p:spTgt spid="49"/>
                                        </p:tgtEl>
                                        <p:attrNameLst>
                                          <p:attrName>style.visibility</p:attrName>
                                        </p:attrNameLst>
                                      </p:cBhvr>
                                      <p:to>
                                        <p:strVal val="visible"/>
                                      </p:to>
                                    </p:set>
                                  </p:childTnLst>
                                </p:cTn>
                              </p:par>
                              <p:par>
                                <p:cTn id="21" presetID="1" presetClass="exit" presetSubtype="0" fill="hold" grpId="1" nodeType="withEffect">
                                  <p:stCondLst>
                                    <p:cond delay="0"/>
                                  </p:stCondLst>
                                  <p:childTnLst>
                                    <p:set>
                                      <p:cBhvr>
                                        <p:cTn id="22" dur="1" fill="hold">
                                          <p:stCondLst>
                                            <p:cond delay="0"/>
                                          </p:stCondLst>
                                        </p:cTn>
                                        <p:tgtEl>
                                          <p:spTgt spid="4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2" nodeType="clickEffect">
                                  <p:stCondLst>
                                    <p:cond delay="0"/>
                                  </p:stCondLst>
                                  <p:childTnLst>
                                    <p:set>
                                      <p:cBhvr>
                                        <p:cTn id="26" dur="1" fill="hold">
                                          <p:stCondLst>
                                            <p:cond delay="0"/>
                                          </p:stCondLst>
                                        </p:cTn>
                                        <p:tgtEl>
                                          <p:spTgt spid="4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3" nodeType="clickEffect">
                                  <p:stCondLst>
                                    <p:cond delay="0"/>
                                  </p:stCondLst>
                                  <p:childTnLst>
                                    <p:set>
                                      <p:cBhvr>
                                        <p:cTn id="36" dur="1" fill="hold">
                                          <p:stCondLst>
                                            <p:cond delay="0"/>
                                          </p:stCondLst>
                                        </p:cTn>
                                        <p:tgtEl>
                                          <p:spTgt spid="49"/>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48"/>
                                        </p:tgtEl>
                                        <p:attrNameLst>
                                          <p:attrName>style.visibility</p:attrName>
                                        </p:attrNameLst>
                                      </p:cBhvr>
                                      <p:to>
                                        <p:strVal val="hidden"/>
                                      </p:to>
                                    </p:set>
                                  </p:childTnLst>
                                </p:cTn>
                              </p:par>
                              <p:par>
                                <p:cTn id="39" presetID="1" presetClass="entr" presetSubtype="0" fill="hold" grpId="0" nodeType="withEffect">
                                  <p:stCondLst>
                                    <p:cond delay="0"/>
                                  </p:stCondLst>
                                  <p:childTnLst>
                                    <p:set>
                                      <p:cBhvr>
                                        <p:cTn id="40" dur="1" fill="hold">
                                          <p:stCondLst>
                                            <p:cond delay="0"/>
                                          </p:stCondLst>
                                        </p:cTn>
                                        <p:tgtEl>
                                          <p:spTgt spid="52"/>
                                        </p:tgtEl>
                                        <p:attrNameLst>
                                          <p:attrName>style.visibility</p:attrName>
                                        </p:attrNameLst>
                                      </p:cBhvr>
                                      <p:to>
                                        <p:strVal val="visible"/>
                                      </p:to>
                                    </p:set>
                                  </p:childTnLst>
                                </p:cTn>
                              </p:par>
                              <p:par>
                                <p:cTn id="41" presetID="1" presetClass="exit" presetSubtype="0" fill="hold" grpId="1" nodeType="withEffect">
                                  <p:stCondLst>
                                    <p:cond delay="0"/>
                                  </p:stCondLst>
                                  <p:childTnLst>
                                    <p:set>
                                      <p:cBhvr>
                                        <p:cTn id="42" dur="1" fill="hold">
                                          <p:stCondLst>
                                            <p:cond delay="0"/>
                                          </p:stCondLst>
                                        </p:cTn>
                                        <p:tgtEl>
                                          <p:spTgt spid="52"/>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2" nodeType="clickEffect">
                                  <p:stCondLst>
                                    <p:cond delay="0"/>
                                  </p:stCondLst>
                                  <p:childTnLst>
                                    <p:set>
                                      <p:cBhvr>
                                        <p:cTn id="46" dur="1" fill="hold">
                                          <p:stCondLst>
                                            <p:cond delay="0"/>
                                          </p:stCondLst>
                                        </p:cTn>
                                        <p:tgtEl>
                                          <p:spTgt spid="5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xit" presetSubtype="0" fill="hold" grpId="3" nodeType="clickEffect">
                                  <p:stCondLst>
                                    <p:cond delay="0"/>
                                  </p:stCondLst>
                                  <p:childTnLst>
                                    <p:set>
                                      <p:cBhvr>
                                        <p:cTn id="56" dur="1" fill="hold">
                                          <p:stCondLst>
                                            <p:cond delay="0"/>
                                          </p:stCondLst>
                                        </p:cTn>
                                        <p:tgtEl>
                                          <p:spTgt spid="52"/>
                                        </p:tgtEl>
                                        <p:attrNameLst>
                                          <p:attrName>style.visibility</p:attrName>
                                        </p:attrNameLst>
                                      </p:cBhvr>
                                      <p:to>
                                        <p:strVal val="hidden"/>
                                      </p:to>
                                    </p:set>
                                  </p:childTnLst>
                                </p:cTn>
                              </p:par>
                              <p:par>
                                <p:cTn id="57" presetID="1" presetClass="exit" presetSubtype="0" fill="hold" nodeType="withEffect">
                                  <p:stCondLst>
                                    <p:cond delay="0"/>
                                  </p:stCondLst>
                                  <p:childTnLst>
                                    <p:set>
                                      <p:cBhvr>
                                        <p:cTn id="58" dur="1" fill="hold">
                                          <p:stCondLst>
                                            <p:cond delay="0"/>
                                          </p:stCondLst>
                                        </p:cTn>
                                        <p:tgtEl>
                                          <p:spTgt spid="51"/>
                                        </p:tgtEl>
                                        <p:attrNameLst>
                                          <p:attrName>style.visibility</p:attrName>
                                        </p:attrNameLst>
                                      </p:cBhvr>
                                      <p:to>
                                        <p:strVal val="hidden"/>
                                      </p:to>
                                    </p:set>
                                  </p:childTnLst>
                                </p:cTn>
                              </p:par>
                              <p:par>
                                <p:cTn id="59" presetID="1" presetClass="entr" presetSubtype="0" fill="hold" grpId="0" nodeType="withEffect">
                                  <p:stCondLst>
                                    <p:cond delay="0"/>
                                  </p:stCondLst>
                                  <p:childTnLst>
                                    <p:set>
                                      <p:cBhvr>
                                        <p:cTn id="60" dur="1" fill="hold">
                                          <p:stCondLst>
                                            <p:cond delay="0"/>
                                          </p:stCondLst>
                                        </p:cTn>
                                        <p:tgtEl>
                                          <p:spTgt spid="57"/>
                                        </p:tgtEl>
                                        <p:attrNameLst>
                                          <p:attrName>style.visibility</p:attrName>
                                        </p:attrNameLst>
                                      </p:cBhvr>
                                      <p:to>
                                        <p:strVal val="visible"/>
                                      </p:to>
                                    </p:set>
                                  </p:childTnLst>
                                </p:cTn>
                              </p:par>
                              <p:par>
                                <p:cTn id="61" presetID="1" presetClass="exit" presetSubtype="0" fill="hold" grpId="1" nodeType="withEffect">
                                  <p:stCondLst>
                                    <p:cond delay="0"/>
                                  </p:stCondLst>
                                  <p:childTnLst>
                                    <p:set>
                                      <p:cBhvr>
                                        <p:cTn id="62" dur="1" fill="hold">
                                          <p:stCondLst>
                                            <p:cond delay="0"/>
                                          </p:stCondLst>
                                        </p:cTn>
                                        <p:tgtEl>
                                          <p:spTgt spid="57"/>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2" nodeType="clickEffect">
                                  <p:stCondLst>
                                    <p:cond delay="0"/>
                                  </p:stCondLst>
                                  <p:childTnLst>
                                    <p:set>
                                      <p:cBhvr>
                                        <p:cTn id="66" dur="1" fill="hold">
                                          <p:stCondLst>
                                            <p:cond delay="0"/>
                                          </p:stCondLst>
                                        </p:cTn>
                                        <p:tgtEl>
                                          <p:spTgt spid="57"/>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54"/>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43"/>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xit" presetSubtype="0" fill="hold" grpId="3" nodeType="clickEffect">
                                  <p:stCondLst>
                                    <p:cond delay="0"/>
                                  </p:stCondLst>
                                  <p:childTnLst>
                                    <p:set>
                                      <p:cBhvr>
                                        <p:cTn id="76" dur="1" fill="hold">
                                          <p:stCondLst>
                                            <p:cond delay="0"/>
                                          </p:stCondLst>
                                        </p:cTn>
                                        <p:tgtEl>
                                          <p:spTgt spid="57"/>
                                        </p:tgtEl>
                                        <p:attrNameLst>
                                          <p:attrName>style.visibility</p:attrName>
                                        </p:attrNameLst>
                                      </p:cBhvr>
                                      <p:to>
                                        <p:strVal val="hidden"/>
                                      </p:to>
                                    </p:set>
                                  </p:childTnLst>
                                </p:cTn>
                              </p:par>
                              <p:par>
                                <p:cTn id="77" presetID="1" presetClass="exit" presetSubtype="0" fill="hold" nodeType="withEffect">
                                  <p:stCondLst>
                                    <p:cond delay="0"/>
                                  </p:stCondLst>
                                  <p:childTnLst>
                                    <p:set>
                                      <p:cBhvr>
                                        <p:cTn id="78" dur="1" fill="hold">
                                          <p:stCondLst>
                                            <p:cond delay="0"/>
                                          </p:stCondLst>
                                        </p:cTn>
                                        <p:tgtEl>
                                          <p:spTgt spid="54"/>
                                        </p:tgtEl>
                                        <p:attrNameLst>
                                          <p:attrName>style.visibility</p:attrName>
                                        </p:attrNameLst>
                                      </p:cBhvr>
                                      <p:to>
                                        <p:strVal val="hidden"/>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04"/>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05"/>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08"/>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83"/>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84"/>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85"/>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21"/>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07"/>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03"/>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94"/>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39" grpId="1"/>
      <p:bldP spid="40" grpId="0" animBg="1"/>
      <p:bldP spid="41" grpId="0" animBg="1"/>
      <p:bldP spid="42" grpId="0" animBg="1"/>
      <p:bldP spid="43" grpId="0" animBg="1"/>
      <p:bldP spid="49" grpId="0"/>
      <p:bldP spid="49" grpId="1"/>
      <p:bldP spid="49" grpId="2"/>
      <p:bldP spid="49" grpId="3"/>
      <p:bldP spid="52" grpId="0"/>
      <p:bldP spid="52" grpId="1"/>
      <p:bldP spid="52" grpId="2"/>
      <p:bldP spid="52" grpId="3"/>
      <p:bldP spid="57" grpId="0"/>
      <p:bldP spid="57" grpId="1"/>
      <p:bldP spid="57" grpId="2"/>
      <p:bldP spid="57" grpId="3"/>
      <p:bldP spid="83" grpId="0" animBg="1"/>
      <p:bldP spid="84" grpId="0" animBg="1"/>
      <p:bldP spid="85" grpId="0" animBg="1"/>
      <p:bldP spid="94" grpId="0" animBg="1"/>
      <p:bldP spid="103" grpId="0" animBg="1"/>
      <p:bldP spid="104" grpId="0" animBg="1"/>
      <p:bldP spid="105" grpId="0" animBg="1"/>
      <p:bldP spid="107" grpId="0" animBg="1"/>
      <p:bldP spid="108" grpId="0" animBg="1"/>
      <p:bldP spid="121" grpId="0" animBg="1"/>
      <p:bldP spid="12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57200" y="116632"/>
            <a:ext cx="8229600" cy="1143000"/>
          </a:xfrm>
        </p:spPr>
        <p:txBody>
          <a:bodyPr>
            <a:noAutofit/>
          </a:bodyPr>
          <a:lstStyle/>
          <a:p>
            <a:r>
              <a:rPr lang="en-US" sz="3400" dirty="0" smtClean="0"/>
              <a:t>Histogram distances are aggregated into one distance measure</a:t>
            </a:r>
            <a:endParaRPr lang="de-DE" sz="3400" dirty="0"/>
          </a:p>
        </p:txBody>
      </p:sp>
      <p:sp>
        <p:nvSpPr>
          <p:cNvPr id="4" name="Foliennummernplatzhalter 3"/>
          <p:cNvSpPr>
            <a:spLocks noGrp="1"/>
          </p:cNvSpPr>
          <p:nvPr>
            <p:ph type="sldNum" sz="quarter" idx="12"/>
          </p:nvPr>
        </p:nvSpPr>
        <p:spPr/>
        <p:txBody>
          <a:bodyPr/>
          <a:lstStyle/>
          <a:p>
            <a:fld id="{3722AAB7-8C13-4FEF-BF4B-87394EDC6C8B}" type="slidenum">
              <a:rPr lang="de-DE" smtClean="0"/>
              <a:pPr/>
              <a:t>6</a:t>
            </a:fld>
            <a:endParaRPr lang="de-DE" dirty="0"/>
          </a:p>
        </p:txBody>
      </p:sp>
      <p:pic>
        <p:nvPicPr>
          <p:cNvPr id="41" name="Picture 3"/>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 xmlns:a14="http://schemas.microsoft.com/office/drawing/2010/main" val="0"/>
              </a:ext>
            </a:extLst>
          </a:blip>
          <a:srcRect/>
          <a:stretch>
            <a:fillRect/>
          </a:stretch>
        </p:blipFill>
        <p:spPr bwMode="auto">
          <a:xfrm>
            <a:off x="3893913" y="1124744"/>
            <a:ext cx="1196823" cy="10801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cxnSp>
        <p:nvCxnSpPr>
          <p:cNvPr id="42" name="Gewinkelte Verbindung 41"/>
          <p:cNvCxnSpPr>
            <a:stCxn id="41" idx="3"/>
          </p:cNvCxnSpPr>
          <p:nvPr/>
        </p:nvCxnSpPr>
        <p:spPr>
          <a:xfrm>
            <a:off x="5090736" y="1664804"/>
            <a:ext cx="993432" cy="540060"/>
          </a:xfrm>
          <a:prstGeom prst="bentConnector3">
            <a:avLst>
              <a:gd name="adj1" fmla="val 100072"/>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43" name="Gewinkelte Verbindung 42"/>
          <p:cNvCxnSpPr>
            <a:stCxn id="41" idx="1"/>
            <a:endCxn id="51" idx="0"/>
          </p:cNvCxnSpPr>
          <p:nvPr/>
        </p:nvCxnSpPr>
        <p:spPr>
          <a:xfrm rot="10800000" flipV="1">
            <a:off x="2375757" y="1664804"/>
            <a:ext cx="1518157" cy="540060"/>
          </a:xfrm>
          <a:prstGeom prst="bentConnector2">
            <a:avLst/>
          </a:prstGeom>
          <a:ln w="19050">
            <a:tailEnd type="arrow"/>
          </a:ln>
        </p:spPr>
        <p:style>
          <a:lnRef idx="1">
            <a:schemeClr val="accent1"/>
          </a:lnRef>
          <a:fillRef idx="0">
            <a:schemeClr val="accent1"/>
          </a:fillRef>
          <a:effectRef idx="0">
            <a:schemeClr val="accent1"/>
          </a:effectRef>
          <a:fontRef idx="minor">
            <a:schemeClr val="tx1"/>
          </a:fontRef>
        </p:style>
      </p:cxnSp>
      <p:pic>
        <p:nvPicPr>
          <p:cNvPr id="46" name="Picture 3"/>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 xmlns:a14="http://schemas.microsoft.com/office/drawing/2010/main" val="0"/>
              </a:ext>
            </a:extLst>
          </a:blip>
          <a:srcRect/>
          <a:stretch>
            <a:fillRect/>
          </a:stretch>
        </p:blipFill>
        <p:spPr bwMode="auto">
          <a:xfrm rot="5914542">
            <a:off x="3876763" y="5645687"/>
            <a:ext cx="1196823" cy="10801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cxnSp>
        <p:nvCxnSpPr>
          <p:cNvPr id="47" name="Gewinkelte Verbindung 46"/>
          <p:cNvCxnSpPr/>
          <p:nvPr/>
        </p:nvCxnSpPr>
        <p:spPr>
          <a:xfrm flipV="1">
            <a:off x="5029916" y="5733256"/>
            <a:ext cx="910236" cy="533024"/>
          </a:xfrm>
          <a:prstGeom prst="bentConnector3">
            <a:avLst>
              <a:gd name="adj1" fmla="val 99827"/>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48" name="Gewinkelte Verbindung 47"/>
          <p:cNvCxnSpPr/>
          <p:nvPr/>
        </p:nvCxnSpPr>
        <p:spPr>
          <a:xfrm rot="10800000">
            <a:off x="2123728" y="5733256"/>
            <a:ext cx="1843297" cy="533024"/>
          </a:xfrm>
          <a:prstGeom prst="bentConnector3">
            <a:avLst>
              <a:gd name="adj1" fmla="val 100003"/>
            </a:avLst>
          </a:prstGeom>
          <a:ln w="19050">
            <a:tailEnd type="arrow"/>
          </a:ln>
        </p:spPr>
        <p:style>
          <a:lnRef idx="1">
            <a:schemeClr val="accent1"/>
          </a:lnRef>
          <a:fillRef idx="0">
            <a:schemeClr val="accent1"/>
          </a:fillRef>
          <a:effectRef idx="0">
            <a:schemeClr val="accent1"/>
          </a:effectRef>
          <a:fontRef idx="minor">
            <a:schemeClr val="tx1"/>
          </a:fontRef>
        </p:style>
      </p:cxnSp>
      <p:graphicFrame>
        <p:nvGraphicFramePr>
          <p:cNvPr id="51" name="Diagramm 50"/>
          <p:cNvGraphicFramePr/>
          <p:nvPr>
            <p:extLst>
              <p:ext uri="{D42A27DB-BD31-4B8C-83A1-F6EECF244321}">
                <p14:modId xmlns="" xmlns:p14="http://schemas.microsoft.com/office/powerpoint/2010/main" val="686833128"/>
              </p:ext>
            </p:extLst>
          </p:nvPr>
        </p:nvGraphicFramePr>
        <p:xfrm>
          <a:off x="1619672" y="2204864"/>
          <a:ext cx="1512168" cy="10801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2" name="Diagramm 51"/>
          <p:cNvGraphicFramePr/>
          <p:nvPr>
            <p:extLst>
              <p:ext uri="{D42A27DB-BD31-4B8C-83A1-F6EECF244321}">
                <p14:modId xmlns="" xmlns:p14="http://schemas.microsoft.com/office/powerpoint/2010/main" val="738571655"/>
              </p:ext>
            </p:extLst>
          </p:nvPr>
        </p:nvGraphicFramePr>
        <p:xfrm>
          <a:off x="3116555" y="2204864"/>
          <a:ext cx="1512168" cy="108012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6" name="Diagramm 55"/>
          <p:cNvGraphicFramePr/>
          <p:nvPr>
            <p:extLst>
              <p:ext uri="{D42A27DB-BD31-4B8C-83A1-F6EECF244321}">
                <p14:modId xmlns="" xmlns:p14="http://schemas.microsoft.com/office/powerpoint/2010/main" val="939841427"/>
              </p:ext>
            </p:extLst>
          </p:nvPr>
        </p:nvGraphicFramePr>
        <p:xfrm>
          <a:off x="5026001" y="2183378"/>
          <a:ext cx="1512168" cy="1080120"/>
        </p:xfrm>
        <a:graphic>
          <a:graphicData uri="http://schemas.openxmlformats.org/drawingml/2006/chart">
            <c:chart xmlns:c="http://schemas.openxmlformats.org/drawingml/2006/chart" xmlns:r="http://schemas.openxmlformats.org/officeDocument/2006/relationships" r:id="rId5"/>
          </a:graphicData>
        </a:graphic>
      </p:graphicFrame>
      <p:sp>
        <p:nvSpPr>
          <p:cNvPr id="57" name="Textfeld 56"/>
          <p:cNvSpPr txBox="1"/>
          <p:nvPr/>
        </p:nvSpPr>
        <p:spPr>
          <a:xfrm>
            <a:off x="4652890" y="2492896"/>
            <a:ext cx="377026" cy="400110"/>
          </a:xfrm>
          <a:prstGeom prst="rect">
            <a:avLst/>
          </a:prstGeom>
          <a:noFill/>
        </p:spPr>
        <p:txBody>
          <a:bodyPr wrap="none" rtlCol="0">
            <a:spAutoFit/>
          </a:bodyPr>
          <a:lstStyle/>
          <a:p>
            <a:r>
              <a:rPr lang="de-DE" sz="2000" dirty="0" smtClean="0">
                <a:latin typeface="+mn-lt"/>
              </a:rPr>
              <a:t>...</a:t>
            </a:r>
          </a:p>
        </p:txBody>
      </p:sp>
      <p:graphicFrame>
        <p:nvGraphicFramePr>
          <p:cNvPr id="58" name="Diagramm 57"/>
          <p:cNvGraphicFramePr/>
          <p:nvPr>
            <p:extLst>
              <p:ext uri="{D42A27DB-BD31-4B8C-83A1-F6EECF244321}">
                <p14:modId xmlns="" xmlns:p14="http://schemas.microsoft.com/office/powerpoint/2010/main" val="2854853092"/>
              </p:ext>
            </p:extLst>
          </p:nvPr>
        </p:nvGraphicFramePr>
        <p:xfrm>
          <a:off x="1634317" y="4581128"/>
          <a:ext cx="1512168" cy="108012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59" name="Diagramm 58"/>
          <p:cNvGraphicFramePr/>
          <p:nvPr>
            <p:extLst>
              <p:ext uri="{D42A27DB-BD31-4B8C-83A1-F6EECF244321}">
                <p14:modId xmlns="" xmlns:p14="http://schemas.microsoft.com/office/powerpoint/2010/main" val="3495875815"/>
              </p:ext>
            </p:extLst>
          </p:nvPr>
        </p:nvGraphicFramePr>
        <p:xfrm>
          <a:off x="3118769" y="4581128"/>
          <a:ext cx="1512168" cy="108012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60" name="Diagramm 59"/>
          <p:cNvGraphicFramePr/>
          <p:nvPr>
            <p:extLst>
              <p:ext uri="{D42A27DB-BD31-4B8C-83A1-F6EECF244321}">
                <p14:modId xmlns="" xmlns:p14="http://schemas.microsoft.com/office/powerpoint/2010/main" val="682195547"/>
              </p:ext>
            </p:extLst>
          </p:nvPr>
        </p:nvGraphicFramePr>
        <p:xfrm>
          <a:off x="5032197" y="4559642"/>
          <a:ext cx="1512168" cy="1080120"/>
        </p:xfrm>
        <a:graphic>
          <a:graphicData uri="http://schemas.openxmlformats.org/drawingml/2006/chart">
            <c:chart xmlns:c="http://schemas.openxmlformats.org/drawingml/2006/chart" xmlns:r="http://schemas.openxmlformats.org/officeDocument/2006/relationships" r:id="rId8"/>
          </a:graphicData>
        </a:graphic>
      </p:graphicFrame>
      <p:sp>
        <p:nvSpPr>
          <p:cNvPr id="61" name="Textfeld 60"/>
          <p:cNvSpPr txBox="1"/>
          <p:nvPr/>
        </p:nvSpPr>
        <p:spPr>
          <a:xfrm>
            <a:off x="4659086" y="4869160"/>
            <a:ext cx="377026" cy="400110"/>
          </a:xfrm>
          <a:prstGeom prst="rect">
            <a:avLst/>
          </a:prstGeom>
          <a:noFill/>
        </p:spPr>
        <p:txBody>
          <a:bodyPr wrap="none" rtlCol="0">
            <a:spAutoFit/>
          </a:bodyPr>
          <a:lstStyle/>
          <a:p>
            <a:r>
              <a:rPr lang="de-DE" sz="2000" dirty="0" smtClean="0">
                <a:latin typeface="+mn-lt"/>
              </a:rPr>
              <a:t>...</a:t>
            </a:r>
          </a:p>
        </p:txBody>
      </p:sp>
      <p:cxnSp>
        <p:nvCxnSpPr>
          <p:cNvPr id="63" name="Gerade Verbindung mit Pfeil 62"/>
          <p:cNvCxnSpPr/>
          <p:nvPr/>
        </p:nvCxnSpPr>
        <p:spPr>
          <a:xfrm>
            <a:off x="3787002" y="1664804"/>
            <a:ext cx="0" cy="54006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80" name="Gerade Verbindung mit Pfeil 79"/>
          <p:cNvCxnSpPr/>
          <p:nvPr/>
        </p:nvCxnSpPr>
        <p:spPr>
          <a:xfrm flipV="1">
            <a:off x="3707904" y="5733256"/>
            <a:ext cx="0" cy="533025"/>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87" name="Gerade Verbindung mit Pfeil 86"/>
          <p:cNvCxnSpPr/>
          <p:nvPr/>
        </p:nvCxnSpPr>
        <p:spPr>
          <a:xfrm>
            <a:off x="2526516" y="3220291"/>
            <a:ext cx="0" cy="64263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9" name="Gerade Verbindung mit Pfeil 88"/>
          <p:cNvCxnSpPr/>
          <p:nvPr/>
        </p:nvCxnSpPr>
        <p:spPr>
          <a:xfrm>
            <a:off x="4039543" y="3220290"/>
            <a:ext cx="0" cy="64263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0" name="Gerade Verbindung mit Pfeil 89"/>
          <p:cNvCxnSpPr/>
          <p:nvPr/>
        </p:nvCxnSpPr>
        <p:spPr>
          <a:xfrm>
            <a:off x="5913932" y="3190861"/>
            <a:ext cx="0" cy="64263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1" name="Gerade Verbindung mit Pfeil 90"/>
          <p:cNvCxnSpPr/>
          <p:nvPr/>
        </p:nvCxnSpPr>
        <p:spPr>
          <a:xfrm flipV="1">
            <a:off x="2420282" y="4069537"/>
            <a:ext cx="0" cy="56165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4" name="Gerade Verbindung mit Pfeil 93"/>
          <p:cNvCxnSpPr/>
          <p:nvPr/>
        </p:nvCxnSpPr>
        <p:spPr>
          <a:xfrm flipV="1">
            <a:off x="5804152" y="4077072"/>
            <a:ext cx="0" cy="56165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5" name="Gerade Verbindung mit Pfeil 94"/>
          <p:cNvCxnSpPr/>
          <p:nvPr/>
        </p:nvCxnSpPr>
        <p:spPr>
          <a:xfrm flipV="1">
            <a:off x="3938985" y="4069537"/>
            <a:ext cx="0" cy="56165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7" name="Textfeld 96"/>
          <p:cNvSpPr txBox="1"/>
          <p:nvPr/>
        </p:nvSpPr>
        <p:spPr>
          <a:xfrm>
            <a:off x="4662505" y="3717032"/>
            <a:ext cx="377026" cy="400110"/>
          </a:xfrm>
          <a:prstGeom prst="rect">
            <a:avLst/>
          </a:prstGeom>
          <a:noFill/>
        </p:spPr>
        <p:txBody>
          <a:bodyPr wrap="none" rtlCol="0">
            <a:spAutoFit/>
          </a:bodyPr>
          <a:lstStyle/>
          <a:p>
            <a:r>
              <a:rPr lang="de-DE" sz="2000" dirty="0" smtClean="0">
                <a:latin typeface="+mn-lt"/>
              </a:rPr>
              <a:t>...</a:t>
            </a:r>
          </a:p>
        </p:txBody>
      </p:sp>
      <mc:AlternateContent xmlns:mc="http://schemas.openxmlformats.org/markup-compatibility/2006">
        <mc:Choice xmlns="" xmlns:a14="http://schemas.microsoft.com/office/drawing/2010/main" Requires="a14">
          <p:sp>
            <p:nvSpPr>
              <p:cNvPr id="3" name="Textfeld 2"/>
              <p:cNvSpPr txBox="1"/>
              <p:nvPr/>
            </p:nvSpPr>
            <p:spPr>
              <a:xfrm>
                <a:off x="6810843" y="3295784"/>
                <a:ext cx="2160240" cy="128971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ad>
                        <m:radPr>
                          <m:degHide m:val="on"/>
                          <m:ctrlPr>
                            <a:rPr lang="de-DE" sz="2000" i="1" smtClean="0">
                              <a:latin typeface="Cambria Math"/>
                            </a:rPr>
                          </m:ctrlPr>
                        </m:radPr>
                        <m:deg/>
                        <m:e>
                          <m:nary>
                            <m:naryPr>
                              <m:chr m:val="∑"/>
                              <m:ctrlPr>
                                <a:rPr lang="de-DE" sz="2000" i="1">
                                  <a:latin typeface="Cambria Math"/>
                                </a:rPr>
                              </m:ctrlPr>
                            </m:naryPr>
                            <m:sub>
                              <m:r>
                                <m:rPr>
                                  <m:brk m:alnAt="23"/>
                                </m:rPr>
                                <a:rPr lang="de-DE" sz="2000" i="1">
                                  <a:latin typeface="Cambria Math"/>
                                </a:rPr>
                                <m:t>𝑖</m:t>
                              </m:r>
                              <m:r>
                                <a:rPr lang="de-DE" sz="2000" i="1">
                                  <a:latin typeface="Cambria Math"/>
                                </a:rPr>
                                <m:t>=1</m:t>
                              </m:r>
                            </m:sub>
                            <m:sup>
                              <m:r>
                                <a:rPr lang="de-DE" sz="2000" i="1">
                                  <a:latin typeface="Cambria Math"/>
                                </a:rPr>
                                <m:t>𝑛</m:t>
                              </m:r>
                            </m:sup>
                            <m:e>
                              <m:r>
                                <a:rPr lang="de-DE" sz="2000" i="1">
                                  <a:latin typeface="Cambria Math"/>
                                  <a:ea typeface="Cambria Math"/>
                                </a:rPr>
                                <m:t>𝛿</m:t>
                              </m:r>
                              <m:r>
                                <a:rPr lang="de-DE" sz="2000" i="1">
                                  <a:latin typeface="Cambria Math"/>
                                  <a:ea typeface="Cambria Math"/>
                                </a:rPr>
                                <m:t>(</m:t>
                              </m:r>
                              <m:sSub>
                                <m:sSubPr>
                                  <m:ctrlPr>
                                    <a:rPr lang="de-DE" sz="2000" i="1">
                                      <a:latin typeface="Cambria Math"/>
                                      <a:ea typeface="Cambria Math"/>
                                    </a:rPr>
                                  </m:ctrlPr>
                                </m:sSubPr>
                                <m:e>
                                  <m:r>
                                    <a:rPr lang="de-DE" sz="2000" i="1">
                                      <a:latin typeface="Cambria Math"/>
                                      <a:ea typeface="Cambria Math"/>
                                    </a:rPr>
                                    <m:t>𝑔</m:t>
                                  </m:r>
                                </m:e>
                                <m:sub>
                                  <m:r>
                                    <a:rPr lang="de-DE" sz="2000" i="1">
                                      <a:latin typeface="Cambria Math"/>
                                      <a:ea typeface="Cambria Math"/>
                                    </a:rPr>
                                    <m:t>𝑖</m:t>
                                  </m:r>
                                </m:sub>
                              </m:sSub>
                              <m:r>
                                <a:rPr lang="de-DE" sz="2000" i="1">
                                  <a:latin typeface="Cambria Math"/>
                                  <a:ea typeface="Cambria Math"/>
                                </a:rPr>
                                <m:t>, </m:t>
                              </m:r>
                              <m:sSub>
                                <m:sSubPr>
                                  <m:ctrlPr>
                                    <a:rPr lang="de-DE" sz="2000" i="1">
                                      <a:latin typeface="Cambria Math"/>
                                      <a:ea typeface="Cambria Math"/>
                                    </a:rPr>
                                  </m:ctrlPr>
                                </m:sSubPr>
                                <m:e>
                                  <m:r>
                                    <a:rPr lang="de-DE" sz="2000" i="1">
                                      <a:latin typeface="Cambria Math"/>
                                      <a:ea typeface="Cambria Math"/>
                                    </a:rPr>
                                    <m:t>h</m:t>
                                  </m:r>
                                </m:e>
                                <m:sub>
                                  <m:r>
                                    <a:rPr lang="de-DE" sz="2000" i="1">
                                      <a:latin typeface="Cambria Math"/>
                                      <a:ea typeface="Cambria Math"/>
                                    </a:rPr>
                                    <m:t>𝑖</m:t>
                                  </m:r>
                                </m:sub>
                              </m:sSub>
                              <m:r>
                                <a:rPr lang="de-DE" sz="2000" i="1">
                                  <a:latin typeface="Cambria Math"/>
                                  <a:ea typeface="Cambria Math"/>
                                </a:rPr>
                                <m:t>)</m:t>
                              </m:r>
                            </m:e>
                          </m:nary>
                        </m:e>
                      </m:rad>
                    </m:oMath>
                  </m:oMathPara>
                </a14:m>
                <a:endParaRPr lang="de-DE" sz="2000" dirty="0" err="1" smtClean="0">
                  <a:latin typeface="+mn-lt"/>
                </a:endParaRPr>
              </a:p>
            </p:txBody>
          </p:sp>
        </mc:Choice>
        <mc:Fallback>
          <p:sp>
            <p:nvSpPr>
              <p:cNvPr id="3" name="Textfeld 2"/>
              <p:cNvSpPr txBox="1">
                <a:spLocks noRot="1" noChangeAspect="1" noMove="1" noResize="1" noEditPoints="1" noAdjustHandles="1" noChangeArrowheads="1" noChangeShapeType="1" noTextEdit="1"/>
              </p:cNvSpPr>
              <p:nvPr/>
            </p:nvSpPr>
            <p:spPr>
              <a:xfrm>
                <a:off x="6810843" y="3295784"/>
                <a:ext cx="2160240" cy="1289712"/>
              </a:xfrm>
              <a:prstGeom prst="rect">
                <a:avLst/>
              </a:prstGeom>
              <a:blipFill rotWithShape="1">
                <a:blip r:embed="rId9" cstate="print"/>
                <a:stretch>
                  <a:fillRect/>
                </a:stretch>
              </a:blipFill>
            </p:spPr>
            <p:txBody>
              <a:bodyPr/>
              <a:lstStyle/>
              <a:p>
                <a:r>
                  <a:rPr lang="de-DE">
                    <a:noFill/>
                  </a:rPr>
                  <a:t> </a:t>
                </a:r>
              </a:p>
            </p:txBody>
          </p:sp>
        </mc:Fallback>
      </mc:AlternateContent>
      <mc:AlternateContent xmlns:mc="http://schemas.openxmlformats.org/markup-compatibility/2006">
        <mc:Choice xmlns="" xmlns:a14="http://schemas.microsoft.com/office/drawing/2010/main" Requires="a14">
          <p:sp>
            <p:nvSpPr>
              <p:cNvPr id="5" name="Textfeld 4"/>
              <p:cNvSpPr txBox="1"/>
              <p:nvPr/>
            </p:nvSpPr>
            <p:spPr>
              <a:xfrm>
                <a:off x="2123728" y="3740585"/>
                <a:ext cx="782971"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de-DE" sz="2000" i="1" smtClean="0">
                          <a:latin typeface="Cambria Math"/>
                          <a:ea typeface="Cambria Math"/>
                        </a:rPr>
                        <m:t>𝛿</m:t>
                      </m:r>
                      <m:r>
                        <a:rPr lang="de-DE" sz="2000" b="0" i="1" smtClean="0">
                          <a:latin typeface="Cambria Math"/>
                          <a:ea typeface="Cambria Math"/>
                        </a:rPr>
                        <m:t>(∙,∙)</m:t>
                      </m:r>
                    </m:oMath>
                  </m:oMathPara>
                </a14:m>
                <a:endParaRPr lang="de-DE" sz="2000" dirty="0" err="1" smtClean="0">
                  <a:latin typeface="+mn-lt"/>
                </a:endParaRPr>
              </a:p>
            </p:txBody>
          </p:sp>
        </mc:Choice>
        <mc:Fallback>
          <p:sp>
            <p:nvSpPr>
              <p:cNvPr id="5" name="Textfeld 4"/>
              <p:cNvSpPr txBox="1">
                <a:spLocks noRot="1" noChangeAspect="1" noMove="1" noResize="1" noEditPoints="1" noAdjustHandles="1" noChangeArrowheads="1" noChangeShapeType="1" noTextEdit="1"/>
              </p:cNvSpPr>
              <p:nvPr/>
            </p:nvSpPr>
            <p:spPr>
              <a:xfrm>
                <a:off x="2123728" y="3740585"/>
                <a:ext cx="782971" cy="400110"/>
              </a:xfrm>
              <a:prstGeom prst="rect">
                <a:avLst/>
              </a:prstGeom>
              <a:blipFill rotWithShape="1">
                <a:blip r:embed="rId10" cstate="print"/>
                <a:stretch>
                  <a:fillRect b="-15385"/>
                </a:stretch>
              </a:blipFill>
            </p:spPr>
            <p:txBody>
              <a:bodyPr/>
              <a:lstStyle/>
              <a:p>
                <a:r>
                  <a:rPr lang="de-DE">
                    <a:noFill/>
                  </a:rPr>
                  <a:t> </a:t>
                </a:r>
              </a:p>
            </p:txBody>
          </p:sp>
        </mc:Fallback>
      </mc:AlternateContent>
      <mc:AlternateContent xmlns:mc="http://schemas.openxmlformats.org/markup-compatibility/2006">
        <mc:Choice xmlns="" xmlns:a14="http://schemas.microsoft.com/office/drawing/2010/main" Requires="a14">
          <p:sp>
            <p:nvSpPr>
              <p:cNvPr id="33" name="Textfeld 32"/>
              <p:cNvSpPr txBox="1"/>
              <p:nvPr/>
            </p:nvSpPr>
            <p:spPr>
              <a:xfrm>
                <a:off x="3692203" y="3740585"/>
                <a:ext cx="782971"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de-DE" sz="2000" i="1" smtClean="0">
                          <a:latin typeface="Cambria Math"/>
                          <a:ea typeface="Cambria Math"/>
                        </a:rPr>
                        <m:t>𝛿</m:t>
                      </m:r>
                      <m:r>
                        <a:rPr lang="de-DE" sz="2000" b="0" i="1" smtClean="0">
                          <a:latin typeface="Cambria Math"/>
                          <a:ea typeface="Cambria Math"/>
                        </a:rPr>
                        <m:t>(∙,∙)</m:t>
                      </m:r>
                    </m:oMath>
                  </m:oMathPara>
                </a14:m>
                <a:endParaRPr lang="de-DE" sz="2000" dirty="0" err="1" smtClean="0">
                  <a:latin typeface="+mn-lt"/>
                </a:endParaRPr>
              </a:p>
            </p:txBody>
          </p:sp>
        </mc:Choice>
        <mc:Fallback>
          <p:sp>
            <p:nvSpPr>
              <p:cNvPr id="33" name="Textfeld 32"/>
              <p:cNvSpPr txBox="1">
                <a:spLocks noRot="1" noChangeAspect="1" noMove="1" noResize="1" noEditPoints="1" noAdjustHandles="1" noChangeArrowheads="1" noChangeShapeType="1" noTextEdit="1"/>
              </p:cNvSpPr>
              <p:nvPr/>
            </p:nvSpPr>
            <p:spPr>
              <a:xfrm>
                <a:off x="3692203" y="3740585"/>
                <a:ext cx="782971" cy="400110"/>
              </a:xfrm>
              <a:prstGeom prst="rect">
                <a:avLst/>
              </a:prstGeom>
              <a:blipFill rotWithShape="1">
                <a:blip r:embed="rId11" cstate="print"/>
                <a:stretch>
                  <a:fillRect b="-15385"/>
                </a:stretch>
              </a:blipFill>
            </p:spPr>
            <p:txBody>
              <a:bodyPr/>
              <a:lstStyle/>
              <a:p>
                <a:r>
                  <a:rPr lang="de-DE">
                    <a:noFill/>
                  </a:rPr>
                  <a:t> </a:t>
                </a:r>
              </a:p>
            </p:txBody>
          </p:sp>
        </mc:Fallback>
      </mc:AlternateContent>
      <mc:AlternateContent xmlns:mc="http://schemas.openxmlformats.org/markup-compatibility/2006">
        <mc:Choice xmlns="" xmlns:a14="http://schemas.microsoft.com/office/drawing/2010/main" Requires="a14">
          <p:sp>
            <p:nvSpPr>
              <p:cNvPr id="34" name="Textfeld 33"/>
              <p:cNvSpPr txBox="1"/>
              <p:nvPr/>
            </p:nvSpPr>
            <p:spPr>
              <a:xfrm>
                <a:off x="5548666" y="3740585"/>
                <a:ext cx="782971"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de-DE" sz="2000" i="1" smtClean="0">
                          <a:latin typeface="Cambria Math"/>
                          <a:ea typeface="Cambria Math"/>
                        </a:rPr>
                        <m:t>𝛿</m:t>
                      </m:r>
                      <m:r>
                        <a:rPr lang="de-DE" sz="2000" b="0" i="1" smtClean="0">
                          <a:latin typeface="Cambria Math"/>
                          <a:ea typeface="Cambria Math"/>
                        </a:rPr>
                        <m:t>(∙,∙)</m:t>
                      </m:r>
                    </m:oMath>
                  </m:oMathPara>
                </a14:m>
                <a:endParaRPr lang="de-DE" sz="2000" dirty="0" err="1" smtClean="0">
                  <a:latin typeface="+mn-lt"/>
                </a:endParaRPr>
              </a:p>
            </p:txBody>
          </p:sp>
        </mc:Choice>
        <mc:Fallback>
          <p:sp>
            <p:nvSpPr>
              <p:cNvPr id="34" name="Textfeld 33"/>
              <p:cNvSpPr txBox="1">
                <a:spLocks noRot="1" noChangeAspect="1" noMove="1" noResize="1" noEditPoints="1" noAdjustHandles="1" noChangeArrowheads="1" noChangeShapeType="1" noTextEdit="1"/>
              </p:cNvSpPr>
              <p:nvPr/>
            </p:nvSpPr>
            <p:spPr>
              <a:xfrm>
                <a:off x="5548666" y="3740585"/>
                <a:ext cx="782971" cy="400110"/>
              </a:xfrm>
              <a:prstGeom prst="rect">
                <a:avLst/>
              </a:prstGeom>
              <a:blipFill rotWithShape="1">
                <a:blip r:embed="rId12" cstate="print"/>
                <a:stretch>
                  <a:fillRect b="-15385"/>
                </a:stretch>
              </a:blipFill>
            </p:spPr>
            <p:txBody>
              <a:bodyPr/>
              <a:lstStyle/>
              <a:p>
                <a:r>
                  <a:rPr lang="de-DE">
                    <a:noFill/>
                  </a:rPr>
                  <a:t> </a:t>
                </a:r>
              </a:p>
            </p:txBody>
          </p:sp>
        </mc:Fallback>
      </mc:AlternateContent>
      <p:sp>
        <p:nvSpPr>
          <p:cNvPr id="6" name="Pfeil nach rechts 5"/>
          <p:cNvSpPr/>
          <p:nvPr/>
        </p:nvSpPr>
        <p:spPr>
          <a:xfrm>
            <a:off x="6516216" y="3813657"/>
            <a:ext cx="576064" cy="2539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 xmlns:p14="http://schemas.microsoft.com/office/powerpoint/2010/main" val="3215103663"/>
      </p:ext>
    </p:ext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8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8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89"/>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90"/>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91"/>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94"/>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9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4"/>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1" grpId="0">
        <p:bldAsOne/>
      </p:bldGraphic>
      <p:bldGraphic spid="52" grpId="0">
        <p:bldAsOne/>
      </p:bldGraphic>
      <p:bldGraphic spid="56" grpId="0">
        <p:bldAsOne/>
      </p:bldGraphic>
      <p:bldP spid="57" grpId="0"/>
      <p:bldGraphic spid="58" grpId="0">
        <p:bldAsOne/>
      </p:bldGraphic>
      <p:bldGraphic spid="59" grpId="0">
        <p:bldAsOne/>
      </p:bldGraphic>
      <p:bldGraphic spid="60" grpId="0">
        <p:bldAsOne/>
      </p:bldGraphic>
      <p:bldP spid="61" grpId="0"/>
      <p:bldP spid="97" grpId="0"/>
      <p:bldP spid="3" grpId="0" animBg="1"/>
      <p:bldP spid="5" grpId="0" animBg="1"/>
      <p:bldP spid="33" grpId="0" animBg="1"/>
      <p:bldP spid="34" grpId="0" animBg="1"/>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de-DE" altLang="zh-TW" sz="3600" dirty="0" smtClean="0"/>
              <a:t>A </a:t>
            </a:r>
            <a:r>
              <a:rPr lang="de-DE" altLang="zh-TW" sz="3600" dirty="0" err="1" smtClean="0"/>
              <a:t>variety</a:t>
            </a:r>
            <a:r>
              <a:rPr lang="de-DE" altLang="zh-TW" sz="3600" dirty="0" smtClean="0"/>
              <a:t> </a:t>
            </a:r>
            <a:r>
              <a:rPr lang="de-DE" altLang="zh-TW" sz="3600" dirty="0" err="1" smtClean="0"/>
              <a:t>of</a:t>
            </a:r>
            <a:r>
              <a:rPr lang="de-DE" altLang="zh-TW" sz="3600" dirty="0" smtClean="0"/>
              <a:t> </a:t>
            </a:r>
            <a:r>
              <a:rPr lang="de-DE" altLang="zh-TW" sz="3600" dirty="0" err="1" smtClean="0"/>
              <a:t>distance</a:t>
            </a:r>
            <a:r>
              <a:rPr lang="de-DE" altLang="zh-TW" sz="3600" dirty="0" smtClean="0"/>
              <a:t> </a:t>
            </a:r>
            <a:r>
              <a:rPr lang="de-DE" altLang="zh-TW" sz="3600" dirty="0" err="1" smtClean="0"/>
              <a:t>metrics</a:t>
            </a:r>
            <a:r>
              <a:rPr lang="de-DE" altLang="zh-TW" sz="3600" dirty="0" smtClean="0"/>
              <a:t> </a:t>
            </a:r>
            <a:r>
              <a:rPr lang="de-DE" altLang="zh-TW" sz="3600" dirty="0" err="1" smtClean="0"/>
              <a:t>can</a:t>
            </a:r>
            <a:r>
              <a:rPr lang="de-DE" altLang="zh-TW" sz="3600" dirty="0" smtClean="0"/>
              <a:t> </a:t>
            </a:r>
            <a:r>
              <a:rPr lang="de-DE" altLang="zh-TW" sz="3600" dirty="0" err="1" smtClean="0"/>
              <a:t>be</a:t>
            </a:r>
            <a:r>
              <a:rPr lang="de-DE" altLang="zh-TW" sz="3600" dirty="0" smtClean="0"/>
              <a:t> </a:t>
            </a:r>
            <a:r>
              <a:rPr lang="de-DE" altLang="zh-TW" sz="3600" dirty="0" err="1" smtClean="0"/>
              <a:t>used</a:t>
            </a:r>
            <a:endParaRPr lang="de-DE" altLang="zh-TW" sz="3600" dirty="0"/>
          </a:p>
        </p:txBody>
      </p:sp>
      <mc:AlternateContent xmlns:mc="http://schemas.openxmlformats.org/markup-compatibility/2006">
        <mc:Choice xmlns="" xmlns:a14="http://schemas.microsoft.com/office/drawing/2010/main" Requires="a14">
          <p:sp>
            <p:nvSpPr>
              <p:cNvPr id="3" name="Inhaltsplatzhalter 2"/>
              <p:cNvSpPr>
                <a:spLocks noGrp="1"/>
              </p:cNvSpPr>
              <p:nvPr>
                <p:ph idx="1"/>
              </p:nvPr>
            </p:nvSpPr>
            <p:spPr/>
            <p:txBody>
              <a:bodyPr>
                <a:normAutofit lnSpcReduction="10000"/>
              </a:bodyPr>
              <a:lstStyle/>
              <a:p>
                <a:r>
                  <a:rPr lang="en-US" dirty="0" smtClean="0"/>
                  <a:t>bin-by-bin measures</a:t>
                </a:r>
              </a:p>
              <a:p>
                <a:pPr lvl="1"/>
                <a:r>
                  <a:rPr lang="en-US" dirty="0" err="1" smtClean="0"/>
                  <a:t>Minkowski</a:t>
                </a:r>
                <a:r>
                  <a:rPr lang="en-US" dirty="0" smtClean="0"/>
                  <a:t> distance: </a:t>
                </a:r>
                <a14:m>
                  <m:oMath xmlns:m="http://schemas.openxmlformats.org/officeDocument/2006/math">
                    <m:sSub>
                      <m:sSubPr>
                        <m:ctrlPr>
                          <a:rPr lang="en-US" i="1" smtClean="0">
                            <a:latin typeface="Cambria Math"/>
                          </a:rPr>
                        </m:ctrlPr>
                      </m:sSubPr>
                      <m:e>
                        <m:r>
                          <a:rPr lang="de-DE" i="1">
                            <a:latin typeface="Cambria Math"/>
                            <a:ea typeface="Cambria Math"/>
                          </a:rPr>
                          <m:t>𝛿</m:t>
                        </m:r>
                      </m:e>
                      <m:sub>
                        <m:r>
                          <a:rPr lang="en-US" b="0" i="1" smtClean="0">
                            <a:latin typeface="Cambria Math"/>
                          </a:rPr>
                          <m:t>𝑀𝑖</m:t>
                        </m:r>
                      </m:sub>
                    </m:sSub>
                    <m:d>
                      <m:dPr>
                        <m:ctrlPr>
                          <a:rPr lang="en-US" b="0" i="1" smtClean="0">
                            <a:latin typeface="Cambria Math"/>
                          </a:rPr>
                        </m:ctrlPr>
                      </m:dPr>
                      <m:e>
                        <m:r>
                          <a:rPr lang="en-US" b="0" i="1" smtClean="0">
                            <a:latin typeface="Cambria Math"/>
                          </a:rPr>
                          <m:t>𝑔</m:t>
                        </m:r>
                        <m:r>
                          <a:rPr lang="en-US" b="0" i="1" smtClean="0">
                            <a:latin typeface="Cambria Math"/>
                          </a:rPr>
                          <m:t>,</m:t>
                        </m:r>
                        <m:r>
                          <a:rPr lang="en-US" b="0" i="1" smtClean="0">
                            <a:latin typeface="Cambria Math"/>
                          </a:rPr>
                          <m:t>h</m:t>
                        </m:r>
                      </m:e>
                    </m:d>
                    <m:r>
                      <a:rPr lang="en-US" b="0" i="1" smtClean="0">
                        <a:latin typeface="Cambria Math"/>
                      </a:rPr>
                      <m:t>= </m:t>
                    </m:r>
                    <m:sSup>
                      <m:sSupPr>
                        <m:ctrlPr>
                          <a:rPr lang="en-US" b="0" i="1" smtClean="0">
                            <a:latin typeface="Cambria Math"/>
                          </a:rPr>
                        </m:ctrlPr>
                      </m:sSupPr>
                      <m:e>
                        <m:d>
                          <m:dPr>
                            <m:ctrlPr>
                              <a:rPr lang="en-US" i="1">
                                <a:latin typeface="Cambria Math"/>
                              </a:rPr>
                            </m:ctrlPr>
                          </m:dPr>
                          <m:e>
                            <m:r>
                              <a:rPr lang="en-US" i="1">
                                <a:latin typeface="Cambria Math"/>
                              </a:rPr>
                              <m:t> </m:t>
                            </m:r>
                            <m:nary>
                              <m:naryPr>
                                <m:chr m:val="∑"/>
                                <m:supHide m:val="on"/>
                                <m:ctrlPr>
                                  <a:rPr lang="en-US" i="1">
                                    <a:latin typeface="Cambria Math"/>
                                  </a:rPr>
                                </m:ctrlPr>
                              </m:naryPr>
                              <m:sub>
                                <m:r>
                                  <m:rPr>
                                    <m:brk m:alnAt="7"/>
                                  </m:rPr>
                                  <a:rPr lang="en-US" i="1">
                                    <a:latin typeface="Cambria Math"/>
                                  </a:rPr>
                                  <m:t>𝑏</m:t>
                                </m:r>
                                <m:r>
                                  <a:rPr lang="en-US" i="1">
                                    <a:latin typeface="Cambria Math"/>
                                    <a:ea typeface="Cambria Math"/>
                                  </a:rPr>
                                  <m:t>∈</m:t>
                                </m:r>
                                <m:r>
                                  <a:rPr lang="en-US" i="1">
                                    <a:latin typeface="Cambria Math"/>
                                    <a:ea typeface="Cambria Math"/>
                                  </a:rPr>
                                  <m:t>ℬ</m:t>
                                </m:r>
                              </m:sub>
                              <m:sup/>
                              <m:e>
                                <m:sSup>
                                  <m:sSupPr>
                                    <m:ctrlPr>
                                      <a:rPr lang="en-US" i="1">
                                        <a:latin typeface="Cambria Math"/>
                                      </a:rPr>
                                    </m:ctrlPr>
                                  </m:sSupPr>
                                  <m:e>
                                    <m:r>
                                      <a:rPr lang="en-US" i="1">
                                        <a:latin typeface="Cambria Math"/>
                                      </a:rPr>
                                      <m:t>|</m:t>
                                    </m:r>
                                    <m:r>
                                      <a:rPr lang="en-US" i="1">
                                        <a:latin typeface="Cambria Math"/>
                                      </a:rPr>
                                      <m:t>𝑔</m:t>
                                    </m:r>
                                    <m:d>
                                      <m:dPr>
                                        <m:ctrlPr>
                                          <a:rPr lang="en-US" i="1">
                                            <a:latin typeface="Cambria Math"/>
                                          </a:rPr>
                                        </m:ctrlPr>
                                      </m:dPr>
                                      <m:e>
                                        <m:r>
                                          <a:rPr lang="en-US" i="1">
                                            <a:latin typeface="Cambria Math"/>
                                          </a:rPr>
                                          <m:t>𝑏</m:t>
                                        </m:r>
                                      </m:e>
                                    </m:d>
                                    <m:r>
                                      <a:rPr lang="en-US" i="1">
                                        <a:latin typeface="Cambria Math"/>
                                      </a:rPr>
                                      <m:t>−</m:t>
                                    </m:r>
                                    <m:r>
                                      <a:rPr lang="en-US" i="1">
                                        <a:latin typeface="Cambria Math"/>
                                      </a:rPr>
                                      <m:t>h</m:t>
                                    </m:r>
                                    <m:r>
                                      <a:rPr lang="en-US" i="1">
                                        <a:latin typeface="Cambria Math"/>
                                      </a:rPr>
                                      <m:t>(</m:t>
                                    </m:r>
                                    <m:r>
                                      <a:rPr lang="en-US" i="1">
                                        <a:latin typeface="Cambria Math"/>
                                      </a:rPr>
                                      <m:t>𝑏</m:t>
                                    </m:r>
                                    <m:r>
                                      <a:rPr lang="en-US" i="1">
                                        <a:latin typeface="Cambria Math"/>
                                      </a:rPr>
                                      <m:t>)|</m:t>
                                    </m:r>
                                  </m:e>
                                  <m:sup>
                                    <m:r>
                                      <a:rPr lang="en-US" i="1">
                                        <a:latin typeface="Cambria Math"/>
                                      </a:rPr>
                                      <m:t>𝑝</m:t>
                                    </m:r>
                                  </m:sup>
                                </m:sSup>
                              </m:e>
                            </m:nary>
                            <m:r>
                              <a:rPr lang="en-US" i="1">
                                <a:latin typeface="Cambria Math"/>
                              </a:rPr>
                              <m:t> </m:t>
                            </m:r>
                          </m:e>
                        </m:d>
                      </m:e>
                      <m:sup>
                        <m:f>
                          <m:fPr>
                            <m:ctrlPr>
                              <a:rPr lang="en-US" b="0" i="1" smtClean="0">
                                <a:latin typeface="Cambria Math"/>
                              </a:rPr>
                            </m:ctrlPr>
                          </m:fPr>
                          <m:num>
                            <m:r>
                              <a:rPr lang="en-US" b="0" i="1" smtClean="0">
                                <a:latin typeface="Cambria Math"/>
                              </a:rPr>
                              <m:t>1</m:t>
                            </m:r>
                          </m:num>
                          <m:den>
                            <m:r>
                              <a:rPr lang="en-US" b="0" i="1" smtClean="0">
                                <a:latin typeface="Cambria Math"/>
                              </a:rPr>
                              <m:t>𝑝</m:t>
                            </m:r>
                          </m:den>
                        </m:f>
                      </m:sup>
                    </m:sSup>
                  </m:oMath>
                </a14:m>
                <a:endParaRPr lang="en-US" dirty="0" smtClean="0"/>
              </a:p>
              <a:p>
                <a:pPr lvl="1"/>
                <a:endParaRPr lang="en-US" dirty="0" smtClean="0"/>
              </a:p>
              <a:p>
                <a:pPr lvl="1"/>
                <a:r>
                  <a:rPr lang="en-US" dirty="0" smtClean="0"/>
                  <a:t>histogram intersection: </a:t>
                </a:r>
                <a14:m>
                  <m:oMath xmlns:m="http://schemas.openxmlformats.org/officeDocument/2006/math">
                    <m:sSub>
                      <m:sSubPr>
                        <m:ctrlPr>
                          <a:rPr lang="en-US" i="1">
                            <a:latin typeface="Cambria Math"/>
                          </a:rPr>
                        </m:ctrlPr>
                      </m:sSubPr>
                      <m:e>
                        <m:r>
                          <a:rPr lang="de-DE" i="1">
                            <a:latin typeface="Cambria Math"/>
                            <a:ea typeface="Cambria Math"/>
                          </a:rPr>
                          <m:t>𝛿</m:t>
                        </m:r>
                      </m:e>
                      <m:sub>
                        <m:r>
                          <a:rPr lang="en-US" b="0" i="1" smtClean="0">
                            <a:latin typeface="Cambria Math"/>
                          </a:rPr>
                          <m:t>𝐽</m:t>
                        </m:r>
                      </m:sub>
                    </m:sSub>
                    <m:d>
                      <m:dPr>
                        <m:ctrlPr>
                          <a:rPr lang="en-US" i="1">
                            <a:latin typeface="Cambria Math"/>
                          </a:rPr>
                        </m:ctrlPr>
                      </m:dPr>
                      <m:e>
                        <m:r>
                          <a:rPr lang="en-US" i="1">
                            <a:latin typeface="Cambria Math"/>
                          </a:rPr>
                          <m:t>𝑔</m:t>
                        </m:r>
                        <m:r>
                          <a:rPr lang="en-US" i="1">
                            <a:latin typeface="Cambria Math"/>
                          </a:rPr>
                          <m:t>,</m:t>
                        </m:r>
                        <m:r>
                          <a:rPr lang="en-US" i="1">
                            <a:latin typeface="Cambria Math"/>
                          </a:rPr>
                          <m:t>h</m:t>
                        </m:r>
                      </m:e>
                    </m:d>
                    <m:r>
                      <a:rPr lang="en-US" b="0" i="1" smtClean="0">
                        <a:latin typeface="Cambria Math"/>
                      </a:rPr>
                      <m:t>=1 − </m:t>
                    </m:r>
                    <m:f>
                      <m:fPr>
                        <m:ctrlPr>
                          <a:rPr lang="en-US" b="0" i="1" smtClean="0">
                            <a:latin typeface="Cambria Math"/>
                          </a:rPr>
                        </m:ctrlPr>
                      </m:fPr>
                      <m:num>
                        <m:nary>
                          <m:naryPr>
                            <m:chr m:val="∑"/>
                            <m:supHide m:val="on"/>
                            <m:ctrlPr>
                              <a:rPr lang="en-US" i="1">
                                <a:latin typeface="Cambria Math"/>
                              </a:rPr>
                            </m:ctrlPr>
                          </m:naryPr>
                          <m:sub>
                            <m:r>
                              <m:rPr>
                                <m:brk m:alnAt="7"/>
                              </m:rPr>
                              <a:rPr lang="en-US" i="1">
                                <a:latin typeface="Cambria Math"/>
                              </a:rPr>
                              <m:t>𝑏</m:t>
                            </m:r>
                            <m:r>
                              <a:rPr lang="en-US" i="1">
                                <a:latin typeface="Cambria Math"/>
                                <a:ea typeface="Cambria Math"/>
                              </a:rPr>
                              <m:t>∈</m:t>
                            </m:r>
                            <m:r>
                              <a:rPr lang="en-US" i="1">
                                <a:latin typeface="Cambria Math"/>
                                <a:ea typeface="Cambria Math"/>
                              </a:rPr>
                              <m:t>ℬ</m:t>
                            </m:r>
                          </m:sub>
                          <m:sup/>
                          <m:e>
                            <m:func>
                              <m:funcPr>
                                <m:ctrlPr>
                                  <a:rPr lang="en-US" i="1" smtClean="0">
                                    <a:latin typeface="Cambria Math"/>
                                    <a:ea typeface="Cambria Math"/>
                                  </a:rPr>
                                </m:ctrlPr>
                              </m:funcPr>
                              <m:fName>
                                <m:limLow>
                                  <m:limLowPr>
                                    <m:ctrlPr>
                                      <a:rPr lang="en-US" i="1" smtClean="0">
                                        <a:latin typeface="Cambria Math"/>
                                        <a:ea typeface="Cambria Math"/>
                                      </a:rPr>
                                    </m:ctrlPr>
                                  </m:limLowPr>
                                  <m:e>
                                    <m:r>
                                      <m:rPr>
                                        <m:sty m:val="p"/>
                                      </m:rPr>
                                      <a:rPr lang="en-US" i="0" smtClean="0">
                                        <a:latin typeface="Cambria Math"/>
                                        <a:ea typeface="Cambria Math"/>
                                      </a:rPr>
                                      <m:t>min</m:t>
                                    </m:r>
                                  </m:e>
                                  <m:lim>
                                    <m:r>
                                      <a:rPr lang="en-US" b="0" i="1" smtClean="0">
                                        <a:latin typeface="Cambria Math"/>
                                        <a:ea typeface="Cambria Math"/>
                                      </a:rPr>
                                      <m:t> </m:t>
                                    </m:r>
                                  </m:lim>
                                </m:limLow>
                              </m:fName>
                              <m:e>
                                <m:r>
                                  <a:rPr lang="en-US" b="0" i="1" smtClean="0">
                                    <a:latin typeface="Cambria Math"/>
                                    <a:ea typeface="Cambria Math"/>
                                  </a:rPr>
                                  <m:t>(</m:t>
                                </m:r>
                                <m:r>
                                  <a:rPr lang="en-US" b="0" i="1" smtClean="0">
                                    <a:latin typeface="Cambria Math"/>
                                    <a:ea typeface="Cambria Math"/>
                                  </a:rPr>
                                  <m:t>𝑔</m:t>
                                </m:r>
                                <m:d>
                                  <m:dPr>
                                    <m:ctrlPr>
                                      <a:rPr lang="en-US" b="0" i="1" smtClean="0">
                                        <a:latin typeface="Cambria Math"/>
                                        <a:ea typeface="Cambria Math"/>
                                      </a:rPr>
                                    </m:ctrlPr>
                                  </m:dPr>
                                  <m:e>
                                    <m:r>
                                      <a:rPr lang="en-US" b="0" i="1" smtClean="0">
                                        <a:latin typeface="Cambria Math"/>
                                        <a:ea typeface="Cambria Math"/>
                                      </a:rPr>
                                      <m:t>𝑏</m:t>
                                    </m:r>
                                  </m:e>
                                </m:d>
                                <m:r>
                                  <a:rPr lang="en-US" b="0" i="1" smtClean="0">
                                    <a:latin typeface="Cambria Math"/>
                                    <a:ea typeface="Cambria Math"/>
                                  </a:rPr>
                                  <m:t>,   </m:t>
                                </m:r>
                                <m:r>
                                  <a:rPr lang="en-US" b="0" i="1" smtClean="0">
                                    <a:latin typeface="Cambria Math"/>
                                    <a:ea typeface="Cambria Math"/>
                                  </a:rPr>
                                  <m:t>h</m:t>
                                </m:r>
                                <m:r>
                                  <a:rPr lang="en-US" b="0" i="1" smtClean="0">
                                    <a:latin typeface="Cambria Math"/>
                                    <a:ea typeface="Cambria Math"/>
                                  </a:rPr>
                                  <m:t>(</m:t>
                                </m:r>
                                <m:r>
                                  <a:rPr lang="en-US" b="0" i="1" smtClean="0">
                                    <a:latin typeface="Cambria Math"/>
                                    <a:ea typeface="Cambria Math"/>
                                  </a:rPr>
                                  <m:t>𝑏</m:t>
                                </m:r>
                                <m:r>
                                  <a:rPr lang="en-US" b="0" i="1" smtClean="0">
                                    <a:latin typeface="Cambria Math"/>
                                    <a:ea typeface="Cambria Math"/>
                                  </a:rPr>
                                  <m:t>))</m:t>
                                </m:r>
                              </m:e>
                            </m:func>
                          </m:e>
                        </m:nary>
                      </m:num>
                      <m:den>
                        <m:nary>
                          <m:naryPr>
                            <m:chr m:val="∑"/>
                            <m:supHide m:val="on"/>
                            <m:ctrlPr>
                              <a:rPr lang="en-US" i="1">
                                <a:latin typeface="Cambria Math"/>
                              </a:rPr>
                            </m:ctrlPr>
                          </m:naryPr>
                          <m:sub>
                            <m:r>
                              <m:rPr>
                                <m:brk m:alnAt="7"/>
                              </m:rPr>
                              <a:rPr lang="en-US" i="1">
                                <a:latin typeface="Cambria Math"/>
                              </a:rPr>
                              <m:t>𝑏</m:t>
                            </m:r>
                            <m:r>
                              <a:rPr lang="en-US" i="1">
                                <a:latin typeface="Cambria Math"/>
                                <a:ea typeface="Cambria Math"/>
                              </a:rPr>
                              <m:t>∈</m:t>
                            </m:r>
                            <m:r>
                              <a:rPr lang="en-US" i="1">
                                <a:latin typeface="Cambria Math"/>
                                <a:ea typeface="Cambria Math"/>
                              </a:rPr>
                              <m:t>ℬ</m:t>
                            </m:r>
                          </m:sub>
                          <m:sup/>
                          <m:e>
                            <m:func>
                              <m:funcPr>
                                <m:ctrlPr>
                                  <a:rPr lang="en-US" i="1" smtClean="0">
                                    <a:latin typeface="Cambria Math"/>
                                    <a:ea typeface="Cambria Math"/>
                                  </a:rPr>
                                </m:ctrlPr>
                              </m:funcPr>
                              <m:fName>
                                <m:limLow>
                                  <m:limLowPr>
                                    <m:ctrlPr>
                                      <a:rPr lang="en-US" i="1" smtClean="0">
                                        <a:latin typeface="Cambria Math"/>
                                        <a:ea typeface="Cambria Math"/>
                                      </a:rPr>
                                    </m:ctrlPr>
                                  </m:limLowPr>
                                  <m:e>
                                    <m:r>
                                      <m:rPr>
                                        <m:sty m:val="p"/>
                                      </m:rPr>
                                      <a:rPr lang="en-US" i="0" smtClean="0">
                                        <a:latin typeface="Cambria Math"/>
                                        <a:ea typeface="Cambria Math"/>
                                      </a:rPr>
                                      <m:t>max</m:t>
                                    </m:r>
                                  </m:e>
                                  <m:lim>
                                    <m:r>
                                      <a:rPr lang="en-US" b="0" i="1" smtClean="0">
                                        <a:latin typeface="Cambria Math"/>
                                        <a:ea typeface="Cambria Math"/>
                                      </a:rPr>
                                      <m:t> </m:t>
                                    </m:r>
                                  </m:lim>
                                </m:limLow>
                              </m:fName>
                              <m:e>
                                <m:r>
                                  <a:rPr lang="en-US" b="0" i="1" smtClean="0">
                                    <a:latin typeface="Cambria Math"/>
                                    <a:ea typeface="Cambria Math"/>
                                  </a:rPr>
                                  <m:t>(</m:t>
                                </m:r>
                                <m:r>
                                  <a:rPr lang="en-US" b="0" i="1" smtClean="0">
                                    <a:latin typeface="Cambria Math"/>
                                    <a:ea typeface="Cambria Math"/>
                                  </a:rPr>
                                  <m:t>𝑔</m:t>
                                </m:r>
                                <m:d>
                                  <m:dPr>
                                    <m:ctrlPr>
                                      <a:rPr lang="en-US" b="0" i="1" smtClean="0">
                                        <a:latin typeface="Cambria Math"/>
                                        <a:ea typeface="Cambria Math"/>
                                      </a:rPr>
                                    </m:ctrlPr>
                                  </m:dPr>
                                  <m:e>
                                    <m:r>
                                      <a:rPr lang="en-US" b="0" i="1" smtClean="0">
                                        <a:latin typeface="Cambria Math"/>
                                        <a:ea typeface="Cambria Math"/>
                                      </a:rPr>
                                      <m:t>𝑏</m:t>
                                    </m:r>
                                  </m:e>
                                </m:d>
                                <m:r>
                                  <a:rPr lang="en-US" b="0" i="1" smtClean="0">
                                    <a:latin typeface="Cambria Math"/>
                                    <a:ea typeface="Cambria Math"/>
                                  </a:rPr>
                                  <m:t>,   </m:t>
                                </m:r>
                                <m:r>
                                  <a:rPr lang="en-US" b="0" i="1" smtClean="0">
                                    <a:latin typeface="Cambria Math"/>
                                    <a:ea typeface="Cambria Math"/>
                                  </a:rPr>
                                  <m:t>h</m:t>
                                </m:r>
                                <m:r>
                                  <a:rPr lang="en-US" b="0" i="1" smtClean="0">
                                    <a:latin typeface="Cambria Math"/>
                                    <a:ea typeface="Cambria Math"/>
                                  </a:rPr>
                                  <m:t>(</m:t>
                                </m:r>
                                <m:r>
                                  <a:rPr lang="en-US" b="0" i="1" smtClean="0">
                                    <a:latin typeface="Cambria Math"/>
                                    <a:ea typeface="Cambria Math"/>
                                  </a:rPr>
                                  <m:t>𝑏</m:t>
                                </m:r>
                                <m:r>
                                  <a:rPr lang="en-US" b="0" i="1" smtClean="0">
                                    <a:latin typeface="Cambria Math"/>
                                    <a:ea typeface="Cambria Math"/>
                                  </a:rPr>
                                  <m:t>))</m:t>
                                </m:r>
                              </m:e>
                            </m:func>
                          </m:e>
                        </m:nary>
                      </m:den>
                    </m:f>
                  </m:oMath>
                </a14:m>
                <a:endParaRPr lang="en-US" dirty="0" smtClean="0"/>
              </a:p>
              <a:p>
                <a:pPr lvl="1"/>
                <a:endParaRPr lang="en-US" dirty="0" smtClean="0"/>
              </a:p>
              <a:p>
                <a:pPr lvl="1"/>
                <a:r>
                  <a:rPr lang="en-US" dirty="0" smtClean="0"/>
                  <a:t>χ</a:t>
                </a:r>
                <a:r>
                  <a:rPr lang="en-US" baseline="50000" dirty="0" smtClean="0"/>
                  <a:t>2 </a:t>
                </a:r>
                <a:r>
                  <a:rPr lang="en-US" dirty="0" smtClean="0"/>
                  <a:t>, </a:t>
                </a:r>
                <a:r>
                  <a:rPr lang="en-US" dirty="0" err="1" smtClean="0"/>
                  <a:t>Kullback-Leibler</a:t>
                </a:r>
                <a:r>
                  <a:rPr lang="en-US" dirty="0" smtClean="0"/>
                  <a:t> divergence, ... </a:t>
                </a:r>
              </a:p>
              <a:p>
                <a:pPr lvl="1"/>
                <a:endParaRPr lang="en-US" dirty="0"/>
              </a:p>
              <a:p>
                <a:r>
                  <a:rPr lang="en-US" dirty="0" smtClean="0"/>
                  <a:t>cross-bin measures</a:t>
                </a:r>
              </a:p>
              <a:p>
                <a:pPr lvl="1"/>
                <a:r>
                  <a:rPr lang="en-US" dirty="0" smtClean="0"/>
                  <a:t>quadratic form distance: </a:t>
                </a:r>
                <a14:m>
                  <m:oMath xmlns:m="http://schemas.openxmlformats.org/officeDocument/2006/math">
                    <m:sSub>
                      <m:sSubPr>
                        <m:ctrlPr>
                          <a:rPr lang="en-US" i="1">
                            <a:latin typeface="Cambria Math"/>
                          </a:rPr>
                        </m:ctrlPr>
                      </m:sSubPr>
                      <m:e>
                        <m:r>
                          <a:rPr lang="de-DE" i="1">
                            <a:latin typeface="Cambria Math"/>
                            <a:ea typeface="Cambria Math"/>
                          </a:rPr>
                          <m:t>𝛿</m:t>
                        </m:r>
                      </m:e>
                      <m:sub>
                        <m:r>
                          <a:rPr lang="en-US" b="0" i="1" smtClean="0">
                            <a:latin typeface="Cambria Math"/>
                          </a:rPr>
                          <m:t>𝑄𝐹</m:t>
                        </m:r>
                      </m:sub>
                    </m:sSub>
                    <m:d>
                      <m:dPr>
                        <m:ctrlPr>
                          <a:rPr lang="en-US" i="1">
                            <a:latin typeface="Cambria Math"/>
                          </a:rPr>
                        </m:ctrlPr>
                      </m:dPr>
                      <m:e>
                        <m:r>
                          <a:rPr lang="en-US" i="1">
                            <a:latin typeface="Cambria Math"/>
                          </a:rPr>
                          <m:t>𝑔</m:t>
                        </m:r>
                        <m:r>
                          <a:rPr lang="en-US" i="1">
                            <a:latin typeface="Cambria Math"/>
                          </a:rPr>
                          <m:t>,</m:t>
                        </m:r>
                        <m:r>
                          <a:rPr lang="en-US" i="1">
                            <a:latin typeface="Cambria Math"/>
                          </a:rPr>
                          <m:t>h</m:t>
                        </m:r>
                      </m:e>
                    </m:d>
                    <m:r>
                      <a:rPr lang="en-US" b="0" i="1" smtClean="0">
                        <a:latin typeface="Cambria Math"/>
                      </a:rPr>
                      <m:t>= </m:t>
                    </m:r>
                    <m:rad>
                      <m:radPr>
                        <m:degHide m:val="on"/>
                        <m:ctrlPr>
                          <a:rPr lang="en-US" b="0" i="1" smtClean="0">
                            <a:latin typeface="Cambria Math"/>
                          </a:rPr>
                        </m:ctrlPr>
                      </m:radPr>
                      <m:deg/>
                      <m:e>
                        <m:sSup>
                          <m:sSupPr>
                            <m:ctrlPr>
                              <a:rPr lang="en-US" b="0" i="1" smtClean="0">
                                <a:latin typeface="Cambria Math"/>
                              </a:rPr>
                            </m:ctrlPr>
                          </m:sSupPr>
                          <m:e>
                            <m:r>
                              <a:rPr lang="en-US" b="0" i="1" smtClean="0">
                                <a:latin typeface="Cambria Math"/>
                              </a:rPr>
                              <m:t>(</m:t>
                            </m:r>
                            <m:acc>
                              <m:accPr>
                                <m:chr m:val="⃗"/>
                                <m:ctrlPr>
                                  <a:rPr lang="en-US" b="0" i="1" smtClean="0">
                                    <a:latin typeface="Cambria Math"/>
                                  </a:rPr>
                                </m:ctrlPr>
                              </m:accPr>
                              <m:e>
                                <m:r>
                                  <a:rPr lang="en-US" b="0" i="1" smtClean="0">
                                    <a:latin typeface="Cambria Math"/>
                                  </a:rPr>
                                  <m:t>𝑔</m:t>
                                </m:r>
                              </m:e>
                            </m:acc>
                            <m:r>
                              <a:rPr lang="en-US" b="0" i="1" smtClean="0">
                                <a:latin typeface="Cambria Math"/>
                              </a:rPr>
                              <m:t> − </m:t>
                            </m:r>
                            <m:acc>
                              <m:accPr>
                                <m:chr m:val="⃗"/>
                                <m:ctrlPr>
                                  <a:rPr lang="en-US" b="0" i="1" smtClean="0">
                                    <a:latin typeface="Cambria Math"/>
                                  </a:rPr>
                                </m:ctrlPr>
                              </m:accPr>
                              <m:e>
                                <m:r>
                                  <a:rPr lang="en-US" b="0" i="1" smtClean="0">
                                    <a:latin typeface="Cambria Math"/>
                                  </a:rPr>
                                  <m:t>h</m:t>
                                </m:r>
                              </m:e>
                            </m:acc>
                            <m:r>
                              <a:rPr lang="en-US" b="0" i="1" smtClean="0">
                                <a:latin typeface="Cambria Math"/>
                              </a:rPr>
                              <m:t>)</m:t>
                            </m:r>
                          </m:e>
                          <m:sup>
                            <m:r>
                              <a:rPr lang="en-US" b="0" i="1" smtClean="0">
                                <a:latin typeface="Cambria Math"/>
                              </a:rPr>
                              <m:t>𝑇</m:t>
                            </m:r>
                          </m:sup>
                        </m:sSup>
                        <m:r>
                          <a:rPr lang="en-US" b="0" i="1" smtClean="0">
                            <a:latin typeface="Cambria Math"/>
                          </a:rPr>
                          <m:t>𝐴</m:t>
                        </m:r>
                        <m:r>
                          <a:rPr lang="en-US" b="0" i="1" smtClean="0">
                            <a:latin typeface="Cambria Math"/>
                            <a:ea typeface="Cambria Math"/>
                          </a:rPr>
                          <m:t>∙</m:t>
                        </m:r>
                        <m:r>
                          <a:rPr lang="en-US" b="0" i="1" smtClean="0">
                            <a:latin typeface="Cambria Math"/>
                          </a:rPr>
                          <m:t>(</m:t>
                        </m:r>
                        <m:acc>
                          <m:accPr>
                            <m:chr m:val="⃗"/>
                            <m:ctrlPr>
                              <a:rPr lang="en-US" b="0" i="1" smtClean="0">
                                <a:latin typeface="Cambria Math"/>
                              </a:rPr>
                            </m:ctrlPr>
                          </m:accPr>
                          <m:e>
                            <m:r>
                              <a:rPr lang="en-US" b="0" i="1" smtClean="0">
                                <a:latin typeface="Cambria Math"/>
                              </a:rPr>
                              <m:t>𝑔</m:t>
                            </m:r>
                          </m:e>
                        </m:acc>
                        <m:r>
                          <a:rPr lang="en-US" b="0" i="1" smtClean="0">
                            <a:latin typeface="Cambria Math"/>
                          </a:rPr>
                          <m:t> − </m:t>
                        </m:r>
                        <m:acc>
                          <m:accPr>
                            <m:chr m:val="⃗"/>
                            <m:ctrlPr>
                              <a:rPr lang="en-US" b="0" i="1" smtClean="0">
                                <a:latin typeface="Cambria Math"/>
                              </a:rPr>
                            </m:ctrlPr>
                          </m:accPr>
                          <m:e>
                            <m:r>
                              <a:rPr lang="en-US" b="0" i="1" smtClean="0">
                                <a:latin typeface="Cambria Math"/>
                              </a:rPr>
                              <m:t>h</m:t>
                            </m:r>
                          </m:e>
                        </m:acc>
                        <m:r>
                          <a:rPr lang="en-US" b="0" i="1" smtClean="0">
                            <a:latin typeface="Cambria Math"/>
                          </a:rPr>
                          <m:t>)</m:t>
                        </m:r>
                      </m:e>
                    </m:rad>
                  </m:oMath>
                </a14:m>
                <a:endParaRPr lang="en-US" b="0" dirty="0" smtClean="0"/>
              </a:p>
              <a:p>
                <a:pPr marL="457200" lvl="1" indent="0">
                  <a:buNone/>
                </a:pPr>
                <a:r>
                  <a:rPr lang="en-US" dirty="0" smtClean="0"/>
                  <a:t>	where</a:t>
                </a:r>
                <a14:m>
                  <m:oMath xmlns:m="http://schemas.openxmlformats.org/officeDocument/2006/math">
                    <m:r>
                      <a:rPr lang="en-US" b="0" i="0" smtClean="0">
                        <a:latin typeface="Cambria Math"/>
                      </a:rPr>
                      <m:t> </m:t>
                    </m:r>
                    <m:acc>
                      <m:accPr>
                        <m:chr m:val="⃗"/>
                        <m:ctrlPr>
                          <a:rPr lang="en-US" i="1">
                            <a:latin typeface="Cambria Math"/>
                          </a:rPr>
                        </m:ctrlPr>
                      </m:accPr>
                      <m:e>
                        <m:r>
                          <a:rPr lang="en-US" i="1">
                            <a:latin typeface="Cambria Math"/>
                          </a:rPr>
                          <m:t>h</m:t>
                        </m:r>
                      </m:e>
                    </m:acc>
                    <m:r>
                      <a:rPr lang="en-US" b="0" i="1" smtClean="0">
                        <a:latin typeface="Cambria Math"/>
                      </a:rPr>
                      <m:t>=</m:t>
                    </m:r>
                    <m:sSup>
                      <m:sSupPr>
                        <m:ctrlPr>
                          <a:rPr lang="en-US" b="0" i="1" smtClean="0">
                            <a:latin typeface="Cambria Math"/>
                          </a:rPr>
                        </m:ctrlPr>
                      </m:sSupPr>
                      <m:e>
                        <m:r>
                          <a:rPr lang="en-US" i="1">
                            <a:latin typeface="Cambria Math"/>
                          </a:rPr>
                          <m:t>(</m:t>
                        </m:r>
                        <m:r>
                          <a:rPr lang="en-US" i="1">
                            <a:latin typeface="Cambria Math"/>
                          </a:rPr>
                          <m:t>h</m:t>
                        </m:r>
                        <m:r>
                          <a:rPr lang="en-US" i="1">
                            <a:latin typeface="Cambria Math"/>
                          </a:rPr>
                          <m:t>(</m:t>
                        </m:r>
                        <m:sSub>
                          <m:sSubPr>
                            <m:ctrlPr>
                              <a:rPr lang="en-US" i="1">
                                <a:latin typeface="Cambria Math"/>
                              </a:rPr>
                            </m:ctrlPr>
                          </m:sSubPr>
                          <m:e>
                            <m:r>
                              <a:rPr lang="en-US" i="1">
                                <a:latin typeface="Cambria Math"/>
                              </a:rPr>
                              <m:t>𝑏</m:t>
                            </m:r>
                          </m:e>
                          <m:sub>
                            <m:r>
                              <a:rPr lang="en-US" i="1">
                                <a:latin typeface="Cambria Math"/>
                              </a:rPr>
                              <m:t>1</m:t>
                            </m:r>
                          </m:sub>
                        </m:sSub>
                        <m:r>
                          <a:rPr lang="en-US" i="1">
                            <a:latin typeface="Cambria Math"/>
                          </a:rPr>
                          <m:t>, </m:t>
                        </m:r>
                        <m:r>
                          <a:rPr lang="en-US" i="1">
                            <a:latin typeface="Cambria Math"/>
                          </a:rPr>
                          <m:t>h</m:t>
                        </m:r>
                        <m:d>
                          <m:dPr>
                            <m:ctrlPr>
                              <a:rPr lang="en-US" i="1">
                                <a:latin typeface="Cambria Math"/>
                              </a:rPr>
                            </m:ctrlPr>
                          </m:dPr>
                          <m:e>
                            <m:sSub>
                              <m:sSubPr>
                                <m:ctrlPr>
                                  <a:rPr lang="en-US" i="1">
                                    <a:latin typeface="Cambria Math"/>
                                  </a:rPr>
                                </m:ctrlPr>
                              </m:sSubPr>
                              <m:e>
                                <m:r>
                                  <a:rPr lang="en-US" i="1">
                                    <a:latin typeface="Cambria Math"/>
                                  </a:rPr>
                                  <m:t>𝑏</m:t>
                                </m:r>
                              </m:e>
                              <m:sub>
                                <m:r>
                                  <a:rPr lang="en-US" i="1">
                                    <a:latin typeface="Cambria Math"/>
                                  </a:rPr>
                                  <m:t>2</m:t>
                                </m:r>
                              </m:sub>
                            </m:sSub>
                          </m:e>
                        </m:d>
                        <m:r>
                          <a:rPr lang="en-US" i="1">
                            <a:latin typeface="Cambria Math"/>
                          </a:rPr>
                          <m:t>, …, </m:t>
                        </m:r>
                        <m:r>
                          <a:rPr lang="en-US" i="1">
                            <a:latin typeface="Cambria Math"/>
                          </a:rPr>
                          <m:t>h</m:t>
                        </m:r>
                        <m:d>
                          <m:dPr>
                            <m:ctrlPr>
                              <a:rPr lang="en-US" i="1">
                                <a:latin typeface="Cambria Math"/>
                              </a:rPr>
                            </m:ctrlPr>
                          </m:dPr>
                          <m:e>
                            <m:sSub>
                              <m:sSubPr>
                                <m:ctrlPr>
                                  <a:rPr lang="en-US" i="1">
                                    <a:latin typeface="Cambria Math"/>
                                  </a:rPr>
                                </m:ctrlPr>
                              </m:sSubPr>
                              <m:e>
                                <m:r>
                                  <a:rPr lang="en-US" i="1">
                                    <a:latin typeface="Cambria Math"/>
                                  </a:rPr>
                                  <m:t>𝑏</m:t>
                                </m:r>
                              </m:e>
                              <m:sub>
                                <m:r>
                                  <a:rPr lang="en-US" i="1">
                                    <a:latin typeface="Cambria Math"/>
                                  </a:rPr>
                                  <m:t>𝑛</m:t>
                                </m:r>
                              </m:sub>
                            </m:sSub>
                          </m:e>
                        </m:d>
                        <m:r>
                          <a:rPr lang="en-US" i="1">
                            <a:latin typeface="Cambria Math"/>
                          </a:rPr>
                          <m:t>)</m:t>
                        </m:r>
                      </m:e>
                      <m:sup>
                        <m:r>
                          <a:rPr lang="en-US" b="0" i="1" smtClean="0">
                            <a:latin typeface="Cambria Math"/>
                          </a:rPr>
                          <m:t>𝑇</m:t>
                        </m:r>
                      </m:sup>
                    </m:sSup>
                  </m:oMath>
                </a14:m>
                <a:r>
                  <a:rPr lang="en-US" dirty="0" smtClean="0"/>
                  <a:t>and </a:t>
                </a:r>
                <a:r>
                  <a:rPr lang="en-US" i="1" dirty="0" err="1" smtClean="0"/>
                  <a:t>a</a:t>
                </a:r>
                <a:r>
                  <a:rPr lang="en-US" i="1" baseline="-25000" dirty="0" err="1" smtClean="0"/>
                  <a:t>ij</a:t>
                </a:r>
                <a:r>
                  <a:rPr lang="en-US" dirty="0" smtClean="0"/>
                  <a:t> gives the similarity 	between bin </a:t>
                </a:r>
                <a:r>
                  <a:rPr lang="en-US" i="1" dirty="0" smtClean="0"/>
                  <a:t>i</a:t>
                </a:r>
                <a:r>
                  <a:rPr lang="en-US" dirty="0" smtClean="0"/>
                  <a:t> and </a:t>
                </a:r>
                <a:r>
                  <a:rPr lang="en-US" i="1" dirty="0" smtClean="0"/>
                  <a:t>j</a:t>
                </a:r>
              </a:p>
            </p:txBody>
          </p:sp>
        </mc:Choice>
        <mc:Fallback>
          <p:sp>
            <p:nvSpPr>
              <p:cNvPr id="3" name="Inhaltsplatzhalter 2"/>
              <p:cNvSpPr>
                <a:spLocks noGrp="1" noRot="1" noChangeAspect="1" noMove="1" noResize="1" noEditPoints="1" noAdjustHandles="1" noChangeArrowheads="1" noChangeShapeType="1" noTextEdit="1"/>
              </p:cNvSpPr>
              <p:nvPr>
                <p:ph idx="1"/>
              </p:nvPr>
            </p:nvSpPr>
            <p:spPr>
              <a:blipFill rotWithShape="1">
                <a:blip r:embed="rId2" cstate="print"/>
                <a:stretch>
                  <a:fillRect l="-593" t="-1241"/>
                </a:stretch>
              </a:blipFill>
            </p:spPr>
            <p:txBody>
              <a:bodyPr/>
              <a:lstStyle/>
              <a:p>
                <a:r>
                  <a:rPr lang="de-DE">
                    <a:noFill/>
                  </a:rPr>
                  <a:t> </a:t>
                </a:r>
              </a:p>
            </p:txBody>
          </p:sp>
        </mc:Fallback>
      </mc:AlternateContent>
      <p:sp>
        <p:nvSpPr>
          <p:cNvPr id="4" name="Foliennummernplatzhalter 3"/>
          <p:cNvSpPr>
            <a:spLocks noGrp="1"/>
          </p:cNvSpPr>
          <p:nvPr>
            <p:ph type="sldNum" sz="quarter" idx="12"/>
          </p:nvPr>
        </p:nvSpPr>
        <p:spPr/>
        <p:txBody>
          <a:bodyPr/>
          <a:lstStyle/>
          <a:p>
            <a:fld id="{3722AAB7-8C13-4FEF-BF4B-87394EDC6C8B}" type="slidenum">
              <a:rPr lang="de-DE" smtClean="0"/>
              <a:pPr/>
              <a:t>7</a:t>
            </a:fld>
            <a:endParaRPr lang="de-DE" dirty="0"/>
          </a:p>
        </p:txBody>
      </p:sp>
    </p:spTree>
    <p:extLst>
      <p:ext uri="{BB962C8B-B14F-4D97-AF65-F5344CB8AC3E}">
        <p14:creationId xmlns="" xmlns:p14="http://schemas.microsoft.com/office/powerpoint/2010/main" val="3341936096"/>
      </p:ext>
    </p:extLst>
  </p:cSld>
  <p:clrMapOvr>
    <a:masterClrMapping/>
  </p:clrMapOvr>
  <p:transition>
    <p:cu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de-DE" altLang="zh-TW" sz="3600" dirty="0" smtClean="0"/>
              <a:t>A </a:t>
            </a:r>
            <a:r>
              <a:rPr lang="de-DE" altLang="zh-TW" sz="3600" dirty="0" err="1" smtClean="0"/>
              <a:t>variety</a:t>
            </a:r>
            <a:r>
              <a:rPr lang="de-DE" altLang="zh-TW" sz="3600" dirty="0" smtClean="0"/>
              <a:t> </a:t>
            </a:r>
            <a:r>
              <a:rPr lang="de-DE" altLang="zh-TW" sz="3600" dirty="0" err="1" smtClean="0"/>
              <a:t>of</a:t>
            </a:r>
            <a:r>
              <a:rPr lang="de-DE" altLang="zh-TW" sz="3600" dirty="0" smtClean="0"/>
              <a:t> </a:t>
            </a:r>
            <a:r>
              <a:rPr lang="de-DE" altLang="zh-TW" sz="3600" dirty="0" err="1" smtClean="0"/>
              <a:t>distance</a:t>
            </a:r>
            <a:r>
              <a:rPr lang="de-DE" altLang="zh-TW" sz="3600" dirty="0" smtClean="0"/>
              <a:t> </a:t>
            </a:r>
            <a:r>
              <a:rPr lang="de-DE" altLang="zh-TW" sz="3600" dirty="0" err="1" smtClean="0"/>
              <a:t>metrics</a:t>
            </a:r>
            <a:r>
              <a:rPr lang="de-DE" altLang="zh-TW" sz="3600" dirty="0" smtClean="0"/>
              <a:t> </a:t>
            </a:r>
            <a:r>
              <a:rPr lang="de-DE" altLang="zh-TW" sz="3600" dirty="0" err="1" smtClean="0"/>
              <a:t>can</a:t>
            </a:r>
            <a:r>
              <a:rPr lang="de-DE" altLang="zh-TW" sz="3600" dirty="0" smtClean="0"/>
              <a:t> </a:t>
            </a:r>
            <a:r>
              <a:rPr lang="de-DE" altLang="zh-TW" sz="3600" dirty="0" err="1" smtClean="0"/>
              <a:t>be</a:t>
            </a:r>
            <a:r>
              <a:rPr lang="de-DE" altLang="zh-TW" sz="3600" dirty="0" smtClean="0"/>
              <a:t> </a:t>
            </a:r>
            <a:r>
              <a:rPr lang="de-DE" altLang="zh-TW" sz="3600" dirty="0" err="1" smtClean="0"/>
              <a:t>used</a:t>
            </a:r>
            <a:endParaRPr lang="de-DE" altLang="zh-TW" sz="3600" dirty="0"/>
          </a:p>
        </p:txBody>
      </p:sp>
      <mc:AlternateContent xmlns:mc="http://schemas.openxmlformats.org/markup-compatibility/2006">
        <mc:Choice xmlns="" xmlns:a14="http://schemas.microsoft.com/office/drawing/2010/main" Requires="a14">
          <p:sp>
            <p:nvSpPr>
              <p:cNvPr id="3" name="Inhaltsplatzhalter 2"/>
              <p:cNvSpPr>
                <a:spLocks noGrp="1"/>
              </p:cNvSpPr>
              <p:nvPr>
                <p:ph idx="1"/>
              </p:nvPr>
            </p:nvSpPr>
            <p:spPr/>
            <p:txBody>
              <a:bodyPr/>
              <a:lstStyle/>
              <a:p>
                <a:pPr lvl="1"/>
                <a:r>
                  <a:rPr lang="en-US" dirty="0" smtClean="0"/>
                  <a:t>distances </a:t>
                </a:r>
                <a:r>
                  <a:rPr lang="en-US" dirty="0"/>
                  <a:t>based on </a:t>
                </a:r>
                <a:r>
                  <a:rPr lang="en-US" dirty="0" err="1"/>
                  <a:t>cummulative</a:t>
                </a:r>
                <a:r>
                  <a:rPr lang="en-US" dirty="0"/>
                  <a:t> distributions </a:t>
                </a:r>
                <a14:m>
                  <m:oMath xmlns:m="http://schemas.openxmlformats.org/officeDocument/2006/math">
                    <m:r>
                      <a:rPr lang="en-US" i="1">
                        <a:latin typeface="Cambria Math"/>
                      </a:rPr>
                      <m:t>𝐻</m:t>
                    </m:r>
                    <m:d>
                      <m:dPr>
                        <m:ctrlPr>
                          <a:rPr lang="en-US" i="1">
                            <a:latin typeface="Cambria Math"/>
                          </a:rPr>
                        </m:ctrlPr>
                      </m:dPr>
                      <m:e>
                        <m:r>
                          <a:rPr lang="en-US" i="1">
                            <a:latin typeface="Cambria Math"/>
                          </a:rPr>
                          <m:t>𝑏</m:t>
                        </m:r>
                      </m:e>
                    </m:d>
                    <m:r>
                      <a:rPr lang="en-US" i="1">
                        <a:latin typeface="Cambria Math"/>
                      </a:rPr>
                      <m:t>= </m:t>
                    </m:r>
                    <m:nary>
                      <m:naryPr>
                        <m:chr m:val="∑"/>
                        <m:supHide m:val="on"/>
                        <m:ctrlPr>
                          <a:rPr lang="en-US" i="1">
                            <a:latin typeface="Cambria Math"/>
                          </a:rPr>
                        </m:ctrlPr>
                      </m:naryPr>
                      <m:sub>
                        <m:r>
                          <m:rPr>
                            <m:brk m:alnAt="7"/>
                          </m:rPr>
                          <a:rPr lang="en-US" i="1">
                            <a:latin typeface="Cambria Math"/>
                          </a:rPr>
                          <m:t>𝑎</m:t>
                        </m:r>
                        <m:r>
                          <a:rPr lang="en-US" i="1">
                            <a:latin typeface="Cambria Math"/>
                            <a:ea typeface="Cambria Math"/>
                          </a:rPr>
                          <m:t>≤</m:t>
                        </m:r>
                        <m:r>
                          <a:rPr lang="en-US" i="1">
                            <a:latin typeface="Cambria Math"/>
                            <a:ea typeface="Cambria Math"/>
                          </a:rPr>
                          <m:t>𝑏</m:t>
                        </m:r>
                      </m:sub>
                      <m:sup/>
                      <m:e>
                        <m:r>
                          <a:rPr lang="en-US" i="1">
                            <a:latin typeface="Cambria Math"/>
                          </a:rPr>
                          <m:t>h</m:t>
                        </m:r>
                        <m:r>
                          <a:rPr lang="en-US" i="1">
                            <a:latin typeface="Cambria Math"/>
                          </a:rPr>
                          <m:t>(</m:t>
                        </m:r>
                        <m:r>
                          <a:rPr lang="en-US" i="1">
                            <a:latin typeface="Cambria Math"/>
                          </a:rPr>
                          <m:t>𝑎</m:t>
                        </m:r>
                        <m:r>
                          <a:rPr lang="en-US" i="1">
                            <a:latin typeface="Cambria Math"/>
                          </a:rPr>
                          <m:t>)</m:t>
                        </m:r>
                      </m:e>
                    </m:nary>
                  </m:oMath>
                </a14:m>
                <a:endParaRPr lang="en-US" dirty="0" smtClean="0"/>
              </a:p>
              <a:p>
                <a:pPr lvl="1"/>
                <a:endParaRPr lang="en-US" sz="1050" dirty="0"/>
              </a:p>
              <a:p>
                <a:pPr lvl="2"/>
                <a:r>
                  <a:rPr lang="en-US" dirty="0"/>
                  <a:t>match distance: </a:t>
                </a:r>
                <a14:m>
                  <m:oMath xmlns:m="http://schemas.openxmlformats.org/officeDocument/2006/math">
                    <m:sSub>
                      <m:sSubPr>
                        <m:ctrlPr>
                          <a:rPr lang="en-US" i="1">
                            <a:latin typeface="Cambria Math"/>
                          </a:rPr>
                        </m:ctrlPr>
                      </m:sSubPr>
                      <m:e>
                        <m:r>
                          <a:rPr lang="de-DE" i="1">
                            <a:latin typeface="Cambria Math"/>
                            <a:ea typeface="Cambria Math"/>
                          </a:rPr>
                          <m:t>𝛿</m:t>
                        </m:r>
                      </m:e>
                      <m:sub>
                        <m:r>
                          <a:rPr lang="en-US" i="1">
                            <a:latin typeface="Cambria Math"/>
                          </a:rPr>
                          <m:t>𝑀</m:t>
                        </m:r>
                      </m:sub>
                    </m:sSub>
                    <m:d>
                      <m:dPr>
                        <m:ctrlPr>
                          <a:rPr lang="en-US" i="1">
                            <a:latin typeface="Cambria Math"/>
                          </a:rPr>
                        </m:ctrlPr>
                      </m:dPr>
                      <m:e>
                        <m:r>
                          <a:rPr lang="en-US" i="1">
                            <a:latin typeface="Cambria Math"/>
                          </a:rPr>
                          <m:t>𝑔</m:t>
                        </m:r>
                        <m:r>
                          <a:rPr lang="en-US" i="1">
                            <a:latin typeface="Cambria Math"/>
                          </a:rPr>
                          <m:t>,</m:t>
                        </m:r>
                        <m:r>
                          <a:rPr lang="en-US" i="1">
                            <a:latin typeface="Cambria Math"/>
                          </a:rPr>
                          <m:t>h</m:t>
                        </m:r>
                      </m:e>
                    </m:d>
                    <m:r>
                      <a:rPr lang="en-US" i="1">
                        <a:latin typeface="Cambria Math"/>
                      </a:rPr>
                      <m:t>=</m:t>
                    </m:r>
                    <m:nary>
                      <m:naryPr>
                        <m:chr m:val="∑"/>
                        <m:supHide m:val="on"/>
                        <m:ctrlPr>
                          <a:rPr lang="en-US" i="1">
                            <a:latin typeface="Cambria Math"/>
                          </a:rPr>
                        </m:ctrlPr>
                      </m:naryPr>
                      <m:sub>
                        <m:r>
                          <m:rPr>
                            <m:brk m:alnAt="7"/>
                          </m:rPr>
                          <a:rPr lang="en-US" i="1">
                            <a:latin typeface="Cambria Math"/>
                          </a:rPr>
                          <m:t>𝑏</m:t>
                        </m:r>
                        <m:r>
                          <a:rPr lang="en-US" i="1">
                            <a:latin typeface="Cambria Math"/>
                            <a:ea typeface="Cambria Math"/>
                          </a:rPr>
                          <m:t>∈</m:t>
                        </m:r>
                        <m:r>
                          <a:rPr lang="en-US" i="1">
                            <a:latin typeface="Cambria Math"/>
                            <a:ea typeface="Cambria Math"/>
                          </a:rPr>
                          <m:t>ℬ</m:t>
                        </m:r>
                      </m:sub>
                      <m:sup/>
                      <m:e>
                        <m:r>
                          <a:rPr lang="en-US" i="1">
                            <a:latin typeface="Cambria Math"/>
                            <a:ea typeface="Cambria Math"/>
                          </a:rPr>
                          <m:t>|</m:t>
                        </m:r>
                        <m:r>
                          <a:rPr lang="en-US" i="1">
                            <a:latin typeface="Cambria Math"/>
                            <a:ea typeface="Cambria Math"/>
                          </a:rPr>
                          <m:t>𝐺</m:t>
                        </m:r>
                        <m:d>
                          <m:dPr>
                            <m:ctrlPr>
                              <a:rPr lang="en-US" i="1">
                                <a:latin typeface="Cambria Math"/>
                              </a:rPr>
                            </m:ctrlPr>
                          </m:dPr>
                          <m:e>
                            <m:r>
                              <a:rPr lang="en-US" i="1">
                                <a:latin typeface="Cambria Math"/>
                              </a:rPr>
                              <m:t>𝑏</m:t>
                            </m:r>
                          </m:e>
                        </m:d>
                        <m:r>
                          <a:rPr lang="en-US" i="1">
                            <a:latin typeface="Cambria Math"/>
                          </a:rPr>
                          <m:t>−</m:t>
                        </m:r>
                        <m:r>
                          <a:rPr lang="en-US" i="1">
                            <a:latin typeface="Cambria Math"/>
                          </a:rPr>
                          <m:t>𝐻</m:t>
                        </m:r>
                        <m:r>
                          <a:rPr lang="en-US" i="1">
                            <a:latin typeface="Cambria Math"/>
                          </a:rPr>
                          <m:t>(</m:t>
                        </m:r>
                        <m:r>
                          <a:rPr lang="en-US" i="1">
                            <a:latin typeface="Cambria Math"/>
                          </a:rPr>
                          <m:t>𝑏</m:t>
                        </m:r>
                        <m:r>
                          <a:rPr lang="en-US" i="1">
                            <a:latin typeface="Cambria Math"/>
                          </a:rPr>
                          <m:t>)</m:t>
                        </m:r>
                      </m:e>
                    </m:nary>
                    <m:r>
                      <a:rPr lang="en-US" i="1">
                        <a:latin typeface="Cambria Math"/>
                      </a:rPr>
                      <m:t>|</m:t>
                    </m:r>
                  </m:oMath>
                </a14:m>
                <a:endParaRPr lang="en-US" dirty="0" smtClean="0"/>
              </a:p>
              <a:p>
                <a:pPr lvl="2"/>
                <a:endParaRPr lang="en-US" sz="600" dirty="0"/>
              </a:p>
              <a:p>
                <a:pPr lvl="2"/>
                <a:r>
                  <a:rPr lang="en-US" dirty="0"/>
                  <a:t>Kolmogorov-Smirnov distance: </a:t>
                </a:r>
                <a14:m>
                  <m:oMath xmlns:m="http://schemas.openxmlformats.org/officeDocument/2006/math">
                    <m:sSub>
                      <m:sSubPr>
                        <m:ctrlPr>
                          <a:rPr lang="en-US" i="1">
                            <a:latin typeface="Cambria Math"/>
                          </a:rPr>
                        </m:ctrlPr>
                      </m:sSubPr>
                      <m:e>
                        <m:r>
                          <a:rPr lang="de-DE" i="1">
                            <a:latin typeface="Cambria Math"/>
                            <a:ea typeface="Cambria Math"/>
                          </a:rPr>
                          <m:t>𝛿</m:t>
                        </m:r>
                      </m:e>
                      <m:sub>
                        <m:r>
                          <a:rPr lang="en-US" i="1">
                            <a:latin typeface="Cambria Math"/>
                          </a:rPr>
                          <m:t>𝐾𝑆</m:t>
                        </m:r>
                      </m:sub>
                    </m:sSub>
                    <m:d>
                      <m:dPr>
                        <m:ctrlPr>
                          <a:rPr lang="en-US" i="1">
                            <a:latin typeface="Cambria Math"/>
                          </a:rPr>
                        </m:ctrlPr>
                      </m:dPr>
                      <m:e>
                        <m:r>
                          <a:rPr lang="en-US" i="1">
                            <a:latin typeface="Cambria Math"/>
                          </a:rPr>
                          <m:t>𝑔</m:t>
                        </m:r>
                        <m:r>
                          <a:rPr lang="en-US" i="1">
                            <a:latin typeface="Cambria Math"/>
                          </a:rPr>
                          <m:t>,</m:t>
                        </m:r>
                        <m:r>
                          <a:rPr lang="en-US" i="1">
                            <a:latin typeface="Cambria Math"/>
                          </a:rPr>
                          <m:t>h</m:t>
                        </m:r>
                      </m:e>
                    </m:d>
                    <m:r>
                      <a:rPr lang="en-US" i="1">
                        <a:latin typeface="Cambria Math"/>
                      </a:rPr>
                      <m:t>=</m:t>
                    </m:r>
                    <m:func>
                      <m:funcPr>
                        <m:ctrlPr>
                          <a:rPr lang="en-US" i="1">
                            <a:latin typeface="Cambria Math"/>
                          </a:rPr>
                        </m:ctrlPr>
                      </m:funcPr>
                      <m:fName>
                        <m:limLow>
                          <m:limLowPr>
                            <m:ctrlPr>
                              <a:rPr lang="en-US" i="1">
                                <a:latin typeface="Cambria Math"/>
                              </a:rPr>
                            </m:ctrlPr>
                          </m:limLowPr>
                          <m:e>
                            <m:r>
                              <m:rPr>
                                <m:sty m:val="p"/>
                              </m:rPr>
                              <a:rPr lang="en-US">
                                <a:latin typeface="Cambria Math"/>
                              </a:rPr>
                              <m:t>max</m:t>
                            </m:r>
                          </m:e>
                          <m:lim>
                            <m:r>
                              <m:rPr>
                                <m:brk m:alnAt="7"/>
                              </m:rPr>
                              <a:rPr lang="en-US" i="1">
                                <a:latin typeface="Cambria Math"/>
                              </a:rPr>
                              <m:t>𝑏</m:t>
                            </m:r>
                            <m:r>
                              <a:rPr lang="en-US" i="1">
                                <a:latin typeface="Cambria Math"/>
                                <a:ea typeface="Cambria Math"/>
                              </a:rPr>
                              <m:t>∈</m:t>
                            </m:r>
                            <m:r>
                              <a:rPr lang="en-US" i="1">
                                <a:latin typeface="Cambria Math"/>
                                <a:ea typeface="Cambria Math"/>
                              </a:rPr>
                              <m:t>ℬ</m:t>
                            </m:r>
                          </m:lim>
                        </m:limLow>
                      </m:fName>
                      <m:e>
                        <m:r>
                          <a:rPr lang="en-US" i="1">
                            <a:latin typeface="Cambria Math"/>
                            <a:ea typeface="Cambria Math"/>
                          </a:rPr>
                          <m:t>|</m:t>
                        </m:r>
                        <m:r>
                          <a:rPr lang="en-US" i="1">
                            <a:latin typeface="Cambria Math"/>
                            <a:ea typeface="Cambria Math"/>
                          </a:rPr>
                          <m:t>𝐺</m:t>
                        </m:r>
                        <m:d>
                          <m:dPr>
                            <m:ctrlPr>
                              <a:rPr lang="en-US" i="1">
                                <a:latin typeface="Cambria Math"/>
                              </a:rPr>
                            </m:ctrlPr>
                          </m:dPr>
                          <m:e>
                            <m:r>
                              <a:rPr lang="en-US" i="1">
                                <a:latin typeface="Cambria Math"/>
                              </a:rPr>
                              <m:t>𝑏</m:t>
                            </m:r>
                          </m:e>
                        </m:d>
                        <m:r>
                          <a:rPr lang="en-US" i="1">
                            <a:latin typeface="Cambria Math"/>
                          </a:rPr>
                          <m:t>−</m:t>
                        </m:r>
                        <m:r>
                          <a:rPr lang="en-US" i="1">
                            <a:latin typeface="Cambria Math"/>
                          </a:rPr>
                          <m:t>𝐻</m:t>
                        </m:r>
                        <m:d>
                          <m:dPr>
                            <m:ctrlPr>
                              <a:rPr lang="en-US" i="1">
                                <a:latin typeface="Cambria Math"/>
                              </a:rPr>
                            </m:ctrlPr>
                          </m:dPr>
                          <m:e>
                            <m:r>
                              <a:rPr lang="en-US" i="1">
                                <a:latin typeface="Cambria Math"/>
                              </a:rPr>
                              <m:t>𝑏</m:t>
                            </m:r>
                          </m:e>
                        </m:d>
                        <m:r>
                          <a:rPr lang="en-US" i="1">
                            <a:latin typeface="Cambria Math"/>
                          </a:rPr>
                          <m:t>|</m:t>
                        </m:r>
                      </m:e>
                    </m:func>
                  </m:oMath>
                </a14:m>
                <a:endParaRPr lang="en-US" dirty="0"/>
              </a:p>
              <a:p>
                <a:pPr lvl="1"/>
                <a:endParaRPr lang="en-US" dirty="0" smtClean="0"/>
              </a:p>
              <a:p>
                <a:pPr lvl="1"/>
                <a:r>
                  <a:rPr lang="en-US" dirty="0" smtClean="0"/>
                  <a:t>earth-movers distance:</a:t>
                </a:r>
                <a:br>
                  <a:rPr lang="en-US" dirty="0" smtClean="0"/>
                </a:br>
                <a:r>
                  <a:rPr lang="en-US" dirty="0" smtClean="0"/>
                  <a:t/>
                </a:r>
                <a:br>
                  <a:rPr lang="en-US" dirty="0" smtClean="0"/>
                </a:br>
                <a14:m>
                  <m:oMath xmlns:m="http://schemas.openxmlformats.org/officeDocument/2006/math">
                    <m:sSub>
                      <m:sSubPr>
                        <m:ctrlPr>
                          <a:rPr lang="en-US" i="1" smtClean="0">
                            <a:latin typeface="Cambria Math"/>
                          </a:rPr>
                        </m:ctrlPr>
                      </m:sSubPr>
                      <m:e>
                        <m:r>
                          <a:rPr lang="de-DE" i="1">
                            <a:latin typeface="Cambria Math"/>
                            <a:ea typeface="Cambria Math"/>
                          </a:rPr>
                          <m:t>𝛿</m:t>
                        </m:r>
                      </m:e>
                      <m:sub>
                        <m:r>
                          <a:rPr lang="en-US" b="0" i="1" smtClean="0">
                            <a:latin typeface="Cambria Math"/>
                          </a:rPr>
                          <m:t>𝐸𝑀𝐷</m:t>
                        </m:r>
                      </m:sub>
                    </m:sSub>
                    <m:d>
                      <m:dPr>
                        <m:ctrlPr>
                          <a:rPr lang="en-US" b="0" i="1" smtClean="0">
                            <a:latin typeface="Cambria Math"/>
                          </a:rPr>
                        </m:ctrlPr>
                      </m:dPr>
                      <m:e>
                        <m:r>
                          <a:rPr lang="en-US" b="0" i="1" smtClean="0">
                            <a:latin typeface="Cambria Math"/>
                          </a:rPr>
                          <m:t>𝑔</m:t>
                        </m:r>
                        <m:r>
                          <a:rPr lang="en-US" b="0" i="1" smtClean="0">
                            <a:latin typeface="Cambria Math"/>
                          </a:rPr>
                          <m:t>,</m:t>
                        </m:r>
                        <m:r>
                          <a:rPr lang="en-US" b="0" i="1" smtClean="0">
                            <a:latin typeface="Cambria Math"/>
                          </a:rPr>
                          <m:t>h</m:t>
                        </m:r>
                      </m:e>
                    </m:d>
                    <m:r>
                      <a:rPr lang="en-US" b="0" i="1" smtClean="0">
                        <a:latin typeface="Cambria Math"/>
                      </a:rPr>
                      <m:t>= </m:t>
                    </m:r>
                    <m:d>
                      <m:dPr>
                        <m:begChr m:val="{"/>
                        <m:endChr m:val=""/>
                        <m:ctrlPr>
                          <a:rPr lang="en-US" b="0" i="1" smtClean="0">
                            <a:latin typeface="Cambria Math"/>
                          </a:rPr>
                        </m:ctrlPr>
                      </m:dPr>
                      <m:e>
                        <m:eqArr>
                          <m:eqArrPr>
                            <m:ctrlPr>
                              <a:rPr lang="en-US" b="0" i="1" smtClean="0">
                                <a:latin typeface="Cambria Math"/>
                              </a:rPr>
                            </m:ctrlPr>
                          </m:eqArrPr>
                          <m:e>
                            <m:func>
                              <m:funcPr>
                                <m:ctrlPr>
                                  <a:rPr lang="en-US" b="0" i="1" smtClean="0">
                                    <a:latin typeface="Cambria Math"/>
                                  </a:rPr>
                                </m:ctrlPr>
                              </m:funcPr>
                              <m:fName>
                                <m:limLow>
                                  <m:limLowPr>
                                    <m:ctrlPr>
                                      <a:rPr lang="en-US" b="0" i="1" smtClean="0">
                                        <a:latin typeface="Cambria Math"/>
                                      </a:rPr>
                                    </m:ctrlPr>
                                  </m:limLowPr>
                                  <m:e>
                                    <m:r>
                                      <m:rPr>
                                        <m:sty m:val="p"/>
                                      </m:rPr>
                                      <a:rPr lang="en-US" b="0" i="0" smtClean="0">
                                        <a:latin typeface="Cambria Math"/>
                                      </a:rPr>
                                      <m:t>min</m:t>
                                    </m:r>
                                  </m:e>
                                  <m:lim>
                                    <m:r>
                                      <a:rPr lang="en-US" b="0" i="1" smtClean="0">
                                        <a:latin typeface="Cambria Math"/>
                                      </a:rPr>
                                      <m:t> </m:t>
                                    </m:r>
                                  </m:lim>
                                </m:limLow>
                              </m:fName>
                              <m:e>
                                <m:d>
                                  <m:dPr>
                                    <m:begChr m:val="{"/>
                                    <m:endChr m:val="}"/>
                                    <m:ctrlPr>
                                      <a:rPr lang="en-US" b="0" i="1" smtClean="0">
                                        <a:latin typeface="Cambria Math"/>
                                      </a:rPr>
                                    </m:ctrlPr>
                                  </m:dPr>
                                  <m:e>
                                    <m:nary>
                                      <m:naryPr>
                                        <m:chr m:val="∑"/>
                                        <m:supHide m:val="on"/>
                                        <m:ctrlPr>
                                          <a:rPr lang="en-US" b="0" i="1" smtClean="0">
                                            <a:latin typeface="Cambria Math"/>
                                          </a:rPr>
                                        </m:ctrlPr>
                                      </m:naryPr>
                                      <m:sub>
                                        <m:sSub>
                                          <m:sSubPr>
                                            <m:ctrlPr>
                                              <a:rPr lang="en-US" b="0" i="1" smtClean="0">
                                                <a:latin typeface="Cambria Math"/>
                                              </a:rPr>
                                            </m:ctrlPr>
                                          </m:sSubPr>
                                          <m:e>
                                            <m:r>
                                              <a:rPr lang="en-US" i="1">
                                                <a:latin typeface="Cambria Math"/>
                                                <a:ea typeface="Cambria Math"/>
                                              </a:rPr>
                                              <m:t>ℬ</m:t>
                                            </m:r>
                                          </m:e>
                                          <m:sub>
                                            <m:r>
                                              <a:rPr lang="en-US" b="0" i="1" smtClean="0">
                                                <a:latin typeface="Cambria Math"/>
                                              </a:rPr>
                                              <m:t>𝑛</m:t>
                                            </m:r>
                                          </m:sub>
                                        </m:sSub>
                                      </m:sub>
                                      <m:sup/>
                                      <m:e>
                                        <m:sSub>
                                          <m:sSubPr>
                                            <m:ctrlPr>
                                              <a:rPr lang="en-US" b="0" i="1" smtClean="0">
                                                <a:latin typeface="Cambria Math"/>
                                              </a:rPr>
                                            </m:ctrlPr>
                                          </m:sSubPr>
                                          <m:e>
                                            <m:r>
                                              <a:rPr lang="en-US" b="0" i="1" smtClean="0">
                                                <a:latin typeface="Cambria Math"/>
                                              </a:rPr>
                                              <m:t>𝑓</m:t>
                                            </m:r>
                                          </m:e>
                                          <m:sub>
                                            <m:r>
                                              <a:rPr lang="en-US" b="0" i="1" smtClean="0">
                                                <a:latin typeface="Cambria Math"/>
                                              </a:rPr>
                                              <m:t>𝑖</m:t>
                                            </m:r>
                                            <m:r>
                                              <a:rPr lang="en-US" b="0" i="1" smtClean="0">
                                                <a:latin typeface="Cambria Math"/>
                                              </a:rPr>
                                              <m:t>,</m:t>
                                            </m:r>
                                            <m:r>
                                              <a:rPr lang="en-US" b="0" i="1" smtClean="0">
                                                <a:latin typeface="Cambria Math"/>
                                              </a:rPr>
                                              <m:t>𝑘</m:t>
                                            </m:r>
                                          </m:sub>
                                        </m:sSub>
                                        <m:r>
                                          <a:rPr lang="en-US" b="0" i="1" smtClean="0">
                                            <a:latin typeface="Cambria Math"/>
                                          </a:rPr>
                                          <m:t> | </m:t>
                                        </m:r>
                                      </m:e>
                                    </m:nary>
                                    <m:d>
                                      <m:dPr>
                                        <m:begChr m:val="{"/>
                                        <m:endChr m:val="}"/>
                                        <m:ctrlPr>
                                          <a:rPr lang="en-US" b="0" i="1" smtClean="0">
                                            <a:latin typeface="Cambria Math"/>
                                          </a:rPr>
                                        </m:ctrlPr>
                                      </m:dPr>
                                      <m:e>
                                        <m:sSub>
                                          <m:sSubPr>
                                            <m:ctrlPr>
                                              <a:rPr lang="en-US" b="0" i="1" smtClean="0">
                                                <a:latin typeface="Cambria Math"/>
                                              </a:rPr>
                                            </m:ctrlPr>
                                          </m:sSubPr>
                                          <m:e>
                                            <m:r>
                                              <a:rPr lang="en-US" b="0" i="1" smtClean="0">
                                                <a:latin typeface="Cambria Math"/>
                                              </a:rPr>
                                              <m:t>𝑓</m:t>
                                            </m:r>
                                          </m:e>
                                          <m:sub>
                                            <m:r>
                                              <a:rPr lang="en-US" b="0" i="1" smtClean="0">
                                                <a:latin typeface="Cambria Math"/>
                                              </a:rPr>
                                              <m:t>𝑖</m:t>
                                            </m:r>
                                            <m:r>
                                              <a:rPr lang="en-US" b="0" i="1" smtClean="0">
                                                <a:latin typeface="Cambria Math"/>
                                              </a:rPr>
                                              <m:t>,</m:t>
                                            </m:r>
                                            <m:r>
                                              <a:rPr lang="en-US" b="0" i="1" smtClean="0">
                                                <a:latin typeface="Cambria Math"/>
                                              </a:rPr>
                                              <m:t>𝑘</m:t>
                                            </m:r>
                                          </m:sub>
                                        </m:sSub>
                                        <m:r>
                                          <a:rPr lang="en-US" b="0" i="1" smtClean="0">
                                            <a:latin typeface="Cambria Math"/>
                                          </a:rPr>
                                          <m:t> :</m:t>
                                        </m:r>
                                        <m:d>
                                          <m:dPr>
                                            <m:ctrlPr>
                                              <a:rPr lang="en-US" b="0" i="1" smtClean="0">
                                                <a:latin typeface="Cambria Math"/>
                                              </a:rPr>
                                            </m:ctrlPr>
                                          </m:dPr>
                                          <m:e>
                                            <m:r>
                                              <a:rPr lang="en-US" b="0" i="1" smtClean="0">
                                                <a:latin typeface="Cambria Math"/>
                                              </a:rPr>
                                              <m:t>𝑖</m:t>
                                            </m:r>
                                            <m:r>
                                              <a:rPr lang="en-US" b="0" i="1" smtClean="0">
                                                <a:latin typeface="Cambria Math"/>
                                              </a:rPr>
                                              <m:t>,</m:t>
                                            </m:r>
                                            <m:r>
                                              <a:rPr lang="en-US" b="0" i="1" smtClean="0">
                                                <a:latin typeface="Cambria Math"/>
                                              </a:rPr>
                                              <m:t>𝑘</m:t>
                                            </m:r>
                                          </m:e>
                                        </m:d>
                                        <m:r>
                                          <a:rPr lang="en-US" b="0" i="1" smtClean="0">
                                            <a:latin typeface="Cambria Math"/>
                                            <a:ea typeface="Cambria Math"/>
                                          </a:rPr>
                                          <m:t>∈</m:t>
                                        </m:r>
                                        <m:sSub>
                                          <m:sSubPr>
                                            <m:ctrlPr>
                                              <a:rPr lang="en-US" b="0" i="1" smtClean="0">
                                                <a:latin typeface="Cambria Math"/>
                                                <a:ea typeface="Cambria Math"/>
                                              </a:rPr>
                                            </m:ctrlPr>
                                          </m:sSubPr>
                                          <m:e>
                                            <m:r>
                                              <a:rPr lang="en-US" i="1">
                                                <a:latin typeface="Cambria Math"/>
                                                <a:ea typeface="Cambria Math"/>
                                              </a:rPr>
                                              <m:t>ℬ</m:t>
                                            </m:r>
                                          </m:e>
                                          <m:sub>
                                            <m:r>
                                              <a:rPr lang="en-US" b="0" i="1" smtClean="0">
                                                <a:latin typeface="Cambria Math"/>
                                                <a:ea typeface="Cambria Math"/>
                                              </a:rPr>
                                              <m:t>𝑛</m:t>
                                            </m:r>
                                          </m:sub>
                                        </m:sSub>
                                      </m:e>
                                    </m:d>
                                  </m:e>
                                </m:d>
                              </m:e>
                            </m:func>
                          </m:e>
                          <m:e>
                            <m:r>
                              <a:rPr lang="en-US" b="0" i="1" smtClean="0">
                                <a:latin typeface="Cambria Math"/>
                              </a:rPr>
                              <m:t>𝑠</m:t>
                            </m:r>
                            <m:r>
                              <a:rPr lang="en-US" b="0" i="1" smtClean="0">
                                <a:latin typeface="Cambria Math"/>
                              </a:rPr>
                              <m:t>.</m:t>
                            </m:r>
                            <m:r>
                              <a:rPr lang="en-US" b="0" i="1" smtClean="0">
                                <a:latin typeface="Cambria Math"/>
                              </a:rPr>
                              <m:t>𝑡</m:t>
                            </m:r>
                            <m:r>
                              <a:rPr lang="en-US" b="0" i="1" smtClean="0">
                                <a:latin typeface="Cambria Math"/>
                              </a:rPr>
                              <m:t>.  </m:t>
                            </m:r>
                            <m:nary>
                              <m:naryPr>
                                <m:chr m:val="∑"/>
                                <m:supHide m:val="on"/>
                                <m:ctrlPr>
                                  <a:rPr lang="en-US" b="0" i="1" smtClean="0">
                                    <a:latin typeface="Cambria Math"/>
                                  </a:rPr>
                                </m:ctrlPr>
                              </m:naryPr>
                              <m:sub>
                                <m:sSub>
                                  <m:sSubPr>
                                    <m:ctrlPr>
                                      <a:rPr lang="en-US" b="0" i="1" smtClean="0">
                                        <a:latin typeface="Cambria Math"/>
                                      </a:rPr>
                                    </m:ctrlPr>
                                  </m:sSubPr>
                                  <m:e>
                                    <m:r>
                                      <a:rPr lang="en-US" b="0" i="1" smtClean="0">
                                        <a:latin typeface="Cambria Math"/>
                                      </a:rPr>
                                      <m:t>𝑘</m:t>
                                    </m:r>
                                    <m:r>
                                      <a:rPr lang="en-US" b="0" i="1" smtClean="0">
                                        <a:latin typeface="Cambria Math"/>
                                      </a:rPr>
                                      <m:t>:</m:t>
                                    </m:r>
                                    <m:d>
                                      <m:dPr>
                                        <m:ctrlPr>
                                          <a:rPr lang="en-US" b="0" i="1" smtClean="0">
                                            <a:latin typeface="Cambria Math"/>
                                          </a:rPr>
                                        </m:ctrlPr>
                                      </m:dPr>
                                      <m:e>
                                        <m:r>
                                          <a:rPr lang="en-US" b="0" i="1" smtClean="0">
                                            <a:latin typeface="Cambria Math"/>
                                          </a:rPr>
                                          <m:t>𝑖</m:t>
                                        </m:r>
                                        <m:r>
                                          <a:rPr lang="en-US" b="0" i="1" smtClean="0">
                                            <a:latin typeface="Cambria Math"/>
                                          </a:rPr>
                                          <m:t>,</m:t>
                                        </m:r>
                                        <m:r>
                                          <a:rPr lang="en-US" b="0" i="1" smtClean="0">
                                            <a:latin typeface="Cambria Math"/>
                                          </a:rPr>
                                          <m:t>𝑘</m:t>
                                        </m:r>
                                      </m:e>
                                    </m:d>
                                    <m:r>
                                      <a:rPr lang="en-US" b="0" i="1" smtClean="0">
                                        <a:latin typeface="Cambria Math"/>
                                        <a:ea typeface="Cambria Math"/>
                                      </a:rPr>
                                      <m:t>∈ </m:t>
                                    </m:r>
                                    <m:sSub>
                                      <m:sSubPr>
                                        <m:ctrlPr>
                                          <a:rPr lang="en-US" b="0" i="1" smtClean="0">
                                            <a:latin typeface="Cambria Math"/>
                                            <a:ea typeface="Cambria Math"/>
                                          </a:rPr>
                                        </m:ctrlPr>
                                      </m:sSubPr>
                                      <m:e>
                                        <m:r>
                                          <a:rPr lang="en-US" i="1">
                                            <a:latin typeface="Cambria Math"/>
                                            <a:ea typeface="Cambria Math"/>
                                          </a:rPr>
                                          <m:t>ℬ</m:t>
                                        </m:r>
                                      </m:e>
                                      <m:sub>
                                        <m:r>
                                          <a:rPr lang="en-US" b="0" i="1" smtClean="0">
                                            <a:latin typeface="Cambria Math"/>
                                            <a:ea typeface="Cambria Math"/>
                                          </a:rPr>
                                          <m:t>𝑛</m:t>
                                        </m:r>
                                      </m:sub>
                                    </m:sSub>
                                  </m:e>
                                  <m:sub>
                                    <m:r>
                                      <a:rPr lang="en-US" b="0" i="1" smtClean="0">
                                        <a:latin typeface="Cambria Math"/>
                                      </a:rPr>
                                      <m:t> </m:t>
                                    </m:r>
                                  </m:sub>
                                </m:sSub>
                              </m:sub>
                              <m:sup/>
                              <m:e>
                                <m:r>
                                  <a:rPr lang="en-US" b="0" i="1" smtClean="0">
                                    <a:latin typeface="Cambria Math"/>
                                  </a:rPr>
                                  <m:t>(</m:t>
                                </m:r>
                                <m:sSub>
                                  <m:sSubPr>
                                    <m:ctrlPr>
                                      <a:rPr lang="en-US" b="0" i="1" smtClean="0">
                                        <a:latin typeface="Cambria Math"/>
                                      </a:rPr>
                                    </m:ctrlPr>
                                  </m:sSubPr>
                                  <m:e>
                                    <m:r>
                                      <a:rPr lang="en-US" b="0" i="1" smtClean="0">
                                        <a:latin typeface="Cambria Math"/>
                                      </a:rPr>
                                      <m:t>𝑓</m:t>
                                    </m:r>
                                  </m:e>
                                  <m:sub>
                                    <m:r>
                                      <a:rPr lang="en-US" b="0" i="1" smtClean="0">
                                        <a:latin typeface="Cambria Math"/>
                                      </a:rPr>
                                      <m:t>𝑖</m:t>
                                    </m:r>
                                    <m:r>
                                      <a:rPr lang="en-US" b="0" i="1" smtClean="0">
                                        <a:latin typeface="Cambria Math"/>
                                      </a:rPr>
                                      <m:t>,</m:t>
                                    </m:r>
                                    <m:r>
                                      <a:rPr lang="en-US" b="0" i="1" smtClean="0">
                                        <a:latin typeface="Cambria Math"/>
                                      </a:rPr>
                                      <m:t>𝑘</m:t>
                                    </m:r>
                                  </m:sub>
                                </m:sSub>
                                <m:r>
                                  <a:rPr lang="en-US" b="0" i="1" smtClean="0">
                                    <a:latin typeface="Cambria Math"/>
                                  </a:rPr>
                                  <m:t> − </m:t>
                                </m:r>
                                <m:sSub>
                                  <m:sSubPr>
                                    <m:ctrlPr>
                                      <a:rPr lang="en-US" b="0" i="1" smtClean="0">
                                        <a:latin typeface="Cambria Math"/>
                                      </a:rPr>
                                    </m:ctrlPr>
                                  </m:sSubPr>
                                  <m:e>
                                    <m:r>
                                      <a:rPr lang="en-US" b="0" i="1" smtClean="0">
                                        <a:latin typeface="Cambria Math"/>
                                      </a:rPr>
                                      <m:t>𝑓</m:t>
                                    </m:r>
                                  </m:e>
                                  <m:sub>
                                    <m:r>
                                      <a:rPr lang="en-US" b="0" i="1" smtClean="0">
                                        <a:latin typeface="Cambria Math"/>
                                      </a:rPr>
                                      <m:t>𝑘</m:t>
                                    </m:r>
                                    <m:r>
                                      <a:rPr lang="en-US" b="0" i="1" smtClean="0">
                                        <a:latin typeface="Cambria Math"/>
                                      </a:rPr>
                                      <m:t>,</m:t>
                                    </m:r>
                                    <m:r>
                                      <a:rPr lang="en-US" b="0" i="1" smtClean="0">
                                        <a:latin typeface="Cambria Math"/>
                                      </a:rPr>
                                      <m:t>𝑖</m:t>
                                    </m:r>
                                  </m:sub>
                                </m:sSub>
                                <m:r>
                                  <a:rPr lang="en-US" b="0" i="1" smtClean="0">
                                    <a:latin typeface="Cambria Math"/>
                                  </a:rPr>
                                  <m:t>)</m:t>
                                </m:r>
                              </m:e>
                            </m:nary>
                            <m:r>
                              <a:rPr lang="en-US" b="0" i="1" smtClean="0">
                                <a:latin typeface="Cambria Math"/>
                              </a:rPr>
                              <m:t>=</m:t>
                            </m:r>
                            <m:r>
                              <a:rPr lang="en-US" b="0" i="1" smtClean="0">
                                <a:latin typeface="Cambria Math"/>
                              </a:rPr>
                              <m:t>𝑔</m:t>
                            </m:r>
                            <m:d>
                              <m:dPr>
                                <m:ctrlPr>
                                  <a:rPr lang="en-US" b="0" i="1" smtClean="0">
                                    <a:latin typeface="Cambria Math"/>
                                  </a:rPr>
                                </m:ctrlPr>
                              </m:dPr>
                              <m:e>
                                <m:r>
                                  <a:rPr lang="en-US" b="0" i="1" smtClean="0">
                                    <a:latin typeface="Cambria Math"/>
                                  </a:rPr>
                                  <m:t>𝑏</m:t>
                                </m:r>
                              </m:e>
                            </m:d>
                            <m:r>
                              <a:rPr lang="en-US" b="0" i="1" smtClean="0">
                                <a:latin typeface="Cambria Math"/>
                              </a:rPr>
                              <m:t>−</m:t>
                            </m:r>
                            <m:r>
                              <a:rPr lang="en-US" b="0" i="1" smtClean="0">
                                <a:latin typeface="Cambria Math"/>
                              </a:rPr>
                              <m:t>h</m:t>
                            </m:r>
                            <m:d>
                              <m:dPr>
                                <m:ctrlPr>
                                  <a:rPr lang="en-US" b="0" i="1" smtClean="0">
                                    <a:latin typeface="Cambria Math"/>
                                  </a:rPr>
                                </m:ctrlPr>
                              </m:dPr>
                              <m:e>
                                <m:r>
                                  <a:rPr lang="en-US" b="0" i="1" smtClean="0">
                                    <a:latin typeface="Cambria Math"/>
                                  </a:rPr>
                                  <m:t>𝑏</m:t>
                                </m:r>
                              </m:e>
                            </m:d>
                            <m:r>
                              <a:rPr lang="en-US" b="0" i="1" smtClean="0">
                                <a:latin typeface="Cambria Math"/>
                              </a:rPr>
                              <m:t>    </m:t>
                            </m:r>
                            <m:r>
                              <a:rPr lang="en-US" b="0" i="1" smtClean="0">
                                <a:latin typeface="Cambria Math"/>
                                <a:ea typeface="Cambria Math"/>
                              </a:rPr>
                              <m:t>∀ </m:t>
                            </m:r>
                            <m:r>
                              <a:rPr lang="en-US" b="0" i="1" smtClean="0">
                                <a:latin typeface="Cambria Math"/>
                                <a:ea typeface="Cambria Math"/>
                              </a:rPr>
                              <m:t>𝑏</m:t>
                            </m:r>
                            <m:r>
                              <a:rPr lang="en-US" b="0" i="1" smtClean="0">
                                <a:latin typeface="Cambria Math"/>
                                <a:ea typeface="Cambria Math"/>
                              </a:rPr>
                              <m:t>∈</m:t>
                            </m:r>
                            <m:r>
                              <a:rPr lang="en-US" i="1">
                                <a:latin typeface="Cambria Math"/>
                                <a:ea typeface="Cambria Math"/>
                              </a:rPr>
                              <m:t>ℬ</m:t>
                            </m:r>
                          </m:e>
                          <m:e>
                            <m:sSub>
                              <m:sSubPr>
                                <m:ctrlPr>
                                  <a:rPr lang="en-US" b="0" i="1" smtClean="0">
                                    <a:latin typeface="Cambria Math"/>
                                  </a:rPr>
                                </m:ctrlPr>
                              </m:sSubPr>
                              <m:e>
                                <m:r>
                                  <a:rPr lang="en-US" b="0" i="1" smtClean="0">
                                    <a:latin typeface="Cambria Math"/>
                                  </a:rPr>
                                  <m:t>𝑓</m:t>
                                </m:r>
                              </m:e>
                              <m:sub>
                                <m:r>
                                  <a:rPr lang="en-US" b="0" i="1" smtClean="0">
                                    <a:latin typeface="Cambria Math"/>
                                  </a:rPr>
                                  <m:t>𝑖</m:t>
                                </m:r>
                                <m:r>
                                  <a:rPr lang="en-US" b="0" i="1" smtClean="0">
                                    <a:latin typeface="Cambria Math"/>
                                  </a:rPr>
                                  <m:t>,</m:t>
                                </m:r>
                                <m:r>
                                  <a:rPr lang="en-US" b="0" i="1" smtClean="0">
                                    <a:latin typeface="Cambria Math"/>
                                  </a:rPr>
                                  <m:t>𝑘</m:t>
                                </m:r>
                              </m:sub>
                            </m:sSub>
                            <m:r>
                              <a:rPr lang="en-US" b="0" i="1" smtClean="0">
                                <a:latin typeface="Cambria Math"/>
                                <a:ea typeface="Cambria Math"/>
                              </a:rPr>
                              <m:t>≥0     ∀ </m:t>
                            </m:r>
                            <m:d>
                              <m:dPr>
                                <m:ctrlPr>
                                  <a:rPr lang="en-US" b="0" i="1" smtClean="0">
                                    <a:latin typeface="Cambria Math"/>
                                    <a:ea typeface="Cambria Math"/>
                                  </a:rPr>
                                </m:ctrlPr>
                              </m:dPr>
                              <m:e>
                                <m:r>
                                  <a:rPr lang="en-US" b="0" i="1" smtClean="0">
                                    <a:latin typeface="Cambria Math"/>
                                    <a:ea typeface="Cambria Math"/>
                                  </a:rPr>
                                  <m:t>𝑖</m:t>
                                </m:r>
                                <m:r>
                                  <a:rPr lang="en-US" b="0" i="1" smtClean="0">
                                    <a:latin typeface="Cambria Math"/>
                                    <a:ea typeface="Cambria Math"/>
                                  </a:rPr>
                                  <m:t>,</m:t>
                                </m:r>
                                <m:r>
                                  <a:rPr lang="en-US" b="0" i="1" smtClean="0">
                                    <a:latin typeface="Cambria Math"/>
                                    <a:ea typeface="Cambria Math"/>
                                  </a:rPr>
                                  <m:t>𝑘</m:t>
                                </m:r>
                              </m:e>
                            </m:d>
                            <m:r>
                              <a:rPr lang="en-US" b="0" i="1" smtClean="0">
                                <a:latin typeface="Cambria Math"/>
                                <a:ea typeface="Cambria Math"/>
                              </a:rPr>
                              <m:t>∈</m:t>
                            </m:r>
                            <m:sSub>
                              <m:sSubPr>
                                <m:ctrlPr>
                                  <a:rPr lang="en-US" b="0" i="1" smtClean="0">
                                    <a:latin typeface="Cambria Math"/>
                                    <a:ea typeface="Cambria Math"/>
                                  </a:rPr>
                                </m:ctrlPr>
                              </m:sSubPr>
                              <m:e>
                                <m:r>
                                  <a:rPr lang="en-US" i="1">
                                    <a:latin typeface="Cambria Math"/>
                                    <a:ea typeface="Cambria Math"/>
                                  </a:rPr>
                                  <m:t>ℬ</m:t>
                                </m:r>
                              </m:e>
                              <m:sub>
                                <m:r>
                                  <a:rPr lang="en-US" b="0" i="1" smtClean="0">
                                    <a:latin typeface="Cambria Math"/>
                                    <a:ea typeface="Cambria Math"/>
                                  </a:rPr>
                                  <m:t>𝑛</m:t>
                                </m:r>
                              </m:sub>
                            </m:sSub>
                          </m:e>
                        </m:eqArr>
                      </m:e>
                    </m:d>
                  </m:oMath>
                </a14:m>
                <a:endParaRPr lang="en-US" dirty="0"/>
              </a:p>
              <a:p>
                <a:endParaRPr lang="en-US" dirty="0"/>
              </a:p>
            </p:txBody>
          </p:sp>
        </mc:Choice>
        <mc:Fallback>
          <p:sp>
            <p:nvSpPr>
              <p:cNvPr id="3" name="Inhaltsplatzhalter 2"/>
              <p:cNvSpPr>
                <a:spLocks noGrp="1" noRot="1" noChangeAspect="1" noMove="1" noResize="1" noEditPoints="1" noAdjustHandles="1" noChangeArrowheads="1" noChangeShapeType="1" noTextEdit="1"/>
              </p:cNvSpPr>
              <p:nvPr>
                <p:ph idx="1"/>
              </p:nvPr>
            </p:nvSpPr>
            <p:spPr>
              <a:blipFill rotWithShape="1">
                <a:blip r:embed="rId2" cstate="print"/>
                <a:stretch>
                  <a:fillRect t="-10050"/>
                </a:stretch>
              </a:blipFill>
            </p:spPr>
            <p:txBody>
              <a:bodyPr/>
              <a:lstStyle/>
              <a:p>
                <a:r>
                  <a:rPr lang="de-DE" dirty="0">
                    <a:noFill/>
                  </a:rPr>
                  <a:t> </a:t>
                </a:r>
              </a:p>
            </p:txBody>
          </p:sp>
        </mc:Fallback>
      </mc:AlternateContent>
      <p:sp>
        <p:nvSpPr>
          <p:cNvPr id="4" name="Foliennummernplatzhalter 3"/>
          <p:cNvSpPr>
            <a:spLocks noGrp="1"/>
          </p:cNvSpPr>
          <p:nvPr>
            <p:ph type="sldNum" sz="quarter" idx="12"/>
          </p:nvPr>
        </p:nvSpPr>
        <p:spPr/>
        <p:txBody>
          <a:bodyPr/>
          <a:lstStyle/>
          <a:p>
            <a:fld id="{3722AAB7-8C13-4FEF-BF4B-87394EDC6C8B}" type="slidenum">
              <a:rPr lang="de-DE" smtClean="0"/>
              <a:pPr/>
              <a:t>8</a:t>
            </a:fld>
            <a:endParaRPr lang="de-DE" dirty="0"/>
          </a:p>
        </p:txBody>
      </p:sp>
    </p:spTree>
    <p:extLst>
      <p:ext uri="{BB962C8B-B14F-4D97-AF65-F5344CB8AC3E}">
        <p14:creationId xmlns="" xmlns:p14="http://schemas.microsoft.com/office/powerpoint/2010/main" val="354910561"/>
      </p:ext>
    </p:extLst>
  </p:cSld>
  <p:clrMapOvr>
    <a:masterClrMapping/>
  </p:clrMapOvr>
  <p:transition>
    <p:cu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Autofit/>
          </a:bodyPr>
          <a:lstStyle/>
          <a:p>
            <a:r>
              <a:rPr lang="en-US" altLang="zh-TW" sz="3600" dirty="0" smtClean="0"/>
              <a:t>Histogram comparison can discriminate binding sites by </a:t>
            </a:r>
            <a:r>
              <a:rPr lang="en-US" altLang="zh-TW" sz="3600" dirty="0" err="1" smtClean="0"/>
              <a:t>ligand</a:t>
            </a:r>
            <a:endParaRPr lang="de-DE" altLang="zh-TW" sz="3600" dirty="0"/>
          </a:p>
        </p:txBody>
      </p:sp>
      <p:sp>
        <p:nvSpPr>
          <p:cNvPr id="3" name="Inhaltsplatzhalter 2"/>
          <p:cNvSpPr>
            <a:spLocks noGrp="1"/>
          </p:cNvSpPr>
          <p:nvPr>
            <p:ph idx="1"/>
          </p:nvPr>
        </p:nvSpPr>
        <p:spPr/>
        <p:txBody>
          <a:bodyPr>
            <a:normAutofit fontScale="85000" lnSpcReduction="20000"/>
          </a:bodyPr>
          <a:lstStyle/>
          <a:p>
            <a:r>
              <a:rPr lang="en-US" dirty="0" smtClean="0"/>
              <a:t>classification of a two-class data set</a:t>
            </a:r>
          </a:p>
          <a:p>
            <a:pPr lvl="1"/>
            <a:r>
              <a:rPr lang="en-US" dirty="0" smtClean="0"/>
              <a:t>the higher the classification rates, the better the similarity measure</a:t>
            </a:r>
          </a:p>
          <a:p>
            <a:endParaRPr lang="en-US" dirty="0" smtClean="0"/>
          </a:p>
          <a:p>
            <a:r>
              <a:rPr lang="en-US" dirty="0" smtClean="0"/>
              <a:t>ATP/NADH data set contains 355 protein binding sites</a:t>
            </a:r>
          </a:p>
          <a:p>
            <a:pPr lvl="1"/>
            <a:r>
              <a:rPr lang="en-US" dirty="0" smtClean="0"/>
              <a:t>214 bind NADH substrates</a:t>
            </a:r>
          </a:p>
          <a:p>
            <a:pPr lvl="1"/>
            <a:r>
              <a:rPr lang="en-US" dirty="0" smtClean="0"/>
              <a:t>141 bind ATP </a:t>
            </a:r>
            <a:r>
              <a:rPr lang="en-US" dirty="0"/>
              <a:t>substrates</a:t>
            </a:r>
            <a:endParaRPr lang="en-US" dirty="0" smtClean="0"/>
          </a:p>
          <a:p>
            <a:pPr lvl="1"/>
            <a:endParaRPr lang="en-US" dirty="0" smtClean="0"/>
          </a:p>
          <a:p>
            <a:r>
              <a:rPr lang="en-US" dirty="0" smtClean="0"/>
              <a:t>binary classification experiment</a:t>
            </a:r>
          </a:p>
          <a:p>
            <a:pPr lvl="1"/>
            <a:r>
              <a:rPr lang="en-US" dirty="0" smtClean="0"/>
              <a:t>leave-one-out cross-validation</a:t>
            </a:r>
          </a:p>
          <a:p>
            <a:pPr lvl="1"/>
            <a:r>
              <a:rPr lang="en-US" dirty="0" smtClean="0"/>
              <a:t>k-nearest neighbor classifier</a:t>
            </a:r>
            <a:endParaRPr lang="en-US" dirty="0"/>
          </a:p>
        </p:txBody>
      </p:sp>
      <p:sp>
        <p:nvSpPr>
          <p:cNvPr id="4" name="Foliennummernplatzhalter 3"/>
          <p:cNvSpPr>
            <a:spLocks noGrp="1"/>
          </p:cNvSpPr>
          <p:nvPr>
            <p:ph type="sldNum" sz="quarter" idx="12"/>
          </p:nvPr>
        </p:nvSpPr>
        <p:spPr/>
        <p:txBody>
          <a:bodyPr/>
          <a:lstStyle/>
          <a:p>
            <a:fld id="{3722AAB7-8C13-4FEF-BF4B-87394EDC6C8B}" type="slidenum">
              <a:rPr lang="de-DE" smtClean="0"/>
              <a:pPr/>
              <a:t>9</a:t>
            </a:fld>
            <a:endParaRPr lang="de-DE" dirty="0"/>
          </a:p>
        </p:txBody>
      </p:sp>
    </p:spTree>
    <p:extLst>
      <p:ext uri="{BB962C8B-B14F-4D97-AF65-F5344CB8AC3E}">
        <p14:creationId xmlns="" xmlns:p14="http://schemas.microsoft.com/office/powerpoint/2010/main" val="609211809"/>
      </p:ext>
    </p:extLst>
  </p:cSld>
  <p:clrMapOvr>
    <a:masterClrMapping/>
  </p:clrMapOvr>
  <p:transition>
    <p:cu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Autofit/>
          </a:bodyPr>
          <a:lstStyle/>
          <a:p>
            <a:r>
              <a:rPr lang="en-US" altLang="zh-TW" sz="3600" dirty="0" smtClean="0"/>
              <a:t>Histogram comparison can discriminate binding sites by </a:t>
            </a:r>
            <a:r>
              <a:rPr lang="en-US" altLang="zh-TW" sz="3600" dirty="0" err="1" smtClean="0"/>
              <a:t>ligand</a:t>
            </a:r>
            <a:endParaRPr lang="en-US" altLang="zh-TW" sz="3600" dirty="0"/>
          </a:p>
        </p:txBody>
      </p:sp>
      <p:graphicFrame>
        <p:nvGraphicFramePr>
          <p:cNvPr id="5" name="Inhaltsplatzhalter 4"/>
          <p:cNvGraphicFramePr>
            <a:graphicFrameLocks noGrp="1"/>
          </p:cNvGraphicFramePr>
          <p:nvPr>
            <p:ph idx="1"/>
            <p:extLst>
              <p:ext uri="{D42A27DB-BD31-4B8C-83A1-F6EECF244321}">
                <p14:modId xmlns="" xmlns:p14="http://schemas.microsoft.com/office/powerpoint/2010/main" val="2716744532"/>
              </p:ext>
            </p:extLst>
          </p:nvPr>
        </p:nvGraphicFramePr>
        <p:xfrm>
          <a:off x="457200" y="1848162"/>
          <a:ext cx="8229600" cy="1879600"/>
        </p:xfrm>
        <a:graphic>
          <a:graphicData uri="http://schemas.openxmlformats.org/drawingml/2006/table">
            <a:tbl>
              <a:tblPr firstRow="1" bandRow="1">
                <a:tableStyleId>{F5AB1C69-6EDB-4FF4-983F-18BD219EF322}</a:tableStyleId>
              </a:tblPr>
              <a:tblGrid>
                <a:gridCol w="1645920"/>
                <a:gridCol w="1645920"/>
                <a:gridCol w="1645920"/>
                <a:gridCol w="1645920"/>
                <a:gridCol w="1645920"/>
              </a:tblGrid>
              <a:tr h="370840">
                <a:tc>
                  <a:txBody>
                    <a:bodyPr/>
                    <a:lstStyle/>
                    <a:p>
                      <a:pPr algn="ctr"/>
                      <a:r>
                        <a:rPr lang="de-DE" baseline="0" dirty="0" smtClean="0"/>
                        <a:t>k</a:t>
                      </a:r>
                      <a:endParaRPr lang="de-DE" baseline="0" dirty="0"/>
                    </a:p>
                  </a:txBody>
                  <a:tcPr/>
                </a:tc>
                <a:tc>
                  <a:txBody>
                    <a:bodyPr/>
                    <a:lstStyle/>
                    <a:p>
                      <a:pPr algn="ctr"/>
                      <a:r>
                        <a:rPr lang="el-GR" dirty="0" smtClean="0"/>
                        <a:t>δ</a:t>
                      </a:r>
                      <a:r>
                        <a:rPr lang="de-DE" baseline="-25000" dirty="0" smtClean="0"/>
                        <a:t>MF</a:t>
                      </a:r>
                      <a:r>
                        <a:rPr lang="de-DE" baseline="0" dirty="0" smtClean="0"/>
                        <a:t> (p=1)</a:t>
                      </a:r>
                      <a:endParaRPr lang="de-DE" baseline="-25000" dirty="0"/>
                    </a:p>
                  </a:txBody>
                  <a:tcPr/>
                </a:tc>
                <a:tc>
                  <a:txBody>
                    <a:bodyPr/>
                    <a:lstStyle/>
                    <a:p>
                      <a:pPr algn="ctr"/>
                      <a:r>
                        <a:rPr lang="el-GR" dirty="0" smtClean="0"/>
                        <a:t>δ</a:t>
                      </a:r>
                      <a:r>
                        <a:rPr lang="de-DE" baseline="-25000" dirty="0" smtClean="0"/>
                        <a:t>MF</a:t>
                      </a:r>
                      <a:r>
                        <a:rPr lang="de-DE" baseline="0" dirty="0" smtClean="0"/>
                        <a:t> (p=2)</a:t>
                      </a:r>
                      <a:endParaRPr lang="de-DE" baseline="-25000" dirty="0"/>
                    </a:p>
                  </a:txBody>
                  <a:tcPr/>
                </a:tc>
                <a:tc>
                  <a:txBody>
                    <a:bodyPr/>
                    <a:lstStyle/>
                    <a:p>
                      <a:pPr algn="ctr"/>
                      <a:r>
                        <a:rPr lang="el-GR" dirty="0" smtClean="0"/>
                        <a:t>δ</a:t>
                      </a:r>
                      <a:r>
                        <a:rPr lang="de-DE" baseline="-25000" dirty="0" smtClean="0"/>
                        <a:t>MF</a:t>
                      </a:r>
                      <a:r>
                        <a:rPr lang="de-DE" baseline="0" dirty="0" smtClean="0"/>
                        <a:t> (p = </a:t>
                      </a:r>
                      <a:r>
                        <a:rPr lang="de-DE" sz="2000" baseline="0" dirty="0" smtClean="0"/>
                        <a:t>∞</a:t>
                      </a:r>
                      <a:r>
                        <a:rPr lang="de-DE" baseline="0" dirty="0" smtClean="0"/>
                        <a:t>)</a:t>
                      </a:r>
                      <a:endParaRPr lang="de-DE" baseline="-25000" dirty="0"/>
                    </a:p>
                  </a:txBody>
                  <a:tcPr/>
                </a:tc>
                <a:tc>
                  <a:txBody>
                    <a:bodyPr/>
                    <a:lstStyle/>
                    <a:p>
                      <a:pPr algn="ctr"/>
                      <a:r>
                        <a:rPr lang="el-GR" dirty="0" smtClean="0"/>
                        <a:t>δ</a:t>
                      </a:r>
                      <a:r>
                        <a:rPr lang="de-DE" baseline="-25000" dirty="0" smtClean="0"/>
                        <a:t>J</a:t>
                      </a:r>
                      <a:endParaRPr lang="de-DE" baseline="-25000" dirty="0"/>
                    </a:p>
                  </a:txBody>
                  <a:tcPr/>
                </a:tc>
              </a:tr>
              <a:tr h="370840">
                <a:tc>
                  <a:txBody>
                    <a:bodyPr/>
                    <a:lstStyle/>
                    <a:p>
                      <a:pPr algn="ctr"/>
                      <a:r>
                        <a:rPr lang="de-DE" dirty="0" smtClean="0"/>
                        <a:t>1</a:t>
                      </a:r>
                      <a:endParaRPr lang="de-DE" dirty="0"/>
                    </a:p>
                  </a:txBody>
                  <a:tcPr/>
                </a:tc>
                <a:tc>
                  <a:txBody>
                    <a:bodyPr/>
                    <a:lstStyle/>
                    <a:p>
                      <a:pPr algn="ctr"/>
                      <a:r>
                        <a:rPr lang="de-DE" dirty="0" smtClean="0"/>
                        <a:t>87.0</a:t>
                      </a:r>
                      <a:endParaRPr lang="de-DE" dirty="0"/>
                    </a:p>
                  </a:txBody>
                  <a:tcPr/>
                </a:tc>
                <a:tc>
                  <a:txBody>
                    <a:bodyPr/>
                    <a:lstStyle/>
                    <a:p>
                      <a:pPr algn="ctr"/>
                      <a:r>
                        <a:rPr lang="de-DE" dirty="0" smtClean="0"/>
                        <a:t>84.8</a:t>
                      </a:r>
                      <a:endParaRPr lang="de-DE" dirty="0"/>
                    </a:p>
                  </a:txBody>
                  <a:tcPr/>
                </a:tc>
                <a:tc>
                  <a:txBody>
                    <a:bodyPr/>
                    <a:lstStyle/>
                    <a:p>
                      <a:pPr algn="ctr"/>
                      <a:r>
                        <a:rPr lang="de-DE" dirty="0" smtClean="0"/>
                        <a:t>80.6</a:t>
                      </a:r>
                      <a:endParaRPr lang="de-DE" dirty="0"/>
                    </a:p>
                  </a:txBody>
                  <a:tcPr/>
                </a:tc>
                <a:tc>
                  <a:txBody>
                    <a:bodyPr/>
                    <a:lstStyle/>
                    <a:p>
                      <a:pPr algn="ctr"/>
                      <a:r>
                        <a:rPr lang="de-DE" dirty="0" smtClean="0"/>
                        <a:t>87.3</a:t>
                      </a:r>
                      <a:endParaRPr lang="de-DE" dirty="0"/>
                    </a:p>
                  </a:txBody>
                  <a:tcPr/>
                </a:tc>
              </a:tr>
              <a:tr h="370840">
                <a:tc>
                  <a:txBody>
                    <a:bodyPr/>
                    <a:lstStyle/>
                    <a:p>
                      <a:pPr algn="ctr"/>
                      <a:r>
                        <a:rPr lang="de-DE" dirty="0" smtClean="0"/>
                        <a:t>3</a:t>
                      </a:r>
                      <a:endParaRPr lang="de-DE" dirty="0"/>
                    </a:p>
                  </a:txBody>
                  <a:tcPr/>
                </a:tc>
                <a:tc>
                  <a:txBody>
                    <a:bodyPr/>
                    <a:lstStyle/>
                    <a:p>
                      <a:pPr algn="ctr"/>
                      <a:r>
                        <a:rPr lang="de-DE" dirty="0" smtClean="0"/>
                        <a:t>85.4</a:t>
                      </a:r>
                      <a:endParaRPr lang="de-DE" dirty="0"/>
                    </a:p>
                  </a:txBody>
                  <a:tcPr/>
                </a:tc>
                <a:tc>
                  <a:txBody>
                    <a:bodyPr/>
                    <a:lstStyle/>
                    <a:p>
                      <a:pPr algn="ctr"/>
                      <a:r>
                        <a:rPr lang="de-DE" dirty="0" smtClean="0"/>
                        <a:t>83.4</a:t>
                      </a:r>
                      <a:endParaRPr lang="de-DE" dirty="0"/>
                    </a:p>
                  </a:txBody>
                  <a:tcPr/>
                </a:tc>
                <a:tc>
                  <a:txBody>
                    <a:bodyPr/>
                    <a:lstStyle/>
                    <a:p>
                      <a:pPr algn="ctr"/>
                      <a:r>
                        <a:rPr lang="de-DE" dirty="0" smtClean="0"/>
                        <a:t>81.7</a:t>
                      </a:r>
                      <a:endParaRPr lang="de-DE" dirty="0"/>
                    </a:p>
                  </a:txBody>
                  <a:tcPr/>
                </a:tc>
                <a:tc>
                  <a:txBody>
                    <a:bodyPr/>
                    <a:lstStyle/>
                    <a:p>
                      <a:pPr algn="ctr"/>
                      <a:r>
                        <a:rPr lang="de-DE" dirty="0" smtClean="0"/>
                        <a:t>87.0</a:t>
                      </a:r>
                      <a:endParaRPr lang="de-DE" dirty="0"/>
                    </a:p>
                  </a:txBody>
                  <a:tcPr/>
                </a:tc>
              </a:tr>
              <a:tr h="370840">
                <a:tc>
                  <a:txBody>
                    <a:bodyPr/>
                    <a:lstStyle/>
                    <a:p>
                      <a:pPr algn="ctr"/>
                      <a:r>
                        <a:rPr lang="de-DE" dirty="0" smtClean="0"/>
                        <a:t>5</a:t>
                      </a:r>
                      <a:endParaRPr lang="de-DE" dirty="0"/>
                    </a:p>
                  </a:txBody>
                  <a:tcPr/>
                </a:tc>
                <a:tc>
                  <a:txBody>
                    <a:bodyPr/>
                    <a:lstStyle/>
                    <a:p>
                      <a:pPr algn="ctr"/>
                      <a:r>
                        <a:rPr lang="de-DE" dirty="0" smtClean="0"/>
                        <a:t>79.4</a:t>
                      </a:r>
                      <a:endParaRPr lang="de-DE" dirty="0"/>
                    </a:p>
                  </a:txBody>
                  <a:tcPr/>
                </a:tc>
                <a:tc>
                  <a:txBody>
                    <a:bodyPr/>
                    <a:lstStyle/>
                    <a:p>
                      <a:pPr algn="ctr"/>
                      <a:r>
                        <a:rPr lang="de-DE" dirty="0" smtClean="0"/>
                        <a:t>81.4</a:t>
                      </a:r>
                      <a:endParaRPr lang="de-DE" dirty="0"/>
                    </a:p>
                  </a:txBody>
                  <a:tcPr/>
                </a:tc>
                <a:tc>
                  <a:txBody>
                    <a:bodyPr/>
                    <a:lstStyle/>
                    <a:p>
                      <a:pPr algn="ctr"/>
                      <a:r>
                        <a:rPr lang="de-DE" dirty="0" smtClean="0"/>
                        <a:t>79.2</a:t>
                      </a:r>
                      <a:endParaRPr lang="de-DE" dirty="0"/>
                    </a:p>
                  </a:txBody>
                  <a:tcPr/>
                </a:tc>
                <a:tc>
                  <a:txBody>
                    <a:bodyPr/>
                    <a:lstStyle/>
                    <a:p>
                      <a:pPr algn="ctr"/>
                      <a:r>
                        <a:rPr lang="de-DE" dirty="0" smtClean="0"/>
                        <a:t>84.8</a:t>
                      </a:r>
                      <a:endParaRPr lang="de-DE" dirty="0"/>
                    </a:p>
                  </a:txBody>
                  <a:tcPr/>
                </a:tc>
              </a:tr>
              <a:tr h="370840">
                <a:tc>
                  <a:txBody>
                    <a:bodyPr/>
                    <a:lstStyle/>
                    <a:p>
                      <a:pPr algn="ctr"/>
                      <a:r>
                        <a:rPr lang="de-DE" dirty="0" err="1" smtClean="0"/>
                        <a:t>runtime</a:t>
                      </a:r>
                      <a:r>
                        <a:rPr lang="de-DE" dirty="0" smtClean="0"/>
                        <a:t> (h)</a:t>
                      </a:r>
                      <a:endParaRPr lang="de-DE" dirty="0"/>
                    </a:p>
                  </a:txBody>
                  <a:tcPr/>
                </a:tc>
                <a:tc>
                  <a:txBody>
                    <a:bodyPr/>
                    <a:lstStyle/>
                    <a:p>
                      <a:pPr algn="ctr"/>
                      <a:r>
                        <a:rPr lang="de-DE" dirty="0" smtClean="0"/>
                        <a:t>0.471</a:t>
                      </a:r>
                      <a:endParaRPr lang="de-DE" dirty="0"/>
                    </a:p>
                  </a:txBody>
                  <a:tcPr/>
                </a:tc>
                <a:tc>
                  <a:txBody>
                    <a:bodyPr/>
                    <a:lstStyle/>
                    <a:p>
                      <a:pPr algn="ctr"/>
                      <a:r>
                        <a:rPr lang="de-DE" dirty="0" smtClean="0"/>
                        <a:t>0.473</a:t>
                      </a:r>
                      <a:endParaRPr lang="de-DE" dirty="0"/>
                    </a:p>
                  </a:txBody>
                  <a:tcPr/>
                </a:tc>
                <a:tc>
                  <a:txBody>
                    <a:bodyPr/>
                    <a:lstStyle/>
                    <a:p>
                      <a:pPr algn="ctr"/>
                      <a:r>
                        <a:rPr lang="de-DE" dirty="0" smtClean="0"/>
                        <a:t>0.473</a:t>
                      </a:r>
                      <a:endParaRPr lang="de-DE" dirty="0"/>
                    </a:p>
                  </a:txBody>
                  <a:tcPr/>
                </a:tc>
                <a:tc>
                  <a:txBody>
                    <a:bodyPr/>
                    <a:lstStyle/>
                    <a:p>
                      <a:pPr algn="ctr"/>
                      <a:r>
                        <a:rPr lang="de-DE" dirty="0" smtClean="0"/>
                        <a:t>0.472</a:t>
                      </a:r>
                      <a:endParaRPr lang="de-DE" dirty="0"/>
                    </a:p>
                  </a:txBody>
                  <a:tcPr/>
                </a:tc>
              </a:tr>
            </a:tbl>
          </a:graphicData>
        </a:graphic>
      </p:graphicFrame>
      <p:sp>
        <p:nvSpPr>
          <p:cNvPr id="4" name="Foliennummernplatzhalter 3"/>
          <p:cNvSpPr>
            <a:spLocks noGrp="1"/>
          </p:cNvSpPr>
          <p:nvPr>
            <p:ph type="sldNum" sz="quarter" idx="12"/>
          </p:nvPr>
        </p:nvSpPr>
        <p:spPr/>
        <p:txBody>
          <a:bodyPr/>
          <a:lstStyle/>
          <a:p>
            <a:fld id="{3722AAB7-8C13-4FEF-BF4B-87394EDC6C8B}" type="slidenum">
              <a:rPr lang="de-DE" smtClean="0"/>
              <a:pPr/>
              <a:t>10</a:t>
            </a:fld>
            <a:endParaRPr lang="de-DE" dirty="0"/>
          </a:p>
        </p:txBody>
      </p:sp>
      <p:graphicFrame>
        <p:nvGraphicFramePr>
          <p:cNvPr id="7" name="Inhaltsplatzhalter 4"/>
          <p:cNvGraphicFramePr>
            <a:graphicFrameLocks/>
          </p:cNvGraphicFramePr>
          <p:nvPr>
            <p:extLst>
              <p:ext uri="{D42A27DB-BD31-4B8C-83A1-F6EECF244321}">
                <p14:modId xmlns="" xmlns:p14="http://schemas.microsoft.com/office/powerpoint/2010/main" val="1993304720"/>
              </p:ext>
            </p:extLst>
          </p:nvPr>
        </p:nvGraphicFramePr>
        <p:xfrm>
          <a:off x="467544" y="4487058"/>
          <a:ext cx="8229600" cy="1854200"/>
        </p:xfrm>
        <a:graphic>
          <a:graphicData uri="http://schemas.openxmlformats.org/drawingml/2006/table">
            <a:tbl>
              <a:tblPr firstRow="1" bandRow="1">
                <a:tableStyleId>{F5AB1C69-6EDB-4FF4-983F-18BD219EF322}</a:tableStyleId>
              </a:tblPr>
              <a:tblGrid>
                <a:gridCol w="1645920"/>
                <a:gridCol w="1645920"/>
                <a:gridCol w="1645920"/>
                <a:gridCol w="1645920"/>
                <a:gridCol w="1645920"/>
              </a:tblGrid>
              <a:tr h="370840">
                <a:tc>
                  <a:txBody>
                    <a:bodyPr/>
                    <a:lstStyle/>
                    <a:p>
                      <a:pPr algn="ctr"/>
                      <a:r>
                        <a:rPr lang="de-DE" baseline="0" dirty="0" smtClean="0"/>
                        <a:t>k</a:t>
                      </a:r>
                      <a:endParaRPr lang="de-DE" baseline="0" dirty="0"/>
                    </a:p>
                  </a:txBody>
                  <a:tcPr/>
                </a:tc>
                <a:tc>
                  <a:txBody>
                    <a:bodyPr/>
                    <a:lstStyle/>
                    <a:p>
                      <a:pPr algn="ctr"/>
                      <a:r>
                        <a:rPr lang="el-GR" dirty="0" smtClean="0"/>
                        <a:t>δ</a:t>
                      </a:r>
                      <a:r>
                        <a:rPr lang="de-DE" baseline="-25000" dirty="0" smtClean="0"/>
                        <a:t>QF</a:t>
                      </a:r>
                      <a:endParaRPr lang="de-DE" baseline="-25000" dirty="0"/>
                    </a:p>
                  </a:txBody>
                  <a:tcPr/>
                </a:tc>
                <a:tc>
                  <a:txBody>
                    <a:bodyPr/>
                    <a:lstStyle/>
                    <a:p>
                      <a:pPr algn="ctr"/>
                      <a:r>
                        <a:rPr lang="el-GR" dirty="0" smtClean="0"/>
                        <a:t>δ</a:t>
                      </a:r>
                      <a:r>
                        <a:rPr lang="de-DE" baseline="-25000" dirty="0" smtClean="0"/>
                        <a:t>M</a:t>
                      </a:r>
                      <a:endParaRPr lang="de-DE" baseline="-25000" dirty="0"/>
                    </a:p>
                  </a:txBody>
                  <a:tcPr/>
                </a:tc>
                <a:tc>
                  <a:txBody>
                    <a:bodyPr/>
                    <a:lstStyle/>
                    <a:p>
                      <a:pPr algn="ctr"/>
                      <a:r>
                        <a:rPr lang="el-GR" dirty="0" smtClean="0"/>
                        <a:t>δ</a:t>
                      </a:r>
                      <a:r>
                        <a:rPr lang="de-DE" baseline="-25000" dirty="0" smtClean="0"/>
                        <a:t>KS</a:t>
                      </a:r>
                      <a:endParaRPr lang="de-DE" baseline="-25000" dirty="0"/>
                    </a:p>
                  </a:txBody>
                  <a:tcPr/>
                </a:tc>
                <a:tc>
                  <a:txBody>
                    <a:bodyPr/>
                    <a:lstStyle/>
                    <a:p>
                      <a:pPr algn="ctr"/>
                      <a:r>
                        <a:rPr lang="el-GR" dirty="0" smtClean="0"/>
                        <a:t>δ</a:t>
                      </a:r>
                      <a:r>
                        <a:rPr lang="de-DE" baseline="-25000" dirty="0" smtClean="0"/>
                        <a:t>EMD</a:t>
                      </a:r>
                      <a:endParaRPr lang="de-DE" baseline="-25000" dirty="0"/>
                    </a:p>
                  </a:txBody>
                  <a:tcPr/>
                </a:tc>
              </a:tr>
              <a:tr h="370840">
                <a:tc>
                  <a:txBody>
                    <a:bodyPr/>
                    <a:lstStyle/>
                    <a:p>
                      <a:pPr algn="ctr"/>
                      <a:r>
                        <a:rPr lang="de-DE" dirty="0" smtClean="0"/>
                        <a:t>1</a:t>
                      </a:r>
                      <a:endParaRPr lang="de-DE" dirty="0"/>
                    </a:p>
                  </a:txBody>
                  <a:tcPr/>
                </a:tc>
                <a:tc>
                  <a:txBody>
                    <a:bodyPr/>
                    <a:lstStyle/>
                    <a:p>
                      <a:pPr algn="ctr"/>
                      <a:r>
                        <a:rPr lang="de-DE" dirty="0" smtClean="0"/>
                        <a:t>86.2</a:t>
                      </a:r>
                      <a:endParaRPr lang="de-DE" dirty="0"/>
                    </a:p>
                  </a:txBody>
                  <a:tcPr/>
                </a:tc>
                <a:tc>
                  <a:txBody>
                    <a:bodyPr/>
                    <a:lstStyle/>
                    <a:p>
                      <a:pPr algn="ctr"/>
                      <a:r>
                        <a:rPr lang="de-DE" dirty="0" smtClean="0"/>
                        <a:t>86.5</a:t>
                      </a:r>
                      <a:endParaRPr lang="de-DE" dirty="0"/>
                    </a:p>
                  </a:txBody>
                  <a:tcPr/>
                </a:tc>
                <a:tc>
                  <a:txBody>
                    <a:bodyPr/>
                    <a:lstStyle/>
                    <a:p>
                      <a:pPr algn="ctr"/>
                      <a:r>
                        <a:rPr lang="de-DE" dirty="0" smtClean="0"/>
                        <a:t>85.9</a:t>
                      </a:r>
                      <a:endParaRPr lang="de-DE" dirty="0"/>
                    </a:p>
                  </a:txBody>
                  <a:tcPr/>
                </a:tc>
                <a:tc>
                  <a:txBody>
                    <a:bodyPr/>
                    <a:lstStyle/>
                    <a:p>
                      <a:pPr algn="ctr"/>
                      <a:r>
                        <a:rPr lang="de-DE" dirty="0" smtClean="0"/>
                        <a:t>77.2</a:t>
                      </a:r>
                      <a:endParaRPr lang="de-DE" dirty="0"/>
                    </a:p>
                  </a:txBody>
                  <a:tcPr/>
                </a:tc>
              </a:tr>
              <a:tr h="370840">
                <a:tc>
                  <a:txBody>
                    <a:bodyPr/>
                    <a:lstStyle/>
                    <a:p>
                      <a:pPr algn="ctr"/>
                      <a:r>
                        <a:rPr lang="de-DE" dirty="0" smtClean="0"/>
                        <a:t>3</a:t>
                      </a:r>
                      <a:endParaRPr lang="de-DE" dirty="0"/>
                    </a:p>
                  </a:txBody>
                  <a:tcPr/>
                </a:tc>
                <a:tc>
                  <a:txBody>
                    <a:bodyPr/>
                    <a:lstStyle/>
                    <a:p>
                      <a:pPr algn="ctr"/>
                      <a:r>
                        <a:rPr lang="de-DE" dirty="0" smtClean="0"/>
                        <a:t>85.6</a:t>
                      </a:r>
                      <a:endParaRPr lang="de-DE" dirty="0"/>
                    </a:p>
                  </a:txBody>
                  <a:tcPr/>
                </a:tc>
                <a:tc>
                  <a:txBody>
                    <a:bodyPr/>
                    <a:lstStyle/>
                    <a:p>
                      <a:pPr algn="ctr"/>
                      <a:r>
                        <a:rPr lang="de-DE" dirty="0" smtClean="0"/>
                        <a:t>88.2</a:t>
                      </a:r>
                      <a:endParaRPr lang="de-DE" dirty="0"/>
                    </a:p>
                  </a:txBody>
                  <a:tcPr/>
                </a:tc>
                <a:tc>
                  <a:txBody>
                    <a:bodyPr/>
                    <a:lstStyle/>
                    <a:p>
                      <a:pPr algn="ctr"/>
                      <a:r>
                        <a:rPr lang="de-DE" dirty="0" smtClean="0"/>
                        <a:t>85.4</a:t>
                      </a:r>
                      <a:endParaRPr lang="de-DE" dirty="0"/>
                    </a:p>
                  </a:txBody>
                  <a:tcPr/>
                </a:tc>
                <a:tc>
                  <a:txBody>
                    <a:bodyPr/>
                    <a:lstStyle/>
                    <a:p>
                      <a:pPr algn="ctr"/>
                      <a:r>
                        <a:rPr lang="de-DE" dirty="0" smtClean="0"/>
                        <a:t>74.9</a:t>
                      </a:r>
                      <a:endParaRPr lang="de-DE" dirty="0"/>
                    </a:p>
                  </a:txBody>
                  <a:tcPr/>
                </a:tc>
              </a:tr>
              <a:tr h="370840">
                <a:tc>
                  <a:txBody>
                    <a:bodyPr/>
                    <a:lstStyle/>
                    <a:p>
                      <a:pPr algn="ctr"/>
                      <a:r>
                        <a:rPr lang="de-DE" dirty="0" smtClean="0"/>
                        <a:t>5</a:t>
                      </a:r>
                      <a:endParaRPr lang="de-DE" dirty="0"/>
                    </a:p>
                  </a:txBody>
                  <a:tcPr/>
                </a:tc>
                <a:tc>
                  <a:txBody>
                    <a:bodyPr/>
                    <a:lstStyle/>
                    <a:p>
                      <a:pPr algn="ctr"/>
                      <a:r>
                        <a:rPr lang="de-DE" dirty="0" smtClean="0"/>
                        <a:t>84.5</a:t>
                      </a:r>
                      <a:endParaRPr lang="de-DE" dirty="0"/>
                    </a:p>
                  </a:txBody>
                  <a:tcPr/>
                </a:tc>
                <a:tc>
                  <a:txBody>
                    <a:bodyPr/>
                    <a:lstStyle/>
                    <a:p>
                      <a:pPr algn="ctr"/>
                      <a:r>
                        <a:rPr lang="de-DE" dirty="0" smtClean="0"/>
                        <a:t>86.5</a:t>
                      </a:r>
                      <a:endParaRPr lang="de-DE" dirty="0"/>
                    </a:p>
                  </a:txBody>
                  <a:tcPr/>
                </a:tc>
                <a:tc>
                  <a:txBody>
                    <a:bodyPr/>
                    <a:lstStyle/>
                    <a:p>
                      <a:pPr algn="ctr"/>
                      <a:r>
                        <a:rPr lang="de-DE" dirty="0" smtClean="0"/>
                        <a:t>83.7</a:t>
                      </a:r>
                      <a:endParaRPr lang="de-DE" dirty="0"/>
                    </a:p>
                  </a:txBody>
                  <a:tcPr/>
                </a:tc>
                <a:tc>
                  <a:txBody>
                    <a:bodyPr/>
                    <a:lstStyle/>
                    <a:p>
                      <a:pPr algn="ctr"/>
                      <a:r>
                        <a:rPr lang="de-DE" dirty="0" smtClean="0"/>
                        <a:t>73.2</a:t>
                      </a:r>
                      <a:endParaRPr lang="de-DE" dirty="0"/>
                    </a:p>
                  </a:txBody>
                  <a:tcPr/>
                </a:tc>
              </a:tr>
              <a:tr h="370840">
                <a:tc>
                  <a:txBody>
                    <a:bodyPr/>
                    <a:lstStyle/>
                    <a:p>
                      <a:pPr algn="ctr"/>
                      <a:r>
                        <a:rPr lang="de-DE" dirty="0" err="1" smtClean="0"/>
                        <a:t>runtime</a:t>
                      </a:r>
                      <a:r>
                        <a:rPr lang="de-DE" dirty="0" smtClean="0"/>
                        <a:t> (h)</a:t>
                      </a:r>
                      <a:endParaRPr lang="de-DE" dirty="0"/>
                    </a:p>
                  </a:txBody>
                  <a:tcPr/>
                </a:tc>
                <a:tc>
                  <a:txBody>
                    <a:bodyPr/>
                    <a:lstStyle/>
                    <a:p>
                      <a:pPr algn="ctr"/>
                      <a:r>
                        <a:rPr lang="de-DE" dirty="0" smtClean="0"/>
                        <a:t>0.785</a:t>
                      </a:r>
                      <a:endParaRPr lang="de-DE" dirty="0"/>
                    </a:p>
                  </a:txBody>
                  <a:tcPr/>
                </a:tc>
                <a:tc>
                  <a:txBody>
                    <a:bodyPr/>
                    <a:lstStyle/>
                    <a:p>
                      <a:pPr algn="ctr"/>
                      <a:r>
                        <a:rPr lang="de-DE" dirty="0" smtClean="0"/>
                        <a:t>0.470</a:t>
                      </a:r>
                      <a:endParaRPr lang="de-DE" dirty="0"/>
                    </a:p>
                  </a:txBody>
                  <a:tcPr/>
                </a:tc>
                <a:tc>
                  <a:txBody>
                    <a:bodyPr/>
                    <a:lstStyle/>
                    <a:p>
                      <a:pPr algn="ctr"/>
                      <a:r>
                        <a:rPr lang="de-DE" dirty="0" smtClean="0"/>
                        <a:t>0.472</a:t>
                      </a:r>
                      <a:endParaRPr lang="de-DE" dirty="0"/>
                    </a:p>
                  </a:txBody>
                  <a:tcPr/>
                </a:tc>
                <a:tc>
                  <a:txBody>
                    <a:bodyPr/>
                    <a:lstStyle/>
                    <a:p>
                      <a:pPr algn="ctr"/>
                      <a:r>
                        <a:rPr lang="de-DE" dirty="0" smtClean="0"/>
                        <a:t>11.53</a:t>
                      </a:r>
                      <a:endParaRPr lang="de-DE" dirty="0"/>
                    </a:p>
                  </a:txBody>
                  <a:tcPr/>
                </a:tc>
              </a:tr>
            </a:tbl>
          </a:graphicData>
        </a:graphic>
      </p:graphicFrame>
      <p:sp>
        <p:nvSpPr>
          <p:cNvPr id="10" name="Inhaltsplatzhalter 2"/>
          <p:cNvSpPr txBox="1">
            <a:spLocks/>
          </p:cNvSpPr>
          <p:nvPr/>
        </p:nvSpPr>
        <p:spPr>
          <a:xfrm>
            <a:off x="457200" y="1336376"/>
            <a:ext cx="8229600" cy="4911741"/>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
              <a:tabLst/>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rPr>
              <a:t>bin-by-bin measures:</a:t>
            </a: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
              <a:tabLst/>
              <a:defRPr/>
            </a:pPr>
            <a:endParaRPr kumimoji="0" lang="en-US"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
              <a:tabLst/>
              <a:defRPr/>
            </a:pPr>
            <a:endParaRPr kumimoji="0" lang="en-US"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
              <a:tabLst/>
              <a:defRPr/>
            </a:pPr>
            <a:endParaRPr lang="en-US" sz="2000" dirty="0" smtClean="0">
              <a:latin typeface="+mn-lt"/>
              <a:cs typeface="+mn-cs"/>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
              <a:tabLst/>
              <a:defRPr/>
            </a:pPr>
            <a:endParaRPr kumimoji="0" lang="en-US"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
              <a:tabLst/>
              <a:defRPr/>
            </a:pPr>
            <a:endParaRPr lang="en-US" sz="2000" dirty="0" smtClean="0">
              <a:latin typeface="+mn-lt"/>
              <a:cs typeface="+mn-cs"/>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
              <a:tabLst/>
              <a:defRPr/>
            </a:pPr>
            <a:endParaRPr kumimoji="0" lang="en-US"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
              <a:tabLst/>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rPr>
              <a:t>cross-bin measures:</a:t>
            </a:r>
          </a:p>
        </p:txBody>
      </p:sp>
      <p:sp>
        <p:nvSpPr>
          <p:cNvPr id="3" name="Textfeld 2"/>
          <p:cNvSpPr txBox="1"/>
          <p:nvPr/>
        </p:nvSpPr>
        <p:spPr>
          <a:xfrm>
            <a:off x="539552" y="6341258"/>
            <a:ext cx="7987892" cy="400110"/>
          </a:xfrm>
          <a:prstGeom prst="rect">
            <a:avLst/>
          </a:prstGeom>
          <a:noFill/>
        </p:spPr>
        <p:txBody>
          <a:bodyPr wrap="none" rtlCol="0">
            <a:spAutoFit/>
          </a:bodyPr>
          <a:lstStyle/>
          <a:p>
            <a:r>
              <a:rPr lang="de-DE" sz="2000" dirty="0" smtClean="0">
                <a:latin typeface="+mn-lt"/>
              </a:rPr>
              <a:t>Best </a:t>
            </a:r>
            <a:r>
              <a:rPr lang="de-DE" sz="2000" dirty="0" err="1" smtClean="0">
                <a:latin typeface="+mn-lt"/>
              </a:rPr>
              <a:t>result</a:t>
            </a:r>
            <a:r>
              <a:rPr lang="de-DE" sz="2000" dirty="0" smtClean="0">
                <a:latin typeface="+mn-lt"/>
              </a:rPr>
              <a:t> so </a:t>
            </a:r>
            <a:r>
              <a:rPr lang="de-DE" sz="2000" dirty="0" err="1" smtClean="0">
                <a:latin typeface="+mn-lt"/>
              </a:rPr>
              <a:t>far</a:t>
            </a:r>
            <a:r>
              <a:rPr lang="de-DE" sz="2000" dirty="0" smtClean="0">
                <a:latin typeface="+mn-lt"/>
              </a:rPr>
              <a:t> (</a:t>
            </a:r>
            <a:r>
              <a:rPr lang="de-DE" sz="2000" dirty="0" err="1" smtClean="0">
                <a:latin typeface="+mn-lt"/>
              </a:rPr>
              <a:t>geometric</a:t>
            </a:r>
            <a:r>
              <a:rPr lang="de-DE" sz="2000" dirty="0" smtClean="0">
                <a:latin typeface="+mn-lt"/>
              </a:rPr>
              <a:t> </a:t>
            </a:r>
            <a:r>
              <a:rPr lang="de-DE" sz="2000" dirty="0" err="1" smtClean="0">
                <a:latin typeface="+mn-lt"/>
              </a:rPr>
              <a:t>approach</a:t>
            </a:r>
            <a:r>
              <a:rPr lang="de-DE" sz="2000" dirty="0" smtClean="0">
                <a:latin typeface="+mn-lt"/>
              </a:rPr>
              <a:t>):  93.5 % </a:t>
            </a:r>
            <a:r>
              <a:rPr lang="de-DE" sz="2000" dirty="0" err="1" smtClean="0">
                <a:latin typeface="+mn-lt"/>
              </a:rPr>
              <a:t>accuracy</a:t>
            </a:r>
            <a:r>
              <a:rPr lang="de-DE" sz="2000" dirty="0" smtClean="0">
                <a:latin typeface="+mn-lt"/>
              </a:rPr>
              <a:t>, 361.58 h </a:t>
            </a:r>
            <a:r>
              <a:rPr lang="de-DE" sz="2000" dirty="0" err="1" smtClean="0">
                <a:latin typeface="+mn-lt"/>
              </a:rPr>
              <a:t>runtime</a:t>
            </a:r>
            <a:endParaRPr lang="en-US" sz="2000" dirty="0" err="1" smtClean="0">
              <a:latin typeface="+mn-lt"/>
            </a:endParaRPr>
          </a:p>
        </p:txBody>
      </p:sp>
    </p:spTree>
    <p:extLst>
      <p:ext uri="{BB962C8B-B14F-4D97-AF65-F5344CB8AC3E}">
        <p14:creationId xmlns="" xmlns:p14="http://schemas.microsoft.com/office/powerpoint/2010/main" val="1925531079"/>
      </p:ext>
    </p:extLst>
  </p:cSld>
  <p:clrMapOvr>
    <a:masterClrMapping/>
  </p:clrMapOvr>
  <p:transition>
    <p:cu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Autofit/>
          </a:bodyPr>
          <a:lstStyle/>
          <a:p>
            <a:r>
              <a:rPr lang="de-DE" altLang="zh-TW" sz="3600" dirty="0" err="1" smtClean="0"/>
              <a:t>Histogram</a:t>
            </a:r>
            <a:r>
              <a:rPr lang="de-DE" altLang="zh-TW" sz="3600" dirty="0" smtClean="0"/>
              <a:t> </a:t>
            </a:r>
            <a:r>
              <a:rPr lang="de-DE" altLang="zh-TW" sz="3600" dirty="0" err="1" smtClean="0"/>
              <a:t>comparison</a:t>
            </a:r>
            <a:r>
              <a:rPr lang="de-DE" altLang="zh-TW" sz="3600" dirty="0" smtClean="0"/>
              <a:t> </a:t>
            </a:r>
            <a:r>
              <a:rPr lang="de-DE" altLang="zh-TW" sz="3600" dirty="0" err="1" smtClean="0"/>
              <a:t>can</a:t>
            </a:r>
            <a:r>
              <a:rPr lang="de-DE" altLang="zh-TW" sz="3600" dirty="0" smtClean="0"/>
              <a:t> </a:t>
            </a:r>
            <a:r>
              <a:rPr lang="de-DE" altLang="zh-TW" sz="3600" dirty="0" err="1" smtClean="0"/>
              <a:t>retrieve</a:t>
            </a:r>
            <a:r>
              <a:rPr lang="de-DE" altLang="zh-TW" sz="3600" dirty="0" smtClean="0"/>
              <a:t> </a:t>
            </a:r>
            <a:r>
              <a:rPr lang="de-DE" altLang="zh-TW" sz="3600" dirty="0" err="1" smtClean="0"/>
              <a:t>similar</a:t>
            </a:r>
            <a:r>
              <a:rPr lang="de-DE" altLang="zh-TW" sz="3600" dirty="0" smtClean="0"/>
              <a:t> </a:t>
            </a:r>
            <a:r>
              <a:rPr lang="de-DE" altLang="zh-TW" sz="3600" dirty="0" err="1" smtClean="0"/>
              <a:t>binding</a:t>
            </a:r>
            <a:r>
              <a:rPr lang="de-DE" altLang="zh-TW" sz="3600" dirty="0" smtClean="0"/>
              <a:t> </a:t>
            </a:r>
            <a:r>
              <a:rPr lang="de-DE" altLang="zh-TW" sz="3600" dirty="0" err="1" smtClean="0"/>
              <a:t>sites</a:t>
            </a:r>
            <a:r>
              <a:rPr lang="de-DE" altLang="zh-TW" sz="3600" dirty="0" smtClean="0"/>
              <a:t> </a:t>
            </a:r>
            <a:r>
              <a:rPr lang="de-DE" altLang="zh-TW" sz="3600" dirty="0" err="1" smtClean="0"/>
              <a:t>from</a:t>
            </a:r>
            <a:r>
              <a:rPr lang="de-DE" altLang="zh-TW" sz="3600" dirty="0" smtClean="0"/>
              <a:t> </a:t>
            </a:r>
            <a:r>
              <a:rPr lang="de-DE" altLang="zh-TW" sz="3600" dirty="0" err="1" smtClean="0"/>
              <a:t>database</a:t>
            </a:r>
            <a:r>
              <a:rPr lang="de-DE" altLang="zh-TW" sz="3600" dirty="0" smtClean="0"/>
              <a:t> </a:t>
            </a:r>
            <a:r>
              <a:rPr lang="de-DE" altLang="zh-TW" sz="3600" dirty="0" err="1" smtClean="0"/>
              <a:t>searches</a:t>
            </a:r>
            <a:endParaRPr lang="de-DE" altLang="zh-TW" sz="3600" dirty="0"/>
          </a:p>
        </p:txBody>
      </p:sp>
      <p:sp>
        <p:nvSpPr>
          <p:cNvPr id="3" name="Inhaltsplatzhalter 2"/>
          <p:cNvSpPr>
            <a:spLocks noGrp="1"/>
          </p:cNvSpPr>
          <p:nvPr>
            <p:ph idx="1"/>
          </p:nvPr>
        </p:nvSpPr>
        <p:spPr/>
        <p:txBody>
          <a:bodyPr>
            <a:normAutofit/>
          </a:bodyPr>
          <a:lstStyle/>
          <a:p>
            <a:r>
              <a:rPr lang="en-US" sz="2000" dirty="0" smtClean="0"/>
              <a:t>query structure: main pocket of acetylcholinesterase (pdb-code: 2ACK)</a:t>
            </a:r>
          </a:p>
          <a:p>
            <a:r>
              <a:rPr lang="en-US" sz="2000" dirty="0" smtClean="0"/>
              <a:t>distance metric: match distance (</a:t>
            </a:r>
            <a:r>
              <a:rPr lang="el-GR" sz="2000" dirty="0" smtClean="0"/>
              <a:t>δ</a:t>
            </a:r>
            <a:r>
              <a:rPr lang="en-US" sz="2000" baseline="-25000" dirty="0" smtClean="0"/>
              <a:t>M</a:t>
            </a:r>
            <a:r>
              <a:rPr lang="en-US" sz="2000" dirty="0" smtClean="0"/>
              <a:t>)</a:t>
            </a:r>
          </a:p>
          <a:p>
            <a:r>
              <a:rPr lang="en-US" sz="2000" dirty="0" smtClean="0"/>
              <a:t>first false positive on rank 98</a:t>
            </a:r>
          </a:p>
        </p:txBody>
      </p:sp>
      <p:sp>
        <p:nvSpPr>
          <p:cNvPr id="4" name="Foliennummernplatzhalter 3"/>
          <p:cNvSpPr>
            <a:spLocks noGrp="1"/>
          </p:cNvSpPr>
          <p:nvPr>
            <p:ph type="sldNum" sz="quarter" idx="12"/>
          </p:nvPr>
        </p:nvSpPr>
        <p:spPr/>
        <p:txBody>
          <a:bodyPr/>
          <a:lstStyle/>
          <a:p>
            <a:fld id="{3722AAB7-8C13-4FEF-BF4B-87394EDC6C8B}" type="slidenum">
              <a:rPr lang="de-DE" smtClean="0"/>
              <a:pPr/>
              <a:t>11</a:t>
            </a:fld>
            <a:endParaRPr lang="de-DE" dirty="0"/>
          </a:p>
        </p:txBody>
      </p:sp>
      <p:graphicFrame>
        <p:nvGraphicFramePr>
          <p:cNvPr id="5" name="Table 4"/>
          <p:cNvGraphicFramePr>
            <a:graphicFrameLocks noGrp="1"/>
          </p:cNvGraphicFramePr>
          <p:nvPr/>
        </p:nvGraphicFramePr>
        <p:xfrm>
          <a:off x="683568" y="2903123"/>
          <a:ext cx="7776863" cy="3838245"/>
        </p:xfrm>
        <a:graphic>
          <a:graphicData uri="http://schemas.openxmlformats.org/drawingml/2006/table">
            <a:tbl>
              <a:tblPr firstRow="1" bandRow="1">
                <a:tableStyleId>{F5AB1C69-6EDB-4FF4-983F-18BD219EF322}</a:tableStyleId>
              </a:tblPr>
              <a:tblGrid>
                <a:gridCol w="985452"/>
                <a:gridCol w="1761497"/>
                <a:gridCol w="1761497"/>
                <a:gridCol w="3268417"/>
              </a:tblGrid>
              <a:tr h="255883">
                <a:tc>
                  <a:txBody>
                    <a:bodyPr/>
                    <a:lstStyle/>
                    <a:p>
                      <a:pPr algn="ctr" fontAlgn="b"/>
                      <a:r>
                        <a:rPr lang="de-DE" sz="1400" u="none" strike="noStrike" dirty="0"/>
                        <a:t>rank</a:t>
                      </a:r>
                      <a:endParaRPr lang="de-DE" sz="1400" b="0" i="0" u="none" strike="noStrike" dirty="0">
                        <a:solidFill>
                          <a:srgbClr val="000000"/>
                        </a:solidFill>
                        <a:latin typeface="Calibri"/>
                      </a:endParaRPr>
                    </a:p>
                  </a:txBody>
                  <a:tcPr marL="9525" marR="9525" marT="9525" marB="0" anchor="b"/>
                </a:tc>
                <a:tc>
                  <a:txBody>
                    <a:bodyPr/>
                    <a:lstStyle/>
                    <a:p>
                      <a:pPr algn="ctr" fontAlgn="b"/>
                      <a:r>
                        <a:rPr lang="de-DE" sz="1400" u="none" strike="noStrike" dirty="0" err="1"/>
                        <a:t>id</a:t>
                      </a:r>
                      <a:endParaRPr lang="de-DE" sz="1400" b="0" i="0" u="none" strike="noStrike" dirty="0">
                        <a:solidFill>
                          <a:srgbClr val="000000"/>
                        </a:solidFill>
                        <a:latin typeface="Calibri"/>
                      </a:endParaRPr>
                    </a:p>
                  </a:txBody>
                  <a:tcPr marL="9525" marR="9525" marT="9525" marB="0" anchor="b"/>
                </a:tc>
                <a:tc>
                  <a:txBody>
                    <a:bodyPr/>
                    <a:lstStyle/>
                    <a:p>
                      <a:pPr algn="ctr" fontAlgn="b"/>
                      <a:r>
                        <a:rPr lang="de-DE" sz="1400" u="none" strike="noStrike"/>
                        <a:t>distance</a:t>
                      </a:r>
                      <a:endParaRPr lang="de-DE" sz="1400" b="0" i="0" u="none" strike="noStrike">
                        <a:solidFill>
                          <a:srgbClr val="000000"/>
                        </a:solidFill>
                        <a:latin typeface="Calibri"/>
                      </a:endParaRPr>
                    </a:p>
                  </a:txBody>
                  <a:tcPr marL="9525" marR="9525" marT="9525" marB="0" anchor="b"/>
                </a:tc>
                <a:tc>
                  <a:txBody>
                    <a:bodyPr/>
                    <a:lstStyle/>
                    <a:p>
                      <a:pPr algn="ctr" fontAlgn="b"/>
                      <a:r>
                        <a:rPr lang="de-DE" sz="1400" u="none" strike="noStrike" dirty="0" err="1" smtClean="0"/>
                        <a:t>function</a:t>
                      </a:r>
                      <a:endParaRPr lang="de-DE" sz="1400" b="0" i="0" u="none" strike="noStrike" dirty="0">
                        <a:solidFill>
                          <a:srgbClr val="000000"/>
                        </a:solidFill>
                        <a:latin typeface="Calibri"/>
                      </a:endParaRPr>
                    </a:p>
                  </a:txBody>
                  <a:tcPr marL="9525" marR="9525" marT="9525" marB="0" anchor="b"/>
                </a:tc>
              </a:tr>
              <a:tr h="255883">
                <a:tc>
                  <a:txBody>
                    <a:bodyPr/>
                    <a:lstStyle/>
                    <a:p>
                      <a:pPr algn="ctr" fontAlgn="b"/>
                      <a:r>
                        <a:rPr lang="de-DE" sz="1400" u="none" strike="noStrike"/>
                        <a:t>1</a:t>
                      </a:r>
                      <a:endParaRPr lang="de-DE" sz="1400" b="0" i="0" u="none" strike="noStrike">
                        <a:solidFill>
                          <a:srgbClr val="000000"/>
                        </a:solidFill>
                        <a:latin typeface="Calibri"/>
                      </a:endParaRPr>
                    </a:p>
                  </a:txBody>
                  <a:tcPr marL="9525" marR="9525" marT="9525" marB="0" anchor="b"/>
                </a:tc>
                <a:tc>
                  <a:txBody>
                    <a:bodyPr/>
                    <a:lstStyle/>
                    <a:p>
                      <a:pPr algn="ctr" fontAlgn="b"/>
                      <a:r>
                        <a:rPr lang="de-DE" sz="1400" u="none" strike="noStrike"/>
                        <a:t>'2ACK'</a:t>
                      </a:r>
                      <a:endParaRPr lang="de-DE" sz="1400" b="0" i="0" u="none" strike="noStrike">
                        <a:solidFill>
                          <a:srgbClr val="000000"/>
                        </a:solidFill>
                        <a:latin typeface="Calibri"/>
                      </a:endParaRPr>
                    </a:p>
                  </a:txBody>
                  <a:tcPr marL="9525" marR="9525" marT="9525" marB="0" anchor="b"/>
                </a:tc>
                <a:tc>
                  <a:txBody>
                    <a:bodyPr/>
                    <a:lstStyle/>
                    <a:p>
                      <a:pPr algn="ctr" fontAlgn="b"/>
                      <a:r>
                        <a:rPr lang="de-DE" sz="1400" u="none" strike="noStrike" dirty="0"/>
                        <a:t>0</a:t>
                      </a:r>
                      <a:endParaRPr lang="de-DE" sz="1400" b="0" i="0" u="none" strike="noStrike" dirty="0">
                        <a:solidFill>
                          <a:srgbClr val="000000"/>
                        </a:solidFill>
                        <a:latin typeface="Calibri"/>
                      </a:endParaRPr>
                    </a:p>
                  </a:txBody>
                  <a:tcPr marL="9525" marR="9525" marT="9525" marB="0" anchor="b"/>
                </a:tc>
                <a:tc>
                  <a:txBody>
                    <a:bodyPr/>
                    <a:lstStyle/>
                    <a:p>
                      <a:pPr algn="ctr" fontAlgn="b"/>
                      <a:r>
                        <a:rPr lang="de-DE" sz="1400" u="none" strike="noStrike"/>
                        <a:t>Acetylcholinesterase (AChE)</a:t>
                      </a:r>
                      <a:endParaRPr lang="de-DE" sz="1400" b="0" i="0" u="none" strike="noStrike">
                        <a:solidFill>
                          <a:srgbClr val="000000"/>
                        </a:solidFill>
                        <a:latin typeface="Calibri"/>
                      </a:endParaRPr>
                    </a:p>
                  </a:txBody>
                  <a:tcPr marL="9525" marR="9525" marT="9525" marB="0" anchor="b"/>
                </a:tc>
              </a:tr>
              <a:tr h="255883">
                <a:tc>
                  <a:txBody>
                    <a:bodyPr/>
                    <a:lstStyle/>
                    <a:p>
                      <a:pPr algn="ctr" fontAlgn="b"/>
                      <a:r>
                        <a:rPr lang="de-DE" sz="1400" u="none" strike="noStrike"/>
                        <a:t>2</a:t>
                      </a:r>
                      <a:endParaRPr lang="de-DE" sz="1400" b="0" i="0" u="none" strike="noStrike">
                        <a:solidFill>
                          <a:srgbClr val="000000"/>
                        </a:solidFill>
                        <a:latin typeface="Calibri"/>
                      </a:endParaRPr>
                    </a:p>
                  </a:txBody>
                  <a:tcPr marL="9525" marR="9525" marT="9525" marB="0" anchor="b"/>
                </a:tc>
                <a:tc>
                  <a:txBody>
                    <a:bodyPr/>
                    <a:lstStyle/>
                    <a:p>
                      <a:pPr algn="ctr" fontAlgn="b"/>
                      <a:r>
                        <a:rPr lang="de-DE" sz="1400" u="none" strike="noStrike"/>
                        <a:t>'1AX9'</a:t>
                      </a:r>
                      <a:endParaRPr lang="de-DE" sz="1400" b="0" i="0" u="none" strike="noStrike">
                        <a:solidFill>
                          <a:srgbClr val="000000"/>
                        </a:solidFill>
                        <a:latin typeface="Calibri"/>
                      </a:endParaRPr>
                    </a:p>
                  </a:txBody>
                  <a:tcPr marL="9525" marR="9525" marT="9525" marB="0" anchor="b"/>
                </a:tc>
                <a:tc>
                  <a:txBody>
                    <a:bodyPr/>
                    <a:lstStyle/>
                    <a:p>
                      <a:pPr algn="ctr" fontAlgn="b"/>
                      <a:r>
                        <a:rPr lang="de-DE" sz="1400" u="none" strike="noStrike"/>
                        <a:t>0,179581271</a:t>
                      </a:r>
                      <a:endParaRPr lang="de-DE" sz="1400" b="0" i="0" u="none" strike="noStrike">
                        <a:solidFill>
                          <a:srgbClr val="000000"/>
                        </a:solidFill>
                        <a:latin typeface="Calibri"/>
                      </a:endParaRPr>
                    </a:p>
                  </a:txBody>
                  <a:tcPr marL="9525" marR="9525" marT="9525" marB="0" anchor="b"/>
                </a:tc>
                <a:tc>
                  <a:txBody>
                    <a:bodyPr/>
                    <a:lstStyle/>
                    <a:p>
                      <a:pPr algn="ctr" fontAlgn="b"/>
                      <a:r>
                        <a:rPr lang="de-DE" sz="1400" u="none" strike="noStrike"/>
                        <a:t>Acetylcholinesterase (AChE)</a:t>
                      </a:r>
                      <a:endParaRPr lang="de-DE" sz="1400" b="0" i="0" u="none" strike="noStrike">
                        <a:solidFill>
                          <a:srgbClr val="000000"/>
                        </a:solidFill>
                        <a:latin typeface="Calibri"/>
                      </a:endParaRPr>
                    </a:p>
                  </a:txBody>
                  <a:tcPr marL="9525" marR="9525" marT="9525" marB="0" anchor="b"/>
                </a:tc>
              </a:tr>
              <a:tr h="255883">
                <a:tc>
                  <a:txBody>
                    <a:bodyPr/>
                    <a:lstStyle/>
                    <a:p>
                      <a:pPr algn="ctr" fontAlgn="b"/>
                      <a:r>
                        <a:rPr lang="de-DE" sz="1400" u="none" strike="noStrike"/>
                        <a:t>3</a:t>
                      </a:r>
                      <a:endParaRPr lang="de-DE" sz="1400" b="0" i="0" u="none" strike="noStrike">
                        <a:solidFill>
                          <a:srgbClr val="000000"/>
                        </a:solidFill>
                        <a:latin typeface="Calibri"/>
                      </a:endParaRPr>
                    </a:p>
                  </a:txBody>
                  <a:tcPr marL="9525" marR="9525" marT="9525" marB="0" anchor="b"/>
                </a:tc>
                <a:tc>
                  <a:txBody>
                    <a:bodyPr/>
                    <a:lstStyle/>
                    <a:p>
                      <a:pPr algn="ctr" fontAlgn="b"/>
                      <a:r>
                        <a:rPr lang="de-DE" sz="1400" u="none" strike="noStrike"/>
                        <a:t>'1GQS'</a:t>
                      </a:r>
                      <a:endParaRPr lang="de-DE" sz="1400" b="0" i="0" u="none" strike="noStrike">
                        <a:solidFill>
                          <a:srgbClr val="000000"/>
                        </a:solidFill>
                        <a:latin typeface="Calibri"/>
                      </a:endParaRPr>
                    </a:p>
                  </a:txBody>
                  <a:tcPr marL="9525" marR="9525" marT="9525" marB="0" anchor="b"/>
                </a:tc>
                <a:tc>
                  <a:txBody>
                    <a:bodyPr/>
                    <a:lstStyle/>
                    <a:p>
                      <a:pPr algn="ctr" fontAlgn="b"/>
                      <a:r>
                        <a:rPr lang="de-DE" sz="1400" u="none" strike="noStrike"/>
                        <a:t>0,203090689</a:t>
                      </a:r>
                      <a:endParaRPr lang="de-DE" sz="1400" b="0" i="0" u="none" strike="noStrike">
                        <a:solidFill>
                          <a:srgbClr val="000000"/>
                        </a:solidFill>
                        <a:latin typeface="Calibri"/>
                      </a:endParaRPr>
                    </a:p>
                  </a:txBody>
                  <a:tcPr marL="9525" marR="9525" marT="9525" marB="0" anchor="b"/>
                </a:tc>
                <a:tc>
                  <a:txBody>
                    <a:bodyPr/>
                    <a:lstStyle/>
                    <a:p>
                      <a:pPr algn="ctr" fontAlgn="b"/>
                      <a:r>
                        <a:rPr lang="de-DE" sz="1400" u="none" strike="noStrike"/>
                        <a:t>Acetylcholinesterase (AChE)</a:t>
                      </a:r>
                      <a:endParaRPr lang="de-DE" sz="1400" b="0" i="0" u="none" strike="noStrike">
                        <a:solidFill>
                          <a:srgbClr val="000000"/>
                        </a:solidFill>
                        <a:latin typeface="Calibri"/>
                      </a:endParaRPr>
                    </a:p>
                  </a:txBody>
                  <a:tcPr marL="9525" marR="9525" marT="9525" marB="0" anchor="b"/>
                </a:tc>
              </a:tr>
              <a:tr h="255883">
                <a:tc>
                  <a:txBody>
                    <a:bodyPr/>
                    <a:lstStyle/>
                    <a:p>
                      <a:pPr algn="ctr" fontAlgn="b"/>
                      <a:r>
                        <a:rPr lang="de-DE" sz="1400" u="none" strike="noStrike"/>
                        <a:t>4</a:t>
                      </a:r>
                      <a:endParaRPr lang="de-DE" sz="1400" b="0" i="0" u="none" strike="noStrike">
                        <a:solidFill>
                          <a:srgbClr val="000000"/>
                        </a:solidFill>
                        <a:latin typeface="Calibri"/>
                      </a:endParaRPr>
                    </a:p>
                  </a:txBody>
                  <a:tcPr marL="9525" marR="9525" marT="9525" marB="0" anchor="b"/>
                </a:tc>
                <a:tc>
                  <a:txBody>
                    <a:bodyPr/>
                    <a:lstStyle/>
                    <a:p>
                      <a:pPr algn="ctr" fontAlgn="b"/>
                      <a:r>
                        <a:rPr lang="de-DE" sz="1400" u="none" strike="noStrike" dirty="0"/>
                        <a:t>'2C5F'</a:t>
                      </a:r>
                      <a:endParaRPr lang="de-DE" sz="1400" b="0" i="0" u="none" strike="noStrike" dirty="0">
                        <a:solidFill>
                          <a:srgbClr val="000000"/>
                        </a:solidFill>
                        <a:latin typeface="Calibri"/>
                      </a:endParaRPr>
                    </a:p>
                  </a:txBody>
                  <a:tcPr marL="9525" marR="9525" marT="9525" marB="0" anchor="b"/>
                </a:tc>
                <a:tc>
                  <a:txBody>
                    <a:bodyPr/>
                    <a:lstStyle/>
                    <a:p>
                      <a:pPr algn="ctr" fontAlgn="b"/>
                      <a:r>
                        <a:rPr lang="de-DE" sz="1400" u="none" strike="noStrike"/>
                        <a:t>0,212960305</a:t>
                      </a:r>
                      <a:endParaRPr lang="de-DE" sz="1400" b="0" i="0" u="none" strike="noStrike">
                        <a:solidFill>
                          <a:srgbClr val="000000"/>
                        </a:solidFill>
                        <a:latin typeface="Calibri"/>
                      </a:endParaRPr>
                    </a:p>
                  </a:txBody>
                  <a:tcPr marL="9525" marR="9525" marT="9525" marB="0" anchor="b"/>
                </a:tc>
                <a:tc>
                  <a:txBody>
                    <a:bodyPr/>
                    <a:lstStyle/>
                    <a:p>
                      <a:pPr algn="ctr" fontAlgn="b"/>
                      <a:r>
                        <a:rPr lang="de-DE" sz="1400" u="none" strike="noStrike"/>
                        <a:t>Acetylcholinesterase (AChE)</a:t>
                      </a:r>
                      <a:endParaRPr lang="de-DE" sz="1400" b="0" i="0" u="none" strike="noStrike">
                        <a:solidFill>
                          <a:srgbClr val="000000"/>
                        </a:solidFill>
                        <a:latin typeface="Calibri"/>
                      </a:endParaRPr>
                    </a:p>
                  </a:txBody>
                  <a:tcPr marL="9525" marR="9525" marT="9525" marB="0" anchor="b"/>
                </a:tc>
              </a:tr>
              <a:tr h="255883">
                <a:tc>
                  <a:txBody>
                    <a:bodyPr/>
                    <a:lstStyle/>
                    <a:p>
                      <a:pPr algn="ctr" fontAlgn="b"/>
                      <a:r>
                        <a:rPr lang="de-DE" sz="1400" u="none" strike="noStrike"/>
                        <a:t>5</a:t>
                      </a:r>
                      <a:endParaRPr lang="de-DE" sz="1400" b="0" i="0" u="none" strike="noStrike">
                        <a:solidFill>
                          <a:srgbClr val="000000"/>
                        </a:solidFill>
                        <a:latin typeface="Calibri"/>
                      </a:endParaRPr>
                    </a:p>
                  </a:txBody>
                  <a:tcPr marL="9525" marR="9525" marT="9525" marB="0" anchor="b"/>
                </a:tc>
                <a:tc>
                  <a:txBody>
                    <a:bodyPr/>
                    <a:lstStyle/>
                    <a:p>
                      <a:pPr algn="ctr" fontAlgn="b"/>
                      <a:r>
                        <a:rPr lang="de-DE" sz="1400" u="none" strike="noStrike" dirty="0"/>
                        <a:t>'1DX6'</a:t>
                      </a:r>
                      <a:endParaRPr lang="de-DE" sz="1400" b="0" i="0" u="none" strike="noStrike" dirty="0">
                        <a:solidFill>
                          <a:srgbClr val="000000"/>
                        </a:solidFill>
                        <a:latin typeface="Calibri"/>
                      </a:endParaRPr>
                    </a:p>
                  </a:txBody>
                  <a:tcPr marL="9525" marR="9525" marT="9525" marB="0" anchor="b"/>
                </a:tc>
                <a:tc>
                  <a:txBody>
                    <a:bodyPr/>
                    <a:lstStyle/>
                    <a:p>
                      <a:pPr algn="ctr" fontAlgn="b"/>
                      <a:r>
                        <a:rPr lang="de-DE" sz="1400" u="none" strike="noStrike"/>
                        <a:t>0,214545705</a:t>
                      </a:r>
                      <a:endParaRPr lang="de-DE" sz="1400" b="0" i="0" u="none" strike="noStrike">
                        <a:solidFill>
                          <a:srgbClr val="000000"/>
                        </a:solidFill>
                        <a:latin typeface="Calibri"/>
                      </a:endParaRPr>
                    </a:p>
                  </a:txBody>
                  <a:tcPr marL="9525" marR="9525" marT="9525" marB="0" anchor="b"/>
                </a:tc>
                <a:tc>
                  <a:txBody>
                    <a:bodyPr/>
                    <a:lstStyle/>
                    <a:p>
                      <a:pPr algn="ctr" fontAlgn="b"/>
                      <a:r>
                        <a:rPr lang="de-DE" sz="1400" u="none" strike="noStrike"/>
                        <a:t>Acetylcholinesterase (AChE)</a:t>
                      </a:r>
                      <a:endParaRPr lang="de-DE" sz="1400" b="0" i="0" u="none" strike="noStrike">
                        <a:solidFill>
                          <a:srgbClr val="000000"/>
                        </a:solidFill>
                        <a:latin typeface="Calibri"/>
                      </a:endParaRPr>
                    </a:p>
                  </a:txBody>
                  <a:tcPr marL="9525" marR="9525" marT="9525" marB="0" anchor="b"/>
                </a:tc>
              </a:tr>
              <a:tr h="255883">
                <a:tc>
                  <a:txBody>
                    <a:bodyPr/>
                    <a:lstStyle/>
                    <a:p>
                      <a:pPr algn="ctr" fontAlgn="b"/>
                      <a:r>
                        <a:rPr lang="de-DE" sz="1400" u="none" strike="noStrike"/>
                        <a:t>6</a:t>
                      </a:r>
                      <a:endParaRPr lang="de-DE" sz="1400" b="0" i="0" u="none" strike="noStrike">
                        <a:solidFill>
                          <a:srgbClr val="000000"/>
                        </a:solidFill>
                        <a:latin typeface="Calibri"/>
                      </a:endParaRPr>
                    </a:p>
                  </a:txBody>
                  <a:tcPr marL="9525" marR="9525" marT="9525" marB="0" anchor="b"/>
                </a:tc>
                <a:tc>
                  <a:txBody>
                    <a:bodyPr/>
                    <a:lstStyle/>
                    <a:p>
                      <a:pPr algn="ctr" fontAlgn="b"/>
                      <a:r>
                        <a:rPr lang="de-DE" sz="1400" u="none" strike="noStrike"/>
                        <a:t>'1H22'</a:t>
                      </a:r>
                      <a:endParaRPr lang="de-DE" sz="1400" b="0" i="0" u="none" strike="noStrike">
                        <a:solidFill>
                          <a:srgbClr val="000000"/>
                        </a:solidFill>
                        <a:latin typeface="Calibri"/>
                      </a:endParaRPr>
                    </a:p>
                  </a:txBody>
                  <a:tcPr marL="9525" marR="9525" marT="9525" marB="0" anchor="b"/>
                </a:tc>
                <a:tc>
                  <a:txBody>
                    <a:bodyPr/>
                    <a:lstStyle/>
                    <a:p>
                      <a:pPr algn="ctr" fontAlgn="b"/>
                      <a:r>
                        <a:rPr lang="de-DE" sz="1400" u="none" strike="noStrike" dirty="0"/>
                        <a:t>0,216633938</a:t>
                      </a:r>
                      <a:endParaRPr lang="de-DE" sz="1400" b="0" i="0" u="none" strike="noStrike" dirty="0">
                        <a:solidFill>
                          <a:srgbClr val="000000"/>
                        </a:solidFill>
                        <a:latin typeface="Calibri"/>
                      </a:endParaRPr>
                    </a:p>
                  </a:txBody>
                  <a:tcPr marL="9525" marR="9525" marT="9525" marB="0" anchor="b"/>
                </a:tc>
                <a:tc>
                  <a:txBody>
                    <a:bodyPr/>
                    <a:lstStyle/>
                    <a:p>
                      <a:pPr algn="ctr" fontAlgn="b"/>
                      <a:r>
                        <a:rPr lang="de-DE" sz="1400" u="none" strike="noStrike"/>
                        <a:t>Acetylcholinesterase (AChE)</a:t>
                      </a:r>
                      <a:endParaRPr lang="de-DE" sz="1400" b="0" i="0" u="none" strike="noStrike">
                        <a:solidFill>
                          <a:srgbClr val="000000"/>
                        </a:solidFill>
                        <a:latin typeface="Calibri"/>
                      </a:endParaRPr>
                    </a:p>
                  </a:txBody>
                  <a:tcPr marL="9525" marR="9525" marT="9525" marB="0" anchor="b"/>
                </a:tc>
              </a:tr>
              <a:tr h="255883">
                <a:tc>
                  <a:txBody>
                    <a:bodyPr/>
                    <a:lstStyle/>
                    <a:p>
                      <a:pPr algn="ctr" fontAlgn="b"/>
                      <a:r>
                        <a:rPr lang="de-DE" sz="1400" u="none" strike="noStrike"/>
                        <a:t>7</a:t>
                      </a:r>
                      <a:endParaRPr lang="de-DE" sz="1400" b="0" i="0" u="none" strike="noStrike">
                        <a:solidFill>
                          <a:srgbClr val="000000"/>
                        </a:solidFill>
                        <a:latin typeface="Calibri"/>
                      </a:endParaRPr>
                    </a:p>
                  </a:txBody>
                  <a:tcPr marL="9525" marR="9525" marT="9525" marB="0" anchor="b"/>
                </a:tc>
                <a:tc>
                  <a:txBody>
                    <a:bodyPr/>
                    <a:lstStyle/>
                    <a:p>
                      <a:pPr algn="ctr" fontAlgn="b"/>
                      <a:r>
                        <a:rPr lang="de-DE" sz="1400" u="none" strike="noStrike"/>
                        <a:t>'2vt7'</a:t>
                      </a:r>
                      <a:endParaRPr lang="de-DE" sz="1400" b="0" i="0" u="none" strike="noStrike">
                        <a:solidFill>
                          <a:srgbClr val="000000"/>
                        </a:solidFill>
                        <a:latin typeface="Calibri"/>
                      </a:endParaRPr>
                    </a:p>
                  </a:txBody>
                  <a:tcPr marL="9525" marR="9525" marT="9525" marB="0" anchor="b"/>
                </a:tc>
                <a:tc>
                  <a:txBody>
                    <a:bodyPr/>
                    <a:lstStyle/>
                    <a:p>
                      <a:pPr algn="ctr" fontAlgn="b"/>
                      <a:r>
                        <a:rPr lang="de-DE" sz="1400" u="none" strike="noStrike"/>
                        <a:t>0,217438742</a:t>
                      </a:r>
                      <a:endParaRPr lang="de-DE" sz="1400" b="0" i="0" u="none" strike="noStrike">
                        <a:solidFill>
                          <a:srgbClr val="000000"/>
                        </a:solidFill>
                        <a:latin typeface="Calibri"/>
                      </a:endParaRPr>
                    </a:p>
                  </a:txBody>
                  <a:tcPr marL="9525" marR="9525" marT="9525" marB="0" anchor="b"/>
                </a:tc>
                <a:tc>
                  <a:txBody>
                    <a:bodyPr/>
                    <a:lstStyle/>
                    <a:p>
                      <a:pPr algn="ctr" fontAlgn="b"/>
                      <a:r>
                        <a:rPr lang="de-DE" sz="1400" u="none" strike="noStrike"/>
                        <a:t>Acetylcholinesterase (AChE)</a:t>
                      </a:r>
                      <a:endParaRPr lang="de-DE" sz="1400" b="0" i="0" u="none" strike="noStrike">
                        <a:solidFill>
                          <a:srgbClr val="000000"/>
                        </a:solidFill>
                        <a:latin typeface="Calibri"/>
                      </a:endParaRPr>
                    </a:p>
                  </a:txBody>
                  <a:tcPr marL="9525" marR="9525" marT="9525" marB="0" anchor="b"/>
                </a:tc>
              </a:tr>
              <a:tr h="255883">
                <a:tc>
                  <a:txBody>
                    <a:bodyPr/>
                    <a:lstStyle/>
                    <a:p>
                      <a:pPr algn="ctr" fontAlgn="b"/>
                      <a:r>
                        <a:rPr lang="de-DE" sz="1400" u="none" strike="noStrike"/>
                        <a:t>…</a:t>
                      </a:r>
                      <a:endParaRPr lang="de-DE" sz="1400" b="0" i="0" u="none" strike="noStrike">
                        <a:solidFill>
                          <a:srgbClr val="000000"/>
                        </a:solidFill>
                        <a:latin typeface="Calibri"/>
                      </a:endParaRPr>
                    </a:p>
                  </a:txBody>
                  <a:tcPr marL="9525" marR="9525" marT="9525" marB="0" anchor="b"/>
                </a:tc>
                <a:tc>
                  <a:txBody>
                    <a:bodyPr/>
                    <a:lstStyle/>
                    <a:p>
                      <a:pPr algn="ctr" fontAlgn="b"/>
                      <a:r>
                        <a:rPr lang="de-DE" sz="1400" u="none" strike="noStrike"/>
                        <a:t>…</a:t>
                      </a:r>
                      <a:endParaRPr lang="de-DE" sz="1400" b="0" i="0" u="none" strike="noStrike">
                        <a:solidFill>
                          <a:srgbClr val="000000"/>
                        </a:solidFill>
                        <a:latin typeface="Calibri"/>
                      </a:endParaRPr>
                    </a:p>
                  </a:txBody>
                  <a:tcPr marL="9525" marR="9525" marT="9525" marB="0" anchor="b"/>
                </a:tc>
                <a:tc>
                  <a:txBody>
                    <a:bodyPr/>
                    <a:lstStyle/>
                    <a:p>
                      <a:pPr algn="ctr" fontAlgn="b"/>
                      <a:r>
                        <a:rPr lang="de-DE" sz="1400" u="none" strike="noStrike"/>
                        <a:t>…</a:t>
                      </a:r>
                      <a:endParaRPr lang="de-DE" sz="1400" b="0" i="0" u="none" strike="noStrike">
                        <a:solidFill>
                          <a:srgbClr val="000000"/>
                        </a:solidFill>
                        <a:latin typeface="Calibri"/>
                      </a:endParaRPr>
                    </a:p>
                  </a:txBody>
                  <a:tcPr marL="9525" marR="9525" marT="9525" marB="0" anchor="b"/>
                </a:tc>
                <a:tc>
                  <a:txBody>
                    <a:bodyPr/>
                    <a:lstStyle/>
                    <a:p>
                      <a:pPr algn="ctr" fontAlgn="b"/>
                      <a:r>
                        <a:rPr lang="de-DE" sz="1400" u="none" strike="noStrike"/>
                        <a:t>…</a:t>
                      </a:r>
                      <a:endParaRPr lang="de-DE" sz="1400" b="0" i="0" u="none" strike="noStrike">
                        <a:solidFill>
                          <a:srgbClr val="000000"/>
                        </a:solidFill>
                        <a:latin typeface="Calibri"/>
                      </a:endParaRPr>
                    </a:p>
                  </a:txBody>
                  <a:tcPr marL="9525" marR="9525" marT="9525" marB="0" anchor="b"/>
                </a:tc>
              </a:tr>
              <a:tr h="255883">
                <a:tc>
                  <a:txBody>
                    <a:bodyPr/>
                    <a:lstStyle/>
                    <a:p>
                      <a:pPr algn="ctr" fontAlgn="b"/>
                      <a:r>
                        <a:rPr lang="de-DE" sz="1400" u="none" strike="noStrike"/>
                        <a:t>95</a:t>
                      </a:r>
                      <a:endParaRPr lang="de-DE" sz="1400" b="0" i="0" u="none" strike="noStrike">
                        <a:solidFill>
                          <a:srgbClr val="000000"/>
                        </a:solidFill>
                        <a:latin typeface="Calibri"/>
                      </a:endParaRPr>
                    </a:p>
                  </a:txBody>
                  <a:tcPr marL="9525" marR="9525" marT="9525" marB="0" anchor="b"/>
                </a:tc>
                <a:tc>
                  <a:txBody>
                    <a:bodyPr/>
                    <a:lstStyle/>
                    <a:p>
                      <a:pPr algn="ctr" fontAlgn="b"/>
                      <a:r>
                        <a:rPr lang="de-DE" sz="1400" u="none" strike="noStrike"/>
                        <a:t>'1QIK'</a:t>
                      </a:r>
                      <a:endParaRPr lang="de-DE" sz="1400" b="0" i="0" u="none" strike="noStrike">
                        <a:solidFill>
                          <a:srgbClr val="000000"/>
                        </a:solidFill>
                        <a:latin typeface="Calibri"/>
                      </a:endParaRPr>
                    </a:p>
                  </a:txBody>
                  <a:tcPr marL="9525" marR="9525" marT="9525" marB="0" anchor="b"/>
                </a:tc>
                <a:tc>
                  <a:txBody>
                    <a:bodyPr/>
                    <a:lstStyle/>
                    <a:p>
                      <a:pPr algn="ctr" fontAlgn="b"/>
                      <a:r>
                        <a:rPr lang="de-DE" sz="1400" u="none" strike="noStrike"/>
                        <a:t>0,402146435</a:t>
                      </a:r>
                      <a:endParaRPr lang="de-DE" sz="1400" b="0" i="0" u="none" strike="noStrike">
                        <a:solidFill>
                          <a:srgbClr val="000000"/>
                        </a:solidFill>
                        <a:latin typeface="Calibri"/>
                      </a:endParaRPr>
                    </a:p>
                  </a:txBody>
                  <a:tcPr marL="9525" marR="9525" marT="9525" marB="0" anchor="b"/>
                </a:tc>
                <a:tc>
                  <a:txBody>
                    <a:bodyPr/>
                    <a:lstStyle/>
                    <a:p>
                      <a:pPr algn="ctr" fontAlgn="b"/>
                      <a:r>
                        <a:rPr lang="de-DE" sz="1400" u="none" strike="noStrike"/>
                        <a:t>Acetylcholinesterase (AChE)</a:t>
                      </a:r>
                      <a:endParaRPr lang="de-DE" sz="1400" b="0" i="0" u="none" strike="noStrike">
                        <a:solidFill>
                          <a:srgbClr val="000000"/>
                        </a:solidFill>
                        <a:latin typeface="Calibri"/>
                      </a:endParaRPr>
                    </a:p>
                  </a:txBody>
                  <a:tcPr marL="9525" marR="9525" marT="9525" marB="0" anchor="b"/>
                </a:tc>
              </a:tr>
              <a:tr h="255883">
                <a:tc>
                  <a:txBody>
                    <a:bodyPr/>
                    <a:lstStyle/>
                    <a:p>
                      <a:pPr algn="ctr" fontAlgn="b"/>
                      <a:r>
                        <a:rPr lang="de-DE" sz="1400" u="none" strike="noStrike"/>
                        <a:t>96</a:t>
                      </a:r>
                      <a:endParaRPr lang="de-DE" sz="1400" b="0" i="0" u="none" strike="noStrike">
                        <a:solidFill>
                          <a:srgbClr val="000000"/>
                        </a:solidFill>
                        <a:latin typeface="Calibri"/>
                      </a:endParaRPr>
                    </a:p>
                  </a:txBody>
                  <a:tcPr marL="9525" marR="9525" marT="9525" marB="0" anchor="b"/>
                </a:tc>
                <a:tc>
                  <a:txBody>
                    <a:bodyPr/>
                    <a:lstStyle/>
                    <a:p>
                      <a:pPr algn="ctr" fontAlgn="b"/>
                      <a:r>
                        <a:rPr lang="de-DE" sz="1400" u="none" strike="noStrike"/>
                        <a:t>'2v98'</a:t>
                      </a:r>
                      <a:endParaRPr lang="de-DE" sz="1400" b="0" i="0" u="none" strike="noStrike">
                        <a:solidFill>
                          <a:srgbClr val="000000"/>
                        </a:solidFill>
                        <a:latin typeface="Calibri"/>
                      </a:endParaRPr>
                    </a:p>
                  </a:txBody>
                  <a:tcPr marL="9525" marR="9525" marT="9525" marB="0" anchor="b"/>
                </a:tc>
                <a:tc>
                  <a:txBody>
                    <a:bodyPr/>
                    <a:lstStyle/>
                    <a:p>
                      <a:pPr algn="ctr" fontAlgn="b"/>
                      <a:r>
                        <a:rPr lang="de-DE" sz="1400" u="none" strike="noStrike"/>
                        <a:t>0,402262892</a:t>
                      </a:r>
                      <a:endParaRPr lang="de-DE" sz="1400" b="0" i="0" u="none" strike="noStrike">
                        <a:solidFill>
                          <a:srgbClr val="000000"/>
                        </a:solidFill>
                        <a:latin typeface="Calibri"/>
                      </a:endParaRPr>
                    </a:p>
                  </a:txBody>
                  <a:tcPr marL="9525" marR="9525" marT="9525" marB="0" anchor="b"/>
                </a:tc>
                <a:tc>
                  <a:txBody>
                    <a:bodyPr/>
                    <a:lstStyle/>
                    <a:p>
                      <a:pPr algn="ctr" fontAlgn="b"/>
                      <a:r>
                        <a:rPr lang="de-DE" sz="1400" u="none" strike="noStrike"/>
                        <a:t>Acetylcholinesterase (AChE)</a:t>
                      </a:r>
                      <a:endParaRPr lang="de-DE" sz="1400" b="0" i="0" u="none" strike="noStrike">
                        <a:solidFill>
                          <a:srgbClr val="000000"/>
                        </a:solidFill>
                        <a:latin typeface="Calibri"/>
                      </a:endParaRPr>
                    </a:p>
                  </a:txBody>
                  <a:tcPr marL="9525" marR="9525" marT="9525" marB="0" anchor="b"/>
                </a:tc>
              </a:tr>
              <a:tr h="255883">
                <a:tc>
                  <a:txBody>
                    <a:bodyPr/>
                    <a:lstStyle/>
                    <a:p>
                      <a:pPr algn="ctr" fontAlgn="b"/>
                      <a:r>
                        <a:rPr lang="de-DE" sz="1400" u="none" strike="noStrike"/>
                        <a:t>97</a:t>
                      </a:r>
                      <a:endParaRPr lang="de-DE" sz="1400" b="0" i="0" u="none" strike="noStrike">
                        <a:solidFill>
                          <a:srgbClr val="000000"/>
                        </a:solidFill>
                        <a:latin typeface="Calibri"/>
                      </a:endParaRPr>
                    </a:p>
                  </a:txBody>
                  <a:tcPr marL="9525" marR="9525" marT="9525" marB="0" anchor="b"/>
                </a:tc>
                <a:tc>
                  <a:txBody>
                    <a:bodyPr/>
                    <a:lstStyle/>
                    <a:p>
                      <a:pPr algn="ctr" fontAlgn="b"/>
                      <a:r>
                        <a:rPr lang="de-DE" sz="1400" u="none" strike="noStrike"/>
                        <a:t>'1ZGC'</a:t>
                      </a:r>
                      <a:endParaRPr lang="de-DE" sz="1400" b="0" i="0" u="none" strike="noStrike">
                        <a:solidFill>
                          <a:srgbClr val="000000"/>
                        </a:solidFill>
                        <a:latin typeface="Calibri"/>
                      </a:endParaRPr>
                    </a:p>
                  </a:txBody>
                  <a:tcPr marL="9525" marR="9525" marT="9525" marB="0" anchor="b"/>
                </a:tc>
                <a:tc>
                  <a:txBody>
                    <a:bodyPr/>
                    <a:lstStyle/>
                    <a:p>
                      <a:pPr algn="ctr" fontAlgn="b"/>
                      <a:r>
                        <a:rPr lang="de-DE" sz="1400" u="none" strike="noStrike"/>
                        <a:t>0,403866967</a:t>
                      </a:r>
                      <a:endParaRPr lang="de-DE" sz="1400" b="0" i="0" u="none" strike="noStrike">
                        <a:solidFill>
                          <a:srgbClr val="000000"/>
                        </a:solidFill>
                        <a:latin typeface="Calibri"/>
                      </a:endParaRPr>
                    </a:p>
                  </a:txBody>
                  <a:tcPr marL="9525" marR="9525" marT="9525" marB="0" anchor="b"/>
                </a:tc>
                <a:tc>
                  <a:txBody>
                    <a:bodyPr/>
                    <a:lstStyle/>
                    <a:p>
                      <a:pPr algn="ctr" fontAlgn="b"/>
                      <a:r>
                        <a:rPr lang="de-DE" sz="1400" u="none" strike="noStrike"/>
                        <a:t>Acetylcholinesterase (AChE)</a:t>
                      </a:r>
                      <a:endParaRPr lang="de-DE" sz="1400" b="0" i="0" u="none" strike="noStrike">
                        <a:solidFill>
                          <a:srgbClr val="000000"/>
                        </a:solidFill>
                        <a:latin typeface="Calibri"/>
                      </a:endParaRPr>
                    </a:p>
                  </a:txBody>
                  <a:tcPr marL="9525" marR="9525" marT="9525" marB="0" anchor="b"/>
                </a:tc>
              </a:tr>
              <a:tr h="255883">
                <a:tc>
                  <a:txBody>
                    <a:bodyPr/>
                    <a:lstStyle/>
                    <a:p>
                      <a:pPr algn="ctr" fontAlgn="b"/>
                      <a:r>
                        <a:rPr lang="de-DE" sz="1400" u="none" strike="noStrike" dirty="0"/>
                        <a:t>98</a:t>
                      </a:r>
                      <a:endParaRPr lang="de-DE" sz="1400" b="0" i="0" u="none" strike="noStrike" dirty="0">
                        <a:solidFill>
                          <a:srgbClr val="000000"/>
                        </a:solidFill>
                        <a:latin typeface="Calibri"/>
                      </a:endParaRPr>
                    </a:p>
                  </a:txBody>
                  <a:tcPr marL="9525" marR="9525" marT="9525" marB="0" anchor="b"/>
                </a:tc>
                <a:tc>
                  <a:txBody>
                    <a:bodyPr/>
                    <a:lstStyle/>
                    <a:p>
                      <a:pPr algn="ctr" fontAlgn="b"/>
                      <a:r>
                        <a:rPr lang="de-DE" sz="1400" u="none" strike="noStrike" dirty="0"/>
                        <a:t>'1G6R'</a:t>
                      </a:r>
                      <a:endParaRPr lang="de-DE" sz="1400" b="0" i="0" u="none" strike="noStrike" dirty="0">
                        <a:solidFill>
                          <a:srgbClr val="000000"/>
                        </a:solidFill>
                        <a:latin typeface="Calibri"/>
                      </a:endParaRPr>
                    </a:p>
                  </a:txBody>
                  <a:tcPr marL="9525" marR="9525" marT="9525" marB="0" anchor="b"/>
                </a:tc>
                <a:tc>
                  <a:txBody>
                    <a:bodyPr/>
                    <a:lstStyle/>
                    <a:p>
                      <a:pPr algn="ctr" fontAlgn="b"/>
                      <a:r>
                        <a:rPr lang="de-DE" sz="1400" u="none" strike="noStrike"/>
                        <a:t>0,404798145</a:t>
                      </a:r>
                      <a:endParaRPr lang="de-DE" sz="1400" b="0" i="0" u="none" strike="noStrike">
                        <a:solidFill>
                          <a:srgbClr val="000000"/>
                        </a:solidFill>
                        <a:latin typeface="Calibri"/>
                      </a:endParaRPr>
                    </a:p>
                  </a:txBody>
                  <a:tcPr marL="9525" marR="9525" marT="9525" marB="0" anchor="b"/>
                </a:tc>
                <a:tc>
                  <a:txBody>
                    <a:bodyPr/>
                    <a:lstStyle/>
                    <a:p>
                      <a:pPr algn="ctr" fontAlgn="b"/>
                      <a:r>
                        <a:rPr lang="de-DE" sz="1400" u="none" strike="noStrike" dirty="0" err="1"/>
                        <a:t>Aspartate</a:t>
                      </a:r>
                      <a:r>
                        <a:rPr lang="de-DE" sz="1400" u="none" strike="noStrike" dirty="0"/>
                        <a:t> </a:t>
                      </a:r>
                      <a:r>
                        <a:rPr lang="de-DE" sz="1400" u="none" strike="noStrike" dirty="0" err="1"/>
                        <a:t>aminotransferase</a:t>
                      </a:r>
                      <a:r>
                        <a:rPr lang="de-DE" sz="1400" u="none" strike="noStrike" dirty="0"/>
                        <a:t> (</a:t>
                      </a:r>
                      <a:r>
                        <a:rPr lang="de-DE" sz="1400" u="none" strike="noStrike" dirty="0" err="1"/>
                        <a:t>mAspAT</a:t>
                      </a:r>
                      <a:r>
                        <a:rPr lang="de-DE" sz="1400" u="none" strike="noStrike" dirty="0"/>
                        <a:t>)</a:t>
                      </a:r>
                      <a:endParaRPr lang="de-DE" sz="1400" b="0" i="0" u="none" strike="noStrike" dirty="0">
                        <a:solidFill>
                          <a:srgbClr val="000000"/>
                        </a:solidFill>
                        <a:latin typeface="Calibri"/>
                      </a:endParaRPr>
                    </a:p>
                  </a:txBody>
                  <a:tcPr marL="9525" marR="9525" marT="9525" marB="0" anchor="b"/>
                </a:tc>
              </a:tr>
              <a:tr h="255883">
                <a:tc>
                  <a:txBody>
                    <a:bodyPr/>
                    <a:lstStyle/>
                    <a:p>
                      <a:pPr algn="ctr" fontAlgn="b"/>
                      <a:r>
                        <a:rPr lang="de-DE" sz="1400" u="none" strike="noStrike" dirty="0"/>
                        <a:t>99</a:t>
                      </a:r>
                      <a:endParaRPr lang="de-DE" sz="1400" b="0" i="0" u="none" strike="noStrike" dirty="0">
                        <a:solidFill>
                          <a:srgbClr val="000000"/>
                        </a:solidFill>
                        <a:latin typeface="Calibri"/>
                      </a:endParaRPr>
                    </a:p>
                  </a:txBody>
                  <a:tcPr marL="9525" marR="9525" marT="9525" marB="0" anchor="b"/>
                </a:tc>
                <a:tc>
                  <a:txBody>
                    <a:bodyPr/>
                    <a:lstStyle/>
                    <a:p>
                      <a:pPr algn="ctr" fontAlgn="b"/>
                      <a:r>
                        <a:rPr lang="de-DE" sz="1400" u="none" strike="noStrike" dirty="0"/>
                        <a:t>'2JEZ'</a:t>
                      </a:r>
                      <a:endParaRPr lang="de-DE" sz="1400" b="0" i="0" u="none" strike="noStrike" dirty="0">
                        <a:solidFill>
                          <a:srgbClr val="000000"/>
                        </a:solidFill>
                        <a:latin typeface="Calibri"/>
                      </a:endParaRPr>
                    </a:p>
                  </a:txBody>
                  <a:tcPr marL="9525" marR="9525" marT="9525" marB="0" anchor="b"/>
                </a:tc>
                <a:tc>
                  <a:txBody>
                    <a:bodyPr/>
                    <a:lstStyle/>
                    <a:p>
                      <a:pPr algn="ctr" fontAlgn="b"/>
                      <a:r>
                        <a:rPr lang="de-DE" sz="1400" u="none" strike="noStrike"/>
                        <a:t>0,40503194</a:t>
                      </a:r>
                      <a:endParaRPr lang="de-DE" sz="1400" b="0" i="0" u="none" strike="noStrike">
                        <a:solidFill>
                          <a:srgbClr val="000000"/>
                        </a:solidFill>
                        <a:latin typeface="Calibri"/>
                      </a:endParaRPr>
                    </a:p>
                  </a:txBody>
                  <a:tcPr marL="9525" marR="9525" marT="9525" marB="0" anchor="b"/>
                </a:tc>
                <a:tc>
                  <a:txBody>
                    <a:bodyPr/>
                    <a:lstStyle/>
                    <a:p>
                      <a:pPr algn="ctr" fontAlgn="b"/>
                      <a:r>
                        <a:rPr lang="de-DE" sz="1400" u="none" strike="noStrike"/>
                        <a:t>Acetylcholinesterase (AChE)</a:t>
                      </a:r>
                      <a:endParaRPr lang="de-DE" sz="1400" b="0" i="0" u="none" strike="noStrike">
                        <a:solidFill>
                          <a:srgbClr val="000000"/>
                        </a:solidFill>
                        <a:latin typeface="Calibri"/>
                      </a:endParaRPr>
                    </a:p>
                  </a:txBody>
                  <a:tcPr marL="9525" marR="9525" marT="9525" marB="0" anchor="b"/>
                </a:tc>
              </a:tr>
              <a:tr h="255883">
                <a:tc>
                  <a:txBody>
                    <a:bodyPr/>
                    <a:lstStyle/>
                    <a:p>
                      <a:pPr algn="ctr" fontAlgn="b"/>
                      <a:r>
                        <a:rPr lang="de-DE" sz="1400" u="none" strike="noStrike" dirty="0"/>
                        <a:t>100</a:t>
                      </a:r>
                      <a:endParaRPr lang="de-DE" sz="1400" b="0" i="0" u="none" strike="noStrike" dirty="0">
                        <a:solidFill>
                          <a:srgbClr val="000000"/>
                        </a:solidFill>
                        <a:latin typeface="Calibri"/>
                      </a:endParaRPr>
                    </a:p>
                  </a:txBody>
                  <a:tcPr marL="9525" marR="9525" marT="9525" marB="0" anchor="b"/>
                </a:tc>
                <a:tc>
                  <a:txBody>
                    <a:bodyPr/>
                    <a:lstStyle/>
                    <a:p>
                      <a:pPr algn="ctr" fontAlgn="b"/>
                      <a:r>
                        <a:rPr lang="de-DE" sz="1400" u="none" strike="noStrike" dirty="0"/>
                        <a:t>'1SI8'</a:t>
                      </a:r>
                      <a:endParaRPr lang="de-DE" sz="1400" b="0" i="0" u="none" strike="noStrike" dirty="0">
                        <a:solidFill>
                          <a:srgbClr val="000000"/>
                        </a:solidFill>
                        <a:latin typeface="Calibri"/>
                      </a:endParaRPr>
                    </a:p>
                  </a:txBody>
                  <a:tcPr marL="9525" marR="9525" marT="9525" marB="0" anchor="b"/>
                </a:tc>
                <a:tc>
                  <a:txBody>
                    <a:bodyPr/>
                    <a:lstStyle/>
                    <a:p>
                      <a:pPr algn="ctr" fontAlgn="b"/>
                      <a:r>
                        <a:rPr lang="de-DE" sz="1400" u="none" strike="noStrike" dirty="0"/>
                        <a:t>0,406246972</a:t>
                      </a:r>
                      <a:endParaRPr lang="de-DE" sz="1400" b="0" i="0" u="none" strike="noStrike" dirty="0">
                        <a:solidFill>
                          <a:srgbClr val="000000"/>
                        </a:solidFill>
                        <a:latin typeface="Calibri"/>
                      </a:endParaRPr>
                    </a:p>
                  </a:txBody>
                  <a:tcPr marL="9525" marR="9525" marT="9525" marB="0" anchor="b"/>
                </a:tc>
                <a:tc>
                  <a:txBody>
                    <a:bodyPr/>
                    <a:lstStyle/>
                    <a:p>
                      <a:pPr algn="ctr" fontAlgn="b"/>
                      <a:r>
                        <a:rPr lang="de-DE" sz="1400" u="none" strike="noStrike" dirty="0" err="1"/>
                        <a:t>Catalase</a:t>
                      </a:r>
                      <a:endParaRPr lang="de-DE" sz="1400" b="0" i="0" u="none" strike="noStrike" dirty="0">
                        <a:solidFill>
                          <a:srgbClr val="000000"/>
                        </a:solidFill>
                        <a:latin typeface="Calibri"/>
                      </a:endParaRPr>
                    </a:p>
                  </a:txBody>
                  <a:tcPr marL="9525" marR="9525" marT="9525" marB="0" anchor="b"/>
                </a:tc>
              </a:tr>
            </a:tbl>
          </a:graphicData>
        </a:graphic>
      </p:graphicFrame>
    </p:spTree>
    <p:extLst>
      <p:ext uri="{BB962C8B-B14F-4D97-AF65-F5344CB8AC3E}">
        <p14:creationId xmlns="" xmlns:p14="http://schemas.microsoft.com/office/powerpoint/2010/main" val="609211809"/>
      </p:ext>
    </p:extLst>
  </p:cSld>
  <p:clrMapOvr>
    <a:masterClrMapping/>
  </p:clrMapOvr>
  <p:transition>
    <p:cu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Autofit/>
          </a:bodyPr>
          <a:lstStyle/>
          <a:p>
            <a:r>
              <a:rPr lang="de-DE" altLang="zh-TW" sz="3600" dirty="0" err="1" smtClean="0"/>
              <a:t>Histogram</a:t>
            </a:r>
            <a:r>
              <a:rPr lang="de-DE" altLang="zh-TW" sz="3600" dirty="0" smtClean="0"/>
              <a:t> </a:t>
            </a:r>
            <a:r>
              <a:rPr lang="de-DE" altLang="zh-TW" sz="3600" dirty="0" err="1" smtClean="0"/>
              <a:t>comparison</a:t>
            </a:r>
            <a:r>
              <a:rPr lang="de-DE" altLang="zh-TW" sz="3600" dirty="0" smtClean="0"/>
              <a:t> </a:t>
            </a:r>
            <a:r>
              <a:rPr lang="de-DE" altLang="zh-TW" sz="3600" dirty="0" err="1" smtClean="0"/>
              <a:t>can</a:t>
            </a:r>
            <a:r>
              <a:rPr lang="de-DE" altLang="zh-TW" sz="3600" dirty="0" smtClean="0"/>
              <a:t> </a:t>
            </a:r>
            <a:r>
              <a:rPr lang="de-DE" altLang="zh-TW" sz="3600" dirty="0" err="1" smtClean="0"/>
              <a:t>cluster</a:t>
            </a:r>
            <a:r>
              <a:rPr lang="de-DE" altLang="zh-TW" sz="3600" dirty="0" smtClean="0"/>
              <a:t> </a:t>
            </a:r>
            <a:r>
              <a:rPr lang="de-DE" altLang="zh-TW" sz="3600" dirty="0" err="1" smtClean="0"/>
              <a:t>active</a:t>
            </a:r>
            <a:r>
              <a:rPr lang="de-DE" altLang="zh-TW" sz="3600" dirty="0" smtClean="0"/>
              <a:t> </a:t>
            </a:r>
            <a:r>
              <a:rPr lang="de-DE" altLang="zh-TW" sz="3600" dirty="0" err="1" smtClean="0"/>
              <a:t>sites</a:t>
            </a:r>
            <a:r>
              <a:rPr lang="de-DE" altLang="zh-TW" sz="3600" dirty="0" smtClean="0"/>
              <a:t> </a:t>
            </a:r>
            <a:r>
              <a:rPr lang="de-DE" altLang="zh-TW" sz="3600" dirty="0" err="1" smtClean="0"/>
              <a:t>of</a:t>
            </a:r>
            <a:r>
              <a:rPr lang="de-DE" altLang="zh-TW" sz="3600" dirty="0" smtClean="0"/>
              <a:t> </a:t>
            </a:r>
            <a:r>
              <a:rPr lang="de-DE" altLang="zh-TW" sz="3600" dirty="0" err="1" smtClean="0"/>
              <a:t>enzyme</a:t>
            </a:r>
            <a:r>
              <a:rPr lang="de-DE" altLang="zh-TW" sz="3600" dirty="0" smtClean="0"/>
              <a:t> </a:t>
            </a:r>
            <a:r>
              <a:rPr lang="de-DE" altLang="zh-TW" sz="3600" dirty="0" err="1" smtClean="0"/>
              <a:t>classes</a:t>
            </a:r>
            <a:endParaRPr lang="de-DE" altLang="zh-TW" sz="3600" dirty="0"/>
          </a:p>
        </p:txBody>
      </p:sp>
      <p:sp>
        <p:nvSpPr>
          <p:cNvPr id="3" name="Inhaltsplatzhalter 2"/>
          <p:cNvSpPr>
            <a:spLocks noGrp="1"/>
          </p:cNvSpPr>
          <p:nvPr>
            <p:ph idx="1"/>
          </p:nvPr>
        </p:nvSpPr>
        <p:spPr/>
        <p:txBody>
          <a:bodyPr>
            <a:normAutofit fontScale="77500" lnSpcReduction="20000"/>
          </a:bodyPr>
          <a:lstStyle/>
          <a:p>
            <a:r>
              <a:rPr lang="en-US" dirty="0" smtClean="0"/>
              <a:t>enzyme dataset contains</a:t>
            </a:r>
          </a:p>
          <a:p>
            <a:pPr lvl="1"/>
            <a:r>
              <a:rPr lang="en-US" dirty="0" smtClean="0"/>
              <a:t>eight highly populated enzyme classes from the PDB</a:t>
            </a:r>
          </a:p>
          <a:p>
            <a:pPr lvl="1"/>
            <a:r>
              <a:rPr lang="en-US" dirty="0" smtClean="0"/>
              <a:t>for each class, binding sites with at least two catalytic residues according to the catalytic site atlas (CSA v.2.2.12)</a:t>
            </a:r>
          </a:p>
          <a:p>
            <a:endParaRPr lang="en-US" dirty="0" smtClean="0"/>
          </a:p>
          <a:p>
            <a:r>
              <a:rPr lang="en-US" dirty="0" smtClean="0"/>
              <a:t>clustering experiment</a:t>
            </a:r>
          </a:p>
          <a:p>
            <a:pPr lvl="1"/>
            <a:r>
              <a:rPr lang="en-US" dirty="0" smtClean="0"/>
              <a:t>hierarchical clustering using repeated bisection (CLUTO)</a:t>
            </a:r>
          </a:p>
          <a:p>
            <a:pPr lvl="1"/>
            <a:r>
              <a:rPr lang="en-US" dirty="0" smtClean="0"/>
              <a:t>comparison of clustering to original enzyme class structure via Rand index  </a:t>
            </a:r>
          </a:p>
          <a:p>
            <a:pPr lvl="1"/>
            <a:endParaRPr lang="en-US" dirty="0" smtClean="0"/>
          </a:p>
          <a:p>
            <a:r>
              <a:rPr lang="en-US" dirty="0" smtClean="0"/>
              <a:t>multi-classification experiment</a:t>
            </a:r>
          </a:p>
          <a:p>
            <a:pPr lvl="1"/>
            <a:r>
              <a:rPr lang="en-US" dirty="0" smtClean="0"/>
              <a:t>leave-one-out cross-validation</a:t>
            </a:r>
          </a:p>
          <a:p>
            <a:pPr lvl="1"/>
            <a:r>
              <a:rPr lang="en-US" dirty="0" smtClean="0"/>
              <a:t>k-nearest neighbor classifier</a:t>
            </a:r>
          </a:p>
          <a:p>
            <a:endParaRPr lang="en-US" dirty="0" smtClean="0"/>
          </a:p>
        </p:txBody>
      </p:sp>
      <p:sp>
        <p:nvSpPr>
          <p:cNvPr id="4" name="Foliennummernplatzhalter 3"/>
          <p:cNvSpPr>
            <a:spLocks noGrp="1"/>
          </p:cNvSpPr>
          <p:nvPr>
            <p:ph type="sldNum" sz="quarter" idx="12"/>
          </p:nvPr>
        </p:nvSpPr>
        <p:spPr/>
        <p:txBody>
          <a:bodyPr/>
          <a:lstStyle/>
          <a:p>
            <a:fld id="{3722AAB7-8C13-4FEF-BF4B-87394EDC6C8B}" type="slidenum">
              <a:rPr lang="de-DE" smtClean="0"/>
              <a:pPr/>
              <a:t>12</a:t>
            </a:fld>
            <a:endParaRPr lang="de-DE" dirty="0"/>
          </a:p>
        </p:txBody>
      </p:sp>
    </p:spTree>
    <p:extLst>
      <p:ext uri="{BB962C8B-B14F-4D97-AF65-F5344CB8AC3E}">
        <p14:creationId xmlns="" xmlns:p14="http://schemas.microsoft.com/office/powerpoint/2010/main" val="609211809"/>
      </p:ext>
    </p:extLst>
  </p:cSld>
  <p:clrMapOvr>
    <a:masterClrMapping/>
  </p:clrMapOvr>
  <p:transition>
    <p:cu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descr="C:\Users\mernberger\Desktop\heatmap3.png"/>
          <p:cNvPicPr>
            <a:picLocks noChangeAspect="1" noChangeArrowheads="1"/>
          </p:cNvPicPr>
          <p:nvPr/>
        </p:nvPicPr>
        <p:blipFill>
          <a:blip r:embed="rId2" cstate="print"/>
          <a:srcRect/>
          <a:stretch>
            <a:fillRect/>
          </a:stretch>
        </p:blipFill>
        <p:spPr bwMode="auto">
          <a:xfrm>
            <a:off x="2277911" y="1196752"/>
            <a:ext cx="6542561" cy="5517726"/>
          </a:xfrm>
          <a:prstGeom prst="rect">
            <a:avLst/>
          </a:prstGeom>
          <a:noFill/>
        </p:spPr>
      </p:pic>
      <p:sp>
        <p:nvSpPr>
          <p:cNvPr id="2" name="Titel 1"/>
          <p:cNvSpPr>
            <a:spLocks noGrp="1"/>
          </p:cNvSpPr>
          <p:nvPr>
            <p:ph type="title"/>
          </p:nvPr>
        </p:nvSpPr>
        <p:spPr>
          <a:xfrm>
            <a:off x="0" y="274638"/>
            <a:ext cx="9144000" cy="1143000"/>
          </a:xfrm>
        </p:spPr>
        <p:txBody>
          <a:bodyPr>
            <a:noAutofit/>
          </a:bodyPr>
          <a:lstStyle/>
          <a:p>
            <a:r>
              <a:rPr lang="en-US" sz="3600" dirty="0" smtClean="0"/>
              <a:t>Distance matrix (</a:t>
            </a:r>
            <a:r>
              <a:rPr lang="el-GR" sz="3600" dirty="0" smtClean="0"/>
              <a:t>δ</a:t>
            </a:r>
            <a:r>
              <a:rPr lang="en-US" sz="3600" baseline="-25000" dirty="0" smtClean="0"/>
              <a:t>M</a:t>
            </a:r>
            <a:r>
              <a:rPr lang="en-US" sz="3600" dirty="0" smtClean="0"/>
              <a:t>) reveals functional clusters</a:t>
            </a:r>
            <a:endParaRPr lang="en-US" sz="3600" dirty="0"/>
          </a:p>
        </p:txBody>
      </p:sp>
      <p:sp>
        <p:nvSpPr>
          <p:cNvPr id="4" name="Foliennummernplatzhalter 3"/>
          <p:cNvSpPr>
            <a:spLocks noGrp="1"/>
          </p:cNvSpPr>
          <p:nvPr>
            <p:ph type="sldNum" sz="quarter" idx="12"/>
          </p:nvPr>
        </p:nvSpPr>
        <p:spPr/>
        <p:txBody>
          <a:bodyPr/>
          <a:lstStyle/>
          <a:p>
            <a:fld id="{3722AAB7-8C13-4FEF-BF4B-87394EDC6C8B}" type="slidenum">
              <a:rPr lang="de-DE" smtClean="0"/>
              <a:pPr/>
              <a:t>13</a:t>
            </a:fld>
            <a:endParaRPr lang="de-DE" dirty="0"/>
          </a:p>
        </p:txBody>
      </p:sp>
      <p:sp>
        <p:nvSpPr>
          <p:cNvPr id="8" name="TextBox 7"/>
          <p:cNvSpPr txBox="1"/>
          <p:nvPr/>
        </p:nvSpPr>
        <p:spPr>
          <a:xfrm>
            <a:off x="107504" y="1361743"/>
            <a:ext cx="2248629" cy="483081"/>
          </a:xfrm>
          <a:prstGeom prst="rect">
            <a:avLst/>
          </a:prstGeom>
          <a:noFill/>
        </p:spPr>
        <p:txBody>
          <a:bodyPr wrap="none" rtlCol="0">
            <a:spAutoFit/>
          </a:bodyPr>
          <a:lstStyle/>
          <a:p>
            <a:pPr>
              <a:lnSpc>
                <a:spcPts val="1500"/>
              </a:lnSpc>
            </a:pPr>
            <a:r>
              <a:rPr lang="de-DE" sz="1600" dirty="0" smtClean="0">
                <a:latin typeface="+mn-lt"/>
              </a:rPr>
              <a:t>EC 2.1.1.45: </a:t>
            </a:r>
            <a:r>
              <a:rPr lang="de-DE" sz="1600" dirty="0" err="1" smtClean="0">
                <a:latin typeface="+mn-lt"/>
              </a:rPr>
              <a:t>thymidylate</a:t>
            </a:r>
            <a:r>
              <a:rPr lang="de-DE" sz="1600" dirty="0" smtClean="0">
                <a:latin typeface="+mn-lt"/>
              </a:rPr>
              <a:t> </a:t>
            </a:r>
          </a:p>
          <a:p>
            <a:pPr>
              <a:lnSpc>
                <a:spcPts val="1500"/>
              </a:lnSpc>
            </a:pPr>
            <a:r>
              <a:rPr lang="de-DE" sz="1600" dirty="0" err="1" smtClean="0">
                <a:latin typeface="+mn-lt"/>
              </a:rPr>
              <a:t>synthase</a:t>
            </a:r>
            <a:r>
              <a:rPr lang="de-DE" sz="1600" dirty="0" smtClean="0">
                <a:latin typeface="+mn-lt"/>
              </a:rPr>
              <a:t> </a:t>
            </a:r>
          </a:p>
        </p:txBody>
      </p:sp>
      <p:sp>
        <p:nvSpPr>
          <p:cNvPr id="9" name="TextBox 8"/>
          <p:cNvSpPr txBox="1"/>
          <p:nvPr/>
        </p:nvSpPr>
        <p:spPr>
          <a:xfrm>
            <a:off x="107504" y="2132856"/>
            <a:ext cx="1790042" cy="284693"/>
          </a:xfrm>
          <a:prstGeom prst="rect">
            <a:avLst/>
          </a:prstGeom>
          <a:noFill/>
        </p:spPr>
        <p:txBody>
          <a:bodyPr wrap="none" rtlCol="0">
            <a:spAutoFit/>
          </a:bodyPr>
          <a:lstStyle/>
          <a:p>
            <a:pPr>
              <a:lnSpc>
                <a:spcPts val="1500"/>
              </a:lnSpc>
            </a:pPr>
            <a:r>
              <a:rPr lang="de-DE" sz="1600" dirty="0" smtClean="0">
                <a:latin typeface="+mn-lt"/>
              </a:rPr>
              <a:t>EC 3.4.21.4: </a:t>
            </a:r>
            <a:r>
              <a:rPr lang="de-DE" sz="1600" dirty="0" err="1" smtClean="0">
                <a:latin typeface="+mn-lt"/>
              </a:rPr>
              <a:t>trypsin</a:t>
            </a:r>
            <a:endParaRPr lang="de-DE" sz="1600" dirty="0" smtClean="0">
              <a:latin typeface="+mn-lt"/>
            </a:endParaRPr>
          </a:p>
        </p:txBody>
      </p:sp>
      <p:sp>
        <p:nvSpPr>
          <p:cNvPr id="10" name="TextBox 9"/>
          <p:cNvSpPr txBox="1"/>
          <p:nvPr/>
        </p:nvSpPr>
        <p:spPr>
          <a:xfrm>
            <a:off x="107504" y="3038902"/>
            <a:ext cx="1828514" cy="483081"/>
          </a:xfrm>
          <a:prstGeom prst="rect">
            <a:avLst/>
          </a:prstGeom>
          <a:noFill/>
        </p:spPr>
        <p:txBody>
          <a:bodyPr wrap="none" rtlCol="0">
            <a:spAutoFit/>
          </a:bodyPr>
          <a:lstStyle/>
          <a:p>
            <a:pPr>
              <a:lnSpc>
                <a:spcPts val="1500"/>
              </a:lnSpc>
            </a:pPr>
            <a:r>
              <a:rPr lang="de-DE" sz="1600" dirty="0" smtClean="0">
                <a:latin typeface="+mn-lt"/>
              </a:rPr>
              <a:t>EC 3.4.23.16: HIV-1 </a:t>
            </a:r>
          </a:p>
          <a:p>
            <a:pPr>
              <a:lnSpc>
                <a:spcPts val="1500"/>
              </a:lnSpc>
            </a:pPr>
            <a:r>
              <a:rPr lang="de-DE" sz="1600" dirty="0" err="1" smtClean="0">
                <a:latin typeface="+mn-lt"/>
              </a:rPr>
              <a:t>retropepsin</a:t>
            </a:r>
            <a:endParaRPr lang="de-DE" sz="1600" dirty="0" smtClean="0">
              <a:latin typeface="+mn-lt"/>
            </a:endParaRPr>
          </a:p>
        </p:txBody>
      </p:sp>
      <p:sp>
        <p:nvSpPr>
          <p:cNvPr id="11" name="TextBox 10"/>
          <p:cNvSpPr txBox="1"/>
          <p:nvPr/>
        </p:nvSpPr>
        <p:spPr>
          <a:xfrm>
            <a:off x="107504" y="3717032"/>
            <a:ext cx="2313903" cy="290721"/>
          </a:xfrm>
          <a:prstGeom prst="rect">
            <a:avLst/>
          </a:prstGeom>
          <a:noFill/>
        </p:spPr>
        <p:txBody>
          <a:bodyPr wrap="none" rtlCol="0">
            <a:spAutoFit/>
          </a:bodyPr>
          <a:lstStyle/>
          <a:p>
            <a:pPr>
              <a:lnSpc>
                <a:spcPts val="1500"/>
              </a:lnSpc>
            </a:pPr>
            <a:r>
              <a:rPr lang="de-DE" sz="1600" dirty="0" smtClean="0">
                <a:latin typeface="+mn-lt"/>
              </a:rPr>
              <a:t>EC 3.4.24.27: </a:t>
            </a:r>
            <a:r>
              <a:rPr lang="de-DE" sz="1600" dirty="0" err="1" smtClean="0">
                <a:latin typeface="+mn-lt"/>
              </a:rPr>
              <a:t>thermolysin</a:t>
            </a:r>
            <a:endParaRPr lang="de-DE" sz="1600" dirty="0" smtClean="0">
              <a:latin typeface="+mn-lt"/>
            </a:endParaRPr>
          </a:p>
        </p:txBody>
      </p:sp>
      <p:sp>
        <p:nvSpPr>
          <p:cNvPr id="12" name="TextBox 11"/>
          <p:cNvSpPr txBox="1"/>
          <p:nvPr/>
        </p:nvSpPr>
        <p:spPr>
          <a:xfrm>
            <a:off x="117993" y="4170055"/>
            <a:ext cx="2284280" cy="483081"/>
          </a:xfrm>
          <a:prstGeom prst="rect">
            <a:avLst/>
          </a:prstGeom>
          <a:noFill/>
        </p:spPr>
        <p:txBody>
          <a:bodyPr wrap="none" rtlCol="0">
            <a:spAutoFit/>
          </a:bodyPr>
          <a:lstStyle/>
          <a:p>
            <a:pPr>
              <a:lnSpc>
                <a:spcPts val="1500"/>
              </a:lnSpc>
            </a:pPr>
            <a:r>
              <a:rPr lang="de-DE" sz="1600" dirty="0" smtClean="0">
                <a:latin typeface="+mn-lt"/>
              </a:rPr>
              <a:t>EC 1.9.3.1: </a:t>
            </a:r>
            <a:r>
              <a:rPr lang="de-DE" sz="1600" dirty="0" err="1" smtClean="0">
                <a:latin typeface="+mn-lt"/>
              </a:rPr>
              <a:t>cytochrome</a:t>
            </a:r>
            <a:r>
              <a:rPr lang="de-DE" sz="1600" dirty="0" smtClean="0">
                <a:latin typeface="+mn-lt"/>
              </a:rPr>
              <a:t> c </a:t>
            </a:r>
          </a:p>
          <a:p>
            <a:pPr>
              <a:lnSpc>
                <a:spcPts val="1500"/>
              </a:lnSpc>
            </a:pPr>
            <a:r>
              <a:rPr lang="de-DE" sz="1600" dirty="0" err="1" smtClean="0">
                <a:latin typeface="+mn-lt"/>
              </a:rPr>
              <a:t>oxidase</a:t>
            </a:r>
            <a:endParaRPr lang="de-DE" sz="1600" dirty="0" smtClean="0">
              <a:latin typeface="+mn-lt"/>
            </a:endParaRPr>
          </a:p>
        </p:txBody>
      </p:sp>
      <p:sp>
        <p:nvSpPr>
          <p:cNvPr id="13" name="TextBox 12"/>
          <p:cNvSpPr txBox="1"/>
          <p:nvPr/>
        </p:nvSpPr>
        <p:spPr>
          <a:xfrm>
            <a:off x="107504" y="4962143"/>
            <a:ext cx="2152449" cy="483081"/>
          </a:xfrm>
          <a:prstGeom prst="rect">
            <a:avLst/>
          </a:prstGeom>
          <a:noFill/>
        </p:spPr>
        <p:txBody>
          <a:bodyPr wrap="none" rtlCol="0">
            <a:spAutoFit/>
          </a:bodyPr>
          <a:lstStyle/>
          <a:p>
            <a:pPr>
              <a:lnSpc>
                <a:spcPts val="1500"/>
              </a:lnSpc>
            </a:pPr>
            <a:r>
              <a:rPr lang="de-DE" sz="1600" dirty="0" smtClean="0">
                <a:latin typeface="+mn-lt"/>
              </a:rPr>
              <a:t>EC 4.2.1.1: </a:t>
            </a:r>
            <a:r>
              <a:rPr lang="de-DE" sz="1600" dirty="0" err="1" smtClean="0">
                <a:latin typeface="+mn-lt"/>
              </a:rPr>
              <a:t>hyaluronate</a:t>
            </a:r>
            <a:r>
              <a:rPr lang="de-DE" sz="1600" dirty="0" smtClean="0">
                <a:latin typeface="+mn-lt"/>
              </a:rPr>
              <a:t> </a:t>
            </a:r>
          </a:p>
          <a:p>
            <a:pPr>
              <a:lnSpc>
                <a:spcPts val="1500"/>
              </a:lnSpc>
            </a:pPr>
            <a:r>
              <a:rPr lang="de-DE" sz="1600" dirty="0" err="1" smtClean="0">
                <a:latin typeface="+mn-lt"/>
              </a:rPr>
              <a:t>lyase</a:t>
            </a:r>
            <a:endParaRPr lang="de-DE" sz="1600" dirty="0" smtClean="0">
              <a:latin typeface="+mn-lt"/>
            </a:endParaRPr>
          </a:p>
        </p:txBody>
      </p:sp>
      <p:sp>
        <p:nvSpPr>
          <p:cNvPr id="14" name="TextBox 13"/>
          <p:cNvSpPr txBox="1"/>
          <p:nvPr/>
        </p:nvSpPr>
        <p:spPr>
          <a:xfrm>
            <a:off x="107504" y="5622409"/>
            <a:ext cx="2268634" cy="483081"/>
          </a:xfrm>
          <a:prstGeom prst="rect">
            <a:avLst/>
          </a:prstGeom>
          <a:noFill/>
        </p:spPr>
        <p:txBody>
          <a:bodyPr wrap="none" rtlCol="0">
            <a:spAutoFit/>
          </a:bodyPr>
          <a:lstStyle/>
          <a:p>
            <a:pPr>
              <a:lnSpc>
                <a:spcPts val="1500"/>
              </a:lnSpc>
            </a:pPr>
            <a:r>
              <a:rPr lang="de-DE" sz="1600" dirty="0" smtClean="0">
                <a:latin typeface="+mn-lt"/>
              </a:rPr>
              <a:t>EC 3.4.25.1: </a:t>
            </a:r>
            <a:r>
              <a:rPr lang="de-DE" sz="1600" dirty="0" err="1" smtClean="0">
                <a:latin typeface="+mn-lt"/>
              </a:rPr>
              <a:t>proteasome</a:t>
            </a:r>
            <a:r>
              <a:rPr lang="de-DE" sz="1600" dirty="0" smtClean="0">
                <a:latin typeface="+mn-lt"/>
              </a:rPr>
              <a:t> </a:t>
            </a:r>
          </a:p>
          <a:p>
            <a:pPr>
              <a:lnSpc>
                <a:spcPts val="1500"/>
              </a:lnSpc>
            </a:pPr>
            <a:r>
              <a:rPr lang="de-DE" sz="1600" dirty="0" err="1" smtClean="0">
                <a:latin typeface="+mn-lt"/>
              </a:rPr>
              <a:t>endopeptidase</a:t>
            </a:r>
            <a:endParaRPr lang="de-DE" sz="1600" dirty="0" smtClean="0">
              <a:latin typeface="+mn-lt"/>
            </a:endParaRPr>
          </a:p>
        </p:txBody>
      </p:sp>
      <p:sp>
        <p:nvSpPr>
          <p:cNvPr id="15" name="TextBox 14"/>
          <p:cNvSpPr txBox="1"/>
          <p:nvPr/>
        </p:nvSpPr>
        <p:spPr>
          <a:xfrm>
            <a:off x="109596" y="6042263"/>
            <a:ext cx="1943737" cy="483081"/>
          </a:xfrm>
          <a:prstGeom prst="rect">
            <a:avLst/>
          </a:prstGeom>
          <a:noFill/>
        </p:spPr>
        <p:txBody>
          <a:bodyPr wrap="none" rtlCol="0">
            <a:spAutoFit/>
          </a:bodyPr>
          <a:lstStyle/>
          <a:p>
            <a:pPr>
              <a:lnSpc>
                <a:spcPts val="1500"/>
              </a:lnSpc>
            </a:pPr>
            <a:r>
              <a:rPr lang="de-DE" sz="1600" dirty="0" smtClean="0">
                <a:latin typeface="+mn-lt"/>
              </a:rPr>
              <a:t>EC 2.6.1.1: </a:t>
            </a:r>
            <a:r>
              <a:rPr lang="de-DE" sz="1600" dirty="0" err="1" smtClean="0">
                <a:latin typeface="+mn-lt"/>
              </a:rPr>
              <a:t>aspartate</a:t>
            </a:r>
            <a:r>
              <a:rPr lang="de-DE" sz="1600" dirty="0" smtClean="0">
                <a:latin typeface="+mn-lt"/>
              </a:rPr>
              <a:t> </a:t>
            </a:r>
          </a:p>
          <a:p>
            <a:pPr>
              <a:lnSpc>
                <a:spcPts val="1500"/>
              </a:lnSpc>
            </a:pPr>
            <a:r>
              <a:rPr lang="de-DE" sz="1600" dirty="0" err="1" smtClean="0">
                <a:latin typeface="+mn-lt"/>
              </a:rPr>
              <a:t>transaminase</a:t>
            </a:r>
            <a:endParaRPr lang="de-DE" sz="1600" dirty="0" smtClean="0">
              <a:latin typeface="+mn-lt"/>
            </a:endParaRPr>
          </a:p>
        </p:txBody>
      </p:sp>
    </p:spTree>
    <p:extLst>
      <p:ext uri="{BB962C8B-B14F-4D97-AF65-F5344CB8AC3E}">
        <p14:creationId xmlns="" xmlns:p14="http://schemas.microsoft.com/office/powerpoint/2010/main" val="1925531079"/>
      </p:ext>
    </p:extLst>
  </p:cSld>
  <p:clrMapOvr>
    <a:masterClrMapping/>
  </p:clrMapOvr>
  <p:transition>
    <p:cu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Autofit/>
          </a:bodyPr>
          <a:lstStyle/>
          <a:p>
            <a:r>
              <a:rPr lang="de-DE" altLang="zh-TW" sz="3600" dirty="0" err="1" smtClean="0"/>
              <a:t>Histogram</a:t>
            </a:r>
            <a:r>
              <a:rPr lang="de-DE" altLang="zh-TW" sz="3600" dirty="0" smtClean="0"/>
              <a:t> </a:t>
            </a:r>
            <a:r>
              <a:rPr lang="de-DE" altLang="zh-TW" sz="3600" dirty="0" err="1" smtClean="0"/>
              <a:t>comparison</a:t>
            </a:r>
            <a:r>
              <a:rPr lang="de-DE" altLang="zh-TW" sz="3600" dirty="0" smtClean="0"/>
              <a:t> </a:t>
            </a:r>
            <a:r>
              <a:rPr lang="de-DE" altLang="zh-TW" sz="3600" dirty="0" err="1" smtClean="0"/>
              <a:t>can</a:t>
            </a:r>
            <a:r>
              <a:rPr lang="de-DE" altLang="zh-TW" sz="3600" dirty="0" smtClean="0"/>
              <a:t> </a:t>
            </a:r>
            <a:r>
              <a:rPr lang="de-DE" altLang="zh-TW" sz="3600" dirty="0" err="1" smtClean="0"/>
              <a:t>cluster</a:t>
            </a:r>
            <a:r>
              <a:rPr lang="de-DE" altLang="zh-TW" sz="3600" dirty="0" smtClean="0"/>
              <a:t> </a:t>
            </a:r>
            <a:r>
              <a:rPr lang="de-DE" altLang="zh-TW" sz="3600" dirty="0" err="1" smtClean="0"/>
              <a:t>and</a:t>
            </a:r>
            <a:r>
              <a:rPr lang="de-DE" altLang="zh-TW" sz="3600" dirty="0" smtClean="0"/>
              <a:t> </a:t>
            </a:r>
            <a:r>
              <a:rPr lang="de-DE" altLang="zh-TW" sz="3600" dirty="0" err="1" smtClean="0"/>
              <a:t>classify</a:t>
            </a:r>
            <a:r>
              <a:rPr lang="de-DE" altLang="zh-TW" sz="3600" dirty="0" smtClean="0"/>
              <a:t> </a:t>
            </a:r>
            <a:r>
              <a:rPr lang="de-DE" altLang="zh-TW" sz="3600" dirty="0" err="1" smtClean="0"/>
              <a:t>enzymes</a:t>
            </a:r>
            <a:r>
              <a:rPr lang="de-DE" altLang="zh-TW" sz="3600" dirty="0" smtClean="0"/>
              <a:t> </a:t>
            </a:r>
            <a:r>
              <a:rPr lang="de-DE" altLang="zh-TW" sz="3600" dirty="0" err="1" smtClean="0"/>
              <a:t>by</a:t>
            </a:r>
            <a:r>
              <a:rPr lang="de-DE" altLang="zh-TW" sz="3600" dirty="0" smtClean="0"/>
              <a:t> EC </a:t>
            </a:r>
            <a:r>
              <a:rPr lang="de-DE" altLang="zh-TW" sz="3600" dirty="0" err="1" smtClean="0"/>
              <a:t>number</a:t>
            </a:r>
            <a:endParaRPr lang="en-US" altLang="zh-TW" sz="3600" dirty="0"/>
          </a:p>
        </p:txBody>
      </p:sp>
      <p:sp>
        <p:nvSpPr>
          <p:cNvPr id="7" name="Content Placeholder 6"/>
          <p:cNvSpPr>
            <a:spLocks noGrp="1"/>
          </p:cNvSpPr>
          <p:nvPr>
            <p:ph idx="1"/>
          </p:nvPr>
        </p:nvSpPr>
        <p:spPr/>
        <p:txBody>
          <a:bodyPr>
            <a:normAutofit lnSpcReduction="10000"/>
          </a:bodyPr>
          <a:lstStyle/>
          <a:p>
            <a:pPr>
              <a:buNone/>
            </a:pPr>
            <a:endParaRPr lang="de-DE" dirty="0" smtClean="0"/>
          </a:p>
          <a:p>
            <a:r>
              <a:rPr lang="de-DE" dirty="0" err="1" smtClean="0"/>
              <a:t>comparison</a:t>
            </a:r>
            <a:r>
              <a:rPr lang="de-DE" dirty="0" smtClean="0"/>
              <a:t> </a:t>
            </a:r>
            <a:r>
              <a:rPr lang="de-DE" dirty="0" err="1" smtClean="0"/>
              <a:t>of</a:t>
            </a:r>
            <a:r>
              <a:rPr lang="de-DE" dirty="0" smtClean="0"/>
              <a:t> </a:t>
            </a:r>
            <a:r>
              <a:rPr lang="de-DE" dirty="0" err="1" smtClean="0"/>
              <a:t>clustering</a:t>
            </a:r>
            <a:r>
              <a:rPr lang="de-DE" dirty="0" smtClean="0"/>
              <a:t> (</a:t>
            </a:r>
            <a:r>
              <a:rPr lang="el-GR" dirty="0" smtClean="0"/>
              <a:t>δ</a:t>
            </a:r>
            <a:r>
              <a:rPr lang="de-DE" baseline="-25000" dirty="0" smtClean="0"/>
              <a:t>M</a:t>
            </a:r>
            <a:r>
              <a:rPr lang="de-DE" dirty="0" smtClean="0"/>
              <a:t>) </a:t>
            </a:r>
            <a:r>
              <a:rPr lang="de-DE" dirty="0" err="1" smtClean="0"/>
              <a:t>to</a:t>
            </a:r>
            <a:r>
              <a:rPr lang="de-DE" dirty="0" smtClean="0"/>
              <a:t> real </a:t>
            </a:r>
            <a:r>
              <a:rPr lang="de-DE" dirty="0" err="1" smtClean="0"/>
              <a:t>class</a:t>
            </a:r>
            <a:r>
              <a:rPr lang="de-DE" dirty="0" smtClean="0"/>
              <a:t> </a:t>
            </a:r>
            <a:r>
              <a:rPr lang="de-DE" dirty="0" err="1" smtClean="0"/>
              <a:t>structure</a:t>
            </a:r>
            <a:endParaRPr lang="de-DE" dirty="0" smtClean="0"/>
          </a:p>
          <a:p>
            <a:pPr>
              <a:buNone/>
            </a:pPr>
            <a:r>
              <a:rPr lang="de-DE" dirty="0" smtClean="0"/>
              <a:t>	Rand </a:t>
            </a:r>
            <a:r>
              <a:rPr lang="de-DE" dirty="0" err="1" smtClean="0"/>
              <a:t>index</a:t>
            </a:r>
            <a:r>
              <a:rPr lang="de-DE" dirty="0" smtClean="0"/>
              <a:t>:  R = 0.8633</a:t>
            </a:r>
          </a:p>
          <a:p>
            <a:endParaRPr lang="de-DE" dirty="0" smtClean="0"/>
          </a:p>
          <a:p>
            <a:endParaRPr lang="de-DE" dirty="0" smtClean="0"/>
          </a:p>
          <a:p>
            <a:endParaRPr lang="de-DE" dirty="0" smtClean="0"/>
          </a:p>
          <a:p>
            <a:r>
              <a:rPr lang="de-DE" dirty="0" err="1" smtClean="0"/>
              <a:t>classification</a:t>
            </a:r>
            <a:r>
              <a:rPr lang="de-DE" dirty="0" smtClean="0"/>
              <a:t> </a:t>
            </a:r>
            <a:r>
              <a:rPr lang="de-DE" dirty="0" err="1" smtClean="0"/>
              <a:t>experiment</a:t>
            </a:r>
            <a:r>
              <a:rPr lang="de-DE" dirty="0" smtClean="0"/>
              <a:t>: k-</a:t>
            </a:r>
            <a:r>
              <a:rPr lang="de-DE" dirty="0" err="1" smtClean="0"/>
              <a:t>nearest</a:t>
            </a:r>
            <a:r>
              <a:rPr lang="de-DE" dirty="0" smtClean="0"/>
              <a:t> </a:t>
            </a:r>
            <a:r>
              <a:rPr lang="de-DE" dirty="0" err="1" smtClean="0"/>
              <a:t>neighbor</a:t>
            </a:r>
            <a:r>
              <a:rPr lang="de-DE" dirty="0" smtClean="0"/>
              <a:t>  </a:t>
            </a:r>
            <a:endParaRPr lang="de-DE" dirty="0"/>
          </a:p>
        </p:txBody>
      </p:sp>
      <p:sp>
        <p:nvSpPr>
          <p:cNvPr id="4" name="Foliennummernplatzhalter 3"/>
          <p:cNvSpPr>
            <a:spLocks noGrp="1"/>
          </p:cNvSpPr>
          <p:nvPr>
            <p:ph type="sldNum" sz="quarter" idx="12"/>
          </p:nvPr>
        </p:nvSpPr>
        <p:spPr/>
        <p:txBody>
          <a:bodyPr/>
          <a:lstStyle/>
          <a:p>
            <a:fld id="{3722AAB7-8C13-4FEF-BF4B-87394EDC6C8B}" type="slidenum">
              <a:rPr lang="de-DE" smtClean="0"/>
              <a:pPr/>
              <a:t>14</a:t>
            </a:fld>
            <a:endParaRPr lang="de-DE" dirty="0"/>
          </a:p>
        </p:txBody>
      </p:sp>
      <p:graphicFrame>
        <p:nvGraphicFramePr>
          <p:cNvPr id="6" name="Inhaltsplatzhalter 4"/>
          <p:cNvGraphicFramePr>
            <a:graphicFrameLocks/>
          </p:cNvGraphicFramePr>
          <p:nvPr>
            <p:extLst>
              <p:ext uri="{D42A27DB-BD31-4B8C-83A1-F6EECF244321}">
                <p14:modId xmlns="" xmlns:p14="http://schemas.microsoft.com/office/powerpoint/2010/main" val="204976743"/>
              </p:ext>
            </p:extLst>
          </p:nvPr>
        </p:nvGraphicFramePr>
        <p:xfrm>
          <a:off x="1331640" y="3717032"/>
          <a:ext cx="6172200" cy="1483360"/>
        </p:xfrm>
        <a:graphic>
          <a:graphicData uri="http://schemas.openxmlformats.org/drawingml/2006/table">
            <a:tbl>
              <a:tblPr firstRow="1" bandRow="1">
                <a:tableStyleId>{F5AB1C69-6EDB-4FF4-983F-18BD219EF322}</a:tableStyleId>
              </a:tblPr>
              <a:tblGrid>
                <a:gridCol w="1543050"/>
                <a:gridCol w="1543050"/>
                <a:gridCol w="1543050"/>
                <a:gridCol w="1543050"/>
              </a:tblGrid>
              <a:tr h="370840">
                <a:tc>
                  <a:txBody>
                    <a:bodyPr/>
                    <a:lstStyle/>
                    <a:p>
                      <a:pPr algn="ctr"/>
                      <a:r>
                        <a:rPr lang="de-DE" baseline="0" dirty="0" smtClean="0"/>
                        <a:t>k</a:t>
                      </a:r>
                      <a:endParaRPr lang="de-DE" baseline="0" dirty="0"/>
                    </a:p>
                  </a:txBody>
                  <a:tcPr/>
                </a:tc>
                <a:tc>
                  <a:txBody>
                    <a:bodyPr/>
                    <a:lstStyle/>
                    <a:p>
                      <a:pPr algn="ctr"/>
                      <a:r>
                        <a:rPr lang="de-DE" dirty="0" err="1" smtClean="0"/>
                        <a:t>d</a:t>
                      </a:r>
                      <a:r>
                        <a:rPr lang="de-DE" baseline="-25000" dirty="0" err="1" smtClean="0"/>
                        <a:t>QF</a:t>
                      </a:r>
                      <a:endParaRPr lang="de-DE" baseline="-25000" dirty="0"/>
                    </a:p>
                  </a:txBody>
                  <a:tcPr/>
                </a:tc>
                <a:tc>
                  <a:txBody>
                    <a:bodyPr/>
                    <a:lstStyle/>
                    <a:p>
                      <a:pPr algn="ctr"/>
                      <a:r>
                        <a:rPr lang="de-DE" dirty="0" err="1" smtClean="0"/>
                        <a:t>d</a:t>
                      </a:r>
                      <a:r>
                        <a:rPr lang="de-DE" baseline="-25000" dirty="0" err="1" smtClean="0"/>
                        <a:t>M</a:t>
                      </a:r>
                      <a:endParaRPr lang="de-DE" baseline="-25000" dirty="0"/>
                    </a:p>
                  </a:txBody>
                  <a:tcPr/>
                </a:tc>
                <a:tc>
                  <a:txBody>
                    <a:bodyPr/>
                    <a:lstStyle/>
                    <a:p>
                      <a:pPr algn="ctr"/>
                      <a:r>
                        <a:rPr lang="de-DE" baseline="0" dirty="0" err="1" smtClean="0"/>
                        <a:t>d</a:t>
                      </a:r>
                      <a:r>
                        <a:rPr lang="de-DE" baseline="-25000" dirty="0" err="1" smtClean="0"/>
                        <a:t>KS</a:t>
                      </a:r>
                      <a:endParaRPr lang="de-DE" baseline="-25000" dirty="0"/>
                    </a:p>
                  </a:txBody>
                  <a:tcPr/>
                </a:tc>
              </a:tr>
              <a:tr h="370840">
                <a:tc>
                  <a:txBody>
                    <a:bodyPr/>
                    <a:lstStyle/>
                    <a:p>
                      <a:pPr algn="ctr"/>
                      <a:r>
                        <a:rPr lang="de-DE" dirty="0" smtClean="0"/>
                        <a:t>1</a:t>
                      </a:r>
                      <a:endParaRPr lang="de-DE" dirty="0"/>
                    </a:p>
                  </a:txBody>
                  <a:tcPr/>
                </a:tc>
                <a:tc>
                  <a:txBody>
                    <a:bodyPr/>
                    <a:lstStyle/>
                    <a:p>
                      <a:pPr algn="ctr"/>
                      <a:r>
                        <a:rPr lang="de-DE" dirty="0" smtClean="0"/>
                        <a:t>94.1</a:t>
                      </a:r>
                      <a:endParaRPr lang="de-DE" dirty="0"/>
                    </a:p>
                  </a:txBody>
                  <a:tcPr/>
                </a:tc>
                <a:tc>
                  <a:txBody>
                    <a:bodyPr/>
                    <a:lstStyle/>
                    <a:p>
                      <a:pPr algn="ctr"/>
                      <a:r>
                        <a:rPr lang="de-DE" dirty="0" smtClean="0"/>
                        <a:t>94.4</a:t>
                      </a:r>
                      <a:endParaRPr lang="de-DE" dirty="0"/>
                    </a:p>
                  </a:txBody>
                  <a:tcPr/>
                </a:tc>
                <a:tc>
                  <a:txBody>
                    <a:bodyPr/>
                    <a:lstStyle/>
                    <a:p>
                      <a:pPr algn="ctr"/>
                      <a:r>
                        <a:rPr lang="de-DE" dirty="0" smtClean="0"/>
                        <a:t>94.5</a:t>
                      </a:r>
                      <a:endParaRPr lang="de-DE" dirty="0"/>
                    </a:p>
                  </a:txBody>
                  <a:tcPr/>
                </a:tc>
              </a:tr>
              <a:tr h="370840">
                <a:tc>
                  <a:txBody>
                    <a:bodyPr/>
                    <a:lstStyle/>
                    <a:p>
                      <a:pPr algn="ctr"/>
                      <a:r>
                        <a:rPr lang="de-DE" dirty="0" smtClean="0"/>
                        <a:t>3</a:t>
                      </a:r>
                      <a:endParaRPr lang="de-DE" dirty="0"/>
                    </a:p>
                  </a:txBody>
                  <a:tcPr/>
                </a:tc>
                <a:tc>
                  <a:txBody>
                    <a:bodyPr/>
                    <a:lstStyle/>
                    <a:p>
                      <a:pPr algn="ctr"/>
                      <a:r>
                        <a:rPr lang="de-DE" dirty="0" smtClean="0"/>
                        <a:t>92.9</a:t>
                      </a:r>
                      <a:endParaRPr lang="de-DE" dirty="0"/>
                    </a:p>
                  </a:txBody>
                  <a:tcPr/>
                </a:tc>
                <a:tc>
                  <a:txBody>
                    <a:bodyPr/>
                    <a:lstStyle/>
                    <a:p>
                      <a:pPr algn="ctr"/>
                      <a:r>
                        <a:rPr lang="de-DE" dirty="0" smtClean="0"/>
                        <a:t>91.9</a:t>
                      </a:r>
                      <a:endParaRPr lang="de-DE" dirty="0"/>
                    </a:p>
                  </a:txBody>
                  <a:tcPr/>
                </a:tc>
                <a:tc>
                  <a:txBody>
                    <a:bodyPr/>
                    <a:lstStyle/>
                    <a:p>
                      <a:pPr algn="ctr"/>
                      <a:r>
                        <a:rPr lang="de-DE" dirty="0" smtClean="0"/>
                        <a:t>92.6</a:t>
                      </a:r>
                      <a:endParaRPr lang="de-DE" dirty="0"/>
                    </a:p>
                  </a:txBody>
                  <a:tcPr/>
                </a:tc>
              </a:tr>
              <a:tr h="370840">
                <a:tc>
                  <a:txBody>
                    <a:bodyPr/>
                    <a:lstStyle/>
                    <a:p>
                      <a:pPr algn="ctr"/>
                      <a:r>
                        <a:rPr lang="de-DE" dirty="0" smtClean="0"/>
                        <a:t>5</a:t>
                      </a:r>
                      <a:endParaRPr lang="de-DE" dirty="0"/>
                    </a:p>
                  </a:txBody>
                  <a:tcPr/>
                </a:tc>
                <a:tc>
                  <a:txBody>
                    <a:bodyPr/>
                    <a:lstStyle/>
                    <a:p>
                      <a:pPr algn="ctr"/>
                      <a:r>
                        <a:rPr lang="de-DE" dirty="0" smtClean="0"/>
                        <a:t>90.5</a:t>
                      </a:r>
                      <a:endParaRPr lang="de-DE" dirty="0"/>
                    </a:p>
                  </a:txBody>
                  <a:tcPr/>
                </a:tc>
                <a:tc>
                  <a:txBody>
                    <a:bodyPr/>
                    <a:lstStyle/>
                    <a:p>
                      <a:pPr algn="ctr"/>
                      <a:r>
                        <a:rPr lang="de-DE" dirty="0" smtClean="0"/>
                        <a:t>91.2</a:t>
                      </a:r>
                      <a:endParaRPr lang="de-DE" dirty="0"/>
                    </a:p>
                  </a:txBody>
                  <a:tcPr/>
                </a:tc>
                <a:tc>
                  <a:txBody>
                    <a:bodyPr/>
                    <a:lstStyle/>
                    <a:p>
                      <a:pPr algn="ctr"/>
                      <a:r>
                        <a:rPr lang="de-DE" dirty="0" smtClean="0"/>
                        <a:t>91.6</a:t>
                      </a:r>
                      <a:endParaRPr lang="de-DE" dirty="0"/>
                    </a:p>
                  </a:txBody>
                  <a:tcPr/>
                </a:tc>
              </a:tr>
            </a:tbl>
          </a:graphicData>
        </a:graphic>
      </p:graphicFrame>
    </p:spTree>
    <p:extLst>
      <p:ext uri="{BB962C8B-B14F-4D97-AF65-F5344CB8AC3E}">
        <p14:creationId xmlns="" xmlns:p14="http://schemas.microsoft.com/office/powerpoint/2010/main" val="1925531079"/>
      </p:ext>
    </p:extLst>
  </p:cSld>
  <p:clrMapOvr>
    <a:masterClrMapping/>
  </p:clrMapOvr>
  <p:transition>
    <p:cu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r>
              <a:rPr lang="en-US" dirty="0" err="1" smtClean="0"/>
              <a:t>Fuzzification</a:t>
            </a:r>
            <a:r>
              <a:rPr lang="en-US" dirty="0" smtClean="0"/>
              <a:t> solves the problem of discontinuity</a:t>
            </a:r>
            <a:endParaRPr lang="en-US" dirty="0"/>
          </a:p>
        </p:txBody>
      </p:sp>
      <mc:AlternateContent xmlns:mc="http://schemas.openxmlformats.org/markup-compatibility/2006">
        <mc:Choice xmlns="" xmlns:a14="http://schemas.microsoft.com/office/drawing/2010/main" Requires="a14">
          <p:sp>
            <p:nvSpPr>
              <p:cNvPr id="3" name="Inhaltsplatzhalter 2"/>
              <p:cNvSpPr>
                <a:spLocks noGrp="1"/>
              </p:cNvSpPr>
              <p:nvPr>
                <p:ph idx="1"/>
              </p:nvPr>
            </p:nvSpPr>
            <p:spPr/>
            <p:txBody>
              <a:bodyPr/>
              <a:lstStyle/>
              <a:p>
                <a:r>
                  <a:rPr lang="en-US" dirty="0" smtClean="0"/>
                  <a:t>problem of discontinuity is known for histograms</a:t>
                </a:r>
              </a:p>
              <a:p>
                <a:pPr lvl="1"/>
                <a:r>
                  <a:rPr lang="en-US" dirty="0" smtClean="0"/>
                  <a:t>2.99 belongs to bin [2, 3[ whereas 3.0 belongs to bin [3, 4[</a:t>
                </a:r>
              </a:p>
              <a:p>
                <a:pPr lvl="1"/>
                <a:r>
                  <a:rPr lang="en-US" dirty="0" smtClean="0"/>
                  <a:t>2.1 and 2.9 belong to bin [2, 3[</a:t>
                </a:r>
              </a:p>
              <a:p>
                <a:endParaRPr lang="en-US" sz="1050" dirty="0" smtClean="0"/>
              </a:p>
              <a:p>
                <a:r>
                  <a:rPr lang="en-US" dirty="0" smtClean="0"/>
                  <a:t>use triangular fuzzy sets </a:t>
                </a:r>
                <a14:m>
                  <m:oMath xmlns:m="http://schemas.openxmlformats.org/officeDocument/2006/math">
                    <m:sSub>
                      <m:sSubPr>
                        <m:ctrlPr>
                          <a:rPr lang="en-US" i="1" smtClean="0">
                            <a:latin typeface="Cambria Math"/>
                          </a:rPr>
                        </m:ctrlPr>
                      </m:sSubPr>
                      <m:e>
                        <m:r>
                          <a:rPr lang="de-DE" b="0" i="1" smtClean="0">
                            <a:latin typeface="Cambria Math"/>
                          </a:rPr>
                          <m:t>𝑓</m:t>
                        </m:r>
                      </m:e>
                      <m:sub>
                        <m:r>
                          <a:rPr lang="de-DE" b="0" i="1" smtClean="0">
                            <a:latin typeface="Cambria Math"/>
                          </a:rPr>
                          <m:t>𝑏</m:t>
                        </m:r>
                      </m:sub>
                    </m:sSub>
                    <m:r>
                      <a:rPr lang="de-DE" b="0" i="1" smtClean="0">
                        <a:latin typeface="Cambria Math"/>
                      </a:rPr>
                      <m:t> </m:t>
                    </m:r>
                  </m:oMath>
                </a14:m>
                <a:r>
                  <a:rPr lang="en-US" dirty="0" smtClean="0"/>
                  <a:t>with core {</a:t>
                </a:r>
                <a:r>
                  <a:rPr lang="en-US" i="1" dirty="0" smtClean="0"/>
                  <a:t>b</a:t>
                </a:r>
                <a:r>
                  <a:rPr lang="en-US" dirty="0" smtClean="0"/>
                  <a:t>} and support ]</a:t>
                </a:r>
                <a:r>
                  <a:rPr lang="en-US" i="1" dirty="0" smtClean="0"/>
                  <a:t>b – 1, b + 1</a:t>
                </a:r>
                <a:r>
                  <a:rPr lang="en-US" dirty="0" smtClean="0"/>
                  <a:t>[</a:t>
                </a:r>
                <a:endParaRPr lang="en-US" dirty="0"/>
              </a:p>
              <a:p>
                <a:endParaRPr lang="en-US" sz="1050" dirty="0" smtClean="0"/>
              </a:p>
              <a:p>
                <a:r>
                  <a:rPr lang="en-US" dirty="0" smtClean="0"/>
                  <a:t>replace for fuzzy histograms counts by sigma-counts</a:t>
                </a:r>
              </a:p>
              <a:p>
                <a:pPr marL="0" indent="0">
                  <a:buNone/>
                </a:pPr>
                <a:endParaRPr lang="en-US" sz="1050" i="1" dirty="0" smtClean="0">
                  <a:latin typeface="Cambria Math"/>
                </a:endParaRPr>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a:rPr>
                          </m:ctrlPr>
                        </m:sSubPr>
                        <m:e>
                          <m:r>
                            <a:rPr lang="de-DE" b="0" i="1" smtClean="0">
                              <a:latin typeface="Cambria Math"/>
                            </a:rPr>
                            <m:t>h</m:t>
                          </m:r>
                        </m:e>
                        <m:sub>
                          <m:r>
                            <a:rPr lang="de-DE" b="0" i="1" smtClean="0">
                              <a:latin typeface="Cambria Math"/>
                            </a:rPr>
                            <m:t>𝑓</m:t>
                          </m:r>
                        </m:sub>
                      </m:sSub>
                      <m:d>
                        <m:dPr>
                          <m:ctrlPr>
                            <a:rPr lang="de-DE" b="0" i="1" smtClean="0">
                              <a:latin typeface="Cambria Math"/>
                            </a:rPr>
                          </m:ctrlPr>
                        </m:dPr>
                        <m:e>
                          <m:r>
                            <a:rPr lang="de-DE" b="0" i="1" smtClean="0">
                              <a:latin typeface="Cambria Math"/>
                            </a:rPr>
                            <m:t>𝑏</m:t>
                          </m:r>
                        </m:e>
                      </m:d>
                      <m:r>
                        <a:rPr lang="de-DE" b="0" i="1" smtClean="0">
                          <a:latin typeface="Cambria Math"/>
                        </a:rPr>
                        <m:t>= </m:t>
                      </m:r>
                      <m:nary>
                        <m:naryPr>
                          <m:chr m:val="∑"/>
                          <m:supHide m:val="on"/>
                          <m:ctrlPr>
                            <a:rPr lang="de-DE" b="0" i="1" smtClean="0">
                              <a:latin typeface="Cambria Math"/>
                            </a:rPr>
                          </m:ctrlPr>
                        </m:naryPr>
                        <m:sub>
                          <m:r>
                            <m:rPr>
                              <m:brk m:alnAt="7"/>
                            </m:rPr>
                            <a:rPr lang="de-DE" b="0" i="1" smtClean="0">
                              <a:latin typeface="Cambria Math"/>
                            </a:rPr>
                            <m:t>𝑑</m:t>
                          </m:r>
                          <m:r>
                            <a:rPr lang="de-DE" b="0" i="1" smtClean="0">
                              <a:latin typeface="Cambria Math"/>
                              <a:ea typeface="Cambria Math"/>
                            </a:rPr>
                            <m:t>∈</m:t>
                          </m:r>
                          <m:r>
                            <a:rPr lang="de-DE" b="0" i="1" smtClean="0">
                              <a:latin typeface="Cambria Math"/>
                              <a:ea typeface="Cambria Math"/>
                            </a:rPr>
                            <m:t>𝐷</m:t>
                          </m:r>
                        </m:sub>
                        <m:sup/>
                        <m:e>
                          <m:sSub>
                            <m:sSubPr>
                              <m:ctrlPr>
                                <a:rPr lang="de-DE" b="0" i="1" smtClean="0">
                                  <a:latin typeface="Cambria Math"/>
                                </a:rPr>
                              </m:ctrlPr>
                            </m:sSubPr>
                            <m:e>
                              <m:r>
                                <a:rPr lang="de-DE" b="0" i="1" smtClean="0">
                                  <a:latin typeface="Cambria Math"/>
                                </a:rPr>
                                <m:t>𝑓</m:t>
                              </m:r>
                            </m:e>
                            <m:sub>
                              <m:r>
                                <a:rPr lang="de-DE" b="0" i="1" smtClean="0">
                                  <a:latin typeface="Cambria Math"/>
                                </a:rPr>
                                <m:t>𝑏</m:t>
                              </m:r>
                            </m:sub>
                          </m:sSub>
                          <m:r>
                            <a:rPr lang="de-DE" b="0" i="1" smtClean="0">
                              <a:latin typeface="Cambria Math"/>
                            </a:rPr>
                            <m:t>(</m:t>
                          </m:r>
                          <m:r>
                            <a:rPr lang="de-DE" b="0" i="1" smtClean="0">
                              <a:latin typeface="Cambria Math"/>
                            </a:rPr>
                            <m:t>𝑑</m:t>
                          </m:r>
                          <m:r>
                            <a:rPr lang="de-DE" b="0" i="1" smtClean="0">
                              <a:latin typeface="Cambria Math"/>
                            </a:rPr>
                            <m:t>)</m:t>
                          </m:r>
                        </m:e>
                      </m:nary>
                    </m:oMath>
                  </m:oMathPara>
                </a14:m>
                <a:endParaRPr lang="en-US" dirty="0" smtClean="0"/>
              </a:p>
              <a:p>
                <a:pPr marL="0" indent="0">
                  <a:buNone/>
                </a:pPr>
                <a:endParaRPr lang="en-US" dirty="0"/>
              </a:p>
            </p:txBody>
          </p:sp>
        </mc:Choice>
        <mc:Fallback>
          <p:sp>
            <p:nvSpPr>
              <p:cNvPr id="3" name="Inhaltsplatzhalter 2"/>
              <p:cNvSpPr>
                <a:spLocks noGrp="1" noRot="1" noChangeAspect="1" noMove="1" noResize="1" noEditPoints="1" noAdjustHandles="1" noChangeArrowheads="1" noChangeShapeType="1" noTextEdit="1"/>
              </p:cNvSpPr>
              <p:nvPr>
                <p:ph idx="1"/>
              </p:nvPr>
            </p:nvSpPr>
            <p:spPr>
              <a:blipFill rotWithShape="1">
                <a:blip r:embed="rId2" cstate="print"/>
                <a:stretch>
                  <a:fillRect l="-593" t="-620"/>
                </a:stretch>
              </a:blipFill>
            </p:spPr>
            <p:txBody>
              <a:bodyPr/>
              <a:lstStyle/>
              <a:p>
                <a:r>
                  <a:rPr lang="de-DE">
                    <a:noFill/>
                  </a:rPr>
                  <a:t> </a:t>
                </a:r>
              </a:p>
            </p:txBody>
          </p:sp>
        </mc:Fallback>
      </mc:AlternateContent>
      <p:sp>
        <p:nvSpPr>
          <p:cNvPr id="4" name="Foliennummernplatzhalter 3"/>
          <p:cNvSpPr>
            <a:spLocks noGrp="1"/>
          </p:cNvSpPr>
          <p:nvPr>
            <p:ph type="sldNum" sz="quarter" idx="12"/>
          </p:nvPr>
        </p:nvSpPr>
        <p:spPr/>
        <p:txBody>
          <a:bodyPr/>
          <a:lstStyle/>
          <a:p>
            <a:fld id="{3722AAB7-8C13-4FEF-BF4B-87394EDC6C8B}" type="slidenum">
              <a:rPr lang="de-DE" smtClean="0"/>
              <a:pPr/>
              <a:t>15</a:t>
            </a:fld>
            <a:endParaRPr lang="de-DE" dirty="0"/>
          </a:p>
        </p:txBody>
      </p:sp>
      <p:cxnSp>
        <p:nvCxnSpPr>
          <p:cNvPr id="5" name="Gerade Verbindung mit Pfeil 4"/>
          <p:cNvCxnSpPr/>
          <p:nvPr/>
        </p:nvCxnSpPr>
        <p:spPr>
          <a:xfrm flipV="1">
            <a:off x="971600" y="5039598"/>
            <a:ext cx="0" cy="1008112"/>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6" name="Gerade Verbindung mit Pfeil 5"/>
          <p:cNvCxnSpPr/>
          <p:nvPr/>
        </p:nvCxnSpPr>
        <p:spPr>
          <a:xfrm>
            <a:off x="827584" y="5975702"/>
            <a:ext cx="7344816" cy="0"/>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p:nvCxnSpPr>
        <p:spPr>
          <a:xfrm>
            <a:off x="1682731" y="5895275"/>
            <a:ext cx="0" cy="144016"/>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11" name="Gerade Verbindung 10"/>
          <p:cNvCxnSpPr/>
          <p:nvPr/>
        </p:nvCxnSpPr>
        <p:spPr>
          <a:xfrm>
            <a:off x="2411014" y="5895275"/>
            <a:ext cx="0" cy="144016"/>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12" name="Textfeld 11"/>
          <p:cNvSpPr txBox="1"/>
          <p:nvPr/>
        </p:nvSpPr>
        <p:spPr>
          <a:xfrm>
            <a:off x="1547664" y="6047710"/>
            <a:ext cx="256802" cy="261610"/>
          </a:xfrm>
          <a:prstGeom prst="rect">
            <a:avLst/>
          </a:prstGeom>
          <a:noFill/>
        </p:spPr>
        <p:txBody>
          <a:bodyPr wrap="none" rtlCol="0">
            <a:spAutoFit/>
          </a:bodyPr>
          <a:lstStyle/>
          <a:p>
            <a:r>
              <a:rPr lang="de-DE" sz="1100" b="1" dirty="0" smtClean="0">
                <a:latin typeface="+mn-lt"/>
              </a:rPr>
              <a:t>1</a:t>
            </a:r>
            <a:endParaRPr lang="de-DE" sz="2000" b="1" dirty="0" smtClean="0">
              <a:latin typeface="+mn-lt"/>
            </a:endParaRPr>
          </a:p>
        </p:txBody>
      </p:sp>
      <p:sp>
        <p:nvSpPr>
          <p:cNvPr id="13" name="Textfeld 12"/>
          <p:cNvSpPr txBox="1"/>
          <p:nvPr/>
        </p:nvSpPr>
        <p:spPr>
          <a:xfrm>
            <a:off x="2282613" y="6047710"/>
            <a:ext cx="256802" cy="261610"/>
          </a:xfrm>
          <a:prstGeom prst="rect">
            <a:avLst/>
          </a:prstGeom>
          <a:noFill/>
        </p:spPr>
        <p:txBody>
          <a:bodyPr wrap="none" rtlCol="0">
            <a:spAutoFit/>
          </a:bodyPr>
          <a:lstStyle/>
          <a:p>
            <a:r>
              <a:rPr lang="de-DE" sz="1100" b="1" dirty="0" smtClean="0">
                <a:latin typeface="+mn-lt"/>
              </a:rPr>
              <a:t>2</a:t>
            </a:r>
            <a:endParaRPr lang="de-DE" sz="2000" b="1" dirty="0" smtClean="0">
              <a:latin typeface="+mn-lt"/>
            </a:endParaRPr>
          </a:p>
        </p:txBody>
      </p:sp>
      <p:cxnSp>
        <p:nvCxnSpPr>
          <p:cNvPr id="14" name="Gerade Verbindung 13"/>
          <p:cNvCxnSpPr/>
          <p:nvPr/>
        </p:nvCxnSpPr>
        <p:spPr>
          <a:xfrm>
            <a:off x="3108022" y="5903694"/>
            <a:ext cx="0" cy="144016"/>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15" name="Gerade Verbindung 14"/>
          <p:cNvCxnSpPr/>
          <p:nvPr/>
        </p:nvCxnSpPr>
        <p:spPr>
          <a:xfrm>
            <a:off x="3836305" y="5903694"/>
            <a:ext cx="0" cy="144016"/>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16" name="Textfeld 15"/>
          <p:cNvSpPr txBox="1"/>
          <p:nvPr/>
        </p:nvSpPr>
        <p:spPr>
          <a:xfrm>
            <a:off x="2972955" y="6047710"/>
            <a:ext cx="256802" cy="261610"/>
          </a:xfrm>
          <a:prstGeom prst="rect">
            <a:avLst/>
          </a:prstGeom>
          <a:noFill/>
        </p:spPr>
        <p:txBody>
          <a:bodyPr wrap="none" rtlCol="0">
            <a:spAutoFit/>
          </a:bodyPr>
          <a:lstStyle/>
          <a:p>
            <a:r>
              <a:rPr lang="de-DE" sz="1100" b="1" dirty="0" smtClean="0">
                <a:latin typeface="+mn-lt"/>
              </a:rPr>
              <a:t>3</a:t>
            </a:r>
            <a:endParaRPr lang="de-DE" sz="2000" b="1" dirty="0" smtClean="0">
              <a:latin typeface="+mn-lt"/>
            </a:endParaRPr>
          </a:p>
        </p:txBody>
      </p:sp>
      <p:sp>
        <p:nvSpPr>
          <p:cNvPr id="17" name="Textfeld 16"/>
          <p:cNvSpPr txBox="1"/>
          <p:nvPr/>
        </p:nvSpPr>
        <p:spPr>
          <a:xfrm>
            <a:off x="3707904" y="6047710"/>
            <a:ext cx="256802" cy="261610"/>
          </a:xfrm>
          <a:prstGeom prst="rect">
            <a:avLst/>
          </a:prstGeom>
          <a:noFill/>
        </p:spPr>
        <p:txBody>
          <a:bodyPr wrap="none" rtlCol="0">
            <a:spAutoFit/>
          </a:bodyPr>
          <a:lstStyle/>
          <a:p>
            <a:r>
              <a:rPr lang="de-DE" sz="1100" b="1" dirty="0" smtClean="0">
                <a:latin typeface="+mn-lt"/>
              </a:rPr>
              <a:t>4</a:t>
            </a:r>
            <a:endParaRPr lang="de-DE" sz="2000" b="1" dirty="0" smtClean="0">
              <a:latin typeface="+mn-lt"/>
            </a:endParaRPr>
          </a:p>
        </p:txBody>
      </p:sp>
      <p:cxnSp>
        <p:nvCxnSpPr>
          <p:cNvPr id="18" name="Gerade Verbindung 17"/>
          <p:cNvCxnSpPr/>
          <p:nvPr/>
        </p:nvCxnSpPr>
        <p:spPr>
          <a:xfrm>
            <a:off x="4563797" y="5903694"/>
            <a:ext cx="0" cy="144016"/>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20" name="Textfeld 19"/>
          <p:cNvSpPr txBox="1"/>
          <p:nvPr/>
        </p:nvSpPr>
        <p:spPr>
          <a:xfrm>
            <a:off x="4428730" y="6047710"/>
            <a:ext cx="256802" cy="261610"/>
          </a:xfrm>
          <a:prstGeom prst="rect">
            <a:avLst/>
          </a:prstGeom>
          <a:noFill/>
        </p:spPr>
        <p:txBody>
          <a:bodyPr wrap="none" rtlCol="0">
            <a:spAutoFit/>
          </a:bodyPr>
          <a:lstStyle/>
          <a:p>
            <a:r>
              <a:rPr lang="de-DE" sz="1100" b="1" dirty="0" smtClean="0">
                <a:latin typeface="+mn-lt"/>
              </a:rPr>
              <a:t>5</a:t>
            </a:r>
            <a:endParaRPr lang="de-DE" sz="2000" b="1" dirty="0" smtClean="0">
              <a:latin typeface="+mn-lt"/>
            </a:endParaRPr>
          </a:p>
        </p:txBody>
      </p:sp>
      <p:cxnSp>
        <p:nvCxnSpPr>
          <p:cNvPr id="23" name="Gerade Verbindung 22"/>
          <p:cNvCxnSpPr/>
          <p:nvPr/>
        </p:nvCxnSpPr>
        <p:spPr>
          <a:xfrm>
            <a:off x="899592" y="5255622"/>
            <a:ext cx="144016" cy="0"/>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26" name="Textfeld 25"/>
          <p:cNvSpPr txBox="1"/>
          <p:nvPr/>
        </p:nvSpPr>
        <p:spPr>
          <a:xfrm>
            <a:off x="639182" y="5124817"/>
            <a:ext cx="256802" cy="261610"/>
          </a:xfrm>
          <a:prstGeom prst="rect">
            <a:avLst/>
          </a:prstGeom>
          <a:noFill/>
        </p:spPr>
        <p:txBody>
          <a:bodyPr wrap="none" rtlCol="0">
            <a:spAutoFit/>
          </a:bodyPr>
          <a:lstStyle/>
          <a:p>
            <a:r>
              <a:rPr lang="de-DE" sz="1100" b="1" dirty="0" smtClean="0">
                <a:latin typeface="+mn-lt"/>
              </a:rPr>
              <a:t>1</a:t>
            </a:r>
            <a:endParaRPr lang="de-DE" sz="2000" b="1" dirty="0" smtClean="0">
              <a:latin typeface="+mn-lt"/>
            </a:endParaRPr>
          </a:p>
        </p:txBody>
      </p:sp>
      <p:cxnSp>
        <p:nvCxnSpPr>
          <p:cNvPr id="28" name="Gerade Verbindung 27"/>
          <p:cNvCxnSpPr/>
          <p:nvPr/>
        </p:nvCxnSpPr>
        <p:spPr>
          <a:xfrm>
            <a:off x="5298000" y="5895240"/>
            <a:ext cx="0" cy="144016"/>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29" name="Gerade Verbindung 28"/>
          <p:cNvCxnSpPr/>
          <p:nvPr/>
        </p:nvCxnSpPr>
        <p:spPr>
          <a:xfrm>
            <a:off x="6026283" y="5895240"/>
            <a:ext cx="0" cy="144016"/>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30" name="Textfeld 29"/>
          <p:cNvSpPr txBox="1"/>
          <p:nvPr/>
        </p:nvSpPr>
        <p:spPr>
          <a:xfrm>
            <a:off x="5162933" y="6047675"/>
            <a:ext cx="256802" cy="261610"/>
          </a:xfrm>
          <a:prstGeom prst="rect">
            <a:avLst/>
          </a:prstGeom>
          <a:noFill/>
        </p:spPr>
        <p:txBody>
          <a:bodyPr wrap="none" rtlCol="0">
            <a:spAutoFit/>
          </a:bodyPr>
          <a:lstStyle/>
          <a:p>
            <a:r>
              <a:rPr lang="de-DE" sz="1100" b="1" dirty="0" smtClean="0">
                <a:latin typeface="+mn-lt"/>
              </a:rPr>
              <a:t>6</a:t>
            </a:r>
            <a:endParaRPr lang="de-DE" sz="2000" b="1" dirty="0" smtClean="0">
              <a:latin typeface="+mn-lt"/>
            </a:endParaRPr>
          </a:p>
        </p:txBody>
      </p:sp>
      <p:sp>
        <p:nvSpPr>
          <p:cNvPr id="31" name="Textfeld 30"/>
          <p:cNvSpPr txBox="1"/>
          <p:nvPr/>
        </p:nvSpPr>
        <p:spPr>
          <a:xfrm>
            <a:off x="5897882" y="6047675"/>
            <a:ext cx="256802" cy="261610"/>
          </a:xfrm>
          <a:prstGeom prst="rect">
            <a:avLst/>
          </a:prstGeom>
          <a:noFill/>
        </p:spPr>
        <p:txBody>
          <a:bodyPr wrap="none" rtlCol="0">
            <a:spAutoFit/>
          </a:bodyPr>
          <a:lstStyle/>
          <a:p>
            <a:r>
              <a:rPr lang="de-DE" sz="1100" b="1" dirty="0" smtClean="0">
                <a:latin typeface="+mn-lt"/>
              </a:rPr>
              <a:t>7</a:t>
            </a:r>
            <a:endParaRPr lang="de-DE" sz="2000" b="1" dirty="0" smtClean="0">
              <a:latin typeface="+mn-lt"/>
            </a:endParaRPr>
          </a:p>
        </p:txBody>
      </p:sp>
      <p:cxnSp>
        <p:nvCxnSpPr>
          <p:cNvPr id="32" name="Gerade Verbindung 31"/>
          <p:cNvCxnSpPr/>
          <p:nvPr/>
        </p:nvCxnSpPr>
        <p:spPr>
          <a:xfrm>
            <a:off x="6723291" y="5903659"/>
            <a:ext cx="0" cy="144016"/>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33" name="Gerade Verbindung 32"/>
          <p:cNvCxnSpPr/>
          <p:nvPr/>
        </p:nvCxnSpPr>
        <p:spPr>
          <a:xfrm>
            <a:off x="7451574" y="5903659"/>
            <a:ext cx="0" cy="144016"/>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34" name="Textfeld 33"/>
          <p:cNvSpPr txBox="1"/>
          <p:nvPr/>
        </p:nvSpPr>
        <p:spPr>
          <a:xfrm>
            <a:off x="6588224" y="6047675"/>
            <a:ext cx="256802" cy="261610"/>
          </a:xfrm>
          <a:prstGeom prst="rect">
            <a:avLst/>
          </a:prstGeom>
          <a:noFill/>
        </p:spPr>
        <p:txBody>
          <a:bodyPr wrap="none" rtlCol="0">
            <a:spAutoFit/>
          </a:bodyPr>
          <a:lstStyle/>
          <a:p>
            <a:r>
              <a:rPr lang="de-DE" sz="1100" b="1" dirty="0" smtClean="0">
                <a:latin typeface="+mn-lt"/>
              </a:rPr>
              <a:t>8</a:t>
            </a:r>
            <a:endParaRPr lang="de-DE" sz="2000" b="1" dirty="0" smtClean="0">
              <a:latin typeface="+mn-lt"/>
            </a:endParaRPr>
          </a:p>
        </p:txBody>
      </p:sp>
      <p:sp>
        <p:nvSpPr>
          <p:cNvPr id="35" name="Textfeld 34"/>
          <p:cNvSpPr txBox="1"/>
          <p:nvPr/>
        </p:nvSpPr>
        <p:spPr>
          <a:xfrm>
            <a:off x="7323173" y="6047675"/>
            <a:ext cx="256802" cy="261610"/>
          </a:xfrm>
          <a:prstGeom prst="rect">
            <a:avLst/>
          </a:prstGeom>
          <a:noFill/>
        </p:spPr>
        <p:txBody>
          <a:bodyPr wrap="none" rtlCol="0">
            <a:spAutoFit/>
          </a:bodyPr>
          <a:lstStyle/>
          <a:p>
            <a:r>
              <a:rPr lang="de-DE" sz="1100" b="1" dirty="0" smtClean="0">
                <a:latin typeface="+mn-lt"/>
              </a:rPr>
              <a:t>9</a:t>
            </a:r>
            <a:endParaRPr lang="de-DE" sz="2000" b="1" dirty="0" smtClean="0">
              <a:latin typeface="+mn-lt"/>
            </a:endParaRPr>
          </a:p>
        </p:txBody>
      </p:sp>
      <p:cxnSp>
        <p:nvCxnSpPr>
          <p:cNvPr id="39" name="Gerade Verbindung 38"/>
          <p:cNvCxnSpPr/>
          <p:nvPr/>
        </p:nvCxnSpPr>
        <p:spPr>
          <a:xfrm flipV="1">
            <a:off x="1682731" y="5255623"/>
            <a:ext cx="728283" cy="720079"/>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41" name="Gerade Verbindung 40"/>
          <p:cNvCxnSpPr/>
          <p:nvPr/>
        </p:nvCxnSpPr>
        <p:spPr>
          <a:xfrm>
            <a:off x="2411014" y="5255622"/>
            <a:ext cx="697008" cy="720080"/>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42" name="Gerade Verbindung 41"/>
          <p:cNvCxnSpPr/>
          <p:nvPr/>
        </p:nvCxnSpPr>
        <p:spPr>
          <a:xfrm flipV="1">
            <a:off x="2412133" y="5247169"/>
            <a:ext cx="719707" cy="728533"/>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43" name="Gerade Verbindung 42"/>
          <p:cNvCxnSpPr/>
          <p:nvPr/>
        </p:nvCxnSpPr>
        <p:spPr>
          <a:xfrm>
            <a:off x="3131840" y="5247168"/>
            <a:ext cx="712645" cy="728534"/>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46" name="Gerade Verbindung 45"/>
          <p:cNvCxnSpPr/>
          <p:nvPr/>
        </p:nvCxnSpPr>
        <p:spPr>
          <a:xfrm flipV="1">
            <a:off x="5298000" y="5247134"/>
            <a:ext cx="710189" cy="728568"/>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47" name="Gerade Verbindung 46"/>
          <p:cNvCxnSpPr/>
          <p:nvPr/>
        </p:nvCxnSpPr>
        <p:spPr>
          <a:xfrm>
            <a:off x="6008189" y="5247133"/>
            <a:ext cx="724051" cy="728569"/>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48" name="Textfeld 47"/>
          <p:cNvSpPr txBox="1"/>
          <p:nvPr/>
        </p:nvSpPr>
        <p:spPr>
          <a:xfrm>
            <a:off x="4397181" y="4924762"/>
            <a:ext cx="434734" cy="400110"/>
          </a:xfrm>
          <a:prstGeom prst="rect">
            <a:avLst/>
          </a:prstGeom>
          <a:noFill/>
        </p:spPr>
        <p:txBody>
          <a:bodyPr wrap="none" rtlCol="0">
            <a:spAutoFit/>
          </a:bodyPr>
          <a:lstStyle/>
          <a:p>
            <a:r>
              <a:rPr lang="de-DE" sz="2000" dirty="0" smtClean="0">
                <a:latin typeface="+mn-lt"/>
              </a:rPr>
              <a:t>... </a:t>
            </a:r>
          </a:p>
        </p:txBody>
      </p:sp>
      <mc:AlternateContent xmlns:mc="http://schemas.openxmlformats.org/markup-compatibility/2006">
        <mc:Choice xmlns="" xmlns:a14="http://schemas.microsoft.com/office/drawing/2010/main" Requires="a14">
          <p:sp>
            <p:nvSpPr>
              <p:cNvPr id="49" name="Textfeld 48"/>
              <p:cNvSpPr txBox="1"/>
              <p:nvPr/>
            </p:nvSpPr>
            <p:spPr>
              <a:xfrm>
                <a:off x="5794777" y="4838013"/>
                <a:ext cx="463012"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de-DE" sz="2000" i="1" smtClean="0">
                              <a:latin typeface="Cambria Math"/>
                            </a:rPr>
                          </m:ctrlPr>
                        </m:sSubPr>
                        <m:e>
                          <m:r>
                            <a:rPr lang="de-DE" sz="2000" b="0" i="1" smtClean="0">
                              <a:latin typeface="Cambria Math"/>
                            </a:rPr>
                            <m:t>𝑓</m:t>
                          </m:r>
                        </m:e>
                        <m:sub>
                          <m:r>
                            <a:rPr lang="de-DE" sz="2000" b="0" i="1" smtClean="0">
                              <a:latin typeface="Cambria Math"/>
                            </a:rPr>
                            <m:t>7</m:t>
                          </m:r>
                        </m:sub>
                      </m:sSub>
                    </m:oMath>
                  </m:oMathPara>
                </a14:m>
                <a:endParaRPr lang="de-DE" sz="2000" dirty="0" err="1" smtClean="0">
                  <a:latin typeface="+mn-lt"/>
                </a:endParaRPr>
              </a:p>
            </p:txBody>
          </p:sp>
        </mc:Choice>
        <mc:Fallback>
          <p:sp>
            <p:nvSpPr>
              <p:cNvPr id="49" name="Textfeld 48"/>
              <p:cNvSpPr txBox="1">
                <a:spLocks noRot="1" noChangeAspect="1" noMove="1" noResize="1" noEditPoints="1" noAdjustHandles="1" noChangeArrowheads="1" noChangeShapeType="1" noTextEdit="1"/>
              </p:cNvSpPr>
              <p:nvPr/>
            </p:nvSpPr>
            <p:spPr>
              <a:xfrm>
                <a:off x="5794777" y="4838013"/>
                <a:ext cx="463012" cy="400110"/>
              </a:xfrm>
              <a:prstGeom prst="rect">
                <a:avLst/>
              </a:prstGeom>
              <a:blipFill rotWithShape="1">
                <a:blip r:embed="rId3" cstate="print"/>
                <a:stretch>
                  <a:fillRect b="-15385"/>
                </a:stretch>
              </a:blipFill>
            </p:spPr>
            <p:txBody>
              <a:bodyPr/>
              <a:lstStyle/>
              <a:p>
                <a:r>
                  <a:rPr lang="de-DE">
                    <a:noFill/>
                  </a:rPr>
                  <a:t> </a:t>
                </a:r>
              </a:p>
            </p:txBody>
          </p:sp>
        </mc:Fallback>
      </mc:AlternateContent>
      <mc:AlternateContent xmlns:mc="http://schemas.openxmlformats.org/markup-compatibility/2006">
        <mc:Choice xmlns="" xmlns:a14="http://schemas.microsoft.com/office/drawing/2010/main" Requires="a14">
          <p:sp>
            <p:nvSpPr>
              <p:cNvPr id="50" name="Textfeld 49"/>
              <p:cNvSpPr txBox="1"/>
              <p:nvPr/>
            </p:nvSpPr>
            <p:spPr>
              <a:xfrm>
                <a:off x="2900334" y="4838013"/>
                <a:ext cx="463012"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de-DE" sz="2000" i="1" smtClean="0">
                              <a:latin typeface="Cambria Math"/>
                            </a:rPr>
                          </m:ctrlPr>
                        </m:sSubPr>
                        <m:e>
                          <m:r>
                            <a:rPr lang="de-DE" sz="2000" b="0" i="1" smtClean="0">
                              <a:latin typeface="Cambria Math"/>
                            </a:rPr>
                            <m:t>𝑓</m:t>
                          </m:r>
                        </m:e>
                        <m:sub>
                          <m:r>
                            <a:rPr lang="de-DE" sz="2000" b="0" i="1" smtClean="0">
                              <a:latin typeface="Cambria Math"/>
                            </a:rPr>
                            <m:t>3</m:t>
                          </m:r>
                        </m:sub>
                      </m:sSub>
                    </m:oMath>
                  </m:oMathPara>
                </a14:m>
                <a:endParaRPr lang="de-DE" sz="2000" dirty="0" err="1" smtClean="0">
                  <a:latin typeface="+mn-lt"/>
                </a:endParaRPr>
              </a:p>
            </p:txBody>
          </p:sp>
        </mc:Choice>
        <mc:Fallback>
          <p:sp>
            <p:nvSpPr>
              <p:cNvPr id="50" name="Textfeld 49"/>
              <p:cNvSpPr txBox="1">
                <a:spLocks noRot="1" noChangeAspect="1" noMove="1" noResize="1" noEditPoints="1" noAdjustHandles="1" noChangeArrowheads="1" noChangeShapeType="1" noTextEdit="1"/>
              </p:cNvSpPr>
              <p:nvPr/>
            </p:nvSpPr>
            <p:spPr>
              <a:xfrm>
                <a:off x="2900334" y="4838013"/>
                <a:ext cx="463012" cy="400110"/>
              </a:xfrm>
              <a:prstGeom prst="rect">
                <a:avLst/>
              </a:prstGeom>
              <a:blipFill rotWithShape="1">
                <a:blip r:embed="rId4" cstate="print"/>
                <a:stretch>
                  <a:fillRect b="-15385"/>
                </a:stretch>
              </a:blipFill>
            </p:spPr>
            <p:txBody>
              <a:bodyPr/>
              <a:lstStyle/>
              <a:p>
                <a:r>
                  <a:rPr lang="de-DE">
                    <a:noFill/>
                  </a:rPr>
                  <a:t> </a:t>
                </a:r>
              </a:p>
            </p:txBody>
          </p:sp>
        </mc:Fallback>
      </mc:AlternateContent>
      <mc:AlternateContent xmlns:mc="http://schemas.openxmlformats.org/markup-compatibility/2006">
        <mc:Choice xmlns="" xmlns:a14="http://schemas.microsoft.com/office/drawing/2010/main" Requires="a14">
          <p:sp>
            <p:nvSpPr>
              <p:cNvPr id="51" name="Textfeld 50"/>
              <p:cNvSpPr txBox="1"/>
              <p:nvPr/>
            </p:nvSpPr>
            <p:spPr>
              <a:xfrm>
                <a:off x="2180627" y="4839543"/>
                <a:ext cx="463012"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de-DE" sz="2000" i="1" smtClean="0">
                              <a:latin typeface="Cambria Math"/>
                            </a:rPr>
                          </m:ctrlPr>
                        </m:sSubPr>
                        <m:e>
                          <m:r>
                            <a:rPr lang="de-DE" sz="2000" b="0" i="1" smtClean="0">
                              <a:latin typeface="Cambria Math"/>
                            </a:rPr>
                            <m:t>𝑓</m:t>
                          </m:r>
                        </m:e>
                        <m:sub>
                          <m:r>
                            <a:rPr lang="de-DE" sz="2000" b="0" i="1" smtClean="0">
                              <a:latin typeface="Cambria Math"/>
                            </a:rPr>
                            <m:t>2</m:t>
                          </m:r>
                        </m:sub>
                      </m:sSub>
                    </m:oMath>
                  </m:oMathPara>
                </a14:m>
                <a:endParaRPr lang="de-DE" sz="2000" dirty="0" err="1" smtClean="0">
                  <a:latin typeface="+mn-lt"/>
                </a:endParaRPr>
              </a:p>
            </p:txBody>
          </p:sp>
        </mc:Choice>
        <mc:Fallback>
          <p:sp>
            <p:nvSpPr>
              <p:cNvPr id="51" name="Textfeld 50"/>
              <p:cNvSpPr txBox="1">
                <a:spLocks noRot="1" noChangeAspect="1" noMove="1" noResize="1" noEditPoints="1" noAdjustHandles="1" noChangeArrowheads="1" noChangeShapeType="1" noTextEdit="1"/>
              </p:cNvSpPr>
              <p:nvPr/>
            </p:nvSpPr>
            <p:spPr>
              <a:xfrm>
                <a:off x="2180627" y="4839543"/>
                <a:ext cx="463012" cy="400110"/>
              </a:xfrm>
              <a:prstGeom prst="rect">
                <a:avLst/>
              </a:prstGeom>
              <a:blipFill rotWithShape="1">
                <a:blip r:embed="rId5" cstate="print"/>
                <a:stretch>
                  <a:fillRect b="-13636"/>
                </a:stretch>
              </a:blipFill>
            </p:spPr>
            <p:txBody>
              <a:bodyPr/>
              <a:lstStyle/>
              <a:p>
                <a:r>
                  <a:rPr lang="de-DE">
                    <a:noFill/>
                  </a:rPr>
                  <a:t> </a:t>
                </a:r>
              </a:p>
            </p:txBody>
          </p:sp>
        </mc:Fallback>
      </mc:AlternateContent>
      <p:sp>
        <p:nvSpPr>
          <p:cNvPr id="52" name="Textfeld 51"/>
          <p:cNvSpPr txBox="1"/>
          <p:nvPr/>
        </p:nvSpPr>
        <p:spPr>
          <a:xfrm>
            <a:off x="6888439" y="4924762"/>
            <a:ext cx="434734" cy="400110"/>
          </a:xfrm>
          <a:prstGeom prst="rect">
            <a:avLst/>
          </a:prstGeom>
          <a:noFill/>
        </p:spPr>
        <p:txBody>
          <a:bodyPr wrap="none" rtlCol="0">
            <a:spAutoFit/>
          </a:bodyPr>
          <a:lstStyle/>
          <a:p>
            <a:r>
              <a:rPr lang="de-DE" sz="2000" dirty="0" smtClean="0">
                <a:latin typeface="+mn-lt"/>
              </a:rPr>
              <a:t>... </a:t>
            </a:r>
          </a:p>
        </p:txBody>
      </p:sp>
      <p:cxnSp>
        <p:nvCxnSpPr>
          <p:cNvPr id="38" name="Gerade Verbindung 37"/>
          <p:cNvCxnSpPr/>
          <p:nvPr/>
        </p:nvCxnSpPr>
        <p:spPr>
          <a:xfrm flipV="1">
            <a:off x="971600" y="5242370"/>
            <a:ext cx="732206" cy="733332"/>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40" name="Gerade Verbindung 39"/>
          <p:cNvCxnSpPr/>
          <p:nvPr/>
        </p:nvCxnSpPr>
        <p:spPr>
          <a:xfrm>
            <a:off x="1690934" y="5247203"/>
            <a:ext cx="721199" cy="728499"/>
          </a:xfrm>
          <a:prstGeom prst="line">
            <a:avLst/>
          </a:prstGeom>
          <a:ln w="22225"/>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 xmlns:a14="http://schemas.microsoft.com/office/drawing/2010/main" Requires="a14">
          <p:sp>
            <p:nvSpPr>
              <p:cNvPr id="44" name="Textfeld 43"/>
              <p:cNvSpPr txBox="1"/>
              <p:nvPr/>
            </p:nvSpPr>
            <p:spPr>
              <a:xfrm>
                <a:off x="1444559" y="4855512"/>
                <a:ext cx="463012"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de-DE" sz="2000" i="1" smtClean="0">
                              <a:latin typeface="Cambria Math"/>
                            </a:rPr>
                          </m:ctrlPr>
                        </m:sSubPr>
                        <m:e>
                          <m:r>
                            <a:rPr lang="de-DE" sz="2000" b="0" i="1" smtClean="0">
                              <a:latin typeface="Cambria Math"/>
                            </a:rPr>
                            <m:t>𝑓</m:t>
                          </m:r>
                        </m:e>
                        <m:sub>
                          <m:r>
                            <a:rPr lang="de-DE" sz="2000" b="0" i="1" smtClean="0">
                              <a:latin typeface="Cambria Math"/>
                            </a:rPr>
                            <m:t>1</m:t>
                          </m:r>
                        </m:sub>
                      </m:sSub>
                    </m:oMath>
                  </m:oMathPara>
                </a14:m>
                <a:endParaRPr lang="de-DE" sz="2000" dirty="0" err="1" smtClean="0">
                  <a:latin typeface="+mn-lt"/>
                </a:endParaRPr>
              </a:p>
            </p:txBody>
          </p:sp>
        </mc:Choice>
        <mc:Fallback>
          <p:sp>
            <p:nvSpPr>
              <p:cNvPr id="44" name="Textfeld 43"/>
              <p:cNvSpPr txBox="1">
                <a:spLocks noRot="1" noChangeAspect="1" noMove="1" noResize="1" noEditPoints="1" noAdjustHandles="1" noChangeArrowheads="1" noChangeShapeType="1" noTextEdit="1"/>
              </p:cNvSpPr>
              <p:nvPr/>
            </p:nvSpPr>
            <p:spPr>
              <a:xfrm>
                <a:off x="1444559" y="4855512"/>
                <a:ext cx="463012" cy="400110"/>
              </a:xfrm>
              <a:prstGeom prst="rect">
                <a:avLst/>
              </a:prstGeom>
              <a:blipFill rotWithShape="1">
                <a:blip r:embed="rId6" cstate="print"/>
                <a:stretch>
                  <a:fillRect b="-15385"/>
                </a:stretch>
              </a:blipFill>
            </p:spPr>
            <p:txBody>
              <a:bodyPr/>
              <a:lstStyle/>
              <a:p>
                <a:r>
                  <a:rPr lang="de-DE">
                    <a:noFill/>
                  </a:rPr>
                  <a:t> </a:t>
                </a:r>
              </a:p>
            </p:txBody>
          </p:sp>
        </mc:Fallback>
      </mc:AlternateContent>
      <p:cxnSp>
        <p:nvCxnSpPr>
          <p:cNvPr id="45" name="Gerade Verbindung mit Pfeil 44"/>
          <p:cNvCxnSpPr/>
          <p:nvPr/>
        </p:nvCxnSpPr>
        <p:spPr>
          <a:xfrm flipV="1">
            <a:off x="6571863" y="3520538"/>
            <a:ext cx="0" cy="1152128"/>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53" name="Gerade Verbindung mit Pfeil 52"/>
          <p:cNvCxnSpPr/>
          <p:nvPr/>
        </p:nvCxnSpPr>
        <p:spPr>
          <a:xfrm>
            <a:off x="6427847" y="4528650"/>
            <a:ext cx="2608649" cy="0"/>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56" name="Gerade Verbindung 55"/>
          <p:cNvCxnSpPr/>
          <p:nvPr/>
        </p:nvCxnSpPr>
        <p:spPr>
          <a:xfrm>
            <a:off x="8020226" y="4456642"/>
            <a:ext cx="0" cy="144016"/>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57" name="Gerade Verbindung 56"/>
          <p:cNvCxnSpPr/>
          <p:nvPr/>
        </p:nvCxnSpPr>
        <p:spPr>
          <a:xfrm>
            <a:off x="7300146" y="4456642"/>
            <a:ext cx="0" cy="144016"/>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58" name="Textfeld 57"/>
          <p:cNvSpPr txBox="1"/>
          <p:nvPr/>
        </p:nvSpPr>
        <p:spPr>
          <a:xfrm>
            <a:off x="6732240" y="4607550"/>
            <a:ext cx="724878" cy="261610"/>
          </a:xfrm>
          <a:prstGeom prst="rect">
            <a:avLst/>
          </a:prstGeom>
          <a:noFill/>
        </p:spPr>
        <p:txBody>
          <a:bodyPr wrap="none" rtlCol="0">
            <a:spAutoFit/>
          </a:bodyPr>
          <a:lstStyle/>
          <a:p>
            <a:r>
              <a:rPr lang="de-DE" sz="1100" b="1" dirty="0" smtClean="0">
                <a:latin typeface="+mn-lt"/>
              </a:rPr>
              <a:t>...           2</a:t>
            </a:r>
            <a:endParaRPr lang="de-DE" sz="2000" b="1" dirty="0" smtClean="0">
              <a:latin typeface="+mn-lt"/>
            </a:endParaRPr>
          </a:p>
        </p:txBody>
      </p:sp>
      <p:sp>
        <p:nvSpPr>
          <p:cNvPr id="59" name="Textfeld 58"/>
          <p:cNvSpPr txBox="1"/>
          <p:nvPr/>
        </p:nvSpPr>
        <p:spPr>
          <a:xfrm>
            <a:off x="7915824" y="4607550"/>
            <a:ext cx="628698" cy="261610"/>
          </a:xfrm>
          <a:prstGeom prst="rect">
            <a:avLst/>
          </a:prstGeom>
          <a:noFill/>
        </p:spPr>
        <p:txBody>
          <a:bodyPr wrap="none" rtlCol="0">
            <a:spAutoFit/>
          </a:bodyPr>
          <a:lstStyle/>
          <a:p>
            <a:r>
              <a:rPr lang="de-DE" sz="1100" b="1" dirty="0" smtClean="0">
                <a:latin typeface="+mn-lt"/>
              </a:rPr>
              <a:t>3        ...</a:t>
            </a:r>
            <a:endParaRPr lang="de-DE" sz="2000" b="1" dirty="0" smtClean="0">
              <a:latin typeface="+mn-lt"/>
            </a:endParaRPr>
          </a:p>
        </p:txBody>
      </p:sp>
      <p:sp>
        <p:nvSpPr>
          <p:cNvPr id="61" name="Rechteck 60"/>
          <p:cNvSpPr/>
          <p:nvPr/>
        </p:nvSpPr>
        <p:spPr>
          <a:xfrm>
            <a:off x="7084122" y="4005064"/>
            <a:ext cx="432048" cy="520757"/>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2" name="Rechteck 61"/>
          <p:cNvSpPr/>
          <p:nvPr/>
        </p:nvSpPr>
        <p:spPr>
          <a:xfrm>
            <a:off x="7792047" y="4145154"/>
            <a:ext cx="432048" cy="37336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3" name="Rechteck 62"/>
          <p:cNvSpPr/>
          <p:nvPr/>
        </p:nvSpPr>
        <p:spPr>
          <a:xfrm>
            <a:off x="7084122" y="3762801"/>
            <a:ext cx="432048" cy="242263"/>
          </a:xfrm>
          <a:prstGeom prst="rect">
            <a:avLst/>
          </a:prstGeom>
          <a:solidFill>
            <a:srgbClr val="FF00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21" name="Gerade Verbindung 20"/>
          <p:cNvCxnSpPr/>
          <p:nvPr/>
        </p:nvCxnSpPr>
        <p:spPr>
          <a:xfrm flipV="1">
            <a:off x="2972955" y="5805264"/>
            <a:ext cx="0" cy="17043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 Verbindung 23"/>
          <p:cNvCxnSpPr/>
          <p:nvPr/>
        </p:nvCxnSpPr>
        <p:spPr>
          <a:xfrm flipH="1">
            <a:off x="971600" y="5803403"/>
            <a:ext cx="200135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4" name="Rechteck 63"/>
          <p:cNvSpPr/>
          <p:nvPr/>
        </p:nvSpPr>
        <p:spPr>
          <a:xfrm>
            <a:off x="7084122" y="3959295"/>
            <a:ext cx="432048" cy="45769"/>
          </a:xfrm>
          <a:prstGeom prst="rect">
            <a:avLst/>
          </a:prstGeom>
          <a:solidFill>
            <a:srgbClr val="FF00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65" name="Gerade Verbindung 64"/>
          <p:cNvCxnSpPr/>
          <p:nvPr/>
        </p:nvCxnSpPr>
        <p:spPr>
          <a:xfrm flipV="1">
            <a:off x="2969534" y="5407779"/>
            <a:ext cx="0" cy="5679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Gerade Verbindung 65"/>
          <p:cNvCxnSpPr/>
          <p:nvPr/>
        </p:nvCxnSpPr>
        <p:spPr>
          <a:xfrm flipH="1">
            <a:off x="971421" y="5407779"/>
            <a:ext cx="200135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7" name="Rechteck 66"/>
          <p:cNvSpPr/>
          <p:nvPr/>
        </p:nvSpPr>
        <p:spPr>
          <a:xfrm>
            <a:off x="7792047" y="3959295"/>
            <a:ext cx="432048" cy="175837"/>
          </a:xfrm>
          <a:prstGeom prst="rect">
            <a:avLst/>
          </a:prstGeom>
          <a:solidFill>
            <a:srgbClr val="FF00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7" name="Textfeld 76"/>
          <p:cNvSpPr txBox="1"/>
          <p:nvPr/>
        </p:nvSpPr>
        <p:spPr>
          <a:xfrm>
            <a:off x="7113027" y="3382038"/>
            <a:ext cx="1279966" cy="276999"/>
          </a:xfrm>
          <a:prstGeom prst="rect">
            <a:avLst/>
          </a:prstGeom>
          <a:noFill/>
        </p:spPr>
        <p:txBody>
          <a:bodyPr wrap="none" rtlCol="0">
            <a:spAutoFit/>
          </a:bodyPr>
          <a:lstStyle/>
          <a:p>
            <a:r>
              <a:rPr lang="de-DE" sz="1200" dirty="0" err="1" smtClean="0">
                <a:latin typeface="+mn-lt"/>
              </a:rPr>
              <a:t>new</a:t>
            </a:r>
            <a:r>
              <a:rPr lang="de-DE" sz="1200" dirty="0" smtClean="0">
                <a:latin typeface="+mn-lt"/>
              </a:rPr>
              <a:t> </a:t>
            </a:r>
            <a:r>
              <a:rPr lang="de-DE" sz="1200" dirty="0" err="1" smtClean="0">
                <a:latin typeface="+mn-lt"/>
              </a:rPr>
              <a:t>distance</a:t>
            </a:r>
            <a:r>
              <a:rPr lang="de-DE" sz="1200" dirty="0" smtClean="0">
                <a:latin typeface="+mn-lt"/>
              </a:rPr>
              <a:t>: 2.9</a:t>
            </a:r>
          </a:p>
        </p:txBody>
      </p:sp>
    </p:spTree>
    <p:extLst>
      <p:ext uri="{BB962C8B-B14F-4D97-AF65-F5344CB8AC3E}">
        <p14:creationId xmlns="" xmlns:p14="http://schemas.microsoft.com/office/powerpoint/2010/main" val="1383030191"/>
      </p:ext>
    </p:ext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63"/>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5"/>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6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59" grpId="0"/>
      <p:bldP spid="61" grpId="0" animBg="1"/>
      <p:bldP spid="62" grpId="0" animBg="1"/>
      <p:bldP spid="63" grpId="0" animBg="1"/>
      <p:bldP spid="63" grpId="1" animBg="1"/>
      <p:bldP spid="64" grpId="0" animBg="1"/>
      <p:bldP spid="67" grpId="0" animBg="1"/>
      <p:bldP spid="7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Inhaltsplatzhalter 2"/>
          <p:cNvSpPr txBox="1">
            <a:spLocks/>
          </p:cNvSpPr>
          <p:nvPr/>
        </p:nvSpPr>
        <p:spPr>
          <a:xfrm>
            <a:off x="457200" y="1448454"/>
            <a:ext cx="8229600" cy="4911741"/>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
              <a:tabLst/>
              <a:defRPr/>
            </a:pPr>
            <a:r>
              <a:rPr lang="en-US" sz="2000" dirty="0" smtClean="0">
                <a:latin typeface="+mn-lt"/>
                <a:cs typeface="+mn-cs"/>
              </a:rPr>
              <a:t>b</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in-by-bin measures:</a:t>
            </a: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
              <a:tabLst/>
              <a:defRPr/>
            </a:pPr>
            <a:endParaRPr kumimoji="0" lang="en-US"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
              <a:tabLst/>
              <a:defRPr/>
            </a:pPr>
            <a:endParaRPr kumimoji="0" lang="en-US"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
              <a:tabLst/>
              <a:defRPr/>
            </a:pPr>
            <a:endParaRPr lang="en-US" sz="2000" dirty="0" smtClean="0">
              <a:latin typeface="+mn-lt"/>
              <a:cs typeface="+mn-cs"/>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
              <a:tabLst/>
              <a:defRPr/>
            </a:pPr>
            <a:endParaRPr kumimoji="0" lang="en-US"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
              <a:tabLst/>
              <a:defRPr/>
            </a:pPr>
            <a:endParaRPr lang="en-US" sz="2000" dirty="0" smtClean="0">
              <a:latin typeface="+mn-lt"/>
              <a:cs typeface="+mn-cs"/>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
              <a:tabLst/>
              <a:defRPr/>
            </a:pPr>
            <a:endParaRPr kumimoji="0" lang="en-US"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
              <a:tabLst/>
              <a:defRPr/>
            </a:pPr>
            <a:r>
              <a:rPr lang="en-US" sz="2000" dirty="0" smtClean="0">
                <a:latin typeface="+mn-lt"/>
                <a:cs typeface="+mn-cs"/>
              </a:rPr>
              <a:t>c</a:t>
            </a:r>
            <a:r>
              <a:rPr kumimoji="0" lang="en-US" sz="2000" b="0" i="0" u="none" strike="noStrike" kern="1200" cap="none" spc="0" normalizeH="0" baseline="0" noProof="0" dirty="0" err="1" smtClean="0">
                <a:ln>
                  <a:noFill/>
                </a:ln>
                <a:solidFill>
                  <a:schemeClr val="tx1"/>
                </a:solidFill>
                <a:effectLst/>
                <a:uLnTx/>
                <a:uFillTx/>
                <a:latin typeface="+mn-lt"/>
                <a:ea typeface="+mn-ea"/>
                <a:cs typeface="+mn-cs"/>
              </a:rPr>
              <a:t>ross</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-bin measures:</a:t>
            </a:r>
          </a:p>
        </p:txBody>
      </p:sp>
      <p:sp>
        <p:nvSpPr>
          <p:cNvPr id="2" name="Titel 1"/>
          <p:cNvSpPr>
            <a:spLocks noGrp="1"/>
          </p:cNvSpPr>
          <p:nvPr>
            <p:ph type="title"/>
          </p:nvPr>
        </p:nvSpPr>
        <p:spPr/>
        <p:txBody>
          <a:bodyPr>
            <a:noAutofit/>
          </a:bodyPr>
          <a:lstStyle/>
          <a:p>
            <a:r>
              <a:rPr lang="en-US" altLang="zh-TW" sz="3600" dirty="0" smtClean="0"/>
              <a:t>Fuzzy histograms increase performance of bin-by-bin measures</a:t>
            </a:r>
            <a:endParaRPr lang="en-US" altLang="zh-TW" sz="3600" dirty="0"/>
          </a:p>
        </p:txBody>
      </p:sp>
      <p:graphicFrame>
        <p:nvGraphicFramePr>
          <p:cNvPr id="5" name="Inhaltsplatzhalter 4"/>
          <p:cNvGraphicFramePr>
            <a:graphicFrameLocks noGrp="1"/>
          </p:cNvGraphicFramePr>
          <p:nvPr>
            <p:ph idx="1"/>
            <p:extLst>
              <p:ext uri="{D42A27DB-BD31-4B8C-83A1-F6EECF244321}">
                <p14:modId xmlns="" xmlns:p14="http://schemas.microsoft.com/office/powerpoint/2010/main" val="2871029974"/>
              </p:ext>
            </p:extLst>
          </p:nvPr>
        </p:nvGraphicFramePr>
        <p:xfrm>
          <a:off x="457200" y="1834232"/>
          <a:ext cx="8229600" cy="1879600"/>
        </p:xfrm>
        <a:graphic>
          <a:graphicData uri="http://schemas.openxmlformats.org/drawingml/2006/table">
            <a:tbl>
              <a:tblPr firstRow="1" bandRow="1">
                <a:tableStyleId>{F5AB1C69-6EDB-4FF4-983F-18BD219EF322}</a:tableStyleId>
              </a:tblPr>
              <a:tblGrid>
                <a:gridCol w="1645920"/>
                <a:gridCol w="1645920"/>
                <a:gridCol w="1645920"/>
                <a:gridCol w="1645920"/>
                <a:gridCol w="1645920"/>
              </a:tblGrid>
              <a:tr h="370840">
                <a:tc>
                  <a:txBody>
                    <a:bodyPr/>
                    <a:lstStyle/>
                    <a:p>
                      <a:pPr algn="ctr"/>
                      <a:r>
                        <a:rPr lang="de-DE" baseline="0" dirty="0" smtClean="0"/>
                        <a:t>k</a:t>
                      </a:r>
                      <a:endParaRPr lang="de-DE" baseline="0" dirty="0"/>
                    </a:p>
                  </a:txBody>
                  <a:tcPr/>
                </a:tc>
                <a:tc>
                  <a:txBody>
                    <a:bodyPr/>
                    <a:lstStyle/>
                    <a:p>
                      <a:pPr algn="ctr"/>
                      <a:r>
                        <a:rPr lang="el-GR" dirty="0" smtClean="0"/>
                        <a:t>δ</a:t>
                      </a:r>
                      <a:r>
                        <a:rPr lang="de-DE" baseline="-25000" dirty="0" smtClean="0"/>
                        <a:t>MF</a:t>
                      </a:r>
                      <a:r>
                        <a:rPr lang="de-DE" baseline="0" dirty="0" smtClean="0"/>
                        <a:t> (p=1)</a:t>
                      </a:r>
                      <a:endParaRPr lang="de-DE" baseline="-25000" dirty="0"/>
                    </a:p>
                  </a:txBody>
                  <a:tcPr/>
                </a:tc>
                <a:tc>
                  <a:txBody>
                    <a:bodyPr/>
                    <a:lstStyle/>
                    <a:p>
                      <a:pPr algn="ctr"/>
                      <a:r>
                        <a:rPr lang="el-GR" dirty="0" smtClean="0"/>
                        <a:t>δ</a:t>
                      </a:r>
                      <a:r>
                        <a:rPr lang="de-DE" baseline="-25000" dirty="0" smtClean="0"/>
                        <a:t>MF</a:t>
                      </a:r>
                      <a:r>
                        <a:rPr lang="de-DE" baseline="0" dirty="0" smtClean="0"/>
                        <a:t> (p=2)</a:t>
                      </a:r>
                      <a:endParaRPr lang="de-DE" baseline="-25000" dirty="0"/>
                    </a:p>
                  </a:txBody>
                  <a:tcPr/>
                </a:tc>
                <a:tc>
                  <a:txBody>
                    <a:bodyPr/>
                    <a:lstStyle/>
                    <a:p>
                      <a:pPr algn="ctr"/>
                      <a:r>
                        <a:rPr lang="el-GR" dirty="0" smtClean="0"/>
                        <a:t>δ</a:t>
                      </a:r>
                      <a:r>
                        <a:rPr lang="de-DE" baseline="-25000" dirty="0" smtClean="0"/>
                        <a:t>MF</a:t>
                      </a:r>
                      <a:r>
                        <a:rPr lang="de-DE" baseline="0" dirty="0" smtClean="0"/>
                        <a:t> (p = </a:t>
                      </a:r>
                      <a:r>
                        <a:rPr lang="de-DE" sz="2000" baseline="0" dirty="0" smtClean="0"/>
                        <a:t>∞</a:t>
                      </a:r>
                      <a:r>
                        <a:rPr lang="de-DE" baseline="0" dirty="0" smtClean="0"/>
                        <a:t>)</a:t>
                      </a:r>
                      <a:endParaRPr lang="de-DE" baseline="-25000" dirty="0"/>
                    </a:p>
                  </a:txBody>
                  <a:tcPr/>
                </a:tc>
                <a:tc>
                  <a:txBody>
                    <a:bodyPr/>
                    <a:lstStyle/>
                    <a:p>
                      <a:pPr algn="ctr"/>
                      <a:r>
                        <a:rPr lang="el-GR" dirty="0" smtClean="0"/>
                        <a:t>δ</a:t>
                      </a:r>
                      <a:r>
                        <a:rPr lang="de-DE" baseline="-25000" dirty="0" smtClean="0"/>
                        <a:t>J</a:t>
                      </a:r>
                      <a:endParaRPr lang="de-DE" baseline="-25000" dirty="0"/>
                    </a:p>
                  </a:txBody>
                  <a:tcPr/>
                </a:tc>
              </a:tr>
              <a:tr h="370840">
                <a:tc>
                  <a:txBody>
                    <a:bodyPr/>
                    <a:lstStyle/>
                    <a:p>
                      <a:pPr algn="ctr"/>
                      <a:r>
                        <a:rPr lang="de-DE" dirty="0" smtClean="0"/>
                        <a:t>1</a:t>
                      </a:r>
                      <a:endParaRPr lang="de-DE" dirty="0"/>
                    </a:p>
                  </a:txBody>
                  <a:tcPr/>
                </a:tc>
                <a:tc>
                  <a:txBody>
                    <a:bodyPr/>
                    <a:lstStyle/>
                    <a:p>
                      <a:pPr algn="ctr"/>
                      <a:r>
                        <a:rPr lang="de-DE" dirty="0" smtClean="0"/>
                        <a:t>89.0</a:t>
                      </a:r>
                      <a:endParaRPr lang="de-DE" dirty="0"/>
                    </a:p>
                  </a:txBody>
                  <a:tcPr/>
                </a:tc>
                <a:tc>
                  <a:txBody>
                    <a:bodyPr/>
                    <a:lstStyle/>
                    <a:p>
                      <a:pPr algn="ctr"/>
                      <a:r>
                        <a:rPr lang="de-DE" dirty="0" smtClean="0"/>
                        <a:t>89.0</a:t>
                      </a:r>
                      <a:endParaRPr lang="de-DE" dirty="0"/>
                    </a:p>
                  </a:txBody>
                  <a:tcPr/>
                </a:tc>
                <a:tc>
                  <a:txBody>
                    <a:bodyPr/>
                    <a:lstStyle/>
                    <a:p>
                      <a:pPr algn="ctr"/>
                      <a:r>
                        <a:rPr lang="de-DE" dirty="0" smtClean="0"/>
                        <a:t>86.8</a:t>
                      </a:r>
                      <a:endParaRPr lang="de-DE" dirty="0"/>
                    </a:p>
                  </a:txBody>
                  <a:tcPr/>
                </a:tc>
                <a:tc>
                  <a:txBody>
                    <a:bodyPr/>
                    <a:lstStyle/>
                    <a:p>
                      <a:pPr algn="ctr"/>
                      <a:r>
                        <a:rPr lang="de-DE" dirty="0" smtClean="0"/>
                        <a:t>88.5</a:t>
                      </a:r>
                      <a:endParaRPr lang="de-DE" dirty="0"/>
                    </a:p>
                  </a:txBody>
                  <a:tcPr/>
                </a:tc>
              </a:tr>
              <a:tr h="370840">
                <a:tc>
                  <a:txBody>
                    <a:bodyPr/>
                    <a:lstStyle/>
                    <a:p>
                      <a:pPr algn="ctr"/>
                      <a:r>
                        <a:rPr lang="de-DE" dirty="0" smtClean="0"/>
                        <a:t>3</a:t>
                      </a:r>
                      <a:endParaRPr lang="de-DE" dirty="0"/>
                    </a:p>
                  </a:txBody>
                  <a:tcPr/>
                </a:tc>
                <a:tc>
                  <a:txBody>
                    <a:bodyPr/>
                    <a:lstStyle/>
                    <a:p>
                      <a:pPr algn="ctr"/>
                      <a:r>
                        <a:rPr lang="de-DE" dirty="0" smtClean="0"/>
                        <a:t>90.1</a:t>
                      </a:r>
                      <a:endParaRPr lang="de-DE" dirty="0"/>
                    </a:p>
                  </a:txBody>
                  <a:tcPr/>
                </a:tc>
                <a:tc>
                  <a:txBody>
                    <a:bodyPr/>
                    <a:lstStyle/>
                    <a:p>
                      <a:pPr algn="ctr"/>
                      <a:r>
                        <a:rPr lang="de-DE" dirty="0" smtClean="0"/>
                        <a:t>87.6</a:t>
                      </a:r>
                      <a:endParaRPr lang="de-DE" dirty="0"/>
                    </a:p>
                  </a:txBody>
                  <a:tcPr/>
                </a:tc>
                <a:tc>
                  <a:txBody>
                    <a:bodyPr/>
                    <a:lstStyle/>
                    <a:p>
                      <a:pPr algn="ctr"/>
                      <a:r>
                        <a:rPr lang="de-DE" dirty="0" smtClean="0"/>
                        <a:t>85.1</a:t>
                      </a:r>
                      <a:endParaRPr lang="de-DE" dirty="0"/>
                    </a:p>
                  </a:txBody>
                  <a:tcPr/>
                </a:tc>
                <a:tc>
                  <a:txBody>
                    <a:bodyPr/>
                    <a:lstStyle/>
                    <a:p>
                      <a:pPr algn="ctr"/>
                      <a:r>
                        <a:rPr lang="de-DE" dirty="0" smtClean="0"/>
                        <a:t>89.0</a:t>
                      </a:r>
                      <a:endParaRPr lang="de-DE" dirty="0"/>
                    </a:p>
                  </a:txBody>
                  <a:tcPr/>
                </a:tc>
              </a:tr>
              <a:tr h="370840">
                <a:tc>
                  <a:txBody>
                    <a:bodyPr/>
                    <a:lstStyle/>
                    <a:p>
                      <a:pPr algn="ctr"/>
                      <a:r>
                        <a:rPr lang="de-DE" dirty="0" smtClean="0"/>
                        <a:t>5</a:t>
                      </a:r>
                      <a:endParaRPr lang="de-DE" dirty="0"/>
                    </a:p>
                  </a:txBody>
                  <a:tcPr/>
                </a:tc>
                <a:tc>
                  <a:txBody>
                    <a:bodyPr/>
                    <a:lstStyle/>
                    <a:p>
                      <a:pPr algn="ctr"/>
                      <a:r>
                        <a:rPr lang="de-DE" dirty="0" smtClean="0"/>
                        <a:t>87.9</a:t>
                      </a:r>
                      <a:endParaRPr lang="de-DE" dirty="0"/>
                    </a:p>
                  </a:txBody>
                  <a:tcPr/>
                </a:tc>
                <a:tc>
                  <a:txBody>
                    <a:bodyPr/>
                    <a:lstStyle/>
                    <a:p>
                      <a:pPr algn="ctr"/>
                      <a:r>
                        <a:rPr lang="de-DE" dirty="0" smtClean="0"/>
                        <a:t>87.0</a:t>
                      </a:r>
                      <a:endParaRPr lang="de-DE" dirty="0"/>
                    </a:p>
                  </a:txBody>
                  <a:tcPr/>
                </a:tc>
                <a:tc>
                  <a:txBody>
                    <a:bodyPr/>
                    <a:lstStyle/>
                    <a:p>
                      <a:pPr algn="ctr"/>
                      <a:r>
                        <a:rPr lang="de-DE" dirty="0" smtClean="0"/>
                        <a:t>81.4</a:t>
                      </a:r>
                      <a:endParaRPr lang="de-DE" dirty="0"/>
                    </a:p>
                  </a:txBody>
                  <a:tcPr/>
                </a:tc>
                <a:tc>
                  <a:txBody>
                    <a:bodyPr/>
                    <a:lstStyle/>
                    <a:p>
                      <a:pPr algn="ctr"/>
                      <a:r>
                        <a:rPr lang="de-DE" dirty="0" smtClean="0"/>
                        <a:t>86.2</a:t>
                      </a:r>
                      <a:endParaRPr lang="de-DE" dirty="0"/>
                    </a:p>
                  </a:txBody>
                  <a:tcPr/>
                </a:tc>
              </a:tr>
              <a:tr h="370840">
                <a:tc>
                  <a:txBody>
                    <a:bodyPr/>
                    <a:lstStyle/>
                    <a:p>
                      <a:pPr algn="ctr"/>
                      <a:r>
                        <a:rPr lang="de-DE" dirty="0" err="1" smtClean="0"/>
                        <a:t>runtime</a:t>
                      </a:r>
                      <a:r>
                        <a:rPr lang="de-DE" dirty="0" smtClean="0"/>
                        <a:t> (h)</a:t>
                      </a:r>
                      <a:endParaRPr lang="de-DE" dirty="0"/>
                    </a:p>
                  </a:txBody>
                  <a:tcPr/>
                </a:tc>
                <a:tc>
                  <a:txBody>
                    <a:bodyPr/>
                    <a:lstStyle/>
                    <a:p>
                      <a:pPr algn="ctr"/>
                      <a:r>
                        <a:rPr lang="de-DE" dirty="0" smtClean="0"/>
                        <a:t>2.21</a:t>
                      </a:r>
                      <a:endParaRPr lang="de-DE" dirty="0"/>
                    </a:p>
                  </a:txBody>
                  <a:tcPr/>
                </a:tc>
                <a:tc>
                  <a:txBody>
                    <a:bodyPr/>
                    <a:lstStyle/>
                    <a:p>
                      <a:pPr algn="ctr"/>
                      <a:r>
                        <a:rPr lang="de-DE" dirty="0" smtClean="0"/>
                        <a:t>2.22</a:t>
                      </a:r>
                      <a:endParaRPr lang="de-DE" dirty="0"/>
                    </a:p>
                  </a:txBody>
                  <a:tcPr/>
                </a:tc>
                <a:tc>
                  <a:txBody>
                    <a:bodyPr/>
                    <a:lstStyle/>
                    <a:p>
                      <a:pPr algn="ctr"/>
                      <a:r>
                        <a:rPr lang="de-DE" dirty="0" smtClean="0"/>
                        <a:t>2.21</a:t>
                      </a:r>
                      <a:endParaRPr lang="de-DE" dirty="0"/>
                    </a:p>
                  </a:txBody>
                  <a:tcPr/>
                </a:tc>
                <a:tc>
                  <a:txBody>
                    <a:bodyPr/>
                    <a:lstStyle/>
                    <a:p>
                      <a:pPr algn="ctr"/>
                      <a:r>
                        <a:rPr lang="de-DE" dirty="0" smtClean="0"/>
                        <a:t>2.22</a:t>
                      </a:r>
                      <a:endParaRPr lang="de-DE" dirty="0"/>
                    </a:p>
                  </a:txBody>
                  <a:tcPr/>
                </a:tc>
              </a:tr>
            </a:tbl>
          </a:graphicData>
        </a:graphic>
      </p:graphicFrame>
      <p:sp>
        <p:nvSpPr>
          <p:cNvPr id="4" name="Foliennummernplatzhalter 3"/>
          <p:cNvSpPr>
            <a:spLocks noGrp="1"/>
          </p:cNvSpPr>
          <p:nvPr>
            <p:ph type="sldNum" sz="quarter" idx="12"/>
          </p:nvPr>
        </p:nvSpPr>
        <p:spPr/>
        <p:txBody>
          <a:bodyPr/>
          <a:lstStyle/>
          <a:p>
            <a:fld id="{3722AAB7-8C13-4FEF-BF4B-87394EDC6C8B}" type="slidenum">
              <a:rPr lang="de-DE" smtClean="0"/>
              <a:pPr/>
              <a:t>16</a:t>
            </a:fld>
            <a:endParaRPr lang="de-DE" dirty="0"/>
          </a:p>
        </p:txBody>
      </p:sp>
      <p:graphicFrame>
        <p:nvGraphicFramePr>
          <p:cNvPr id="7" name="Inhaltsplatzhalter 4"/>
          <p:cNvGraphicFramePr>
            <a:graphicFrameLocks/>
          </p:cNvGraphicFramePr>
          <p:nvPr>
            <p:extLst>
              <p:ext uri="{D42A27DB-BD31-4B8C-83A1-F6EECF244321}">
                <p14:modId xmlns="" xmlns:p14="http://schemas.microsoft.com/office/powerpoint/2010/main" val="4023342979"/>
              </p:ext>
            </p:extLst>
          </p:nvPr>
        </p:nvGraphicFramePr>
        <p:xfrm>
          <a:off x="467544" y="4599136"/>
          <a:ext cx="8229600" cy="1854200"/>
        </p:xfrm>
        <a:graphic>
          <a:graphicData uri="http://schemas.openxmlformats.org/drawingml/2006/table">
            <a:tbl>
              <a:tblPr firstRow="1" bandRow="1">
                <a:tableStyleId>{F5AB1C69-6EDB-4FF4-983F-18BD219EF322}</a:tableStyleId>
              </a:tblPr>
              <a:tblGrid>
                <a:gridCol w="1645920"/>
                <a:gridCol w="1645920"/>
                <a:gridCol w="1645920"/>
                <a:gridCol w="1645920"/>
                <a:gridCol w="1645920"/>
              </a:tblGrid>
              <a:tr h="370840">
                <a:tc>
                  <a:txBody>
                    <a:bodyPr/>
                    <a:lstStyle/>
                    <a:p>
                      <a:pPr algn="ctr"/>
                      <a:r>
                        <a:rPr lang="de-DE" baseline="0" dirty="0" smtClean="0"/>
                        <a:t>k</a:t>
                      </a:r>
                      <a:endParaRPr lang="de-DE" baseline="0" dirty="0"/>
                    </a:p>
                  </a:txBody>
                  <a:tcPr/>
                </a:tc>
                <a:tc>
                  <a:txBody>
                    <a:bodyPr/>
                    <a:lstStyle/>
                    <a:p>
                      <a:pPr algn="ctr"/>
                      <a:r>
                        <a:rPr lang="el-GR" dirty="0" smtClean="0"/>
                        <a:t>δ</a:t>
                      </a:r>
                      <a:r>
                        <a:rPr lang="de-DE" baseline="-25000" dirty="0" smtClean="0"/>
                        <a:t>QF</a:t>
                      </a:r>
                      <a:endParaRPr lang="de-DE" baseline="-25000" dirty="0"/>
                    </a:p>
                  </a:txBody>
                  <a:tcPr/>
                </a:tc>
                <a:tc>
                  <a:txBody>
                    <a:bodyPr/>
                    <a:lstStyle/>
                    <a:p>
                      <a:pPr algn="ctr"/>
                      <a:r>
                        <a:rPr lang="el-GR" dirty="0" smtClean="0"/>
                        <a:t>δ</a:t>
                      </a:r>
                      <a:r>
                        <a:rPr lang="de-DE" baseline="-25000" dirty="0" smtClean="0"/>
                        <a:t>M</a:t>
                      </a:r>
                      <a:endParaRPr lang="de-DE" baseline="-25000" dirty="0"/>
                    </a:p>
                  </a:txBody>
                  <a:tcPr/>
                </a:tc>
                <a:tc>
                  <a:txBody>
                    <a:bodyPr/>
                    <a:lstStyle/>
                    <a:p>
                      <a:pPr algn="ctr"/>
                      <a:r>
                        <a:rPr lang="el-GR" dirty="0" smtClean="0"/>
                        <a:t>δ</a:t>
                      </a:r>
                      <a:r>
                        <a:rPr lang="de-DE" baseline="-25000" dirty="0" smtClean="0"/>
                        <a:t>KS</a:t>
                      </a:r>
                      <a:endParaRPr lang="de-DE" baseline="-25000" dirty="0"/>
                    </a:p>
                  </a:txBody>
                  <a:tcPr/>
                </a:tc>
                <a:tc>
                  <a:txBody>
                    <a:bodyPr/>
                    <a:lstStyle/>
                    <a:p>
                      <a:pPr algn="ctr"/>
                      <a:r>
                        <a:rPr lang="el-GR" dirty="0" smtClean="0"/>
                        <a:t>δ</a:t>
                      </a:r>
                      <a:r>
                        <a:rPr lang="de-DE" baseline="-25000" dirty="0" smtClean="0"/>
                        <a:t>EMD</a:t>
                      </a:r>
                      <a:endParaRPr lang="de-DE" baseline="-25000" dirty="0"/>
                    </a:p>
                  </a:txBody>
                  <a:tcPr/>
                </a:tc>
              </a:tr>
              <a:tr h="370840">
                <a:tc>
                  <a:txBody>
                    <a:bodyPr/>
                    <a:lstStyle/>
                    <a:p>
                      <a:pPr algn="ctr"/>
                      <a:r>
                        <a:rPr lang="de-DE" dirty="0" smtClean="0"/>
                        <a:t>1</a:t>
                      </a:r>
                      <a:endParaRPr lang="de-DE" dirty="0"/>
                    </a:p>
                  </a:txBody>
                  <a:tcPr/>
                </a:tc>
                <a:tc>
                  <a:txBody>
                    <a:bodyPr/>
                    <a:lstStyle/>
                    <a:p>
                      <a:pPr algn="ctr"/>
                      <a:r>
                        <a:rPr lang="de-DE" dirty="0" smtClean="0"/>
                        <a:t>85.3</a:t>
                      </a:r>
                      <a:endParaRPr lang="de-DE" dirty="0"/>
                    </a:p>
                  </a:txBody>
                  <a:tcPr/>
                </a:tc>
                <a:tc>
                  <a:txBody>
                    <a:bodyPr/>
                    <a:lstStyle/>
                    <a:p>
                      <a:pPr algn="ctr"/>
                      <a:r>
                        <a:rPr lang="de-DE" dirty="0" smtClean="0"/>
                        <a:t>86.2</a:t>
                      </a:r>
                      <a:endParaRPr lang="de-DE" dirty="0"/>
                    </a:p>
                  </a:txBody>
                  <a:tcPr/>
                </a:tc>
                <a:tc>
                  <a:txBody>
                    <a:bodyPr/>
                    <a:lstStyle/>
                    <a:p>
                      <a:pPr algn="ctr"/>
                      <a:r>
                        <a:rPr lang="de-DE" dirty="0" smtClean="0"/>
                        <a:t>85.9</a:t>
                      </a:r>
                      <a:endParaRPr lang="de-DE" dirty="0"/>
                    </a:p>
                  </a:txBody>
                  <a:tcPr/>
                </a:tc>
                <a:tc>
                  <a:txBody>
                    <a:bodyPr/>
                    <a:lstStyle/>
                    <a:p>
                      <a:pPr algn="ctr"/>
                      <a:r>
                        <a:rPr lang="de-DE" dirty="0" smtClean="0"/>
                        <a:t>83.9</a:t>
                      </a:r>
                      <a:endParaRPr lang="de-DE" dirty="0"/>
                    </a:p>
                  </a:txBody>
                  <a:tcPr/>
                </a:tc>
              </a:tr>
              <a:tr h="370840">
                <a:tc>
                  <a:txBody>
                    <a:bodyPr/>
                    <a:lstStyle/>
                    <a:p>
                      <a:pPr algn="ctr"/>
                      <a:r>
                        <a:rPr lang="de-DE" dirty="0" smtClean="0"/>
                        <a:t>3</a:t>
                      </a:r>
                      <a:endParaRPr lang="de-DE" dirty="0"/>
                    </a:p>
                  </a:txBody>
                  <a:tcPr/>
                </a:tc>
                <a:tc>
                  <a:txBody>
                    <a:bodyPr/>
                    <a:lstStyle/>
                    <a:p>
                      <a:pPr algn="ctr"/>
                      <a:r>
                        <a:rPr lang="de-DE" dirty="0" smtClean="0"/>
                        <a:t>85.1</a:t>
                      </a:r>
                      <a:endParaRPr lang="de-DE" dirty="0"/>
                    </a:p>
                  </a:txBody>
                  <a:tcPr/>
                </a:tc>
                <a:tc>
                  <a:txBody>
                    <a:bodyPr/>
                    <a:lstStyle/>
                    <a:p>
                      <a:pPr algn="ctr"/>
                      <a:r>
                        <a:rPr lang="de-DE" dirty="0" smtClean="0"/>
                        <a:t>87.9</a:t>
                      </a:r>
                      <a:endParaRPr lang="de-DE" dirty="0"/>
                    </a:p>
                  </a:txBody>
                  <a:tcPr/>
                </a:tc>
                <a:tc>
                  <a:txBody>
                    <a:bodyPr/>
                    <a:lstStyle/>
                    <a:p>
                      <a:pPr algn="ctr"/>
                      <a:r>
                        <a:rPr lang="de-DE" dirty="0" smtClean="0"/>
                        <a:t>86.8</a:t>
                      </a:r>
                      <a:endParaRPr lang="de-DE" dirty="0"/>
                    </a:p>
                  </a:txBody>
                  <a:tcPr/>
                </a:tc>
                <a:tc>
                  <a:txBody>
                    <a:bodyPr/>
                    <a:lstStyle/>
                    <a:p>
                      <a:pPr algn="ctr"/>
                      <a:r>
                        <a:rPr lang="de-DE" dirty="0" smtClean="0"/>
                        <a:t>83.9</a:t>
                      </a:r>
                      <a:endParaRPr lang="de-DE" dirty="0"/>
                    </a:p>
                  </a:txBody>
                  <a:tcPr/>
                </a:tc>
              </a:tr>
              <a:tr h="370840">
                <a:tc>
                  <a:txBody>
                    <a:bodyPr/>
                    <a:lstStyle/>
                    <a:p>
                      <a:pPr algn="ctr"/>
                      <a:r>
                        <a:rPr lang="de-DE" dirty="0" smtClean="0"/>
                        <a:t>5</a:t>
                      </a:r>
                      <a:endParaRPr lang="de-DE" dirty="0"/>
                    </a:p>
                  </a:txBody>
                  <a:tcPr/>
                </a:tc>
                <a:tc>
                  <a:txBody>
                    <a:bodyPr/>
                    <a:lstStyle/>
                    <a:p>
                      <a:pPr algn="ctr"/>
                      <a:r>
                        <a:rPr lang="de-DE" dirty="0" smtClean="0"/>
                        <a:t>84.8</a:t>
                      </a:r>
                      <a:endParaRPr lang="de-DE" dirty="0"/>
                    </a:p>
                  </a:txBody>
                  <a:tcPr/>
                </a:tc>
                <a:tc>
                  <a:txBody>
                    <a:bodyPr/>
                    <a:lstStyle/>
                    <a:p>
                      <a:pPr algn="ctr"/>
                      <a:r>
                        <a:rPr lang="de-DE" dirty="0" smtClean="0"/>
                        <a:t>85.6</a:t>
                      </a:r>
                      <a:endParaRPr lang="de-DE" dirty="0"/>
                    </a:p>
                  </a:txBody>
                  <a:tcPr/>
                </a:tc>
                <a:tc>
                  <a:txBody>
                    <a:bodyPr/>
                    <a:lstStyle/>
                    <a:p>
                      <a:pPr algn="ctr"/>
                      <a:r>
                        <a:rPr lang="de-DE" dirty="0" smtClean="0"/>
                        <a:t>84.8</a:t>
                      </a:r>
                      <a:endParaRPr lang="de-DE" dirty="0"/>
                    </a:p>
                  </a:txBody>
                  <a:tcPr/>
                </a:tc>
                <a:tc>
                  <a:txBody>
                    <a:bodyPr/>
                    <a:lstStyle/>
                    <a:p>
                      <a:pPr algn="ctr"/>
                      <a:r>
                        <a:rPr lang="de-DE" dirty="0" smtClean="0"/>
                        <a:t>83.4</a:t>
                      </a:r>
                      <a:endParaRPr lang="de-DE" dirty="0"/>
                    </a:p>
                  </a:txBody>
                  <a:tcPr/>
                </a:tc>
              </a:tr>
              <a:tr h="370840">
                <a:tc>
                  <a:txBody>
                    <a:bodyPr/>
                    <a:lstStyle/>
                    <a:p>
                      <a:pPr algn="ctr"/>
                      <a:r>
                        <a:rPr lang="de-DE" dirty="0" err="1" smtClean="0"/>
                        <a:t>runtime</a:t>
                      </a:r>
                      <a:r>
                        <a:rPr lang="de-DE" dirty="0" smtClean="0"/>
                        <a:t> (h)</a:t>
                      </a:r>
                      <a:endParaRPr lang="de-DE" dirty="0"/>
                    </a:p>
                  </a:txBody>
                  <a:tcPr/>
                </a:tc>
                <a:tc>
                  <a:txBody>
                    <a:bodyPr/>
                    <a:lstStyle/>
                    <a:p>
                      <a:pPr algn="ctr"/>
                      <a:r>
                        <a:rPr lang="de-DE" dirty="0" smtClean="0"/>
                        <a:t>2.52</a:t>
                      </a:r>
                      <a:endParaRPr lang="de-DE" dirty="0"/>
                    </a:p>
                  </a:txBody>
                  <a:tcPr/>
                </a:tc>
                <a:tc>
                  <a:txBody>
                    <a:bodyPr/>
                    <a:lstStyle/>
                    <a:p>
                      <a:pPr algn="ctr"/>
                      <a:r>
                        <a:rPr lang="de-DE" dirty="0" smtClean="0"/>
                        <a:t>2.21</a:t>
                      </a:r>
                      <a:endParaRPr lang="de-DE" dirty="0"/>
                    </a:p>
                  </a:txBody>
                  <a:tcPr/>
                </a:tc>
                <a:tc>
                  <a:txBody>
                    <a:bodyPr/>
                    <a:lstStyle/>
                    <a:p>
                      <a:pPr algn="ctr"/>
                      <a:r>
                        <a:rPr lang="de-DE" dirty="0" smtClean="0"/>
                        <a:t>2.22</a:t>
                      </a:r>
                      <a:endParaRPr lang="de-DE" dirty="0"/>
                    </a:p>
                  </a:txBody>
                  <a:tcPr/>
                </a:tc>
                <a:tc>
                  <a:txBody>
                    <a:bodyPr/>
                    <a:lstStyle/>
                    <a:p>
                      <a:pPr algn="ctr"/>
                      <a:r>
                        <a:rPr lang="de-DE" dirty="0" smtClean="0"/>
                        <a:t>13.15</a:t>
                      </a:r>
                      <a:endParaRPr lang="de-DE" dirty="0"/>
                    </a:p>
                  </a:txBody>
                  <a:tcPr/>
                </a:tc>
              </a:tr>
            </a:tbl>
          </a:graphicData>
        </a:graphic>
      </p:graphicFrame>
    </p:spTree>
    <p:extLst>
      <p:ext uri="{BB962C8B-B14F-4D97-AF65-F5344CB8AC3E}">
        <p14:creationId xmlns="" xmlns:p14="http://schemas.microsoft.com/office/powerpoint/2010/main" val="1925531079"/>
      </p:ext>
    </p:extLst>
  </p:cSld>
  <p:clrMapOvr>
    <a:masterClrMapping/>
  </p:clrMapOvr>
  <p:transition>
    <p:cut/>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smtClean="0"/>
              <a:t>Conclusions</a:t>
            </a:r>
            <a:endParaRPr lang="en-US" dirty="0"/>
          </a:p>
        </p:txBody>
      </p:sp>
      <p:sp>
        <p:nvSpPr>
          <p:cNvPr id="3" name="Inhaltsplatzhalter 2"/>
          <p:cNvSpPr>
            <a:spLocks noGrp="1"/>
          </p:cNvSpPr>
          <p:nvPr>
            <p:ph idx="1"/>
          </p:nvPr>
        </p:nvSpPr>
        <p:spPr/>
        <p:txBody>
          <a:bodyPr>
            <a:normAutofit fontScale="70000" lnSpcReduction="20000"/>
          </a:bodyPr>
          <a:lstStyle/>
          <a:p>
            <a:r>
              <a:rPr lang="en-US" dirty="0" smtClean="0"/>
              <a:t>histograms can be used to represent a protein binding site in a simple way</a:t>
            </a:r>
          </a:p>
          <a:p>
            <a:endParaRPr lang="en-US" dirty="0" smtClean="0"/>
          </a:p>
          <a:p>
            <a:r>
              <a:rPr lang="en-US" dirty="0" smtClean="0"/>
              <a:t>despite loss of information, histograms still carry enough information to retrieve meaningful similarity values</a:t>
            </a:r>
          </a:p>
          <a:p>
            <a:pPr lvl="1"/>
            <a:endParaRPr lang="en-US" dirty="0" smtClean="0"/>
          </a:p>
          <a:p>
            <a:r>
              <a:rPr lang="en-US" dirty="0" smtClean="0"/>
              <a:t>runtime much smaller in comparison to </a:t>
            </a:r>
            <a:r>
              <a:rPr lang="en-US" dirty="0"/>
              <a:t>approaches </a:t>
            </a:r>
            <a:r>
              <a:rPr lang="en-US" dirty="0" smtClean="0"/>
              <a:t>used </a:t>
            </a:r>
            <a:r>
              <a:rPr lang="en-US" dirty="0"/>
              <a:t>so </a:t>
            </a:r>
            <a:r>
              <a:rPr lang="en-US" dirty="0" smtClean="0"/>
              <a:t>far </a:t>
            </a:r>
            <a:br>
              <a:rPr lang="en-US" dirty="0" smtClean="0"/>
            </a:br>
            <a:endParaRPr lang="en-US" dirty="0" smtClean="0"/>
          </a:p>
          <a:p>
            <a:r>
              <a:rPr lang="en-US" dirty="0"/>
              <a:t>c</a:t>
            </a:r>
            <a:r>
              <a:rPr lang="en-US" dirty="0" smtClean="0"/>
              <a:t>ross-bin measures mitigate the discontinuity problem</a:t>
            </a:r>
          </a:p>
          <a:p>
            <a:endParaRPr lang="de-DE" dirty="0"/>
          </a:p>
          <a:p>
            <a:r>
              <a:rPr lang="de-DE" dirty="0" smtClean="0"/>
              <a:t>bin-</a:t>
            </a:r>
            <a:r>
              <a:rPr lang="de-DE" dirty="0" err="1" smtClean="0"/>
              <a:t>by</a:t>
            </a:r>
            <a:r>
              <a:rPr lang="de-DE" dirty="0" smtClean="0"/>
              <a:t>-bin </a:t>
            </a:r>
            <a:r>
              <a:rPr lang="de-DE" dirty="0" err="1" smtClean="0"/>
              <a:t>measures</a:t>
            </a:r>
            <a:r>
              <a:rPr lang="de-DE" dirty="0" smtClean="0"/>
              <a:t> </a:t>
            </a:r>
            <a:r>
              <a:rPr lang="de-DE" dirty="0" err="1" smtClean="0"/>
              <a:t>benefit</a:t>
            </a:r>
            <a:r>
              <a:rPr lang="de-DE" dirty="0" smtClean="0"/>
              <a:t> </a:t>
            </a:r>
            <a:r>
              <a:rPr lang="de-DE" dirty="0" err="1" smtClean="0"/>
              <a:t>the</a:t>
            </a:r>
            <a:r>
              <a:rPr lang="de-DE" dirty="0" smtClean="0"/>
              <a:t> </a:t>
            </a:r>
            <a:r>
              <a:rPr lang="de-DE" dirty="0" err="1" smtClean="0"/>
              <a:t>most</a:t>
            </a:r>
            <a:r>
              <a:rPr lang="de-DE" dirty="0" smtClean="0"/>
              <a:t> </a:t>
            </a:r>
            <a:r>
              <a:rPr lang="de-DE" dirty="0" err="1" smtClean="0"/>
              <a:t>from</a:t>
            </a:r>
            <a:r>
              <a:rPr lang="de-DE" dirty="0" smtClean="0"/>
              <a:t> </a:t>
            </a:r>
            <a:r>
              <a:rPr lang="de-DE" dirty="0" err="1" smtClean="0"/>
              <a:t>fuzzyfication</a:t>
            </a:r>
            <a:endParaRPr lang="en-US" dirty="0"/>
          </a:p>
          <a:p>
            <a:endParaRPr lang="en-US" dirty="0" smtClean="0"/>
          </a:p>
          <a:p>
            <a:r>
              <a:rPr lang="en-US" dirty="0" smtClean="0"/>
              <a:t>useful extension to more expensive approaches as pre-filtering method</a:t>
            </a:r>
          </a:p>
        </p:txBody>
      </p:sp>
      <p:sp>
        <p:nvSpPr>
          <p:cNvPr id="4" name="Foliennummernplatzhalter 3"/>
          <p:cNvSpPr>
            <a:spLocks noGrp="1"/>
          </p:cNvSpPr>
          <p:nvPr>
            <p:ph type="sldNum" sz="quarter" idx="12"/>
          </p:nvPr>
        </p:nvSpPr>
        <p:spPr/>
        <p:txBody>
          <a:bodyPr/>
          <a:lstStyle/>
          <a:p>
            <a:fld id="{3722AAB7-8C13-4FEF-BF4B-87394EDC6C8B}" type="slidenum">
              <a:rPr lang="de-DE" smtClean="0"/>
              <a:pPr/>
              <a:t>17</a:t>
            </a:fld>
            <a:endParaRPr lang="de-DE" dirty="0"/>
          </a:p>
        </p:txBody>
      </p:sp>
    </p:spTree>
    <p:extLst>
      <p:ext uri="{BB962C8B-B14F-4D97-AF65-F5344CB8AC3E}">
        <p14:creationId xmlns="" xmlns:p14="http://schemas.microsoft.com/office/powerpoint/2010/main" val="592925809"/>
      </p:ext>
    </p:extLst>
  </p:cSld>
  <p:clrMapOvr>
    <a:masterClrMapping/>
  </p:clrMapOvr>
  <p:transition>
    <p:cut/>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08920"/>
            <a:ext cx="8229600" cy="1143000"/>
          </a:xfrm>
        </p:spPr>
        <p:txBody>
          <a:bodyPr/>
          <a:lstStyle/>
          <a:p>
            <a:r>
              <a:rPr lang="en-US" altLang="zh-TW" dirty="0" smtClean="0"/>
              <a:t>Thanks for your listening.</a:t>
            </a:r>
            <a:endParaRPr lang="zh-TW" altLang="en-US" dirty="0"/>
          </a:p>
        </p:txBody>
      </p:sp>
    </p:spTree>
  </p:cSld>
  <p:clrMapOvr>
    <a:masterClrMapping/>
  </p:clrMapOvr>
  <p:transition>
    <p:cut/>
  </p:transition>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777</TotalTime>
  <Words>925</Words>
  <Application>Microsoft Office PowerPoint</Application>
  <PresentationFormat>如螢幕大小 (4:3)</PresentationFormat>
  <Paragraphs>383</Paragraphs>
  <Slides>18</Slides>
  <Notes>1</Notes>
  <HiddenSlides>0</HiddenSlides>
  <MMClips>0</MMClips>
  <ScaleCrop>false</ScaleCrop>
  <HeadingPairs>
    <vt:vector size="4" baseType="variant">
      <vt:variant>
        <vt:lpstr>佈景主題</vt:lpstr>
      </vt:variant>
      <vt:variant>
        <vt:i4>1</vt:i4>
      </vt:variant>
      <vt:variant>
        <vt:lpstr>投影片標題</vt:lpstr>
      </vt:variant>
      <vt:variant>
        <vt:i4>18</vt:i4>
      </vt:variant>
    </vt:vector>
  </HeadingPairs>
  <TitlesOfParts>
    <vt:vector size="19" baseType="lpstr">
      <vt:lpstr>Office 佈景主題</vt:lpstr>
      <vt:lpstr>Efficient Similarity Retrieval for Protein Binding Sites Based on Histogram Comparison</vt:lpstr>
      <vt:lpstr>Abstract</vt:lpstr>
      <vt:lpstr>CavBase is a database for protein binding sites</vt:lpstr>
      <vt:lpstr>Histograms model pseudocenter distribution in 3D space</vt:lpstr>
      <vt:lpstr>Each histogram represents a combination of pseudocenter types</vt:lpstr>
      <vt:lpstr>Histogram distances are aggregated into one distance measure</vt:lpstr>
      <vt:lpstr>A variety of distance metrics can be used</vt:lpstr>
      <vt:lpstr>A variety of distance metrics can be used</vt:lpstr>
      <vt:lpstr>Histogram comparison can discriminate binding sites by ligand</vt:lpstr>
      <vt:lpstr>Histogram comparison can discriminate binding sites by ligand</vt:lpstr>
      <vt:lpstr>Histogram comparison can retrieve similar binding sites from database searches</vt:lpstr>
      <vt:lpstr>Histogram comparison can cluster active sites of enzyme classes</vt:lpstr>
      <vt:lpstr>Distance matrix (δM) reveals functional clusters</vt:lpstr>
      <vt:lpstr>Histogram comparison can cluster and classify enzymes by EC number</vt:lpstr>
      <vt:lpstr>Fuzzification solves the problem of discontinuity</vt:lpstr>
      <vt:lpstr>Fuzzy histograms increase performance of bin-by-bin measures</vt:lpstr>
      <vt:lpstr>Conclusions</vt:lpstr>
      <vt:lpstr>Thanks for your listening.</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Ligand Binding to Protein-Binding Pockets with Wet and Dry Regions</dc:title>
  <dc:creator>Dale</dc:creator>
  <cp:lastModifiedBy>Guest</cp:lastModifiedBy>
  <cp:revision>72</cp:revision>
  <dcterms:created xsi:type="dcterms:W3CDTF">2012-01-31T07:34:53Z</dcterms:created>
  <dcterms:modified xsi:type="dcterms:W3CDTF">2012-02-21T11:43:47Z</dcterms:modified>
</cp:coreProperties>
</file>