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59" r:id="rId7"/>
    <p:sldId id="264" r:id="rId8"/>
    <p:sldId id="265" r:id="rId9"/>
    <p:sldId id="266" r:id="rId10"/>
    <p:sldId id="268" r:id="rId11"/>
    <p:sldId id="267" r:id="rId12"/>
    <p:sldId id="271" r:id="rId13"/>
    <p:sldId id="269" r:id="rId14"/>
    <p:sldId id="270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9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94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047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94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70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92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01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27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03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29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571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4539C-FF34-44F4-98D9-D4B4B297ECC3}" type="datetimeFigureOut">
              <a:rPr lang="zh-TW" altLang="en-US" smtClean="0"/>
              <a:t>2012/10/9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13B7-1909-4CBB-9B3B-FD2A5D5160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24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77281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An </a:t>
            </a:r>
            <a:r>
              <a:rPr lang="en-US" altLang="zh-TW" b="1" dirty="0" smtClean="0"/>
              <a:t>Efficient Algorithm </a:t>
            </a:r>
            <a:r>
              <a:rPr lang="en-US" altLang="zh-TW" b="1" dirty="0"/>
              <a:t>for </a:t>
            </a:r>
            <a:r>
              <a:rPr lang="en-US" altLang="zh-TW" b="1" dirty="0" smtClean="0"/>
              <a:t>The</a:t>
            </a:r>
            <a:r>
              <a:rPr lang="en-US" altLang="zh-TW" b="1" dirty="0"/>
              <a:t> </a:t>
            </a:r>
            <a:r>
              <a:rPr lang="en-US" altLang="zh-TW" b="1" i="1" dirty="0"/>
              <a:t>k</a:t>
            </a:r>
            <a:r>
              <a:rPr lang="en-US" altLang="zh-TW" b="1" dirty="0"/>
              <a:t> </a:t>
            </a:r>
            <a:r>
              <a:rPr lang="en-US" altLang="zh-TW" b="1" dirty="0" smtClean="0"/>
              <a:t>Maximum Convex Sums</a:t>
            </a:r>
            <a:r>
              <a:rPr lang="en-US" altLang="zh-TW" b="1" dirty="0"/>
              <a:t/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8366" y="3573016"/>
            <a:ext cx="8561040" cy="175260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altLang="zh-TW" sz="2800" dirty="0" smtClean="0">
                <a:solidFill>
                  <a:schemeClr val="tx1"/>
                </a:solidFill>
              </a:rPr>
              <a:t>Mohammed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Thaher</a:t>
            </a:r>
            <a:r>
              <a:rPr lang="en-US" altLang="zh-TW" sz="2800" dirty="0" smtClean="0">
                <a:solidFill>
                  <a:schemeClr val="tx1"/>
                </a:solidFill>
              </a:rPr>
              <a:t> and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Tadao</a:t>
            </a:r>
            <a:r>
              <a:rPr lang="en-US" altLang="zh-TW" sz="2800" dirty="0" smtClean="0">
                <a:solidFill>
                  <a:schemeClr val="tx1"/>
                </a:solidFill>
              </a:rPr>
              <a:t> Takaoka</a:t>
            </a:r>
            <a:r>
              <a:rPr lang="en-US" altLang="zh-TW" sz="2800" baseline="30000" dirty="0" smtClean="0">
                <a:solidFill>
                  <a:schemeClr val="tx1"/>
                </a:solidFill>
              </a:rPr>
              <a:t> </a:t>
            </a:r>
          </a:p>
          <a:p>
            <a:pPr fontAlgn="base"/>
            <a:endParaRPr lang="en-US" altLang="zh-TW" sz="2800" dirty="0" smtClean="0">
              <a:solidFill>
                <a:schemeClr val="tx1"/>
              </a:solidFill>
            </a:endParaRPr>
          </a:p>
          <a:p>
            <a:pPr fontAlgn="base"/>
            <a:r>
              <a:rPr lang="en-US" altLang="zh-TW" sz="2800" dirty="0" smtClean="0">
                <a:solidFill>
                  <a:schemeClr val="tx1"/>
                </a:solidFill>
              </a:rPr>
              <a:t>University </a:t>
            </a:r>
            <a:r>
              <a:rPr lang="en-US" altLang="zh-TW" sz="2800" dirty="0">
                <a:solidFill>
                  <a:schemeClr val="tx1"/>
                </a:solidFill>
              </a:rPr>
              <a:t>of Canterbury, Christchurch 8140, New </a:t>
            </a:r>
            <a:r>
              <a:rPr lang="en-US" altLang="zh-TW" sz="2800" dirty="0" smtClean="0">
                <a:solidFill>
                  <a:schemeClr val="tx1"/>
                </a:solidFill>
              </a:rPr>
              <a:t>Zealand</a:t>
            </a:r>
          </a:p>
          <a:p>
            <a:pPr fontAlgn="base"/>
            <a:r>
              <a:rPr lang="it-IT" altLang="zh-TW" sz="2800">
                <a:solidFill>
                  <a:schemeClr val="tx1"/>
                </a:solidFill>
              </a:rPr>
              <a:t>Procedia Computer Science 1 (2012) 1475–1483</a:t>
            </a:r>
            <a:endParaRPr lang="en-US" altLang="zh-TW" sz="28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292725" y="5805264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TW" dirty="0">
                <a:latin typeface="Times New Roman" pitchFamily="18" charset="0"/>
              </a:rPr>
              <a:t>Presenter: </a:t>
            </a:r>
            <a:r>
              <a:rPr lang="zh-TW" altLang="en-US" dirty="0">
                <a:latin typeface="Times New Roman" pitchFamily="18" charset="0"/>
              </a:rPr>
              <a:t>方鈞毅</a:t>
            </a:r>
            <a:endParaRPr kumimoji="0" lang="en-US" altLang="zh-TW" dirty="0">
              <a:latin typeface="Times New Roman" pitchFamily="18" charset="0"/>
            </a:endParaRPr>
          </a:p>
          <a:p>
            <a:r>
              <a:rPr kumimoji="0" lang="en-US" altLang="zh-TW" dirty="0">
                <a:latin typeface="Times New Roman" pitchFamily="18" charset="0"/>
              </a:rPr>
              <a:t>Date: </a:t>
            </a:r>
            <a:r>
              <a:rPr kumimoji="0" lang="en-US" altLang="zh-TW" dirty="0" smtClean="0">
                <a:latin typeface="Times New Roman" pitchFamily="18" charset="0"/>
              </a:rPr>
              <a:t>Oct. 09, 2012</a:t>
            </a:r>
            <a:endParaRPr kumimoji="0" lang="en-US" altLang="zh-TW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4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This research presents efficient methods for computing the maximum sum in a </a:t>
            </a:r>
            <a:r>
              <a:rPr lang="en-US" altLang="zh-TW" dirty="0" err="1"/>
              <a:t>subarray</a:t>
            </a:r>
            <a:r>
              <a:rPr lang="en-US" altLang="zh-TW" dirty="0"/>
              <a:t> problem. </a:t>
            </a:r>
            <a:endParaRPr lang="en-US" altLang="zh-TW" dirty="0" smtClean="0"/>
          </a:p>
          <a:p>
            <a:r>
              <a:rPr lang="en-US" altLang="zh-TW" dirty="0" smtClean="0"/>
              <a:t>Firstly</a:t>
            </a:r>
            <a:r>
              <a:rPr lang="en-US" altLang="zh-TW" dirty="0"/>
              <a:t>, one of the presented methods uses an efficient algorithm that determines the boundaries of a convex shape to calculate the optimal gain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 </a:t>
            </a:r>
            <a:r>
              <a:rPr lang="en-US" altLang="zh-TW" dirty="0"/>
              <a:t>The time complexity of this algorithm is the same as that for other existing algorithms, such as </a:t>
            </a:r>
            <a:r>
              <a:rPr lang="en-US" altLang="zh-TW" dirty="0" err="1"/>
              <a:t>Kadane’s</a:t>
            </a:r>
            <a:r>
              <a:rPr lang="en-US" altLang="zh-TW" dirty="0"/>
              <a:t> algorithm. </a:t>
            </a:r>
            <a:endParaRPr lang="en-US" altLang="zh-TW" dirty="0" smtClean="0"/>
          </a:p>
          <a:p>
            <a:r>
              <a:rPr lang="en-US" altLang="zh-TW" dirty="0" smtClean="0"/>
              <a:t>Furthermore</a:t>
            </a:r>
            <a:r>
              <a:rPr lang="en-US" altLang="zh-TW" dirty="0"/>
              <a:t>, even though this algorithm involves complicated operations, the involved processes return the shape of the </a:t>
            </a:r>
            <a:r>
              <a:rPr lang="en-US" altLang="zh-TW" dirty="0" err="1"/>
              <a:t>optimised</a:t>
            </a:r>
            <a:r>
              <a:rPr lang="en-US" altLang="zh-TW" dirty="0"/>
              <a:t> solution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019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Secondly, a generalization of the derived efficient algorithm is presented in this paper. </a:t>
            </a:r>
          </a:p>
          <a:p>
            <a:r>
              <a:rPr lang="en-US" altLang="zh-TW" dirty="0" smtClean="0"/>
              <a:t>This algorithm finds the first maximum sum, second maximum sum and up to the </a:t>
            </a:r>
            <a:r>
              <a:rPr lang="en-US" altLang="zh-TW" i="1" dirty="0" err="1" smtClean="0"/>
              <a:t>k</a:t>
            </a:r>
            <a:r>
              <a:rPr lang="en-US" altLang="zh-TW" dirty="0" err="1" smtClean="0"/>
              <a:t>th</a:t>
            </a:r>
            <a:r>
              <a:rPr lang="en-US" altLang="zh-TW" dirty="0" smtClean="0"/>
              <a:t> maximum sum. </a:t>
            </a:r>
          </a:p>
          <a:p>
            <a:r>
              <a:rPr lang="en-US" altLang="zh-TW" dirty="0" smtClean="0"/>
              <a:t>Finding the </a:t>
            </a:r>
            <a:r>
              <a:rPr lang="en-US" altLang="zh-TW" dirty="0" err="1" smtClean="0"/>
              <a:t>kth</a:t>
            </a:r>
            <a:r>
              <a:rPr lang="en-US" altLang="zh-TW" dirty="0" smtClean="0"/>
              <a:t> maximum convex sum can be utilized in many applications, such as accurately and efficiently locating the spreading of cancer.</a:t>
            </a:r>
            <a:endParaRPr lang="zh-TW" altLang="en-US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577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Maximum </a:t>
            </a:r>
            <a:r>
              <a:rPr lang="en-US" altLang="zh-TW" dirty="0" err="1" smtClean="0"/>
              <a:t>Subarray</a:t>
            </a:r>
            <a:r>
              <a:rPr lang="en-US" altLang="zh-TW" dirty="0" smtClean="0"/>
              <a:t> Problem (MSP)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the maximum </a:t>
            </a:r>
            <a:r>
              <a:rPr lang="en-US" altLang="zh-TW" dirty="0" err="1" smtClean="0"/>
              <a:t>subarray</a:t>
            </a:r>
            <a:r>
              <a:rPr lang="en-US" altLang="zh-TW" dirty="0" smtClean="0"/>
              <a:t> in a given array</a:t>
            </a:r>
          </a:p>
          <a:p>
            <a:pPr lvl="1"/>
            <a:r>
              <a:rPr lang="en-US" altLang="zh-TW" dirty="0" smtClean="0"/>
              <a:t>1D array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 smtClean="0"/>
              <a:t>2D array</a:t>
            </a:r>
          </a:p>
          <a:p>
            <a:pPr lvl="2"/>
            <a:r>
              <a:rPr lang="en-US" altLang="zh-TW" dirty="0" smtClean="0"/>
              <a:t>Find a rectangular regions of a given m × n array of real numbers , which has the maximal sum .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429" y="4672640"/>
            <a:ext cx="3240360" cy="1497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725432"/>
            <a:ext cx="3142109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506" y="2645960"/>
            <a:ext cx="5405644" cy="659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016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 Maximum Convex Sums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36912"/>
            <a:ext cx="390525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358" y="2636912"/>
            <a:ext cx="359092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719" y="4494287"/>
            <a:ext cx="33337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15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Shapes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70" y="1622727"/>
            <a:ext cx="7956376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2780928"/>
            <a:ext cx="829627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366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Convex Shape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Definition of Convex Shape : A region is called convex, called rectilinear convex.</a:t>
            </a:r>
          </a:p>
          <a:p>
            <a:r>
              <a:rPr lang="en-US" altLang="zh-TW" dirty="0" smtClean="0"/>
              <a:t>Any convex shape can be constructed from (W, U, N) or (W, D, N). </a:t>
            </a:r>
          </a:p>
          <a:p>
            <a:r>
              <a:rPr lang="en-US" altLang="zh-TW" dirty="0" smtClean="0"/>
              <a:t>This research focuses on shapes composed of W and N, which we call the WN shape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741775"/>
            <a:ext cx="2537834" cy="2084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141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Best  W shape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sz="2200" dirty="0" smtClean="0"/>
              <a:t>Let array  </a:t>
            </a:r>
            <a:r>
              <a:rPr lang="en-US" altLang="zh-TW" sz="2200" dirty="0" err="1" smtClean="0"/>
              <a:t>bw</a:t>
            </a:r>
            <a:r>
              <a:rPr lang="en-US" altLang="zh-TW" sz="2200" dirty="0" smtClean="0"/>
              <a:t> store the values of the case number, 1, 2, or 3 to keep track of directions for backtracking</a:t>
            </a:r>
            <a:endParaRPr lang="zh-TW" altLang="en-US" sz="2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06632"/>
            <a:ext cx="8707636" cy="2664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65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three cases  to find the best W shape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309813"/>
            <a:ext cx="83439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378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34" y="2708920"/>
            <a:ext cx="8391583" cy="272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227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Backtracking its shape</a:t>
            </a:r>
            <a:endParaRPr lang="zh-TW" altLang="en-US" dirty="0" smtClean="0"/>
          </a:p>
          <a:p>
            <a:endParaRPr lang="zh-TW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5984586" cy="3324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40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 Convex Sum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overlapping sum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disjoint sum</a:t>
            </a:r>
          </a:p>
          <a:p>
            <a:pPr lvl="1"/>
            <a:r>
              <a:rPr lang="en-US" altLang="zh-TW" dirty="0" smtClean="0"/>
              <a:t>Steps. </a:t>
            </a:r>
          </a:p>
          <a:p>
            <a:pPr lvl="2"/>
            <a:r>
              <a:rPr lang="en-US" altLang="zh-TW" dirty="0" smtClean="0"/>
              <a:t>Find the next maximum convex sum</a:t>
            </a:r>
          </a:p>
          <a:p>
            <a:pPr lvl="2"/>
            <a:r>
              <a:rPr lang="en-US" altLang="zh-TW" dirty="0" smtClean="0"/>
              <a:t>Find numbers in its shape , and replaced with negative numbers</a:t>
            </a:r>
          </a:p>
          <a:p>
            <a:pPr lvl="2"/>
            <a:r>
              <a:rPr lang="en-US" altLang="zh-TW" dirty="0" smtClean="0"/>
              <a:t>do again until the k-</a:t>
            </a:r>
            <a:r>
              <a:rPr lang="en-US" altLang="zh-TW" dirty="0" err="1" smtClean="0"/>
              <a:t>th</a:t>
            </a:r>
            <a:r>
              <a:rPr lang="en-US" altLang="zh-TW" dirty="0" smtClean="0"/>
              <a:t> times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085184"/>
            <a:ext cx="3372991" cy="268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88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787" y="1647807"/>
            <a:ext cx="5976421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1" y="5733256"/>
            <a:ext cx="87534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55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805264"/>
            <a:ext cx="52482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88840"/>
            <a:ext cx="5536071" cy="369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3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314</Words>
  <Application>Microsoft Office PowerPoint</Application>
  <PresentationFormat>如螢幕大小 (4:3)</PresentationFormat>
  <Paragraphs>50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An Efficient Algorithm for The k Maximum Convex Sums </vt:lpstr>
      <vt:lpstr>Abstract</vt:lpstr>
      <vt:lpstr>Abstract</vt:lpstr>
      <vt:lpstr>The Maximum Subarray Problem (MSP)</vt:lpstr>
      <vt:lpstr>The Maximum Convex Sums</vt:lpstr>
      <vt:lpstr>Shapes</vt:lpstr>
      <vt:lpstr>Convex Shape</vt:lpstr>
      <vt:lpstr>Algorithm(1)</vt:lpstr>
      <vt:lpstr>PowerPoint 簡報</vt:lpstr>
      <vt:lpstr>Algorithm(2)</vt:lpstr>
      <vt:lpstr>Algorithm(3)</vt:lpstr>
      <vt:lpstr>K Convex Sum Problem</vt:lpstr>
      <vt:lpstr>Results</vt:lpstr>
      <vt:lpstr>Results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efficient algorithm for the k maximum convex sums</dc:title>
  <dc:creator>fjy</dc:creator>
  <cp:lastModifiedBy>fjy</cp:lastModifiedBy>
  <cp:revision>16</cp:revision>
  <dcterms:created xsi:type="dcterms:W3CDTF">2012-10-08T09:58:49Z</dcterms:created>
  <dcterms:modified xsi:type="dcterms:W3CDTF">2012-10-09T11:24:48Z</dcterms:modified>
</cp:coreProperties>
</file>