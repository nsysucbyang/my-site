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2" r:id="rId1"/>
  </p:sldMasterIdLst>
  <p:sldIdLst>
    <p:sldId id="256" r:id="rId2"/>
    <p:sldId id="268" r:id="rId3"/>
    <p:sldId id="269" r:id="rId4"/>
    <p:sldId id="270" r:id="rId5"/>
    <p:sldId id="258" r:id="rId6"/>
    <p:sldId id="259" r:id="rId7"/>
    <p:sldId id="260" r:id="rId8"/>
    <p:sldId id="261" r:id="rId9"/>
    <p:sldId id="262" r:id="rId10"/>
    <p:sldId id="263" r:id="rId11"/>
    <p:sldId id="267" r:id="rId12"/>
    <p:sldId id="271" r:id="rId13"/>
    <p:sldId id="272" r:id="rId14"/>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9" d="100"/>
          <a:sy n="109" d="100"/>
        </p:scale>
        <p:origin x="-1674" y="-8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371600"/>
            <a:ext cx="7848600" cy="1927225"/>
          </a:xfrm>
        </p:spPr>
        <p:txBody>
          <a:bodyPr anchor="b">
            <a:noAutofit/>
          </a:bodyPr>
          <a:lstStyle>
            <a:lvl1pPr>
              <a:defRPr sz="5400" cap="all" baseline="0"/>
            </a:lvl1pPr>
          </a:lstStyle>
          <a:p>
            <a:r>
              <a:rPr lang="zh-TW" altLang="en-US" smtClean="0"/>
              <a:t>按一下以編輯母片標題樣式</a:t>
            </a:r>
            <a:endParaRPr lang="en-US" dirty="0"/>
          </a:p>
        </p:txBody>
      </p:sp>
      <p:sp>
        <p:nvSpPr>
          <p:cNvPr id="3" name="Subtitle 2"/>
          <p:cNvSpPr>
            <a:spLocks noGrp="1"/>
          </p:cNvSpPr>
          <p:nvPr>
            <p:ph type="subTitle" idx="1"/>
          </p:nvPr>
        </p:nvSpPr>
        <p:spPr>
          <a:xfrm>
            <a:off x="685800" y="3505200"/>
            <a:ext cx="6400800" cy="1752600"/>
          </a:xfrm>
        </p:spPr>
        <p:txBody>
          <a:bodyPr/>
          <a:lstStyle>
            <a:lvl1pPr marL="0" indent="0" algn="l">
              <a:buNone/>
              <a:defRPr>
                <a:solidFill>
                  <a:schemeClr val="tx1">
                    <a:lumMod val="75000"/>
                    <a:lumOff val="2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smtClean="0"/>
              <a:t>按一下以編輯母片副標題樣式</a:t>
            </a:r>
            <a:endParaRPr lang="en-US" dirty="0"/>
          </a:p>
        </p:txBody>
      </p:sp>
      <p:sp>
        <p:nvSpPr>
          <p:cNvPr id="4" name="Date Placeholder 3"/>
          <p:cNvSpPr>
            <a:spLocks noGrp="1"/>
          </p:cNvSpPr>
          <p:nvPr>
            <p:ph type="dt" sz="half" idx="10"/>
          </p:nvPr>
        </p:nvSpPr>
        <p:spPr/>
        <p:txBody>
          <a:bodyPr/>
          <a:lstStyle/>
          <a:p>
            <a:fld id="{BBA0141E-C290-4A04-95E4-1CF64B8A3158}" type="datetimeFigureOut">
              <a:rPr lang="zh-TW" altLang="en-US" smtClean="0"/>
              <a:pPr/>
              <a:t>2012/10/23</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9862AE27-4FA4-425A-B2CB-C3CFAB929792}" type="slidenum">
              <a:rPr lang="zh-TW" altLang="en-US" smtClean="0"/>
              <a:pPr/>
              <a:t>‹#›</a:t>
            </a:fld>
            <a:endParaRPr lang="zh-TW" altLang="en-US"/>
          </a:p>
        </p:txBody>
      </p:sp>
      <p:cxnSp>
        <p:nvCxnSpPr>
          <p:cNvPr id="8" name="Straight Connector 7"/>
          <p:cNvCxnSpPr/>
          <p:nvPr/>
        </p:nvCxnSpPr>
        <p:spPr>
          <a:xfrm>
            <a:off x="685800" y="3398520"/>
            <a:ext cx="78486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smtClean="0"/>
              <a:t>按一下以編輯母片標題樣式</a:t>
            </a:r>
            <a:endParaRPr lang="en-US"/>
          </a:p>
        </p:txBody>
      </p:sp>
      <p:sp>
        <p:nvSpPr>
          <p:cNvPr id="3" name="Content Placeholder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a:p>
        </p:txBody>
      </p:sp>
      <p:sp>
        <p:nvSpPr>
          <p:cNvPr id="4" name="Date Placeholder 3"/>
          <p:cNvSpPr>
            <a:spLocks noGrp="1"/>
          </p:cNvSpPr>
          <p:nvPr>
            <p:ph type="dt" sz="half" idx="10"/>
          </p:nvPr>
        </p:nvSpPr>
        <p:spPr/>
        <p:txBody>
          <a:bodyPr/>
          <a:lstStyle/>
          <a:p>
            <a:fld id="{BBA0141E-C290-4A04-95E4-1CF64B8A3158}" type="datetimeFigureOut">
              <a:rPr lang="zh-TW" altLang="en-US" smtClean="0"/>
              <a:pPr/>
              <a:t>2012/10/23</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9862AE27-4FA4-425A-B2CB-C3CFAB929792}" type="slidenum">
              <a:rPr lang="zh-TW" altLang="en-US" smtClean="0"/>
              <a:pPr/>
              <a:t>‹#›</a:t>
            </a:fld>
            <a:endParaRPr lang="zh-TW"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13" y="2362200"/>
            <a:ext cx="7772400" cy="2200275"/>
          </a:xfrm>
        </p:spPr>
        <p:txBody>
          <a:bodyPr anchor="b">
            <a:normAutofit/>
          </a:bodyPr>
          <a:lstStyle>
            <a:lvl1pPr algn="l">
              <a:defRPr sz="4800" b="0" cap="all"/>
            </a:lvl1pPr>
          </a:lstStyle>
          <a:p>
            <a:r>
              <a:rPr lang="zh-TW" altLang="en-US" smtClean="0"/>
              <a:t>按一下以編輯母片標題樣式</a:t>
            </a:r>
            <a:endParaRPr lang="en-US" dirty="0"/>
          </a:p>
        </p:txBody>
      </p:sp>
      <p:sp>
        <p:nvSpPr>
          <p:cNvPr id="3" name="Text Placeholder 2"/>
          <p:cNvSpPr>
            <a:spLocks noGrp="1"/>
          </p:cNvSpPr>
          <p:nvPr>
            <p:ph type="body" idx="1"/>
          </p:nvPr>
        </p:nvSpPr>
        <p:spPr>
          <a:xfrm>
            <a:off x="722313" y="4626864"/>
            <a:ext cx="7772400" cy="1500187"/>
          </a:xfrm>
        </p:spPr>
        <p:txBody>
          <a:bodyPr anchor="t">
            <a:normAutofit/>
          </a:bodyPr>
          <a:lstStyle>
            <a:lvl1pPr marL="0" indent="0">
              <a:buNone/>
              <a:defRPr sz="24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smtClean="0"/>
              <a:t>按一下以編輯母片文字樣式</a:t>
            </a:r>
          </a:p>
        </p:txBody>
      </p:sp>
      <p:sp>
        <p:nvSpPr>
          <p:cNvPr id="4" name="Date Placeholder 3"/>
          <p:cNvSpPr>
            <a:spLocks noGrp="1"/>
          </p:cNvSpPr>
          <p:nvPr>
            <p:ph type="dt" sz="half" idx="10"/>
          </p:nvPr>
        </p:nvSpPr>
        <p:spPr/>
        <p:txBody>
          <a:bodyPr/>
          <a:lstStyle/>
          <a:p>
            <a:fld id="{BBA0141E-C290-4A04-95E4-1CF64B8A3158}" type="datetimeFigureOut">
              <a:rPr lang="zh-TW" altLang="en-US" smtClean="0"/>
              <a:pPr/>
              <a:t>2012/10/23</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9862AE27-4FA4-425A-B2CB-C3CFAB929792}" type="slidenum">
              <a:rPr lang="zh-TW" altLang="en-US" smtClean="0"/>
              <a:pPr/>
              <a:t>‹#›</a:t>
            </a:fld>
            <a:endParaRPr lang="zh-TW" altLang="en-US"/>
          </a:p>
        </p:txBody>
      </p:sp>
      <p:cxnSp>
        <p:nvCxnSpPr>
          <p:cNvPr id="7" name="Straight Connector 6"/>
          <p:cNvCxnSpPr/>
          <p:nvPr/>
        </p:nvCxnSpPr>
        <p:spPr>
          <a:xfrm>
            <a:off x="731520" y="4599432"/>
            <a:ext cx="78486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smtClean="0"/>
              <a:t>按一下以編輯母片標題樣式</a:t>
            </a:r>
            <a:endParaRPr lang="en-US"/>
          </a:p>
        </p:txBody>
      </p:sp>
      <p:sp>
        <p:nvSpPr>
          <p:cNvPr id="3" name="Content Placeholder 2"/>
          <p:cNvSpPr>
            <a:spLocks noGrp="1"/>
          </p:cNvSpPr>
          <p:nvPr>
            <p:ph sz="half" idx="1"/>
          </p:nvPr>
        </p:nvSpPr>
        <p:spPr>
          <a:xfrm>
            <a:off x="457200" y="1673352"/>
            <a:ext cx="40386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Content Placeholder 3"/>
          <p:cNvSpPr>
            <a:spLocks noGrp="1"/>
          </p:cNvSpPr>
          <p:nvPr>
            <p:ph sz="half" idx="2"/>
          </p:nvPr>
        </p:nvSpPr>
        <p:spPr>
          <a:xfrm>
            <a:off x="4648200" y="1673352"/>
            <a:ext cx="40386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5" name="Date Placeholder 4"/>
          <p:cNvSpPr>
            <a:spLocks noGrp="1"/>
          </p:cNvSpPr>
          <p:nvPr>
            <p:ph type="dt" sz="half" idx="10"/>
          </p:nvPr>
        </p:nvSpPr>
        <p:spPr/>
        <p:txBody>
          <a:bodyPr/>
          <a:lstStyle/>
          <a:p>
            <a:fld id="{BBA0141E-C290-4A04-95E4-1CF64B8A3158}" type="datetimeFigureOut">
              <a:rPr lang="zh-TW" altLang="en-US" smtClean="0"/>
              <a:pPr/>
              <a:t>2012/10/23</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9862AE27-4FA4-425A-B2CB-C3CFAB929792}" type="slidenum">
              <a:rPr lang="zh-TW" altLang="en-US" smtClean="0"/>
              <a:pPr/>
              <a:t>‹#›</a:t>
            </a:fld>
            <a:endParaRPr lang="zh-TW"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TW" altLang="en-US" smtClean="0"/>
              <a:t>按一下以編輯母片標題樣式</a:t>
            </a:r>
            <a:endParaRPr lang="en-US" dirty="0"/>
          </a:p>
        </p:txBody>
      </p:sp>
      <p:sp>
        <p:nvSpPr>
          <p:cNvPr id="3" name="Text Placeholder 2"/>
          <p:cNvSpPr>
            <a:spLocks noGrp="1"/>
          </p:cNvSpPr>
          <p:nvPr>
            <p:ph type="body" idx="1"/>
          </p:nvPr>
        </p:nvSpPr>
        <p:spPr>
          <a:xfrm>
            <a:off x="457200" y="1676400"/>
            <a:ext cx="393192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Content Placeholder 3"/>
          <p:cNvSpPr>
            <a:spLocks noGrp="1"/>
          </p:cNvSpPr>
          <p:nvPr>
            <p:ph sz="half" idx="2"/>
          </p:nvPr>
        </p:nvSpPr>
        <p:spPr>
          <a:xfrm>
            <a:off x="457200" y="2438400"/>
            <a:ext cx="39319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5" name="Text Placeholder 4"/>
          <p:cNvSpPr>
            <a:spLocks noGrp="1"/>
          </p:cNvSpPr>
          <p:nvPr>
            <p:ph type="body" sz="quarter" idx="3"/>
          </p:nvPr>
        </p:nvSpPr>
        <p:spPr>
          <a:xfrm>
            <a:off x="4754880" y="1676400"/>
            <a:ext cx="393192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lang="en-US" sz="2000" b="0" kern="1200" dirty="0" smtClean="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Content Placeholder 5"/>
          <p:cNvSpPr>
            <a:spLocks noGrp="1"/>
          </p:cNvSpPr>
          <p:nvPr>
            <p:ph sz="quarter" idx="4"/>
          </p:nvPr>
        </p:nvSpPr>
        <p:spPr>
          <a:xfrm>
            <a:off x="4754880" y="2438400"/>
            <a:ext cx="39319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7" name="Date Placeholder 6"/>
          <p:cNvSpPr>
            <a:spLocks noGrp="1"/>
          </p:cNvSpPr>
          <p:nvPr>
            <p:ph type="dt" sz="half" idx="10"/>
          </p:nvPr>
        </p:nvSpPr>
        <p:spPr/>
        <p:txBody>
          <a:bodyPr/>
          <a:lstStyle/>
          <a:p>
            <a:fld id="{BBA0141E-C290-4A04-95E4-1CF64B8A3158}" type="datetimeFigureOut">
              <a:rPr lang="zh-TW" altLang="en-US" smtClean="0"/>
              <a:pPr/>
              <a:t>2012/10/23</a:t>
            </a:fld>
            <a:endParaRPr lang="zh-TW" altLang="en-US"/>
          </a:p>
        </p:txBody>
      </p:sp>
      <p:sp>
        <p:nvSpPr>
          <p:cNvPr id="8" name="Footer Placeholder 7"/>
          <p:cNvSpPr>
            <a:spLocks noGrp="1"/>
          </p:cNvSpPr>
          <p:nvPr>
            <p:ph type="ftr" sz="quarter" idx="11"/>
          </p:nvPr>
        </p:nvSpPr>
        <p:spPr/>
        <p:txBody>
          <a:bodyPr/>
          <a:lstStyle/>
          <a:p>
            <a:endParaRPr lang="zh-TW" altLang="en-US"/>
          </a:p>
        </p:txBody>
      </p:sp>
      <p:sp>
        <p:nvSpPr>
          <p:cNvPr id="9" name="Slide Number Placeholder 8"/>
          <p:cNvSpPr>
            <a:spLocks noGrp="1"/>
          </p:cNvSpPr>
          <p:nvPr>
            <p:ph type="sldNum" sz="quarter" idx="12"/>
          </p:nvPr>
        </p:nvSpPr>
        <p:spPr/>
        <p:txBody>
          <a:bodyPr/>
          <a:lstStyle/>
          <a:p>
            <a:fld id="{9862AE27-4FA4-425A-B2CB-C3CFAB929792}" type="slidenum">
              <a:rPr lang="zh-TW" altLang="en-US" smtClean="0"/>
              <a:pPr/>
              <a:t>‹#›</a:t>
            </a:fld>
            <a:endParaRPr lang="zh-TW" altLang="en-US"/>
          </a:p>
        </p:txBody>
      </p:sp>
      <p:cxnSp>
        <p:nvCxnSpPr>
          <p:cNvPr id="11" name="Straight Connector 10"/>
          <p:cNvCxnSpPr/>
          <p:nvPr/>
        </p:nvCxnSpPr>
        <p:spPr>
          <a:xfrm rot="5400000">
            <a:off x="2217817" y="4045823"/>
            <a:ext cx="4709160" cy="794"/>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smtClean="0"/>
              <a:t>按一下以編輯母片標題樣式</a:t>
            </a:r>
            <a:endParaRPr lang="en-US"/>
          </a:p>
        </p:txBody>
      </p:sp>
      <p:sp>
        <p:nvSpPr>
          <p:cNvPr id="3" name="Date Placeholder 2"/>
          <p:cNvSpPr>
            <a:spLocks noGrp="1"/>
          </p:cNvSpPr>
          <p:nvPr>
            <p:ph type="dt" sz="half" idx="10"/>
          </p:nvPr>
        </p:nvSpPr>
        <p:spPr/>
        <p:txBody>
          <a:bodyPr/>
          <a:lstStyle/>
          <a:p>
            <a:fld id="{BBA0141E-C290-4A04-95E4-1CF64B8A3158}" type="datetimeFigureOut">
              <a:rPr lang="zh-TW" altLang="en-US" smtClean="0"/>
              <a:pPr/>
              <a:t>2012/10/23</a:t>
            </a:fld>
            <a:endParaRPr lang="zh-TW" altLang="en-US"/>
          </a:p>
        </p:txBody>
      </p:sp>
      <p:sp>
        <p:nvSpPr>
          <p:cNvPr id="4" name="Footer Placeholder 3"/>
          <p:cNvSpPr>
            <a:spLocks noGrp="1"/>
          </p:cNvSpPr>
          <p:nvPr>
            <p:ph type="ftr" sz="quarter" idx="11"/>
          </p:nvPr>
        </p:nvSpPr>
        <p:spPr/>
        <p:txBody>
          <a:bodyPr/>
          <a:lstStyle/>
          <a:p>
            <a:endParaRPr lang="zh-TW" altLang="en-US"/>
          </a:p>
        </p:txBody>
      </p:sp>
      <p:sp>
        <p:nvSpPr>
          <p:cNvPr id="5" name="Slide Number Placeholder 4"/>
          <p:cNvSpPr>
            <a:spLocks noGrp="1"/>
          </p:cNvSpPr>
          <p:nvPr>
            <p:ph type="sldNum" sz="quarter" idx="12"/>
          </p:nvPr>
        </p:nvSpPr>
        <p:spPr/>
        <p:txBody>
          <a:bodyPr/>
          <a:lstStyle/>
          <a:p>
            <a:fld id="{9862AE27-4FA4-425A-B2CB-C3CFAB929792}" type="slidenum">
              <a:rPr lang="zh-TW" altLang="en-US" smtClean="0"/>
              <a:pPr/>
              <a:t>‹#›</a:t>
            </a:fld>
            <a:endParaRPr lang="zh-TW"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BA0141E-C290-4A04-95E4-1CF64B8A3158}" type="datetimeFigureOut">
              <a:rPr lang="zh-TW" altLang="en-US" smtClean="0"/>
              <a:pPr/>
              <a:t>2012/10/23</a:t>
            </a:fld>
            <a:endParaRPr lang="zh-TW" altLang="en-US"/>
          </a:p>
        </p:txBody>
      </p:sp>
      <p:sp>
        <p:nvSpPr>
          <p:cNvPr id="3" name="Footer Placeholder 2"/>
          <p:cNvSpPr>
            <a:spLocks noGrp="1"/>
          </p:cNvSpPr>
          <p:nvPr>
            <p:ph type="ftr" sz="quarter" idx="11"/>
          </p:nvPr>
        </p:nvSpPr>
        <p:spPr/>
        <p:txBody>
          <a:bodyPr/>
          <a:lstStyle/>
          <a:p>
            <a:endParaRPr lang="zh-TW" altLang="en-US"/>
          </a:p>
        </p:txBody>
      </p:sp>
      <p:sp>
        <p:nvSpPr>
          <p:cNvPr id="4" name="Slide Number Placeholder 3"/>
          <p:cNvSpPr>
            <a:spLocks noGrp="1"/>
          </p:cNvSpPr>
          <p:nvPr>
            <p:ph type="sldNum" sz="quarter" idx="12"/>
          </p:nvPr>
        </p:nvSpPr>
        <p:spPr/>
        <p:txBody>
          <a:bodyPr/>
          <a:lstStyle/>
          <a:p>
            <a:fld id="{9862AE27-4FA4-425A-B2CB-C3CFAB929792}" type="slidenum">
              <a:rPr lang="zh-TW" altLang="en-US" smtClean="0"/>
              <a:pPr/>
              <a:t>‹#›</a:t>
            </a:fld>
            <a:endParaRPr lang="zh-TW"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Title 1"/>
          <p:cNvSpPr>
            <a:spLocks noGrp="1"/>
          </p:cNvSpPr>
          <p:nvPr>
            <p:ph type="title"/>
          </p:nvPr>
        </p:nvSpPr>
        <p:spPr>
          <a:xfrm>
            <a:off x="457200" y="792080"/>
            <a:ext cx="2139696" cy="1261872"/>
          </a:xfrm>
        </p:spPr>
        <p:txBody>
          <a:bodyPr anchor="b">
            <a:noAutofit/>
          </a:bodyPr>
          <a:lstStyle>
            <a:lvl1pPr algn="l">
              <a:defRPr sz="2400" b="0"/>
            </a:lvl1pPr>
          </a:lstStyle>
          <a:p>
            <a:r>
              <a:rPr lang="zh-TW" altLang="en-US" smtClean="0"/>
              <a:t>按一下以編輯母片標題樣式</a:t>
            </a:r>
            <a:endParaRPr lang="en-US" dirty="0"/>
          </a:p>
        </p:txBody>
      </p:sp>
      <p:sp>
        <p:nvSpPr>
          <p:cNvPr id="3" name="Content Placeholder 2"/>
          <p:cNvSpPr>
            <a:spLocks noGrp="1"/>
          </p:cNvSpPr>
          <p:nvPr>
            <p:ph idx="1"/>
          </p:nvPr>
        </p:nvSpPr>
        <p:spPr>
          <a:xfrm>
            <a:off x="2971800" y="792080"/>
            <a:ext cx="5715000" cy="55778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Text Placeholder 3"/>
          <p:cNvSpPr>
            <a:spLocks noGrp="1"/>
          </p:cNvSpPr>
          <p:nvPr>
            <p:ph type="body" sz="half" idx="2"/>
          </p:nvPr>
        </p:nvSpPr>
        <p:spPr>
          <a:xfrm>
            <a:off x="457201" y="2130552"/>
            <a:ext cx="2139696" cy="424361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Date Placeholder 4"/>
          <p:cNvSpPr>
            <a:spLocks noGrp="1"/>
          </p:cNvSpPr>
          <p:nvPr>
            <p:ph type="dt" sz="half" idx="10"/>
          </p:nvPr>
        </p:nvSpPr>
        <p:spPr/>
        <p:txBody>
          <a:bodyPr/>
          <a:lstStyle/>
          <a:p>
            <a:fld id="{BBA0141E-C290-4A04-95E4-1CF64B8A3158}" type="datetimeFigureOut">
              <a:rPr lang="zh-TW" altLang="en-US" smtClean="0"/>
              <a:pPr/>
              <a:t>2012/10/23</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9862AE27-4FA4-425A-B2CB-C3CFAB929792}" type="slidenum">
              <a:rPr lang="zh-TW" altLang="en-US" smtClean="0"/>
              <a:pPr/>
              <a:t>‹#›</a:t>
            </a:fld>
            <a:endParaRPr lang="zh-TW" altLang="en-US"/>
          </a:p>
        </p:txBody>
      </p:sp>
      <p:cxnSp>
        <p:nvCxnSpPr>
          <p:cNvPr id="9" name="Straight Connector 8"/>
          <p:cNvCxnSpPr/>
          <p:nvPr/>
        </p:nvCxnSpPr>
        <p:spPr>
          <a:xfrm rot="5400000">
            <a:off x="-13116" y="3580206"/>
            <a:ext cx="557784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Title 1"/>
          <p:cNvSpPr>
            <a:spLocks noGrp="1"/>
          </p:cNvSpPr>
          <p:nvPr>
            <p:ph type="title"/>
          </p:nvPr>
        </p:nvSpPr>
        <p:spPr>
          <a:xfrm>
            <a:off x="457200" y="792480"/>
            <a:ext cx="2142680" cy="1264920"/>
          </a:xfrm>
        </p:spPr>
        <p:txBody>
          <a:bodyPr anchor="b">
            <a:normAutofit/>
          </a:bodyPr>
          <a:lstStyle>
            <a:lvl1pPr algn="l">
              <a:defRPr sz="2400" b="0"/>
            </a:lvl1pPr>
          </a:lstStyle>
          <a:p>
            <a:r>
              <a:rPr lang="zh-TW" altLang="en-US" smtClean="0"/>
              <a:t>按一下以編輯母片標題樣式</a:t>
            </a:r>
            <a:endParaRPr lang="en-US" dirty="0"/>
          </a:p>
        </p:txBody>
      </p:sp>
      <p:sp>
        <p:nvSpPr>
          <p:cNvPr id="3" name="Picture Placeholder 2"/>
          <p:cNvSpPr>
            <a:spLocks noGrp="1"/>
          </p:cNvSpPr>
          <p:nvPr>
            <p:ph type="pic" idx="1"/>
          </p:nvPr>
        </p:nvSpPr>
        <p:spPr>
          <a:xfrm>
            <a:off x="2858610" y="838201"/>
            <a:ext cx="5904390" cy="5500456"/>
          </a:xfrm>
          <a:solidFill>
            <a:schemeClr val="bg2"/>
          </a:solidFill>
          <a:ln w="76200">
            <a:solidFill>
              <a:srgbClr val="FFFFFF"/>
            </a:solidFill>
            <a:miter lim="800000"/>
          </a:ln>
          <a:effectLst>
            <a:outerShdw blurRad="50800" dist="12700" dir="5400000" algn="t" rotWithShape="0">
              <a:prstClr val="black">
                <a:alpha val="59000"/>
              </a:prst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TW" altLang="en-US" smtClean="0"/>
              <a:t>按一下圖示以新增圖片</a:t>
            </a:r>
            <a:endParaRPr lang="en-US" dirty="0"/>
          </a:p>
        </p:txBody>
      </p:sp>
      <p:sp>
        <p:nvSpPr>
          <p:cNvPr id="4" name="Text Placeholder 3"/>
          <p:cNvSpPr>
            <a:spLocks noGrp="1"/>
          </p:cNvSpPr>
          <p:nvPr>
            <p:ph type="body" sz="half" idx="2"/>
          </p:nvPr>
        </p:nvSpPr>
        <p:spPr>
          <a:xfrm>
            <a:off x="457200" y="2133600"/>
            <a:ext cx="2139696" cy="424281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Date Placeholder 4"/>
          <p:cNvSpPr>
            <a:spLocks noGrp="1"/>
          </p:cNvSpPr>
          <p:nvPr>
            <p:ph type="dt" sz="half" idx="10"/>
          </p:nvPr>
        </p:nvSpPr>
        <p:spPr/>
        <p:txBody>
          <a:bodyPr/>
          <a:lstStyle/>
          <a:p>
            <a:fld id="{BBA0141E-C290-4A04-95E4-1CF64B8A3158}" type="datetimeFigureOut">
              <a:rPr lang="zh-TW" altLang="en-US" smtClean="0"/>
              <a:pPr/>
              <a:t>2012/10/23</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9862AE27-4FA4-425A-B2CB-C3CFAB929792}" type="slidenum">
              <a:rPr lang="zh-TW" altLang="en-US" smtClean="0"/>
              <a:pPr/>
              <a:t>‹#›</a:t>
            </a:fld>
            <a:endParaRPr lang="zh-TW"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smtClean="0"/>
              <a:t>按一下以編輯母片標題樣式</a:t>
            </a:r>
            <a:endParaRPr lang="en-US"/>
          </a:p>
        </p:txBody>
      </p:sp>
      <p:sp>
        <p:nvSpPr>
          <p:cNvPr id="3" name="Vertical Text Placeholder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a:p>
        </p:txBody>
      </p:sp>
      <p:sp>
        <p:nvSpPr>
          <p:cNvPr id="4" name="Date Placeholder 3"/>
          <p:cNvSpPr>
            <a:spLocks noGrp="1"/>
          </p:cNvSpPr>
          <p:nvPr>
            <p:ph type="dt" sz="half" idx="10"/>
          </p:nvPr>
        </p:nvSpPr>
        <p:spPr/>
        <p:txBody>
          <a:bodyPr/>
          <a:lstStyle/>
          <a:p>
            <a:fld id="{BBA0141E-C290-4A04-95E4-1CF64B8A3158}" type="datetimeFigureOut">
              <a:rPr lang="zh-TW" altLang="en-US" smtClean="0"/>
              <a:pPr/>
              <a:t>2012/10/23</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9862AE27-4FA4-425A-B2CB-C3CFAB929792}" type="slidenum">
              <a:rPr lang="zh-TW" altLang="en-US" smtClean="0"/>
              <a:pPr/>
              <a:t>‹#›</a:t>
            </a:fld>
            <a:endParaRPr lang="zh-TW"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609600"/>
            <a:ext cx="2057400" cy="5867400"/>
          </a:xfrm>
        </p:spPr>
        <p:txBody>
          <a:bodyPr vert="eaVert" anchor="b"/>
          <a:lstStyle/>
          <a:p>
            <a:r>
              <a:rPr lang="zh-TW" altLang="en-US" smtClean="0"/>
              <a:t>按一下以編輯母片標題樣式</a:t>
            </a:r>
            <a:endParaRPr lang="en-US" dirty="0"/>
          </a:p>
        </p:txBody>
      </p:sp>
      <p:sp>
        <p:nvSpPr>
          <p:cNvPr id="3" name="Vertical Text Placeholder 2"/>
          <p:cNvSpPr>
            <a:spLocks noGrp="1"/>
          </p:cNvSpPr>
          <p:nvPr>
            <p:ph type="body" orient="vert" idx="1"/>
          </p:nvPr>
        </p:nvSpPr>
        <p:spPr>
          <a:xfrm>
            <a:off x="457200" y="609600"/>
            <a:ext cx="6019800" cy="5867400"/>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Date Placeholder 3"/>
          <p:cNvSpPr>
            <a:spLocks noGrp="1"/>
          </p:cNvSpPr>
          <p:nvPr>
            <p:ph type="dt" sz="half" idx="10"/>
          </p:nvPr>
        </p:nvSpPr>
        <p:spPr/>
        <p:txBody>
          <a:bodyPr/>
          <a:lstStyle/>
          <a:p>
            <a:fld id="{BBA0141E-C290-4A04-95E4-1CF64B8A3158}" type="datetimeFigureOut">
              <a:rPr lang="zh-TW" altLang="en-US" smtClean="0"/>
              <a:pPr/>
              <a:t>2012/10/23</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9862AE27-4FA4-425A-B2CB-C3CFAB929792}" type="slidenum">
              <a:rPr lang="zh-TW" altLang="en-US" smtClean="0"/>
              <a:pPr/>
              <a:t>‹#›</a:t>
            </a:fld>
            <a:endParaRPr lang="zh-TW"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p:nvSpPr>
        <p:spPr>
          <a:xfrm>
            <a:off x="0" y="220786"/>
            <a:ext cx="9144000" cy="2286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457200" y="533400"/>
            <a:ext cx="8229600" cy="990600"/>
          </a:xfrm>
          <a:prstGeom prst="rect">
            <a:avLst/>
          </a:prstGeom>
        </p:spPr>
        <p:txBody>
          <a:bodyPr vert="horz" lIns="91440" tIns="45720" rIns="91440" bIns="45720" rtlCol="0" anchor="ctr">
            <a:normAutofit/>
          </a:bodyPr>
          <a:lstStyle/>
          <a:p>
            <a:r>
              <a:rPr lang="zh-TW" altLang="en-US" smtClean="0"/>
              <a:t>按一下以編輯母片標題樣式</a:t>
            </a:r>
            <a:endParaRPr lang="en-US" dirty="0"/>
          </a:p>
        </p:txBody>
      </p:sp>
      <p:sp>
        <p:nvSpPr>
          <p:cNvPr id="3" name="Text Placeholder 2"/>
          <p:cNvSpPr>
            <a:spLocks noGrp="1"/>
          </p:cNvSpPr>
          <p:nvPr>
            <p:ph type="body" idx="1"/>
          </p:nvPr>
        </p:nvSpPr>
        <p:spPr>
          <a:xfrm>
            <a:off x="457200" y="1600200"/>
            <a:ext cx="8229600" cy="4876800"/>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7" name="Rectangle 6"/>
          <p:cNvSpPr/>
          <p:nvPr/>
        </p:nvSpPr>
        <p:spPr>
          <a:xfrm>
            <a:off x="0" y="0"/>
            <a:ext cx="9144000" cy="3657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2"/>
          </p:nvPr>
        </p:nvSpPr>
        <p:spPr>
          <a:xfrm>
            <a:off x="457200" y="18288"/>
            <a:ext cx="2895600" cy="329184"/>
          </a:xfrm>
          <a:prstGeom prst="rect">
            <a:avLst/>
          </a:prstGeom>
        </p:spPr>
        <p:txBody>
          <a:bodyPr vert="horz" lIns="91440" tIns="45720" rIns="91440" bIns="45720" rtlCol="0" anchor="ctr"/>
          <a:lstStyle>
            <a:lvl1pPr algn="l">
              <a:defRPr sz="1200">
                <a:solidFill>
                  <a:srgbClr val="FFFFFF"/>
                </a:solidFill>
              </a:defRPr>
            </a:lvl1pPr>
          </a:lstStyle>
          <a:p>
            <a:fld id="{BBA0141E-C290-4A04-95E4-1CF64B8A3158}" type="datetimeFigureOut">
              <a:rPr lang="zh-TW" altLang="en-US" smtClean="0"/>
              <a:pPr/>
              <a:t>2012/10/23</a:t>
            </a:fld>
            <a:endParaRPr lang="zh-TW" altLang="en-US"/>
          </a:p>
        </p:txBody>
      </p:sp>
      <p:sp>
        <p:nvSpPr>
          <p:cNvPr id="5" name="Footer Placeholder 4"/>
          <p:cNvSpPr>
            <a:spLocks noGrp="1"/>
          </p:cNvSpPr>
          <p:nvPr>
            <p:ph type="ftr" sz="quarter" idx="3"/>
          </p:nvPr>
        </p:nvSpPr>
        <p:spPr>
          <a:xfrm>
            <a:off x="3429000" y="18288"/>
            <a:ext cx="4114800" cy="329184"/>
          </a:xfrm>
          <a:prstGeom prst="rect">
            <a:avLst/>
          </a:prstGeom>
        </p:spPr>
        <p:txBody>
          <a:bodyPr vert="horz" lIns="91440" tIns="45720" rIns="91440" bIns="45720" rtlCol="0" anchor="ctr"/>
          <a:lstStyle>
            <a:lvl1pPr algn="ctr">
              <a:defRPr sz="1200">
                <a:solidFill>
                  <a:srgbClr val="FFFFFF"/>
                </a:solidFill>
              </a:defRPr>
            </a:lvl1pPr>
          </a:lstStyle>
          <a:p>
            <a:endParaRPr lang="zh-TW" altLang="en-US"/>
          </a:p>
        </p:txBody>
      </p:sp>
      <p:sp>
        <p:nvSpPr>
          <p:cNvPr id="6" name="Slide Number Placeholder 5"/>
          <p:cNvSpPr>
            <a:spLocks noGrp="1"/>
          </p:cNvSpPr>
          <p:nvPr>
            <p:ph type="sldNum" sz="quarter" idx="4"/>
          </p:nvPr>
        </p:nvSpPr>
        <p:spPr>
          <a:xfrm>
            <a:off x="7620000" y="18288"/>
            <a:ext cx="1066800" cy="329184"/>
          </a:xfrm>
          <a:prstGeom prst="rect">
            <a:avLst/>
          </a:prstGeom>
        </p:spPr>
        <p:txBody>
          <a:bodyPr vert="horz" lIns="91440" tIns="45720" rIns="91440" bIns="45720" rtlCol="0" anchor="ctr"/>
          <a:lstStyle>
            <a:lvl1pPr algn="l">
              <a:defRPr sz="1400" b="1">
                <a:solidFill>
                  <a:srgbClr val="FFFFFF"/>
                </a:solidFill>
              </a:defRPr>
            </a:lvl1pPr>
          </a:lstStyle>
          <a:p>
            <a:fld id="{9862AE27-4FA4-425A-B2CB-C3CFAB929792}" type="slidenum">
              <a:rPr lang="zh-TW" altLang="en-US" smtClean="0"/>
              <a:pPr/>
              <a:t>‹#›</a:t>
            </a:fld>
            <a:endParaRPr lang="zh-TW" altLang="en-US"/>
          </a:p>
        </p:txBody>
      </p:sp>
    </p:spTree>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txStyles>
    <p:titleStyle>
      <a:lvl1pPr algn="l" defTabSz="914400" rtl="0" eaLnBrk="1" latinLnBrk="0" hangingPunct="1">
        <a:spcBef>
          <a:spcPct val="0"/>
        </a:spcBef>
        <a:buNone/>
        <a:defRPr sz="4000" kern="1200" spc="-100" baseline="0">
          <a:solidFill>
            <a:schemeClr val="tx2"/>
          </a:solidFill>
          <a:latin typeface="+mj-lt"/>
          <a:ea typeface="+mj-ea"/>
          <a:cs typeface="+mj-cs"/>
        </a:defRPr>
      </a:lvl1pPr>
    </p:titleStyle>
    <p:bodyStyle>
      <a:lvl1pPr marL="182880" indent="-182880" algn="l" defTabSz="914400" rtl="0" eaLnBrk="1" latinLnBrk="0" hangingPunct="1">
        <a:spcBef>
          <a:spcPct val="20000"/>
        </a:spcBef>
        <a:buClr>
          <a:schemeClr val="accent1"/>
        </a:buClr>
        <a:buSzPct val="85000"/>
        <a:buFont typeface="Arial" pitchFamily="34" charset="0"/>
        <a:buChar char="•"/>
        <a:defRPr sz="24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0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18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14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p:txBody>
          <a:bodyPr>
            <a:normAutofit fontScale="90000"/>
          </a:bodyPr>
          <a:lstStyle/>
          <a:p>
            <a:r>
              <a:rPr lang="en-US" altLang="zh-TW" dirty="0"/>
              <a:t>Weighted dynamic time warping for time series </a:t>
            </a:r>
            <a:r>
              <a:rPr lang="en-US" altLang="zh-TW" smtClean="0"/>
              <a:t>classiFIcation</a:t>
            </a:r>
            <a:endParaRPr lang="zh-TW" altLang="en-US" dirty="0"/>
          </a:p>
        </p:txBody>
      </p:sp>
      <p:sp>
        <p:nvSpPr>
          <p:cNvPr id="3" name="副標題 2"/>
          <p:cNvSpPr>
            <a:spLocks noGrp="1"/>
          </p:cNvSpPr>
          <p:nvPr>
            <p:ph type="subTitle" idx="1"/>
          </p:nvPr>
        </p:nvSpPr>
        <p:spPr>
          <a:xfrm>
            <a:off x="685800" y="3505200"/>
            <a:ext cx="6400800" cy="1075928"/>
          </a:xfrm>
        </p:spPr>
        <p:txBody>
          <a:bodyPr>
            <a:normAutofit/>
          </a:bodyPr>
          <a:lstStyle/>
          <a:p>
            <a:r>
              <a:rPr lang="en-US" altLang="zh-TW" dirty="0"/>
              <a:t>Young-</a:t>
            </a:r>
            <a:r>
              <a:rPr lang="en-US" altLang="zh-TW" dirty="0" err="1"/>
              <a:t>Seon</a:t>
            </a:r>
            <a:r>
              <a:rPr lang="en-US" altLang="zh-TW" dirty="0"/>
              <a:t> </a:t>
            </a:r>
            <a:r>
              <a:rPr lang="en-US" altLang="zh-TW" dirty="0" err="1"/>
              <a:t>Jeong</a:t>
            </a:r>
            <a:r>
              <a:rPr lang="en-US" altLang="zh-TW" dirty="0"/>
              <a:t>, </a:t>
            </a:r>
            <a:r>
              <a:rPr lang="en-US" altLang="zh-TW" dirty="0" err="1"/>
              <a:t>Myong</a:t>
            </a:r>
            <a:r>
              <a:rPr lang="en-US" altLang="zh-TW" dirty="0"/>
              <a:t> K. </a:t>
            </a:r>
            <a:r>
              <a:rPr lang="en-US" altLang="zh-TW" dirty="0" err="1"/>
              <a:t>Jeong</a:t>
            </a:r>
            <a:r>
              <a:rPr lang="en-US" altLang="zh-TW" dirty="0"/>
              <a:t>, </a:t>
            </a:r>
            <a:r>
              <a:rPr lang="en-US" altLang="zh-TW" dirty="0" err="1"/>
              <a:t>Olufemi</a:t>
            </a:r>
            <a:r>
              <a:rPr lang="en-US" altLang="zh-TW" dirty="0"/>
              <a:t> A. </a:t>
            </a:r>
            <a:r>
              <a:rPr lang="en-US" altLang="zh-TW" dirty="0" err="1"/>
              <a:t>Omitaomu</a:t>
            </a:r>
            <a:endParaRPr lang="zh-TW" altLang="en-US" dirty="0"/>
          </a:p>
        </p:txBody>
      </p:sp>
      <p:sp>
        <p:nvSpPr>
          <p:cNvPr id="4" name="文字方塊 3"/>
          <p:cNvSpPr txBox="1"/>
          <p:nvPr/>
        </p:nvSpPr>
        <p:spPr>
          <a:xfrm>
            <a:off x="5473206" y="5301208"/>
            <a:ext cx="3024336" cy="646331"/>
          </a:xfrm>
          <a:prstGeom prst="rect">
            <a:avLst/>
          </a:prstGeom>
          <a:noFill/>
        </p:spPr>
        <p:txBody>
          <a:bodyPr wrap="square" rtlCol="0">
            <a:spAutoFit/>
          </a:bodyPr>
          <a:lstStyle/>
          <a:p>
            <a:r>
              <a:rPr lang="en-US" altLang="zh-TW" dirty="0" smtClean="0"/>
              <a:t>Presenter : Cheng-Han Lee</a:t>
            </a:r>
          </a:p>
          <a:p>
            <a:r>
              <a:rPr lang="en-US" altLang="zh-TW" dirty="0" smtClean="0"/>
              <a:t>Date</a:t>
            </a:r>
            <a:r>
              <a:rPr lang="en-US" altLang="zh-TW" smtClean="0"/>
              <a:t>: </a:t>
            </a:r>
            <a:r>
              <a:rPr lang="en-US" altLang="zh-TW" smtClean="0"/>
              <a:t>2012/10/9</a:t>
            </a:r>
            <a:endParaRPr lang="zh-TW" altLang="en-US" dirty="0"/>
          </a:p>
        </p:txBody>
      </p:sp>
      <p:sp>
        <p:nvSpPr>
          <p:cNvPr id="5" name="文字方塊 4"/>
          <p:cNvSpPr txBox="1"/>
          <p:nvPr/>
        </p:nvSpPr>
        <p:spPr>
          <a:xfrm>
            <a:off x="683568" y="4509120"/>
            <a:ext cx="4464496" cy="369332"/>
          </a:xfrm>
          <a:prstGeom prst="rect">
            <a:avLst/>
          </a:prstGeom>
          <a:noFill/>
        </p:spPr>
        <p:txBody>
          <a:bodyPr wrap="square" rtlCol="0">
            <a:spAutoFit/>
          </a:bodyPr>
          <a:lstStyle/>
          <a:p>
            <a:r>
              <a:rPr lang="en-US" altLang="zh-TW" dirty="0">
                <a:solidFill>
                  <a:schemeClr val="tx1">
                    <a:lumMod val="75000"/>
                    <a:lumOff val="25000"/>
                  </a:schemeClr>
                </a:solidFill>
              </a:rPr>
              <a:t>Pattern Recognition, 2011</a:t>
            </a:r>
            <a:endParaRPr lang="zh-TW" altLang="en-US" dirty="0">
              <a:solidFill>
                <a:schemeClr val="tx1">
                  <a:lumMod val="75000"/>
                  <a:lumOff val="25000"/>
                </a:schemeClr>
              </a:solidFill>
            </a:endParaRPr>
          </a:p>
        </p:txBody>
      </p:sp>
    </p:spTree>
    <p:extLst>
      <p:ext uri="{BB962C8B-B14F-4D97-AF65-F5344CB8AC3E}">
        <p14:creationId xmlns:p14="http://schemas.microsoft.com/office/powerpoint/2010/main" val="65904322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Abstract</a:t>
            </a:r>
            <a:endParaRPr lang="zh-TW" altLang="en-US" dirty="0"/>
          </a:p>
        </p:txBody>
      </p:sp>
      <p:sp>
        <p:nvSpPr>
          <p:cNvPr id="3" name="內容版面配置區 2"/>
          <p:cNvSpPr>
            <a:spLocks noGrp="1"/>
          </p:cNvSpPr>
          <p:nvPr>
            <p:ph idx="1"/>
          </p:nvPr>
        </p:nvSpPr>
        <p:spPr/>
        <p:txBody>
          <a:bodyPr>
            <a:normAutofit/>
          </a:bodyPr>
          <a:lstStyle/>
          <a:p>
            <a:r>
              <a:rPr lang="en-US" altLang="zh-TW" dirty="0"/>
              <a:t>Dynamic time warping (DTW), which finds the minimum path by providing non-linear alignments between two time series, has been widely used as a distance measure for time series classification and clustering. However, DTW does not account for the relative importance regarding the phase difference between a reference point and a testing point. </a:t>
            </a:r>
            <a:r>
              <a:rPr lang="en-US" altLang="zh-TW" dirty="0" smtClean="0"/>
              <a:t>This may </a:t>
            </a:r>
            <a:r>
              <a:rPr lang="en-US" altLang="zh-TW" dirty="0"/>
              <a:t>lead </a:t>
            </a:r>
            <a:r>
              <a:rPr lang="en-US" altLang="zh-TW" dirty="0" smtClean="0"/>
              <a:t>to misclassification </a:t>
            </a:r>
            <a:r>
              <a:rPr lang="en-US" altLang="zh-TW" dirty="0"/>
              <a:t>especially in applications where the shape similarity between two sequences is a major consideration for an accurate recognition. Therefore, we propose a novel distance measure, called a weighted DTW (WDTW), which is a penalty- based DTW. </a:t>
            </a:r>
            <a:endParaRPr lang="zh-TW" altLang="en-US" dirty="0"/>
          </a:p>
        </p:txBody>
      </p:sp>
    </p:spTree>
    <p:extLst>
      <p:ext uri="{BB962C8B-B14F-4D97-AF65-F5344CB8AC3E}">
        <p14:creationId xmlns:p14="http://schemas.microsoft.com/office/powerpoint/2010/main" val="34690670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normAutofit/>
          </a:bodyPr>
          <a:lstStyle/>
          <a:p>
            <a:r>
              <a:rPr lang="en-US" altLang="zh-TW" dirty="0"/>
              <a:t>Our approach penalizes points with higher phase difference between a reference point and a testing point in order to prevent minimum distance distortion caused by outliers. The rationale underlying the proposed distance measure is demonstrated with some illustrative examples. A new weight function, called the modified logistic weight function (MLWF), is also proposed to systematically assign weights as a function of the phase difference between a reference point and a testing point. By applying different weights to adjacent points, the proposed algorithm can enhance the detection of similarity between two time series. </a:t>
            </a:r>
            <a:endParaRPr lang="zh-TW" altLang="en-US" dirty="0"/>
          </a:p>
        </p:txBody>
      </p:sp>
    </p:spTree>
    <p:extLst>
      <p:ext uri="{BB962C8B-B14F-4D97-AF65-F5344CB8AC3E}">
        <p14:creationId xmlns:p14="http://schemas.microsoft.com/office/powerpoint/2010/main" val="356829458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normAutofit/>
          </a:bodyPr>
          <a:lstStyle/>
          <a:p>
            <a:r>
              <a:rPr lang="en-US" altLang="zh-TW" dirty="0"/>
              <a:t>We show that some popular distance measures such as DTW and Euclidean distance are special cases of our proposed WDTW measure. We extend the proposed idea to other variants of DTW such as derivative dynamic time warping (DDTW) and propose the weighted version of DDTW. We have compared the performances of our proposed procedures with other popular approaches using public data sets available through the UCR Time Series Data Mining Archive for both time series classification and clustering problems. The experimental results indicate that the proposed approaches can achieve improved accuracy for time series classification and clustering problems. </a:t>
            </a:r>
            <a:endParaRPr lang="zh-TW" altLang="en-US" dirty="0"/>
          </a:p>
          <a:p>
            <a:endParaRPr lang="zh-TW" altLang="en-US" dirty="0"/>
          </a:p>
        </p:txBody>
      </p:sp>
    </p:spTree>
    <p:extLst>
      <p:ext uri="{BB962C8B-B14F-4D97-AF65-F5344CB8AC3E}">
        <p14:creationId xmlns:p14="http://schemas.microsoft.com/office/powerpoint/2010/main" val="416645162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Dynamic time warping (DTW)</a:t>
            </a:r>
            <a:endParaRPr lang="zh-TW" altLang="en-US" dirty="0"/>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a:xfrm>
                <a:off x="457200" y="1556792"/>
                <a:ext cx="8229600" cy="4525963"/>
              </a:xfrm>
            </p:spPr>
            <p:txBody>
              <a:bodyPr>
                <a:normAutofit/>
              </a:bodyPr>
              <a:lstStyle/>
              <a:p>
                <a14:m>
                  <m:oMath xmlns:m="http://schemas.openxmlformats.org/officeDocument/2006/math">
                    <m:sSub>
                      <m:sSubPr>
                        <m:ctrlPr>
                          <a:rPr lang="en-US" altLang="zh-TW" sz="3000" i="1" smtClean="0">
                            <a:latin typeface="Cambria Math"/>
                          </a:rPr>
                        </m:ctrlPr>
                      </m:sSubPr>
                      <m:e>
                        <m:r>
                          <a:rPr lang="en-US" altLang="zh-TW" sz="3000" b="0" i="1" smtClean="0">
                            <a:latin typeface="Cambria Math"/>
                          </a:rPr>
                          <m:t>𝐷𝑇𝑊</m:t>
                        </m:r>
                      </m:e>
                      <m:sub>
                        <m:r>
                          <a:rPr lang="en-US" altLang="zh-TW" sz="3000" b="0" i="1" smtClean="0">
                            <a:latin typeface="Cambria Math"/>
                          </a:rPr>
                          <m:t>𝑖</m:t>
                        </m:r>
                        <m:r>
                          <a:rPr lang="en-US" altLang="zh-TW" sz="3000" b="0" i="1" smtClean="0">
                            <a:latin typeface="Cambria Math"/>
                          </a:rPr>
                          <m:t>,</m:t>
                        </m:r>
                        <m:r>
                          <a:rPr lang="en-US" altLang="zh-TW" sz="3000" b="0" i="1" smtClean="0">
                            <a:latin typeface="Cambria Math"/>
                          </a:rPr>
                          <m:t>𝑗</m:t>
                        </m:r>
                      </m:sub>
                    </m:sSub>
                    <m:r>
                      <a:rPr lang="en-US" altLang="zh-TW" sz="3000" b="0" i="1" smtClean="0">
                        <a:latin typeface="Cambria Math"/>
                      </a:rPr>
                      <m:t>=</m:t>
                    </m:r>
                    <m:r>
                      <a:rPr lang="en-US" altLang="zh-TW" sz="3000" b="0" i="1" smtClean="0">
                        <a:latin typeface="Cambria Math"/>
                      </a:rPr>
                      <m:t>𝑑</m:t>
                    </m:r>
                    <m:r>
                      <a:rPr lang="en-US" altLang="zh-TW" sz="3000" b="0" i="1" smtClean="0">
                        <a:latin typeface="Cambria Math"/>
                      </a:rPr>
                      <m:t>(</m:t>
                    </m:r>
                    <m:sSub>
                      <m:sSubPr>
                        <m:ctrlPr>
                          <a:rPr lang="en-US" altLang="zh-TW" sz="3000" b="0" i="1" smtClean="0">
                            <a:latin typeface="Cambria Math"/>
                          </a:rPr>
                        </m:ctrlPr>
                      </m:sSubPr>
                      <m:e>
                        <m:r>
                          <a:rPr lang="en-US" altLang="zh-TW" sz="3000" b="0" i="1" smtClean="0">
                            <a:latin typeface="Cambria Math"/>
                          </a:rPr>
                          <m:t>𝑡</m:t>
                        </m:r>
                      </m:e>
                      <m:sub>
                        <m:r>
                          <a:rPr lang="en-US" altLang="zh-TW" sz="3000" b="0" i="1" smtClean="0">
                            <a:latin typeface="Cambria Math"/>
                          </a:rPr>
                          <m:t>𝑖</m:t>
                        </m:r>
                      </m:sub>
                    </m:sSub>
                    <m:r>
                      <a:rPr lang="en-US" altLang="zh-TW" sz="3000" b="0" i="1" smtClean="0">
                        <a:latin typeface="Cambria Math"/>
                      </a:rPr>
                      <m:t>,</m:t>
                    </m:r>
                    <m:sSub>
                      <m:sSubPr>
                        <m:ctrlPr>
                          <a:rPr lang="en-US" altLang="zh-TW" sz="3000" b="0" i="1" smtClean="0">
                            <a:latin typeface="Cambria Math"/>
                          </a:rPr>
                        </m:ctrlPr>
                      </m:sSubPr>
                      <m:e>
                        <m:r>
                          <a:rPr lang="en-US" altLang="zh-TW" sz="3000" b="0" i="1" smtClean="0">
                            <a:latin typeface="Cambria Math"/>
                          </a:rPr>
                          <m:t>𝑟</m:t>
                        </m:r>
                      </m:e>
                      <m:sub>
                        <m:r>
                          <a:rPr lang="en-US" altLang="zh-TW" sz="3000" b="0" i="1" smtClean="0">
                            <a:latin typeface="Cambria Math"/>
                          </a:rPr>
                          <m:t>𝑗</m:t>
                        </m:r>
                      </m:sub>
                    </m:sSub>
                    <m:r>
                      <a:rPr lang="en-US" altLang="zh-TW" sz="3000" b="0" i="1" smtClean="0">
                        <a:latin typeface="Cambria Math"/>
                      </a:rPr>
                      <m:t>)+</m:t>
                    </m:r>
                    <m:r>
                      <a:rPr lang="en-US" altLang="zh-TW" sz="3000" b="0" i="1" smtClean="0">
                        <a:latin typeface="Cambria Math"/>
                      </a:rPr>
                      <m:t>𝑚𝑖𝑛</m:t>
                    </m:r>
                    <m:d>
                      <m:dPr>
                        <m:begChr m:val="{"/>
                        <m:endChr m:val=""/>
                        <m:ctrlPr>
                          <a:rPr lang="en-US" altLang="zh-TW" sz="3000" b="0" i="1" smtClean="0">
                            <a:latin typeface="Cambria Math"/>
                          </a:rPr>
                        </m:ctrlPr>
                      </m:dPr>
                      <m:e>
                        <m:eqArr>
                          <m:eqArrPr>
                            <m:ctrlPr>
                              <a:rPr lang="en-US" altLang="zh-TW" sz="3000" b="0" i="1" smtClean="0">
                                <a:latin typeface="Cambria Math"/>
                              </a:rPr>
                            </m:ctrlPr>
                          </m:eqArrPr>
                          <m:e>
                            <m:sSub>
                              <m:sSubPr>
                                <m:ctrlPr>
                                  <a:rPr lang="en-US" altLang="zh-TW" sz="3000" b="0" i="1" smtClean="0">
                                    <a:latin typeface="Cambria Math"/>
                                  </a:rPr>
                                </m:ctrlPr>
                              </m:sSubPr>
                              <m:e>
                                <m:r>
                                  <a:rPr lang="en-US" altLang="zh-TW" sz="3000" b="0" i="1" smtClean="0">
                                    <a:latin typeface="Cambria Math"/>
                                  </a:rPr>
                                  <m:t>𝐷𝑇𝑊</m:t>
                                </m:r>
                              </m:e>
                              <m:sub>
                                <m:r>
                                  <a:rPr lang="en-US" altLang="zh-TW" sz="3000" b="0" i="1" smtClean="0">
                                    <a:latin typeface="Cambria Math"/>
                                  </a:rPr>
                                  <m:t>𝑖</m:t>
                                </m:r>
                                <m:r>
                                  <a:rPr lang="en-US" altLang="zh-TW" sz="3000" b="0" i="1" smtClean="0">
                                    <a:latin typeface="Cambria Math"/>
                                  </a:rPr>
                                  <m:t>−1,</m:t>
                                </m:r>
                                <m:r>
                                  <a:rPr lang="en-US" altLang="zh-TW" sz="3000" b="0" i="1" smtClean="0">
                                    <a:latin typeface="Cambria Math"/>
                                  </a:rPr>
                                  <m:t>𝑗</m:t>
                                </m:r>
                              </m:sub>
                            </m:sSub>
                          </m:e>
                          <m:e>
                            <m:sSub>
                              <m:sSubPr>
                                <m:ctrlPr>
                                  <a:rPr lang="en-US" altLang="zh-TW" sz="3000" b="0" i="1" smtClean="0">
                                    <a:latin typeface="Cambria Math"/>
                                  </a:rPr>
                                </m:ctrlPr>
                              </m:sSubPr>
                              <m:e>
                                <m:r>
                                  <a:rPr lang="en-US" altLang="zh-TW" sz="3000" b="0" i="1" smtClean="0">
                                    <a:latin typeface="Cambria Math"/>
                                  </a:rPr>
                                  <m:t>𝐷𝑇𝑊</m:t>
                                </m:r>
                              </m:e>
                              <m:sub>
                                <m:r>
                                  <a:rPr lang="en-US" altLang="zh-TW" sz="3000" b="0" i="1" smtClean="0">
                                    <a:latin typeface="Cambria Math"/>
                                  </a:rPr>
                                  <m:t>𝑖</m:t>
                                </m:r>
                                <m:r>
                                  <a:rPr lang="en-US" altLang="zh-TW" sz="3000" b="0" i="1" smtClean="0">
                                    <a:latin typeface="Cambria Math"/>
                                  </a:rPr>
                                  <m:t>,</m:t>
                                </m:r>
                                <m:r>
                                  <a:rPr lang="en-US" altLang="zh-TW" sz="3000" b="0" i="1" smtClean="0">
                                    <a:latin typeface="Cambria Math"/>
                                  </a:rPr>
                                  <m:t>𝑗</m:t>
                                </m:r>
                                <m:r>
                                  <a:rPr lang="en-US" altLang="zh-TW" sz="3000" b="0" i="1" smtClean="0">
                                    <a:latin typeface="Cambria Math"/>
                                  </a:rPr>
                                  <m:t>−1</m:t>
                                </m:r>
                              </m:sub>
                            </m:sSub>
                          </m:e>
                          <m:e>
                            <m:sSub>
                              <m:sSubPr>
                                <m:ctrlPr>
                                  <a:rPr lang="en-US" altLang="zh-TW" sz="3000" b="0" i="1" smtClean="0">
                                    <a:latin typeface="Cambria Math"/>
                                  </a:rPr>
                                </m:ctrlPr>
                              </m:sSubPr>
                              <m:e>
                                <m:r>
                                  <a:rPr lang="en-US" altLang="zh-TW" sz="3000" b="0" i="1" smtClean="0">
                                    <a:latin typeface="Cambria Math"/>
                                  </a:rPr>
                                  <m:t>𝐷𝑇𝑊</m:t>
                                </m:r>
                              </m:e>
                              <m:sub>
                                <m:r>
                                  <a:rPr lang="en-US" altLang="zh-TW" sz="3000" b="0" i="1" smtClean="0">
                                    <a:latin typeface="Cambria Math"/>
                                  </a:rPr>
                                  <m:t>𝑖</m:t>
                                </m:r>
                                <m:r>
                                  <a:rPr lang="en-US" altLang="zh-TW" sz="3000" b="0" i="1" smtClean="0">
                                    <a:latin typeface="Cambria Math"/>
                                  </a:rPr>
                                  <m:t>−1,</m:t>
                                </m:r>
                                <m:r>
                                  <a:rPr lang="en-US" altLang="zh-TW" sz="3000" b="0" i="1" smtClean="0">
                                    <a:latin typeface="Cambria Math"/>
                                  </a:rPr>
                                  <m:t>𝑗</m:t>
                                </m:r>
                                <m:r>
                                  <a:rPr lang="en-US" altLang="zh-TW" sz="3000" b="0" i="1" smtClean="0">
                                    <a:latin typeface="Cambria Math"/>
                                  </a:rPr>
                                  <m:t>−1</m:t>
                                </m:r>
                              </m:sub>
                            </m:sSub>
                          </m:e>
                        </m:eqArr>
                      </m:e>
                    </m:d>
                  </m:oMath>
                </a14:m>
                <a:endParaRPr lang="en-US" altLang="zh-TW" sz="3000" dirty="0" smtClean="0"/>
              </a:p>
              <a:p>
                <a14:m>
                  <m:oMath xmlns:m="http://schemas.openxmlformats.org/officeDocument/2006/math">
                    <m:r>
                      <a:rPr lang="en-US" altLang="zh-TW" sz="3000" i="1">
                        <a:latin typeface="Cambria Math"/>
                      </a:rPr>
                      <m:t>𝑑</m:t>
                    </m:r>
                    <m:r>
                      <a:rPr lang="en-US" altLang="zh-TW" sz="3000" i="1">
                        <a:latin typeface="Cambria Math"/>
                      </a:rPr>
                      <m:t> </m:t>
                    </m:r>
                    <m:r>
                      <a:rPr lang="en-US" altLang="zh-TW" sz="3000" i="1">
                        <a:latin typeface="Cambria Math"/>
                      </a:rPr>
                      <m:t>𝑖𝑠</m:t>
                    </m:r>
                    <m:r>
                      <a:rPr lang="en-US" altLang="zh-TW" sz="3000" b="0" i="1" smtClean="0">
                        <a:latin typeface="Cambria Math"/>
                      </a:rPr>
                      <m:t> </m:t>
                    </m:r>
                    <m:r>
                      <a:rPr lang="en-US" altLang="zh-TW" sz="3000" b="0" i="1" smtClean="0">
                        <a:latin typeface="Cambria Math"/>
                      </a:rPr>
                      <m:t>𝐸𝑢𝑐𝑙𝑖𝑑𝑒</m:t>
                    </m:r>
                    <m:r>
                      <a:rPr lang="en-US" altLang="zh-TW" sz="3000" i="1">
                        <a:latin typeface="Cambria Math"/>
                      </a:rPr>
                      <m:t>𝑎𝑛</m:t>
                    </m:r>
                    <m:r>
                      <a:rPr lang="en-US" altLang="zh-TW" sz="3000" i="1">
                        <a:latin typeface="Cambria Math"/>
                      </a:rPr>
                      <m:t> </m:t>
                    </m:r>
                    <m:r>
                      <a:rPr lang="en-US" altLang="zh-TW" sz="3000" i="1">
                        <a:latin typeface="Cambria Math"/>
                      </a:rPr>
                      <m:t>𝑑𝑖𝑠𝑡𝑎𝑛𝑐𝑒</m:t>
                    </m:r>
                  </m:oMath>
                </a14:m>
                <a:endParaRPr lang="zh-TW" altLang="en-US" sz="3000" dirty="0"/>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xfrm>
                <a:off x="457200" y="1556792"/>
                <a:ext cx="8229600" cy="4525963"/>
              </a:xfrm>
              <a:blipFill rotWithShape="1">
                <a:blip r:embed="rId2"/>
                <a:stretch>
                  <a:fillRect/>
                </a:stretch>
              </a:blipFill>
            </p:spPr>
            <p:txBody>
              <a:bodyPr/>
              <a:lstStyle/>
              <a:p>
                <a:r>
                  <a:rPr lang="zh-TW" altLang="en-US">
                    <a:noFill/>
                  </a:rPr>
                  <a:t> </a:t>
                </a:r>
              </a:p>
            </p:txBody>
          </p:sp>
        </mc:Fallback>
      </mc:AlternateContent>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528" y="4365104"/>
            <a:ext cx="8670300" cy="16929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4936055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Local Path Constraint</a:t>
            </a:r>
            <a:endParaRPr lang="zh-TW" altLang="en-US" dirty="0"/>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p:txBody>
              <a:bodyPr>
                <a:normAutofit/>
              </a:bodyPr>
              <a:lstStyle/>
              <a:p>
                <a14:m>
                  <m:oMath xmlns:m="http://schemas.openxmlformats.org/officeDocument/2006/math">
                    <m:sSub>
                      <m:sSubPr>
                        <m:ctrlPr>
                          <a:rPr lang="en-US" altLang="zh-TW" sz="3000" i="1" smtClean="0">
                            <a:latin typeface="Cambria Math"/>
                          </a:rPr>
                        </m:ctrlPr>
                      </m:sSubPr>
                      <m:e>
                        <m:r>
                          <a:rPr lang="en-US" altLang="zh-TW" sz="3000" b="0" i="1" smtClean="0">
                            <a:latin typeface="Cambria Math"/>
                          </a:rPr>
                          <m:t>𝐷𝑇𝑊</m:t>
                        </m:r>
                      </m:e>
                      <m:sub>
                        <m:r>
                          <a:rPr lang="en-US" altLang="zh-TW" sz="3000" b="0" i="1" smtClean="0">
                            <a:latin typeface="Cambria Math"/>
                          </a:rPr>
                          <m:t>𝑖</m:t>
                        </m:r>
                        <m:r>
                          <a:rPr lang="en-US" altLang="zh-TW" sz="3000" b="0" i="1" smtClean="0">
                            <a:latin typeface="Cambria Math"/>
                          </a:rPr>
                          <m:t>,</m:t>
                        </m:r>
                        <m:r>
                          <a:rPr lang="en-US" altLang="zh-TW" sz="3000" b="0" i="1" smtClean="0">
                            <a:latin typeface="Cambria Math"/>
                          </a:rPr>
                          <m:t>𝑗</m:t>
                        </m:r>
                      </m:sub>
                    </m:sSub>
                    <m:r>
                      <a:rPr lang="en-US" altLang="zh-TW" sz="3000" b="0" i="1" smtClean="0">
                        <a:latin typeface="Cambria Math"/>
                      </a:rPr>
                      <m:t>=</m:t>
                    </m:r>
                    <m:r>
                      <a:rPr lang="en-US" altLang="zh-TW" sz="3000" i="1">
                        <a:solidFill>
                          <a:prstClr val="black"/>
                        </a:solidFill>
                        <a:latin typeface="Cambria Math"/>
                      </a:rPr>
                      <m:t>𝑑</m:t>
                    </m:r>
                    <m:r>
                      <a:rPr lang="en-US" altLang="zh-TW" sz="3000" i="1">
                        <a:solidFill>
                          <a:prstClr val="black"/>
                        </a:solidFill>
                        <a:latin typeface="Cambria Math"/>
                      </a:rPr>
                      <m:t>(</m:t>
                    </m:r>
                    <m:sSub>
                      <m:sSubPr>
                        <m:ctrlPr>
                          <a:rPr lang="en-US" altLang="zh-TW" sz="3000" i="1">
                            <a:solidFill>
                              <a:prstClr val="black"/>
                            </a:solidFill>
                            <a:latin typeface="Cambria Math"/>
                          </a:rPr>
                        </m:ctrlPr>
                      </m:sSubPr>
                      <m:e>
                        <m:r>
                          <a:rPr lang="en-US" altLang="zh-TW" sz="3000" i="1" smtClean="0">
                            <a:solidFill>
                              <a:prstClr val="black"/>
                            </a:solidFill>
                            <a:latin typeface="Cambria Math"/>
                          </a:rPr>
                          <m:t>𝑡</m:t>
                        </m:r>
                      </m:e>
                      <m:sub>
                        <m:r>
                          <a:rPr lang="en-US" altLang="zh-TW" sz="3000" i="1">
                            <a:solidFill>
                              <a:prstClr val="black"/>
                            </a:solidFill>
                            <a:latin typeface="Cambria Math"/>
                          </a:rPr>
                          <m:t>𝑖</m:t>
                        </m:r>
                      </m:sub>
                    </m:sSub>
                    <m:r>
                      <a:rPr lang="en-US" altLang="zh-TW" sz="3000" b="0" i="1" smtClean="0">
                        <a:solidFill>
                          <a:prstClr val="black"/>
                        </a:solidFill>
                        <a:latin typeface="Cambria Math"/>
                      </a:rPr>
                      <m:t>,</m:t>
                    </m:r>
                    <m:sSub>
                      <m:sSubPr>
                        <m:ctrlPr>
                          <a:rPr lang="en-US" altLang="zh-TW" sz="3000" i="1">
                            <a:solidFill>
                              <a:prstClr val="black"/>
                            </a:solidFill>
                            <a:latin typeface="Cambria Math"/>
                          </a:rPr>
                        </m:ctrlPr>
                      </m:sSubPr>
                      <m:e>
                        <m:r>
                          <a:rPr lang="en-US" altLang="zh-TW" sz="3000" i="1">
                            <a:solidFill>
                              <a:prstClr val="black"/>
                            </a:solidFill>
                            <a:latin typeface="Cambria Math"/>
                          </a:rPr>
                          <m:t>𝑟</m:t>
                        </m:r>
                      </m:e>
                      <m:sub>
                        <m:r>
                          <a:rPr lang="en-US" altLang="zh-TW" sz="3000" i="1">
                            <a:solidFill>
                              <a:prstClr val="black"/>
                            </a:solidFill>
                            <a:latin typeface="Cambria Math"/>
                          </a:rPr>
                          <m:t>𝑗</m:t>
                        </m:r>
                      </m:sub>
                    </m:sSub>
                    <m:r>
                      <a:rPr lang="en-US" altLang="zh-TW" sz="3000" i="1">
                        <a:solidFill>
                          <a:prstClr val="black"/>
                        </a:solidFill>
                        <a:latin typeface="Cambria Math"/>
                      </a:rPr>
                      <m:t>)</m:t>
                    </m:r>
                    <m:r>
                      <a:rPr lang="en-US" altLang="zh-TW" sz="3000" b="0" i="1" smtClean="0">
                        <a:latin typeface="Cambria Math"/>
                      </a:rPr>
                      <m:t>+</m:t>
                    </m:r>
                    <m:r>
                      <a:rPr lang="en-US" altLang="zh-TW" sz="3000" b="0" i="1" smtClean="0">
                        <a:latin typeface="Cambria Math"/>
                      </a:rPr>
                      <m:t>𝑚𝑖𝑛</m:t>
                    </m:r>
                    <m:d>
                      <m:dPr>
                        <m:begChr m:val="{"/>
                        <m:endChr m:val=""/>
                        <m:ctrlPr>
                          <a:rPr lang="en-US" altLang="zh-TW" sz="3000" b="0" i="1" smtClean="0">
                            <a:latin typeface="Cambria Math"/>
                          </a:rPr>
                        </m:ctrlPr>
                      </m:dPr>
                      <m:e>
                        <m:eqArr>
                          <m:eqArrPr>
                            <m:ctrlPr>
                              <a:rPr lang="en-US" altLang="zh-TW" sz="3000" b="0" i="1" smtClean="0">
                                <a:latin typeface="Cambria Math"/>
                              </a:rPr>
                            </m:ctrlPr>
                          </m:eqArrPr>
                          <m:e>
                            <m:sSub>
                              <m:sSubPr>
                                <m:ctrlPr>
                                  <a:rPr lang="en-US" altLang="zh-TW" sz="3000" b="0" i="1" smtClean="0">
                                    <a:latin typeface="Cambria Math"/>
                                  </a:rPr>
                                </m:ctrlPr>
                              </m:sSubPr>
                              <m:e>
                                <m:r>
                                  <a:rPr lang="en-US" altLang="zh-TW" sz="3000" b="0" i="1" smtClean="0">
                                    <a:latin typeface="Cambria Math"/>
                                  </a:rPr>
                                  <m:t>𝐷𝑇𝑊</m:t>
                                </m:r>
                              </m:e>
                              <m:sub>
                                <m:r>
                                  <a:rPr lang="en-US" altLang="zh-TW" sz="3000" b="0" i="1" smtClean="0">
                                    <a:solidFill>
                                      <a:srgbClr val="FF0000"/>
                                    </a:solidFill>
                                    <a:latin typeface="Cambria Math"/>
                                  </a:rPr>
                                  <m:t>𝑖</m:t>
                                </m:r>
                                <m:r>
                                  <a:rPr lang="en-US" altLang="zh-TW" sz="3000" b="0" i="1" smtClean="0">
                                    <a:solidFill>
                                      <a:srgbClr val="FF0000"/>
                                    </a:solidFill>
                                    <a:latin typeface="Cambria Math"/>
                                  </a:rPr>
                                  <m:t>−2,</m:t>
                                </m:r>
                                <m:r>
                                  <a:rPr lang="en-US" altLang="zh-TW" sz="3000" b="0" i="1" smtClean="0">
                                    <a:solidFill>
                                      <a:srgbClr val="FF0000"/>
                                    </a:solidFill>
                                    <a:latin typeface="Cambria Math"/>
                                  </a:rPr>
                                  <m:t>𝑗</m:t>
                                </m:r>
                                <m:r>
                                  <a:rPr lang="en-US" altLang="zh-TW" sz="3000" b="0" i="1" smtClean="0">
                                    <a:solidFill>
                                      <a:srgbClr val="FF0000"/>
                                    </a:solidFill>
                                    <a:latin typeface="Cambria Math"/>
                                  </a:rPr>
                                  <m:t>−1</m:t>
                                </m:r>
                              </m:sub>
                            </m:sSub>
                          </m:e>
                          <m:e>
                            <m:sSub>
                              <m:sSubPr>
                                <m:ctrlPr>
                                  <a:rPr lang="en-US" altLang="zh-TW" sz="3000" b="0" i="1" smtClean="0">
                                    <a:latin typeface="Cambria Math"/>
                                  </a:rPr>
                                </m:ctrlPr>
                              </m:sSubPr>
                              <m:e>
                                <m:r>
                                  <a:rPr lang="en-US" altLang="zh-TW" sz="3000" b="0" i="1" smtClean="0">
                                    <a:latin typeface="Cambria Math"/>
                                  </a:rPr>
                                  <m:t>𝐷𝑇𝑊</m:t>
                                </m:r>
                              </m:e>
                              <m:sub>
                                <m:r>
                                  <a:rPr lang="en-US" altLang="zh-TW" sz="3000" b="0" i="1" smtClean="0">
                                    <a:solidFill>
                                      <a:srgbClr val="FF0000"/>
                                    </a:solidFill>
                                    <a:latin typeface="Cambria Math"/>
                                  </a:rPr>
                                  <m:t>𝑖</m:t>
                                </m:r>
                                <m:r>
                                  <a:rPr lang="en-US" altLang="zh-TW" sz="3000" b="0" i="1" smtClean="0">
                                    <a:solidFill>
                                      <a:srgbClr val="FF0000"/>
                                    </a:solidFill>
                                    <a:latin typeface="Cambria Math"/>
                                  </a:rPr>
                                  <m:t>−1,</m:t>
                                </m:r>
                                <m:r>
                                  <a:rPr lang="en-US" altLang="zh-TW" sz="3000" b="0" i="1" smtClean="0">
                                    <a:solidFill>
                                      <a:srgbClr val="FF0000"/>
                                    </a:solidFill>
                                    <a:latin typeface="Cambria Math"/>
                                  </a:rPr>
                                  <m:t>𝑗</m:t>
                                </m:r>
                                <m:r>
                                  <a:rPr lang="en-US" altLang="zh-TW" sz="3000" b="0" i="1" smtClean="0">
                                    <a:solidFill>
                                      <a:srgbClr val="FF0000"/>
                                    </a:solidFill>
                                    <a:latin typeface="Cambria Math"/>
                                  </a:rPr>
                                  <m:t>−2</m:t>
                                </m:r>
                              </m:sub>
                            </m:sSub>
                          </m:e>
                          <m:e>
                            <m:sSub>
                              <m:sSubPr>
                                <m:ctrlPr>
                                  <a:rPr lang="en-US" altLang="zh-TW" sz="3000" b="0" i="1" smtClean="0">
                                    <a:latin typeface="Cambria Math"/>
                                  </a:rPr>
                                </m:ctrlPr>
                              </m:sSubPr>
                              <m:e>
                                <m:r>
                                  <a:rPr lang="en-US" altLang="zh-TW" sz="3000" b="0" i="1" smtClean="0">
                                    <a:latin typeface="Cambria Math"/>
                                  </a:rPr>
                                  <m:t>𝐷𝑇𝑊</m:t>
                                </m:r>
                              </m:e>
                              <m:sub>
                                <m:r>
                                  <a:rPr lang="en-US" altLang="zh-TW" sz="3000" b="0" i="1" smtClean="0">
                                    <a:latin typeface="Cambria Math"/>
                                  </a:rPr>
                                  <m:t>𝑖</m:t>
                                </m:r>
                                <m:r>
                                  <a:rPr lang="en-US" altLang="zh-TW" sz="3000" b="0" i="1" smtClean="0">
                                    <a:latin typeface="Cambria Math"/>
                                  </a:rPr>
                                  <m:t>−1,</m:t>
                                </m:r>
                                <m:r>
                                  <a:rPr lang="en-US" altLang="zh-TW" sz="3000" b="0" i="1" smtClean="0">
                                    <a:solidFill>
                                      <a:schemeClr val="tx1"/>
                                    </a:solidFill>
                                    <a:latin typeface="Cambria Math"/>
                                  </a:rPr>
                                  <m:t>𝑗</m:t>
                                </m:r>
                                <m:r>
                                  <a:rPr lang="en-US" altLang="zh-TW" sz="3000" b="0" i="1" smtClean="0">
                                    <a:solidFill>
                                      <a:schemeClr val="tx1"/>
                                    </a:solidFill>
                                    <a:latin typeface="Cambria Math"/>
                                  </a:rPr>
                                  <m:t>−1</m:t>
                                </m:r>
                              </m:sub>
                            </m:sSub>
                          </m:e>
                        </m:eqArr>
                      </m:e>
                    </m:d>
                  </m:oMath>
                </a14:m>
                <a:endParaRPr lang="en-US" altLang="zh-TW" sz="3000" dirty="0" smtClean="0"/>
              </a:p>
              <a:p>
                <a:endParaRPr lang="zh-TW" altLang="en-US" sz="3000" dirty="0"/>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blipFill rotWithShape="1">
                <a:blip r:embed="rId2"/>
                <a:stretch>
                  <a:fillRect/>
                </a:stretch>
              </a:blipFill>
            </p:spPr>
            <p:txBody>
              <a:bodyPr/>
              <a:lstStyle/>
              <a:p>
                <a:r>
                  <a:rPr lang="zh-TW" altLang="en-US">
                    <a:noFill/>
                  </a:rPr>
                  <a:t> </a:t>
                </a:r>
              </a:p>
            </p:txBody>
          </p:sp>
        </mc:Fallback>
      </mc:AlternateContent>
      <p:pic>
        <p:nvPicPr>
          <p:cNvPr id="4" name="Picture 5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92080" y="3434927"/>
            <a:ext cx="3075186" cy="3024336"/>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5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1560" y="3393523"/>
            <a:ext cx="3145705" cy="3024336"/>
          </a:xfrm>
          <a:prstGeom prst="rect">
            <a:avLst/>
          </a:prstGeom>
          <a:noFill/>
          <a:extLst>
            <a:ext uri="{909E8E84-426E-40DD-AFC4-6F175D3DCCD1}">
              <a14:hiddenFill xmlns:a14="http://schemas.microsoft.com/office/drawing/2010/main">
                <a:solidFill>
                  <a:srgbClr val="FFFFFF"/>
                </a:solidFill>
              </a14:hiddenFill>
            </a:ext>
          </a:extLst>
        </p:spPr>
      </p:pic>
      <p:sp>
        <p:nvSpPr>
          <p:cNvPr id="6" name="右彎箭號 5"/>
          <p:cNvSpPr/>
          <p:nvPr/>
        </p:nvSpPr>
        <p:spPr>
          <a:xfrm rot="5400000">
            <a:off x="6940418" y="2852936"/>
            <a:ext cx="648072" cy="504056"/>
          </a:xfrm>
          <a:prstGeom prst="ben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spTree>
    <p:extLst>
      <p:ext uri="{BB962C8B-B14F-4D97-AF65-F5344CB8AC3E}">
        <p14:creationId xmlns:p14="http://schemas.microsoft.com/office/powerpoint/2010/main" val="300771742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Derivative DTW (DDTW)</a:t>
            </a:r>
            <a:endParaRPr lang="zh-TW" altLang="en-US" dirty="0"/>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p:txBody>
              <a:bodyPr/>
              <a:lstStyle/>
              <a:p>
                <a14:m>
                  <m:oMath xmlns:m="http://schemas.openxmlformats.org/officeDocument/2006/math">
                    <m:r>
                      <a:rPr lang="en-US" altLang="zh-TW" i="1" smtClean="0">
                        <a:solidFill>
                          <a:prstClr val="black"/>
                        </a:solidFill>
                        <a:latin typeface="Cambria Math"/>
                      </a:rPr>
                      <m:t>𝑑</m:t>
                    </m:r>
                    <m:d>
                      <m:dPr>
                        <m:ctrlPr>
                          <a:rPr lang="en-US" altLang="zh-TW" i="1">
                            <a:solidFill>
                              <a:prstClr val="black"/>
                            </a:solidFill>
                            <a:latin typeface="Cambria Math"/>
                          </a:rPr>
                        </m:ctrlPr>
                      </m:dPr>
                      <m:e>
                        <m:sSub>
                          <m:sSubPr>
                            <m:ctrlPr>
                              <a:rPr lang="en-US" altLang="zh-TW" i="1">
                                <a:solidFill>
                                  <a:prstClr val="black"/>
                                </a:solidFill>
                                <a:latin typeface="Cambria Math"/>
                              </a:rPr>
                            </m:ctrlPr>
                          </m:sSubPr>
                          <m:e>
                            <m:r>
                              <a:rPr lang="en-US" altLang="zh-TW" i="1">
                                <a:solidFill>
                                  <a:prstClr val="black"/>
                                </a:solidFill>
                                <a:latin typeface="Cambria Math"/>
                              </a:rPr>
                              <m:t>𝑡</m:t>
                            </m:r>
                          </m:e>
                          <m:sub>
                            <m:r>
                              <a:rPr lang="en-US" altLang="zh-TW" i="1">
                                <a:solidFill>
                                  <a:prstClr val="black"/>
                                </a:solidFill>
                                <a:latin typeface="Cambria Math"/>
                              </a:rPr>
                              <m:t>𝑖</m:t>
                            </m:r>
                          </m:sub>
                        </m:sSub>
                        <m:r>
                          <a:rPr lang="en-US" altLang="zh-TW" i="1">
                            <a:solidFill>
                              <a:prstClr val="black"/>
                            </a:solidFill>
                            <a:latin typeface="Cambria Math"/>
                          </a:rPr>
                          <m:t>,</m:t>
                        </m:r>
                        <m:sSub>
                          <m:sSubPr>
                            <m:ctrlPr>
                              <a:rPr lang="en-US" altLang="zh-TW" i="1">
                                <a:solidFill>
                                  <a:prstClr val="black"/>
                                </a:solidFill>
                                <a:latin typeface="Cambria Math"/>
                              </a:rPr>
                            </m:ctrlPr>
                          </m:sSubPr>
                          <m:e>
                            <m:r>
                              <a:rPr lang="en-US" altLang="zh-TW" i="1">
                                <a:solidFill>
                                  <a:prstClr val="black"/>
                                </a:solidFill>
                                <a:latin typeface="Cambria Math"/>
                              </a:rPr>
                              <m:t>𝑟</m:t>
                            </m:r>
                          </m:e>
                          <m:sub>
                            <m:r>
                              <a:rPr lang="en-US" altLang="zh-TW" i="1">
                                <a:solidFill>
                                  <a:prstClr val="black"/>
                                </a:solidFill>
                                <a:latin typeface="Cambria Math"/>
                              </a:rPr>
                              <m:t>𝑗</m:t>
                            </m:r>
                          </m:sub>
                        </m:sSub>
                      </m:e>
                    </m:d>
                    <m:r>
                      <a:rPr lang="en-US" altLang="zh-TW" b="0" i="1" smtClean="0">
                        <a:solidFill>
                          <a:prstClr val="black"/>
                        </a:solidFill>
                        <a:latin typeface="Cambria Math"/>
                      </a:rPr>
                      <m:t>⇒</m:t>
                    </m:r>
                    <m:r>
                      <a:rPr lang="en-US" altLang="zh-TW" i="1">
                        <a:solidFill>
                          <a:prstClr val="black"/>
                        </a:solidFill>
                        <a:latin typeface="Cambria Math"/>
                      </a:rPr>
                      <m:t>𝑑</m:t>
                    </m:r>
                    <m:r>
                      <a:rPr lang="en-US" altLang="zh-TW" b="0" i="1" smtClean="0">
                        <a:solidFill>
                          <a:prstClr val="black"/>
                        </a:solidFill>
                        <a:latin typeface="Cambria Math"/>
                      </a:rPr>
                      <m:t>′</m:t>
                    </m:r>
                    <m:r>
                      <a:rPr lang="en-US" altLang="zh-TW" i="1">
                        <a:solidFill>
                          <a:prstClr val="black"/>
                        </a:solidFill>
                        <a:latin typeface="Cambria Math"/>
                      </a:rPr>
                      <m:t>(</m:t>
                    </m:r>
                    <m:sSub>
                      <m:sSubPr>
                        <m:ctrlPr>
                          <a:rPr lang="en-US" altLang="zh-TW" i="1" smtClean="0">
                            <a:solidFill>
                              <a:prstClr val="black"/>
                            </a:solidFill>
                            <a:latin typeface="Cambria Math"/>
                          </a:rPr>
                        </m:ctrlPr>
                      </m:sSubPr>
                      <m:e>
                        <m:r>
                          <a:rPr lang="en-US" altLang="zh-TW" b="0" i="1" smtClean="0">
                            <a:solidFill>
                              <a:prstClr val="black"/>
                            </a:solidFill>
                            <a:latin typeface="Cambria Math"/>
                          </a:rPr>
                          <m:t>𝐷</m:t>
                        </m:r>
                      </m:e>
                      <m:sub>
                        <m:r>
                          <a:rPr lang="en-US" altLang="zh-TW" b="0" i="1" smtClean="0">
                            <a:solidFill>
                              <a:prstClr val="black"/>
                            </a:solidFill>
                            <a:latin typeface="Cambria Math"/>
                          </a:rPr>
                          <m:t>𝑥</m:t>
                        </m:r>
                      </m:sub>
                    </m:sSub>
                    <m:r>
                      <a:rPr lang="en-US" altLang="zh-TW" b="0" i="1" smtClean="0">
                        <a:solidFill>
                          <a:prstClr val="black"/>
                        </a:solidFill>
                        <a:latin typeface="Cambria Math"/>
                      </a:rPr>
                      <m:t>[</m:t>
                    </m:r>
                    <m:sSub>
                      <m:sSubPr>
                        <m:ctrlPr>
                          <a:rPr lang="en-US" altLang="zh-TW" i="1">
                            <a:solidFill>
                              <a:prstClr val="black"/>
                            </a:solidFill>
                            <a:latin typeface="Cambria Math"/>
                          </a:rPr>
                        </m:ctrlPr>
                      </m:sSubPr>
                      <m:e>
                        <m:r>
                          <a:rPr lang="en-US" altLang="zh-TW" i="1">
                            <a:solidFill>
                              <a:prstClr val="black"/>
                            </a:solidFill>
                            <a:latin typeface="Cambria Math"/>
                          </a:rPr>
                          <m:t>𝑡</m:t>
                        </m:r>
                      </m:e>
                      <m:sub>
                        <m:r>
                          <a:rPr lang="en-US" altLang="zh-TW" i="1">
                            <a:solidFill>
                              <a:prstClr val="black"/>
                            </a:solidFill>
                            <a:latin typeface="Cambria Math"/>
                          </a:rPr>
                          <m:t>𝑖</m:t>
                        </m:r>
                      </m:sub>
                    </m:sSub>
                    <m:r>
                      <a:rPr lang="en-US" altLang="zh-TW" b="0" i="1" smtClean="0">
                        <a:solidFill>
                          <a:prstClr val="black"/>
                        </a:solidFill>
                        <a:latin typeface="Cambria Math"/>
                      </a:rPr>
                      <m:t>]</m:t>
                    </m:r>
                    <m:r>
                      <a:rPr lang="en-US" altLang="zh-TW" i="1">
                        <a:solidFill>
                          <a:prstClr val="black"/>
                        </a:solidFill>
                        <a:latin typeface="Cambria Math"/>
                      </a:rPr>
                      <m:t>,</m:t>
                    </m:r>
                    <m:sSub>
                      <m:sSubPr>
                        <m:ctrlPr>
                          <a:rPr lang="en-US" altLang="zh-TW" i="1" smtClean="0">
                            <a:solidFill>
                              <a:prstClr val="black"/>
                            </a:solidFill>
                            <a:latin typeface="Cambria Math"/>
                          </a:rPr>
                        </m:ctrlPr>
                      </m:sSubPr>
                      <m:e>
                        <m:r>
                          <a:rPr lang="en-US" altLang="zh-TW" b="0" i="1" smtClean="0">
                            <a:solidFill>
                              <a:prstClr val="black"/>
                            </a:solidFill>
                            <a:latin typeface="Cambria Math"/>
                          </a:rPr>
                          <m:t>𝐷</m:t>
                        </m:r>
                      </m:e>
                      <m:sub>
                        <m:r>
                          <a:rPr lang="en-US" altLang="zh-TW" b="0" i="1" smtClean="0">
                            <a:solidFill>
                              <a:prstClr val="black"/>
                            </a:solidFill>
                            <a:latin typeface="Cambria Math"/>
                          </a:rPr>
                          <m:t>𝑥</m:t>
                        </m:r>
                      </m:sub>
                    </m:sSub>
                    <m:r>
                      <a:rPr lang="en-US" altLang="zh-TW" b="0" i="1" smtClean="0">
                        <a:solidFill>
                          <a:prstClr val="black"/>
                        </a:solidFill>
                        <a:latin typeface="Cambria Math"/>
                      </a:rPr>
                      <m:t>[</m:t>
                    </m:r>
                    <m:sSub>
                      <m:sSubPr>
                        <m:ctrlPr>
                          <a:rPr lang="en-US" altLang="zh-TW" i="1">
                            <a:solidFill>
                              <a:prstClr val="black"/>
                            </a:solidFill>
                            <a:latin typeface="Cambria Math"/>
                          </a:rPr>
                        </m:ctrlPr>
                      </m:sSubPr>
                      <m:e>
                        <m:r>
                          <a:rPr lang="en-US" altLang="zh-TW" b="0" i="1" smtClean="0">
                            <a:solidFill>
                              <a:prstClr val="black"/>
                            </a:solidFill>
                            <a:latin typeface="Cambria Math"/>
                          </a:rPr>
                          <m:t>𝑟</m:t>
                        </m:r>
                      </m:e>
                      <m:sub>
                        <m:r>
                          <a:rPr lang="en-US" altLang="zh-TW" b="0" i="1" smtClean="0">
                            <a:solidFill>
                              <a:prstClr val="black"/>
                            </a:solidFill>
                            <a:latin typeface="Cambria Math"/>
                          </a:rPr>
                          <m:t>𝑗</m:t>
                        </m:r>
                      </m:sub>
                    </m:sSub>
                    <m:r>
                      <a:rPr lang="en-US" altLang="zh-TW" b="0" i="1" smtClean="0">
                        <a:solidFill>
                          <a:prstClr val="black"/>
                        </a:solidFill>
                        <a:latin typeface="Cambria Math"/>
                      </a:rPr>
                      <m:t>]</m:t>
                    </m:r>
                    <m:r>
                      <a:rPr lang="en-US" altLang="zh-TW" i="1">
                        <a:solidFill>
                          <a:prstClr val="black"/>
                        </a:solidFill>
                        <a:latin typeface="Cambria Math"/>
                      </a:rPr>
                      <m:t>)</m:t>
                    </m:r>
                  </m:oMath>
                </a14:m>
                <a:endParaRPr lang="en-US" altLang="zh-TW" dirty="0" smtClean="0"/>
              </a:p>
              <a:p>
                <a14:m>
                  <m:oMath xmlns:m="http://schemas.openxmlformats.org/officeDocument/2006/math">
                    <m:sSup>
                      <m:sSupPr>
                        <m:ctrlPr>
                          <a:rPr lang="en-US" altLang="zh-TW" b="0" i="1" smtClean="0">
                            <a:latin typeface="Cambria Math"/>
                          </a:rPr>
                        </m:ctrlPr>
                      </m:sSupPr>
                      <m:e>
                        <m:r>
                          <a:rPr lang="en-US" altLang="zh-TW" b="0" i="1" smtClean="0">
                            <a:latin typeface="Cambria Math"/>
                          </a:rPr>
                          <m:t>𝑑</m:t>
                        </m:r>
                      </m:e>
                      <m:sup>
                        <m:r>
                          <a:rPr lang="en-US" altLang="zh-TW" b="0" i="1" smtClean="0">
                            <a:latin typeface="Cambria Math"/>
                          </a:rPr>
                          <m:t>′</m:t>
                        </m:r>
                      </m:sup>
                    </m:sSup>
                    <m:r>
                      <a:rPr lang="en-US" altLang="zh-TW" i="1">
                        <a:latin typeface="Cambria Math"/>
                      </a:rPr>
                      <m:t> </m:t>
                    </m:r>
                    <m:r>
                      <a:rPr lang="en-US" altLang="zh-TW" i="1">
                        <a:latin typeface="Cambria Math"/>
                      </a:rPr>
                      <m:t>𝑖𝑠</m:t>
                    </m:r>
                    <m:r>
                      <a:rPr lang="en-US" altLang="zh-TW" b="0" i="1" smtClean="0">
                        <a:latin typeface="Cambria Math"/>
                      </a:rPr>
                      <m:t> </m:t>
                    </m:r>
                    <m:r>
                      <a:rPr lang="en-US" altLang="zh-TW" i="1">
                        <a:latin typeface="Cambria Math"/>
                      </a:rPr>
                      <m:t>𝑠𝑞𝑢𝑎𝑟𝑒</m:t>
                    </m:r>
                    <m:r>
                      <a:rPr lang="en-US" altLang="zh-TW" i="1">
                        <a:latin typeface="Cambria Math"/>
                      </a:rPr>
                      <m:t> </m:t>
                    </m:r>
                    <m:r>
                      <a:rPr lang="en-US" altLang="zh-TW" i="1">
                        <a:latin typeface="Cambria Math"/>
                      </a:rPr>
                      <m:t>𝑜𝑓</m:t>
                    </m:r>
                    <m:r>
                      <a:rPr lang="en-US" altLang="zh-TW" i="1">
                        <a:latin typeface="Cambria Math"/>
                      </a:rPr>
                      <m:t> </m:t>
                    </m:r>
                    <m:r>
                      <a:rPr lang="en-US" altLang="zh-TW" i="1">
                        <a:latin typeface="Cambria Math"/>
                      </a:rPr>
                      <m:t>𝑡h𝑒</m:t>
                    </m:r>
                    <m:r>
                      <a:rPr lang="en-US" altLang="zh-TW" i="1">
                        <a:latin typeface="Cambria Math"/>
                      </a:rPr>
                      <m:t> </m:t>
                    </m:r>
                    <m:r>
                      <a:rPr lang="en-US" altLang="zh-TW" i="1">
                        <a:latin typeface="Cambria Math"/>
                      </a:rPr>
                      <m:t>𝑑𝑖𝑓𝑓𝑒𝑟𝑒𝑛𝑐𝑒</m:t>
                    </m:r>
                  </m:oMath>
                </a14:m>
                <a:endParaRPr lang="en-US" altLang="zh-TW" dirty="0" smtClean="0"/>
              </a:p>
              <a:p>
                <a14:m>
                  <m:oMath xmlns:m="http://schemas.openxmlformats.org/officeDocument/2006/math">
                    <m:sSub>
                      <m:sSubPr>
                        <m:ctrlPr>
                          <a:rPr lang="en-US" altLang="zh-TW" b="0" i="1" smtClean="0">
                            <a:latin typeface="Cambria Math"/>
                          </a:rPr>
                        </m:ctrlPr>
                      </m:sSubPr>
                      <m:e>
                        <m:r>
                          <a:rPr lang="en-US" altLang="zh-TW" b="0" i="1" smtClean="0">
                            <a:latin typeface="Cambria Math"/>
                          </a:rPr>
                          <m:t>𝐷</m:t>
                        </m:r>
                      </m:e>
                      <m:sub>
                        <m:r>
                          <a:rPr lang="en-US" altLang="zh-TW" b="0" i="1" smtClean="0">
                            <a:latin typeface="Cambria Math"/>
                          </a:rPr>
                          <m:t>𝑥</m:t>
                        </m:r>
                      </m:sub>
                    </m:sSub>
                    <m:d>
                      <m:dPr>
                        <m:begChr m:val="["/>
                        <m:endChr m:val="]"/>
                        <m:ctrlPr>
                          <a:rPr lang="en-US" altLang="zh-TW" b="0" i="1" smtClean="0">
                            <a:latin typeface="Cambria Math"/>
                          </a:rPr>
                        </m:ctrlPr>
                      </m:dPr>
                      <m:e>
                        <m:r>
                          <a:rPr lang="en-US" altLang="zh-TW" b="0" i="1" smtClean="0">
                            <a:latin typeface="Cambria Math"/>
                          </a:rPr>
                          <m:t>𝑞</m:t>
                        </m:r>
                      </m:e>
                    </m:d>
                    <m:r>
                      <a:rPr lang="en-US" altLang="zh-TW" b="0" i="1" smtClean="0">
                        <a:latin typeface="Cambria Math"/>
                      </a:rPr>
                      <m:t>=</m:t>
                    </m:r>
                    <m:f>
                      <m:fPr>
                        <m:ctrlPr>
                          <a:rPr lang="en-US" altLang="zh-TW" b="0" i="1" smtClean="0">
                            <a:latin typeface="Cambria Math"/>
                          </a:rPr>
                        </m:ctrlPr>
                      </m:fPr>
                      <m:num>
                        <m:sSub>
                          <m:sSubPr>
                            <m:ctrlPr>
                              <a:rPr lang="en-US" altLang="zh-TW" b="0" i="1" smtClean="0">
                                <a:latin typeface="Cambria Math"/>
                              </a:rPr>
                            </m:ctrlPr>
                          </m:sSubPr>
                          <m:e>
                            <m:r>
                              <a:rPr lang="en-US" altLang="zh-TW" b="0" i="1" smtClean="0">
                                <a:latin typeface="Cambria Math"/>
                              </a:rPr>
                              <m:t>(</m:t>
                            </m:r>
                            <m:r>
                              <a:rPr lang="en-US" altLang="zh-TW" b="0" i="1" smtClean="0">
                                <a:latin typeface="Cambria Math"/>
                              </a:rPr>
                              <m:t>𝑞</m:t>
                            </m:r>
                          </m:e>
                          <m:sub>
                            <m:r>
                              <a:rPr lang="en-US" altLang="zh-TW" b="0" i="1" smtClean="0">
                                <a:latin typeface="Cambria Math"/>
                              </a:rPr>
                              <m:t>𝑖</m:t>
                            </m:r>
                          </m:sub>
                        </m:sSub>
                        <m:r>
                          <a:rPr lang="en-US" altLang="zh-TW" b="0" i="1" smtClean="0">
                            <a:latin typeface="Cambria Math"/>
                          </a:rPr>
                          <m:t>−</m:t>
                        </m:r>
                        <m:sSub>
                          <m:sSubPr>
                            <m:ctrlPr>
                              <a:rPr lang="en-US" altLang="zh-TW" b="0" i="1" smtClean="0">
                                <a:latin typeface="Cambria Math"/>
                              </a:rPr>
                            </m:ctrlPr>
                          </m:sSubPr>
                          <m:e>
                            <m:r>
                              <a:rPr lang="en-US" altLang="zh-TW" b="0" i="1" smtClean="0">
                                <a:latin typeface="Cambria Math"/>
                              </a:rPr>
                              <m:t>𝑞</m:t>
                            </m:r>
                          </m:e>
                          <m:sub>
                            <m:r>
                              <a:rPr lang="en-US" altLang="zh-TW" b="0" i="1" smtClean="0">
                                <a:latin typeface="Cambria Math"/>
                              </a:rPr>
                              <m:t>𝑖</m:t>
                            </m:r>
                            <m:r>
                              <a:rPr lang="en-US" altLang="zh-TW" b="0" i="1" smtClean="0">
                                <a:latin typeface="Cambria Math"/>
                              </a:rPr>
                              <m:t>−1</m:t>
                            </m:r>
                          </m:sub>
                        </m:sSub>
                        <m:r>
                          <a:rPr lang="en-US" altLang="zh-TW" b="0" i="1" smtClean="0">
                            <a:latin typeface="Cambria Math"/>
                          </a:rPr>
                          <m:t>)+(</m:t>
                        </m:r>
                        <m:sSub>
                          <m:sSubPr>
                            <m:ctrlPr>
                              <a:rPr lang="en-US" altLang="zh-TW" i="1">
                                <a:latin typeface="Cambria Math"/>
                              </a:rPr>
                            </m:ctrlPr>
                          </m:sSubPr>
                          <m:e>
                            <m:r>
                              <a:rPr lang="en-US" altLang="zh-TW" i="1">
                                <a:latin typeface="Cambria Math"/>
                              </a:rPr>
                              <m:t>(</m:t>
                            </m:r>
                            <m:r>
                              <a:rPr lang="en-US" altLang="zh-TW" i="1">
                                <a:latin typeface="Cambria Math"/>
                              </a:rPr>
                              <m:t>𝑞</m:t>
                            </m:r>
                          </m:e>
                          <m:sub>
                            <m:r>
                              <a:rPr lang="en-US" altLang="zh-TW" i="1">
                                <a:latin typeface="Cambria Math"/>
                              </a:rPr>
                              <m:t>𝑖</m:t>
                            </m:r>
                            <m:r>
                              <a:rPr lang="en-US" altLang="zh-TW" b="0" i="1" smtClean="0">
                                <a:latin typeface="Cambria Math"/>
                              </a:rPr>
                              <m:t>+1</m:t>
                            </m:r>
                          </m:sub>
                        </m:sSub>
                        <m:r>
                          <a:rPr lang="en-US" altLang="zh-TW" i="1">
                            <a:latin typeface="Cambria Math"/>
                          </a:rPr>
                          <m:t>−</m:t>
                        </m:r>
                        <m:sSub>
                          <m:sSubPr>
                            <m:ctrlPr>
                              <a:rPr lang="en-US" altLang="zh-TW" i="1">
                                <a:latin typeface="Cambria Math"/>
                              </a:rPr>
                            </m:ctrlPr>
                          </m:sSubPr>
                          <m:e>
                            <m:r>
                              <a:rPr lang="en-US" altLang="zh-TW" i="1">
                                <a:latin typeface="Cambria Math"/>
                              </a:rPr>
                              <m:t>𝑞</m:t>
                            </m:r>
                          </m:e>
                          <m:sub>
                            <m:r>
                              <a:rPr lang="en-US" altLang="zh-TW" i="1">
                                <a:latin typeface="Cambria Math"/>
                              </a:rPr>
                              <m:t>𝑖</m:t>
                            </m:r>
                            <m:r>
                              <a:rPr lang="en-US" altLang="zh-TW" i="1">
                                <a:latin typeface="Cambria Math"/>
                              </a:rPr>
                              <m:t>−1</m:t>
                            </m:r>
                          </m:sub>
                        </m:sSub>
                        <m:r>
                          <a:rPr lang="en-US" altLang="zh-TW" i="1">
                            <a:latin typeface="Cambria Math"/>
                          </a:rPr>
                          <m:t>)</m:t>
                        </m:r>
                        <m:r>
                          <a:rPr lang="en-US" altLang="zh-TW" b="0" i="1" smtClean="0">
                            <a:latin typeface="Cambria Math"/>
                          </a:rPr>
                          <m:t>/2)</m:t>
                        </m:r>
                      </m:num>
                      <m:den>
                        <m:r>
                          <a:rPr lang="en-US" altLang="zh-TW" b="0" i="1" smtClean="0">
                            <a:latin typeface="Cambria Math"/>
                          </a:rPr>
                          <m:t>2</m:t>
                        </m:r>
                      </m:den>
                    </m:f>
                  </m:oMath>
                </a14:m>
                <a:endParaRPr lang="en-US" altLang="zh-TW" b="0" dirty="0" smtClean="0"/>
              </a:p>
              <a:p>
                <a:r>
                  <a:rPr lang="en-US" altLang="zh-TW" sz="2800" dirty="0" smtClean="0">
                    <a:latin typeface="標楷體" pitchFamily="65" charset="-120"/>
                    <a:ea typeface="標楷體" pitchFamily="65" charset="-120"/>
                  </a:rPr>
                  <a:t>(</a:t>
                </a:r>
                <a14:m>
                  <m:oMath xmlns:m="http://schemas.openxmlformats.org/officeDocument/2006/math">
                    <m:sSub>
                      <m:sSubPr>
                        <m:ctrlPr>
                          <a:rPr lang="en-US" altLang="zh-TW" sz="2800" i="1">
                            <a:latin typeface="Cambria Math"/>
                          </a:rPr>
                        </m:ctrlPr>
                      </m:sSubPr>
                      <m:e>
                        <m:r>
                          <a:rPr lang="en-US" altLang="zh-TW" sz="2800" i="1">
                            <a:latin typeface="Cambria Math"/>
                          </a:rPr>
                          <m:t>𝐷</m:t>
                        </m:r>
                      </m:e>
                      <m:sub>
                        <m:r>
                          <a:rPr lang="en-US" altLang="zh-TW" sz="2800" i="1">
                            <a:latin typeface="Cambria Math"/>
                          </a:rPr>
                          <m:t>𝑥</m:t>
                        </m:r>
                      </m:sub>
                    </m:sSub>
                  </m:oMath>
                </a14:m>
                <a:r>
                  <a:rPr lang="zh-TW" altLang="en-US" sz="2800" dirty="0" smtClean="0">
                    <a:latin typeface="標楷體" pitchFamily="65" charset="-120"/>
                    <a:ea typeface="標楷體" pitchFamily="65" charset="-120"/>
                  </a:rPr>
                  <a:t>可想成</a:t>
                </a:r>
                <a:r>
                  <a:rPr lang="en-US" altLang="zh-TW" sz="2800" dirty="0" smtClean="0">
                    <a:latin typeface="標楷體" pitchFamily="65" charset="-120"/>
                    <a:ea typeface="標楷體" pitchFamily="65" charset="-120"/>
                  </a:rPr>
                  <a:t>q</a:t>
                </a:r>
                <a:r>
                  <a:rPr lang="zh-TW" altLang="en-US" sz="2800" dirty="0" smtClean="0">
                    <a:latin typeface="標楷體" pitchFamily="65" charset="-120"/>
                    <a:ea typeface="標楷體" pitchFamily="65" charset="-120"/>
                  </a:rPr>
                  <a:t>點附近的平均斜率，以斜率匹配</a:t>
                </a:r>
                <a:r>
                  <a:rPr lang="en-US" altLang="zh-TW" sz="2800" dirty="0" smtClean="0">
                    <a:latin typeface="標楷體" pitchFamily="65" charset="-120"/>
                    <a:ea typeface="標楷體" pitchFamily="65" charset="-120"/>
                  </a:rPr>
                  <a:t>)</a:t>
                </a:r>
              </a:p>
              <a:p>
                <a:pPr marL="0" indent="0">
                  <a:buNone/>
                </a:pPr>
                <a:endParaRPr lang="en-US" altLang="zh-TW" dirty="0" smtClean="0">
                  <a:latin typeface="標楷體" pitchFamily="65" charset="-120"/>
                  <a:ea typeface="標楷體" pitchFamily="65" charset="-120"/>
                </a:endParaRPr>
              </a:p>
              <a:p>
                <a:endParaRPr lang="zh-TW" altLang="en-US" dirty="0"/>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blipFill rotWithShape="1">
                <a:blip r:embed="rId2"/>
                <a:stretch>
                  <a:fillRect l="-963"/>
                </a:stretch>
              </a:blipFill>
            </p:spPr>
            <p:txBody>
              <a:bodyPr/>
              <a:lstStyle/>
              <a:p>
                <a:r>
                  <a:rPr lang="zh-TW" altLang="en-US">
                    <a:noFill/>
                  </a:rPr>
                  <a:t> </a:t>
                </a:r>
              </a:p>
            </p:txBody>
          </p:sp>
        </mc:Fallback>
      </mc:AlternateContent>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1560" y="4380633"/>
            <a:ext cx="8136904" cy="2376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6626977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Weighted</a:t>
            </a:r>
            <a:r>
              <a:rPr lang="zh-TW" altLang="en-US" dirty="0" smtClean="0"/>
              <a:t> </a:t>
            </a:r>
            <a:r>
              <a:rPr lang="en-US" altLang="zh-TW" dirty="0" smtClean="0"/>
              <a:t>DTW</a:t>
            </a:r>
            <a:endParaRPr lang="zh-TW" altLang="en-US" dirty="0"/>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p:txBody>
              <a:bodyPr/>
              <a:lstStyle/>
              <a:p>
                <a:r>
                  <a:rPr lang="zh-TW" altLang="en-US" sz="3000" dirty="0" smtClean="0">
                    <a:latin typeface="標楷體" pitchFamily="65" charset="-120"/>
                    <a:ea typeface="標楷體" pitchFamily="65" charset="-120"/>
                  </a:rPr>
                  <a:t>概念上就是距離越遠，其罰分的比重越大</a:t>
                </a:r>
                <a:endParaRPr lang="en-US" altLang="zh-TW" sz="3000" dirty="0" smtClean="0">
                  <a:latin typeface="標楷體" pitchFamily="65" charset="-120"/>
                  <a:ea typeface="標楷體" pitchFamily="65" charset="-120"/>
                </a:endParaRPr>
              </a:p>
              <a:p>
                <a14:m>
                  <m:oMath xmlns:m="http://schemas.openxmlformats.org/officeDocument/2006/math">
                    <m:sSub>
                      <m:sSubPr>
                        <m:ctrlPr>
                          <a:rPr lang="en-US" altLang="zh-TW" sz="3000" i="1" dirty="0" smtClean="0">
                            <a:latin typeface="Cambria Math"/>
                            <a:ea typeface="標楷體" pitchFamily="65" charset="-120"/>
                          </a:rPr>
                        </m:ctrlPr>
                      </m:sSubPr>
                      <m:e>
                        <m:r>
                          <a:rPr lang="en-US" altLang="zh-TW" sz="3000" b="0" i="1" dirty="0" smtClean="0">
                            <a:latin typeface="Cambria Math"/>
                            <a:ea typeface="標楷體" pitchFamily="65" charset="-120"/>
                          </a:rPr>
                          <m:t>𝑊𝐷𝑇𝑊</m:t>
                        </m:r>
                      </m:e>
                      <m:sub>
                        <m:r>
                          <a:rPr lang="en-US" altLang="zh-TW" sz="3000" b="0" i="1" dirty="0" smtClean="0">
                            <a:latin typeface="Cambria Math"/>
                            <a:ea typeface="標楷體" pitchFamily="65" charset="-120"/>
                          </a:rPr>
                          <m:t>𝑝</m:t>
                        </m:r>
                      </m:sub>
                    </m:sSub>
                    <m:r>
                      <a:rPr lang="en-US" altLang="zh-TW" sz="3000" b="0" i="1" dirty="0" smtClean="0">
                        <a:latin typeface="Cambria Math"/>
                        <a:ea typeface="標楷體" pitchFamily="65" charset="-120"/>
                      </a:rPr>
                      <m:t>=</m:t>
                    </m:r>
                    <m:rad>
                      <m:radPr>
                        <m:ctrlPr>
                          <a:rPr lang="en-US" altLang="zh-TW" sz="3000" b="0" i="1" dirty="0" smtClean="0">
                            <a:latin typeface="Cambria Math"/>
                            <a:ea typeface="標楷體" pitchFamily="65" charset="-120"/>
                          </a:rPr>
                        </m:ctrlPr>
                      </m:radPr>
                      <m:deg>
                        <m:r>
                          <m:rPr>
                            <m:brk m:alnAt="7"/>
                          </m:rPr>
                          <a:rPr lang="en-US" altLang="zh-TW" sz="3000" b="0" i="1" dirty="0" smtClean="0">
                            <a:latin typeface="Cambria Math"/>
                            <a:ea typeface="標楷體" pitchFamily="65" charset="-120"/>
                          </a:rPr>
                          <m:t>𝑝</m:t>
                        </m:r>
                      </m:deg>
                      <m:e>
                        <m:sSubSup>
                          <m:sSubSupPr>
                            <m:ctrlPr>
                              <a:rPr lang="en-US" altLang="zh-TW" sz="3000" i="1" dirty="0">
                                <a:latin typeface="Cambria Math"/>
                                <a:ea typeface="標楷體" pitchFamily="65" charset="-120"/>
                              </a:rPr>
                            </m:ctrlPr>
                          </m:sSubSupPr>
                          <m:e>
                            <m:r>
                              <a:rPr lang="zh-TW" altLang="en-US" sz="3000" i="1" dirty="0">
                                <a:latin typeface="Cambria Math"/>
                                <a:ea typeface="標楷體" pitchFamily="65" charset="-120"/>
                              </a:rPr>
                              <m:t>𝛾</m:t>
                            </m:r>
                          </m:e>
                          <m:sub>
                            <m:r>
                              <a:rPr lang="en-US" altLang="zh-TW" sz="3000" i="1" dirty="0">
                                <a:latin typeface="Cambria Math"/>
                                <a:ea typeface="標楷體" pitchFamily="65" charset="-120"/>
                              </a:rPr>
                              <m:t>𝑖</m:t>
                            </m:r>
                            <m:r>
                              <a:rPr lang="en-US" altLang="zh-TW" sz="3000" b="0" i="1" dirty="0" smtClean="0">
                                <a:latin typeface="Cambria Math"/>
                                <a:ea typeface="標楷體" pitchFamily="65" charset="-120"/>
                              </a:rPr>
                              <m:t>,</m:t>
                            </m:r>
                            <m:r>
                              <a:rPr lang="en-US" altLang="zh-TW" sz="3000" b="0" i="1" dirty="0" smtClean="0">
                                <a:latin typeface="Cambria Math"/>
                                <a:ea typeface="標楷體" pitchFamily="65" charset="-120"/>
                              </a:rPr>
                              <m:t>𝑗</m:t>
                            </m:r>
                          </m:sub>
                          <m:sup/>
                        </m:sSubSup>
                      </m:e>
                    </m:rad>
                  </m:oMath>
                </a14:m>
                <a:endParaRPr lang="en-US" altLang="zh-TW" sz="3000" b="0" dirty="0" smtClean="0">
                  <a:ea typeface="標楷體" pitchFamily="65" charset="-120"/>
                </a:endParaRPr>
              </a:p>
              <a:p>
                <a14:m>
                  <m:oMath xmlns:m="http://schemas.openxmlformats.org/officeDocument/2006/math">
                    <m:sSub>
                      <m:sSubPr>
                        <m:ctrlPr>
                          <a:rPr lang="en-US" altLang="zh-TW" sz="3000" i="1">
                            <a:latin typeface="Cambria Math"/>
                          </a:rPr>
                        </m:ctrlPr>
                      </m:sSubPr>
                      <m:e>
                        <m:r>
                          <a:rPr lang="zh-TW" altLang="en-US" sz="3000" i="1" smtClean="0">
                            <a:latin typeface="Cambria Math"/>
                          </a:rPr>
                          <m:t>𝛾</m:t>
                        </m:r>
                      </m:e>
                      <m:sub>
                        <m:r>
                          <a:rPr lang="en-US" altLang="zh-TW" sz="3000" i="1">
                            <a:latin typeface="Cambria Math"/>
                          </a:rPr>
                          <m:t>𝑖</m:t>
                        </m:r>
                        <m:r>
                          <a:rPr lang="en-US" altLang="zh-TW" sz="3000" i="1">
                            <a:latin typeface="Cambria Math"/>
                          </a:rPr>
                          <m:t>,</m:t>
                        </m:r>
                        <m:r>
                          <a:rPr lang="en-US" altLang="zh-TW" sz="3000" i="1">
                            <a:latin typeface="Cambria Math"/>
                          </a:rPr>
                          <m:t>𝑗</m:t>
                        </m:r>
                      </m:sub>
                    </m:sSub>
                    <m:r>
                      <a:rPr lang="en-US" altLang="zh-TW" sz="3000" i="1">
                        <a:latin typeface="Cambria Math"/>
                      </a:rPr>
                      <m:t>=</m:t>
                    </m:r>
                    <m:sSup>
                      <m:sSupPr>
                        <m:ctrlPr>
                          <a:rPr lang="en-US" altLang="zh-TW" sz="3000" i="1" smtClean="0">
                            <a:latin typeface="Cambria Math"/>
                          </a:rPr>
                        </m:ctrlPr>
                      </m:sSupPr>
                      <m:e>
                        <m:d>
                          <m:dPr>
                            <m:begChr m:val="|"/>
                            <m:endChr m:val="|"/>
                            <m:ctrlPr>
                              <a:rPr lang="en-US" altLang="zh-TW" sz="3000" i="1" smtClean="0">
                                <a:latin typeface="Cambria Math"/>
                              </a:rPr>
                            </m:ctrlPr>
                          </m:dPr>
                          <m:e>
                            <m:sSub>
                              <m:sSubPr>
                                <m:ctrlPr>
                                  <a:rPr lang="en-US" altLang="zh-TW" sz="3000" i="1">
                                    <a:latin typeface="Cambria Math"/>
                                  </a:rPr>
                                </m:ctrlPr>
                              </m:sSubPr>
                              <m:e>
                                <m:r>
                                  <a:rPr lang="en-US" altLang="zh-TW" sz="3000" i="1">
                                    <a:latin typeface="Cambria Math"/>
                                  </a:rPr>
                                  <m:t>𝑤</m:t>
                                </m:r>
                              </m:e>
                              <m:sub>
                                <m:d>
                                  <m:dPr>
                                    <m:begChr m:val="|"/>
                                    <m:endChr m:val="|"/>
                                    <m:ctrlPr>
                                      <a:rPr lang="en-US" altLang="zh-TW" sz="3000" i="1">
                                        <a:latin typeface="Cambria Math"/>
                                      </a:rPr>
                                    </m:ctrlPr>
                                  </m:dPr>
                                  <m:e>
                                    <m:r>
                                      <a:rPr lang="en-US" altLang="zh-TW" sz="3000" i="1">
                                        <a:latin typeface="Cambria Math"/>
                                      </a:rPr>
                                      <m:t>𝑖</m:t>
                                    </m:r>
                                    <m:r>
                                      <a:rPr lang="en-US" altLang="zh-TW" sz="3000" i="1">
                                        <a:latin typeface="Cambria Math"/>
                                      </a:rPr>
                                      <m:t>−</m:t>
                                    </m:r>
                                    <m:r>
                                      <a:rPr lang="en-US" altLang="zh-TW" sz="3000" i="1">
                                        <a:latin typeface="Cambria Math"/>
                                      </a:rPr>
                                      <m:t>𝑗</m:t>
                                    </m:r>
                                  </m:e>
                                </m:d>
                              </m:sub>
                            </m:sSub>
                            <m:r>
                              <a:rPr lang="en-US" altLang="zh-TW" sz="3000" i="1">
                                <a:latin typeface="Cambria Math"/>
                              </a:rPr>
                              <m:t>(</m:t>
                            </m:r>
                            <m:sSub>
                              <m:sSubPr>
                                <m:ctrlPr>
                                  <a:rPr lang="en-US" altLang="zh-TW" sz="3000" i="1">
                                    <a:latin typeface="Cambria Math"/>
                                  </a:rPr>
                                </m:ctrlPr>
                              </m:sSubPr>
                              <m:e>
                                <m:r>
                                  <a:rPr lang="en-US" altLang="zh-TW" sz="3000" i="1">
                                    <a:latin typeface="Cambria Math"/>
                                  </a:rPr>
                                  <m:t>𝑡</m:t>
                                </m:r>
                              </m:e>
                              <m:sub>
                                <m:r>
                                  <a:rPr lang="en-US" altLang="zh-TW" sz="3000" i="1">
                                    <a:latin typeface="Cambria Math"/>
                                  </a:rPr>
                                  <m:t>𝑖</m:t>
                                </m:r>
                              </m:sub>
                            </m:sSub>
                            <m:r>
                              <a:rPr lang="en-US" altLang="zh-TW" sz="3000" i="1">
                                <a:latin typeface="Cambria Math"/>
                              </a:rPr>
                              <m:t>−</m:t>
                            </m:r>
                            <m:sSub>
                              <m:sSubPr>
                                <m:ctrlPr>
                                  <a:rPr lang="en-US" altLang="zh-TW" sz="3000" i="1">
                                    <a:latin typeface="Cambria Math"/>
                                  </a:rPr>
                                </m:ctrlPr>
                              </m:sSubPr>
                              <m:e>
                                <m:r>
                                  <a:rPr lang="en-US" altLang="zh-TW" sz="3000" i="1">
                                    <a:latin typeface="Cambria Math"/>
                                  </a:rPr>
                                  <m:t>𝑟</m:t>
                                </m:r>
                              </m:e>
                              <m:sub>
                                <m:r>
                                  <a:rPr lang="en-US" altLang="zh-TW" sz="3000" i="1">
                                    <a:latin typeface="Cambria Math"/>
                                  </a:rPr>
                                  <m:t>𝑗</m:t>
                                </m:r>
                              </m:sub>
                            </m:sSub>
                            <m:r>
                              <a:rPr lang="en-US" altLang="zh-TW" sz="3000" i="1">
                                <a:latin typeface="Cambria Math"/>
                              </a:rPr>
                              <m:t>)</m:t>
                            </m:r>
                          </m:e>
                        </m:d>
                      </m:e>
                      <m:sup>
                        <m:r>
                          <a:rPr lang="en-US" altLang="zh-TW" sz="3000" b="0" i="1" smtClean="0">
                            <a:latin typeface="Cambria Math"/>
                          </a:rPr>
                          <m:t>𝑝</m:t>
                        </m:r>
                      </m:sup>
                    </m:sSup>
                    <m:r>
                      <a:rPr lang="en-US" altLang="zh-TW" sz="3000" i="1">
                        <a:latin typeface="Cambria Math"/>
                      </a:rPr>
                      <m:t>+</m:t>
                    </m:r>
                    <m:r>
                      <a:rPr lang="en-US" altLang="zh-TW" sz="3000" i="1">
                        <a:latin typeface="Cambria Math"/>
                      </a:rPr>
                      <m:t>𝑚𝑖𝑛</m:t>
                    </m:r>
                    <m:d>
                      <m:dPr>
                        <m:begChr m:val="{"/>
                        <m:endChr m:val=""/>
                        <m:ctrlPr>
                          <a:rPr lang="en-US" altLang="zh-TW" sz="3000" i="1">
                            <a:latin typeface="Cambria Math"/>
                          </a:rPr>
                        </m:ctrlPr>
                      </m:dPr>
                      <m:e>
                        <m:eqArr>
                          <m:eqArrPr>
                            <m:ctrlPr>
                              <a:rPr lang="en-US" altLang="zh-TW" sz="3000" i="1">
                                <a:latin typeface="Cambria Math"/>
                              </a:rPr>
                            </m:ctrlPr>
                          </m:eqArrPr>
                          <m:e>
                            <m:sSub>
                              <m:sSubPr>
                                <m:ctrlPr>
                                  <a:rPr lang="en-US" altLang="zh-TW" sz="3000" i="1">
                                    <a:latin typeface="Cambria Math"/>
                                  </a:rPr>
                                </m:ctrlPr>
                              </m:sSubPr>
                              <m:e>
                                <m:r>
                                  <a:rPr lang="zh-TW" altLang="en-US" sz="3000" i="1" smtClean="0">
                                    <a:latin typeface="Cambria Math"/>
                                  </a:rPr>
                                  <m:t>𝛾</m:t>
                                </m:r>
                              </m:e>
                              <m:sub>
                                <m:r>
                                  <a:rPr lang="en-US" altLang="zh-TW" sz="3000" i="1">
                                    <a:latin typeface="Cambria Math"/>
                                  </a:rPr>
                                  <m:t>𝑖</m:t>
                                </m:r>
                                <m:r>
                                  <a:rPr lang="en-US" altLang="zh-TW" sz="3000" i="1">
                                    <a:latin typeface="Cambria Math"/>
                                  </a:rPr>
                                  <m:t>−1,</m:t>
                                </m:r>
                                <m:r>
                                  <a:rPr lang="en-US" altLang="zh-TW" sz="3000" i="1">
                                    <a:latin typeface="Cambria Math"/>
                                  </a:rPr>
                                  <m:t>𝑗</m:t>
                                </m:r>
                              </m:sub>
                            </m:sSub>
                          </m:e>
                          <m:e>
                            <m:sSub>
                              <m:sSubPr>
                                <m:ctrlPr>
                                  <a:rPr lang="en-US" altLang="zh-TW" sz="3000" i="1">
                                    <a:latin typeface="Cambria Math"/>
                                  </a:rPr>
                                </m:ctrlPr>
                              </m:sSubPr>
                              <m:e>
                                <m:r>
                                  <a:rPr lang="zh-TW" altLang="en-US" sz="3000" i="1" smtClean="0">
                                    <a:latin typeface="Cambria Math"/>
                                  </a:rPr>
                                  <m:t>𝛾</m:t>
                                </m:r>
                              </m:e>
                              <m:sub>
                                <m:r>
                                  <a:rPr lang="en-US" altLang="zh-TW" sz="3000" i="1">
                                    <a:latin typeface="Cambria Math"/>
                                  </a:rPr>
                                  <m:t>𝑖</m:t>
                                </m:r>
                                <m:r>
                                  <a:rPr lang="en-US" altLang="zh-TW" sz="3000" i="1">
                                    <a:latin typeface="Cambria Math"/>
                                  </a:rPr>
                                  <m:t>,</m:t>
                                </m:r>
                                <m:r>
                                  <a:rPr lang="en-US" altLang="zh-TW" sz="3000" i="1">
                                    <a:latin typeface="Cambria Math"/>
                                  </a:rPr>
                                  <m:t>𝑗</m:t>
                                </m:r>
                                <m:r>
                                  <a:rPr lang="en-US" altLang="zh-TW" sz="3000" i="1">
                                    <a:latin typeface="Cambria Math"/>
                                  </a:rPr>
                                  <m:t>−1</m:t>
                                </m:r>
                              </m:sub>
                            </m:sSub>
                          </m:e>
                          <m:e>
                            <m:sSub>
                              <m:sSubPr>
                                <m:ctrlPr>
                                  <a:rPr lang="en-US" altLang="zh-TW" sz="3000" i="1">
                                    <a:latin typeface="Cambria Math"/>
                                  </a:rPr>
                                </m:ctrlPr>
                              </m:sSubPr>
                              <m:e>
                                <m:r>
                                  <a:rPr lang="zh-TW" altLang="en-US" sz="3000" i="1" smtClean="0">
                                    <a:latin typeface="Cambria Math"/>
                                  </a:rPr>
                                  <m:t>𝛾</m:t>
                                </m:r>
                              </m:e>
                              <m:sub>
                                <m:r>
                                  <a:rPr lang="en-US" altLang="zh-TW" sz="3000" i="1">
                                    <a:latin typeface="Cambria Math"/>
                                  </a:rPr>
                                  <m:t>𝑖</m:t>
                                </m:r>
                                <m:r>
                                  <a:rPr lang="en-US" altLang="zh-TW" sz="3000" i="1">
                                    <a:latin typeface="Cambria Math"/>
                                  </a:rPr>
                                  <m:t>−1,</m:t>
                                </m:r>
                                <m:r>
                                  <a:rPr lang="en-US" altLang="zh-TW" sz="3000" i="1">
                                    <a:latin typeface="Cambria Math"/>
                                  </a:rPr>
                                  <m:t>𝑗</m:t>
                                </m:r>
                                <m:r>
                                  <a:rPr lang="en-US" altLang="zh-TW" sz="3000" i="1">
                                    <a:latin typeface="Cambria Math"/>
                                  </a:rPr>
                                  <m:t>−1</m:t>
                                </m:r>
                              </m:sub>
                            </m:sSub>
                          </m:e>
                        </m:eqArr>
                      </m:e>
                    </m:d>
                  </m:oMath>
                </a14:m>
                <a:endParaRPr lang="en-US" altLang="zh-TW" sz="3000" dirty="0" smtClean="0"/>
              </a:p>
              <a:p>
                <a:endParaRPr lang="en-US" altLang="zh-TW" sz="3000" dirty="0" smtClean="0"/>
              </a:p>
              <a:p>
                <a14:m>
                  <m:oMath xmlns:m="http://schemas.openxmlformats.org/officeDocument/2006/math">
                    <m:sSub>
                      <m:sSubPr>
                        <m:ctrlPr>
                          <a:rPr lang="en-US" altLang="zh-TW" sz="3200" i="1">
                            <a:solidFill>
                              <a:prstClr val="black"/>
                            </a:solidFill>
                            <a:latin typeface="Cambria Math"/>
                          </a:rPr>
                        </m:ctrlPr>
                      </m:sSubPr>
                      <m:e>
                        <m:r>
                          <a:rPr lang="en-US" altLang="zh-TW" sz="3200" b="0" i="1" smtClean="0">
                            <a:solidFill>
                              <a:prstClr val="black"/>
                            </a:solidFill>
                            <a:latin typeface="Cambria Math"/>
                          </a:rPr>
                          <m:t>𝑊𝐷𝐷𝑇𝑊</m:t>
                        </m:r>
                        <m:r>
                          <a:rPr lang="en-US" altLang="zh-TW" sz="3200" b="0" i="1" smtClean="0">
                            <a:solidFill>
                              <a:prstClr val="black"/>
                            </a:solidFill>
                            <a:latin typeface="Cambria Math"/>
                          </a:rPr>
                          <m:t>:</m:t>
                        </m:r>
                        <m:d>
                          <m:dPr>
                            <m:ctrlPr>
                              <a:rPr lang="en-US" altLang="zh-TW" sz="3200" b="0" i="1" smtClean="0">
                                <a:solidFill>
                                  <a:prstClr val="black"/>
                                </a:solidFill>
                                <a:latin typeface="Cambria Math"/>
                              </a:rPr>
                            </m:ctrlPr>
                          </m:dPr>
                          <m:e>
                            <m:sSub>
                              <m:sSubPr>
                                <m:ctrlPr>
                                  <a:rPr lang="en-US" altLang="zh-TW" sz="3200" i="1">
                                    <a:solidFill>
                                      <a:prstClr val="black"/>
                                    </a:solidFill>
                                    <a:latin typeface="Cambria Math"/>
                                  </a:rPr>
                                </m:ctrlPr>
                              </m:sSubPr>
                              <m:e>
                                <m:r>
                                  <a:rPr lang="en-US" altLang="zh-TW" sz="3200" i="1">
                                    <a:solidFill>
                                      <a:prstClr val="black"/>
                                    </a:solidFill>
                                    <a:latin typeface="Cambria Math"/>
                                  </a:rPr>
                                  <m:t>𝑡</m:t>
                                </m:r>
                              </m:e>
                              <m:sub>
                                <m:r>
                                  <a:rPr lang="en-US" altLang="zh-TW" sz="3200" i="1">
                                    <a:solidFill>
                                      <a:prstClr val="black"/>
                                    </a:solidFill>
                                    <a:latin typeface="Cambria Math"/>
                                  </a:rPr>
                                  <m:t>𝑖</m:t>
                                </m:r>
                              </m:sub>
                            </m:sSub>
                            <m:r>
                              <a:rPr lang="en-US" altLang="zh-TW" sz="3200" b="0" i="1" smtClean="0">
                                <a:solidFill>
                                  <a:prstClr val="black"/>
                                </a:solidFill>
                                <a:latin typeface="Cambria Math"/>
                              </a:rPr>
                              <m:t>,</m:t>
                            </m:r>
                            <m:sSub>
                              <m:sSubPr>
                                <m:ctrlPr>
                                  <a:rPr lang="en-US" altLang="zh-TW" sz="3200" i="1">
                                    <a:solidFill>
                                      <a:prstClr val="black"/>
                                    </a:solidFill>
                                    <a:latin typeface="Cambria Math"/>
                                  </a:rPr>
                                </m:ctrlPr>
                              </m:sSubPr>
                              <m:e>
                                <m:r>
                                  <a:rPr lang="en-US" altLang="zh-TW" sz="3200" b="0" i="1" smtClean="0">
                                    <a:solidFill>
                                      <a:prstClr val="black"/>
                                    </a:solidFill>
                                    <a:latin typeface="Cambria Math"/>
                                  </a:rPr>
                                  <m:t>𝑟</m:t>
                                </m:r>
                              </m:e>
                              <m:sub>
                                <m:r>
                                  <a:rPr lang="en-US" altLang="zh-TW" sz="3200" b="0" i="1" smtClean="0">
                                    <a:solidFill>
                                      <a:prstClr val="black"/>
                                    </a:solidFill>
                                    <a:latin typeface="Cambria Math"/>
                                  </a:rPr>
                                  <m:t>𝑗</m:t>
                                </m:r>
                              </m:sub>
                            </m:sSub>
                          </m:e>
                        </m:d>
                        <m:r>
                          <a:rPr lang="en-US" altLang="zh-TW" sz="3200" b="0" i="1" smtClean="0">
                            <a:solidFill>
                              <a:prstClr val="black"/>
                            </a:solidFill>
                            <a:latin typeface="Cambria Math"/>
                          </a:rPr>
                          <m:t>⇒</m:t>
                        </m:r>
                        <m:r>
                          <a:rPr lang="en-US" altLang="zh-TW" sz="3200" i="1">
                            <a:solidFill>
                              <a:prstClr val="black"/>
                            </a:solidFill>
                            <a:latin typeface="Cambria Math"/>
                          </a:rPr>
                          <m:t>𝐷</m:t>
                        </m:r>
                      </m:e>
                      <m:sub>
                        <m:r>
                          <a:rPr lang="en-US" altLang="zh-TW" sz="3200" i="1">
                            <a:solidFill>
                              <a:prstClr val="black"/>
                            </a:solidFill>
                            <a:latin typeface="Cambria Math"/>
                          </a:rPr>
                          <m:t>𝑥</m:t>
                        </m:r>
                      </m:sub>
                    </m:sSub>
                    <m:r>
                      <a:rPr lang="en-US" altLang="zh-TW" sz="3200" i="1">
                        <a:solidFill>
                          <a:prstClr val="black"/>
                        </a:solidFill>
                        <a:latin typeface="Cambria Math"/>
                      </a:rPr>
                      <m:t>[</m:t>
                    </m:r>
                    <m:sSub>
                      <m:sSubPr>
                        <m:ctrlPr>
                          <a:rPr lang="en-US" altLang="zh-TW" sz="3200" i="1">
                            <a:solidFill>
                              <a:prstClr val="black"/>
                            </a:solidFill>
                            <a:latin typeface="Cambria Math"/>
                          </a:rPr>
                        </m:ctrlPr>
                      </m:sSubPr>
                      <m:e>
                        <m:r>
                          <a:rPr lang="en-US" altLang="zh-TW" sz="3200" i="1">
                            <a:solidFill>
                              <a:prstClr val="black"/>
                            </a:solidFill>
                            <a:latin typeface="Cambria Math"/>
                          </a:rPr>
                          <m:t>𝑡</m:t>
                        </m:r>
                      </m:e>
                      <m:sub>
                        <m:r>
                          <a:rPr lang="en-US" altLang="zh-TW" sz="3200" i="1">
                            <a:solidFill>
                              <a:prstClr val="black"/>
                            </a:solidFill>
                            <a:latin typeface="Cambria Math"/>
                          </a:rPr>
                          <m:t>𝑖</m:t>
                        </m:r>
                      </m:sub>
                    </m:sSub>
                    <m:r>
                      <a:rPr lang="en-US" altLang="zh-TW" sz="3200" i="1">
                        <a:solidFill>
                          <a:prstClr val="black"/>
                        </a:solidFill>
                        <a:latin typeface="Cambria Math"/>
                      </a:rPr>
                      <m:t>],</m:t>
                    </m:r>
                    <m:sSub>
                      <m:sSubPr>
                        <m:ctrlPr>
                          <a:rPr lang="en-US" altLang="zh-TW" sz="3200" i="1">
                            <a:solidFill>
                              <a:prstClr val="black"/>
                            </a:solidFill>
                            <a:latin typeface="Cambria Math"/>
                          </a:rPr>
                        </m:ctrlPr>
                      </m:sSubPr>
                      <m:e>
                        <m:r>
                          <a:rPr lang="en-US" altLang="zh-TW" sz="3200" i="1">
                            <a:solidFill>
                              <a:prstClr val="black"/>
                            </a:solidFill>
                            <a:latin typeface="Cambria Math"/>
                          </a:rPr>
                          <m:t>𝐷</m:t>
                        </m:r>
                      </m:e>
                      <m:sub>
                        <m:r>
                          <a:rPr lang="en-US" altLang="zh-TW" sz="3200" i="1">
                            <a:solidFill>
                              <a:prstClr val="black"/>
                            </a:solidFill>
                            <a:latin typeface="Cambria Math"/>
                          </a:rPr>
                          <m:t>𝑥</m:t>
                        </m:r>
                      </m:sub>
                    </m:sSub>
                    <m:r>
                      <a:rPr lang="en-US" altLang="zh-TW" sz="3200" i="1">
                        <a:solidFill>
                          <a:prstClr val="black"/>
                        </a:solidFill>
                        <a:latin typeface="Cambria Math"/>
                      </a:rPr>
                      <m:t>[</m:t>
                    </m:r>
                    <m:sSub>
                      <m:sSubPr>
                        <m:ctrlPr>
                          <a:rPr lang="en-US" altLang="zh-TW" sz="3200" i="1">
                            <a:solidFill>
                              <a:prstClr val="black"/>
                            </a:solidFill>
                            <a:latin typeface="Cambria Math"/>
                          </a:rPr>
                        </m:ctrlPr>
                      </m:sSubPr>
                      <m:e>
                        <m:r>
                          <a:rPr lang="en-US" altLang="zh-TW" sz="3200" i="1">
                            <a:solidFill>
                              <a:prstClr val="black"/>
                            </a:solidFill>
                            <a:latin typeface="Cambria Math"/>
                          </a:rPr>
                          <m:t>𝑟</m:t>
                        </m:r>
                      </m:e>
                      <m:sub>
                        <m:r>
                          <a:rPr lang="en-US" altLang="zh-TW" sz="3200" i="1">
                            <a:solidFill>
                              <a:prstClr val="black"/>
                            </a:solidFill>
                            <a:latin typeface="Cambria Math"/>
                          </a:rPr>
                          <m:t>𝑗</m:t>
                        </m:r>
                      </m:sub>
                    </m:sSub>
                    <m:r>
                      <a:rPr lang="en-US" altLang="zh-TW" sz="3200" i="1">
                        <a:solidFill>
                          <a:prstClr val="black"/>
                        </a:solidFill>
                        <a:latin typeface="Cambria Math"/>
                      </a:rPr>
                      <m:t>]</m:t>
                    </m:r>
                  </m:oMath>
                </a14:m>
                <a:endParaRPr lang="en-US" altLang="zh-TW" sz="3000" dirty="0" smtClean="0"/>
              </a:p>
              <a:p>
                <a:endParaRPr lang="zh-TW" altLang="en-US" dirty="0"/>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blipFill rotWithShape="1">
                <a:blip r:embed="rId2"/>
                <a:stretch>
                  <a:fillRect l="-1037" t="-1500"/>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36663376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p:txBody>
              <a:bodyPr>
                <a:normAutofit/>
              </a:bodyPr>
              <a:lstStyle/>
              <a:p>
                <a14:m>
                  <m:oMath xmlns:m="http://schemas.openxmlformats.org/officeDocument/2006/math">
                    <m:sSub>
                      <m:sSubPr>
                        <m:ctrlPr>
                          <a:rPr lang="en-US" altLang="zh-TW" sz="2800" i="1">
                            <a:latin typeface="Cambria Math"/>
                          </a:rPr>
                        </m:ctrlPr>
                      </m:sSubPr>
                      <m:e>
                        <m:r>
                          <a:rPr lang="en-US" altLang="zh-TW" sz="2800" i="1">
                            <a:latin typeface="Cambria Math"/>
                          </a:rPr>
                          <m:t>𝑤</m:t>
                        </m:r>
                      </m:e>
                      <m:sub>
                        <m:r>
                          <a:rPr lang="en-US" altLang="zh-TW" sz="2800" i="1">
                            <a:latin typeface="Cambria Math"/>
                          </a:rPr>
                          <m:t>𝑖</m:t>
                        </m:r>
                      </m:sub>
                    </m:sSub>
                    <m:r>
                      <a:rPr lang="en-US" altLang="zh-TW" sz="2800" i="1">
                        <a:latin typeface="Cambria Math"/>
                      </a:rPr>
                      <m:t>=</m:t>
                    </m:r>
                    <m:f>
                      <m:fPr>
                        <m:ctrlPr>
                          <a:rPr lang="en-US" altLang="zh-TW" sz="2800" i="1">
                            <a:latin typeface="Cambria Math"/>
                          </a:rPr>
                        </m:ctrlPr>
                      </m:fPr>
                      <m:num>
                        <m:sSub>
                          <m:sSubPr>
                            <m:ctrlPr>
                              <a:rPr lang="en-US" altLang="zh-TW" sz="2800" i="1">
                                <a:latin typeface="Cambria Math"/>
                              </a:rPr>
                            </m:ctrlPr>
                          </m:sSubPr>
                          <m:e>
                            <m:r>
                              <a:rPr lang="en-US" altLang="zh-TW" sz="2800" i="1">
                                <a:latin typeface="Cambria Math"/>
                              </a:rPr>
                              <m:t>𝑤</m:t>
                            </m:r>
                          </m:e>
                          <m:sub>
                            <m:r>
                              <a:rPr lang="en-US" altLang="zh-TW" sz="2800" i="1">
                                <a:latin typeface="Cambria Math"/>
                              </a:rPr>
                              <m:t>𝑚𝑎𝑥</m:t>
                            </m:r>
                          </m:sub>
                        </m:sSub>
                      </m:num>
                      <m:den>
                        <m:r>
                          <a:rPr lang="en-US" altLang="zh-TW" sz="2800" i="1">
                            <a:latin typeface="Cambria Math"/>
                          </a:rPr>
                          <m:t>1+</m:t>
                        </m:r>
                        <m:r>
                          <m:rPr>
                            <m:sty m:val="p"/>
                          </m:rPr>
                          <a:rPr lang="en-US" altLang="zh-TW" sz="2800">
                            <a:latin typeface="Cambria Math"/>
                          </a:rPr>
                          <m:t>exp</m:t>
                        </m:r>
                        <m:r>
                          <a:rPr lang="en-US" altLang="zh-TW" sz="2800" i="1">
                            <a:latin typeface="Cambria Math"/>
                          </a:rPr>
                          <m:t>⁡(−</m:t>
                        </m:r>
                        <m:r>
                          <a:rPr lang="en-US" altLang="zh-TW" sz="2800" i="1">
                            <a:latin typeface="Cambria Math"/>
                          </a:rPr>
                          <m:t>𝑔</m:t>
                        </m:r>
                        <m:r>
                          <a:rPr lang="en-US" altLang="zh-TW" sz="2800" i="1">
                            <a:latin typeface="Cambria Math"/>
                          </a:rPr>
                          <m:t>(</m:t>
                        </m:r>
                        <m:r>
                          <a:rPr lang="en-US" altLang="zh-TW" sz="2800" i="1">
                            <a:latin typeface="Cambria Math"/>
                          </a:rPr>
                          <m:t>𝑖</m:t>
                        </m:r>
                        <m:r>
                          <a:rPr lang="en-US" altLang="zh-TW" sz="2800" i="1">
                            <a:latin typeface="Cambria Math"/>
                          </a:rPr>
                          <m:t>−</m:t>
                        </m:r>
                        <m:sSub>
                          <m:sSubPr>
                            <m:ctrlPr>
                              <a:rPr lang="en-US" altLang="zh-TW" sz="2800" i="1">
                                <a:latin typeface="Cambria Math"/>
                              </a:rPr>
                            </m:ctrlPr>
                          </m:sSubPr>
                          <m:e>
                            <m:r>
                              <a:rPr lang="en-US" altLang="zh-TW" sz="2800" i="1">
                                <a:latin typeface="Cambria Math"/>
                              </a:rPr>
                              <m:t>𝑚</m:t>
                            </m:r>
                          </m:e>
                          <m:sub>
                            <m:r>
                              <a:rPr lang="en-US" altLang="zh-TW" sz="2800" i="1">
                                <a:latin typeface="Cambria Math"/>
                              </a:rPr>
                              <m:t>𝑐</m:t>
                            </m:r>
                          </m:sub>
                        </m:sSub>
                        <m:r>
                          <a:rPr lang="en-US" altLang="zh-TW" sz="2800" i="1">
                            <a:latin typeface="Cambria Math"/>
                          </a:rPr>
                          <m:t>))</m:t>
                        </m:r>
                      </m:den>
                    </m:f>
                  </m:oMath>
                </a14:m>
                <a:endParaRPr lang="en-US" altLang="zh-TW" sz="2800" dirty="0" smtClean="0"/>
              </a:p>
              <a:p>
                <a:pPr lvl="1"/>
                <a:r>
                  <a:rPr lang="en-US" altLang="zh-TW" sz="2800" dirty="0"/>
                  <a:t>where </a:t>
                </a:r>
                <a:r>
                  <a:rPr lang="en-US" altLang="zh-TW" sz="2800" dirty="0" err="1"/>
                  <a:t>i</a:t>
                </a:r>
                <a:r>
                  <a:rPr lang="en-US" altLang="zh-TW" sz="2800" dirty="0"/>
                  <a:t>=1~m, m is the length of a sequence </a:t>
                </a:r>
              </a:p>
              <a:p>
                <a:pPr lvl="1"/>
                <a:r>
                  <a:rPr lang="en-US" altLang="zh-TW" sz="2800" dirty="0" err="1" smtClean="0"/>
                  <a:t>Mc</a:t>
                </a:r>
                <a:r>
                  <a:rPr lang="en-US" altLang="zh-TW" sz="2800" dirty="0" smtClean="0"/>
                  <a:t> is the midpoint of a sequence. </a:t>
                </a:r>
              </a:p>
              <a:p>
                <a:pPr lvl="1"/>
                <a:r>
                  <a:rPr lang="en-US" altLang="zh-TW" sz="2800" dirty="0" err="1" smtClean="0"/>
                  <a:t>w</a:t>
                </a:r>
                <a:r>
                  <a:rPr lang="en-US" altLang="zh-TW" sz="2800" baseline="-25000" dirty="0" err="1" smtClean="0"/>
                  <a:t>max</a:t>
                </a:r>
                <a:r>
                  <a:rPr lang="en-US" altLang="zh-TW" sz="2800" dirty="0" smtClean="0"/>
                  <a:t> is the desired upper bound for the weight parameter.</a:t>
                </a:r>
              </a:p>
              <a:p>
                <a:pPr lvl="1"/>
                <a:r>
                  <a:rPr lang="en-US" altLang="zh-TW" sz="2800" dirty="0" smtClean="0"/>
                  <a:t>g </a:t>
                </a:r>
                <a:r>
                  <a:rPr lang="en-US" altLang="zh-TW" sz="2800" dirty="0"/>
                  <a:t>is an empirical constant that controls </a:t>
                </a:r>
                <a:r>
                  <a:rPr lang="en-US" altLang="zh-TW" sz="2800" dirty="0" smtClean="0"/>
                  <a:t>the curvature </a:t>
                </a:r>
                <a:r>
                  <a:rPr lang="en-US" altLang="zh-TW" sz="2800" dirty="0"/>
                  <a:t>(slope) of the function</a:t>
                </a:r>
                <a:endParaRPr lang="zh-TW" altLang="en-US" sz="2800" dirty="0"/>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blipFill rotWithShape="1">
                <a:blip r:embed="rId2"/>
                <a:stretch>
                  <a:fillRect/>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00523877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endParaRPr lang="zh-TW" altLang="en-US"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9632" y="836712"/>
            <a:ext cx="6408712" cy="57341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3496882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pic>
        <p:nvPicPr>
          <p:cNvPr id="307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39888" y="404664"/>
            <a:ext cx="5688632" cy="23340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54176" y="3441389"/>
            <a:ext cx="5663536" cy="26519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文字方塊 3"/>
          <p:cNvSpPr txBox="1"/>
          <p:nvPr/>
        </p:nvSpPr>
        <p:spPr>
          <a:xfrm>
            <a:off x="4253798" y="2820713"/>
            <a:ext cx="720080" cy="369332"/>
          </a:xfrm>
          <a:prstGeom prst="rect">
            <a:avLst/>
          </a:prstGeom>
          <a:noFill/>
        </p:spPr>
        <p:txBody>
          <a:bodyPr wrap="square" rtlCol="0">
            <a:spAutoFit/>
          </a:bodyPr>
          <a:lstStyle/>
          <a:p>
            <a:r>
              <a:rPr lang="en-US" altLang="zh-TW" dirty="0" smtClean="0"/>
              <a:t>DTW</a:t>
            </a:r>
            <a:endParaRPr lang="zh-TW" altLang="en-US" dirty="0"/>
          </a:p>
        </p:txBody>
      </p:sp>
      <p:sp>
        <p:nvSpPr>
          <p:cNvPr id="8" name="文字方塊 7"/>
          <p:cNvSpPr txBox="1"/>
          <p:nvPr/>
        </p:nvSpPr>
        <p:spPr>
          <a:xfrm>
            <a:off x="4240747" y="6112894"/>
            <a:ext cx="927720" cy="369332"/>
          </a:xfrm>
          <a:prstGeom prst="rect">
            <a:avLst/>
          </a:prstGeom>
          <a:noFill/>
        </p:spPr>
        <p:txBody>
          <a:bodyPr wrap="square" rtlCol="0">
            <a:spAutoFit/>
          </a:bodyPr>
          <a:lstStyle/>
          <a:p>
            <a:r>
              <a:rPr lang="en-US" altLang="zh-TW" dirty="0" smtClean="0"/>
              <a:t>WDTW</a:t>
            </a:r>
            <a:endParaRPr lang="zh-TW" altLang="en-US" dirty="0"/>
          </a:p>
        </p:txBody>
      </p:sp>
    </p:spTree>
    <p:extLst>
      <p:ext uri="{BB962C8B-B14F-4D97-AF65-F5344CB8AC3E}">
        <p14:creationId xmlns:p14="http://schemas.microsoft.com/office/powerpoint/2010/main" val="166115735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Experimental results</a:t>
            </a:r>
            <a:endParaRPr lang="zh-TW" altLang="en-US" dirty="0"/>
          </a:p>
        </p:txBody>
      </p:sp>
      <p:sp>
        <p:nvSpPr>
          <p:cNvPr id="3" name="內容版面配置區 2"/>
          <p:cNvSpPr>
            <a:spLocks noGrp="1"/>
          </p:cNvSpPr>
          <p:nvPr>
            <p:ph idx="1"/>
          </p:nvPr>
        </p:nvSpPr>
        <p:spPr/>
        <p:txBody>
          <a:bodyPr/>
          <a:lstStyle/>
          <a:p>
            <a:endParaRPr lang="zh-TW" altLang="en-US"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496" y="1628801"/>
            <a:ext cx="9162152" cy="45108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903187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a:xfrm>
            <a:off x="457200" y="2780928"/>
            <a:ext cx="8229600" cy="2016224"/>
          </a:xfrm>
        </p:spPr>
        <p:txBody>
          <a:bodyPr>
            <a:normAutofit/>
          </a:bodyPr>
          <a:lstStyle/>
          <a:p>
            <a:pPr marL="0" indent="0" algn="ctr">
              <a:buNone/>
            </a:pPr>
            <a:r>
              <a:rPr lang="en-US" altLang="zh-TW" sz="9600" dirty="0" smtClean="0">
                <a:latin typeface="Algerian" pitchFamily="82" charset="0"/>
              </a:rPr>
              <a:t>THE END</a:t>
            </a:r>
            <a:endParaRPr lang="zh-TW" altLang="en-US" sz="9600" dirty="0">
              <a:latin typeface="Algerian" pitchFamily="82" charset="0"/>
            </a:endParaRPr>
          </a:p>
        </p:txBody>
      </p:sp>
    </p:spTree>
    <p:extLst>
      <p:ext uri="{BB962C8B-B14F-4D97-AF65-F5344CB8AC3E}">
        <p14:creationId xmlns:p14="http://schemas.microsoft.com/office/powerpoint/2010/main" val="1444841922"/>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清晰度">
  <a:themeElements>
    <a:clrScheme name="清晰度">
      <a:dk1>
        <a:srgbClr val="292934"/>
      </a:dk1>
      <a:lt1>
        <a:srgbClr val="FFFFFF"/>
      </a:lt1>
      <a:dk2>
        <a:srgbClr val="D2533C"/>
      </a:dk2>
      <a:lt2>
        <a:srgbClr val="F3F2DC"/>
      </a:lt2>
      <a:accent1>
        <a:srgbClr val="93A299"/>
      </a:accent1>
      <a:accent2>
        <a:srgbClr val="AD8F67"/>
      </a:accent2>
      <a:accent3>
        <a:srgbClr val="726056"/>
      </a:accent3>
      <a:accent4>
        <a:srgbClr val="4C5A6A"/>
      </a:accent4>
      <a:accent5>
        <a:srgbClr val="808DA0"/>
      </a:accent5>
      <a:accent6>
        <a:srgbClr val="79463D"/>
      </a:accent6>
      <a:hlink>
        <a:srgbClr val="0000FF"/>
      </a:hlink>
      <a:folHlink>
        <a:srgbClr val="800080"/>
      </a:folHlink>
    </a:clrScheme>
    <a:fontScheme name="Office 古典 2">
      <a:maj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清晰度">
      <a:fillStyleLst>
        <a:solidFill>
          <a:schemeClr val="phClr"/>
        </a:solidFill>
        <a:gradFill rotWithShape="1">
          <a:gsLst>
            <a:gs pos="0">
              <a:schemeClr val="phClr">
                <a:tint val="50000"/>
                <a:shade val="86000"/>
                <a:satMod val="140000"/>
              </a:schemeClr>
            </a:gs>
            <a:gs pos="45000">
              <a:schemeClr val="phClr">
                <a:tint val="48000"/>
                <a:satMod val="150000"/>
              </a:schemeClr>
            </a:gs>
            <a:gs pos="100000">
              <a:schemeClr val="phClr">
                <a:tint val="28000"/>
                <a:satMod val="160000"/>
              </a:schemeClr>
            </a:gs>
          </a:gsLst>
          <a:path path="circle">
            <a:fillToRect l="100000" t="100000" r="100000" b="100000"/>
          </a:path>
        </a:gradFill>
        <a:gradFill rotWithShape="1">
          <a:gsLst>
            <a:gs pos="0">
              <a:schemeClr val="phClr">
                <a:shade val="70000"/>
                <a:satMod val="150000"/>
              </a:schemeClr>
            </a:gs>
            <a:gs pos="34000">
              <a:schemeClr val="phClr">
                <a:shade val="70000"/>
                <a:satMod val="140000"/>
              </a:schemeClr>
            </a:gs>
            <a:gs pos="70000">
              <a:schemeClr val="phClr">
                <a:tint val="100000"/>
                <a:shade val="90000"/>
                <a:satMod val="140000"/>
              </a:schemeClr>
            </a:gs>
            <a:gs pos="100000">
              <a:schemeClr val="phClr">
                <a:tint val="100000"/>
                <a:shade val="100000"/>
                <a:satMod val="100000"/>
              </a:schemeClr>
            </a:gs>
          </a:gsLst>
          <a:path path="circle">
            <a:fillToRect l="100000" t="100000" r="100000" b="100000"/>
          </a:path>
        </a:gradFill>
      </a:fillStyleLst>
      <a:lnStyleLst>
        <a:ln w="9525" cap="flat" cmpd="sng" algn="ctr">
          <a:solidFill>
            <a:schemeClr val="phClr"/>
          </a:solidFill>
          <a:prstDash val="solid"/>
        </a:ln>
        <a:ln w="26425" cap="flat" cmpd="sng" algn="ctr">
          <a:solidFill>
            <a:schemeClr val="phClr"/>
          </a:solidFill>
          <a:prstDash val="solid"/>
        </a:ln>
        <a:ln w="4445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hade val="30000"/>
                <a:satMod val="130000"/>
              </a:schemeClr>
            </a:contourClr>
          </a:sp3d>
        </a:effectStyle>
      </a:effectStyleLst>
      <a:bgFillStyleLst>
        <a:solidFill>
          <a:schemeClr val="phClr"/>
        </a:solidFill>
        <a:gradFill rotWithShape="1">
          <a:gsLst>
            <a:gs pos="0">
              <a:schemeClr val="phClr">
                <a:tint val="85000"/>
                <a:satMod val="180000"/>
              </a:schemeClr>
            </a:gs>
            <a:gs pos="40000">
              <a:schemeClr val="phClr">
                <a:tint val="95000"/>
                <a:shade val="85000"/>
                <a:satMod val="150000"/>
              </a:schemeClr>
            </a:gs>
            <a:gs pos="100000">
              <a:schemeClr val="phClr">
                <a:shade val="45000"/>
                <a:satMod val="200000"/>
              </a:schemeClr>
            </a:gs>
          </a:gsLst>
          <a:lin ang="5400000" scaled="0"/>
        </a:gradFill>
        <a:blipFill rotWithShape="1">
          <a:blip xmlns:r="http://schemas.openxmlformats.org/officeDocument/2006/relationships" r:embed="rId1">
            <a:duotone>
              <a:schemeClr val="phClr">
                <a:shade val="55000"/>
              </a:schemeClr>
              <a:schemeClr val="phClr">
                <a:tint val="97000"/>
                <a:satMod val="95000"/>
              </a:schemeClr>
            </a:duotone>
          </a:blip>
          <a:tile tx="0" ty="0" sx="70000" sy="7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Clarity</Template>
  <TotalTime>158</TotalTime>
  <Words>730</Words>
  <Application>Microsoft Office PowerPoint</Application>
  <PresentationFormat>如螢幕大小 (4:3)</PresentationFormat>
  <Paragraphs>34</Paragraphs>
  <Slides>13</Slides>
  <Notes>0</Notes>
  <HiddenSlides>0</HiddenSlides>
  <MMClips>0</MMClips>
  <ScaleCrop>false</ScaleCrop>
  <HeadingPairs>
    <vt:vector size="4" baseType="variant">
      <vt:variant>
        <vt:lpstr>佈景主題</vt:lpstr>
      </vt:variant>
      <vt:variant>
        <vt:i4>1</vt:i4>
      </vt:variant>
      <vt:variant>
        <vt:lpstr>投影片標題</vt:lpstr>
      </vt:variant>
      <vt:variant>
        <vt:i4>13</vt:i4>
      </vt:variant>
    </vt:vector>
  </HeadingPairs>
  <TitlesOfParts>
    <vt:vector size="14" baseType="lpstr">
      <vt:lpstr>清晰度</vt:lpstr>
      <vt:lpstr>Weighted dynamic time warping for time series classiFIcation</vt:lpstr>
      <vt:lpstr>Abstract</vt:lpstr>
      <vt:lpstr>PowerPoint 簡報</vt:lpstr>
      <vt:lpstr>PowerPoint 簡報</vt:lpstr>
      <vt:lpstr>Dynamic time warping (DTW)</vt:lpstr>
      <vt:lpstr>Local Path Constraint</vt:lpstr>
      <vt:lpstr>Derivative DTW (DDTW)</vt:lpstr>
      <vt:lpstr>Weighted DTW</vt:lpstr>
      <vt:lpstr>PowerPoint 簡報</vt:lpstr>
      <vt:lpstr>PowerPoint 簡報</vt:lpstr>
      <vt:lpstr>PowerPoint 簡報</vt:lpstr>
      <vt:lpstr>Experimental results</vt:lpstr>
      <vt:lpstr>PowerPoint 簡報</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LCH</dc:creator>
  <cp:lastModifiedBy>LCH</cp:lastModifiedBy>
  <cp:revision>27</cp:revision>
  <dcterms:created xsi:type="dcterms:W3CDTF">2012-10-08T22:58:40Z</dcterms:created>
  <dcterms:modified xsi:type="dcterms:W3CDTF">2012-10-23T07:34:49Z</dcterms:modified>
</cp:coreProperties>
</file>