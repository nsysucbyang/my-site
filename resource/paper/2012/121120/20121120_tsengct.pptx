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1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66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27477-BCCC-4654-A2AC-EB07D4060DFD}" type="datetimeFigureOut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E2CC9-F3C1-4E59-9E35-9BD0284E06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316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圓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EFAB5-8225-4026-9DCE-E713616A589D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6080-873D-4AD2-AC6F-F40ABAADF80D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圓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8F63E-E4EC-4574-ADE2-B7C9B4759400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A5E7A-43EA-476D-A369-FFC3C164E794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02917-ABA1-49C3-88D5-048CC6ECA1F1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B378-191A-43FB-8B95-FF87950AD287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3A5C-8E01-49B5-A7F5-EF8D0621D29E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圓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3862FD-B7E6-483B-B259-C53B6B3B1F20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AF7D-E317-4738-8548-40EF6ABC1AE7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358DC-86DB-4436-9700-8B85F9276DEF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17B22-1A0A-4343-BB5A-962A9AF21D22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圓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5CA2A5D-11CB-4546-8203-7CFB61BC7B8A}" type="datetime1">
              <a:rPr lang="zh-TW" altLang="en-US" smtClean="0"/>
              <a:t>11/20/2012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1EEF91B-738D-4AC1-BEE0-9661B458BF4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2820888"/>
          </a:xfrm>
        </p:spPr>
        <p:txBody>
          <a:bodyPr/>
          <a:lstStyle/>
          <a:p>
            <a:r>
              <a:rPr lang="en-US" altLang="zh-TW" dirty="0" err="1"/>
              <a:t>Minghui</a:t>
            </a:r>
            <a:r>
              <a:rPr lang="en-US" altLang="zh-TW" dirty="0"/>
              <a:t> </a:t>
            </a:r>
            <a:r>
              <a:rPr lang="en-US" altLang="zh-TW" dirty="0" smtClean="0"/>
              <a:t>Jiang(</a:t>
            </a:r>
            <a:r>
              <a:rPr lang="zh-TW" altLang="en-US" dirty="0" smtClean="0"/>
              <a:t>江銘輝</a:t>
            </a:r>
            <a:r>
              <a:rPr lang="en-US" altLang="zh-TW" dirty="0" smtClean="0"/>
              <a:t>)</a:t>
            </a:r>
          </a:p>
          <a:p>
            <a:r>
              <a:rPr lang="en-US" altLang="zh-TW" dirty="0"/>
              <a:t>Journal of Computer and System Sciences </a:t>
            </a:r>
            <a:r>
              <a:rPr lang="en-US" altLang="zh-TW" dirty="0" smtClean="0"/>
              <a:t>Vol. 78, pp. 689–697, 2012</a:t>
            </a:r>
          </a:p>
          <a:p>
            <a:r>
              <a:rPr lang="en-US" altLang="zh-TW" dirty="0" smtClean="0"/>
              <a:t>Presenter: </a:t>
            </a:r>
            <a:r>
              <a:rPr lang="en-US" altLang="zh-TW" dirty="0" err="1" smtClean="0"/>
              <a:t>Chiou</a:t>
            </a:r>
            <a:r>
              <a:rPr lang="en-US" altLang="zh-TW" dirty="0" smtClean="0"/>
              <a:t>-Ting Tseng</a:t>
            </a:r>
          </a:p>
          <a:p>
            <a:r>
              <a:rPr lang="en-US" altLang="zh-TW" dirty="0" smtClean="0"/>
              <a:t>Date: Nov. 20, 2012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err="1"/>
              <a:t>Approximability</a:t>
            </a:r>
            <a:r>
              <a:rPr lang="en-US" altLang="zh-TW" dirty="0"/>
              <a:t> of </a:t>
            </a:r>
            <a:r>
              <a:rPr lang="en-US" altLang="zh-TW" dirty="0" smtClean="0"/>
              <a:t>Constrained </a:t>
            </a:r>
            <a:r>
              <a:rPr lang="en-US" altLang="zh-TW" dirty="0"/>
              <a:t>LCS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1911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zh-TW" dirty="0" smtClean="0"/>
                  <a:t>The problem Constrained Longest Common Subsequence is a natural extension to the classical </a:t>
                </a:r>
                <a:r>
                  <a:rPr lang="en-US" altLang="zh-TW" dirty="0"/>
                  <a:t>problem Longest Common Subsequence, and has important applications </a:t>
                </a:r>
                <a:r>
                  <a:rPr lang="en-US" altLang="zh-TW" dirty="0" smtClean="0"/>
                  <a:t>to bioinformatics</a:t>
                </a:r>
                <a:r>
                  <a:rPr lang="en-US" altLang="zh-TW" dirty="0"/>
                  <a:t>. Given </a:t>
                </a:r>
                <a:r>
                  <a:rPr lang="en-US" altLang="zh-TW" i="1" dirty="0"/>
                  <a:t>k </a:t>
                </a:r>
                <a:r>
                  <a:rPr lang="en-US" altLang="zh-TW" dirty="0"/>
                  <a:t>input sequences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</a:t>
                </a:r>
                <a:r>
                  <a:rPr lang="en-US" altLang="zh-TW" i="1" dirty="0"/>
                  <a:t>, . . . , </a:t>
                </a:r>
                <a:r>
                  <a:rPr lang="en-US" altLang="zh-TW" i="1" dirty="0" err="1"/>
                  <a:t>A</a:t>
                </a:r>
                <a:r>
                  <a:rPr lang="en-US" altLang="zh-TW" i="1" baseline="-25000" dirty="0" err="1"/>
                  <a:t>k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l </a:t>
                </a:r>
                <a:r>
                  <a:rPr lang="en-US" altLang="zh-TW" dirty="0"/>
                  <a:t>constraint sequences 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1</a:t>
                </a:r>
                <a:r>
                  <a:rPr lang="en-US" altLang="zh-TW" i="1" dirty="0"/>
                  <a:t>, . . . , </a:t>
                </a:r>
                <a:r>
                  <a:rPr lang="en-US" altLang="zh-TW" i="1" dirty="0" err="1"/>
                  <a:t>B</a:t>
                </a:r>
                <a:r>
                  <a:rPr lang="en-US" altLang="zh-TW" i="1" baseline="-25000" dirty="0" err="1"/>
                  <a:t>l</a:t>
                </a:r>
                <a:r>
                  <a:rPr lang="en-US" altLang="zh-TW" i="1" dirty="0"/>
                  <a:t> </a:t>
                </a:r>
                <a:r>
                  <a:rPr lang="en-US" altLang="zh-TW" dirty="0" smtClean="0"/>
                  <a:t>, C-LCS(</a:t>
                </a:r>
                <a:r>
                  <a:rPr lang="en-US" altLang="zh-TW" i="1" dirty="0" smtClean="0"/>
                  <a:t>k</a:t>
                </a:r>
                <a:r>
                  <a:rPr lang="en-US" altLang="zh-TW" i="1" dirty="0"/>
                  <a:t>, l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is the problem of finding a longest common subsequence of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</a:t>
                </a:r>
                <a:r>
                  <a:rPr lang="en-US" altLang="zh-TW" i="1" dirty="0"/>
                  <a:t>, . . . , </a:t>
                </a:r>
                <a:r>
                  <a:rPr lang="en-US" altLang="zh-TW" i="1" dirty="0" err="1"/>
                  <a:t>A</a:t>
                </a:r>
                <a:r>
                  <a:rPr lang="en-US" altLang="zh-TW" i="1" baseline="-25000" dirty="0" err="1"/>
                  <a:t>k</a:t>
                </a:r>
                <a:r>
                  <a:rPr lang="en-US" altLang="zh-TW" i="1" dirty="0"/>
                  <a:t> </a:t>
                </a:r>
                <a:r>
                  <a:rPr lang="en-US" altLang="zh-TW" dirty="0" smtClean="0"/>
                  <a:t>that is </a:t>
                </a:r>
                <a:r>
                  <a:rPr lang="en-US" altLang="zh-TW" dirty="0"/>
                  <a:t>also a common </a:t>
                </a:r>
                <a:r>
                  <a:rPr lang="en-US" altLang="zh-TW" dirty="0" err="1"/>
                  <a:t>supersequence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1</a:t>
                </a:r>
                <a:r>
                  <a:rPr lang="en-US" altLang="zh-TW" i="1" dirty="0"/>
                  <a:t>, . . . , </a:t>
                </a:r>
                <a:r>
                  <a:rPr lang="en-US" altLang="zh-TW" i="1" dirty="0" err="1"/>
                  <a:t>B</a:t>
                </a:r>
                <a:r>
                  <a:rPr lang="en-US" altLang="zh-TW" i="1" baseline="-25000" dirty="0" err="1"/>
                  <a:t>l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. </a:t>
                </a:r>
                <a:r>
                  <a:rPr lang="en-US" altLang="zh-TW" dirty="0" err="1"/>
                  <a:t>Gotthilf</a:t>
                </a:r>
                <a:r>
                  <a:rPr lang="en-US" altLang="zh-TW" dirty="0"/>
                  <a:t> et al. gave a </a:t>
                </a:r>
                <a:r>
                  <a:rPr lang="en-US" altLang="zh-TW" dirty="0" smtClean="0"/>
                  <a:t>polynomial-time algorithm </a:t>
                </a:r>
                <a:r>
                  <a:rPr lang="en-US" altLang="zh-TW" dirty="0"/>
                  <a:t>that approximates C-LCS(</a:t>
                </a:r>
                <a:r>
                  <a:rPr lang="en-US" altLang="zh-TW" i="1" dirty="0"/>
                  <a:t>k, </a:t>
                </a:r>
                <a:r>
                  <a:rPr lang="en-US" altLang="zh-TW" dirty="0"/>
                  <a:t>1)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within a </a:t>
                </a:r>
                <a:r>
                  <a:rPr lang="en-US" altLang="zh-TW" dirty="0" smtClean="0"/>
                  <a:t>factor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i="1" smtClean="0">
                            <a:latin typeface="Cambria Math"/>
                          </a:rPr>
                        </m:ctrlPr>
                      </m:radPr>
                      <m:deg/>
                      <m:e>
                        <m:acc>
                          <m:accPr>
                            <m:chr m:val="̂"/>
                            <m:ctrlPr>
                              <a:rPr lang="zh-TW" altLang="en-US" i="1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𝑚</m:t>
                            </m:r>
                          </m:e>
                        </m:acc>
                        <m:r>
                          <a:rPr lang="en-US" altLang="zh-TW" b="0" i="1" smtClean="0">
                            <a:latin typeface="Cambria Math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zh-TW" b="0" i="1" smtClean="0">
                            <a:latin typeface="Cambria Math"/>
                          </a:rPr>
                          <m:t>Σ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|</m:t>
                        </m:r>
                      </m:e>
                    </m:rad>
                  </m:oMath>
                </a14:m>
                <a:r>
                  <a:rPr lang="en-US" altLang="zh-TW" dirty="0" smtClean="0"/>
                  <a:t>, </a:t>
                </a:r>
                <a:r>
                  <a:rPr lang="en-US" altLang="zh-TW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i="1" dirty="0"/>
                  <a:t> </a:t>
                </a:r>
                <a:r>
                  <a:rPr lang="en-US" altLang="zh-TW" dirty="0"/>
                  <a:t>is the </a:t>
                </a:r>
                <a:r>
                  <a:rPr lang="en-US" altLang="zh-TW" dirty="0" smtClean="0"/>
                  <a:t>length of </a:t>
                </a:r>
                <a:r>
                  <a:rPr lang="en-US" altLang="zh-TW" dirty="0"/>
                  <a:t>the shortest input sequence and |</a:t>
                </a:r>
                <a:r>
                  <a:rPr lang="en-US" altLang="zh-TW" i="1" dirty="0"/>
                  <a:t>Σ</a:t>
                </a:r>
                <a:r>
                  <a:rPr lang="en-US" altLang="zh-TW" dirty="0"/>
                  <a:t>| is the alphabet size. They asked whether there are better approximation algorithms and whether there exists a lower bound.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49" t="-1067" r="-1804" b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452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altLang="zh-TW" sz="2400" dirty="0" smtClean="0"/>
                  <a:t>In </a:t>
                </a:r>
                <a:r>
                  <a:rPr lang="en-US" altLang="zh-TW" sz="2400" dirty="0"/>
                  <a:t>this paper, we answer their questions by showing that their approximation factor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sz="2400" i="1">
                            <a:latin typeface="Cambria Math"/>
                          </a:rPr>
                        </m:ctrlPr>
                      </m:radPr>
                      <m:deg/>
                      <m:e>
                        <m:acc>
                          <m:accPr>
                            <m:chr m:val="̂"/>
                            <m:ctrlPr>
                              <a:rPr lang="zh-TW" altLang="en-US" sz="2400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sz="2400" i="1">
                                <a:latin typeface="Cambria Math"/>
                              </a:rPr>
                              <m:t>𝑚</m:t>
                            </m:r>
                          </m:e>
                        </m:acc>
                        <m:r>
                          <a:rPr lang="en-US" altLang="zh-TW" sz="2400" i="1">
                            <a:latin typeface="Cambria Math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zh-TW" sz="2400" i="1">
                            <a:latin typeface="Cambria Math"/>
                          </a:rPr>
                          <m:t>Σ</m:t>
                        </m:r>
                        <m:r>
                          <a:rPr lang="en-US" altLang="zh-TW" sz="2400" i="1">
                            <a:latin typeface="Cambria Math"/>
                          </a:rPr>
                          <m:t>|</m:t>
                        </m:r>
                      </m:e>
                    </m:rad>
                  </m:oMath>
                </a14:m>
                <a:r>
                  <a:rPr lang="en-US" altLang="zh-TW" sz="2400" dirty="0" smtClean="0"/>
                  <a:t> </a:t>
                </a:r>
                <a:r>
                  <a:rPr lang="en-US" altLang="zh-TW" sz="2400" dirty="0"/>
                  <a:t>is in fact already very close to optimal although a small improvement is still possible</a:t>
                </a:r>
                <a:r>
                  <a:rPr lang="en-US" altLang="zh-TW" sz="2400" dirty="0" smtClean="0"/>
                  <a:t>:</a:t>
                </a:r>
              </a:p>
              <a:p>
                <a:pPr marL="788670" lvl="1" indent="-514350">
                  <a:buFont typeface="+mj-lt"/>
                  <a:buAutoNum type="arabicPeriod"/>
                </a:pPr>
                <a:r>
                  <a:rPr lang="en-US" altLang="zh-TW" dirty="0"/>
                  <a:t>For any computable function f and any </a:t>
                </a:r>
                <a:r>
                  <a:rPr lang="el-GR" altLang="zh-TW" dirty="0" smtClean="0">
                    <a:latin typeface="Cambria Math"/>
                    <a:ea typeface="Cambria Math"/>
                  </a:rPr>
                  <a:t>ε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&gt; 0, there is no polynomial-time </a:t>
                </a:r>
                <a:r>
                  <a:rPr lang="en-US" altLang="zh-TW" dirty="0" smtClean="0"/>
                  <a:t>algorithm that </a:t>
                </a:r>
                <a:r>
                  <a:rPr lang="en-US" altLang="zh-TW" dirty="0"/>
                  <a:t>approximates C-LCS(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, 1) within a factor 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 (|Σ</a:t>
                </a:r>
                <a:r>
                  <a:rPr lang="en-US" altLang="zh-TW" dirty="0" smtClean="0"/>
                  <a:t>|)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en-US" altLang="zh-TW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baseline="30000" dirty="0"/>
                  <a:t>1/2</a:t>
                </a:r>
                <a:r>
                  <a:rPr lang="en-US" altLang="zh-TW" baseline="30000" dirty="0" smtClean="0"/>
                  <a:t>−</a:t>
                </a:r>
                <a:r>
                  <a:rPr lang="el-GR" altLang="zh-TW" baseline="30000" dirty="0">
                    <a:latin typeface="Cambria Math"/>
                    <a:ea typeface="Cambria Math"/>
                  </a:rPr>
                  <a:t> ε 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unless NP = P. </a:t>
                </a:r>
                <a:r>
                  <a:rPr lang="en-US" altLang="zh-TW" dirty="0" smtClean="0"/>
                  <a:t>Moreover, this </a:t>
                </a:r>
                <a:r>
                  <a:rPr lang="en-US" altLang="zh-TW" dirty="0"/>
                  <a:t>holds even if the constraint sequence is unary</a:t>
                </a:r>
                <a:r>
                  <a:rPr lang="en-US" altLang="zh-TW" dirty="0" smtClean="0"/>
                  <a:t>.</a:t>
                </a:r>
              </a:p>
              <a:p>
                <a:pPr marL="788670" lvl="1" indent="-514350">
                  <a:buFont typeface="+mj-lt"/>
                  <a:buAutoNum type="arabicPeriod"/>
                </a:pPr>
                <a:r>
                  <a:rPr lang="en-US" altLang="zh-TW" dirty="0"/>
                  <a:t>There is a polynomial-time randomized algorithm that approximates C-LCS(</a:t>
                </a:r>
                <a:r>
                  <a:rPr lang="en-US" altLang="zh-TW" i="1" dirty="0"/>
                  <a:t>k, </a:t>
                </a:r>
                <a:r>
                  <a:rPr lang="en-US" altLang="zh-TW" dirty="0"/>
                  <a:t>1) within a factor |</a:t>
                </a:r>
                <a:r>
                  <a:rPr lang="el-GR" altLang="zh-TW" i="1" dirty="0"/>
                  <a:t>Σ</a:t>
                </a:r>
                <a:r>
                  <a:rPr lang="el-GR" altLang="zh-TW" dirty="0"/>
                  <a:t>| · </a:t>
                </a:r>
                <a:r>
                  <a:rPr lang="en-US" altLang="zh-TW" dirty="0"/>
                  <a:t>O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/>
                          </a:rPr>
                          <m:t>𝑂𝑃𝑇</m:t>
                        </m:r>
                        <m:func>
                          <m:func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𝑂𝑃𝑇</m:t>
                                </m:r>
                              </m:e>
                            </m:func>
                            <m:r>
                              <a:rPr lang="en-US" altLang="zh-TW" i="1">
                                <a:latin typeface="Cambria Math"/>
                              </a:rPr>
                              <m:t>/</m:t>
                            </m:r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𝑂𝑃𝑇</m:t>
                                </m:r>
                              </m:e>
                            </m:func>
                          </m:e>
                        </m:func>
                      </m:e>
                    </m:rad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with high probability, where OPT is the length of the optimal solution, OPT ≤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en-US" altLang="zh-TW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49" t="-1067" r="-1333" b="-65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954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274320" lvl="1" indent="0">
                  <a:buNone/>
                </a:pPr>
                <a:r>
                  <a:rPr lang="en-US" altLang="zh-TW" dirty="0" smtClean="0"/>
                  <a:t>For </a:t>
                </a:r>
                <a:r>
                  <a:rPr lang="en-US" altLang="zh-TW" dirty="0"/>
                  <a:t>the problem over an alphabet of arbitrary size, we show that</a:t>
                </a:r>
              </a:p>
              <a:p>
                <a:pPr marL="731520" lvl="1" indent="-457200">
                  <a:buFont typeface="+mj-lt"/>
                  <a:buAutoNum type="arabicPeriod" startAt="3"/>
                </a:pPr>
                <a:r>
                  <a:rPr lang="en-US" altLang="zh-TW" dirty="0" smtClean="0"/>
                  <a:t>For </a:t>
                </a:r>
                <a:r>
                  <a:rPr lang="en-US" altLang="zh-TW" dirty="0"/>
                  <a:t>any </a:t>
                </a:r>
                <a:r>
                  <a:rPr lang="el-GR" altLang="zh-TW" dirty="0">
                    <a:latin typeface="Cambria Math"/>
                    <a:ea typeface="Cambria Math"/>
                  </a:rPr>
                  <a:t>ε 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&gt; 0, there is no polynomial-time algorithm that approximates C-LCS(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1) within </a:t>
                </a:r>
                <a:r>
                  <a:rPr lang="en-US" altLang="zh-TW" dirty="0"/>
                  <a:t>a factor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en-US" altLang="zh-TW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baseline="30000" dirty="0"/>
                  <a:t>1</a:t>
                </a:r>
                <a:r>
                  <a:rPr lang="en-US" altLang="zh-TW" baseline="30000" dirty="0" smtClean="0"/>
                  <a:t>−</a:t>
                </a:r>
                <a:r>
                  <a:rPr lang="el-GR" altLang="zh-TW" baseline="30000" dirty="0" smtClean="0">
                    <a:latin typeface="Cambria Math"/>
                    <a:ea typeface="Cambria Math"/>
                  </a:rPr>
                  <a:t>ε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unless NP = </a:t>
                </a:r>
                <a:r>
                  <a:rPr lang="en-US" altLang="zh-TW" dirty="0" smtClean="0"/>
                  <a:t>P.</a:t>
                </a:r>
              </a:p>
              <a:p>
                <a:pPr marL="731520" lvl="1" indent="-457200">
                  <a:buFont typeface="+mj-lt"/>
                  <a:buAutoNum type="arabicPeriod" startAt="3"/>
                </a:pPr>
                <a:r>
                  <a:rPr lang="en-US" altLang="zh-TW" dirty="0" smtClean="0"/>
                  <a:t>There </a:t>
                </a:r>
                <a:r>
                  <a:rPr lang="en-US" altLang="zh-TW" dirty="0"/>
                  <a:t>is a polynomial-time algorithm that approximates C-LCS(k, 1) within a </a:t>
                </a:r>
                <a:r>
                  <a:rPr lang="en-US" altLang="zh-TW" dirty="0" smtClean="0"/>
                  <a:t>factor O</a:t>
                </a:r>
                <a:r>
                  <a:rPr lang="en-US" altLang="zh-TW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dirty="0"/>
                  <a:t>/log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dirty="0"/>
                  <a:t>).</a:t>
                </a:r>
                <a:endParaRPr lang="en-US" altLang="zh-TW" dirty="0" smtClean="0"/>
              </a:p>
              <a:p>
                <a:pPr marL="274320" lvl="1" indent="0">
                  <a:buNone/>
                </a:pPr>
                <a:r>
                  <a:rPr lang="en-US" altLang="zh-TW" dirty="0"/>
                  <a:t>We also present some complementary results on exact and parameterized algorithms </a:t>
                </a:r>
                <a:r>
                  <a:rPr lang="en-US" altLang="zh-TW" dirty="0" smtClean="0"/>
                  <a:t>for C-LCS(</a:t>
                </a:r>
                <a:r>
                  <a:rPr lang="en-US" altLang="zh-TW" i="1" dirty="0" smtClean="0"/>
                  <a:t>k</a:t>
                </a:r>
                <a:r>
                  <a:rPr lang="en-US" altLang="zh-TW" dirty="0"/>
                  <a:t>, 1).</a:t>
                </a:r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1067" r="-8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780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C-LCS(</a:t>
            </a:r>
            <a:r>
              <a:rPr lang="en-US" altLang="zh-TW" b="1" i="1" dirty="0"/>
              <a:t>k, l</a:t>
            </a:r>
            <a:r>
              <a:rPr lang="en-US" altLang="zh-TW" b="1" dirty="0"/>
              <a:t>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b="1" dirty="0" smtClean="0"/>
                  <a:t>Instance: </a:t>
                </a:r>
                <a:r>
                  <a:rPr lang="en-US" altLang="zh-TW" i="1" dirty="0"/>
                  <a:t>k </a:t>
                </a:r>
                <a:r>
                  <a:rPr lang="en-US" altLang="zh-TW" dirty="0"/>
                  <a:t>input sequences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</a:t>
                </a:r>
                <a:r>
                  <a:rPr lang="en-US" altLang="zh-TW" i="1" dirty="0"/>
                  <a:t>, . . . , </a:t>
                </a:r>
                <a:r>
                  <a:rPr lang="en-US" altLang="zh-TW" i="1" dirty="0" err="1"/>
                  <a:t>A</a:t>
                </a:r>
                <a:r>
                  <a:rPr lang="en-US" altLang="zh-TW" i="1" baseline="-25000" dirty="0" err="1"/>
                  <a:t>k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l </a:t>
                </a:r>
                <a:r>
                  <a:rPr lang="en-US" altLang="zh-TW" dirty="0"/>
                  <a:t>constraint sequences </a:t>
                </a:r>
                <a:r>
                  <a:rPr lang="en-US" altLang="zh-TW" i="1" dirty="0"/>
                  <a:t>B</a:t>
                </a:r>
                <a:r>
                  <a:rPr lang="en-US" altLang="zh-TW" baseline="-25000" dirty="0"/>
                  <a:t>1</a:t>
                </a:r>
                <a:r>
                  <a:rPr lang="en-US" altLang="zh-TW" i="1" dirty="0"/>
                  <a:t>, . . . , </a:t>
                </a:r>
                <a:r>
                  <a:rPr lang="en-US" altLang="zh-TW" i="1" dirty="0" err="1"/>
                  <a:t>B</a:t>
                </a:r>
                <a:r>
                  <a:rPr lang="en-US" altLang="zh-TW" i="1" baseline="-25000" dirty="0" err="1"/>
                  <a:t>l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over an alphabet </a:t>
                </a:r>
                <a:r>
                  <a:rPr lang="en-US" altLang="zh-TW" i="1" dirty="0"/>
                  <a:t>Σ</a:t>
                </a:r>
                <a:r>
                  <a:rPr lang="en-US" altLang="zh-TW" dirty="0"/>
                  <a:t>, where </a:t>
                </a:r>
                <a:r>
                  <a:rPr lang="en-US" altLang="zh-TW" i="1" dirty="0" smtClean="0"/>
                  <a:t>k</a:t>
                </a:r>
                <a:r>
                  <a:rPr lang="zh-TW" altLang="en-US" i="1" dirty="0" smtClean="0"/>
                  <a:t> </a:t>
                </a:r>
                <a:r>
                  <a:rPr lang="en-US" altLang="zh-TW" i="1" dirty="0" smtClean="0"/>
                  <a:t>≥</a:t>
                </a:r>
                <a:r>
                  <a:rPr lang="zh-TW" altLang="en-US" i="1" dirty="0" smtClean="0"/>
                  <a:t> </a:t>
                </a:r>
                <a:r>
                  <a:rPr lang="en-US" altLang="zh-TW" dirty="0" smtClean="0"/>
                  <a:t>2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l ≥ </a:t>
                </a:r>
                <a:r>
                  <a:rPr lang="en-US" altLang="zh-TW" dirty="0" smtClean="0"/>
                  <a:t>1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and</a:t>
                </a:r>
                <a:r>
                  <a:rPr lang="zh-TW" altLang="en-US" dirty="0" smtClean="0"/>
                  <a:t> </a:t>
                </a:r>
                <a:r>
                  <a:rPr lang="el-GR" altLang="zh-TW" dirty="0" smtClean="0"/>
                  <a:t>|</a:t>
                </a:r>
                <a:r>
                  <a:rPr lang="el-GR" altLang="zh-TW" i="1" dirty="0" smtClean="0"/>
                  <a:t>Σ</a:t>
                </a:r>
                <a:r>
                  <a:rPr lang="el-GR" altLang="zh-TW" dirty="0" smtClean="0"/>
                  <a:t>|</a:t>
                </a:r>
                <a:r>
                  <a:rPr lang="en-US" altLang="zh-TW" i="1" dirty="0"/>
                  <a:t> ≥ </a:t>
                </a:r>
                <a:r>
                  <a:rPr lang="el-GR" altLang="zh-TW" dirty="0" smtClean="0"/>
                  <a:t>2</a:t>
                </a:r>
                <a:r>
                  <a:rPr lang="el-GR" altLang="zh-TW" dirty="0"/>
                  <a:t>.</a:t>
                </a:r>
              </a:p>
              <a:p>
                <a:r>
                  <a:rPr lang="en-US" altLang="zh-TW" b="1" dirty="0"/>
                  <a:t>Problem: </a:t>
                </a:r>
                <a:r>
                  <a:rPr lang="en-US" altLang="zh-TW" dirty="0"/>
                  <a:t>Find a longest sequence </a:t>
                </a:r>
                <a:r>
                  <a:rPr lang="en-US" altLang="zh-TW" i="1" dirty="0"/>
                  <a:t>C </a:t>
                </a:r>
                <a:r>
                  <a:rPr lang="en-US" altLang="zh-TW" dirty="0"/>
                  <a:t>such that </a:t>
                </a:r>
                <a:r>
                  <a:rPr lang="en-US" altLang="zh-TW" i="1" dirty="0"/>
                  <a:t>C</a:t>
                </a:r>
                <a14:m>
                  <m:oMath xmlns:m="http://schemas.openxmlformats.org/officeDocument/2006/math">
                    <m:r>
                      <a:rPr lang="zh-TW" altLang="en-US" b="0" i="1" dirty="0" smtClean="0">
                        <a:latin typeface="Cambria Math"/>
                      </a:rPr>
                      <m:t> </m:t>
                    </m:r>
                    <m:r>
                      <a:rPr lang="en-US" altLang="zh-TW" i="1" dirty="0" smtClean="0">
                        <a:latin typeface="Cambria Math"/>
                      </a:rPr>
                      <m:t>≼</m:t>
                    </m:r>
                  </m:oMath>
                </a14:m>
                <a:r>
                  <a:rPr lang="en-US" altLang="zh-TW" i="1" dirty="0" smtClean="0"/>
                  <a:t>A</a:t>
                </a:r>
                <a:r>
                  <a:rPr lang="en-US" altLang="zh-TW" i="1" baseline="-25000" dirty="0" smtClean="0"/>
                  <a:t>i</a:t>
                </a:r>
                <a:r>
                  <a:rPr lang="en-US" altLang="zh-TW" i="1" dirty="0" smtClean="0"/>
                  <a:t> </a:t>
                </a:r>
                <a:r>
                  <a:rPr lang="en-US" altLang="zh-TW" dirty="0"/>
                  <a:t>for each </a:t>
                </a:r>
                <a:r>
                  <a:rPr lang="en-US" altLang="zh-TW" i="1" dirty="0" err="1"/>
                  <a:t>i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1</a:t>
                </a:r>
                <a:r>
                  <a:rPr lang="en-US" altLang="zh-TW" i="1" baseline="-25000" dirty="0"/>
                  <a:t> </a:t>
                </a:r>
                <a:r>
                  <a:rPr lang="en-US" altLang="zh-TW" i="1" dirty="0"/>
                  <a:t>≤</a:t>
                </a:r>
                <a:r>
                  <a:rPr lang="en-US" altLang="zh-TW" dirty="0" smtClean="0"/>
                  <a:t> </a:t>
                </a:r>
                <a:r>
                  <a:rPr lang="en-US" altLang="zh-TW" i="1" dirty="0" err="1" smtClean="0"/>
                  <a:t>i</a:t>
                </a:r>
                <a:r>
                  <a:rPr lang="en-US" altLang="zh-TW" i="1" baseline="-25000" dirty="0"/>
                  <a:t> </a:t>
                </a:r>
                <a:r>
                  <a:rPr lang="en-US" altLang="zh-TW" i="1" dirty="0"/>
                  <a:t>≤</a:t>
                </a:r>
                <a:r>
                  <a:rPr lang="en-US" altLang="zh-TW" i="1" baseline="-25000" dirty="0"/>
                  <a:t> </a:t>
                </a:r>
                <a:r>
                  <a:rPr lang="en-US" altLang="zh-TW" i="1" dirty="0" smtClean="0"/>
                  <a:t>k</a:t>
                </a:r>
                <a:r>
                  <a:rPr lang="en-US" altLang="zh-TW" dirty="0"/>
                  <a:t>, and 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≼ </m:t>
                    </m:r>
                  </m:oMath>
                </a14:m>
                <a:r>
                  <a:rPr lang="en-US" altLang="zh-TW" i="1" dirty="0"/>
                  <a:t>C </a:t>
                </a:r>
                <a:r>
                  <a:rPr lang="en-US" altLang="zh-TW" dirty="0"/>
                  <a:t>for each </a:t>
                </a:r>
                <a:r>
                  <a:rPr lang="en-US" altLang="zh-TW" i="1" dirty="0"/>
                  <a:t>j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1</a:t>
                </a:r>
                <a:r>
                  <a:rPr lang="en-US" altLang="zh-TW" i="1" dirty="0"/>
                  <a:t> ≤</a:t>
                </a:r>
                <a:r>
                  <a:rPr lang="en-US" altLang="zh-TW" dirty="0"/>
                  <a:t> </a:t>
                </a:r>
                <a:r>
                  <a:rPr lang="en-US" altLang="zh-TW" i="1" dirty="0" smtClean="0"/>
                  <a:t>j </a:t>
                </a:r>
                <a:r>
                  <a:rPr lang="en-US" altLang="zh-TW" i="1" dirty="0"/>
                  <a:t>≤</a:t>
                </a:r>
                <a:r>
                  <a:rPr lang="en-US" altLang="zh-TW" dirty="0"/>
                  <a:t> 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.</a:t>
                </a:r>
              </a:p>
              <a:p>
                <a:endParaRPr lang="en-US" altLang="zh-TW" dirty="0"/>
              </a:p>
              <a:p>
                <a:r>
                  <a:rPr lang="en-US" altLang="zh-TW" i="1" dirty="0"/>
                  <a:t>S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≼ </m:t>
                    </m:r>
                  </m:oMath>
                </a14:m>
                <a:r>
                  <a:rPr lang="en-US" altLang="zh-TW" i="1" dirty="0"/>
                  <a:t>T </a:t>
                </a:r>
                <a:r>
                  <a:rPr lang="en-US" altLang="zh-TW" dirty="0"/>
                  <a:t>if </a:t>
                </a:r>
                <a:r>
                  <a:rPr lang="en-US" altLang="zh-TW" i="1" dirty="0"/>
                  <a:t>S </a:t>
                </a:r>
                <a:r>
                  <a:rPr lang="en-US" altLang="zh-TW" dirty="0"/>
                  <a:t>is a subsequence of </a:t>
                </a:r>
                <a:r>
                  <a:rPr lang="en-US" altLang="zh-TW" i="1" dirty="0" smtClean="0"/>
                  <a:t>T.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200" r="-14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054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Previous Hardness Results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altLang="zh-TW" dirty="0" smtClean="0"/>
                  <a:t>Even </a:t>
                </a:r>
                <a:r>
                  <a:rPr lang="en-US" altLang="zh-TW" dirty="0"/>
                  <a:t>if the input </a:t>
                </a:r>
                <a:r>
                  <a:rPr lang="en-US" altLang="zh-TW" dirty="0" smtClean="0"/>
                  <a:t>and constraint </a:t>
                </a:r>
                <a:r>
                  <a:rPr lang="en-US" altLang="zh-TW" dirty="0"/>
                  <a:t>sequences are over a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binary alphabet</a:t>
                </a:r>
                <a:r>
                  <a:rPr lang="en-US" altLang="zh-TW" dirty="0"/>
                  <a:t>, it is already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NP-hard </a:t>
                </a:r>
                <a:r>
                  <a:rPr lang="en-US" altLang="zh-TW" dirty="0"/>
                  <a:t>to decide whether a given instance of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C-LCS(2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, l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/>
                  <a:t>has a </a:t>
                </a:r>
                <a:r>
                  <a:rPr lang="en-US" altLang="zh-TW" dirty="0"/>
                  <a:t>valid </a:t>
                </a:r>
                <a:r>
                  <a:rPr lang="en-US" altLang="zh-TW" dirty="0" smtClean="0"/>
                  <a:t>solution.</a:t>
                </a:r>
              </a:p>
              <a:p>
                <a:r>
                  <a:rPr lang="en-US" altLang="zh-TW" dirty="0"/>
                  <a:t>I</a:t>
                </a:r>
                <a:r>
                  <a:rPr lang="en-US" altLang="zh-TW" dirty="0" smtClean="0"/>
                  <a:t>f </a:t>
                </a:r>
                <a:r>
                  <a:rPr lang="en-US" altLang="zh-TW" dirty="0"/>
                  <a:t>the sequences are over an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arbitrary alphabet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then even </a:t>
                </a:r>
                <a:r>
                  <a:rPr lang="en-US" altLang="zh-TW" dirty="0"/>
                  <a:t>if all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constraint sequences have length 1</a:t>
                </a:r>
                <a:r>
                  <a:rPr lang="en-US" altLang="zh-TW" dirty="0"/>
                  <a:t>, it is again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NP-hard</a:t>
                </a:r>
                <a:r>
                  <a:rPr lang="en-US" altLang="zh-TW" dirty="0"/>
                  <a:t> to decide whether a given instance of C-LCS(2</a:t>
                </a:r>
                <a:r>
                  <a:rPr lang="en-US" altLang="zh-TW" i="1" dirty="0"/>
                  <a:t>, l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has </a:t>
                </a:r>
                <a:r>
                  <a:rPr lang="en-US" altLang="zh-TW" dirty="0" smtClean="0"/>
                  <a:t>a valid </a:t>
                </a:r>
                <a:r>
                  <a:rPr lang="en-US" altLang="zh-TW" dirty="0"/>
                  <a:t>solution. </a:t>
                </a:r>
                <a:endParaRPr lang="en-US" altLang="zh-TW" dirty="0" smtClean="0"/>
              </a:p>
              <a:p>
                <a:r>
                  <a:rPr lang="en-US" altLang="zh-TW" dirty="0" smtClean="0">
                    <a:solidFill>
                      <a:srgbClr val="FF0000"/>
                    </a:solidFill>
                  </a:rPr>
                  <a:t>C-LCS(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k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1)</a:t>
                </a:r>
                <a:r>
                  <a:rPr lang="en-US" altLang="zh-TW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/>
                  <a:t>is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NP-hard</a:t>
                </a:r>
                <a:r>
                  <a:rPr lang="en-US" altLang="zh-TW" dirty="0"/>
                  <a:t> because it generalizes the </a:t>
                </a:r>
                <a:r>
                  <a:rPr lang="en-US" altLang="zh-TW" dirty="0" smtClean="0"/>
                  <a:t>classical problem </a:t>
                </a:r>
                <a:r>
                  <a:rPr lang="en-US" altLang="zh-TW" dirty="0"/>
                  <a:t>LCS on an arbitrary number </a:t>
                </a:r>
                <a:r>
                  <a:rPr lang="en-US" altLang="zh-TW" i="1" dirty="0"/>
                  <a:t>k </a:t>
                </a:r>
                <a:r>
                  <a:rPr lang="en-US" altLang="zh-TW" dirty="0"/>
                  <a:t>of input sequences, which is known to be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NP-hard</a:t>
                </a:r>
                <a:r>
                  <a:rPr lang="en-US" altLang="zh-TW" dirty="0"/>
                  <a:t> even if the input sequences </a:t>
                </a:r>
                <a:r>
                  <a:rPr lang="en-US" altLang="zh-TW" dirty="0" smtClean="0"/>
                  <a:t>are over </a:t>
                </a:r>
                <a:r>
                  <a:rPr lang="en-US" altLang="zh-TW" dirty="0"/>
                  <a:t>a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binary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alphabet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 err="1"/>
                  <a:t>Gotthilf</a:t>
                </a:r>
                <a:r>
                  <a:rPr lang="en-US" altLang="zh-TW" dirty="0"/>
                  <a:t> et al. </a:t>
                </a:r>
                <a:r>
                  <a:rPr lang="en-US" altLang="zh-TW" dirty="0" smtClean="0"/>
                  <a:t>gave </a:t>
                </a:r>
                <a:r>
                  <a:rPr lang="en-US" altLang="zh-TW" dirty="0"/>
                  <a:t>a polynomial-time algorithm that approximates C-LCS(</a:t>
                </a:r>
                <a:r>
                  <a:rPr lang="en-US" altLang="zh-TW" i="1" dirty="0"/>
                  <a:t>k, </a:t>
                </a:r>
                <a:r>
                  <a:rPr lang="en-US" altLang="zh-TW" dirty="0"/>
                  <a:t>1)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within a </a:t>
                </a:r>
                <a:r>
                  <a:rPr lang="en-US" altLang="zh-TW" dirty="0" smtClean="0"/>
                  <a:t>factor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TW" altLang="en-US" i="1">
                            <a:latin typeface="Cambria Math"/>
                          </a:rPr>
                        </m:ctrlPr>
                      </m:radPr>
                      <m:deg/>
                      <m:e>
                        <m:acc>
                          <m:accPr>
                            <m:chr m:val="̂"/>
                            <m:ctrlPr>
                              <a:rPr lang="zh-TW" altLang="en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𝑚</m:t>
                            </m:r>
                          </m:e>
                        </m:acc>
                        <m:r>
                          <a:rPr lang="en-US" altLang="zh-TW" i="1">
                            <a:latin typeface="Cambria Math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zh-TW" i="1">
                            <a:latin typeface="Cambria Math"/>
                          </a:rPr>
                          <m:t>Σ</m:t>
                        </m:r>
                        <m:r>
                          <a:rPr lang="en-US" altLang="zh-TW" i="1">
                            <a:latin typeface="Cambria Math"/>
                          </a:rPr>
                          <m:t>|</m:t>
                        </m:r>
                      </m:e>
                    </m:rad>
                  </m:oMath>
                </a14:m>
                <a:r>
                  <a:rPr lang="en-US" altLang="zh-TW" sz="2800" dirty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49" t="-2667" r="-9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576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Theorem 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274320" lvl="1" indent="-274320">
                  <a:spcBef>
                    <a:spcPts val="580"/>
                  </a:spcBef>
                  <a:buClr>
                    <a:schemeClr val="accent1"/>
                  </a:buClr>
                </a:pPr>
                <a:r>
                  <a:rPr lang="en-US" altLang="zh-TW" dirty="0" smtClean="0"/>
                  <a:t>For any computable function f and any </a:t>
                </a:r>
                <a:r>
                  <a:rPr lang="el-GR" altLang="zh-TW" dirty="0">
                    <a:latin typeface="Cambria Math"/>
                    <a:ea typeface="Cambria Math"/>
                  </a:rPr>
                  <a:t>ε</a:t>
                </a:r>
                <a:r>
                  <a:rPr lang="en-US" altLang="zh-TW" dirty="0"/>
                  <a:t> &gt; 0, there is no polynomial-time algorithm that approximates C-LCS(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, 1) within a factor </a:t>
                </a:r>
                <a:r>
                  <a:rPr lang="en-US" altLang="zh-TW" i="1" dirty="0"/>
                  <a:t>f</a:t>
                </a:r>
                <a:r>
                  <a:rPr lang="en-US" altLang="zh-TW" dirty="0"/>
                  <a:t> (|Σ|)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en-US" altLang="zh-TW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baseline="30000" dirty="0"/>
                  <a:t>1/2−</a:t>
                </a:r>
                <a:r>
                  <a:rPr lang="el-GR" altLang="zh-TW" baseline="30000" dirty="0">
                    <a:latin typeface="Cambria Math"/>
                    <a:ea typeface="Cambria Math"/>
                  </a:rPr>
                  <a:t> ε </a:t>
                </a:r>
                <a:r>
                  <a:rPr lang="en-US" altLang="zh-TW" dirty="0"/>
                  <a:t> unless NP = P. Moreover, this holds even if the constraint sequence is unary</a:t>
                </a:r>
                <a:r>
                  <a:rPr lang="en-US" altLang="zh-TW" dirty="0" smtClean="0"/>
                  <a:t>.</a:t>
                </a:r>
              </a:p>
              <a:p>
                <a:pPr marL="274320" lvl="1" indent="-274320">
                  <a:spcBef>
                    <a:spcPts val="580"/>
                  </a:spcBef>
                  <a:buClr>
                    <a:schemeClr val="accent1"/>
                  </a:buClr>
                </a:pPr>
                <a:r>
                  <a:rPr lang="zh-TW" altLang="en-US" dirty="0" smtClean="0"/>
                  <a:t>考慮</a:t>
                </a:r>
                <a:r>
                  <a:rPr lang="en-US" altLang="zh-TW" dirty="0" smtClean="0"/>
                  <a:t>Σ</a:t>
                </a:r>
                <a:r>
                  <a:rPr lang="zh-TW" altLang="en-US" dirty="0" smtClean="0"/>
                  <a:t>和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zh-TW" altLang="en-US" i="1">
                        <a:latin typeface="Cambria Math"/>
                      </a:rPr>
                      <m:t>為參數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49" t="-12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291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Theorem 3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274320" lvl="1" indent="-274320">
                  <a:spcBef>
                    <a:spcPts val="580"/>
                  </a:spcBef>
                  <a:buClr>
                    <a:schemeClr val="accent1"/>
                  </a:buClr>
                </a:pPr>
                <a:r>
                  <a:rPr lang="en-US" altLang="zh-TW" dirty="0"/>
                  <a:t>For any </a:t>
                </a:r>
                <a:r>
                  <a:rPr lang="el-GR" altLang="zh-TW" dirty="0">
                    <a:latin typeface="Cambria Math"/>
                    <a:ea typeface="Cambria Math"/>
                  </a:rPr>
                  <a:t>ε </a:t>
                </a:r>
                <a:r>
                  <a:rPr lang="en-US" altLang="zh-TW" dirty="0"/>
                  <a:t> &gt; 0, there is no polynomial-time algorithm that approximates C-LCS(k, 1) within a factor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en-US" altLang="zh-TW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baseline="30000" dirty="0"/>
                  <a:t>1−</a:t>
                </a:r>
                <a:r>
                  <a:rPr lang="el-GR" altLang="zh-TW" baseline="30000" dirty="0">
                    <a:latin typeface="Cambria Math"/>
                    <a:ea typeface="Cambria Math"/>
                  </a:rPr>
                  <a:t>ε</a:t>
                </a:r>
                <a:r>
                  <a:rPr lang="en-US" altLang="zh-TW" dirty="0"/>
                  <a:t> unless NP = P</a:t>
                </a:r>
                <a:r>
                  <a:rPr lang="en-US" altLang="zh-TW" dirty="0" smtClean="0"/>
                  <a:t>.</a:t>
                </a:r>
              </a:p>
              <a:p>
                <a:pPr marL="274320" lvl="1" indent="-274320">
                  <a:spcBef>
                    <a:spcPts val="580"/>
                  </a:spcBef>
                  <a:buClr>
                    <a:schemeClr val="accent1"/>
                  </a:buClr>
                </a:pPr>
                <a:r>
                  <a:rPr lang="zh-TW" altLang="en-US" dirty="0" smtClean="0"/>
                  <a:t>只考慮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zh-TW" altLang="en-US" i="1">
                        <a:latin typeface="Cambria Math"/>
                      </a:rPr>
                      <m:t>為參數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49" t="-1200" r="-10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557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Theorem 2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274320" lvl="1" indent="-274320">
                  <a:spcBef>
                    <a:spcPts val="580"/>
                  </a:spcBef>
                  <a:buClr>
                    <a:schemeClr val="accent1"/>
                  </a:buClr>
                </a:pPr>
                <a:r>
                  <a:rPr lang="en-US" altLang="zh-TW" dirty="0"/>
                  <a:t>There is a polynomial-time randomized algorithm that approximates C-LCS(</a:t>
                </a:r>
                <a:r>
                  <a:rPr lang="en-US" altLang="zh-TW" i="1" dirty="0"/>
                  <a:t>k, </a:t>
                </a:r>
                <a:r>
                  <a:rPr lang="en-US" altLang="zh-TW" dirty="0"/>
                  <a:t>1) within a factor |</a:t>
                </a:r>
                <a:r>
                  <a:rPr lang="el-GR" altLang="zh-TW" i="1" dirty="0"/>
                  <a:t>Σ</a:t>
                </a:r>
                <a:r>
                  <a:rPr lang="el-GR" altLang="zh-TW" dirty="0"/>
                  <a:t>| · </a:t>
                </a:r>
                <a:r>
                  <a:rPr lang="en-US" altLang="zh-TW" dirty="0"/>
                  <a:t>O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/>
                          </a:rPr>
                          <m:t>𝑂𝑃𝑇</m:t>
                        </m:r>
                        <m:func>
                          <m:func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𝑂𝑃𝑇</m:t>
                                </m:r>
                              </m:e>
                            </m:func>
                            <m:r>
                              <a:rPr lang="en-US" altLang="zh-TW" i="1">
                                <a:latin typeface="Cambria Math"/>
                              </a:rPr>
                              <m:t>/</m:t>
                            </m:r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𝑂𝑃𝑇</m:t>
                                </m:r>
                              </m:e>
                            </m:func>
                          </m:e>
                        </m:func>
                      </m:e>
                    </m:rad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with high probability, where OPT is the length of the optimal solution, OPT ≤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en-US" altLang="zh-TW" i="1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.</a:t>
                </a:r>
              </a:p>
              <a:p>
                <a:pPr marL="274320" lvl="1" indent="-274320">
                  <a:spcBef>
                    <a:spcPts val="580"/>
                  </a:spcBef>
                  <a:buClr>
                    <a:schemeClr val="accent1"/>
                  </a:buClr>
                </a:pPr>
                <a:r>
                  <a:rPr lang="zh-TW" altLang="en-US" dirty="0"/>
                  <a:t>考慮</a:t>
                </a:r>
                <a:r>
                  <a:rPr lang="en-US" altLang="zh-TW" dirty="0"/>
                  <a:t>Σ</a:t>
                </a:r>
                <a:r>
                  <a:rPr lang="zh-TW" altLang="en-US" dirty="0"/>
                  <a:t>和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zh-TW" altLang="en-US" i="1">
                        <a:latin typeface="Cambria Math"/>
                      </a:rPr>
                      <m:t>為參數</m:t>
                    </m:r>
                  </m:oMath>
                </a14:m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49" t="-10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8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Theorem 4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274320" lvl="1" indent="-274320">
                  <a:spcBef>
                    <a:spcPts val="580"/>
                  </a:spcBef>
                  <a:buClr>
                    <a:schemeClr val="accent1"/>
                  </a:buClr>
                </a:pPr>
                <a:r>
                  <a:rPr lang="en-US" altLang="zh-TW" dirty="0"/>
                  <a:t>There is a polynomial-time algorithm that approximates C-LCS(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, 1) within a factor O(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dirty="0"/>
                  <a:t>/log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dirty="0"/>
                  <a:t>).</a:t>
                </a:r>
                <a:endParaRPr lang="en-US" altLang="zh-TW" dirty="0" smtClean="0"/>
              </a:p>
              <a:p>
                <a:pPr marL="274320" lvl="1" indent="-274320">
                  <a:spcBef>
                    <a:spcPts val="580"/>
                  </a:spcBef>
                  <a:buClr>
                    <a:schemeClr val="accent1"/>
                  </a:buClr>
                </a:pPr>
                <a:r>
                  <a:rPr lang="zh-TW" altLang="en-US" dirty="0"/>
                  <a:t>只考慮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zh-TW" altLang="en-US" i="1">
                        <a:latin typeface="Cambria Math"/>
                      </a:rPr>
                      <m:t>為參數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49" t="-10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6823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Proof of Theorem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Reduce from </a:t>
            </a:r>
            <a:r>
              <a:rPr lang="en-US" altLang="zh-TW" dirty="0" smtClean="0"/>
              <a:t>MAX-CLIQUE.</a:t>
            </a:r>
            <a:endParaRPr lang="en-US" altLang="zh-TW" dirty="0" smtClean="0"/>
          </a:p>
          <a:p>
            <a:r>
              <a:rPr lang="en-US" altLang="zh-TW" dirty="0" smtClean="0"/>
              <a:t>Let </a:t>
            </a:r>
            <a:r>
              <a:rPr lang="en-US" altLang="zh-TW" i="1" dirty="0"/>
              <a:t>G </a:t>
            </a:r>
            <a:r>
              <a:rPr lang="en-US" altLang="zh-TW" dirty="0"/>
              <a:t>be a graph with </a:t>
            </a:r>
            <a:r>
              <a:rPr lang="en-US" altLang="zh-TW" i="1" dirty="0"/>
              <a:t>n </a:t>
            </a:r>
            <a:r>
              <a:rPr lang="en-US" altLang="zh-TW" dirty="0"/>
              <a:t>vertices and </a:t>
            </a:r>
            <a:r>
              <a:rPr lang="en-US" altLang="zh-TW" i="1" dirty="0"/>
              <a:t>m </a:t>
            </a:r>
            <a:r>
              <a:rPr lang="en-US" altLang="zh-TW" dirty="0"/>
              <a:t>edges. We construct a C-LCS(</a:t>
            </a:r>
            <a:r>
              <a:rPr lang="en-US" altLang="zh-TW" i="1" dirty="0"/>
              <a:t>k, </a:t>
            </a:r>
            <a:r>
              <a:rPr lang="en-US" altLang="zh-TW" dirty="0"/>
              <a:t>1)</a:t>
            </a:r>
            <a:r>
              <a:rPr lang="en-US" altLang="zh-TW" i="1" dirty="0"/>
              <a:t> </a:t>
            </a:r>
            <a:r>
              <a:rPr lang="en-US" altLang="zh-TW" dirty="0"/>
              <a:t>instance consisting </a:t>
            </a:r>
            <a:r>
              <a:rPr lang="en-US" altLang="zh-TW" dirty="0" smtClean="0"/>
              <a:t>of</a:t>
            </a:r>
            <a:r>
              <a:rPr lang="en-US" altLang="zh-TW" i="1" dirty="0"/>
              <a:t> k </a:t>
            </a:r>
            <a:r>
              <a:rPr lang="en-US" altLang="zh-TW" dirty="0" smtClean="0"/>
              <a:t>=C(</a:t>
            </a:r>
            <a:r>
              <a:rPr lang="en-US" altLang="zh-TW" i="1" dirty="0" smtClean="0"/>
              <a:t>n,</a:t>
            </a:r>
            <a:r>
              <a:rPr lang="en-US" altLang="zh-TW" dirty="0" smtClean="0"/>
              <a:t>2)−</a:t>
            </a:r>
            <a:r>
              <a:rPr lang="en-US" altLang="zh-TW" i="1" dirty="0"/>
              <a:t>m </a:t>
            </a:r>
            <a:r>
              <a:rPr lang="en-US" altLang="zh-TW" dirty="0"/>
              <a:t>+</a:t>
            </a:r>
            <a:r>
              <a:rPr lang="en-US" altLang="zh-TW" dirty="0" smtClean="0"/>
              <a:t>1 </a:t>
            </a:r>
            <a:r>
              <a:rPr lang="en-US" altLang="zh-TW" dirty="0"/>
              <a:t>input sequences </a:t>
            </a:r>
            <a:r>
              <a:rPr lang="en-US" altLang="zh-TW" i="1" dirty="0"/>
              <a:t>A</a:t>
            </a:r>
            <a:r>
              <a:rPr lang="en-US" altLang="zh-TW" baseline="-25000" dirty="0"/>
              <a:t>1</a:t>
            </a:r>
            <a:r>
              <a:rPr lang="en-US" altLang="zh-TW" i="1" dirty="0"/>
              <a:t>, . . . , </a:t>
            </a:r>
            <a:r>
              <a:rPr lang="en-US" altLang="zh-TW" i="1" dirty="0" err="1"/>
              <a:t>A</a:t>
            </a:r>
            <a:r>
              <a:rPr lang="en-US" altLang="zh-TW" i="1" baseline="-25000" dirty="0" err="1"/>
              <a:t>k</a:t>
            </a:r>
            <a:r>
              <a:rPr lang="en-US" altLang="zh-TW" i="1" dirty="0"/>
              <a:t> </a:t>
            </a:r>
            <a:r>
              <a:rPr lang="en-US" altLang="zh-TW" dirty="0"/>
              <a:t>over a binary alphabet and a single constraint sequence </a:t>
            </a:r>
            <a:r>
              <a:rPr lang="en-US" altLang="zh-TW" i="1" dirty="0"/>
              <a:t>B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The constraint sequence </a:t>
            </a:r>
            <a:r>
              <a:rPr lang="en-US" altLang="zh-TW" i="1" dirty="0"/>
              <a:t>B </a:t>
            </a:r>
            <a:r>
              <a:rPr lang="en-US" altLang="zh-TW" dirty="0"/>
              <a:t>is a unary sequence of </a:t>
            </a:r>
            <a:r>
              <a:rPr lang="en-US" altLang="zh-TW" i="1" dirty="0"/>
              <a:t>n </a:t>
            </a:r>
            <a:r>
              <a:rPr lang="en-US" altLang="zh-TW" dirty="0"/>
              <a:t>−1 </a:t>
            </a:r>
            <a:r>
              <a:rPr lang="en-US" altLang="zh-TW" dirty="0" smtClean="0"/>
              <a:t>zeros: </a:t>
            </a:r>
            <a:r>
              <a:rPr lang="en-US" altLang="zh-TW" i="1" dirty="0" smtClean="0"/>
              <a:t>B </a:t>
            </a:r>
            <a:r>
              <a:rPr lang="en-US" altLang="zh-TW" dirty="0"/>
              <a:t>= 0</a:t>
            </a:r>
            <a:r>
              <a:rPr lang="en-US" altLang="zh-TW" i="1" baseline="30000" dirty="0"/>
              <a:t>n</a:t>
            </a:r>
            <a:r>
              <a:rPr lang="en-US" altLang="zh-TW" baseline="30000" dirty="0"/>
              <a:t>−</a:t>
            </a:r>
            <a:r>
              <a:rPr lang="en-US" altLang="zh-TW" baseline="30000" dirty="0" smtClean="0"/>
              <a:t>1</a:t>
            </a:r>
            <a:endParaRPr lang="en-US" altLang="zh-TW" i="1" dirty="0" smtClean="0"/>
          </a:p>
          <a:p>
            <a:r>
              <a:rPr lang="en-US" altLang="zh-TW" dirty="0"/>
              <a:t>The last input sequence </a:t>
            </a:r>
            <a:r>
              <a:rPr lang="en-US" altLang="zh-TW" i="1" dirty="0" err="1"/>
              <a:t>A</a:t>
            </a:r>
            <a:r>
              <a:rPr lang="en-US" altLang="zh-TW" i="1" baseline="-25000" dirty="0" err="1"/>
              <a:t>k</a:t>
            </a:r>
            <a:r>
              <a:rPr lang="en-US" altLang="zh-TW" i="1" dirty="0"/>
              <a:t> </a:t>
            </a:r>
            <a:r>
              <a:rPr lang="en-US" altLang="zh-TW" dirty="0"/>
              <a:t>consists of </a:t>
            </a:r>
            <a:r>
              <a:rPr lang="en-US" altLang="zh-TW" i="1" dirty="0"/>
              <a:t>n</a:t>
            </a:r>
            <a:r>
              <a:rPr lang="en-US" altLang="zh-TW" baseline="30000" dirty="0"/>
              <a:t>2</a:t>
            </a:r>
            <a:r>
              <a:rPr lang="en-US" altLang="zh-TW" dirty="0"/>
              <a:t> ones and </a:t>
            </a:r>
            <a:r>
              <a:rPr lang="en-US" altLang="zh-TW" i="1" dirty="0"/>
              <a:t>n </a:t>
            </a:r>
            <a:r>
              <a:rPr lang="en-US" altLang="zh-TW" dirty="0"/>
              <a:t>−1 </a:t>
            </a:r>
            <a:r>
              <a:rPr lang="en-US" altLang="zh-TW" dirty="0" smtClean="0"/>
              <a:t>zeros: </a:t>
            </a:r>
            <a:r>
              <a:rPr lang="en-US" altLang="zh-TW" i="1" dirty="0" err="1" smtClean="0"/>
              <a:t>A</a:t>
            </a:r>
            <a:r>
              <a:rPr lang="en-US" altLang="zh-TW" i="1" baseline="-25000" dirty="0" err="1" smtClean="0"/>
              <a:t>k</a:t>
            </a:r>
            <a:r>
              <a:rPr lang="en-US" altLang="zh-TW" i="1" dirty="0" smtClean="0"/>
              <a:t> </a:t>
            </a:r>
            <a:r>
              <a:rPr lang="en-US" altLang="zh-TW" dirty="0"/>
              <a:t>= </a:t>
            </a:r>
            <a:r>
              <a:rPr lang="en-US" altLang="zh-TW" dirty="0" smtClean="0"/>
              <a:t>1</a:t>
            </a:r>
            <a:r>
              <a:rPr lang="en-US" altLang="zh-TW" i="1" baseline="30000" dirty="0" smtClean="0"/>
              <a:t>n</a:t>
            </a:r>
            <a:r>
              <a:rPr lang="en-US" altLang="zh-TW" dirty="0" smtClean="0"/>
              <a:t>(01</a:t>
            </a:r>
            <a:r>
              <a:rPr lang="en-US" altLang="zh-TW" i="1" baseline="30000" dirty="0" smtClean="0"/>
              <a:t>n</a:t>
            </a:r>
            <a:r>
              <a:rPr lang="en-US" altLang="zh-TW" dirty="0" smtClean="0"/>
              <a:t>)</a:t>
            </a:r>
            <a:r>
              <a:rPr lang="en-US" altLang="zh-TW" i="1" baseline="30000" dirty="0" smtClean="0"/>
              <a:t>n</a:t>
            </a:r>
            <a:r>
              <a:rPr lang="en-US" altLang="zh-TW" baseline="30000" dirty="0"/>
              <a:t>−</a:t>
            </a:r>
            <a:r>
              <a:rPr lang="en-US" altLang="zh-TW" baseline="30000" dirty="0" smtClean="0"/>
              <a:t>1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84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Proof of Theorem 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Let </a:t>
                </a:r>
                <a:r>
                  <a:rPr lang="en-US" altLang="zh-TW" i="1" dirty="0"/>
                  <a:t>V </a:t>
                </a:r>
                <a:r>
                  <a:rPr lang="en-US" altLang="zh-TW" dirty="0"/>
                  <a:t>= {1</a:t>
                </a:r>
                <a:r>
                  <a:rPr lang="en-US" altLang="zh-TW" i="1" dirty="0"/>
                  <a:t>, . . . ,n</a:t>
                </a:r>
                <a:r>
                  <a:rPr lang="en-US" altLang="zh-TW" dirty="0"/>
                  <a:t>} be the set of vertices of the graph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. Let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altLang="zh-TW" i="1" dirty="0" smtClean="0"/>
                  <a:t> </a:t>
                </a:r>
                <a:r>
                  <a:rPr lang="en-US" altLang="zh-TW" dirty="0"/>
                  <a:t>be </a:t>
                </a:r>
                <a:r>
                  <a:rPr lang="en-US" altLang="zh-TW" dirty="0" smtClean="0"/>
                  <a:t>the </a:t>
                </a:r>
                <a:r>
                  <a:rPr lang="en-US" altLang="zh-TW" i="1" dirty="0" smtClean="0"/>
                  <a:t>C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n,</a:t>
                </a:r>
                <a:r>
                  <a:rPr lang="en-US" altLang="zh-TW" dirty="0" smtClean="0"/>
                  <a:t>2)−</a:t>
                </a:r>
                <a:r>
                  <a:rPr lang="en-US" altLang="zh-TW" i="1" dirty="0"/>
                  <a:t>m </a:t>
                </a:r>
                <a:r>
                  <a:rPr lang="en-US" altLang="zh-TW" dirty="0"/>
                  <a:t>pairs of vertices of the graph </a:t>
                </a:r>
                <a:r>
                  <a:rPr lang="en-US" altLang="zh-TW" i="1" dirty="0"/>
                  <a:t>G </a:t>
                </a:r>
                <a:r>
                  <a:rPr lang="en-US" altLang="zh-TW" dirty="0"/>
                  <a:t>that </a:t>
                </a:r>
                <a:r>
                  <a:rPr lang="en-US" altLang="zh-TW" dirty="0" smtClean="0"/>
                  <a:t>are not </a:t>
                </a:r>
                <a:r>
                  <a:rPr lang="en-US" altLang="zh-TW" dirty="0"/>
                  <a:t>edges. For each pair of vertices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𝑒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dirty="0" smtClean="0"/>
                  <a:t>= </a:t>
                </a:r>
                <a:r>
                  <a:rPr lang="en-US" altLang="zh-TW" dirty="0"/>
                  <a:t>{</a:t>
                </a:r>
                <a:r>
                  <a:rPr lang="en-US" altLang="zh-TW" i="1" dirty="0"/>
                  <a:t>u, v</a:t>
                </a:r>
                <a:r>
                  <a:rPr lang="en-US" altLang="zh-TW" dirty="0"/>
                  <a:t>} ∈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altLang="zh-TW" i="1" dirty="0"/>
                  <a:t> 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1</a:t>
                </a:r>
                <a:r>
                  <a:rPr lang="en-US" altLang="zh-TW" i="1" dirty="0"/>
                  <a:t> ≤</a:t>
                </a:r>
                <a:r>
                  <a:rPr lang="en-US" altLang="zh-TW" dirty="0" smtClean="0"/>
                  <a:t> </a:t>
                </a:r>
                <a:r>
                  <a:rPr lang="en-US" altLang="zh-TW" i="1" dirty="0"/>
                  <a:t>j ≤ </a:t>
                </a:r>
                <a:r>
                  <a:rPr lang="en-US" altLang="zh-TW" i="1" dirty="0" smtClean="0"/>
                  <a:t>C</a:t>
                </a:r>
                <a:r>
                  <a:rPr lang="en-US" altLang="zh-TW" dirty="0" smtClean="0"/>
                  <a:t>(</a:t>
                </a:r>
                <a:r>
                  <a:rPr lang="en-US" altLang="zh-TW" i="1" dirty="0" smtClean="0"/>
                  <a:t>n,</a:t>
                </a:r>
                <a:r>
                  <a:rPr lang="en-US" altLang="zh-TW" dirty="0" smtClean="0"/>
                  <a:t>2)−</a:t>
                </a:r>
                <a:r>
                  <a:rPr lang="en-US" altLang="zh-TW" i="1" dirty="0"/>
                  <a:t>m </a:t>
                </a:r>
                <a:r>
                  <a:rPr lang="en-US" altLang="zh-TW" dirty="0"/>
                  <a:t>and </a:t>
                </a:r>
                <a:r>
                  <a:rPr lang="en-US" altLang="zh-TW" dirty="0" smtClean="0"/>
                  <a:t>1</a:t>
                </a:r>
                <a:r>
                  <a:rPr lang="en-US" altLang="zh-TW" i="1" dirty="0"/>
                  <a:t> </a:t>
                </a:r>
                <a:r>
                  <a:rPr lang="en-US" altLang="zh-TW" i="1" dirty="0" smtClean="0"/>
                  <a:t>≤</a:t>
                </a:r>
                <a:r>
                  <a:rPr lang="en-US" altLang="zh-TW" dirty="0" smtClean="0"/>
                  <a:t> </a:t>
                </a:r>
                <a:r>
                  <a:rPr lang="en-US" altLang="zh-TW" i="1" dirty="0"/>
                  <a:t>u &lt; v ≤ </a:t>
                </a:r>
                <a:r>
                  <a:rPr lang="en-US" altLang="zh-TW" i="1" dirty="0" smtClean="0"/>
                  <a:t>n</a:t>
                </a:r>
                <a:r>
                  <a:rPr lang="en-US" altLang="zh-TW" dirty="0"/>
                  <a:t>, we construct a corresponding </a:t>
                </a:r>
                <a:r>
                  <a:rPr lang="en-US" altLang="zh-TW" dirty="0" smtClean="0"/>
                  <a:t>input sequence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dirty="0" smtClean="0"/>
                  <a:t> </a:t>
                </a:r>
                <a:r>
                  <a:rPr lang="en-US" altLang="zh-TW" dirty="0"/>
                  <a:t>of 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2</a:t>
                </a:r>
                <a:r>
                  <a:rPr lang="en-US" altLang="zh-TW" dirty="0"/>
                  <a:t> −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ones and </a:t>
                </a:r>
                <a:r>
                  <a:rPr lang="en-US" altLang="zh-TW" i="1" dirty="0"/>
                  <a:t>n </a:t>
                </a:r>
                <a:r>
                  <a:rPr lang="en-US" altLang="zh-TW" dirty="0" smtClean="0"/>
                  <a:t>zeros: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=(1</a:t>
                </a:r>
                <a:r>
                  <a:rPr lang="en-US" altLang="zh-TW" i="1" baseline="30000" dirty="0" smtClean="0"/>
                  <a:t>n</a:t>
                </a:r>
                <a:r>
                  <a:rPr lang="en-US" altLang="zh-TW" dirty="0" smtClean="0"/>
                  <a:t>0)</a:t>
                </a:r>
                <a:r>
                  <a:rPr lang="en-US" altLang="zh-TW" i="1" baseline="30000" dirty="0" smtClean="0"/>
                  <a:t>u</a:t>
                </a:r>
                <a:r>
                  <a:rPr lang="en-US" altLang="zh-TW" baseline="30000" dirty="0"/>
                  <a:t>−</a:t>
                </a:r>
                <a:r>
                  <a:rPr lang="en-US" altLang="zh-TW" baseline="30000" dirty="0" smtClean="0"/>
                  <a:t>1</a:t>
                </a:r>
                <a:r>
                  <a:rPr lang="en-US" altLang="zh-TW" dirty="0" smtClean="0"/>
                  <a:t>0(1</a:t>
                </a:r>
                <a:r>
                  <a:rPr lang="en-US" altLang="zh-TW" i="1" baseline="30000" dirty="0" smtClean="0"/>
                  <a:t>n</a:t>
                </a:r>
                <a:r>
                  <a:rPr lang="en-US" altLang="zh-TW" dirty="0" smtClean="0"/>
                  <a:t>0)</a:t>
                </a:r>
                <a:r>
                  <a:rPr lang="en-US" altLang="zh-TW" i="1" baseline="30000" dirty="0" smtClean="0"/>
                  <a:t>v</a:t>
                </a:r>
                <a:r>
                  <a:rPr lang="en-US" altLang="zh-TW" baseline="30000" dirty="0"/>
                  <a:t>−</a:t>
                </a:r>
                <a:r>
                  <a:rPr lang="en-US" altLang="zh-TW" i="1" baseline="30000" dirty="0" smtClean="0"/>
                  <a:t>u</a:t>
                </a:r>
                <a:r>
                  <a:rPr lang="en-US" altLang="zh-TW" dirty="0" smtClean="0"/>
                  <a:t>(01</a:t>
                </a:r>
                <a:r>
                  <a:rPr lang="en-US" altLang="zh-TW" i="1" baseline="30000" dirty="0" smtClean="0"/>
                  <a:t>n</a:t>
                </a:r>
                <a:r>
                  <a:rPr lang="en-US" altLang="zh-TW" dirty="0" smtClean="0"/>
                  <a:t>)</a:t>
                </a:r>
                <a:r>
                  <a:rPr lang="en-US" altLang="zh-TW" i="1" baseline="30000" dirty="0" smtClean="0"/>
                  <a:t>n</a:t>
                </a:r>
                <a:r>
                  <a:rPr lang="en-US" altLang="zh-TW" baseline="30000" dirty="0"/>
                  <a:t>−</a:t>
                </a:r>
                <a:r>
                  <a:rPr lang="en-US" altLang="zh-TW" i="1" baseline="30000" dirty="0" smtClean="0"/>
                  <a:t>v</a:t>
                </a:r>
                <a:r>
                  <a:rPr lang="en-US" altLang="zh-TW" i="1" dirty="0" smtClean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2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4393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altLang="zh-TW" dirty="0" smtClean="0"/>
                  <a:t> = {1,4}, {1,5}, {2,5}, {3.4}</a:t>
                </a:r>
              </a:p>
              <a:p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1 </a:t>
                </a:r>
                <a:r>
                  <a:rPr lang="en-US" altLang="zh-TW" dirty="0" smtClean="0"/>
                  <a:t>= 0 11111 0 11111 0 11111 0 0 11111</a:t>
                </a:r>
              </a:p>
              <a:p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2 </a:t>
                </a:r>
                <a:r>
                  <a:rPr lang="en-US" altLang="zh-TW" dirty="0" smtClean="0"/>
                  <a:t>= 0 11111 0 11111 0 11111 0 11111 0</a:t>
                </a:r>
              </a:p>
              <a:p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3 </a:t>
                </a:r>
                <a:r>
                  <a:rPr lang="en-US" altLang="zh-TW" dirty="0" smtClean="0"/>
                  <a:t>= 11111 </a:t>
                </a:r>
                <a:r>
                  <a:rPr lang="en-US" altLang="zh-TW" dirty="0"/>
                  <a:t>0 </a:t>
                </a:r>
                <a:r>
                  <a:rPr lang="en-US" altLang="zh-TW" dirty="0" smtClean="0"/>
                  <a:t>0 11111 </a:t>
                </a:r>
                <a:r>
                  <a:rPr lang="en-US" altLang="zh-TW" dirty="0"/>
                  <a:t>0 11111 0 11111 0</a:t>
                </a:r>
              </a:p>
              <a:p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4 </a:t>
                </a:r>
                <a:r>
                  <a:rPr lang="en-US" altLang="zh-TW" dirty="0" smtClean="0"/>
                  <a:t>= 11111 </a:t>
                </a:r>
                <a:r>
                  <a:rPr lang="en-US" altLang="zh-TW" dirty="0"/>
                  <a:t>0 11111 0 </a:t>
                </a:r>
                <a:r>
                  <a:rPr lang="en-US" altLang="zh-TW" dirty="0" smtClean="0"/>
                  <a:t>0 11111 </a:t>
                </a:r>
                <a:r>
                  <a:rPr lang="en-US" altLang="zh-TW" dirty="0"/>
                  <a:t>0 </a:t>
                </a:r>
                <a:r>
                  <a:rPr lang="en-US" altLang="zh-TW" dirty="0" smtClean="0"/>
                  <a:t>0 11111</a:t>
                </a:r>
              </a:p>
              <a:p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5 </a:t>
                </a:r>
                <a:r>
                  <a:rPr lang="en-US" altLang="zh-TW" dirty="0" smtClean="0"/>
                  <a:t>= 11111 </a:t>
                </a:r>
                <a:r>
                  <a:rPr lang="en-US" altLang="zh-TW" dirty="0"/>
                  <a:t>0 11111 0 11111 0 11111 </a:t>
                </a:r>
                <a:r>
                  <a:rPr lang="en-US" altLang="zh-TW" dirty="0" smtClean="0"/>
                  <a:t>0 11111</a:t>
                </a:r>
              </a:p>
              <a:p>
                <a:r>
                  <a:rPr lang="en-US" altLang="zh-TW" i="1" dirty="0" smtClean="0"/>
                  <a:t>B</a:t>
                </a:r>
                <a:r>
                  <a:rPr lang="en-US" altLang="zh-TW" dirty="0" smtClean="0"/>
                  <a:t> = 0 0 0 0</a:t>
                </a:r>
              </a:p>
              <a:p>
                <a:r>
                  <a:rPr lang="en-US" altLang="zh-TW" i="1" dirty="0" smtClean="0"/>
                  <a:t>C</a:t>
                </a:r>
                <a:r>
                  <a:rPr lang="en-US" altLang="zh-TW" dirty="0" smtClean="0"/>
                  <a:t> = </a:t>
                </a:r>
                <a:r>
                  <a:rPr lang="en-US" altLang="zh-TW" dirty="0"/>
                  <a:t>11111 0 11111 0 </a:t>
                </a:r>
                <a:r>
                  <a:rPr lang="en-US" altLang="zh-TW" dirty="0" smtClean="0"/>
                  <a:t>11111 </a:t>
                </a:r>
                <a:r>
                  <a:rPr lang="en-US" altLang="zh-TW" dirty="0"/>
                  <a:t>0 </a:t>
                </a:r>
                <a:r>
                  <a:rPr lang="en-US" altLang="zh-TW" dirty="0" smtClean="0"/>
                  <a:t>0</a:t>
                </a:r>
                <a:endParaRPr lang="en-US" altLang="zh-TW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2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5" t="4770" r="5229" b="5044"/>
          <a:stretch/>
        </p:blipFill>
        <p:spPr bwMode="auto">
          <a:xfrm>
            <a:off x="6676373" y="4734839"/>
            <a:ext cx="1941534" cy="1866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699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Lemma 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There is a clique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 vertices in the graph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 if and only if there is a sequence </a:t>
                </a:r>
                <a:r>
                  <a:rPr lang="en-US" altLang="zh-TW" i="1" dirty="0"/>
                  <a:t>C</a:t>
                </a:r>
                <a:r>
                  <a:rPr lang="en-US" altLang="zh-TW" dirty="0"/>
                  <a:t> of length 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= (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 + 1)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 − 1 that is </a:t>
                </a:r>
                <a:r>
                  <a:rPr lang="en-US" altLang="zh-TW" dirty="0" smtClean="0"/>
                  <a:t>a subsequence </a:t>
                </a:r>
                <a:r>
                  <a:rPr lang="en-US" altLang="zh-TW" dirty="0"/>
                  <a:t>of each input sequence </a:t>
                </a:r>
                <a:r>
                  <a:rPr lang="en-US" altLang="zh-TW" i="1" dirty="0"/>
                  <a:t>A</a:t>
                </a:r>
                <a:r>
                  <a:rPr lang="en-US" altLang="zh-TW" i="1" baseline="-25000" dirty="0"/>
                  <a:t>i</a:t>
                </a:r>
                <a:r>
                  <a:rPr lang="en-US" altLang="zh-TW" dirty="0"/>
                  <a:t> and is a </a:t>
                </a:r>
                <a:r>
                  <a:rPr lang="en-US" altLang="zh-TW" dirty="0" err="1"/>
                  <a:t>supersequence</a:t>
                </a:r>
                <a:r>
                  <a:rPr lang="en-US" altLang="zh-TW" dirty="0"/>
                  <a:t> of the constraint sequence </a:t>
                </a:r>
                <a:r>
                  <a:rPr lang="en-US" altLang="zh-TW" i="1" dirty="0"/>
                  <a:t>B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Let </a:t>
                </a:r>
                <a:r>
                  <a:rPr lang="en-US" altLang="zh-TW" i="1" dirty="0"/>
                  <a:t>i</a:t>
                </a:r>
                <a:r>
                  <a:rPr lang="en-US" altLang="zh-TW" baseline="-25000" dirty="0"/>
                  <a:t>1</a:t>
                </a:r>
                <a:r>
                  <a:rPr lang="en-US" altLang="zh-TW" i="1" dirty="0"/>
                  <a:t>, . . . , </a:t>
                </a:r>
                <a:r>
                  <a:rPr lang="en-US" altLang="zh-TW" i="1" dirty="0" err="1"/>
                  <a:t>i</a:t>
                </a:r>
                <a:r>
                  <a:rPr lang="en-US" altLang="zh-TW" i="1" baseline="-25000" dirty="0" err="1"/>
                  <a:t>q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be the </a:t>
                </a:r>
                <a:r>
                  <a:rPr lang="en-US" altLang="zh-TW" i="1" dirty="0" smtClean="0"/>
                  <a:t>q </a:t>
                </a:r>
                <a:r>
                  <a:rPr lang="en-US" altLang="zh-TW" dirty="0" smtClean="0"/>
                  <a:t>vertices </a:t>
                </a:r>
                <a:r>
                  <a:rPr lang="en-US" altLang="zh-TW" dirty="0"/>
                  <a:t>in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, where </a:t>
                </a:r>
                <a:r>
                  <a:rPr lang="en-US" altLang="zh-TW" dirty="0" smtClean="0"/>
                  <a:t>1</a:t>
                </a:r>
                <a:r>
                  <a:rPr lang="en-US" altLang="zh-TW" i="1" dirty="0"/>
                  <a:t> ≤ </a:t>
                </a:r>
                <a:r>
                  <a:rPr lang="en-US" altLang="zh-TW" i="1" dirty="0" smtClean="0"/>
                  <a:t>i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 </a:t>
                </a:r>
                <a:r>
                  <a:rPr lang="en-US" altLang="zh-TW" i="1" dirty="0"/>
                  <a:t>&lt; </a:t>
                </a:r>
                <a:r>
                  <a:rPr lang="en-US" altLang="zh-TW" dirty="0"/>
                  <a:t>· · · </a:t>
                </a:r>
                <a:r>
                  <a:rPr lang="en-US" altLang="zh-TW" i="1" dirty="0"/>
                  <a:t>&lt; </a:t>
                </a:r>
                <a:r>
                  <a:rPr lang="en-US" altLang="zh-TW" i="1" dirty="0" err="1" smtClean="0"/>
                  <a:t>i</a:t>
                </a:r>
                <a:r>
                  <a:rPr lang="en-US" altLang="zh-TW" i="1" baseline="-25000" dirty="0" err="1" smtClean="0"/>
                  <a:t>q</a:t>
                </a:r>
                <a:r>
                  <a:rPr lang="en-US" altLang="zh-TW" i="1" dirty="0"/>
                  <a:t> ≤ </a:t>
                </a:r>
                <a:r>
                  <a:rPr lang="en-US" altLang="zh-TW" i="1" dirty="0" smtClean="0"/>
                  <a:t>n</a:t>
                </a:r>
                <a:r>
                  <a:rPr lang="en-US" altLang="zh-TW" dirty="0"/>
                  <a:t>. We construct a sequence </a:t>
                </a:r>
                <a:r>
                  <a:rPr lang="en-US" altLang="zh-TW" i="1" dirty="0"/>
                  <a:t>C </a:t>
                </a:r>
                <a:r>
                  <a:rPr lang="en-US" altLang="zh-TW" dirty="0"/>
                  <a:t>of </a:t>
                </a:r>
                <a:r>
                  <a:rPr lang="en-US" altLang="zh-TW" i="1" dirty="0" err="1"/>
                  <a:t>qn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ones and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−1 zeros as </a:t>
                </a:r>
                <a:r>
                  <a:rPr lang="en-US" altLang="zh-TW" dirty="0" smtClean="0"/>
                  <a:t>follows: </a:t>
                </a:r>
              </a:p>
              <a:p>
                <a:pPr marL="0" indent="0">
                  <a:buNone/>
                </a:pPr>
                <a:r>
                  <a:rPr lang="en-US" altLang="zh-TW" i="1" dirty="0"/>
                  <a:t>	</a:t>
                </a:r>
                <a:r>
                  <a:rPr lang="pt-BR" altLang="zh-TW" i="1" dirty="0" smtClean="0"/>
                  <a:t>C </a:t>
                </a:r>
                <a:r>
                  <a:rPr lang="pt-BR" altLang="zh-TW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altLang="zh-TW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0</m:t>
                        </m:r>
                      </m:e>
                      <m:sup>
                        <m:sSub>
                          <m:sSubPr>
                            <m:ctrlPr>
                              <a:rPr lang="pt-BR" altLang="zh-TW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dirty="0" smtClean="0">
                            <a:latin typeface="Cambria Math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pt-BR" altLang="zh-TW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pt-BR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/>
                          </a:rPr>
                          <m:t>0</m:t>
                        </m:r>
                      </m:e>
                      <m:sup>
                        <m:sSub>
                          <m:sSubPr>
                            <m:ctrlPr>
                              <a:rPr lang="pt-B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pt-B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pt-BR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US" altLang="zh-TW" i="1" dirty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altLang="zh-TW" b="0" i="1" dirty="0" smtClean="0">
                        <a:latin typeface="Cambria Math"/>
                      </a:rPr>
                      <m:t>…</m:t>
                    </m:r>
                    <m:sSup>
                      <m:sSupPr>
                        <m:ctrlPr>
                          <a:rPr lang="pt-BR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/>
                          </a:rPr>
                          <m:t>0</m:t>
                        </m:r>
                      </m:e>
                      <m:sup>
                        <m:sSub>
                          <m:sSubPr>
                            <m:ctrlPr>
                              <a:rPr lang="pt-B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𝑞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pt-B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𝑞</m:t>
                            </m:r>
                            <m:r>
                              <a:rPr lang="en-US" altLang="zh-TW" b="0" i="1" dirty="0" smtClean="0"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pt-BR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/>
                          </a:rPr>
                          <m:t>1</m:t>
                        </m:r>
                      </m:e>
                      <m:sup>
                        <m:r>
                          <a:rPr lang="en-US" altLang="zh-TW" i="1" dirty="0">
                            <a:latin typeface="Cambria Math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pt-BR" altLang="zh-TW" i="1" dirty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/>
                          </a:rPr>
                          <m:t>0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pt-BR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𝑞</m:t>
                            </m:r>
                          </m:sub>
                        </m:sSub>
                      </m:sup>
                    </m:sSup>
                  </m:oMath>
                </a14:m>
                <a:r>
                  <a:rPr lang="pt-BR" altLang="zh-TW" i="1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200" r="-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931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Lemma </a:t>
            </a:r>
            <a:r>
              <a:rPr lang="en-US" altLang="zh-TW" dirty="0" smtClean="0"/>
              <a:t>1 (To be skipped)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zh-TW" dirty="0"/>
                  <a:t>Clearly, </a:t>
                </a:r>
                <a:r>
                  <a:rPr lang="en-US" altLang="zh-TW" i="1" dirty="0"/>
                  <a:t>C </a:t>
                </a:r>
                <a:r>
                  <a:rPr lang="en-US" altLang="zh-TW" dirty="0"/>
                  <a:t>is a </a:t>
                </a:r>
                <a:r>
                  <a:rPr lang="en-US" altLang="zh-TW" dirty="0" err="1"/>
                  <a:t>supersequence</a:t>
                </a:r>
                <a:r>
                  <a:rPr lang="en-US" altLang="zh-TW" dirty="0"/>
                  <a:t> of </a:t>
                </a:r>
                <a:r>
                  <a:rPr lang="en-US" altLang="zh-TW" i="1" dirty="0"/>
                  <a:t>B</a:t>
                </a:r>
                <a:r>
                  <a:rPr lang="en-US" altLang="zh-TW" dirty="0"/>
                  <a:t>. Note that </a:t>
                </a:r>
                <a:r>
                  <a:rPr lang="en-US" altLang="zh-TW" i="1" dirty="0"/>
                  <a:t>C </a:t>
                </a:r>
                <a:r>
                  <a:rPr lang="en-US" altLang="zh-TW" dirty="0"/>
                  <a:t>can be obtained from </a:t>
                </a:r>
                <a:r>
                  <a:rPr lang="en-US" altLang="zh-TW" i="1" dirty="0" err="1"/>
                  <a:t>A</a:t>
                </a:r>
                <a:r>
                  <a:rPr lang="en-US" altLang="zh-TW" i="1" baseline="-25000" dirty="0" err="1"/>
                  <a:t>k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by deleting all one-blocks except those </a:t>
                </a:r>
                <a:r>
                  <a:rPr lang="en-US" altLang="zh-TW" dirty="0" smtClean="0"/>
                  <a:t>with indices </a:t>
                </a:r>
                <a:r>
                  <a:rPr lang="en-US" altLang="zh-TW" i="1" dirty="0"/>
                  <a:t>i</a:t>
                </a:r>
                <a:r>
                  <a:rPr lang="en-US" altLang="zh-TW" baseline="-25000" dirty="0"/>
                  <a:t>1</a:t>
                </a:r>
                <a:r>
                  <a:rPr lang="en-US" altLang="zh-TW" i="1" dirty="0"/>
                  <a:t>, . . . , </a:t>
                </a:r>
                <a:r>
                  <a:rPr lang="en-US" altLang="zh-TW" i="1" dirty="0" err="1"/>
                  <a:t>i</a:t>
                </a:r>
                <a:r>
                  <a:rPr lang="en-US" altLang="zh-TW" i="1" baseline="-25000" dirty="0" err="1"/>
                  <a:t>q</a:t>
                </a:r>
                <a:r>
                  <a:rPr lang="en-US" altLang="zh-TW" dirty="0"/>
                  <a:t>. So </a:t>
                </a:r>
                <a:r>
                  <a:rPr lang="en-US" altLang="zh-TW" i="1" dirty="0"/>
                  <a:t>C </a:t>
                </a:r>
                <a:r>
                  <a:rPr lang="en-US" altLang="zh-TW" dirty="0"/>
                  <a:t>is a subsequence of </a:t>
                </a:r>
                <a:r>
                  <a:rPr lang="en-US" altLang="zh-TW" i="1" dirty="0" err="1"/>
                  <a:t>A</a:t>
                </a:r>
                <a:r>
                  <a:rPr lang="en-US" altLang="zh-TW" i="1" baseline="-25000" dirty="0" err="1"/>
                  <a:t>k</a:t>
                </a:r>
                <a:r>
                  <a:rPr lang="en-US" altLang="zh-TW" dirty="0" smtClean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If </a:t>
                </a:r>
                <a:r>
                  <a:rPr lang="en-US" altLang="zh-TW" i="1" dirty="0"/>
                  <a:t>u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∉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, then </a:t>
                </a:r>
                <a:r>
                  <a:rPr lang="en-US" altLang="zh-TW" i="1" dirty="0"/>
                  <a:t>C </a:t>
                </a:r>
                <a:r>
                  <a:rPr lang="en-US" altLang="zh-TW" dirty="0"/>
                  <a:t>is a subsequence of the following common subsequence of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dirty="0" smtClean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k</a:t>
                </a:r>
                <a:r>
                  <a:rPr lang="en-US" altLang="zh-TW" dirty="0" smtClean="0"/>
                  <a:t>: (1</a:t>
                </a:r>
                <a:r>
                  <a:rPr lang="en-US" altLang="zh-TW" i="1" baseline="30000" dirty="0" smtClean="0"/>
                  <a:t>n</a:t>
                </a:r>
                <a:r>
                  <a:rPr lang="en-US" altLang="zh-TW" dirty="0" smtClean="0"/>
                  <a:t>0)</a:t>
                </a:r>
                <a:r>
                  <a:rPr lang="en-US" altLang="zh-TW" i="1" baseline="30000" dirty="0" smtClean="0"/>
                  <a:t>u</a:t>
                </a:r>
                <a:r>
                  <a:rPr lang="en-US" altLang="zh-TW" baseline="30000" dirty="0"/>
                  <a:t>−1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(01</a:t>
                </a:r>
                <a:r>
                  <a:rPr lang="en-US" altLang="zh-TW" i="1" baseline="30000" dirty="0" smtClean="0"/>
                  <a:t>n</a:t>
                </a:r>
                <a:r>
                  <a:rPr lang="en-US" altLang="zh-TW" dirty="0" smtClean="0"/>
                  <a:t>)</a:t>
                </a:r>
                <a:r>
                  <a:rPr lang="en-US" altLang="zh-TW" i="1" baseline="30000" dirty="0" smtClean="0"/>
                  <a:t>v</a:t>
                </a:r>
                <a:r>
                  <a:rPr lang="en-US" altLang="zh-TW" baseline="30000" dirty="0"/>
                  <a:t>−</a:t>
                </a:r>
                <a:r>
                  <a:rPr lang="en-US" altLang="zh-TW" i="1" baseline="30000" dirty="0" smtClean="0"/>
                  <a:t>u</a:t>
                </a:r>
                <a:r>
                  <a:rPr lang="en-US" altLang="zh-TW" dirty="0" smtClean="0"/>
                  <a:t>(01</a:t>
                </a:r>
                <a:r>
                  <a:rPr lang="en-US" altLang="zh-TW" i="1" baseline="30000" dirty="0" smtClean="0"/>
                  <a:t>n</a:t>
                </a:r>
                <a:r>
                  <a:rPr lang="en-US" altLang="zh-TW" dirty="0" smtClean="0"/>
                  <a:t>)</a:t>
                </a:r>
                <a:r>
                  <a:rPr lang="en-US" altLang="zh-TW" i="1" baseline="30000" dirty="0" smtClean="0"/>
                  <a:t>n</a:t>
                </a:r>
                <a:r>
                  <a:rPr lang="en-US" altLang="zh-TW" baseline="30000" dirty="0"/>
                  <a:t>−</a:t>
                </a:r>
                <a:r>
                  <a:rPr lang="en-US" altLang="zh-TW" i="1" baseline="30000" dirty="0" smtClean="0"/>
                  <a:t>v</a:t>
                </a:r>
                <a:r>
                  <a:rPr lang="en-US" altLang="zh-TW" i="1" dirty="0" smtClean="0"/>
                  <a:t>, </a:t>
                </a:r>
                <a:r>
                  <a:rPr lang="en-US" altLang="zh-TW" dirty="0" smtClean="0"/>
                  <a:t>which </a:t>
                </a:r>
                <a:r>
                  <a:rPr lang="en-US" altLang="zh-TW" dirty="0"/>
                  <a:t>can be obtained either from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dirty="0" smtClean="0"/>
                  <a:t> </a:t>
                </a:r>
                <a:r>
                  <a:rPr lang="en-US" altLang="zh-TW" dirty="0"/>
                  <a:t>by deleting the zero with index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, or from </a:t>
                </a:r>
                <a:r>
                  <a:rPr lang="en-US" altLang="zh-TW" i="1" dirty="0" err="1"/>
                  <a:t>A</a:t>
                </a:r>
                <a:r>
                  <a:rPr lang="en-US" altLang="zh-TW" i="1" baseline="-25000" dirty="0" err="1"/>
                  <a:t>k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by deleting the one-block </a:t>
                </a:r>
                <a:r>
                  <a:rPr lang="en-US" altLang="zh-TW" dirty="0" smtClean="0"/>
                  <a:t>with index </a:t>
                </a:r>
                <a:r>
                  <a:rPr lang="en-US" altLang="zh-TW" i="1" dirty="0" smtClean="0"/>
                  <a:t>u</a:t>
                </a:r>
                <a:r>
                  <a:rPr lang="en-US" altLang="zh-TW" dirty="0" smtClean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If </a:t>
                </a:r>
                <a:r>
                  <a:rPr lang="en-US" altLang="zh-TW" i="1" dirty="0"/>
                  <a:t>v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∉</m:t>
                    </m:r>
                  </m:oMath>
                </a14:m>
                <a:r>
                  <a:rPr lang="en-US" altLang="zh-TW" dirty="0"/>
                  <a:t> </a:t>
                </a:r>
                <a:r>
                  <a:rPr lang="en-US" altLang="zh-TW" i="1" dirty="0"/>
                  <a:t>K</a:t>
                </a:r>
                <a:r>
                  <a:rPr lang="en-US" altLang="zh-TW" dirty="0"/>
                  <a:t>, then </a:t>
                </a:r>
                <a:r>
                  <a:rPr lang="en-US" altLang="zh-TW" i="1" dirty="0"/>
                  <a:t>C </a:t>
                </a:r>
                <a:r>
                  <a:rPr lang="en-US" altLang="zh-TW" dirty="0"/>
                  <a:t>is a subsequence of the following common subsequence of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dirty="0" smtClean="0"/>
                  <a:t> </a:t>
                </a:r>
                <a:r>
                  <a:rPr lang="en-US" altLang="zh-TW" dirty="0"/>
                  <a:t>and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k</a:t>
                </a:r>
                <a:r>
                  <a:rPr lang="en-US" altLang="zh-TW" dirty="0" smtClean="0"/>
                  <a:t>: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(1</a:t>
                </a:r>
                <a:r>
                  <a:rPr lang="en-US" altLang="zh-TW" i="1" baseline="30000" dirty="0"/>
                  <a:t>n</a:t>
                </a:r>
                <a:r>
                  <a:rPr lang="en-US" altLang="zh-TW" dirty="0"/>
                  <a:t>0)</a:t>
                </a:r>
                <a:r>
                  <a:rPr lang="en-US" altLang="zh-TW" i="1" baseline="30000" dirty="0"/>
                  <a:t>u</a:t>
                </a:r>
                <a:r>
                  <a:rPr lang="en-US" altLang="zh-TW" baseline="30000" dirty="0"/>
                  <a:t>−1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(</a:t>
                </a:r>
                <a:r>
                  <a:rPr lang="en-US" altLang="zh-TW" dirty="0"/>
                  <a:t>1</a:t>
                </a:r>
                <a:r>
                  <a:rPr lang="en-US" altLang="zh-TW" i="1" baseline="30000" dirty="0"/>
                  <a:t>n</a:t>
                </a:r>
                <a:r>
                  <a:rPr lang="en-US" altLang="zh-TW" dirty="0" smtClean="0"/>
                  <a:t>0)</a:t>
                </a:r>
                <a:r>
                  <a:rPr lang="en-US" altLang="zh-TW" i="1" baseline="30000" dirty="0" smtClean="0"/>
                  <a:t>v</a:t>
                </a:r>
                <a:r>
                  <a:rPr lang="en-US" altLang="zh-TW" baseline="30000" dirty="0"/>
                  <a:t>−</a:t>
                </a:r>
                <a:r>
                  <a:rPr lang="en-US" altLang="zh-TW" i="1" baseline="30000" dirty="0"/>
                  <a:t>u</a:t>
                </a:r>
                <a:r>
                  <a:rPr lang="en-US" altLang="zh-TW" dirty="0"/>
                  <a:t>(01</a:t>
                </a:r>
                <a:r>
                  <a:rPr lang="en-US" altLang="zh-TW" i="1" baseline="30000" dirty="0"/>
                  <a:t>n</a:t>
                </a:r>
                <a:r>
                  <a:rPr lang="en-US" altLang="zh-TW" dirty="0"/>
                  <a:t>)</a:t>
                </a:r>
                <a:r>
                  <a:rPr lang="en-US" altLang="zh-TW" i="1" baseline="30000" dirty="0"/>
                  <a:t>n</a:t>
                </a:r>
                <a:r>
                  <a:rPr lang="en-US" altLang="zh-TW" baseline="30000" dirty="0"/>
                  <a:t>−</a:t>
                </a:r>
                <a:r>
                  <a:rPr lang="en-US" altLang="zh-TW" i="1" baseline="30000" dirty="0"/>
                  <a:t>v</a:t>
                </a:r>
                <a:r>
                  <a:rPr lang="en-US" altLang="zh-TW" i="1" dirty="0" smtClean="0"/>
                  <a:t>, </a:t>
                </a:r>
                <a:r>
                  <a:rPr lang="en-US" altLang="zh-TW" dirty="0" smtClean="0"/>
                  <a:t>which </a:t>
                </a:r>
                <a:r>
                  <a:rPr lang="en-US" altLang="zh-TW" dirty="0"/>
                  <a:t>can be obtained either from </a:t>
                </a:r>
                <a:r>
                  <a:rPr lang="en-US" altLang="zh-TW" i="1" dirty="0" err="1" smtClean="0"/>
                  <a:t>A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dirty="0" smtClean="0"/>
                  <a:t> </a:t>
                </a:r>
                <a:r>
                  <a:rPr lang="en-US" altLang="zh-TW" dirty="0"/>
                  <a:t>by deleting the zero with index </a:t>
                </a:r>
                <a:r>
                  <a:rPr lang="en-US" altLang="zh-TW" i="1" dirty="0"/>
                  <a:t>u</a:t>
                </a:r>
                <a:r>
                  <a:rPr lang="en-US" altLang="zh-TW" dirty="0"/>
                  <a:t>, or from </a:t>
                </a:r>
                <a:r>
                  <a:rPr lang="en-US" altLang="zh-TW" i="1" dirty="0" err="1"/>
                  <a:t>A</a:t>
                </a:r>
                <a:r>
                  <a:rPr lang="en-US" altLang="zh-TW" i="1" baseline="-25000" dirty="0" err="1"/>
                  <a:t>k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by deleting the one-block </a:t>
                </a:r>
                <a:r>
                  <a:rPr lang="en-US" altLang="zh-TW" dirty="0" smtClean="0"/>
                  <a:t>with index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549" t="-1067" r="-2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577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Reduction from MAX-CLIQUE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Suppose there is a polynomial-time algorithm that approximates </a:t>
                </a:r>
                <a:r>
                  <a:rPr lang="en-US" altLang="zh-TW" dirty="0"/>
                  <a:t>C-LCS(</a:t>
                </a:r>
                <a:r>
                  <a:rPr lang="en-US" altLang="zh-TW" i="1" dirty="0"/>
                  <a:t>k, </a:t>
                </a:r>
                <a:r>
                  <a:rPr lang="en-US" altLang="zh-TW" dirty="0"/>
                  <a:t>1)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within a factor </a:t>
                </a:r>
                <a:r>
                  <a:rPr lang="en-US" altLang="zh-TW" i="1" dirty="0"/>
                  <a:t>f </a:t>
                </a:r>
                <a:r>
                  <a:rPr lang="en-US" altLang="zh-TW" dirty="0"/>
                  <a:t>(|</a:t>
                </a:r>
                <a:r>
                  <a:rPr lang="en-US" altLang="zh-TW" i="1" dirty="0"/>
                  <a:t>Σ</a:t>
                </a:r>
                <a:r>
                  <a:rPr lang="en-US" altLang="zh-TW" dirty="0"/>
                  <a:t>|)</a:t>
                </a:r>
                <a:r>
                  <a:rPr lang="en-US" altLang="zh-TW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en-US" altLang="zh-TW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baseline="30000" dirty="0" smtClean="0"/>
                  <a:t>1</a:t>
                </a:r>
                <a:r>
                  <a:rPr lang="en-US" altLang="zh-TW" i="1" baseline="30000" dirty="0" smtClean="0"/>
                  <a:t>/</a:t>
                </a:r>
                <a:r>
                  <a:rPr lang="en-US" altLang="zh-TW" baseline="30000" dirty="0" smtClean="0"/>
                  <a:t>2−</a:t>
                </a:r>
                <a:r>
                  <a:rPr lang="el-GR" altLang="zh-TW" baseline="30000" dirty="0" smtClean="0">
                    <a:latin typeface="Cambria Math"/>
                    <a:ea typeface="Cambria Math"/>
                  </a:rPr>
                  <a:t>ε </a:t>
                </a:r>
                <a:r>
                  <a:rPr lang="en-US" altLang="zh-TW" dirty="0" smtClean="0"/>
                  <a:t>for </a:t>
                </a:r>
                <a:r>
                  <a:rPr lang="en-US" altLang="zh-TW" dirty="0"/>
                  <a:t>some computable function </a:t>
                </a:r>
                <a:r>
                  <a:rPr lang="en-US" altLang="zh-TW" i="1" dirty="0"/>
                  <a:t>f </a:t>
                </a:r>
                <a:r>
                  <a:rPr lang="en-US" altLang="zh-TW" dirty="0"/>
                  <a:t>and some </a:t>
                </a:r>
                <a:r>
                  <a:rPr lang="el-GR" altLang="zh-TW" dirty="0">
                    <a:latin typeface="Cambria Math"/>
                    <a:ea typeface="Cambria Math"/>
                  </a:rPr>
                  <a:t>ε</a:t>
                </a:r>
                <a:r>
                  <a:rPr lang="el-GR" altLang="zh-TW" baseline="30000" dirty="0">
                    <a:latin typeface="Cambria Math"/>
                    <a:ea typeface="Cambria Math"/>
                  </a:rPr>
                  <a:t> </a:t>
                </a:r>
                <a:r>
                  <a:rPr lang="en-US" altLang="zh-TW" i="1" dirty="0" smtClean="0"/>
                  <a:t>&gt; </a:t>
                </a:r>
                <a:r>
                  <a:rPr lang="en-US" altLang="zh-TW" dirty="0"/>
                  <a:t>0. Then we </a:t>
                </a:r>
                <a:r>
                  <a:rPr lang="en-US" altLang="zh-TW" dirty="0" smtClean="0"/>
                  <a:t>can obtain </a:t>
                </a:r>
                <a:r>
                  <a:rPr lang="en-US" altLang="zh-TW" dirty="0"/>
                  <a:t>a polynomial-time algorithm that approximates Max-Clique (on a graph </a:t>
                </a:r>
                <a:r>
                  <a:rPr lang="en-US" altLang="zh-TW" i="1" dirty="0"/>
                  <a:t>G </a:t>
                </a:r>
                <a:r>
                  <a:rPr lang="en-US" altLang="zh-TW" dirty="0"/>
                  <a:t>of </a:t>
                </a:r>
                <a:r>
                  <a:rPr lang="en-US" altLang="zh-TW" i="1" dirty="0"/>
                  <a:t>n </a:t>
                </a:r>
                <a:r>
                  <a:rPr lang="en-US" altLang="zh-TW" dirty="0"/>
                  <a:t>vertices) within a factor </a:t>
                </a:r>
                <a:r>
                  <a:rPr lang="en-US" altLang="zh-TW" i="1" dirty="0"/>
                  <a:t>n</a:t>
                </a:r>
                <a:r>
                  <a:rPr lang="en-US" altLang="zh-TW" baseline="30000" dirty="0"/>
                  <a:t>1</a:t>
                </a:r>
                <a:r>
                  <a:rPr lang="en-US" altLang="zh-TW" baseline="30000" dirty="0" smtClean="0"/>
                  <a:t>−</a:t>
                </a:r>
                <a:r>
                  <a:rPr lang="el-GR" altLang="zh-TW" baseline="30000" dirty="0">
                    <a:latin typeface="Cambria Math"/>
                    <a:ea typeface="Cambria Math"/>
                  </a:rPr>
                  <a:t> ε</a:t>
                </a:r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as follows:</a:t>
                </a:r>
              </a:p>
              <a:p>
                <a:pPr marL="788670" lvl="1" indent="-514350">
                  <a:buFont typeface="+mj-lt"/>
                  <a:buAutoNum type="arabicPeriod"/>
                </a:pPr>
                <a:r>
                  <a:rPr lang="en-US" altLang="zh-TW" dirty="0" smtClean="0"/>
                  <a:t>If </a:t>
                </a:r>
                <a:r>
                  <a:rPr lang="en-US" altLang="zh-TW" i="1" dirty="0"/>
                  <a:t>n &lt; </a:t>
                </a:r>
                <a:r>
                  <a:rPr lang="en-US" altLang="zh-TW" dirty="0"/>
                  <a:t>(2 </a:t>
                </a:r>
                <a:r>
                  <a:rPr lang="en-US" altLang="zh-TW" i="1" dirty="0"/>
                  <a:t>f </a:t>
                </a:r>
                <a:r>
                  <a:rPr lang="en-US" altLang="zh-TW" dirty="0"/>
                  <a:t>(2))</a:t>
                </a:r>
                <a:r>
                  <a:rPr lang="en-US" altLang="zh-TW" baseline="30000" dirty="0"/>
                  <a:t>1</a:t>
                </a:r>
                <a:r>
                  <a:rPr lang="en-US" altLang="zh-TW" i="1" baseline="30000" dirty="0"/>
                  <a:t>/ </a:t>
                </a:r>
                <a:r>
                  <a:rPr lang="el-GR" altLang="zh-TW" baseline="30000" dirty="0">
                    <a:latin typeface="Cambria Math"/>
                    <a:ea typeface="Cambria Math"/>
                  </a:rPr>
                  <a:t>ε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use a brute-force algorithm to find a maximum clique in </a:t>
                </a:r>
                <a:r>
                  <a:rPr lang="en-US" altLang="zh-TW" i="1" dirty="0"/>
                  <a:t>G</a:t>
                </a:r>
                <a:r>
                  <a:rPr lang="en-US" altLang="zh-TW" dirty="0"/>
                  <a:t>, then return the clique</a:t>
                </a:r>
                <a:r>
                  <a:rPr lang="en-US" altLang="zh-TW" dirty="0" smtClean="0"/>
                  <a:t>. (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In constant time?</a:t>
                </a:r>
                <a:r>
                  <a:rPr lang="en-US" altLang="zh-TW" dirty="0" smtClean="0"/>
                  <a:t>)</a:t>
                </a:r>
              </a:p>
              <a:p>
                <a:pPr marL="788670" lvl="1" indent="-514350">
                  <a:buFont typeface="+mj-lt"/>
                  <a:buAutoNum type="arabicPeriod"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200" r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2563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Reduction from MAX-CLIQUE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788670" lvl="1" indent="-514350">
                  <a:buFont typeface="+mj-lt"/>
                  <a:buAutoNum type="arabicPeriod" startAt="2"/>
                </a:pPr>
                <a:r>
                  <a:rPr lang="en-US" altLang="zh-TW" dirty="0" smtClean="0"/>
                  <a:t>Construct a C-LCS</a:t>
                </a:r>
                <a:r>
                  <a:rPr lang="en-US" altLang="zh-TW" i="1" dirty="0"/>
                  <a:t>(k, </a:t>
                </a:r>
                <a:r>
                  <a:rPr lang="en-US" altLang="zh-TW" dirty="0"/>
                  <a:t>1</a:t>
                </a:r>
                <a:r>
                  <a:rPr lang="en-US" altLang="zh-TW" i="1" dirty="0"/>
                  <a:t>) </a:t>
                </a:r>
                <a:r>
                  <a:rPr lang="en-US" altLang="zh-TW" dirty="0"/>
                  <a:t>instance as in our reduction, use the </a:t>
                </a:r>
                <a:r>
                  <a:rPr lang="en-US" altLang="zh-TW" i="1" dirty="0"/>
                  <a:t>f </a:t>
                </a:r>
                <a:r>
                  <a:rPr lang="en-US" altLang="zh-TW" dirty="0"/>
                  <a:t>(|</a:t>
                </a:r>
                <a:r>
                  <a:rPr lang="en-US" altLang="zh-TW" i="1" dirty="0"/>
                  <a:t>Σ</a:t>
                </a:r>
                <a:r>
                  <a:rPr lang="en-US" altLang="zh-TW" dirty="0"/>
                  <a:t>|)</a:t>
                </a:r>
                <a:r>
                  <a:rPr lang="en-US" altLang="zh-TW" i="1" dirty="0"/>
                  <a:t>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/>
                      </a:rPr>
                      <m:t>𝑐</m:t>
                    </m:r>
                  </m:oMath>
                </a14:m>
                <a:r>
                  <a:rPr lang="en-US" altLang="zh-TW" dirty="0"/>
                  <a:t>-approximation algorithm to find a </a:t>
                </a:r>
                <a:r>
                  <a:rPr lang="en-US" altLang="zh-TW" dirty="0" smtClean="0"/>
                  <a:t>subsequence of </a:t>
                </a:r>
                <a:r>
                  <a:rPr lang="en-US" altLang="zh-TW" dirty="0"/>
                  <a:t>length </a:t>
                </a:r>
                <a:r>
                  <a:rPr lang="en-US" altLang="zh-TW" i="1" dirty="0" smtClean="0"/>
                  <a:t>l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then obtain a clique of size </a:t>
                </a:r>
                <a:r>
                  <a:rPr lang="en-US" altLang="zh-TW" i="1" dirty="0"/>
                  <a:t>q </a:t>
                </a:r>
                <a:r>
                  <a:rPr lang="en-US" altLang="zh-TW" dirty="0"/>
                  <a:t>in </a:t>
                </a:r>
                <a:r>
                  <a:rPr lang="en-US" altLang="zh-TW" i="1" dirty="0"/>
                  <a:t>G </a:t>
                </a:r>
                <a:r>
                  <a:rPr lang="en-US" altLang="zh-TW" dirty="0"/>
                  <a:t>following the reverse implication of Lemma 1. If </a:t>
                </a:r>
                <a:r>
                  <a:rPr lang="en-US" altLang="zh-TW" i="1" dirty="0" smtClean="0"/>
                  <a:t>q ≥ </a:t>
                </a:r>
                <a:r>
                  <a:rPr lang="en-US" altLang="zh-TW" dirty="0" smtClean="0"/>
                  <a:t>1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return the </a:t>
                </a:r>
                <a:r>
                  <a:rPr lang="en-US" altLang="zh-TW" dirty="0"/>
                  <a:t>clique of size </a:t>
                </a:r>
                <a:r>
                  <a:rPr lang="en-US" altLang="zh-TW" i="1" dirty="0"/>
                  <a:t>q</a:t>
                </a:r>
                <a:r>
                  <a:rPr lang="en-US" altLang="zh-TW" dirty="0"/>
                  <a:t>. Otherwise, return any single vertex in </a:t>
                </a:r>
                <a:r>
                  <a:rPr lang="en-US" altLang="zh-TW" i="1" dirty="0"/>
                  <a:t>G </a:t>
                </a:r>
                <a:r>
                  <a:rPr lang="en-US" altLang="zh-TW" dirty="0"/>
                  <a:t>as a clique of size 1.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t="-1067" r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2056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Theorem 6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Zuckerman (2007)</a:t>
            </a:r>
            <a:endParaRPr lang="en-US" altLang="zh-TW" dirty="0" smtClean="0"/>
          </a:p>
          <a:p>
            <a:r>
              <a:rPr lang="en-US" altLang="zh-TW" dirty="0" smtClean="0"/>
              <a:t>For </a:t>
            </a:r>
            <a:r>
              <a:rPr lang="en-US" altLang="zh-TW" dirty="0"/>
              <a:t>any </a:t>
            </a:r>
            <a:r>
              <a:rPr lang="el-GR" altLang="zh-TW" dirty="0">
                <a:latin typeface="Cambria Math"/>
                <a:ea typeface="Cambria Math"/>
              </a:rPr>
              <a:t>ε </a:t>
            </a:r>
            <a:r>
              <a:rPr lang="en-US" altLang="zh-TW" dirty="0" smtClean="0"/>
              <a:t>&gt; </a:t>
            </a:r>
            <a:r>
              <a:rPr lang="en-US" altLang="zh-TW" dirty="0"/>
              <a:t>0, there is no polynomial-time algorithm that approximates Max-Clique </a:t>
            </a:r>
            <a:r>
              <a:rPr lang="en-US" altLang="zh-TW" dirty="0" smtClean="0"/>
              <a:t>within </a:t>
            </a:r>
            <a:r>
              <a:rPr lang="pt-BR" altLang="zh-TW" dirty="0" smtClean="0"/>
              <a:t>a </a:t>
            </a:r>
            <a:r>
              <a:rPr lang="pt-BR" altLang="zh-TW" dirty="0"/>
              <a:t>factor n</a:t>
            </a:r>
            <a:r>
              <a:rPr lang="pt-BR" altLang="zh-TW" baseline="30000" dirty="0"/>
              <a:t>1</a:t>
            </a:r>
            <a:r>
              <a:rPr lang="pt-BR" altLang="zh-TW" baseline="30000" dirty="0" smtClean="0"/>
              <a:t>−</a:t>
            </a:r>
            <a:r>
              <a:rPr lang="el-GR" altLang="zh-TW" baseline="30000" dirty="0" smtClean="0">
                <a:latin typeface="Cambria Math"/>
                <a:ea typeface="Cambria Math"/>
              </a:rPr>
              <a:t>ε</a:t>
            </a:r>
            <a:r>
              <a:rPr lang="pt-BR" altLang="zh-TW" dirty="0" smtClean="0"/>
              <a:t> </a:t>
            </a:r>
            <a:r>
              <a:rPr lang="pt-BR" altLang="zh-TW" dirty="0"/>
              <a:t>unless NP = P</a:t>
            </a:r>
            <a:r>
              <a:rPr lang="pt-BR" altLang="zh-TW" dirty="0" smtClean="0"/>
              <a:t>.</a:t>
            </a:r>
          </a:p>
          <a:p>
            <a:endParaRPr lang="pt-BR" altLang="zh-TW" dirty="0"/>
          </a:p>
          <a:p>
            <a:r>
              <a:rPr lang="pt-BR" altLang="zh-TW" dirty="0" smtClean="0"/>
              <a:t>So Theorem 1 is proved.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4605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Proof of Theorem 3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(See Jiang and Li (1995</a:t>
                </a:r>
                <a:r>
                  <a:rPr lang="en-US" altLang="zh-TW" dirty="0" smtClean="0"/>
                  <a:t>)) </a:t>
                </a:r>
                <a:r>
                  <a:rPr lang="en-US" altLang="zh-TW" dirty="0"/>
                  <a:t>For any </a:t>
                </a:r>
                <a:r>
                  <a:rPr lang="el-GR" altLang="zh-TW" dirty="0">
                    <a:latin typeface="Cambria Math"/>
                    <a:ea typeface="Cambria Math"/>
                  </a:rPr>
                  <a:t>ε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&gt; 0, there is no polynomial-time algorithm that approximates LCS over </a:t>
                </a:r>
                <a:r>
                  <a:rPr lang="en-US" altLang="zh-TW" dirty="0" smtClean="0"/>
                  <a:t>an arbitrary </a:t>
                </a:r>
                <a:r>
                  <a:rPr lang="en-US" altLang="zh-TW" dirty="0"/>
                  <a:t>alphabet within a factor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en-US" altLang="zh-TW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baseline="30000" dirty="0" smtClean="0"/>
                  <a:t>1−</a:t>
                </a:r>
                <a:r>
                  <a:rPr lang="el-GR" altLang="zh-TW" baseline="30000" dirty="0">
                    <a:latin typeface="Cambria Math"/>
                    <a:ea typeface="Cambria Math"/>
                  </a:rPr>
                  <a:t>ε </a:t>
                </a:r>
                <a:r>
                  <a:rPr lang="en-US" altLang="zh-TW" dirty="0" smtClean="0"/>
                  <a:t>unless </a:t>
                </a:r>
                <a:r>
                  <a:rPr lang="en-US" altLang="zh-TW" dirty="0"/>
                  <a:t>NP = P, 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dirty="0"/>
                  <a:t> is the length of the shortest input sequence</a:t>
                </a:r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Since C-LCS(</a:t>
                </a:r>
                <a:r>
                  <a:rPr lang="en-US" altLang="zh-TW" i="1" dirty="0"/>
                  <a:t>k, </a:t>
                </a:r>
                <a:r>
                  <a:rPr lang="en-US" altLang="zh-TW" dirty="0"/>
                  <a:t>1)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over an arbitrary alphabet includes LCS over an arbitrary alphabet as a special case, Theorem 3 </a:t>
                </a:r>
                <a:r>
                  <a:rPr lang="en-US" altLang="zh-TW" dirty="0" smtClean="0"/>
                  <a:t>immediately follows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333" r="-22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33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Approximation Algorithm for Theorem </a:t>
            </a:r>
            <a:r>
              <a:rPr lang="en-US" altLang="zh-TW" dirty="0" smtClean="0"/>
              <a:t>2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Let </a:t>
                </a:r>
                <a:r>
                  <a:rPr lang="en-US" altLang="zh-TW" i="1" dirty="0"/>
                  <a:t>C</a:t>
                </a:r>
                <a:r>
                  <a:rPr lang="en-US" altLang="zh-TW" baseline="30000" dirty="0"/>
                  <a:t>∗</a:t>
                </a:r>
                <a:r>
                  <a:rPr lang="en-US" altLang="zh-TW" dirty="0"/>
                  <a:t> be a constrained longest common subsequence. Since </a:t>
                </a:r>
                <a:r>
                  <a:rPr lang="en-US" altLang="zh-TW" i="1" dirty="0"/>
                  <a:t>B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/>
                      </a:rPr>
                      <m:t>≼ </m:t>
                    </m:r>
                  </m:oMath>
                </a14:m>
                <a:r>
                  <a:rPr lang="en-US" altLang="zh-TW" i="1" dirty="0"/>
                  <a:t>C</a:t>
                </a:r>
                <a:r>
                  <a:rPr lang="en-US" altLang="zh-TW" baseline="30000" dirty="0"/>
                  <a:t>∗</a:t>
                </a:r>
                <a:r>
                  <a:rPr lang="en-US" altLang="zh-TW" dirty="0"/>
                  <a:t>, we can embed 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inside </a:t>
                </a:r>
                <a:r>
                  <a:rPr lang="en-US" altLang="zh-TW" i="1" dirty="0"/>
                  <a:t>C</a:t>
                </a:r>
                <a:r>
                  <a:rPr lang="en-US" altLang="zh-TW" baseline="30000" dirty="0"/>
                  <a:t>∗</a:t>
                </a:r>
                <a:r>
                  <a:rPr lang="en-US" altLang="zh-TW" dirty="0"/>
                  <a:t> in some fixed way </a:t>
                </a:r>
                <a:r>
                  <a:rPr lang="en-US" altLang="zh-TW" dirty="0" smtClean="0"/>
                  <a:t>such that </a:t>
                </a:r>
                <a:r>
                  <a:rPr lang="en-US" altLang="zh-TW" i="1" dirty="0"/>
                  <a:t>C</a:t>
                </a:r>
                <a:r>
                  <a:rPr lang="en-US" altLang="zh-TW" baseline="30000" dirty="0"/>
                  <a:t>∗</a:t>
                </a:r>
                <a:r>
                  <a:rPr lang="en-US" altLang="zh-TW" dirty="0"/>
                  <a:t> = </a:t>
                </a:r>
                <a:r>
                  <a:rPr lang="en-US" altLang="zh-TW" i="1" dirty="0"/>
                  <a:t>C</a:t>
                </a:r>
                <a:r>
                  <a:rPr lang="en-US" altLang="zh-TW" baseline="-25000" dirty="0"/>
                  <a:t>0</a:t>
                </a:r>
                <a:r>
                  <a:rPr lang="en-US" altLang="zh-TW" i="1" dirty="0"/>
                  <a:t>B</a:t>
                </a:r>
                <a:r>
                  <a:rPr lang="en-US" altLang="zh-TW" dirty="0"/>
                  <a:t>[1]</a:t>
                </a:r>
                <a:r>
                  <a:rPr lang="en-US" altLang="zh-TW" i="1" dirty="0"/>
                  <a:t>C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. . . B</a:t>
                </a:r>
                <a:r>
                  <a:rPr lang="en-US" altLang="zh-TW" dirty="0"/>
                  <a:t>[</a:t>
                </a:r>
                <a:r>
                  <a:rPr lang="en-US" altLang="zh-TW" i="1" dirty="0"/>
                  <a:t>b</a:t>
                </a:r>
                <a:r>
                  <a:rPr lang="en-US" altLang="zh-TW" dirty="0"/>
                  <a:t>]</a:t>
                </a:r>
                <a:r>
                  <a:rPr lang="en-US" altLang="zh-TW" i="1" dirty="0" err="1"/>
                  <a:t>C</a:t>
                </a:r>
                <a:r>
                  <a:rPr lang="en-US" altLang="zh-TW" i="1" baseline="-25000" dirty="0" err="1"/>
                  <a:t>b</a:t>
                </a:r>
                <a:r>
                  <a:rPr lang="en-US" altLang="zh-TW" dirty="0"/>
                  <a:t>, then assign each index </a:t>
                </a:r>
                <a:r>
                  <a:rPr lang="en-US" altLang="zh-TW" i="1" dirty="0"/>
                  <a:t>a </a:t>
                </a:r>
                <a:r>
                  <a:rPr lang="en-US" altLang="zh-TW" dirty="0"/>
                  <a:t>between 0 and 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(which we call a </a:t>
                </a:r>
                <a:r>
                  <a:rPr lang="en-US" altLang="zh-TW" i="1" dirty="0"/>
                  <a:t>slot</a:t>
                </a:r>
                <a:r>
                  <a:rPr lang="en-US" altLang="zh-TW" dirty="0"/>
                  <a:t>) a </a:t>
                </a:r>
                <a:r>
                  <a:rPr lang="en-US" altLang="zh-TW" i="1" dirty="0"/>
                  <a:t>value </a:t>
                </a:r>
                <a:r>
                  <a:rPr lang="en-US" altLang="zh-TW" dirty="0"/>
                  <a:t>that is the length </a:t>
                </a:r>
                <a:r>
                  <a:rPr lang="en-US" altLang="zh-TW" dirty="0" smtClean="0"/>
                  <a:t>of the </a:t>
                </a:r>
                <a:r>
                  <a:rPr lang="en-US" altLang="zh-TW" dirty="0"/>
                  <a:t>subsequence </a:t>
                </a:r>
                <a:r>
                  <a:rPr lang="en-US" altLang="zh-TW" i="1" dirty="0"/>
                  <a:t>C</a:t>
                </a:r>
                <a:r>
                  <a:rPr lang="en-US" altLang="zh-TW" i="1" baseline="-25000" dirty="0"/>
                  <a:t>a</a:t>
                </a:r>
                <a:r>
                  <a:rPr lang="en-US" altLang="zh-TW" dirty="0"/>
                  <a:t>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2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70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1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Run </a:t>
                </a:r>
                <a:r>
                  <a:rPr lang="en-US" altLang="zh-TW" dirty="0" err="1"/>
                  <a:t>Gotthilf</a:t>
                </a:r>
                <a:r>
                  <a:rPr lang="en-US" altLang="zh-TW" dirty="0"/>
                  <a:t> </a:t>
                </a:r>
                <a:r>
                  <a:rPr lang="en-US" altLang="zh-TW" i="1" dirty="0"/>
                  <a:t>et </a:t>
                </a:r>
                <a:r>
                  <a:rPr lang="en-US" altLang="zh-TW" i="1" dirty="0" smtClean="0"/>
                  <a:t>al</a:t>
                </a:r>
                <a:r>
                  <a:rPr lang="en-US" altLang="zh-TW" dirty="0" smtClean="0"/>
                  <a:t>.</a:t>
                </a:r>
                <a:r>
                  <a:rPr lang="en-US" altLang="zh-TW" dirty="0" smtClean="0">
                    <a:latin typeface="Batang" pitchFamily="18" charset="-127"/>
                    <a:ea typeface="Batang" pitchFamily="18" charset="-127"/>
                  </a:rPr>
                  <a:t>’</a:t>
                </a:r>
                <a:r>
                  <a:rPr lang="en-US" altLang="zh-TW" dirty="0" smtClean="0"/>
                  <a:t>s </a:t>
                </a:r>
                <a:r>
                  <a:rPr lang="en-US" altLang="zh-TW" dirty="0"/>
                  <a:t>algorithm </a:t>
                </a:r>
                <a:r>
                  <a:rPr lang="en-US" altLang="zh-TW" dirty="0" smtClean="0"/>
                  <a:t>to </a:t>
                </a:r>
                <a:r>
                  <a:rPr lang="en-US" altLang="zh-TW" dirty="0"/>
                  <a:t>find a constrained common subsequence</a:t>
                </a:r>
                <a:r>
                  <a:rPr lang="en-US" altLang="zh-TW" dirty="0" smtClean="0"/>
                  <a:t>:</a:t>
                </a:r>
              </a:p>
              <a:p>
                <a:pPr marL="1062990" lvl="2" indent="-514350">
                  <a:buFont typeface="+mj-lt"/>
                  <a:buAutoNum type="alphaLcParenR"/>
                </a:pPr>
                <a:r>
                  <a:rPr lang="en-US" altLang="zh-TW" sz="2400" dirty="0" smtClean="0"/>
                  <a:t>For </a:t>
                </a:r>
                <a:r>
                  <a:rPr lang="en-US" altLang="zh-TW" sz="2400" dirty="0"/>
                  <a:t>each slot </a:t>
                </a:r>
                <a:r>
                  <a:rPr lang="en-US" altLang="zh-TW" sz="2400" i="1" dirty="0"/>
                  <a:t>a</a:t>
                </a:r>
                <a:r>
                  <a:rPr lang="en-US" altLang="zh-TW" sz="2400" dirty="0"/>
                  <a:t>, </a:t>
                </a:r>
                <a:r>
                  <a:rPr lang="en-US" altLang="zh-TW" sz="2400" dirty="0" smtClean="0"/>
                  <a:t>0</a:t>
                </a:r>
                <a:r>
                  <a:rPr lang="en-US" altLang="zh-TW" sz="2400" i="1" dirty="0"/>
                  <a:t> ≤ </a:t>
                </a:r>
                <a:r>
                  <a:rPr lang="en-US" altLang="zh-TW" sz="2400" i="1" dirty="0" smtClean="0"/>
                  <a:t>a</a:t>
                </a:r>
                <a:r>
                  <a:rPr lang="en-US" altLang="zh-TW" sz="2400" i="1" dirty="0"/>
                  <a:t> ≤ </a:t>
                </a:r>
                <a:r>
                  <a:rPr lang="en-US" altLang="zh-TW" sz="2400" i="1" dirty="0" smtClean="0"/>
                  <a:t>b</a:t>
                </a:r>
                <a:r>
                  <a:rPr lang="en-US" altLang="zh-TW" sz="2400" dirty="0"/>
                  <a:t>, do the following:</a:t>
                </a:r>
              </a:p>
              <a:p>
                <a:pPr marL="1337310" lvl="3" indent="-514350">
                  <a:buFont typeface="+mj-lt"/>
                  <a:buAutoNum type="arabicParenR"/>
                </a:pPr>
                <a:r>
                  <a:rPr lang="en-US" altLang="zh-TW" sz="2400" dirty="0" smtClean="0"/>
                  <a:t>Partition </a:t>
                </a:r>
                <a:r>
                  <a:rPr lang="en-US" altLang="zh-TW" sz="2400" dirty="0"/>
                  <a:t>the constraint sequence </a:t>
                </a:r>
                <a:r>
                  <a:rPr lang="en-US" altLang="zh-TW" sz="2400" i="1" dirty="0"/>
                  <a:t>B </a:t>
                </a:r>
                <a:r>
                  <a:rPr lang="en-US" altLang="zh-TW" sz="2400" dirty="0"/>
                  <a:t>→</a:t>
                </a:r>
                <a:r>
                  <a:rPr lang="en-US" altLang="zh-TW" sz="2400" i="1" dirty="0"/>
                  <a:t>B</a:t>
                </a:r>
                <a:r>
                  <a:rPr lang="en-US" altLang="zh-TW" sz="2400" dirty="0"/>
                  <a:t>[1</a:t>
                </a:r>
                <a:r>
                  <a:rPr lang="en-US" altLang="zh-TW" sz="2400" i="1" dirty="0"/>
                  <a:t>,a</a:t>
                </a:r>
                <a:r>
                  <a:rPr lang="en-US" altLang="zh-TW" sz="2400" dirty="0"/>
                  <a:t>]</a:t>
                </a:r>
                <a:r>
                  <a:rPr lang="en-US" altLang="zh-TW" sz="2400" i="1" dirty="0"/>
                  <a:t>B</a:t>
                </a:r>
                <a:r>
                  <a:rPr lang="en-US" altLang="zh-TW" sz="2400" dirty="0"/>
                  <a:t>[</a:t>
                </a:r>
                <a:r>
                  <a:rPr lang="en-US" altLang="zh-TW" sz="2400" i="1" dirty="0"/>
                  <a:t>a </a:t>
                </a:r>
                <a:r>
                  <a:rPr lang="en-US" altLang="zh-TW" sz="2400" dirty="0"/>
                  <a:t>+1</a:t>
                </a:r>
                <a:r>
                  <a:rPr lang="en-US" altLang="zh-TW" sz="2400" i="1" dirty="0"/>
                  <a:t>, b</a:t>
                </a:r>
                <a:r>
                  <a:rPr lang="en-US" altLang="zh-TW" sz="2400" dirty="0" smtClean="0"/>
                  <a:t>].</a:t>
                </a:r>
              </a:p>
              <a:p>
                <a:pPr marL="1337310" lvl="3" indent="-514350">
                  <a:buFont typeface="+mj-lt"/>
                  <a:buAutoNum type="arabicParenR"/>
                </a:pPr>
                <a:r>
                  <a:rPr lang="en-US" altLang="zh-TW" sz="2400" dirty="0" smtClean="0"/>
                  <a:t>Partition </a:t>
                </a:r>
                <a:r>
                  <a:rPr lang="en-US" altLang="zh-TW" sz="2400" dirty="0"/>
                  <a:t>each input sequence </a:t>
                </a:r>
                <a:r>
                  <a:rPr lang="en-US" altLang="zh-TW" sz="2400" i="1" dirty="0"/>
                  <a:t>A</a:t>
                </a:r>
                <a:r>
                  <a:rPr lang="en-US" altLang="zh-TW" sz="2400" i="1" baseline="-25000" dirty="0"/>
                  <a:t>i</a:t>
                </a:r>
                <a:r>
                  <a:rPr lang="en-US" altLang="zh-TW" sz="2400" i="1" dirty="0"/>
                  <a:t> </a:t>
                </a:r>
                <a:r>
                  <a:rPr lang="en-US" altLang="zh-TW" sz="2400" dirty="0"/>
                  <a:t>→</a:t>
                </a:r>
                <a:r>
                  <a:rPr lang="en-US" altLang="zh-TW" sz="2400" i="1" dirty="0" err="1"/>
                  <a:t>L</a:t>
                </a:r>
                <a:r>
                  <a:rPr lang="en-US" altLang="zh-TW" sz="2400" i="1" baseline="-25000" dirty="0" err="1"/>
                  <a:t>i,a</a:t>
                </a:r>
                <a:r>
                  <a:rPr lang="en-US" altLang="zh-TW" sz="2400" i="1" dirty="0" err="1"/>
                  <a:t>M</a:t>
                </a:r>
                <a:r>
                  <a:rPr lang="en-US" altLang="zh-TW" sz="2400" i="1" baseline="-25000" dirty="0" err="1"/>
                  <a:t>i,a</a:t>
                </a:r>
                <a:r>
                  <a:rPr lang="en-US" altLang="zh-TW" sz="2400" i="1" dirty="0" err="1"/>
                  <a:t>R</a:t>
                </a:r>
                <a:r>
                  <a:rPr lang="en-US" altLang="zh-TW" sz="2400" i="1" baseline="-25000" dirty="0" err="1"/>
                  <a:t>i,a</a:t>
                </a:r>
                <a:r>
                  <a:rPr lang="en-US" altLang="zh-TW" sz="2400" i="1" dirty="0"/>
                  <a:t> </a:t>
                </a:r>
                <a:r>
                  <a:rPr lang="en-US" altLang="zh-TW" sz="2400" dirty="0"/>
                  <a:t>such that </a:t>
                </a:r>
                <a:r>
                  <a:rPr lang="en-US" altLang="zh-TW" sz="2400" i="1" dirty="0"/>
                  <a:t>B</a:t>
                </a:r>
                <a:r>
                  <a:rPr lang="en-US" altLang="zh-TW" sz="2400" dirty="0"/>
                  <a:t>[1</a:t>
                </a:r>
                <a:r>
                  <a:rPr lang="en-US" altLang="zh-TW" sz="2400" i="1" dirty="0"/>
                  <a:t>,a</a:t>
                </a:r>
                <a:r>
                  <a:rPr lang="en-US" altLang="zh-TW" sz="2400" dirty="0"/>
                  <a:t>]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/>
                      </a:rPr>
                      <m:t>≼</m:t>
                    </m:r>
                  </m:oMath>
                </a14:m>
                <a:r>
                  <a:rPr lang="en-US" altLang="zh-TW" sz="2400" dirty="0"/>
                  <a:t> </a:t>
                </a:r>
                <a:r>
                  <a:rPr lang="en-US" altLang="zh-TW" sz="2400" i="1" dirty="0" smtClean="0"/>
                  <a:t>L</a:t>
                </a:r>
                <a:r>
                  <a:rPr lang="en-US" altLang="zh-TW" sz="2400" i="1" baseline="-25000" dirty="0" smtClean="0"/>
                  <a:t>i,a</a:t>
                </a:r>
                <a:r>
                  <a:rPr lang="en-US" altLang="zh-TW" sz="2400" dirty="0"/>
                  <a:t>, </a:t>
                </a:r>
                <a:r>
                  <a:rPr lang="en-US" altLang="zh-TW" sz="2400" i="1" dirty="0"/>
                  <a:t>B</a:t>
                </a:r>
                <a:r>
                  <a:rPr lang="en-US" altLang="zh-TW" sz="2400" dirty="0"/>
                  <a:t>[</a:t>
                </a:r>
                <a:r>
                  <a:rPr lang="en-US" altLang="zh-TW" sz="2400" i="1" dirty="0"/>
                  <a:t>a</a:t>
                </a:r>
                <a:r>
                  <a:rPr lang="en-US" altLang="zh-TW" sz="2400" dirty="0"/>
                  <a:t>+1</a:t>
                </a:r>
                <a:r>
                  <a:rPr lang="en-US" altLang="zh-TW" sz="2400" i="1" dirty="0"/>
                  <a:t>, b</a:t>
                </a:r>
                <a:r>
                  <a:rPr lang="en-US" altLang="zh-TW" sz="2400" dirty="0"/>
                  <a:t>] </a:t>
                </a:r>
                <a14:m>
                  <m:oMath xmlns:m="http://schemas.openxmlformats.org/officeDocument/2006/math">
                    <m:r>
                      <a:rPr lang="en-US" altLang="zh-TW" sz="2400" i="1" dirty="0">
                        <a:latin typeface="Cambria Math"/>
                      </a:rPr>
                      <m:t>≼</m:t>
                    </m:r>
                  </m:oMath>
                </a14:m>
                <a:r>
                  <a:rPr lang="en-US" altLang="zh-TW" sz="2400" dirty="0"/>
                  <a:t> </a:t>
                </a:r>
                <a:r>
                  <a:rPr lang="en-US" altLang="zh-TW" sz="2400" i="1" dirty="0" err="1"/>
                  <a:t>R</a:t>
                </a:r>
                <a:r>
                  <a:rPr lang="en-US" altLang="zh-TW" sz="2400" i="1" baseline="-25000" dirty="0" err="1"/>
                  <a:t>i,a</a:t>
                </a:r>
                <a:r>
                  <a:rPr lang="en-US" altLang="zh-TW" sz="2400" dirty="0"/>
                  <a:t>, and </a:t>
                </a:r>
                <a:r>
                  <a:rPr lang="en-US" altLang="zh-TW" sz="2400" i="1" dirty="0" err="1"/>
                  <a:t>M</a:t>
                </a:r>
                <a:r>
                  <a:rPr lang="en-US" altLang="zh-TW" sz="2400" i="1" baseline="-25000" dirty="0" err="1"/>
                  <a:t>i,a</a:t>
                </a:r>
                <a:r>
                  <a:rPr lang="en-US" altLang="zh-TW" sz="2400" i="1" dirty="0"/>
                  <a:t> </a:t>
                </a:r>
                <a:r>
                  <a:rPr lang="en-US" altLang="zh-TW" sz="2400" dirty="0"/>
                  <a:t>is </a:t>
                </a:r>
                <a:r>
                  <a:rPr lang="en-US" altLang="zh-TW" sz="2400" dirty="0" smtClean="0"/>
                  <a:t>maximal.</a:t>
                </a:r>
              </a:p>
              <a:p>
                <a:pPr marL="1337310" lvl="3" indent="-514350">
                  <a:buFont typeface="+mj-lt"/>
                  <a:buAutoNum type="arabicParenR"/>
                </a:pPr>
                <a:r>
                  <a:rPr lang="en-US" altLang="zh-TW" sz="2400" dirty="0" smtClean="0"/>
                  <a:t>Find </a:t>
                </a:r>
                <a:r>
                  <a:rPr lang="en-US" altLang="zh-TW" sz="2400" dirty="0"/>
                  <a:t>a longest unary sequence </a:t>
                </a:r>
                <a:r>
                  <a:rPr lang="en-US" altLang="zh-TW" sz="2400" i="1" dirty="0"/>
                  <a:t>M</a:t>
                </a:r>
                <a:r>
                  <a:rPr lang="en-US" altLang="zh-TW" sz="2400" i="1" baseline="-25000" dirty="0"/>
                  <a:t>a</a:t>
                </a:r>
                <a:r>
                  <a:rPr lang="en-US" altLang="zh-TW" sz="2400" i="1" dirty="0"/>
                  <a:t> </a:t>
                </a:r>
                <a:r>
                  <a:rPr lang="en-US" altLang="zh-TW" sz="2400" dirty="0"/>
                  <a:t>that is a common subsequence of </a:t>
                </a:r>
                <a:r>
                  <a:rPr lang="en-US" altLang="zh-TW" sz="2400" i="1" dirty="0" err="1"/>
                  <a:t>M</a:t>
                </a:r>
                <a:r>
                  <a:rPr lang="en-US" altLang="zh-TW" sz="2400" i="1" baseline="-25000" dirty="0" err="1"/>
                  <a:t>i,a</a:t>
                </a:r>
                <a:r>
                  <a:rPr lang="en-US" altLang="zh-TW" sz="2400" dirty="0"/>
                  <a:t>, </a:t>
                </a:r>
                <a:r>
                  <a:rPr lang="en-US" altLang="zh-TW" sz="2400" dirty="0" smtClean="0"/>
                  <a:t>1</a:t>
                </a:r>
                <a:r>
                  <a:rPr lang="en-US" altLang="zh-TW" sz="2400" i="1" dirty="0"/>
                  <a:t> ≤ </a:t>
                </a:r>
                <a:r>
                  <a:rPr lang="en-US" altLang="zh-TW" sz="2400" i="1" dirty="0" err="1" smtClean="0"/>
                  <a:t>i</a:t>
                </a:r>
                <a:r>
                  <a:rPr lang="en-US" altLang="zh-TW" sz="2400" i="1" dirty="0"/>
                  <a:t> ≤ </a:t>
                </a:r>
                <a:r>
                  <a:rPr lang="en-US" altLang="zh-TW" sz="2400" i="1" dirty="0" smtClean="0"/>
                  <a:t>k</a:t>
                </a:r>
                <a:r>
                  <a:rPr lang="en-US" altLang="zh-TW" sz="2400" dirty="0" smtClean="0"/>
                  <a:t>.</a:t>
                </a:r>
                <a:endParaRPr lang="en-US" altLang="zh-TW" sz="2400" dirty="0"/>
              </a:p>
              <a:p>
                <a:pPr marL="1062990" lvl="2" indent="-514350">
                  <a:buFont typeface="+mj-lt"/>
                  <a:buAutoNum type="alphaLcParenR"/>
                </a:pPr>
                <a:r>
                  <a:rPr lang="en-US" altLang="zh-TW" sz="2400" dirty="0" smtClean="0"/>
                  <a:t>Compose </a:t>
                </a:r>
                <a:r>
                  <a:rPr lang="en-US" altLang="zh-TW" sz="2400" dirty="0"/>
                  <a:t>a sequence </a:t>
                </a:r>
                <a:r>
                  <a:rPr lang="en-US" altLang="zh-TW" sz="2400" i="1" dirty="0"/>
                  <a:t>B</a:t>
                </a:r>
                <a:r>
                  <a:rPr lang="en-US" altLang="zh-TW" sz="2400" dirty="0"/>
                  <a:t>[1</a:t>
                </a:r>
                <a:r>
                  <a:rPr lang="en-US" altLang="zh-TW" sz="2400" i="1" dirty="0"/>
                  <a:t>,a</a:t>
                </a:r>
                <a:r>
                  <a:rPr lang="en-US" altLang="zh-TW" sz="2400" dirty="0"/>
                  <a:t>]</a:t>
                </a:r>
                <a:r>
                  <a:rPr lang="en-US" altLang="zh-TW" sz="2400" i="1" dirty="0" err="1"/>
                  <a:t>M</a:t>
                </a:r>
                <a:r>
                  <a:rPr lang="en-US" altLang="zh-TW" sz="2400" i="1" baseline="-25000" dirty="0" err="1"/>
                  <a:t>a</a:t>
                </a:r>
                <a:r>
                  <a:rPr lang="en-US" altLang="zh-TW" sz="2400" i="1" dirty="0" err="1"/>
                  <a:t>B</a:t>
                </a:r>
                <a:r>
                  <a:rPr lang="en-US" altLang="zh-TW" sz="2400" dirty="0"/>
                  <a:t>[</a:t>
                </a:r>
                <a:r>
                  <a:rPr lang="en-US" altLang="zh-TW" sz="2400" i="1" dirty="0"/>
                  <a:t>a </a:t>
                </a:r>
                <a:r>
                  <a:rPr lang="en-US" altLang="zh-TW" sz="2400" dirty="0"/>
                  <a:t>+1</a:t>
                </a:r>
                <a:r>
                  <a:rPr lang="en-US" altLang="zh-TW" sz="2400" i="1" dirty="0"/>
                  <a:t>, b</a:t>
                </a:r>
                <a:r>
                  <a:rPr lang="en-US" altLang="zh-TW" sz="2400" dirty="0"/>
                  <a:t>] for a slot </a:t>
                </a:r>
                <a:r>
                  <a:rPr lang="en-US" altLang="zh-TW" sz="2400" i="1" dirty="0"/>
                  <a:t>a </a:t>
                </a:r>
                <a:r>
                  <a:rPr lang="en-US" altLang="zh-TW" sz="2400" dirty="0"/>
                  <a:t>such that |</a:t>
                </a:r>
                <a:r>
                  <a:rPr lang="en-US" altLang="zh-TW" sz="2400" i="1" dirty="0"/>
                  <a:t>M</a:t>
                </a:r>
                <a:r>
                  <a:rPr lang="en-US" altLang="zh-TW" sz="2400" i="1" baseline="-25000" dirty="0"/>
                  <a:t>a</a:t>
                </a:r>
                <a:r>
                  <a:rPr lang="en-US" altLang="zh-TW" sz="2400" dirty="0"/>
                  <a:t>| is maximum.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627" t="-24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285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acttagtaatgggatca</a:t>
            </a:r>
            <a:endParaRPr lang="en-US" altLang="zh-TW" dirty="0" smtClean="0"/>
          </a:p>
          <a:p>
            <a:r>
              <a:rPr lang="en-US" altLang="zh-TW" dirty="0" smtClean="0"/>
              <a:t>A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agcgttaggtaattacga</a:t>
            </a:r>
            <a:endParaRPr lang="en-US" altLang="zh-TW" dirty="0" smtClean="0"/>
          </a:p>
          <a:p>
            <a:r>
              <a:rPr lang="en-US" altLang="zh-TW" dirty="0" smtClean="0"/>
              <a:t>B=</a:t>
            </a:r>
            <a:r>
              <a:rPr lang="en-US" altLang="zh-TW" dirty="0" err="1" smtClean="0"/>
              <a:t>actga</a:t>
            </a:r>
            <a:endParaRPr lang="en-US" altLang="zh-TW" dirty="0" smtClean="0"/>
          </a:p>
          <a:p>
            <a:r>
              <a:rPr lang="en-US" altLang="zh-TW" dirty="0" smtClean="0"/>
              <a:t>Partition: </a:t>
            </a:r>
            <a:r>
              <a:rPr lang="en-US" altLang="zh-TW" dirty="0" err="1" smtClean="0"/>
              <a:t>atc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ga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= act </a:t>
            </a:r>
            <a:r>
              <a:rPr lang="en-US" altLang="zh-TW" dirty="0" err="1" smtClean="0"/>
              <a:t>tagtaagg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gatca</a:t>
            </a:r>
            <a:r>
              <a:rPr lang="zh-TW" altLang="en-US" dirty="0" smtClean="0"/>
              <a:t>，中間有</a:t>
            </a:r>
            <a:r>
              <a:rPr lang="en-US" altLang="zh-TW" dirty="0" smtClean="0"/>
              <a:t>3a, 2t, 3g, </a:t>
            </a:r>
          </a:p>
          <a:p>
            <a:pPr lvl="1"/>
            <a:r>
              <a:rPr lang="en-US" altLang="zh-TW" dirty="0" smtClean="0"/>
              <a:t>A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agcgt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taggtaatac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ga</a:t>
            </a:r>
            <a:r>
              <a:rPr lang="zh-TW" altLang="en-US" dirty="0"/>
              <a:t>，中間</a:t>
            </a:r>
            <a:r>
              <a:rPr lang="zh-TW" altLang="en-US" dirty="0" smtClean="0"/>
              <a:t>有</a:t>
            </a:r>
            <a:r>
              <a:rPr lang="en-US" altLang="zh-TW" dirty="0"/>
              <a:t>4a, </a:t>
            </a:r>
            <a:r>
              <a:rPr lang="en-US" altLang="zh-TW" dirty="0" smtClean="0"/>
              <a:t>4t</a:t>
            </a:r>
            <a:r>
              <a:rPr lang="en-US" altLang="zh-TW" dirty="0"/>
              <a:t>, </a:t>
            </a:r>
            <a:r>
              <a:rPr lang="en-US" altLang="zh-TW" dirty="0" smtClean="0"/>
              <a:t>1c, 2g</a:t>
            </a:r>
          </a:p>
          <a:p>
            <a:pPr lvl="1"/>
            <a:r>
              <a:rPr lang="en-US" altLang="zh-TW" dirty="0" smtClean="0"/>
              <a:t>C = </a:t>
            </a:r>
            <a:r>
              <a:rPr lang="en-US" altLang="zh-TW" dirty="0" err="1" smtClean="0"/>
              <a:t>atc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aaa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ga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456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US" altLang="zh-TW" dirty="0" smtClean="0"/>
                  <a:t>Let </a:t>
                </a:r>
                <a:r>
                  <a:rPr lang="en-US" altLang="zh-TW" i="1" dirty="0"/>
                  <a:t>z </a:t>
                </a:r>
                <a:r>
                  <a:rPr lang="en-US" altLang="zh-TW" dirty="0"/>
                  <a:t>be the smallest positive </a:t>
                </a:r>
                <a:r>
                  <a:rPr lang="en-US" altLang="zh-TW" dirty="0" smtClean="0"/>
                  <a:t>integer </a:t>
                </a:r>
                <a:r>
                  <a:rPr lang="en-US" altLang="zh-TW" dirty="0"/>
                  <a:t>such that for all integers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𝑙</m:t>
                    </m:r>
                    <m:r>
                      <a:rPr lang="en-US" altLang="zh-TW" i="1" dirty="0">
                        <a:solidFill>
                          <a:srgbClr val="FF0000"/>
                        </a:solidFill>
                        <a:latin typeface="Cambria Math"/>
                      </a:rPr>
                      <m:t>≥</m:t>
                    </m:r>
                    <m:r>
                      <a:rPr lang="en-US" altLang="zh-TW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𝑙</m:t>
                        </m:r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≥16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𝑙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en-US" altLang="zh-TW" i="1">
                                    <a:latin typeface="Cambria Math"/>
                                  </a:rPr>
                                  <m:t>𝑙𝑜𝑔𝑙𝑜𝑔𝑙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dirty="0" smtClean="0"/>
                  <a:t>:</a:t>
                </a:r>
              </a:p>
              <a:p>
                <a:pPr marL="548640" lvl="2" indent="0">
                  <a:buNone/>
                </a:pPr>
                <a:r>
                  <a:rPr lang="en-US" altLang="zh-TW" sz="2600" dirty="0" smtClean="0"/>
                  <a:t>For </a:t>
                </a:r>
                <a:r>
                  <a:rPr lang="en-US" altLang="zh-TW" sz="2600" dirty="0"/>
                  <a:t>each integer , </a:t>
                </a:r>
                <a:r>
                  <a:rPr lang="en-US" altLang="zh-TW" sz="2600" i="1" dirty="0" smtClean="0">
                    <a:solidFill>
                      <a:srgbClr val="FF0000"/>
                    </a:solidFill>
                  </a:rPr>
                  <a:t>b</a:t>
                </a:r>
                <a:r>
                  <a:rPr lang="en-US" altLang="zh-TW" sz="2600" dirty="0" smtClean="0">
                    <a:solidFill>
                      <a:srgbClr val="FF0000"/>
                    </a:solidFill>
                  </a:rPr>
                  <a:t>+1</a:t>
                </a:r>
                <a:r>
                  <a:rPr lang="en-US" altLang="zh-TW" sz="2600" i="1" dirty="0">
                    <a:solidFill>
                      <a:srgbClr val="FF0000"/>
                    </a:solidFill>
                  </a:rPr>
                  <a:t> ≤</a:t>
                </a:r>
                <a:r>
                  <a:rPr lang="en-US" altLang="zh-TW" sz="2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600" i="1" dirty="0" smtClean="0">
                    <a:solidFill>
                      <a:srgbClr val="FF0000"/>
                    </a:solidFill>
                  </a:rPr>
                  <a:t>l</a:t>
                </a:r>
                <a:r>
                  <a:rPr lang="en-US" altLang="zh-TW" sz="2600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600" i="1" dirty="0">
                    <a:solidFill>
                      <a:srgbClr val="FF0000"/>
                    </a:solidFill>
                  </a:rPr>
                  <a:t>&lt; z</a:t>
                </a:r>
                <a:r>
                  <a:rPr lang="en-US" altLang="zh-TW" sz="2600" dirty="0"/>
                  <a:t>, use brute force to find a constrained common subsequence of length </a:t>
                </a:r>
                <a:r>
                  <a:rPr lang="en-US" altLang="zh-TW" sz="2600" i="1" dirty="0"/>
                  <a:t> </a:t>
                </a:r>
                <a:r>
                  <a:rPr lang="en-US" altLang="zh-TW" sz="2600" dirty="0"/>
                  <a:t>if it exists: </a:t>
                </a:r>
                <a:r>
                  <a:rPr lang="en-US" altLang="zh-TW" sz="2600" dirty="0" smtClean="0">
                    <a:solidFill>
                      <a:srgbClr val="FF0000"/>
                    </a:solidFill>
                  </a:rPr>
                  <a:t>enumerate all </a:t>
                </a:r>
                <a:r>
                  <a:rPr lang="en-US" altLang="zh-TW" sz="2600" dirty="0">
                    <a:solidFill>
                      <a:srgbClr val="FF0000"/>
                    </a:solidFill>
                  </a:rPr>
                  <a:t>|</a:t>
                </a:r>
                <a:r>
                  <a:rPr lang="en-US" altLang="zh-TW" sz="2600" i="1" dirty="0">
                    <a:solidFill>
                      <a:srgbClr val="FF0000"/>
                    </a:solidFill>
                  </a:rPr>
                  <a:t>Σ</a:t>
                </a:r>
                <a:r>
                  <a:rPr lang="en-US" altLang="zh-TW" sz="2600" dirty="0">
                    <a:solidFill>
                      <a:srgbClr val="FF0000"/>
                    </a:solidFill>
                  </a:rPr>
                  <a:t>|</a:t>
                </a:r>
                <a:r>
                  <a:rPr lang="en-US" altLang="zh-TW" sz="2600" i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600" dirty="0">
                    <a:solidFill>
                      <a:srgbClr val="FF0000"/>
                    </a:solidFill>
                  </a:rPr>
                  <a:t>candidate sequences of length </a:t>
                </a:r>
                <a:r>
                  <a:rPr lang="en-US" altLang="zh-TW" sz="2600" i="1" dirty="0" smtClean="0">
                    <a:solidFill>
                      <a:srgbClr val="FF0000"/>
                    </a:solidFill>
                  </a:rPr>
                  <a:t>l</a:t>
                </a:r>
                <a:r>
                  <a:rPr lang="en-US" altLang="zh-TW" sz="2600" dirty="0" smtClean="0"/>
                  <a:t>, </a:t>
                </a:r>
                <a:r>
                  <a:rPr lang="en-US" altLang="zh-TW" sz="2600" dirty="0"/>
                  <a:t>and for each candidate sequence check whether it is a </a:t>
                </a:r>
                <a:r>
                  <a:rPr lang="en-US" altLang="zh-TW" sz="2600" dirty="0" err="1" smtClean="0"/>
                  <a:t>supersequence</a:t>
                </a:r>
                <a:r>
                  <a:rPr lang="en-US" altLang="zh-TW" sz="2600" dirty="0" smtClean="0"/>
                  <a:t> of </a:t>
                </a:r>
                <a:r>
                  <a:rPr lang="en-US" altLang="zh-TW" sz="2600" dirty="0"/>
                  <a:t>the constraint sequence </a:t>
                </a:r>
                <a:r>
                  <a:rPr lang="en-US" altLang="zh-TW" sz="2600" i="1" dirty="0"/>
                  <a:t>B </a:t>
                </a:r>
                <a:r>
                  <a:rPr lang="en-US" altLang="zh-TW" sz="2600" dirty="0"/>
                  <a:t>and is a common subsequence of the input sequences </a:t>
                </a:r>
                <a:r>
                  <a:rPr lang="en-US" altLang="zh-TW" sz="2600" i="1" dirty="0"/>
                  <a:t>A</a:t>
                </a:r>
                <a:r>
                  <a:rPr lang="en-US" altLang="zh-TW" sz="2600" i="1" baseline="-25000" dirty="0"/>
                  <a:t>i</a:t>
                </a:r>
                <a:r>
                  <a:rPr lang="en-US" altLang="zh-TW" sz="2600" dirty="0"/>
                  <a:t>, </a:t>
                </a:r>
                <a:r>
                  <a:rPr lang="en-US" altLang="zh-TW" sz="2600" dirty="0" smtClean="0"/>
                  <a:t>1 </a:t>
                </a:r>
                <a:r>
                  <a:rPr lang="en-US" altLang="zh-TW" sz="2600" i="1" dirty="0" smtClean="0"/>
                  <a:t>≤ </a:t>
                </a:r>
                <a:r>
                  <a:rPr lang="en-US" altLang="zh-TW" sz="2600" i="1" dirty="0" err="1" smtClean="0"/>
                  <a:t>i</a:t>
                </a:r>
                <a:r>
                  <a:rPr lang="en-US" altLang="zh-TW" sz="2600" i="1" dirty="0"/>
                  <a:t> ≤ </a:t>
                </a:r>
                <a:r>
                  <a:rPr lang="en-US" altLang="zh-TW" sz="2600" i="1" dirty="0" smtClean="0"/>
                  <a:t>k</a:t>
                </a:r>
                <a:r>
                  <a:rPr lang="en-US" altLang="zh-TW" sz="2600" dirty="0" smtClean="0"/>
                  <a:t>.</a:t>
                </a:r>
              </a:p>
              <a:p>
                <a:pPr marL="457200" indent="-457200"/>
                <a:r>
                  <a:rPr lang="en-US" altLang="zh-TW" dirty="0" smtClean="0"/>
                  <a:t>z=324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200" r="-1569" b="-14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0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3"/>
                </a:pPr>
                <a:r>
                  <a:rPr lang="en-US" altLang="zh-TW" dirty="0" smtClean="0"/>
                  <a:t>For each integer , max{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+1</a:t>
                </a:r>
                <a:r>
                  <a:rPr lang="en-US" altLang="zh-TW" i="1" dirty="0"/>
                  <a:t>, z</a:t>
                </a:r>
                <a:r>
                  <a:rPr lang="en-US" altLang="zh-TW" dirty="0" smtClean="0"/>
                  <a:t>}</a:t>
                </a:r>
                <a:r>
                  <a:rPr lang="en-US" altLang="zh-TW" i="1" dirty="0"/>
                  <a:t> ≤ </a:t>
                </a:r>
                <a:r>
                  <a:rPr lang="en-US" altLang="zh-TW" i="1" dirty="0" smtClean="0"/>
                  <a:t>l </a:t>
                </a:r>
                <a:r>
                  <a:rPr lang="en-US" altLang="zh-TW" i="1" dirty="0"/>
                  <a:t>≤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dirty="0"/>
                  <a:t>, set the </a:t>
                </a:r>
                <a:r>
                  <a:rPr lang="en-US" altLang="zh-TW" dirty="0" smtClean="0"/>
                  <a:t>parameters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/>
                        </a:rPr>
                        <m:t>𝑠</m:t>
                      </m:r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TW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zh-TW" i="1">
                                  <a:latin typeface="Cambria Math"/>
                                </a:rPr>
                                <m:t>𝑙𝑜𝑔𝑙𝑜𝑔𝑙</m:t>
                              </m:r>
                            </m:den>
                          </m:f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,</m:t>
                      </m:r>
                      <m:r>
                        <a:rPr lang="en-US" altLang="zh-TW" b="0" i="1" smtClean="0">
                          <a:latin typeface="Cambria Math"/>
                        </a:rPr>
                        <m:t>𝑥</m:t>
                      </m:r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/>
                                </a:rPr>
                                <m:t>𝑙</m:t>
                              </m:r>
                              <m:f>
                                <m:fPr>
                                  <m:ctrlPr>
                                    <a:rPr lang="en-US" altLang="zh-TW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𝑙𝑜𝑔𝑙𝑜𝑔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 </m:t>
                                  </m:r>
                                  <m:r>
                                    <a:rPr lang="en-US" altLang="zh-TW" i="1">
                                      <a:latin typeface="Cambria Math"/>
                                    </a:rPr>
                                    <m:t>𝑙</m:t>
                                  </m:r>
                                </m:num>
                                <m:den>
                                  <m:func>
                                    <m:funcPr>
                                      <m:ctrlPr>
                                        <a:rPr lang="en-US" altLang="zh-TW" i="1">
                                          <a:latin typeface="Cambria Math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latin typeface="Cambria Math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r>
                                        <a:rPr lang="en-US" altLang="zh-TW" i="1">
                                          <a:latin typeface="Cambria Math"/>
                                        </a:rPr>
                                        <m:t>𝑙</m:t>
                                      </m:r>
                                    </m:e>
                                  </m:func>
                                </m:den>
                              </m:f>
                              <m:r>
                                <a:rPr lang="en-US" altLang="zh-TW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r>
                        <a:rPr lang="en-US" altLang="zh-TW" b="0" i="1" smtClean="0">
                          <a:latin typeface="Cambria Math"/>
                        </a:rPr>
                        <m:t>−1,</m:t>
                      </m:r>
                      <m:r>
                        <a:rPr lang="en-US" altLang="zh-TW" b="0" i="1" smtClean="0">
                          <a:latin typeface="Cambria Math"/>
                        </a:rPr>
                        <m:t>𝑤</m:t>
                      </m:r>
                      <m:r>
                        <a:rPr lang="en-US" altLang="zh-TW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altLang="zh-TW" b="0" i="1" smtClean="0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/>
                                </a:rPr>
                                <m:t>𝑤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TW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altLang="zh-TW" b="0" i="1" smtClean="0">
                                      <a:latin typeface="Cambria Math"/>
                                    </a:rPr>
                                    <m:t>Σ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altLang="zh-TW" dirty="0" smtClean="0"/>
              </a:p>
              <a:p>
                <a:pPr marL="548640" lvl="2" indent="0">
                  <a:buNone/>
                </a:pPr>
                <a:r>
                  <a:rPr lang="en-US" altLang="zh-TW" sz="2600" dirty="0"/>
                  <a:t>then for some tunable constant </a:t>
                </a:r>
                <a:r>
                  <a:rPr lang="en-US" altLang="zh-TW" sz="2600" i="1" dirty="0"/>
                  <a:t>r</a:t>
                </a:r>
                <a:r>
                  <a:rPr lang="en-US" altLang="zh-TW" sz="2600" dirty="0"/>
                  <a:t> (which controls the probability), repeat the following random procedure for </a:t>
                </a:r>
                <a:r>
                  <a:rPr lang="en-US" altLang="zh-TW" sz="2600" i="1" dirty="0" smtClean="0">
                    <a:solidFill>
                      <a:srgbClr val="FF0000"/>
                    </a:solidFill>
                  </a:rPr>
                  <a:t>r</a:t>
                </a:r>
                <a:r>
                  <a:rPr lang="en-US" altLang="zh-TW" sz="2600" dirty="0" smtClean="0">
                    <a:solidFill>
                      <a:srgbClr val="FF0000"/>
                    </a:solidFill>
                  </a:rPr>
                  <a:t>(4</a:t>
                </a:r>
                <a:r>
                  <a:rPr lang="en-US" altLang="zh-TW" sz="2600" i="1" dirty="0" smtClean="0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600" dirty="0" smtClean="0">
                    <a:solidFill>
                      <a:srgbClr val="FF0000"/>
                    </a:solidFill>
                  </a:rPr>
                  <a:t>)</a:t>
                </a:r>
                <a:r>
                  <a:rPr lang="en-US" altLang="zh-TW" sz="2600" i="1" baseline="30000" dirty="0" smtClean="0">
                    <a:solidFill>
                      <a:srgbClr val="FF0000"/>
                    </a:solidFill>
                  </a:rPr>
                  <a:t>s</a:t>
                </a:r>
                <a:r>
                  <a:rPr lang="en-US" altLang="zh-TW" sz="2600" dirty="0" smtClean="0"/>
                  <a:t> rounds </a:t>
                </a:r>
                <a:r>
                  <a:rPr lang="en-US" altLang="zh-TW" sz="2600" dirty="0"/>
                  <a:t>to find a constrained common subsequence of length </a:t>
                </a:r>
                <a:r>
                  <a:rPr lang="en-US" altLang="zh-TW" sz="2600" i="1" dirty="0"/>
                  <a:t>b</a:t>
                </a:r>
                <a:r>
                  <a:rPr lang="en-US" altLang="zh-TW" sz="2600" dirty="0"/>
                  <a:t> + </a:t>
                </a:r>
                <a:r>
                  <a:rPr lang="en-US" altLang="zh-TW" sz="2600" i="1" dirty="0" err="1"/>
                  <a:t>sw</a:t>
                </a:r>
                <a:r>
                  <a:rPr lang="en-US" altLang="zh-TW" sz="2600" dirty="0"/>
                  <a:t>:</a:t>
                </a:r>
                <a:endParaRPr lang="zh-TW" altLang="en-US" sz="26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627" t="-1200" r="-14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828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 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1062990" lvl="2" indent="-514350">
                  <a:buClr>
                    <a:srgbClr val="D34817">
                      <a:tint val="60000"/>
                    </a:srgbClr>
                  </a:buClr>
                  <a:buFont typeface="+mj-lt"/>
                  <a:buAutoNum type="alphaLcParenR"/>
                </a:pPr>
                <a:r>
                  <a:rPr lang="en-US" altLang="zh-TW" sz="2600" dirty="0" smtClean="0">
                    <a:solidFill>
                      <a:prstClr val="black"/>
                    </a:solidFill>
                  </a:rPr>
                  <a:t>Randomly select (sample with replacement) </a:t>
                </a:r>
                <a:r>
                  <a:rPr lang="en-US" altLang="zh-TW" sz="2600" i="1" dirty="0">
                    <a:solidFill>
                      <a:prstClr val="black"/>
                    </a:solidFill>
                  </a:rPr>
                  <a:t>s</a:t>
                </a:r>
                <a:r>
                  <a:rPr lang="en-US" altLang="zh-TW" sz="2600" dirty="0">
                    <a:solidFill>
                      <a:prstClr val="black"/>
                    </a:solidFill>
                  </a:rPr>
                  <a:t> slots between 0 and </a:t>
                </a:r>
                <a:r>
                  <a:rPr lang="en-US" altLang="zh-TW" sz="2600" i="1" dirty="0">
                    <a:solidFill>
                      <a:prstClr val="black"/>
                    </a:solidFill>
                  </a:rPr>
                  <a:t>b</a:t>
                </a:r>
                <a:r>
                  <a:rPr lang="en-US" altLang="zh-TW" sz="2600" dirty="0">
                    <a:solidFill>
                      <a:prstClr val="black"/>
                    </a:solidFill>
                  </a:rPr>
                  <a:t>. Sort the </a:t>
                </a:r>
                <a:r>
                  <a:rPr lang="en-US" altLang="zh-TW" sz="2600" i="1" dirty="0">
                    <a:solidFill>
                      <a:prstClr val="black"/>
                    </a:solidFill>
                  </a:rPr>
                  <a:t>s</a:t>
                </a:r>
                <a:r>
                  <a:rPr lang="en-US" altLang="zh-TW" sz="2600" dirty="0">
                    <a:solidFill>
                      <a:prstClr val="black"/>
                    </a:solidFill>
                  </a:rPr>
                  <a:t> slots in ascending order: </a:t>
                </a:r>
                <a:r>
                  <a:rPr lang="en-US" altLang="zh-TW" sz="2600" dirty="0" smtClean="0">
                    <a:solidFill>
                      <a:prstClr val="black"/>
                    </a:solidFill>
                  </a:rPr>
                  <a:t>0</a:t>
                </a:r>
                <a:r>
                  <a:rPr lang="en-US" altLang="zh-TW" sz="2600" i="1" dirty="0"/>
                  <a:t> ≤</a:t>
                </a:r>
                <a:r>
                  <a:rPr lang="en-US" altLang="zh-TW" sz="26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altLang="zh-TW" sz="2600" i="1" dirty="0" smtClean="0">
                    <a:solidFill>
                      <a:prstClr val="black"/>
                    </a:solidFill>
                  </a:rPr>
                  <a:t>b</a:t>
                </a:r>
                <a:r>
                  <a:rPr lang="en-US" altLang="zh-TW" sz="2600" baseline="-25000" dirty="0" smtClean="0">
                    <a:solidFill>
                      <a:prstClr val="black"/>
                    </a:solidFill>
                  </a:rPr>
                  <a:t>1</a:t>
                </a:r>
                <a:r>
                  <a:rPr lang="en-US" altLang="zh-TW" sz="26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altLang="zh-TW" sz="2600" i="1" dirty="0"/>
                  <a:t>≤ </a:t>
                </a:r>
                <a:r>
                  <a:rPr lang="en-US" altLang="zh-TW" sz="2600" dirty="0" smtClean="0">
                    <a:solidFill>
                      <a:prstClr val="black"/>
                    </a:solidFill>
                  </a:rPr>
                  <a:t>· </a:t>
                </a:r>
                <a:r>
                  <a:rPr lang="en-US" altLang="zh-TW" sz="2600" dirty="0">
                    <a:solidFill>
                      <a:prstClr val="black"/>
                    </a:solidFill>
                  </a:rPr>
                  <a:t>· · </a:t>
                </a:r>
                <a:r>
                  <a:rPr lang="en-US" altLang="zh-TW" sz="2600" i="1" dirty="0"/>
                  <a:t>≤ </a:t>
                </a:r>
                <a:r>
                  <a:rPr lang="en-US" altLang="zh-TW" sz="2600" i="1" dirty="0" err="1" smtClean="0">
                    <a:solidFill>
                      <a:prstClr val="black"/>
                    </a:solidFill>
                  </a:rPr>
                  <a:t>b</a:t>
                </a:r>
                <a:r>
                  <a:rPr lang="en-US" altLang="zh-TW" sz="2600" i="1" baseline="-25000" dirty="0" err="1" smtClean="0">
                    <a:solidFill>
                      <a:prstClr val="black"/>
                    </a:solidFill>
                  </a:rPr>
                  <a:t>s</a:t>
                </a:r>
                <a:r>
                  <a:rPr lang="en-US" altLang="zh-TW" sz="2600" i="1" dirty="0" smtClean="0"/>
                  <a:t> ≤</a:t>
                </a:r>
                <a:r>
                  <a:rPr lang="en-US" altLang="zh-TW" sz="26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altLang="zh-TW" sz="2600" i="1" dirty="0" smtClean="0">
                    <a:solidFill>
                      <a:prstClr val="black"/>
                    </a:solidFill>
                  </a:rPr>
                  <a:t>b</a:t>
                </a:r>
                <a:r>
                  <a:rPr lang="en-US" altLang="zh-TW" sz="2600" dirty="0">
                    <a:solidFill>
                      <a:prstClr val="black"/>
                    </a:solidFill>
                  </a:rPr>
                  <a:t>. Randomly select a letter </a:t>
                </a:r>
                <a:r>
                  <a:rPr lang="en-US" altLang="zh-TW" sz="2600" i="1" dirty="0" err="1" smtClean="0">
                    <a:solidFill>
                      <a:prstClr val="black"/>
                    </a:solidFill>
                  </a:rPr>
                  <a:t>σ</a:t>
                </a:r>
                <a:r>
                  <a:rPr lang="en-US" altLang="zh-TW" sz="2600" i="1" baseline="-25000" dirty="0" err="1" smtClean="0">
                    <a:solidFill>
                      <a:prstClr val="black"/>
                    </a:solidFill>
                  </a:rPr>
                  <a:t>i</a:t>
                </a:r>
                <a:r>
                  <a:rPr lang="en-US" altLang="zh-TW" sz="2600" dirty="0" smtClean="0">
                    <a:solidFill>
                      <a:prstClr val="black"/>
                    </a:solidFill>
                  </a:rPr>
                  <a:t> </a:t>
                </a:r>
                <a:r>
                  <a:rPr lang="en-US" altLang="zh-TW" sz="2600" dirty="0">
                    <a:solidFill>
                      <a:prstClr val="black"/>
                    </a:solidFill>
                  </a:rPr>
                  <a:t>∈ </a:t>
                </a:r>
                <a:r>
                  <a:rPr lang="en-US" altLang="zh-TW" sz="2600" i="1" dirty="0">
                    <a:solidFill>
                      <a:prstClr val="black"/>
                    </a:solidFill>
                  </a:rPr>
                  <a:t>Σ</a:t>
                </a:r>
                <a:r>
                  <a:rPr lang="en-US" altLang="zh-TW" sz="2600" dirty="0">
                    <a:solidFill>
                      <a:prstClr val="black"/>
                    </a:solidFill>
                  </a:rPr>
                  <a:t> for each slot </a:t>
                </a:r>
                <a:r>
                  <a:rPr lang="en-US" altLang="zh-TW" sz="2600" i="1" dirty="0">
                    <a:solidFill>
                      <a:prstClr val="black"/>
                    </a:solidFill>
                  </a:rPr>
                  <a:t>b</a:t>
                </a:r>
                <a:r>
                  <a:rPr lang="en-US" altLang="zh-TW" sz="2600" i="1" baseline="-25000" dirty="0">
                    <a:solidFill>
                      <a:prstClr val="black"/>
                    </a:solidFill>
                  </a:rPr>
                  <a:t>i</a:t>
                </a:r>
                <a:r>
                  <a:rPr lang="en-US" altLang="zh-TW" sz="2600" dirty="0">
                    <a:solidFill>
                      <a:prstClr val="black"/>
                    </a:solidFill>
                  </a:rPr>
                  <a:t>, </a:t>
                </a:r>
                <a:r>
                  <a:rPr lang="en-US" altLang="zh-TW" sz="2600" dirty="0" smtClean="0">
                    <a:solidFill>
                      <a:prstClr val="black"/>
                    </a:solidFill>
                  </a:rPr>
                  <a:t>1</a:t>
                </a:r>
                <a:r>
                  <a:rPr lang="en-US" altLang="zh-TW" sz="2600" i="1" dirty="0"/>
                  <a:t> ≤ </a:t>
                </a:r>
                <a:r>
                  <a:rPr lang="en-US" altLang="zh-TW" sz="2600" i="1" dirty="0" err="1" smtClean="0">
                    <a:solidFill>
                      <a:prstClr val="black"/>
                    </a:solidFill>
                  </a:rPr>
                  <a:t>i</a:t>
                </a:r>
                <a:r>
                  <a:rPr lang="en-US" altLang="zh-TW" sz="2600" i="1" dirty="0"/>
                  <a:t> ≤ </a:t>
                </a:r>
                <a:r>
                  <a:rPr lang="en-US" altLang="zh-TW" sz="2600" i="1" dirty="0" smtClean="0">
                    <a:solidFill>
                      <a:prstClr val="black"/>
                    </a:solidFill>
                  </a:rPr>
                  <a:t>s</a:t>
                </a:r>
                <a:r>
                  <a:rPr lang="en-US" altLang="zh-TW" sz="2600" dirty="0" smtClean="0">
                    <a:solidFill>
                      <a:prstClr val="black"/>
                    </a:solidFill>
                  </a:rPr>
                  <a:t>.</a:t>
                </a:r>
              </a:p>
              <a:p>
                <a:pPr marL="1062990" lvl="2" indent="-514350">
                  <a:buClr>
                    <a:srgbClr val="D34817">
                      <a:tint val="60000"/>
                    </a:srgbClr>
                  </a:buClr>
                  <a:buFont typeface="+mj-lt"/>
                  <a:buAutoNum type="alphaLcParenR"/>
                </a:pPr>
                <a:r>
                  <a:rPr lang="en-US" altLang="zh-TW" sz="2600" dirty="0"/>
                  <a:t>If the s slots are all distinct, that is, </a:t>
                </a:r>
                <a:r>
                  <a:rPr lang="en-US" altLang="zh-TW" sz="2600" dirty="0" smtClean="0"/>
                  <a:t>0</a:t>
                </a:r>
                <a:r>
                  <a:rPr lang="en-US" altLang="zh-TW" sz="2600" i="1" dirty="0"/>
                  <a:t> ≤ </a:t>
                </a:r>
                <a:r>
                  <a:rPr lang="en-US" altLang="zh-TW" sz="2600" i="1" dirty="0" smtClean="0"/>
                  <a:t>b</a:t>
                </a:r>
                <a:r>
                  <a:rPr lang="en-US" altLang="zh-TW" sz="2600" baseline="-25000" dirty="0" smtClean="0"/>
                  <a:t>1</a:t>
                </a:r>
                <a:r>
                  <a:rPr lang="en-US" altLang="zh-TW" sz="2600" dirty="0" smtClean="0"/>
                  <a:t> </a:t>
                </a:r>
                <a:r>
                  <a:rPr lang="en-US" altLang="zh-TW" sz="2600" dirty="0"/>
                  <a:t>&lt; · · · </a:t>
                </a:r>
                <a:r>
                  <a:rPr lang="en-US" altLang="zh-TW" sz="2600" dirty="0" smtClean="0"/>
                  <a:t>&lt;</a:t>
                </a:r>
                <a:r>
                  <a:rPr lang="en-US" altLang="zh-TW" sz="2600" i="1" dirty="0" err="1" smtClean="0"/>
                  <a:t>b</a:t>
                </a:r>
                <a:r>
                  <a:rPr lang="en-US" altLang="zh-TW" sz="2600" i="1" baseline="-25000" dirty="0" err="1" smtClean="0"/>
                  <a:t>s</a:t>
                </a:r>
                <a:r>
                  <a:rPr lang="en-US" altLang="zh-TW" sz="2600" i="1" dirty="0"/>
                  <a:t> ≤ </a:t>
                </a:r>
                <a:r>
                  <a:rPr lang="en-US" altLang="zh-TW" sz="2600" i="1" dirty="0" smtClean="0"/>
                  <a:t>b</a:t>
                </a:r>
                <a:r>
                  <a:rPr lang="en-US" altLang="zh-TW" sz="2600" dirty="0"/>
                  <a:t>, compose a candidate constrained </a:t>
                </a:r>
                <a:r>
                  <a:rPr lang="en-US" altLang="zh-TW" sz="2600" dirty="0" smtClean="0"/>
                  <a:t>sequence</a:t>
                </a:r>
              </a:p>
              <a:p>
                <a:pPr marL="548640" lvl="2" indent="0">
                  <a:buClr>
                    <a:srgbClr val="D34817">
                      <a:tint val="60000"/>
                    </a:srgbClr>
                  </a:buClr>
                  <a:buNone/>
                </a:pPr>
                <a:r>
                  <a:rPr lang="en-US" altLang="zh-TW" sz="2600" dirty="0" smtClean="0"/>
                  <a:t>	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600" dirty="0">
                        <a:latin typeface="Cambria Math"/>
                      </a:rPr>
                      <m:t>B</m:t>
                    </m:r>
                    <m:r>
                      <a:rPr lang="en-US" altLang="zh-TW" sz="2600" b="0" i="1" dirty="0" smtClean="0">
                        <a:latin typeface="Cambria Math"/>
                      </a:rPr>
                      <m:t>[1,</m:t>
                    </m:r>
                    <m:sSub>
                      <m:sSubPr>
                        <m:ctrlPr>
                          <a:rPr lang="en-US" altLang="zh-TW" sz="2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600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sz="26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sz="2600" b="0" i="1" dirty="0" smtClean="0">
                        <a:latin typeface="Cambria Math"/>
                      </a:rPr>
                      <m:t>] </m:t>
                    </m:r>
                    <m:sSup>
                      <m:sSupPr>
                        <m:ctrlPr>
                          <a:rPr lang="en-US" altLang="zh-TW" sz="2600" b="0" i="1" dirty="0" smtClean="0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26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2600" i="1" dirty="0">
                                <a:latin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TW" sz="26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TW" sz="2600" b="0" i="1" dirty="0" smtClean="0">
                            <a:latin typeface="Cambria Math"/>
                          </a:rPr>
                          <m:t>𝑤</m:t>
                        </m:r>
                      </m:sup>
                    </m:sSup>
                  </m:oMath>
                </a14:m>
                <a:r>
                  <a:rPr lang="en-US" altLang="zh-TW" sz="2600" dirty="0" smtClean="0"/>
                  <a:t>…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600" dirty="0">
                        <a:latin typeface="Cambria Math"/>
                      </a:rPr>
                      <m:t>B</m:t>
                    </m:r>
                    <m:r>
                      <a:rPr lang="en-US" altLang="zh-TW" sz="2600" i="1" dirty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altLang="zh-TW" sz="2600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600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sz="2600" b="0" i="1" dirty="0" smtClean="0">
                            <a:latin typeface="Cambria Math"/>
                          </a:rPr>
                          <m:t>𝑠</m:t>
                        </m:r>
                        <m:r>
                          <a:rPr lang="en-US" altLang="zh-TW" sz="2600" b="0" i="1" dirty="0" smtClean="0">
                            <a:latin typeface="Cambria Math"/>
                          </a:rPr>
                          <m:t>−1</m:t>
                        </m:r>
                      </m:sub>
                    </m:sSub>
                    <m:r>
                      <a:rPr lang="en-US" altLang="zh-TW" sz="2600" b="0" i="1" dirty="0" smtClean="0">
                        <a:latin typeface="Cambria Math"/>
                      </a:rPr>
                      <m:t>+1</m:t>
                    </m:r>
                    <m:r>
                      <a:rPr lang="en-US" altLang="zh-TW" sz="2600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altLang="zh-TW" sz="26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600" i="1" dirty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sz="2600" b="0" i="1" dirty="0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altLang="zh-TW" sz="2600" i="1" dirty="0">
                        <a:latin typeface="Cambria Math"/>
                      </a:rPr>
                      <m:t>] </m:t>
                    </m:r>
                    <m:sSup>
                      <m:sSupPr>
                        <m:ctrlPr>
                          <a:rPr lang="en-US" altLang="zh-TW" sz="2600" i="1" dirty="0" smtClean="0">
                            <a:latin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sz="26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2600" i="1" dirty="0">
                                <a:latin typeface="Cambria Math"/>
                              </a:rPr>
                              <m:t>σ</m:t>
                            </m:r>
                          </m:e>
                          <m:sub>
                            <m:r>
                              <a:rPr lang="en-US" altLang="zh-TW" sz="2600" b="0" i="1" dirty="0" smtClean="0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e>
                      <m:sup>
                        <m:r>
                          <a:rPr lang="en-US" altLang="zh-TW" sz="2600" i="1" dirty="0">
                            <a:latin typeface="Cambria Math"/>
                          </a:rPr>
                          <m:t>𝑤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TW" sz="2600" dirty="0">
                        <a:latin typeface="Cambria Math"/>
                      </a:rPr>
                      <m:t>B</m:t>
                    </m:r>
                    <m:r>
                      <a:rPr lang="en-US" altLang="zh-TW" sz="2600" i="1" dirty="0">
                        <a:latin typeface="Cambria Math"/>
                      </a:rPr>
                      <m:t>[</m:t>
                    </m:r>
                    <m:sSub>
                      <m:sSubPr>
                        <m:ctrlPr>
                          <a:rPr lang="en-US" altLang="zh-TW" sz="26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sz="2600" i="1" dirty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sz="2600" i="1" dirty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US" altLang="zh-TW" sz="2600" i="1" dirty="0">
                        <a:latin typeface="Cambria Math"/>
                      </a:rPr>
                      <m:t>+1,</m:t>
                    </m:r>
                    <m:r>
                      <a:rPr lang="en-US" altLang="zh-TW" sz="2600" b="0" i="1" dirty="0" smtClean="0">
                        <a:latin typeface="Cambria Math"/>
                      </a:rPr>
                      <m:t>𝑏</m:t>
                    </m:r>
                    <m:r>
                      <a:rPr lang="en-US" altLang="zh-TW" sz="2600" i="1" dirty="0">
                        <a:latin typeface="Cambria Math"/>
                      </a:rPr>
                      <m:t>]</m:t>
                    </m:r>
                  </m:oMath>
                </a14:m>
                <a:endParaRPr lang="en-US" altLang="zh-TW" sz="2600" dirty="0" smtClean="0"/>
              </a:p>
              <a:p>
                <a:pPr marL="1097280" lvl="4" indent="0">
                  <a:buClr>
                    <a:srgbClr val="D34817">
                      <a:tint val="60000"/>
                    </a:srgbClr>
                  </a:buClr>
                  <a:buNone/>
                </a:pPr>
                <a:r>
                  <a:rPr lang="en-US" altLang="zh-TW" sz="2600" dirty="0" smtClean="0"/>
                  <a:t>and check whether it is a common subsequence of the input sequences </a:t>
                </a:r>
                <a:r>
                  <a:rPr lang="en-US" altLang="zh-TW" sz="2600" i="1" dirty="0" smtClean="0"/>
                  <a:t>A</a:t>
                </a:r>
                <a:r>
                  <a:rPr lang="en-US" altLang="zh-TW" sz="2600" i="1" baseline="-25000" dirty="0" smtClean="0"/>
                  <a:t>i</a:t>
                </a:r>
                <a:r>
                  <a:rPr lang="en-US" altLang="zh-TW" sz="2600" dirty="0" smtClean="0"/>
                  <a:t>, 1</a:t>
                </a:r>
                <a:r>
                  <a:rPr lang="en-US" altLang="zh-TW" sz="2600" i="1" dirty="0" smtClean="0"/>
                  <a:t> ≤ </a:t>
                </a:r>
                <a:r>
                  <a:rPr lang="en-US" altLang="zh-TW" sz="2600" i="1" dirty="0" err="1" smtClean="0"/>
                  <a:t>i</a:t>
                </a:r>
                <a:r>
                  <a:rPr lang="en-US" altLang="zh-TW" sz="2600" i="1" dirty="0" smtClean="0"/>
                  <a:t> ≤ k</a:t>
                </a:r>
                <a:r>
                  <a:rPr lang="en-US" altLang="zh-TW" sz="2600" dirty="0" smtClean="0"/>
                  <a:t>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altLang="zh-TW" dirty="0" smtClean="0"/>
                  <a:t>Return </a:t>
                </a:r>
                <a:r>
                  <a:rPr lang="en-US" altLang="zh-TW" dirty="0"/>
                  <a:t>the longest constrained sequence found</a:t>
                </a:r>
                <a:r>
                  <a:rPr lang="en-US" altLang="zh-TW" dirty="0" smtClean="0"/>
                  <a:t>.</a:t>
                </a: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627" t="-1200" r="-27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43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=</a:t>
                </a:r>
                <a:r>
                  <a:rPr lang="en-US" altLang="zh-TW" dirty="0" err="1" smtClean="0"/>
                  <a:t>acttagtaatgggatca</a:t>
                </a:r>
                <a:endParaRPr lang="en-US" altLang="zh-TW" dirty="0" smtClean="0"/>
              </a:p>
              <a:p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2</a:t>
                </a:r>
                <a:r>
                  <a:rPr lang="en-US" altLang="zh-TW" dirty="0" smtClean="0"/>
                  <a:t>=</a:t>
                </a:r>
                <a:r>
                  <a:rPr lang="en-US" altLang="zh-TW" dirty="0" err="1" smtClean="0"/>
                  <a:t>agcgttaggtaattacga</a:t>
                </a:r>
                <a:endParaRPr lang="en-US" altLang="zh-TW" dirty="0" smtClean="0"/>
              </a:p>
              <a:p>
                <a:r>
                  <a:rPr lang="en-US" altLang="zh-TW" i="1" dirty="0" smtClean="0"/>
                  <a:t>B</a:t>
                </a:r>
                <a:r>
                  <a:rPr lang="en-US" altLang="zh-TW" dirty="0" smtClean="0"/>
                  <a:t>=</a:t>
                </a:r>
                <a:r>
                  <a:rPr lang="en-US" altLang="zh-TW" dirty="0" err="1" smtClean="0"/>
                  <a:t>actga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l</m:t>
                    </m:r>
                    <m:r>
                      <a:rPr lang="en-US" altLang="zh-TW" b="0" i="0" smtClean="0">
                        <a:latin typeface="Cambria Math"/>
                      </a:rPr>
                      <m:t>=16, 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s</m:t>
                    </m:r>
                    <m:r>
                      <a:rPr lang="en-US" altLang="zh-TW" b="0" i="0" smtClean="0">
                        <a:latin typeface="Cambria Math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𝑙𝑜𝑔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16/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𝑙𝑜𝑔𝑙𝑜𝑔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16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</a:rPr>
                      <m:t>=2, </m:t>
                    </m:r>
                    <m:r>
                      <a:rPr lang="en-US" altLang="zh-TW" b="0" i="1" smtClean="0">
                        <a:latin typeface="Cambria Math"/>
                      </a:rPr>
                      <m:t>𝑥</m:t>
                    </m:r>
                    <m:r>
                      <a:rPr lang="en-US" altLang="zh-TW" b="0" i="1" smtClean="0">
                        <a:latin typeface="Cambria Math"/>
                      </a:rPr>
                      <m:t>=1,</m:t>
                    </m:r>
                    <m:r>
                      <a:rPr lang="en-US" altLang="zh-TW" b="0" i="1" smtClean="0">
                        <a:latin typeface="Cambria Math"/>
                      </a:rPr>
                      <m:t>𝑤</m:t>
                    </m:r>
                    <m:r>
                      <a:rPr lang="en-US" altLang="zh-TW" b="0" i="1" smtClean="0">
                        <a:latin typeface="Cambria Math"/>
                      </a:rPr>
                      <m:t>=1</m:t>
                    </m:r>
                  </m:oMath>
                </a14:m>
                <a:endParaRPr lang="en-US" altLang="zh-TW" dirty="0" smtClean="0"/>
              </a:p>
              <a:p>
                <a:r>
                  <a:rPr lang="zh-TW" altLang="en-US" dirty="0" smtClean="0"/>
                  <a:t>在</a:t>
                </a:r>
                <a:r>
                  <a:rPr lang="en-US" altLang="zh-TW" dirty="0" smtClean="0"/>
                  <a:t>0-</a:t>
                </a:r>
                <a:r>
                  <a:rPr lang="en-US" altLang="zh-TW" dirty="0" smtClean="0"/>
                  <a:t>5</a:t>
                </a:r>
                <a:r>
                  <a:rPr lang="zh-TW" altLang="en-US" dirty="0" smtClean="0"/>
                  <a:t>之間選</a:t>
                </a:r>
                <a:r>
                  <a:rPr lang="en-US" altLang="zh-TW" dirty="0" smtClean="0"/>
                  <a:t>2</a:t>
                </a:r>
                <a:r>
                  <a:rPr lang="zh-TW" altLang="en-US" dirty="0" smtClean="0"/>
                  <a:t>個數，假設選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和</a:t>
                </a:r>
                <a:r>
                  <a:rPr lang="en-US" altLang="zh-TW" dirty="0" smtClean="0"/>
                  <a:t>4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這格選</a:t>
                </a:r>
                <a:r>
                  <a:rPr lang="en-US" altLang="zh-TW" dirty="0" smtClean="0"/>
                  <a:t>a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4</a:t>
                </a:r>
                <a:r>
                  <a:rPr lang="zh-TW" altLang="en-US" dirty="0" smtClean="0"/>
                  <a:t>這格選</a:t>
                </a:r>
                <a:r>
                  <a:rPr lang="en-US" altLang="zh-TW" dirty="0" smtClean="0"/>
                  <a:t>t</a:t>
                </a:r>
                <a:r>
                  <a:rPr lang="zh-TW" altLang="en-US" dirty="0" smtClean="0"/>
                  <a:t>，則代表找出來的</a:t>
                </a:r>
                <a:r>
                  <a:rPr lang="en-US" altLang="zh-TW" i="1" dirty="0" smtClean="0"/>
                  <a:t>C</a:t>
                </a:r>
                <a:r>
                  <a:rPr lang="en-US" altLang="zh-TW" dirty="0" smtClean="0"/>
                  <a:t>=</a:t>
                </a:r>
                <a:r>
                  <a:rPr lang="en-US" altLang="zh-TW" dirty="0" err="1" smtClean="0"/>
                  <a:t>a</a:t>
                </a:r>
                <a:r>
                  <a:rPr lang="en-US" altLang="zh-TW" dirty="0" err="1" smtClean="0">
                    <a:solidFill>
                      <a:srgbClr val="00B0F0"/>
                    </a:solidFill>
                  </a:rPr>
                  <a:t>a</a:t>
                </a:r>
                <a:r>
                  <a:rPr lang="en-US" altLang="zh-TW" dirty="0" err="1" smtClean="0"/>
                  <a:t>ctg</a:t>
                </a:r>
                <a:r>
                  <a:rPr lang="en-US" altLang="zh-TW" dirty="0" err="1" smtClean="0">
                    <a:solidFill>
                      <a:srgbClr val="00B0F0"/>
                    </a:solidFill>
                  </a:rPr>
                  <a:t>t</a:t>
                </a:r>
                <a:r>
                  <a:rPr lang="en-US" altLang="zh-TW" dirty="0" err="1" smtClean="0"/>
                  <a:t>a</a:t>
                </a:r>
                <a:r>
                  <a:rPr lang="zh-TW" altLang="en-US" dirty="0" smtClean="0"/>
                  <a:t>，</a:t>
                </a:r>
                <a:r>
                  <a:rPr lang="en-US" altLang="zh-TW" i="1" dirty="0" smtClean="0"/>
                  <a:t>C</a:t>
                </a:r>
                <a:r>
                  <a:rPr lang="zh-TW" altLang="en-US" dirty="0" smtClean="0"/>
                  <a:t>不是</a:t>
                </a:r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1</a:t>
                </a:r>
                <a:r>
                  <a:rPr lang="zh-TW" altLang="en-US" dirty="0" smtClean="0"/>
                  <a:t>和</a:t>
                </a:r>
                <a:r>
                  <a:rPr lang="en-US" altLang="zh-TW" i="1" dirty="0" smtClean="0"/>
                  <a:t>A</a:t>
                </a:r>
                <a:r>
                  <a:rPr lang="en-US" altLang="zh-TW" baseline="-25000" dirty="0" smtClean="0"/>
                  <a:t>2</a:t>
                </a:r>
                <a:r>
                  <a:rPr lang="zh-TW" altLang="en-US" dirty="0" smtClean="0"/>
                  <a:t>的</a:t>
                </a:r>
                <a:r>
                  <a:rPr lang="en-US" altLang="zh-TW" dirty="0" smtClean="0"/>
                  <a:t>subsequence</a:t>
                </a:r>
                <a:endParaRPr lang="en-US" altLang="zh-TW" dirty="0" smtClean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200" r="-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91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Approximate Ratio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 smtClean="0"/>
                  <a:t>Let OPT be the length of the constrained longest common subsequence </a:t>
                </a:r>
                <a:r>
                  <a:rPr lang="en-US" altLang="zh-TW" i="1" dirty="0"/>
                  <a:t>C</a:t>
                </a:r>
                <a:r>
                  <a:rPr lang="en-US" altLang="zh-TW" baseline="30000" dirty="0"/>
                  <a:t>∗</a:t>
                </a:r>
                <a:r>
                  <a:rPr lang="en-US" altLang="zh-TW" dirty="0" smtClean="0"/>
                  <a:t>.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Let </a:t>
                </a:r>
                <a:r>
                  <a:rPr lang="en-US" altLang="zh-TW" dirty="0"/>
                  <a:t>APX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, APX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and APX</a:t>
                </a:r>
                <a:r>
                  <a:rPr lang="en-US" altLang="zh-TW" baseline="-25000" dirty="0" smtClean="0"/>
                  <a:t>3</a:t>
                </a:r>
                <a:r>
                  <a:rPr lang="en-US" altLang="zh-TW" dirty="0"/>
                  <a:t>, respectively, be the maximum length of a constrained common subsequence found in step 1, step 2, and step 3 of </a:t>
                </a:r>
                <a:r>
                  <a:rPr lang="en-US" altLang="zh-TW" dirty="0" smtClean="0"/>
                  <a:t>the algorithm</a:t>
                </a:r>
                <a:r>
                  <a:rPr lang="en-US" altLang="zh-TW" dirty="0"/>
                  <a:t>. Put </a:t>
                </a:r>
                <a:r>
                  <a:rPr lang="el-GR" altLang="zh-TW" i="1" dirty="0"/>
                  <a:t>λ</a:t>
                </a:r>
                <a:r>
                  <a:rPr lang="el-GR" altLang="zh-TW" baseline="-25000" dirty="0"/>
                  <a:t>1</a:t>
                </a:r>
                <a:r>
                  <a:rPr lang="el-GR" altLang="zh-TW" dirty="0"/>
                  <a:t> = </a:t>
                </a:r>
                <a:r>
                  <a:rPr lang="en-US" altLang="zh-TW" dirty="0"/>
                  <a:t>OPT</a:t>
                </a:r>
                <a:r>
                  <a:rPr lang="en-US" altLang="zh-TW" i="1" dirty="0"/>
                  <a:t>/</a:t>
                </a:r>
                <a:r>
                  <a:rPr lang="en-US" altLang="zh-TW" dirty="0"/>
                  <a:t>APX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, </a:t>
                </a:r>
                <a:r>
                  <a:rPr lang="el-GR" altLang="zh-TW" i="1" dirty="0"/>
                  <a:t>λ</a:t>
                </a:r>
                <a:r>
                  <a:rPr lang="el-GR" altLang="zh-TW" baseline="-25000" dirty="0"/>
                  <a:t>2</a:t>
                </a:r>
                <a:r>
                  <a:rPr lang="el-GR" altLang="zh-TW" dirty="0"/>
                  <a:t> = </a:t>
                </a:r>
                <a:r>
                  <a:rPr lang="en-US" altLang="zh-TW" dirty="0"/>
                  <a:t>OPT</a:t>
                </a:r>
                <a:r>
                  <a:rPr lang="en-US" altLang="zh-TW" i="1" dirty="0"/>
                  <a:t>/</a:t>
                </a:r>
                <a:r>
                  <a:rPr lang="en-US" altLang="zh-TW" dirty="0"/>
                  <a:t>APX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, </a:t>
                </a:r>
                <a:r>
                  <a:rPr lang="el-GR" altLang="zh-TW" i="1" dirty="0"/>
                  <a:t>λ</a:t>
                </a:r>
                <a:r>
                  <a:rPr lang="el-GR" altLang="zh-TW" baseline="-25000" dirty="0"/>
                  <a:t>3</a:t>
                </a:r>
                <a:r>
                  <a:rPr lang="el-GR" altLang="zh-TW" dirty="0"/>
                  <a:t> = </a:t>
                </a:r>
                <a:r>
                  <a:rPr lang="en-US" altLang="zh-TW" dirty="0"/>
                  <a:t>OPT</a:t>
                </a:r>
                <a:r>
                  <a:rPr lang="en-US" altLang="zh-TW" i="1" dirty="0"/>
                  <a:t>/</a:t>
                </a:r>
                <a:r>
                  <a:rPr lang="en-US" altLang="zh-TW" dirty="0"/>
                  <a:t>APX</a:t>
                </a:r>
                <a:r>
                  <a:rPr lang="en-US" altLang="zh-TW" baseline="-25000" dirty="0"/>
                  <a:t>3</a:t>
                </a:r>
                <a:r>
                  <a:rPr lang="en-US" altLang="zh-TW" dirty="0"/>
                  <a:t>, and </a:t>
                </a:r>
                <a:r>
                  <a:rPr lang="el-GR" altLang="zh-TW" i="1" dirty="0"/>
                  <a:t>λ </a:t>
                </a:r>
                <a:r>
                  <a:rPr lang="el-GR" altLang="zh-TW" dirty="0"/>
                  <a:t>= </a:t>
                </a:r>
                <a:r>
                  <a:rPr lang="en-US" altLang="zh-TW" dirty="0"/>
                  <a:t>min{</a:t>
                </a:r>
                <a:r>
                  <a:rPr lang="el-GR" altLang="zh-TW" i="1" dirty="0"/>
                  <a:t>λ</a:t>
                </a:r>
                <a:r>
                  <a:rPr lang="el-GR" altLang="zh-TW" baseline="-25000" dirty="0"/>
                  <a:t>1</a:t>
                </a:r>
                <a:r>
                  <a:rPr lang="el-GR" altLang="zh-TW" i="1" dirty="0"/>
                  <a:t>,λ</a:t>
                </a:r>
                <a:r>
                  <a:rPr lang="el-GR" altLang="zh-TW" baseline="-25000" dirty="0"/>
                  <a:t>2</a:t>
                </a:r>
                <a:r>
                  <a:rPr lang="el-GR" altLang="zh-TW" i="1" dirty="0"/>
                  <a:t>,λ</a:t>
                </a:r>
                <a:r>
                  <a:rPr lang="el-GR" altLang="zh-TW" baseline="-25000" dirty="0"/>
                  <a:t>3</a:t>
                </a:r>
                <a:r>
                  <a:rPr lang="el-GR" altLang="zh-TW" dirty="0" smtClean="0"/>
                  <a:t>}.</a:t>
                </a:r>
                <a:endParaRPr lang="en-US" altLang="zh-TW" dirty="0" smtClean="0"/>
              </a:p>
              <a:p>
                <a:r>
                  <a:rPr lang="en-US" altLang="zh-TW" dirty="0"/>
                  <a:t>We clearly have </a:t>
                </a:r>
                <a:r>
                  <a:rPr lang="en-US" altLang="zh-TW" i="1" dirty="0" smtClean="0"/>
                  <a:t>b</a:t>
                </a:r>
                <a:r>
                  <a:rPr lang="en-US" altLang="zh-TW" i="1" dirty="0"/>
                  <a:t> ≤ </a:t>
                </a:r>
                <a:r>
                  <a:rPr lang="en-US" altLang="zh-TW" dirty="0" smtClean="0"/>
                  <a:t>OPT</a:t>
                </a:r>
                <a:r>
                  <a:rPr lang="en-US" altLang="zh-TW" i="1" dirty="0"/>
                  <a:t> ≤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dirty="0"/>
                  <a:t> </a:t>
                </a:r>
                <a:r>
                  <a:rPr lang="en-US" altLang="zh-TW" dirty="0"/>
                  <a:t>. If OPT = </a:t>
                </a:r>
                <a:r>
                  <a:rPr lang="en-US" altLang="zh-TW" i="1" dirty="0"/>
                  <a:t>b</a:t>
                </a:r>
                <a:r>
                  <a:rPr lang="en-US" altLang="zh-TW" dirty="0"/>
                  <a:t>, then APX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= OPT and </a:t>
                </a:r>
                <a:r>
                  <a:rPr lang="el-GR" altLang="zh-TW" i="1" dirty="0"/>
                  <a:t>λ</a:t>
                </a:r>
                <a:r>
                  <a:rPr lang="el-GR" altLang="zh-TW" baseline="-25000" dirty="0"/>
                  <a:t>1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= 1. Also, if 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+ </a:t>
                </a:r>
                <a:r>
                  <a:rPr lang="en-US" altLang="zh-TW" dirty="0" smtClean="0"/>
                  <a:t>1</a:t>
                </a:r>
                <a:r>
                  <a:rPr lang="en-US" altLang="zh-TW" i="1" dirty="0"/>
                  <a:t> ≤ </a:t>
                </a:r>
                <a:r>
                  <a:rPr lang="en-US" altLang="zh-TW" dirty="0" smtClean="0"/>
                  <a:t>OPT </a:t>
                </a:r>
                <a:r>
                  <a:rPr lang="en-US" altLang="zh-TW" i="1" dirty="0"/>
                  <a:t>&lt; z</a:t>
                </a:r>
                <a:r>
                  <a:rPr lang="en-US" altLang="zh-TW" dirty="0"/>
                  <a:t>, then APX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 = OPT </a:t>
                </a:r>
                <a:r>
                  <a:rPr lang="en-US" altLang="zh-TW" dirty="0" smtClean="0"/>
                  <a:t>and</a:t>
                </a:r>
                <a:r>
                  <a:rPr lang="zh-TW" altLang="en-US" dirty="0" smtClean="0"/>
                  <a:t> </a:t>
                </a:r>
                <a:r>
                  <a:rPr lang="el-GR" altLang="zh-TW" i="1" dirty="0"/>
                  <a:t>λ</a:t>
                </a:r>
                <a:r>
                  <a:rPr lang="el-GR" altLang="zh-TW" baseline="-25000" dirty="0"/>
                  <a:t>2</a:t>
                </a:r>
                <a:r>
                  <a:rPr lang="el-GR" altLang="zh-TW" dirty="0" smtClean="0"/>
                  <a:t> </a:t>
                </a:r>
                <a:r>
                  <a:rPr lang="el-GR" altLang="zh-TW" dirty="0"/>
                  <a:t>= 1</a:t>
                </a:r>
                <a:r>
                  <a:rPr lang="el-GR" altLang="zh-TW" dirty="0" smtClean="0"/>
                  <a:t>.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So suppose </a:t>
                </a:r>
                <a:r>
                  <a:rPr lang="en-US" altLang="zh-TW" dirty="0" smtClean="0"/>
                  <a:t>that max{</a:t>
                </a:r>
                <a:r>
                  <a:rPr lang="en-US" altLang="zh-TW" i="1" dirty="0" smtClean="0"/>
                  <a:t>b </a:t>
                </a:r>
                <a:r>
                  <a:rPr lang="en-US" altLang="zh-TW" dirty="0"/>
                  <a:t>+1</a:t>
                </a:r>
                <a:r>
                  <a:rPr lang="en-US" altLang="zh-TW" i="1" dirty="0"/>
                  <a:t>, z</a:t>
                </a:r>
                <a:r>
                  <a:rPr lang="en-US" altLang="zh-TW" dirty="0" smtClean="0"/>
                  <a:t>}</a:t>
                </a:r>
                <a:r>
                  <a:rPr lang="en-US" altLang="zh-TW" i="1" dirty="0"/>
                  <a:t> ≤ </a:t>
                </a:r>
                <a:r>
                  <a:rPr lang="en-US" altLang="zh-TW" dirty="0" smtClean="0"/>
                  <a:t>OPT </a:t>
                </a:r>
                <a:r>
                  <a:rPr lang="en-US" altLang="zh-TW" i="1" dirty="0"/>
                  <a:t>≤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en-US" altLang="zh-TW" b="0" i="1" dirty="0" smtClean="0">
                        <a:latin typeface="Cambria Math"/>
                      </a:rPr>
                      <m:t>,</m:t>
                    </m:r>
                    <m:r>
                      <a:rPr lang="zh-TW" altLang="en-US" i="1" dirty="0">
                        <a:latin typeface="Cambria Math"/>
                      </a:rPr>
                      <m:t>經過了一堆證明</m:t>
                    </m:r>
                  </m:oMath>
                </a14:m>
                <a:r>
                  <a:rPr lang="zh-TW" altLang="en-US" dirty="0" smtClean="0"/>
                  <a:t>，</a:t>
                </a:r>
                <a:r>
                  <a:rPr lang="el-GR" altLang="zh-TW" i="1" dirty="0"/>
                  <a:t> </a:t>
                </a:r>
                <a:r>
                  <a:rPr lang="el-GR" altLang="zh-TW" i="1" dirty="0" smtClean="0"/>
                  <a:t>λ</a:t>
                </a:r>
                <a:r>
                  <a:rPr lang="en-US" altLang="zh-TW" baseline="-25000" dirty="0" smtClean="0"/>
                  <a:t>3</a:t>
                </a:r>
                <a:r>
                  <a:rPr lang="el-GR" altLang="zh-TW" dirty="0" smtClean="0"/>
                  <a:t> </a:t>
                </a:r>
                <a:r>
                  <a:rPr lang="en-US" altLang="zh-TW" i="1" dirty="0"/>
                  <a:t>≤ </a:t>
                </a:r>
                <a:r>
                  <a:rPr lang="en-US" altLang="zh-TW" dirty="0" smtClean="0"/>
                  <a:t>|</a:t>
                </a:r>
                <a:r>
                  <a:rPr lang="el-GR" altLang="zh-TW" i="1" dirty="0"/>
                  <a:t>Σ</a:t>
                </a:r>
                <a:r>
                  <a:rPr lang="el-GR" altLang="zh-TW" dirty="0"/>
                  <a:t>| · </a:t>
                </a:r>
                <a:r>
                  <a:rPr lang="en-US" altLang="zh-TW" dirty="0"/>
                  <a:t>O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altLang="zh-TW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TW" i="1">
                            <a:latin typeface="Cambria Math"/>
                          </a:rPr>
                          <m:t>𝑂𝑃𝑇</m:t>
                        </m:r>
                        <m:func>
                          <m:func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𝑂𝑃𝑇</m:t>
                                </m:r>
                              </m:e>
                            </m:func>
                            <m:r>
                              <a:rPr lang="en-US" altLang="zh-TW" i="1">
                                <a:latin typeface="Cambria Math"/>
                              </a:rPr>
                              <m:t>/</m:t>
                            </m:r>
                            <m:func>
                              <m:func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TW">
                                    <a:latin typeface="Cambria Math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𝑂𝑃𝑇</m:t>
                                </m:r>
                              </m:e>
                            </m:func>
                          </m:e>
                        </m:func>
                      </m:e>
                    </m:rad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2000" r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117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Probability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First consider the probability </a:t>
                </a:r>
                <a:r>
                  <a:rPr lang="en-US" altLang="zh-TW" sz="2800" i="1" dirty="0"/>
                  <a:t>p </a:t>
                </a:r>
                <a:r>
                  <a:rPr lang="en-US" altLang="zh-TW" sz="2800" dirty="0"/>
                  <a:t>that a constrained common subsequence is found in </a:t>
                </a:r>
                <a:r>
                  <a:rPr lang="en-US" altLang="zh-TW" sz="2800" dirty="0">
                    <a:solidFill>
                      <a:srgbClr val="FF0000"/>
                    </a:solidFill>
                  </a:rPr>
                  <a:t>one round </a:t>
                </a:r>
                <a:r>
                  <a:rPr lang="en-US" altLang="zh-TW" sz="2800" dirty="0"/>
                  <a:t>of </a:t>
                </a:r>
                <a:r>
                  <a:rPr lang="en-US" altLang="zh-TW" sz="2800" dirty="0" smtClean="0"/>
                  <a:t>the random </a:t>
                </a:r>
                <a:r>
                  <a:rPr lang="en-US" altLang="zh-TW" sz="2800" dirty="0"/>
                  <a:t>procedure. </a:t>
                </a:r>
                <a:r>
                  <a:rPr lang="en-US" altLang="zh-TW" sz="2800" dirty="0" smtClean="0"/>
                  <a:t>Since </a:t>
                </a:r>
                <a:r>
                  <a:rPr lang="en-US" altLang="zh-TW" sz="2800" dirty="0"/>
                  <a:t>the random procedure always finds a constrained common subsequence if it </a:t>
                </a:r>
                <a:r>
                  <a:rPr lang="en-US" altLang="zh-TW" sz="2800" dirty="0">
                    <a:solidFill>
                      <a:srgbClr val="FF0000"/>
                    </a:solidFill>
                  </a:rPr>
                  <a:t>guesses correctly </a:t>
                </a:r>
                <a:r>
                  <a:rPr lang="en-US" altLang="zh-TW" sz="2800" i="1" dirty="0" smtClean="0">
                    <a:solidFill>
                      <a:srgbClr val="FF0000"/>
                    </a:solidFill>
                  </a:rPr>
                  <a:t>s </a:t>
                </a:r>
                <a:r>
                  <a:rPr lang="en-US" altLang="zh-TW" sz="2800" dirty="0" smtClean="0">
                    <a:solidFill>
                      <a:srgbClr val="FF0000"/>
                    </a:solidFill>
                  </a:rPr>
                  <a:t>distinct </a:t>
                </a:r>
                <a:r>
                  <a:rPr lang="en-US" altLang="zh-TW" sz="2800" dirty="0">
                    <a:solidFill>
                      <a:srgbClr val="FF0000"/>
                    </a:solidFill>
                  </a:rPr>
                  <a:t>slots of value at least </a:t>
                </a:r>
                <a:r>
                  <a:rPr lang="en-US" altLang="zh-TW" sz="2800" i="1" dirty="0">
                    <a:solidFill>
                      <a:srgbClr val="FF0000"/>
                    </a:solidFill>
                  </a:rPr>
                  <a:t>l</a:t>
                </a:r>
                <a:r>
                  <a:rPr lang="en-US" altLang="zh-TW" sz="2800" dirty="0">
                    <a:solidFill>
                      <a:srgbClr val="FF0000"/>
                    </a:solidFill>
                  </a:rPr>
                  <a:t>, and guesses correctly the dominating letter for each of the </a:t>
                </a:r>
                <a:r>
                  <a:rPr lang="en-US" altLang="zh-TW" sz="2800" i="1" dirty="0">
                    <a:solidFill>
                      <a:srgbClr val="FF0000"/>
                    </a:solidFill>
                  </a:rPr>
                  <a:t>s </a:t>
                </a:r>
                <a:r>
                  <a:rPr lang="en-US" altLang="zh-TW" sz="2800" dirty="0">
                    <a:solidFill>
                      <a:srgbClr val="FF0000"/>
                    </a:solidFill>
                  </a:rPr>
                  <a:t>slots</a:t>
                </a:r>
                <a:r>
                  <a:rPr lang="en-US" altLang="zh-TW" sz="2800" dirty="0"/>
                  <a:t>, we </a:t>
                </a:r>
                <a:r>
                  <a:rPr lang="en-US" altLang="zh-TW" sz="2800" dirty="0" smtClean="0"/>
                  <a:t>have</a:t>
                </a:r>
              </a:p>
              <a:p>
                <a:pPr marL="0" indent="0">
                  <a:buNone/>
                </a:pPr>
                <a:r>
                  <a:rPr lang="en-US" altLang="zh-TW" sz="2800" b="0" dirty="0" smtClean="0"/>
                  <a:t>	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/>
                      </a:rPr>
                      <m:t>𝑝</m:t>
                    </m:r>
                    <m:r>
                      <a:rPr lang="en-US" altLang="zh-TW" sz="2800" b="0" i="1" smtClean="0">
                        <a:latin typeface="Cambria Math"/>
                        <a:ea typeface="Cambria Math"/>
                      </a:rPr>
                      <m:t>≥</m:t>
                    </m:r>
                    <m:f>
                      <m:fPr>
                        <m:ctrlP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𝑡</m:t>
                        </m:r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!/</m:t>
                        </m:r>
                        <m:d>
                          <m:dPr>
                            <m:ctrlP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𝑡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</m:e>
                        </m:d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!</m:t>
                        </m:r>
                      </m:num>
                      <m:den>
                        <m:sSup>
                          <m:sSupPr>
                            <m:ctrlP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(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+1)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</m:sup>
                        </m:sSup>
                      </m:den>
                    </m:f>
                    <m:r>
                      <a:rPr lang="zh-TW" altLang="en-US" sz="2800" b="0" i="1" smtClean="0">
                        <a:latin typeface="Cambria Math"/>
                        <a:ea typeface="Cambria Math"/>
                      </a:rPr>
                      <m:t>∙</m:t>
                    </m:r>
                    <m:f>
                      <m:fPr>
                        <m:ctrlP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TW" sz="28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l-GR" altLang="zh-TW" sz="2800" b="0" i="1" smtClean="0">
                                <a:latin typeface="Cambria Math"/>
                                <a:ea typeface="Cambria Math"/>
                              </a:rPr>
                              <m:t>Σ</m:t>
                            </m:r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|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TW" sz="2800" dirty="0" smtClean="0"/>
                  <a:t> ……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/>
                        <a:ea typeface="Cambria Math"/>
                      </a:rPr>
                      <m:t>≥</m:t>
                    </m:r>
                    <m:sSup>
                      <m:sSupPr>
                        <m:ctrlPr>
                          <a:rPr lang="en-US" altLang="zh-TW" sz="2800" b="0" i="1" dirty="0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TW" sz="2800" i="1" dirty="0">
                            <a:latin typeface="Cambria Math"/>
                            <a:ea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altLang="zh-TW" sz="2800" i="1" dirty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altLang="zh-TW" sz="2800" i="1" dirty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800" i="1" dirty="0">
                                <a:latin typeface="Cambria Math"/>
                                <a:ea typeface="Cambria Math"/>
                              </a:rPr>
                              <m:t>4</m:t>
                            </m:r>
                            <m:r>
                              <a:rPr lang="en-US" altLang="zh-TW" sz="2800" i="1" dirty="0">
                                <a:latin typeface="Cambria Math"/>
                                <a:ea typeface="Cambria Math"/>
                              </a:rPr>
                              <m:t>𝑠</m:t>
                            </m:r>
                          </m:den>
                        </m:f>
                        <m:r>
                          <a:rPr lang="en-US" altLang="zh-TW" sz="2800" i="1" dirty="0">
                            <a:latin typeface="Cambria Math"/>
                            <a:ea typeface="Cambria Math"/>
                          </a:rPr>
                          <m:t>)</m:t>
                        </m:r>
                      </m:e>
                      <m:sup>
                        <m:r>
                          <a:rPr lang="en-US" altLang="zh-TW" sz="2800" b="0" i="1" dirty="0" smtClean="0">
                            <a:latin typeface="Cambria Math"/>
                            <a:ea typeface="Cambria Math"/>
                          </a:rPr>
                          <m:t>𝑠</m:t>
                        </m:r>
                      </m:sup>
                    </m:sSup>
                  </m:oMath>
                </a14:m>
                <a:endParaRPr lang="en-US" altLang="zh-TW" sz="2800" dirty="0"/>
              </a:p>
              <a:p>
                <a:r>
                  <a:rPr lang="en-US" altLang="zh-TW" sz="2800" i="1" dirty="0" smtClean="0"/>
                  <a:t>t </a:t>
                </a:r>
                <a:r>
                  <a:rPr lang="en-US" altLang="zh-TW" sz="2800" dirty="0" smtClean="0"/>
                  <a:t>is </a:t>
                </a:r>
                <a:r>
                  <a:rPr lang="en-US" altLang="zh-TW" sz="2800" dirty="0"/>
                  <a:t>the number of slots of value at least </a:t>
                </a:r>
                <a:r>
                  <a:rPr lang="en-US" altLang="zh-TW" sz="2800" i="1" dirty="0"/>
                  <a:t>l</a:t>
                </a:r>
                <a:r>
                  <a:rPr lang="en-US" altLang="zh-TW" sz="2800" dirty="0"/>
                  <a:t>.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863" t="-1333" r="-2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752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Probability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800" i="1" dirty="0" smtClean="0"/>
              <a:t>y</a:t>
            </a:r>
            <a:r>
              <a:rPr lang="en-US" altLang="zh-TW" sz="2800" dirty="0" smtClean="0"/>
              <a:t>=(4</a:t>
            </a:r>
            <a:r>
              <a:rPr lang="en-US" altLang="zh-TW" sz="2800" i="1" dirty="0" smtClean="0"/>
              <a:t>s</a:t>
            </a:r>
            <a:r>
              <a:rPr lang="en-US" altLang="zh-TW" sz="2800" dirty="0" smtClean="0"/>
              <a:t>)</a:t>
            </a:r>
            <a:r>
              <a:rPr lang="en-US" altLang="zh-TW" sz="2800" i="1" baseline="30000" dirty="0" smtClean="0"/>
              <a:t>s</a:t>
            </a:r>
            <a:r>
              <a:rPr lang="en-US" altLang="zh-TW" sz="2800" dirty="0" smtClean="0"/>
              <a:t>, so </a:t>
            </a:r>
            <a:r>
              <a:rPr lang="en-US" altLang="zh-TW" sz="2800" dirty="0"/>
              <a:t>each round of the random procedure finds a constrained common subsequence with probability </a:t>
            </a:r>
            <a:r>
              <a:rPr lang="en-US" altLang="zh-TW" sz="2800" dirty="0" smtClean="0"/>
              <a:t>at least 1</a:t>
            </a:r>
            <a:r>
              <a:rPr lang="en-US" altLang="zh-TW" sz="2800" i="1" dirty="0" smtClean="0"/>
              <a:t>/y</a:t>
            </a:r>
            <a:r>
              <a:rPr lang="en-US" altLang="zh-TW" sz="2800" dirty="0" smtClean="0"/>
              <a:t>. </a:t>
            </a:r>
          </a:p>
          <a:p>
            <a:r>
              <a:rPr lang="en-US" altLang="zh-TW" sz="2800" dirty="0" smtClean="0"/>
              <a:t>Since </a:t>
            </a:r>
            <a:r>
              <a:rPr lang="en-US" altLang="zh-TW" sz="2800" dirty="0"/>
              <a:t>the random procedure is repeated for </a:t>
            </a:r>
            <a:r>
              <a:rPr lang="en-US" altLang="zh-TW" sz="2800" i="1" dirty="0" err="1" smtClean="0"/>
              <a:t>ry</a:t>
            </a:r>
            <a:r>
              <a:rPr lang="en-US" altLang="zh-TW" sz="2800" i="1" dirty="0" smtClean="0"/>
              <a:t> </a:t>
            </a:r>
            <a:r>
              <a:rPr lang="en-US" altLang="zh-TW" sz="2800" dirty="0"/>
              <a:t>rounds, the probability that a constrained common subsequence </a:t>
            </a:r>
            <a:r>
              <a:rPr lang="en-US" altLang="zh-TW" sz="2800" dirty="0" smtClean="0"/>
              <a:t>is not </a:t>
            </a:r>
            <a:r>
              <a:rPr lang="en-US" altLang="zh-TW" sz="2800" dirty="0"/>
              <a:t>found in </a:t>
            </a:r>
            <a:r>
              <a:rPr lang="en-US" altLang="zh-TW" sz="2800" i="1" dirty="0" err="1" smtClean="0"/>
              <a:t>ry</a:t>
            </a:r>
            <a:r>
              <a:rPr lang="en-US" altLang="zh-TW" sz="2800" i="1" dirty="0" smtClean="0"/>
              <a:t> </a:t>
            </a:r>
            <a:r>
              <a:rPr lang="en-US" altLang="zh-TW" sz="2800" dirty="0"/>
              <a:t>consecutive rounds is at </a:t>
            </a:r>
            <a:r>
              <a:rPr lang="en-US" altLang="zh-TW" sz="2800" dirty="0" smtClean="0"/>
              <a:t>most </a:t>
            </a:r>
          </a:p>
          <a:p>
            <a:pPr marL="0" indent="0">
              <a:buNone/>
            </a:pPr>
            <a:r>
              <a:rPr lang="en-US" altLang="zh-TW" sz="2800" dirty="0"/>
              <a:t>	</a:t>
            </a:r>
            <a:r>
              <a:rPr lang="en-US" altLang="zh-TW" sz="2800" dirty="0" smtClean="0"/>
              <a:t>(1</a:t>
            </a:r>
            <a:r>
              <a:rPr lang="en-US" altLang="zh-TW" sz="2800" dirty="0"/>
              <a:t>− </a:t>
            </a:r>
            <a:r>
              <a:rPr lang="en-US" altLang="zh-TW" sz="2800" dirty="0" smtClean="0"/>
              <a:t>1</a:t>
            </a:r>
            <a:r>
              <a:rPr lang="en-US" altLang="zh-TW" sz="2800" i="1" dirty="0" smtClean="0"/>
              <a:t>/y</a:t>
            </a:r>
            <a:r>
              <a:rPr lang="en-US" altLang="zh-TW" sz="2800" dirty="0" smtClean="0"/>
              <a:t>)</a:t>
            </a:r>
            <a:r>
              <a:rPr lang="en-US" altLang="zh-TW" sz="2800" i="1" baseline="30000" dirty="0" err="1" smtClean="0"/>
              <a:t>ry</a:t>
            </a:r>
            <a:r>
              <a:rPr lang="en-US" altLang="zh-TW" sz="2800" i="1" dirty="0" smtClean="0"/>
              <a:t> </a:t>
            </a:r>
            <a:r>
              <a:rPr lang="en-US" altLang="zh-TW" sz="2800" i="1" dirty="0"/>
              <a:t>≤ </a:t>
            </a:r>
            <a:r>
              <a:rPr lang="en-US" altLang="zh-TW" sz="2800" dirty="0" smtClean="0"/>
              <a:t>1</a:t>
            </a:r>
            <a:r>
              <a:rPr lang="en-US" altLang="zh-TW" sz="2800" i="1" dirty="0" smtClean="0"/>
              <a:t>/</a:t>
            </a:r>
            <a:r>
              <a:rPr lang="en-US" altLang="zh-TW" sz="2800" i="1" dirty="0" err="1" smtClean="0"/>
              <a:t>e</a:t>
            </a:r>
            <a:r>
              <a:rPr lang="en-US" altLang="zh-TW" sz="2800" i="1" baseline="30000" dirty="0" err="1" smtClean="0"/>
              <a:t>r</a:t>
            </a:r>
            <a:r>
              <a:rPr lang="en-US" altLang="zh-TW" sz="2800" i="1" dirty="0" smtClean="0"/>
              <a:t> ,</a:t>
            </a:r>
          </a:p>
          <a:p>
            <a:pPr marL="274320" lvl="1" indent="0">
              <a:buNone/>
            </a:pPr>
            <a:r>
              <a:rPr lang="en-US" altLang="zh-TW" sz="2800" dirty="0"/>
              <a:t>which can be made arbitrarily small by choosing the constant </a:t>
            </a:r>
            <a:r>
              <a:rPr lang="en-US" altLang="zh-TW" sz="2800" i="1" dirty="0"/>
              <a:t>r </a:t>
            </a:r>
            <a:r>
              <a:rPr lang="en-US" altLang="zh-TW" sz="2800" dirty="0"/>
              <a:t>sufficiently large.</a:t>
            </a:r>
            <a:endParaRPr lang="zh-TW" altLang="en-US" sz="2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018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Approximation Algorithm for Theorem </a:t>
            </a:r>
            <a:r>
              <a:rPr lang="en-US" altLang="zh-TW" dirty="0" smtClean="0"/>
              <a:t>4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Find a shortest input sequence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TW" dirty="0" smtClean="0"/>
                  <a:t>, which has length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dirty="0" smtClean="0"/>
                  <a:t>, and partition it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/>
                      </a:rPr>
                      <m:t>q</m:t>
                    </m:r>
                    <m:r>
                      <a:rPr lang="en-US" altLang="zh-TW" b="0" i="1" dirty="0" smtClean="0">
                        <a:latin typeface="Cambria Math"/>
                        <a:ea typeface="Cambria Math"/>
                      </a:rPr>
                      <m:t>≤</m:t>
                    </m:r>
                    <m:d>
                      <m:dPr>
                        <m:begChr m:val="⌈"/>
                        <m:endChr m:val="⌉"/>
                        <m:ctrlPr>
                          <a:rPr lang="en-US" altLang="zh-TW" b="0" i="1" dirty="0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𝑚</m:t>
                            </m:r>
                          </m:e>
                        </m:acc>
                        <m:r>
                          <a:rPr lang="en-US" altLang="zh-TW" i="1" dirty="0">
                            <a:latin typeface="Cambria Math"/>
                          </a:rPr>
                          <m:t>/</m:t>
                        </m:r>
                        <m:func>
                          <m:func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𝑚</m:t>
                                </m:r>
                              </m:e>
                            </m:acc>
                          </m:e>
                        </m:func>
                      </m:e>
                    </m:d>
                  </m:oMath>
                </a14:m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substrings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→ </a:t>
                </a:r>
                <a:r>
                  <a:rPr lang="en-US" altLang="zh-TW" i="1" dirty="0" smtClean="0"/>
                  <a:t>S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 </a:t>
                </a:r>
                <a:r>
                  <a:rPr lang="en-US" altLang="zh-TW" i="1" dirty="0" smtClean="0"/>
                  <a:t>. . . </a:t>
                </a:r>
                <a:r>
                  <a:rPr lang="en-US" altLang="zh-TW" i="1" dirty="0" err="1" smtClean="0"/>
                  <a:t>S</a:t>
                </a:r>
                <a:r>
                  <a:rPr lang="en-US" altLang="zh-TW" i="1" baseline="-25000" dirty="0" err="1" smtClean="0"/>
                  <a:t>q</a:t>
                </a:r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such that each substring </a:t>
                </a:r>
                <a:r>
                  <a:rPr lang="en-US" altLang="zh-TW" i="1" dirty="0" err="1" smtClean="0"/>
                  <a:t>S</a:t>
                </a:r>
                <a:r>
                  <a:rPr lang="en-US" altLang="zh-TW" i="1" baseline="-25000" dirty="0" err="1" smtClean="0"/>
                  <a:t>p</a:t>
                </a:r>
                <a:r>
                  <a:rPr lang="en-US" altLang="zh-TW" dirty="0" smtClean="0"/>
                  <a:t>, 1</a:t>
                </a:r>
                <a:r>
                  <a:rPr lang="en-US" altLang="zh-TW" i="1" dirty="0"/>
                  <a:t> ≤ </a:t>
                </a:r>
                <a:r>
                  <a:rPr lang="en-US" altLang="zh-TW" i="1" dirty="0" smtClean="0"/>
                  <a:t>p</a:t>
                </a:r>
                <a:r>
                  <a:rPr lang="en-US" altLang="zh-TW" i="1" dirty="0"/>
                  <a:t> ≤ </a:t>
                </a:r>
                <a:r>
                  <a:rPr lang="en-US" altLang="zh-TW" i="1" dirty="0" smtClean="0"/>
                  <a:t>q</a:t>
                </a:r>
                <a:r>
                  <a:rPr lang="en-US" altLang="zh-TW" dirty="0" smtClean="0"/>
                  <a:t>, has length at most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TW" i="1" dirty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i="1" dirty="0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dirty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>
                                    <a:latin typeface="Cambria Math"/>
                                  </a:rPr>
                                </m:ctrlPr>
                              </m:accPr>
                              <m:e>
                                <m:r>
                                  <a:rPr lang="en-US" altLang="zh-TW" i="1" dirty="0">
                                    <a:latin typeface="Cambria Math"/>
                                  </a:rPr>
                                  <m:t>𝑚</m:t>
                                </m:r>
                              </m:e>
                            </m:acc>
                          </m:e>
                        </m:func>
                      </m:e>
                    </m:d>
                  </m:oMath>
                </a14:m>
                <a:r>
                  <a:rPr lang="en-US" altLang="zh-TW" i="1" dirty="0"/>
                  <a:t> </a:t>
                </a:r>
                <a:r>
                  <a:rPr lang="en-US" altLang="zh-TW" dirty="0" smtClean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For </a:t>
                </a:r>
                <a:r>
                  <a:rPr lang="en-US" altLang="zh-TW" dirty="0"/>
                  <a:t>each pair of indices </a:t>
                </a:r>
                <a:r>
                  <a:rPr lang="en-US" altLang="zh-TW" i="1" dirty="0"/>
                  <a:t>u </a:t>
                </a:r>
                <a:r>
                  <a:rPr lang="en-US" altLang="zh-TW" dirty="0"/>
                  <a:t>and </a:t>
                </a:r>
                <a:r>
                  <a:rPr lang="en-US" altLang="zh-TW" i="1" dirty="0"/>
                  <a:t>v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0</a:t>
                </a:r>
                <a:r>
                  <a:rPr lang="en-US" altLang="zh-TW" i="1" dirty="0"/>
                  <a:t> ≤ </a:t>
                </a:r>
                <a:r>
                  <a:rPr lang="en-US" altLang="zh-TW" i="1" dirty="0" smtClean="0"/>
                  <a:t>u </a:t>
                </a:r>
                <a:r>
                  <a:rPr lang="en-US" altLang="zh-TW" i="1" dirty="0"/>
                  <a:t>&lt; v </a:t>
                </a:r>
                <a:r>
                  <a:rPr lang="en-US" altLang="zh-TW" i="1" dirty="0"/>
                  <a:t>≤ </a:t>
                </a:r>
                <a:r>
                  <a:rPr lang="en-US" altLang="zh-TW" i="1" dirty="0" smtClean="0"/>
                  <a:t>b </a:t>
                </a:r>
                <a:r>
                  <a:rPr lang="en-US" altLang="zh-TW" dirty="0"/>
                  <a:t>+ 1, and for each subsequence </a:t>
                </a:r>
                <a:r>
                  <a:rPr lang="en-US" altLang="zh-TW" i="1" dirty="0"/>
                  <a:t>T </a:t>
                </a:r>
                <a:r>
                  <a:rPr lang="en-US" altLang="zh-TW" dirty="0"/>
                  <a:t>of each substring </a:t>
                </a:r>
                <a:r>
                  <a:rPr lang="en-US" altLang="zh-TW" i="1" dirty="0" err="1" smtClean="0"/>
                  <a:t>S</a:t>
                </a:r>
                <a:r>
                  <a:rPr lang="en-US" altLang="zh-TW" i="1" baseline="-25000" dirty="0" err="1" smtClean="0"/>
                  <a:t>p</a:t>
                </a:r>
                <a:r>
                  <a:rPr lang="en-US" altLang="zh-TW" dirty="0"/>
                  <a:t>, </a:t>
                </a:r>
                <a:r>
                  <a:rPr lang="en-US" altLang="zh-TW" dirty="0" smtClean="0"/>
                  <a:t>1</a:t>
                </a:r>
                <a:r>
                  <a:rPr lang="en-US" altLang="zh-TW" i="1" dirty="0"/>
                  <a:t> ≤ </a:t>
                </a:r>
                <a:r>
                  <a:rPr lang="en-US" altLang="zh-TW" i="1" dirty="0" smtClean="0"/>
                  <a:t>p</a:t>
                </a:r>
                <a:r>
                  <a:rPr lang="en-US" altLang="zh-TW" i="1" dirty="0"/>
                  <a:t> ≤ </a:t>
                </a:r>
                <a:r>
                  <a:rPr lang="en-US" altLang="zh-TW" i="1" dirty="0" smtClean="0"/>
                  <a:t>q</a:t>
                </a:r>
                <a:r>
                  <a:rPr lang="en-US" altLang="zh-TW" dirty="0" smtClean="0"/>
                  <a:t>, compose </a:t>
                </a:r>
                <a:r>
                  <a:rPr lang="en-US" altLang="zh-TW" dirty="0"/>
                  <a:t>a candidate constrained </a:t>
                </a:r>
                <a:r>
                  <a:rPr lang="en-US" altLang="zh-TW" dirty="0" smtClean="0"/>
                  <a:t>sequence </a:t>
                </a:r>
                <a:r>
                  <a:rPr lang="en-US" altLang="zh-TW" i="1" dirty="0" smtClean="0"/>
                  <a:t>B</a:t>
                </a:r>
                <a:r>
                  <a:rPr lang="en-US" altLang="zh-TW" dirty="0" smtClean="0"/>
                  <a:t>[1</a:t>
                </a:r>
                <a:r>
                  <a:rPr lang="en-US" altLang="zh-TW" i="1" dirty="0"/>
                  <a:t>, u</a:t>
                </a:r>
                <a:r>
                  <a:rPr lang="en-US" altLang="zh-TW" dirty="0"/>
                  <a:t>]</a:t>
                </a:r>
                <a:r>
                  <a:rPr lang="en-US" altLang="zh-TW" i="1" dirty="0"/>
                  <a:t>T B</a:t>
                </a:r>
                <a:r>
                  <a:rPr lang="en-US" altLang="zh-TW" dirty="0"/>
                  <a:t>[</a:t>
                </a:r>
                <a:r>
                  <a:rPr lang="en-US" altLang="zh-TW" i="1" dirty="0"/>
                  <a:t>v, b</a:t>
                </a:r>
                <a:r>
                  <a:rPr lang="en-US" altLang="zh-TW" dirty="0" smtClean="0"/>
                  <a:t>]</a:t>
                </a:r>
                <a:r>
                  <a:rPr lang="en-US" altLang="zh-TW" i="1" dirty="0" smtClean="0"/>
                  <a:t>, </a:t>
                </a:r>
                <a:r>
                  <a:rPr lang="en-US" altLang="zh-TW" dirty="0" smtClean="0"/>
                  <a:t>and </a:t>
                </a:r>
                <a:r>
                  <a:rPr lang="en-US" altLang="zh-TW" dirty="0"/>
                  <a:t>check whether it is a </a:t>
                </a:r>
                <a:r>
                  <a:rPr lang="en-US" altLang="zh-TW" dirty="0" err="1"/>
                  <a:t>supersequence</a:t>
                </a:r>
                <a:r>
                  <a:rPr lang="en-US" altLang="zh-TW" dirty="0"/>
                  <a:t> of the constraint sequence </a:t>
                </a:r>
                <a:r>
                  <a:rPr lang="en-US" altLang="zh-TW" i="1" dirty="0"/>
                  <a:t>B </a:t>
                </a:r>
                <a:r>
                  <a:rPr lang="en-US" altLang="zh-TW" dirty="0"/>
                  <a:t>and is a common subsequence of the </a:t>
                </a:r>
                <a:r>
                  <a:rPr lang="en-US" altLang="zh-TW" dirty="0" smtClean="0"/>
                  <a:t>input </a:t>
                </a:r>
                <a:r>
                  <a:rPr lang="it-IT" altLang="zh-TW" dirty="0" smtClean="0"/>
                  <a:t>sequences </a:t>
                </a:r>
                <a:r>
                  <a:rPr lang="it-IT" altLang="zh-TW" i="1" dirty="0"/>
                  <a:t>A</a:t>
                </a:r>
                <a:r>
                  <a:rPr lang="it-IT" altLang="zh-TW" i="1" baseline="-25000" dirty="0"/>
                  <a:t>i</a:t>
                </a:r>
                <a:r>
                  <a:rPr lang="it-IT" altLang="zh-TW" dirty="0"/>
                  <a:t>, </a:t>
                </a:r>
                <a:r>
                  <a:rPr lang="it-IT" altLang="zh-TW" dirty="0" smtClean="0"/>
                  <a:t>1</a:t>
                </a:r>
                <a:r>
                  <a:rPr lang="en-US" altLang="zh-TW" i="1" dirty="0"/>
                  <a:t> ≤ </a:t>
                </a:r>
                <a:r>
                  <a:rPr lang="it-IT" altLang="zh-TW" i="1" dirty="0" smtClean="0"/>
                  <a:t>i</a:t>
                </a:r>
                <a:r>
                  <a:rPr lang="en-US" altLang="zh-TW" i="1" dirty="0"/>
                  <a:t> ≤ </a:t>
                </a:r>
                <a:r>
                  <a:rPr lang="it-IT" altLang="zh-TW" i="1" dirty="0" smtClean="0"/>
                  <a:t>k</a:t>
                </a:r>
                <a:r>
                  <a:rPr lang="it-IT" altLang="zh-TW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 smtClean="0"/>
                  <a:t>Return </a:t>
                </a:r>
                <a:r>
                  <a:rPr lang="en-US" altLang="zh-TW" dirty="0"/>
                  <a:t>the longest constrained sequence found.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627" t="-1733" r="-32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9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i="1" dirty="0"/>
              <a:t>A</a:t>
            </a:r>
            <a:r>
              <a:rPr lang="en-US" altLang="zh-TW" baseline="-25000" dirty="0"/>
              <a:t>1</a:t>
            </a:r>
            <a:r>
              <a:rPr lang="en-US" altLang="zh-TW" dirty="0"/>
              <a:t>=</a:t>
            </a:r>
            <a:r>
              <a:rPr lang="en-US" altLang="zh-TW" dirty="0" err="1"/>
              <a:t>acttagtaatgggatca</a:t>
            </a:r>
            <a:endParaRPr lang="en-US" altLang="zh-TW" dirty="0"/>
          </a:p>
          <a:p>
            <a:r>
              <a:rPr lang="en-US" altLang="zh-TW" i="1" dirty="0"/>
              <a:t>A</a:t>
            </a:r>
            <a:r>
              <a:rPr lang="en-US" altLang="zh-TW" baseline="-25000" dirty="0"/>
              <a:t>2</a:t>
            </a:r>
            <a:r>
              <a:rPr lang="en-US" altLang="zh-TW" dirty="0"/>
              <a:t>=</a:t>
            </a:r>
            <a:r>
              <a:rPr lang="en-US" altLang="zh-TW" dirty="0" err="1"/>
              <a:t>agcgttaggtaattacga</a:t>
            </a:r>
            <a:endParaRPr lang="en-US" altLang="zh-TW" dirty="0"/>
          </a:p>
          <a:p>
            <a:r>
              <a:rPr lang="en-US" altLang="zh-TW" i="1" dirty="0" smtClean="0"/>
              <a:t>B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actga</a:t>
            </a:r>
            <a:endParaRPr lang="en-US" altLang="zh-TW" dirty="0" smtClean="0"/>
          </a:p>
          <a:p>
            <a:r>
              <a:rPr lang="en-US" altLang="zh-TW" i="1" dirty="0" smtClean="0"/>
              <a:t>q</a:t>
            </a:r>
            <a:r>
              <a:rPr lang="en-US" altLang="zh-TW" dirty="0" smtClean="0"/>
              <a:t>=5,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actt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agt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aatg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gga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S</a:t>
            </a:r>
            <a:r>
              <a:rPr lang="en-US" altLang="zh-TW" baseline="-25000" dirty="0" smtClean="0"/>
              <a:t>5</a:t>
            </a:r>
            <a:r>
              <a:rPr lang="en-US" altLang="zh-TW" dirty="0" smtClean="0"/>
              <a:t>=</a:t>
            </a:r>
            <a:r>
              <a:rPr lang="en-US" altLang="zh-TW" dirty="0" err="1" smtClean="0"/>
              <a:t>tca</a:t>
            </a:r>
            <a:endParaRPr lang="en-US" altLang="zh-TW" dirty="0"/>
          </a:p>
          <a:p>
            <a:r>
              <a:rPr lang="zh-TW" altLang="en-US" dirty="0" smtClean="0"/>
              <a:t>假設</a:t>
            </a:r>
            <a:r>
              <a:rPr lang="en-US" altLang="zh-TW" dirty="0" smtClean="0"/>
              <a:t>u=2, v=4, p=3, T=</a:t>
            </a:r>
            <a:r>
              <a:rPr lang="en-US" altLang="zh-TW" dirty="0" err="1" smtClean="0"/>
              <a:t>aag</a:t>
            </a:r>
            <a:r>
              <a:rPr lang="zh-TW" altLang="en-US" dirty="0" smtClean="0"/>
              <a:t>，</a:t>
            </a:r>
            <a:r>
              <a:rPr lang="en-US" altLang="zh-TW" dirty="0" smtClean="0"/>
              <a:t>C=</a:t>
            </a:r>
            <a:r>
              <a:rPr lang="en-US" altLang="zh-TW" dirty="0" err="1" smtClean="0"/>
              <a:t>ac</a:t>
            </a:r>
            <a:r>
              <a:rPr lang="en-US" altLang="zh-TW" dirty="0" err="1" smtClean="0">
                <a:solidFill>
                  <a:srgbClr val="00B0F0"/>
                </a:solidFill>
              </a:rPr>
              <a:t>aag</a:t>
            </a:r>
            <a:r>
              <a:rPr lang="en-US" altLang="zh-TW" dirty="0" err="1" smtClean="0"/>
              <a:t>ga</a:t>
            </a:r>
            <a:r>
              <a:rPr lang="zh-TW" altLang="en-US" dirty="0" smtClean="0"/>
              <a:t>，不是</a:t>
            </a:r>
            <a:r>
              <a:rPr lang="en-US" altLang="zh-TW" dirty="0" smtClean="0"/>
              <a:t>B</a:t>
            </a:r>
            <a:r>
              <a:rPr lang="zh-TW" altLang="en-US" dirty="0" smtClean="0"/>
              <a:t>的</a:t>
            </a:r>
            <a:r>
              <a:rPr lang="en-US" altLang="zh-TW" dirty="0" smtClean="0"/>
              <a:t>superstring</a:t>
            </a:r>
          </a:p>
          <a:p>
            <a:r>
              <a:rPr lang="zh-TW" altLang="en-US" dirty="0"/>
              <a:t>假設</a:t>
            </a:r>
            <a:r>
              <a:rPr lang="en-US" altLang="zh-TW" dirty="0"/>
              <a:t>u=2, v=4, p=3, </a:t>
            </a:r>
            <a:r>
              <a:rPr lang="en-US" altLang="zh-TW" dirty="0" smtClean="0"/>
              <a:t>T=</a:t>
            </a:r>
            <a:r>
              <a:rPr lang="en-US" altLang="zh-TW" dirty="0" err="1" smtClean="0"/>
              <a:t>aat</a:t>
            </a:r>
            <a:r>
              <a:rPr lang="zh-TW" altLang="en-US" dirty="0" smtClean="0"/>
              <a:t>，</a:t>
            </a:r>
            <a:r>
              <a:rPr lang="en-US" altLang="zh-TW" dirty="0" smtClean="0"/>
              <a:t>C=</a:t>
            </a:r>
            <a:r>
              <a:rPr lang="en-US" altLang="zh-TW" dirty="0" err="1" smtClean="0"/>
              <a:t>ac</a:t>
            </a:r>
            <a:r>
              <a:rPr lang="en-US" altLang="zh-TW" dirty="0" err="1" smtClean="0">
                <a:solidFill>
                  <a:srgbClr val="00B0F0"/>
                </a:solidFill>
              </a:rPr>
              <a:t>aat</a:t>
            </a:r>
            <a:r>
              <a:rPr lang="en-US" altLang="zh-TW" dirty="0" err="1" smtClean="0"/>
              <a:t>ga</a:t>
            </a:r>
            <a:r>
              <a:rPr lang="zh-TW" altLang="en-US" dirty="0" smtClean="0"/>
              <a:t>，是</a:t>
            </a:r>
            <a:r>
              <a:rPr lang="en-US" altLang="zh-TW" dirty="0"/>
              <a:t>B</a:t>
            </a:r>
            <a:r>
              <a:rPr lang="zh-TW" altLang="en-US" dirty="0"/>
              <a:t>的</a:t>
            </a:r>
            <a:r>
              <a:rPr lang="en-US" altLang="zh-TW" dirty="0" smtClean="0"/>
              <a:t>superstring</a:t>
            </a:r>
            <a:r>
              <a:rPr lang="zh-TW" altLang="en-US" dirty="0" smtClean="0"/>
              <a:t>，也是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1</a:t>
            </a:r>
            <a:r>
              <a:rPr lang="zh-TW" altLang="en-US" dirty="0" smtClean="0"/>
              <a:t>和</a:t>
            </a:r>
            <a:r>
              <a:rPr lang="en-US" altLang="zh-TW" i="1" dirty="0" smtClean="0"/>
              <a:t>A</a:t>
            </a:r>
            <a:r>
              <a:rPr lang="en-US" altLang="zh-TW" baseline="-25000" dirty="0" smtClean="0"/>
              <a:t>2</a:t>
            </a:r>
            <a:r>
              <a:rPr lang="zh-TW" altLang="en-US" dirty="0" smtClean="0"/>
              <a:t>的</a:t>
            </a:r>
            <a:r>
              <a:rPr lang="en-US" altLang="zh-TW" dirty="0" smtClean="0"/>
              <a:t>substring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216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Approximate Ratio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假設正確答案是</a:t>
                </a:r>
                <a:r>
                  <a:rPr lang="en-US" altLang="zh-TW" dirty="0" smtClean="0"/>
                  <a:t>C*</a:t>
                </a:r>
                <a:r>
                  <a:rPr lang="zh-TW" altLang="en-US" dirty="0" smtClean="0"/>
                  <a:t>，我們也可以把</a:t>
                </a:r>
                <a:r>
                  <a:rPr lang="en-US" altLang="zh-TW" dirty="0" smtClean="0"/>
                  <a:t>C*</a:t>
                </a:r>
                <a:r>
                  <a:rPr lang="zh-TW" altLang="en-US" dirty="0" smtClean="0"/>
                  <a:t>依據跟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𝐴</m:t>
                        </m:r>
                      </m:e>
                    </m:acc>
                  </m:oMath>
                </a14:m>
                <a:r>
                  <a:rPr lang="zh-TW" altLang="en-US" dirty="0" smtClean="0"/>
                  <a:t>的對應分成</a:t>
                </a:r>
                <a:r>
                  <a:rPr lang="en-US" altLang="zh-TW" dirty="0" smtClean="0"/>
                  <a:t>q</a:t>
                </a:r>
                <a:r>
                  <a:rPr lang="zh-TW" altLang="en-US" dirty="0" smtClean="0"/>
                  <a:t>塊，根據鴿籠原理，一定有一塊長度</a:t>
                </a:r>
                <a:r>
                  <a:rPr lang="zh-TW" altLang="en-US" dirty="0" smtClean="0">
                    <a:latin typeface="Cambria Math"/>
                  </a:rPr>
                  <a:t>≧</a:t>
                </a:r>
                <a:r>
                  <a:rPr lang="en-US" altLang="zh-TW" dirty="0" smtClean="0">
                    <a:latin typeface="Cambria Math"/>
                  </a:rPr>
                  <a:t>|C*|/q</a:t>
                </a:r>
                <a:r>
                  <a:rPr lang="zh-TW" altLang="en-US" dirty="0" smtClean="0">
                    <a:latin typeface="Cambria Math"/>
                  </a:rPr>
                  <a:t>，</a:t>
                </a:r>
                <a:r>
                  <a:rPr lang="zh-TW" altLang="en-US" dirty="0">
                    <a:latin typeface="Cambria Math"/>
                  </a:rPr>
                  <a:t>假設</a:t>
                </a:r>
                <a:r>
                  <a:rPr lang="zh-TW" altLang="en-US" dirty="0" smtClean="0">
                    <a:latin typeface="Cambria Math"/>
                  </a:rPr>
                  <a:t>是第</a:t>
                </a:r>
                <a:r>
                  <a:rPr lang="en-US" altLang="zh-TW" i="1" dirty="0" err="1" smtClean="0">
                    <a:latin typeface="Cambria Math"/>
                  </a:rPr>
                  <a:t>i</a:t>
                </a:r>
                <a:r>
                  <a:rPr lang="zh-TW" altLang="en-US" dirty="0" smtClean="0">
                    <a:latin typeface="Cambria Math"/>
                  </a:rPr>
                  <a:t>塊，</a:t>
                </a:r>
                <a:r>
                  <a:rPr lang="zh-TW" altLang="en-US" dirty="0">
                    <a:latin typeface="Cambria Math"/>
                  </a:rPr>
                  <a:t>這塊會在我們</a:t>
                </a:r>
                <a:r>
                  <a:rPr lang="zh-TW" altLang="en-US" dirty="0" smtClean="0">
                    <a:latin typeface="Cambria Math"/>
                  </a:rPr>
                  <a:t>找</a:t>
                </a:r>
                <a:r>
                  <a:rPr lang="en-US" altLang="zh-TW" dirty="0" smtClean="0">
                    <a:latin typeface="Cambria Math"/>
                  </a:rPr>
                  <a:t>S</a:t>
                </a:r>
                <a:r>
                  <a:rPr lang="en-US" altLang="zh-TW" i="1" baseline="-25000" dirty="0" smtClean="0">
                    <a:latin typeface="Cambria Math"/>
                  </a:rPr>
                  <a:t>i</a:t>
                </a:r>
                <a:r>
                  <a:rPr lang="zh-TW" altLang="en-US" dirty="0" smtClean="0">
                    <a:latin typeface="Cambria Math"/>
                  </a:rPr>
                  <a:t>的子字串時找到，所以保證</a:t>
                </a:r>
                <a:r>
                  <a:rPr lang="en-US" altLang="zh-TW" dirty="0" smtClean="0">
                    <a:latin typeface="Cambria Math"/>
                  </a:rPr>
                  <a:t>approximate ratio</a:t>
                </a:r>
                <a:r>
                  <a:rPr lang="zh-TW" altLang="en-US" dirty="0" smtClean="0">
                    <a:latin typeface="Cambria Math"/>
                  </a:rPr>
                  <a:t>為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𝑚</m:t>
                        </m:r>
                      </m:e>
                    </m:acc>
                    <m:r>
                      <a:rPr lang="en-US" altLang="zh-TW" i="1" dirty="0">
                        <a:latin typeface="Cambria Math"/>
                      </a:rPr>
                      <m:t>/</m:t>
                    </m:r>
                    <m:func>
                      <m:funcPr>
                        <m:ctrlPr>
                          <a:rPr lang="en-US" altLang="zh-TW" i="1" dirty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/>
                          </a:rPr>
                          <m:t>log</m:t>
                        </m:r>
                      </m:fName>
                      <m:e>
                        <m:acc>
                          <m:accPr>
                            <m:chr m:val="̂"/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𝑚</m:t>
                            </m:r>
                          </m:e>
                        </m:acc>
                      </m:e>
                    </m:func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9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36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Exact algorithm for </a:t>
            </a:r>
            <a:r>
              <a:rPr lang="en-US" altLang="zh-TW" i="1" dirty="0" smtClean="0"/>
              <a:t>C</a:t>
            </a:r>
            <a:r>
              <a:rPr lang="en-US" altLang="zh-TW" dirty="0" smtClean="0"/>
              <a:t>(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, </a:t>
            </a:r>
            <a:r>
              <a:rPr lang="en-US" altLang="zh-TW" i="1" dirty="0" smtClean="0"/>
              <a:t>l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Our first exact algorithm, which runs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(|</a:t>
                </a:r>
                <a:r>
                  <a:rPr lang="en-US" altLang="zh-TW" i="1" dirty="0"/>
                  <a:t>Σ</a:t>
                </a:r>
                <a:r>
                  <a:rPr lang="en-US" altLang="zh-TW" dirty="0"/>
                  <a:t>|</a:t>
                </a:r>
                <a:r>
                  <a:rPr lang="en-US" altLang="zh-TW" baseline="30000" dirty="0"/>
                  <a:t>OPT+1</a:t>
                </a:r>
                <a:r>
                  <a:rPr lang="en-US" altLang="zh-TW" dirty="0"/>
                  <a:t> ·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time, is a trivial brute-force algorithm: for 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= 1</a:t>
                </a:r>
                <a:r>
                  <a:rPr lang="en-US" altLang="zh-TW" i="1" dirty="0"/>
                  <a:t>, . . . 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dirty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TW" i="1" dirty="0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r>
                  <a:rPr lang="en-US" altLang="zh-TW" dirty="0"/>
                  <a:t>,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enumerate</a:t>
                </a:r>
                <a:r>
                  <a:rPr lang="zh-TW" altLang="en-US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all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|</a:t>
                </a:r>
                <a:r>
                  <a:rPr lang="en-US" altLang="zh-TW" i="1" dirty="0" err="1" smtClean="0">
                    <a:solidFill>
                      <a:srgbClr val="FF0000"/>
                    </a:solidFill>
                  </a:rPr>
                  <a:t>Σ</a:t>
                </a:r>
                <a:r>
                  <a:rPr lang="en-US" altLang="zh-TW" dirty="0" err="1" smtClean="0">
                    <a:solidFill>
                      <a:srgbClr val="FF0000"/>
                    </a:solidFill>
                  </a:rPr>
                  <a:t>|</a:t>
                </a:r>
                <a:r>
                  <a:rPr lang="en-US" altLang="zh-TW" i="1" baseline="30000" dirty="0" err="1" smtClean="0">
                    <a:solidFill>
                      <a:srgbClr val="FF0000"/>
                    </a:solidFill>
                  </a:rPr>
                  <a:t>l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sequences of length </a:t>
                </a:r>
                <a:r>
                  <a:rPr lang="en-US" altLang="zh-TW" i="1" dirty="0" smtClean="0">
                    <a:solidFill>
                      <a:srgbClr val="FF0000"/>
                    </a:solidFill>
                  </a:rPr>
                  <a:t>l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then for each candidate sequence check in </a:t>
                </a:r>
                <a:r>
                  <a:rPr lang="en-US" altLang="zh-TW" i="1" dirty="0"/>
                  <a:t>O(n) </a:t>
                </a:r>
                <a:r>
                  <a:rPr lang="en-US" altLang="zh-TW" dirty="0"/>
                  <a:t>time whether it is a constrained </a:t>
                </a:r>
                <a:r>
                  <a:rPr lang="en-US" altLang="zh-TW" dirty="0" smtClean="0"/>
                  <a:t>common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subsequence</a:t>
                </a:r>
                <a:r>
                  <a:rPr lang="en-US" altLang="zh-TW" dirty="0"/>
                  <a:t>; stop the iteration if for some </a:t>
                </a:r>
                <a:r>
                  <a:rPr lang="en-US" altLang="zh-TW" i="1" dirty="0" smtClean="0"/>
                  <a:t>l </a:t>
                </a:r>
                <a:r>
                  <a:rPr lang="en-US" altLang="zh-TW" dirty="0"/>
                  <a:t>no candidate sequence of length </a:t>
                </a:r>
                <a:r>
                  <a:rPr lang="en-US" altLang="zh-TW" i="1" dirty="0" smtClean="0"/>
                  <a:t>l </a:t>
                </a:r>
                <a:r>
                  <a:rPr lang="en-US" altLang="zh-TW" dirty="0"/>
                  <a:t>is a constrained common subsequence.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t="-1200" r="-18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615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Exact algorithm for </a:t>
            </a:r>
            <a:r>
              <a:rPr lang="en-US" altLang="zh-TW" i="1" dirty="0"/>
              <a:t>C</a:t>
            </a:r>
            <a:r>
              <a:rPr lang="en-US" altLang="zh-TW" dirty="0"/>
              <a:t>(</a:t>
            </a:r>
            <a:r>
              <a:rPr lang="en-US" altLang="zh-TW" i="1" dirty="0"/>
              <a:t>k</a:t>
            </a:r>
            <a:r>
              <a:rPr lang="en-US" altLang="zh-TW" dirty="0"/>
              <a:t>, </a:t>
            </a:r>
            <a:r>
              <a:rPr lang="en-US" altLang="zh-TW" i="1" dirty="0"/>
              <a:t>l</a:t>
            </a:r>
            <a:r>
              <a:rPr lang="en-US" altLang="zh-TW" dirty="0"/>
              <a:t>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pPr marL="274320" lvl="1" indent="0">
                  <a:buNone/>
                </a:pPr>
                <a:r>
                  <a:rPr lang="en-US" altLang="zh-TW" dirty="0" smtClean="0"/>
                  <a:t>where </a:t>
                </a:r>
                <a:r>
                  <a:rPr lang="en-US" altLang="zh-TW" dirty="0"/>
                  <a:t>the second case applies only if 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[</a:t>
                </a:r>
                <a:r>
                  <a:rPr lang="en-US" altLang="zh-TW" i="1" dirty="0"/>
                  <a:t>a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]=· · ·= </a:t>
                </a:r>
                <a:r>
                  <a:rPr lang="en-US" altLang="zh-TW" i="1" dirty="0" err="1"/>
                  <a:t>A</a:t>
                </a:r>
                <a:r>
                  <a:rPr lang="en-US" altLang="zh-TW" i="1" baseline="-25000" dirty="0" err="1"/>
                  <a:t>k</a:t>
                </a:r>
                <a:r>
                  <a:rPr lang="en-US" altLang="zh-TW" dirty="0"/>
                  <a:t>[</a:t>
                </a:r>
                <a:r>
                  <a:rPr lang="en-US" altLang="zh-TW" i="1" dirty="0" err="1"/>
                  <a:t>a</a:t>
                </a:r>
                <a:r>
                  <a:rPr lang="en-US" altLang="zh-TW" i="1" baseline="-25000" dirty="0" err="1"/>
                  <a:t>k</a:t>
                </a:r>
                <a:r>
                  <a:rPr lang="en-US" altLang="zh-TW" dirty="0"/>
                  <a:t>] = σ for some σ ∈ Σ; then we let </a:t>
                </a:r>
                <a:r>
                  <a:rPr lang="en-US" altLang="zh-TW" dirty="0" smtClean="0"/>
                  <a:t/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dirty="0" smtClean="0"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’</a:t>
                </a:r>
                <a:r>
                  <a:rPr lang="en-US" altLang="zh-TW" dirty="0" smtClean="0"/>
                  <a:t>= 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baseline="-25000" dirty="0" smtClean="0"/>
                  <a:t> </a:t>
                </a:r>
                <a:r>
                  <a:rPr lang="en-US" altLang="zh-TW" dirty="0"/>
                  <a:t>− 1 if 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[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dirty="0"/>
                  <a:t>] = σ </a:t>
                </a:r>
                <a:r>
                  <a:rPr lang="en-US" altLang="zh-TW" dirty="0" smtClean="0"/>
                  <a:t>and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let 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i="1" dirty="0" smtClean="0">
                    <a:latin typeface="Arial Unicode MS" pitchFamily="34" charset="-120"/>
                    <a:ea typeface="Arial Unicode MS" pitchFamily="34" charset="-120"/>
                    <a:cs typeface="Arial Unicode MS" pitchFamily="34" charset="-120"/>
                  </a:rPr>
                  <a:t>’</a:t>
                </a:r>
                <a:r>
                  <a:rPr lang="en-US" altLang="zh-TW" dirty="0" smtClean="0"/>
                  <a:t>=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if </a:t>
                </a:r>
                <a:r>
                  <a:rPr lang="en-US" altLang="zh-TW" i="1" dirty="0" err="1" smtClean="0"/>
                  <a:t>B</a:t>
                </a:r>
                <a:r>
                  <a:rPr lang="en-US" altLang="zh-TW" baseline="-25000" dirty="0" err="1" smtClean="0"/>
                  <a:t>j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[</a:t>
                </a:r>
                <a:r>
                  <a:rPr lang="en-US" altLang="zh-TW" i="1" dirty="0" err="1" smtClean="0"/>
                  <a:t>b</a:t>
                </a:r>
                <a:r>
                  <a:rPr lang="en-US" altLang="zh-TW" i="1" baseline="-25000" dirty="0" err="1" smtClean="0"/>
                  <a:t>j</a:t>
                </a:r>
                <a:r>
                  <a:rPr lang="en-US" altLang="zh-TW" dirty="0"/>
                  <a:t>] </a:t>
                </a:r>
                <a:r>
                  <a:rPr lang="en-US" altLang="zh-TW" dirty="0" smtClean="0"/>
                  <a:t>≠σ.</a:t>
                </a:r>
              </a:p>
              <a:p>
                <a:pPr marL="342900" indent="-342900"/>
                <a:r>
                  <a:rPr lang="en-US" altLang="zh-TW" dirty="0"/>
                  <a:t>The table </a:t>
                </a:r>
                <a:r>
                  <a:rPr lang="en-US" altLang="zh-TW" i="1" dirty="0"/>
                  <a:t>L </a:t>
                </a:r>
                <a:r>
                  <a:rPr lang="en-US" altLang="zh-TW" dirty="0" smtClean="0"/>
                  <a:t>has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zh-TW" altLang="en-US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sup>
                      <m:e>
                        <m:r>
                          <a:rPr lang="en-US" altLang="zh-TW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/>
                          </a:rPr>
                          <m:t>|+1)</m:t>
                        </m:r>
                      </m:e>
                    </m:nary>
                    <m:nary>
                      <m:naryPr>
                        <m:chr m:val="∏"/>
                        <m:ctrlPr>
                          <a:rPr lang="zh-TW" altLang="en-US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𝑗</m:t>
                        </m:r>
                        <m:r>
                          <a:rPr lang="en-US" altLang="zh-TW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TW" b="0" i="1" smtClean="0">
                            <a:latin typeface="Cambria Math"/>
                          </a:rPr>
                          <m:t>𝑙</m:t>
                        </m:r>
                      </m:sup>
                      <m:e>
                        <m:r>
                          <a:rPr lang="en-US" altLang="zh-TW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i="1">
                            <a:latin typeface="Cambria Math"/>
                          </a:rPr>
                          <m:t>|+1)</m:t>
                        </m:r>
                      </m:e>
                    </m:nary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/>
                  <a:t>entries in total; each entry can be computed in </a:t>
                </a:r>
                <a:r>
                  <a:rPr lang="en-US" altLang="zh-TW" i="1" dirty="0"/>
                  <a:t>O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k </a:t>
                </a:r>
                <a:r>
                  <a:rPr lang="en-US" altLang="zh-TW" dirty="0"/>
                  <a:t>+</a:t>
                </a:r>
                <a:r>
                  <a:rPr lang="en-US" altLang="zh-TW" i="1" dirty="0"/>
                  <a:t>l</a:t>
                </a:r>
                <a:r>
                  <a:rPr lang="en-US" altLang="zh-TW" dirty="0"/>
                  <a:t>)</a:t>
                </a:r>
                <a:r>
                  <a:rPr lang="en-US" altLang="zh-TW" i="1" dirty="0"/>
                  <a:t> </a:t>
                </a:r>
                <a:r>
                  <a:rPr lang="en-US" altLang="zh-TW" dirty="0"/>
                  <a:t>time.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6" r="-1020" b="-9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56792"/>
            <a:ext cx="28575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890167"/>
            <a:ext cx="62960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414042"/>
            <a:ext cx="2933700" cy="37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85517"/>
            <a:ext cx="7229475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85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The End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EF91B-738D-4AC1-BEE0-9661B458BF4E}" type="slidenum">
              <a:rPr lang="zh-TW" altLang="en-US" smtClean="0"/>
              <a:t>35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59715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公正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494</TotalTime>
  <Words>3002</Words>
  <Application>Microsoft Office PowerPoint</Application>
  <PresentationFormat>如螢幕大小 (4:3)</PresentationFormat>
  <Paragraphs>183</Paragraphs>
  <Slides>35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6" baseType="lpstr">
      <vt:lpstr>公正</vt:lpstr>
      <vt:lpstr>Approximability of Constrained LCS</vt:lpstr>
      <vt:lpstr>Abstract</vt:lpstr>
      <vt:lpstr>Abstract</vt:lpstr>
      <vt:lpstr>Abstract</vt:lpstr>
      <vt:lpstr>C-LCS(k, l)</vt:lpstr>
      <vt:lpstr>Previous Hardness Results</vt:lpstr>
      <vt:lpstr>Theorem 1</vt:lpstr>
      <vt:lpstr>Theorem 3</vt:lpstr>
      <vt:lpstr>Theorem 2</vt:lpstr>
      <vt:lpstr>Theorem 4</vt:lpstr>
      <vt:lpstr>Proof of Theorem 1</vt:lpstr>
      <vt:lpstr>Proof of Theorem 1</vt:lpstr>
      <vt:lpstr>Example</vt:lpstr>
      <vt:lpstr>Lemma 1</vt:lpstr>
      <vt:lpstr>Lemma 1 (To be skipped)</vt:lpstr>
      <vt:lpstr>Reduction from MAX-CLIQUE</vt:lpstr>
      <vt:lpstr>Reduction from MAX-CLIQUE</vt:lpstr>
      <vt:lpstr>Theorem 6</vt:lpstr>
      <vt:lpstr>Proof of Theorem 3</vt:lpstr>
      <vt:lpstr>Approximation Algorithm for Theorem 2</vt:lpstr>
      <vt:lpstr>Algorithm 1</vt:lpstr>
      <vt:lpstr>Example</vt:lpstr>
      <vt:lpstr>Algorithm 1</vt:lpstr>
      <vt:lpstr>Algorithm 1</vt:lpstr>
      <vt:lpstr>Algorithm 1</vt:lpstr>
      <vt:lpstr>Example</vt:lpstr>
      <vt:lpstr>Approximate Ratio</vt:lpstr>
      <vt:lpstr>Probability</vt:lpstr>
      <vt:lpstr>Probability</vt:lpstr>
      <vt:lpstr>Approximation Algorithm for Theorem 4</vt:lpstr>
      <vt:lpstr>Example</vt:lpstr>
      <vt:lpstr>Approximate Ratio</vt:lpstr>
      <vt:lpstr>Exact algorithm for C(k, l)</vt:lpstr>
      <vt:lpstr>Exact algorithm for C(k, l)</vt:lpstr>
      <vt:lpstr>The End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Approximability of Constrained LCS</dc:title>
  <dc:creator>ab</dc:creator>
  <cp:lastModifiedBy>ab</cp:lastModifiedBy>
  <cp:revision>56</cp:revision>
  <dcterms:created xsi:type="dcterms:W3CDTF">2012-11-18T14:49:23Z</dcterms:created>
  <dcterms:modified xsi:type="dcterms:W3CDTF">2012-11-20T09:23:38Z</dcterms:modified>
</cp:coreProperties>
</file>