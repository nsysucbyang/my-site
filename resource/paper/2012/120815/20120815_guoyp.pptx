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0" r:id="rId7"/>
    <p:sldId id="262" r:id="rId8"/>
    <p:sldId id="267" r:id="rId9"/>
    <p:sldId id="263" r:id="rId10"/>
    <p:sldId id="269" r:id="rId11"/>
    <p:sldId id="265" r:id="rId12"/>
    <p:sldId id="261" r:id="rId1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858" y="-5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AA7A3-3302-4F62-9516-702FA80CA569}" type="datetimeFigureOut">
              <a:rPr lang="zh-TW" altLang="en-US" smtClean="0"/>
              <a:t>2012/8/15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35853-78CB-4F75-8ABF-A6D5F55290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2529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AA7A3-3302-4F62-9516-702FA80CA569}" type="datetimeFigureOut">
              <a:rPr lang="zh-TW" altLang="en-US" smtClean="0"/>
              <a:t>2012/8/15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35853-78CB-4F75-8ABF-A6D5F55290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1263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AA7A3-3302-4F62-9516-702FA80CA569}" type="datetimeFigureOut">
              <a:rPr lang="zh-TW" altLang="en-US" smtClean="0"/>
              <a:t>2012/8/15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35853-78CB-4F75-8ABF-A6D5F55290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3553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AA7A3-3302-4F62-9516-702FA80CA569}" type="datetimeFigureOut">
              <a:rPr lang="zh-TW" altLang="en-US" smtClean="0"/>
              <a:t>2012/8/15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35853-78CB-4F75-8ABF-A6D5F55290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1921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AA7A3-3302-4F62-9516-702FA80CA569}" type="datetimeFigureOut">
              <a:rPr lang="zh-TW" altLang="en-US" smtClean="0"/>
              <a:t>2012/8/15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35853-78CB-4F75-8ABF-A6D5F55290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4127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AA7A3-3302-4F62-9516-702FA80CA569}" type="datetimeFigureOut">
              <a:rPr lang="zh-TW" altLang="en-US" smtClean="0"/>
              <a:t>2012/8/15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35853-78CB-4F75-8ABF-A6D5F55290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442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AA7A3-3302-4F62-9516-702FA80CA569}" type="datetimeFigureOut">
              <a:rPr lang="zh-TW" altLang="en-US" smtClean="0"/>
              <a:t>2012/8/15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35853-78CB-4F75-8ABF-A6D5F55290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2414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AA7A3-3302-4F62-9516-702FA80CA569}" type="datetimeFigureOut">
              <a:rPr lang="zh-TW" altLang="en-US" smtClean="0"/>
              <a:t>2012/8/15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35853-78CB-4F75-8ABF-A6D5F55290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3544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AA7A3-3302-4F62-9516-702FA80CA569}" type="datetimeFigureOut">
              <a:rPr lang="zh-TW" altLang="en-US" smtClean="0"/>
              <a:t>2012/8/15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35853-78CB-4F75-8ABF-A6D5F55290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7942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AA7A3-3302-4F62-9516-702FA80CA569}" type="datetimeFigureOut">
              <a:rPr lang="zh-TW" altLang="en-US" smtClean="0"/>
              <a:t>2012/8/15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35853-78CB-4F75-8ABF-A6D5F55290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4960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AA7A3-3302-4F62-9516-702FA80CA569}" type="datetimeFigureOut">
              <a:rPr lang="zh-TW" altLang="en-US" smtClean="0"/>
              <a:t>2012/8/15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35853-78CB-4F75-8ABF-A6D5F55290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5974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BAA7A3-3302-4F62-9516-702FA80CA569}" type="datetimeFigureOut">
              <a:rPr lang="zh-TW" altLang="en-US" smtClean="0"/>
              <a:t>2012/8/15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35853-78CB-4F75-8ABF-A6D5F55290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3274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9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altLang="zh-TW" sz="3200" dirty="0" smtClean="0"/>
              <a:t>Application of Lempel–</a:t>
            </a:r>
            <a:r>
              <a:rPr lang="en-US" altLang="zh-TW" sz="3200" dirty="0" err="1" smtClean="0"/>
              <a:t>Ziv</a:t>
            </a:r>
            <a:r>
              <a:rPr lang="en-US" altLang="zh-TW" sz="3200" dirty="0" smtClean="0"/>
              <a:t> factorization</a:t>
            </a:r>
            <a:br>
              <a:rPr lang="en-US" altLang="zh-TW" sz="3200" dirty="0" smtClean="0"/>
            </a:br>
            <a:r>
              <a:rPr lang="en-US" altLang="zh-TW" sz="3200" dirty="0" smtClean="0"/>
              <a:t>to the approximation</a:t>
            </a:r>
            <a:br>
              <a:rPr lang="en-US" altLang="zh-TW" sz="3200" dirty="0" smtClean="0"/>
            </a:br>
            <a:r>
              <a:rPr lang="en-US" altLang="zh-TW" sz="3200" dirty="0" smtClean="0"/>
              <a:t>of grammar-based compression</a:t>
            </a:r>
            <a:endParaRPr lang="zh-TW" altLang="en-US" sz="3200" dirty="0"/>
          </a:p>
        </p:txBody>
      </p:sp>
      <p:sp>
        <p:nvSpPr>
          <p:cNvPr id="11" name="副標題 10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TW" sz="20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Wojciech</a:t>
            </a:r>
            <a:r>
              <a:rPr lang="en-US" altLang="zh-TW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TW" sz="20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Rytter</a:t>
            </a:r>
            <a:endParaRPr lang="en-US" altLang="zh-TW" sz="20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altLang="zh-TW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Theoretical Computer Science 302 (2003) 211 – 222</a:t>
            </a:r>
          </a:p>
          <a:p>
            <a:r>
              <a:rPr lang="en-US" altLang="zh-TW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Presenter: Yi-</a:t>
            </a:r>
            <a:r>
              <a:rPr lang="en-US" altLang="zh-TW" sz="20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Pu</a:t>
            </a:r>
            <a:r>
              <a:rPr lang="en-US" altLang="zh-TW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TW" sz="20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Guo</a:t>
            </a:r>
            <a:endParaRPr lang="en-US" altLang="zh-TW" sz="20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altLang="zh-TW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2012-08-07</a:t>
            </a:r>
            <a:endParaRPr lang="zh-TW" alt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1063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內容版面配置區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457200">
                  <a:lnSpc>
                    <a:spcPct val="150000"/>
                  </a:lnSpc>
                  <a:buNone/>
                </a:pPr>
                <a:r>
                  <a:rPr lang="en-US" altLang="zh-TW" sz="1600" dirty="0" smtClean="0"/>
                  <a:t>We introduce new type of context-free grammars, AVL-grammars, and show their applicability to grammar-based compression. Using this type of grammars we present O(n log |Σ|) time and O(log n)-ratio approximation of minimal grammar-based compression of a given string of length n over an alphabet Σ and O(k log n) time transformation of LZ77 encoding of size k into a grammar-based encoding of size O(k log n). A preliminary version of this paper has been presented in </a:t>
                </a:r>
                <a:r>
                  <a:rPr lang="en-US" altLang="zh-TW" sz="1600" dirty="0" err="1" smtClean="0"/>
                  <a:t>Rytter</a:t>
                </a:r>
                <a:r>
                  <a:rPr lang="en-US" altLang="zh-TW" sz="1600" dirty="0" smtClean="0"/>
                  <a:t> (Combinatorial Pattern Matching, Lecture Notes in Computer Science, vol. 2373, Springer, Berlin, June 2000, pp. 20–31), independently of </a:t>
                </a:r>
                <a:r>
                  <a:rPr lang="en-US" altLang="zh-TW" sz="1600" dirty="0" err="1" smtClean="0"/>
                  <a:t>Charikar</a:t>
                </a:r>
                <a:r>
                  <a:rPr lang="en-US" altLang="zh-TW" sz="1600" dirty="0" smtClean="0"/>
                  <a:t> et al. (STOC, 2002), where grammar-based approximation has been attacked with different construction and a more complicated type of grammars (α-balanced grammars for </a:t>
                </a:r>
                <a14:m>
                  <m:oMath xmlns:m="http://schemas.openxmlformats.org/officeDocument/2006/math">
                    <m:r>
                      <a:rPr lang="zh-TW" altLang="en-US" sz="1600" smtClean="0">
                        <a:latin typeface="Cambria Math"/>
                      </a:rPr>
                      <m:t>𝛼</m:t>
                    </m:r>
                    <m:r>
                      <a:rPr lang="zh-TW" altLang="en-US" sz="1600" smtClean="0">
                        <a:latin typeface="Cambria Math"/>
                      </a:rPr>
                      <m:t>≤1−</m:t>
                    </m:r>
                    <m:f>
                      <m:fPr>
                        <m:ctrlPr>
                          <a:rPr lang="en-US" altLang="zh-TW" sz="160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sz="1600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TW" sz="1600" smtClean="0">
                            <a:latin typeface="Cambria Math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US" altLang="zh-TW" sz="160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US" altLang="zh-TW" sz="1600" smtClean="0">
                            <a:latin typeface="Cambria Math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altLang="zh-TW" sz="1600" dirty="0" smtClean="0"/>
                  <a:t>). The AVL-grammar is a very natural and simple tool for grammar based compression, it is a straightforward extension of the classical AVL-tree.</a:t>
                </a:r>
                <a:endParaRPr lang="zh-TW" altLang="en-US" sz="1600" dirty="0"/>
              </a:p>
            </p:txBody>
          </p:sp>
        </mc:Choice>
        <mc:Fallback xmlns="">
          <p:sp>
            <p:nvSpPr>
              <p:cNvPr id="5" name="內容版面配置區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370" r="-103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341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LZ-factorizations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sz="2000" dirty="0" smtClean="0"/>
              <a:t>Consider </a:t>
            </a:r>
            <a:r>
              <a:rPr lang="en-US" altLang="zh-TW" sz="2000" dirty="0"/>
              <a:t>a similar version of the LZ77 compression algorithm (called LZ1</a:t>
            </a:r>
            <a:r>
              <a:rPr lang="en-US" altLang="zh-TW" sz="2000" dirty="0" smtClean="0"/>
              <a:t>).</a:t>
            </a:r>
          </a:p>
          <a:p>
            <a:pPr>
              <a:lnSpc>
                <a:spcPct val="150000"/>
              </a:lnSpc>
            </a:pPr>
            <a:r>
              <a:rPr lang="en-US" altLang="zh-TW" sz="2000" dirty="0"/>
              <a:t>The </a:t>
            </a:r>
            <a:r>
              <a:rPr lang="en-US" altLang="zh-TW" sz="2000" dirty="0" err="1"/>
              <a:t>subwords</a:t>
            </a:r>
            <a:r>
              <a:rPr lang="en-US" altLang="zh-TW" sz="2000" dirty="0"/>
              <a:t> are called </a:t>
            </a:r>
            <a:r>
              <a:rPr lang="en-US" altLang="zh-TW" sz="2000" i="1" dirty="0"/>
              <a:t>factors</a:t>
            </a:r>
            <a:r>
              <a:rPr lang="en-US" altLang="zh-TW" sz="2000" dirty="0" smtClean="0"/>
              <a:t>. “·”</a:t>
            </a:r>
            <a:r>
              <a:rPr lang="zh-TW" altLang="en-US" sz="2000" dirty="0" smtClean="0"/>
              <a:t> </a:t>
            </a:r>
            <a:r>
              <a:rPr lang="en-US" altLang="zh-TW" sz="2000" dirty="0" smtClean="0"/>
              <a:t>means concatenation (</a:t>
            </a:r>
            <a:r>
              <a:rPr lang="zh-TW" altLang="en-US" sz="2000" dirty="0" smtClean="0"/>
              <a:t>串接</a:t>
            </a:r>
            <a:r>
              <a:rPr lang="en-US" altLang="zh-TW" sz="2000" dirty="0" smtClean="0"/>
              <a:t>).</a:t>
            </a:r>
          </a:p>
          <a:p>
            <a:pPr>
              <a:lnSpc>
                <a:spcPct val="150000"/>
              </a:lnSpc>
            </a:pPr>
            <a:endParaRPr lang="en-US" altLang="zh-TW" sz="2000" dirty="0" smtClean="0"/>
          </a:p>
          <a:p>
            <a:pPr>
              <a:lnSpc>
                <a:spcPct val="150000"/>
              </a:lnSpc>
            </a:pPr>
            <a:r>
              <a:rPr lang="en-US" altLang="zh-TW" sz="2000" dirty="0" smtClean="0"/>
              <a:t>w = f</a:t>
            </a:r>
            <a:r>
              <a:rPr lang="en-US" altLang="zh-TW" sz="2000" baseline="-25000" dirty="0" smtClean="0"/>
              <a:t>1</a:t>
            </a:r>
            <a:r>
              <a:rPr lang="en-US" altLang="zh-TW" sz="2000" dirty="0" smtClean="0"/>
              <a:t>·f</a:t>
            </a:r>
            <a:r>
              <a:rPr lang="en-US" altLang="zh-TW" sz="2000" baseline="-25000" dirty="0" smtClean="0"/>
              <a:t>2</a:t>
            </a:r>
            <a:r>
              <a:rPr lang="en-US" altLang="zh-TW" sz="2000" dirty="0" smtClean="0"/>
              <a:t>·…·</a:t>
            </a:r>
            <a:r>
              <a:rPr lang="en-US" altLang="zh-TW" sz="2000" dirty="0" err="1" smtClean="0"/>
              <a:t>f</a:t>
            </a:r>
            <a:r>
              <a:rPr lang="en-US" altLang="zh-TW" sz="2000" baseline="-25000" dirty="0" err="1" smtClean="0"/>
              <a:t>k</a:t>
            </a:r>
            <a:r>
              <a:rPr lang="en-US" altLang="zh-TW" sz="2000" baseline="-25000" dirty="0" smtClean="0"/>
              <a:t/>
            </a:r>
            <a:br>
              <a:rPr lang="en-US" altLang="zh-TW" sz="2000" baseline="-25000" dirty="0" smtClean="0"/>
            </a:br>
            <a:r>
              <a:rPr lang="en-US" altLang="zh-TW" sz="2000" dirty="0" smtClean="0"/>
              <a:t>f</a:t>
            </a:r>
            <a:r>
              <a:rPr lang="en-US" altLang="zh-TW" sz="2000" baseline="-25000" dirty="0" smtClean="0"/>
              <a:t>1 </a:t>
            </a:r>
            <a:r>
              <a:rPr lang="en-US" altLang="zh-TW" sz="2000" dirty="0" smtClean="0"/>
              <a:t>= w[1</a:t>
            </a:r>
            <a:r>
              <a:rPr lang="en-US" altLang="zh-TW" sz="2000" dirty="0"/>
              <a:t>], f</a:t>
            </a:r>
            <a:r>
              <a:rPr lang="en-US" altLang="zh-TW" sz="2000" baseline="-25000" dirty="0"/>
              <a:t>i</a:t>
            </a:r>
            <a:r>
              <a:rPr lang="en-US" altLang="zh-TW" sz="2000" dirty="0"/>
              <a:t> is the longest prefix of f</a:t>
            </a:r>
            <a:r>
              <a:rPr lang="en-US" altLang="zh-TW" sz="2000" baseline="-25000" dirty="0"/>
              <a:t>i</a:t>
            </a:r>
            <a:r>
              <a:rPr lang="en-US" altLang="zh-TW" sz="2000" dirty="0"/>
              <a:t>...</a:t>
            </a:r>
            <a:r>
              <a:rPr lang="en-US" altLang="zh-TW" sz="2000" dirty="0" err="1"/>
              <a:t>f</a:t>
            </a:r>
            <a:r>
              <a:rPr lang="en-US" altLang="zh-TW" sz="2000" baseline="-25000" dirty="0" err="1"/>
              <a:t>k</a:t>
            </a:r>
            <a:r>
              <a:rPr lang="en-US" altLang="zh-TW" sz="2000" dirty="0"/>
              <a:t> which occurs in f</a:t>
            </a:r>
            <a:r>
              <a:rPr lang="en-US" altLang="zh-TW" sz="2000" baseline="-25000" dirty="0"/>
              <a:t>1</a:t>
            </a:r>
            <a:r>
              <a:rPr lang="en-US" altLang="zh-TW" sz="2000" dirty="0"/>
              <a:t>...f</a:t>
            </a:r>
            <a:r>
              <a:rPr lang="en-US" altLang="zh-TW" sz="2000" baseline="-25000" dirty="0"/>
              <a:t>i-1</a:t>
            </a:r>
            <a:r>
              <a:rPr lang="en-US" altLang="zh-TW" sz="2000" dirty="0" smtClean="0"/>
              <a:t>.</a:t>
            </a:r>
          </a:p>
          <a:p>
            <a:pPr>
              <a:lnSpc>
                <a:spcPct val="150000"/>
              </a:lnSpc>
            </a:pPr>
            <a:endParaRPr lang="en-US" altLang="zh-TW" sz="2000" dirty="0"/>
          </a:p>
          <a:p>
            <a:pPr>
              <a:lnSpc>
                <a:spcPct val="150000"/>
              </a:lnSpc>
            </a:pPr>
            <a:r>
              <a:rPr lang="en-US" altLang="zh-TW" sz="2000" dirty="0" smtClean="0"/>
              <a:t>Ex</a:t>
            </a:r>
            <a:r>
              <a:rPr lang="en-US" altLang="zh-TW" sz="2000" dirty="0"/>
              <a:t>: </a:t>
            </a:r>
            <a:r>
              <a:rPr lang="en-US" altLang="zh-TW" sz="2000" dirty="0" smtClean="0"/>
              <a:t>Fib</a:t>
            </a:r>
            <a:r>
              <a:rPr lang="en-US" altLang="zh-TW" sz="2000" baseline="-25000" dirty="0" smtClean="0"/>
              <a:t>7</a:t>
            </a:r>
            <a:r>
              <a:rPr lang="en-US" altLang="zh-TW" sz="2000" dirty="0" smtClean="0"/>
              <a:t> = </a:t>
            </a:r>
            <a:r>
              <a:rPr lang="en-US" altLang="zh-TW" sz="2400" dirty="0" err="1" smtClean="0"/>
              <a:t>abaababaabaab</a:t>
            </a:r>
            <a:r>
              <a:rPr lang="en-US" altLang="zh-TW" sz="2000" dirty="0" smtClean="0"/>
              <a:t> (n = 13)</a:t>
            </a:r>
            <a:br>
              <a:rPr lang="en-US" altLang="zh-TW" sz="2000" dirty="0" smtClean="0"/>
            </a:br>
            <a:r>
              <a:rPr lang="en-US" altLang="zh-TW" sz="2000" dirty="0" smtClean="0"/>
              <a:t>f</a:t>
            </a:r>
            <a:r>
              <a:rPr lang="en-US" altLang="zh-TW" sz="2000" baseline="-25000" dirty="0" smtClean="0"/>
              <a:t>1</a:t>
            </a:r>
            <a:r>
              <a:rPr lang="en-US" altLang="zh-TW" sz="2000" dirty="0" smtClean="0"/>
              <a:t>·f</a:t>
            </a:r>
            <a:r>
              <a:rPr lang="en-US" altLang="zh-TW" sz="2000" baseline="-25000" dirty="0" smtClean="0"/>
              <a:t>2</a:t>
            </a:r>
            <a:r>
              <a:rPr lang="en-US" altLang="zh-TW" sz="2000" dirty="0" smtClean="0"/>
              <a:t>·f</a:t>
            </a:r>
            <a:r>
              <a:rPr lang="en-US" altLang="zh-TW" sz="2000" baseline="-25000" dirty="0" smtClean="0"/>
              <a:t>3</a:t>
            </a:r>
            <a:r>
              <a:rPr lang="en-US" altLang="zh-TW" sz="2000" dirty="0" smtClean="0"/>
              <a:t>·f</a:t>
            </a:r>
            <a:r>
              <a:rPr lang="en-US" altLang="zh-TW" sz="2000" baseline="-25000" dirty="0" smtClean="0"/>
              <a:t>4</a:t>
            </a:r>
            <a:r>
              <a:rPr lang="en-US" altLang="zh-TW" sz="2000" dirty="0" smtClean="0"/>
              <a:t>·f</a:t>
            </a:r>
            <a:r>
              <a:rPr lang="en-US" altLang="zh-TW" sz="2000" baseline="-25000" dirty="0" smtClean="0"/>
              <a:t>5</a:t>
            </a:r>
            <a:r>
              <a:rPr lang="en-US" altLang="zh-TW" sz="2000" dirty="0" smtClean="0"/>
              <a:t>·f</a:t>
            </a:r>
            <a:r>
              <a:rPr lang="en-US" altLang="zh-TW" sz="2000" baseline="-25000" dirty="0" smtClean="0"/>
              <a:t>6</a:t>
            </a:r>
            <a:r>
              <a:rPr lang="en-US" altLang="zh-TW" sz="2000" dirty="0" smtClean="0"/>
              <a:t> = a </a:t>
            </a:r>
            <a:r>
              <a:rPr lang="en-US" altLang="zh-TW" sz="2000" dirty="0"/>
              <a:t>b a aba </a:t>
            </a:r>
            <a:r>
              <a:rPr lang="en-US" altLang="zh-TW" sz="2000" dirty="0" err="1"/>
              <a:t>baaba</a:t>
            </a:r>
            <a:r>
              <a:rPr lang="en-US" altLang="zh-TW" sz="2000" dirty="0"/>
              <a:t> </a:t>
            </a:r>
            <a:r>
              <a:rPr lang="en-US" altLang="zh-TW" sz="2000" dirty="0" err="1"/>
              <a:t>ab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413051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Grammar-based </a:t>
            </a:r>
            <a:r>
              <a:rPr lang="en-US" altLang="zh-TW" dirty="0"/>
              <a:t>factorizations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sz="2000" dirty="0"/>
              <a:t>A grammar (straight-line program) is a sequence of assignment </a:t>
            </a:r>
            <a:r>
              <a:rPr lang="en-US" altLang="zh-TW" sz="2000" dirty="0" smtClean="0"/>
              <a:t>statements.</a:t>
            </a:r>
            <a:endParaRPr lang="pt-BR" altLang="zh-TW" sz="2000" dirty="0" smtClean="0"/>
          </a:p>
          <a:p>
            <a:pPr>
              <a:lnSpc>
                <a:spcPct val="150000"/>
              </a:lnSpc>
            </a:pPr>
            <a:r>
              <a:rPr lang="pt-BR" altLang="zh-TW" sz="2000" dirty="0" smtClean="0"/>
              <a:t>Ex</a:t>
            </a:r>
            <a:r>
              <a:rPr lang="pt-BR" altLang="zh-TW" sz="2000" dirty="0"/>
              <a:t>: Fib</a:t>
            </a:r>
            <a:r>
              <a:rPr lang="pt-BR" altLang="zh-TW" sz="2000" baseline="-25000" dirty="0"/>
              <a:t>7</a:t>
            </a:r>
            <a:r>
              <a:rPr lang="pt-BR" altLang="zh-TW" sz="2000" dirty="0"/>
              <a:t> = abaababaabaab (n = 13</a:t>
            </a:r>
            <a:r>
              <a:rPr lang="pt-BR" altLang="zh-TW" sz="2000" dirty="0" smtClean="0"/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altLang="zh-TW" sz="2000" dirty="0"/>
              <a:t>X</a:t>
            </a:r>
            <a:r>
              <a:rPr lang="pt-BR" altLang="zh-TW" sz="2000" baseline="-25000" dirty="0"/>
              <a:t>7</a:t>
            </a:r>
            <a:r>
              <a:rPr lang="pt-BR" altLang="zh-TW" sz="2000" dirty="0"/>
              <a:t> = X</a:t>
            </a:r>
            <a:r>
              <a:rPr lang="pt-BR" altLang="zh-TW" sz="2000" baseline="-25000" dirty="0"/>
              <a:t>6</a:t>
            </a:r>
            <a:r>
              <a:rPr lang="pt-BR" altLang="zh-TW" sz="2000" dirty="0"/>
              <a:t> · X</a:t>
            </a:r>
            <a:r>
              <a:rPr lang="pt-BR" altLang="zh-TW" sz="2000" baseline="-25000" dirty="0"/>
              <a:t>5</a:t>
            </a:r>
            <a:r>
              <a:rPr lang="pt-BR" altLang="zh-TW" sz="2000" dirty="0" smtClean="0"/>
              <a:t>;</a:t>
            </a:r>
            <a:r>
              <a:rPr lang="zh-TW" altLang="en-US" sz="2000" dirty="0" smtClean="0"/>
              <a:t>　</a:t>
            </a:r>
            <a:r>
              <a:rPr lang="pt-BR" altLang="zh-TW" sz="2000" dirty="0" smtClean="0"/>
              <a:t>X</a:t>
            </a:r>
            <a:r>
              <a:rPr lang="pt-BR" altLang="zh-TW" sz="2000" baseline="-25000" dirty="0" smtClean="0"/>
              <a:t>6</a:t>
            </a:r>
            <a:r>
              <a:rPr lang="pt-BR" altLang="zh-TW" sz="2000" dirty="0" smtClean="0"/>
              <a:t> </a:t>
            </a:r>
            <a:r>
              <a:rPr lang="pt-BR" altLang="zh-TW" sz="2000" dirty="0"/>
              <a:t>= X</a:t>
            </a:r>
            <a:r>
              <a:rPr lang="pt-BR" altLang="zh-TW" sz="2000" baseline="-25000" dirty="0"/>
              <a:t>5</a:t>
            </a:r>
            <a:r>
              <a:rPr lang="pt-BR" altLang="zh-TW" sz="2000" dirty="0"/>
              <a:t> · X</a:t>
            </a:r>
            <a:r>
              <a:rPr lang="pt-BR" altLang="zh-TW" sz="2000" baseline="-25000" dirty="0"/>
              <a:t>4</a:t>
            </a:r>
            <a:r>
              <a:rPr lang="pt-BR" altLang="zh-TW" sz="2000" dirty="0" smtClean="0"/>
              <a:t>;</a:t>
            </a:r>
            <a:r>
              <a:rPr lang="zh-TW" altLang="en-US" sz="2000" dirty="0" smtClean="0"/>
              <a:t>　</a:t>
            </a:r>
            <a:r>
              <a:rPr lang="pt-BR" altLang="zh-TW" sz="2000" dirty="0" smtClean="0"/>
              <a:t>X</a:t>
            </a:r>
            <a:r>
              <a:rPr lang="pt-BR" altLang="zh-TW" sz="2000" baseline="-25000" dirty="0" smtClean="0"/>
              <a:t>5</a:t>
            </a:r>
            <a:r>
              <a:rPr lang="pt-BR" altLang="zh-TW" sz="2000" dirty="0" smtClean="0"/>
              <a:t> </a:t>
            </a:r>
            <a:r>
              <a:rPr lang="pt-BR" altLang="zh-TW" sz="2000" dirty="0"/>
              <a:t>= X</a:t>
            </a:r>
            <a:r>
              <a:rPr lang="pt-BR" altLang="zh-TW" sz="2000" baseline="-25000" dirty="0"/>
              <a:t>4</a:t>
            </a:r>
            <a:r>
              <a:rPr lang="pt-BR" altLang="zh-TW" sz="2000" dirty="0"/>
              <a:t> · </a:t>
            </a:r>
            <a:r>
              <a:rPr lang="pt-BR" altLang="zh-TW" sz="2000" dirty="0" smtClean="0"/>
              <a:t>X</a:t>
            </a:r>
            <a:r>
              <a:rPr lang="pt-BR" altLang="zh-TW" sz="2000" baseline="-25000" dirty="0" smtClean="0"/>
              <a:t>3</a:t>
            </a:r>
            <a:r>
              <a:rPr lang="pt-BR" altLang="zh-TW" sz="2000" dirty="0" smtClean="0"/>
              <a:t>;</a:t>
            </a:r>
            <a:r>
              <a:rPr lang="zh-TW" altLang="en-US" sz="2000" dirty="0" smtClean="0"/>
              <a:t>　</a:t>
            </a:r>
            <a:r>
              <a:rPr lang="pt-BR" altLang="zh-TW" sz="2000" dirty="0" smtClean="0"/>
              <a:t>X</a:t>
            </a:r>
            <a:r>
              <a:rPr lang="pt-BR" altLang="zh-TW" sz="2000" baseline="-25000" dirty="0" smtClean="0"/>
              <a:t>4</a:t>
            </a:r>
            <a:r>
              <a:rPr lang="pt-BR" altLang="zh-TW" sz="2000" dirty="0" smtClean="0"/>
              <a:t> </a:t>
            </a:r>
            <a:r>
              <a:rPr lang="pt-BR" altLang="zh-TW" sz="2000" dirty="0"/>
              <a:t>= X</a:t>
            </a:r>
            <a:r>
              <a:rPr lang="pt-BR" altLang="zh-TW" sz="2000" baseline="-25000" dirty="0"/>
              <a:t>3</a:t>
            </a:r>
            <a:r>
              <a:rPr lang="pt-BR" altLang="zh-TW" sz="2000" dirty="0"/>
              <a:t> · X</a:t>
            </a:r>
            <a:r>
              <a:rPr lang="pt-BR" altLang="zh-TW" sz="2000" baseline="-25000" dirty="0"/>
              <a:t>2</a:t>
            </a:r>
            <a:r>
              <a:rPr lang="pt-BR" altLang="zh-TW" sz="2000" dirty="0"/>
              <a:t>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altLang="zh-TW" sz="2000" dirty="0"/>
              <a:t>X</a:t>
            </a:r>
            <a:r>
              <a:rPr lang="pt-BR" altLang="zh-TW" sz="2000" baseline="-25000" dirty="0"/>
              <a:t>3</a:t>
            </a:r>
            <a:r>
              <a:rPr lang="pt-BR" altLang="zh-TW" sz="2000" dirty="0"/>
              <a:t> = X</a:t>
            </a:r>
            <a:r>
              <a:rPr lang="pt-BR" altLang="zh-TW" sz="2000" baseline="-25000" dirty="0"/>
              <a:t>2</a:t>
            </a:r>
            <a:r>
              <a:rPr lang="pt-BR" altLang="zh-TW" sz="2000" dirty="0"/>
              <a:t> · </a:t>
            </a:r>
            <a:r>
              <a:rPr lang="pt-BR" altLang="zh-TW" sz="2000" dirty="0" smtClean="0"/>
              <a:t>X</a:t>
            </a:r>
            <a:r>
              <a:rPr lang="pt-BR" altLang="zh-TW" sz="2000" baseline="-25000" dirty="0" smtClean="0"/>
              <a:t>1</a:t>
            </a:r>
            <a:r>
              <a:rPr lang="pt-BR" altLang="zh-TW" sz="2000" dirty="0" smtClean="0"/>
              <a:t>;</a:t>
            </a:r>
            <a:r>
              <a:rPr lang="zh-TW" altLang="en-US" sz="2000" dirty="0" smtClean="0"/>
              <a:t>　</a:t>
            </a:r>
            <a:r>
              <a:rPr lang="pt-BR" altLang="zh-TW" sz="2000" dirty="0" smtClean="0"/>
              <a:t>X</a:t>
            </a:r>
            <a:r>
              <a:rPr lang="pt-BR" altLang="zh-TW" sz="2000" baseline="-25000" dirty="0" smtClean="0"/>
              <a:t>2</a:t>
            </a:r>
            <a:r>
              <a:rPr lang="pt-BR" altLang="zh-TW" sz="2000" dirty="0" smtClean="0"/>
              <a:t> </a:t>
            </a:r>
            <a:r>
              <a:rPr lang="pt-BR" altLang="zh-TW" sz="2000" dirty="0"/>
              <a:t>= a</a:t>
            </a:r>
            <a:r>
              <a:rPr lang="pt-BR" altLang="zh-TW" sz="2000" dirty="0" smtClean="0"/>
              <a:t>;</a:t>
            </a:r>
            <a:r>
              <a:rPr lang="zh-TW" altLang="en-US" sz="2000" dirty="0" smtClean="0"/>
              <a:t>　</a:t>
            </a:r>
            <a:r>
              <a:rPr lang="pt-BR" altLang="zh-TW" sz="2000" dirty="0" smtClean="0"/>
              <a:t>X</a:t>
            </a:r>
            <a:r>
              <a:rPr lang="pt-BR" altLang="zh-TW" sz="2000" baseline="-25000" dirty="0" smtClean="0"/>
              <a:t>1</a:t>
            </a:r>
            <a:r>
              <a:rPr lang="pt-BR" altLang="zh-TW" sz="2000" dirty="0" smtClean="0"/>
              <a:t> </a:t>
            </a:r>
            <a:r>
              <a:rPr lang="pt-BR" altLang="zh-TW" sz="2000" dirty="0"/>
              <a:t>= b</a:t>
            </a:r>
            <a:r>
              <a:rPr lang="pt-BR" altLang="zh-TW" sz="2000" dirty="0" smtClean="0"/>
              <a:t>;</a:t>
            </a:r>
          </a:p>
          <a:p>
            <a:pPr>
              <a:lnSpc>
                <a:spcPct val="150000"/>
              </a:lnSpc>
            </a:pPr>
            <a:r>
              <a:rPr lang="en-US" altLang="zh-TW" sz="2000" dirty="0"/>
              <a:t>X</a:t>
            </a:r>
            <a:r>
              <a:rPr lang="en-US" altLang="zh-TW" sz="2000" baseline="-25000" dirty="0"/>
              <a:t>i</a:t>
            </a:r>
            <a:r>
              <a:rPr lang="en-US" altLang="zh-TW" sz="2000" dirty="0"/>
              <a:t> can be a single (terminal) symbol, or </a:t>
            </a:r>
            <a:r>
              <a:rPr lang="en-US" altLang="zh-TW" sz="2000" dirty="0" err="1"/>
              <a:t>X</a:t>
            </a:r>
            <a:r>
              <a:rPr lang="en-US" altLang="zh-TW" sz="2000" baseline="-25000" dirty="0" err="1"/>
              <a:t>j</a:t>
            </a:r>
            <a:r>
              <a:rPr lang="en-US" altLang="zh-TW" sz="2000" dirty="0"/>
              <a:t> ·</a:t>
            </a:r>
            <a:r>
              <a:rPr lang="en-US" altLang="zh-TW" sz="2000" dirty="0" err="1" smtClean="0"/>
              <a:t>X</a:t>
            </a:r>
            <a:r>
              <a:rPr lang="en-US" altLang="zh-TW" sz="2000" baseline="-25000" dirty="0" err="1" smtClean="0"/>
              <a:t>k</a:t>
            </a:r>
            <a:r>
              <a:rPr lang="en-US" altLang="zh-TW" sz="2000" dirty="0" smtClean="0"/>
              <a:t> (for some </a:t>
            </a:r>
            <a:r>
              <a:rPr lang="en-US" altLang="zh-TW" sz="2000" dirty="0" err="1" smtClean="0"/>
              <a:t>j,k</a:t>
            </a:r>
            <a:r>
              <a:rPr lang="en-US" altLang="zh-TW" sz="2000" dirty="0" smtClean="0"/>
              <a:t> &lt; </a:t>
            </a:r>
            <a:r>
              <a:rPr lang="en-US" altLang="zh-TW" sz="2000" dirty="0" err="1" smtClean="0"/>
              <a:t>i</a:t>
            </a:r>
            <a:r>
              <a:rPr lang="en-US" altLang="zh-TW" sz="2000" dirty="0" smtClean="0"/>
              <a:t>).</a:t>
            </a:r>
          </a:p>
          <a:p>
            <a:pPr>
              <a:lnSpc>
                <a:spcPct val="150000"/>
              </a:lnSpc>
            </a:pPr>
            <a:endParaRPr lang="en-US" altLang="zh-TW" sz="2000" dirty="0"/>
          </a:p>
          <a:p>
            <a:pPr>
              <a:lnSpc>
                <a:spcPct val="150000"/>
              </a:lnSpc>
            </a:pPr>
            <a:r>
              <a:rPr lang="en-US" altLang="zh-TW" sz="2000" dirty="0"/>
              <a:t>The problem of finding the smallest size grammar generating a given text is NP-complete.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590724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152" y="1499918"/>
            <a:ext cx="8573697" cy="3858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76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152" y="856891"/>
            <a:ext cx="8573697" cy="514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173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In this paper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arenR"/>
            </a:pPr>
            <a:r>
              <a:rPr lang="en-US" altLang="zh-TW" sz="2400" dirty="0" smtClean="0"/>
              <a:t>O(n log |</a:t>
            </a:r>
            <a:r>
              <a:rPr lang="el-GR" altLang="zh-TW" sz="2400" dirty="0" smtClean="0"/>
              <a:t>Σ|) </a:t>
            </a:r>
            <a:r>
              <a:rPr lang="en-US" altLang="zh-TW" sz="2400" dirty="0" smtClean="0"/>
              <a:t>time and O(log n)-ratio approximation of minimal grammar-based compression of a given string of length n over an alphabet </a:t>
            </a:r>
            <a:r>
              <a:rPr lang="el-GR" altLang="zh-TW" sz="2400" dirty="0" smtClean="0"/>
              <a:t>Σ.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arenR"/>
            </a:pPr>
            <a:endParaRPr lang="el-GR" altLang="zh-TW" sz="2400" dirty="0" smtClean="0"/>
          </a:p>
          <a:p>
            <a:pPr marL="514350" indent="-514350">
              <a:lnSpc>
                <a:spcPct val="150000"/>
              </a:lnSpc>
              <a:buFont typeface="+mj-lt"/>
              <a:buAutoNum type="arabicParenR"/>
            </a:pPr>
            <a:r>
              <a:rPr lang="en-US" altLang="zh-TW" sz="2400" dirty="0" smtClean="0"/>
              <a:t>O(k log n) time transformation of LZ77 encoding of size k into a grammar-based encoding of size O(k log n).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043017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AVL Tree</a:t>
            </a:r>
            <a:endParaRPr lang="zh-TW" altLang="en-US" dirty="0"/>
          </a:p>
        </p:txBody>
      </p:sp>
      <p:grpSp>
        <p:nvGrpSpPr>
          <p:cNvPr id="18" name="群組 17"/>
          <p:cNvGrpSpPr/>
          <p:nvPr/>
        </p:nvGrpSpPr>
        <p:grpSpPr>
          <a:xfrm>
            <a:off x="269803" y="2348880"/>
            <a:ext cx="4611956" cy="2864941"/>
            <a:chOff x="269803" y="2348880"/>
            <a:chExt cx="4611956" cy="2864941"/>
          </a:xfrm>
        </p:grpSpPr>
        <p:sp>
          <p:nvSpPr>
            <p:cNvPr id="3" name="橢圓 2"/>
            <p:cNvSpPr/>
            <p:nvPr/>
          </p:nvSpPr>
          <p:spPr>
            <a:xfrm>
              <a:off x="2051720" y="2348880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-2</a:t>
              </a:r>
              <a:endParaRPr lang="zh-TW" altLang="en-US" dirty="0"/>
            </a:p>
          </p:txBody>
        </p:sp>
        <p:sp>
          <p:nvSpPr>
            <p:cNvPr id="4" name="直角三角形 3"/>
            <p:cNvSpPr/>
            <p:nvPr/>
          </p:nvSpPr>
          <p:spPr>
            <a:xfrm>
              <a:off x="3131840" y="3413621"/>
              <a:ext cx="1080120" cy="1800200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直角三角形 6"/>
            <p:cNvSpPr/>
            <p:nvPr/>
          </p:nvSpPr>
          <p:spPr>
            <a:xfrm flipH="1">
              <a:off x="971600" y="3429000"/>
              <a:ext cx="720080" cy="1440160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" name="直線接點 8"/>
            <p:cNvCxnSpPr>
              <a:stCxn id="3" idx="3"/>
              <a:endCxn id="7" idx="0"/>
            </p:cNvCxnSpPr>
            <p:nvPr/>
          </p:nvCxnSpPr>
          <p:spPr>
            <a:xfrm flipH="1">
              <a:off x="1691680" y="2963507"/>
              <a:ext cx="465493" cy="465493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1" name="直線接點 10"/>
            <p:cNvCxnSpPr>
              <a:stCxn id="3" idx="5"/>
              <a:endCxn id="4" idx="0"/>
            </p:cNvCxnSpPr>
            <p:nvPr/>
          </p:nvCxnSpPr>
          <p:spPr>
            <a:xfrm>
              <a:off x="2666347" y="2963507"/>
              <a:ext cx="465493" cy="450114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4" name="左大括弧 13"/>
            <p:cNvSpPr/>
            <p:nvPr/>
          </p:nvSpPr>
          <p:spPr>
            <a:xfrm>
              <a:off x="571489" y="3413621"/>
              <a:ext cx="288032" cy="1455539"/>
            </a:xfrm>
            <a:prstGeom prst="leftBrac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5" name="左大括弧 14"/>
            <p:cNvSpPr/>
            <p:nvPr/>
          </p:nvSpPr>
          <p:spPr>
            <a:xfrm flipH="1">
              <a:off x="4301970" y="3413620"/>
              <a:ext cx="180020" cy="1791303"/>
            </a:xfrm>
            <a:prstGeom prst="leftBrac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6" name="文字方塊 15"/>
            <p:cNvSpPr txBox="1"/>
            <p:nvPr/>
          </p:nvSpPr>
          <p:spPr>
            <a:xfrm>
              <a:off x="269803" y="3964414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3</a:t>
              </a:r>
              <a:endParaRPr lang="zh-TW" altLang="en-US" dirty="0"/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4580073" y="4124605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5</a:t>
              </a:r>
              <a:endParaRPr lang="zh-TW" altLang="en-US" dirty="0"/>
            </a:p>
          </p:txBody>
        </p:sp>
      </p:grpSp>
      <p:pic>
        <p:nvPicPr>
          <p:cNvPr id="20" name="圖片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1678414"/>
            <a:ext cx="28575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51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AVL-grammar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/>
              <a:t>W</a:t>
            </a:r>
            <a:r>
              <a:rPr lang="en-US" altLang="zh-TW" sz="2000" dirty="0" smtClean="0"/>
              <a:t>e </a:t>
            </a:r>
            <a:r>
              <a:rPr lang="en-US" altLang="zh-TW" sz="2000" dirty="0"/>
              <a:t>have an LZ-factorization f</a:t>
            </a:r>
            <a:r>
              <a:rPr lang="en-US" altLang="zh-TW" sz="2000" baseline="-25000" dirty="0"/>
              <a:t>1</a:t>
            </a:r>
            <a:r>
              <a:rPr lang="en-US" altLang="zh-TW" sz="2000" dirty="0"/>
              <a:t>f</a:t>
            </a:r>
            <a:r>
              <a:rPr lang="en-US" altLang="zh-TW" sz="2000" baseline="-25000" dirty="0"/>
              <a:t>2</a:t>
            </a:r>
            <a:r>
              <a:rPr lang="en-US" altLang="zh-TW" sz="2000" dirty="0"/>
              <a:t>...</a:t>
            </a:r>
            <a:r>
              <a:rPr lang="en-US" altLang="zh-TW" sz="2000" dirty="0" err="1"/>
              <a:t>f</a:t>
            </a:r>
            <a:r>
              <a:rPr lang="en-US" altLang="zh-TW" sz="2000" baseline="-25000" dirty="0" err="1"/>
              <a:t>k</a:t>
            </a:r>
            <a:r>
              <a:rPr lang="en-US" altLang="zh-TW" sz="2000" dirty="0"/>
              <a:t> of w.</a:t>
            </a:r>
            <a:endParaRPr lang="en-US" altLang="zh-TW" sz="2000" dirty="0" smtClean="0"/>
          </a:p>
          <a:p>
            <a:pPr>
              <a:lnSpc>
                <a:spcPct val="150000"/>
              </a:lnSpc>
            </a:pPr>
            <a:r>
              <a:rPr lang="en-US" altLang="zh-TW" sz="2000" dirty="0"/>
              <a:t>If f</a:t>
            </a:r>
            <a:r>
              <a:rPr lang="en-US" altLang="zh-TW" sz="2000" baseline="-25000" dirty="0"/>
              <a:t>i</a:t>
            </a:r>
            <a:r>
              <a:rPr lang="en-US" altLang="zh-TW" sz="2000" dirty="0"/>
              <a:t> is a terminal symbol generated by a </a:t>
            </a:r>
            <a:r>
              <a:rPr lang="en-US" altLang="zh-TW" sz="2000" dirty="0" smtClean="0"/>
              <a:t>nonterminal A, </a:t>
            </a:r>
            <a:r>
              <a:rPr lang="en-US" altLang="zh-TW" sz="2000" dirty="0"/>
              <a:t>G = </a:t>
            </a:r>
            <a:r>
              <a:rPr lang="en-US" altLang="zh-TW" sz="2000" dirty="0" err="1"/>
              <a:t>Cancat</a:t>
            </a:r>
            <a:r>
              <a:rPr lang="en-US" altLang="zh-TW" sz="2000" dirty="0"/>
              <a:t>(G,A</a:t>
            </a:r>
            <a:r>
              <a:rPr lang="en-US" altLang="zh-TW" sz="2000" dirty="0" smtClean="0"/>
              <a:t>).</a:t>
            </a:r>
          </a:p>
          <a:p>
            <a:pPr>
              <a:lnSpc>
                <a:spcPct val="150000"/>
              </a:lnSpc>
            </a:pPr>
            <a:r>
              <a:rPr lang="en-US" altLang="zh-TW" sz="2000" dirty="0" smtClean="0"/>
              <a:t>Otherwise, we </a:t>
            </a:r>
            <a:r>
              <a:rPr lang="en-US" altLang="zh-TW" sz="2000" dirty="0"/>
              <a:t>can find a logarithmic number of </a:t>
            </a:r>
            <a:r>
              <a:rPr lang="en-US" altLang="zh-TW" sz="2000" dirty="0" err="1"/>
              <a:t>nonterminals</a:t>
            </a:r>
            <a:r>
              <a:rPr lang="en-US" altLang="zh-TW" sz="2000" dirty="0"/>
              <a:t> S</a:t>
            </a:r>
            <a:r>
              <a:rPr lang="en-US" altLang="zh-TW" sz="2000" baseline="-25000" dirty="0"/>
              <a:t>1</a:t>
            </a:r>
            <a:r>
              <a:rPr lang="en-US" altLang="zh-TW" sz="2000" dirty="0"/>
              <a:t>, S</a:t>
            </a:r>
            <a:r>
              <a:rPr lang="en-US" altLang="zh-TW" sz="2000" baseline="-25000" dirty="0"/>
              <a:t>2</a:t>
            </a:r>
            <a:r>
              <a:rPr lang="en-US" altLang="zh-TW" sz="2000" dirty="0"/>
              <a:t>, ..., S</a:t>
            </a:r>
            <a:r>
              <a:rPr lang="en-US" altLang="zh-TW" sz="2000" baseline="-25000" dirty="0"/>
              <a:t>t(</a:t>
            </a:r>
            <a:r>
              <a:rPr lang="en-US" altLang="zh-TW" sz="2000" baseline="-25000" dirty="0" err="1"/>
              <a:t>i</a:t>
            </a:r>
            <a:r>
              <a:rPr lang="en-US" altLang="zh-TW" sz="2000" baseline="-25000" dirty="0"/>
              <a:t>)</a:t>
            </a:r>
            <a:r>
              <a:rPr lang="en-US" altLang="zh-TW" sz="2000" dirty="0"/>
              <a:t> of G such that f</a:t>
            </a:r>
            <a:r>
              <a:rPr lang="en-US" altLang="zh-TW" sz="2000" baseline="-25000" dirty="0"/>
              <a:t>i</a:t>
            </a:r>
            <a:r>
              <a:rPr lang="en-US" altLang="zh-TW" sz="2000" dirty="0"/>
              <a:t> =</a:t>
            </a:r>
            <a:r>
              <a:rPr lang="en-US" altLang="zh-TW" sz="2000" dirty="0" err="1"/>
              <a:t>val</a:t>
            </a:r>
            <a:r>
              <a:rPr lang="en-US" altLang="zh-TW" sz="2000" dirty="0"/>
              <a:t>(S</a:t>
            </a:r>
            <a:r>
              <a:rPr lang="en-US" altLang="zh-TW" sz="2000" baseline="-25000" dirty="0"/>
              <a:t>1</a:t>
            </a:r>
            <a:r>
              <a:rPr lang="en-US" altLang="zh-TW" sz="2000" dirty="0"/>
              <a:t>)·</a:t>
            </a:r>
            <a:r>
              <a:rPr lang="en-US" altLang="zh-TW" sz="2000" dirty="0" err="1"/>
              <a:t>val</a:t>
            </a:r>
            <a:r>
              <a:rPr lang="en-US" altLang="zh-TW" sz="2000" dirty="0"/>
              <a:t>(S</a:t>
            </a:r>
            <a:r>
              <a:rPr lang="en-US" altLang="zh-TW" sz="2000" baseline="-25000" dirty="0"/>
              <a:t>2</a:t>
            </a:r>
            <a:r>
              <a:rPr lang="en-US" altLang="zh-TW" sz="2000" dirty="0" smtClean="0"/>
              <a:t>)·...</a:t>
            </a:r>
            <a:r>
              <a:rPr lang="en-US" altLang="zh-TW" sz="2000" dirty="0"/>
              <a:t>·</a:t>
            </a:r>
            <a:r>
              <a:rPr lang="en-US" altLang="zh-TW" sz="2000" dirty="0" err="1" smtClean="0"/>
              <a:t>val</a:t>
            </a:r>
            <a:r>
              <a:rPr lang="en-US" altLang="zh-TW" sz="2000" dirty="0" smtClean="0"/>
              <a:t>(S</a:t>
            </a:r>
            <a:r>
              <a:rPr lang="en-US" altLang="zh-TW" sz="2000" baseline="-25000" dirty="0" smtClean="0"/>
              <a:t>t(</a:t>
            </a:r>
            <a:r>
              <a:rPr lang="en-US" altLang="zh-TW" sz="2000" baseline="-25000" dirty="0" err="1" smtClean="0"/>
              <a:t>i</a:t>
            </a:r>
            <a:r>
              <a:rPr lang="en-US" altLang="zh-TW" sz="2000" baseline="-25000" dirty="0"/>
              <a:t>)</a:t>
            </a:r>
            <a:r>
              <a:rPr lang="en-US" altLang="zh-TW" sz="2000" dirty="0"/>
              <a:t>).</a:t>
            </a:r>
          </a:p>
          <a:p>
            <a:pPr>
              <a:lnSpc>
                <a:spcPct val="150000"/>
              </a:lnSpc>
            </a:pPr>
            <a:endParaRPr lang="en-US" altLang="zh-TW" sz="200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311" y="3717032"/>
            <a:ext cx="6287378" cy="285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98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標題 3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AVL Grammar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b="1" dirty="0" smtClean="0"/>
              <a:t>Lemma 2. </a:t>
            </a:r>
            <a:r>
              <a:rPr lang="en-US" altLang="zh-TW" sz="2000" dirty="0" smtClean="0"/>
              <a:t>Assume A, B are two </a:t>
            </a:r>
            <a:r>
              <a:rPr lang="en-US" altLang="zh-TW" sz="2000" dirty="0" err="1" smtClean="0"/>
              <a:t>nonterminals</a:t>
            </a:r>
            <a:r>
              <a:rPr lang="en-US" altLang="zh-TW" sz="2000" dirty="0" smtClean="0"/>
              <a:t> of AVL-balanced grammars. Then we can construct in O(|height(A) − height(B)|) time a AVL-balanced grammar G = </a:t>
            </a:r>
            <a:r>
              <a:rPr lang="en-US" altLang="zh-TW" sz="2000" dirty="0" err="1" smtClean="0"/>
              <a:t>Cancat</a:t>
            </a:r>
            <a:r>
              <a:rPr lang="en-US" altLang="zh-TW" sz="2000" dirty="0" smtClean="0"/>
              <a:t>(A, B), where </a:t>
            </a:r>
            <a:r>
              <a:rPr lang="en-US" altLang="zh-TW" sz="2000" dirty="0" err="1" smtClean="0"/>
              <a:t>val</a:t>
            </a:r>
            <a:r>
              <a:rPr lang="en-US" altLang="zh-TW" sz="2000" dirty="0" smtClean="0"/>
              <a:t>(G)=</a:t>
            </a:r>
            <a:r>
              <a:rPr lang="en-US" altLang="zh-TW" sz="2000" dirty="0" err="1" smtClean="0"/>
              <a:t>val</a:t>
            </a:r>
            <a:r>
              <a:rPr lang="en-US" altLang="zh-TW" sz="2000" dirty="0" smtClean="0"/>
              <a:t>(A)·</a:t>
            </a:r>
            <a:r>
              <a:rPr lang="en-US" altLang="zh-TW" sz="2000" dirty="0" err="1" smtClean="0"/>
              <a:t>val</a:t>
            </a:r>
            <a:r>
              <a:rPr lang="en-US" altLang="zh-TW" sz="2000" dirty="0" smtClean="0"/>
              <a:t>(B), by adding only O(|height(A)−height(B)|) </a:t>
            </a:r>
            <a:r>
              <a:rPr lang="en-US" altLang="zh-TW" sz="2000" dirty="0" err="1" smtClean="0"/>
              <a:t>nonterminals</a:t>
            </a:r>
            <a:r>
              <a:rPr lang="en-US" altLang="zh-TW" sz="2000" dirty="0" smtClean="0"/>
              <a:t>.</a:t>
            </a:r>
            <a:endParaRPr lang="zh-TW" altLang="en-US" sz="2000" dirty="0" smtClean="0"/>
          </a:p>
          <a:p>
            <a:pPr>
              <a:lnSpc>
                <a:spcPct val="150000"/>
              </a:lnSpc>
            </a:pPr>
            <a:endParaRPr lang="zh-TW" altLang="en-US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294" y="3501008"/>
            <a:ext cx="7999413" cy="3335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46130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0600"/>
            <a:ext cx="91440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166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Remark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/>
              <a:t>The grammars are easier to deal then LZ-encodings, particularly in compressed pattern-matching</a:t>
            </a:r>
            <a:r>
              <a:rPr lang="en-US" altLang="zh-TW" sz="24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altLang="zh-TW" sz="2400" dirty="0"/>
              <a:t>Another useful feature of our grammars is their logarithmic </a:t>
            </a:r>
            <a:r>
              <a:rPr lang="en-US" altLang="zh-TW" sz="2400" dirty="0" smtClean="0"/>
              <a:t>height </a:t>
            </a:r>
            <a:r>
              <a:rPr lang="en-US" altLang="zh-TW" sz="2400" dirty="0"/>
              <a:t>(an alternative algorithm for balancing grammars</a:t>
            </a:r>
            <a:r>
              <a:rPr lang="en-US" altLang="zh-TW" sz="2400" dirty="0" smtClean="0"/>
              <a:t>).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89881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468</Words>
  <Application>Microsoft Office PowerPoint</Application>
  <PresentationFormat>如螢幕大小 (4:3)</PresentationFormat>
  <Paragraphs>39</Paragraphs>
  <Slides>12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3" baseType="lpstr">
      <vt:lpstr>Office 佈景主題</vt:lpstr>
      <vt:lpstr>Application of Lempel–Ziv factorization to the approximation of grammar-based compression</vt:lpstr>
      <vt:lpstr>Abstract</vt:lpstr>
      <vt:lpstr>LZ-factorizations</vt:lpstr>
      <vt:lpstr>Grammar-based factorizations</vt:lpstr>
      <vt:lpstr>PowerPoint 簡報</vt:lpstr>
      <vt:lpstr>PowerPoint 簡報</vt:lpstr>
      <vt:lpstr>In this paper</vt:lpstr>
      <vt:lpstr>AVL Tree</vt:lpstr>
      <vt:lpstr>AVL-grammar</vt:lpstr>
      <vt:lpstr>AVL Grammar</vt:lpstr>
      <vt:lpstr>PowerPoint 簡報</vt:lpstr>
      <vt:lpstr>Remark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of Lempel–Ziv factorization to the approximation of grammar-based compression</dc:title>
  <dc:creator>YiPo</dc:creator>
  <cp:lastModifiedBy>YiPo</cp:lastModifiedBy>
  <cp:revision>31</cp:revision>
  <dcterms:created xsi:type="dcterms:W3CDTF">2012-08-07T09:11:17Z</dcterms:created>
  <dcterms:modified xsi:type="dcterms:W3CDTF">2012-08-15T10:27:10Z</dcterms:modified>
</cp:coreProperties>
</file>