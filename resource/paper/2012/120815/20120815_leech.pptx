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6" r:id="rId10"/>
    <p:sldId id="263" r:id="rId11"/>
    <p:sldId id="264" r:id="rId12"/>
    <p:sldId id="267" r:id="rId13"/>
    <p:sldId id="268" r:id="rId14"/>
    <p:sldId id="269" r:id="rId15"/>
    <p:sldId id="270" r:id="rId16"/>
    <p:sldId id="271" r:id="rId17"/>
    <p:sldId id="272" r:id="rId18"/>
    <p:sldId id="274" r:id="rId19"/>
    <p:sldId id="273" r:id="rId20"/>
    <p:sldId id="276" r:id="rId21"/>
    <p:sldId id="277" r:id="rId22"/>
    <p:sldId id="279" r:id="rId23"/>
    <p:sldId id="278" r:id="rId24"/>
    <p:sldId id="275" r:id="rId2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59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3838558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1873766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3117580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2501668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3329722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1428915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388250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326480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3668171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1191641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F7A37AA-B64B-4619-B6FF-6C89545C1626}" type="datetimeFigureOut">
              <a:rPr lang="zh-TW" altLang="en-US" smtClean="0"/>
              <a:t>2012/8/15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1440089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7A37AA-B64B-4619-B6FF-6C89545C1626}" type="datetimeFigureOut">
              <a:rPr lang="zh-TW" altLang="en-US" smtClean="0"/>
              <a:t>2012/8/15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EDA17-6E3D-4A0A-B462-C1AF8B0E2989}" type="slidenum">
              <a:rPr lang="zh-TW" altLang="en-US" smtClean="0"/>
              <a:t>‹#›</a:t>
            </a:fld>
            <a:endParaRPr lang="zh-TW" altLang="en-US"/>
          </a:p>
        </p:txBody>
      </p:sp>
    </p:spTree>
    <p:extLst>
      <p:ext uri="{BB962C8B-B14F-4D97-AF65-F5344CB8AC3E}">
        <p14:creationId xmlns:p14="http://schemas.microsoft.com/office/powerpoint/2010/main" val="1017374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A Fast and Elitist </a:t>
            </a:r>
            <a:r>
              <a:rPr lang="en-US" altLang="zh-TW" dirty="0" err="1" smtClean="0"/>
              <a:t>Multiobjective</a:t>
            </a:r>
            <a:r>
              <a:rPr lang="en-US" altLang="zh-TW" dirty="0" smtClean="0"/>
              <a:t> Genetic Algorithm: NSGA-II</a:t>
            </a:r>
            <a:endParaRPr lang="zh-TW" altLang="en-US" dirty="0"/>
          </a:p>
        </p:txBody>
      </p:sp>
      <p:sp>
        <p:nvSpPr>
          <p:cNvPr id="3" name="副標題 2"/>
          <p:cNvSpPr>
            <a:spLocks noGrp="1"/>
          </p:cNvSpPr>
          <p:nvPr>
            <p:ph type="subTitle" idx="1"/>
          </p:nvPr>
        </p:nvSpPr>
        <p:spPr>
          <a:xfrm>
            <a:off x="2339752" y="5517232"/>
            <a:ext cx="6400800" cy="985664"/>
          </a:xfrm>
        </p:spPr>
        <p:txBody>
          <a:bodyPr>
            <a:normAutofit fontScale="92500" lnSpcReduction="20000"/>
          </a:bodyPr>
          <a:lstStyle/>
          <a:p>
            <a:pPr algn="r"/>
            <a:r>
              <a:rPr lang="en-US" altLang="zh-TW" dirty="0" smtClean="0">
                <a:solidFill>
                  <a:schemeClr val="tx1"/>
                </a:solidFill>
              </a:rPr>
              <a:t>Presenter: Cheng Han Lee</a:t>
            </a:r>
          </a:p>
          <a:p>
            <a:pPr algn="r"/>
            <a:r>
              <a:rPr lang="en-US" altLang="zh-TW" dirty="0" smtClean="0">
                <a:solidFill>
                  <a:schemeClr val="tx1"/>
                </a:solidFill>
              </a:rPr>
              <a:t>Date:2012/08/15</a:t>
            </a:r>
            <a:endParaRPr lang="zh-TW" altLang="en-US" dirty="0">
              <a:solidFill>
                <a:schemeClr val="tx1"/>
              </a:solidFill>
            </a:endParaRPr>
          </a:p>
        </p:txBody>
      </p:sp>
      <p:sp>
        <p:nvSpPr>
          <p:cNvPr id="4" name="文字方塊 3"/>
          <p:cNvSpPr txBox="1"/>
          <p:nvPr/>
        </p:nvSpPr>
        <p:spPr>
          <a:xfrm>
            <a:off x="838632" y="3501008"/>
            <a:ext cx="7765816" cy="1323439"/>
          </a:xfrm>
          <a:prstGeom prst="rect">
            <a:avLst/>
          </a:prstGeom>
          <a:noFill/>
        </p:spPr>
        <p:txBody>
          <a:bodyPr wrap="square" rtlCol="0">
            <a:spAutoFit/>
          </a:bodyPr>
          <a:lstStyle/>
          <a:p>
            <a:pPr algn="ctr"/>
            <a:r>
              <a:rPr lang="en-US" altLang="zh-TW" sz="2000" dirty="0" smtClean="0"/>
              <a:t>IEEE TRANSACTIONS ON EVOLUTIONARY COMPUTATION, VOL. 6, NO. 2, APRIL 2002</a:t>
            </a:r>
            <a:endParaRPr lang="en-US" altLang="zh-TW" sz="2000" dirty="0"/>
          </a:p>
          <a:p>
            <a:pPr algn="ctr"/>
            <a:r>
              <a:rPr lang="en-US" altLang="zh-TW" sz="2000" dirty="0" err="1" smtClean="0"/>
              <a:t>Kalyanmoy</a:t>
            </a:r>
            <a:r>
              <a:rPr lang="en-US" altLang="zh-TW" sz="2000" dirty="0" smtClean="0"/>
              <a:t> Deb, Associate Member, IEEE, </a:t>
            </a:r>
            <a:r>
              <a:rPr lang="en-US" altLang="zh-TW" sz="2000" dirty="0" err="1" smtClean="0"/>
              <a:t>Amrit</a:t>
            </a:r>
            <a:r>
              <a:rPr lang="en-US" altLang="zh-TW" sz="2000" dirty="0" smtClean="0"/>
              <a:t> </a:t>
            </a:r>
            <a:r>
              <a:rPr lang="en-US" altLang="zh-TW" sz="2000" dirty="0" err="1" smtClean="0"/>
              <a:t>Pratap</a:t>
            </a:r>
            <a:r>
              <a:rPr lang="en-US" altLang="zh-TW" sz="2000" dirty="0" smtClean="0"/>
              <a:t>, Sameer </a:t>
            </a:r>
            <a:r>
              <a:rPr lang="en-US" altLang="zh-TW" sz="2000" dirty="0" err="1" smtClean="0"/>
              <a:t>Agarwal</a:t>
            </a:r>
            <a:r>
              <a:rPr lang="en-US" altLang="zh-TW" sz="2000" dirty="0" smtClean="0"/>
              <a:t>, and T. </a:t>
            </a:r>
            <a:r>
              <a:rPr lang="en-US" altLang="zh-TW" sz="2000" dirty="0" err="1" smtClean="0"/>
              <a:t>Meyarivan</a:t>
            </a:r>
            <a:endParaRPr lang="zh-TW" altLang="en-US" sz="2000" dirty="0"/>
          </a:p>
        </p:txBody>
      </p:sp>
    </p:spTree>
    <p:extLst>
      <p:ext uri="{BB962C8B-B14F-4D97-AF65-F5344CB8AC3E}">
        <p14:creationId xmlns:p14="http://schemas.microsoft.com/office/powerpoint/2010/main" val="2523239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Autofit/>
          </a:bodyPr>
          <a:lstStyle/>
          <a:p>
            <a:pPr algn="just"/>
            <a:r>
              <a:rPr lang="en-US" altLang="zh-TW" sz="2700" dirty="0" smtClean="0"/>
              <a:t>Multi-objective evolutionary algorithms (EAs) that use non-dominated sorting and sharing have been criticized mainly for their: 1) O(MN</a:t>
            </a:r>
            <a:r>
              <a:rPr lang="en-US" altLang="zh-TW" sz="2700" baseline="30000" dirty="0" smtClean="0"/>
              <a:t>3</a:t>
            </a:r>
            <a:r>
              <a:rPr lang="en-US" altLang="zh-TW" sz="2700" dirty="0" smtClean="0"/>
              <a:t>)  computational complexity 2) non-elitism approach; and 3) the need for specifying a sharing parameter. In this paper, we suggest a non-dominated sorting-based multi-objective EA (MOEA), called non-dominated sorting genetic algorithm II (NSGA-II), which alleviates all the above three difficulties. Specifically, a fast non-dominated sorting approach with O(MN</a:t>
            </a:r>
            <a:r>
              <a:rPr lang="en-US" altLang="zh-TW" sz="2700" baseline="30000" dirty="0" smtClean="0"/>
              <a:t>2</a:t>
            </a:r>
            <a:r>
              <a:rPr lang="en-US" altLang="zh-TW" sz="2700" dirty="0" smtClean="0"/>
              <a:t>) computational complexity is presented.</a:t>
            </a:r>
            <a:endParaRPr lang="zh-TW" altLang="en-US" sz="2700" dirty="0"/>
          </a:p>
        </p:txBody>
      </p:sp>
    </p:spTree>
    <p:extLst>
      <p:ext uri="{BB962C8B-B14F-4D97-AF65-F5344CB8AC3E}">
        <p14:creationId xmlns:p14="http://schemas.microsoft.com/office/powerpoint/2010/main" val="2367147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Autofit/>
          </a:bodyPr>
          <a:lstStyle/>
          <a:p>
            <a:pPr algn="just"/>
            <a:r>
              <a:rPr lang="en-US" altLang="zh-TW" sz="2700" dirty="0" smtClean="0"/>
              <a:t>Also, a selection operator is presented that creates a mating pool by combining the parent and offspring populations and selecting the best (with respect to fitness and spread) solutions. Simulation results on difficult test problems show that the proposed NSGA-II, in most problems, is able to find much better spread of solutions and better convergence near the true Pareto-optimal front compared to Pareto-archived evolution strategy and strength-Pareto EA—two other elitist MOEAs that pay special attention to creating a diverse Pareto-optimal front.</a:t>
            </a:r>
            <a:endParaRPr lang="zh-TW" altLang="en-US" sz="2700" dirty="0"/>
          </a:p>
        </p:txBody>
      </p:sp>
    </p:spTree>
    <p:extLst>
      <p:ext uri="{BB962C8B-B14F-4D97-AF65-F5344CB8AC3E}">
        <p14:creationId xmlns:p14="http://schemas.microsoft.com/office/powerpoint/2010/main" val="96870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algn="just"/>
            <a:r>
              <a:rPr lang="en-US" altLang="zh-TW" sz="2700" dirty="0" smtClean="0"/>
              <a:t>Moreover, we modify the definition of dominance in order to solve constrained multi-objective problems efficiently. Simulation results of the constrained   NSGA-II on a number of test problems, including a five-objective seven-constraint nonlinear problem, are compared with another constrained multi-objective optimizer and much better performance of NSGA-II is observed.</a:t>
            </a:r>
            <a:endParaRPr lang="zh-TW" altLang="en-US" sz="2700" dirty="0"/>
          </a:p>
        </p:txBody>
      </p:sp>
    </p:spTree>
    <p:extLst>
      <p:ext uri="{BB962C8B-B14F-4D97-AF65-F5344CB8AC3E}">
        <p14:creationId xmlns:p14="http://schemas.microsoft.com/office/powerpoint/2010/main" val="3990244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Pareto Front</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026" name="Picture 2" descr="File:Front pareto.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798694"/>
            <a:ext cx="5688632" cy="4266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4806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Main Loop</a:t>
            </a:r>
            <a:endParaRPr lang="zh-TW" altLang="en-US" dirty="0"/>
          </a:p>
        </p:txBody>
      </p:sp>
      <p:sp>
        <p:nvSpPr>
          <p:cNvPr id="3" name="內容版面配置區 2"/>
          <p:cNvSpPr>
            <a:spLocks noGrp="1"/>
          </p:cNvSpPr>
          <p:nvPr>
            <p:ph idx="1"/>
          </p:nvPr>
        </p:nvSpPr>
        <p:spPr/>
        <p:txBody>
          <a:bodyPr/>
          <a:lstStyle/>
          <a:p>
            <a:r>
              <a:rPr lang="en-US" altLang="zh-TW" dirty="0" err="1" smtClean="0"/>
              <a:t>Sizeof</a:t>
            </a:r>
            <a:r>
              <a:rPr lang="en-US" altLang="zh-TW" dirty="0" smtClean="0"/>
              <a:t>(</a:t>
            </a:r>
            <a:r>
              <a:rPr lang="en-US" altLang="zh-TW" dirty="0" err="1" smtClean="0"/>
              <a:t>P</a:t>
            </a:r>
            <a:r>
              <a:rPr lang="en-US" altLang="zh-TW" baseline="-25000" dirty="0" err="1" smtClean="0"/>
              <a:t>t</a:t>
            </a:r>
            <a:r>
              <a:rPr lang="en-US" altLang="zh-TW" dirty="0" smtClean="0"/>
              <a:t>) = </a:t>
            </a:r>
            <a:r>
              <a:rPr lang="en-US" altLang="zh-TW" dirty="0" err="1" smtClean="0"/>
              <a:t>Sizeof</a:t>
            </a:r>
            <a:r>
              <a:rPr lang="en-US" altLang="zh-TW" dirty="0" smtClean="0"/>
              <a:t>(</a:t>
            </a:r>
            <a:r>
              <a:rPr lang="en-US" altLang="zh-TW" dirty="0" err="1" smtClean="0"/>
              <a:t>Q</a:t>
            </a:r>
            <a:r>
              <a:rPr lang="en-US" altLang="zh-TW" baseline="-25000" dirty="0" err="1" smtClean="0"/>
              <a:t>t</a:t>
            </a:r>
            <a:r>
              <a:rPr lang="en-US" altLang="zh-TW" dirty="0" smtClean="0"/>
              <a:t>) = population size</a:t>
            </a:r>
          </a:p>
          <a:p>
            <a:r>
              <a:rPr lang="en-US" altLang="zh-TW" dirty="0" err="1" smtClean="0"/>
              <a:t>P</a:t>
            </a:r>
            <a:r>
              <a:rPr lang="en-US" altLang="zh-TW" baseline="-25000" dirty="0" err="1" smtClean="0"/>
              <a:t>t</a:t>
            </a:r>
            <a:r>
              <a:rPr lang="en-US" altLang="zh-TW" dirty="0" smtClean="0"/>
              <a:t> is used for selection, crossover, and mutation to create a new population </a:t>
            </a:r>
            <a:r>
              <a:rPr lang="en-US" altLang="zh-TW" dirty="0" err="1" smtClean="0"/>
              <a:t>Q</a:t>
            </a:r>
            <a:r>
              <a:rPr lang="en-US" altLang="zh-TW" baseline="-25000" dirty="0" err="1" smtClean="0"/>
              <a:t>t</a:t>
            </a:r>
            <a:endParaRPr lang="zh-TW" altLang="en-US" baseline="-25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3212976"/>
            <a:ext cx="5972578" cy="3472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72245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non-dominated sorting</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196752"/>
            <a:ext cx="6286715"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2178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cxnSp>
        <p:nvCxnSpPr>
          <p:cNvPr id="5" name="直線單箭頭接點 4"/>
          <p:cNvCxnSpPr/>
          <p:nvPr/>
        </p:nvCxnSpPr>
        <p:spPr>
          <a:xfrm flipV="1">
            <a:off x="1331640" y="1628800"/>
            <a:ext cx="0" cy="4536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467544" y="5373216"/>
            <a:ext cx="813690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橢圓 10"/>
          <p:cNvSpPr/>
          <p:nvPr/>
        </p:nvSpPr>
        <p:spPr>
          <a:xfrm>
            <a:off x="1507508" y="242088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3707904" y="378904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1799692" y="337854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4203420" y="465313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2644552" y="414908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427984" y="337854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p:cNvSpPr/>
          <p:nvPr/>
        </p:nvSpPr>
        <p:spPr>
          <a:xfrm>
            <a:off x="2525336" y="210868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p:cNvSpPr/>
          <p:nvPr/>
        </p:nvSpPr>
        <p:spPr>
          <a:xfrm>
            <a:off x="4788024" y="414908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2605532" y="297963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p:cNvSpPr/>
          <p:nvPr/>
        </p:nvSpPr>
        <p:spPr>
          <a:xfrm>
            <a:off x="3491880" y="262758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5148064" y="220486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手繪多邊形 26"/>
          <p:cNvSpPr/>
          <p:nvPr/>
        </p:nvSpPr>
        <p:spPr>
          <a:xfrm>
            <a:off x="1478280" y="1996440"/>
            <a:ext cx="4328160" cy="2910840"/>
          </a:xfrm>
          <a:custGeom>
            <a:avLst/>
            <a:gdLst>
              <a:gd name="connsiteX0" fmla="*/ 0 w 4328160"/>
              <a:gd name="connsiteY0" fmla="*/ 0 h 2910840"/>
              <a:gd name="connsiteX1" fmla="*/ 91440 w 4328160"/>
              <a:gd name="connsiteY1" fmla="*/ 533400 h 2910840"/>
              <a:gd name="connsiteX2" fmla="*/ 365760 w 4328160"/>
              <a:gd name="connsiteY2" fmla="*/ 1478280 h 2910840"/>
              <a:gd name="connsiteX3" fmla="*/ 1249680 w 4328160"/>
              <a:gd name="connsiteY3" fmla="*/ 2286000 h 2910840"/>
              <a:gd name="connsiteX4" fmla="*/ 2849880 w 4328160"/>
              <a:gd name="connsiteY4" fmla="*/ 2788920 h 2910840"/>
              <a:gd name="connsiteX5" fmla="*/ 4328160 w 4328160"/>
              <a:gd name="connsiteY5" fmla="*/ 2910840 h 29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28160" h="2910840">
                <a:moveTo>
                  <a:pt x="0" y="0"/>
                </a:moveTo>
                <a:cubicBezTo>
                  <a:pt x="15240" y="143510"/>
                  <a:pt x="30480" y="287020"/>
                  <a:pt x="91440" y="533400"/>
                </a:cubicBezTo>
                <a:cubicBezTo>
                  <a:pt x="152400" y="779780"/>
                  <a:pt x="172720" y="1186180"/>
                  <a:pt x="365760" y="1478280"/>
                </a:cubicBezTo>
                <a:cubicBezTo>
                  <a:pt x="558800" y="1770380"/>
                  <a:pt x="835660" y="2067560"/>
                  <a:pt x="1249680" y="2286000"/>
                </a:cubicBezTo>
                <a:cubicBezTo>
                  <a:pt x="1663700" y="2504440"/>
                  <a:pt x="2336800" y="2684780"/>
                  <a:pt x="2849880" y="2788920"/>
                </a:cubicBezTo>
                <a:cubicBezTo>
                  <a:pt x="3362960" y="2893060"/>
                  <a:pt x="3845560" y="2901950"/>
                  <a:pt x="4328160" y="291084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6084168" y="4695885"/>
            <a:ext cx="1584176" cy="400110"/>
          </a:xfrm>
          <a:prstGeom prst="rect">
            <a:avLst/>
          </a:prstGeom>
          <a:noFill/>
        </p:spPr>
        <p:txBody>
          <a:bodyPr wrap="square" rtlCol="0">
            <a:spAutoFit/>
          </a:bodyPr>
          <a:lstStyle/>
          <a:p>
            <a:r>
              <a:rPr lang="en-US" altLang="zh-TW" sz="2000" dirty="0" smtClean="0">
                <a:solidFill>
                  <a:srgbClr val="FF0000"/>
                </a:solidFill>
              </a:rPr>
              <a:t>Rank = 1</a:t>
            </a:r>
            <a:endParaRPr lang="zh-TW" altLang="en-US" sz="2000" dirty="0">
              <a:solidFill>
                <a:srgbClr val="FF0000"/>
              </a:solidFill>
            </a:endParaRPr>
          </a:p>
        </p:txBody>
      </p:sp>
    </p:spTree>
    <p:extLst>
      <p:ext uri="{BB962C8B-B14F-4D97-AF65-F5344CB8AC3E}">
        <p14:creationId xmlns:p14="http://schemas.microsoft.com/office/powerpoint/2010/main" val="27361166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cxnSp>
        <p:nvCxnSpPr>
          <p:cNvPr id="5" name="直線單箭頭接點 4"/>
          <p:cNvCxnSpPr/>
          <p:nvPr/>
        </p:nvCxnSpPr>
        <p:spPr>
          <a:xfrm flipV="1">
            <a:off x="1331640" y="1628800"/>
            <a:ext cx="0" cy="4536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467544" y="5373216"/>
            <a:ext cx="813690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橢圓 12"/>
          <p:cNvSpPr/>
          <p:nvPr/>
        </p:nvSpPr>
        <p:spPr>
          <a:xfrm>
            <a:off x="3707904" y="378904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427984" y="337854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p:cNvSpPr/>
          <p:nvPr/>
        </p:nvSpPr>
        <p:spPr>
          <a:xfrm>
            <a:off x="2525336" y="210868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p:cNvSpPr/>
          <p:nvPr/>
        </p:nvSpPr>
        <p:spPr>
          <a:xfrm>
            <a:off x="4788024" y="414908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2605532" y="2979636"/>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p:cNvSpPr/>
          <p:nvPr/>
        </p:nvSpPr>
        <p:spPr>
          <a:xfrm>
            <a:off x="3491880" y="262758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5148064" y="2204864"/>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5796136" y="4143345"/>
            <a:ext cx="1584176" cy="400110"/>
          </a:xfrm>
          <a:prstGeom prst="rect">
            <a:avLst/>
          </a:prstGeom>
          <a:noFill/>
        </p:spPr>
        <p:txBody>
          <a:bodyPr wrap="square" rtlCol="0">
            <a:spAutoFit/>
          </a:bodyPr>
          <a:lstStyle/>
          <a:p>
            <a:r>
              <a:rPr lang="en-US" altLang="zh-TW" sz="2000" dirty="0" smtClean="0">
                <a:solidFill>
                  <a:schemeClr val="accent4">
                    <a:lumMod val="75000"/>
                  </a:schemeClr>
                </a:solidFill>
              </a:rPr>
              <a:t>Rank = 2</a:t>
            </a:r>
            <a:endParaRPr lang="zh-TW" altLang="en-US" sz="2000" dirty="0">
              <a:solidFill>
                <a:schemeClr val="accent4">
                  <a:lumMod val="75000"/>
                </a:schemeClr>
              </a:solidFill>
            </a:endParaRPr>
          </a:p>
        </p:txBody>
      </p:sp>
      <p:sp>
        <p:nvSpPr>
          <p:cNvPr id="6" name="手繪多邊形 5"/>
          <p:cNvSpPr/>
          <p:nvPr/>
        </p:nvSpPr>
        <p:spPr>
          <a:xfrm>
            <a:off x="2601236" y="1737360"/>
            <a:ext cx="2915644" cy="2606040"/>
          </a:xfrm>
          <a:custGeom>
            <a:avLst/>
            <a:gdLst>
              <a:gd name="connsiteX0" fmla="*/ 50524 w 2915644"/>
              <a:gd name="connsiteY0" fmla="*/ 0 h 2606040"/>
              <a:gd name="connsiteX1" fmla="*/ 187684 w 2915644"/>
              <a:gd name="connsiteY1" fmla="*/ 1386840 h 2606040"/>
              <a:gd name="connsiteX2" fmla="*/ 1574524 w 2915644"/>
              <a:gd name="connsiteY2" fmla="*/ 2377440 h 2606040"/>
              <a:gd name="connsiteX3" fmla="*/ 2915644 w 2915644"/>
              <a:gd name="connsiteY3" fmla="*/ 2606040 h 2606040"/>
            </a:gdLst>
            <a:ahLst/>
            <a:cxnLst>
              <a:cxn ang="0">
                <a:pos x="connsiteX0" y="connsiteY0"/>
              </a:cxn>
              <a:cxn ang="0">
                <a:pos x="connsiteX1" y="connsiteY1"/>
              </a:cxn>
              <a:cxn ang="0">
                <a:pos x="connsiteX2" y="connsiteY2"/>
              </a:cxn>
              <a:cxn ang="0">
                <a:pos x="connsiteX3" y="connsiteY3"/>
              </a:cxn>
            </a:cxnLst>
            <a:rect l="l" t="t" r="r" b="b"/>
            <a:pathLst>
              <a:path w="2915644" h="2606040">
                <a:moveTo>
                  <a:pt x="50524" y="0"/>
                </a:moveTo>
                <a:cubicBezTo>
                  <a:pt x="-7896" y="495300"/>
                  <a:pt x="-66316" y="990600"/>
                  <a:pt x="187684" y="1386840"/>
                </a:cubicBezTo>
                <a:cubicBezTo>
                  <a:pt x="441684" y="1783080"/>
                  <a:pt x="1119864" y="2174240"/>
                  <a:pt x="1574524" y="2377440"/>
                </a:cubicBezTo>
                <a:cubicBezTo>
                  <a:pt x="2029184" y="2580640"/>
                  <a:pt x="2472414" y="2593340"/>
                  <a:pt x="2915644" y="2606040"/>
                </a:cubicBezTo>
              </a:path>
            </a:pathLst>
          </a:cu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465545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crowding-distance sorting</a:t>
            </a:r>
            <a:endParaRPr lang="zh-TW" altLang="en-US" dirty="0"/>
          </a:p>
        </p:txBody>
      </p:sp>
      <p:sp>
        <p:nvSpPr>
          <p:cNvPr id="3" name="內容版面配置區 2"/>
          <p:cNvSpPr>
            <a:spLocks noGrp="1"/>
          </p:cNvSpPr>
          <p:nvPr>
            <p:ph idx="1"/>
          </p:nvPr>
        </p:nvSpPr>
        <p:spPr>
          <a:xfrm>
            <a:off x="457200" y="1600200"/>
            <a:ext cx="4114800" cy="4525963"/>
          </a:xfrm>
        </p:spPr>
        <p:txBody>
          <a:bodyPr/>
          <a:lstStyle/>
          <a:p>
            <a:r>
              <a:rPr lang="en-US" altLang="zh-TW" dirty="0" smtClean="0"/>
              <a:t>d</a:t>
            </a:r>
            <a:r>
              <a:rPr lang="en-US" altLang="zh-TW" baseline="-25000" dirty="0" smtClean="0"/>
              <a:t>i </a:t>
            </a:r>
            <a:r>
              <a:rPr lang="en-US" altLang="zh-TW" dirty="0" smtClean="0"/>
              <a:t>= distance between</a:t>
            </a:r>
            <a:r>
              <a:rPr lang="en-US" altLang="zh-TW" dirty="0"/>
              <a:t> </a:t>
            </a:r>
            <a:r>
              <a:rPr lang="en-US" altLang="zh-TW" dirty="0" smtClean="0"/>
              <a:t>p</a:t>
            </a:r>
            <a:r>
              <a:rPr lang="en-US" altLang="zh-TW" baseline="-25000" dirty="0" smtClean="0"/>
              <a:t>i-1</a:t>
            </a:r>
            <a:r>
              <a:rPr lang="en-US" altLang="zh-TW" dirty="0" smtClean="0"/>
              <a:t> and p</a:t>
            </a:r>
            <a:r>
              <a:rPr lang="en-US" altLang="zh-TW" baseline="-25000" dirty="0" smtClean="0"/>
              <a:t>i+1</a:t>
            </a:r>
            <a:endParaRPr lang="en-US" altLang="zh-TW" baseline="-25000" dirty="0"/>
          </a:p>
          <a:p>
            <a:r>
              <a:rPr lang="en-US" altLang="zh-TW" dirty="0" smtClean="0"/>
              <a:t>The bigger the better</a:t>
            </a:r>
          </a:p>
          <a:p>
            <a:endParaRPr lang="en-US" altLang="zh-TW" dirty="0" smtClean="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4624" y="1991504"/>
            <a:ext cx="4559793"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74303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Simulation Results</a:t>
            </a:r>
            <a:endParaRPr lang="zh-TW" altLang="en-US" dirty="0"/>
          </a:p>
        </p:txBody>
      </p:sp>
      <p:sp>
        <p:nvSpPr>
          <p:cNvPr id="3" name="內容版面配置區 2"/>
          <p:cNvSpPr>
            <a:spLocks noGrp="1"/>
          </p:cNvSpPr>
          <p:nvPr>
            <p:ph idx="1"/>
          </p:nvPr>
        </p:nvSpPr>
        <p:spPr/>
        <p:txBody>
          <a:bodyPr/>
          <a:lstStyle/>
          <a:p>
            <a:r>
              <a:rPr lang="en-US" altLang="zh-TW" dirty="0" smtClean="0"/>
              <a:t>Compare the performance of NSGA-II with PAES and SPEA.</a:t>
            </a:r>
          </a:p>
          <a:p>
            <a:endParaRPr lang="en-US" altLang="zh-TW" dirty="0"/>
          </a:p>
          <a:p>
            <a:r>
              <a:rPr lang="en-US" altLang="zh-TW" dirty="0" smtClean="0"/>
              <a:t>Performance Measures</a:t>
            </a:r>
          </a:p>
          <a:p>
            <a:pPr lvl="1"/>
            <a:r>
              <a:rPr lang="en-US" altLang="zh-TW" dirty="0" smtClean="0"/>
              <a:t>Distance</a:t>
            </a:r>
          </a:p>
          <a:p>
            <a:pPr lvl="1"/>
            <a:r>
              <a:rPr lang="en-US" altLang="zh-TW" dirty="0" smtClean="0"/>
              <a:t>Diversity</a:t>
            </a:r>
          </a:p>
          <a:p>
            <a:pPr lvl="1"/>
            <a:endParaRPr lang="en-US" altLang="zh-TW" dirty="0" smtClean="0"/>
          </a:p>
        </p:txBody>
      </p:sp>
    </p:spTree>
    <p:extLst>
      <p:ext uri="{BB962C8B-B14F-4D97-AF65-F5344CB8AC3E}">
        <p14:creationId xmlns:p14="http://schemas.microsoft.com/office/powerpoint/2010/main" val="4442011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124744"/>
            <a:ext cx="5740008" cy="5325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75968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7690" y="1658496"/>
            <a:ext cx="6131110"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65" y="2691001"/>
            <a:ext cx="3361829" cy="1242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64258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Test Problems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24012"/>
            <a:ext cx="8374502" cy="4469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63411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28800"/>
            <a:ext cx="8201924"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77375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060848"/>
            <a:ext cx="9240263"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04880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2" y="1844824"/>
            <a:ext cx="9297555" cy="3149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71722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556792"/>
            <a:ext cx="5585268" cy="4566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52966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32856"/>
            <a:ext cx="4374464" cy="349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4464" y="1892393"/>
            <a:ext cx="4322970" cy="373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75641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124" y="2204864"/>
            <a:ext cx="4269866"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8654" y="2204864"/>
            <a:ext cx="4249810"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61561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847516"/>
            <a:ext cx="4479573" cy="3885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3717" y="1852100"/>
            <a:ext cx="4544121" cy="3756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65476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Constraint Handling</a:t>
            </a:r>
            <a:endParaRPr lang="zh-TW" altLang="en-US" dirty="0"/>
          </a:p>
        </p:txBody>
      </p:sp>
      <p:sp>
        <p:nvSpPr>
          <p:cNvPr id="3" name="內容版面配置區 2"/>
          <p:cNvSpPr>
            <a:spLocks noGrp="1"/>
          </p:cNvSpPr>
          <p:nvPr>
            <p:ph idx="1"/>
          </p:nvPr>
        </p:nvSpPr>
        <p:spPr/>
        <p:txBody>
          <a:bodyPr/>
          <a:lstStyle/>
          <a:p>
            <a:r>
              <a:rPr lang="en-US" altLang="zh-TW" dirty="0" smtClean="0"/>
              <a:t>Solution </a:t>
            </a:r>
            <a:r>
              <a:rPr lang="en-US" altLang="zh-TW" dirty="0" err="1"/>
              <a:t>i</a:t>
            </a:r>
            <a:r>
              <a:rPr lang="en-US" altLang="zh-TW" dirty="0"/>
              <a:t> is feasible and solution j is not.</a:t>
            </a:r>
          </a:p>
          <a:p>
            <a:r>
              <a:rPr lang="en-US" altLang="zh-TW" dirty="0"/>
              <a:t>Solutions </a:t>
            </a:r>
            <a:r>
              <a:rPr lang="en-US" altLang="zh-TW" dirty="0" err="1"/>
              <a:t>i</a:t>
            </a:r>
            <a:r>
              <a:rPr lang="en-US" altLang="zh-TW" dirty="0"/>
              <a:t> and j are both infeasible, but solution has a smaller overall constraint violation.</a:t>
            </a:r>
          </a:p>
          <a:p>
            <a:r>
              <a:rPr lang="en-US" altLang="zh-TW" dirty="0"/>
              <a:t>Solutions </a:t>
            </a:r>
            <a:r>
              <a:rPr lang="en-US" altLang="zh-TW" dirty="0" err="1"/>
              <a:t>i</a:t>
            </a:r>
            <a:r>
              <a:rPr lang="en-US" altLang="zh-TW" dirty="0"/>
              <a:t> and j are feasible and solution dominates solution.</a:t>
            </a:r>
            <a:endParaRPr lang="zh-TW" altLang="en-US" dirty="0"/>
          </a:p>
        </p:txBody>
      </p:sp>
    </p:spTree>
    <p:extLst>
      <p:ext uri="{BB962C8B-B14F-4D97-AF65-F5344CB8AC3E}">
        <p14:creationId xmlns:p14="http://schemas.microsoft.com/office/powerpoint/2010/main" val="33205474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20" y="2478267"/>
            <a:ext cx="9252520" cy="3831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87496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2996952"/>
            <a:ext cx="8229600" cy="3129211"/>
          </a:xfrm>
        </p:spPr>
        <p:txBody>
          <a:bodyPr>
            <a:normAutofit/>
          </a:bodyPr>
          <a:lstStyle/>
          <a:p>
            <a:pPr marL="0" indent="0" algn="ctr">
              <a:buNone/>
            </a:pPr>
            <a:r>
              <a:rPr lang="en-US" altLang="zh-TW" sz="8000" dirty="0" smtClean="0"/>
              <a:t>THE END</a:t>
            </a:r>
            <a:endParaRPr lang="zh-TW" altLang="en-US" sz="8000" dirty="0"/>
          </a:p>
        </p:txBody>
      </p:sp>
    </p:spTree>
    <p:extLst>
      <p:ext uri="{BB962C8B-B14F-4D97-AF65-F5344CB8AC3E}">
        <p14:creationId xmlns:p14="http://schemas.microsoft.com/office/powerpoint/2010/main" val="32281141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387</Words>
  <Application>Microsoft Office PowerPoint</Application>
  <PresentationFormat>如螢幕大小 (4:3)</PresentationFormat>
  <Paragraphs>31</Paragraphs>
  <Slides>24</Slides>
  <Notes>0</Notes>
  <HiddenSlides>0</HiddenSlides>
  <MMClips>0</MMClips>
  <ScaleCrop>false</ScaleCrop>
  <HeadingPairs>
    <vt:vector size="4" baseType="variant">
      <vt:variant>
        <vt:lpstr>佈景主題</vt:lpstr>
      </vt:variant>
      <vt:variant>
        <vt:i4>1</vt:i4>
      </vt:variant>
      <vt:variant>
        <vt:lpstr>投影片標題</vt:lpstr>
      </vt:variant>
      <vt:variant>
        <vt:i4>24</vt:i4>
      </vt:variant>
    </vt:vector>
  </HeadingPairs>
  <TitlesOfParts>
    <vt:vector size="25" baseType="lpstr">
      <vt:lpstr>Office 佈景主題</vt:lpstr>
      <vt:lpstr>A Fast and Elitist Multiobjective Genetic Algorithm: NSGA-II</vt:lpstr>
      <vt:lpstr>Abstract</vt:lpstr>
      <vt:lpstr>PowerPoint 簡報</vt:lpstr>
      <vt:lpstr>PowerPoint 簡報</vt:lpstr>
      <vt:lpstr>Pareto Front</vt:lpstr>
      <vt:lpstr>Main Loop</vt:lpstr>
      <vt:lpstr>non-dominated sorting</vt:lpstr>
      <vt:lpstr>PowerPoint 簡報</vt:lpstr>
      <vt:lpstr>PowerPoint 簡報</vt:lpstr>
      <vt:lpstr>crowding-distance sorting</vt:lpstr>
      <vt:lpstr>Simulation Results</vt:lpstr>
      <vt:lpstr>PowerPoint 簡報</vt:lpstr>
      <vt:lpstr>PowerPoint 簡報</vt:lpstr>
      <vt:lpstr>Test Problems</vt:lpstr>
      <vt:lpstr>PowerPoint 簡報</vt:lpstr>
      <vt:lpstr>PowerPoint 簡報</vt:lpstr>
      <vt:lpstr>PowerPoint 簡報</vt:lpstr>
      <vt:lpstr>PowerPoint 簡報</vt:lpstr>
      <vt:lpstr>PowerPoint 簡報</vt:lpstr>
      <vt:lpstr>PowerPoint 簡報</vt:lpstr>
      <vt:lpstr>PowerPoint 簡報</vt:lpstr>
      <vt:lpstr>Constraint Handling</vt:lpstr>
      <vt:lpstr>PowerPoint 簡報</vt:lpstr>
      <vt:lpstr>PowerPoint 簡報</vt:lpstr>
    </vt:vector>
  </TitlesOfParts>
  <Company>bb</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aa</dc:creator>
  <cp:lastModifiedBy>aa</cp:lastModifiedBy>
  <cp:revision>35</cp:revision>
  <dcterms:created xsi:type="dcterms:W3CDTF">2012-08-15T07:16:26Z</dcterms:created>
  <dcterms:modified xsi:type="dcterms:W3CDTF">2012-08-15T11:42:17Z</dcterms:modified>
</cp:coreProperties>
</file>