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60" r:id="rId3"/>
    <p:sldId id="258" r:id="rId4"/>
    <p:sldId id="270" r:id="rId5"/>
    <p:sldId id="271" r:id="rId6"/>
    <p:sldId id="274" r:id="rId7"/>
    <p:sldId id="272" r:id="rId8"/>
    <p:sldId id="275" r:id="rId9"/>
    <p:sldId id="281" r:id="rId10"/>
    <p:sldId id="262" r:id="rId11"/>
    <p:sldId id="276" r:id="rId12"/>
    <p:sldId id="277" r:id="rId13"/>
    <p:sldId id="278" r:id="rId14"/>
    <p:sldId id="279" r:id="rId15"/>
    <p:sldId id="280" r:id="rId16"/>
    <p:sldId id="282" r:id="rId17"/>
    <p:sldId id="283" r:id="rId18"/>
    <p:sldId id="263"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071" autoAdjust="0"/>
  </p:normalViewPr>
  <p:slideViewPr>
    <p:cSldViewPr>
      <p:cViewPr varScale="1">
        <p:scale>
          <a:sx n="82" d="100"/>
          <a:sy n="82" d="100"/>
        </p:scale>
        <p:origin x="-71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D4EDE0-2BF2-42F8-BCD6-69B388AE1F77}" type="datetimeFigureOut">
              <a:rPr lang="zh-TW" altLang="en-US" smtClean="0"/>
              <a:pPr/>
              <a:t>2012/7/3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BA121F-F889-48C3-BFAE-6861FE9CAA21}"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FB55EB1C-CCAB-410B-BDBF-A95636BA528E}" type="slidenum">
              <a:rPr lang="zh-TW" altLang="en-US" smtClean="0"/>
              <a:pPr/>
              <a:t>1</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BB37F252-8706-4E8A-9108-FDDDF7A22651}" type="datetime1">
              <a:rPr lang="zh-TW" altLang="en-US" smtClean="0"/>
              <a:pPr/>
              <a:t>2012/7/3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CFEC682-D292-48D0-97FD-3CB6B6ADB792}" type="datetime1">
              <a:rPr lang="zh-TW" altLang="en-US" smtClean="0"/>
              <a:pPr/>
              <a:t>2012/7/3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9616DC88-0D9C-409B-835B-E4E681A0A3FB}" type="datetime1">
              <a:rPr lang="zh-TW" altLang="en-US" smtClean="0"/>
              <a:pPr/>
              <a:t>2012/7/3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BFEA6346-4E5C-4D54-B3C2-57492E23F358}" type="datetime1">
              <a:rPr lang="zh-TW" altLang="en-US" smtClean="0"/>
              <a:pPr/>
              <a:t>2012/7/3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DA0EDC2-943C-4378-867C-8EF59BFF8A19}" type="datetime1">
              <a:rPr lang="zh-TW" altLang="en-US" smtClean="0"/>
              <a:pPr/>
              <a:t>2012/7/3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9AB657C-E33F-434C-8B2B-DC35273172A5}" type="datetime1">
              <a:rPr lang="zh-TW" altLang="en-US" smtClean="0"/>
              <a:pPr/>
              <a:t>2012/7/3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05FECDB-6EC3-411E-90F8-DF9FACC2207E}" type="datetime1">
              <a:rPr lang="zh-TW" altLang="en-US" smtClean="0"/>
              <a:pPr/>
              <a:t>2012/7/3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77785FF-3D02-4E8F-ADE4-8F35D4ADDCEA}" type="datetime1">
              <a:rPr lang="zh-TW" altLang="en-US" smtClean="0"/>
              <a:pPr/>
              <a:t>2012/7/3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9A4D9643-CE88-4C95-9E40-DD7EF3C6FA04}" type="datetime1">
              <a:rPr lang="zh-TW" altLang="en-US" smtClean="0"/>
              <a:pPr/>
              <a:t>2012/7/3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BF476C0B-2A3B-45B6-BBF2-9E10421BF667}" type="datetime1">
              <a:rPr lang="zh-TW" altLang="en-US" smtClean="0"/>
              <a:pPr/>
              <a:t>2012/7/3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D66FDCB0-0A9F-407E-AD9E-36B2667F38C6}" type="datetime1">
              <a:rPr lang="zh-TW" altLang="en-US" smtClean="0"/>
              <a:pPr/>
              <a:t>2012/7/3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E8A5B6-D4A2-4791-95DC-F952BC0F6CE2}" type="datetime1">
              <a:rPr lang="zh-TW" altLang="en-US" smtClean="0"/>
              <a:pPr/>
              <a:t>2012/7/3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692696"/>
            <a:ext cx="9144000" cy="1470025"/>
          </a:xfrm>
        </p:spPr>
        <p:txBody>
          <a:bodyPr>
            <a:noAutofit/>
          </a:bodyPr>
          <a:lstStyle/>
          <a:p>
            <a:r>
              <a:rPr lang="en-US" altLang="zh-TW" sz="3600" dirty="0" smtClean="0"/>
              <a:t>Predicting  the State of </a:t>
            </a:r>
            <a:r>
              <a:rPr lang="en-US" altLang="zh-TW" sz="3600" dirty="0" err="1" smtClean="0"/>
              <a:t>Cysteines</a:t>
            </a:r>
            <a:r>
              <a:rPr lang="en-US" altLang="zh-TW" sz="3600" dirty="0" smtClean="0"/>
              <a:t> Based on Sequence Information</a:t>
            </a:r>
            <a:endParaRPr lang="en-US" altLang="zh-TW" sz="3600" dirty="0"/>
          </a:p>
        </p:txBody>
      </p:sp>
      <p:sp>
        <p:nvSpPr>
          <p:cNvPr id="4" name="副標題 2"/>
          <p:cNvSpPr>
            <a:spLocks noGrp="1"/>
          </p:cNvSpPr>
          <p:nvPr>
            <p:ph type="subTitle" idx="1"/>
          </p:nvPr>
        </p:nvSpPr>
        <p:spPr>
          <a:xfrm>
            <a:off x="395536" y="2780928"/>
            <a:ext cx="8352928" cy="1512168"/>
          </a:xfrm>
        </p:spPr>
        <p:txBody>
          <a:bodyPr anchor="ctr">
            <a:normAutofit/>
          </a:bodyPr>
          <a:lstStyle/>
          <a:p>
            <a:r>
              <a:rPr lang="en-US" altLang="zh-TW" sz="2300" dirty="0" err="1" smtClean="0">
                <a:solidFill>
                  <a:schemeClr val="tx1">
                    <a:lumMod val="65000"/>
                    <a:lumOff val="35000"/>
                  </a:schemeClr>
                </a:solidFill>
                <a:ea typeface="微軟正黑體" pitchFamily="34" charset="-120"/>
                <a:cs typeface="Times New Roman" pitchFamily="18" charset="0"/>
              </a:rPr>
              <a:t>Xuanmin</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Guang</a:t>
            </a:r>
            <a:r>
              <a:rPr lang="en-US" altLang="zh-TW" sz="2300" dirty="0" smtClean="0">
                <a:solidFill>
                  <a:schemeClr val="tx1">
                    <a:lumMod val="65000"/>
                    <a:lumOff val="35000"/>
                  </a:schemeClr>
                </a:solidFill>
                <a:ea typeface="微軟正黑體" pitchFamily="34" charset="-120"/>
                <a:cs typeface="Times New Roman" pitchFamily="18" charset="0"/>
              </a:rPr>
              <a:t>(</a:t>
            </a:r>
            <a:r>
              <a:rPr lang="zh-TW" altLang="en-US" sz="2300" dirty="0" smtClean="0">
                <a:solidFill>
                  <a:schemeClr val="tx1">
                    <a:lumMod val="65000"/>
                    <a:lumOff val="35000"/>
                  </a:schemeClr>
                </a:solidFill>
                <a:ea typeface="微軟正黑體" pitchFamily="34" charset="-120"/>
                <a:cs typeface="Times New Roman" pitchFamily="18" charset="0"/>
              </a:rPr>
              <a:t>光宣敏</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Yanzhi</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Guo</a:t>
            </a:r>
            <a:r>
              <a:rPr lang="en-US" altLang="zh-TW" sz="2300" dirty="0" smtClean="0">
                <a:solidFill>
                  <a:schemeClr val="tx1">
                    <a:lumMod val="65000"/>
                    <a:lumOff val="35000"/>
                  </a:schemeClr>
                </a:solidFill>
                <a:ea typeface="微軟正黑體" pitchFamily="34" charset="-120"/>
                <a:cs typeface="Times New Roman" pitchFamily="18" charset="0"/>
              </a:rPr>
              <a:t>(</a:t>
            </a:r>
            <a:r>
              <a:rPr lang="zh-TW" altLang="en-US" sz="2300" dirty="0" smtClean="0">
                <a:solidFill>
                  <a:schemeClr val="tx1">
                    <a:lumMod val="65000"/>
                    <a:lumOff val="35000"/>
                  </a:schemeClr>
                </a:solidFill>
                <a:ea typeface="微軟正黑體" pitchFamily="34" charset="-120"/>
                <a:cs typeface="Times New Roman" pitchFamily="18" charset="0"/>
              </a:rPr>
              <a:t>郭研芝</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Jiamin</a:t>
            </a:r>
            <a:r>
              <a:rPr lang="en-US" altLang="zh-TW" sz="2300" dirty="0" smtClean="0">
                <a:solidFill>
                  <a:schemeClr val="tx1">
                    <a:lumMod val="65000"/>
                    <a:lumOff val="35000"/>
                  </a:schemeClr>
                </a:solidFill>
                <a:ea typeface="微軟正黑體" pitchFamily="34" charset="-120"/>
                <a:cs typeface="Times New Roman" pitchFamily="18" charset="0"/>
              </a:rPr>
              <a:t> Xiao(</a:t>
            </a:r>
            <a:r>
              <a:rPr lang="zh-TW" altLang="en-US" sz="2300" dirty="0" smtClean="0">
                <a:solidFill>
                  <a:schemeClr val="tx1">
                    <a:lumMod val="65000"/>
                    <a:lumOff val="35000"/>
                  </a:schemeClr>
                </a:solidFill>
                <a:ea typeface="微軟正黑體" pitchFamily="34" charset="-120"/>
                <a:cs typeface="Times New Roman" pitchFamily="18" charset="0"/>
              </a:rPr>
              <a:t>肖嘉敏</a:t>
            </a:r>
            <a:r>
              <a:rPr lang="en-US" altLang="zh-TW" sz="2300" dirty="0" smtClean="0">
                <a:solidFill>
                  <a:schemeClr val="tx1">
                    <a:lumMod val="65000"/>
                    <a:lumOff val="35000"/>
                  </a:schemeClr>
                </a:solidFill>
                <a:ea typeface="微軟正黑體" pitchFamily="34" charset="-120"/>
                <a:cs typeface="Times New Roman" pitchFamily="18" charset="0"/>
              </a:rPr>
              <a:t>), Xia Wang, Jing Sun, </a:t>
            </a:r>
            <a:r>
              <a:rPr lang="en-US" altLang="zh-TW" sz="2300" dirty="0" err="1" smtClean="0">
                <a:solidFill>
                  <a:schemeClr val="tx1">
                    <a:lumMod val="65000"/>
                    <a:lumOff val="35000"/>
                  </a:schemeClr>
                </a:solidFill>
                <a:ea typeface="微軟正黑體" pitchFamily="34" charset="-120"/>
                <a:cs typeface="Times New Roman" pitchFamily="18" charset="0"/>
              </a:rPr>
              <a:t>Wenjia</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Xiong</a:t>
            </a:r>
            <a:r>
              <a:rPr lang="en-US" altLang="zh-TW" sz="2300" dirty="0" smtClean="0">
                <a:solidFill>
                  <a:schemeClr val="tx1">
                    <a:lumMod val="65000"/>
                    <a:lumOff val="35000"/>
                  </a:schemeClr>
                </a:solidFill>
                <a:ea typeface="微軟正黑體" pitchFamily="34" charset="-120"/>
                <a:cs typeface="Times New Roman" pitchFamily="18" charset="0"/>
              </a:rPr>
              <a:t>(</a:t>
            </a:r>
            <a:r>
              <a:rPr lang="zh-TW" altLang="en-US" sz="2300" dirty="0" smtClean="0">
                <a:solidFill>
                  <a:schemeClr val="tx1">
                    <a:lumMod val="65000"/>
                    <a:lumOff val="35000"/>
                  </a:schemeClr>
                </a:solidFill>
                <a:ea typeface="微軟正黑體" pitchFamily="34" charset="-120"/>
                <a:cs typeface="Times New Roman" pitchFamily="18" charset="0"/>
              </a:rPr>
              <a:t>熊文佳</a:t>
            </a:r>
            <a:r>
              <a:rPr lang="en-US" altLang="zh-TW" sz="2300" dirty="0" smtClean="0">
                <a:solidFill>
                  <a:schemeClr val="tx1">
                    <a:lumMod val="65000"/>
                    <a:lumOff val="35000"/>
                  </a:schemeClr>
                </a:solidFill>
                <a:ea typeface="微軟正黑體" pitchFamily="34" charset="-120"/>
                <a:cs typeface="Times New Roman" pitchFamily="18" charset="0"/>
              </a:rPr>
              <a:t>), </a:t>
            </a:r>
            <a:r>
              <a:rPr lang="en-US" altLang="zh-TW" sz="2300" dirty="0" err="1" smtClean="0">
                <a:solidFill>
                  <a:schemeClr val="tx1">
                    <a:lumMod val="65000"/>
                    <a:lumOff val="35000"/>
                  </a:schemeClr>
                </a:solidFill>
                <a:ea typeface="微軟正黑體" pitchFamily="34" charset="-120"/>
                <a:cs typeface="Times New Roman" pitchFamily="18" charset="0"/>
              </a:rPr>
              <a:t>Menglong</a:t>
            </a:r>
            <a:r>
              <a:rPr lang="en-US" altLang="zh-TW" sz="2300" dirty="0" smtClean="0">
                <a:solidFill>
                  <a:schemeClr val="tx1">
                    <a:lumMod val="65000"/>
                    <a:lumOff val="35000"/>
                  </a:schemeClr>
                </a:solidFill>
                <a:ea typeface="微軟正黑體" pitchFamily="34" charset="-120"/>
                <a:cs typeface="Times New Roman" pitchFamily="18" charset="0"/>
              </a:rPr>
              <a:t> Li(</a:t>
            </a:r>
            <a:r>
              <a:rPr lang="zh-TW" altLang="en-US" sz="2300" dirty="0" smtClean="0">
                <a:solidFill>
                  <a:schemeClr val="tx1">
                    <a:lumMod val="65000"/>
                    <a:lumOff val="35000"/>
                  </a:schemeClr>
                </a:solidFill>
                <a:ea typeface="微軟正黑體" pitchFamily="34" charset="-120"/>
                <a:cs typeface="Times New Roman" pitchFamily="18" charset="0"/>
              </a:rPr>
              <a:t>李夢龍</a:t>
            </a:r>
            <a:r>
              <a:rPr lang="en-US" altLang="zh-TW" sz="2300" dirty="0" smtClean="0">
                <a:solidFill>
                  <a:schemeClr val="tx1">
                    <a:lumMod val="65000"/>
                    <a:lumOff val="35000"/>
                  </a:schemeClr>
                </a:solidFill>
                <a:ea typeface="微軟正黑體" pitchFamily="34" charset="-120"/>
                <a:cs typeface="Times New Roman" pitchFamily="18" charset="0"/>
              </a:rPr>
              <a:t>)</a:t>
            </a:r>
            <a:r>
              <a:rPr lang="en-US" altLang="zh-TW" sz="2300" dirty="0" smtClean="0">
                <a:solidFill>
                  <a:schemeClr val="tx1">
                    <a:lumMod val="65000"/>
                    <a:lumOff val="35000"/>
                  </a:schemeClr>
                </a:solidFill>
              </a:rPr>
              <a:t/>
            </a:r>
            <a:br>
              <a:rPr lang="en-US" altLang="zh-TW" sz="2300" dirty="0" smtClean="0">
                <a:solidFill>
                  <a:schemeClr val="tx1">
                    <a:lumMod val="65000"/>
                    <a:lumOff val="35000"/>
                  </a:schemeClr>
                </a:solidFill>
              </a:rPr>
            </a:br>
            <a:r>
              <a:rPr lang="en-US" altLang="zh-TW" sz="2300" dirty="0" smtClean="0">
                <a:solidFill>
                  <a:schemeClr val="tx1">
                    <a:lumMod val="65000"/>
                    <a:lumOff val="35000"/>
                  </a:schemeClr>
                </a:solidFill>
              </a:rPr>
              <a:t> Journal of Theoretical Biology, Volume 267, Issue 3,</a:t>
            </a:r>
            <a:br>
              <a:rPr lang="en-US" altLang="zh-TW" sz="2300" dirty="0" smtClean="0">
                <a:solidFill>
                  <a:schemeClr val="tx1">
                    <a:lumMod val="65000"/>
                    <a:lumOff val="35000"/>
                  </a:schemeClr>
                </a:solidFill>
              </a:rPr>
            </a:br>
            <a:r>
              <a:rPr lang="en-US" altLang="zh-TW" sz="2300" dirty="0" smtClean="0">
                <a:solidFill>
                  <a:schemeClr val="tx1">
                    <a:lumMod val="65000"/>
                    <a:lumOff val="35000"/>
                  </a:schemeClr>
                </a:solidFill>
              </a:rPr>
              <a:t> 7 December 2010, Pages 312-318.</a:t>
            </a:r>
            <a:endParaRPr lang="zh-TW" altLang="en-US" sz="2300" dirty="0">
              <a:solidFill>
                <a:schemeClr val="tx1">
                  <a:lumMod val="65000"/>
                  <a:lumOff val="35000"/>
                </a:schemeClr>
              </a:solidFill>
              <a:ea typeface="微軟正黑體" pitchFamily="34" charset="-120"/>
              <a:cs typeface="Times New Roman" pitchFamily="18" charset="0"/>
            </a:endParaRPr>
          </a:p>
        </p:txBody>
      </p:sp>
      <p:sp>
        <p:nvSpPr>
          <p:cNvPr id="6" name="文字方塊 5"/>
          <p:cNvSpPr txBox="1"/>
          <p:nvPr/>
        </p:nvSpPr>
        <p:spPr>
          <a:xfrm>
            <a:off x="4860032" y="5301208"/>
            <a:ext cx="3384376" cy="830997"/>
          </a:xfrm>
          <a:prstGeom prst="rect">
            <a:avLst/>
          </a:prstGeom>
          <a:noFill/>
        </p:spPr>
        <p:txBody>
          <a:bodyPr wrap="square" rtlCol="0">
            <a:spAutoFit/>
          </a:bodyPr>
          <a:lstStyle/>
          <a:p>
            <a:r>
              <a:rPr lang="en-US" altLang="zh-TW" sz="2400" dirty="0" smtClean="0">
                <a:solidFill>
                  <a:schemeClr val="tx1">
                    <a:lumMod val="65000"/>
                    <a:lumOff val="35000"/>
                  </a:schemeClr>
                </a:solidFill>
                <a:cs typeface="Times New Roman" pitchFamily="18" charset="0"/>
              </a:rPr>
              <a:t>Presenter: Chun-</a:t>
            </a:r>
            <a:r>
              <a:rPr lang="en-US" altLang="zh-TW" sz="2400" dirty="0" err="1" smtClean="0">
                <a:solidFill>
                  <a:schemeClr val="tx1">
                    <a:lumMod val="65000"/>
                    <a:lumOff val="35000"/>
                  </a:schemeClr>
                </a:solidFill>
                <a:cs typeface="Times New Roman" pitchFamily="18" charset="0"/>
              </a:rPr>
              <a:t>Chieh</a:t>
            </a:r>
            <a:r>
              <a:rPr lang="en-US" altLang="zh-TW" sz="2400" dirty="0" smtClean="0">
                <a:solidFill>
                  <a:schemeClr val="tx1">
                    <a:lumMod val="65000"/>
                    <a:lumOff val="35000"/>
                  </a:schemeClr>
                </a:solidFill>
                <a:cs typeface="Times New Roman" pitchFamily="18" charset="0"/>
              </a:rPr>
              <a:t> Tai</a:t>
            </a:r>
          </a:p>
          <a:p>
            <a:r>
              <a:rPr lang="en-US" altLang="zh-TW" sz="2400" dirty="0" smtClean="0">
                <a:solidFill>
                  <a:schemeClr val="tx1">
                    <a:lumMod val="65000"/>
                    <a:lumOff val="35000"/>
                  </a:schemeClr>
                </a:solidFill>
                <a:cs typeface="Times New Roman" pitchFamily="18" charset="0"/>
              </a:rPr>
              <a:t>Date</a:t>
            </a:r>
            <a:r>
              <a:rPr lang="en-US" altLang="zh-TW" sz="2400" dirty="0">
                <a:solidFill>
                  <a:schemeClr val="tx1">
                    <a:lumMod val="65000"/>
                    <a:lumOff val="35000"/>
                  </a:schemeClr>
                </a:solidFill>
                <a:cs typeface="Times New Roman" pitchFamily="18" charset="0"/>
              </a:rPr>
              <a:t>: </a:t>
            </a:r>
            <a:r>
              <a:rPr lang="en-US" altLang="zh-TW" sz="2400" dirty="0" smtClean="0">
                <a:solidFill>
                  <a:schemeClr val="tx1">
                    <a:lumMod val="65000"/>
                    <a:lumOff val="35000"/>
                  </a:schemeClr>
                </a:solidFill>
                <a:cs typeface="Times New Roman" pitchFamily="18" charset="0"/>
              </a:rPr>
              <a:t>July 3, 2012</a:t>
            </a:r>
            <a:endParaRPr lang="zh-TW" altLang="en-US" sz="2400" dirty="0">
              <a:solidFill>
                <a:schemeClr val="tx1">
                  <a:lumMod val="65000"/>
                  <a:lumOff val="35000"/>
                </a:schemeClr>
              </a:solidFill>
              <a:cs typeface="Times New Roman" pitchFamily="18" charset="0"/>
            </a:endParaRPr>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1</a:t>
            </a:fld>
            <a:endParaRPr lang="zh-TW"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Abstract(1/2)</a:t>
            </a:r>
            <a:endParaRPr lang="zh-TW" altLang="en-US" dirty="0"/>
          </a:p>
        </p:txBody>
      </p:sp>
      <p:sp>
        <p:nvSpPr>
          <p:cNvPr id="3" name="內容版面配置區 2"/>
          <p:cNvSpPr>
            <a:spLocks noGrp="1"/>
          </p:cNvSpPr>
          <p:nvPr>
            <p:ph idx="1"/>
          </p:nvPr>
        </p:nvSpPr>
        <p:spPr/>
        <p:txBody>
          <a:bodyPr>
            <a:normAutofit lnSpcReduction="10000"/>
          </a:bodyPr>
          <a:lstStyle/>
          <a:p>
            <a:pPr algn="just">
              <a:buNone/>
            </a:pPr>
            <a:r>
              <a:rPr lang="en-US" altLang="zh-TW" sz="2400" dirty="0" smtClean="0"/>
              <a:t>	A three-stage support vector machine (SVM) was constructed to predict the state of </a:t>
            </a:r>
            <a:r>
              <a:rPr lang="en-US" altLang="zh-TW" sz="2400" dirty="0" err="1" smtClean="0"/>
              <a:t>cysteines</a:t>
            </a:r>
            <a:r>
              <a:rPr lang="en-US" altLang="zh-TW" sz="2400" dirty="0" smtClean="0"/>
              <a:t> by fusing sequence information, evolution information and annotation information of protein sequences. The first and second stages were for predicting whether the protein sequences contain disulfide bonds and whether all of the </a:t>
            </a:r>
            <a:r>
              <a:rPr lang="en-US" altLang="zh-TW" sz="2400" dirty="0" err="1" smtClean="0"/>
              <a:t>cysteines</a:t>
            </a:r>
            <a:r>
              <a:rPr lang="en-US" altLang="zh-TW" sz="2400" dirty="0" smtClean="0"/>
              <a:t> are involved in disulfide bonds. In the last stage, one SVM was constructed for predicting which </a:t>
            </a:r>
            <a:r>
              <a:rPr lang="en-US" altLang="zh-TW" sz="2400" dirty="0" err="1" smtClean="0"/>
              <a:t>cysteines</a:t>
            </a:r>
            <a:r>
              <a:rPr lang="en-US" altLang="zh-TW" sz="2400" dirty="0" smtClean="0"/>
              <a:t> are involved in disulfide bonds, among all these </a:t>
            </a:r>
            <a:r>
              <a:rPr lang="en-US" altLang="zh-TW" sz="2400" dirty="0" err="1" smtClean="0"/>
              <a:t>cysteines</a:t>
            </a:r>
            <a:r>
              <a:rPr lang="en-US" altLang="zh-TW" sz="2400" dirty="0" smtClean="0"/>
              <a:t> in proteins. The three SVMs give a good performance and the overall prediction accuracy are 90.05%, 96.36% and 80.00%, respectively, which indicates that the features selected in this work are effective for predicting the state of </a:t>
            </a:r>
            <a:r>
              <a:rPr lang="en-US" altLang="zh-TW" sz="2400" dirty="0" err="1" smtClean="0"/>
              <a:t>cysteines</a:t>
            </a:r>
            <a:r>
              <a:rPr lang="en-US" altLang="zh-TW" sz="2400" dirty="0" smtClean="0"/>
              <a:t>. </a:t>
            </a: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2</a:t>
            </a:fld>
            <a:endParaRPr lang="zh-TW"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p:txBody>
          <a:bodyPr vert="horz" lIns="91440" tIns="45720" rIns="91440" bIns="45720" rtlCol="0">
            <a:normAutofit/>
          </a:bodyPr>
          <a:lstStyle/>
          <a:p>
            <a:pPr algn="just">
              <a:buNone/>
            </a:pPr>
            <a:r>
              <a:rPr lang="en-US" altLang="zh-TW" sz="2400" dirty="0" smtClean="0"/>
              <a:t>	In addition, current methods only paid too much attention to the prediction performance and never showed us how much important the roles of these features played in the prediction. As a result a feature importance measurement designated as F-score function was used to evaluate these features. The result shows that among these protein descriptors; evolution information is the most important feature for representing the disulfide-containing proteins. The prediction software and data sets used in this article are freely available at http://cic.scu.edu.cn/bioinformatics/Predict_Cys.zip.</a:t>
            </a:r>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3</a:t>
            </a:fld>
            <a:endParaRPr lang="zh-TW"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Support Vector Machine (SVM)</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4</a:t>
            </a:fld>
            <a:endParaRPr lang="zh-TW" altLang="en-US"/>
          </a:p>
        </p:txBody>
      </p:sp>
      <p:grpSp>
        <p:nvGrpSpPr>
          <p:cNvPr id="11" name="群組 10"/>
          <p:cNvGrpSpPr/>
          <p:nvPr/>
        </p:nvGrpSpPr>
        <p:grpSpPr>
          <a:xfrm>
            <a:off x="755576" y="1196752"/>
            <a:ext cx="8028384" cy="5328592"/>
            <a:chOff x="2362200" y="1752600"/>
            <a:chExt cx="6096000" cy="4305300"/>
          </a:xfrm>
        </p:grpSpPr>
        <p:pic>
          <p:nvPicPr>
            <p:cNvPr id="8" name="Picture 5" descr="svmcon_2"/>
            <p:cNvPicPr>
              <a:picLocks noChangeAspect="1" noChangeArrowheads="1"/>
            </p:cNvPicPr>
            <p:nvPr/>
          </p:nvPicPr>
          <p:blipFill>
            <a:blip r:embed="rId2" cstate="print"/>
            <a:srcRect/>
            <a:stretch>
              <a:fillRect/>
            </a:stretch>
          </p:blipFill>
          <p:spPr bwMode="auto">
            <a:xfrm>
              <a:off x="2362200" y="1905000"/>
              <a:ext cx="4486275" cy="3819525"/>
            </a:xfrm>
            <a:prstGeom prst="rect">
              <a:avLst/>
            </a:prstGeom>
            <a:noFill/>
          </p:spPr>
        </p:pic>
        <p:sp>
          <p:nvSpPr>
            <p:cNvPr id="9" name="AutoShape 6"/>
            <p:cNvSpPr>
              <a:spLocks/>
            </p:cNvSpPr>
            <p:nvPr/>
          </p:nvSpPr>
          <p:spPr bwMode="auto">
            <a:xfrm>
              <a:off x="4419600" y="5448300"/>
              <a:ext cx="2362200" cy="609600"/>
            </a:xfrm>
            <a:prstGeom prst="borderCallout1">
              <a:avLst>
                <a:gd name="adj1" fmla="val 18750"/>
                <a:gd name="adj2" fmla="val -3227"/>
                <a:gd name="adj3" fmla="val -106250"/>
                <a:gd name="adj4" fmla="val -19356"/>
              </a:avLst>
            </a:prstGeom>
            <a:noFill/>
            <a:ln w="9525">
              <a:solidFill>
                <a:schemeClr val="tx1"/>
              </a:solidFill>
              <a:miter lim="800000"/>
              <a:headEnd/>
              <a:tailEnd/>
            </a:ln>
            <a:effectLst/>
          </p:spPr>
          <p:txBody>
            <a:bodyPr/>
            <a:lstStyle/>
            <a:p>
              <a:pPr algn="ctr"/>
              <a:r>
                <a:rPr lang="en-US" altLang="zh-TW" sz="2400" dirty="0">
                  <a:solidFill>
                    <a:schemeClr val="hlink"/>
                  </a:solidFill>
                </a:rPr>
                <a:t>maximizing</a:t>
              </a:r>
              <a:r>
                <a:rPr lang="en-US" altLang="zh-TW" dirty="0">
                  <a:solidFill>
                    <a:schemeClr val="hlink"/>
                  </a:solidFill>
                </a:rPr>
                <a:t> </a:t>
              </a:r>
            </a:p>
          </p:txBody>
        </p:sp>
        <p:sp>
          <p:nvSpPr>
            <p:cNvPr id="10" name="AutoShape 7"/>
            <p:cNvSpPr>
              <a:spLocks/>
            </p:cNvSpPr>
            <p:nvPr/>
          </p:nvSpPr>
          <p:spPr bwMode="auto">
            <a:xfrm>
              <a:off x="7010400" y="1752600"/>
              <a:ext cx="1447800" cy="381000"/>
            </a:xfrm>
            <a:prstGeom prst="borderCallout2">
              <a:avLst>
                <a:gd name="adj1" fmla="val 30000"/>
                <a:gd name="adj2" fmla="val -5264"/>
                <a:gd name="adj3" fmla="val 30000"/>
                <a:gd name="adj4" fmla="val -34431"/>
                <a:gd name="adj5" fmla="val 156250"/>
                <a:gd name="adj6" fmla="val -64694"/>
              </a:avLst>
            </a:prstGeom>
            <a:noFill/>
            <a:ln w="28575">
              <a:solidFill>
                <a:schemeClr val="accent2"/>
              </a:solidFill>
              <a:miter lim="800000"/>
              <a:headEnd/>
              <a:tailEnd/>
            </a:ln>
            <a:effectLst/>
          </p:spPr>
          <p:txBody>
            <a:bodyPr/>
            <a:lstStyle/>
            <a:p>
              <a:pPr algn="ctr"/>
              <a:r>
                <a:rPr lang="en-US" altLang="zh-TW" sz="2000"/>
                <a:t>Hyperplan</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73DA0BB7-265A-403C-9275-D587AB510EDC}" type="slidenum">
              <a:rPr lang="zh-TW" altLang="en-US" smtClean="0"/>
              <a:pPr/>
              <a:t>5</a:t>
            </a:fld>
            <a:endParaRPr lang="zh-TW" alt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691680" y="-47137"/>
            <a:ext cx="5694576" cy="69051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Amino Acid Composition</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6</a:t>
            </a:fld>
            <a:endParaRPr lang="zh-TW" altLang="en-US"/>
          </a:p>
        </p:txBody>
      </p:sp>
      <p:pic>
        <p:nvPicPr>
          <p:cNvPr id="2050" name="Picture 2"/>
          <p:cNvPicPr>
            <a:picLocks noGrp="1" noChangeAspect="1" noChangeArrowheads="1"/>
          </p:cNvPicPr>
          <p:nvPr>
            <p:ph idx="1"/>
          </p:nvPr>
        </p:nvPicPr>
        <p:blipFill>
          <a:blip r:embed="rId2" cstate="print"/>
          <a:srcRect/>
          <a:stretch>
            <a:fillRect/>
          </a:stretch>
        </p:blipFill>
        <p:spPr bwMode="auto">
          <a:xfrm>
            <a:off x="514350" y="2910681"/>
            <a:ext cx="8115300"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Auto </a:t>
            </a:r>
            <a:r>
              <a:rPr lang="en-US" altLang="zh-TW" dirty="0" err="1" smtClean="0"/>
              <a:t>Convariance</a:t>
            </a:r>
            <a:r>
              <a:rPr lang="en-US" altLang="zh-TW" dirty="0" smtClean="0"/>
              <a:t> Variables</a:t>
            </a:r>
            <a:endParaRPr lang="zh-TW" altLang="en-US" dirty="0"/>
          </a:p>
        </p:txBody>
      </p:sp>
      <p:sp>
        <p:nvSpPr>
          <p:cNvPr id="3" name="內容版面配置區 2"/>
          <p:cNvSpPr>
            <a:spLocks noGrp="1"/>
          </p:cNvSpPr>
          <p:nvPr>
            <p:ph idx="1"/>
          </p:nvPr>
        </p:nvSpPr>
        <p:spPr>
          <a:xfrm>
            <a:off x="457200" y="4221088"/>
            <a:ext cx="8229600" cy="1905075"/>
          </a:xfrm>
        </p:spPr>
        <p:txBody>
          <a:bodyPr>
            <a:normAutofit fontScale="85000" lnSpcReduction="20000"/>
          </a:bodyPr>
          <a:lstStyle/>
          <a:p>
            <a:r>
              <a:rPr lang="en-US" altLang="zh-TW" dirty="0" smtClean="0"/>
              <a:t>lag: the distance between an amino acid residue and its neighbor a certain number of residues away, lag = 1, 2, …, </a:t>
            </a:r>
            <a:r>
              <a:rPr lang="en-US" altLang="zh-TW" dirty="0" err="1" smtClean="0"/>
              <a:t>lg</a:t>
            </a:r>
            <a:endParaRPr lang="en-US" altLang="zh-TW" dirty="0" smtClean="0"/>
          </a:p>
          <a:p>
            <a:r>
              <a:rPr lang="en-US" altLang="zh-TW" dirty="0" smtClean="0"/>
              <a:t>J: descriptor(</a:t>
            </a:r>
            <a:r>
              <a:rPr lang="en-US" altLang="zh-TW" dirty="0" err="1" smtClean="0"/>
              <a:t>hydrophobicity</a:t>
            </a:r>
            <a:r>
              <a:rPr lang="en-US" altLang="zh-TW" dirty="0" smtClean="0"/>
              <a:t> and polarity)</a:t>
            </a:r>
          </a:p>
          <a:p>
            <a:r>
              <a:rPr lang="en-US" altLang="zh-TW" dirty="0" smtClean="0"/>
              <a:t>Number of AC: 2*</a:t>
            </a:r>
            <a:r>
              <a:rPr lang="en-US" altLang="zh-TW" dirty="0" err="1" smtClean="0"/>
              <a:t>lg</a:t>
            </a:r>
            <a:endParaRPr lang="en-US" altLang="zh-TW" dirty="0" smtClean="0"/>
          </a:p>
          <a:p>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7</a:t>
            </a:fld>
            <a:endParaRPr lang="zh-TW" altLang="en-US"/>
          </a:p>
        </p:txBody>
      </p:sp>
      <p:pic>
        <p:nvPicPr>
          <p:cNvPr id="3075" name="Picture 3"/>
          <p:cNvPicPr>
            <a:picLocks noChangeAspect="1" noChangeArrowheads="1"/>
          </p:cNvPicPr>
          <p:nvPr/>
        </p:nvPicPr>
        <p:blipFill>
          <a:blip r:embed="rId2" cstate="print"/>
          <a:srcRect r="2811" b="7030"/>
          <a:stretch>
            <a:fillRect/>
          </a:stretch>
        </p:blipFill>
        <p:spPr bwMode="auto">
          <a:xfrm>
            <a:off x="833438" y="1412776"/>
            <a:ext cx="7266954" cy="27363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版面配置區 2"/>
          <p:cNvSpPr>
            <a:spLocks noGrp="1"/>
          </p:cNvSpPr>
          <p:nvPr>
            <p:ph type="dt" sz="half" idx="10"/>
          </p:nvPr>
        </p:nvSpPr>
        <p:spPr/>
        <p:txBody>
          <a:bodyPr/>
          <a:lstStyle/>
          <a:p>
            <a:fld id="{1CAF5B8B-0CC5-44FE-8337-82988B3E5071}" type="datetime1">
              <a:rPr lang="zh-TW" altLang="en-US"/>
              <a:pPr/>
              <a:t>2012/7/3</a:t>
            </a:fld>
            <a:endParaRPr lang="zh-TW" altLang="en-US"/>
          </a:p>
        </p:txBody>
      </p:sp>
      <p:sp>
        <p:nvSpPr>
          <p:cNvPr id="4" name="投影片編號版面配置區 3"/>
          <p:cNvSpPr>
            <a:spLocks noGrp="1"/>
          </p:cNvSpPr>
          <p:nvPr>
            <p:ph type="sldNum" sz="quarter" idx="12"/>
          </p:nvPr>
        </p:nvSpPr>
        <p:spPr/>
        <p:txBody>
          <a:bodyPr/>
          <a:lstStyle/>
          <a:p>
            <a:fld id="{CB36CB3E-1FAA-4D22-A223-34A099CB32ED}" type="slidenum">
              <a:rPr lang="zh-TW" altLang="en-US"/>
              <a:pPr/>
              <a:t>8</a:t>
            </a:fld>
            <a:endParaRPr lang="zh-TW" altLang="en-US"/>
          </a:p>
        </p:txBody>
      </p:sp>
      <p:sp>
        <p:nvSpPr>
          <p:cNvPr id="5" name="標題 4"/>
          <p:cNvSpPr>
            <a:spLocks noGrp="1"/>
          </p:cNvSpPr>
          <p:nvPr>
            <p:ph type="title"/>
          </p:nvPr>
        </p:nvSpPr>
        <p:spPr/>
        <p:txBody>
          <a:bodyPr>
            <a:normAutofit fontScale="90000"/>
          </a:bodyPr>
          <a:lstStyle/>
          <a:p>
            <a:r>
              <a:rPr lang="en-US" altLang="zh-TW" dirty="0" smtClean="0"/>
              <a:t> Position </a:t>
            </a:r>
            <a:r>
              <a:rPr lang="en-US" altLang="zh-TW" dirty="0" err="1" smtClean="0"/>
              <a:t>Speciﬁc</a:t>
            </a:r>
            <a:r>
              <a:rPr lang="en-US" altLang="zh-TW" dirty="0" smtClean="0"/>
              <a:t> Scoring Matrix(PSSM)</a:t>
            </a:r>
            <a:endParaRPr lang="zh-TW" altLang="en-US" dirty="0"/>
          </a:p>
        </p:txBody>
      </p:sp>
      <p:sp>
        <p:nvSpPr>
          <p:cNvPr id="6" name="內容版面配置區 2"/>
          <p:cNvSpPr txBox="1">
            <a:spLocks/>
          </p:cNvSpPr>
          <p:nvPr/>
        </p:nvSpPr>
        <p:spPr>
          <a:xfrm>
            <a:off x="827584" y="1196752"/>
            <a:ext cx="8532440" cy="3717032"/>
          </a:xfrm>
          <a:prstGeom prst="rect">
            <a:avLst/>
          </a:prstGeom>
        </p:spPr>
        <p:txBody>
          <a:bodyPr vert="horz">
            <a:normAutofit fontScale="47500" lnSpcReduction="20000"/>
          </a:bodyPr>
          <a:lstStyle/>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A  R  N  D  C  Q  E  G  H  I  L  K  M  F  P  S  T  W  Y  V</a:t>
            </a: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Y -2 -2 -2 -3 -3 -2 -2 -3  2 -1 -1 -2 -1  3 -3 -2 -2  2  7 -1</a:t>
            </a: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V  0 -3 -3 -3 -1 -2 -3 -3 -3  3  1 -2  1 -1 -3 -2  0 -3 -1  4</a:t>
            </a: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I -1 -3 -4 -3 -1 -3 -3 -4 -4  4  2</a:t>
            </a:r>
            <a:r>
              <a:rPr kumimoji="0" lang="pt-BR" altLang="zh-TW" sz="2700" b="0" i="0" u="none" strike="noStrike" kern="1200" cap="none" spc="0" normalizeH="0" noProof="0" dirty="0">
                <a:ln>
                  <a:noFill/>
                </a:ln>
                <a:effectLst/>
                <a:uLnTx/>
                <a:uFillTx/>
                <a:latin typeface="Courier New" pitchFamily="49" charset="0"/>
                <a:ea typeface="+mn-ea"/>
                <a:cs typeface="Courier New" pitchFamily="49" charset="0"/>
              </a:rPr>
              <a:t> -3  1  0 -3 -3 -1 -3 -1  3</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C  0 -4 -3 -4  9 -3 -4 -3 -3 -1 -1 -3 -2 -3 -3 -1 -1 -3 -3 -1</a:t>
            </a: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F -2 -3 -3 -4 -3 -3 -3 -3 -1  0  0 -3  0  7 -4 -3</a:t>
            </a:r>
            <a:r>
              <a:rPr kumimoji="0" lang="pt-BR" altLang="zh-TW" sz="2700" b="0" i="0" u="none" strike="noStrike" kern="1200" cap="none" spc="0" normalizeH="0" noProof="0" dirty="0">
                <a:ln>
                  <a:noFill/>
                </a:ln>
                <a:effectLst/>
                <a:uLnTx/>
                <a:uFillTx/>
                <a:latin typeface="Courier New" pitchFamily="49" charset="0"/>
                <a:ea typeface="+mn-ea"/>
                <a:cs typeface="Courier New" pitchFamily="49" charset="0"/>
              </a:rPr>
              <a:t> -2  1  3 -1</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lvl="0" indent="-274320">
              <a:spcBef>
                <a:spcPts val="400"/>
              </a:spcBef>
              <a:buClr>
                <a:schemeClr val="accent3"/>
              </a:buClr>
              <a:buSzPct val="68000"/>
              <a:defRPr/>
            </a:pPr>
            <a:r>
              <a:rPr lang="pt-BR" altLang="zh-TW" sz="2700" dirty="0">
                <a:latin typeface="Courier New" pitchFamily="49" charset="0"/>
                <a:cs typeface="Courier New" pitchFamily="49" charset="0"/>
              </a:rPr>
              <a:t> F -2 -3 -3 -4 -3 -3 -3 -3 -1  0  0 -3  0  7 -4 -3 -2  1  3 -1</a:t>
            </a: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T  0 </a:t>
            </a:r>
            <a:r>
              <a:rPr kumimoji="0" lang="pt-BR" altLang="zh-TW" sz="2700" b="0" i="0" u="none" strike="noStrike" kern="1200" cap="none" spc="0" normalizeH="0" noProof="0" dirty="0">
                <a:ln>
                  <a:noFill/>
                </a:ln>
                <a:effectLst/>
                <a:uLnTx/>
                <a:uFillTx/>
                <a:latin typeface="Courier New" pitchFamily="49" charset="0"/>
                <a:ea typeface="+mn-ea"/>
                <a:cs typeface="Courier New" pitchFamily="49" charset="0"/>
              </a:rPr>
              <a:t>-1</a:t>
            </a: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0 -1 -1 -1 -1 -2 -2 -1 -1 -1 -1 -2 -1  2  5 -3 -2  0</a:t>
            </a:r>
          </a:p>
          <a:p>
            <a:pPr marL="274320" lvl="0" indent="-274320">
              <a:spcBef>
                <a:spcPts val="400"/>
              </a:spcBef>
              <a:buClr>
                <a:schemeClr val="accent3"/>
              </a:buClr>
              <a:buSzPct val="68000"/>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V  0 </a:t>
            </a:r>
            <a:r>
              <a:rPr lang="pt-BR" altLang="zh-TW" sz="2700" dirty="0">
                <a:latin typeface="Courier New" pitchFamily="49" charset="0"/>
                <a:cs typeface="Courier New" pitchFamily="49" charset="0"/>
              </a:rPr>
              <a:t>-3 -3 -3 -1 -2 -3 -3 -3  3  1 -2  1 -1 -3 -2  0 -3 -1  4</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lvl="0" indent="-274320">
              <a:spcBef>
                <a:spcPts val="400"/>
              </a:spcBef>
              <a:buClr>
                <a:schemeClr val="accent3"/>
              </a:buClr>
              <a:buSzPct val="68000"/>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L -2 -2 </a:t>
            </a:r>
            <a:r>
              <a:rPr lang="pt-BR" altLang="zh-TW" sz="2700" dirty="0">
                <a:latin typeface="Courier New" pitchFamily="49" charset="0"/>
                <a:cs typeface="Courier New" pitchFamily="49" charset="0"/>
              </a:rPr>
              <a:t>-4 -4 -1 -2 -3 -4 -3  2  4 -3  2  0 -3 -3 -1 -2 -1  1</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lvl="0" indent="-274320">
              <a:spcBef>
                <a:spcPts val="400"/>
              </a:spcBef>
              <a:buClr>
                <a:schemeClr val="accent3"/>
              </a:buClr>
              <a:buSzPct val="68000"/>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C  0 -4 </a:t>
            </a:r>
            <a:r>
              <a:rPr lang="pt-BR" altLang="zh-TW" sz="2700" dirty="0">
                <a:latin typeface="Courier New" pitchFamily="49" charset="0"/>
                <a:cs typeface="Courier New" pitchFamily="49" charset="0"/>
              </a:rPr>
              <a:t>-3 -4  9 -3 -4 -3 -3 -1 -1 -3 -2 -3 -3 -1 -1 -3 -3 -1</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lvl="0" indent="-274320">
              <a:spcBef>
                <a:spcPts val="400"/>
              </a:spcBef>
              <a:buClr>
                <a:schemeClr val="accent3"/>
              </a:buClr>
              <a:buSzPct val="68000"/>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F -2 -3 </a:t>
            </a:r>
            <a:r>
              <a:rPr lang="pt-BR" altLang="zh-TW" sz="2700" dirty="0">
                <a:latin typeface="Courier New" pitchFamily="49" charset="0"/>
                <a:cs typeface="Courier New" pitchFamily="49" charset="0"/>
              </a:rPr>
              <a:t>-3 -4 -3 -3 -3 -3 -1  0  0 -3  0  7 -4 -3 -2  1  3 -1</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lvl="0" indent="-274320">
              <a:spcBef>
                <a:spcPts val="400"/>
              </a:spcBef>
              <a:buClr>
                <a:schemeClr val="accent3"/>
              </a:buClr>
              <a:buSzPct val="68000"/>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C  0 -4 </a:t>
            </a:r>
            <a:r>
              <a:rPr lang="pt-BR" altLang="zh-TW" sz="2700" dirty="0">
                <a:latin typeface="Courier New" pitchFamily="49" charset="0"/>
                <a:cs typeface="Courier New" pitchFamily="49" charset="0"/>
              </a:rPr>
              <a:t>-3 -4  9 -3 -4 -3 -3 -1 -1 -3 -2 -3 -3 -1 -1 -3 -3 -1</a:t>
            </a:r>
          </a:p>
          <a:p>
            <a:pPr marL="274320" lvl="0" indent="-274320">
              <a:spcBef>
                <a:spcPts val="400"/>
              </a:spcBef>
              <a:buClr>
                <a:schemeClr val="accent3"/>
              </a:buClr>
              <a:buSzPct val="68000"/>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L -2 -2 </a:t>
            </a:r>
            <a:r>
              <a:rPr lang="pt-BR" altLang="zh-TW" sz="2700" dirty="0">
                <a:latin typeface="Courier New" pitchFamily="49" charset="0"/>
                <a:cs typeface="Courier New" pitchFamily="49" charset="0"/>
              </a:rPr>
              <a:t>-4 -4 -1 -2 -3 -4 -3  2  4 -3  2  0 -3 -3 -1 -2 -1  1</a:t>
            </a:r>
            <a:endPar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endParaRP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a:t>
            </a:r>
          </a:p>
          <a:p>
            <a:pPr marL="274320" marR="0" lvl="0" indent="-274320" defTabSz="914400" rtl="0" eaLnBrk="1" fontAlgn="auto" latinLnBrk="0" hangingPunct="1">
              <a:lnSpc>
                <a:spcPct val="100000"/>
              </a:lnSpc>
              <a:spcBef>
                <a:spcPts val="400"/>
              </a:spcBef>
              <a:spcAft>
                <a:spcPts val="0"/>
              </a:spcAft>
              <a:buClr>
                <a:schemeClr val="accent3"/>
              </a:buClr>
              <a:buSzPct val="68000"/>
              <a:buFont typeface="Wingdings 2"/>
              <a:buNone/>
              <a:tabLst/>
              <a:defRPr/>
            </a:pPr>
            <a:r>
              <a:rPr kumimoji="0" lang="pt-BR" altLang="zh-TW" sz="2700" b="0" i="0" u="none" strike="noStrike" kern="1200" cap="none" spc="0" normalizeH="0" baseline="0" noProof="0" dirty="0">
                <a:ln>
                  <a:noFill/>
                </a:ln>
                <a:effectLst/>
                <a:uLnTx/>
                <a:uFillTx/>
                <a:latin typeface="Courier New" pitchFamily="49" charset="0"/>
                <a:ea typeface="+mn-ea"/>
                <a:cs typeface="Courier New" pitchFamily="49" charset="0"/>
              </a:rPr>
              <a:t>    A  R  N  D  C  Q  E  G  H  I  L  K  M  F  P  S  T  W  Y  V</a:t>
            </a:r>
            <a:endParaRPr kumimoji="0" lang="zh-TW" altLang="en-US" sz="2700" b="0" i="0" u="none" strike="noStrike" kern="1200" cap="none" spc="0" normalizeH="0" baseline="0" noProof="0" dirty="0">
              <a:ln>
                <a:noFill/>
              </a:ln>
              <a:effectLst/>
              <a:uLnTx/>
              <a:uFillTx/>
              <a:latin typeface="Courier New" pitchFamily="49" charset="0"/>
              <a:ea typeface="+mn-ea"/>
              <a:cs typeface="Courier New" pitchFamily="49" charset="0"/>
            </a:endParaRPr>
          </a:p>
        </p:txBody>
      </p:sp>
      <p:sp>
        <p:nvSpPr>
          <p:cNvPr id="7" name="文字方塊 6"/>
          <p:cNvSpPr txBox="1"/>
          <p:nvPr/>
        </p:nvSpPr>
        <p:spPr>
          <a:xfrm>
            <a:off x="683568"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8" name="文字方塊 7"/>
          <p:cNvSpPr txBox="1"/>
          <p:nvPr/>
        </p:nvSpPr>
        <p:spPr>
          <a:xfrm>
            <a:off x="971600"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9" name="文字方塊 8"/>
          <p:cNvSpPr txBox="1"/>
          <p:nvPr/>
        </p:nvSpPr>
        <p:spPr>
          <a:xfrm>
            <a:off x="1259632"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0" name="文字方塊 9"/>
          <p:cNvSpPr txBox="1"/>
          <p:nvPr/>
        </p:nvSpPr>
        <p:spPr>
          <a:xfrm>
            <a:off x="1547664"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1" name="文字方塊 10"/>
          <p:cNvSpPr txBox="1"/>
          <p:nvPr/>
        </p:nvSpPr>
        <p:spPr>
          <a:xfrm>
            <a:off x="1835696"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2" name="文字方塊 11"/>
          <p:cNvSpPr txBox="1"/>
          <p:nvPr/>
        </p:nvSpPr>
        <p:spPr>
          <a:xfrm>
            <a:off x="2123728"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3" name="文字方塊 12"/>
          <p:cNvSpPr txBox="1"/>
          <p:nvPr/>
        </p:nvSpPr>
        <p:spPr>
          <a:xfrm>
            <a:off x="2411760"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4" name="文字方塊 13"/>
          <p:cNvSpPr txBox="1"/>
          <p:nvPr/>
        </p:nvSpPr>
        <p:spPr>
          <a:xfrm>
            <a:off x="2699792"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5" name="文字方塊 14"/>
          <p:cNvSpPr txBox="1"/>
          <p:nvPr/>
        </p:nvSpPr>
        <p:spPr>
          <a:xfrm>
            <a:off x="3059832"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6" name="文字方塊 15"/>
          <p:cNvSpPr txBox="1"/>
          <p:nvPr/>
        </p:nvSpPr>
        <p:spPr>
          <a:xfrm>
            <a:off x="3347864"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7" name="文字方塊 16"/>
          <p:cNvSpPr txBox="1"/>
          <p:nvPr/>
        </p:nvSpPr>
        <p:spPr>
          <a:xfrm>
            <a:off x="3635896"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8" name="文字方塊 17"/>
          <p:cNvSpPr txBox="1"/>
          <p:nvPr/>
        </p:nvSpPr>
        <p:spPr>
          <a:xfrm>
            <a:off x="3923928"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19" name="文字方塊 18"/>
          <p:cNvSpPr txBox="1"/>
          <p:nvPr/>
        </p:nvSpPr>
        <p:spPr>
          <a:xfrm>
            <a:off x="4211960"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0" name="文字方塊 19"/>
          <p:cNvSpPr txBox="1"/>
          <p:nvPr/>
        </p:nvSpPr>
        <p:spPr>
          <a:xfrm>
            <a:off x="4499992"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1" name="文字方塊 20"/>
          <p:cNvSpPr txBox="1"/>
          <p:nvPr/>
        </p:nvSpPr>
        <p:spPr>
          <a:xfrm>
            <a:off x="4788024"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2" name="文字方塊 21"/>
          <p:cNvSpPr txBox="1"/>
          <p:nvPr/>
        </p:nvSpPr>
        <p:spPr>
          <a:xfrm>
            <a:off x="5076056"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3" name="文字方塊 22"/>
          <p:cNvSpPr txBox="1"/>
          <p:nvPr/>
        </p:nvSpPr>
        <p:spPr>
          <a:xfrm>
            <a:off x="5364088"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4" name="文字方塊 23"/>
          <p:cNvSpPr txBox="1"/>
          <p:nvPr/>
        </p:nvSpPr>
        <p:spPr>
          <a:xfrm>
            <a:off x="5652120"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5" name="文字方塊 24"/>
          <p:cNvSpPr txBox="1"/>
          <p:nvPr/>
        </p:nvSpPr>
        <p:spPr>
          <a:xfrm>
            <a:off x="6012160"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6" name="文字方塊 25"/>
          <p:cNvSpPr txBox="1"/>
          <p:nvPr/>
        </p:nvSpPr>
        <p:spPr>
          <a:xfrm>
            <a:off x="6300192"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7" name="文字方塊 26"/>
          <p:cNvSpPr txBox="1"/>
          <p:nvPr/>
        </p:nvSpPr>
        <p:spPr>
          <a:xfrm>
            <a:off x="6588224" y="3933056"/>
            <a:ext cx="461963" cy="323850"/>
          </a:xfrm>
          <a:prstGeom prst="rect">
            <a:avLst/>
          </a:prstGeom>
          <a:noFill/>
        </p:spPr>
        <p:txBody>
          <a:bodyPr vert="eaVert">
            <a:spAutoFit/>
          </a:bodyPr>
          <a:lstStyle/>
          <a:p>
            <a:pPr fontAlgn="auto">
              <a:spcBef>
                <a:spcPts val="0"/>
              </a:spcBef>
              <a:spcAft>
                <a:spcPts val="0"/>
              </a:spcAft>
              <a:defRPr/>
            </a:pPr>
            <a:r>
              <a:rPr kumimoji="0" lang="en-US" altLang="zh-TW" dirty="0">
                <a:solidFill>
                  <a:schemeClr val="bg1">
                    <a:lumMod val="50000"/>
                  </a:schemeClr>
                </a:solidFill>
                <a:latin typeface="+mn-lt"/>
                <a:ea typeface="+mn-ea"/>
              </a:rPr>
              <a:t>…</a:t>
            </a:r>
            <a:endParaRPr kumimoji="0" lang="zh-TW" altLang="en-US" dirty="0">
              <a:solidFill>
                <a:schemeClr val="bg1">
                  <a:lumMod val="50000"/>
                </a:schemeClr>
              </a:solidFill>
              <a:latin typeface="+mn-lt"/>
              <a:ea typeface="+mn-ea"/>
            </a:endParaRPr>
          </a:p>
        </p:txBody>
      </p:sp>
      <p:sp>
        <p:nvSpPr>
          <p:cNvPr id="28" name="內容版面配置區 27"/>
          <p:cNvSpPr>
            <a:spLocks noGrp="1"/>
          </p:cNvSpPr>
          <p:nvPr>
            <p:ph idx="1"/>
          </p:nvPr>
        </p:nvSpPr>
        <p:spPr>
          <a:xfrm>
            <a:off x="457200" y="4581128"/>
            <a:ext cx="8229600" cy="1545035"/>
          </a:xfrm>
        </p:spPr>
        <p:txBody>
          <a:bodyPr>
            <a:normAutofit fontScale="70000" lnSpcReduction="20000"/>
          </a:bodyPr>
          <a:lstStyle/>
          <a:p>
            <a:r>
              <a:rPr lang="en-US" altLang="zh-TW" dirty="0" smtClean="0"/>
              <a:t>PSSM was created by using PSI-BLAST to search the Swiss-Prot for multiple sequence alignment against the protein samples.</a:t>
            </a:r>
          </a:p>
          <a:p>
            <a:r>
              <a:rPr lang="zh-TW" altLang="en-US" dirty="0" smtClean="0"/>
              <a:t>每個位置 每種</a:t>
            </a:r>
            <a:r>
              <a:rPr lang="en-US" altLang="zh-TW" dirty="0" smtClean="0"/>
              <a:t>protein</a:t>
            </a:r>
            <a:r>
              <a:rPr lang="zh-TW" altLang="en-US" dirty="0" smtClean="0"/>
              <a:t>出現都會有一個分數，基本上跟</a:t>
            </a:r>
            <a:r>
              <a:rPr lang="en-US" altLang="zh-TW" dirty="0" smtClean="0"/>
              <a:t>training  set</a:t>
            </a:r>
            <a:r>
              <a:rPr lang="zh-TW" altLang="en-US" dirty="0" smtClean="0"/>
              <a:t>中這個位置這個</a:t>
            </a:r>
            <a:r>
              <a:rPr lang="en-US" altLang="zh-TW" dirty="0" smtClean="0"/>
              <a:t>protein</a:t>
            </a:r>
            <a:r>
              <a:rPr lang="zh-TW" altLang="en-US" dirty="0" smtClean="0"/>
              <a:t>出現的次數正相關。</a:t>
            </a:r>
            <a:endParaRPr lang="zh-TW"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Annotation Information and the Number of </a:t>
            </a:r>
            <a:r>
              <a:rPr lang="en-US" altLang="zh-TW" dirty="0" err="1" smtClean="0"/>
              <a:t>Cysteines</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9</a:t>
            </a:fld>
            <a:endParaRPr lang="zh-TW" altLang="en-US"/>
          </a:p>
        </p:txBody>
      </p:sp>
      <p:pic>
        <p:nvPicPr>
          <p:cNvPr id="6" name="Picture 2" descr="D:\Dropbox\paper@DBox\taicc20120703\mmc2.jpg"/>
          <p:cNvPicPr>
            <a:picLocks noGrp="1" noChangeAspect="1" noChangeArrowheads="1"/>
          </p:cNvPicPr>
          <p:nvPr>
            <p:ph idx="1"/>
          </p:nvPr>
        </p:nvPicPr>
        <p:blipFill>
          <a:blip r:embed="rId2" cstate="print"/>
          <a:srcRect/>
          <a:stretch>
            <a:fillRect/>
          </a:stretch>
        </p:blipFill>
        <p:spPr bwMode="auto">
          <a:xfrm>
            <a:off x="1314597" y="1600200"/>
            <a:ext cx="6514806" cy="452596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Performance Measures</a:t>
            </a:r>
            <a:endParaRPr lang="zh-TW" altLang="en-US" dirty="0"/>
          </a:p>
        </p:txBody>
      </p:sp>
      <p:sp>
        <p:nvSpPr>
          <p:cNvPr id="3" name="內容版面配置區 2"/>
          <p:cNvSpPr>
            <a:spLocks noGrp="1"/>
          </p:cNvSpPr>
          <p:nvPr>
            <p:ph idx="1"/>
          </p:nvPr>
        </p:nvSpPr>
        <p:spPr/>
        <p:txBody>
          <a:bodyPr>
            <a:normAutofit fontScale="85000" lnSpcReduction="20000"/>
          </a:bodyPr>
          <a:lstStyle/>
          <a:p>
            <a:pPr>
              <a:tabLst>
                <a:tab pos="2244725" algn="l"/>
              </a:tabLst>
            </a:pPr>
            <a:r>
              <a:rPr lang="en-US" altLang="zh-TW" dirty="0" smtClean="0"/>
              <a:t>Sensitivity = TP/(TP+FN)</a:t>
            </a:r>
          </a:p>
          <a:p>
            <a:pPr>
              <a:tabLst>
                <a:tab pos="2244725" algn="l"/>
              </a:tabLst>
            </a:pPr>
            <a:r>
              <a:rPr lang="en-US" altLang="zh-TW" dirty="0" smtClean="0"/>
              <a:t>Specificity = TN/(TN+FP)</a:t>
            </a:r>
          </a:p>
          <a:p>
            <a:pPr>
              <a:tabLst>
                <a:tab pos="2244725" algn="l"/>
              </a:tabLst>
            </a:pPr>
            <a:r>
              <a:rPr lang="en-US" altLang="zh-TW" dirty="0" smtClean="0"/>
              <a:t>Accuracy   = (TP+ TN)/N</a:t>
            </a:r>
          </a:p>
          <a:p>
            <a:pPr lvl="1"/>
            <a:r>
              <a:rPr lang="en-US" altLang="zh-TW" dirty="0" smtClean="0"/>
              <a:t>N: total # of cases</a:t>
            </a:r>
          </a:p>
          <a:p>
            <a:pPr lvl="1"/>
            <a:r>
              <a:rPr lang="zh-TW" altLang="en-US" dirty="0" smtClean="0"/>
              <a:t>真陽性 </a:t>
            </a:r>
            <a:r>
              <a:rPr lang="en-US" altLang="zh-TW" dirty="0" smtClean="0"/>
              <a:t>(true positive, TP)</a:t>
            </a:r>
            <a:r>
              <a:rPr lang="zh-TW" altLang="en-US" dirty="0" smtClean="0"/>
              <a:t>表示在真正有病的族群中，檢驗的結果也真的是陽性。</a:t>
            </a:r>
          </a:p>
          <a:p>
            <a:pPr lvl="1"/>
            <a:r>
              <a:rPr lang="zh-TW" altLang="en-US" dirty="0" smtClean="0"/>
              <a:t>真陰性 </a:t>
            </a:r>
            <a:r>
              <a:rPr lang="en-US" altLang="zh-TW" dirty="0" smtClean="0"/>
              <a:t>(true negative, TN)</a:t>
            </a:r>
            <a:r>
              <a:rPr lang="zh-TW" altLang="en-US" dirty="0" smtClean="0"/>
              <a:t>表示在沒病的族群中，檢驗的結果也是陰性。</a:t>
            </a:r>
          </a:p>
          <a:p>
            <a:pPr lvl="1"/>
            <a:r>
              <a:rPr lang="zh-TW" altLang="en-US" dirty="0" smtClean="0"/>
              <a:t>偽陽性 </a:t>
            </a:r>
            <a:r>
              <a:rPr lang="en-US" altLang="zh-TW" dirty="0" smtClean="0"/>
              <a:t>(false positive, FP)</a:t>
            </a:r>
            <a:r>
              <a:rPr lang="zh-TW" altLang="en-US" dirty="0" smtClean="0"/>
              <a:t>表示在沒病的族群中，檢驗的結果卻是陽性。</a:t>
            </a:r>
          </a:p>
          <a:p>
            <a:pPr lvl="1"/>
            <a:r>
              <a:rPr lang="zh-TW" altLang="en-US" dirty="0" smtClean="0"/>
              <a:t>偽陰性 </a:t>
            </a:r>
            <a:r>
              <a:rPr lang="en-US" altLang="zh-TW" dirty="0" smtClean="0"/>
              <a:t>(false negative, FN) </a:t>
            </a:r>
            <a:r>
              <a:rPr lang="zh-TW" altLang="en-US" dirty="0" smtClean="0"/>
              <a:t>表示在真正有病的族群中，檢驗的結果卻是陰性。</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10</a:t>
            </a:fld>
            <a:endParaRPr lang="zh-TW"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Matthews Correlation Coefﬁcient</a:t>
            </a:r>
            <a:endParaRPr lang="zh-TW" altLang="en-US" dirty="0"/>
          </a:p>
        </p:txBody>
      </p:sp>
      <p:graphicFrame>
        <p:nvGraphicFramePr>
          <p:cNvPr id="4" name="內容版面配置區 3"/>
          <p:cNvGraphicFramePr>
            <a:graphicFrameLocks noGrp="1"/>
          </p:cNvGraphicFramePr>
          <p:nvPr>
            <p:ph idx="1"/>
          </p:nvPr>
        </p:nvGraphicFramePr>
        <p:xfrm>
          <a:off x="2339752" y="1484784"/>
          <a:ext cx="4968552" cy="2808312"/>
        </p:xfrm>
        <a:graphic>
          <a:graphicData uri="http://schemas.openxmlformats.org/drawingml/2006/table">
            <a:tbl>
              <a:tblPr firstRow="1" bandRow="1">
                <a:tableStyleId>{2D5ABB26-0587-4C30-8999-92F81FD0307C}</a:tableStyleId>
              </a:tblPr>
              <a:tblGrid>
                <a:gridCol w="865997"/>
                <a:gridCol w="393635"/>
                <a:gridCol w="1854460"/>
                <a:gridCol w="1854460"/>
              </a:tblGrid>
              <a:tr h="468052">
                <a:tc>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algn="ctr"/>
                      <a:r>
                        <a:rPr lang="en-US" altLang="zh-TW" sz="1800" b="1" i="0" kern="1200" dirty="0" smtClean="0">
                          <a:solidFill>
                            <a:schemeClr val="tx1"/>
                          </a:solidFill>
                          <a:latin typeface="+mn-lt"/>
                          <a:ea typeface="+mn-ea"/>
                          <a:cs typeface="+mn-cs"/>
                        </a:rPr>
                        <a:t>prediction outcome</a:t>
                      </a:r>
                      <a:endParaRPr lang="zh-TW" altLang="en-US"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68052">
                <a:tc rowSpan="3">
                  <a:txBody>
                    <a:bodyPr/>
                    <a:lstStyle/>
                    <a:p>
                      <a:pPr algn="ctr"/>
                      <a:r>
                        <a:rPr lang="en-US" altLang="zh-TW" sz="1800" b="1" i="0" kern="1200" dirty="0" smtClean="0">
                          <a:solidFill>
                            <a:schemeClr val="tx1"/>
                          </a:solidFill>
                          <a:latin typeface="+mn-lt"/>
                          <a:ea typeface="+mn-ea"/>
                          <a:cs typeface="+mn-cs"/>
                        </a:rPr>
                        <a:t>actual</a:t>
                      </a:r>
                      <a:r>
                        <a:rPr lang="en-US" altLang="zh-TW" dirty="0" smtClean="0"/>
                        <a:t/>
                      </a:r>
                      <a:br>
                        <a:rPr lang="en-US" altLang="zh-TW" dirty="0" smtClean="0"/>
                      </a:br>
                      <a:r>
                        <a:rPr lang="en-US" altLang="zh-TW" sz="1800" b="1" i="0" kern="1200" dirty="0" smtClean="0">
                          <a:solidFill>
                            <a:schemeClr val="tx1"/>
                          </a:solidFill>
                          <a:latin typeface="+mn-lt"/>
                          <a:ea typeface="+mn-ea"/>
                          <a:cs typeface="+mn-cs"/>
                        </a:rPr>
                        <a:t>value</a:t>
                      </a:r>
                      <a:endParaRPr lang="zh-TW"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P</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36104">
                <a:tc v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smtClean="0"/>
                        <a:t>P’</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True</a:t>
                      </a:r>
                      <a:r>
                        <a:rPr lang="en-US" altLang="zh-TW" baseline="0" dirty="0" smtClean="0"/>
                        <a:t> Positive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False Negative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36104">
                <a:tc vMerge="1">
                  <a:txBody>
                    <a:bodyPr/>
                    <a:lstStyle/>
                    <a:p>
                      <a:pPr algn="ctr"/>
                      <a:endParaRPr lang="zh-TW" altLang="en-US"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TW" dirty="0" smtClean="0"/>
                        <a:t>N’</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False Positive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True Negative</a:t>
                      </a:r>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10" name="圖片 9" descr="mcc.png"/>
          <p:cNvPicPr>
            <a:picLocks noChangeAspect="1"/>
          </p:cNvPicPr>
          <p:nvPr/>
        </p:nvPicPr>
        <p:blipFill>
          <a:blip r:embed="rId2" cstate="print"/>
          <a:stretch>
            <a:fillRect/>
          </a:stretch>
        </p:blipFill>
        <p:spPr>
          <a:xfrm>
            <a:off x="683568" y="4797152"/>
            <a:ext cx="7740352" cy="1552155"/>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F-score</a:t>
            </a:r>
            <a:endParaRPr lang="zh-TW" altLang="en-US" dirty="0"/>
          </a:p>
        </p:txBody>
      </p:sp>
      <p:sp>
        <p:nvSpPr>
          <p:cNvPr id="3" name="內容版面配置區 2"/>
          <p:cNvSpPr>
            <a:spLocks noGrp="1"/>
          </p:cNvSpPr>
          <p:nvPr>
            <p:ph idx="1"/>
          </p:nvPr>
        </p:nvSpPr>
        <p:spPr/>
        <p:txBody>
          <a:bodyPr/>
          <a:lstStyle/>
          <a:p>
            <a:r>
              <a:rPr lang="en-US" altLang="zh-TW" dirty="0" smtClean="0"/>
              <a:t>F-score</a:t>
            </a:r>
            <a:r>
              <a:rPr lang="zh-TW" altLang="en-US" dirty="0" smtClean="0"/>
              <a:t>就是</a:t>
            </a:r>
            <a:r>
              <a:rPr lang="en-US" altLang="zh-TW" dirty="0" smtClean="0"/>
              <a:t>Precision</a:t>
            </a:r>
            <a:r>
              <a:rPr lang="zh-TW" altLang="en-US" dirty="0" smtClean="0"/>
              <a:t>與</a:t>
            </a:r>
            <a:r>
              <a:rPr lang="en-US" altLang="zh-TW" dirty="0" smtClean="0"/>
              <a:t>Recall</a:t>
            </a:r>
            <a:r>
              <a:rPr lang="zh-TW" altLang="en-US" dirty="0" smtClean="0"/>
              <a:t>的調和平均數</a:t>
            </a:r>
            <a:r>
              <a:rPr lang="en-US" altLang="zh-TW" dirty="0" smtClean="0"/>
              <a:t>(Harmonic Mean)</a:t>
            </a:r>
          </a:p>
          <a:p>
            <a:r>
              <a:rPr lang="en-US" altLang="zh-TW" dirty="0" smtClean="0"/>
              <a:t>F= 2*(TP+FP)*(TN+FN)/(TP+FP+TN+FN)</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Result(1/5)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13</a:t>
            </a:fld>
            <a:endParaRPr lang="zh-TW" altLang="en-US"/>
          </a:p>
        </p:txBody>
      </p:sp>
      <p:pic>
        <p:nvPicPr>
          <p:cNvPr id="4098" name="Picture 2"/>
          <p:cNvPicPr>
            <a:picLocks noGrp="1" noChangeAspect="1" noChangeArrowheads="1"/>
          </p:cNvPicPr>
          <p:nvPr>
            <p:ph idx="1"/>
          </p:nvPr>
        </p:nvPicPr>
        <p:blipFill>
          <a:blip r:embed="rId2" cstate="print"/>
          <a:srcRect/>
          <a:stretch>
            <a:fillRect/>
          </a:stretch>
        </p:blipFill>
        <p:spPr bwMode="auto">
          <a:xfrm>
            <a:off x="1372834" y="1129011"/>
            <a:ext cx="6398332" cy="5468342"/>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Result(2/5)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14</a:t>
            </a:fld>
            <a:endParaRPr lang="zh-TW" altLang="en-US"/>
          </a:p>
        </p:txBody>
      </p:sp>
      <p:pic>
        <p:nvPicPr>
          <p:cNvPr id="5122" name="Picture 2"/>
          <p:cNvPicPr>
            <a:picLocks noGrp="1" noChangeAspect="1" noChangeArrowheads="1"/>
          </p:cNvPicPr>
          <p:nvPr>
            <p:ph idx="1"/>
          </p:nvPr>
        </p:nvPicPr>
        <p:blipFill>
          <a:blip r:embed="rId2" cstate="print"/>
          <a:stretch>
            <a:fillRect/>
          </a:stretch>
        </p:blipFill>
        <p:spPr bwMode="auto">
          <a:xfrm rot="5400000">
            <a:off x="3417515" y="-852607"/>
            <a:ext cx="2376264" cy="9211287"/>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Result(3/5)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15</a:t>
            </a:fld>
            <a:endParaRPr lang="zh-TW" altLang="en-US"/>
          </a:p>
        </p:txBody>
      </p:sp>
      <p:pic>
        <p:nvPicPr>
          <p:cNvPr id="6146" name="Picture 2"/>
          <p:cNvPicPr>
            <a:picLocks noGrp="1" noChangeAspect="1" noChangeArrowheads="1"/>
          </p:cNvPicPr>
          <p:nvPr>
            <p:ph idx="1"/>
          </p:nvPr>
        </p:nvPicPr>
        <p:blipFill>
          <a:blip r:embed="rId2" cstate="print"/>
          <a:stretch>
            <a:fillRect/>
          </a:stretch>
        </p:blipFill>
        <p:spPr bwMode="auto">
          <a:xfrm rot="5400000">
            <a:off x="1908540" y="-377459"/>
            <a:ext cx="5326919" cy="91440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Result(4/5)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16</a:t>
            </a:fld>
            <a:endParaRPr lang="zh-TW" altLang="en-US"/>
          </a:p>
        </p:txBody>
      </p:sp>
      <p:pic>
        <p:nvPicPr>
          <p:cNvPr id="8194" name="Picture 2"/>
          <p:cNvPicPr>
            <a:picLocks noGrp="1" noChangeAspect="1" noChangeArrowheads="1"/>
          </p:cNvPicPr>
          <p:nvPr>
            <p:ph idx="1"/>
          </p:nvPr>
        </p:nvPicPr>
        <p:blipFill>
          <a:blip r:embed="rId2" cstate="print"/>
          <a:stretch>
            <a:fillRect/>
          </a:stretch>
        </p:blipFill>
        <p:spPr bwMode="auto">
          <a:xfrm rot="5400000">
            <a:off x="3646462" y="-2233686"/>
            <a:ext cx="1606484" cy="8899408"/>
          </a:xfrm>
          <a:prstGeom prst="rect">
            <a:avLst/>
          </a:prstGeom>
          <a:noFill/>
          <a:ln>
            <a:noFill/>
          </a:ln>
        </p:spPr>
      </p:pic>
      <p:pic>
        <p:nvPicPr>
          <p:cNvPr id="6" name="Picture 2"/>
          <p:cNvPicPr>
            <a:picLocks noChangeAspect="1" noChangeArrowheads="1"/>
          </p:cNvPicPr>
          <p:nvPr/>
        </p:nvPicPr>
        <p:blipFill>
          <a:blip r:embed="rId3" cstate="print"/>
          <a:stretch>
            <a:fillRect/>
          </a:stretch>
        </p:blipFill>
        <p:spPr bwMode="auto">
          <a:xfrm>
            <a:off x="1331640" y="3717032"/>
            <a:ext cx="6524625" cy="2847975"/>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Result(5/5)</a:t>
            </a:r>
            <a:endParaRPr lang="zh-TW" altLang="en-US" dirty="0"/>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17</a:t>
            </a:fld>
            <a:endParaRPr lang="zh-TW" altLang="en-US"/>
          </a:p>
        </p:txBody>
      </p:sp>
      <p:pic>
        <p:nvPicPr>
          <p:cNvPr id="9219" name="Picture 3"/>
          <p:cNvPicPr>
            <a:picLocks noGrp="1" noChangeAspect="1" noChangeArrowheads="1"/>
          </p:cNvPicPr>
          <p:nvPr>
            <p:ph idx="1"/>
          </p:nvPr>
        </p:nvPicPr>
        <p:blipFill>
          <a:blip r:embed="rId2" cstate="print"/>
          <a:srcRect/>
          <a:stretch>
            <a:fillRect/>
          </a:stretch>
        </p:blipFill>
        <p:spPr bwMode="auto">
          <a:xfrm>
            <a:off x="1475656" y="1085111"/>
            <a:ext cx="6192688" cy="555614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08920"/>
            <a:ext cx="8229600" cy="1143000"/>
          </a:xfrm>
        </p:spPr>
        <p:txBody>
          <a:bodyPr/>
          <a:lstStyle/>
          <a:p>
            <a:r>
              <a:rPr lang="en-US" altLang="zh-TW" dirty="0" smtClean="0"/>
              <a:t>Thanks for your listening.</a:t>
            </a:r>
            <a:endParaRPr lang="zh-TW" altLang="en-US" dirty="0"/>
          </a:p>
        </p:txBody>
      </p:sp>
      <p:sp>
        <p:nvSpPr>
          <p:cNvPr id="3" name="投影片編號版面配置區 2"/>
          <p:cNvSpPr>
            <a:spLocks noGrp="1"/>
          </p:cNvSpPr>
          <p:nvPr>
            <p:ph type="sldNum" sz="quarter" idx="12"/>
          </p:nvPr>
        </p:nvSpPr>
        <p:spPr/>
        <p:txBody>
          <a:bodyPr/>
          <a:lstStyle/>
          <a:p>
            <a:fld id="{73DA0BB7-265A-403C-9275-D587AB510EDC}" type="slidenum">
              <a:rPr lang="zh-TW" altLang="en-US" smtClean="0"/>
              <a:pPr/>
              <a:t>18</a:t>
            </a:fld>
            <a:endParaRPr lang="zh-TW" alt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1069</TotalTime>
  <Words>969</Words>
  <Application>Microsoft Office PowerPoint</Application>
  <PresentationFormat>如螢幕大小 (4:3)</PresentationFormat>
  <Paragraphs>105</Paragraphs>
  <Slides>18</Slides>
  <Notes>1</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Predicting  the State of Cysteines Based on Sequence Information</vt:lpstr>
      <vt:lpstr>Abstract(1/2)</vt:lpstr>
      <vt:lpstr>Abstract(2/2)</vt:lpstr>
      <vt:lpstr>Support Vector Machine (SVM)</vt:lpstr>
      <vt:lpstr>投影片 5</vt:lpstr>
      <vt:lpstr>Amino Acid Composition</vt:lpstr>
      <vt:lpstr>Auto Convariance Variables</vt:lpstr>
      <vt:lpstr> Position Speciﬁc Scoring Matrix(PSSM)</vt:lpstr>
      <vt:lpstr>Annotation Information and the Number of Cysteines</vt:lpstr>
      <vt:lpstr>Performance Measures</vt:lpstr>
      <vt:lpstr>Matthews Correlation Coefﬁcient</vt:lpstr>
      <vt:lpstr>F-score</vt:lpstr>
      <vt:lpstr>Result(1/5)</vt:lpstr>
      <vt:lpstr>Result(2/5)</vt:lpstr>
      <vt:lpstr>Result(3/5)</vt:lpstr>
      <vt:lpstr>Result(4/5)</vt:lpstr>
      <vt:lpstr>Result(5/5)</vt:lpstr>
      <vt:lpstr>Thanks for your listening.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Dale</dc:creator>
  <cp:lastModifiedBy>Dale</cp:lastModifiedBy>
  <cp:revision>90</cp:revision>
  <dcterms:created xsi:type="dcterms:W3CDTF">2012-04-16T06:42:49Z</dcterms:created>
  <dcterms:modified xsi:type="dcterms:W3CDTF">2012-07-03T10:22:23Z</dcterms:modified>
</cp:coreProperties>
</file>