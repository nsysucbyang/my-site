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69" r:id="rId4"/>
    <p:sldId id="258" r:id="rId5"/>
    <p:sldId id="259" r:id="rId6"/>
    <p:sldId id="260" r:id="rId7"/>
    <p:sldId id="261" r:id="rId8"/>
    <p:sldId id="262" r:id="rId9"/>
    <p:sldId id="263" r:id="rId10"/>
    <p:sldId id="264" r:id="rId11"/>
    <p:sldId id="265" r:id="rId12"/>
    <p:sldId id="266" r:id="rId13"/>
    <p:sldId id="267" r:id="rId14"/>
    <p:sldId id="268" r:id="rId15"/>
    <p:sldId id="272" r:id="rId16"/>
    <p:sldId id="270" r:id="rId17"/>
    <p:sldId id="271" r:id="rId18"/>
    <p:sldId id="273" r:id="rId19"/>
    <p:sldId id="274" r:id="rId20"/>
    <p:sldId id="275" r:id="rId21"/>
    <p:sldId id="276" r:id="rId22"/>
    <p:sldId id="278" r:id="rId23"/>
    <p:sldId id="277" r:id="rId24"/>
    <p:sldId id="279" r:id="rId25"/>
    <p:sldId id="280" r:id="rId26"/>
    <p:sldId id="281" r:id="rId27"/>
    <p:sldId id="282" r:id="rId2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965" autoAdjust="0"/>
  </p:normalViewPr>
  <p:slideViewPr>
    <p:cSldViewPr>
      <p:cViewPr varScale="1">
        <p:scale>
          <a:sx n="59" d="100"/>
          <a:sy n="59" d="100"/>
        </p:scale>
        <p:origin x="-816"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8FA683-C9FC-4236-A72E-78EA69FF6375}" type="datetimeFigureOut">
              <a:rPr lang="zh-TW" altLang="en-US" smtClean="0"/>
              <a:pPr/>
              <a:t>2012/1/9</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E0D2277-900B-4D9F-9B0E-82CAE93305D9}"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smtClean="0"/>
              <a:t>X</a:t>
            </a:r>
            <a:r>
              <a:rPr lang="zh-TW" altLang="en-US" dirty="0" smtClean="0"/>
              <a:t>是表示獨立事件，</a:t>
            </a:r>
            <a:r>
              <a:rPr lang="en-US" altLang="zh-TW" dirty="0" smtClean="0"/>
              <a:t>Beta</a:t>
            </a:r>
            <a:r>
              <a:rPr lang="zh-TW" altLang="en-US" dirty="0" smtClean="0"/>
              <a:t>是表示這些事件的系數</a:t>
            </a:r>
            <a:endParaRPr lang="en-US" altLang="zh-TW" dirty="0" smtClean="0"/>
          </a:p>
          <a:p>
            <a:r>
              <a:rPr lang="zh-TW" altLang="en-US" dirty="0" smtClean="0"/>
              <a:t>最後的得出的</a:t>
            </a:r>
            <a:r>
              <a:rPr lang="en-US" altLang="zh-TW" dirty="0" smtClean="0"/>
              <a:t>z</a:t>
            </a:r>
            <a:r>
              <a:rPr lang="zh-TW" altLang="en-US" dirty="0" smtClean="0"/>
              <a:t>帶入</a:t>
            </a:r>
            <a:r>
              <a:rPr lang="en-US" altLang="zh-TW" dirty="0" smtClean="0"/>
              <a:t>logistic function</a:t>
            </a:r>
          </a:p>
          <a:p>
            <a:r>
              <a:rPr lang="zh-TW" altLang="en-US" dirty="0" smtClean="0"/>
              <a:t>即可得到一個介於</a:t>
            </a:r>
            <a:r>
              <a:rPr lang="en-US" altLang="zh-TW" dirty="0" smtClean="0"/>
              <a:t>0~1</a:t>
            </a:r>
            <a:r>
              <a:rPr lang="zh-TW" altLang="en-US" dirty="0" smtClean="0"/>
              <a:t>的機率</a:t>
            </a:r>
            <a:endParaRPr lang="en-US" altLang="zh-TW" dirty="0" smtClean="0"/>
          </a:p>
          <a:p>
            <a:r>
              <a:rPr lang="zh-TW" altLang="en-US" dirty="0" smtClean="0"/>
              <a:t>但是分類問題只有是或者不是兩種答案</a:t>
            </a:r>
            <a:endParaRPr lang="en-US" altLang="zh-TW" dirty="0" smtClean="0"/>
          </a:p>
          <a:p>
            <a:r>
              <a:rPr lang="zh-TW" altLang="en-US" dirty="0" smtClean="0"/>
              <a:t>這邊的做法是 將機率由高到低做排列 直到遇到一個較低值被分到另外一類 他就說比這個值低的都是另外一類 </a:t>
            </a:r>
            <a:endParaRPr lang="zh-TW" altLang="en-US" dirty="0"/>
          </a:p>
        </p:txBody>
      </p:sp>
      <p:sp>
        <p:nvSpPr>
          <p:cNvPr id="4" name="投影片編號版面配置區 3"/>
          <p:cNvSpPr>
            <a:spLocks noGrp="1"/>
          </p:cNvSpPr>
          <p:nvPr>
            <p:ph type="sldNum" sz="quarter" idx="10"/>
          </p:nvPr>
        </p:nvSpPr>
        <p:spPr/>
        <p:txBody>
          <a:bodyPr/>
          <a:lstStyle/>
          <a:p>
            <a:fld id="{6E0D2277-900B-4D9F-9B0E-82CAE93305D9}" type="slidenum">
              <a:rPr lang="zh-TW" altLang="en-US" smtClean="0"/>
              <a:pPr/>
              <a:t>6</a:t>
            </a:fld>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6E0D2277-900B-4D9F-9B0E-82CAE93305D9}" type="slidenum">
              <a:rPr lang="zh-TW" altLang="en-US" smtClean="0"/>
              <a:pPr/>
              <a:t>8</a:t>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6E0D2277-900B-4D9F-9B0E-82CAE93305D9}" type="slidenum">
              <a:rPr lang="zh-TW" altLang="en-US" smtClean="0"/>
              <a:pPr/>
              <a:t>10</a:t>
            </a:fld>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6E0D2277-900B-4D9F-9B0E-82CAE93305D9}" type="slidenum">
              <a:rPr lang="zh-TW" altLang="en-US" smtClean="0"/>
              <a:pPr/>
              <a:t>13</a:t>
            </a:fld>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sz="1200" kern="1200" baseline="0" dirty="0" smtClean="0">
                <a:solidFill>
                  <a:schemeClr val="tx1"/>
                </a:solidFill>
                <a:latin typeface="+mn-lt"/>
                <a:ea typeface="+mn-ea"/>
                <a:cs typeface="+mn-cs"/>
              </a:rPr>
              <a:t>Linear SVM suffer significantly with the projection, but BC, RBF SVM and the LR methods are less affected. From this we conclude that ds1.100pca contains useful information.</a:t>
            </a:r>
            <a:endParaRPr lang="zh-TW" altLang="en-US" dirty="0"/>
          </a:p>
        </p:txBody>
      </p:sp>
      <p:sp>
        <p:nvSpPr>
          <p:cNvPr id="4" name="投影片編號版面配置區 3"/>
          <p:cNvSpPr>
            <a:spLocks noGrp="1"/>
          </p:cNvSpPr>
          <p:nvPr>
            <p:ph type="sldNum" sz="quarter" idx="10"/>
          </p:nvPr>
        </p:nvSpPr>
        <p:spPr/>
        <p:txBody>
          <a:bodyPr/>
          <a:lstStyle/>
          <a:p>
            <a:fld id="{6E0D2277-900B-4D9F-9B0E-82CAE93305D9}" type="slidenum">
              <a:rPr lang="zh-TW" altLang="en-US" smtClean="0"/>
              <a:pPr/>
              <a:t>20</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2012/1/9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2012/1/9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2012/1/9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2012/1/9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BBEAD13-0566-4C6C-97E7-55F17F24B09F}" type="datetimeFigureOut">
              <a:rPr lang="zh-TW" altLang="en-US" smtClean="0"/>
              <a:pPr/>
              <a:t>2012/1/9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BBEAD13-0566-4C6C-97E7-55F17F24B09F}" type="datetimeFigureOut">
              <a:rPr lang="zh-TW" altLang="en-US" smtClean="0"/>
              <a:pPr/>
              <a:t>2012/1/9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BBEAD13-0566-4C6C-97E7-55F17F24B09F}" type="datetimeFigureOut">
              <a:rPr lang="zh-TW" altLang="en-US" smtClean="0"/>
              <a:pPr/>
              <a:t>2012/1/9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2012/1/9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2012/1/9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2012/1/9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2012/1/9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pPr/>
              <a:t>2012/1/9</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8.png"/><Relationship Id="rId5" Type="http://schemas.openxmlformats.org/officeDocument/2006/relationships/oleObject" Target="../embeddings/oleObject4.bin"/><Relationship Id="rId4"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5.v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7.v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vmlDrawing" Target="../drawings/vmlDrawing8.v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mlDrawing" Target="../drawings/vmlDrawing9.v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vmlDrawing" Target="../drawings/vmlDrawing10.v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vmlDrawing" Target="../drawings/vmlDrawing11.v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55576" y="1484784"/>
            <a:ext cx="7772400" cy="1470025"/>
          </a:xfrm>
        </p:spPr>
        <p:txBody>
          <a:bodyPr>
            <a:normAutofit fontScale="90000"/>
          </a:bodyPr>
          <a:lstStyle/>
          <a:p>
            <a:r>
              <a:rPr lang="en-US" altLang="zh-TW" b="1" dirty="0" smtClean="0"/>
              <a:t>Fast Robust Logistic Regression for Large Sparse Datasets with Binary Outputs</a:t>
            </a:r>
            <a:endParaRPr lang="zh-TW" altLang="en-US" dirty="0"/>
          </a:p>
        </p:txBody>
      </p:sp>
      <p:sp>
        <p:nvSpPr>
          <p:cNvPr id="3" name="副標題 2"/>
          <p:cNvSpPr>
            <a:spLocks noGrp="1"/>
          </p:cNvSpPr>
          <p:nvPr>
            <p:ph type="subTitle" idx="1"/>
          </p:nvPr>
        </p:nvSpPr>
        <p:spPr>
          <a:xfrm>
            <a:off x="1259632" y="3933056"/>
            <a:ext cx="7272808" cy="864096"/>
          </a:xfrm>
        </p:spPr>
        <p:txBody>
          <a:bodyPr>
            <a:normAutofit/>
          </a:bodyPr>
          <a:lstStyle/>
          <a:p>
            <a:r>
              <a:rPr lang="en-US" altLang="zh-TW" sz="2400" dirty="0" smtClean="0"/>
              <a:t>Ninth International Workshop on Artificial intelligence and Statistics ,January 3-6, 2003</a:t>
            </a:r>
            <a:endParaRPr lang="zh-TW" altLang="en-US" sz="2400" dirty="0"/>
          </a:p>
        </p:txBody>
      </p:sp>
      <p:sp>
        <p:nvSpPr>
          <p:cNvPr id="4" name="副標題 2"/>
          <p:cNvSpPr txBox="1">
            <a:spLocks/>
          </p:cNvSpPr>
          <p:nvPr/>
        </p:nvSpPr>
        <p:spPr>
          <a:xfrm>
            <a:off x="5292080" y="5589240"/>
            <a:ext cx="3664496" cy="936104"/>
          </a:xfrm>
          <a:prstGeom prst="rect">
            <a:avLst/>
          </a:prstGeom>
        </p:spPr>
        <p:txBody>
          <a:bodyPr vert="horz" lIns="91440" tIns="45720" rIns="91440" bIns="45720" rtlCol="0">
            <a:normAutofit/>
          </a:bodyP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altLang="zh-TW" sz="2400" b="0" i="0" u="none" strike="noStrike" kern="1200" cap="none" spc="0" normalizeH="0" baseline="0" noProof="0" dirty="0" smtClean="0">
                <a:ln>
                  <a:noFill/>
                </a:ln>
                <a:effectLst/>
                <a:uLnTx/>
                <a:uFillTx/>
                <a:latin typeface="+mn-lt"/>
                <a:ea typeface="+mn-ea"/>
                <a:cs typeface="+mn-cs"/>
              </a:rPr>
              <a:t>Presenter:</a:t>
            </a:r>
            <a:r>
              <a:rPr kumimoji="0" lang="en-US" altLang="zh-TW" sz="2400" b="0" i="0" u="none" strike="noStrike" kern="1200" cap="none" spc="0" normalizeH="0" noProof="0" dirty="0" smtClean="0">
                <a:ln>
                  <a:noFill/>
                </a:ln>
                <a:effectLst/>
                <a:uLnTx/>
                <a:uFillTx/>
                <a:latin typeface="+mn-lt"/>
                <a:ea typeface="+mn-ea"/>
                <a:cs typeface="+mn-cs"/>
              </a:rPr>
              <a:t> </a:t>
            </a:r>
            <a:r>
              <a:rPr kumimoji="0" lang="en-US" altLang="zh-TW" sz="2400" b="0" i="0" u="none" strike="noStrike" kern="1200" cap="none" spc="0" normalizeH="0" noProof="0" dirty="0" smtClean="0">
                <a:ln>
                  <a:noFill/>
                </a:ln>
                <a:effectLst/>
                <a:uLnTx/>
                <a:uFillTx/>
                <a:latin typeface="+mn-lt"/>
                <a:ea typeface="+mn-ea"/>
                <a:cs typeface="+mn-cs"/>
              </a:rPr>
              <a:t>Chen </a:t>
            </a:r>
            <a:r>
              <a:rPr kumimoji="0" lang="en-US" altLang="zh-TW" sz="2400" b="0" i="0" u="none" strike="noStrike" kern="1200" cap="none" spc="0" normalizeH="0" noProof="0" dirty="0" err="1" smtClean="0">
                <a:ln>
                  <a:noFill/>
                </a:ln>
                <a:effectLst/>
                <a:uLnTx/>
                <a:uFillTx/>
                <a:latin typeface="+mn-lt"/>
                <a:ea typeface="+mn-ea"/>
                <a:cs typeface="+mn-cs"/>
              </a:rPr>
              <a:t>Yun-Shiuan</a:t>
            </a:r>
            <a:endParaRPr kumimoji="0" lang="en-US" altLang="zh-TW" sz="2400" b="0" i="0" u="none" strike="noStrike" kern="1200" cap="none" spc="0" normalizeH="0" noProof="0" dirty="0" smtClean="0">
              <a:ln>
                <a:noFill/>
              </a:ln>
              <a:effectLst/>
              <a:uLnTx/>
              <a:uFillTx/>
              <a:latin typeface="+mn-lt"/>
              <a:ea typeface="+mn-ea"/>
              <a:cs typeface="+mn-cs"/>
            </a:endParaRPr>
          </a:p>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lang="en-US" altLang="zh-TW" sz="2400" baseline="0" dirty="0" smtClean="0"/>
              <a:t>Date:2012/1/9</a:t>
            </a:r>
            <a:endParaRPr kumimoji="0" lang="zh-TW" altLang="en-US" sz="2400" b="0" i="0" u="none" strike="noStrike" kern="1200" cap="none" spc="0" normalizeH="0" baseline="0" noProof="0" dirty="0">
              <a:ln>
                <a:noFill/>
              </a:ln>
              <a:effectLst/>
              <a:uLnTx/>
              <a:uFillTx/>
              <a:latin typeface="+mn-lt"/>
              <a:ea typeface="+mn-ea"/>
              <a:cs typeface="+mn-cs"/>
            </a:endParaRPr>
          </a:p>
        </p:txBody>
      </p:sp>
      <p:sp>
        <p:nvSpPr>
          <p:cNvPr id="5" name="副標題 2"/>
          <p:cNvSpPr txBox="1">
            <a:spLocks/>
          </p:cNvSpPr>
          <p:nvPr/>
        </p:nvSpPr>
        <p:spPr>
          <a:xfrm>
            <a:off x="1979712" y="3212976"/>
            <a:ext cx="5400600" cy="576064"/>
          </a:xfrm>
          <a:prstGeom prst="rect">
            <a:avLst/>
          </a:prstGeom>
        </p:spPr>
        <p:txBody>
          <a:bodyPr vert="horz" lIns="91440" tIns="45720" rIns="91440" bIns="45720" rtlCol="0">
            <a:normAutofit/>
          </a:bodyPr>
          <a:lstStyle/>
          <a:p>
            <a:pPr lvl="0" algn="ctr">
              <a:spcBef>
                <a:spcPct val="20000"/>
              </a:spcBef>
            </a:pPr>
            <a:r>
              <a:rPr lang="en-US" altLang="zh-TW" sz="2400" b="1" dirty="0" smtClean="0"/>
              <a:t>Paul R. </a:t>
            </a:r>
            <a:r>
              <a:rPr lang="en-US" altLang="zh-TW" sz="2400" b="1" dirty="0" err="1" smtClean="0"/>
              <a:t>Komarek</a:t>
            </a:r>
            <a:r>
              <a:rPr lang="en-US" altLang="zh-TW" sz="2400" b="1" dirty="0" smtClean="0"/>
              <a:t>, Andrew W. Moore</a:t>
            </a:r>
            <a:endParaRPr kumimoji="0" lang="zh-TW" altLang="en-US" sz="24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70000" lnSpcReduction="20000"/>
          </a:bodyPr>
          <a:lstStyle/>
          <a:p>
            <a:pPr>
              <a:buNone/>
            </a:pPr>
            <a:r>
              <a:rPr lang="en-US" altLang="zh-TW" dirty="0" smtClean="0"/>
              <a:t>		Although popular and extremely well established in mainstream statistical data analysis, logistic regression is strangely absent in the field of data mining. There are two possible explanations of this phenomenon. First, there might be an assumption that any tool which can only produce linear classification boundaries is likely to be trumped by more modern nonlinear tools. Second, there is a legitimate fear that logistic regression cannot practically scale up to the massive dataset sizes to which modern data mining tools are applied. This paper consists of an empirical examination of the first assumption, and </a:t>
            </a:r>
            <a:r>
              <a:rPr lang="fr-FR" altLang="zh-TW" dirty="0" smtClean="0"/>
              <a:t>surveys, implements and compares techniques </a:t>
            </a:r>
            <a:r>
              <a:rPr lang="en-US" altLang="zh-TW" dirty="0" smtClean="0"/>
              <a:t>by which logistic regression can be scaled to data with millions of attributes and records. Our results, on a large life sciences dataset, indicate that logistic regression can perform surprisingly well, both statistically and computationally, when compared with an array of more recent classification algorithms.</a:t>
            </a:r>
            <a:endParaRPr lang="zh-TW" altLang="en-US" dirty="0"/>
          </a:p>
        </p:txBody>
      </p:sp>
    </p:spTree>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Introduction</a:t>
            </a:r>
            <a:endParaRPr lang="zh-TW" altLang="en-US" dirty="0"/>
          </a:p>
        </p:txBody>
      </p:sp>
      <p:sp>
        <p:nvSpPr>
          <p:cNvPr id="3" name="內容版面配置區 2"/>
          <p:cNvSpPr>
            <a:spLocks noGrp="1"/>
          </p:cNvSpPr>
          <p:nvPr>
            <p:ph idx="1"/>
          </p:nvPr>
        </p:nvSpPr>
        <p:spPr/>
        <p:txBody>
          <a:bodyPr/>
          <a:lstStyle/>
          <a:p>
            <a:r>
              <a:rPr lang="en-US" altLang="zh-TW" dirty="0" smtClean="0"/>
              <a:t>This paper asks a simple question:</a:t>
            </a:r>
          </a:p>
          <a:p>
            <a:pPr>
              <a:buNone/>
            </a:pPr>
            <a:r>
              <a:rPr lang="en-US" altLang="zh-TW" dirty="0" smtClean="0"/>
              <a:t>	Given the wide variety of recent classification algorithms (such as support vector machines) how does one of the oldest—logistic regression — measure up?</a:t>
            </a:r>
            <a:endParaRPr lang="zh-TW" altLang="en-US" dirty="0"/>
          </a:p>
        </p:txBody>
      </p:sp>
    </p:spTree>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Logistic Regression (LR)</a:t>
            </a:r>
            <a:endParaRPr lang="zh-TW" altLang="en-US" dirty="0"/>
          </a:p>
        </p:txBody>
      </p:sp>
      <p:sp>
        <p:nvSpPr>
          <p:cNvPr id="3" name="內容版面配置區 2"/>
          <p:cNvSpPr>
            <a:spLocks noGrp="1"/>
          </p:cNvSpPr>
          <p:nvPr>
            <p:ph idx="1"/>
          </p:nvPr>
        </p:nvSpPr>
        <p:spPr/>
        <p:txBody>
          <a:bodyPr/>
          <a:lstStyle/>
          <a:p>
            <a:r>
              <a:rPr lang="en-US" altLang="zh-TW" dirty="0" smtClean="0"/>
              <a:t>An explanation of logistic regression begins with an explanation of the logistic function, which, like probabilities, always takes on values between zero and one:</a:t>
            </a:r>
          </a:p>
          <a:p>
            <a:endParaRPr lang="zh-TW" altLang="en-US" dirty="0"/>
          </a:p>
        </p:txBody>
      </p:sp>
      <p:graphicFrame>
        <p:nvGraphicFramePr>
          <p:cNvPr id="5" name="物件 4"/>
          <p:cNvGraphicFramePr>
            <a:graphicFrameLocks noChangeAspect="1"/>
          </p:cNvGraphicFramePr>
          <p:nvPr/>
        </p:nvGraphicFramePr>
        <p:xfrm>
          <a:off x="2195736" y="3789040"/>
          <a:ext cx="4713249" cy="1440160"/>
        </p:xfrm>
        <a:graphic>
          <a:graphicData uri="http://schemas.openxmlformats.org/presentationml/2006/ole">
            <p:oleObj spid="_x0000_s1027" name="方程式" r:id="rId3" imgW="1371600" imgH="419040" progId="Equation.3">
              <p:embed/>
            </p:oleObj>
          </a:graphicData>
        </a:graphic>
      </p:graphicFrame>
    </p:spTree>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Logistic Regression (LR)</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4" name="Picture 5" descr="http://upload.wikimedia.org/wikipedia/commons/thumb/8/88/Logistic-curve.svg/320px-Logistic-curve.svg.png"/>
          <p:cNvPicPr>
            <a:picLocks noChangeAspect="1" noChangeArrowheads="1"/>
          </p:cNvPicPr>
          <p:nvPr/>
        </p:nvPicPr>
        <p:blipFill>
          <a:blip r:embed="rId2" cstate="print"/>
          <a:srcRect/>
          <a:stretch>
            <a:fillRect/>
          </a:stretch>
        </p:blipFill>
        <p:spPr bwMode="auto">
          <a:xfrm>
            <a:off x="1691680" y="1988839"/>
            <a:ext cx="5832648" cy="3882359"/>
          </a:xfrm>
          <a:prstGeom prst="rect">
            <a:avLst/>
          </a:prstGeom>
          <a:noFill/>
        </p:spPr>
      </p:pic>
    </p:spTree>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Logistic Regression (LR)</a:t>
            </a:r>
            <a:endParaRPr lang="zh-TW" altLang="en-US" dirty="0"/>
          </a:p>
        </p:txBody>
      </p:sp>
      <p:sp>
        <p:nvSpPr>
          <p:cNvPr id="3" name="內容版面配置區 2"/>
          <p:cNvSpPr>
            <a:spLocks noGrp="1"/>
          </p:cNvSpPr>
          <p:nvPr>
            <p:ph idx="1"/>
          </p:nvPr>
        </p:nvSpPr>
        <p:spPr/>
        <p:txBody>
          <a:bodyPr>
            <a:normAutofit fontScale="85000" lnSpcReduction="20000"/>
          </a:bodyPr>
          <a:lstStyle/>
          <a:p>
            <a:r>
              <a:rPr lang="en-US" altLang="zh-TW" dirty="0" smtClean="0"/>
              <a:t> </a:t>
            </a:r>
            <a:r>
              <a:rPr lang="en-US" altLang="zh-TW" i="1" dirty="0" smtClean="0"/>
              <a:t>z</a:t>
            </a:r>
            <a:r>
              <a:rPr lang="en-US" altLang="zh-TW" dirty="0" smtClean="0"/>
              <a:t> represents the exposure to some set of independent variables, while </a:t>
            </a:r>
            <a:r>
              <a:rPr lang="en-US" altLang="zh-TW" i="1" dirty="0" smtClean="0"/>
              <a:t>ƒ</a:t>
            </a:r>
            <a:r>
              <a:rPr lang="en-US" altLang="zh-TW" dirty="0" smtClean="0"/>
              <a:t>(</a:t>
            </a:r>
            <a:r>
              <a:rPr lang="en-US" altLang="zh-TW" i="1" dirty="0" smtClean="0"/>
              <a:t>z</a:t>
            </a:r>
            <a:r>
              <a:rPr lang="en-US" altLang="zh-TW" dirty="0" smtClean="0"/>
              <a:t>) represents the probability of a particular outcome, given that set of explanatory variables. </a:t>
            </a:r>
          </a:p>
          <a:p>
            <a:r>
              <a:rPr lang="en-US" altLang="zh-TW" dirty="0" smtClean="0"/>
              <a:t>The variable </a:t>
            </a:r>
            <a:r>
              <a:rPr lang="en-US" altLang="zh-TW" i="1" dirty="0" smtClean="0"/>
              <a:t>z</a:t>
            </a:r>
            <a:r>
              <a:rPr lang="en-US" altLang="zh-TW" dirty="0" smtClean="0"/>
              <a:t> is a measure of the total contribution of all the independent variables used in the model and is known as the </a:t>
            </a:r>
            <a:r>
              <a:rPr lang="en-US" altLang="zh-TW" dirty="0" err="1" smtClean="0"/>
              <a:t>logit</a:t>
            </a:r>
            <a:r>
              <a:rPr lang="en-US" altLang="zh-TW" dirty="0" smtClean="0"/>
              <a:t>.</a:t>
            </a:r>
          </a:p>
          <a:p>
            <a:r>
              <a:rPr lang="en-US" altLang="zh-TW" dirty="0" smtClean="0"/>
              <a:t>The variable </a:t>
            </a:r>
            <a:r>
              <a:rPr lang="en-US" altLang="zh-TW" i="1" dirty="0" smtClean="0"/>
              <a:t>z</a:t>
            </a:r>
            <a:r>
              <a:rPr lang="en-US" altLang="zh-TW" dirty="0" smtClean="0"/>
              <a:t> is usually defined as</a:t>
            </a:r>
          </a:p>
          <a:p>
            <a:pPr>
              <a:buNone/>
            </a:pPr>
            <a:endParaRPr lang="en-US" altLang="zh-TW" dirty="0" smtClean="0"/>
          </a:p>
          <a:p>
            <a:pPr>
              <a:buNone/>
            </a:pPr>
            <a:r>
              <a:rPr lang="en-US" altLang="zh-TW" dirty="0" smtClean="0"/>
              <a:t>  </a:t>
            </a:r>
          </a:p>
          <a:p>
            <a:pPr>
              <a:buNone/>
            </a:pPr>
            <a:r>
              <a:rPr lang="en-US" altLang="zh-TW" dirty="0" smtClean="0"/>
              <a:t> </a:t>
            </a:r>
          </a:p>
          <a:p>
            <a:pPr>
              <a:buNone/>
            </a:pPr>
            <a:endParaRPr lang="en-US" altLang="zh-TW" dirty="0" smtClean="0"/>
          </a:p>
        </p:txBody>
      </p:sp>
      <p:graphicFrame>
        <p:nvGraphicFramePr>
          <p:cNvPr id="5" name="物件 4"/>
          <p:cNvGraphicFramePr>
            <a:graphicFrameLocks noChangeAspect="1"/>
          </p:cNvGraphicFramePr>
          <p:nvPr/>
        </p:nvGraphicFramePr>
        <p:xfrm>
          <a:off x="1187624" y="4581128"/>
          <a:ext cx="7200800" cy="720080"/>
        </p:xfrm>
        <a:graphic>
          <a:graphicData uri="http://schemas.openxmlformats.org/presentationml/2006/ole">
            <p:oleObj spid="_x0000_s16387" name="方程式" r:id="rId4" imgW="2286000" imgH="228600" progId="Equation.3">
              <p:embed/>
            </p:oleObj>
          </a:graphicData>
        </a:graphic>
      </p:graphicFrame>
    </p:spTree>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Logistic Regression</a:t>
            </a:r>
            <a:endParaRPr lang="zh-TW" altLang="en-US" dirty="0"/>
          </a:p>
        </p:txBody>
      </p:sp>
      <p:sp>
        <p:nvSpPr>
          <p:cNvPr id="3" name="內容版面配置區 2"/>
          <p:cNvSpPr>
            <a:spLocks noGrp="1"/>
          </p:cNvSpPr>
          <p:nvPr>
            <p:ph idx="1"/>
          </p:nvPr>
        </p:nvSpPr>
        <p:spPr>
          <a:xfrm>
            <a:off x="457200" y="1600200"/>
            <a:ext cx="8229600" cy="4781128"/>
          </a:xfrm>
        </p:spPr>
        <p:txBody>
          <a:bodyPr>
            <a:normAutofit fontScale="92500" lnSpcReduction="20000"/>
          </a:bodyPr>
          <a:lstStyle/>
          <a:p>
            <a:r>
              <a:rPr lang="en-US" altLang="zh-TW" sz="2800" dirty="0" smtClean="0"/>
              <a:t>Logistic curve:</a:t>
            </a:r>
          </a:p>
          <a:p>
            <a:endParaRPr lang="en-US" altLang="zh-TW" sz="2800" dirty="0" smtClean="0"/>
          </a:p>
          <a:p>
            <a:endParaRPr lang="en-US" altLang="zh-TW" sz="2800" dirty="0" smtClean="0"/>
          </a:p>
          <a:p>
            <a:endParaRPr lang="en-US" altLang="zh-TW" sz="2800" dirty="0" smtClean="0"/>
          </a:p>
          <a:p>
            <a:r>
              <a:rPr lang="en-US" altLang="zh-TW" sz="2800" dirty="0" smtClean="0"/>
              <a:t>The maximum likelihood equations:</a:t>
            </a:r>
          </a:p>
          <a:p>
            <a:endParaRPr lang="en-US" altLang="zh-TW" sz="2800" dirty="0" smtClean="0"/>
          </a:p>
          <a:p>
            <a:endParaRPr lang="en-US" altLang="zh-TW" sz="2800" dirty="0" smtClean="0"/>
          </a:p>
          <a:p>
            <a:endParaRPr lang="en-US" altLang="zh-TW" sz="2800" dirty="0" smtClean="0"/>
          </a:p>
          <a:p>
            <a:endParaRPr lang="en-US" altLang="zh-TW" sz="2800" dirty="0" smtClean="0"/>
          </a:p>
          <a:p>
            <a:pPr>
              <a:buNone/>
            </a:pPr>
            <a:endParaRPr lang="en-US" altLang="zh-TW" sz="2800" dirty="0" smtClean="0"/>
          </a:p>
          <a:p>
            <a:pPr>
              <a:buNone/>
            </a:pPr>
            <a:r>
              <a:rPr lang="en-US" altLang="zh-TW" sz="2800" dirty="0" smtClean="0"/>
              <a:t>		            M: number of attributes</a:t>
            </a:r>
          </a:p>
        </p:txBody>
      </p:sp>
      <p:pic>
        <p:nvPicPr>
          <p:cNvPr id="18434" name="Picture 2"/>
          <p:cNvPicPr>
            <a:picLocks noChangeAspect="1" noChangeArrowheads="1"/>
          </p:cNvPicPr>
          <p:nvPr/>
        </p:nvPicPr>
        <p:blipFill>
          <a:blip r:embed="rId3" cstate="print"/>
          <a:srcRect/>
          <a:stretch>
            <a:fillRect/>
          </a:stretch>
        </p:blipFill>
        <p:spPr bwMode="auto">
          <a:xfrm>
            <a:off x="1619672" y="1988840"/>
            <a:ext cx="5688632" cy="1057388"/>
          </a:xfrm>
          <a:prstGeom prst="rect">
            <a:avLst/>
          </a:prstGeom>
          <a:noFill/>
          <a:ln w="9525">
            <a:noFill/>
            <a:miter lim="800000"/>
            <a:headEnd/>
            <a:tailEnd/>
          </a:ln>
        </p:spPr>
      </p:pic>
      <p:pic>
        <p:nvPicPr>
          <p:cNvPr id="18435" name="Picture 3"/>
          <p:cNvPicPr>
            <a:picLocks noChangeAspect="1" noChangeArrowheads="1"/>
          </p:cNvPicPr>
          <p:nvPr/>
        </p:nvPicPr>
        <p:blipFill>
          <a:blip r:embed="rId4" cstate="print"/>
          <a:srcRect l="2469" t="7290" r="2469" b="5236"/>
          <a:stretch>
            <a:fillRect/>
          </a:stretch>
        </p:blipFill>
        <p:spPr bwMode="auto">
          <a:xfrm>
            <a:off x="2051720" y="3717032"/>
            <a:ext cx="5256584" cy="1638416"/>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Iteratively Re-weighted Least Squares (IRLS)</a:t>
            </a:r>
            <a:endParaRPr lang="zh-TW" altLang="en-US" dirty="0"/>
          </a:p>
        </p:txBody>
      </p:sp>
      <p:graphicFrame>
        <p:nvGraphicFramePr>
          <p:cNvPr id="6" name="內容版面配置區 5"/>
          <p:cNvGraphicFramePr>
            <a:graphicFrameLocks noChangeAspect="1"/>
          </p:cNvGraphicFramePr>
          <p:nvPr>
            <p:ph idx="1"/>
          </p:nvPr>
        </p:nvGraphicFramePr>
        <p:xfrm>
          <a:off x="2051720" y="2564904"/>
          <a:ext cx="3528392" cy="1143093"/>
        </p:xfrm>
        <a:graphic>
          <a:graphicData uri="http://schemas.openxmlformats.org/presentationml/2006/ole">
            <p:oleObj spid="_x0000_s19460" name="方程式" r:id="rId4" imgW="1333440" imgH="431640" progId="Equation.3">
              <p:embed/>
            </p:oleObj>
          </a:graphicData>
        </a:graphic>
      </p:graphicFrame>
      <p:graphicFrame>
        <p:nvGraphicFramePr>
          <p:cNvPr id="7" name="物件 6"/>
          <p:cNvGraphicFramePr>
            <a:graphicFrameLocks noChangeAspect="1"/>
          </p:cNvGraphicFramePr>
          <p:nvPr/>
        </p:nvGraphicFramePr>
        <p:xfrm>
          <a:off x="1979712" y="3717032"/>
          <a:ext cx="4608512" cy="747326"/>
        </p:xfrm>
        <a:graphic>
          <a:graphicData uri="http://schemas.openxmlformats.org/presentationml/2006/ole">
            <p:oleObj spid="_x0000_s19461" name="方程式" r:id="rId5" imgW="1409400" imgH="228600" progId="Equation.3">
              <p:embed/>
            </p:oleObj>
          </a:graphicData>
        </a:graphic>
      </p:graphicFrame>
      <p:pic>
        <p:nvPicPr>
          <p:cNvPr id="19463" name="Picture 7"/>
          <p:cNvPicPr>
            <a:picLocks noChangeAspect="1" noChangeArrowheads="1"/>
          </p:cNvPicPr>
          <p:nvPr/>
        </p:nvPicPr>
        <p:blipFill>
          <a:blip r:embed="rId6" cstate="print"/>
          <a:srcRect l="884" t="9569" r="3622" b="9090"/>
          <a:stretch>
            <a:fillRect/>
          </a:stretch>
        </p:blipFill>
        <p:spPr bwMode="auto">
          <a:xfrm>
            <a:off x="1043608" y="5130522"/>
            <a:ext cx="7200800" cy="1133460"/>
          </a:xfrm>
          <a:prstGeom prst="rect">
            <a:avLst/>
          </a:prstGeom>
          <a:noFill/>
          <a:ln w="9525">
            <a:noFill/>
            <a:miter lim="800000"/>
            <a:headEnd/>
            <a:tailEnd/>
          </a:ln>
        </p:spPr>
      </p:pic>
      <p:sp>
        <p:nvSpPr>
          <p:cNvPr id="9" name="內容版面配置區 2"/>
          <p:cNvSpPr txBox="1">
            <a:spLocks/>
          </p:cNvSpPr>
          <p:nvPr/>
        </p:nvSpPr>
        <p:spPr>
          <a:xfrm>
            <a:off x="457200" y="1600200"/>
            <a:ext cx="8229600" cy="5069160"/>
          </a:xfrm>
          <a:prstGeom prst="rect">
            <a:avLst/>
          </a:prstGeom>
        </p:spPr>
        <p:txBody>
          <a:bodyPr vert="horz" lIns="91440" tIns="45720" rIns="91440" bIns="45720" rtlCol="0">
            <a:normAutofit/>
          </a:bodyPr>
          <a:lstStyle/>
          <a:p>
            <a:pPr marL="342900" lvl="0" indent="-342900">
              <a:spcBef>
                <a:spcPct val="20000"/>
              </a:spcBef>
              <a:buFont typeface="Arial" pitchFamily="34" charset="0"/>
              <a:buChar char="•"/>
            </a:pPr>
            <a:r>
              <a:rPr lang="en-US" altLang="zh-TW" sz="3200" dirty="0" smtClean="0"/>
              <a:t>We can compute </a:t>
            </a:r>
            <a:r>
              <a:rPr lang="el-GR" altLang="zh-TW" sz="3200" i="1" dirty="0" smtClean="0"/>
              <a:t>η</a:t>
            </a:r>
            <a:r>
              <a:rPr lang="en-US" altLang="zh-TW" sz="3200" i="1" baseline="-25000" dirty="0" err="1" smtClean="0"/>
              <a:t>i</a:t>
            </a:r>
            <a:r>
              <a:rPr lang="en-US" altLang="zh-TW" sz="3200" dirty="0" smtClean="0"/>
              <a:t> and update </a:t>
            </a:r>
            <a:r>
              <a:rPr lang="el-GR" altLang="zh-TW" sz="3200" i="1" dirty="0" smtClean="0"/>
              <a:t>Β</a:t>
            </a:r>
            <a:r>
              <a:rPr lang="en-US" altLang="zh-TW" sz="3200" i="1" dirty="0" smtClean="0"/>
              <a:t> </a:t>
            </a:r>
            <a:r>
              <a:rPr lang="en-US" altLang="zh-TW" sz="3200" dirty="0" smtClean="0"/>
              <a:t>by the following two equations:</a:t>
            </a:r>
          </a:p>
          <a:p>
            <a:pPr marL="342900" lvl="0" indent="-342900">
              <a:spcBef>
                <a:spcPct val="20000"/>
              </a:spcBef>
              <a:buFont typeface="Arial" pitchFamily="34" charset="0"/>
              <a:buChar char="•"/>
            </a:pPr>
            <a:endParaRPr lang="en-US" altLang="zh-TW" sz="3200" dirty="0" smtClean="0"/>
          </a:p>
          <a:p>
            <a:pPr marL="342900" lvl="0" indent="-342900">
              <a:spcBef>
                <a:spcPct val="20000"/>
              </a:spcBef>
              <a:buFont typeface="Arial" pitchFamily="34" charset="0"/>
              <a:buChar char="•"/>
            </a:pPr>
            <a:endParaRPr lang="en-US" altLang="zh-TW" sz="3200" dirty="0" smtClean="0"/>
          </a:p>
          <a:p>
            <a:pPr marL="342900" lvl="0" indent="-342900">
              <a:spcBef>
                <a:spcPct val="20000"/>
              </a:spcBef>
              <a:buFont typeface="Arial" pitchFamily="34" charset="0"/>
              <a:buChar char="•"/>
            </a:pPr>
            <a:endParaRPr lang="en-US" altLang="zh-TW" sz="3200" dirty="0" smtClean="0"/>
          </a:p>
          <a:p>
            <a:pPr marL="342900" lvl="0" indent="-342900">
              <a:spcBef>
                <a:spcPct val="20000"/>
              </a:spcBef>
              <a:buFont typeface="Arial" pitchFamily="34" charset="0"/>
              <a:buChar char="•"/>
            </a:pPr>
            <a:r>
              <a:rPr lang="en-US" altLang="zh-TW" sz="3200" dirty="0" smtClean="0"/>
              <a:t>The stop condition:</a:t>
            </a:r>
            <a:endParaRPr kumimoji="0" lang="zh-TW" alt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Simple Algorithm</a:t>
            </a:r>
            <a:endParaRPr lang="zh-TW" altLang="en-US" dirty="0"/>
          </a:p>
        </p:txBody>
      </p:sp>
      <p:sp>
        <p:nvSpPr>
          <p:cNvPr id="3" name="內容版面配置區 2"/>
          <p:cNvSpPr>
            <a:spLocks noGrp="1"/>
          </p:cNvSpPr>
          <p:nvPr>
            <p:ph idx="1"/>
          </p:nvPr>
        </p:nvSpPr>
        <p:spPr>
          <a:xfrm>
            <a:off x="539552" y="1600201"/>
            <a:ext cx="7992888" cy="4493096"/>
          </a:xfrm>
        </p:spPr>
        <p:txBody>
          <a:bodyPr>
            <a:normAutofit/>
          </a:bodyPr>
          <a:lstStyle/>
          <a:p>
            <a:pPr>
              <a:buNone/>
            </a:pPr>
            <a:r>
              <a:rPr lang="en-US" altLang="zh-TW" sz="2800" dirty="0" smtClean="0"/>
              <a:t>1. Remove linear dependencies from the data </a:t>
            </a:r>
            <a:r>
              <a:rPr lang="en-US" altLang="zh-TW" sz="2800" b="1" dirty="0" smtClean="0"/>
              <a:t>X</a:t>
            </a:r>
          </a:p>
          <a:p>
            <a:pPr>
              <a:buNone/>
            </a:pPr>
            <a:r>
              <a:rPr lang="en-US" altLang="zh-TW" sz="2800" dirty="0" smtClean="0"/>
              <a:t>2. Rewrite equation (3) as </a:t>
            </a:r>
            <a:r>
              <a:rPr lang="en-US" altLang="zh-TW" sz="2800" i="1" dirty="0" smtClean="0"/>
              <a:t>X</a:t>
            </a:r>
            <a:r>
              <a:rPr lang="en-US" altLang="zh-TW" sz="2800" i="1" baseline="30000" dirty="0" smtClean="0"/>
              <a:t>T</a:t>
            </a:r>
            <a:r>
              <a:rPr lang="en-US" altLang="zh-TW" sz="2800" i="1" dirty="0" smtClean="0"/>
              <a:t>WXB=X</a:t>
            </a:r>
            <a:r>
              <a:rPr lang="en-US" altLang="zh-TW" sz="2800" i="1" baseline="30000" dirty="0" smtClean="0"/>
              <a:t>T</a:t>
            </a:r>
            <a:r>
              <a:rPr lang="en-US" altLang="zh-TW" sz="2800" i="1" dirty="0" smtClean="0"/>
              <a:t>W</a:t>
            </a:r>
            <a:r>
              <a:rPr lang="el-GR" altLang="zh-TW" sz="2800" i="1" dirty="0" smtClean="0"/>
              <a:t>η</a:t>
            </a:r>
            <a:endParaRPr lang="en-US" altLang="zh-TW" sz="2800" i="1" dirty="0" smtClean="0"/>
          </a:p>
          <a:p>
            <a:pPr>
              <a:buNone/>
            </a:pPr>
            <a:r>
              <a:rPr lang="en-US" altLang="zh-TW" sz="2800" dirty="0" smtClean="0"/>
              <a:t>3. In each outer loop iteration, compute the </a:t>
            </a:r>
            <a:r>
              <a:rPr lang="en-US" altLang="zh-TW" sz="2800" dirty="0" err="1" smtClean="0"/>
              <a:t>Cholesky</a:t>
            </a:r>
            <a:r>
              <a:rPr lang="en-US" altLang="zh-TW" sz="2800" dirty="0" smtClean="0"/>
              <a:t> factorization </a:t>
            </a:r>
            <a:r>
              <a:rPr lang="en-US" altLang="zh-TW" sz="2800" i="1" dirty="0" smtClean="0"/>
              <a:t>LL</a:t>
            </a:r>
            <a:r>
              <a:rPr lang="en-US" altLang="zh-TW" sz="2800" i="1" baseline="30000" dirty="0" smtClean="0"/>
              <a:t>T </a:t>
            </a:r>
            <a:r>
              <a:rPr lang="en-US" altLang="zh-TW" sz="2800" dirty="0" smtClean="0"/>
              <a:t> of </a:t>
            </a:r>
            <a:r>
              <a:rPr lang="en-US" altLang="zh-TW" sz="2800" i="1" dirty="0" smtClean="0"/>
              <a:t>X</a:t>
            </a:r>
            <a:r>
              <a:rPr lang="en-US" altLang="zh-TW" sz="2800" i="1" baseline="30000" dirty="0" smtClean="0"/>
              <a:t>T</a:t>
            </a:r>
            <a:r>
              <a:rPr lang="en-US" altLang="zh-TW" sz="2800" i="1" dirty="0" smtClean="0"/>
              <a:t>WX</a:t>
            </a:r>
            <a:endParaRPr lang="en-US" altLang="zh-TW" sz="2800" b="1" i="1" dirty="0" smtClean="0"/>
          </a:p>
          <a:p>
            <a:pPr>
              <a:buNone/>
            </a:pPr>
            <a:r>
              <a:rPr lang="en-US" altLang="zh-TW" sz="2800" dirty="0" smtClean="0"/>
              <a:t>4. Solve for b using an efficient back-substitution.</a:t>
            </a:r>
          </a:p>
          <a:p>
            <a:endParaRPr lang="en-US" altLang="zh-TW" sz="2800" dirty="0" smtClean="0"/>
          </a:p>
          <a:p>
            <a:r>
              <a:rPr lang="en-US" altLang="zh-TW" sz="2800" dirty="0" smtClean="0"/>
              <a:t>Time complexity: O(min(M</a:t>
            </a:r>
            <a:r>
              <a:rPr lang="en-US" altLang="zh-TW" sz="2800" i="1" baseline="30000" dirty="0" smtClean="0"/>
              <a:t>2</a:t>
            </a:r>
            <a:r>
              <a:rPr lang="en-US" altLang="zh-TW" sz="2800" i="1" dirty="0" smtClean="0"/>
              <a:t>RF+M</a:t>
            </a:r>
            <a:r>
              <a:rPr lang="en-US" altLang="zh-TW" sz="2800" i="1" baseline="30000" dirty="0" smtClean="0"/>
              <a:t>3</a:t>
            </a:r>
            <a:r>
              <a:rPr lang="en-US" altLang="zh-TW" sz="2800" dirty="0" smtClean="0"/>
              <a:t>))</a:t>
            </a:r>
          </a:p>
          <a:p>
            <a:pPr lvl="1"/>
            <a:r>
              <a:rPr lang="en-US" altLang="zh-TW" sz="2400" dirty="0" smtClean="0"/>
              <a:t>The second term, M</a:t>
            </a:r>
            <a:r>
              <a:rPr lang="en-US" altLang="zh-TW" sz="2400" baseline="30000" dirty="0" smtClean="0"/>
              <a:t>3</a:t>
            </a:r>
            <a:r>
              <a:rPr lang="en-US" altLang="zh-TW" sz="2400" dirty="0" smtClean="0"/>
              <a:t>, represents a standard </a:t>
            </a:r>
            <a:r>
              <a:rPr lang="en-US" altLang="zh-TW" sz="2400" dirty="0" err="1" smtClean="0"/>
              <a:t>Cholesky</a:t>
            </a:r>
            <a:r>
              <a:rPr lang="en-US" altLang="zh-TW" sz="2400" dirty="0" smtClean="0"/>
              <a:t> decomposition.</a:t>
            </a:r>
          </a:p>
        </p:txBody>
      </p:sp>
    </p:spTree>
  </p:cSld>
  <p:clrMapOvr>
    <a:masterClrMapping/>
  </p:clrMapOvr>
  <p:transition>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Robust </a:t>
            </a:r>
            <a:r>
              <a:rPr lang="en-US" altLang="zh-TW" dirty="0" err="1" smtClean="0"/>
              <a:t>Cholesky</a:t>
            </a:r>
            <a:r>
              <a:rPr lang="en-US" altLang="zh-TW" dirty="0" smtClean="0"/>
              <a:t> Algorithm</a:t>
            </a:r>
            <a:endParaRPr lang="zh-TW" altLang="en-US" dirty="0"/>
          </a:p>
        </p:txBody>
      </p:sp>
      <p:sp>
        <p:nvSpPr>
          <p:cNvPr id="3" name="內容版面配置區 2"/>
          <p:cNvSpPr>
            <a:spLocks noGrp="1"/>
          </p:cNvSpPr>
          <p:nvPr>
            <p:ph idx="1"/>
          </p:nvPr>
        </p:nvSpPr>
        <p:spPr/>
        <p:txBody>
          <a:bodyPr/>
          <a:lstStyle/>
          <a:p>
            <a:r>
              <a:rPr lang="en-US" altLang="zh-TW" dirty="0" smtClean="0"/>
              <a:t>The off-diagonal entries of the </a:t>
            </a:r>
            <a:r>
              <a:rPr lang="en-US" altLang="zh-TW" dirty="0" err="1" smtClean="0"/>
              <a:t>Cholesky</a:t>
            </a:r>
            <a:r>
              <a:rPr lang="en-US" altLang="zh-TW" dirty="0" smtClean="0"/>
              <a:t> factor L may be written in closed form as:</a:t>
            </a:r>
          </a:p>
          <a:p>
            <a:endParaRPr lang="en-US" altLang="zh-TW" dirty="0" smtClean="0"/>
          </a:p>
          <a:p>
            <a:endParaRPr lang="en-US" altLang="zh-TW" dirty="0" smtClean="0"/>
          </a:p>
          <a:p>
            <a:r>
              <a:rPr lang="en-US" altLang="zh-TW" dirty="0" smtClean="0"/>
              <a:t>while the diagonal entries may be written as</a:t>
            </a:r>
            <a:endParaRPr lang="zh-TW" altLang="en-US" dirty="0"/>
          </a:p>
        </p:txBody>
      </p:sp>
      <p:pic>
        <p:nvPicPr>
          <p:cNvPr id="20482" name="Picture 2"/>
          <p:cNvPicPr>
            <a:picLocks noChangeAspect="1" noChangeArrowheads="1"/>
          </p:cNvPicPr>
          <p:nvPr/>
        </p:nvPicPr>
        <p:blipFill>
          <a:blip r:embed="rId4" cstate="print"/>
          <a:srcRect l="1233" t="10935" r="2616" b="7052"/>
          <a:stretch>
            <a:fillRect/>
          </a:stretch>
        </p:blipFill>
        <p:spPr bwMode="auto">
          <a:xfrm>
            <a:off x="1691680" y="2780928"/>
            <a:ext cx="5616624" cy="1080120"/>
          </a:xfrm>
          <a:prstGeom prst="rect">
            <a:avLst/>
          </a:prstGeom>
          <a:noFill/>
          <a:ln w="9525">
            <a:noFill/>
            <a:miter lim="800000"/>
            <a:headEnd/>
            <a:tailEnd/>
          </a:ln>
        </p:spPr>
      </p:pic>
      <p:pic>
        <p:nvPicPr>
          <p:cNvPr id="20483" name="Picture 3"/>
          <p:cNvPicPr>
            <a:picLocks noChangeAspect="1" noChangeArrowheads="1"/>
          </p:cNvPicPr>
          <p:nvPr/>
        </p:nvPicPr>
        <p:blipFill>
          <a:blip r:embed="rId5" cstate="print"/>
          <a:srcRect/>
          <a:stretch>
            <a:fillRect/>
          </a:stretch>
        </p:blipFill>
        <p:spPr bwMode="auto">
          <a:xfrm>
            <a:off x="2339752" y="4509120"/>
            <a:ext cx="4029075" cy="1343025"/>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Robust </a:t>
            </a:r>
            <a:r>
              <a:rPr lang="en-US" altLang="zh-TW" dirty="0" err="1" smtClean="0"/>
              <a:t>Cholesky</a:t>
            </a:r>
            <a:r>
              <a:rPr lang="en-US" altLang="zh-TW" dirty="0" smtClean="0"/>
              <a:t> Algorithm</a:t>
            </a:r>
            <a:endParaRPr lang="zh-TW" altLang="en-US" dirty="0"/>
          </a:p>
        </p:txBody>
      </p:sp>
      <p:sp>
        <p:nvSpPr>
          <p:cNvPr id="3" name="內容版面配置區 2"/>
          <p:cNvSpPr>
            <a:spLocks noGrp="1"/>
          </p:cNvSpPr>
          <p:nvPr>
            <p:ph idx="1"/>
          </p:nvPr>
        </p:nvSpPr>
        <p:spPr/>
        <p:txBody>
          <a:bodyPr>
            <a:normAutofit fontScale="92500" lnSpcReduction="10000"/>
          </a:bodyPr>
          <a:lstStyle/>
          <a:p>
            <a:r>
              <a:rPr lang="en-US" altLang="zh-TW" dirty="0" smtClean="0"/>
              <a:t>Our modification to the standard </a:t>
            </a:r>
            <a:r>
              <a:rPr lang="en-US" altLang="zh-TW" dirty="0" err="1" smtClean="0"/>
              <a:t>Cholesky</a:t>
            </a:r>
            <a:r>
              <a:rPr lang="en-US" altLang="zh-TW" dirty="0" smtClean="0"/>
              <a:t> decomposition, above, is nearly as simple as discarding rows and columns from the input matrix A when the associated diagonal entry is zero or not defined.</a:t>
            </a:r>
          </a:p>
          <a:p>
            <a:r>
              <a:rPr lang="en-US" altLang="zh-TW" dirty="0" smtClean="0"/>
              <a:t>Note that discarding row </a:t>
            </a:r>
            <a:r>
              <a:rPr lang="en-US" altLang="zh-TW" dirty="0" err="1" smtClean="0"/>
              <a:t>i</a:t>
            </a:r>
            <a:r>
              <a:rPr lang="en-US" altLang="zh-TW" dirty="0" smtClean="0"/>
              <a:t> and column </a:t>
            </a:r>
            <a:r>
              <a:rPr lang="en-US" altLang="zh-TW" dirty="0" err="1" smtClean="0"/>
              <a:t>i</a:t>
            </a:r>
            <a:r>
              <a:rPr lang="en-US" altLang="zh-TW" dirty="0" smtClean="0"/>
              <a:t> of A or L is equivalent to discarding attribute </a:t>
            </a:r>
            <a:r>
              <a:rPr lang="en-US" altLang="zh-TW" dirty="0" err="1" smtClean="0"/>
              <a:t>i</a:t>
            </a:r>
            <a:r>
              <a:rPr lang="en-US" altLang="zh-TW" dirty="0" smtClean="0"/>
              <a:t> from the data X.</a:t>
            </a:r>
          </a:p>
          <a:p>
            <a:r>
              <a:rPr lang="en-US" altLang="zh-TW" dirty="0" smtClean="0"/>
              <a:t>The time complexity of this method is similar to that of the Simple Algorithm.</a:t>
            </a:r>
            <a:endParaRPr lang="zh-TW" altLang="en-US" dirty="0"/>
          </a:p>
        </p:txBody>
      </p:sp>
    </p:spTree>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Stepwise Logistic Regression</a:t>
            </a:r>
            <a:endParaRPr lang="zh-TW" altLang="en-US" dirty="0"/>
          </a:p>
        </p:txBody>
      </p:sp>
      <p:sp>
        <p:nvSpPr>
          <p:cNvPr id="3" name="內容版面配置區 2"/>
          <p:cNvSpPr>
            <a:spLocks noGrp="1"/>
          </p:cNvSpPr>
          <p:nvPr>
            <p:ph idx="1"/>
          </p:nvPr>
        </p:nvSpPr>
        <p:spPr/>
        <p:txBody>
          <a:bodyPr>
            <a:normAutofit fontScale="77500" lnSpcReduction="20000"/>
          </a:bodyPr>
          <a:lstStyle/>
          <a:p>
            <a:r>
              <a:rPr lang="en-US" altLang="zh-TW" dirty="0" smtClean="0"/>
              <a:t>This procedure wraps LR’s outer loop with a basis-choosing loop. </a:t>
            </a:r>
          </a:p>
          <a:p>
            <a:pPr lvl="1"/>
            <a:r>
              <a:rPr lang="en-US" altLang="zh-TW" dirty="0" smtClean="0"/>
              <a:t>The basis-choosing step creates a subset X’</a:t>
            </a:r>
            <a:r>
              <a:rPr lang="en-US" altLang="zh-TW" baseline="-25000" dirty="0" smtClean="0"/>
              <a:t>0</a:t>
            </a:r>
            <a:r>
              <a:rPr lang="en-US" altLang="zh-TW" dirty="0" smtClean="0"/>
              <a:t> of the data X, runs the LR outer loop on this subset, and uses the result to choose a new data subset X’</a:t>
            </a:r>
            <a:r>
              <a:rPr lang="en-US" altLang="zh-TW" baseline="-25000" dirty="0" smtClean="0"/>
              <a:t>1</a:t>
            </a:r>
            <a:r>
              <a:rPr lang="en-US" altLang="zh-TW" dirty="0" smtClean="0"/>
              <a:t>.</a:t>
            </a:r>
          </a:p>
          <a:p>
            <a:pPr lvl="1"/>
            <a:r>
              <a:rPr lang="en-US" altLang="zh-TW" dirty="0" smtClean="0"/>
              <a:t>This repeats until the basis-choosing loop has met some termination criterion.</a:t>
            </a:r>
          </a:p>
          <a:p>
            <a:r>
              <a:rPr lang="en-US" altLang="zh-TW" dirty="0" smtClean="0"/>
              <a:t>The Stepwise Algorithm is attractive because no preconditioning of the data is needed, and numerical problems are handled dynamically by the basis-choosing loop.</a:t>
            </a:r>
          </a:p>
          <a:p>
            <a:r>
              <a:rPr lang="en-US" altLang="zh-TW" dirty="0" smtClean="0"/>
              <a:t>The basis-choosing step can make use of prior knowledge about the attributes, or use generic measures like information gain.</a:t>
            </a:r>
            <a:endParaRPr lang="zh-TW" altLang="en-US" dirty="0"/>
          </a:p>
        </p:txBody>
      </p:sp>
    </p:spTree>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125760"/>
            <a:ext cx="8229600" cy="1143000"/>
          </a:xfrm>
        </p:spPr>
        <p:txBody>
          <a:bodyPr>
            <a:normAutofit fontScale="90000"/>
          </a:bodyPr>
          <a:lstStyle/>
          <a:p>
            <a:r>
              <a:rPr lang="en-US" altLang="zh-TW" dirty="0" smtClean="0"/>
              <a:t>Conjugate Gradient as an Inner Loop</a:t>
            </a:r>
            <a:endParaRPr lang="zh-TW" altLang="en-US" dirty="0"/>
          </a:p>
        </p:txBody>
      </p:sp>
      <p:sp>
        <p:nvSpPr>
          <p:cNvPr id="3" name="內容版面配置區 2"/>
          <p:cNvSpPr>
            <a:spLocks noGrp="1"/>
          </p:cNvSpPr>
          <p:nvPr>
            <p:ph idx="1"/>
          </p:nvPr>
        </p:nvSpPr>
        <p:spPr>
          <a:xfrm>
            <a:off x="457200" y="1196752"/>
            <a:ext cx="8229600" cy="5400600"/>
          </a:xfrm>
        </p:spPr>
        <p:txBody>
          <a:bodyPr>
            <a:normAutofit fontScale="92500" lnSpcReduction="10000"/>
          </a:bodyPr>
          <a:lstStyle/>
          <a:p>
            <a:r>
              <a:rPr lang="en-US" altLang="zh-TW" dirty="0" smtClean="0"/>
              <a:t>By using a conjugate gradient (CG) iterative linear solver , we avoid construction of A=X</a:t>
            </a:r>
            <a:r>
              <a:rPr lang="en-US" altLang="zh-TW" baseline="30000" dirty="0" smtClean="0"/>
              <a:t>T</a:t>
            </a:r>
            <a:r>
              <a:rPr lang="en-US" altLang="zh-TW" dirty="0" smtClean="0"/>
              <a:t>WX altogether.</a:t>
            </a:r>
          </a:p>
          <a:p>
            <a:r>
              <a:rPr lang="en-US" altLang="zh-TW" dirty="0" smtClean="0"/>
              <a:t>Briefly, solving a linear system </a:t>
            </a:r>
            <a:r>
              <a:rPr lang="en-US" altLang="zh-TW" i="1" dirty="0" smtClean="0"/>
              <a:t>Ax=b</a:t>
            </a:r>
            <a:r>
              <a:rPr lang="en-US" altLang="zh-TW" dirty="0" smtClean="0"/>
              <a:t>, where </a:t>
            </a:r>
            <a:r>
              <a:rPr lang="en-US" altLang="zh-TW" i="1" dirty="0" smtClean="0"/>
              <a:t>A</a:t>
            </a:r>
            <a:r>
              <a:rPr lang="en-US" altLang="zh-TW" dirty="0" smtClean="0"/>
              <a:t> is SPD, using conjugate gradient is </a:t>
            </a:r>
            <a:r>
              <a:rPr lang="en-US" altLang="zh-TW" dirty="0" err="1" smtClean="0"/>
              <a:t>smimilar</a:t>
            </a:r>
            <a:r>
              <a:rPr lang="en-US" altLang="zh-TW" dirty="0" smtClean="0"/>
              <a:t> to minimizing the quadratic expression:</a:t>
            </a:r>
          </a:p>
          <a:p>
            <a:endParaRPr lang="en-US" altLang="zh-TW" dirty="0" smtClean="0"/>
          </a:p>
          <a:p>
            <a:pPr>
              <a:buNone/>
            </a:pPr>
            <a:endParaRPr lang="en-US" altLang="zh-TW" dirty="0" smtClean="0"/>
          </a:p>
          <a:p>
            <a:r>
              <a:rPr lang="en-US" altLang="zh-TW" dirty="0" smtClean="0"/>
              <a:t>The time complexity of the CG Algorithm is </a:t>
            </a:r>
            <a:r>
              <a:rPr lang="en-US" altLang="zh-TW" i="1" dirty="0" smtClean="0"/>
              <a:t>O(MRF*</a:t>
            </a:r>
            <a:r>
              <a:rPr lang="en-US" altLang="zh-TW" i="1" dirty="0" err="1" smtClean="0"/>
              <a:t>maxiters</a:t>
            </a:r>
            <a:r>
              <a:rPr lang="en-US" altLang="zh-TW" i="1" dirty="0" smtClean="0"/>
              <a:t>)</a:t>
            </a:r>
            <a:r>
              <a:rPr lang="en-US" altLang="zh-TW" dirty="0" smtClean="0"/>
              <a:t>, where </a:t>
            </a:r>
            <a:r>
              <a:rPr lang="en-US" altLang="zh-TW" i="1" dirty="0" err="1" smtClean="0"/>
              <a:t>maxiters</a:t>
            </a:r>
            <a:r>
              <a:rPr lang="en-US" altLang="zh-TW" dirty="0" smtClean="0"/>
              <a:t> </a:t>
            </a:r>
            <a:r>
              <a:rPr lang="en-US" altLang="zh-TW" dirty="0" err="1" smtClean="0"/>
              <a:t>iss</a:t>
            </a:r>
            <a:r>
              <a:rPr lang="en-US" altLang="zh-TW" dirty="0" smtClean="0"/>
              <a:t> a upper bound placed on the number of CG </a:t>
            </a:r>
            <a:r>
              <a:rPr lang="en-US" altLang="zh-TW" dirty="0" err="1" smtClean="0"/>
              <a:t>interations</a:t>
            </a:r>
            <a:r>
              <a:rPr lang="en-US" altLang="zh-TW" dirty="0" smtClean="0"/>
              <a:t>.</a:t>
            </a:r>
          </a:p>
        </p:txBody>
      </p:sp>
      <p:pic>
        <p:nvPicPr>
          <p:cNvPr id="21506" name="Picture 2"/>
          <p:cNvPicPr>
            <a:picLocks noChangeAspect="1" noChangeArrowheads="1"/>
          </p:cNvPicPr>
          <p:nvPr/>
        </p:nvPicPr>
        <p:blipFill>
          <a:blip r:embed="rId3" cstate="print"/>
          <a:srcRect/>
          <a:stretch>
            <a:fillRect/>
          </a:stretch>
        </p:blipFill>
        <p:spPr bwMode="auto">
          <a:xfrm>
            <a:off x="3491880" y="4005064"/>
            <a:ext cx="2088232" cy="810124"/>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Testing Data</a:t>
            </a:r>
            <a:endParaRPr lang="zh-TW" altLang="en-US" dirty="0"/>
          </a:p>
        </p:txBody>
      </p:sp>
      <p:sp>
        <p:nvSpPr>
          <p:cNvPr id="3" name="內容版面配置區 2"/>
          <p:cNvSpPr>
            <a:spLocks noGrp="1"/>
          </p:cNvSpPr>
          <p:nvPr>
            <p:ph idx="1"/>
          </p:nvPr>
        </p:nvSpPr>
        <p:spPr>
          <a:xfrm>
            <a:off x="457200" y="1340768"/>
            <a:ext cx="8229600" cy="5112568"/>
          </a:xfrm>
        </p:spPr>
        <p:txBody>
          <a:bodyPr>
            <a:normAutofit fontScale="92500"/>
          </a:bodyPr>
          <a:lstStyle/>
          <a:p>
            <a:r>
              <a:rPr lang="en-US" altLang="zh-TW" dirty="0" smtClean="0"/>
              <a:t>In this paper we report results on two large and significant datasets being used in the life sciences.</a:t>
            </a:r>
          </a:p>
          <a:p>
            <a:r>
              <a:rPr lang="en-US" altLang="zh-TW" dirty="0" smtClean="0"/>
              <a:t>Within this paper these dataset are referred to as ds1 and ds2.</a:t>
            </a:r>
          </a:p>
          <a:p>
            <a:pPr lvl="1"/>
            <a:r>
              <a:rPr lang="en-US" altLang="zh-TW" dirty="0" smtClean="0"/>
              <a:t>ds1 has approximately 6,000 binary-valued attributes and 27,000 rows</a:t>
            </a:r>
          </a:p>
          <a:p>
            <a:pPr lvl="1"/>
            <a:r>
              <a:rPr lang="en-US" altLang="zh-TW" dirty="0" smtClean="0"/>
              <a:t>ds2 has approximately 1,000,000 </a:t>
            </a:r>
            <a:r>
              <a:rPr lang="en-US" altLang="zh-TW" dirty="0" err="1" smtClean="0"/>
              <a:t>binaryvalued</a:t>
            </a:r>
            <a:r>
              <a:rPr lang="en-US" altLang="zh-TW" dirty="0" smtClean="0"/>
              <a:t> attributes and 90,000 rows. Both datasets are sparse.</a:t>
            </a:r>
          </a:p>
          <a:p>
            <a:pPr lvl="1"/>
            <a:r>
              <a:rPr lang="en-US" altLang="zh-TW" dirty="0" smtClean="0"/>
              <a:t> ds1.100pca and ds1.10pca are linear projections of ds1 to 100 and 10 dimensions, using principle component analysis (PCA).</a:t>
            </a:r>
            <a:endParaRPr lang="zh-TW" altLang="en-US" dirty="0"/>
          </a:p>
        </p:txBody>
      </p:sp>
    </p:spTree>
  </p:cSld>
  <p:clrMapOvr>
    <a:masterClrMapping/>
  </p:clrMapOvr>
  <p:transition>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Testing Data</a:t>
            </a:r>
            <a:endParaRPr lang="zh-TW" altLang="en-US" dirty="0"/>
          </a:p>
        </p:txBody>
      </p:sp>
      <p:sp>
        <p:nvSpPr>
          <p:cNvPr id="3" name="內容版面配置區 2"/>
          <p:cNvSpPr>
            <a:spLocks noGrp="1"/>
          </p:cNvSpPr>
          <p:nvPr>
            <p:ph idx="1"/>
          </p:nvPr>
        </p:nvSpPr>
        <p:spPr/>
        <p:txBody>
          <a:bodyPr/>
          <a:lstStyle/>
          <a:p>
            <a:r>
              <a:rPr lang="en-US" altLang="zh-TW" dirty="0" smtClean="0"/>
              <a:t>Experiments with ds1, ds1.100pca and ds1.10pca were performed on tux, a somewhat typical modern desktop.</a:t>
            </a:r>
            <a:endParaRPr lang="zh-TW" altLang="en-US" dirty="0"/>
          </a:p>
        </p:txBody>
      </p:sp>
    </p:spTree>
  </p:cSld>
  <p:clrMapOvr>
    <a:masterClrMapping/>
  </p:clrMapOvr>
  <p:transition>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Computer Specification</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22530" name="Picture 2"/>
          <p:cNvPicPr>
            <a:picLocks noChangeAspect="1" noChangeArrowheads="1"/>
          </p:cNvPicPr>
          <p:nvPr/>
        </p:nvPicPr>
        <p:blipFill>
          <a:blip r:embed="rId2" cstate="print"/>
          <a:srcRect/>
          <a:stretch>
            <a:fillRect/>
          </a:stretch>
        </p:blipFill>
        <p:spPr bwMode="auto">
          <a:xfrm>
            <a:off x="323528" y="2276872"/>
            <a:ext cx="8208912" cy="2257642"/>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Analysis</a:t>
            </a:r>
            <a:endParaRPr lang="zh-TW" altLang="en-US" dirty="0"/>
          </a:p>
        </p:txBody>
      </p:sp>
      <p:sp>
        <p:nvSpPr>
          <p:cNvPr id="3" name="內容版面配置區 2"/>
          <p:cNvSpPr>
            <a:spLocks noGrp="1"/>
          </p:cNvSpPr>
          <p:nvPr>
            <p:ph idx="1"/>
          </p:nvPr>
        </p:nvSpPr>
        <p:spPr/>
        <p:txBody>
          <a:bodyPr>
            <a:normAutofit fontScale="92500"/>
          </a:bodyPr>
          <a:lstStyle/>
          <a:p>
            <a:r>
              <a:rPr lang="en-US" altLang="zh-TW" dirty="0" smtClean="0"/>
              <a:t>To visualize the predictive performance, we use Receiver Operating Characteristic (ROC) curves.</a:t>
            </a:r>
          </a:p>
          <a:p>
            <a:r>
              <a:rPr lang="en-US" altLang="zh-TW" dirty="0" smtClean="0"/>
              <a:t>To construct these curves, we sort the dataset rows according to the probability a row is in the positive class under the logistic model. Then, starting at the graph origin, we step through the rows in order of decreasing probability, moving up one unit if the row is positive and right one unit otherwise.</a:t>
            </a:r>
            <a:endParaRPr lang="zh-TW" altLang="en-US" dirty="0"/>
          </a:p>
        </p:txBody>
      </p:sp>
    </p:spTree>
  </p:cSld>
  <p:clrMapOvr>
    <a:masterClrMapping/>
  </p:clrMapOvr>
  <p:transition>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Experimental Result (1)</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23554" name="Picture 2"/>
          <p:cNvPicPr>
            <a:picLocks noChangeAspect="1" noChangeArrowheads="1"/>
          </p:cNvPicPr>
          <p:nvPr/>
        </p:nvPicPr>
        <p:blipFill>
          <a:blip r:embed="rId2" cstate="print"/>
          <a:srcRect/>
          <a:stretch>
            <a:fillRect/>
          </a:stretch>
        </p:blipFill>
        <p:spPr bwMode="auto">
          <a:xfrm>
            <a:off x="467544" y="1700808"/>
            <a:ext cx="8225528" cy="3888432"/>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Experimental Result (1)</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24578" name="Picture 2"/>
          <p:cNvPicPr>
            <a:picLocks noChangeAspect="1" noChangeArrowheads="1"/>
          </p:cNvPicPr>
          <p:nvPr/>
        </p:nvPicPr>
        <p:blipFill>
          <a:blip r:embed="rId3" cstate="print"/>
          <a:srcRect/>
          <a:stretch>
            <a:fillRect/>
          </a:stretch>
        </p:blipFill>
        <p:spPr bwMode="auto">
          <a:xfrm>
            <a:off x="1156286" y="1268760"/>
            <a:ext cx="6728082" cy="5445224"/>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Experimental Result (2)</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25602" name="Picture 2"/>
          <p:cNvPicPr>
            <a:picLocks noChangeAspect="1" noChangeArrowheads="1"/>
          </p:cNvPicPr>
          <p:nvPr/>
        </p:nvPicPr>
        <p:blipFill>
          <a:blip r:embed="rId3" cstate="print"/>
          <a:srcRect/>
          <a:stretch>
            <a:fillRect/>
          </a:stretch>
        </p:blipFill>
        <p:spPr bwMode="auto">
          <a:xfrm>
            <a:off x="251520" y="1755090"/>
            <a:ext cx="8640960" cy="4122182"/>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116632"/>
            <a:ext cx="8229600" cy="1066130"/>
          </a:xfrm>
        </p:spPr>
        <p:txBody>
          <a:bodyPr/>
          <a:lstStyle/>
          <a:p>
            <a:r>
              <a:rPr lang="en-US" altLang="zh-TW" dirty="0" smtClean="0"/>
              <a:t>Experimental Result (2)</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26626" name="Picture 2"/>
          <p:cNvPicPr>
            <a:picLocks noChangeAspect="1" noChangeArrowheads="1"/>
          </p:cNvPicPr>
          <p:nvPr/>
        </p:nvPicPr>
        <p:blipFill>
          <a:blip r:embed="rId2" cstate="print"/>
          <a:srcRect/>
          <a:stretch>
            <a:fillRect/>
          </a:stretch>
        </p:blipFill>
        <p:spPr bwMode="auto">
          <a:xfrm>
            <a:off x="1187624" y="1196752"/>
            <a:ext cx="6840760" cy="5510350"/>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Experimental Result (3)</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28674" name="Picture 2"/>
          <p:cNvPicPr>
            <a:picLocks noChangeAspect="1" noChangeArrowheads="1"/>
          </p:cNvPicPr>
          <p:nvPr/>
        </p:nvPicPr>
        <p:blipFill>
          <a:blip r:embed="rId2" cstate="print"/>
          <a:srcRect/>
          <a:stretch>
            <a:fillRect/>
          </a:stretch>
        </p:blipFill>
        <p:spPr bwMode="auto">
          <a:xfrm>
            <a:off x="92199" y="1772816"/>
            <a:ext cx="8944297" cy="4320480"/>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116632"/>
            <a:ext cx="8229600" cy="1143000"/>
          </a:xfrm>
        </p:spPr>
        <p:txBody>
          <a:bodyPr/>
          <a:lstStyle/>
          <a:p>
            <a:r>
              <a:rPr lang="en-US" altLang="zh-TW" dirty="0" smtClean="0"/>
              <a:t>Experimental Result (3)</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27651" name="Picture 3"/>
          <p:cNvPicPr>
            <a:picLocks noChangeAspect="1" noChangeArrowheads="1"/>
          </p:cNvPicPr>
          <p:nvPr/>
        </p:nvPicPr>
        <p:blipFill>
          <a:blip r:embed="rId3" cstate="print"/>
          <a:srcRect/>
          <a:stretch>
            <a:fillRect/>
          </a:stretch>
        </p:blipFill>
        <p:spPr bwMode="auto">
          <a:xfrm>
            <a:off x="1115616" y="1052736"/>
            <a:ext cx="6912768" cy="5614238"/>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Experimental Result (4)</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29698" name="Picture 2"/>
          <p:cNvPicPr>
            <a:picLocks noChangeAspect="1" noChangeArrowheads="1"/>
          </p:cNvPicPr>
          <p:nvPr/>
        </p:nvPicPr>
        <p:blipFill>
          <a:blip r:embed="rId3" cstate="print"/>
          <a:srcRect/>
          <a:stretch>
            <a:fillRect/>
          </a:stretch>
        </p:blipFill>
        <p:spPr bwMode="auto">
          <a:xfrm>
            <a:off x="539552" y="1484784"/>
            <a:ext cx="8064896" cy="5066409"/>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Experimental Result (4)</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30722" name="Picture 2"/>
          <p:cNvPicPr>
            <a:picLocks noChangeAspect="1" noChangeArrowheads="1"/>
          </p:cNvPicPr>
          <p:nvPr/>
        </p:nvPicPr>
        <p:blipFill>
          <a:blip r:embed="rId3" cstate="print"/>
          <a:srcRect/>
          <a:stretch>
            <a:fillRect/>
          </a:stretch>
        </p:blipFill>
        <p:spPr bwMode="auto">
          <a:xfrm>
            <a:off x="1213082" y="1367780"/>
            <a:ext cx="6671286" cy="5229572"/>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31746" name="Picture 2"/>
          <p:cNvPicPr>
            <a:picLocks noChangeAspect="1" noChangeArrowheads="1"/>
          </p:cNvPicPr>
          <p:nvPr/>
        </p:nvPicPr>
        <p:blipFill>
          <a:blip r:embed="rId2" cstate="print"/>
          <a:srcRect/>
          <a:stretch>
            <a:fillRect/>
          </a:stretch>
        </p:blipFill>
        <p:spPr bwMode="auto">
          <a:xfrm>
            <a:off x="635603" y="260648"/>
            <a:ext cx="7896837" cy="6336704"/>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2348880"/>
            <a:ext cx="8640960" cy="1584176"/>
          </a:xfrm>
        </p:spPr>
        <p:txBody>
          <a:bodyPr>
            <a:normAutofit/>
          </a:bodyPr>
          <a:lstStyle/>
          <a:p>
            <a:r>
              <a:rPr lang="en-US" altLang="zh-TW" sz="6000" dirty="0" smtClean="0"/>
              <a:t>Thanks for listening!!!</a:t>
            </a:r>
            <a:endParaRPr lang="zh-TW" altLang="en-US" sz="6000" dirty="0"/>
          </a:p>
        </p:txBody>
      </p:sp>
    </p:spTree>
  </p:cSld>
  <p:clrMapOvr>
    <a:masterClrMapping/>
  </p:clrMapOvr>
  <p:transition>
    <p:cut/>
  </p:transition>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321</TotalTime>
  <Words>782</Words>
  <Application>Microsoft Office PowerPoint</Application>
  <PresentationFormat>如螢幕大小 (4:3)</PresentationFormat>
  <Paragraphs>99</Paragraphs>
  <Slides>27</Slides>
  <Notes>5</Notes>
  <HiddenSlides>0</HiddenSlides>
  <MMClips>0</MMClips>
  <ScaleCrop>false</ScaleCrop>
  <HeadingPairs>
    <vt:vector size="6" baseType="variant">
      <vt:variant>
        <vt:lpstr>佈景主題</vt:lpstr>
      </vt:variant>
      <vt:variant>
        <vt:i4>1</vt:i4>
      </vt:variant>
      <vt:variant>
        <vt:lpstr>內嵌 OLE 伺服程式</vt:lpstr>
      </vt:variant>
      <vt:variant>
        <vt:i4>1</vt:i4>
      </vt:variant>
      <vt:variant>
        <vt:lpstr>投影片標題</vt:lpstr>
      </vt:variant>
      <vt:variant>
        <vt:i4>27</vt:i4>
      </vt:variant>
    </vt:vector>
  </HeadingPairs>
  <TitlesOfParts>
    <vt:vector size="29" baseType="lpstr">
      <vt:lpstr>Office 佈景主題</vt:lpstr>
      <vt:lpstr>方程式</vt:lpstr>
      <vt:lpstr>Fast Robust Logistic Regression for Large Sparse Datasets with Binary Outputs</vt:lpstr>
      <vt:lpstr>Abstract</vt:lpstr>
      <vt:lpstr>Introduction</vt:lpstr>
      <vt:lpstr>Logistic Regression (LR)</vt:lpstr>
      <vt:lpstr>Logistic Regression (LR)</vt:lpstr>
      <vt:lpstr>Logistic Regression (LR)</vt:lpstr>
      <vt:lpstr>Logistic Regression</vt:lpstr>
      <vt:lpstr>Iteratively Re-weighted Least Squares (IRLS)</vt:lpstr>
      <vt:lpstr>Simple Algorithm</vt:lpstr>
      <vt:lpstr>Robust Cholesky Algorithm</vt:lpstr>
      <vt:lpstr>Robust Cholesky Algorithm</vt:lpstr>
      <vt:lpstr>Stepwise Logistic Regression</vt:lpstr>
      <vt:lpstr>Conjugate Gradient as an Inner Loop</vt:lpstr>
      <vt:lpstr>Testing Data</vt:lpstr>
      <vt:lpstr>Testing Data</vt:lpstr>
      <vt:lpstr>Computer Specification</vt:lpstr>
      <vt:lpstr>Analysis</vt:lpstr>
      <vt:lpstr>Experimental Result (1)</vt:lpstr>
      <vt:lpstr>Experimental Result (1)</vt:lpstr>
      <vt:lpstr>Experimental Result (2)</vt:lpstr>
      <vt:lpstr>Experimental Result (2)</vt:lpstr>
      <vt:lpstr>Experimental Result (3)</vt:lpstr>
      <vt:lpstr>Experimental Result (3)</vt:lpstr>
      <vt:lpstr>Experimental Result (4)</vt:lpstr>
      <vt:lpstr>Experimental Result (4)</vt:lpstr>
      <vt:lpstr>投影片 26</vt:lpstr>
      <vt:lpstr>Thanks for listening!!!</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Robust Logistic Regression for Large Sparse Datasets with Binary Outputs</dc:title>
  <cp:lastModifiedBy>Guest</cp:lastModifiedBy>
  <cp:revision>35</cp:revision>
  <dcterms:modified xsi:type="dcterms:W3CDTF">2012-01-09T11:15:19Z</dcterms:modified>
</cp:coreProperties>
</file>