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317" r:id="rId4"/>
    <p:sldId id="319" r:id="rId5"/>
    <p:sldId id="318" r:id="rId6"/>
    <p:sldId id="321" r:id="rId7"/>
    <p:sldId id="345" r:id="rId8"/>
    <p:sldId id="323" r:id="rId9"/>
    <p:sldId id="324" r:id="rId10"/>
    <p:sldId id="325" r:id="rId11"/>
    <p:sldId id="326" r:id="rId12"/>
    <p:sldId id="333" r:id="rId13"/>
    <p:sldId id="328" r:id="rId14"/>
    <p:sldId id="334" r:id="rId15"/>
    <p:sldId id="329" r:id="rId16"/>
    <p:sldId id="330" r:id="rId17"/>
    <p:sldId id="331" r:id="rId18"/>
    <p:sldId id="335" r:id="rId19"/>
    <p:sldId id="337" r:id="rId20"/>
    <p:sldId id="338" r:id="rId21"/>
    <p:sldId id="336" r:id="rId22"/>
    <p:sldId id="332" r:id="rId23"/>
    <p:sldId id="327" r:id="rId24"/>
    <p:sldId id="340" r:id="rId25"/>
    <p:sldId id="339" r:id="rId26"/>
    <p:sldId id="346" r:id="rId27"/>
    <p:sldId id="348" r:id="rId28"/>
    <p:sldId id="341" r:id="rId29"/>
    <p:sldId id="349" r:id="rId30"/>
    <p:sldId id="350" r:id="rId31"/>
    <p:sldId id="351" r:id="rId32"/>
    <p:sldId id="342" r:id="rId33"/>
    <p:sldId id="343" r:id="rId34"/>
    <p:sldId id="347" r:id="rId35"/>
    <p:sldId id="320" r:id="rId36"/>
    <p:sldId id="353" r:id="rId37"/>
    <p:sldId id="344" r:id="rId38"/>
    <p:sldId id="352" r:id="rId39"/>
    <p:sldId id="354" r:id="rId40"/>
    <p:sldId id="355" r:id="rId41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99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8" autoAdjust="0"/>
    <p:restoredTop sz="87980" autoAdjust="0"/>
  </p:normalViewPr>
  <p:slideViewPr>
    <p:cSldViewPr>
      <p:cViewPr varScale="1">
        <p:scale>
          <a:sx n="94" d="100"/>
          <a:sy n="94" d="100"/>
        </p:scale>
        <p:origin x="-46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EA5F3-94E4-4F7A-AC07-FCE66639B35A}" type="datetimeFigureOut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5A31A-74A8-4798-85F1-ED8970345F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0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332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Inspiration: local residues and non-local residues may use different score matrices in sequence alignment method.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382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983B07-E6C0-44B0-A1DF-D3F8570B3A4B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4CF82-A9AE-4268-9497-FFC67A3ADAA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7E79F-2CD8-4652-995A-30D8708AA0F6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2FDB3-9A8C-4355-8F1B-1FD935E6DAE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015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A1EAF-124A-4B49-B64A-5D31884DAD01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E59EC-7354-4DDD-9A8A-310C296ACDE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CED37-ECE8-42F5-B019-274C2E5FA220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5203F-7F56-456C-9DFC-64E25C44A7B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9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37288-188B-47EA-B9AA-42D254A7A84B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E3F07-97A7-4CEE-B190-0EAA322A0DC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58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488CF-25C7-4556-A866-E7916A5EFEF7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6D154-E159-48B9-A6F3-81EB04F3AB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9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D8624-7C01-4343-8368-1C1DB2C47481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24784-AD13-4080-BFAC-BA75534B03C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55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5F51A-500B-490B-8E94-1646FF6974CD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585D6-6A74-4F5F-A10A-39A26C80B8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94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65413-FF3C-49EE-B5ED-F996274A99C1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0A074-4C14-4B45-944F-53D0B7706B9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82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033490-1F26-4167-A278-3BE637647AFA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A295C-7F92-4711-840D-EE26E104FC6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1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9A3DE-63C9-4A55-BDAA-6416B4F497DB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181AC-B57B-4E63-A225-FD07A1E9EC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83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D61FF8A-780D-40FC-B99A-662A0CA5B687}" type="datetime1">
              <a:rPr lang="zh-TW" altLang="en-US" smtClean="0"/>
              <a:t>2012/1/9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0EDE5FD-EEE6-40C5-AF40-54426C020AF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140.113.239.214/~ssbon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1"/>
          <p:cNvSpPr>
            <a:spLocks noGrp="1"/>
          </p:cNvSpPr>
          <p:nvPr>
            <p:ph type="ctrTitle"/>
          </p:nvPr>
        </p:nvSpPr>
        <p:spPr>
          <a:xfrm>
            <a:off x="395536" y="692150"/>
            <a:ext cx="8424936" cy="4681066"/>
          </a:xfrm>
        </p:spPr>
        <p:txBody>
          <a:bodyPr/>
          <a:lstStyle/>
          <a:p>
            <a:pPr eaLnBrk="1" hangingPunct="1"/>
            <a: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Prediction of Disulfide Connectivity from Protein Sequences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Yu-</a:t>
            </a:r>
            <a:r>
              <a:rPr lang="en-US" altLang="zh-TW" sz="2400" dirty="0" err="1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Ching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Chen (</a:t>
            </a:r>
            <a:r>
              <a:rPr lang="zh-TW" altLang="en-US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陳玉菁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)</a:t>
            </a:r>
            <a:r>
              <a:rPr lang="zh-TW" altLang="en-US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and </a:t>
            </a:r>
            <a:r>
              <a:rPr lang="en-US" altLang="zh-TW" sz="2400" dirty="0" err="1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Jenn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-Kang Hwang (</a:t>
            </a:r>
            <a:r>
              <a:rPr lang="zh-TW" altLang="en-US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黃鎮剛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)</a:t>
            </a:r>
            <a:b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24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zh-TW" altLang="en-US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國立交通大學生物資訊所博士論文</a:t>
            </a: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, 2007</a:t>
            </a:r>
            <a:endParaRPr lang="zh-TW" altLang="en-US" sz="2200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2051" name="副標題 2"/>
          <p:cNvSpPr>
            <a:spLocks noGrp="1"/>
          </p:cNvSpPr>
          <p:nvPr>
            <p:ph type="subTitle" idx="1"/>
          </p:nvPr>
        </p:nvSpPr>
        <p:spPr>
          <a:xfrm>
            <a:off x="1331913" y="5301208"/>
            <a:ext cx="6400800" cy="576064"/>
          </a:xfrm>
        </p:spPr>
        <p:txBody>
          <a:bodyPr/>
          <a:lstStyle/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Presenter: Hong-Yu Chen</a:t>
            </a: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Date: Jan. </a:t>
            </a:r>
            <a:r>
              <a:rPr lang="en-US" altLang="zh-TW" sz="200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9,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2012</a:t>
            </a:r>
            <a:endParaRPr lang="zh-TW" altLang="en-US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84CF82-A9AE-4268-9497-FFC67A3ADAAC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disulfide bonds have great influences in stabilizing protein structures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and regulating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protein functions. At present there is a gap between protein sequences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and protein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structures; therefore, it would be a great help to predict disulfide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connectivity from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protein sequences. However, the difficulties in predicting disulfide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connectivity from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protein sequences lie in the nonlocal properties of the disulfide bridges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that involve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 pairs at large sequence separation. Although many scientists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develop various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methods to solve this problem; it is still a challenge. These methods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are limited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by the number of disulfide bonds should equal or less than five, because as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increase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disulfide bonds in proteins the number of disulfide connectivity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grows rapidly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and it is more difficult to predict disulfide connectivity.</a:t>
            </a:r>
            <a:endParaRPr lang="zh-TW" altLang="en-US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 this research, I developed a method to predict disulfide connectivity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and named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S-S predictor; it combines sequence alignment method and machine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learning method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 The searching dataset of sequence alignment are disulfide proteins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with known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structures; therefore, the advantages of this method integrate sequence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and structure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information to predict disulfide connectivity. On the other hand,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when homologs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query protein can not be found, the support vector machines are used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to solve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problem. I found some useful feature vectors in this research; such as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coupling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evolutionary information between the local sequence environments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cysteine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pairs, the </a:t>
            </a:r>
            <a:r>
              <a:rPr lang="en-US" altLang="zh-TW" sz="22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cysteines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sequence separations, and the global sequence descriptor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amino 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acid content.</a:t>
            </a:r>
            <a:endParaRPr lang="zh-TW" altLang="en-US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75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The performance of S-S predictor based on a dataset whose sequence </a:t>
                </a:r>
                <a:r>
                  <a:rPr lang="en-US" altLang="zh-TW" sz="22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identity between two proteins is lower than 30% is 0.81 and 0.84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, </a:t>
                </a:r>
                <a:r>
                  <a:rPr lang="en-US" altLang="zh-TW" sz="22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respectively. The accuracy of this method is higher than other method, </a:t>
                </a:r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and there </a:t>
                </a:r>
                <a:r>
                  <a:rPr lang="en-US" altLang="zh-TW" sz="22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no limitation on the number of disulfide bond. S-S predictor is a useful </a:t>
                </a:r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and practical </a:t>
                </a:r>
                <a:r>
                  <a:rPr lang="en-US" altLang="zh-TW" sz="22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tool to study disulfide connectivity, and the website of S-S predictor </a:t>
                </a:r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</a:t>
                </a:r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  <a:hlinkClick r:id="rId2"/>
                  </a:rPr>
                  <a:t>http</a:t>
                </a:r>
                <a:r>
                  <a:rPr lang="en-US" altLang="zh-TW" sz="22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  <a:hlinkClick r:id="rId2"/>
                  </a:rPr>
                  <a:t>://140.113.239.214/~ssbond</a:t>
                </a:r>
                <a:r>
                  <a:rPr lang="en-US" altLang="zh-TW" sz="22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  <a:endParaRPr lang="zh-TW" altLang="en-US" sz="22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5" t="-8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94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The formation of a disulfide bond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869" y="1652736"/>
            <a:ext cx="6537491" cy="44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75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Outline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Prediction of disulfide connectivity using blast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method</a:t>
            </a: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Prediction of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connectivity from protein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sequences</a:t>
            </a: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S-S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Predictor: a disulfide prediction server</a:t>
            </a:r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45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Prediction of disulfide connectivity using blast method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Sequence-to-structure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mapping techniques can be used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to identify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potential disulfide bonds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purpose of this research is to take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advantages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huge PDB data, and extracts abundant information from it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Homologous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search tool, PSI-BLAST, was used to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search evolutionarily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related disulfide proteins with PDB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structure.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Three kinds of methods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pair method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pattern method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Hybrid method</a:t>
            </a:r>
          </a:p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51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Disulfide pair method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TW" altLang="en-US" sz="220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𝜙</m:t>
                    </m:r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2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𝑑𝑒𝑛𝑜𝑡𝑒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𝑡h𝑒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𝑐𝑦𝑠𝑡𝑒𝑖𝑛𝑒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𝑝𝑎𝑖𝑟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𝑐𝑜𝑚𝑝𝑟𝑖𝑠𝑖𝑛𝑔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zh-TW" altLang="en-US" sz="220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𝑎𝑛𝑑</m:t>
                    </m:r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2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.</m:t>
                    </m:r>
                  </m:oMath>
                </a14:m>
                <a:endParaRPr lang="en-US" altLang="zh-TW" sz="22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zh-TW" altLang="en-US" sz="22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2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⨁"/>
                        <m:subHide m:val="on"/>
                        <m:supHide m:val="on"/>
                        <m:ctrlPr>
                          <a:rPr lang="en-US" altLang="zh-TW" sz="22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,</m:t>
                    </m:r>
                    <m:r>
                      <a:rPr lang="en-US" altLang="zh-TW" sz="22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𝑑𝑒𝑛𝑜𝑡𝑒𝑠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𝑎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𝑑𝑖𝑠𝑢𝑙𝑓𝑖𝑑𝑒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𝑏𝑟𝑖𝑑𝑔𝑒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𝑏𝑒𝑡𝑤𝑒𝑒𝑛</m:t>
                    </m:r>
                    <m:r>
                      <a:rPr lang="en-US" altLang="zh-TW" sz="22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zh-TW" altLang="en-US" sz="2200" i="1" dirty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i="1" dirty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i="1" dirty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𝑎𝑛𝑑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.</m:t>
                    </m:r>
                  </m:oMath>
                </a14:m>
                <a:endParaRPr lang="en-US" altLang="zh-TW" sz="22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zh-TW" altLang="en-US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2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altLang="zh-TW" sz="22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,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𝑑𝑒𝑛𝑜𝑡𝑒𝑠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𝑛𝑜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𝑑𝑖𝑠𝑢𝑙𝑓𝑖𝑑𝑒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𝑏𝑟𝑖𝑑𝑔𝑒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𝑏𝑒𝑡𝑤𝑒𝑒𝑛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zh-TW" altLang="en-US" sz="2200" i="1" dirty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i="1" dirty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i="1" dirty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𝑎𝑛𝑑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.</m:t>
                    </m:r>
                  </m:oMath>
                </a14:m>
                <a:endParaRPr lang="en-US" altLang="zh-TW" sz="22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r>
                  <a:rPr lang="en-US" altLang="zh-TW" sz="22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The connectivity </a:t>
                </a:r>
                <a:r>
                  <a:rPr lang="en-US" altLang="zh-TW" sz="22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matrix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solidFill>
                          <a:srgbClr val="FF0000"/>
                        </a:solidFill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𝑀</m:t>
                    </m:r>
                  </m:oMath>
                </a14:m>
                <a:r>
                  <a:rPr lang="en-US" altLang="zh-TW" sz="22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is </a:t>
                </a:r>
                <a:r>
                  <a:rPr lang="en-US" altLang="zh-TW" sz="2200" dirty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defined in terms of the bonding states,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 smtClean="0">
                            <a:solidFill>
                              <a:srgbClr val="FF0000"/>
                            </a:solidFill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solidFill>
                              <a:srgbClr val="FF0000"/>
                            </a:solidFill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b="0" i="1" smtClean="0">
                            <a:solidFill>
                              <a:srgbClr val="FF0000"/>
                            </a:solidFill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l-GR" altLang="zh-TW" sz="22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Θ</m:t>
                    </m:r>
                    <m:sSub>
                      <m:sSubPr>
                        <m:ctrlPr>
                          <a:rPr lang="el-GR" altLang="zh-TW" sz="22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2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TW" sz="22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, which are </a:t>
                </a:r>
                <a:r>
                  <a:rPr lang="en-US" altLang="zh-TW" sz="2200" dirty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predicted by PSI-BLAST method</a:t>
                </a:r>
                <a:r>
                  <a:rPr lang="en-US" altLang="zh-TW" sz="22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  <a:endParaRPr lang="en-US" altLang="zh-TW" sz="22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𝑝𝑞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𝑝𝑞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+1, </m:t>
                    </m:r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𝑖𝑓</m:t>
                    </m:r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Θ</m:t>
                    </m:r>
                    <m:r>
                      <a:rPr lang="en-US" altLang="zh-TW" sz="22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=⨁</m:t>
                    </m:r>
                  </m:oMath>
                </a14:m>
                <a:endParaRPr lang="en-US" altLang="zh-TW" sz="22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𝑝𝑞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2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𝑝𝑞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 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𝑖𝑓</m:t>
                    </m:r>
                    <m:r>
                      <a:rPr lang="en-US" altLang="zh-TW" sz="22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Θ</m:t>
                    </m:r>
                    <m:r>
                      <a:rPr lang="en-US" altLang="zh-TW" sz="2200" i="1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r>
                      <a:rPr lang="en-US" altLang="zh-TW" sz="220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⨂</m:t>
                    </m:r>
                  </m:oMath>
                </a14:m>
                <a:endParaRPr lang="zh-TW" altLang="en-US" sz="22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</a:p>
              <a:p>
                <a:endParaRPr lang="en-US" altLang="zh-TW" sz="22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200" b="0" i="0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max</m:t>
                    </m:r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⁡{</m:t>
                    </m:r>
                    <m:sSub>
                      <m:sSubPr>
                        <m:ctrlP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22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}</m:t>
                    </m:r>
                  </m:oMath>
                </a14:m>
                <a:r>
                  <a:rPr lang="zh-TW" altLang="en-US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taken as the prediction.</a:t>
                </a:r>
                <a:endParaRPr lang="zh-TW" altLang="en-US" sz="22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5" t="-539" r="-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58" y="4509120"/>
            <a:ext cx="1527088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058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Disulfide pattern method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The disulfide pattern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taken as a unit and can be directly predicted by PSI-BLAST method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</a:p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Homologs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of query protein can be found after PSI-BLAST;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examine homologs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to see if disulfide </a:t>
                </a:r>
                <a:r>
                  <a:rPr lang="en-US" altLang="zh-TW" sz="2400" dirty="0" err="1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cysteines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of the query protein are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all aligned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with disulfide </a:t>
                </a:r>
                <a:r>
                  <a:rPr lang="en-US" altLang="zh-TW" sz="2400" dirty="0" err="1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cysteines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of homologs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</a:p>
              <a:p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The frequency was assigned as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zh-TW" altLang="en-US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of the disulfide connectivity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pattern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𝑇</m:t>
                    </m:r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  <a:endParaRPr lang="zh-TW" altLang="en-US" sz="24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max</m:t>
                    </m:r>
                    <m:r>
                      <a:rPr lang="en-US" altLang="zh-TW" sz="24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⁡{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}</m:t>
                    </m:r>
                  </m:oMath>
                </a14:m>
                <a:r>
                  <a:rPr lang="zh-TW" altLang="en-US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taken as the prediction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  <a:endParaRPr lang="zh-TW" altLang="en-US" sz="24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58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Hybrid method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When the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connectivity of a query protein can be predicted from disulfide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 method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the disulfide pair method will be neglected.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If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whole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disulfide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cysteines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of the query protein are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not totally aligned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with homologs, the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pair method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uses disulfide pairs to present and predict disulfide connectivity.</a:t>
            </a:r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58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Dataset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SP39-ID30 – 482 sequences</a:t>
            </a:r>
          </a:p>
          <a:p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CYS040307-NR – 5913 disulfide proteins</a:t>
            </a: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5" y="2474739"/>
            <a:ext cx="7200800" cy="3640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058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Dataset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CYS090506 –</a:t>
            </a:r>
            <a:r>
              <a:rPr lang="zh-TW" altLang="en-US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15252 disulfide proteins</a:t>
            </a: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CYS090506(w) –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 order to explore the influence of residues nearby </a:t>
            </a:r>
            <a:r>
              <a:rPr lang="en-US" altLang="zh-TW" sz="22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cysteines</a:t>
            </a:r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4624"/>
            <a:ext cx="3489617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019" y="2060848"/>
            <a:ext cx="6370277" cy="3201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67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CYS090506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13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4315822" cy="2077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268760"/>
            <a:ext cx="3921533" cy="2077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490529"/>
            <a:ext cx="4176464" cy="2890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84" y="3473213"/>
            <a:ext cx="4037173" cy="2937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71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CYS090506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14</a:t>
            </a:fld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250163"/>
            <a:ext cx="3633567" cy="2943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936" y="1250163"/>
            <a:ext cx="3668520" cy="296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717032"/>
            <a:ext cx="4096246" cy="3060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052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The performance of 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three 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methods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SP39-ID30, the disulfide bond number in searching dataset is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the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same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with query protein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</a:p>
              <a:p>
                <a:r>
                  <a:rPr lang="en-US" altLang="zh-TW" sz="24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Square (</a:t>
                </a:r>
                <a:r>
                  <a:rPr lang="en-US" altLang="zh-TW" sz="1200" dirty="0">
                    <a:solidFill>
                      <a:srgbClr val="0000FF"/>
                    </a:solidFill>
                    <a:latin typeface="細明體"/>
                    <a:ea typeface="細明體"/>
                  </a:rPr>
                  <a:t>■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) represents disulfide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pair method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, </a:t>
                </a:r>
                <a:r>
                  <a:rPr lang="en-US" altLang="zh-TW" sz="2400" dirty="0" smtClean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triangle </a:t>
                </a:r>
                <a:r>
                  <a:rPr lang="en-US" altLang="zh-TW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zh-TW" sz="1200" dirty="0">
                    <a:solidFill>
                      <a:srgbClr val="9BCD00"/>
                    </a:solidFill>
                    <a:latin typeface="細明體"/>
                    <a:ea typeface="細明體"/>
                  </a:rPr>
                  <a:t>▲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) represents disulfide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pattern method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, and cross (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NewRoman"/>
                    <a:ea typeface="細明體"/>
                  </a:rPr>
                  <a:t>×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) represents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hybrid method</a:t>
                </a:r>
                <a:r>
                  <a:rPr lang="en-US" altLang="zh-TW" sz="2400" dirty="0" smtClean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.</a:t>
                </a:r>
              </a:p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                                                             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zh-TW" altLang="en-US" sz="24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15</a:t>
            </a:fld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077072"/>
            <a:ext cx="4315680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077072"/>
            <a:ext cx="4533446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71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The disulfide number in searching dataset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91264" cy="4525963"/>
              </a:xfrm>
            </p:spPr>
            <p:txBody>
              <a:bodyPr/>
              <a:lstStyle/>
              <a:p>
                <a:r>
                  <a:rPr lang="en-US" altLang="zh-TW" sz="22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Intra-B dataset</a:t>
                </a:r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and </a:t>
                </a:r>
                <a:r>
                  <a:rPr lang="en-US" altLang="zh-TW" sz="22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inter-B dataset</a:t>
                </a:r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</a:p>
              <a:p>
                <a:endParaRPr lang="en-US" altLang="zh-TW" sz="22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endParaRPr lang="en-US" altLang="zh-TW" sz="22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endParaRPr lang="en-US" altLang="zh-TW" sz="22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r>
                  <a:rPr lang="en-US" altLang="zh-TW" sz="22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Implying the existence of sub patterns in disulfide connectivity.</a:t>
                </a:r>
              </a:p>
              <a:p>
                <a:r>
                  <a:rPr lang="en-US" altLang="zh-TW" sz="2200" dirty="0">
                    <a:latin typeface="Times New Roman" pitchFamily="18" charset="0"/>
                    <a:cs typeface="Times New Roman" pitchFamily="18" charset="0"/>
                  </a:rPr>
                  <a:t>SP39-ID30</a:t>
                </a:r>
                <a:r>
                  <a:rPr lang="en-US" altLang="zh-TW" sz="2200" dirty="0" smtClean="0">
                    <a:latin typeface="Times New Roman" pitchFamily="18" charset="0"/>
                    <a:cs typeface="Times New Roman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 smtClean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cs typeface="Times New Roman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sz="2200" dirty="0" smtClean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altLang="zh-TW" sz="2200" dirty="0">
                    <a:latin typeface="細明體"/>
                    <a:ea typeface="細明體"/>
                  </a:rPr>
                  <a:t>■</a:t>
                </a:r>
                <a:r>
                  <a:rPr lang="en-US" altLang="zh-TW" sz="2200" dirty="0" smtClean="0">
                    <a:latin typeface="Times New Roman" pitchFamily="18" charset="0"/>
                    <a:ea typeface="細明體"/>
                    <a:cs typeface="Times New Roman" pitchFamily="18" charset="0"/>
                  </a:rPr>
                  <a:t>) </a:t>
                </a:r>
                <a:r>
                  <a:rPr lang="en-US" altLang="zh-TW" sz="2200" dirty="0">
                    <a:latin typeface="Times New Roman" pitchFamily="18" charset="0"/>
                    <a:ea typeface="細明體"/>
                    <a:cs typeface="Times New Roman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 smtClean="0">
                            <a:latin typeface="Cambria Math"/>
                            <a:ea typeface="細明體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/>
                            <a:ea typeface="細明體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細明體"/>
                            <a:cs typeface="Times New Roman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200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2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zh-TW" sz="2200" dirty="0">
                    <a:latin typeface="細明體"/>
                    <a:ea typeface="細明體"/>
                  </a:rPr>
                  <a:t>▲</a:t>
                </a:r>
                <a:r>
                  <a:rPr lang="en-US" altLang="zh-TW" sz="2200" dirty="0" smtClean="0">
                    <a:latin typeface="Times New Roman" pitchFamily="18" charset="0"/>
                    <a:ea typeface="細明體"/>
                    <a:cs typeface="Times New Roman" pitchFamily="18" charset="0"/>
                  </a:rPr>
                  <a:t>).</a:t>
                </a:r>
                <a:endParaRPr lang="en-US" altLang="zh-TW" sz="22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r>
                  <a:rPr lang="en-US" altLang="zh-TW" sz="22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           Intra-B dataset                                    Inter-B dataset</a:t>
                </a:r>
                <a:endParaRPr lang="en-US" altLang="zh-TW" sz="2200" dirty="0" smtClean="0">
                  <a:latin typeface="Times New Roman" pitchFamily="18" charset="0"/>
                  <a:ea typeface="細明體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91264" cy="4525963"/>
              </a:xfrm>
              <a:blipFill rotWithShape="1">
                <a:blip r:embed="rId2"/>
                <a:stretch>
                  <a:fillRect l="-809" t="-8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777656"/>
                  </p:ext>
                </p:extLst>
              </p:nvPr>
            </p:nvGraphicFramePr>
            <p:xfrm>
              <a:off x="899593" y="2060848"/>
              <a:ext cx="6192687" cy="11219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4229"/>
                    <a:gridCol w="2064229"/>
                    <a:gridCol w="2064229"/>
                  </a:tblGrid>
                  <a:tr h="325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Average accuracies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51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Intra-B dataset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0.22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0.24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51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Inter-B dataset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0.47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0.49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777656"/>
                  </p:ext>
                </p:extLst>
              </p:nvPr>
            </p:nvGraphicFramePr>
            <p:xfrm>
              <a:off x="899593" y="2060848"/>
              <a:ext cx="6192687" cy="11219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4229"/>
                    <a:gridCol w="2064229"/>
                    <a:gridCol w="2064229"/>
                  </a:tblGrid>
                  <a:tr h="390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Average accuracies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7813" r="-100000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592" t="-7813" r="-296" b="-2125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Intra-B dataset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0.22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0.24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Inter-B dataset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0.47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0.49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4437112"/>
            <a:ext cx="3888431" cy="2004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321" y="4437112"/>
            <a:ext cx="3874111" cy="1982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71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Sub patterns of KLK_PIG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17</a:t>
            </a:fld>
            <a:endParaRPr lang="zh-TW" alt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700808"/>
            <a:ext cx="7858125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71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KLK_PIG</a:t>
            </a:r>
            <a:b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4000" dirty="0" smtClean="0">
                <a:solidFill>
                  <a:srgbClr val="7030A0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26_42</a:t>
            </a:r>
            <a: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4000" dirty="0" smtClean="0">
                <a:solidFill>
                  <a:srgbClr val="00B050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121_190</a:t>
            </a:r>
            <a: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4000" dirty="0" smtClean="0">
                <a:solidFill>
                  <a:srgbClr val="0070C0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155_169</a:t>
            </a:r>
            <a:r>
              <a:rPr lang="en-US" altLang="zh-TW" sz="40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4000" dirty="0" smtClean="0">
                <a:solidFill>
                  <a:srgbClr val="FF0000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180_205</a:t>
            </a:r>
            <a:endParaRPr lang="zh-TW" altLang="en-US" sz="4000" dirty="0" smtClean="0">
              <a:solidFill>
                <a:srgbClr val="FF0000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2kaiA:</a:t>
            </a:r>
            <a:r>
              <a:rPr lang="en-US" altLang="zh-TW" sz="2200" dirty="0" smtClean="0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26_42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/>
            </a:r>
            <a:b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2kaiB:</a:t>
            </a:r>
            <a:r>
              <a:rPr lang="en-US" altLang="zh-TW" sz="2200" dirty="0">
                <a:solidFill>
                  <a:srgbClr val="00B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39_104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>
                <a:solidFill>
                  <a:srgbClr val="0070C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71_85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94_119</a:t>
            </a:r>
            <a:endParaRPr lang="en-US" altLang="zh-TW" sz="2200" dirty="0" smtClean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pl-PL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1zr0C:7_137 </a:t>
            </a:r>
            <a:r>
              <a:rPr lang="pl-PL" altLang="zh-TW" sz="2200" dirty="0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25_41</a:t>
            </a:r>
            <a:r>
              <a:rPr lang="pl-PL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109_207 </a:t>
            </a:r>
            <a:r>
              <a:rPr lang="pl-PL" altLang="zh-TW" sz="2200" dirty="0">
                <a:solidFill>
                  <a:srgbClr val="00B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116_181</a:t>
            </a:r>
            <a:r>
              <a:rPr lang="pl-PL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pl-PL" altLang="zh-TW" sz="2200" dirty="0">
                <a:solidFill>
                  <a:srgbClr val="0070C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148_162</a:t>
            </a:r>
            <a:endParaRPr lang="en-US" altLang="zh-TW" sz="2200" dirty="0" smtClean="0">
              <a:solidFill>
                <a:srgbClr val="0070C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1gvzA:7_138 </a:t>
            </a:r>
            <a:r>
              <a:rPr lang="en-US" altLang="zh-TW" sz="2200" dirty="0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26_42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>
                <a:solidFill>
                  <a:srgbClr val="0070C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149_163</a:t>
            </a:r>
            <a:endParaRPr lang="en-US" altLang="zh-TW" sz="2200" dirty="0" smtClean="0">
              <a:solidFill>
                <a:srgbClr val="0070C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18</a:t>
            </a:fld>
            <a:endParaRPr lang="zh-TW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04" y="1628801"/>
            <a:ext cx="2750826" cy="2765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628800"/>
            <a:ext cx="2689275" cy="2765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023" y="1628801"/>
            <a:ext cx="2491330" cy="276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530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Sub patterns of HGF_HUMAN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19</a:t>
            </a:fld>
            <a:endParaRPr lang="zh-TW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24" y="1700808"/>
            <a:ext cx="8070624" cy="302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530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HGF_HUMAN</a:t>
            </a:r>
            <a:br>
              <a:rPr lang="en-US" altLang="zh-TW" sz="36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3600" dirty="0" smtClean="0">
                <a:solidFill>
                  <a:srgbClr val="00B050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70_96</a:t>
            </a:r>
            <a:r>
              <a:rPr lang="en-US" altLang="zh-TW" sz="36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3600" dirty="0" smtClean="0">
                <a:solidFill>
                  <a:srgbClr val="FF0000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74_84</a:t>
            </a:r>
            <a:r>
              <a:rPr lang="en-US" altLang="zh-TW" sz="36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3600" dirty="0" smtClean="0">
                <a:solidFill>
                  <a:srgbClr val="00FFCC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128_206</a:t>
            </a:r>
            <a:r>
              <a:rPr lang="en-US" altLang="zh-TW" sz="36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3600" dirty="0" smtClean="0">
                <a:solidFill>
                  <a:srgbClr val="0070C0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149_189</a:t>
            </a:r>
            <a:r>
              <a:rPr lang="en-US" altLang="zh-TW" sz="36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3600" dirty="0" smtClean="0">
                <a:solidFill>
                  <a:srgbClr val="7030A0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177_201</a:t>
            </a:r>
            <a:endParaRPr lang="zh-TW" altLang="en-US" sz="3600" dirty="0" smtClean="0">
              <a:solidFill>
                <a:srgbClr val="7030A0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2hgfA:</a:t>
            </a:r>
            <a:r>
              <a:rPr lang="en-US" altLang="zh-TW" sz="2200" dirty="0">
                <a:solidFill>
                  <a:srgbClr val="00B05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40_66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44_54</a:t>
            </a:r>
          </a:p>
          <a:p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1gmnA:</a:t>
            </a:r>
            <a:r>
              <a:rPr lang="en-US" altLang="zh-TW" sz="2200" dirty="0">
                <a:solidFill>
                  <a:srgbClr val="0070C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112_152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140_164</a:t>
            </a:r>
          </a:p>
          <a:p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1i71A:</a:t>
            </a:r>
            <a:r>
              <a:rPr lang="en-US" altLang="zh-TW" sz="2200" dirty="0">
                <a:solidFill>
                  <a:srgbClr val="00FF99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2_79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>
                <a:solidFill>
                  <a:srgbClr val="0070C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23_62</a:t>
            </a:r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200" dirty="0">
                <a:solidFill>
                  <a:srgbClr val="7030A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51_74</a:t>
            </a:r>
            <a:endParaRPr lang="zh-TW" altLang="en-US" sz="2200" dirty="0" smtClean="0">
              <a:solidFill>
                <a:srgbClr val="7030A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20</a:t>
            </a:fld>
            <a:endParaRPr lang="zh-TW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46" y="1628800"/>
            <a:ext cx="2639194" cy="278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628800"/>
            <a:ext cx="2657078" cy="323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584" y="1628800"/>
            <a:ext cx="2277848" cy="2674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723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Discussion of sub patterns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Although the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number of disulfide bonds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and the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locations of these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bonds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within these four protein chains are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different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their protein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structures are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similar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It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also implies that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connectivity might be modified during evolution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to maintain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protein structure to keep protein function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Sub patterns of specific disulfide connectivity might carry their own structure, be modified during evolution.</a:t>
            </a:r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0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SP39-ID30. Protein-based assessment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altLang="zh-TW" sz="1200" dirty="0">
                    <a:solidFill>
                      <a:srgbClr val="000081"/>
                    </a:solidFill>
                    <a:latin typeface="細明體"/>
                    <a:ea typeface="細明體"/>
                  </a:rPr>
                  <a:t>■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), and the accuracy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solidFill>
                              <a:srgbClr val="000000"/>
                            </a:solidFill>
                            <a:latin typeface="Cambria Math"/>
                            <a:ea typeface="細明體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00000"/>
                            </a:solidFill>
                            <a:latin typeface="Cambria Math"/>
                            <a:ea typeface="細明體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000000"/>
                            </a:solidFill>
                            <a:latin typeface="Cambria Math"/>
                            <a:ea typeface="細明體"/>
                            <a:cs typeface="Times New Roman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400" i="1" dirty="0" smtClean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(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NewRoman"/>
                    <a:ea typeface="細明體"/>
                  </a:rPr>
                  <a:t>×</a:t>
                </a:r>
                <a:r>
                  <a:rPr lang="en-US" altLang="zh-TW" sz="2400" dirty="0" smtClean="0">
                    <a:solidFill>
                      <a:srgbClr val="000000"/>
                    </a:solidFill>
                    <a:latin typeface="Times New Roman" pitchFamily="18" charset="0"/>
                    <a:ea typeface="細明體"/>
                    <a:cs typeface="Times New Roman" pitchFamily="18" charset="0"/>
                  </a:rPr>
                  <a:t>)</a:t>
                </a:r>
              </a:p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        Intra-B dataset                                 Inter-B dataset</a:t>
                </a:r>
              </a:p>
              <a:p>
                <a:endParaRPr lang="en-US" altLang="zh-TW" sz="24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22</a:t>
            </a:fld>
            <a:endParaRPr lang="zh-TW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24944"/>
            <a:ext cx="4104455" cy="2182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270" y="2924945"/>
            <a:ext cx="4132662" cy="2182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58708"/>
                  </p:ext>
                </p:extLst>
              </p:nvPr>
            </p:nvGraphicFramePr>
            <p:xfrm>
              <a:off x="755576" y="5229200"/>
              <a:ext cx="684076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0190"/>
                    <a:gridCol w="1710190"/>
                    <a:gridCol w="1710190"/>
                    <a:gridCol w="1710190"/>
                  </a:tblGrid>
                  <a:tr h="325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Average accuracies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51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Intra-B dataset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0.22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0.24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0.5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51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Inter-B dataset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0.47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0.49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0.72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58708"/>
                  </p:ext>
                </p:extLst>
              </p:nvPr>
            </p:nvGraphicFramePr>
            <p:xfrm>
              <a:off x="755576" y="5229200"/>
              <a:ext cx="684076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0190"/>
                    <a:gridCol w="1710190"/>
                    <a:gridCol w="1710190"/>
                    <a:gridCol w="171019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Average accuracies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100714" t="-4762" r="-200714" b="-12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200000" t="-4762" r="-100000" b="-12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01071" t="-4762" r="-357" b="-129524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Intra-B dataset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0.22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0.24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0.5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Inter-B dataset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0.47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0.49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0.72</a:t>
                          </a:r>
                          <a:endParaRPr lang="zh-TW" altLang="en-US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1071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Performance 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of PSI-BLAST method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The performance of PSI-BLAST method on different </a:t>
            </a:r>
            <a: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dataset.</a:t>
            </a:r>
          </a:p>
          <a:p>
            <a:endParaRPr lang="en-US" altLang="zh-TW" sz="2200" dirty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  <a:p>
            <a:endParaRPr lang="en-US" altLang="zh-TW" sz="2200" dirty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CYS090506</a:t>
            </a:r>
            <a:r>
              <a:rPr lang="en-US" altLang="zh-TW" sz="2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,</a:t>
            </a:r>
            <a:r>
              <a:rPr lang="en-US" altLang="zh-TW" sz="2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TimesNewRoman"/>
              </a:rPr>
              <a:t>B=2 </a:t>
            </a:r>
            <a:r>
              <a:rPr lang="en-US" altLang="zh-TW" sz="2400" dirty="0">
                <a:solidFill>
                  <a:srgbClr val="000000"/>
                </a:solidFill>
                <a:latin typeface="TimesNewRoman"/>
              </a:rPr>
              <a:t>(</a:t>
            </a:r>
            <a:r>
              <a:rPr lang="en-US" altLang="zh-TW" sz="1200" dirty="0">
                <a:solidFill>
                  <a:srgbClr val="000081"/>
                </a:solidFill>
                <a:latin typeface="新細明體"/>
              </a:rPr>
              <a:t>◆</a:t>
            </a:r>
            <a:r>
              <a:rPr lang="en-US" altLang="zh-TW" sz="2400" dirty="0">
                <a:solidFill>
                  <a:srgbClr val="000000"/>
                </a:solidFill>
                <a:latin typeface="TimesNewRoman"/>
              </a:rPr>
              <a:t>)</a:t>
            </a:r>
            <a:r>
              <a:rPr lang="en-US" altLang="zh-TW" sz="2400" dirty="0" smtClean="0">
                <a:solidFill>
                  <a:srgbClr val="000000"/>
                </a:solidFill>
                <a:latin typeface="TimesNewRoman"/>
              </a:rPr>
              <a:t>, </a:t>
            </a:r>
            <a:r>
              <a:rPr lang="en-US" altLang="zh-TW" sz="2400" dirty="0" smtClean="0">
                <a:solidFill>
                  <a:srgbClr val="000000"/>
                </a:solidFill>
                <a:latin typeface="TimesNewRoman"/>
                <a:ea typeface="細明體"/>
              </a:rPr>
              <a:t>B=3 </a:t>
            </a:r>
            <a:r>
              <a:rPr lang="en-US" altLang="zh-TW" sz="2400" dirty="0">
                <a:solidFill>
                  <a:srgbClr val="000000"/>
                </a:solidFill>
                <a:latin typeface="TimesNewRoman"/>
              </a:rPr>
              <a:t>(</a:t>
            </a:r>
            <a:r>
              <a:rPr lang="en-US" altLang="zh-TW" sz="1200" dirty="0">
                <a:solidFill>
                  <a:srgbClr val="FF00FF"/>
                </a:solidFill>
                <a:latin typeface="細明體"/>
                <a:ea typeface="細明體"/>
              </a:rPr>
              <a:t>■</a:t>
            </a:r>
            <a:r>
              <a:rPr lang="en-US" altLang="zh-TW" sz="2400" dirty="0">
                <a:solidFill>
                  <a:srgbClr val="000000"/>
                </a:solidFill>
                <a:latin typeface="TimesNewRoman"/>
                <a:ea typeface="細明體"/>
              </a:rPr>
              <a:t>)</a:t>
            </a:r>
            <a:r>
              <a:rPr lang="en-US" altLang="zh-TW" sz="2400" dirty="0" smtClean="0">
                <a:solidFill>
                  <a:srgbClr val="000000"/>
                </a:solidFill>
                <a:latin typeface="TimesNewRoman"/>
                <a:ea typeface="細明體"/>
              </a:rPr>
              <a:t>, </a:t>
            </a:r>
            <a:r>
              <a:rPr lang="en-US" altLang="zh-TW" sz="2400" dirty="0" smtClean="0">
                <a:solidFill>
                  <a:srgbClr val="000000"/>
                </a:solidFill>
                <a:latin typeface="TimesNewRoman"/>
              </a:rPr>
              <a:t>B=4 </a:t>
            </a:r>
            <a:r>
              <a:rPr lang="en-US" altLang="zh-TW" sz="2400" dirty="0">
                <a:solidFill>
                  <a:srgbClr val="000000"/>
                </a:solidFill>
                <a:latin typeface="TimesNewRoman"/>
                <a:ea typeface="細明體"/>
              </a:rPr>
              <a:t>(</a:t>
            </a:r>
            <a:r>
              <a:rPr lang="en-US" altLang="zh-TW" sz="1200" dirty="0">
                <a:solidFill>
                  <a:srgbClr val="FFFF00"/>
                </a:solidFill>
                <a:latin typeface="細明體"/>
                <a:ea typeface="細明體"/>
              </a:rPr>
              <a:t>▲</a:t>
            </a:r>
            <a:r>
              <a:rPr lang="en-US" altLang="zh-TW" sz="2400" dirty="0" smtClean="0">
                <a:solidFill>
                  <a:srgbClr val="000000"/>
                </a:solidFill>
                <a:latin typeface="TimesNewRoman"/>
                <a:ea typeface="細明體"/>
              </a:rPr>
              <a:t>)</a:t>
            </a:r>
            <a:r>
              <a:rPr lang="en-US" altLang="zh-TW" sz="2400" dirty="0" smtClean="0">
                <a:solidFill>
                  <a:srgbClr val="000000"/>
                </a:solidFill>
                <a:latin typeface="TimesNewRoman"/>
              </a:rPr>
              <a:t>, B=5 </a:t>
            </a:r>
            <a:r>
              <a:rPr lang="en-US" altLang="zh-TW" sz="2400" dirty="0">
                <a:solidFill>
                  <a:srgbClr val="000000"/>
                </a:solidFill>
                <a:latin typeface="TimesNewRoman"/>
              </a:rPr>
              <a:t>(</a:t>
            </a:r>
            <a:r>
              <a:rPr lang="en-US" altLang="zh-TW" sz="2400" dirty="0">
                <a:solidFill>
                  <a:srgbClr val="00FFFF"/>
                </a:solidFill>
                <a:latin typeface="TimesNewRoman"/>
              </a:rPr>
              <a:t>×</a:t>
            </a:r>
            <a:r>
              <a:rPr lang="en-US" altLang="zh-TW" sz="2400" dirty="0">
                <a:solidFill>
                  <a:srgbClr val="000000"/>
                </a:solidFill>
                <a:latin typeface="TimesNewRoman"/>
              </a:rPr>
              <a:t>)</a:t>
            </a:r>
            <a:r>
              <a:rPr lang="en-US" altLang="zh-TW" sz="2400" dirty="0" smtClean="0">
                <a:solidFill>
                  <a:srgbClr val="000000"/>
                </a:solidFill>
                <a:latin typeface="TimesNewRoman"/>
              </a:rPr>
              <a:t>.</a:t>
            </a:r>
            <a:endParaRPr lang="en-US" altLang="zh-TW" sz="2200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23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2060848"/>
            <a:ext cx="9048750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077072"/>
            <a:ext cx="4392488" cy="2093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077072"/>
            <a:ext cx="4447580" cy="2110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058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performance of PSI-BLAST method according to </a:t>
            </a:r>
            <a:r>
              <a:rPr lang="en-US" altLang="zh-TW" sz="22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different </a:t>
            </a:r>
            <a:r>
              <a:rPr lang="en-US" altLang="zh-TW" sz="22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window size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2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CYS090506(w</a:t>
            </a:r>
            <a:r>
              <a:rPr lang="en-US" altLang="zh-TW" sz="22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), 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</a:rPr>
              <a:t>B=2 (</a:t>
            </a:r>
            <a:r>
              <a:rPr lang="en-US" altLang="zh-TW" sz="1100" dirty="0">
                <a:solidFill>
                  <a:srgbClr val="000081"/>
                </a:solidFill>
                <a:latin typeface="新細明體"/>
              </a:rPr>
              <a:t>◆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</a:rPr>
              <a:t>), 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  <a:ea typeface="細明體"/>
              </a:rPr>
              <a:t>B=3 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</a:rPr>
              <a:t>(</a:t>
            </a:r>
            <a:r>
              <a:rPr lang="en-US" altLang="zh-TW" sz="1100" dirty="0">
                <a:solidFill>
                  <a:srgbClr val="FF00FF"/>
                </a:solidFill>
                <a:latin typeface="細明體"/>
                <a:ea typeface="細明體"/>
              </a:rPr>
              <a:t>■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  <a:ea typeface="細明體"/>
              </a:rPr>
              <a:t>), 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</a:rPr>
              <a:t>B=4 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  <a:ea typeface="細明體"/>
              </a:rPr>
              <a:t>(</a:t>
            </a:r>
            <a:r>
              <a:rPr lang="en-US" altLang="zh-TW" sz="1100" dirty="0">
                <a:solidFill>
                  <a:srgbClr val="FFFF00"/>
                </a:solidFill>
                <a:latin typeface="細明體"/>
                <a:ea typeface="細明體"/>
              </a:rPr>
              <a:t>▲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  <a:ea typeface="細明體"/>
              </a:rPr>
              <a:t>)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</a:rPr>
              <a:t>, B=5 (</a:t>
            </a:r>
            <a:r>
              <a:rPr lang="en-US" altLang="zh-TW" sz="2000" dirty="0">
                <a:solidFill>
                  <a:srgbClr val="00FFFF"/>
                </a:solidFill>
                <a:latin typeface="TimesNewRoman"/>
              </a:rPr>
              <a:t>×</a:t>
            </a:r>
            <a:r>
              <a:rPr lang="en-US" altLang="zh-TW" sz="2000" dirty="0">
                <a:solidFill>
                  <a:srgbClr val="000000"/>
                </a:solidFill>
                <a:latin typeface="TimesNewRoman"/>
              </a:rPr>
              <a:t>).</a:t>
            </a:r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24</a:t>
            </a:fld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2420888"/>
            <a:ext cx="90297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319" y="4062621"/>
            <a:ext cx="4587319" cy="188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077073"/>
            <a:ext cx="4490315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233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Residues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nearby disulfide </a:t>
            </a:r>
            <a:r>
              <a:rPr lang="en-US" altLang="zh-TW" sz="24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cysteines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contain sufficient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information and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play an important role in disulfide bonds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forming.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Other residues carry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less related information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Therefore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the formation of disulfide connectivity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is mostly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determined on the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local residues around disulfide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cysteines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the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suitable </a:t>
            </a:r>
            <a:r>
              <a:rPr lang="en-US" altLang="zh-TW" sz="2400" dirty="0" err="1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windowsize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is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25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33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Conclusion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accuracy of PSI-BLAST method using inter-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 searching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dataset is better than using intra- B searching dataset; it reveals that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there might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exist sub patterns of specific disulfide connectivity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Local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resides and non-local residues possess different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information,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and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these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information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are complementary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.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39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Outline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Prediction of disulfide connectivity using blast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method</a:t>
            </a: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Prediction of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connectivity from protein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sequences</a:t>
            </a: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S-S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Predictor: a disulfide prediction server</a:t>
            </a:r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86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Prediction of disulfide connectivity from protein sequences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Support vector machine (SVM)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Data sets: SP39-ID30</a:t>
            </a:r>
          </a:p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Feature vectors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cysteine-cysteine coupling (S)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Cysteine-spacing patterns (D)</a:t>
            </a:r>
          </a:p>
          <a:p>
            <a:pPr lvl="1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Amino acid content (A)</a:t>
            </a:r>
          </a:p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33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The cysteine-cysteine coupling (S)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Position specific substitution matrix (PSSM)</a:t>
                </a:r>
              </a:p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zh-TW" altLang="en-US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denote the sequence window of size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2</m:t>
                    </m:r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𝑙</m:t>
                    </m:r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+1</m:t>
                    </m:r>
                  </m:oMath>
                </a14:m>
                <a:r>
                  <a:rPr lang="zh-TW" altLang="en-US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centered around the bonded cysteine at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zh-TW" altLang="en-US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position,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zh-TW" altLang="en-US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amino acid.</a:t>
                </a:r>
              </a:p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20-element vector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                               associated with the sequence window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defined, where       is the PSSM element of the amino acid type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𝑘</m:t>
                    </m:r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</a:p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The coupling between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err="1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cysteines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is computed by</a:t>
                </a:r>
              </a:p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                         where       is the PSSM element of cysteine type at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row.</a:t>
                </a:r>
                <a:endParaRPr lang="en-US" altLang="zh-TW" sz="2400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For a given disulfide pattern, </a:t>
                </a:r>
                <a:endParaRPr lang="zh-TW" altLang="en-US" sz="24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1037" b="-2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29</a:t>
            </a:fld>
            <a:endParaRPr lang="zh-TW" alt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284984"/>
            <a:ext cx="2257425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318" y="3671689"/>
            <a:ext cx="323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221" y="5699720"/>
            <a:ext cx="9048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608" y="4869160"/>
            <a:ext cx="19812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194" y="4886300"/>
            <a:ext cx="28575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461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Cysteine-spacing patterns (D)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For a given disulfide pattern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′</m:t>
                        </m:r>
                      </m:sub>
                    </m:sSub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′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</m:t>
                    </m:r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…)</m:t>
                    </m:r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,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there is an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associated cysteine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spacing pattern given by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𝑗</m:t>
                        </m:r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  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′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,…)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the sequence spacing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12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34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)</m:t>
                    </m:r>
                  </m:oMath>
                </a14:m>
                <a:endParaRPr lang="zh-TW" altLang="en-US" sz="24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461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Amino acid content (A)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𝐴</m:t>
                    </m:r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20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, </m:t>
                    </m:r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𝑤h𝑒𝑟𝑒</m:t>
                    </m:r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標楷體" pitchFamily="65" charset="-12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.</m:t>
                    </m:r>
                  </m:oMath>
                </a14:m>
                <a:endParaRPr lang="en-US" altLang="zh-TW" sz="2400" b="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the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number of occurrences of the amino acid of type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𝑘</m:t>
                    </m:r>
                    <m:r>
                      <a:rPr lang="en-US" altLang="zh-TW" sz="2400" b="0" i="0" smtClean="0">
                        <a:latin typeface="Cambria Math"/>
                        <a:ea typeface="標楷體" pitchFamily="65" charset="-120"/>
                        <a:cs typeface="Times New Roman" pitchFamily="18" charset="0"/>
                      </a:rPr>
                      <m:t>.</m:t>
                    </m:r>
                  </m:oMath>
                </a14:m>
                <a:endParaRPr lang="en-US" altLang="zh-TW" sz="24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標楷體" pitchFamily="65" charset="-12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TW" altLang="en-US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is the total number of amino acids of the query sequence.</a:t>
                </a:r>
                <a:endParaRPr lang="zh-TW" altLang="en-US" sz="24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26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249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32</a:t>
            </a:fld>
            <a:endParaRPr lang="zh-TW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153541"/>
            <a:ext cx="7419975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3732979"/>
            <a:ext cx="7419975" cy="2720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878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33</a:t>
            </a:fld>
            <a:endParaRPr lang="zh-TW" alt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98006"/>
            <a:ext cx="7200800" cy="6117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878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Outline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Prediction of disulfide connectivity using blast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method</a:t>
            </a: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Prediction of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connectivity from protein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sequences</a:t>
            </a:r>
          </a:p>
          <a:p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S-S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Predictor: a disulfide prediction server</a:t>
            </a:r>
            <a:endParaRPr lang="zh-TW" altLang="en-US" sz="2400" dirty="0" smtClean="0">
              <a:solidFill>
                <a:srgbClr val="FF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39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The flowchart of S-S Predictor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35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628800"/>
            <a:ext cx="8153400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945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SVM_GA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63272" cy="4525963"/>
              </a:xfrm>
            </p:spPr>
            <p:txBody>
              <a:bodyPr/>
              <a:lstStyle/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Feature vectors</a:t>
                </a:r>
              </a:p>
              <a:p>
                <a:pPr lvl="1"/>
                <a:r>
                  <a:rPr lang="en-US" altLang="zh-TW" sz="20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Cysteine-cysteine coupling</a:t>
                </a:r>
              </a:p>
              <a:p>
                <a:pPr lvl="1"/>
                <a:r>
                  <a:rPr lang="en-US" altLang="zh-TW" sz="20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Cysteine spacing patterns</a:t>
                </a:r>
              </a:p>
              <a:p>
                <a:pPr lvl="1"/>
                <a:r>
                  <a:rPr lang="en-US" altLang="zh-TW" sz="20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Amino acid content</a:t>
                </a:r>
              </a:p>
              <a:p>
                <a:r>
                  <a:rPr lang="en-US" altLang="zh-TW" sz="2400" dirty="0" smtClean="0">
                    <a:latin typeface="Times New Roman" pitchFamily="18" charset="0"/>
                    <a:ea typeface="DFKai-SB" pitchFamily="65" charset="-120"/>
                    <a:cs typeface="Times New Roman" pitchFamily="18" charset="0"/>
                  </a:rPr>
                  <a:t>Two </a:t>
                </a:r>
                <a:r>
                  <a:rPr lang="en-US" altLang="zh-TW" sz="2400" dirty="0">
                    <a:latin typeface="Times New Roman" pitchFamily="18" charset="0"/>
                    <a:ea typeface="DFKai-SB" pitchFamily="65" charset="-120"/>
                    <a:cs typeface="Times New Roman" pitchFamily="18" charset="0"/>
                  </a:rPr>
                  <a:t>kinds of cysteine </a:t>
                </a:r>
                <a:r>
                  <a:rPr lang="en-US" altLang="zh-TW" sz="2400" dirty="0" smtClean="0">
                    <a:latin typeface="Times New Roman" pitchFamily="18" charset="0"/>
                    <a:ea typeface="DFKai-SB" pitchFamily="65" charset="-120"/>
                    <a:cs typeface="Times New Roman" pitchFamily="18" charset="0"/>
                  </a:rPr>
                  <a:t>pairs</a:t>
                </a:r>
              </a:p>
              <a:p>
                <a:pPr lvl="1"/>
                <a:r>
                  <a:rPr lang="en-US" altLang="zh-TW" sz="2000" dirty="0" smtClean="0">
                    <a:latin typeface="Times New Roman" pitchFamily="18" charset="0"/>
                    <a:ea typeface="DFKai-SB" pitchFamily="65" charset="-120"/>
                    <a:cs typeface="Times New Roman" pitchFamily="18" charset="0"/>
                  </a:rPr>
                  <a:t>CP1 (using one cysteine pairs)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/>
                        <a:ea typeface="DFKai-SB" pitchFamily="65" charset="-120"/>
                        <a:cs typeface="Times New Roman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altLang="zh-TW" sz="16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, </m:t>
                        </m:r>
                      </m:e>
                    </m:nary>
                    <m:sSub>
                      <m:sSubPr>
                        <m:ctrlP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⨁"/>
                        <m:subHide m:val="on"/>
                        <m:supHide m:val="on"/>
                        <m:ctrlPr>
                          <a:rPr lang="en-US" altLang="zh-TW" sz="160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,</m:t>
                        </m:r>
                      </m:e>
                    </m:nary>
                    <m:sSub>
                      <m:sSubPr>
                        <m:ctrlP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altLang="zh-TW" sz="16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, </m:t>
                        </m:r>
                      </m:e>
                    </m:nary>
                    <m:sSub>
                      <m:sSubPr>
                        <m:ctrlP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altLang="zh-TW" sz="16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, </m:t>
                        </m:r>
                      </m:e>
                    </m:nary>
                    <m:sSub>
                      <m:sSubPr>
                        <m:ctrlP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hr m:val="⨁"/>
                        <m:subHide m:val="on"/>
                        <m:supHide m:val="on"/>
                        <m:ctrlPr>
                          <a:rPr lang="en-US" altLang="zh-TW" sz="160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,</m:t>
                        </m:r>
                      </m:e>
                    </m:nary>
                    <m:sSub>
                      <m:sSubPr>
                        <m:ctrlP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altLang="zh-TW" sz="160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4</m:t>
                            </m:r>
                          </m:sub>
                        </m:sSub>
                      </m:e>
                    </m:nary>
                    <m:r>
                      <a:rPr lang="en-US" altLang="zh-TW" sz="1600" b="0" i="1" smtClean="0">
                        <a:latin typeface="Cambria Math"/>
                        <a:ea typeface="DFKai-SB" pitchFamily="65" charset="-120"/>
                        <a:cs typeface="Times New Roman" pitchFamily="18" charset="0"/>
                      </a:rPr>
                      <m:t>]</m:t>
                    </m:r>
                  </m:oMath>
                </a14:m>
                <a:endParaRPr lang="en-US" altLang="zh-TW" sz="1600" dirty="0" smtClean="0">
                  <a:latin typeface="Times New Roman" pitchFamily="18" charset="0"/>
                  <a:ea typeface="DFKai-SB" pitchFamily="65" charset="-120"/>
                  <a:cs typeface="Times New Roman" pitchFamily="18" charset="0"/>
                </a:endParaRPr>
              </a:p>
              <a:p>
                <a:pPr lvl="1"/>
                <a:r>
                  <a:rPr lang="en-US" altLang="zh-TW" sz="2000" dirty="0" smtClean="0">
                    <a:solidFill>
                      <a:srgbClr val="FF0000"/>
                    </a:solidFill>
                    <a:latin typeface="Times New Roman" pitchFamily="18" charset="0"/>
                    <a:ea typeface="DFKai-SB" pitchFamily="65" charset="-120"/>
                    <a:cs typeface="Times New Roman" pitchFamily="18" charset="0"/>
                  </a:rPr>
                  <a:t>CP2 (using two cysteine pairs as a unit to display disulfide connectivity)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/>
                        <a:ea typeface="DFKai-SB" pitchFamily="65" charset="-120"/>
                        <a:cs typeface="Times New Roman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altLang="zh-TW" sz="16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  <m:nary>
                          <m:naryPr>
                            <m:chr m:val="⨂"/>
                            <m:subHide m:val="on"/>
                            <m:supHide m:val="on"/>
                            <m:ctrlPr>
                              <a:rPr lang="en-US" altLang="zh-TW" sz="16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TW" sz="1600" i="1">
                                    <a:latin typeface="Cambria Math"/>
                                    <a:ea typeface="DFKai-SB" pitchFamily="65" charset="-12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i="1">
                                    <a:latin typeface="Cambria Math"/>
                                    <a:ea typeface="DFKai-SB" pitchFamily="65" charset="-120"/>
                                    <a:cs typeface="Times New Roman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TW" sz="1600" i="1">
                                    <a:latin typeface="Cambria Math"/>
                                    <a:ea typeface="DFKai-SB" pitchFamily="65" charset="-120"/>
                                    <a:cs typeface="Times New Roman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nary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, </m:t>
                        </m:r>
                      </m:e>
                    </m:nary>
                    <m:sSub>
                      <m:sSubPr>
                        <m:ctrlP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⨁"/>
                        <m:subHide m:val="on"/>
                        <m:supHide m:val="on"/>
                        <m:ctrlPr>
                          <a:rPr lang="en-US" altLang="zh-TW" sz="16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1600" b="0" i="1" smtClean="0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nary>
                          <m:naryPr>
                            <m:chr m:val="⨁"/>
                            <m:subHide m:val="on"/>
                            <m:supHide m:val="on"/>
                            <m:ctrlPr>
                              <a:rPr lang="en-US" altLang="zh-TW" sz="1600" i="1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TW" sz="1600" i="1">
                                    <a:latin typeface="Cambria Math"/>
                                    <a:ea typeface="DFKai-SB" pitchFamily="65" charset="-12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i="1">
                                    <a:latin typeface="Cambria Math"/>
                                    <a:ea typeface="DFKai-SB" pitchFamily="65" charset="-120"/>
                                    <a:cs typeface="Times New Roman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TW" sz="1600" i="1">
                                    <a:latin typeface="Cambria Math"/>
                                    <a:ea typeface="DFKai-SB" pitchFamily="65" charset="-120"/>
                                    <a:cs typeface="Times New Roman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nary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,</m:t>
                        </m:r>
                      </m:e>
                    </m:nary>
                    <m:sSub>
                      <m:sSubPr>
                        <m:ctrlP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altLang="zh-TW" sz="16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, </m:t>
                        </m:r>
                      </m:e>
                    </m:nary>
                    <m:sSub>
                      <m:sSubPr>
                        <m:ctrlP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1600" i="1">
                            <a:latin typeface="Cambria Math"/>
                            <a:ea typeface="DFKai-SB" pitchFamily="65" charset="-12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altLang="zh-TW" sz="16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/>
                                <a:ea typeface="DFKai-SB" pitchFamily="65" charset="-12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</m:e>
                    </m:nary>
                    <m:r>
                      <a:rPr lang="en-US" altLang="zh-TW" sz="1600" i="1">
                        <a:latin typeface="Cambria Math"/>
                        <a:ea typeface="DFKai-SB" pitchFamily="65" charset="-120"/>
                        <a:cs typeface="Times New Roman" pitchFamily="18" charset="0"/>
                      </a:rPr>
                      <m:t>]</m:t>
                    </m:r>
                  </m:oMath>
                </a14:m>
                <a:endParaRPr lang="en-US" altLang="zh-TW" sz="16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  <a:p>
                <a:r>
                  <a:rPr lang="en-US" altLang="zh-TW" sz="2400" dirty="0" smtClean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Feature selection (Genetic algorithm)</a:t>
                </a:r>
                <a:endParaRPr lang="zh-TW" altLang="en-US" sz="2400" dirty="0" smtClean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07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63272" cy="4525963"/>
              </a:xfrm>
              <a:blipFill rotWithShape="1">
                <a:blip r:embed="rId2"/>
                <a:stretch>
                  <a:fillRect l="-948" t="-10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41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37</a:t>
            </a:fld>
            <a:endParaRPr lang="zh-TW" alt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834732"/>
            <a:ext cx="8208912" cy="1314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878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38</a:t>
            </a:fld>
            <a:endParaRPr lang="zh-TW" alt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88" y="500063"/>
            <a:ext cx="6829425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41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S-S Predictor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39</a:t>
            </a:fld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3861048"/>
            <a:ext cx="5400675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1268760"/>
            <a:ext cx="584835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736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2FDB3-9A8C-4355-8F1B-1FD935E6DAEE}" type="slidenum">
              <a:rPr lang="zh-TW" altLang="en-US" smtClean="0"/>
              <a:pPr>
                <a:defRPr/>
              </a:pPr>
              <a:t>40</a:t>
            </a:fld>
            <a:endParaRPr lang="zh-TW" alt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376238"/>
            <a:ext cx="6334125" cy="610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032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36960</TotalTime>
  <Words>1845</Words>
  <Application>Microsoft Office PowerPoint</Application>
  <PresentationFormat>如螢幕大小 (4:3)</PresentationFormat>
  <Paragraphs>229</Paragraphs>
  <Slides>40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1" baseType="lpstr">
      <vt:lpstr>Office 佈景主題</vt:lpstr>
      <vt:lpstr>Prediction of Disulfide Connectivity from Protein Sequences  Yu-Ching Chen (陳玉菁) and Jenn-Kang Hwang (黃鎮剛)  國立交通大學生物資訊所博士論文, 2007</vt:lpstr>
      <vt:lpstr>Abstract</vt:lpstr>
      <vt:lpstr>Abstract</vt:lpstr>
      <vt:lpstr>Abstract</vt:lpstr>
      <vt:lpstr>The formation of a disulfide bond</vt:lpstr>
      <vt:lpstr>Outline</vt:lpstr>
      <vt:lpstr>Prediction of disulfide connectivity using blast method</vt:lpstr>
      <vt:lpstr>Disulfide pair method</vt:lpstr>
      <vt:lpstr>Disulfide pattern method</vt:lpstr>
      <vt:lpstr>Hybrid method</vt:lpstr>
      <vt:lpstr>Dataset</vt:lpstr>
      <vt:lpstr>Dataset</vt:lpstr>
      <vt:lpstr>CYS090506</vt:lpstr>
      <vt:lpstr>CYS090506</vt:lpstr>
      <vt:lpstr>The performance of three methods</vt:lpstr>
      <vt:lpstr>The disulfide number in searching dataset</vt:lpstr>
      <vt:lpstr>Sub patterns of KLK_PIG</vt:lpstr>
      <vt:lpstr>KLK_PIG 26_42 121_190 155_169 180_205</vt:lpstr>
      <vt:lpstr>Sub patterns of HGF_HUMAN</vt:lpstr>
      <vt:lpstr>HGF_HUMAN 70_96 74_84 128_206 149_189 177_201</vt:lpstr>
      <vt:lpstr>Discussion of sub patterns</vt:lpstr>
      <vt:lpstr>PowerPoint 簡報</vt:lpstr>
      <vt:lpstr>Performance of PSI-BLAST method</vt:lpstr>
      <vt:lpstr>PowerPoint 簡報</vt:lpstr>
      <vt:lpstr>PowerPoint 簡報</vt:lpstr>
      <vt:lpstr>Conclusion</vt:lpstr>
      <vt:lpstr>Outline</vt:lpstr>
      <vt:lpstr>Prediction of disulfide connectivity from protein sequences</vt:lpstr>
      <vt:lpstr>The cysteine-cysteine coupling (S)</vt:lpstr>
      <vt:lpstr>Cysteine-spacing patterns (D)</vt:lpstr>
      <vt:lpstr>Amino acid content (A)</vt:lpstr>
      <vt:lpstr>PowerPoint 簡報</vt:lpstr>
      <vt:lpstr>PowerPoint 簡報</vt:lpstr>
      <vt:lpstr>Outline</vt:lpstr>
      <vt:lpstr>The flowchart of S-S Predictor</vt:lpstr>
      <vt:lpstr>SVM_GA</vt:lpstr>
      <vt:lpstr>PowerPoint 簡報</vt:lpstr>
      <vt:lpstr>PowerPoint 簡報</vt:lpstr>
      <vt:lpstr>S-S Predictor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Hong-Yu Chen</dc:creator>
  <cp:lastModifiedBy>CHY</cp:lastModifiedBy>
  <cp:revision>1086</cp:revision>
  <dcterms:created xsi:type="dcterms:W3CDTF">2010-10-17T09:22:10Z</dcterms:created>
  <dcterms:modified xsi:type="dcterms:W3CDTF">2012-01-09T10:21:58Z</dcterms:modified>
</cp:coreProperties>
</file>