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59" r:id="rId6"/>
    <p:sldId id="262" r:id="rId7"/>
    <p:sldId id="263" r:id="rId8"/>
    <p:sldId id="264" r:id="rId9"/>
    <p:sldId id="265" r:id="rId10"/>
    <p:sldId id="266" r:id="rId11"/>
    <p:sldId id="267" r:id="rId12"/>
    <p:sldId id="268" r:id="rId13"/>
    <p:sldId id="269" r:id="rId14"/>
    <p:sldId id="270" r:id="rId15"/>
    <p:sldId id="273" r:id="rId16"/>
    <p:sldId id="274" r:id="rId17"/>
    <p:sldId id="275" r:id="rId18"/>
    <p:sldId id="276" r:id="rId19"/>
    <p:sldId id="277" r:id="rId20"/>
    <p:sldId id="278" r:id="rId21"/>
    <p:sldId id="279" r:id="rId22"/>
    <p:sldId id="271" r:id="rId23"/>
    <p:sldId id="281" r:id="rId24"/>
    <p:sldId id="286" r:id="rId25"/>
    <p:sldId id="282" r:id="rId26"/>
    <p:sldId id="280" r:id="rId27"/>
    <p:sldId id="283" r:id="rId28"/>
    <p:sldId id="284" r:id="rId29"/>
    <p:sldId id="289" r:id="rId30"/>
    <p:sldId id="285" r:id="rId31"/>
    <p:sldId id="287" r:id="rId32"/>
    <p:sldId id="288" r:id="rId33"/>
    <p:sldId id="290" r:id="rId3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61" autoAdjust="0"/>
    <p:restoredTop sz="94660"/>
  </p:normalViewPr>
  <p:slideViewPr>
    <p:cSldViewPr>
      <p:cViewPr>
        <p:scale>
          <a:sx n="75" d="100"/>
          <a:sy n="75" d="100"/>
        </p:scale>
        <p:origin x="-1260"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image" Target="../media/image5.wmf"/><Relationship Id="rId7" Type="http://schemas.openxmlformats.org/officeDocument/2006/relationships/image" Target="../media/image9.wmf"/><Relationship Id="rId12" Type="http://schemas.openxmlformats.org/officeDocument/2006/relationships/image" Target="../media/image14.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11" Type="http://schemas.openxmlformats.org/officeDocument/2006/relationships/image" Target="../media/image13.wmf"/><Relationship Id="rId5" Type="http://schemas.openxmlformats.org/officeDocument/2006/relationships/image" Target="../media/image7.wmf"/><Relationship Id="rId10" Type="http://schemas.openxmlformats.org/officeDocument/2006/relationships/image" Target="../media/image12.wmf"/><Relationship Id="rId4" Type="http://schemas.openxmlformats.org/officeDocument/2006/relationships/image" Target="../media/image6.wmf"/><Relationship Id="rId9"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3.wmf"/><Relationship Id="rId1" Type="http://schemas.openxmlformats.org/officeDocument/2006/relationships/image" Target="../media/image15.wmf"/><Relationship Id="rId4"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0BF39B7B-8D41-442E-899F-79F39464F67B}" type="datetimeFigureOut">
              <a:rPr lang="zh-TW" altLang="en-US" smtClean="0"/>
              <a:pPr/>
              <a:t>2012/9/11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A26A481-A326-478D-B122-275FDA8B2560}"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BF39B7B-8D41-442E-899F-79F39464F67B}" type="datetimeFigureOut">
              <a:rPr lang="zh-TW" altLang="en-US" smtClean="0"/>
              <a:pPr/>
              <a:t>2012/9/11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A26A481-A326-478D-B122-275FDA8B2560}"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0BF39B7B-8D41-442E-899F-79F39464F67B}" type="datetimeFigureOut">
              <a:rPr lang="zh-TW" altLang="en-US" smtClean="0"/>
              <a:pPr/>
              <a:t>2012/9/11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A26A481-A326-478D-B122-275FDA8B2560}"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BF39B7B-8D41-442E-899F-79F39464F67B}" type="datetimeFigureOut">
              <a:rPr lang="zh-TW" altLang="en-US" smtClean="0"/>
              <a:pPr/>
              <a:t>2012/9/11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A26A481-A326-478D-B122-275FDA8B2560}"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0BF39B7B-8D41-442E-899F-79F39464F67B}" type="datetimeFigureOut">
              <a:rPr lang="zh-TW" altLang="en-US" smtClean="0"/>
              <a:pPr/>
              <a:t>2012/9/11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A26A481-A326-478D-B122-275FDA8B2560}"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BF39B7B-8D41-442E-899F-79F39464F67B}" type="datetimeFigureOut">
              <a:rPr lang="zh-TW" altLang="en-US" smtClean="0"/>
              <a:pPr/>
              <a:t>2012/9/11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A26A481-A326-478D-B122-275FDA8B2560}"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BF39B7B-8D41-442E-899F-79F39464F67B}" type="datetimeFigureOut">
              <a:rPr lang="zh-TW" altLang="en-US" smtClean="0"/>
              <a:pPr/>
              <a:t>2012/9/11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A26A481-A326-478D-B122-275FDA8B2560}"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BF39B7B-8D41-442E-899F-79F39464F67B}" type="datetimeFigureOut">
              <a:rPr lang="zh-TW" altLang="en-US" smtClean="0"/>
              <a:pPr/>
              <a:t>2012/9/11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A26A481-A326-478D-B122-275FDA8B2560}"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BF39B7B-8D41-442E-899F-79F39464F67B}" type="datetimeFigureOut">
              <a:rPr lang="zh-TW" altLang="en-US" smtClean="0"/>
              <a:pPr/>
              <a:t>2012/9/11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A26A481-A326-478D-B122-275FDA8B2560}"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BF39B7B-8D41-442E-899F-79F39464F67B}" type="datetimeFigureOut">
              <a:rPr lang="zh-TW" altLang="en-US" smtClean="0"/>
              <a:pPr/>
              <a:t>2012/9/11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A26A481-A326-478D-B122-275FDA8B2560}"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BF39B7B-8D41-442E-899F-79F39464F67B}" type="datetimeFigureOut">
              <a:rPr lang="zh-TW" altLang="en-US" smtClean="0"/>
              <a:pPr/>
              <a:t>2012/9/11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A26A481-A326-478D-B122-275FDA8B2560}"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F39B7B-8D41-442E-899F-79F39464F67B}" type="datetimeFigureOut">
              <a:rPr lang="zh-TW" altLang="en-US" smtClean="0"/>
              <a:pPr/>
              <a:t>2012/9/11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6A481-A326-478D-B122-275FDA8B2560}"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oleObject" Target="../embeddings/oleObject8.bin"/><Relationship Id="rId18" Type="http://schemas.openxmlformats.org/officeDocument/2006/relationships/image" Target="../media/image10.wmf"/><Relationship Id="rId26" Type="http://schemas.openxmlformats.org/officeDocument/2006/relationships/image" Target="../media/image14.wmf"/><Relationship Id="rId3" Type="http://schemas.openxmlformats.org/officeDocument/2006/relationships/oleObject" Target="../embeddings/oleObject3.bin"/><Relationship Id="rId21" Type="http://schemas.openxmlformats.org/officeDocument/2006/relationships/oleObject" Target="../embeddings/oleObject12.bin"/><Relationship Id="rId7" Type="http://schemas.openxmlformats.org/officeDocument/2006/relationships/oleObject" Target="../embeddings/oleObject5.bin"/><Relationship Id="rId12" Type="http://schemas.openxmlformats.org/officeDocument/2006/relationships/image" Target="../media/image7.wmf"/><Relationship Id="rId17" Type="http://schemas.openxmlformats.org/officeDocument/2006/relationships/oleObject" Target="../embeddings/oleObject10.bin"/><Relationship Id="rId25" Type="http://schemas.openxmlformats.org/officeDocument/2006/relationships/oleObject" Target="../embeddings/oleObject14.bin"/><Relationship Id="rId2" Type="http://schemas.openxmlformats.org/officeDocument/2006/relationships/slideLayout" Target="../slideLayouts/slideLayout2.xml"/><Relationship Id="rId16" Type="http://schemas.openxmlformats.org/officeDocument/2006/relationships/image" Target="../media/image9.wmf"/><Relationship Id="rId20" Type="http://schemas.openxmlformats.org/officeDocument/2006/relationships/image" Target="../media/image11.wmf"/><Relationship Id="rId1" Type="http://schemas.openxmlformats.org/officeDocument/2006/relationships/vmlDrawing" Target="../drawings/vmlDrawing2.vml"/><Relationship Id="rId6" Type="http://schemas.openxmlformats.org/officeDocument/2006/relationships/image" Target="../media/image4.wmf"/><Relationship Id="rId11" Type="http://schemas.openxmlformats.org/officeDocument/2006/relationships/oleObject" Target="../embeddings/oleObject7.bin"/><Relationship Id="rId24" Type="http://schemas.openxmlformats.org/officeDocument/2006/relationships/image" Target="../media/image13.wmf"/><Relationship Id="rId5" Type="http://schemas.openxmlformats.org/officeDocument/2006/relationships/oleObject" Target="../embeddings/oleObject4.bin"/><Relationship Id="rId15" Type="http://schemas.openxmlformats.org/officeDocument/2006/relationships/oleObject" Target="../embeddings/oleObject9.bin"/><Relationship Id="rId23" Type="http://schemas.openxmlformats.org/officeDocument/2006/relationships/oleObject" Target="../embeddings/oleObject13.bin"/><Relationship Id="rId10" Type="http://schemas.openxmlformats.org/officeDocument/2006/relationships/image" Target="../media/image6.wmf"/><Relationship Id="rId19" Type="http://schemas.openxmlformats.org/officeDocument/2006/relationships/oleObject" Target="../embeddings/oleObject11.bin"/><Relationship Id="rId4" Type="http://schemas.openxmlformats.org/officeDocument/2006/relationships/image" Target="../media/image3.wmf"/><Relationship Id="rId9" Type="http://schemas.openxmlformats.org/officeDocument/2006/relationships/oleObject" Target="../embeddings/oleObject6.bin"/><Relationship Id="rId14" Type="http://schemas.openxmlformats.org/officeDocument/2006/relationships/image" Target="../media/image8.wmf"/><Relationship Id="rId22" Type="http://schemas.openxmlformats.org/officeDocument/2006/relationships/image" Target="../media/image12.wmf"/></Relationships>
</file>

<file path=ppt/slides/_rels/slide12.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3.w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17.wmf"/><Relationship Id="rId4" Type="http://schemas.openxmlformats.org/officeDocument/2006/relationships/image" Target="../media/image15.wmf"/><Relationship Id="rId9" Type="http://schemas.openxmlformats.org/officeDocument/2006/relationships/oleObject" Target="../embeddings/oleObject18.bin"/></Relationships>
</file>

<file path=ppt/slides/_rels/slide13.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26.bin"/><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oleObject" Target="../embeddings/oleObject25.bin"/><Relationship Id="rId2" Type="http://schemas.openxmlformats.org/officeDocument/2006/relationships/slideLayout" Target="../slideLayouts/slideLayout2.xml"/><Relationship Id="rId16" Type="http://schemas.openxmlformats.org/officeDocument/2006/relationships/image" Target="../media/image22.png"/><Relationship Id="rId1" Type="http://schemas.openxmlformats.org/officeDocument/2006/relationships/vmlDrawing" Target="../drawings/vmlDrawing4.vml"/><Relationship Id="rId6" Type="http://schemas.openxmlformats.org/officeDocument/2006/relationships/image" Target="../media/image19.w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oleObject" Target="../embeddings/oleObject28.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23.bin"/><Relationship Id="rId14" Type="http://schemas.openxmlformats.org/officeDocument/2006/relationships/oleObject" Target="../embeddings/oleObject27.bin"/></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6.wmf"/><Relationship Id="rId5" Type="http://schemas.openxmlformats.org/officeDocument/2006/relationships/oleObject" Target="../embeddings/oleObject30.bin"/><Relationship Id="rId4" Type="http://schemas.openxmlformats.org/officeDocument/2006/relationships/image" Target="../media/image25.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9.wmf"/><Relationship Id="rId5" Type="http://schemas.openxmlformats.org/officeDocument/2006/relationships/oleObject" Target="../embeddings/oleObject33.bin"/><Relationship Id="rId4" Type="http://schemas.openxmlformats.org/officeDocument/2006/relationships/image" Target="../media/image28.wmf"/></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1.png"/><Relationship Id="rId5" Type="http://schemas.openxmlformats.org/officeDocument/2006/relationships/image" Target="../media/image28.wmf"/><Relationship Id="rId4" Type="http://schemas.openxmlformats.org/officeDocument/2006/relationships/oleObject" Target="../embeddings/oleObject34.bin"/></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5.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a:t>An improved algorithm for the longest common subsequence problem </a:t>
            </a:r>
            <a:endParaRPr lang="zh-TW" altLang="en-US" dirty="0"/>
          </a:p>
        </p:txBody>
      </p:sp>
      <p:sp>
        <p:nvSpPr>
          <p:cNvPr id="3" name="副標題 2"/>
          <p:cNvSpPr>
            <a:spLocks noGrp="1"/>
          </p:cNvSpPr>
          <p:nvPr>
            <p:ph type="subTitle" idx="1"/>
          </p:nvPr>
        </p:nvSpPr>
        <p:spPr/>
        <p:txBody>
          <a:bodyPr>
            <a:normAutofit fontScale="92500" lnSpcReduction="20000"/>
          </a:bodyPr>
          <a:lstStyle/>
          <a:p>
            <a:r>
              <a:rPr lang="en-US" altLang="zh-TW" dirty="0"/>
              <a:t>Sayyed RasoulMousavi </a:t>
            </a:r>
            <a:r>
              <a:rPr lang="en-US" altLang="zh-TW" dirty="0" smtClean="0"/>
              <a:t>, </a:t>
            </a:r>
            <a:r>
              <a:rPr lang="en-US" altLang="zh-TW" dirty="0" err="1"/>
              <a:t>FarzanehTabataba</a:t>
            </a:r>
            <a:r>
              <a:rPr lang="en-US" altLang="zh-TW" dirty="0"/>
              <a:t> </a:t>
            </a:r>
            <a:endParaRPr lang="en-US" altLang="zh-TW" dirty="0" smtClean="0"/>
          </a:p>
          <a:p>
            <a:r>
              <a:rPr lang="en-US" altLang="zh-TW" dirty="0" smtClean="0"/>
              <a:t>Computers &amp; Operations Research</a:t>
            </a:r>
          </a:p>
          <a:p>
            <a:r>
              <a:rPr lang="en-US" altLang="zh-TW" dirty="0" smtClean="0"/>
              <a:t>Vol.39 pp512-520  ,2012</a:t>
            </a:r>
          </a:p>
          <a:p>
            <a:endParaRPr lang="zh-TW"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pt-BR" altLang="zh-TW" dirty="0"/>
              <a:t>A</a:t>
            </a:r>
            <a:r>
              <a:rPr lang="pt-BR" altLang="zh-TW" dirty="0" smtClean="0"/>
              <a:t> b </a:t>
            </a:r>
            <a:r>
              <a:rPr lang="pt-BR" altLang="zh-TW" dirty="0"/>
              <a:t>s t r a c </a:t>
            </a:r>
            <a:r>
              <a:rPr lang="pt-BR" altLang="zh-TW" dirty="0" smtClean="0"/>
              <a:t>t (1/4) </a:t>
            </a:r>
            <a:endParaRPr lang="zh-TW" altLang="en-US" dirty="0"/>
          </a:p>
        </p:txBody>
      </p:sp>
      <p:sp>
        <p:nvSpPr>
          <p:cNvPr id="3" name="內容版面配置區 2"/>
          <p:cNvSpPr>
            <a:spLocks noGrp="1"/>
          </p:cNvSpPr>
          <p:nvPr>
            <p:ph idx="1"/>
          </p:nvPr>
        </p:nvSpPr>
        <p:spPr/>
        <p:txBody>
          <a:bodyPr>
            <a:normAutofit/>
          </a:bodyPr>
          <a:lstStyle/>
          <a:p>
            <a:r>
              <a:rPr lang="en-US" altLang="zh-TW" dirty="0"/>
              <a:t>The Longest Common Subsequence problem seeks a longest subsequence of every member of a given set of strings. It has applications, among others, in data compression, FPGA circuit minimization, and bioinformatics</a:t>
            </a:r>
            <a:r>
              <a:rPr lang="en-US" altLang="zh-TW" dirty="0" smtClean="0"/>
              <a:t>.</a:t>
            </a:r>
          </a:p>
          <a:p>
            <a:r>
              <a:rPr lang="en-US" altLang="zh-TW" dirty="0" smtClean="0"/>
              <a:t> </a:t>
            </a:r>
            <a:r>
              <a:rPr lang="en-US" altLang="zh-TW" dirty="0"/>
              <a:t>The problem is NP-hard for more than two input strings, and the existing exact solutions are impractical for large input sizes. </a:t>
            </a:r>
            <a:endParaRPr lang="zh-TW"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pt-BR" altLang="zh-TW" dirty="0" smtClean="0"/>
              <a:t>A b s t r a c t (2/4)  </a:t>
            </a:r>
            <a:endParaRPr lang="zh-TW" altLang="en-US" dirty="0"/>
          </a:p>
        </p:txBody>
      </p:sp>
      <p:sp>
        <p:nvSpPr>
          <p:cNvPr id="3" name="內容版面配置區 2"/>
          <p:cNvSpPr>
            <a:spLocks noGrp="1"/>
          </p:cNvSpPr>
          <p:nvPr>
            <p:ph idx="1"/>
          </p:nvPr>
        </p:nvSpPr>
        <p:spPr/>
        <p:txBody>
          <a:bodyPr>
            <a:normAutofit/>
          </a:bodyPr>
          <a:lstStyle/>
          <a:p>
            <a:r>
              <a:rPr lang="en-US" altLang="zh-TW" dirty="0" smtClean="0"/>
              <a:t>Therefore, several approximation and (meta) heuristic algorithms have been proposed which aim at finding good, but not necessarily optimal, solutions to the problem. </a:t>
            </a:r>
          </a:p>
          <a:p>
            <a:endParaRPr lang="zh-TW" altLang="en-US" dirty="0" smtClean="0"/>
          </a:p>
          <a:p>
            <a:endParaRPr lang="en-US" altLang="zh-TW" dirty="0" smtClean="0"/>
          </a:p>
          <a:p>
            <a:endParaRPr lang="en-US" altLang="zh-TW" dirty="0" smtClean="0"/>
          </a:p>
          <a:p>
            <a:endParaRPr lang="zh-TW"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pt-BR" altLang="zh-TW" dirty="0" smtClean="0"/>
              <a:t>A b s t r a c t (3/4) </a:t>
            </a:r>
            <a:endParaRPr lang="zh-TW" altLang="en-US" dirty="0"/>
          </a:p>
        </p:txBody>
      </p:sp>
      <p:sp>
        <p:nvSpPr>
          <p:cNvPr id="3" name="內容版面配置區 2"/>
          <p:cNvSpPr>
            <a:spLocks noGrp="1"/>
          </p:cNvSpPr>
          <p:nvPr>
            <p:ph idx="1"/>
          </p:nvPr>
        </p:nvSpPr>
        <p:spPr/>
        <p:txBody>
          <a:bodyPr/>
          <a:lstStyle/>
          <a:p>
            <a:r>
              <a:rPr lang="en-US" altLang="zh-TW" dirty="0" smtClean="0"/>
              <a:t>In this paper, we propose a new algorithm based on the constructive beam search method. We have devised a novel heuristic, inspired by the probability theory, intended for domains where the input strings are assumed to be independent. Special data structures and dynamic programming methods are developed to reduce the time complexity of the algorithm. </a:t>
            </a:r>
            <a:endParaRPr lang="zh-TW" altLang="en-US" dirty="0" smtClean="0"/>
          </a:p>
          <a:p>
            <a:endParaRPr lang="zh-TW"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pt-BR" altLang="zh-TW" dirty="0" smtClean="0"/>
              <a:t>A b s t r a c t (4/4) </a:t>
            </a:r>
            <a:endParaRPr lang="zh-TW" altLang="en-US" dirty="0"/>
          </a:p>
        </p:txBody>
      </p:sp>
      <p:sp>
        <p:nvSpPr>
          <p:cNvPr id="3" name="內容版面配置區 2"/>
          <p:cNvSpPr>
            <a:spLocks noGrp="1"/>
          </p:cNvSpPr>
          <p:nvPr>
            <p:ph idx="1"/>
          </p:nvPr>
        </p:nvSpPr>
        <p:spPr/>
        <p:txBody>
          <a:bodyPr/>
          <a:lstStyle/>
          <a:p>
            <a:r>
              <a:rPr lang="en-US" altLang="zh-TW" dirty="0" smtClean="0"/>
              <a:t>The proposed algorithm is compared with the state-of-the-art over several standard benchmarks including random and real biological sequences. Extensive experimental results show that the proposed algorithm outperforms the state-of-the-art by giving higher quality solutions with less computation time for most of the experimental cases.</a:t>
            </a:r>
            <a:endParaRPr lang="zh-TW"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Optimal </a:t>
            </a:r>
            <a:r>
              <a:rPr lang="en-US" altLang="zh-TW" dirty="0" smtClean="0"/>
              <a:t>Solution </a:t>
            </a:r>
            <a:r>
              <a:rPr lang="en-US" altLang="zh-TW" dirty="0" smtClean="0"/>
              <a:t>for LCS </a:t>
            </a:r>
            <a:endParaRPr lang="zh-TW" altLang="en-US" dirty="0"/>
          </a:p>
        </p:txBody>
      </p:sp>
      <p:sp>
        <p:nvSpPr>
          <p:cNvPr id="3" name="內容版面配置區 2"/>
          <p:cNvSpPr>
            <a:spLocks noGrp="1"/>
          </p:cNvSpPr>
          <p:nvPr>
            <p:ph idx="1"/>
          </p:nvPr>
        </p:nvSpPr>
        <p:spPr/>
        <p:txBody>
          <a:bodyPr>
            <a:normAutofit/>
          </a:bodyPr>
          <a:lstStyle/>
          <a:p>
            <a:r>
              <a:rPr lang="en-US" altLang="zh-TW" dirty="0" smtClean="0"/>
              <a:t>For two input strings  s1 </a:t>
            </a:r>
            <a:r>
              <a:rPr lang="zh-TW" altLang="en-US" dirty="0" smtClean="0"/>
              <a:t>、</a:t>
            </a:r>
            <a:r>
              <a:rPr lang="en-US" altLang="zh-TW" dirty="0" smtClean="0"/>
              <a:t>s2 </a:t>
            </a:r>
            <a:r>
              <a:rPr lang="zh-TW" altLang="en-US" dirty="0" smtClean="0"/>
              <a:t>，</a:t>
            </a:r>
            <a:r>
              <a:rPr lang="en-US" altLang="zh-TW" dirty="0" smtClean="0"/>
              <a:t>LCS</a:t>
            </a:r>
            <a:r>
              <a:rPr lang="zh-TW" altLang="en-US" dirty="0" smtClean="0"/>
              <a:t> </a:t>
            </a:r>
            <a:r>
              <a:rPr lang="en-US" altLang="zh-TW" dirty="0" smtClean="0"/>
              <a:t>can</a:t>
            </a:r>
            <a:r>
              <a:rPr lang="zh-TW" altLang="en-US" dirty="0" smtClean="0"/>
              <a:t> </a:t>
            </a:r>
            <a:r>
              <a:rPr lang="en-US" altLang="zh-TW" dirty="0" smtClean="0"/>
              <a:t>be</a:t>
            </a:r>
            <a:r>
              <a:rPr lang="zh-TW" altLang="en-US" dirty="0" smtClean="0"/>
              <a:t> </a:t>
            </a:r>
            <a:r>
              <a:rPr lang="en-US" altLang="zh-TW" dirty="0" smtClean="0"/>
              <a:t>solved in O(|s1|*|s2|)</a:t>
            </a:r>
          </a:p>
          <a:p>
            <a:r>
              <a:rPr lang="en-US" altLang="zh-TW" dirty="0" smtClean="0"/>
              <a:t>However, the problem is NP-hard for an arbitrary number of strings </a:t>
            </a:r>
          </a:p>
          <a:p>
            <a:endParaRPr lang="en-US" altLang="zh-TW" dirty="0" smtClean="0"/>
          </a:p>
          <a:p>
            <a:pPr>
              <a:buNone/>
            </a:pPr>
            <a:endParaRPr lang="en-US" altLang="zh-TW" dirty="0" smtClean="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Optimal </a:t>
            </a:r>
            <a:r>
              <a:rPr lang="en-US" altLang="zh-TW" dirty="0" smtClean="0"/>
              <a:t>Solution (Arbitrary </a:t>
            </a:r>
            <a:r>
              <a:rPr lang="en-US" altLang="zh-TW" dirty="0"/>
              <a:t>S</a:t>
            </a:r>
            <a:r>
              <a:rPr lang="en-US" altLang="zh-TW" dirty="0" smtClean="0"/>
              <a:t>trings</a:t>
            </a:r>
            <a:r>
              <a:rPr lang="en-US" altLang="zh-TW" dirty="0" smtClean="0"/>
              <a:t>) </a:t>
            </a:r>
            <a:endParaRPr lang="zh-TW" altLang="en-US" dirty="0"/>
          </a:p>
        </p:txBody>
      </p:sp>
      <p:sp>
        <p:nvSpPr>
          <p:cNvPr id="3" name="內容版面配置區 2"/>
          <p:cNvSpPr>
            <a:spLocks noGrp="1"/>
          </p:cNvSpPr>
          <p:nvPr>
            <p:ph idx="1"/>
          </p:nvPr>
        </p:nvSpPr>
        <p:spPr/>
        <p:txBody>
          <a:bodyPr>
            <a:normAutofit/>
          </a:bodyPr>
          <a:lstStyle/>
          <a:p>
            <a:r>
              <a:rPr lang="en-US" altLang="zh-TW" dirty="0" smtClean="0"/>
              <a:t>One approach is to use dynamic programming ,which can solve the problem in O(</a:t>
            </a:r>
            <a:r>
              <a:rPr lang="en-US" altLang="zh-TW" dirty="0" err="1" smtClean="0"/>
              <a:t>l^n</a:t>
            </a:r>
            <a:r>
              <a:rPr lang="en-US" altLang="zh-TW" dirty="0" smtClean="0"/>
              <a:t>) ,some of them can be improved to O(l^</a:t>
            </a:r>
            <a:r>
              <a:rPr lang="en-US" altLang="zh-TW" sz="2400" dirty="0" smtClean="0"/>
              <a:t>(</a:t>
            </a:r>
            <a:r>
              <a:rPr lang="en-US" altLang="zh-TW" dirty="0" smtClean="0"/>
              <a:t>n-1</a:t>
            </a:r>
            <a:r>
              <a:rPr lang="en-US" altLang="zh-TW" sz="2400" dirty="0" smtClean="0"/>
              <a:t>)</a:t>
            </a:r>
            <a:r>
              <a:rPr lang="en-US" altLang="zh-TW" dirty="0" smtClean="0"/>
              <a:t>) </a:t>
            </a:r>
          </a:p>
          <a:p>
            <a:r>
              <a:rPr lang="en-US" altLang="zh-TW" dirty="0" smtClean="0"/>
              <a:t>Other algorithms (not DP)for LCS  ,whose complexity was still O(</a:t>
            </a:r>
            <a:r>
              <a:rPr lang="en-US" altLang="zh-TW" dirty="0" err="1" smtClean="0"/>
              <a:t>l^n</a:t>
            </a:r>
            <a:r>
              <a:rPr lang="en-US" altLang="zh-TW" dirty="0" smtClean="0"/>
              <a:t>). </a:t>
            </a:r>
            <a:endParaRPr lang="zh-TW" altLang="en-US"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a:t>
            </a:r>
            <a:r>
              <a:rPr lang="en-US" altLang="zh-TW" dirty="0" smtClean="0"/>
              <a:t>pproximation</a:t>
            </a:r>
            <a:r>
              <a:rPr lang="zh-TW" altLang="en-US" dirty="0" smtClean="0"/>
              <a:t> </a:t>
            </a:r>
            <a:r>
              <a:rPr lang="en-US" altLang="zh-TW" dirty="0"/>
              <a:t>A</a:t>
            </a:r>
            <a:r>
              <a:rPr lang="en-US" altLang="zh-TW" dirty="0" smtClean="0"/>
              <a:t>lgorithm</a:t>
            </a:r>
            <a:endParaRPr lang="zh-TW" altLang="en-US" dirty="0"/>
          </a:p>
        </p:txBody>
      </p:sp>
      <p:sp>
        <p:nvSpPr>
          <p:cNvPr id="3" name="內容版面配置區 2"/>
          <p:cNvSpPr>
            <a:spLocks noGrp="1"/>
          </p:cNvSpPr>
          <p:nvPr>
            <p:ph idx="1"/>
          </p:nvPr>
        </p:nvSpPr>
        <p:spPr/>
        <p:txBody>
          <a:bodyPr>
            <a:normAutofit/>
          </a:bodyPr>
          <a:lstStyle/>
          <a:p>
            <a:r>
              <a:rPr lang="en-US" altLang="zh-TW" dirty="0" smtClean="0"/>
              <a:t>approximation ratio</a:t>
            </a:r>
            <a:r>
              <a:rPr lang="zh-TW" altLang="en-US" dirty="0" smtClean="0"/>
              <a:t> </a:t>
            </a:r>
            <a:r>
              <a:rPr lang="en-US" altLang="zh-TW" dirty="0" smtClean="0"/>
              <a:t>of |∑|</a:t>
            </a:r>
          </a:p>
          <a:p>
            <a:pPr lvl="1"/>
            <a:r>
              <a:rPr lang="en-US" altLang="zh-TW" dirty="0" smtClean="0"/>
              <a:t>Long Run (LR)</a:t>
            </a:r>
          </a:p>
          <a:p>
            <a:pPr lvl="1"/>
            <a:r>
              <a:rPr lang="en-US" altLang="zh-TW" dirty="0" smtClean="0"/>
              <a:t>Expansion </a:t>
            </a:r>
          </a:p>
          <a:p>
            <a:pPr lvl="2"/>
            <a:endParaRPr lang="en-US" altLang="zh-TW" dirty="0" smtClean="0"/>
          </a:p>
          <a:p>
            <a:pPr lvl="1"/>
            <a:r>
              <a:rPr lang="en-US" altLang="zh-TW" dirty="0" smtClean="0"/>
              <a:t>Enhanced Long</a:t>
            </a:r>
            <a:r>
              <a:rPr lang="zh-TW" altLang="en-US" dirty="0" smtClean="0"/>
              <a:t> </a:t>
            </a:r>
            <a:r>
              <a:rPr lang="en-US" altLang="zh-TW" dirty="0" smtClean="0"/>
              <a:t>Run (ELR) </a:t>
            </a:r>
          </a:p>
          <a:p>
            <a:pPr lvl="2"/>
            <a:r>
              <a:rPr lang="en-US" altLang="zh-TW" dirty="0" smtClean="0"/>
              <a:t>O(|∑|</a:t>
            </a:r>
            <a:r>
              <a:rPr lang="en-US" altLang="zh-TW" dirty="0" err="1" smtClean="0"/>
              <a:t>nl</a:t>
            </a:r>
            <a:r>
              <a:rPr lang="en-US" altLang="zh-TW" dirty="0" smtClean="0"/>
              <a:t>) </a:t>
            </a:r>
          </a:p>
          <a:p>
            <a:pPr lvl="1"/>
            <a:r>
              <a:rPr lang="en-US" altLang="zh-TW" dirty="0" smtClean="0"/>
              <a:t>Best Next</a:t>
            </a:r>
            <a:r>
              <a:rPr lang="zh-TW" altLang="en-US" dirty="0" smtClean="0"/>
              <a:t> </a:t>
            </a:r>
            <a:r>
              <a:rPr lang="en-US" altLang="zh-TW" dirty="0" smtClean="0"/>
              <a:t>for Maximal Available</a:t>
            </a:r>
            <a:r>
              <a:rPr lang="zh-TW" altLang="en-US" dirty="0" smtClean="0"/>
              <a:t> </a:t>
            </a:r>
            <a:r>
              <a:rPr lang="en-US" altLang="zh-TW" dirty="0" smtClean="0"/>
              <a:t>Symbols (BNMAS)</a:t>
            </a:r>
          </a:p>
          <a:p>
            <a:pPr lvl="2"/>
            <a:endParaRPr lang="en-US" altLang="zh-TW" dirty="0" smtClean="0"/>
          </a:p>
        </p:txBody>
      </p:sp>
      <p:graphicFrame>
        <p:nvGraphicFramePr>
          <p:cNvPr id="2051" name="Object 3"/>
          <p:cNvGraphicFramePr>
            <a:graphicFrameLocks noChangeAspect="1"/>
          </p:cNvGraphicFramePr>
          <p:nvPr/>
        </p:nvGraphicFramePr>
        <p:xfrm>
          <a:off x="1619672" y="3212976"/>
          <a:ext cx="1440160" cy="478865"/>
        </p:xfrm>
        <a:graphic>
          <a:graphicData uri="http://schemas.openxmlformats.org/presentationml/2006/ole">
            <mc:AlternateContent xmlns:mc="http://schemas.openxmlformats.org/markup-compatibility/2006">
              <mc:Choice xmlns:v="urn:schemas-microsoft-com:vml" Requires="v">
                <p:oleObj spid="_x0000_s2053" name="方程式" r:id="rId3" imgW="660240" imgH="228600" progId="Equation.3">
                  <p:embed/>
                </p:oleObj>
              </mc:Choice>
              <mc:Fallback>
                <p:oleObj name="方程式" r:id="rId3" imgW="660240" imgH="22860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3212976"/>
                        <a:ext cx="1440160" cy="4788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4"/>
          <p:cNvGraphicFramePr>
            <a:graphicFrameLocks noChangeAspect="1"/>
          </p:cNvGraphicFramePr>
          <p:nvPr/>
        </p:nvGraphicFramePr>
        <p:xfrm>
          <a:off x="1619672" y="5157192"/>
          <a:ext cx="2088232" cy="565337"/>
        </p:xfrm>
        <a:graphic>
          <a:graphicData uri="http://schemas.openxmlformats.org/presentationml/2006/ole">
            <mc:AlternateContent xmlns:mc="http://schemas.openxmlformats.org/markup-compatibility/2006">
              <mc:Choice xmlns:v="urn:schemas-microsoft-com:vml" Requires="v">
                <p:oleObj spid="_x0000_s2054" name="方程式" r:id="rId5" imgW="1295280" imgH="304560" progId="Equation.3">
                  <p:embed/>
                </p:oleObj>
              </mc:Choice>
              <mc:Fallback>
                <p:oleObj name="方程式" r:id="rId5" imgW="1295280" imgH="30456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672" y="5157192"/>
                        <a:ext cx="2088232" cy="565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H</a:t>
            </a:r>
            <a:r>
              <a:rPr lang="en-US" altLang="zh-TW" dirty="0" smtClean="0"/>
              <a:t>euristic </a:t>
            </a:r>
            <a:r>
              <a:rPr lang="en-US" altLang="zh-TW" dirty="0"/>
              <a:t>A</a:t>
            </a:r>
            <a:r>
              <a:rPr lang="en-US" altLang="zh-TW" dirty="0" smtClean="0"/>
              <a:t>lgorithms </a:t>
            </a:r>
            <a:endParaRPr lang="zh-TW" altLang="en-US" dirty="0"/>
          </a:p>
        </p:txBody>
      </p:sp>
      <p:sp>
        <p:nvSpPr>
          <p:cNvPr id="3" name="內容版面配置區 2"/>
          <p:cNvSpPr>
            <a:spLocks noGrp="1"/>
          </p:cNvSpPr>
          <p:nvPr>
            <p:ph idx="1"/>
          </p:nvPr>
        </p:nvSpPr>
        <p:spPr/>
        <p:txBody>
          <a:bodyPr>
            <a:normAutofit/>
          </a:bodyPr>
          <a:lstStyle/>
          <a:p>
            <a:r>
              <a:rPr lang="en-US" altLang="zh-TW" dirty="0" smtClean="0"/>
              <a:t>not  guarantee an approximation ratio</a:t>
            </a:r>
          </a:p>
          <a:p>
            <a:pPr lvl="1"/>
            <a:r>
              <a:rPr lang="en-US" altLang="zh-TW" dirty="0" smtClean="0"/>
              <a:t>Best-Next heuristic </a:t>
            </a:r>
          </a:p>
          <a:p>
            <a:pPr lvl="2"/>
            <a:r>
              <a:rPr lang="en-US" altLang="zh-TW" dirty="0" smtClean="0"/>
              <a:t>O(|∑|</a:t>
            </a:r>
            <a:r>
              <a:rPr lang="en-US" altLang="zh-TW" dirty="0" err="1" smtClean="0"/>
              <a:t>nl</a:t>
            </a:r>
            <a:r>
              <a:rPr lang="en-US" altLang="zh-TW" dirty="0" smtClean="0"/>
              <a:t>) </a:t>
            </a:r>
          </a:p>
          <a:p>
            <a:pPr lvl="1"/>
            <a:r>
              <a:rPr lang="en-US" altLang="zh-TW" dirty="0" smtClean="0"/>
              <a:t>G&amp;V  dynamic programming heuristic (G&amp;V)</a:t>
            </a:r>
          </a:p>
          <a:p>
            <a:pPr lvl="1"/>
            <a:r>
              <a:rPr lang="en-US" altLang="zh-TW" dirty="0" smtClean="0"/>
              <a:t>time horizon specialized branching heuristic (THSB)</a:t>
            </a:r>
          </a:p>
          <a:p>
            <a:pPr lvl="1"/>
            <a:r>
              <a:rPr lang="en-US" altLang="zh-TW" dirty="0" smtClean="0"/>
              <a:t>ant colony optimization (ACO)</a:t>
            </a:r>
          </a:p>
          <a:p>
            <a:pPr lvl="1"/>
            <a:r>
              <a:rPr lang="en-US" altLang="zh-TW" dirty="0" smtClean="0"/>
              <a:t>Beam Search algorithm (BS)</a:t>
            </a:r>
          </a:p>
          <a:p>
            <a:pPr lvl="1"/>
            <a:r>
              <a:rPr lang="en-US" altLang="zh-TW" dirty="0" smtClean="0"/>
              <a:t>Improved Beam Search algorithm  (IBS)</a:t>
            </a:r>
            <a:endParaRPr lang="zh-TW"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BS </a:t>
            </a:r>
            <a:r>
              <a:rPr lang="en-US" altLang="zh-TW" dirty="0" smtClean="0"/>
              <a:t>Algorithm</a:t>
            </a:r>
            <a:endParaRPr lang="zh-TW" altLang="en-US" dirty="0"/>
          </a:p>
        </p:txBody>
      </p:sp>
      <p:sp>
        <p:nvSpPr>
          <p:cNvPr id="3" name="內容版面配置區 2"/>
          <p:cNvSpPr>
            <a:spLocks noGrp="1"/>
          </p:cNvSpPr>
          <p:nvPr>
            <p:ph idx="1"/>
          </p:nvPr>
        </p:nvSpPr>
        <p:spPr/>
        <p:txBody>
          <a:bodyPr>
            <a:normAutofit/>
          </a:bodyPr>
          <a:lstStyle/>
          <a:p>
            <a:r>
              <a:rPr lang="en-US" altLang="zh-TW" dirty="0" smtClean="0"/>
              <a:t>They compared BS with Expansion, Best-Next, G&amp;V, THSB and ACO algorithms over three benchmarks. </a:t>
            </a:r>
          </a:p>
          <a:p>
            <a:r>
              <a:rPr lang="en-US" altLang="zh-TW" dirty="0" smtClean="0"/>
              <a:t>results showed that BS algorithm is better than the above algorithm on average(quality and computation time)</a:t>
            </a:r>
            <a:endParaRPr lang="zh-TW"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0"/>
            <a:ext cx="8229600" cy="1143000"/>
          </a:xfrm>
        </p:spPr>
        <p:txBody>
          <a:bodyPr/>
          <a:lstStyle/>
          <a:p>
            <a:r>
              <a:rPr lang="en-US" altLang="zh-TW" dirty="0" smtClean="0"/>
              <a:t>Basic </a:t>
            </a:r>
            <a:r>
              <a:rPr lang="en-US" altLang="zh-TW" dirty="0" smtClean="0"/>
              <a:t>Notations </a:t>
            </a:r>
            <a:r>
              <a:rPr lang="en-US" altLang="zh-TW" dirty="0" smtClean="0"/>
              <a:t>and </a:t>
            </a:r>
            <a:r>
              <a:rPr lang="en-US" altLang="zh-TW" dirty="0" smtClean="0"/>
              <a:t>Definitions </a:t>
            </a:r>
            <a:endParaRPr lang="zh-TW" altLang="en-US" dirty="0"/>
          </a:p>
        </p:txBody>
      </p:sp>
      <p:sp>
        <p:nvSpPr>
          <p:cNvPr id="3" name="內容版面配置區 2"/>
          <p:cNvSpPr>
            <a:spLocks noGrp="1"/>
          </p:cNvSpPr>
          <p:nvPr>
            <p:ph idx="1"/>
          </p:nvPr>
        </p:nvSpPr>
        <p:spPr>
          <a:xfrm>
            <a:off x="457200" y="1052736"/>
            <a:ext cx="8229600" cy="5073427"/>
          </a:xfrm>
        </p:spPr>
        <p:txBody>
          <a:bodyPr/>
          <a:lstStyle/>
          <a:p>
            <a:r>
              <a:rPr lang="en-US" altLang="zh-TW" dirty="0" smtClean="0"/>
              <a:t>string s  ;    denote the </a:t>
            </a:r>
            <a:r>
              <a:rPr lang="en-US" altLang="zh-TW" dirty="0" err="1" smtClean="0"/>
              <a:t>kth</a:t>
            </a:r>
            <a:r>
              <a:rPr lang="en-US" altLang="zh-TW" dirty="0" smtClean="0"/>
              <a:t> character of s</a:t>
            </a:r>
          </a:p>
          <a:p>
            <a:r>
              <a:rPr lang="en-US" altLang="zh-TW" dirty="0" smtClean="0"/>
              <a:t>                                     ,</a:t>
            </a:r>
          </a:p>
          <a:p>
            <a:r>
              <a:rPr lang="en-US" altLang="zh-TW" dirty="0" smtClean="0"/>
              <a:t>We say that     is a subsequence of    , and write                ,if there is an injective function g from    to    such that: </a:t>
            </a:r>
          </a:p>
          <a:p>
            <a:pPr marL="971550" lvl="1" indent="-514350">
              <a:buFont typeface="Wingdings" pitchFamily="2" charset="2"/>
              <a:buAutoNum type="circleNumWdWhitePlain"/>
            </a:pPr>
            <a:r>
              <a:rPr lang="en-US" altLang="zh-TW" dirty="0" smtClean="0"/>
              <a:t>For all </a:t>
            </a:r>
          </a:p>
          <a:p>
            <a:pPr marL="971550" lvl="1" indent="-514350">
              <a:buFont typeface="Wingdings" pitchFamily="2" charset="2"/>
              <a:buAutoNum type="circleNumWdWhitePlain"/>
            </a:pPr>
            <a:r>
              <a:rPr lang="en-US" altLang="zh-TW" dirty="0" smtClean="0"/>
              <a:t>For all</a:t>
            </a:r>
          </a:p>
          <a:p>
            <a:pPr marL="571500" indent="-514350">
              <a:buNone/>
            </a:pPr>
            <a:r>
              <a:rPr lang="en-US" altLang="zh-TW" dirty="0" smtClean="0"/>
              <a:t>   We call function g a map of    to     . </a:t>
            </a:r>
          </a:p>
          <a:p>
            <a:pPr marL="971550" lvl="1" indent="-514350">
              <a:buFont typeface="Wingdings" pitchFamily="2" charset="2"/>
              <a:buAutoNum type="circleNumWdWhitePlain"/>
            </a:pPr>
            <a:endParaRPr lang="en-US" altLang="zh-TW" dirty="0" smtClean="0"/>
          </a:p>
          <a:p>
            <a:endParaRPr lang="en-US" altLang="zh-TW" dirty="0" smtClean="0"/>
          </a:p>
          <a:p>
            <a:endParaRPr lang="en-US" altLang="zh-TW" dirty="0" smtClean="0"/>
          </a:p>
          <a:p>
            <a:endParaRPr lang="zh-TW" altLang="en-US" dirty="0"/>
          </a:p>
        </p:txBody>
      </p:sp>
      <p:graphicFrame>
        <p:nvGraphicFramePr>
          <p:cNvPr id="4" name="物件 3"/>
          <p:cNvGraphicFramePr>
            <a:graphicFrameLocks noChangeAspect="1"/>
          </p:cNvGraphicFramePr>
          <p:nvPr/>
        </p:nvGraphicFramePr>
        <p:xfrm>
          <a:off x="1835696" y="2780928"/>
          <a:ext cx="1440160" cy="454542"/>
        </p:xfrm>
        <a:graphic>
          <a:graphicData uri="http://schemas.openxmlformats.org/presentationml/2006/ole">
            <mc:AlternateContent xmlns:mc="http://schemas.openxmlformats.org/markup-compatibility/2006">
              <mc:Choice xmlns:v="urn:schemas-microsoft-com:vml" Requires="v">
                <p:oleObj spid="_x0000_s1053" name="方程式" r:id="rId3" imgW="431640" imgH="215640" progId="Equation.3">
                  <p:embed/>
                </p:oleObj>
              </mc:Choice>
              <mc:Fallback>
                <p:oleObj name="方程式" r:id="rId3" imgW="431640" imgH="2156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2780928"/>
                        <a:ext cx="1440160" cy="4545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3"/>
          <p:cNvGraphicFramePr>
            <a:graphicFrameLocks noChangeAspect="1"/>
          </p:cNvGraphicFramePr>
          <p:nvPr/>
        </p:nvGraphicFramePr>
        <p:xfrm>
          <a:off x="2900842" y="2241758"/>
          <a:ext cx="306886" cy="576064"/>
        </p:xfrm>
        <a:graphic>
          <a:graphicData uri="http://schemas.openxmlformats.org/presentationml/2006/ole">
            <mc:AlternateContent xmlns:mc="http://schemas.openxmlformats.org/markup-compatibility/2006">
              <mc:Choice xmlns:v="urn:schemas-microsoft-com:vml" Requires="v">
                <p:oleObj spid="_x0000_s1054" name="方程式" r:id="rId5" imgW="139680" imgH="215640" progId="Equation.3">
                  <p:embed/>
                </p:oleObj>
              </mc:Choice>
              <mc:Fallback>
                <p:oleObj name="方程式" r:id="rId5" imgW="139680" imgH="21564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0842" y="2241758"/>
                        <a:ext cx="306886" cy="5760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4"/>
          <p:cNvGraphicFramePr>
            <a:graphicFrameLocks noChangeAspect="1"/>
          </p:cNvGraphicFramePr>
          <p:nvPr/>
        </p:nvGraphicFramePr>
        <p:xfrm>
          <a:off x="2339752" y="1052736"/>
          <a:ext cx="689789" cy="609427"/>
        </p:xfrm>
        <a:graphic>
          <a:graphicData uri="http://schemas.openxmlformats.org/presentationml/2006/ole">
            <mc:AlternateContent xmlns:mc="http://schemas.openxmlformats.org/markup-compatibility/2006">
              <mc:Choice xmlns:v="urn:schemas-microsoft-com:vml" Requires="v">
                <p:oleObj spid="_x0000_s1055" name="方程式" r:id="rId7" imgW="368280" imgH="253800" progId="Equation.3">
                  <p:embed/>
                </p:oleObj>
              </mc:Choice>
              <mc:Fallback>
                <p:oleObj name="方程式" r:id="rId7" imgW="368280" imgH="2538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9752" y="1052736"/>
                        <a:ext cx="689789" cy="6094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9" name="Object 15"/>
          <p:cNvGraphicFramePr>
            <a:graphicFrameLocks noChangeAspect="1"/>
          </p:cNvGraphicFramePr>
          <p:nvPr/>
        </p:nvGraphicFramePr>
        <p:xfrm>
          <a:off x="6525643" y="2273466"/>
          <a:ext cx="334963" cy="531813"/>
        </p:xfrm>
        <a:graphic>
          <a:graphicData uri="http://schemas.openxmlformats.org/presentationml/2006/ole">
            <mc:AlternateContent xmlns:mc="http://schemas.openxmlformats.org/markup-compatibility/2006">
              <mc:Choice xmlns:v="urn:schemas-microsoft-com:vml" Requires="v">
                <p:oleObj spid="_x0000_s1056" name="方程式" r:id="rId9" imgW="152280" imgH="215640" progId="Equation.3">
                  <p:embed/>
                </p:oleObj>
              </mc:Choice>
              <mc:Fallback>
                <p:oleObj name="方程式" r:id="rId9" imgW="152280" imgH="215640" progId="Equation.3">
                  <p:embed/>
                  <p:pic>
                    <p:nvPicPr>
                      <p:cNvPr id="0" name="Picture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25643" y="2273466"/>
                        <a:ext cx="334963" cy="531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5" name="Object 21"/>
          <p:cNvGraphicFramePr>
            <a:graphicFrameLocks noChangeAspect="1"/>
          </p:cNvGraphicFramePr>
          <p:nvPr/>
        </p:nvGraphicFramePr>
        <p:xfrm>
          <a:off x="827584" y="1700808"/>
          <a:ext cx="3528392" cy="534987"/>
        </p:xfrm>
        <a:graphic>
          <a:graphicData uri="http://schemas.openxmlformats.org/presentationml/2006/ole">
            <mc:AlternateContent xmlns:mc="http://schemas.openxmlformats.org/markup-compatibility/2006">
              <mc:Choice xmlns:v="urn:schemas-microsoft-com:vml" Requires="v">
                <p:oleObj spid="_x0000_s1057" name="方程式" r:id="rId11" imgW="1295280" imgH="253800" progId="Equation.3">
                  <p:embed/>
                </p:oleObj>
              </mc:Choice>
              <mc:Fallback>
                <p:oleObj name="方程式" r:id="rId11" imgW="1295280" imgH="253800" progId="Equation.3">
                  <p:embed/>
                  <p:pic>
                    <p:nvPicPr>
                      <p:cNvPr id="0" name="Picture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7584" y="1700808"/>
                        <a:ext cx="3528392" cy="534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6" name="Object 22"/>
          <p:cNvGraphicFramePr>
            <a:graphicFrameLocks noChangeAspect="1"/>
          </p:cNvGraphicFramePr>
          <p:nvPr/>
        </p:nvGraphicFramePr>
        <p:xfrm>
          <a:off x="4349719" y="1729304"/>
          <a:ext cx="3597275" cy="534988"/>
        </p:xfrm>
        <a:graphic>
          <a:graphicData uri="http://schemas.openxmlformats.org/presentationml/2006/ole">
            <mc:AlternateContent xmlns:mc="http://schemas.openxmlformats.org/markup-compatibility/2006">
              <mc:Choice xmlns:v="urn:schemas-microsoft-com:vml" Requires="v">
                <p:oleObj spid="_x0000_s1058" name="方程式" r:id="rId13" imgW="1320480" imgH="253800" progId="Equation.3">
                  <p:embed/>
                </p:oleObj>
              </mc:Choice>
              <mc:Fallback>
                <p:oleObj name="方程式" r:id="rId13" imgW="1320480" imgH="253800" progId="Equation.3">
                  <p:embed/>
                  <p:pic>
                    <p:nvPicPr>
                      <p:cNvPr id="0" name="Picture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49719" y="1729304"/>
                        <a:ext cx="3597275" cy="534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7" name="Object 23"/>
          <p:cNvGraphicFramePr>
            <a:graphicFrameLocks noChangeAspect="1"/>
          </p:cNvGraphicFramePr>
          <p:nvPr/>
        </p:nvGraphicFramePr>
        <p:xfrm>
          <a:off x="2699792" y="3284984"/>
          <a:ext cx="318542" cy="454025"/>
        </p:xfrm>
        <a:graphic>
          <a:graphicData uri="http://schemas.openxmlformats.org/presentationml/2006/ole">
            <mc:AlternateContent xmlns:mc="http://schemas.openxmlformats.org/markup-compatibility/2006">
              <mc:Choice xmlns:v="urn:schemas-microsoft-com:vml" Requires="v">
                <p:oleObj spid="_x0000_s1059" name="方程式" r:id="rId15" imgW="190440" imgH="215640" progId="Equation.3">
                  <p:embed/>
                </p:oleObj>
              </mc:Choice>
              <mc:Fallback>
                <p:oleObj name="方程式" r:id="rId15" imgW="190440" imgH="215640" progId="Equation.3">
                  <p:embed/>
                  <p:pic>
                    <p:nvPicPr>
                      <p:cNvPr id="0" name="Picture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99792" y="3284984"/>
                        <a:ext cx="318542"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8" name="Object 24"/>
          <p:cNvGraphicFramePr>
            <a:graphicFrameLocks noChangeAspect="1"/>
          </p:cNvGraphicFramePr>
          <p:nvPr/>
        </p:nvGraphicFramePr>
        <p:xfrm>
          <a:off x="1989138" y="3284538"/>
          <a:ext cx="296862" cy="454025"/>
        </p:xfrm>
        <a:graphic>
          <a:graphicData uri="http://schemas.openxmlformats.org/presentationml/2006/ole">
            <mc:AlternateContent xmlns:mc="http://schemas.openxmlformats.org/markup-compatibility/2006">
              <mc:Choice xmlns:v="urn:schemas-microsoft-com:vml" Requires="v">
                <p:oleObj spid="_x0000_s1060" name="方程式" r:id="rId17" imgW="177480" imgH="215640" progId="Equation.3">
                  <p:embed/>
                </p:oleObj>
              </mc:Choice>
              <mc:Fallback>
                <p:oleObj name="方程式" r:id="rId17" imgW="177480" imgH="215640" progId="Equation.3">
                  <p:embed/>
                  <p:pic>
                    <p:nvPicPr>
                      <p:cNvPr id="0" name="Picture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89138" y="3284538"/>
                        <a:ext cx="296862"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9" name="Object 25"/>
          <p:cNvGraphicFramePr>
            <a:graphicFrameLocks noChangeAspect="1"/>
          </p:cNvGraphicFramePr>
          <p:nvPr/>
        </p:nvGraphicFramePr>
        <p:xfrm>
          <a:off x="2627784" y="3789040"/>
          <a:ext cx="2503414" cy="481013"/>
        </p:xfrm>
        <a:graphic>
          <a:graphicData uri="http://schemas.openxmlformats.org/presentationml/2006/ole">
            <mc:AlternateContent xmlns:mc="http://schemas.openxmlformats.org/markup-compatibility/2006">
              <mc:Choice xmlns:v="urn:schemas-microsoft-com:vml" Requires="v">
                <p:oleObj spid="_x0000_s1061" name="方程式" r:id="rId19" imgW="1015920" imgH="228600" progId="Equation.3">
                  <p:embed/>
                </p:oleObj>
              </mc:Choice>
              <mc:Fallback>
                <p:oleObj name="方程式" r:id="rId19" imgW="1015920" imgH="228600" progId="Equation.3">
                  <p:embed/>
                  <p:pic>
                    <p:nvPicPr>
                      <p:cNvPr id="0" name="Picture 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27784" y="3789040"/>
                        <a:ext cx="2503414"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50" name="Object 26"/>
          <p:cNvGraphicFramePr>
            <a:graphicFrameLocks noChangeAspect="1"/>
          </p:cNvGraphicFramePr>
          <p:nvPr/>
        </p:nvGraphicFramePr>
        <p:xfrm>
          <a:off x="2575895" y="4315953"/>
          <a:ext cx="4787900" cy="454025"/>
        </p:xfrm>
        <a:graphic>
          <a:graphicData uri="http://schemas.openxmlformats.org/presentationml/2006/ole">
            <mc:AlternateContent xmlns:mc="http://schemas.openxmlformats.org/markup-compatibility/2006">
              <mc:Choice xmlns:v="urn:schemas-microsoft-com:vml" Requires="v">
                <p:oleObj spid="_x0000_s1062" name="方程式" r:id="rId21" imgW="1942920" imgH="215640" progId="Equation.3">
                  <p:embed/>
                </p:oleObj>
              </mc:Choice>
              <mc:Fallback>
                <p:oleObj name="方程式" r:id="rId21" imgW="1942920" imgH="215640" progId="Equation.3">
                  <p:embed/>
                  <p:pic>
                    <p:nvPicPr>
                      <p:cNvPr id="0" name="Picture 2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575895" y="4315953"/>
                        <a:ext cx="4787900"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51" name="Object 27"/>
          <p:cNvGraphicFramePr>
            <a:graphicFrameLocks noChangeAspect="1"/>
          </p:cNvGraphicFramePr>
          <p:nvPr/>
        </p:nvGraphicFramePr>
        <p:xfrm>
          <a:off x="5364088" y="4869160"/>
          <a:ext cx="344488" cy="454025"/>
        </p:xfrm>
        <a:graphic>
          <a:graphicData uri="http://schemas.openxmlformats.org/presentationml/2006/ole">
            <mc:AlternateContent xmlns:mc="http://schemas.openxmlformats.org/markup-compatibility/2006">
              <mc:Choice xmlns:v="urn:schemas-microsoft-com:vml" Requires="v">
                <p:oleObj spid="_x0000_s1063" name="方程式" r:id="rId23" imgW="139680" imgH="215640" progId="Equation.3">
                  <p:embed/>
                </p:oleObj>
              </mc:Choice>
              <mc:Fallback>
                <p:oleObj name="方程式" r:id="rId23" imgW="139680" imgH="215640" progId="Equation.3">
                  <p:embed/>
                  <p:pic>
                    <p:nvPicPr>
                      <p:cNvPr id="0" name="Picture 2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64088" y="4869160"/>
                        <a:ext cx="344488"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52" name="Object 28"/>
          <p:cNvGraphicFramePr>
            <a:graphicFrameLocks noChangeAspect="1"/>
          </p:cNvGraphicFramePr>
          <p:nvPr/>
        </p:nvGraphicFramePr>
        <p:xfrm>
          <a:off x="6084168" y="4869160"/>
          <a:ext cx="376237" cy="454025"/>
        </p:xfrm>
        <a:graphic>
          <a:graphicData uri="http://schemas.openxmlformats.org/presentationml/2006/ole">
            <mc:AlternateContent xmlns:mc="http://schemas.openxmlformats.org/markup-compatibility/2006">
              <mc:Choice xmlns:v="urn:schemas-microsoft-com:vml" Requires="v">
                <p:oleObj spid="_x0000_s1064" name="方程式" r:id="rId25" imgW="152280" imgH="215640" progId="Equation.3">
                  <p:embed/>
                </p:oleObj>
              </mc:Choice>
              <mc:Fallback>
                <p:oleObj name="方程式" r:id="rId25" imgW="152280" imgH="215640" progId="Equation.3">
                  <p:embed/>
                  <p:pic>
                    <p:nvPicPr>
                      <p:cNvPr id="0" name="Picture 2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084168" y="4869160"/>
                        <a:ext cx="376237"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Basic </a:t>
            </a:r>
            <a:r>
              <a:rPr lang="en-US" altLang="zh-TW" dirty="0" smtClean="0"/>
              <a:t>notations </a:t>
            </a:r>
            <a:r>
              <a:rPr lang="en-US" altLang="zh-TW" dirty="0" smtClean="0"/>
              <a:t>and </a:t>
            </a:r>
            <a:r>
              <a:rPr lang="en-US" altLang="zh-TW" dirty="0" smtClean="0"/>
              <a:t>Definitions </a:t>
            </a:r>
            <a:endParaRPr lang="zh-TW" altLang="en-US" dirty="0"/>
          </a:p>
        </p:txBody>
      </p:sp>
      <p:sp>
        <p:nvSpPr>
          <p:cNvPr id="3" name="內容版面配置區 2"/>
          <p:cNvSpPr>
            <a:spLocks noGrp="1"/>
          </p:cNvSpPr>
          <p:nvPr>
            <p:ph idx="1"/>
          </p:nvPr>
        </p:nvSpPr>
        <p:spPr/>
        <p:txBody>
          <a:bodyPr/>
          <a:lstStyle/>
          <a:p>
            <a:r>
              <a:rPr lang="en-US" altLang="zh-TW" dirty="0" smtClean="0"/>
              <a:t>define the cost of a map g of s1 to s2 as the integer           , where k=|  |. </a:t>
            </a:r>
          </a:p>
          <a:p>
            <a:r>
              <a:rPr lang="en-US" altLang="zh-TW" dirty="0" smtClean="0"/>
              <a:t>The null string  is considered to be a subsequence of any string. </a:t>
            </a:r>
          </a:p>
          <a:p>
            <a:r>
              <a:rPr lang="en-US" altLang="zh-TW" dirty="0" smtClean="0"/>
              <a:t>string x  and S be a non empty set of strings . We write            if  for all                   .</a:t>
            </a:r>
          </a:p>
          <a:p>
            <a:r>
              <a:rPr lang="en-US" altLang="zh-TW" dirty="0" smtClean="0"/>
              <a:t>A candidate solution x is called feasible </a:t>
            </a:r>
          </a:p>
          <a:p>
            <a:pPr>
              <a:buNone/>
            </a:pPr>
            <a:r>
              <a:rPr lang="en-US" altLang="zh-TW" dirty="0" smtClean="0"/>
              <a:t>    if</a:t>
            </a:r>
            <a:endParaRPr lang="zh-TW" altLang="en-US" dirty="0"/>
          </a:p>
        </p:txBody>
      </p:sp>
      <p:graphicFrame>
        <p:nvGraphicFramePr>
          <p:cNvPr id="24580" name="Object 4"/>
          <p:cNvGraphicFramePr>
            <a:graphicFrameLocks noChangeAspect="1"/>
          </p:cNvGraphicFramePr>
          <p:nvPr/>
        </p:nvGraphicFramePr>
        <p:xfrm>
          <a:off x="2123728" y="2132856"/>
          <a:ext cx="938212" cy="481012"/>
        </p:xfrm>
        <a:graphic>
          <a:graphicData uri="http://schemas.openxmlformats.org/presentationml/2006/ole">
            <mc:AlternateContent xmlns:mc="http://schemas.openxmlformats.org/markup-compatibility/2006">
              <mc:Choice xmlns:v="urn:schemas-microsoft-com:vml" Requires="v">
                <p:oleObj spid="_x0000_s24586" name="方程式" r:id="rId3" imgW="380880" imgH="228600" progId="Equation.3">
                  <p:embed/>
                </p:oleObj>
              </mc:Choice>
              <mc:Fallback>
                <p:oleObj name="方程式" r:id="rId3" imgW="380880" imgH="2286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2132856"/>
                        <a:ext cx="938212"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2" name="Object 6"/>
          <p:cNvGraphicFramePr>
            <a:graphicFrameLocks noChangeAspect="1"/>
          </p:cNvGraphicFramePr>
          <p:nvPr/>
        </p:nvGraphicFramePr>
        <p:xfrm>
          <a:off x="4860032" y="2132856"/>
          <a:ext cx="344487" cy="454025"/>
        </p:xfrm>
        <a:graphic>
          <a:graphicData uri="http://schemas.openxmlformats.org/presentationml/2006/ole">
            <mc:AlternateContent xmlns:mc="http://schemas.openxmlformats.org/markup-compatibility/2006">
              <mc:Choice xmlns:v="urn:schemas-microsoft-com:vml" Requires="v">
                <p:oleObj spid="_x0000_s24587" name="方程式" r:id="rId5" imgW="139680" imgH="215640" progId="Equation.3">
                  <p:embed/>
                </p:oleObj>
              </mc:Choice>
              <mc:Fallback>
                <p:oleObj name="方程式" r:id="rId5" imgW="139680" imgH="215640"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0032" y="2132856"/>
                        <a:ext cx="344487"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3" name="Object 7"/>
          <p:cNvGraphicFramePr>
            <a:graphicFrameLocks noChangeAspect="1"/>
          </p:cNvGraphicFramePr>
          <p:nvPr/>
        </p:nvGraphicFramePr>
        <p:xfrm>
          <a:off x="2411760" y="4365104"/>
          <a:ext cx="995908" cy="373063"/>
        </p:xfrm>
        <a:graphic>
          <a:graphicData uri="http://schemas.openxmlformats.org/presentationml/2006/ole">
            <mc:AlternateContent xmlns:mc="http://schemas.openxmlformats.org/markup-compatibility/2006">
              <mc:Choice xmlns:v="urn:schemas-microsoft-com:vml" Requires="v">
                <p:oleObj spid="_x0000_s24588" name="方程式" r:id="rId7" imgW="380880" imgH="177480" progId="Equation.3">
                  <p:embed/>
                </p:oleObj>
              </mc:Choice>
              <mc:Fallback>
                <p:oleObj name="方程式" r:id="rId7" imgW="380880" imgH="177480" progId="Equation.3">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11760" y="4365104"/>
                        <a:ext cx="995908" cy="373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4" name="Object 8"/>
          <p:cNvGraphicFramePr>
            <a:graphicFrameLocks noChangeAspect="1"/>
          </p:cNvGraphicFramePr>
          <p:nvPr/>
        </p:nvGraphicFramePr>
        <p:xfrm>
          <a:off x="4860032" y="4293096"/>
          <a:ext cx="1667098" cy="479425"/>
        </p:xfrm>
        <a:graphic>
          <a:graphicData uri="http://schemas.openxmlformats.org/presentationml/2006/ole">
            <mc:AlternateContent xmlns:mc="http://schemas.openxmlformats.org/markup-compatibility/2006">
              <mc:Choice xmlns:v="urn:schemas-microsoft-com:vml" Requires="v">
                <p:oleObj spid="_x0000_s24589" name="方程式" r:id="rId9" imgW="774360" imgH="228600" progId="Equation.3">
                  <p:embed/>
                </p:oleObj>
              </mc:Choice>
              <mc:Fallback>
                <p:oleObj name="方程式" r:id="rId9" imgW="774360" imgH="228600" progId="Equation.3">
                  <p:embed/>
                  <p:pic>
                    <p:nvPicPr>
                      <p:cNvPr id="0"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60032" y="4293096"/>
                        <a:ext cx="1667098"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5" name="Object 9"/>
          <p:cNvGraphicFramePr>
            <a:graphicFrameLocks noChangeAspect="1"/>
          </p:cNvGraphicFramePr>
          <p:nvPr/>
        </p:nvGraphicFramePr>
        <p:xfrm>
          <a:off x="1259632" y="5517232"/>
          <a:ext cx="996950" cy="373063"/>
        </p:xfrm>
        <a:graphic>
          <a:graphicData uri="http://schemas.openxmlformats.org/presentationml/2006/ole">
            <mc:AlternateContent xmlns:mc="http://schemas.openxmlformats.org/markup-compatibility/2006">
              <mc:Choice xmlns:v="urn:schemas-microsoft-com:vml" Requires="v">
                <p:oleObj spid="_x0000_s24590" name="方程式" r:id="rId11" imgW="380880" imgH="177480" progId="Equation.3">
                  <p:embed/>
                </p:oleObj>
              </mc:Choice>
              <mc:Fallback>
                <p:oleObj name="方程式" r:id="rId11" imgW="380880" imgH="177480" progId="Equation.3">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9632" y="5517232"/>
                        <a:ext cx="996950" cy="373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0"/>
            <a:ext cx="8229600" cy="1143000"/>
          </a:xfrm>
        </p:spPr>
        <p:txBody>
          <a:bodyPr/>
          <a:lstStyle/>
          <a:p>
            <a:r>
              <a:rPr lang="en-US" altLang="zh-TW" dirty="0" smtClean="0"/>
              <a:t>Basic </a:t>
            </a:r>
            <a:r>
              <a:rPr lang="en-US" altLang="zh-TW" dirty="0" smtClean="0"/>
              <a:t>Notations </a:t>
            </a:r>
            <a:r>
              <a:rPr lang="en-US" altLang="zh-TW" dirty="0" smtClean="0"/>
              <a:t>and </a:t>
            </a:r>
            <a:r>
              <a:rPr lang="en-US" altLang="zh-TW" dirty="0" smtClean="0"/>
              <a:t>Definitions </a:t>
            </a:r>
            <a:endParaRPr lang="zh-TW" altLang="en-US" dirty="0"/>
          </a:p>
        </p:txBody>
      </p:sp>
      <p:sp>
        <p:nvSpPr>
          <p:cNvPr id="3" name="內容版面配置區 2"/>
          <p:cNvSpPr>
            <a:spLocks noGrp="1"/>
          </p:cNvSpPr>
          <p:nvPr>
            <p:ph idx="1"/>
          </p:nvPr>
        </p:nvSpPr>
        <p:spPr>
          <a:xfrm>
            <a:off x="457200" y="1124744"/>
            <a:ext cx="8229600" cy="5001419"/>
          </a:xfrm>
        </p:spPr>
        <p:txBody>
          <a:bodyPr/>
          <a:lstStyle/>
          <a:p>
            <a:r>
              <a:rPr lang="en-US" altLang="zh-TW" dirty="0" smtClean="0"/>
              <a:t>         :the cost of the optimal(</a:t>
            </a:r>
            <a:r>
              <a:rPr lang="en-US" altLang="zh-TW" dirty="0" err="1" smtClean="0"/>
              <a:t>minial</a:t>
            </a:r>
            <a:r>
              <a:rPr lang="en-US" altLang="zh-TW" dirty="0" smtClean="0"/>
              <a:t>) map of x to      .</a:t>
            </a:r>
          </a:p>
          <a:p>
            <a:r>
              <a:rPr lang="en-US" altLang="zh-TW" dirty="0" smtClean="0"/>
              <a:t>         :|  |-          </a:t>
            </a:r>
          </a:p>
          <a:p>
            <a:r>
              <a:rPr lang="en-US" altLang="zh-TW" dirty="0" smtClean="0"/>
              <a:t>         :the string obtained by deleting the first  </a:t>
            </a:r>
          </a:p>
          <a:p>
            <a:pPr>
              <a:buNone/>
            </a:pPr>
            <a:r>
              <a:rPr lang="en-US" altLang="zh-TW" dirty="0" smtClean="0"/>
              <a:t>              characters from  </a:t>
            </a:r>
          </a:p>
          <a:p>
            <a:r>
              <a:rPr lang="en-US" altLang="zh-TW" dirty="0" smtClean="0"/>
              <a:t>R(x) :the set of  </a:t>
            </a:r>
            <a:endParaRPr lang="zh-TW" altLang="en-US" dirty="0"/>
          </a:p>
        </p:txBody>
      </p:sp>
      <p:graphicFrame>
        <p:nvGraphicFramePr>
          <p:cNvPr id="26626" name="Object 2"/>
          <p:cNvGraphicFramePr>
            <a:graphicFrameLocks noChangeAspect="1"/>
          </p:cNvGraphicFramePr>
          <p:nvPr/>
        </p:nvGraphicFramePr>
        <p:xfrm>
          <a:off x="827584" y="1196752"/>
          <a:ext cx="906462" cy="481013"/>
        </p:xfrm>
        <a:graphic>
          <a:graphicData uri="http://schemas.openxmlformats.org/presentationml/2006/ole">
            <mc:AlternateContent xmlns:mc="http://schemas.openxmlformats.org/markup-compatibility/2006">
              <mc:Choice xmlns:v="urn:schemas-microsoft-com:vml" Requires="v">
                <p:oleObj spid="_x0000_s26637" name="方程式" r:id="rId3" imgW="368280" imgH="228600" progId="Equation.3">
                  <p:embed/>
                </p:oleObj>
              </mc:Choice>
              <mc:Fallback>
                <p:oleObj name="方程式" r:id="rId3" imgW="368280" imgH="2286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1196752"/>
                        <a:ext cx="906462"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7" name="Object 3"/>
          <p:cNvGraphicFramePr>
            <a:graphicFrameLocks noChangeAspect="1"/>
          </p:cNvGraphicFramePr>
          <p:nvPr/>
        </p:nvGraphicFramePr>
        <p:xfrm>
          <a:off x="1331640" y="1700808"/>
          <a:ext cx="344487" cy="481012"/>
        </p:xfrm>
        <a:graphic>
          <a:graphicData uri="http://schemas.openxmlformats.org/presentationml/2006/ole">
            <mc:AlternateContent xmlns:mc="http://schemas.openxmlformats.org/markup-compatibility/2006">
              <mc:Choice xmlns:v="urn:schemas-microsoft-com:vml" Requires="v">
                <p:oleObj spid="_x0000_s26638" name="方程式" r:id="rId5" imgW="139680" imgH="228600" progId="Equation.3">
                  <p:embed/>
                </p:oleObj>
              </mc:Choice>
              <mc:Fallback>
                <p:oleObj name="方程式" r:id="rId5" imgW="139680" imgH="2286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640" y="1700808"/>
                        <a:ext cx="344487"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8" name="Object 4"/>
          <p:cNvGraphicFramePr>
            <a:graphicFrameLocks noChangeAspect="1"/>
          </p:cNvGraphicFramePr>
          <p:nvPr/>
        </p:nvGraphicFramePr>
        <p:xfrm>
          <a:off x="827584" y="2276872"/>
          <a:ext cx="874712" cy="481012"/>
        </p:xfrm>
        <a:graphic>
          <a:graphicData uri="http://schemas.openxmlformats.org/presentationml/2006/ole">
            <mc:AlternateContent xmlns:mc="http://schemas.openxmlformats.org/markup-compatibility/2006">
              <mc:Choice xmlns:v="urn:schemas-microsoft-com:vml" Requires="v">
                <p:oleObj spid="_x0000_s26639" name="方程式" r:id="rId7" imgW="355320" imgH="228600" progId="Equation.3">
                  <p:embed/>
                </p:oleObj>
              </mc:Choice>
              <mc:Fallback>
                <p:oleObj name="方程式" r:id="rId7" imgW="355320" imgH="2286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584" y="2276872"/>
                        <a:ext cx="874712"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9" name="Object 5"/>
          <p:cNvGraphicFramePr>
            <a:graphicFrameLocks noChangeAspect="1"/>
          </p:cNvGraphicFramePr>
          <p:nvPr/>
        </p:nvGraphicFramePr>
        <p:xfrm>
          <a:off x="899592" y="2852936"/>
          <a:ext cx="781050" cy="481012"/>
        </p:xfrm>
        <a:graphic>
          <a:graphicData uri="http://schemas.openxmlformats.org/presentationml/2006/ole">
            <mc:AlternateContent xmlns:mc="http://schemas.openxmlformats.org/markup-compatibility/2006">
              <mc:Choice xmlns:v="urn:schemas-microsoft-com:vml" Requires="v">
                <p:oleObj spid="_x0000_s26640" name="方程式" r:id="rId9" imgW="317160" imgH="228600" progId="Equation.3">
                  <p:embed/>
                </p:oleObj>
              </mc:Choice>
              <mc:Fallback>
                <p:oleObj name="方程式" r:id="rId9" imgW="317160" imgH="22860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9592" y="2852936"/>
                        <a:ext cx="781050"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1" name="Object 7"/>
          <p:cNvGraphicFramePr>
            <a:graphicFrameLocks noChangeAspect="1"/>
          </p:cNvGraphicFramePr>
          <p:nvPr/>
        </p:nvGraphicFramePr>
        <p:xfrm>
          <a:off x="1907704" y="2276872"/>
          <a:ext cx="344487" cy="481012"/>
        </p:xfrm>
        <a:graphic>
          <a:graphicData uri="http://schemas.openxmlformats.org/presentationml/2006/ole">
            <mc:AlternateContent xmlns:mc="http://schemas.openxmlformats.org/markup-compatibility/2006">
              <mc:Choice xmlns:v="urn:schemas-microsoft-com:vml" Requires="v">
                <p:oleObj spid="_x0000_s26641" name="方程式" r:id="rId11" imgW="139680" imgH="228600" progId="Equation.3">
                  <p:embed/>
                </p:oleObj>
              </mc:Choice>
              <mc:Fallback>
                <p:oleObj name="方程式" r:id="rId11" imgW="139680" imgH="22860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7704" y="2276872"/>
                        <a:ext cx="344487"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3" name="Object 9"/>
          <p:cNvGraphicFramePr>
            <a:graphicFrameLocks noChangeAspect="1"/>
          </p:cNvGraphicFramePr>
          <p:nvPr/>
        </p:nvGraphicFramePr>
        <p:xfrm>
          <a:off x="2483768" y="2276872"/>
          <a:ext cx="906462" cy="481013"/>
        </p:xfrm>
        <a:graphic>
          <a:graphicData uri="http://schemas.openxmlformats.org/presentationml/2006/ole">
            <mc:AlternateContent xmlns:mc="http://schemas.openxmlformats.org/markup-compatibility/2006">
              <mc:Choice xmlns:v="urn:schemas-microsoft-com:vml" Requires="v">
                <p:oleObj spid="_x0000_s26642" name="方程式" r:id="rId12" imgW="368280" imgH="228600" progId="Equation.3">
                  <p:embed/>
                </p:oleObj>
              </mc:Choice>
              <mc:Fallback>
                <p:oleObj name="方程式" r:id="rId12" imgW="368280" imgH="228600" progId="Equation.3">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3768" y="2276872"/>
                        <a:ext cx="906462"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4" name="Object 10"/>
          <p:cNvGraphicFramePr>
            <a:graphicFrameLocks noChangeAspect="1"/>
          </p:cNvGraphicFramePr>
          <p:nvPr/>
        </p:nvGraphicFramePr>
        <p:xfrm>
          <a:off x="871994" y="3465821"/>
          <a:ext cx="906462" cy="481013"/>
        </p:xfrm>
        <a:graphic>
          <a:graphicData uri="http://schemas.openxmlformats.org/presentationml/2006/ole">
            <mc:AlternateContent xmlns:mc="http://schemas.openxmlformats.org/markup-compatibility/2006">
              <mc:Choice xmlns:v="urn:schemas-microsoft-com:vml" Requires="v">
                <p:oleObj spid="_x0000_s26643" name="方程式" r:id="rId13" imgW="368280" imgH="228600" progId="Equation.3">
                  <p:embed/>
                </p:oleObj>
              </mc:Choice>
              <mc:Fallback>
                <p:oleObj name="方程式" r:id="rId13" imgW="368280" imgH="228600" progId="Equation.3">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1994" y="3465821"/>
                        <a:ext cx="906462"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5" name="Object 11"/>
          <p:cNvGraphicFramePr>
            <a:graphicFrameLocks noChangeAspect="1"/>
          </p:cNvGraphicFramePr>
          <p:nvPr/>
        </p:nvGraphicFramePr>
        <p:xfrm>
          <a:off x="4499992" y="3429000"/>
          <a:ext cx="432048" cy="603275"/>
        </p:xfrm>
        <a:graphic>
          <a:graphicData uri="http://schemas.openxmlformats.org/presentationml/2006/ole">
            <mc:AlternateContent xmlns:mc="http://schemas.openxmlformats.org/markup-compatibility/2006">
              <mc:Choice xmlns:v="urn:schemas-microsoft-com:vml" Requires="v">
                <p:oleObj spid="_x0000_s26644" name="方程式" r:id="rId14" imgW="139680" imgH="228600" progId="Equation.3">
                  <p:embed/>
                </p:oleObj>
              </mc:Choice>
              <mc:Fallback>
                <p:oleObj name="方程式" r:id="rId14" imgW="139680" imgH="228600" progId="Equation.3">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9992" y="3429000"/>
                        <a:ext cx="432048" cy="603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6" name="Object 12"/>
          <p:cNvGraphicFramePr>
            <a:graphicFrameLocks noChangeAspect="1"/>
          </p:cNvGraphicFramePr>
          <p:nvPr/>
        </p:nvGraphicFramePr>
        <p:xfrm>
          <a:off x="3419872" y="4005064"/>
          <a:ext cx="781050" cy="481012"/>
        </p:xfrm>
        <a:graphic>
          <a:graphicData uri="http://schemas.openxmlformats.org/presentationml/2006/ole">
            <mc:AlternateContent xmlns:mc="http://schemas.openxmlformats.org/markup-compatibility/2006">
              <mc:Choice xmlns:v="urn:schemas-microsoft-com:vml" Requires="v">
                <p:oleObj spid="_x0000_s26645" name="方程式" r:id="rId15" imgW="317160" imgH="228600" progId="Equation.3">
                  <p:embed/>
                </p:oleObj>
              </mc:Choice>
              <mc:Fallback>
                <p:oleObj name="方程式" r:id="rId15" imgW="317160" imgH="228600" progId="Equation.3">
                  <p:embed/>
                  <p:pic>
                    <p:nvPicPr>
                      <p:cNvPr id="0"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19872" y="4005064"/>
                        <a:ext cx="781050"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637" name="Picture 13"/>
          <p:cNvPicPr>
            <a:picLocks noChangeAspect="1" noChangeArrowheads="1"/>
          </p:cNvPicPr>
          <p:nvPr/>
        </p:nvPicPr>
        <p:blipFill>
          <a:blip r:embed="rId16" cstate="print"/>
          <a:srcRect/>
          <a:stretch>
            <a:fillRect/>
          </a:stretch>
        </p:blipFill>
        <p:spPr bwMode="auto">
          <a:xfrm>
            <a:off x="755576" y="4653136"/>
            <a:ext cx="7056784" cy="193063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a:t>
            </a:r>
            <a:r>
              <a:rPr lang="en-US" altLang="zh-TW" dirty="0" smtClean="0"/>
              <a:t>lgorithm </a:t>
            </a:r>
            <a:endParaRPr lang="zh-TW" altLang="en-US" dirty="0"/>
          </a:p>
        </p:txBody>
      </p:sp>
      <p:sp>
        <p:nvSpPr>
          <p:cNvPr id="3" name="內容版面配置區 2"/>
          <p:cNvSpPr>
            <a:spLocks noGrp="1"/>
          </p:cNvSpPr>
          <p:nvPr>
            <p:ph idx="1"/>
          </p:nvPr>
        </p:nvSpPr>
        <p:spPr>
          <a:xfrm>
            <a:off x="457200" y="1196752"/>
            <a:ext cx="8229600" cy="4929411"/>
          </a:xfrm>
        </p:spPr>
        <p:txBody>
          <a:bodyPr>
            <a:normAutofit/>
          </a:bodyPr>
          <a:lstStyle/>
          <a:p>
            <a:endParaRPr lang="en-US" altLang="zh-TW" dirty="0" smtClean="0"/>
          </a:p>
        </p:txBody>
      </p:sp>
      <p:pic>
        <p:nvPicPr>
          <p:cNvPr id="6" name="Picture 3"/>
          <p:cNvPicPr>
            <a:picLocks noChangeAspect="1" noChangeArrowheads="1"/>
          </p:cNvPicPr>
          <p:nvPr/>
        </p:nvPicPr>
        <p:blipFill>
          <a:blip r:embed="rId2" cstate="print"/>
          <a:srcRect/>
          <a:stretch>
            <a:fillRect/>
          </a:stretch>
        </p:blipFill>
        <p:spPr bwMode="auto">
          <a:xfrm>
            <a:off x="4499992" y="1268760"/>
            <a:ext cx="4849058" cy="3153916"/>
          </a:xfrm>
          <a:prstGeom prst="rect">
            <a:avLst/>
          </a:prstGeom>
          <a:noFill/>
          <a:ln w="9525">
            <a:noFill/>
            <a:miter lim="800000"/>
            <a:headEnd/>
            <a:tailEnd/>
          </a:ln>
        </p:spPr>
      </p:pic>
      <p:pic>
        <p:nvPicPr>
          <p:cNvPr id="25602" name="Picture 2"/>
          <p:cNvPicPr>
            <a:picLocks noChangeAspect="1" noChangeArrowheads="1"/>
          </p:cNvPicPr>
          <p:nvPr/>
        </p:nvPicPr>
        <p:blipFill>
          <a:blip r:embed="rId3" cstate="print"/>
          <a:srcRect/>
          <a:stretch>
            <a:fillRect/>
          </a:stretch>
        </p:blipFill>
        <p:spPr bwMode="auto">
          <a:xfrm>
            <a:off x="467544" y="1106776"/>
            <a:ext cx="4032448" cy="436784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a:t>
            </a:r>
            <a:r>
              <a:rPr lang="en-US" altLang="zh-TW" dirty="0" smtClean="0"/>
              <a:t>ough </a:t>
            </a:r>
            <a:r>
              <a:rPr lang="en-US" altLang="zh-TW" dirty="0" smtClean="0"/>
              <a:t>S</a:t>
            </a:r>
            <a:r>
              <a:rPr lang="en-US" altLang="zh-TW" dirty="0" smtClean="0"/>
              <a:t>teps</a:t>
            </a:r>
            <a:endParaRPr lang="zh-TW" altLang="en-US" dirty="0"/>
          </a:p>
        </p:txBody>
      </p:sp>
      <p:sp>
        <p:nvSpPr>
          <p:cNvPr id="3" name="內容版面配置區 2"/>
          <p:cNvSpPr>
            <a:spLocks noGrp="1"/>
          </p:cNvSpPr>
          <p:nvPr>
            <p:ph idx="1"/>
          </p:nvPr>
        </p:nvSpPr>
        <p:spPr/>
        <p:txBody>
          <a:bodyPr/>
          <a:lstStyle/>
          <a:p>
            <a:r>
              <a:rPr lang="en-US" altLang="zh-TW" dirty="0" smtClean="0"/>
              <a:t>While loop</a:t>
            </a:r>
          </a:p>
          <a:p>
            <a:pPr lvl="1"/>
            <a:r>
              <a:rPr lang="en-US" altLang="zh-TW" dirty="0" smtClean="0"/>
              <a:t>Step 1, builds longer (feasible) candidate solutions //at most </a:t>
            </a:r>
            <a:r>
              <a:rPr lang="el-GR" altLang="zh-TW" dirty="0" smtClean="0"/>
              <a:t>β</a:t>
            </a:r>
            <a:r>
              <a:rPr lang="en-US" altLang="zh-TW" dirty="0" smtClean="0"/>
              <a:t> of candidate solutions </a:t>
            </a:r>
          </a:p>
          <a:p>
            <a:pPr lvl="1"/>
            <a:r>
              <a:rPr lang="en-US" altLang="zh-TW" dirty="0" smtClean="0"/>
              <a:t>Step 2, for each candidate solutions evaluate its heuristic value // by heuristic(.)</a:t>
            </a:r>
            <a:endParaRPr lang="en-US" altLang="zh-TW" b="1" dirty="0" smtClean="0"/>
          </a:p>
          <a:p>
            <a:pPr lvl="1"/>
            <a:r>
              <a:rPr lang="en-US" altLang="zh-TW" dirty="0" smtClean="0"/>
              <a:t>Step 3,we  can got k-best candidate solutions (by step2) ,then remove the candidate solution which is </a:t>
            </a:r>
            <a:r>
              <a:rPr lang="en-US" altLang="zh-TW" b="1" dirty="0" smtClean="0"/>
              <a:t>dominated</a:t>
            </a:r>
            <a:r>
              <a:rPr lang="en-US" altLang="zh-TW" dirty="0" smtClean="0"/>
              <a:t> by the k-best .</a:t>
            </a:r>
          </a:p>
          <a:p>
            <a:pPr lvl="1"/>
            <a:endParaRPr lang="zh-TW"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a:t>
            </a:r>
            <a:r>
              <a:rPr lang="en-US" altLang="zh-TW" dirty="0" smtClean="0"/>
              <a:t>ominated</a:t>
            </a:r>
            <a:endParaRPr lang="zh-TW" altLang="en-US" dirty="0"/>
          </a:p>
        </p:txBody>
      </p:sp>
      <p:sp>
        <p:nvSpPr>
          <p:cNvPr id="3" name="內容版面配置區 2"/>
          <p:cNvSpPr>
            <a:spLocks noGrp="1"/>
          </p:cNvSpPr>
          <p:nvPr>
            <p:ph idx="1"/>
          </p:nvPr>
        </p:nvSpPr>
        <p:spPr/>
        <p:txBody>
          <a:bodyPr/>
          <a:lstStyle/>
          <a:p>
            <a:r>
              <a:rPr lang="en-US" altLang="zh-TW" dirty="0" smtClean="0"/>
              <a:t>A candidate solution    is dominated by another candidate solution     if</a:t>
            </a:r>
          </a:p>
          <a:p>
            <a:endParaRPr lang="en-US" altLang="zh-TW" dirty="0" smtClean="0"/>
          </a:p>
          <a:p>
            <a:endParaRPr lang="en-US" altLang="zh-TW" dirty="0" smtClean="0"/>
          </a:p>
          <a:p>
            <a:r>
              <a:rPr lang="en-US" altLang="zh-TW" dirty="0" smtClean="0"/>
              <a:t>S = </a:t>
            </a:r>
            <a:r>
              <a:rPr lang="en-US" altLang="zh-TW" dirty="0" err="1" smtClean="0"/>
              <a:t>abcab</a:t>
            </a:r>
            <a:r>
              <a:rPr lang="en-US" altLang="zh-TW" dirty="0" smtClean="0"/>
              <a:t> , j = </a:t>
            </a:r>
            <a:r>
              <a:rPr lang="en-US" altLang="zh-TW" dirty="0" err="1" smtClean="0"/>
              <a:t>aa</a:t>
            </a:r>
            <a:r>
              <a:rPr lang="en-US" altLang="zh-TW" dirty="0" smtClean="0"/>
              <a:t> , k = ac</a:t>
            </a:r>
          </a:p>
          <a:p>
            <a:pPr>
              <a:buNone/>
            </a:pPr>
            <a:r>
              <a:rPr lang="en-US" altLang="zh-TW" dirty="0" smtClean="0"/>
              <a:t>    p(j)= 4 &gt; p(k)=3  //  j is dominated by k</a:t>
            </a:r>
            <a:endParaRPr lang="zh-TW" altLang="en-US" dirty="0"/>
          </a:p>
        </p:txBody>
      </p:sp>
      <p:graphicFrame>
        <p:nvGraphicFramePr>
          <p:cNvPr id="27651" name="Object 3"/>
          <p:cNvGraphicFramePr>
            <a:graphicFrameLocks noChangeAspect="1"/>
          </p:cNvGraphicFramePr>
          <p:nvPr/>
        </p:nvGraphicFramePr>
        <p:xfrm>
          <a:off x="4283968" y="1700808"/>
          <a:ext cx="436563" cy="508000"/>
        </p:xfrm>
        <a:graphic>
          <a:graphicData uri="http://schemas.openxmlformats.org/presentationml/2006/ole">
            <mc:AlternateContent xmlns:mc="http://schemas.openxmlformats.org/markup-compatibility/2006">
              <mc:Choice xmlns:v="urn:schemas-microsoft-com:vml" Requires="v">
                <p:oleObj spid="_x0000_s27654" name="方程式" r:id="rId3" imgW="177480" imgH="241200" progId="Equation.3">
                  <p:embed/>
                </p:oleObj>
              </mc:Choice>
              <mc:Fallback>
                <p:oleObj name="方程式" r:id="rId3" imgW="177480" imgH="24120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3968" y="1700808"/>
                        <a:ext cx="436563"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2" name="Object 4"/>
          <p:cNvGraphicFramePr>
            <a:graphicFrameLocks noChangeAspect="1"/>
          </p:cNvGraphicFramePr>
          <p:nvPr/>
        </p:nvGraphicFramePr>
        <p:xfrm>
          <a:off x="5364088" y="2204864"/>
          <a:ext cx="436563" cy="481012"/>
        </p:xfrm>
        <a:graphic>
          <a:graphicData uri="http://schemas.openxmlformats.org/presentationml/2006/ole">
            <mc:AlternateContent xmlns:mc="http://schemas.openxmlformats.org/markup-compatibility/2006">
              <mc:Choice xmlns:v="urn:schemas-microsoft-com:vml" Requires="v">
                <p:oleObj spid="_x0000_s27655" name="方程式" r:id="rId5" imgW="177480" imgH="228600" progId="Equation.3">
                  <p:embed/>
                </p:oleObj>
              </mc:Choice>
              <mc:Fallback>
                <p:oleObj name="方程式" r:id="rId5" imgW="177480" imgH="22860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088" y="2204864"/>
                        <a:ext cx="436563"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3" name="Object 5"/>
          <p:cNvGraphicFramePr>
            <a:graphicFrameLocks noChangeAspect="1"/>
          </p:cNvGraphicFramePr>
          <p:nvPr/>
        </p:nvGraphicFramePr>
        <p:xfrm>
          <a:off x="827584" y="2780928"/>
          <a:ext cx="4052887" cy="506412"/>
        </p:xfrm>
        <a:graphic>
          <a:graphicData uri="http://schemas.openxmlformats.org/presentationml/2006/ole">
            <mc:AlternateContent xmlns:mc="http://schemas.openxmlformats.org/markup-compatibility/2006">
              <mc:Choice xmlns:v="urn:schemas-microsoft-com:vml" Requires="v">
                <p:oleObj spid="_x0000_s27656" name="方程式" r:id="rId7" imgW="1650960" imgH="241200" progId="Equation.3">
                  <p:embed/>
                </p:oleObj>
              </mc:Choice>
              <mc:Fallback>
                <p:oleObj name="方程式" r:id="rId7" imgW="1650960" imgH="241200" progId="Equation.3">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584" y="2780928"/>
                        <a:ext cx="4052887" cy="506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a:t>
            </a:r>
            <a:r>
              <a:rPr lang="en-US" altLang="zh-TW" dirty="0" smtClean="0"/>
              <a:t>robabilistic Heuristic</a:t>
            </a:r>
            <a:endParaRPr lang="zh-TW" altLang="en-US" dirty="0"/>
          </a:p>
        </p:txBody>
      </p:sp>
      <p:sp>
        <p:nvSpPr>
          <p:cNvPr id="3" name="內容版面配置區 2"/>
          <p:cNvSpPr>
            <a:spLocks noGrp="1"/>
          </p:cNvSpPr>
          <p:nvPr>
            <p:ph idx="1"/>
          </p:nvPr>
        </p:nvSpPr>
        <p:spPr/>
        <p:txBody>
          <a:bodyPr/>
          <a:lstStyle/>
          <a:p>
            <a:r>
              <a:rPr lang="en-US" altLang="zh-TW" dirty="0" smtClean="0"/>
              <a:t>Let x be a candidate solution,           mean the probability for                , where s is a random string of length k </a:t>
            </a:r>
          </a:p>
          <a:p>
            <a:r>
              <a:rPr lang="en-US" altLang="zh-TW" dirty="0" smtClean="0"/>
              <a:t>Authors thought that for a fair comparison, k has to be the same for all candidate solutions which are to be compared</a:t>
            </a:r>
          </a:p>
          <a:p>
            <a:r>
              <a:rPr lang="en-US" altLang="zh-TW" dirty="0" smtClean="0"/>
              <a:t>They also said, how to find the best value for k still remains as an open question.</a:t>
            </a:r>
            <a:endParaRPr lang="zh-TW" altLang="en-US" dirty="0"/>
          </a:p>
        </p:txBody>
      </p:sp>
      <p:graphicFrame>
        <p:nvGraphicFramePr>
          <p:cNvPr id="28674" name="Object 2"/>
          <p:cNvGraphicFramePr>
            <a:graphicFrameLocks noChangeAspect="1"/>
          </p:cNvGraphicFramePr>
          <p:nvPr/>
        </p:nvGraphicFramePr>
        <p:xfrm>
          <a:off x="5796136" y="1700808"/>
          <a:ext cx="906462" cy="481013"/>
        </p:xfrm>
        <a:graphic>
          <a:graphicData uri="http://schemas.openxmlformats.org/presentationml/2006/ole">
            <mc:AlternateContent xmlns:mc="http://schemas.openxmlformats.org/markup-compatibility/2006">
              <mc:Choice xmlns:v="urn:schemas-microsoft-com:vml" Requires="v">
                <p:oleObj spid="_x0000_s28676" name="方程式" r:id="rId3" imgW="368280" imgH="228600" progId="Equation.3">
                  <p:embed/>
                </p:oleObj>
              </mc:Choice>
              <mc:Fallback>
                <p:oleObj name="方程式" r:id="rId3" imgW="368280" imgH="2286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6136" y="1700808"/>
                        <a:ext cx="906462"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5" name="Object 3"/>
          <p:cNvGraphicFramePr>
            <a:graphicFrameLocks noChangeAspect="1"/>
          </p:cNvGraphicFramePr>
          <p:nvPr/>
        </p:nvGraphicFramePr>
        <p:xfrm>
          <a:off x="3275856" y="2204864"/>
          <a:ext cx="1376362" cy="427037"/>
        </p:xfrm>
        <a:graphic>
          <a:graphicData uri="http://schemas.openxmlformats.org/presentationml/2006/ole">
            <mc:AlternateContent xmlns:mc="http://schemas.openxmlformats.org/markup-compatibility/2006">
              <mc:Choice xmlns:v="urn:schemas-microsoft-com:vml" Requires="v">
                <p:oleObj spid="_x0000_s28677" name="方程式" r:id="rId5" imgW="558720" imgH="203040" progId="Equation.3">
                  <p:embed/>
                </p:oleObj>
              </mc:Choice>
              <mc:Fallback>
                <p:oleObj name="方程式" r:id="rId5" imgW="558720" imgH="20304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5856" y="2204864"/>
                        <a:ext cx="1376362" cy="427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a:t>
            </a:r>
            <a:r>
              <a:rPr lang="en-US" altLang="zh-TW" dirty="0" smtClean="0"/>
              <a:t>robabilistic </a:t>
            </a:r>
            <a:r>
              <a:rPr lang="en-US" altLang="zh-TW" dirty="0" smtClean="0"/>
              <a:t>H</a:t>
            </a:r>
            <a:r>
              <a:rPr lang="en-US" altLang="zh-TW" dirty="0" smtClean="0"/>
              <a:t>euristic</a:t>
            </a:r>
            <a:endParaRPr lang="zh-TW" altLang="en-US" dirty="0"/>
          </a:p>
        </p:txBody>
      </p:sp>
      <p:sp>
        <p:nvSpPr>
          <p:cNvPr id="3" name="內容版面配置區 2"/>
          <p:cNvSpPr>
            <a:spLocks noGrp="1"/>
          </p:cNvSpPr>
          <p:nvPr>
            <p:ph idx="1"/>
          </p:nvPr>
        </p:nvSpPr>
        <p:spPr/>
        <p:txBody>
          <a:bodyPr>
            <a:normAutofit/>
          </a:bodyPr>
          <a:lstStyle/>
          <a:p>
            <a:r>
              <a:rPr lang="en-US" altLang="zh-TW" dirty="0" smtClean="0"/>
              <a:t>We make the assumption that the strings in S are ‘independent’.</a:t>
            </a:r>
          </a:p>
          <a:p>
            <a:r>
              <a:rPr lang="en-US" altLang="zh-TW" dirty="0" smtClean="0"/>
              <a:t>           =</a:t>
            </a:r>
          </a:p>
          <a:p>
            <a:endParaRPr lang="en-US" altLang="zh-TW" dirty="0" smtClean="0"/>
          </a:p>
          <a:p>
            <a:pPr>
              <a:buNone/>
            </a:pPr>
            <a:endParaRPr lang="en-US" altLang="zh-TW" dirty="0" smtClean="0"/>
          </a:p>
          <a:p>
            <a:endParaRPr lang="zh-TW" altLang="en-US" dirty="0"/>
          </a:p>
        </p:txBody>
      </p:sp>
      <p:pic>
        <p:nvPicPr>
          <p:cNvPr id="29698" name="Picture 2"/>
          <p:cNvPicPr>
            <a:picLocks noChangeAspect="1" noChangeArrowheads="1"/>
          </p:cNvPicPr>
          <p:nvPr/>
        </p:nvPicPr>
        <p:blipFill>
          <a:blip r:embed="rId3" cstate="print"/>
          <a:srcRect/>
          <a:stretch>
            <a:fillRect/>
          </a:stretch>
        </p:blipFill>
        <p:spPr bwMode="auto">
          <a:xfrm>
            <a:off x="2267744" y="2636912"/>
            <a:ext cx="3672408" cy="858485"/>
          </a:xfrm>
          <a:prstGeom prst="rect">
            <a:avLst/>
          </a:prstGeom>
          <a:noFill/>
          <a:ln w="9525">
            <a:noFill/>
            <a:miter lim="800000"/>
            <a:headEnd/>
            <a:tailEnd/>
          </a:ln>
        </p:spPr>
      </p:pic>
      <p:graphicFrame>
        <p:nvGraphicFramePr>
          <p:cNvPr id="29699" name="Object 3"/>
          <p:cNvGraphicFramePr>
            <a:graphicFrameLocks noChangeAspect="1"/>
          </p:cNvGraphicFramePr>
          <p:nvPr/>
        </p:nvGraphicFramePr>
        <p:xfrm>
          <a:off x="899592" y="2780928"/>
          <a:ext cx="906462" cy="481012"/>
        </p:xfrm>
        <a:graphic>
          <a:graphicData uri="http://schemas.openxmlformats.org/presentationml/2006/ole">
            <mc:AlternateContent xmlns:mc="http://schemas.openxmlformats.org/markup-compatibility/2006">
              <mc:Choice xmlns:v="urn:schemas-microsoft-com:vml" Requires="v">
                <p:oleObj spid="_x0000_s29700" name="方程式" r:id="rId4" imgW="368280" imgH="228600" progId="Equation.3">
                  <p:embed/>
                </p:oleObj>
              </mc:Choice>
              <mc:Fallback>
                <p:oleObj name="方程式" r:id="rId4" imgW="368280" imgH="22860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592" y="2780928"/>
                        <a:ext cx="906462"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Picture 6"/>
          <p:cNvPicPr>
            <a:picLocks noChangeAspect="1" noChangeArrowheads="1"/>
          </p:cNvPicPr>
          <p:nvPr/>
        </p:nvPicPr>
        <p:blipFill>
          <a:blip r:embed="rId6" cstate="print"/>
          <a:srcRect/>
          <a:stretch>
            <a:fillRect/>
          </a:stretch>
        </p:blipFill>
        <p:spPr bwMode="auto">
          <a:xfrm>
            <a:off x="611560" y="3789040"/>
            <a:ext cx="8208912" cy="2098674"/>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4" name="Picture 4"/>
          <p:cNvPicPr>
            <a:picLocks noChangeAspect="1" noChangeArrowheads="1"/>
          </p:cNvPicPr>
          <p:nvPr/>
        </p:nvPicPr>
        <p:blipFill>
          <a:blip r:embed="rId2" cstate="print"/>
          <a:srcRect/>
          <a:stretch>
            <a:fillRect/>
          </a:stretch>
        </p:blipFill>
        <p:spPr bwMode="auto">
          <a:xfrm>
            <a:off x="611560" y="1700808"/>
            <a:ext cx="8208912" cy="1984144"/>
          </a:xfrm>
          <a:prstGeom prst="rect">
            <a:avLst/>
          </a:prstGeom>
          <a:noFill/>
          <a:ln w="9525">
            <a:noFill/>
            <a:miter lim="800000"/>
            <a:headEnd/>
            <a:tailEnd/>
          </a:ln>
        </p:spPr>
      </p:pic>
      <p:pic>
        <p:nvPicPr>
          <p:cNvPr id="6" name="Picture 4"/>
          <p:cNvPicPr>
            <a:picLocks noChangeAspect="1" noChangeArrowheads="1"/>
          </p:cNvPicPr>
          <p:nvPr/>
        </p:nvPicPr>
        <p:blipFill>
          <a:blip r:embed="rId3" cstate="print"/>
          <a:srcRect/>
          <a:stretch>
            <a:fillRect/>
          </a:stretch>
        </p:blipFill>
        <p:spPr bwMode="auto">
          <a:xfrm>
            <a:off x="1043608" y="4149080"/>
            <a:ext cx="6264696" cy="15885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Heuristic </a:t>
            </a:r>
            <a:r>
              <a:rPr lang="en-US" altLang="zh-TW" dirty="0" smtClean="0"/>
              <a:t>Table</a:t>
            </a:r>
            <a:endParaRPr lang="zh-TW" altLang="en-US" dirty="0"/>
          </a:p>
        </p:txBody>
      </p:sp>
      <p:sp>
        <p:nvSpPr>
          <p:cNvPr id="3" name="內容版面配置區 2"/>
          <p:cNvSpPr>
            <a:spLocks noGrp="1"/>
          </p:cNvSpPr>
          <p:nvPr>
            <p:ph idx="1"/>
          </p:nvPr>
        </p:nvSpPr>
        <p:spPr/>
        <p:txBody>
          <a:bodyPr/>
          <a:lstStyle/>
          <a:p>
            <a:pPr>
              <a:buNone/>
            </a:pPr>
            <a:r>
              <a:rPr lang="en-US" altLang="zh-TW" dirty="0" smtClean="0"/>
              <a:t>                                      |∑|=4</a:t>
            </a:r>
          </a:p>
          <a:p>
            <a:endParaRPr lang="en-US" altLang="zh-TW" dirty="0" smtClean="0"/>
          </a:p>
          <a:p>
            <a:endParaRPr lang="en-US" altLang="zh-TW" dirty="0" smtClean="0"/>
          </a:p>
          <a:p>
            <a:endParaRPr lang="zh-TW" altLang="en-US" dirty="0"/>
          </a:p>
        </p:txBody>
      </p:sp>
      <p:pic>
        <p:nvPicPr>
          <p:cNvPr id="30723" name="Picture 3"/>
          <p:cNvPicPr>
            <a:picLocks noChangeAspect="1" noChangeArrowheads="1"/>
          </p:cNvPicPr>
          <p:nvPr/>
        </p:nvPicPr>
        <p:blipFill>
          <a:blip r:embed="rId2" cstate="print"/>
          <a:srcRect/>
          <a:stretch>
            <a:fillRect/>
          </a:stretch>
        </p:blipFill>
        <p:spPr bwMode="auto">
          <a:xfrm>
            <a:off x="2771800" y="2348880"/>
            <a:ext cx="3609975" cy="32670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a:t>
            </a:r>
            <a:r>
              <a:rPr lang="en-US" altLang="zh-TW" dirty="0" smtClean="0"/>
              <a:t>etermine </a:t>
            </a:r>
            <a:r>
              <a:rPr lang="en-US" altLang="zh-TW" dirty="0" smtClean="0"/>
              <a:t>k</a:t>
            </a:r>
            <a:endParaRPr lang="zh-TW" altLang="en-US" dirty="0"/>
          </a:p>
        </p:txBody>
      </p:sp>
      <p:sp>
        <p:nvSpPr>
          <p:cNvPr id="3" name="內容版面配置區 2"/>
          <p:cNvSpPr>
            <a:spLocks noGrp="1"/>
          </p:cNvSpPr>
          <p:nvPr>
            <p:ph idx="1"/>
          </p:nvPr>
        </p:nvSpPr>
        <p:spPr/>
        <p:txBody>
          <a:bodyPr/>
          <a:lstStyle/>
          <a:p>
            <a:endParaRPr lang="en-US" altLang="zh-TW" dirty="0" smtClean="0"/>
          </a:p>
          <a:p>
            <a:endParaRPr lang="en-US" altLang="zh-TW" dirty="0" smtClean="0"/>
          </a:p>
          <a:p>
            <a:r>
              <a:rPr lang="en-US" altLang="zh-TW" dirty="0" smtClean="0"/>
              <a:t>k set to 1 if the above formula gives 0.</a:t>
            </a:r>
            <a:endParaRPr lang="zh-TW" altLang="en-US" dirty="0"/>
          </a:p>
        </p:txBody>
      </p:sp>
      <p:graphicFrame>
        <p:nvGraphicFramePr>
          <p:cNvPr id="31747" name="Object 3"/>
          <p:cNvGraphicFramePr>
            <a:graphicFrameLocks noChangeAspect="1"/>
          </p:cNvGraphicFramePr>
          <p:nvPr/>
        </p:nvGraphicFramePr>
        <p:xfrm>
          <a:off x="827584" y="2060848"/>
          <a:ext cx="5626101" cy="588963"/>
        </p:xfrm>
        <a:graphic>
          <a:graphicData uri="http://schemas.openxmlformats.org/presentationml/2006/ole">
            <mc:AlternateContent xmlns:mc="http://schemas.openxmlformats.org/markup-compatibility/2006">
              <mc:Choice xmlns:v="urn:schemas-microsoft-com:vml" Requires="v">
                <p:oleObj spid="_x0000_s31748" name="方程式" r:id="rId3" imgW="2286000" imgH="279360" progId="Equation.3">
                  <p:embed/>
                </p:oleObj>
              </mc:Choice>
              <mc:Fallback>
                <p:oleObj name="方程式" r:id="rId3" imgW="2286000" imgH="27936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2060848"/>
                        <a:ext cx="5626101" cy="588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a:t>
            </a:r>
            <a:r>
              <a:rPr lang="en-US" altLang="zh-TW" dirty="0" smtClean="0"/>
              <a:t>ime </a:t>
            </a:r>
            <a:r>
              <a:rPr lang="en-US" altLang="zh-TW" dirty="0"/>
              <a:t>C</a:t>
            </a:r>
            <a:r>
              <a:rPr lang="en-US" altLang="zh-TW" dirty="0" smtClean="0"/>
              <a:t>omplexity </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smtClean="0"/>
              <a:t>Before the while loop </a:t>
            </a:r>
          </a:p>
          <a:p>
            <a:pPr lvl="1"/>
            <a:r>
              <a:rPr lang="en-US" altLang="zh-TW" dirty="0" smtClean="0"/>
              <a:t>O(nm|∑|)                     //will let feasible(.) in O(n).</a:t>
            </a:r>
          </a:p>
          <a:p>
            <a:pPr lvl="1"/>
            <a:r>
              <a:rPr lang="en-US" altLang="zh-TW" dirty="0" smtClean="0"/>
              <a:t>O(m^2)                         //Heuristic table </a:t>
            </a:r>
          </a:p>
          <a:p>
            <a:r>
              <a:rPr lang="en-US" altLang="zh-TW" dirty="0" smtClean="0"/>
              <a:t>In while loop (L)         //L is output string length</a:t>
            </a:r>
          </a:p>
          <a:p>
            <a:pPr lvl="1"/>
            <a:r>
              <a:rPr lang="en-US" altLang="zh-TW" dirty="0" smtClean="0"/>
              <a:t>O(</a:t>
            </a:r>
            <a:r>
              <a:rPr lang="el-GR" altLang="zh-TW" dirty="0" smtClean="0"/>
              <a:t>β</a:t>
            </a:r>
            <a:r>
              <a:rPr lang="en-US" altLang="zh-TW" dirty="0" smtClean="0"/>
              <a:t>|∑|n)                                 //Step(1)         </a:t>
            </a:r>
          </a:p>
          <a:p>
            <a:pPr lvl="1"/>
            <a:r>
              <a:rPr lang="en-US" altLang="zh-TW" dirty="0" smtClean="0"/>
              <a:t>O(</a:t>
            </a:r>
            <a:r>
              <a:rPr lang="el-GR" altLang="zh-TW" dirty="0" smtClean="0"/>
              <a:t>β</a:t>
            </a:r>
            <a:r>
              <a:rPr lang="en-US" altLang="zh-TW" dirty="0" smtClean="0"/>
              <a:t>|∑|n)                                 //step(2)</a:t>
            </a:r>
          </a:p>
          <a:p>
            <a:pPr lvl="1"/>
            <a:r>
              <a:rPr lang="en-US" altLang="zh-TW" dirty="0" smtClean="0"/>
              <a:t>O(k</a:t>
            </a:r>
            <a:r>
              <a:rPr lang="el-GR" altLang="zh-TW" dirty="0" smtClean="0"/>
              <a:t>β</a:t>
            </a:r>
            <a:r>
              <a:rPr lang="en-US" altLang="zh-TW" dirty="0" smtClean="0"/>
              <a:t>|∑|n) +O(</a:t>
            </a:r>
            <a:r>
              <a:rPr lang="el-GR" altLang="zh-TW" dirty="0" smtClean="0"/>
              <a:t>β</a:t>
            </a:r>
            <a:r>
              <a:rPr lang="en-US" altLang="zh-TW" dirty="0" err="1" smtClean="0"/>
              <a:t>lg</a:t>
            </a:r>
            <a:r>
              <a:rPr lang="en-US" altLang="zh-TW" dirty="0" smtClean="0"/>
              <a:t>(</a:t>
            </a:r>
            <a:r>
              <a:rPr lang="el-GR" altLang="zh-TW" dirty="0" smtClean="0"/>
              <a:t>β </a:t>
            </a:r>
            <a:r>
              <a:rPr lang="en-US" altLang="zh-TW" dirty="0" smtClean="0"/>
              <a:t>|∑|))    //step(3)   </a:t>
            </a:r>
          </a:p>
          <a:p>
            <a:pPr lvl="1"/>
            <a:endParaRPr lang="en-US" altLang="zh-TW" dirty="0" smtClean="0"/>
          </a:p>
          <a:p>
            <a:r>
              <a:rPr lang="en-US" altLang="zh-TW" dirty="0" smtClean="0"/>
              <a:t>Totally  O(m^2+nm|∑|+L(</a:t>
            </a:r>
            <a:r>
              <a:rPr lang="el-GR" altLang="zh-TW" dirty="0" smtClean="0"/>
              <a:t>β</a:t>
            </a:r>
            <a:r>
              <a:rPr lang="en-US" altLang="zh-TW" dirty="0" err="1" smtClean="0"/>
              <a:t>lg</a:t>
            </a:r>
            <a:r>
              <a:rPr lang="en-US" altLang="zh-TW" dirty="0" smtClean="0">
                <a:solidFill>
                  <a:srgbClr val="FF0000"/>
                </a:solidFill>
              </a:rPr>
              <a:t>(</a:t>
            </a:r>
            <a:r>
              <a:rPr lang="el-GR" altLang="zh-TW" dirty="0" smtClean="0"/>
              <a:t>β</a:t>
            </a:r>
            <a:r>
              <a:rPr lang="en-US" altLang="zh-TW" dirty="0" smtClean="0">
                <a:solidFill>
                  <a:srgbClr val="FF0000"/>
                </a:solidFill>
              </a:rPr>
              <a:t>|∑|)</a:t>
            </a:r>
            <a:r>
              <a:rPr lang="en-US" altLang="zh-TW" dirty="0" smtClean="0"/>
              <a:t>+k</a:t>
            </a:r>
            <a:r>
              <a:rPr lang="el-GR" altLang="zh-TW" dirty="0" smtClean="0"/>
              <a:t>β</a:t>
            </a:r>
            <a:r>
              <a:rPr lang="en-US" altLang="zh-TW" dirty="0" smtClean="0"/>
              <a:t>|</a:t>
            </a:r>
            <a:r>
              <a:rPr lang="el-GR" altLang="zh-TW" dirty="0" smtClean="0"/>
              <a:t>∑</a:t>
            </a:r>
            <a:r>
              <a:rPr lang="en-US" altLang="zh-TW" dirty="0" smtClean="0"/>
              <a:t>|n))     </a:t>
            </a:r>
            <a:endParaRPr lang="zh-TW"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results</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smtClean="0"/>
              <a:t>we report the results of comparing our proposed algorithm with the BS</a:t>
            </a:r>
          </a:p>
          <a:p>
            <a:r>
              <a:rPr lang="en-US" altLang="zh-TW" dirty="0" smtClean="0"/>
              <a:t>we do not compare our algorithm with those ones, because such algorithms have already been evaluated and compared with BS .And BS is known as to be the current state-of-the-art.</a:t>
            </a:r>
          </a:p>
          <a:p>
            <a:r>
              <a:rPr lang="en-US" altLang="zh-TW" dirty="0" smtClean="0"/>
              <a:t>used four datasets namely ES, ACO-random, ACO-rat , and ACO-virus</a:t>
            </a:r>
          </a:p>
          <a:p>
            <a:endParaRPr lang="zh-TW"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a:t>
            </a:r>
            <a:r>
              <a:rPr lang="en-US" altLang="zh-TW" dirty="0" smtClean="0"/>
              <a:t>Results</a:t>
            </a:r>
            <a:endParaRPr lang="zh-TW" altLang="en-US" dirty="0"/>
          </a:p>
        </p:txBody>
      </p:sp>
      <p:sp>
        <p:nvSpPr>
          <p:cNvPr id="3" name="內容版面配置區 2"/>
          <p:cNvSpPr>
            <a:spLocks noGrp="1"/>
          </p:cNvSpPr>
          <p:nvPr>
            <p:ph idx="1"/>
          </p:nvPr>
        </p:nvSpPr>
        <p:spPr/>
        <p:txBody>
          <a:bodyPr/>
          <a:lstStyle/>
          <a:p>
            <a:r>
              <a:rPr lang="en-US" altLang="zh-TW" dirty="0" smtClean="0"/>
              <a:t>We used the parameters </a:t>
            </a:r>
            <a:r>
              <a:rPr lang="el-GR" altLang="zh-TW" dirty="0" smtClean="0"/>
              <a:t>β</a:t>
            </a:r>
            <a:r>
              <a:rPr lang="en-US" altLang="zh-TW" dirty="0" smtClean="0"/>
              <a:t>=200 and k=7 in our algorithm.</a:t>
            </a:r>
          </a:p>
          <a:p>
            <a:r>
              <a:rPr lang="en-US" altLang="zh-TW" dirty="0" smtClean="0"/>
              <a:t>used four datasets namely ES, ACO-random, ACO-rat ,  ACO-virus , and BB benchmark </a:t>
            </a:r>
          </a:p>
          <a:p>
            <a:endParaRPr lang="zh-TW"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1052736"/>
            <a:ext cx="8229600" cy="5073427"/>
          </a:xfrm>
        </p:spPr>
        <p:txBody>
          <a:bodyPr>
            <a:normAutofit fontScale="77500" lnSpcReduction="20000"/>
          </a:bodyPr>
          <a:lstStyle/>
          <a:p>
            <a:endParaRPr lang="en-US" altLang="zh-TW" dirty="0" smtClean="0"/>
          </a:p>
          <a:p>
            <a:endParaRPr lang="en-US" altLang="zh-TW" dirty="0" smtClean="0"/>
          </a:p>
          <a:p>
            <a:endParaRPr lang="en-US" altLang="zh-TW" dirty="0" smtClean="0"/>
          </a:p>
          <a:p>
            <a:endParaRPr lang="en-US" altLang="zh-TW" dirty="0" smtClean="0"/>
          </a:p>
          <a:p>
            <a:endParaRPr lang="en-US" altLang="zh-TW" dirty="0" smtClean="0"/>
          </a:p>
          <a:p>
            <a:endParaRPr lang="en-US" altLang="zh-TW" dirty="0" smtClean="0"/>
          </a:p>
          <a:p>
            <a:endParaRPr lang="en-US" altLang="zh-TW" dirty="0" smtClean="0"/>
          </a:p>
          <a:p>
            <a:endParaRPr lang="en-US" altLang="zh-TW" dirty="0" smtClean="0"/>
          </a:p>
          <a:p>
            <a:endParaRPr lang="en-US" altLang="zh-TW" sz="2200" dirty="0" smtClean="0"/>
          </a:p>
          <a:p>
            <a:endParaRPr lang="en-US" altLang="zh-TW" sz="2200" dirty="0" smtClean="0"/>
          </a:p>
          <a:p>
            <a:r>
              <a:rPr lang="en-US" altLang="zh-TW" sz="2200" dirty="0" smtClean="0"/>
              <a:t>n:input strings count</a:t>
            </a:r>
          </a:p>
          <a:p>
            <a:r>
              <a:rPr lang="en-US" altLang="zh-TW" sz="2200" dirty="0" smtClean="0"/>
              <a:t>m:the length of the input strings</a:t>
            </a:r>
          </a:p>
          <a:p>
            <a:r>
              <a:rPr lang="en-US" altLang="zh-TW" sz="2200" dirty="0" smtClean="0"/>
              <a:t>LLCS: the average length of the returned LCS</a:t>
            </a:r>
          </a:p>
          <a:p>
            <a:r>
              <a:rPr lang="en-US" altLang="zh-TW" sz="2000" dirty="0" smtClean="0"/>
              <a:t>α: defined as(L2 -L1)/L1, where L2 and L1 are the average lengths of  the  solutions returned by IBS-LCS and BS-high-quality , respectively</a:t>
            </a:r>
            <a:endParaRPr lang="zh-TW" altLang="en-US" sz="2200" dirty="0"/>
          </a:p>
        </p:txBody>
      </p:sp>
      <p:pic>
        <p:nvPicPr>
          <p:cNvPr id="32770" name="Picture 2"/>
          <p:cNvPicPr>
            <a:picLocks noChangeAspect="1" noChangeArrowheads="1"/>
          </p:cNvPicPr>
          <p:nvPr/>
        </p:nvPicPr>
        <p:blipFill>
          <a:blip r:embed="rId2" cstate="print"/>
          <a:srcRect/>
          <a:stretch>
            <a:fillRect/>
          </a:stretch>
        </p:blipFill>
        <p:spPr bwMode="auto">
          <a:xfrm>
            <a:off x="2195736" y="1052736"/>
            <a:ext cx="4839954" cy="3888432"/>
          </a:xfrm>
          <a:prstGeom prst="rect">
            <a:avLst/>
          </a:prstGeom>
          <a:noFill/>
          <a:ln w="9525">
            <a:noFill/>
            <a:miter lim="800000"/>
            <a:headEnd/>
            <a:tailEnd/>
          </a:ln>
        </p:spPr>
      </p:pic>
      <p:sp>
        <p:nvSpPr>
          <p:cNvPr id="5" name="標題 1"/>
          <p:cNvSpPr>
            <a:spLocks noGrp="1"/>
          </p:cNvSpPr>
          <p:nvPr>
            <p:ph type="title"/>
          </p:nvPr>
        </p:nvSpPr>
        <p:spPr>
          <a:xfrm>
            <a:off x="457200" y="274638"/>
            <a:ext cx="8229600" cy="1143000"/>
          </a:xfrm>
        </p:spPr>
        <p:txBody>
          <a:bodyPr/>
          <a:lstStyle/>
          <a:p>
            <a:r>
              <a:rPr lang="en-US" altLang="zh-TW" dirty="0" smtClean="0"/>
              <a:t>ES </a:t>
            </a:r>
            <a:endParaRPr lang="zh-TW"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ACO-random </a:t>
            </a:r>
            <a:endParaRPr lang="zh-TW" altLang="en-US" dirty="0"/>
          </a:p>
        </p:txBody>
      </p:sp>
      <p:pic>
        <p:nvPicPr>
          <p:cNvPr id="5" name="Picture 2"/>
          <p:cNvPicPr>
            <a:picLocks noGrp="1" noChangeAspect="1" noChangeArrowheads="1"/>
          </p:cNvPicPr>
          <p:nvPr>
            <p:ph idx="1"/>
          </p:nvPr>
        </p:nvPicPr>
        <p:blipFill>
          <a:blip r:embed="rId2" cstate="print"/>
          <a:srcRect/>
          <a:stretch>
            <a:fillRect/>
          </a:stretch>
        </p:blipFill>
        <p:spPr bwMode="auto">
          <a:xfrm>
            <a:off x="2229148" y="1600200"/>
            <a:ext cx="4685703" cy="4525963"/>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ACO-virus</a:t>
            </a:r>
            <a:endParaRPr lang="zh-TW" altLang="en-US" dirty="0"/>
          </a:p>
        </p:txBody>
      </p:sp>
      <p:pic>
        <p:nvPicPr>
          <p:cNvPr id="34818" name="Picture 2"/>
          <p:cNvPicPr>
            <a:picLocks noGrp="1" noChangeAspect="1" noChangeArrowheads="1"/>
          </p:cNvPicPr>
          <p:nvPr>
            <p:ph idx="1"/>
          </p:nvPr>
        </p:nvPicPr>
        <p:blipFill>
          <a:blip r:embed="rId2" cstate="print"/>
          <a:srcRect/>
          <a:stretch>
            <a:fillRect/>
          </a:stretch>
        </p:blipFill>
        <p:spPr bwMode="auto">
          <a:xfrm>
            <a:off x="2255562" y="1600200"/>
            <a:ext cx="4632876" cy="4525963"/>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ACO-rat</a:t>
            </a:r>
            <a:endParaRPr lang="zh-TW" altLang="en-US" dirty="0"/>
          </a:p>
        </p:txBody>
      </p:sp>
      <p:pic>
        <p:nvPicPr>
          <p:cNvPr id="5" name="Picture 2"/>
          <p:cNvPicPr>
            <a:picLocks noGrp="1" noChangeAspect="1" noChangeArrowheads="1"/>
          </p:cNvPicPr>
          <p:nvPr>
            <p:ph idx="1"/>
          </p:nvPr>
        </p:nvPicPr>
        <p:blipFill>
          <a:blip r:embed="rId2" cstate="print"/>
          <a:srcRect/>
          <a:stretch>
            <a:fillRect/>
          </a:stretch>
        </p:blipFill>
        <p:spPr bwMode="auto">
          <a:xfrm>
            <a:off x="2232839" y="1600200"/>
            <a:ext cx="4678322" cy="4525963"/>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BB</a:t>
            </a:r>
            <a:endParaRPr lang="zh-TW" altLang="en-US" dirty="0"/>
          </a:p>
        </p:txBody>
      </p:sp>
      <p:pic>
        <p:nvPicPr>
          <p:cNvPr id="38914" name="Picture 2"/>
          <p:cNvPicPr>
            <a:picLocks noGrp="1" noChangeAspect="1" noChangeArrowheads="1"/>
          </p:cNvPicPr>
          <p:nvPr>
            <p:ph idx="1"/>
          </p:nvPr>
        </p:nvPicPr>
        <p:blipFill>
          <a:blip r:embed="rId2" cstate="print"/>
          <a:srcRect/>
          <a:stretch>
            <a:fillRect/>
          </a:stretch>
        </p:blipFill>
        <p:spPr bwMode="auto">
          <a:xfrm>
            <a:off x="2085975" y="2301081"/>
            <a:ext cx="4972050" cy="31242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run-time growth </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36868" name="Picture 4"/>
          <p:cNvPicPr>
            <a:picLocks noChangeAspect="1" noChangeArrowheads="1"/>
          </p:cNvPicPr>
          <p:nvPr/>
        </p:nvPicPr>
        <p:blipFill>
          <a:blip r:embed="rId2" cstate="print"/>
          <a:srcRect/>
          <a:stretch>
            <a:fillRect/>
          </a:stretch>
        </p:blipFill>
        <p:spPr bwMode="auto">
          <a:xfrm>
            <a:off x="107504" y="1124744"/>
            <a:ext cx="5238750" cy="3810000"/>
          </a:xfrm>
          <a:prstGeom prst="rect">
            <a:avLst/>
          </a:prstGeom>
          <a:noFill/>
          <a:ln w="9525">
            <a:noFill/>
            <a:miter lim="800000"/>
            <a:headEnd/>
            <a:tailEnd/>
          </a:ln>
        </p:spPr>
      </p:pic>
      <p:pic>
        <p:nvPicPr>
          <p:cNvPr id="36867" name="Picture 3"/>
          <p:cNvPicPr>
            <a:picLocks noChangeAspect="1" noChangeArrowheads="1"/>
          </p:cNvPicPr>
          <p:nvPr/>
        </p:nvPicPr>
        <p:blipFill>
          <a:blip r:embed="rId3" cstate="print"/>
          <a:srcRect/>
          <a:stretch>
            <a:fillRect/>
          </a:stretch>
        </p:blipFill>
        <p:spPr bwMode="auto">
          <a:xfrm>
            <a:off x="3923928" y="2708920"/>
            <a:ext cx="5057775" cy="396240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a:t>
            </a:r>
            <a:r>
              <a:rPr lang="en-US" altLang="zh-TW" dirty="0" smtClean="0"/>
              <a:t>verage </a:t>
            </a:r>
            <a:r>
              <a:rPr lang="en-US" altLang="zh-TW" dirty="0"/>
              <a:t>R</a:t>
            </a:r>
            <a:r>
              <a:rPr lang="en-US" altLang="zh-TW" dirty="0" smtClean="0"/>
              <a:t>un-time</a:t>
            </a:r>
            <a:endParaRPr lang="zh-TW" altLang="en-US" dirty="0"/>
          </a:p>
        </p:txBody>
      </p:sp>
      <p:pic>
        <p:nvPicPr>
          <p:cNvPr id="37890" name="Picture 2"/>
          <p:cNvPicPr>
            <a:picLocks noGrp="1" noChangeAspect="1" noChangeArrowheads="1"/>
          </p:cNvPicPr>
          <p:nvPr>
            <p:ph idx="1"/>
          </p:nvPr>
        </p:nvPicPr>
        <p:blipFill>
          <a:blip r:embed="rId2" cstate="print"/>
          <a:srcRect/>
          <a:stretch>
            <a:fillRect/>
          </a:stretch>
        </p:blipFill>
        <p:spPr bwMode="auto">
          <a:xfrm>
            <a:off x="2009775" y="2062956"/>
            <a:ext cx="5124450" cy="360045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Q</a:t>
            </a:r>
            <a:r>
              <a:rPr lang="en-US" altLang="zh-TW" dirty="0" smtClean="0"/>
              <a:t>uality</a:t>
            </a:r>
            <a:endParaRPr lang="zh-TW" altLang="en-US" dirty="0"/>
          </a:p>
        </p:txBody>
      </p:sp>
      <p:pic>
        <p:nvPicPr>
          <p:cNvPr id="8" name="Picture 4"/>
          <p:cNvPicPr>
            <a:picLocks noGrp="1" noChangeAspect="1" noChangeArrowheads="1"/>
          </p:cNvPicPr>
          <p:nvPr>
            <p:ph idx="1"/>
          </p:nvPr>
        </p:nvPicPr>
        <p:blipFill>
          <a:blip r:embed="rId2" cstate="print"/>
          <a:srcRect/>
          <a:stretch>
            <a:fillRect/>
          </a:stretch>
        </p:blipFill>
        <p:spPr bwMode="auto">
          <a:xfrm>
            <a:off x="2109787" y="1412776"/>
            <a:ext cx="4924425" cy="4536504"/>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 </a:t>
            </a:r>
            <a:endParaRPr lang="zh-TW" altLang="en-US" dirty="0"/>
          </a:p>
        </p:txBody>
      </p:sp>
      <p:sp>
        <p:nvSpPr>
          <p:cNvPr id="3" name="內容版面配置區 2"/>
          <p:cNvSpPr>
            <a:spLocks noGrp="1"/>
          </p:cNvSpPr>
          <p:nvPr>
            <p:ph idx="1"/>
          </p:nvPr>
        </p:nvSpPr>
        <p:spPr/>
        <p:txBody>
          <a:bodyPr/>
          <a:lstStyle/>
          <a:p>
            <a:r>
              <a:rPr lang="en-US" altLang="zh-TW" dirty="0" smtClean="0"/>
              <a:t>Experimental shows that IBS is not only faster but also more accurate than the BS on average.</a:t>
            </a: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C7EDCC"/>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848</TotalTime>
  <Words>1071</Words>
  <Application>Microsoft Office PowerPoint</Application>
  <PresentationFormat>如螢幕大小 (4:3)</PresentationFormat>
  <Paragraphs>130</Paragraphs>
  <Slides>33</Slides>
  <Notes>0</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33</vt:i4>
      </vt:variant>
    </vt:vector>
  </HeadingPairs>
  <TitlesOfParts>
    <vt:vector size="35" baseType="lpstr">
      <vt:lpstr>Office 佈景主題</vt:lpstr>
      <vt:lpstr>方程式</vt:lpstr>
      <vt:lpstr>An improved algorithm for the longest common subsequence problem </vt:lpstr>
      <vt:lpstr>A b s t r a c t (1/4) </vt:lpstr>
      <vt:lpstr>A b s t r a c t (2/4)  </vt:lpstr>
      <vt:lpstr>A b s t r a c t (3/4) </vt:lpstr>
      <vt:lpstr>A b s t r a c t (4/4) </vt:lpstr>
      <vt:lpstr>Optimal Solution for LCS </vt:lpstr>
      <vt:lpstr>Optimal Solution (Arbitrary Strings) </vt:lpstr>
      <vt:lpstr>Approximation Algorithm</vt:lpstr>
      <vt:lpstr>Heuristic Algorithms </vt:lpstr>
      <vt:lpstr>BS Algorithm</vt:lpstr>
      <vt:lpstr>Basic Notations and Definitions </vt:lpstr>
      <vt:lpstr>Basic notations and Definitions </vt:lpstr>
      <vt:lpstr>Basic Notations and Definitions </vt:lpstr>
      <vt:lpstr>Algorithm </vt:lpstr>
      <vt:lpstr>Rough Steps</vt:lpstr>
      <vt:lpstr>Dominated</vt:lpstr>
      <vt:lpstr>Probabilistic Heuristic</vt:lpstr>
      <vt:lpstr>Probabilistic Heuristic</vt:lpstr>
      <vt:lpstr>PowerPoint 簡報</vt:lpstr>
      <vt:lpstr>Heuristic Table</vt:lpstr>
      <vt:lpstr>Determine k</vt:lpstr>
      <vt:lpstr>Time Complexity </vt:lpstr>
      <vt:lpstr>Experimental results</vt:lpstr>
      <vt:lpstr>Experimental Results</vt:lpstr>
      <vt:lpstr>ES </vt:lpstr>
      <vt:lpstr>ACO-random </vt:lpstr>
      <vt:lpstr>ACO-virus</vt:lpstr>
      <vt:lpstr>ACO-rat</vt:lpstr>
      <vt:lpstr>BB</vt:lpstr>
      <vt:lpstr>run-time growth </vt:lpstr>
      <vt:lpstr>Average Run-time</vt:lpstr>
      <vt:lpstr>Quality</vt:lpstr>
      <vt:lpstr>Conclusion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Transcend</dc:creator>
  <cp:lastModifiedBy>Ray</cp:lastModifiedBy>
  <cp:revision>80</cp:revision>
  <dcterms:created xsi:type="dcterms:W3CDTF">2012-09-07T14:46:30Z</dcterms:created>
  <dcterms:modified xsi:type="dcterms:W3CDTF">2012-09-11T10:53:10Z</dcterms:modified>
</cp:coreProperties>
</file>