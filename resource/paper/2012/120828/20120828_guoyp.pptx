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6" r:id="rId4"/>
    <p:sldId id="258" r:id="rId5"/>
    <p:sldId id="259" r:id="rId6"/>
    <p:sldId id="260" r:id="rId7"/>
    <p:sldId id="261" r:id="rId8"/>
    <p:sldId id="262" r:id="rId9"/>
    <p:sldId id="263" r:id="rId10"/>
    <p:sldId id="264" r:id="rId11"/>
    <p:sldId id="265" r:id="rId12"/>
    <p:sldId id="267" r:id="rId13"/>
    <p:sldId id="268" r:id="rId14"/>
    <p:sldId id="269" r:id="rId15"/>
    <p:sldId id="270"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72" y="-4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7DA557-01B3-4986-8729-E654274C95CC}" type="datetimeFigureOut">
              <a:rPr lang="zh-TW" altLang="en-US" smtClean="0"/>
              <a:t>2012/8/28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696968-484F-4517-AC73-491B52EAFC60}" type="slidenum">
              <a:rPr lang="zh-TW" altLang="en-US" smtClean="0"/>
              <a:t>‹#›</a:t>
            </a:fld>
            <a:endParaRPr lang="zh-TW" altLang="en-US"/>
          </a:p>
        </p:txBody>
      </p:sp>
    </p:spTree>
    <p:extLst>
      <p:ext uri="{BB962C8B-B14F-4D97-AF65-F5344CB8AC3E}">
        <p14:creationId xmlns:p14="http://schemas.microsoft.com/office/powerpoint/2010/main" val="2665709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smtClean="0"/>
              <a:t>abcabdcadcbad</a:t>
            </a:r>
            <a:r>
              <a:rPr lang="en-US" altLang="zh-TW" dirty="0" smtClean="0"/>
              <a:t> </a:t>
            </a:r>
            <a:r>
              <a:rPr lang="en-US" altLang="zh-TW" dirty="0" err="1" smtClean="0"/>
              <a:t>adbacdab</a:t>
            </a:r>
            <a:endParaRPr lang="zh-TW" altLang="en-US" dirty="0"/>
          </a:p>
        </p:txBody>
      </p:sp>
      <p:sp>
        <p:nvSpPr>
          <p:cNvPr id="4" name="投影片編號版面配置區 3"/>
          <p:cNvSpPr>
            <a:spLocks noGrp="1"/>
          </p:cNvSpPr>
          <p:nvPr>
            <p:ph type="sldNum" sz="quarter" idx="10"/>
          </p:nvPr>
        </p:nvSpPr>
        <p:spPr/>
        <p:txBody>
          <a:bodyPr/>
          <a:lstStyle/>
          <a:p>
            <a:fld id="{32696968-484F-4517-AC73-491B52EAFC60}" type="slidenum">
              <a:rPr lang="zh-TW" altLang="en-US" smtClean="0"/>
              <a:t>6</a:t>
            </a:fld>
            <a:endParaRPr lang="zh-TW" altLang="en-US"/>
          </a:p>
        </p:txBody>
      </p:sp>
    </p:spTree>
    <p:extLst>
      <p:ext uri="{BB962C8B-B14F-4D97-AF65-F5344CB8AC3E}">
        <p14:creationId xmlns:p14="http://schemas.microsoft.com/office/powerpoint/2010/main" val="2894348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smtClean="0"/>
              <a:t>abcabdcadcbad</a:t>
            </a:r>
            <a:r>
              <a:rPr lang="en-US" altLang="zh-TW" dirty="0" smtClean="0"/>
              <a:t> </a:t>
            </a:r>
            <a:r>
              <a:rPr lang="en-US" altLang="zh-TW" dirty="0" err="1" smtClean="0"/>
              <a:t>adbacdab</a:t>
            </a:r>
            <a:endParaRPr lang="zh-TW" altLang="en-US" dirty="0"/>
          </a:p>
        </p:txBody>
      </p:sp>
      <p:sp>
        <p:nvSpPr>
          <p:cNvPr id="4" name="投影片編號版面配置區 3"/>
          <p:cNvSpPr>
            <a:spLocks noGrp="1"/>
          </p:cNvSpPr>
          <p:nvPr>
            <p:ph type="sldNum" sz="quarter" idx="10"/>
          </p:nvPr>
        </p:nvSpPr>
        <p:spPr/>
        <p:txBody>
          <a:bodyPr/>
          <a:lstStyle/>
          <a:p>
            <a:fld id="{32696968-484F-4517-AC73-491B52EAFC60}" type="slidenum">
              <a:rPr lang="zh-TW" altLang="en-US" smtClean="0"/>
              <a:t>7</a:t>
            </a:fld>
            <a:endParaRPr lang="zh-TW" altLang="en-US"/>
          </a:p>
        </p:txBody>
      </p:sp>
    </p:spTree>
    <p:extLst>
      <p:ext uri="{BB962C8B-B14F-4D97-AF65-F5344CB8AC3E}">
        <p14:creationId xmlns:p14="http://schemas.microsoft.com/office/powerpoint/2010/main" val="2894348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smtClean="0"/>
              <a:t>abcabdcadcbad</a:t>
            </a:r>
            <a:r>
              <a:rPr lang="en-US" altLang="zh-TW" dirty="0" smtClean="0"/>
              <a:t> </a:t>
            </a:r>
            <a:r>
              <a:rPr lang="en-US" altLang="zh-TW" dirty="0" err="1" smtClean="0"/>
              <a:t>adbacdab</a:t>
            </a:r>
            <a:endParaRPr lang="zh-TW" altLang="en-US" dirty="0"/>
          </a:p>
        </p:txBody>
      </p:sp>
      <p:sp>
        <p:nvSpPr>
          <p:cNvPr id="4" name="投影片編號版面配置區 3"/>
          <p:cNvSpPr>
            <a:spLocks noGrp="1"/>
          </p:cNvSpPr>
          <p:nvPr>
            <p:ph type="sldNum" sz="quarter" idx="10"/>
          </p:nvPr>
        </p:nvSpPr>
        <p:spPr/>
        <p:txBody>
          <a:bodyPr/>
          <a:lstStyle/>
          <a:p>
            <a:fld id="{32696968-484F-4517-AC73-491B52EAFC60}" type="slidenum">
              <a:rPr lang="zh-TW" altLang="en-US" smtClean="0"/>
              <a:t>8</a:t>
            </a:fld>
            <a:endParaRPr lang="zh-TW" altLang="en-US"/>
          </a:p>
        </p:txBody>
      </p:sp>
    </p:spTree>
    <p:extLst>
      <p:ext uri="{BB962C8B-B14F-4D97-AF65-F5344CB8AC3E}">
        <p14:creationId xmlns:p14="http://schemas.microsoft.com/office/powerpoint/2010/main" val="2894348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smtClean="0"/>
              <a:t>abcabdcadcbad</a:t>
            </a:r>
            <a:r>
              <a:rPr lang="en-US" altLang="zh-TW" dirty="0" smtClean="0"/>
              <a:t> </a:t>
            </a:r>
            <a:r>
              <a:rPr lang="en-US" altLang="zh-TW" dirty="0" err="1" smtClean="0"/>
              <a:t>adbacdab</a:t>
            </a:r>
            <a:endParaRPr lang="zh-TW" altLang="en-US" dirty="0"/>
          </a:p>
        </p:txBody>
      </p:sp>
      <p:sp>
        <p:nvSpPr>
          <p:cNvPr id="4" name="投影片編號版面配置區 3"/>
          <p:cNvSpPr>
            <a:spLocks noGrp="1"/>
          </p:cNvSpPr>
          <p:nvPr>
            <p:ph type="sldNum" sz="quarter" idx="10"/>
          </p:nvPr>
        </p:nvSpPr>
        <p:spPr/>
        <p:txBody>
          <a:bodyPr/>
          <a:lstStyle/>
          <a:p>
            <a:fld id="{32696968-484F-4517-AC73-491B52EAFC60}" type="slidenum">
              <a:rPr lang="zh-TW" altLang="en-US" smtClean="0"/>
              <a:t>10</a:t>
            </a:fld>
            <a:endParaRPr lang="zh-TW" altLang="en-US"/>
          </a:p>
        </p:txBody>
      </p:sp>
    </p:spTree>
    <p:extLst>
      <p:ext uri="{BB962C8B-B14F-4D97-AF65-F5344CB8AC3E}">
        <p14:creationId xmlns:p14="http://schemas.microsoft.com/office/powerpoint/2010/main" val="2894348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62898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2915358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1768218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4200536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2103459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3420536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800914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4103256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1538107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4071689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8D9ED64-B12E-433D-8858-66262BC097BD}" type="datetimeFigureOut">
              <a:rPr lang="zh-TW" altLang="en-US" smtClean="0"/>
              <a:t>2012/8/28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199233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D9ED64-B12E-433D-8858-66262BC097BD}" type="datetimeFigureOut">
              <a:rPr lang="zh-TW" altLang="en-US" smtClean="0"/>
              <a:t>2012/8/28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6C27E0-A84C-481D-B1B7-9CE4E487369B}" type="slidenum">
              <a:rPr lang="zh-TW" altLang="en-US" smtClean="0"/>
              <a:t>‹#›</a:t>
            </a:fld>
            <a:endParaRPr lang="zh-TW" altLang="en-US"/>
          </a:p>
        </p:txBody>
      </p:sp>
    </p:spTree>
    <p:extLst>
      <p:ext uri="{BB962C8B-B14F-4D97-AF65-F5344CB8AC3E}">
        <p14:creationId xmlns:p14="http://schemas.microsoft.com/office/powerpoint/2010/main" val="524401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200" dirty="0" smtClean="0"/>
              <a:t>All semi-local longest common subsequences</a:t>
            </a:r>
            <a:br>
              <a:rPr lang="en-US" altLang="zh-TW" sz="3200" dirty="0" smtClean="0"/>
            </a:br>
            <a:r>
              <a:rPr lang="en-US" altLang="zh-TW" sz="3200" dirty="0" smtClean="0"/>
              <a:t>in </a:t>
            </a:r>
            <a:r>
              <a:rPr lang="en-US" altLang="zh-TW" sz="3200" dirty="0" err="1" smtClean="0"/>
              <a:t>subquadratic</a:t>
            </a:r>
            <a:r>
              <a:rPr lang="en-US" altLang="zh-TW" sz="3200" dirty="0" smtClean="0"/>
              <a:t> time</a:t>
            </a:r>
            <a:endParaRPr lang="zh-TW" altLang="en-US" sz="3200" dirty="0"/>
          </a:p>
        </p:txBody>
      </p:sp>
      <p:sp>
        <p:nvSpPr>
          <p:cNvPr id="3" name="副標題 2"/>
          <p:cNvSpPr>
            <a:spLocks noGrp="1"/>
          </p:cNvSpPr>
          <p:nvPr>
            <p:ph type="subTitle" idx="1"/>
          </p:nvPr>
        </p:nvSpPr>
        <p:spPr/>
        <p:txBody>
          <a:bodyPr>
            <a:noAutofit/>
          </a:bodyPr>
          <a:lstStyle/>
          <a:p>
            <a:r>
              <a:rPr lang="fr-FR" altLang="zh-TW" sz="1600" dirty="0" smtClean="0">
                <a:solidFill>
                  <a:schemeClr val="tx1">
                    <a:lumMod val="85000"/>
                    <a:lumOff val="15000"/>
                  </a:schemeClr>
                </a:solidFill>
              </a:rPr>
              <a:t>Alexander Tiskin</a:t>
            </a:r>
          </a:p>
          <a:p>
            <a:r>
              <a:rPr lang="en-US" altLang="zh-TW" sz="1600" dirty="0" smtClean="0">
                <a:solidFill>
                  <a:schemeClr val="tx1">
                    <a:lumMod val="85000"/>
                    <a:lumOff val="15000"/>
                  </a:schemeClr>
                </a:solidFill>
              </a:rPr>
              <a:t>Department of Computer Science, The University of Warwick</a:t>
            </a:r>
            <a:endParaRPr lang="fr-FR" altLang="zh-TW" sz="1600" dirty="0" smtClean="0">
              <a:solidFill>
                <a:schemeClr val="tx1">
                  <a:lumMod val="85000"/>
                  <a:lumOff val="15000"/>
                </a:schemeClr>
              </a:solidFill>
            </a:endParaRPr>
          </a:p>
          <a:p>
            <a:r>
              <a:rPr lang="fr-FR" altLang="zh-TW" sz="1600" dirty="0" smtClean="0">
                <a:solidFill>
                  <a:schemeClr val="tx1">
                    <a:lumMod val="85000"/>
                    <a:lumOff val="15000"/>
                  </a:schemeClr>
                </a:solidFill>
              </a:rPr>
              <a:t>Lecture Notes in Computer Science, 2006, Volume 3967/2006, 352-363</a:t>
            </a:r>
          </a:p>
          <a:p>
            <a:r>
              <a:rPr lang="fr-FR" altLang="zh-TW" sz="1600" dirty="0" smtClean="0">
                <a:solidFill>
                  <a:schemeClr val="tx1">
                    <a:lumMod val="85000"/>
                    <a:lumOff val="15000"/>
                  </a:schemeClr>
                </a:solidFill>
              </a:rPr>
              <a:t>Presenter: Yi-Pu Guo</a:t>
            </a:r>
          </a:p>
          <a:p>
            <a:r>
              <a:rPr lang="fr-FR" altLang="zh-TW" sz="1600" dirty="0" smtClean="0">
                <a:solidFill>
                  <a:schemeClr val="tx1">
                    <a:lumMod val="85000"/>
                    <a:lumOff val="15000"/>
                  </a:schemeClr>
                </a:solidFill>
              </a:rPr>
              <a:t>2012-08-28</a:t>
            </a:r>
            <a:endParaRPr lang="zh-TW" altLang="en-US" sz="1600" dirty="0">
              <a:solidFill>
                <a:schemeClr val="tx1">
                  <a:lumMod val="85000"/>
                  <a:lumOff val="15000"/>
                </a:schemeClr>
              </a:solidFill>
            </a:endParaRPr>
          </a:p>
        </p:txBody>
      </p:sp>
    </p:spTree>
    <p:extLst>
      <p:ext uri="{BB962C8B-B14F-4D97-AF65-F5344CB8AC3E}">
        <p14:creationId xmlns:p14="http://schemas.microsoft.com/office/powerpoint/2010/main" val="2701888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Abstract</a:t>
            </a:r>
            <a:endParaRPr lang="zh-TW" altLang="en-US" dirty="0"/>
          </a:p>
        </p:txBody>
      </p:sp>
      <mc:AlternateContent xmlns:mc="http://schemas.openxmlformats.org/markup-compatibility/2006" xmlns:a14="http://schemas.microsoft.com/office/drawing/2010/main">
        <mc:Choice Requires="a14">
          <p:sp>
            <p:nvSpPr>
              <p:cNvPr id="11" name="內容版面配置區 10"/>
              <p:cNvSpPr>
                <a:spLocks noGrp="1"/>
              </p:cNvSpPr>
              <p:nvPr>
                <p:ph idx="1"/>
              </p:nvPr>
            </p:nvSpPr>
            <p:spPr/>
            <p:txBody>
              <a:bodyPr>
                <a:noAutofit/>
              </a:bodyPr>
              <a:lstStyle/>
              <a:p>
                <a:pPr marL="0" indent="457200" algn="just">
                  <a:buNone/>
                </a:pPr>
                <a:r>
                  <a:rPr lang="en-US" altLang="zh-TW" sz="2000" dirty="0" smtClean="0"/>
                  <a:t>For two strings a, b of lengths m, n respectively, the longest common subsequence (LCS) problem consists in comparing a and b by computing the length of their LCS. In this paper, we define a </a:t>
                </a:r>
                <a:r>
                  <a:rPr lang="en-US" altLang="zh-TW" sz="2000" dirty="0" err="1" smtClean="0"/>
                  <a:t>generalisation</a:t>
                </a:r>
                <a:r>
                  <a:rPr lang="en-US" altLang="zh-TW" sz="2000" dirty="0" smtClean="0"/>
                  <a:t>, called “the all semi-local LCS problem”, where each string is compared against all substrings of the other string, and all prefixes of each string are compared against all suffixes of the other string. An explicit representation of the output lengths is of size </a:t>
                </a:r>
                <a14:m>
                  <m:oMath xmlns:m="http://schemas.openxmlformats.org/officeDocument/2006/math">
                    <m:r>
                      <m:rPr>
                        <m:sty m:val="p"/>
                      </m:rPr>
                      <a:rPr lang="el-GR" altLang="zh-TW" sz="2000" i="1" smtClean="0">
                        <a:latin typeface="Cambria Math"/>
                        <a:ea typeface="Cambria Math"/>
                      </a:rPr>
                      <m:t>Θ</m:t>
                    </m:r>
                    <m:r>
                      <a:rPr lang="en-US" altLang="zh-TW" sz="2000" b="0" i="1" smtClean="0">
                        <a:latin typeface="Cambria Math"/>
                        <a:ea typeface="Cambria Math"/>
                      </a:rPr>
                      <m:t>(</m:t>
                    </m:r>
                    <m:sSup>
                      <m:sSupPr>
                        <m:ctrlPr>
                          <a:rPr lang="en-US" altLang="zh-TW" sz="2000" b="0" i="1" smtClean="0">
                            <a:latin typeface="Cambria Math"/>
                            <a:ea typeface="Cambria Math"/>
                          </a:rPr>
                        </m:ctrlPr>
                      </m:sSupPr>
                      <m:e>
                        <m:r>
                          <a:rPr lang="en-US" altLang="zh-TW" sz="2000" b="0" i="1" smtClean="0">
                            <a:latin typeface="Cambria Math"/>
                            <a:ea typeface="Cambria Math"/>
                          </a:rPr>
                          <m:t>(</m:t>
                        </m:r>
                        <m:r>
                          <a:rPr lang="en-US" altLang="zh-TW" sz="2000" b="0" i="1" smtClean="0">
                            <a:latin typeface="Cambria Math"/>
                            <a:ea typeface="Cambria Math"/>
                          </a:rPr>
                          <m:t>𝑚</m:t>
                        </m:r>
                        <m:r>
                          <a:rPr lang="en-US" altLang="zh-TW" sz="2000" b="0" i="1" smtClean="0">
                            <a:latin typeface="Cambria Math"/>
                            <a:ea typeface="Cambria Math"/>
                          </a:rPr>
                          <m:t>+</m:t>
                        </m:r>
                        <m:r>
                          <a:rPr lang="en-US" altLang="zh-TW" sz="2000" b="0" i="1" smtClean="0">
                            <a:latin typeface="Cambria Math"/>
                            <a:ea typeface="Cambria Math"/>
                          </a:rPr>
                          <m:t>𝑛</m:t>
                        </m:r>
                        <m:r>
                          <a:rPr lang="en-US" altLang="zh-TW" sz="2000" b="0" i="1" smtClean="0">
                            <a:latin typeface="Cambria Math"/>
                            <a:ea typeface="Cambria Math"/>
                          </a:rPr>
                          <m:t>)</m:t>
                        </m:r>
                      </m:e>
                      <m:sup>
                        <m:r>
                          <a:rPr lang="en-US" altLang="zh-TW" sz="2000" b="0" i="1" smtClean="0">
                            <a:latin typeface="Cambria Math"/>
                            <a:ea typeface="Cambria Math"/>
                          </a:rPr>
                          <m:t>2</m:t>
                        </m:r>
                      </m:sup>
                    </m:sSup>
                    <m:r>
                      <a:rPr lang="en-US" altLang="zh-TW" sz="2000" b="0" i="1" smtClean="0">
                        <a:latin typeface="Cambria Math"/>
                        <a:ea typeface="Cambria Math"/>
                      </a:rPr>
                      <m:t>)</m:t>
                    </m:r>
                  </m:oMath>
                </a14:m>
                <a:r>
                  <a:rPr lang="en-US" altLang="zh-TW" sz="2000" dirty="0" smtClean="0"/>
                  <a:t>. We show that the output can be represented implicitly by a geometric data structure of size O(</a:t>
                </a:r>
                <a:r>
                  <a:rPr lang="en-US" altLang="zh-TW" sz="2000" dirty="0" err="1" smtClean="0"/>
                  <a:t>m+n</a:t>
                </a:r>
                <a:r>
                  <a:rPr lang="en-US" altLang="zh-TW" sz="2000" dirty="0" smtClean="0"/>
                  <a:t>), allowing efficient queries of the individual output lengths. The currently best all string-substring LCS algorithm by </a:t>
                </a:r>
                <a:r>
                  <a:rPr lang="en-US" altLang="zh-TW" sz="2000" dirty="0" err="1" smtClean="0"/>
                  <a:t>Alves</a:t>
                </a:r>
                <a:r>
                  <a:rPr lang="en-US" altLang="zh-TW" sz="2000" dirty="0" smtClean="0"/>
                  <a:t> et al. can be adapted to produce the output in this form. We also develop the first all semi-local LCS algorithm, running in time o(</a:t>
                </a:r>
                <a:r>
                  <a:rPr lang="en-US" altLang="zh-TW" sz="2000" dirty="0" err="1" smtClean="0"/>
                  <a:t>mn</a:t>
                </a:r>
                <a:r>
                  <a:rPr lang="en-US" altLang="zh-TW" sz="2000" dirty="0" smtClean="0"/>
                  <a:t>) when m and n are reasonably close. Compared to a number of previous results, our approach presents an improvement in algorithm functionality, output representation efficiency, and/or running time.</a:t>
                </a:r>
                <a:endParaRPr lang="zh-TW" altLang="en-US" sz="2000" dirty="0"/>
              </a:p>
            </p:txBody>
          </p:sp>
        </mc:Choice>
        <mc:Fallback xmlns="">
          <p:sp>
            <p:nvSpPr>
              <p:cNvPr id="11" name="內容版面配置區 10"/>
              <p:cNvSpPr>
                <a:spLocks noGrp="1" noRot="1" noChangeAspect="1" noMove="1" noResize="1" noEditPoints="1" noAdjustHandles="1" noChangeArrowheads="1" noChangeShapeType="1" noTextEdit="1"/>
              </p:cNvSpPr>
              <p:nvPr>
                <p:ph idx="1"/>
              </p:nvPr>
            </p:nvSpPr>
            <p:spPr>
              <a:blipFill rotWithShape="1">
                <a:blip r:embed="rId2"/>
                <a:stretch>
                  <a:fillRect l="-741" t="-674" r="-7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25866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smtClean="0"/>
              <a:t>LCS (Longest Common Subsequence)</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a = </a:t>
            </a:r>
            <a:r>
              <a:rPr lang="en-US" altLang="zh-TW" dirty="0" err="1" smtClean="0"/>
              <a:t>b</a:t>
            </a:r>
            <a:r>
              <a:rPr lang="en-US" altLang="zh-TW" dirty="0" err="1" smtClean="0">
                <a:solidFill>
                  <a:srgbClr val="FF0000"/>
                </a:solidFill>
              </a:rPr>
              <a:t>acad</a:t>
            </a:r>
            <a:endParaRPr lang="en-US" altLang="zh-TW" dirty="0" smtClean="0">
              <a:solidFill>
                <a:srgbClr val="FF0000"/>
              </a:solidFill>
            </a:endParaRPr>
          </a:p>
          <a:p>
            <a:pPr marL="0" indent="0">
              <a:buNone/>
            </a:pPr>
            <a:r>
              <a:rPr lang="en-US" altLang="zh-TW" dirty="0" smtClean="0"/>
              <a:t>b = </a:t>
            </a:r>
            <a:r>
              <a:rPr lang="en-US" altLang="zh-TW" dirty="0" err="1" smtClean="0">
                <a:solidFill>
                  <a:srgbClr val="FF0000"/>
                </a:solidFill>
              </a:rPr>
              <a:t>ac</a:t>
            </a:r>
            <a:r>
              <a:rPr lang="en-US" altLang="zh-TW" dirty="0" err="1" smtClean="0"/>
              <a:t>cb</a:t>
            </a:r>
            <a:r>
              <a:rPr lang="en-US" altLang="zh-TW" dirty="0" err="1" smtClean="0">
                <a:solidFill>
                  <a:srgbClr val="FF0000"/>
                </a:solidFill>
              </a:rPr>
              <a:t>ad</a:t>
            </a:r>
            <a:r>
              <a:rPr lang="en-US" altLang="zh-TW" dirty="0" err="1" smtClean="0"/>
              <a:t>cb</a:t>
            </a:r>
            <a:endParaRPr lang="en-US" altLang="zh-TW" dirty="0" smtClean="0"/>
          </a:p>
          <a:p>
            <a:pPr marL="0" indent="0">
              <a:buNone/>
            </a:pPr>
            <a:r>
              <a:rPr lang="en-US" altLang="zh-TW" dirty="0" smtClean="0"/>
              <a:t>LCS = </a:t>
            </a:r>
            <a:r>
              <a:rPr lang="en-US" altLang="zh-TW" dirty="0" err="1" smtClean="0">
                <a:solidFill>
                  <a:srgbClr val="FF0000"/>
                </a:solidFill>
              </a:rPr>
              <a:t>acad</a:t>
            </a:r>
            <a:endParaRPr lang="en-US" altLang="zh-TW" dirty="0" smtClean="0">
              <a:solidFill>
                <a:srgbClr val="FF0000"/>
              </a:solidFill>
            </a:endParaRPr>
          </a:p>
          <a:p>
            <a:pPr>
              <a:lnSpc>
                <a:spcPct val="150000"/>
              </a:lnSpc>
            </a:pPr>
            <a:r>
              <a:rPr lang="zh-TW" altLang="en-US" sz="2000" dirty="0" smtClean="0"/>
              <a:t>能以 </a:t>
            </a:r>
            <a:r>
              <a:rPr lang="en-US" altLang="zh-TW" sz="2000" dirty="0" smtClean="0"/>
              <a:t>DP </a:t>
            </a:r>
            <a:r>
              <a:rPr lang="zh-TW" altLang="en-US" sz="2000" dirty="0" smtClean="0"/>
              <a:t>方式求解：</a:t>
            </a:r>
            <a:endParaRPr lang="en-US" altLang="zh-TW" sz="2000"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6287" y="3891874"/>
            <a:ext cx="3591426" cy="2705478"/>
          </a:xfrm>
          <a:prstGeom prst="rect">
            <a:avLst/>
          </a:prstGeom>
        </p:spPr>
      </p:pic>
      <p:sp>
        <p:nvSpPr>
          <p:cNvPr id="7" name="文字方塊 6"/>
          <p:cNvSpPr txBox="1"/>
          <p:nvPr/>
        </p:nvSpPr>
        <p:spPr>
          <a:xfrm>
            <a:off x="6588224" y="6458852"/>
            <a:ext cx="2278188" cy="276999"/>
          </a:xfrm>
          <a:prstGeom prst="rect">
            <a:avLst/>
          </a:prstGeom>
          <a:noFill/>
        </p:spPr>
        <p:txBody>
          <a:bodyPr wrap="none" rtlCol="0">
            <a:spAutoFit/>
          </a:bodyPr>
          <a:lstStyle/>
          <a:p>
            <a:r>
              <a:rPr lang="en-US" altLang="zh-TW" sz="1200" dirty="0" smtClean="0"/>
              <a:t>(</a:t>
            </a:r>
            <a:r>
              <a:rPr lang="zh-TW" altLang="en-US" sz="1200" dirty="0" smtClean="0"/>
              <a:t>圖片摘</a:t>
            </a:r>
            <a:r>
              <a:rPr lang="zh-TW" altLang="en-US" sz="1200" dirty="0"/>
              <a:t>自演算法課程之投影片</a:t>
            </a:r>
            <a:r>
              <a:rPr lang="en-US" altLang="zh-TW" sz="1200" dirty="0"/>
              <a:t>)</a:t>
            </a:r>
            <a:endParaRPr lang="zh-TW" altLang="en-US" sz="1200" dirty="0"/>
          </a:p>
        </p:txBody>
      </p:sp>
    </p:spTree>
    <p:extLst>
      <p:ext uri="{BB962C8B-B14F-4D97-AF65-F5344CB8AC3E}">
        <p14:creationId xmlns:p14="http://schemas.microsoft.com/office/powerpoint/2010/main" val="13472387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Problem statement (1/2)</a:t>
            </a:r>
            <a:endParaRPr lang="zh-TW" altLang="en-US" dirty="0"/>
          </a:p>
        </p:txBody>
      </p:sp>
      <p:sp>
        <p:nvSpPr>
          <p:cNvPr id="3" name="內容版面配置區 2"/>
          <p:cNvSpPr>
            <a:spLocks noGrp="1"/>
          </p:cNvSpPr>
          <p:nvPr>
            <p:ph idx="1"/>
          </p:nvPr>
        </p:nvSpPr>
        <p:spPr/>
        <p:txBody>
          <a:bodyPr>
            <a:normAutofit/>
          </a:bodyPr>
          <a:lstStyle/>
          <a:p>
            <a:pPr marL="0" indent="0">
              <a:lnSpc>
                <a:spcPct val="150000"/>
              </a:lnSpc>
              <a:buNone/>
            </a:pPr>
            <a:r>
              <a:rPr lang="en-US" altLang="zh-TW" sz="2000" dirty="0" smtClean="0"/>
              <a:t>The all semi-local LCS problem: computing the LCS lengths on substrings of a and b as follows:</a:t>
            </a:r>
          </a:p>
          <a:p>
            <a:pPr>
              <a:lnSpc>
                <a:spcPct val="150000"/>
              </a:lnSpc>
            </a:pPr>
            <a:r>
              <a:rPr lang="en-US" altLang="zh-TW" sz="2000" dirty="0" smtClean="0"/>
              <a:t>the all string-substring LCS problem: a against every substring of b</a:t>
            </a:r>
          </a:p>
          <a:p>
            <a:pPr>
              <a:lnSpc>
                <a:spcPct val="150000"/>
              </a:lnSpc>
            </a:pPr>
            <a:r>
              <a:rPr lang="en-US" altLang="zh-TW" sz="2000" dirty="0" smtClean="0"/>
              <a:t>the all prefix-suffix LCS problem: every prefix of a against every suffix of b</a:t>
            </a:r>
          </a:p>
          <a:p>
            <a:pPr>
              <a:lnSpc>
                <a:spcPct val="150000"/>
              </a:lnSpc>
            </a:pPr>
            <a:r>
              <a:rPr lang="en-US" altLang="zh-TW" sz="2000" dirty="0" smtClean="0"/>
              <a:t>the all substring-string LCS problem and</a:t>
            </a:r>
          </a:p>
          <a:p>
            <a:pPr>
              <a:lnSpc>
                <a:spcPct val="150000"/>
              </a:lnSpc>
            </a:pPr>
            <a:r>
              <a:rPr lang="en-US" altLang="zh-TW" sz="2000" dirty="0" smtClean="0"/>
              <a:t>the all suffix-prefix LCS problem: (the roles of a and b exchanged.)</a:t>
            </a:r>
          </a:p>
        </p:txBody>
      </p:sp>
      <p:grpSp>
        <p:nvGrpSpPr>
          <p:cNvPr id="24" name="群組 23"/>
          <p:cNvGrpSpPr/>
          <p:nvPr/>
        </p:nvGrpSpPr>
        <p:grpSpPr>
          <a:xfrm>
            <a:off x="1187624" y="5219908"/>
            <a:ext cx="2466734" cy="954688"/>
            <a:chOff x="1187624" y="5219908"/>
            <a:chExt cx="2466734" cy="954688"/>
          </a:xfrm>
        </p:grpSpPr>
        <p:grpSp>
          <p:nvGrpSpPr>
            <p:cNvPr id="12" name="群組 11"/>
            <p:cNvGrpSpPr/>
            <p:nvPr/>
          </p:nvGrpSpPr>
          <p:grpSpPr>
            <a:xfrm>
              <a:off x="1187624" y="5301208"/>
              <a:ext cx="2466734" cy="801380"/>
              <a:chOff x="665106" y="5548590"/>
              <a:chExt cx="2466734" cy="801380"/>
            </a:xfrm>
          </p:grpSpPr>
          <p:cxnSp>
            <p:nvCxnSpPr>
              <p:cNvPr id="7" name="直線接點 6"/>
              <p:cNvCxnSpPr/>
              <p:nvPr/>
            </p:nvCxnSpPr>
            <p:spPr>
              <a:xfrm>
                <a:off x="971600" y="5733256"/>
                <a:ext cx="216024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971600" y="6165304"/>
                <a:ext cx="216024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676326" y="5548590"/>
                <a:ext cx="295274" cy="369332"/>
              </a:xfrm>
              <a:prstGeom prst="rect">
                <a:avLst/>
              </a:prstGeom>
              <a:noFill/>
            </p:spPr>
            <p:txBody>
              <a:bodyPr wrap="none" rtlCol="0">
                <a:spAutoFit/>
              </a:bodyPr>
              <a:lstStyle/>
              <a:p>
                <a:r>
                  <a:rPr lang="en-US" altLang="zh-TW" dirty="0" smtClean="0"/>
                  <a:t>a</a:t>
                </a:r>
                <a:endParaRPr lang="zh-TW" altLang="en-US" dirty="0"/>
              </a:p>
            </p:txBody>
          </p:sp>
          <p:sp>
            <p:nvSpPr>
              <p:cNvPr id="11" name="文字方塊 10"/>
              <p:cNvSpPr txBox="1"/>
              <p:nvPr/>
            </p:nvSpPr>
            <p:spPr>
              <a:xfrm>
                <a:off x="665106" y="5980638"/>
                <a:ext cx="306494" cy="369332"/>
              </a:xfrm>
              <a:prstGeom prst="rect">
                <a:avLst/>
              </a:prstGeom>
              <a:noFill/>
            </p:spPr>
            <p:txBody>
              <a:bodyPr wrap="none" rtlCol="0">
                <a:spAutoFit/>
              </a:bodyPr>
              <a:lstStyle/>
              <a:p>
                <a:r>
                  <a:rPr lang="en-US" altLang="zh-TW" dirty="0" smtClean="0"/>
                  <a:t>b</a:t>
                </a:r>
                <a:endParaRPr lang="zh-TW" altLang="en-US" dirty="0"/>
              </a:p>
            </p:txBody>
          </p:sp>
        </p:grpSp>
        <p:sp>
          <p:nvSpPr>
            <p:cNvPr id="20" name="左大括弧 19"/>
            <p:cNvSpPr/>
            <p:nvPr/>
          </p:nvSpPr>
          <p:spPr>
            <a:xfrm rot="5400000">
              <a:off x="2502230" y="4211796"/>
              <a:ext cx="144016" cy="216024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2" name="右大括弧 21"/>
            <p:cNvSpPr/>
            <p:nvPr/>
          </p:nvSpPr>
          <p:spPr>
            <a:xfrm rot="5400000">
              <a:off x="2502230" y="5382508"/>
              <a:ext cx="144016" cy="144016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grpSp>
        <p:nvGrpSpPr>
          <p:cNvPr id="25" name="群組 24"/>
          <p:cNvGrpSpPr/>
          <p:nvPr/>
        </p:nvGrpSpPr>
        <p:grpSpPr>
          <a:xfrm>
            <a:off x="4769562" y="5211278"/>
            <a:ext cx="2466734" cy="971702"/>
            <a:chOff x="4769562" y="5211278"/>
            <a:chExt cx="2466734" cy="971702"/>
          </a:xfrm>
        </p:grpSpPr>
        <p:grpSp>
          <p:nvGrpSpPr>
            <p:cNvPr id="13" name="群組 12"/>
            <p:cNvGrpSpPr/>
            <p:nvPr/>
          </p:nvGrpSpPr>
          <p:grpSpPr>
            <a:xfrm>
              <a:off x="4769562" y="5291916"/>
              <a:ext cx="2466734" cy="801380"/>
              <a:chOff x="665106" y="5548590"/>
              <a:chExt cx="2466734" cy="801380"/>
            </a:xfrm>
          </p:grpSpPr>
          <p:cxnSp>
            <p:nvCxnSpPr>
              <p:cNvPr id="14" name="直線接點 13"/>
              <p:cNvCxnSpPr/>
              <p:nvPr/>
            </p:nvCxnSpPr>
            <p:spPr>
              <a:xfrm>
                <a:off x="971600" y="5733256"/>
                <a:ext cx="216024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971600" y="6165304"/>
                <a:ext cx="216024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676326" y="5548590"/>
                <a:ext cx="295274" cy="369332"/>
              </a:xfrm>
              <a:prstGeom prst="rect">
                <a:avLst/>
              </a:prstGeom>
              <a:noFill/>
            </p:spPr>
            <p:txBody>
              <a:bodyPr wrap="none" rtlCol="0">
                <a:spAutoFit/>
              </a:bodyPr>
              <a:lstStyle/>
              <a:p>
                <a:r>
                  <a:rPr lang="en-US" altLang="zh-TW" dirty="0" smtClean="0"/>
                  <a:t>a</a:t>
                </a:r>
                <a:endParaRPr lang="zh-TW" altLang="en-US" dirty="0"/>
              </a:p>
            </p:txBody>
          </p:sp>
          <p:sp>
            <p:nvSpPr>
              <p:cNvPr id="17" name="文字方塊 16"/>
              <p:cNvSpPr txBox="1"/>
              <p:nvPr/>
            </p:nvSpPr>
            <p:spPr>
              <a:xfrm>
                <a:off x="665106" y="5980638"/>
                <a:ext cx="306494" cy="369332"/>
              </a:xfrm>
              <a:prstGeom prst="rect">
                <a:avLst/>
              </a:prstGeom>
              <a:noFill/>
            </p:spPr>
            <p:txBody>
              <a:bodyPr wrap="none" rtlCol="0">
                <a:spAutoFit/>
              </a:bodyPr>
              <a:lstStyle/>
              <a:p>
                <a:r>
                  <a:rPr lang="en-US" altLang="zh-TW" dirty="0" smtClean="0"/>
                  <a:t>b</a:t>
                </a:r>
                <a:endParaRPr lang="zh-TW" altLang="en-US" dirty="0"/>
              </a:p>
            </p:txBody>
          </p:sp>
        </p:grpSp>
        <p:sp>
          <p:nvSpPr>
            <p:cNvPr id="21" name="左大括弧 20"/>
            <p:cNvSpPr/>
            <p:nvPr/>
          </p:nvSpPr>
          <p:spPr>
            <a:xfrm rot="5400000">
              <a:off x="5611801" y="4675533"/>
              <a:ext cx="152646" cy="122413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3" name="右大括弧 22"/>
            <p:cNvSpPr/>
            <p:nvPr/>
          </p:nvSpPr>
          <p:spPr>
            <a:xfrm rot="5400000">
              <a:off x="6444208" y="5390892"/>
              <a:ext cx="144016" cy="144016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spTree>
    <p:extLst>
      <p:ext uri="{BB962C8B-B14F-4D97-AF65-F5344CB8AC3E}">
        <p14:creationId xmlns:p14="http://schemas.microsoft.com/office/powerpoint/2010/main" val="2516047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Problem statement (2/2)</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000" dirty="0" smtClean="0"/>
              <a:t>The global comparison: full string against full string</a:t>
            </a:r>
          </a:p>
          <a:p>
            <a:pPr>
              <a:lnSpc>
                <a:spcPct val="150000"/>
              </a:lnSpc>
            </a:pPr>
            <a:r>
              <a:rPr lang="en-US" altLang="zh-TW" sz="2000" dirty="0"/>
              <a:t>T</a:t>
            </a:r>
            <a:r>
              <a:rPr lang="en-US" altLang="zh-TW" sz="2000" dirty="0" smtClean="0"/>
              <a:t>he local comparison: all substrings against all substrings</a:t>
            </a:r>
          </a:p>
          <a:p>
            <a:pPr marL="0" indent="0">
              <a:lnSpc>
                <a:spcPct val="150000"/>
              </a:lnSpc>
              <a:buNone/>
            </a:pPr>
            <a:r>
              <a:rPr lang="en-US" altLang="zh-TW" sz="2000" dirty="0" smtClean="0"/>
              <a:t>Our problem lies in between, hence the term “semi-local”.</a:t>
            </a:r>
          </a:p>
          <a:p>
            <a:pPr>
              <a:lnSpc>
                <a:spcPct val="150000"/>
              </a:lnSpc>
            </a:pPr>
            <a:endParaRPr lang="en-US" altLang="zh-TW" sz="2000" dirty="0" smtClean="0"/>
          </a:p>
          <a:p>
            <a:pPr marL="0" indent="0">
              <a:lnSpc>
                <a:spcPct val="150000"/>
              </a:lnSpc>
              <a:buNone/>
            </a:pPr>
            <a:r>
              <a:rPr lang="en-US" altLang="zh-TW" sz="2000" dirty="0" smtClean="0"/>
              <a:t>Many algorithms output</a:t>
            </a:r>
          </a:p>
          <a:p>
            <a:pPr>
              <a:lnSpc>
                <a:spcPct val="150000"/>
              </a:lnSpc>
            </a:pPr>
            <a:r>
              <a:rPr lang="en-US" altLang="zh-TW" sz="2000" dirty="0" smtClean="0"/>
              <a:t>a single optimal score, or</a:t>
            </a:r>
          </a:p>
          <a:p>
            <a:pPr>
              <a:lnSpc>
                <a:spcPct val="150000"/>
              </a:lnSpc>
            </a:pPr>
            <a:r>
              <a:rPr lang="en-US" altLang="zh-TW" sz="2000" dirty="0" smtClean="0"/>
              <a:t>a number of local scores close to the global optimal.</a:t>
            </a:r>
          </a:p>
          <a:p>
            <a:pPr marL="0" indent="0">
              <a:lnSpc>
                <a:spcPct val="150000"/>
              </a:lnSpc>
              <a:buNone/>
            </a:pPr>
            <a:r>
              <a:rPr lang="en-US" altLang="zh-TW" sz="2000" dirty="0" smtClean="0"/>
              <a:t>We require to output all the local optimal scores.</a:t>
            </a:r>
            <a:endParaRPr lang="zh-TW" altLang="en-US" sz="2000" dirty="0"/>
          </a:p>
        </p:txBody>
      </p:sp>
    </p:spTree>
    <p:extLst>
      <p:ext uri="{BB962C8B-B14F-4D97-AF65-F5344CB8AC3E}">
        <p14:creationId xmlns:p14="http://schemas.microsoft.com/office/powerpoint/2010/main" val="358245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dag (directed </a:t>
            </a:r>
            <a:r>
              <a:rPr lang="en-US" altLang="zh-TW" dirty="0" smtClean="0"/>
              <a:t>acyclic </a:t>
            </a:r>
            <a:r>
              <a:rPr lang="en-US" altLang="zh-TW" dirty="0"/>
              <a:t>graph)</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839368413"/>
              </p:ext>
            </p:extLst>
          </p:nvPr>
        </p:nvGraphicFramePr>
        <p:xfrm>
          <a:off x="1062000" y="1989320"/>
          <a:ext cx="7020000" cy="4320000"/>
        </p:xfrm>
        <a:graphic>
          <a:graphicData uri="http://schemas.openxmlformats.org/drawingml/2006/table">
            <a:tbl>
              <a:tblPr firstRow="1" bandRow="1">
                <a:tableStyleId>{5940675A-B579-460E-94D1-54222C63F5DA}</a:tableStyleId>
              </a:tblPr>
              <a:tblGrid>
                <a:gridCol w="540000"/>
                <a:gridCol w="540000"/>
                <a:gridCol w="540000"/>
                <a:gridCol w="540000"/>
                <a:gridCol w="540000"/>
                <a:gridCol w="540000"/>
                <a:gridCol w="540000"/>
                <a:gridCol w="540000"/>
                <a:gridCol w="540000"/>
                <a:gridCol w="540000"/>
                <a:gridCol w="540000"/>
                <a:gridCol w="540000"/>
                <a:gridCol w="540000"/>
              </a:tblGrid>
              <a:tr h="540000">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r>
              <a:tr h="540000">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r>
            </a:tbl>
          </a:graphicData>
        </a:graphic>
      </p:graphicFrame>
      <p:sp>
        <p:nvSpPr>
          <p:cNvPr id="7" name="文字方塊 6"/>
          <p:cNvSpPr txBox="1"/>
          <p:nvPr/>
        </p:nvSpPr>
        <p:spPr>
          <a:xfrm>
            <a:off x="3004374" y="1835532"/>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p:sp>
        <p:nvSpPr>
          <p:cNvPr id="8" name="文字方塊 7"/>
          <p:cNvSpPr txBox="1"/>
          <p:nvPr/>
        </p:nvSpPr>
        <p:spPr>
          <a:xfrm>
            <a:off x="844134" y="2915652"/>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p:sp>
        <p:nvSpPr>
          <p:cNvPr id="9" name="文字方塊 8"/>
          <p:cNvSpPr txBox="1"/>
          <p:nvPr/>
        </p:nvSpPr>
        <p:spPr>
          <a:xfrm>
            <a:off x="7884368" y="4509120"/>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p:sp>
        <p:nvSpPr>
          <p:cNvPr id="10" name="文字方塊 9"/>
          <p:cNvSpPr txBox="1"/>
          <p:nvPr/>
        </p:nvSpPr>
        <p:spPr>
          <a:xfrm>
            <a:off x="5724128" y="6156012"/>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mc:AlternateContent xmlns:mc="http://schemas.openxmlformats.org/markup-compatibility/2006" xmlns:a14="http://schemas.microsoft.com/office/drawing/2010/main">
        <mc:Choice Requires="a14">
          <p:sp>
            <p:nvSpPr>
              <p:cNvPr id="11" name="文字方塊 10"/>
              <p:cNvSpPr txBox="1"/>
              <p:nvPr/>
            </p:nvSpPr>
            <p:spPr>
              <a:xfrm>
                <a:off x="3259247" y="1520778"/>
                <a:ext cx="577017"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0,</m:t>
                          </m:r>
                          <m:r>
                            <a:rPr lang="en-US" altLang="zh-TW" b="0" i="1" smtClean="0">
                              <a:latin typeface="Cambria Math"/>
                            </a:rPr>
                            <m:t>𝑗</m:t>
                          </m:r>
                        </m:sub>
                      </m:sSub>
                    </m:oMath>
                  </m:oMathPara>
                </a14:m>
                <a:endParaRPr lang="zh-TW" altLang="en-US"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3259247" y="1520778"/>
                <a:ext cx="577017" cy="391646"/>
              </a:xfrm>
              <a:prstGeom prst="rect">
                <a:avLst/>
              </a:prstGeom>
              <a:blipFill rotWithShape="1">
                <a:blip r:embed="rId3"/>
                <a:stretch>
                  <a:fillRect b="-61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5931877" y="6375061"/>
                <a:ext cx="692754"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𝑚</m:t>
                          </m:r>
                          <m:r>
                            <a:rPr lang="en-US" altLang="zh-TW" b="0" i="1" smtClean="0">
                              <a:latin typeface="Cambria Math"/>
                            </a:rPr>
                            <m:t>,</m:t>
                          </m:r>
                          <m:r>
                            <a:rPr lang="en-US" altLang="zh-TW" b="0" i="1" smtClean="0">
                              <a:latin typeface="Cambria Math"/>
                            </a:rPr>
                            <m:t>𝑗</m:t>
                          </m:r>
                          <m:r>
                            <a:rPr lang="en-US" altLang="zh-TW" b="0" i="1" smtClean="0">
                              <a:latin typeface="Cambria Math"/>
                            </a:rPr>
                            <m:t>′</m:t>
                          </m:r>
                        </m:sub>
                      </m:sSub>
                    </m:oMath>
                  </m:oMathPara>
                </a14:m>
                <a:endParaRPr lang="zh-TW" altLang="en-US"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5931877" y="6375061"/>
                <a:ext cx="692754" cy="391646"/>
              </a:xfrm>
              <a:prstGeom prst="rect">
                <a:avLst/>
              </a:prstGeom>
              <a:blipFill rotWithShape="1">
                <a:blip r:embed="rId4"/>
                <a:stretch>
                  <a:fillRect b="-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494102" y="3102479"/>
                <a:ext cx="557781"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𝑖</m:t>
                          </m:r>
                          <m:r>
                            <a:rPr lang="en-US" altLang="zh-TW" b="0" i="1" smtClean="0">
                              <a:latin typeface="Cambria Math"/>
                            </a:rPr>
                            <m:t>,0</m:t>
                          </m:r>
                        </m:sub>
                      </m:sSub>
                    </m:oMath>
                  </m:oMathPara>
                </a14:m>
                <a:endParaRPr lang="zh-TW" altLang="en-US"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494102" y="3102479"/>
                <a:ext cx="557781" cy="381515"/>
              </a:xfrm>
              <a:prstGeom prst="rect">
                <a:avLst/>
              </a:prstGeom>
              <a:blipFill rotWithShape="1">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p:cNvSpPr txBox="1"/>
              <p:nvPr/>
            </p:nvSpPr>
            <p:spPr>
              <a:xfrm>
                <a:off x="8092117" y="4704419"/>
                <a:ext cx="625428"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𝑖</m:t>
                          </m:r>
                          <m:r>
                            <a:rPr lang="en-US" altLang="zh-TW" b="0" i="1" smtClean="0">
                              <a:latin typeface="Cambria Math"/>
                            </a:rPr>
                            <m:t>′,</m:t>
                          </m:r>
                          <m:r>
                            <a:rPr lang="en-US" altLang="zh-TW" b="0" i="1" smtClean="0">
                              <a:latin typeface="Cambria Math"/>
                            </a:rPr>
                            <m:t>𝑛</m:t>
                          </m:r>
                        </m:sub>
                      </m:sSub>
                    </m:oMath>
                  </m:oMathPara>
                </a14:m>
                <a:endParaRPr lang="zh-TW" altLang="en-US"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8092117" y="4704419"/>
                <a:ext cx="625428" cy="381515"/>
              </a:xfrm>
              <a:prstGeom prst="rect">
                <a:avLst/>
              </a:prstGeom>
              <a:blipFill rotWithShape="1">
                <a:blip r:embed="rId6"/>
                <a:stretch>
                  <a:fillRect/>
                </a:stretch>
              </a:blipFill>
            </p:spPr>
            <p:txBody>
              <a:bodyPr/>
              <a:lstStyle/>
              <a:p>
                <a:r>
                  <a:rPr lang="zh-TW" altLang="en-US">
                    <a:noFill/>
                  </a:rPr>
                  <a:t> </a:t>
                </a:r>
              </a:p>
            </p:txBody>
          </p:sp>
        </mc:Fallback>
      </mc:AlternateContent>
      <p:cxnSp>
        <p:nvCxnSpPr>
          <p:cNvPr id="17" name="弧形接點 16"/>
          <p:cNvCxnSpPr>
            <a:stCxn id="20" idx="1"/>
          </p:cNvCxnSpPr>
          <p:nvPr/>
        </p:nvCxnSpPr>
        <p:spPr>
          <a:xfrm rot="10800000" flipV="1">
            <a:off x="1259632" y="1379402"/>
            <a:ext cx="815708" cy="825462"/>
          </a:xfrm>
          <a:prstGeom prst="curvedConnector2">
            <a:avLst/>
          </a:prstGeom>
          <a:ln>
            <a:tailEnd type="arrow"/>
          </a:ln>
        </p:spPr>
        <p:style>
          <a:lnRef idx="1">
            <a:schemeClr val="accent2"/>
          </a:lnRef>
          <a:fillRef idx="0">
            <a:schemeClr val="accent2"/>
          </a:fillRef>
          <a:effectRef idx="0">
            <a:schemeClr val="accent2"/>
          </a:effectRef>
          <a:fontRef idx="minor">
            <a:schemeClr val="tx1"/>
          </a:fontRef>
        </p:style>
      </p:cxnSp>
      <p:sp>
        <p:nvSpPr>
          <p:cNvPr id="20" name="文字方塊 19"/>
          <p:cNvSpPr txBox="1"/>
          <p:nvPr/>
        </p:nvSpPr>
        <p:spPr>
          <a:xfrm>
            <a:off x="2075340" y="1194736"/>
            <a:ext cx="2154757" cy="369332"/>
          </a:xfrm>
          <a:prstGeom prst="rect">
            <a:avLst/>
          </a:prstGeom>
          <a:noFill/>
        </p:spPr>
        <p:txBody>
          <a:bodyPr wrap="none" rtlCol="0">
            <a:spAutoFit/>
          </a:bodyPr>
          <a:lstStyle/>
          <a:p>
            <a:r>
              <a:rPr lang="en-US" altLang="zh-TW" dirty="0" smtClean="0"/>
              <a:t>weight = 1, </a:t>
            </a:r>
            <a:r>
              <a:rPr lang="en-US" altLang="zh-TW" dirty="0" err="1" smtClean="0"/>
              <a:t>iff</a:t>
            </a:r>
            <a:r>
              <a:rPr lang="en-US" altLang="zh-TW" dirty="0" smtClean="0"/>
              <a:t> α</a:t>
            </a:r>
            <a:r>
              <a:rPr lang="en-US" altLang="zh-TW" baseline="-25000" dirty="0" err="1" smtClean="0"/>
              <a:t>i</a:t>
            </a:r>
            <a:r>
              <a:rPr lang="en-US" altLang="zh-TW" dirty="0" smtClean="0"/>
              <a:t> = β</a:t>
            </a:r>
            <a:r>
              <a:rPr lang="en-US" altLang="zh-TW" baseline="-25000" dirty="0" smtClean="0"/>
              <a:t>j</a:t>
            </a:r>
            <a:r>
              <a:rPr lang="en-US" altLang="zh-TW" dirty="0" smtClean="0"/>
              <a:t>.</a:t>
            </a:r>
            <a:endParaRPr lang="zh-TW" altLang="en-US" dirty="0"/>
          </a:p>
        </p:txBody>
      </p:sp>
      <mc:AlternateContent xmlns:mc="http://schemas.openxmlformats.org/markup-compatibility/2006" xmlns:a14="http://schemas.microsoft.com/office/drawing/2010/main">
        <mc:Choice Requires="a14">
          <p:sp>
            <p:nvSpPr>
              <p:cNvPr id="3" name="文字方塊 2"/>
              <p:cNvSpPr txBox="1"/>
              <p:nvPr/>
            </p:nvSpPr>
            <p:spPr>
              <a:xfrm>
                <a:off x="611560" y="1556792"/>
                <a:ext cx="3935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𝐺</m:t>
                      </m:r>
                    </m:oMath>
                  </m:oMathPara>
                </a14:m>
                <a:endParaRPr lang="zh-TW" altLang="en-US"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611560" y="1556792"/>
                <a:ext cx="393569" cy="369332"/>
              </a:xfrm>
              <a:prstGeom prst="rect">
                <a:avLst/>
              </a:prstGeom>
              <a:blipFill rotWithShape="1">
                <a:blip r:embed="rId7"/>
                <a:stretch>
                  <a:fillRect/>
                </a:stretch>
              </a:blipFill>
            </p:spPr>
            <p:txBody>
              <a:bodyPr/>
              <a:lstStyle/>
              <a:p>
                <a:r>
                  <a:rPr lang="zh-TW" altLang="en-US">
                    <a:noFill/>
                  </a:rPr>
                  <a:t> </a:t>
                </a:r>
              </a:p>
            </p:txBody>
          </p:sp>
        </mc:Fallback>
      </mc:AlternateContent>
      <p:sp>
        <p:nvSpPr>
          <p:cNvPr id="5" name="文字方塊 4"/>
          <p:cNvSpPr txBox="1"/>
          <p:nvPr/>
        </p:nvSpPr>
        <p:spPr>
          <a:xfrm>
            <a:off x="5638383" y="1422801"/>
            <a:ext cx="2622064" cy="369332"/>
          </a:xfrm>
          <a:prstGeom prst="rect">
            <a:avLst/>
          </a:prstGeom>
          <a:noFill/>
        </p:spPr>
        <p:txBody>
          <a:bodyPr wrap="none" rtlCol="0">
            <a:spAutoFit/>
          </a:bodyPr>
          <a:lstStyle/>
          <a:p>
            <a:r>
              <a:rPr lang="en-US" altLang="zh-TW" dirty="0" smtClean="0"/>
              <a:t>LCS: max weight(v1 </a:t>
            </a:r>
            <a:r>
              <a:rPr lang="en-US" altLang="zh-TW" dirty="0" smtClean="0">
                <a:sym typeface="Wingdings" pitchFamily="2" charset="2"/>
              </a:rPr>
              <a:t> v2</a:t>
            </a:r>
            <a:r>
              <a:rPr lang="en-US" altLang="zh-TW" dirty="0" smtClean="0"/>
              <a:t>)</a:t>
            </a:r>
            <a:endParaRPr lang="zh-TW" altLang="en-US" dirty="0"/>
          </a:p>
        </p:txBody>
      </p:sp>
    </p:spTree>
    <p:extLst>
      <p:ext uri="{BB962C8B-B14F-4D97-AF65-F5344CB8AC3E}">
        <p14:creationId xmlns:p14="http://schemas.microsoft.com/office/powerpoint/2010/main" val="1051247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a:t>
            </a:r>
            <a:r>
              <a:rPr lang="en-US" altLang="zh-TW" dirty="0" err="1" smtClean="0"/>
              <a:t>j,j</a:t>
            </a:r>
            <a:r>
              <a:rPr lang="en-US" altLang="zh-TW" dirty="0" smtClean="0"/>
              <a:t>’), A*(</a:t>
            </a:r>
            <a:r>
              <a:rPr lang="en-US" altLang="zh-TW" dirty="0" err="1" smtClean="0"/>
              <a:t>i,i</a:t>
            </a:r>
            <a:r>
              <a:rPr lang="en-US" altLang="zh-TW" dirty="0" smtClean="0"/>
              <a:t>’)</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4265997452"/>
              </p:ext>
            </p:extLst>
          </p:nvPr>
        </p:nvGraphicFramePr>
        <p:xfrm>
          <a:off x="1062000" y="1989320"/>
          <a:ext cx="7020000" cy="4320000"/>
        </p:xfrm>
        <a:graphic>
          <a:graphicData uri="http://schemas.openxmlformats.org/drawingml/2006/table">
            <a:tbl>
              <a:tblPr firstRow="1" bandRow="1">
                <a:tableStyleId>{5940675A-B579-460E-94D1-54222C63F5DA}</a:tableStyleId>
              </a:tblPr>
              <a:tblGrid>
                <a:gridCol w="540000"/>
                <a:gridCol w="540000"/>
                <a:gridCol w="540000"/>
                <a:gridCol w="540000"/>
                <a:gridCol w="540000"/>
                <a:gridCol w="540000"/>
                <a:gridCol w="540000"/>
                <a:gridCol w="540000"/>
                <a:gridCol w="540000"/>
                <a:gridCol w="540000"/>
                <a:gridCol w="540000"/>
                <a:gridCol w="540000"/>
                <a:gridCol w="540000"/>
              </a:tblGrid>
              <a:tr h="540000">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r>
              <a:tr h="540000">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r>
              <a:tr h="540000">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a:ln w="12700">
                          <a:solidFill>
                            <a:schemeClr val="tx1"/>
                          </a:solidFill>
                        </a:ln>
                        <a:solidFill>
                          <a:schemeClr val="tx1"/>
                        </a:solidFill>
                      </a:endParaRPr>
                    </a:p>
                  </a:txBody>
                  <a:tcPr/>
                </a:tc>
                <a:tc>
                  <a:txBody>
                    <a:bodyPr/>
                    <a:lstStyle/>
                    <a:p>
                      <a:endParaRPr lang="zh-TW" altLang="en-US">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dirty="0">
                        <a:ln w="12700">
                          <a:solidFill>
                            <a:schemeClr val="tx1"/>
                          </a:solidFill>
                        </a:ln>
                        <a:solidFill>
                          <a:schemeClr val="tx1"/>
                        </a:solidFill>
                      </a:endParaRPr>
                    </a:p>
                  </a:txBody>
                  <a:tcPr/>
                </a:tc>
                <a:tc>
                  <a:txBody>
                    <a:bodyPr/>
                    <a:lstStyle/>
                    <a:p>
                      <a:endParaRPr lang="zh-TW" altLang="en-US" dirty="0">
                        <a:ln w="12700">
                          <a:solidFill>
                            <a:schemeClr val="tx1"/>
                          </a:solidFill>
                        </a:ln>
                        <a:solidFill>
                          <a:schemeClr val="tx1"/>
                        </a:solidFill>
                      </a:endParaRPr>
                    </a:p>
                  </a:txBody>
                  <a:tcPr/>
                </a:tc>
              </a:tr>
            </a:tbl>
          </a:graphicData>
        </a:graphic>
      </p:graphicFrame>
      <p:sp>
        <p:nvSpPr>
          <p:cNvPr id="7" name="文字方塊 6"/>
          <p:cNvSpPr txBox="1"/>
          <p:nvPr/>
        </p:nvSpPr>
        <p:spPr>
          <a:xfrm>
            <a:off x="3004374" y="1835532"/>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p:sp>
        <p:nvSpPr>
          <p:cNvPr id="8" name="文字方塊 7"/>
          <p:cNvSpPr txBox="1"/>
          <p:nvPr/>
        </p:nvSpPr>
        <p:spPr>
          <a:xfrm>
            <a:off x="844134" y="2915652"/>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p:sp>
        <p:nvSpPr>
          <p:cNvPr id="9" name="文字方塊 8"/>
          <p:cNvSpPr txBox="1"/>
          <p:nvPr/>
        </p:nvSpPr>
        <p:spPr>
          <a:xfrm>
            <a:off x="7884368" y="4509120"/>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p:sp>
        <p:nvSpPr>
          <p:cNvPr id="10" name="文字方塊 9"/>
          <p:cNvSpPr txBox="1"/>
          <p:nvPr/>
        </p:nvSpPr>
        <p:spPr>
          <a:xfrm>
            <a:off x="5724128" y="6156012"/>
            <a:ext cx="415498" cy="369332"/>
          </a:xfrm>
          <a:prstGeom prst="rect">
            <a:avLst/>
          </a:prstGeom>
          <a:noFill/>
        </p:spPr>
        <p:txBody>
          <a:bodyPr wrap="none" rtlCol="0">
            <a:spAutoFit/>
          </a:bodyPr>
          <a:lstStyle/>
          <a:p>
            <a:r>
              <a:rPr lang="zh-TW" altLang="en-US" dirty="0" smtClean="0">
                <a:solidFill>
                  <a:schemeClr val="accent1"/>
                </a:solidFill>
              </a:rPr>
              <a:t>●</a:t>
            </a:r>
            <a:endParaRPr lang="zh-TW" altLang="en-US" dirty="0">
              <a:solidFill>
                <a:schemeClr val="accent1"/>
              </a:solidFill>
            </a:endParaRPr>
          </a:p>
        </p:txBody>
      </p:sp>
      <mc:AlternateContent xmlns:mc="http://schemas.openxmlformats.org/markup-compatibility/2006" xmlns:a14="http://schemas.microsoft.com/office/drawing/2010/main">
        <mc:Choice Requires="a14">
          <p:sp>
            <p:nvSpPr>
              <p:cNvPr id="11" name="文字方塊 10"/>
              <p:cNvSpPr txBox="1"/>
              <p:nvPr/>
            </p:nvSpPr>
            <p:spPr>
              <a:xfrm>
                <a:off x="3259247" y="1520778"/>
                <a:ext cx="577017"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0,</m:t>
                          </m:r>
                          <m:r>
                            <a:rPr lang="en-US" altLang="zh-TW" b="0" i="1" smtClean="0">
                              <a:latin typeface="Cambria Math"/>
                            </a:rPr>
                            <m:t>𝑗</m:t>
                          </m:r>
                        </m:sub>
                      </m:sSub>
                    </m:oMath>
                  </m:oMathPara>
                </a14:m>
                <a:endParaRPr lang="zh-TW" altLang="en-US"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3259247" y="1520778"/>
                <a:ext cx="577017" cy="391646"/>
              </a:xfrm>
              <a:prstGeom prst="rect">
                <a:avLst/>
              </a:prstGeom>
              <a:blipFill rotWithShape="1">
                <a:blip r:embed="rId3"/>
                <a:stretch>
                  <a:fillRect b="-61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5931877" y="6375061"/>
                <a:ext cx="692754"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𝑚</m:t>
                          </m:r>
                          <m:r>
                            <a:rPr lang="en-US" altLang="zh-TW" b="0" i="1" smtClean="0">
                              <a:latin typeface="Cambria Math"/>
                            </a:rPr>
                            <m:t>,</m:t>
                          </m:r>
                          <m:r>
                            <a:rPr lang="en-US" altLang="zh-TW" b="0" i="1" smtClean="0">
                              <a:latin typeface="Cambria Math"/>
                            </a:rPr>
                            <m:t>𝑗</m:t>
                          </m:r>
                          <m:r>
                            <a:rPr lang="en-US" altLang="zh-TW" b="0" i="1" smtClean="0">
                              <a:latin typeface="Cambria Math"/>
                            </a:rPr>
                            <m:t>′</m:t>
                          </m:r>
                        </m:sub>
                      </m:sSub>
                    </m:oMath>
                  </m:oMathPara>
                </a14:m>
                <a:endParaRPr lang="zh-TW" altLang="en-US"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5931877" y="6375061"/>
                <a:ext cx="692754" cy="391646"/>
              </a:xfrm>
              <a:prstGeom prst="rect">
                <a:avLst/>
              </a:prstGeom>
              <a:blipFill rotWithShape="1">
                <a:blip r:embed="rId4"/>
                <a:stretch>
                  <a:fillRect b="-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494102" y="3102479"/>
                <a:ext cx="557781"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𝑖</m:t>
                          </m:r>
                          <m:r>
                            <a:rPr lang="en-US" altLang="zh-TW" b="0" i="1" smtClean="0">
                              <a:latin typeface="Cambria Math"/>
                            </a:rPr>
                            <m:t>,0</m:t>
                          </m:r>
                        </m:sub>
                      </m:sSub>
                    </m:oMath>
                  </m:oMathPara>
                </a14:m>
                <a:endParaRPr lang="zh-TW" altLang="en-US"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494102" y="3102479"/>
                <a:ext cx="557781" cy="381515"/>
              </a:xfrm>
              <a:prstGeom prst="rect">
                <a:avLst/>
              </a:prstGeom>
              <a:blipFill rotWithShape="1">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p:cNvSpPr txBox="1"/>
              <p:nvPr/>
            </p:nvSpPr>
            <p:spPr>
              <a:xfrm>
                <a:off x="8092117" y="4704419"/>
                <a:ext cx="625428"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zh-TW" altLang="en-US" i="1" smtClean="0">
                              <a:latin typeface="Cambria Math"/>
                            </a:rPr>
                            <m:t>𝜐</m:t>
                          </m:r>
                        </m:e>
                        <m:sub>
                          <m:r>
                            <a:rPr lang="en-US" altLang="zh-TW" b="0" i="1" smtClean="0">
                              <a:latin typeface="Cambria Math"/>
                            </a:rPr>
                            <m:t>𝑖</m:t>
                          </m:r>
                          <m:r>
                            <a:rPr lang="en-US" altLang="zh-TW" b="0" i="1" smtClean="0">
                              <a:latin typeface="Cambria Math"/>
                            </a:rPr>
                            <m:t>′,</m:t>
                          </m:r>
                          <m:r>
                            <a:rPr lang="en-US" altLang="zh-TW" b="0" i="1" smtClean="0">
                              <a:latin typeface="Cambria Math"/>
                            </a:rPr>
                            <m:t>𝑛</m:t>
                          </m:r>
                        </m:sub>
                      </m:sSub>
                    </m:oMath>
                  </m:oMathPara>
                </a14:m>
                <a:endParaRPr lang="zh-TW" altLang="en-US"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8092117" y="4704419"/>
                <a:ext cx="625428" cy="381515"/>
              </a:xfrm>
              <a:prstGeom prst="rect">
                <a:avLst/>
              </a:prstGeom>
              <a:blipFill rotWithShape="1">
                <a:blip r:embed="rId6"/>
                <a:stretch>
                  <a:fillRect/>
                </a:stretch>
              </a:blipFill>
            </p:spPr>
            <p:txBody>
              <a:bodyPr/>
              <a:lstStyle/>
              <a:p>
                <a:r>
                  <a:rPr lang="zh-TW" altLang="en-US">
                    <a:noFill/>
                  </a:rPr>
                  <a:t> </a:t>
                </a:r>
              </a:p>
            </p:txBody>
          </p:sp>
        </mc:Fallback>
      </mc:AlternateContent>
      <p:sp>
        <p:nvSpPr>
          <p:cNvPr id="6" name="矩形 5"/>
          <p:cNvSpPr/>
          <p:nvPr/>
        </p:nvSpPr>
        <p:spPr>
          <a:xfrm>
            <a:off x="971600" y="3100318"/>
            <a:ext cx="7120517" cy="2128882"/>
          </a:xfrm>
          <a:prstGeom prst="rect">
            <a:avLst/>
          </a:prstGeom>
          <a:solidFill>
            <a:schemeClr val="accent2">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5" name="矩形 4"/>
              <p:cNvSpPr/>
              <p:nvPr/>
            </p:nvSpPr>
            <p:spPr>
              <a:xfrm>
                <a:off x="3259247" y="1835532"/>
                <a:ext cx="2672630" cy="4539529"/>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altLang="zh-TW" b="0" i="1" dirty="0" smtClean="0">
                  <a:solidFill>
                    <a:schemeClr val="tx2"/>
                  </a:solidFill>
                  <a:latin typeface="Cambria Math"/>
                </a:endParaRPr>
              </a:p>
              <a:p>
                <a:pPr algn="ctr"/>
                <a14:m>
                  <m:oMathPara xmlns:m="http://schemas.openxmlformats.org/officeDocument/2006/math">
                    <m:oMathParaPr>
                      <m:jc m:val="center"/>
                    </m:oMathParaPr>
                    <m:oMath xmlns:m="http://schemas.openxmlformats.org/officeDocument/2006/math">
                      <m:r>
                        <a:rPr lang="en-US" altLang="zh-TW" b="0" i="1" smtClean="0">
                          <a:solidFill>
                            <a:schemeClr val="tx2"/>
                          </a:solidFill>
                          <a:latin typeface="Cambria Math"/>
                        </a:rPr>
                        <m:t>𝐴</m:t>
                      </m:r>
                      <m:d>
                        <m:dPr>
                          <m:ctrlPr>
                            <a:rPr lang="en-US" altLang="zh-TW" b="0" i="1" smtClean="0">
                              <a:solidFill>
                                <a:schemeClr val="tx2"/>
                              </a:solidFill>
                              <a:latin typeface="Cambria Math"/>
                            </a:rPr>
                          </m:ctrlPr>
                        </m:dPr>
                        <m:e>
                          <m:r>
                            <a:rPr lang="en-US" altLang="zh-TW" b="0" i="1" smtClean="0">
                              <a:solidFill>
                                <a:schemeClr val="tx2"/>
                              </a:solidFill>
                              <a:latin typeface="Cambria Math"/>
                            </a:rPr>
                            <m:t>𝑗</m:t>
                          </m:r>
                          <m:r>
                            <a:rPr lang="en-US" altLang="zh-TW" b="0" i="1" smtClean="0">
                              <a:solidFill>
                                <a:schemeClr val="tx2"/>
                              </a:solidFill>
                              <a:latin typeface="Cambria Math"/>
                            </a:rPr>
                            <m:t>,</m:t>
                          </m:r>
                          <m:r>
                            <a:rPr lang="en-US" altLang="zh-TW" b="0" i="1" smtClean="0">
                              <a:solidFill>
                                <a:schemeClr val="tx2"/>
                              </a:solidFill>
                              <a:latin typeface="Cambria Math"/>
                            </a:rPr>
                            <m:t>𝑗</m:t>
                          </m:r>
                          <m:r>
                            <a:rPr lang="en-US" altLang="zh-TW" b="0" i="1" smtClean="0">
                              <a:solidFill>
                                <a:schemeClr val="tx2"/>
                              </a:solidFill>
                              <a:latin typeface="Cambria Math"/>
                            </a:rPr>
                            <m:t>′</m:t>
                          </m:r>
                        </m:e>
                      </m:d>
                      <m:r>
                        <a:rPr lang="en-US" altLang="zh-TW" b="0" i="1" smtClean="0">
                          <a:solidFill>
                            <a:schemeClr val="tx2"/>
                          </a:solidFill>
                          <a:latin typeface="Cambria Math"/>
                        </a:rPr>
                        <m:t>=</m:t>
                      </m:r>
                      <m:func>
                        <m:funcPr>
                          <m:ctrlPr>
                            <a:rPr lang="en-US" altLang="zh-TW" b="0" i="1" smtClean="0">
                              <a:solidFill>
                                <a:schemeClr val="tx2"/>
                              </a:solidFill>
                              <a:latin typeface="Cambria Math"/>
                            </a:rPr>
                          </m:ctrlPr>
                        </m:funcPr>
                        <m:fName>
                          <m:r>
                            <m:rPr>
                              <m:sty m:val="p"/>
                            </m:rPr>
                            <a:rPr lang="en-US" altLang="zh-TW" b="0" i="0" smtClean="0">
                              <a:solidFill>
                                <a:schemeClr val="tx2"/>
                              </a:solidFill>
                              <a:latin typeface="Cambria Math"/>
                            </a:rPr>
                            <m:t>max</m:t>
                          </m:r>
                        </m:fName>
                        <m:e>
                          <m:r>
                            <a:rPr lang="en-US" altLang="zh-TW" b="0" i="1" smtClean="0">
                              <a:solidFill>
                                <a:schemeClr val="tx2"/>
                              </a:solidFill>
                              <a:latin typeface="Cambria Math"/>
                            </a:rPr>
                            <m:t>𝑤𝑒𝑖𝑔h𝑡</m:t>
                          </m:r>
                          <m:r>
                            <a:rPr lang="en-US" altLang="zh-TW" b="0" i="1" smtClean="0">
                              <a:solidFill>
                                <a:schemeClr val="tx2"/>
                              </a:solidFill>
                              <a:latin typeface="Cambria Math"/>
                            </a:rPr>
                            <m:t>(</m:t>
                          </m:r>
                          <m:sSub>
                            <m:sSubPr>
                              <m:ctrlPr>
                                <a:rPr lang="en-US" altLang="zh-TW" b="0" i="1" smtClean="0">
                                  <a:solidFill>
                                    <a:schemeClr val="tx2"/>
                                  </a:solidFill>
                                  <a:latin typeface="Cambria Math"/>
                                </a:rPr>
                              </m:ctrlPr>
                            </m:sSubPr>
                            <m:e>
                              <m:r>
                                <a:rPr lang="zh-TW" altLang="en-US" b="0" i="1" smtClean="0">
                                  <a:solidFill>
                                    <a:schemeClr val="tx2"/>
                                  </a:solidFill>
                                  <a:latin typeface="Cambria Math"/>
                                </a:rPr>
                                <m:t>𝜐</m:t>
                              </m:r>
                            </m:e>
                            <m:sub>
                              <m:r>
                                <a:rPr lang="en-US" altLang="zh-TW" b="0" i="1" smtClean="0">
                                  <a:solidFill>
                                    <a:schemeClr val="tx2"/>
                                  </a:solidFill>
                                  <a:latin typeface="Cambria Math"/>
                                </a:rPr>
                                <m:t>0,</m:t>
                              </m:r>
                              <m:r>
                                <a:rPr lang="en-US" altLang="zh-TW" b="0" i="1" smtClean="0">
                                  <a:solidFill>
                                    <a:schemeClr val="tx2"/>
                                  </a:solidFill>
                                  <a:latin typeface="Cambria Math"/>
                                </a:rPr>
                                <m:t>𝑗</m:t>
                              </m:r>
                            </m:sub>
                          </m:sSub>
                          <m:r>
                            <a:rPr lang="en-US" altLang="zh-TW" b="0" i="1" smtClean="0">
                              <a:solidFill>
                                <a:schemeClr val="tx2"/>
                              </a:solidFill>
                              <a:latin typeface="Cambria Math"/>
                              <a:ea typeface="Cambria Math"/>
                            </a:rPr>
                            <m:t>⇝</m:t>
                          </m:r>
                          <m:sSub>
                            <m:sSubPr>
                              <m:ctrlPr>
                                <a:rPr lang="en-US" altLang="zh-TW" b="0" i="1" smtClean="0">
                                  <a:solidFill>
                                    <a:schemeClr val="tx2"/>
                                  </a:solidFill>
                                  <a:latin typeface="Cambria Math"/>
                                  <a:ea typeface="Cambria Math"/>
                                </a:rPr>
                              </m:ctrlPr>
                            </m:sSubPr>
                            <m:e>
                              <m:r>
                                <a:rPr lang="zh-TW" altLang="en-US" b="0" i="1" smtClean="0">
                                  <a:solidFill>
                                    <a:schemeClr val="tx2"/>
                                  </a:solidFill>
                                  <a:latin typeface="Cambria Math"/>
                                  <a:ea typeface="Cambria Math"/>
                                </a:rPr>
                                <m:t>𝜐</m:t>
                              </m:r>
                            </m:e>
                            <m:sub>
                              <m:r>
                                <a:rPr lang="en-US" altLang="zh-TW" b="0" i="1" smtClean="0">
                                  <a:solidFill>
                                    <a:schemeClr val="tx2"/>
                                  </a:solidFill>
                                  <a:latin typeface="Cambria Math"/>
                                  <a:ea typeface="Cambria Math"/>
                                </a:rPr>
                                <m:t>𝑚</m:t>
                              </m:r>
                              <m:r>
                                <a:rPr lang="en-US" altLang="zh-TW" b="0" i="1" smtClean="0">
                                  <a:solidFill>
                                    <a:schemeClr val="tx2"/>
                                  </a:solidFill>
                                  <a:latin typeface="Cambria Math"/>
                                  <a:ea typeface="Cambria Math"/>
                                </a:rPr>
                                <m:t>,</m:t>
                              </m:r>
                              <m:r>
                                <a:rPr lang="en-US" altLang="zh-TW" b="0" i="1" smtClean="0">
                                  <a:solidFill>
                                    <a:schemeClr val="tx2"/>
                                  </a:solidFill>
                                  <a:latin typeface="Cambria Math"/>
                                  <a:ea typeface="Cambria Math"/>
                                </a:rPr>
                                <m:t>𝑗</m:t>
                              </m:r>
                              <m:r>
                                <a:rPr lang="en-US" altLang="zh-TW" b="0" i="1" smtClean="0">
                                  <a:solidFill>
                                    <a:schemeClr val="tx2"/>
                                  </a:solidFill>
                                  <a:latin typeface="Cambria Math"/>
                                  <a:ea typeface="Cambria Math"/>
                                </a:rPr>
                                <m:t>′</m:t>
                              </m:r>
                            </m:sub>
                          </m:sSub>
                          <m:r>
                            <a:rPr lang="en-US" altLang="zh-TW" b="0" i="1" smtClean="0">
                              <a:solidFill>
                                <a:schemeClr val="tx2"/>
                              </a:solidFill>
                              <a:latin typeface="Cambria Math"/>
                            </a:rPr>
                            <m:t>)</m:t>
                          </m:r>
                        </m:e>
                      </m:func>
                    </m:oMath>
                  </m:oMathPara>
                </a14:m>
                <a:endParaRPr lang="zh-TW" altLang="en-US" dirty="0">
                  <a:solidFill>
                    <a:schemeClr val="tx2"/>
                  </a:solidFill>
                </a:endParaRPr>
              </a:p>
            </p:txBody>
          </p:sp>
        </mc:Choice>
        <mc:Fallback>
          <p:sp>
            <p:nvSpPr>
              <p:cNvPr id="5" name="矩形 4"/>
              <p:cNvSpPr>
                <a:spLocks noRot="1" noChangeAspect="1" noMove="1" noResize="1" noEditPoints="1" noAdjustHandles="1" noChangeArrowheads="1" noChangeShapeType="1" noTextEdit="1"/>
              </p:cNvSpPr>
              <p:nvPr/>
            </p:nvSpPr>
            <p:spPr>
              <a:xfrm>
                <a:off x="3259247" y="1835532"/>
                <a:ext cx="2672630" cy="4539529"/>
              </a:xfrm>
              <a:prstGeom prst="rect">
                <a:avLst/>
              </a:prstGeom>
              <a:blipFill rotWithShape="1">
                <a:blip r:embed="rId7"/>
                <a:stretch>
                  <a:fillRect l="-4110" r="-4566"/>
                </a:stretch>
              </a:blipFill>
              <a:ln>
                <a:noFill/>
              </a:ln>
            </p:spPr>
            <p:txBody>
              <a:bodyPr/>
              <a:lstStyle/>
              <a:p>
                <a:r>
                  <a:rPr lang="zh-TW" altLang="en-US">
                    <a:noFill/>
                  </a:rPr>
                  <a:t> </a:t>
                </a:r>
              </a:p>
            </p:txBody>
          </p:sp>
        </mc:Fallback>
      </mc:AlternateContent>
    </p:spTree>
    <p:extLst>
      <p:ext uri="{BB962C8B-B14F-4D97-AF65-F5344CB8AC3E}">
        <p14:creationId xmlns:p14="http://schemas.microsoft.com/office/powerpoint/2010/main" val="3955071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p:cNvSpPr>
                <a:spLocks noGrp="1"/>
              </p:cNvSpPr>
              <p:nvPr>
                <p:ph type="title"/>
              </p:nvPr>
            </p:nvSpPr>
            <p:spPr/>
            <p:txBody>
              <a:bodyPr>
                <a:normAutofit/>
              </a:bodyPr>
              <a:lstStyle/>
              <a:p>
                <a14:m>
                  <m:oMath xmlns:m="http://schemas.openxmlformats.org/officeDocument/2006/math">
                    <m:sSup>
                      <m:sSupPr>
                        <m:ctrlPr>
                          <a:rPr lang="en-US" altLang="zh-TW" i="1" smtClean="0">
                            <a:latin typeface="Cambria Math"/>
                          </a:rPr>
                        </m:ctrlPr>
                      </m:sSupPr>
                      <m:e>
                        <m:r>
                          <a:rPr lang="en-US" altLang="zh-TW" b="0" i="1" smtClean="0">
                            <a:latin typeface="Cambria Math"/>
                          </a:rPr>
                          <m:t>𝐺</m:t>
                        </m:r>
                      </m:e>
                      <m:sup>
                        <m:r>
                          <a:rPr lang="en-US" altLang="zh-TW" b="0" i="1" smtClean="0">
                            <a:latin typeface="Cambria Math"/>
                          </a:rPr>
                          <m:t>+</m:t>
                        </m:r>
                      </m:sup>
                    </m:sSup>
                  </m:oMath>
                </a14:m>
                <a:r>
                  <a:rPr lang="en-US" altLang="zh-TW" dirty="0" smtClean="0"/>
                  <a:t>: </a:t>
                </a:r>
                <a:r>
                  <a:rPr lang="en-US" altLang="zh-TW" dirty="0"/>
                  <a:t>extension of G</a:t>
                </a:r>
                <a:endParaRPr lang="zh-TW" altLang="en-US" dirty="0"/>
              </a:p>
            </p:txBody>
          </p:sp>
        </mc:Choice>
        <mc:Fallback xmlns="">
          <p:sp>
            <p:nvSpPr>
              <p:cNvPr id="2" name="標題 1"/>
              <p:cNvSpPr>
                <a:spLocks noGrp="1" noRot="1" noChangeAspect="1" noMove="1" noResize="1" noEditPoints="1" noAdjustHandles="1" noChangeArrowheads="1" noChangeShapeType="1" noTextEdit="1"/>
              </p:cNvSpPr>
              <p:nvPr>
                <p:ph type="title"/>
              </p:nvPr>
            </p:nvSpPr>
            <p:spPr>
              <a:blipFill rotWithShape="1">
                <a:blip r:embed="rId3"/>
                <a:stretch>
                  <a:fillRect b="-8511"/>
                </a:stretch>
              </a:blipFill>
            </p:spPr>
            <p:txBody>
              <a:bodyPr/>
              <a:lstStyle/>
              <a:p>
                <a:r>
                  <a:rPr lang="zh-TW" altLang="en-US">
                    <a:noFill/>
                  </a:rPr>
                  <a:t> </a:t>
                </a:r>
              </a:p>
            </p:txBody>
          </p:sp>
        </mc:Fallback>
      </mc:AlternateContent>
      <p:graphicFrame>
        <p:nvGraphicFramePr>
          <p:cNvPr id="4" name="內容版面配置區 3"/>
          <p:cNvGraphicFramePr>
            <a:graphicFrameLocks noGrp="1"/>
          </p:cNvGraphicFramePr>
          <p:nvPr>
            <p:ph idx="1"/>
            <p:extLst>
              <p:ext uri="{D42A27DB-BD31-4B8C-83A1-F6EECF244321}">
                <p14:modId xmlns:p14="http://schemas.microsoft.com/office/powerpoint/2010/main" val="950661032"/>
              </p:ext>
            </p:extLst>
          </p:nvPr>
        </p:nvGraphicFramePr>
        <p:xfrm>
          <a:off x="1152000" y="1557352"/>
          <a:ext cx="6840000" cy="5040000"/>
        </p:xfrm>
        <a:graphic>
          <a:graphicData uri="http://schemas.openxmlformats.org/drawingml/2006/table">
            <a:tbl>
              <a:tblPr firstRow="1" bandRow="1">
                <a:tableStyleId>{5940675A-B579-460E-94D1-54222C63F5DA}</a:tableStyleId>
              </a:tblPr>
              <a:tblGrid>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tblGrid>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bl>
          </a:graphicData>
        </a:graphic>
      </p:graphicFrame>
      <mc:AlternateContent xmlns:mc="http://schemas.openxmlformats.org/markup-compatibility/2006" xmlns:a14="http://schemas.microsoft.com/office/drawing/2010/main">
        <mc:Choice Requires="a14">
          <p:sp>
            <p:nvSpPr>
              <p:cNvPr id="3" name="文字方塊 2"/>
              <p:cNvSpPr txBox="1"/>
              <p:nvPr/>
            </p:nvSpPr>
            <p:spPr>
              <a:xfrm>
                <a:off x="611560" y="1124744"/>
                <a:ext cx="5289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𝐺</m:t>
                          </m:r>
                        </m:e>
                        <m:sup>
                          <m:r>
                            <a:rPr lang="en-US" altLang="zh-TW" b="0" i="1" smtClean="0">
                              <a:latin typeface="Cambria Math"/>
                            </a:rPr>
                            <m:t>+</m:t>
                          </m:r>
                        </m:sup>
                      </m:sSup>
                    </m:oMath>
                  </m:oMathPara>
                </a14:m>
                <a:endParaRPr lang="zh-TW" altLang="en-US"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611560" y="1124744"/>
                <a:ext cx="528926" cy="369332"/>
              </a:xfrm>
              <a:prstGeom prst="rect">
                <a:avLst/>
              </a:prstGeom>
              <a:blipFill rotWithShape="1">
                <a:blip r:embed="rId4"/>
                <a:stretch>
                  <a:fillRect/>
                </a:stretch>
              </a:blipFill>
            </p:spPr>
            <p:txBody>
              <a:bodyPr/>
              <a:lstStyle/>
              <a:p>
                <a:r>
                  <a:rPr lang="zh-TW" altLang="en-US">
                    <a:noFill/>
                  </a:rPr>
                  <a:t> </a:t>
                </a:r>
              </a:p>
            </p:txBody>
          </p:sp>
        </mc:Fallback>
      </mc:AlternateContent>
      <p:sp>
        <p:nvSpPr>
          <p:cNvPr id="5" name="文字方塊 4"/>
          <p:cNvSpPr txBox="1"/>
          <p:nvPr/>
        </p:nvSpPr>
        <p:spPr>
          <a:xfrm>
            <a:off x="7596336" y="1169820"/>
            <a:ext cx="1107996" cy="369332"/>
          </a:xfrm>
          <a:prstGeom prst="rect">
            <a:avLst/>
          </a:prstGeom>
          <a:noFill/>
        </p:spPr>
        <p:txBody>
          <a:bodyPr wrap="none" rtlCol="0">
            <a:spAutoFit/>
          </a:bodyPr>
          <a:lstStyle/>
          <a:p>
            <a:r>
              <a:rPr lang="zh-TW" altLang="en-US" dirty="0" smtClean="0"/>
              <a:t>無限延伸</a:t>
            </a:r>
            <a:endParaRPr lang="zh-TW" altLang="en-US" dirty="0"/>
          </a:p>
        </p:txBody>
      </p:sp>
    </p:spTree>
    <p:extLst>
      <p:ext uri="{BB962C8B-B14F-4D97-AF65-F5344CB8AC3E}">
        <p14:creationId xmlns:p14="http://schemas.microsoft.com/office/powerpoint/2010/main" val="2329521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lnSpc>
                    <a:spcPct val="150000"/>
                  </a:lnSpc>
                  <a:buNone/>
                </a:pPr>
                <a:r>
                  <a:rPr lang="zh-TW" altLang="en-US" sz="2400" dirty="0" smtClean="0"/>
                  <a:t>四個問題可分別表示為：</a:t>
                </a:r>
                <a:endParaRPr lang="en-US" altLang="zh-TW" sz="2400" dirty="0" smtClean="0"/>
              </a:p>
              <a:p>
                <a:pPr>
                  <a:lnSpc>
                    <a:spcPct val="150000"/>
                  </a:lnSpc>
                </a:pPr>
                <a14:m>
                  <m:oMath xmlns:m="http://schemas.openxmlformats.org/officeDocument/2006/math">
                    <m:func>
                      <m:funcPr>
                        <m:ctrlPr>
                          <a:rPr lang="en-US" altLang="zh-TW" sz="2400" i="1" smtClean="0">
                            <a:latin typeface="Cambria Math"/>
                          </a:rPr>
                        </m:ctrlPr>
                      </m:funcPr>
                      <m:fName>
                        <m:r>
                          <m:rPr>
                            <m:sty m:val="p"/>
                          </m:rPr>
                          <a:rPr lang="en-US" altLang="zh-TW" sz="2400">
                            <a:latin typeface="Cambria Math"/>
                          </a:rPr>
                          <m:t>max</m:t>
                        </m:r>
                      </m:fName>
                      <m:e>
                        <m:r>
                          <a:rPr lang="en-US" altLang="zh-TW" sz="2400">
                            <a:latin typeface="Cambria Math"/>
                          </a:rPr>
                          <m:t>𝑤𝑒𝑖𝑔h𝑡</m:t>
                        </m:r>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a:latin typeface="Cambria Math"/>
                              </a:rPr>
                              <m:t>0,</m:t>
                            </m:r>
                            <m:r>
                              <a:rPr lang="en-US" altLang="zh-TW" sz="2400">
                                <a:latin typeface="Cambria Math"/>
                              </a:rPr>
                              <m:t>𝑗</m:t>
                            </m:r>
                          </m:sub>
                        </m:sSub>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a:latin typeface="Cambria Math"/>
                              </a:rPr>
                              <m:t>𝑚</m:t>
                            </m:r>
                            <m:r>
                              <a:rPr lang="en-US" altLang="zh-TW" sz="2400">
                                <a:latin typeface="Cambria Math"/>
                              </a:rPr>
                              <m:t>,</m:t>
                            </m:r>
                            <m:r>
                              <a:rPr lang="en-US" altLang="zh-TW" sz="2400">
                                <a:latin typeface="Cambria Math"/>
                              </a:rPr>
                              <m:t>𝑗</m:t>
                            </m:r>
                            <m:r>
                              <a:rPr lang="en-US" altLang="zh-TW" sz="2400" smtClean="0">
                                <a:latin typeface="Cambria Math"/>
                              </a:rPr>
                              <m:t>′</m:t>
                            </m:r>
                          </m:sub>
                        </m:sSub>
                        <m:r>
                          <a:rPr lang="en-US" altLang="zh-TW" sz="2400">
                            <a:latin typeface="Cambria Math"/>
                          </a:rPr>
                          <m:t>)</m:t>
                        </m:r>
                      </m:e>
                    </m:func>
                    <m:r>
                      <a:rPr lang="en-US" altLang="zh-TW" sz="2400">
                        <a:latin typeface="Cambria Math"/>
                      </a:rPr>
                      <m:t>=</m:t>
                    </m:r>
                    <m:r>
                      <a:rPr lang="en-US" altLang="zh-TW" sz="2400">
                        <a:latin typeface="Cambria Math"/>
                      </a:rPr>
                      <m:t>𝐴</m:t>
                    </m:r>
                    <m:r>
                      <a:rPr lang="en-US" altLang="zh-TW" sz="2400">
                        <a:latin typeface="Cambria Math"/>
                      </a:rPr>
                      <m:t>(</m:t>
                    </m:r>
                    <m:r>
                      <a:rPr lang="en-US" altLang="zh-TW" sz="2400">
                        <a:latin typeface="Cambria Math"/>
                      </a:rPr>
                      <m:t>𝑗</m:t>
                    </m:r>
                    <m:r>
                      <a:rPr lang="en-US" altLang="zh-TW" sz="2400">
                        <a:latin typeface="Cambria Math"/>
                      </a:rPr>
                      <m:t>,</m:t>
                    </m:r>
                    <m:r>
                      <a:rPr lang="en-US" altLang="zh-TW" sz="2400">
                        <a:latin typeface="Cambria Math"/>
                      </a:rPr>
                      <m:t>𝑗</m:t>
                    </m:r>
                    <m:r>
                      <a:rPr lang="en-US" altLang="zh-TW" sz="2400">
                        <a:latin typeface="Cambria Math"/>
                      </a:rPr>
                      <m:t>′)</m:t>
                    </m:r>
                  </m:oMath>
                </a14:m>
                <a:endParaRPr lang="en-US" altLang="zh-TW" sz="2400" dirty="0"/>
              </a:p>
              <a:p>
                <a:pPr>
                  <a:lnSpc>
                    <a:spcPct val="150000"/>
                  </a:lnSpc>
                </a:pPr>
                <a14:m>
                  <m:oMath xmlns:m="http://schemas.openxmlformats.org/officeDocument/2006/math">
                    <m:func>
                      <m:funcPr>
                        <m:ctrlPr>
                          <a:rPr lang="en-US" altLang="zh-TW" sz="2400" i="1">
                            <a:latin typeface="Cambria Math"/>
                          </a:rPr>
                        </m:ctrlPr>
                      </m:funcPr>
                      <m:fName>
                        <m:r>
                          <m:rPr>
                            <m:sty m:val="p"/>
                          </m:rPr>
                          <a:rPr lang="en-US" altLang="zh-TW" sz="2400">
                            <a:latin typeface="Cambria Math"/>
                          </a:rPr>
                          <m:t>max</m:t>
                        </m:r>
                      </m:fName>
                      <m:e>
                        <m:r>
                          <a:rPr lang="en-US" altLang="zh-TW" sz="2400">
                            <a:latin typeface="Cambria Math"/>
                          </a:rPr>
                          <m:t>𝑤𝑒𝑖𝑔h𝑡</m:t>
                        </m:r>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smtClean="0">
                                <a:latin typeface="Cambria Math"/>
                              </a:rPr>
                              <m:t>𝑖</m:t>
                            </m:r>
                            <m:r>
                              <a:rPr lang="en-US" altLang="zh-TW" sz="2400">
                                <a:latin typeface="Cambria Math"/>
                              </a:rPr>
                              <m:t>,</m:t>
                            </m:r>
                            <m:r>
                              <a:rPr lang="en-US" altLang="zh-TW" sz="2400" smtClean="0">
                                <a:latin typeface="Cambria Math"/>
                              </a:rPr>
                              <m:t>0</m:t>
                            </m:r>
                          </m:sub>
                        </m:sSub>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a:latin typeface="Cambria Math"/>
                              </a:rPr>
                              <m:t>𝑚</m:t>
                            </m:r>
                            <m:r>
                              <a:rPr lang="en-US" altLang="zh-TW" sz="2400">
                                <a:latin typeface="Cambria Math"/>
                              </a:rPr>
                              <m:t>,</m:t>
                            </m:r>
                            <m:r>
                              <a:rPr lang="en-US" altLang="zh-TW" sz="2400">
                                <a:latin typeface="Cambria Math"/>
                              </a:rPr>
                              <m:t>𝑗</m:t>
                            </m:r>
                            <m:r>
                              <a:rPr lang="en-US" altLang="zh-TW" sz="2400" smtClean="0">
                                <a:latin typeface="Cambria Math"/>
                              </a:rPr>
                              <m:t>′</m:t>
                            </m:r>
                          </m:sub>
                        </m:sSub>
                        <m:r>
                          <a:rPr lang="en-US" altLang="zh-TW" sz="2400">
                            <a:latin typeface="Cambria Math"/>
                          </a:rPr>
                          <m:t>)</m:t>
                        </m:r>
                      </m:e>
                    </m:func>
                    <m:r>
                      <a:rPr lang="en-US" altLang="zh-TW" sz="2400">
                        <a:latin typeface="Cambria Math"/>
                      </a:rPr>
                      <m:t>=</m:t>
                    </m:r>
                    <m:r>
                      <a:rPr lang="en-US" altLang="zh-TW" sz="2400">
                        <a:latin typeface="Cambria Math"/>
                      </a:rPr>
                      <m:t>𝐴</m:t>
                    </m:r>
                    <m:d>
                      <m:dPr>
                        <m:ctrlPr>
                          <a:rPr lang="en-US" altLang="zh-TW" sz="2400" i="1">
                            <a:latin typeface="Cambria Math"/>
                          </a:rPr>
                        </m:ctrlPr>
                      </m:dPr>
                      <m:e>
                        <m:r>
                          <a:rPr lang="en-US" altLang="zh-TW" sz="2400" smtClean="0">
                            <a:latin typeface="Cambria Math"/>
                          </a:rPr>
                          <m:t>−</m:t>
                        </m:r>
                        <m:r>
                          <a:rPr lang="en-US" altLang="zh-TW" sz="2400" smtClean="0">
                            <a:latin typeface="Cambria Math"/>
                          </a:rPr>
                          <m:t>𝑖</m:t>
                        </m:r>
                        <m:r>
                          <a:rPr lang="en-US" altLang="zh-TW" sz="2400">
                            <a:latin typeface="Cambria Math"/>
                          </a:rPr>
                          <m:t>,</m:t>
                        </m:r>
                        <m:sSup>
                          <m:sSupPr>
                            <m:ctrlPr>
                              <a:rPr lang="en-US" altLang="zh-TW" sz="2400" i="1" smtClean="0">
                                <a:latin typeface="Cambria Math"/>
                              </a:rPr>
                            </m:ctrlPr>
                          </m:sSupPr>
                          <m:e>
                            <m:r>
                              <a:rPr lang="en-US" altLang="zh-TW" sz="2400">
                                <a:latin typeface="Cambria Math"/>
                              </a:rPr>
                              <m:t>𝑗</m:t>
                            </m:r>
                          </m:e>
                          <m:sup>
                            <m:r>
                              <a:rPr lang="en-US" altLang="zh-TW" sz="2400">
                                <a:latin typeface="Cambria Math"/>
                              </a:rPr>
                              <m:t>′</m:t>
                            </m:r>
                          </m:sup>
                        </m:sSup>
                      </m:e>
                    </m:d>
                    <m:r>
                      <a:rPr lang="en-US" altLang="zh-TW" sz="2400" smtClean="0">
                        <a:latin typeface="Cambria Math"/>
                      </a:rPr>
                      <m:t>−</m:t>
                    </m:r>
                    <m:r>
                      <a:rPr lang="en-US" altLang="zh-TW" sz="2400" smtClean="0">
                        <a:latin typeface="Cambria Math"/>
                      </a:rPr>
                      <m:t>𝑖</m:t>
                    </m:r>
                  </m:oMath>
                </a14:m>
                <a:endParaRPr lang="en-US" altLang="zh-TW" sz="2400" dirty="0"/>
              </a:p>
              <a:p>
                <a:pPr>
                  <a:lnSpc>
                    <a:spcPct val="150000"/>
                  </a:lnSpc>
                </a:pPr>
                <a14:m>
                  <m:oMath xmlns:m="http://schemas.openxmlformats.org/officeDocument/2006/math">
                    <m:func>
                      <m:funcPr>
                        <m:ctrlPr>
                          <a:rPr lang="en-US" altLang="zh-TW" sz="2400" i="1">
                            <a:latin typeface="Cambria Math"/>
                          </a:rPr>
                        </m:ctrlPr>
                      </m:funcPr>
                      <m:fName>
                        <m:r>
                          <m:rPr>
                            <m:sty m:val="p"/>
                          </m:rPr>
                          <a:rPr lang="en-US" altLang="zh-TW" sz="2400">
                            <a:latin typeface="Cambria Math"/>
                          </a:rPr>
                          <m:t>max</m:t>
                        </m:r>
                      </m:fName>
                      <m:e>
                        <m:r>
                          <a:rPr lang="en-US" altLang="zh-TW" sz="2400">
                            <a:latin typeface="Cambria Math"/>
                          </a:rPr>
                          <m:t>𝑤𝑒𝑖𝑔h𝑡</m:t>
                        </m:r>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a:latin typeface="Cambria Math"/>
                              </a:rPr>
                              <m:t>0,</m:t>
                            </m:r>
                            <m:r>
                              <a:rPr lang="en-US" altLang="zh-TW" sz="2400">
                                <a:latin typeface="Cambria Math"/>
                              </a:rPr>
                              <m:t>𝑗</m:t>
                            </m:r>
                          </m:sub>
                        </m:sSub>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smtClean="0">
                                <a:latin typeface="Cambria Math"/>
                              </a:rPr>
                              <m:t>𝑖</m:t>
                            </m:r>
                            <m:r>
                              <a:rPr lang="en-US" altLang="zh-TW" sz="2400" smtClean="0">
                                <a:latin typeface="Cambria Math"/>
                              </a:rPr>
                              <m:t>′,</m:t>
                            </m:r>
                            <m:r>
                              <a:rPr lang="en-US" altLang="zh-TW" sz="2400" smtClean="0">
                                <a:latin typeface="Cambria Math"/>
                              </a:rPr>
                              <m:t>𝑛</m:t>
                            </m:r>
                          </m:sub>
                        </m:sSub>
                        <m:r>
                          <a:rPr lang="en-US" altLang="zh-TW" sz="2400">
                            <a:latin typeface="Cambria Math"/>
                          </a:rPr>
                          <m:t>)</m:t>
                        </m:r>
                      </m:e>
                    </m:func>
                    <m:r>
                      <a:rPr lang="en-US" altLang="zh-TW" sz="2400">
                        <a:latin typeface="Cambria Math"/>
                      </a:rPr>
                      <m:t>=</m:t>
                    </m:r>
                    <m:r>
                      <a:rPr lang="en-US" altLang="zh-TW" sz="2400">
                        <a:latin typeface="Cambria Math"/>
                      </a:rPr>
                      <m:t>𝐴</m:t>
                    </m:r>
                    <m:d>
                      <m:dPr>
                        <m:ctrlPr>
                          <a:rPr lang="en-US" altLang="zh-TW" sz="2400" i="1">
                            <a:latin typeface="Cambria Math"/>
                          </a:rPr>
                        </m:ctrlPr>
                      </m:dPr>
                      <m:e>
                        <m:r>
                          <a:rPr lang="en-US" altLang="zh-TW" sz="2400">
                            <a:latin typeface="Cambria Math"/>
                          </a:rPr>
                          <m:t>𝑗</m:t>
                        </m:r>
                        <m:r>
                          <a:rPr lang="en-US" altLang="zh-TW" sz="2400">
                            <a:latin typeface="Cambria Math"/>
                          </a:rPr>
                          <m:t>,</m:t>
                        </m:r>
                        <m:r>
                          <a:rPr lang="en-US" altLang="zh-TW" sz="2400" smtClean="0">
                            <a:latin typeface="Cambria Math"/>
                          </a:rPr>
                          <m:t>𝑚</m:t>
                        </m:r>
                        <m:r>
                          <a:rPr lang="en-US" altLang="zh-TW" sz="2400" smtClean="0">
                            <a:latin typeface="Cambria Math"/>
                          </a:rPr>
                          <m:t>+</m:t>
                        </m:r>
                        <m:r>
                          <a:rPr lang="en-US" altLang="zh-TW" sz="2400" smtClean="0">
                            <a:latin typeface="Cambria Math"/>
                          </a:rPr>
                          <m:t>𝑛</m:t>
                        </m:r>
                        <m:r>
                          <a:rPr lang="en-US" altLang="zh-TW" sz="2400" smtClean="0">
                            <a:latin typeface="Cambria Math"/>
                          </a:rPr>
                          <m:t>−</m:t>
                        </m:r>
                        <m:sSup>
                          <m:sSupPr>
                            <m:ctrlPr>
                              <a:rPr lang="en-US" altLang="zh-TW" sz="2400" i="1" smtClean="0">
                                <a:latin typeface="Cambria Math"/>
                              </a:rPr>
                            </m:ctrlPr>
                          </m:sSupPr>
                          <m:e>
                            <m:r>
                              <a:rPr lang="en-US" altLang="zh-TW" sz="2400" smtClean="0">
                                <a:latin typeface="Cambria Math"/>
                              </a:rPr>
                              <m:t>𝑖</m:t>
                            </m:r>
                          </m:e>
                          <m:sup>
                            <m:r>
                              <a:rPr lang="en-US" altLang="zh-TW" sz="2400" smtClean="0">
                                <a:latin typeface="Cambria Math"/>
                              </a:rPr>
                              <m:t>′</m:t>
                            </m:r>
                          </m:sup>
                        </m:sSup>
                      </m:e>
                    </m:d>
                    <m:r>
                      <a:rPr lang="en-US" altLang="zh-TW" sz="2400" smtClean="0">
                        <a:latin typeface="Cambria Math"/>
                      </a:rPr>
                      <m:t>−</m:t>
                    </m:r>
                    <m:r>
                      <a:rPr lang="en-US" altLang="zh-TW" sz="2400" smtClean="0">
                        <a:latin typeface="Cambria Math"/>
                      </a:rPr>
                      <m:t>𝑚</m:t>
                    </m:r>
                    <m:r>
                      <a:rPr lang="en-US" altLang="zh-TW" sz="2400" b="0" i="0" smtClean="0">
                        <a:latin typeface="Cambria Math"/>
                      </a:rPr>
                      <m:t>+</m:t>
                    </m:r>
                    <m:r>
                      <a:rPr lang="en-US" altLang="zh-TW" sz="2400" smtClean="0">
                        <a:latin typeface="Cambria Math"/>
                      </a:rPr>
                      <m:t>𝑖</m:t>
                    </m:r>
                    <m:r>
                      <a:rPr lang="en-US" altLang="zh-TW" sz="2400" smtClean="0">
                        <a:latin typeface="Cambria Math"/>
                      </a:rPr>
                      <m:t>′</m:t>
                    </m:r>
                  </m:oMath>
                </a14:m>
                <a:endParaRPr lang="en-US" altLang="zh-TW" sz="2400" dirty="0"/>
              </a:p>
              <a:p>
                <a:pPr>
                  <a:lnSpc>
                    <a:spcPct val="150000"/>
                  </a:lnSpc>
                </a:pPr>
                <a14:m>
                  <m:oMath xmlns:m="http://schemas.openxmlformats.org/officeDocument/2006/math">
                    <m:func>
                      <m:funcPr>
                        <m:ctrlPr>
                          <a:rPr lang="en-US" altLang="zh-TW" sz="2400" i="1">
                            <a:latin typeface="Cambria Math"/>
                          </a:rPr>
                        </m:ctrlPr>
                      </m:funcPr>
                      <m:fName>
                        <m:r>
                          <m:rPr>
                            <m:sty m:val="p"/>
                          </m:rPr>
                          <a:rPr lang="en-US" altLang="zh-TW" sz="2400">
                            <a:latin typeface="Cambria Math"/>
                          </a:rPr>
                          <m:t>max</m:t>
                        </m:r>
                      </m:fName>
                      <m:e>
                        <m:r>
                          <a:rPr lang="en-US" altLang="zh-TW" sz="2400">
                            <a:latin typeface="Cambria Math"/>
                          </a:rPr>
                          <m:t>𝑤𝑒𝑖𝑔h𝑡</m:t>
                        </m:r>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smtClean="0">
                                <a:latin typeface="Cambria Math"/>
                              </a:rPr>
                              <m:t>𝑖</m:t>
                            </m:r>
                            <m:r>
                              <a:rPr lang="en-US" altLang="zh-TW" sz="2400">
                                <a:latin typeface="Cambria Math"/>
                              </a:rPr>
                              <m:t>,</m:t>
                            </m:r>
                            <m:r>
                              <a:rPr lang="en-US" altLang="zh-TW" sz="2400" smtClean="0">
                                <a:latin typeface="Cambria Math"/>
                              </a:rPr>
                              <m:t>0</m:t>
                            </m:r>
                          </m:sub>
                        </m:sSub>
                        <m:r>
                          <a:rPr lang="en-US" altLang="zh-TW" sz="2400">
                            <a:latin typeface="Cambria Math"/>
                          </a:rPr>
                          <m:t>⇝</m:t>
                        </m:r>
                        <m:sSub>
                          <m:sSubPr>
                            <m:ctrlPr>
                              <a:rPr lang="en-US" altLang="zh-TW" sz="2400" i="1">
                                <a:latin typeface="Cambria Math"/>
                              </a:rPr>
                            </m:ctrlPr>
                          </m:sSubPr>
                          <m:e>
                            <m:r>
                              <a:rPr lang="zh-TW" altLang="en-US" sz="2400">
                                <a:latin typeface="Cambria Math"/>
                              </a:rPr>
                              <m:t>𝜐</m:t>
                            </m:r>
                          </m:e>
                          <m:sub>
                            <m:r>
                              <a:rPr lang="en-US" altLang="zh-TW" sz="2400" smtClean="0">
                                <a:latin typeface="Cambria Math"/>
                              </a:rPr>
                              <m:t>𝑖</m:t>
                            </m:r>
                            <m:r>
                              <a:rPr lang="en-US" altLang="zh-TW" sz="2400" smtClean="0">
                                <a:latin typeface="Cambria Math"/>
                              </a:rPr>
                              <m:t>′,</m:t>
                            </m:r>
                            <m:r>
                              <a:rPr lang="en-US" altLang="zh-TW" sz="2400" smtClean="0">
                                <a:latin typeface="Cambria Math"/>
                              </a:rPr>
                              <m:t>𝑛</m:t>
                            </m:r>
                          </m:sub>
                        </m:sSub>
                        <m:r>
                          <a:rPr lang="en-US" altLang="zh-TW" sz="2400">
                            <a:latin typeface="Cambria Math"/>
                          </a:rPr>
                          <m:t>)</m:t>
                        </m:r>
                      </m:e>
                    </m:func>
                    <m:r>
                      <a:rPr lang="en-US" altLang="zh-TW" sz="2400">
                        <a:latin typeface="Cambria Math"/>
                      </a:rPr>
                      <m:t>=</m:t>
                    </m:r>
                    <m:r>
                      <a:rPr lang="en-US" altLang="zh-TW" sz="2400">
                        <a:latin typeface="Cambria Math"/>
                      </a:rPr>
                      <m:t>𝐴</m:t>
                    </m:r>
                    <m:d>
                      <m:dPr>
                        <m:ctrlPr>
                          <a:rPr lang="en-US" altLang="zh-TW" sz="2400" i="1">
                            <a:latin typeface="Cambria Math"/>
                          </a:rPr>
                        </m:ctrlPr>
                      </m:dPr>
                      <m:e>
                        <m:r>
                          <a:rPr lang="en-US" altLang="zh-TW" sz="2400" smtClean="0">
                            <a:latin typeface="Cambria Math"/>
                          </a:rPr>
                          <m:t>−</m:t>
                        </m:r>
                        <m:r>
                          <a:rPr lang="en-US" altLang="zh-TW" sz="2400" smtClean="0">
                            <a:latin typeface="Cambria Math"/>
                          </a:rPr>
                          <m:t>𝑖</m:t>
                        </m:r>
                        <m:r>
                          <a:rPr lang="en-US" altLang="zh-TW" sz="2400">
                            <a:latin typeface="Cambria Math"/>
                          </a:rPr>
                          <m:t>,</m:t>
                        </m:r>
                        <m:r>
                          <a:rPr lang="en-US" altLang="zh-TW" sz="2400" smtClean="0">
                            <a:latin typeface="Cambria Math"/>
                          </a:rPr>
                          <m:t>𝑚</m:t>
                        </m:r>
                        <m:r>
                          <a:rPr lang="en-US" altLang="zh-TW" sz="2400" smtClean="0">
                            <a:latin typeface="Cambria Math"/>
                          </a:rPr>
                          <m:t>+</m:t>
                        </m:r>
                        <m:r>
                          <a:rPr lang="en-US" altLang="zh-TW" sz="2400" smtClean="0">
                            <a:latin typeface="Cambria Math"/>
                          </a:rPr>
                          <m:t>𝑛</m:t>
                        </m:r>
                        <m:r>
                          <a:rPr lang="en-US" altLang="zh-TW" sz="2400" smtClean="0">
                            <a:latin typeface="Cambria Math"/>
                          </a:rPr>
                          <m:t>−</m:t>
                        </m:r>
                        <m:sSup>
                          <m:sSupPr>
                            <m:ctrlPr>
                              <a:rPr lang="en-US" altLang="zh-TW" sz="2400" i="1" smtClean="0">
                                <a:latin typeface="Cambria Math"/>
                              </a:rPr>
                            </m:ctrlPr>
                          </m:sSupPr>
                          <m:e>
                            <m:r>
                              <a:rPr lang="en-US" altLang="zh-TW" sz="2400" smtClean="0">
                                <a:latin typeface="Cambria Math"/>
                              </a:rPr>
                              <m:t>𝑖</m:t>
                            </m:r>
                          </m:e>
                          <m:sup>
                            <m:r>
                              <a:rPr lang="en-US" altLang="zh-TW" sz="2400" smtClean="0">
                                <a:latin typeface="Cambria Math"/>
                              </a:rPr>
                              <m:t>′</m:t>
                            </m:r>
                          </m:sup>
                        </m:sSup>
                      </m:e>
                    </m:d>
                    <m:r>
                      <a:rPr lang="en-US" altLang="zh-TW" sz="2400" smtClean="0">
                        <a:latin typeface="Cambria Math"/>
                      </a:rPr>
                      <m:t>−</m:t>
                    </m:r>
                    <m:r>
                      <a:rPr lang="en-US" altLang="zh-TW" sz="2400" smtClean="0">
                        <a:latin typeface="Cambria Math"/>
                      </a:rPr>
                      <m:t>𝑚</m:t>
                    </m:r>
                    <m:r>
                      <a:rPr lang="en-US" altLang="zh-TW" sz="2400" smtClean="0">
                        <a:latin typeface="Cambria Math"/>
                      </a:rPr>
                      <m:t>−</m:t>
                    </m:r>
                    <m:r>
                      <a:rPr lang="en-US" altLang="zh-TW" sz="2400" smtClean="0">
                        <a:latin typeface="Cambria Math"/>
                      </a:rPr>
                      <m:t>𝑖</m:t>
                    </m:r>
                    <m:r>
                      <a:rPr lang="en-US" altLang="zh-TW" sz="2400" smtClean="0">
                        <a:latin typeface="Cambria Math"/>
                      </a:rPr>
                      <m:t>+</m:t>
                    </m:r>
                    <m:r>
                      <a:rPr lang="en-US" altLang="zh-TW" sz="2400" smtClean="0">
                        <a:latin typeface="Cambria Math"/>
                      </a:rPr>
                      <m:t>𝑖</m:t>
                    </m:r>
                    <m:r>
                      <a:rPr lang="en-US" altLang="zh-TW" sz="2400" smtClean="0">
                        <a:latin typeface="Cambria Math"/>
                      </a:rPr>
                      <m:t>′</m:t>
                    </m:r>
                  </m:oMath>
                </a14:m>
                <a:endParaRPr lang="en-US" altLang="zh-TW"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1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91195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p:cNvSpPr>
                <a:spLocks noGrp="1"/>
              </p:cNvSpPr>
              <p:nvPr>
                <p:ph type="title"/>
              </p:nvPr>
            </p:nvSpPr>
            <p:spPr/>
            <p:txBody>
              <a:bodyPr>
                <a:normAutofit/>
              </a:bodyPr>
              <a:lstStyle/>
              <a:p>
                <a14:m>
                  <m:oMath xmlns:m="http://schemas.openxmlformats.org/officeDocument/2006/math">
                    <m:sSup>
                      <m:sSupPr>
                        <m:ctrlPr>
                          <a:rPr lang="en-US" altLang="zh-TW" i="1" smtClean="0">
                            <a:latin typeface="Cambria Math"/>
                          </a:rPr>
                        </m:ctrlPr>
                      </m:sSupPr>
                      <m:e>
                        <m:r>
                          <a:rPr lang="en-US" altLang="zh-TW" b="0" i="1" smtClean="0">
                            <a:latin typeface="Cambria Math"/>
                          </a:rPr>
                          <m:t>𝐺</m:t>
                        </m:r>
                      </m:e>
                      <m:sup>
                        <m:r>
                          <a:rPr lang="en-US" altLang="zh-TW" b="0" i="1" smtClean="0">
                            <a:latin typeface="Cambria Math"/>
                          </a:rPr>
                          <m:t>+</m:t>
                        </m:r>
                      </m:sup>
                    </m:sSup>
                  </m:oMath>
                </a14:m>
                <a:r>
                  <a:rPr lang="en-US" altLang="zh-TW" dirty="0" smtClean="0"/>
                  <a:t>: </a:t>
                </a:r>
                <a:r>
                  <a:rPr lang="en-US" altLang="zh-TW" dirty="0"/>
                  <a:t>extension of G</a:t>
                </a:r>
                <a:endParaRPr lang="zh-TW" altLang="en-US" dirty="0"/>
              </a:p>
            </p:txBody>
          </p:sp>
        </mc:Choice>
        <mc:Fallback xmlns="">
          <p:sp>
            <p:nvSpPr>
              <p:cNvPr id="2" name="標題 1"/>
              <p:cNvSpPr>
                <a:spLocks noGrp="1" noRot="1" noChangeAspect="1" noMove="1" noResize="1" noEditPoints="1" noAdjustHandles="1" noChangeArrowheads="1" noChangeShapeType="1" noTextEdit="1"/>
              </p:cNvSpPr>
              <p:nvPr>
                <p:ph type="title"/>
              </p:nvPr>
            </p:nvSpPr>
            <p:spPr>
              <a:blipFill rotWithShape="1">
                <a:blip r:embed="rId3"/>
                <a:stretch>
                  <a:fillRect b="-8511"/>
                </a:stretch>
              </a:blipFill>
            </p:spPr>
            <p:txBody>
              <a:bodyPr/>
              <a:lstStyle/>
              <a:p>
                <a:r>
                  <a:rPr lang="zh-TW" altLang="en-US">
                    <a:noFill/>
                  </a:rPr>
                  <a:t> </a:t>
                </a:r>
              </a:p>
            </p:txBody>
          </p:sp>
        </mc:Fallback>
      </mc:AlternateContent>
      <p:graphicFrame>
        <p:nvGraphicFramePr>
          <p:cNvPr id="4" name="內容版面配置區 3"/>
          <p:cNvGraphicFramePr>
            <a:graphicFrameLocks noGrp="1"/>
          </p:cNvGraphicFramePr>
          <p:nvPr>
            <p:ph idx="1"/>
            <p:extLst>
              <p:ext uri="{D42A27DB-BD31-4B8C-83A1-F6EECF244321}">
                <p14:modId xmlns:p14="http://schemas.microsoft.com/office/powerpoint/2010/main" val="1757387494"/>
              </p:ext>
            </p:extLst>
          </p:nvPr>
        </p:nvGraphicFramePr>
        <p:xfrm>
          <a:off x="1152000" y="1557352"/>
          <a:ext cx="6840000" cy="5040000"/>
        </p:xfrm>
        <a:graphic>
          <a:graphicData uri="http://schemas.openxmlformats.org/drawingml/2006/table">
            <a:tbl>
              <a:tblPr firstRow="1" bandRow="1">
                <a:tableStyleId>{5940675A-B579-460E-94D1-54222C63F5DA}</a:tableStyleId>
              </a:tblPr>
              <a:tblGrid>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gridCol w="360000"/>
              </a:tblGrid>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lnTlToBr w="12700" cap="flat" cmpd="sng" algn="ctr">
                      <a:noFill/>
                      <a:prstDash val="solid"/>
                      <a:round/>
                      <a:headEnd type="none" w="med" len="med"/>
                      <a:tailEnd type="none" w="med" len="med"/>
                    </a:lnTlToBr>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r h="360000">
                <a:tc>
                  <a:txBody>
                    <a:bodyPr/>
                    <a:lstStyle/>
                    <a:p>
                      <a:endParaRPr lang="zh-TW" altLang="en-US" sz="1000" dirty="0">
                        <a:ln w="12700">
                          <a:solidFill>
                            <a:schemeClr val="tx1"/>
                          </a:solidFill>
                        </a:ln>
                        <a:solidFill>
                          <a:schemeClr val="tx1"/>
                        </a:solidFill>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c>
                  <a:txBody>
                    <a:bodyPr/>
                    <a:lstStyle/>
                    <a:p>
                      <a:endParaRPr lang="zh-TW" altLang="en-US" sz="1000" dirty="0">
                        <a:ln w="12700">
                          <a:solidFill>
                            <a:schemeClr val="tx1"/>
                          </a:solidFill>
                        </a:ln>
                        <a:solidFill>
                          <a:schemeClr val="tx1"/>
                        </a:solidFill>
                      </a:endParaRP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1">
                        <a:lumMod val="20000"/>
                        <a:lumOff val="80000"/>
                      </a:schemeClr>
                    </a:solidFill>
                  </a:tcPr>
                </a:tc>
              </a:tr>
            </a:tbl>
          </a:graphicData>
        </a:graphic>
      </p:graphicFrame>
      <mc:AlternateContent xmlns:mc="http://schemas.openxmlformats.org/markup-compatibility/2006" xmlns:a14="http://schemas.microsoft.com/office/drawing/2010/main">
        <mc:Choice Requires="a14">
          <p:sp>
            <p:nvSpPr>
              <p:cNvPr id="3" name="文字方塊 2"/>
              <p:cNvSpPr txBox="1"/>
              <p:nvPr/>
            </p:nvSpPr>
            <p:spPr>
              <a:xfrm>
                <a:off x="611560" y="1124744"/>
                <a:ext cx="5289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𝐺</m:t>
                          </m:r>
                        </m:e>
                        <m:sup>
                          <m:r>
                            <a:rPr lang="en-US" altLang="zh-TW" b="0" i="1" smtClean="0">
                              <a:latin typeface="Cambria Math"/>
                            </a:rPr>
                            <m:t>+</m:t>
                          </m:r>
                        </m:sup>
                      </m:sSup>
                    </m:oMath>
                  </m:oMathPara>
                </a14:m>
                <a:endParaRPr lang="zh-TW" altLang="en-US"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611560" y="1124744"/>
                <a:ext cx="528926" cy="369332"/>
              </a:xfrm>
              <a:prstGeom prst="rect">
                <a:avLst/>
              </a:prstGeom>
              <a:blipFill rotWithShape="1">
                <a:blip r:embed="rId4"/>
                <a:stretch>
                  <a:fillRect/>
                </a:stretch>
              </a:blipFill>
            </p:spPr>
            <p:txBody>
              <a:bodyPr/>
              <a:lstStyle/>
              <a:p>
                <a:r>
                  <a:rPr lang="zh-TW" altLang="en-US">
                    <a:noFill/>
                  </a:rPr>
                  <a:t> </a:t>
                </a:r>
              </a:p>
            </p:txBody>
          </p:sp>
        </mc:Fallback>
      </mc:AlternateContent>
      <p:sp>
        <p:nvSpPr>
          <p:cNvPr id="5" name="文字方塊 4"/>
          <p:cNvSpPr txBox="1"/>
          <p:nvPr/>
        </p:nvSpPr>
        <p:spPr>
          <a:xfrm>
            <a:off x="3491880" y="2492896"/>
            <a:ext cx="338554" cy="276999"/>
          </a:xfrm>
          <a:prstGeom prst="rect">
            <a:avLst/>
          </a:prstGeom>
          <a:noFill/>
        </p:spPr>
        <p:txBody>
          <a:bodyPr wrap="none" rtlCol="0">
            <a:spAutoFit/>
          </a:bodyPr>
          <a:lstStyle/>
          <a:p>
            <a:r>
              <a:rPr lang="zh-TW" altLang="en-US" sz="1200" dirty="0" smtClean="0">
                <a:solidFill>
                  <a:schemeClr val="accent1"/>
                </a:solidFill>
              </a:rPr>
              <a:t>●</a:t>
            </a:r>
            <a:endParaRPr lang="zh-TW" altLang="en-US" sz="1200" dirty="0">
              <a:solidFill>
                <a:schemeClr val="accent1"/>
              </a:solidFill>
            </a:endParaRPr>
          </a:p>
        </p:txBody>
      </p:sp>
      <p:sp>
        <p:nvSpPr>
          <p:cNvPr id="6" name="文字方塊 5"/>
          <p:cNvSpPr txBox="1"/>
          <p:nvPr/>
        </p:nvSpPr>
        <p:spPr>
          <a:xfrm>
            <a:off x="2051720" y="3215843"/>
            <a:ext cx="338554" cy="276999"/>
          </a:xfrm>
          <a:prstGeom prst="rect">
            <a:avLst/>
          </a:prstGeom>
          <a:noFill/>
        </p:spPr>
        <p:txBody>
          <a:bodyPr wrap="none" rtlCol="0">
            <a:spAutoFit/>
          </a:bodyPr>
          <a:lstStyle/>
          <a:p>
            <a:r>
              <a:rPr lang="zh-TW" altLang="en-US" sz="1200" dirty="0" smtClean="0">
                <a:solidFill>
                  <a:schemeClr val="accent1"/>
                </a:solidFill>
              </a:rPr>
              <a:t>●</a:t>
            </a:r>
            <a:endParaRPr lang="zh-TW" altLang="en-US" sz="1200" dirty="0">
              <a:solidFill>
                <a:schemeClr val="accent1"/>
              </a:solidFill>
            </a:endParaRPr>
          </a:p>
        </p:txBody>
      </p:sp>
      <p:sp>
        <p:nvSpPr>
          <p:cNvPr id="7" name="文字方塊 6"/>
          <p:cNvSpPr txBox="1"/>
          <p:nvPr/>
        </p:nvSpPr>
        <p:spPr>
          <a:xfrm>
            <a:off x="6732240" y="4293096"/>
            <a:ext cx="338554" cy="276999"/>
          </a:xfrm>
          <a:prstGeom prst="rect">
            <a:avLst/>
          </a:prstGeom>
          <a:noFill/>
        </p:spPr>
        <p:txBody>
          <a:bodyPr wrap="none" rtlCol="0">
            <a:spAutoFit/>
          </a:bodyPr>
          <a:lstStyle/>
          <a:p>
            <a:r>
              <a:rPr lang="zh-TW" altLang="en-US" sz="1200" dirty="0" smtClean="0">
                <a:solidFill>
                  <a:schemeClr val="accent1"/>
                </a:solidFill>
              </a:rPr>
              <a:t>●</a:t>
            </a:r>
            <a:endParaRPr lang="zh-TW" altLang="en-US" sz="1200" dirty="0">
              <a:solidFill>
                <a:schemeClr val="accent1"/>
              </a:solidFill>
            </a:endParaRPr>
          </a:p>
        </p:txBody>
      </p:sp>
      <p:sp>
        <p:nvSpPr>
          <p:cNvPr id="8" name="文字方塊 7"/>
          <p:cNvSpPr txBox="1"/>
          <p:nvPr/>
        </p:nvSpPr>
        <p:spPr>
          <a:xfrm>
            <a:off x="5292080" y="5373216"/>
            <a:ext cx="338554" cy="276999"/>
          </a:xfrm>
          <a:prstGeom prst="rect">
            <a:avLst/>
          </a:prstGeom>
          <a:noFill/>
        </p:spPr>
        <p:txBody>
          <a:bodyPr wrap="none" rtlCol="0">
            <a:spAutoFit/>
          </a:bodyPr>
          <a:lstStyle/>
          <a:p>
            <a:r>
              <a:rPr lang="zh-TW" altLang="en-US" sz="1200" dirty="0" smtClean="0">
                <a:solidFill>
                  <a:schemeClr val="accent1"/>
                </a:solidFill>
              </a:rPr>
              <a:t>●</a:t>
            </a:r>
            <a:endParaRPr lang="zh-TW" altLang="en-US" sz="1200" dirty="0">
              <a:solidFill>
                <a:schemeClr val="accent1"/>
              </a:solidFill>
            </a:endParaRPr>
          </a:p>
        </p:txBody>
      </p:sp>
      <p:sp>
        <p:nvSpPr>
          <p:cNvPr id="9" name="矩形 8"/>
          <p:cNvSpPr/>
          <p:nvPr/>
        </p:nvSpPr>
        <p:spPr>
          <a:xfrm>
            <a:off x="3661157" y="2631395"/>
            <a:ext cx="1800200" cy="288032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1475656" y="2564904"/>
            <a:ext cx="3913693" cy="288032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3733165" y="2714436"/>
            <a:ext cx="4295219" cy="2880000"/>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接點 14"/>
          <p:cNvCxnSpPr/>
          <p:nvPr/>
        </p:nvCxnSpPr>
        <p:spPr>
          <a:xfrm>
            <a:off x="1547664" y="2636912"/>
            <a:ext cx="648072" cy="648072"/>
          </a:xfrm>
          <a:prstGeom prst="line">
            <a:avLst/>
          </a:prstGeom>
          <a:ln w="38100"/>
        </p:spPr>
        <p:style>
          <a:lnRef idx="1">
            <a:schemeClr val="accent3"/>
          </a:lnRef>
          <a:fillRef idx="0">
            <a:schemeClr val="accent3"/>
          </a:fillRef>
          <a:effectRef idx="0">
            <a:schemeClr val="accent3"/>
          </a:effectRef>
          <a:fontRef idx="minor">
            <a:schemeClr val="tx1"/>
          </a:fontRef>
        </p:style>
      </p:cxnSp>
      <p:cxnSp>
        <p:nvCxnSpPr>
          <p:cNvPr id="18" name="直線接點 17"/>
          <p:cNvCxnSpPr/>
          <p:nvPr/>
        </p:nvCxnSpPr>
        <p:spPr>
          <a:xfrm>
            <a:off x="6973525" y="4509120"/>
            <a:ext cx="982851" cy="1024341"/>
          </a:xfrm>
          <a:prstGeom prst="line">
            <a:avLst/>
          </a:prstGeom>
          <a:ln w="38100"/>
        </p:spPr>
        <p:style>
          <a:lnRef idx="1">
            <a:schemeClr val="accent4"/>
          </a:lnRef>
          <a:fillRef idx="0">
            <a:schemeClr val="accent4"/>
          </a:fillRef>
          <a:effectRef idx="0">
            <a:schemeClr val="accent4"/>
          </a:effectRef>
          <a:fontRef idx="minor">
            <a:schemeClr val="tx1"/>
          </a:fontRef>
        </p:style>
      </p:cxnSp>
      <p:sp>
        <p:nvSpPr>
          <p:cNvPr id="19" name="矩形 18"/>
          <p:cNvSpPr/>
          <p:nvPr/>
        </p:nvSpPr>
        <p:spPr>
          <a:xfrm>
            <a:off x="1403648" y="2492896"/>
            <a:ext cx="6696744" cy="315731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98084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Theorem 1</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457200" indent="-457200">
                  <a:lnSpc>
                    <a:spcPct val="150000"/>
                  </a:lnSpc>
                  <a:buFont typeface="+mj-lt"/>
                  <a:buAutoNum type="arabicPeriod"/>
                </a:pPr>
                <a14:m>
                  <m:oMath xmlns:m="http://schemas.openxmlformats.org/officeDocument/2006/math">
                    <m:r>
                      <a:rPr lang="en-US" altLang="zh-TW" sz="2000" smtClean="0">
                        <a:solidFill>
                          <a:schemeClr val="accent2"/>
                        </a:solidFill>
                      </a:rPr>
                      <m:t>𝐴</m:t>
                    </m:r>
                    <m:r>
                      <a:rPr lang="en-US" altLang="zh-TW" sz="2000" smtClean="0">
                        <a:solidFill>
                          <a:schemeClr val="accent2"/>
                        </a:solidFill>
                      </a:rPr>
                      <m:t>(</m:t>
                    </m:r>
                    <m:r>
                      <a:rPr lang="en-US" altLang="zh-TW" sz="2000" smtClean="0">
                        <a:solidFill>
                          <a:schemeClr val="accent2"/>
                        </a:solidFill>
                      </a:rPr>
                      <m:t>𝑖</m:t>
                    </m:r>
                    <m:r>
                      <a:rPr lang="en-US" altLang="zh-TW" sz="2000" smtClean="0">
                        <a:solidFill>
                          <a:schemeClr val="accent2"/>
                        </a:solidFill>
                      </a:rPr>
                      <m:t>,</m:t>
                    </m:r>
                    <m:r>
                      <a:rPr lang="en-US" altLang="zh-TW" sz="2000" smtClean="0">
                        <a:solidFill>
                          <a:schemeClr val="accent2"/>
                        </a:solidFill>
                      </a:rPr>
                      <m:t>𝑗</m:t>
                    </m:r>
                    <m:r>
                      <a:rPr lang="en-US" altLang="zh-TW" sz="2000" smtClean="0">
                        <a:solidFill>
                          <a:schemeClr val="accent2"/>
                        </a:solidFill>
                      </a:rPr>
                      <m:t>)⊴</m:t>
                    </m:r>
                    <m:r>
                      <a:rPr lang="en-US" altLang="zh-TW" sz="2000" smtClean="0">
                        <a:solidFill>
                          <a:schemeClr val="accent3"/>
                        </a:solidFill>
                      </a:rPr>
                      <m:t>𝐴</m:t>
                    </m:r>
                    <m:r>
                      <a:rPr lang="en-US" altLang="zh-TW" sz="2000" smtClean="0">
                        <a:solidFill>
                          <a:schemeClr val="accent3"/>
                        </a:solidFill>
                      </a:rPr>
                      <m:t>(</m:t>
                    </m:r>
                    <m:r>
                      <a:rPr lang="en-US" altLang="zh-TW" sz="2000" smtClean="0">
                        <a:solidFill>
                          <a:schemeClr val="accent3"/>
                        </a:solidFill>
                      </a:rPr>
                      <m:t>𝑖</m:t>
                    </m:r>
                    <m:r>
                      <a:rPr lang="en-US" altLang="zh-TW" sz="2000" smtClean="0">
                        <a:solidFill>
                          <a:schemeClr val="accent3"/>
                        </a:solidFill>
                      </a:rPr>
                      <m:t>−1,</m:t>
                    </m:r>
                    <m:r>
                      <a:rPr lang="en-US" altLang="zh-TW" sz="2000" smtClean="0">
                        <a:solidFill>
                          <a:schemeClr val="accent3"/>
                        </a:solidFill>
                      </a:rPr>
                      <m:t>𝑗</m:t>
                    </m:r>
                    <m:r>
                      <a:rPr lang="en-US" altLang="zh-TW" sz="2000" smtClean="0">
                        <a:solidFill>
                          <a:schemeClr val="accent3"/>
                        </a:solidFill>
                      </a:rPr>
                      <m:t>)</m:t>
                    </m:r>
                  </m:oMath>
                </a14:m>
                <a:endParaRPr lang="en-US" altLang="zh-TW" sz="2000" dirty="0">
                  <a:solidFill>
                    <a:schemeClr val="accent3"/>
                  </a:solidFill>
                </a:endParaRPr>
              </a:p>
              <a:p>
                <a:pPr marL="457200" indent="-457200">
                  <a:lnSpc>
                    <a:spcPct val="150000"/>
                  </a:lnSpc>
                  <a:buFont typeface="+mj-lt"/>
                  <a:buAutoNum type="arabicPeriod"/>
                </a:pPr>
                <a14:m>
                  <m:oMath xmlns:m="http://schemas.openxmlformats.org/officeDocument/2006/math">
                    <m:r>
                      <a:rPr lang="en-US" altLang="zh-TW" sz="2000" smtClean="0">
                        <a:solidFill>
                          <a:schemeClr val="accent2"/>
                        </a:solidFill>
                      </a:rPr>
                      <m:t>𝐴</m:t>
                    </m:r>
                    <m:r>
                      <a:rPr lang="en-US" altLang="zh-TW" sz="2000" smtClean="0">
                        <a:solidFill>
                          <a:schemeClr val="accent2"/>
                        </a:solidFill>
                      </a:rPr>
                      <m:t>(</m:t>
                    </m:r>
                    <m:r>
                      <a:rPr lang="en-US" altLang="zh-TW" sz="2000" smtClean="0">
                        <a:solidFill>
                          <a:schemeClr val="accent2"/>
                        </a:solidFill>
                      </a:rPr>
                      <m:t>𝑖</m:t>
                    </m:r>
                    <m:r>
                      <a:rPr lang="en-US" altLang="zh-TW" sz="2000" smtClean="0">
                        <a:solidFill>
                          <a:schemeClr val="accent2"/>
                        </a:solidFill>
                      </a:rPr>
                      <m:t>,</m:t>
                    </m:r>
                    <m:r>
                      <a:rPr lang="en-US" altLang="zh-TW" sz="2000" smtClean="0">
                        <a:solidFill>
                          <a:schemeClr val="accent2"/>
                        </a:solidFill>
                      </a:rPr>
                      <m:t>𝑗</m:t>
                    </m:r>
                    <m:r>
                      <a:rPr lang="en-US" altLang="zh-TW" sz="2000" smtClean="0">
                        <a:solidFill>
                          <a:schemeClr val="accent2"/>
                        </a:solidFill>
                      </a:rPr>
                      <m:t>)⊴</m:t>
                    </m:r>
                    <m:r>
                      <a:rPr lang="en-US" altLang="zh-TW" sz="2000" smtClean="0">
                        <a:solidFill>
                          <a:schemeClr val="accent3"/>
                        </a:solidFill>
                      </a:rPr>
                      <m:t>𝐴</m:t>
                    </m:r>
                    <m:r>
                      <a:rPr lang="en-US" altLang="zh-TW" sz="2000" smtClean="0">
                        <a:solidFill>
                          <a:schemeClr val="accent3"/>
                        </a:solidFill>
                      </a:rPr>
                      <m:t>(</m:t>
                    </m:r>
                    <m:r>
                      <a:rPr lang="en-US" altLang="zh-TW" sz="2000" smtClean="0">
                        <a:solidFill>
                          <a:schemeClr val="accent3"/>
                        </a:solidFill>
                      </a:rPr>
                      <m:t>𝑖</m:t>
                    </m:r>
                    <m:r>
                      <a:rPr lang="en-US" altLang="zh-TW" sz="2000" smtClean="0">
                        <a:solidFill>
                          <a:schemeClr val="accent3"/>
                        </a:solidFill>
                      </a:rPr>
                      <m:t>,</m:t>
                    </m:r>
                    <m:r>
                      <a:rPr lang="en-US" altLang="zh-TW" sz="2000" smtClean="0">
                        <a:solidFill>
                          <a:schemeClr val="accent3"/>
                        </a:solidFill>
                      </a:rPr>
                      <m:t>𝑗</m:t>
                    </m:r>
                    <m:r>
                      <a:rPr lang="en-US" altLang="zh-TW" sz="2000" smtClean="0">
                        <a:solidFill>
                          <a:schemeClr val="accent3"/>
                        </a:solidFill>
                      </a:rPr>
                      <m:t>+1)</m:t>
                    </m:r>
                  </m:oMath>
                </a14:m>
                <a:endParaRPr lang="en-US" altLang="zh-TW" sz="2000" dirty="0">
                  <a:solidFill>
                    <a:schemeClr val="accent3"/>
                  </a:solidFill>
                </a:endParaRPr>
              </a:p>
              <a:p>
                <a:pPr marL="457200" indent="-457200">
                  <a:lnSpc>
                    <a:spcPct val="150000"/>
                  </a:lnSpc>
                  <a:buFont typeface="+mj-lt"/>
                  <a:buAutoNum type="arabicPeriod"/>
                </a:pPr>
                <a:r>
                  <a:rPr lang="en-US" altLang="zh-TW" sz="2000" dirty="0"/>
                  <a:t>if </a:t>
                </a:r>
                <a14:m>
                  <m:oMath xmlns:m="http://schemas.openxmlformats.org/officeDocument/2006/math">
                    <m:r>
                      <a:rPr lang="en-US" altLang="zh-TW" sz="2000" smtClean="0">
                        <a:solidFill>
                          <a:schemeClr val="accent2"/>
                        </a:solidFill>
                      </a:rPr>
                      <m:t>𝐴</m:t>
                    </m:r>
                    <m:r>
                      <a:rPr lang="en-US" altLang="zh-TW" sz="2000" smtClean="0">
                        <a:solidFill>
                          <a:schemeClr val="accent2"/>
                        </a:solidFill>
                      </a:rPr>
                      <m:t>(</m:t>
                    </m:r>
                    <m:r>
                      <a:rPr lang="en-US" altLang="zh-TW" sz="2000" smtClean="0">
                        <a:solidFill>
                          <a:schemeClr val="accent2"/>
                        </a:solidFill>
                      </a:rPr>
                      <m:t>𝑖</m:t>
                    </m:r>
                    <m:r>
                      <a:rPr lang="en-US" altLang="zh-TW" sz="2000" smtClean="0">
                        <a:solidFill>
                          <a:schemeClr val="accent2"/>
                        </a:solidFill>
                      </a:rPr>
                      <m:t>,</m:t>
                    </m:r>
                    <m:r>
                      <a:rPr lang="en-US" altLang="zh-TW" sz="2000" smtClean="0">
                        <a:solidFill>
                          <a:schemeClr val="accent2"/>
                        </a:solidFill>
                      </a:rPr>
                      <m:t>𝑗</m:t>
                    </m:r>
                    <m:r>
                      <a:rPr lang="en-US" altLang="zh-TW" sz="2000" smtClean="0">
                        <a:solidFill>
                          <a:schemeClr val="accent2"/>
                        </a:solidFill>
                      </a:rPr>
                      <m:t>+1)⊲</m:t>
                    </m:r>
                    <m:r>
                      <a:rPr lang="en-US" altLang="zh-TW" sz="2000" smtClean="0">
                        <a:solidFill>
                          <a:schemeClr val="accent3"/>
                        </a:solidFill>
                      </a:rPr>
                      <m:t>𝐴</m:t>
                    </m:r>
                    <m:r>
                      <a:rPr lang="en-US" altLang="zh-TW" sz="2000" smtClean="0">
                        <a:solidFill>
                          <a:schemeClr val="accent3"/>
                        </a:solidFill>
                      </a:rPr>
                      <m:t>(</m:t>
                    </m:r>
                    <m:r>
                      <a:rPr lang="en-US" altLang="zh-TW" sz="2000" smtClean="0">
                        <a:solidFill>
                          <a:schemeClr val="accent3"/>
                        </a:solidFill>
                      </a:rPr>
                      <m:t>𝑖</m:t>
                    </m:r>
                    <m:r>
                      <a:rPr lang="en-US" altLang="zh-TW" sz="2000" smtClean="0">
                        <a:solidFill>
                          <a:schemeClr val="accent3"/>
                        </a:solidFill>
                      </a:rPr>
                      <m:t>−1,</m:t>
                    </m:r>
                    <m:r>
                      <a:rPr lang="en-US" altLang="zh-TW" sz="2000" smtClean="0">
                        <a:solidFill>
                          <a:schemeClr val="accent3"/>
                        </a:solidFill>
                      </a:rPr>
                      <m:t>𝑗</m:t>
                    </m:r>
                    <m:r>
                      <a:rPr lang="en-US" altLang="zh-TW" sz="2000" smtClean="0">
                        <a:solidFill>
                          <a:schemeClr val="accent3"/>
                        </a:solidFill>
                      </a:rPr>
                      <m:t>+1)</m:t>
                    </m:r>
                  </m:oMath>
                </a14:m>
                <a:r>
                  <a:rPr lang="en-US" altLang="zh-TW" sz="2000" dirty="0"/>
                  <a:t>, then </a:t>
                </a:r>
                <a14:m>
                  <m:oMath xmlns:m="http://schemas.openxmlformats.org/officeDocument/2006/math">
                    <m:r>
                      <a:rPr lang="en-US" altLang="zh-TW" sz="2000" smtClean="0">
                        <a:solidFill>
                          <a:schemeClr val="accent6"/>
                        </a:solidFill>
                      </a:rPr>
                      <m:t>𝐴</m:t>
                    </m:r>
                    <m:d>
                      <m:dPr>
                        <m:ctrlPr>
                          <a:rPr lang="en-US" altLang="zh-TW" sz="2000">
                            <a:solidFill>
                              <a:schemeClr val="accent6"/>
                            </a:solidFill>
                          </a:rPr>
                        </m:ctrlPr>
                      </m:dPr>
                      <m:e>
                        <m:r>
                          <a:rPr lang="en-US" altLang="zh-TW" sz="2000">
                            <a:solidFill>
                              <a:schemeClr val="accent6"/>
                            </a:solidFill>
                          </a:rPr>
                          <m:t>𝑖</m:t>
                        </m:r>
                        <m:r>
                          <a:rPr lang="en-US" altLang="zh-TW" sz="2000">
                            <a:solidFill>
                              <a:schemeClr val="accent6"/>
                            </a:solidFill>
                          </a:rPr>
                          <m:t>,</m:t>
                        </m:r>
                        <m:r>
                          <a:rPr lang="en-US" altLang="zh-TW" sz="2000">
                            <a:solidFill>
                              <a:schemeClr val="accent6"/>
                            </a:solidFill>
                          </a:rPr>
                          <m:t>𝑗</m:t>
                        </m:r>
                      </m:e>
                    </m:d>
                    <m:r>
                      <a:rPr lang="en-US" altLang="zh-TW" sz="2000"/>
                      <m:t>⊲</m:t>
                    </m:r>
                    <m:r>
                      <a:rPr lang="en-US" altLang="zh-TW" sz="2000" smtClean="0">
                        <a:solidFill>
                          <a:schemeClr val="accent5"/>
                        </a:solidFill>
                      </a:rPr>
                      <m:t>𝐴</m:t>
                    </m:r>
                    <m:d>
                      <m:dPr>
                        <m:ctrlPr>
                          <a:rPr lang="en-US" altLang="zh-TW" sz="2000">
                            <a:solidFill>
                              <a:schemeClr val="accent5"/>
                            </a:solidFill>
                          </a:rPr>
                        </m:ctrlPr>
                      </m:dPr>
                      <m:e>
                        <m:r>
                          <a:rPr lang="en-US" altLang="zh-TW" sz="2000">
                            <a:solidFill>
                              <a:schemeClr val="accent5"/>
                            </a:solidFill>
                          </a:rPr>
                          <m:t>𝑖</m:t>
                        </m:r>
                        <m:r>
                          <a:rPr lang="en-US" altLang="zh-TW" sz="2000">
                            <a:solidFill>
                              <a:schemeClr val="accent5"/>
                            </a:solidFill>
                          </a:rPr>
                          <m:t>−1,</m:t>
                        </m:r>
                        <m:r>
                          <a:rPr lang="en-US" altLang="zh-TW" sz="2000">
                            <a:solidFill>
                              <a:schemeClr val="accent5"/>
                            </a:solidFill>
                          </a:rPr>
                          <m:t>𝑗</m:t>
                        </m:r>
                      </m:e>
                    </m:d>
                    <m:r>
                      <a:rPr lang="en-US" altLang="zh-TW" sz="2000"/>
                      <m:t>;</m:t>
                    </m:r>
                  </m:oMath>
                </a14:m>
                <a:endParaRPr lang="en-US" altLang="zh-TW" sz="2000" dirty="0"/>
              </a:p>
              <a:p>
                <a:pPr marL="457200" indent="-457200">
                  <a:lnSpc>
                    <a:spcPct val="150000"/>
                  </a:lnSpc>
                  <a:buFont typeface="+mj-lt"/>
                  <a:buAutoNum type="arabicPeriod"/>
                </a:pPr>
                <a:r>
                  <a:rPr lang="en-US" altLang="zh-TW" sz="2000" dirty="0"/>
                  <a:t>if </a:t>
                </a:r>
                <a14:m>
                  <m:oMath xmlns:m="http://schemas.openxmlformats.org/officeDocument/2006/math">
                    <m:r>
                      <a:rPr lang="en-US" altLang="zh-TW" sz="2000" smtClean="0">
                        <a:solidFill>
                          <a:schemeClr val="accent2"/>
                        </a:solidFill>
                      </a:rPr>
                      <m:t>𝐴</m:t>
                    </m:r>
                    <m:r>
                      <a:rPr lang="en-US" altLang="zh-TW" sz="2000" smtClean="0">
                        <a:solidFill>
                          <a:schemeClr val="accent2"/>
                        </a:solidFill>
                      </a:rPr>
                      <m:t>(</m:t>
                    </m:r>
                    <m:r>
                      <a:rPr lang="en-US" altLang="zh-TW" sz="2000" smtClean="0">
                        <a:solidFill>
                          <a:schemeClr val="accent2"/>
                        </a:solidFill>
                      </a:rPr>
                      <m:t>𝑖</m:t>
                    </m:r>
                    <m:r>
                      <a:rPr lang="en-US" altLang="zh-TW" sz="2000" smtClean="0">
                        <a:solidFill>
                          <a:schemeClr val="accent2"/>
                        </a:solidFill>
                      </a:rPr>
                      <m:t>−1,</m:t>
                    </m:r>
                    <m:r>
                      <a:rPr lang="en-US" altLang="zh-TW" sz="2000">
                        <a:solidFill>
                          <a:schemeClr val="accent2"/>
                        </a:solidFill>
                      </a:rPr>
                      <m:t>𝑗</m:t>
                    </m:r>
                    <m:r>
                      <a:rPr lang="en-US" altLang="zh-TW" sz="2000">
                        <a:solidFill>
                          <a:schemeClr val="accent2"/>
                        </a:solidFill>
                      </a:rPr>
                      <m:t>)⊲</m:t>
                    </m:r>
                    <m:r>
                      <a:rPr lang="en-US" altLang="zh-TW" sz="2000" smtClean="0">
                        <a:solidFill>
                          <a:schemeClr val="accent3"/>
                        </a:solidFill>
                      </a:rPr>
                      <m:t>𝐴</m:t>
                    </m:r>
                    <m:r>
                      <a:rPr lang="en-US" altLang="zh-TW" sz="2000" smtClean="0">
                        <a:solidFill>
                          <a:schemeClr val="accent3"/>
                        </a:solidFill>
                      </a:rPr>
                      <m:t>(</m:t>
                    </m:r>
                    <m:r>
                      <a:rPr lang="en-US" altLang="zh-TW" sz="2000" smtClean="0">
                        <a:solidFill>
                          <a:schemeClr val="accent3"/>
                        </a:solidFill>
                      </a:rPr>
                      <m:t>𝑖</m:t>
                    </m:r>
                    <m:r>
                      <a:rPr lang="en-US" altLang="zh-TW" sz="2000" smtClean="0">
                        <a:solidFill>
                          <a:schemeClr val="accent3"/>
                        </a:solidFill>
                      </a:rPr>
                      <m:t>−1,</m:t>
                    </m:r>
                    <m:r>
                      <a:rPr lang="en-US" altLang="zh-TW" sz="2000" smtClean="0">
                        <a:solidFill>
                          <a:schemeClr val="accent3"/>
                        </a:solidFill>
                      </a:rPr>
                      <m:t>𝑗</m:t>
                    </m:r>
                    <m:r>
                      <a:rPr lang="en-US" altLang="zh-TW" sz="2000" smtClean="0">
                        <a:solidFill>
                          <a:schemeClr val="accent3"/>
                        </a:solidFill>
                      </a:rPr>
                      <m:t>+1)</m:t>
                    </m:r>
                  </m:oMath>
                </a14:m>
                <a:r>
                  <a:rPr lang="en-US" altLang="zh-TW" sz="2000" dirty="0"/>
                  <a:t>, then </a:t>
                </a:r>
                <a14:m>
                  <m:oMath xmlns:m="http://schemas.openxmlformats.org/officeDocument/2006/math">
                    <m:r>
                      <a:rPr lang="en-US" altLang="zh-TW" sz="2000" smtClean="0">
                        <a:solidFill>
                          <a:schemeClr val="accent6"/>
                        </a:solidFill>
                      </a:rPr>
                      <m:t>𝐴</m:t>
                    </m:r>
                    <m:d>
                      <m:dPr>
                        <m:ctrlPr>
                          <a:rPr lang="en-US" altLang="zh-TW" sz="2000">
                            <a:solidFill>
                              <a:schemeClr val="accent6"/>
                            </a:solidFill>
                          </a:rPr>
                        </m:ctrlPr>
                      </m:dPr>
                      <m:e>
                        <m:r>
                          <a:rPr lang="en-US" altLang="zh-TW" sz="2000">
                            <a:solidFill>
                              <a:schemeClr val="accent6"/>
                            </a:solidFill>
                          </a:rPr>
                          <m:t>𝑖</m:t>
                        </m:r>
                        <m:r>
                          <a:rPr lang="en-US" altLang="zh-TW" sz="2000">
                            <a:solidFill>
                              <a:schemeClr val="accent6"/>
                            </a:solidFill>
                          </a:rPr>
                          <m:t>,</m:t>
                        </m:r>
                        <m:r>
                          <a:rPr lang="en-US" altLang="zh-TW" sz="2000">
                            <a:solidFill>
                              <a:schemeClr val="accent6"/>
                            </a:solidFill>
                          </a:rPr>
                          <m:t>𝑗</m:t>
                        </m:r>
                      </m:e>
                    </m:d>
                    <m:r>
                      <a:rPr lang="en-US" altLang="zh-TW" sz="2000"/>
                      <m:t>⊲</m:t>
                    </m:r>
                    <m:r>
                      <a:rPr lang="en-US" altLang="zh-TW" sz="2000" smtClean="0">
                        <a:solidFill>
                          <a:schemeClr val="accent5"/>
                        </a:solidFill>
                      </a:rPr>
                      <m:t>𝐴</m:t>
                    </m:r>
                    <m:d>
                      <m:dPr>
                        <m:ctrlPr>
                          <a:rPr lang="en-US" altLang="zh-TW" sz="2000">
                            <a:solidFill>
                              <a:schemeClr val="accent5"/>
                            </a:solidFill>
                          </a:rPr>
                        </m:ctrlPr>
                      </m:dPr>
                      <m:e>
                        <m:r>
                          <a:rPr lang="en-US" altLang="zh-TW" sz="2000">
                            <a:solidFill>
                              <a:schemeClr val="accent5"/>
                            </a:solidFill>
                          </a:rPr>
                          <m:t>𝑖</m:t>
                        </m:r>
                        <m:r>
                          <a:rPr lang="en-US" altLang="zh-TW" sz="2000">
                            <a:solidFill>
                              <a:schemeClr val="accent5"/>
                            </a:solidFill>
                          </a:rPr>
                          <m:t>,</m:t>
                        </m:r>
                        <m:r>
                          <a:rPr lang="en-US" altLang="zh-TW" sz="2000">
                            <a:solidFill>
                              <a:schemeClr val="accent5"/>
                            </a:solidFill>
                          </a:rPr>
                          <m:t>𝑗</m:t>
                        </m:r>
                        <m:r>
                          <a:rPr lang="en-US" altLang="zh-TW" sz="2000" smtClean="0">
                            <a:solidFill>
                              <a:schemeClr val="accent5"/>
                            </a:solidFill>
                          </a:rPr>
                          <m:t>+1</m:t>
                        </m:r>
                      </m:e>
                    </m:d>
                  </m:oMath>
                </a14:m>
                <a:endParaRPr lang="en-US" altLang="zh-TW" sz="2000" dirty="0"/>
              </a:p>
              <a:p>
                <a:pPr>
                  <a:lnSpc>
                    <a:spcPct val="150000"/>
                  </a:lnSpc>
                </a:pPr>
                <a:endParaRPr lang="zh-TW" altLang="en-US" sz="20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741"/>
                </a:stretch>
              </a:blipFill>
            </p:spPr>
            <p:txBody>
              <a:bodyPr/>
              <a:lstStyle/>
              <a:p>
                <a:r>
                  <a:rPr lang="zh-TW" altLang="en-US">
                    <a:noFill/>
                  </a:rPr>
                  <a:t> </a:t>
                </a:r>
              </a:p>
            </p:txBody>
          </p:sp>
        </mc:Fallback>
      </mc:AlternateContent>
      <p:graphicFrame>
        <p:nvGraphicFramePr>
          <p:cNvPr id="6" name="表格 5"/>
          <p:cNvGraphicFramePr>
            <a:graphicFrameLocks noGrp="1"/>
          </p:cNvGraphicFramePr>
          <p:nvPr>
            <p:extLst>
              <p:ext uri="{D42A27DB-BD31-4B8C-83A1-F6EECF244321}">
                <p14:modId xmlns:p14="http://schemas.microsoft.com/office/powerpoint/2010/main" val="851514175"/>
              </p:ext>
            </p:extLst>
          </p:nvPr>
        </p:nvGraphicFramePr>
        <p:xfrm>
          <a:off x="1907704" y="4509280"/>
          <a:ext cx="1728000" cy="1440000"/>
        </p:xfrm>
        <a:graphic>
          <a:graphicData uri="http://schemas.openxmlformats.org/drawingml/2006/table">
            <a:tbl>
              <a:tblPr firstRow="1" bandRow="1">
                <a:tableStyleId>{5940675A-B579-460E-94D1-54222C63F5DA}</a:tableStyleId>
              </a:tblPr>
              <a:tblGrid>
                <a:gridCol w="288000"/>
                <a:gridCol w="288000"/>
                <a:gridCol w="288000"/>
                <a:gridCol w="288000"/>
                <a:gridCol w="288000"/>
                <a:gridCol w="288000"/>
              </a:tblGrid>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dirty="0"/>
                    </a:p>
                  </a:txBody>
                  <a:tcPr/>
                </a:tc>
              </a:tr>
            </a:tbl>
          </a:graphicData>
        </a:graphic>
      </p:graphicFrame>
      <p:sp>
        <p:nvSpPr>
          <p:cNvPr id="7" name="矩形 6"/>
          <p:cNvSpPr/>
          <p:nvPr/>
        </p:nvSpPr>
        <p:spPr>
          <a:xfrm>
            <a:off x="2195736" y="4509120"/>
            <a:ext cx="1440160" cy="14401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2"/>
              </a:solidFill>
            </a:endParaRPr>
          </a:p>
        </p:txBody>
      </p:sp>
      <p:sp>
        <p:nvSpPr>
          <p:cNvPr id="8" name="矩形 7"/>
          <p:cNvSpPr/>
          <p:nvPr/>
        </p:nvSpPr>
        <p:spPr>
          <a:xfrm>
            <a:off x="1835696" y="4437112"/>
            <a:ext cx="1872208" cy="1584176"/>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8"/>
          <p:cNvGraphicFramePr>
            <a:graphicFrameLocks noGrp="1"/>
          </p:cNvGraphicFramePr>
          <p:nvPr>
            <p:extLst>
              <p:ext uri="{D42A27DB-BD31-4B8C-83A1-F6EECF244321}">
                <p14:modId xmlns:p14="http://schemas.microsoft.com/office/powerpoint/2010/main" val="3674153086"/>
              </p:ext>
            </p:extLst>
          </p:nvPr>
        </p:nvGraphicFramePr>
        <p:xfrm>
          <a:off x="5508104" y="4509280"/>
          <a:ext cx="1728000" cy="1440000"/>
        </p:xfrm>
        <a:graphic>
          <a:graphicData uri="http://schemas.openxmlformats.org/drawingml/2006/table">
            <a:tbl>
              <a:tblPr firstRow="1" bandRow="1">
                <a:tableStyleId>{5940675A-B579-460E-94D1-54222C63F5DA}</a:tableStyleId>
              </a:tblPr>
              <a:tblGrid>
                <a:gridCol w="288000"/>
                <a:gridCol w="288000"/>
                <a:gridCol w="288000"/>
                <a:gridCol w="288000"/>
                <a:gridCol w="288000"/>
                <a:gridCol w="288000"/>
              </a:tblGrid>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dirty="0"/>
                    </a:p>
                  </a:txBody>
                  <a:tcPr/>
                </a:tc>
              </a:tr>
            </a:tbl>
          </a:graphicData>
        </a:graphic>
      </p:graphicFrame>
      <p:sp>
        <p:nvSpPr>
          <p:cNvPr id="10" name="矩形 9"/>
          <p:cNvSpPr/>
          <p:nvPr/>
        </p:nvSpPr>
        <p:spPr>
          <a:xfrm>
            <a:off x="5508104" y="4509120"/>
            <a:ext cx="1440160" cy="14401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2"/>
              </a:solidFill>
            </a:endParaRPr>
          </a:p>
        </p:txBody>
      </p:sp>
      <p:sp>
        <p:nvSpPr>
          <p:cNvPr id="11" name="矩形 10"/>
          <p:cNvSpPr/>
          <p:nvPr/>
        </p:nvSpPr>
        <p:spPr>
          <a:xfrm>
            <a:off x="5436096" y="4437112"/>
            <a:ext cx="1872208" cy="1584176"/>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p:cNvSpPr txBox="1"/>
          <p:nvPr/>
        </p:nvSpPr>
        <p:spPr>
          <a:xfrm>
            <a:off x="1259632" y="4653136"/>
            <a:ext cx="359394" cy="369332"/>
          </a:xfrm>
          <a:prstGeom prst="rect">
            <a:avLst/>
          </a:prstGeom>
          <a:noFill/>
        </p:spPr>
        <p:txBody>
          <a:bodyPr wrap="none" rtlCol="0">
            <a:spAutoFit/>
          </a:bodyPr>
          <a:lstStyle/>
          <a:p>
            <a:r>
              <a:rPr lang="en-US" altLang="zh-TW" dirty="0" smtClean="0"/>
              <a:t>1.</a:t>
            </a:r>
            <a:endParaRPr lang="zh-TW" altLang="en-US" dirty="0"/>
          </a:p>
        </p:txBody>
      </p:sp>
      <p:sp>
        <p:nvSpPr>
          <p:cNvPr id="17" name="文字方塊 16"/>
          <p:cNvSpPr txBox="1"/>
          <p:nvPr/>
        </p:nvSpPr>
        <p:spPr>
          <a:xfrm>
            <a:off x="4863111" y="4653136"/>
            <a:ext cx="359394" cy="369332"/>
          </a:xfrm>
          <a:prstGeom prst="rect">
            <a:avLst/>
          </a:prstGeom>
          <a:noFill/>
        </p:spPr>
        <p:txBody>
          <a:bodyPr wrap="none" rtlCol="0">
            <a:spAutoFit/>
          </a:bodyPr>
          <a:lstStyle/>
          <a:p>
            <a:r>
              <a:rPr lang="en-US" altLang="zh-TW" dirty="0" smtClean="0"/>
              <a:t>2.</a:t>
            </a:r>
            <a:endParaRPr lang="zh-TW" altLang="en-US" dirty="0"/>
          </a:p>
        </p:txBody>
      </p:sp>
    </p:spTree>
    <p:extLst>
      <p:ext uri="{BB962C8B-B14F-4D97-AF65-F5344CB8AC3E}">
        <p14:creationId xmlns:p14="http://schemas.microsoft.com/office/powerpoint/2010/main" val="2026135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760925926"/>
              </p:ext>
            </p:extLst>
          </p:nvPr>
        </p:nvGraphicFramePr>
        <p:xfrm>
          <a:off x="1907896" y="1196752"/>
          <a:ext cx="1728000" cy="1440000"/>
        </p:xfrm>
        <a:graphic>
          <a:graphicData uri="http://schemas.openxmlformats.org/drawingml/2006/table">
            <a:tbl>
              <a:tblPr firstRow="1" bandRow="1">
                <a:tableStyleId>{5940675A-B579-460E-94D1-54222C63F5DA}</a:tableStyleId>
              </a:tblPr>
              <a:tblGrid>
                <a:gridCol w="288000"/>
                <a:gridCol w="288000"/>
                <a:gridCol w="288000"/>
                <a:gridCol w="288000"/>
                <a:gridCol w="288000"/>
                <a:gridCol w="288000"/>
              </a:tblGrid>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dirty="0"/>
                    </a:p>
                  </a:txBody>
                  <a:tcPr/>
                </a:tc>
              </a:tr>
            </a:tbl>
          </a:graphicData>
        </a:graphic>
      </p:graphicFrame>
      <p:sp>
        <p:nvSpPr>
          <p:cNvPr id="3" name="矩形 2"/>
          <p:cNvSpPr/>
          <p:nvPr/>
        </p:nvSpPr>
        <p:spPr>
          <a:xfrm>
            <a:off x="2195928" y="1196592"/>
            <a:ext cx="1151936" cy="14401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2"/>
              </a:solidFill>
            </a:endParaRPr>
          </a:p>
        </p:txBody>
      </p:sp>
      <p:sp>
        <p:nvSpPr>
          <p:cNvPr id="4" name="矩形 3"/>
          <p:cNvSpPr/>
          <p:nvPr/>
        </p:nvSpPr>
        <p:spPr>
          <a:xfrm>
            <a:off x="1835888" y="1124584"/>
            <a:ext cx="1583984" cy="1584176"/>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706808122"/>
              </p:ext>
            </p:extLst>
          </p:nvPr>
        </p:nvGraphicFramePr>
        <p:xfrm>
          <a:off x="4788024" y="1196912"/>
          <a:ext cx="1728000" cy="1440000"/>
        </p:xfrm>
        <a:graphic>
          <a:graphicData uri="http://schemas.openxmlformats.org/drawingml/2006/table">
            <a:tbl>
              <a:tblPr firstRow="1" bandRow="1">
                <a:tableStyleId>{5940675A-B579-460E-94D1-54222C63F5DA}</a:tableStyleId>
              </a:tblPr>
              <a:tblGrid>
                <a:gridCol w="288000"/>
                <a:gridCol w="288000"/>
                <a:gridCol w="288000"/>
                <a:gridCol w="288000"/>
                <a:gridCol w="288000"/>
                <a:gridCol w="288000"/>
              </a:tblGrid>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dirty="0"/>
                    </a:p>
                  </a:txBody>
                  <a:tcPr/>
                </a:tc>
              </a:tr>
            </a:tbl>
          </a:graphicData>
        </a:graphic>
      </p:graphicFrame>
      <p:sp>
        <p:nvSpPr>
          <p:cNvPr id="6" name="矩形 5"/>
          <p:cNvSpPr/>
          <p:nvPr/>
        </p:nvSpPr>
        <p:spPr>
          <a:xfrm>
            <a:off x="5076056" y="1196752"/>
            <a:ext cx="1440160" cy="144016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2"/>
              </a:solidFill>
            </a:endParaRPr>
          </a:p>
        </p:txBody>
      </p:sp>
      <p:sp>
        <p:nvSpPr>
          <p:cNvPr id="7" name="矩形 6"/>
          <p:cNvSpPr/>
          <p:nvPr/>
        </p:nvSpPr>
        <p:spPr>
          <a:xfrm>
            <a:off x="4716016" y="1124744"/>
            <a:ext cx="1872208" cy="1584176"/>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3435239455"/>
              </p:ext>
            </p:extLst>
          </p:nvPr>
        </p:nvGraphicFramePr>
        <p:xfrm>
          <a:off x="1902825" y="4221248"/>
          <a:ext cx="1728000" cy="1440000"/>
        </p:xfrm>
        <a:graphic>
          <a:graphicData uri="http://schemas.openxmlformats.org/drawingml/2006/table">
            <a:tbl>
              <a:tblPr firstRow="1" bandRow="1">
                <a:tableStyleId>{5940675A-B579-460E-94D1-54222C63F5DA}</a:tableStyleId>
              </a:tblPr>
              <a:tblGrid>
                <a:gridCol w="288000"/>
                <a:gridCol w="288000"/>
                <a:gridCol w="288000"/>
                <a:gridCol w="288000"/>
                <a:gridCol w="288000"/>
                <a:gridCol w="288000"/>
              </a:tblGrid>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dirty="0"/>
                    </a:p>
                  </a:txBody>
                  <a:tcPr/>
                </a:tc>
              </a:tr>
            </a:tbl>
          </a:graphicData>
        </a:graphic>
      </p:graphicFrame>
      <p:sp>
        <p:nvSpPr>
          <p:cNvPr id="9" name="矩形 8"/>
          <p:cNvSpPr/>
          <p:nvPr/>
        </p:nvSpPr>
        <p:spPr>
          <a:xfrm>
            <a:off x="2195927" y="4221088"/>
            <a:ext cx="1147057" cy="14401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2"/>
              </a:solidFill>
            </a:endParaRPr>
          </a:p>
        </p:txBody>
      </p:sp>
      <p:sp>
        <p:nvSpPr>
          <p:cNvPr id="10" name="矩形 9"/>
          <p:cNvSpPr/>
          <p:nvPr/>
        </p:nvSpPr>
        <p:spPr>
          <a:xfrm>
            <a:off x="2123727" y="4149080"/>
            <a:ext cx="1579297" cy="1584176"/>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1" name="表格 10"/>
          <p:cNvGraphicFramePr>
            <a:graphicFrameLocks noGrp="1"/>
          </p:cNvGraphicFramePr>
          <p:nvPr>
            <p:extLst>
              <p:ext uri="{D42A27DB-BD31-4B8C-83A1-F6EECF244321}">
                <p14:modId xmlns:p14="http://schemas.microsoft.com/office/powerpoint/2010/main" val="531651120"/>
              </p:ext>
            </p:extLst>
          </p:nvPr>
        </p:nvGraphicFramePr>
        <p:xfrm>
          <a:off x="4771078" y="4221248"/>
          <a:ext cx="1728000" cy="1440000"/>
        </p:xfrm>
        <a:graphic>
          <a:graphicData uri="http://schemas.openxmlformats.org/drawingml/2006/table">
            <a:tbl>
              <a:tblPr firstRow="1" bandRow="1">
                <a:tableStyleId>{5940675A-B579-460E-94D1-54222C63F5DA}</a:tableStyleId>
              </a:tblPr>
              <a:tblGrid>
                <a:gridCol w="288000"/>
                <a:gridCol w="288000"/>
                <a:gridCol w="288000"/>
                <a:gridCol w="288000"/>
                <a:gridCol w="288000"/>
                <a:gridCol w="288000"/>
              </a:tblGrid>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dirty="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r>
              <a:tr h="288000">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a:p>
                  </a:txBody>
                  <a:tcPr/>
                </a:tc>
                <a:tc>
                  <a:txBody>
                    <a:bodyPr/>
                    <a:lstStyle/>
                    <a:p>
                      <a:endParaRPr lang="zh-TW" altLang="en-US" sz="1200" dirty="0"/>
                    </a:p>
                  </a:txBody>
                  <a:tcPr/>
                </a:tc>
              </a:tr>
            </a:tbl>
          </a:graphicData>
        </a:graphic>
      </p:graphicFrame>
      <p:sp>
        <p:nvSpPr>
          <p:cNvPr id="12" name="矩形 11"/>
          <p:cNvSpPr/>
          <p:nvPr/>
        </p:nvSpPr>
        <p:spPr>
          <a:xfrm>
            <a:off x="4771078" y="4221088"/>
            <a:ext cx="1440160" cy="144016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2"/>
              </a:solidFill>
            </a:endParaRPr>
          </a:p>
        </p:txBody>
      </p:sp>
      <p:sp>
        <p:nvSpPr>
          <p:cNvPr id="13" name="矩形 12"/>
          <p:cNvSpPr/>
          <p:nvPr/>
        </p:nvSpPr>
        <p:spPr>
          <a:xfrm>
            <a:off x="4699070" y="4149080"/>
            <a:ext cx="1872208" cy="1584176"/>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p:cNvSpPr txBox="1"/>
          <p:nvPr/>
        </p:nvSpPr>
        <p:spPr>
          <a:xfrm>
            <a:off x="793436" y="1750458"/>
            <a:ext cx="535724" cy="369332"/>
          </a:xfrm>
          <a:prstGeom prst="rect">
            <a:avLst/>
          </a:prstGeom>
          <a:noFill/>
        </p:spPr>
        <p:txBody>
          <a:bodyPr wrap="none" rtlCol="0">
            <a:spAutoFit/>
          </a:bodyPr>
          <a:lstStyle/>
          <a:p>
            <a:r>
              <a:rPr lang="en-US" altLang="zh-TW" dirty="0" smtClean="0"/>
              <a:t>3. if</a:t>
            </a:r>
            <a:endParaRPr lang="zh-TW" altLang="en-US" dirty="0"/>
          </a:p>
        </p:txBody>
      </p:sp>
      <p:sp>
        <p:nvSpPr>
          <p:cNvPr id="15" name="文字方塊 14"/>
          <p:cNvSpPr txBox="1"/>
          <p:nvPr/>
        </p:nvSpPr>
        <p:spPr>
          <a:xfrm>
            <a:off x="3879309" y="1750458"/>
            <a:ext cx="620683" cy="369332"/>
          </a:xfrm>
          <a:prstGeom prst="rect">
            <a:avLst/>
          </a:prstGeom>
          <a:noFill/>
        </p:spPr>
        <p:txBody>
          <a:bodyPr wrap="none" rtlCol="0">
            <a:spAutoFit/>
          </a:bodyPr>
          <a:lstStyle/>
          <a:p>
            <a:r>
              <a:rPr lang="en-US" altLang="zh-TW" dirty="0" smtClean="0"/>
              <a:t>then</a:t>
            </a:r>
            <a:endParaRPr lang="zh-TW" altLang="en-US" dirty="0"/>
          </a:p>
        </p:txBody>
      </p:sp>
      <p:sp>
        <p:nvSpPr>
          <p:cNvPr id="16" name="文字方塊 15"/>
          <p:cNvSpPr txBox="1"/>
          <p:nvPr/>
        </p:nvSpPr>
        <p:spPr>
          <a:xfrm>
            <a:off x="793436" y="4756502"/>
            <a:ext cx="535724" cy="369332"/>
          </a:xfrm>
          <a:prstGeom prst="rect">
            <a:avLst/>
          </a:prstGeom>
          <a:noFill/>
        </p:spPr>
        <p:txBody>
          <a:bodyPr wrap="none" rtlCol="0">
            <a:spAutoFit/>
          </a:bodyPr>
          <a:lstStyle/>
          <a:p>
            <a:r>
              <a:rPr lang="en-US" altLang="zh-TW" dirty="0" smtClean="0"/>
              <a:t>4. if</a:t>
            </a:r>
            <a:endParaRPr lang="zh-TW" altLang="en-US" dirty="0"/>
          </a:p>
        </p:txBody>
      </p:sp>
      <p:sp>
        <p:nvSpPr>
          <p:cNvPr id="17" name="文字方塊 16"/>
          <p:cNvSpPr txBox="1"/>
          <p:nvPr/>
        </p:nvSpPr>
        <p:spPr>
          <a:xfrm>
            <a:off x="3879309" y="4756502"/>
            <a:ext cx="620683" cy="369332"/>
          </a:xfrm>
          <a:prstGeom prst="rect">
            <a:avLst/>
          </a:prstGeom>
          <a:noFill/>
        </p:spPr>
        <p:txBody>
          <a:bodyPr wrap="none" rtlCol="0">
            <a:spAutoFit/>
          </a:bodyPr>
          <a:lstStyle/>
          <a:p>
            <a:r>
              <a:rPr lang="en-US" altLang="zh-TW" dirty="0" smtClean="0"/>
              <a:t>then</a:t>
            </a:r>
            <a:endParaRPr lang="zh-TW" altLang="en-US" dirty="0"/>
          </a:p>
        </p:txBody>
      </p:sp>
    </p:spTree>
    <p:extLst>
      <p:ext uri="{BB962C8B-B14F-4D97-AF65-F5344CB8AC3E}">
        <p14:creationId xmlns:p14="http://schemas.microsoft.com/office/powerpoint/2010/main" val="2742823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Corollary 1</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lnSpc>
                    <a:spcPct val="150000"/>
                  </a:lnSpc>
                </a:pPr>
                <a14:m>
                  <m:oMath xmlns:m="http://schemas.openxmlformats.org/officeDocument/2006/math">
                    <m:r>
                      <m:rPr>
                        <m:sty m:val="p"/>
                      </m:rPr>
                      <a:rPr lang="en-US" altLang="zh-TW" sz="2000" b="0" i="0" smtClean="0">
                        <a:latin typeface="Cambria Math"/>
                      </a:rPr>
                      <m:t>if</m:t>
                    </m:r>
                    <m:r>
                      <a:rPr lang="en-US" altLang="zh-TW" sz="2000" b="0" i="0" smtClean="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r>
                          <a:rPr lang="en-US" altLang="zh-TW" sz="2000">
                            <a:latin typeface="Cambria Math"/>
                          </a:rPr>
                          <m:t>𝑗</m:t>
                        </m:r>
                      </m:e>
                    </m:d>
                    <m:r>
                      <a:rPr lang="en-US" altLang="zh-TW" sz="200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−1</m:t>
                        </m:r>
                        <m:r>
                          <a:rPr lang="en-US" altLang="zh-TW" sz="2000" b="0" i="1" smtClean="0">
                            <a:latin typeface="Cambria Math"/>
                          </a:rPr>
                          <m:t>,</m:t>
                        </m:r>
                        <m:r>
                          <a:rPr lang="en-US" altLang="zh-TW" sz="2000" b="0" i="1" smtClean="0">
                            <a:latin typeface="Cambria Math"/>
                          </a:rPr>
                          <m:t>𝑗</m:t>
                        </m:r>
                      </m:e>
                    </m:d>
                    <m:r>
                      <a:rPr lang="en-US" altLang="zh-TW" sz="2000">
                        <a:latin typeface="Cambria Math"/>
                      </a:rPr>
                      <m:t>, </m:t>
                    </m:r>
                    <m:r>
                      <a:rPr lang="en-US" altLang="zh-TW" sz="2000">
                        <a:latin typeface="Cambria Math"/>
                      </a:rPr>
                      <m:t>𝑡h𝑒𝑛</m:t>
                    </m:r>
                    <m:r>
                      <a:rPr lang="en-US" altLang="zh-TW" sz="200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e>
                    </m:d>
                    <m:r>
                      <a:rPr lang="en-US" altLang="zh-TW" sz="200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−1,</m:t>
                        </m:r>
                        <m:r>
                          <a:rPr lang="en-US" altLang="zh-TW" sz="2000">
                            <a:latin typeface="Cambria Math"/>
                          </a:rPr>
                          <m:t>𝑗</m:t>
                        </m:r>
                      </m:e>
                    </m:d>
                    <m:r>
                      <a:rPr lang="en-US" altLang="zh-TW" sz="2000">
                        <a:latin typeface="Cambria Math"/>
                      </a:rPr>
                      <m:t>𝑓𝑜𝑟</m:t>
                    </m:r>
                    <m:r>
                      <a:rPr lang="en-US" altLang="zh-TW" sz="2000">
                        <a:latin typeface="Cambria Math"/>
                      </a:rPr>
                      <m:t> </m:t>
                    </m:r>
                    <m:r>
                      <a:rPr lang="en-US" altLang="zh-TW" sz="2000">
                        <a:latin typeface="Cambria Math"/>
                      </a:rPr>
                      <m:t>𝑎𝑙𝑙</m:t>
                    </m:r>
                    <m:r>
                      <a:rPr lang="en-US" altLang="zh-TW" sz="2000">
                        <a:latin typeface="Cambria Math"/>
                      </a:rPr>
                      <m:t> </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r>
                      <a:rPr lang="en-US" altLang="zh-TW" sz="2000">
                        <a:latin typeface="Cambria Math"/>
                      </a:rPr>
                      <m:t>≤</m:t>
                    </m:r>
                    <m:r>
                      <a:rPr lang="en-US" altLang="zh-TW" sz="2000">
                        <a:latin typeface="Cambria Math"/>
                      </a:rPr>
                      <m:t>𝑗</m:t>
                    </m:r>
                  </m:oMath>
                </a14:m>
                <a:r>
                  <a:rPr lang="en-US" altLang="zh-TW" sz="2000" dirty="0"/>
                  <a:t>;</a:t>
                </a:r>
              </a:p>
              <a:p>
                <a:pPr>
                  <a:lnSpc>
                    <a:spcPct val="150000"/>
                  </a:lnSpc>
                </a:pPr>
                <a14:m>
                  <m:oMath xmlns:m="http://schemas.openxmlformats.org/officeDocument/2006/math">
                    <m:r>
                      <m:rPr>
                        <m:sty m:val="p"/>
                      </m:rPr>
                      <a:rPr lang="en-US" altLang="zh-TW" sz="2000" b="0" i="0" smtClean="0">
                        <a:latin typeface="Cambria Math"/>
                      </a:rPr>
                      <m:t>if</m:t>
                    </m:r>
                    <m:r>
                      <a:rPr lang="en-US" altLang="zh-TW" sz="2000" b="0" i="0" smtClean="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r>
                          <a:rPr lang="en-US" altLang="zh-TW" sz="2000">
                            <a:latin typeface="Cambria Math"/>
                          </a:rPr>
                          <m:t>𝑗</m:t>
                        </m:r>
                      </m:e>
                    </m:d>
                    <m:r>
                      <a:rPr lang="en-US" altLang="zh-TW" sz="2000" b="0" i="0" smtClean="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−1</m:t>
                        </m:r>
                        <m:r>
                          <a:rPr lang="en-US" altLang="zh-TW" sz="2000" b="0" i="1" smtClean="0">
                            <a:latin typeface="Cambria Math"/>
                          </a:rPr>
                          <m:t>,</m:t>
                        </m:r>
                        <m:r>
                          <a:rPr lang="en-US" altLang="zh-TW" sz="2000" b="0" i="1" smtClean="0">
                            <a:latin typeface="Cambria Math"/>
                          </a:rPr>
                          <m:t>𝑗</m:t>
                        </m:r>
                      </m:e>
                    </m:d>
                    <m:r>
                      <a:rPr lang="en-US" altLang="zh-TW" sz="2000">
                        <a:latin typeface="Cambria Math"/>
                      </a:rPr>
                      <m:t>, </m:t>
                    </m:r>
                    <m:r>
                      <a:rPr lang="en-US" altLang="zh-TW" sz="2000">
                        <a:latin typeface="Cambria Math"/>
                      </a:rPr>
                      <m:t>𝑡h𝑒𝑛</m:t>
                    </m:r>
                    <m:r>
                      <a:rPr lang="en-US" altLang="zh-TW" sz="200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e>
                    </m:d>
                    <m:r>
                      <a:rPr lang="en-US" altLang="zh-TW" sz="2000" b="0" i="0" smtClean="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−1,</m:t>
                        </m:r>
                        <m:r>
                          <a:rPr lang="en-US" altLang="zh-TW" sz="2000">
                            <a:latin typeface="Cambria Math"/>
                          </a:rPr>
                          <m:t>𝑗</m:t>
                        </m:r>
                      </m:e>
                    </m:d>
                    <m:r>
                      <a:rPr lang="en-US" altLang="zh-TW" sz="2000">
                        <a:latin typeface="Cambria Math"/>
                      </a:rPr>
                      <m:t>𝑓𝑜𝑟</m:t>
                    </m:r>
                    <m:r>
                      <a:rPr lang="en-US" altLang="zh-TW" sz="2000">
                        <a:latin typeface="Cambria Math"/>
                      </a:rPr>
                      <m:t> </m:t>
                    </m:r>
                    <m:r>
                      <a:rPr lang="en-US" altLang="zh-TW" sz="2000">
                        <a:latin typeface="Cambria Math"/>
                      </a:rPr>
                      <m:t>𝑎𝑙𝑙</m:t>
                    </m:r>
                    <m:r>
                      <a:rPr lang="en-US" altLang="zh-TW" sz="2000">
                        <a:latin typeface="Cambria Math"/>
                      </a:rPr>
                      <m:t> </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r>
                      <a:rPr lang="en-US" altLang="zh-TW" sz="2000" i="1" smtClean="0">
                        <a:latin typeface="Cambria Math"/>
                        <a:ea typeface="Cambria Math"/>
                      </a:rPr>
                      <m:t>≥</m:t>
                    </m:r>
                    <m:r>
                      <a:rPr lang="en-US" altLang="zh-TW" sz="2000">
                        <a:latin typeface="Cambria Math"/>
                      </a:rPr>
                      <m:t>𝑗</m:t>
                    </m:r>
                  </m:oMath>
                </a14:m>
                <a:r>
                  <a:rPr lang="en-US" altLang="zh-TW" sz="2000" dirty="0"/>
                  <a:t>;</a:t>
                </a:r>
              </a:p>
              <a:p>
                <a:pPr>
                  <a:lnSpc>
                    <a:spcPct val="150000"/>
                  </a:lnSpc>
                </a:pPr>
                <a14:m>
                  <m:oMath xmlns:m="http://schemas.openxmlformats.org/officeDocument/2006/math">
                    <m:r>
                      <m:rPr>
                        <m:sty m:val="p"/>
                      </m:rPr>
                      <a:rPr lang="en-US" altLang="zh-TW" sz="2000" b="0" i="0" smtClean="0">
                        <a:latin typeface="Cambria Math"/>
                      </a:rPr>
                      <m:t>if</m:t>
                    </m:r>
                    <m:r>
                      <a:rPr lang="en-US" altLang="zh-TW" sz="2000" b="0" i="0" smtClean="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r>
                          <a:rPr lang="en-US" altLang="zh-TW" sz="2000">
                            <a:latin typeface="Cambria Math"/>
                          </a:rPr>
                          <m:t>𝑗</m:t>
                        </m:r>
                      </m:e>
                    </m:d>
                    <m:r>
                      <a:rPr lang="en-US" altLang="zh-TW" sz="200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b="0" i="1" smtClean="0">
                            <a:latin typeface="Cambria Math"/>
                          </a:rPr>
                          <m:t>,</m:t>
                        </m:r>
                        <m:r>
                          <a:rPr lang="en-US" altLang="zh-TW" sz="2000" b="0" i="1" smtClean="0">
                            <a:latin typeface="Cambria Math"/>
                          </a:rPr>
                          <m:t>𝑗</m:t>
                        </m:r>
                        <m:r>
                          <a:rPr lang="en-US" altLang="zh-TW" sz="2000" b="0" i="1" smtClean="0">
                            <a:latin typeface="Cambria Math"/>
                          </a:rPr>
                          <m:t>+1</m:t>
                        </m:r>
                      </m:e>
                    </m:d>
                    <m:r>
                      <a:rPr lang="en-US" altLang="zh-TW" sz="2000">
                        <a:latin typeface="Cambria Math"/>
                      </a:rPr>
                      <m:t>, </m:t>
                    </m:r>
                    <m:r>
                      <a:rPr lang="en-US" altLang="zh-TW" sz="2000">
                        <a:latin typeface="Cambria Math"/>
                      </a:rPr>
                      <m:t>𝑡h𝑒𝑛</m:t>
                    </m:r>
                    <m:r>
                      <a:rPr lang="en-US" altLang="zh-TW" sz="200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e>
                    </m:d>
                    <m:r>
                      <a:rPr lang="en-US" altLang="zh-TW" sz="200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−1,</m:t>
                        </m:r>
                        <m:r>
                          <a:rPr lang="en-US" altLang="zh-TW" sz="2000">
                            <a:latin typeface="Cambria Math"/>
                          </a:rPr>
                          <m:t>𝑗</m:t>
                        </m:r>
                      </m:e>
                    </m:d>
                    <m:r>
                      <a:rPr lang="en-US" altLang="zh-TW" sz="2000">
                        <a:latin typeface="Cambria Math"/>
                      </a:rPr>
                      <m:t>𝑓𝑜𝑟</m:t>
                    </m:r>
                    <m:r>
                      <a:rPr lang="en-US" altLang="zh-TW" sz="2000">
                        <a:latin typeface="Cambria Math"/>
                      </a:rPr>
                      <m:t> </m:t>
                    </m:r>
                    <m:r>
                      <a:rPr lang="en-US" altLang="zh-TW" sz="2000">
                        <a:latin typeface="Cambria Math"/>
                      </a:rPr>
                      <m:t>𝑎𝑙𝑙</m:t>
                    </m:r>
                    <m:r>
                      <a:rPr lang="en-US" altLang="zh-TW" sz="2000">
                        <a:latin typeface="Cambria Math"/>
                      </a:rPr>
                      <m:t> </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r>
                      <a:rPr lang="en-US" altLang="zh-TW" sz="2000">
                        <a:latin typeface="Cambria Math"/>
                      </a:rPr>
                      <m:t>≤</m:t>
                    </m:r>
                    <m:r>
                      <a:rPr lang="en-US" altLang="zh-TW" sz="2000">
                        <a:latin typeface="Cambria Math"/>
                      </a:rPr>
                      <m:t>𝑗</m:t>
                    </m:r>
                  </m:oMath>
                </a14:m>
                <a:r>
                  <a:rPr lang="en-US" altLang="zh-TW" sz="2000" dirty="0"/>
                  <a:t>;</a:t>
                </a:r>
              </a:p>
              <a:p>
                <a:pPr>
                  <a:lnSpc>
                    <a:spcPct val="150000"/>
                  </a:lnSpc>
                </a:pPr>
                <a14:m>
                  <m:oMath xmlns:m="http://schemas.openxmlformats.org/officeDocument/2006/math">
                    <m:r>
                      <m:rPr>
                        <m:sty m:val="p"/>
                      </m:rPr>
                      <a:rPr lang="en-US" altLang="zh-TW" sz="2000" b="0" i="0" smtClean="0">
                        <a:latin typeface="Cambria Math"/>
                      </a:rPr>
                      <m:t>if</m:t>
                    </m:r>
                    <m:r>
                      <a:rPr lang="en-US" altLang="zh-TW" sz="2000" b="0" i="0" smtClean="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r>
                          <a:rPr lang="en-US" altLang="zh-TW" sz="2000">
                            <a:latin typeface="Cambria Math"/>
                          </a:rPr>
                          <m:t>𝑗</m:t>
                        </m:r>
                      </m:e>
                    </m:d>
                    <m:r>
                      <a:rPr lang="en-US" altLang="zh-TW" sz="2000" b="0" i="0" smtClean="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b="0" i="1" smtClean="0">
                            <a:latin typeface="Cambria Math"/>
                          </a:rPr>
                          <m:t>,</m:t>
                        </m:r>
                        <m:r>
                          <a:rPr lang="en-US" altLang="zh-TW" sz="2000" b="0" i="1" smtClean="0">
                            <a:latin typeface="Cambria Math"/>
                          </a:rPr>
                          <m:t>𝑗</m:t>
                        </m:r>
                        <m:r>
                          <a:rPr lang="en-US" altLang="zh-TW" sz="2000" b="0" i="1" smtClean="0">
                            <a:latin typeface="Cambria Math"/>
                          </a:rPr>
                          <m:t>+1</m:t>
                        </m:r>
                      </m:e>
                    </m:d>
                    <m:r>
                      <a:rPr lang="en-US" altLang="zh-TW" sz="2000">
                        <a:latin typeface="Cambria Math"/>
                      </a:rPr>
                      <m:t>, </m:t>
                    </m:r>
                    <m:r>
                      <a:rPr lang="en-US" altLang="zh-TW" sz="2000">
                        <a:latin typeface="Cambria Math"/>
                      </a:rPr>
                      <m:t>𝑡h𝑒𝑛</m:t>
                    </m:r>
                    <m:r>
                      <a:rPr lang="en-US" altLang="zh-TW" sz="2000">
                        <a:latin typeface="Cambria Math"/>
                      </a:rPr>
                      <m:t> </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e>
                    </m:d>
                    <m:r>
                      <a:rPr lang="en-US" altLang="zh-TW" sz="2000" b="0" i="0" smtClean="0">
                        <a:latin typeface="Cambria Math"/>
                      </a:rPr>
                      <m:t>=</m:t>
                    </m:r>
                    <m:r>
                      <a:rPr lang="en-US" altLang="zh-TW" sz="2000">
                        <a:latin typeface="Cambria Math"/>
                      </a:rPr>
                      <m:t>𝐴</m:t>
                    </m:r>
                    <m:d>
                      <m:dPr>
                        <m:ctrlPr>
                          <a:rPr lang="en-US" altLang="zh-TW" sz="2000" i="1">
                            <a:latin typeface="Cambria Math"/>
                          </a:rPr>
                        </m:ctrlPr>
                      </m:dPr>
                      <m:e>
                        <m:r>
                          <a:rPr lang="en-US" altLang="zh-TW" sz="2000">
                            <a:latin typeface="Cambria Math"/>
                          </a:rPr>
                          <m:t>𝑖</m:t>
                        </m:r>
                        <m:r>
                          <a:rPr lang="en-US" altLang="zh-TW" sz="2000">
                            <a:latin typeface="Cambria Math"/>
                          </a:rPr>
                          <m:t>−1,</m:t>
                        </m:r>
                        <m:r>
                          <a:rPr lang="en-US" altLang="zh-TW" sz="2000">
                            <a:latin typeface="Cambria Math"/>
                          </a:rPr>
                          <m:t>𝑗</m:t>
                        </m:r>
                      </m:e>
                    </m:d>
                    <m:r>
                      <a:rPr lang="en-US" altLang="zh-TW" sz="2000">
                        <a:latin typeface="Cambria Math"/>
                      </a:rPr>
                      <m:t>𝑓𝑜𝑟</m:t>
                    </m:r>
                    <m:r>
                      <a:rPr lang="en-US" altLang="zh-TW" sz="2000">
                        <a:latin typeface="Cambria Math"/>
                      </a:rPr>
                      <m:t> </m:t>
                    </m:r>
                    <m:r>
                      <a:rPr lang="en-US" altLang="zh-TW" sz="2000">
                        <a:latin typeface="Cambria Math"/>
                      </a:rPr>
                      <m:t>𝑎𝑙𝑙</m:t>
                    </m:r>
                    <m:r>
                      <a:rPr lang="en-US" altLang="zh-TW" sz="2000">
                        <a:latin typeface="Cambria Math"/>
                      </a:rPr>
                      <m:t> </m:t>
                    </m:r>
                    <m:sSup>
                      <m:sSupPr>
                        <m:ctrlPr>
                          <a:rPr lang="en-US" altLang="zh-TW" sz="2000" i="1">
                            <a:latin typeface="Cambria Math"/>
                          </a:rPr>
                        </m:ctrlPr>
                      </m:sSupPr>
                      <m:e>
                        <m:r>
                          <a:rPr lang="en-US" altLang="zh-TW" sz="2000">
                            <a:latin typeface="Cambria Math"/>
                          </a:rPr>
                          <m:t>𝑗</m:t>
                        </m:r>
                      </m:e>
                      <m:sup>
                        <m:r>
                          <a:rPr lang="en-US" altLang="zh-TW" sz="2000">
                            <a:latin typeface="Cambria Math"/>
                          </a:rPr>
                          <m:t>′</m:t>
                        </m:r>
                      </m:sup>
                    </m:sSup>
                    <m:r>
                      <a:rPr lang="en-US" altLang="zh-TW" sz="2000" i="1" smtClean="0">
                        <a:latin typeface="Cambria Math"/>
                        <a:ea typeface="Cambria Math"/>
                      </a:rPr>
                      <m:t>≥</m:t>
                    </m:r>
                    <m:r>
                      <a:rPr lang="en-US" altLang="zh-TW" sz="2000">
                        <a:latin typeface="Cambria Math"/>
                      </a:rPr>
                      <m:t>𝑗</m:t>
                    </m:r>
                    <m:r>
                      <a:rPr lang="en-US" altLang="zh-TW" sz="2000" b="0" i="0" smtClean="0">
                        <a:latin typeface="Cambria Math"/>
                      </a:rPr>
                      <m:t>.</m:t>
                    </m:r>
                  </m:oMath>
                </a14:m>
                <a:endParaRPr lang="en-US" altLang="zh-TW" sz="20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5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86928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endParaRPr lang="zh-TW" altLang="en-US"/>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lnSpc>
                    <a:spcPct val="150000"/>
                  </a:lnSpc>
                  <a:buNone/>
                </a:pPr>
                <a:r>
                  <a:rPr lang="en-US" altLang="zh-TW" sz="2000" b="1" dirty="0" smtClean="0"/>
                  <a:t>Definition 4</a:t>
                </a:r>
                <a:r>
                  <a:rPr lang="en-US" altLang="zh-TW" sz="2000" dirty="0" smtClean="0"/>
                  <a:t>. An odd half-integer point </a:t>
                </a:r>
                <a14:m>
                  <m:oMath xmlns:m="http://schemas.openxmlformats.org/officeDocument/2006/math">
                    <m:d>
                      <m:dPr>
                        <m:ctrlPr>
                          <a:rPr lang="en-US" altLang="zh-TW" sz="2000" smtClean="0"/>
                        </m:ctrlPr>
                      </m:dPr>
                      <m:e>
                        <m:r>
                          <a:rPr lang="en-US" altLang="zh-TW" sz="2000" smtClean="0"/>
                          <m:t>𝑖</m:t>
                        </m:r>
                        <m:r>
                          <a:rPr lang="en-US" altLang="zh-TW" sz="2000" smtClean="0"/>
                          <m:t>,</m:t>
                        </m:r>
                        <m:r>
                          <a:rPr lang="en-US" altLang="zh-TW" sz="2000" smtClean="0"/>
                          <m:t>𝑗</m:t>
                        </m:r>
                      </m:e>
                    </m:d>
                    <m:r>
                      <a:rPr lang="en-US" altLang="zh-TW" sz="2000" smtClean="0"/>
                      <m:t> ∈ </m:t>
                    </m:r>
                    <m:acc>
                      <m:accPr>
                        <m:chr m:val="̂"/>
                        <m:ctrlPr>
                          <a:rPr lang="en-US" altLang="zh-TW" sz="2000" smtClean="0"/>
                        </m:ctrlPr>
                      </m:accPr>
                      <m:e>
                        <m:r>
                          <a:rPr lang="en-US" altLang="zh-TW" sz="2000" smtClean="0"/>
                          <m:t>𝑍</m:t>
                        </m:r>
                      </m:e>
                    </m:acc>
                  </m:oMath>
                </a14:m>
                <a:r>
                  <a:rPr lang="en-US" altLang="zh-TW" sz="2000" dirty="0" smtClean="0"/>
                  <a:t> is called A-critical, if</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2000" i="1">
                          <a:latin typeface="Cambria Math"/>
                        </a:rPr>
                        <m:t>𝐴</m:t>
                      </m:r>
                      <m:d>
                        <m:dPr>
                          <m:ctrlPr>
                            <a:rPr lang="en-US" altLang="zh-TW" sz="2000" i="1">
                              <a:latin typeface="Cambria Math"/>
                            </a:rPr>
                          </m:ctrlPr>
                        </m:dPr>
                        <m:e>
                          <m:r>
                            <a:rPr lang="en-US" altLang="zh-TW" sz="2000" i="1">
                              <a:latin typeface="Cambria Math"/>
                            </a:rPr>
                            <m:t>𝑖</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r>
                            <a:rPr lang="en-US" altLang="zh-TW" sz="2000" i="1">
                              <a:latin typeface="Cambria Math"/>
                            </a:rPr>
                            <m:t>,</m:t>
                          </m:r>
                          <m:r>
                            <a:rPr lang="en-US" altLang="zh-TW" sz="2000" i="1">
                              <a:latin typeface="Cambria Math"/>
                            </a:rPr>
                            <m:t>𝑗</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e>
                      </m:d>
                      <m:r>
                        <a:rPr lang="en-US" altLang="zh-TW" sz="2000" i="1" smtClean="0">
                          <a:latin typeface="Cambria Math"/>
                          <a:ea typeface="Cambria Math"/>
                        </a:rPr>
                        <m:t>⊲</m:t>
                      </m:r>
                      <m:r>
                        <a:rPr lang="en-US" altLang="zh-TW" sz="2000" i="1">
                          <a:latin typeface="Cambria Math"/>
                        </a:rPr>
                        <m:t>𝐴</m:t>
                      </m:r>
                      <m:d>
                        <m:dPr>
                          <m:ctrlPr>
                            <a:rPr lang="en-US" altLang="zh-TW" sz="2000" i="1">
                              <a:latin typeface="Cambria Math"/>
                            </a:rPr>
                          </m:ctrlPr>
                        </m:dPr>
                        <m:e>
                          <m:r>
                            <a:rPr lang="en-US" altLang="zh-TW" sz="2000" i="1">
                              <a:latin typeface="Cambria Math"/>
                            </a:rPr>
                            <m:t>𝑖</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r>
                            <a:rPr lang="en-US" altLang="zh-TW" sz="2000" i="1">
                              <a:latin typeface="Cambria Math"/>
                            </a:rPr>
                            <m:t>,</m:t>
                          </m:r>
                          <m:r>
                            <a:rPr lang="en-US" altLang="zh-TW" sz="2000" i="1">
                              <a:latin typeface="Cambria Math"/>
                            </a:rPr>
                            <m:t>𝑗</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e>
                      </m:d>
                      <m:r>
                        <a:rPr lang="en-US" altLang="zh-TW" sz="2000" b="0" i="1" smtClean="0">
                          <a:latin typeface="Cambria Math"/>
                        </a:rPr>
                        <m:t>=</m:t>
                      </m:r>
                      <m:r>
                        <a:rPr lang="en-US" altLang="zh-TW" sz="2000" i="1">
                          <a:latin typeface="Cambria Math"/>
                        </a:rPr>
                        <m:t>𝐴</m:t>
                      </m:r>
                      <m:d>
                        <m:dPr>
                          <m:ctrlPr>
                            <a:rPr lang="en-US" altLang="zh-TW" sz="2000" i="1">
                              <a:latin typeface="Cambria Math"/>
                            </a:rPr>
                          </m:ctrlPr>
                        </m:dPr>
                        <m:e>
                          <m:r>
                            <a:rPr lang="en-US" altLang="zh-TW" sz="2000" i="1">
                              <a:latin typeface="Cambria Math"/>
                            </a:rPr>
                            <m:t>𝑖</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r>
                            <a:rPr lang="en-US" altLang="zh-TW" sz="2000" i="1">
                              <a:latin typeface="Cambria Math"/>
                            </a:rPr>
                            <m:t>,</m:t>
                          </m:r>
                          <m:r>
                            <a:rPr lang="en-US" altLang="zh-TW" sz="2000" i="1">
                              <a:latin typeface="Cambria Math"/>
                            </a:rPr>
                            <m:t>𝑗</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e>
                      </m:d>
                      <m:r>
                        <a:rPr lang="en-US" altLang="zh-TW" sz="2000" b="0" i="1" smtClean="0">
                          <a:latin typeface="Cambria Math"/>
                        </a:rPr>
                        <m:t>=</m:t>
                      </m:r>
                      <m:r>
                        <a:rPr lang="en-US" altLang="zh-TW" sz="2000" i="1">
                          <a:latin typeface="Cambria Math"/>
                        </a:rPr>
                        <m:t>𝐴</m:t>
                      </m:r>
                      <m:r>
                        <a:rPr lang="en-US" altLang="zh-TW" sz="2000" i="1">
                          <a:latin typeface="Cambria Math"/>
                        </a:rPr>
                        <m:t>(</m:t>
                      </m:r>
                      <m:r>
                        <a:rPr lang="en-US" altLang="zh-TW" sz="2000" i="1">
                          <a:latin typeface="Cambria Math"/>
                        </a:rPr>
                        <m:t>𝑖</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r>
                        <a:rPr lang="en-US" altLang="zh-TW" sz="2000" i="1">
                          <a:latin typeface="Cambria Math"/>
                        </a:rPr>
                        <m:t>,</m:t>
                      </m:r>
                      <m:r>
                        <a:rPr lang="en-US" altLang="zh-TW" sz="2000" i="1">
                          <a:latin typeface="Cambria Math"/>
                        </a:rPr>
                        <m:t>𝑗</m:t>
                      </m:r>
                      <m:r>
                        <a:rPr lang="en-US" altLang="zh-TW" sz="2000" i="1">
                          <a:latin typeface="Cambria Math"/>
                        </a:rPr>
                        <m:t>−</m:t>
                      </m:r>
                      <m:f>
                        <m:fPr>
                          <m:ctrlPr>
                            <a:rPr lang="en-US" altLang="zh-TW" sz="2000" i="1">
                              <a:latin typeface="Cambria Math"/>
                            </a:rPr>
                          </m:ctrlPr>
                        </m:fPr>
                        <m:num>
                          <m:r>
                            <a:rPr lang="en-US" altLang="zh-TW" sz="2000" i="1">
                              <a:latin typeface="Cambria Math"/>
                            </a:rPr>
                            <m:t>1</m:t>
                          </m:r>
                        </m:num>
                        <m:den>
                          <m:r>
                            <a:rPr lang="en-US" altLang="zh-TW" sz="2000" i="1">
                              <a:latin typeface="Cambria Math"/>
                            </a:rPr>
                            <m:t>2</m:t>
                          </m:r>
                        </m:den>
                      </m:f>
                      <m:r>
                        <a:rPr lang="en-US" altLang="zh-TW" sz="2000" i="1">
                          <a:latin typeface="Cambria Math"/>
                        </a:rPr>
                        <m:t>)</m:t>
                      </m:r>
                    </m:oMath>
                  </m:oMathPara>
                </a14:m>
                <a:endParaRPr lang="en-US" altLang="zh-TW" sz="2000" dirty="0" smtClean="0"/>
              </a:p>
              <a:p>
                <a:pPr marL="0" indent="0">
                  <a:lnSpc>
                    <a:spcPct val="150000"/>
                  </a:lnSpc>
                  <a:buNone/>
                </a:pPr>
                <a:endParaRPr lang="en-US" altLang="zh-TW" sz="2000" dirty="0"/>
              </a:p>
              <a:p>
                <a:pPr marL="0" indent="0">
                  <a:lnSpc>
                    <a:spcPct val="150000"/>
                  </a:lnSpc>
                  <a:buNone/>
                </a:pPr>
                <a:r>
                  <a:rPr lang="en-US" altLang="zh-TW" sz="2000" b="1" dirty="0"/>
                  <a:t>Corollary 3.</a:t>
                </a:r>
                <a:r>
                  <a:rPr lang="en-US" altLang="zh-TW" sz="2000" dirty="0"/>
                  <a:t> There are exactly m + n non-trivial A-critical points</a:t>
                </a:r>
                <a:r>
                  <a:rPr lang="en-US" altLang="zh-TW" sz="2000" dirty="0" smtClean="0"/>
                  <a:t>.</a:t>
                </a:r>
              </a:p>
              <a:p>
                <a:pPr marL="0" indent="0">
                  <a:lnSpc>
                    <a:spcPct val="150000"/>
                  </a:lnSpc>
                  <a:buNone/>
                </a:pPr>
                <a:endParaRPr lang="en-US" altLang="zh-TW" sz="2000" dirty="0" smtClean="0"/>
              </a:p>
              <a:p>
                <a:pPr>
                  <a:lnSpc>
                    <a:spcPct val="150000"/>
                  </a:lnSpc>
                </a:pPr>
                <a:r>
                  <a:rPr lang="en-US" altLang="zh-TW" sz="2000" dirty="0" smtClean="0"/>
                  <a:t>--&gt; We can use a set of critical points to present the A matrix.</a:t>
                </a:r>
                <a:endParaRPr lang="zh-TW" altLang="en-US" sz="20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7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33672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All semi-local LCS</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lnSpc>
                    <a:spcPct val="150000"/>
                  </a:lnSpc>
                  <a:buNone/>
                </a:pPr>
                <a:r>
                  <a:rPr lang="en-US" altLang="zh-TW" sz="2000" b="1" dirty="0" smtClean="0"/>
                  <a:t>Lemma 1.</a:t>
                </a:r>
                <a:r>
                  <a:rPr lang="en-US" altLang="zh-TW" sz="2000" dirty="0" smtClean="0"/>
                  <a:t> Given sub-problems with extended score matrices A, B, C as described above, the sets of A- and B-critical points can be merged into the set of C-critical points in time </a:t>
                </a:r>
                <a14:m>
                  <m:oMath xmlns:m="http://schemas.openxmlformats.org/officeDocument/2006/math">
                    <m:r>
                      <a:rPr lang="en-US" altLang="zh-TW" sz="2000" b="0" i="1" smtClean="0">
                        <a:latin typeface="Cambria Math"/>
                      </a:rPr>
                      <m:t>𝑂</m:t>
                    </m:r>
                    <m:r>
                      <a:rPr lang="en-US" altLang="zh-TW" sz="2000" b="0" i="1" smtClean="0">
                        <a:latin typeface="Cambria Math"/>
                      </a:rPr>
                      <m:t>(</m:t>
                    </m:r>
                    <m:r>
                      <a:rPr lang="en-US" altLang="zh-TW" sz="2000" b="0" i="1" smtClean="0">
                        <a:latin typeface="Cambria Math"/>
                      </a:rPr>
                      <m:t>𝑚</m:t>
                    </m:r>
                    <m:r>
                      <a:rPr lang="en-US" altLang="zh-TW" sz="2000" b="0" i="1" smtClean="0">
                        <a:latin typeface="Cambria Math"/>
                      </a:rPr>
                      <m:t>+</m:t>
                    </m:r>
                    <m:sSup>
                      <m:sSupPr>
                        <m:ctrlPr>
                          <a:rPr lang="en-US" altLang="zh-TW" sz="2000" b="0" i="1" smtClean="0">
                            <a:latin typeface="Cambria Math"/>
                          </a:rPr>
                        </m:ctrlPr>
                      </m:sSupPr>
                      <m:e>
                        <m:r>
                          <a:rPr lang="en-US" altLang="zh-TW" sz="2000" b="0" i="1" smtClean="0">
                            <a:latin typeface="Cambria Math"/>
                          </a:rPr>
                          <m:t>𝑛</m:t>
                        </m:r>
                      </m:e>
                      <m:sup>
                        <m:r>
                          <a:rPr lang="en-US" altLang="zh-TW" sz="2000" b="0" i="1" smtClean="0">
                            <a:latin typeface="Cambria Math"/>
                          </a:rPr>
                          <m:t>1.5</m:t>
                        </m:r>
                      </m:sup>
                    </m:sSup>
                    <m:r>
                      <a:rPr lang="en-US" altLang="zh-TW" sz="2000" b="0" i="1" smtClean="0">
                        <a:latin typeface="Cambria Math"/>
                      </a:rPr>
                      <m:t>)</m:t>
                    </m:r>
                  </m:oMath>
                </a14:m>
                <a:r>
                  <a:rPr lang="en-US" altLang="zh-TW" sz="2000" dirty="0" smtClean="0"/>
                  <a:t> and memory </a:t>
                </a:r>
                <a14:m>
                  <m:oMath xmlns:m="http://schemas.openxmlformats.org/officeDocument/2006/math">
                    <m:r>
                      <a:rPr lang="en-US" altLang="zh-TW" sz="2000" b="0" i="1" smtClean="0">
                        <a:latin typeface="Cambria Math"/>
                      </a:rPr>
                      <m:t>𝑂</m:t>
                    </m:r>
                    <m:r>
                      <a:rPr lang="en-US" altLang="zh-TW" sz="2000" b="0" i="1" smtClean="0">
                        <a:latin typeface="Cambria Math"/>
                      </a:rPr>
                      <m:t>(</m:t>
                    </m:r>
                    <m:r>
                      <a:rPr lang="en-US" altLang="zh-TW" sz="2000" b="0" i="1" smtClean="0">
                        <a:latin typeface="Cambria Math"/>
                      </a:rPr>
                      <m:t>𝑚</m:t>
                    </m:r>
                    <m:r>
                      <a:rPr lang="en-US" altLang="zh-TW" sz="2000" b="0" i="1" smtClean="0">
                        <a:latin typeface="Cambria Math"/>
                      </a:rPr>
                      <m:t>+</m:t>
                    </m:r>
                    <m:r>
                      <a:rPr lang="en-US" altLang="zh-TW" sz="2000" b="0" i="1" smtClean="0">
                        <a:latin typeface="Cambria Math"/>
                      </a:rPr>
                      <m:t>𝑛</m:t>
                    </m:r>
                    <m:r>
                      <a:rPr lang="en-US" altLang="zh-TW" sz="2000" b="0" i="1" smtClean="0">
                        <a:latin typeface="Cambria Math"/>
                      </a:rPr>
                      <m:t>)</m:t>
                    </m:r>
                  </m:oMath>
                </a14:m>
                <a:r>
                  <a:rPr lang="en-US" altLang="zh-TW" sz="2000" dirty="0" smtClean="0"/>
                  <a:t>.</a:t>
                </a:r>
              </a:p>
              <a:p>
                <a:pPr marL="0" indent="0">
                  <a:lnSpc>
                    <a:spcPct val="150000"/>
                  </a:lnSpc>
                  <a:buNone/>
                </a:pPr>
                <a:endParaRPr lang="en-US" altLang="zh-TW" sz="2000" dirty="0" smtClean="0"/>
              </a:p>
              <a:p>
                <a:pPr>
                  <a:lnSpc>
                    <a:spcPct val="150000"/>
                  </a:lnSpc>
                </a:pPr>
                <a:r>
                  <a:rPr lang="en-US" altLang="zh-TW" sz="2000" dirty="0" err="1" smtClean="0"/>
                  <a:t>Devide</a:t>
                </a:r>
                <a:r>
                  <a:rPr lang="en-US" altLang="zh-TW" sz="2000" dirty="0" smtClean="0"/>
                  <a:t> and conquer</a:t>
                </a:r>
              </a:p>
              <a:p>
                <a:pPr>
                  <a:lnSpc>
                    <a:spcPct val="150000"/>
                  </a:lnSpc>
                </a:pPr>
                <a:r>
                  <a:rPr lang="en-US" altLang="zh-TW" sz="2000" dirty="0" smtClean="0"/>
                  <a:t>Time complexity: </a:t>
                </a:r>
                <a14:m>
                  <m:oMath xmlns:m="http://schemas.openxmlformats.org/officeDocument/2006/math">
                    <m:r>
                      <a:rPr lang="en-US" altLang="zh-TW" sz="2000" b="0" i="1" smtClean="0">
                        <a:latin typeface="Cambria Math"/>
                      </a:rPr>
                      <m:t>𝑂</m:t>
                    </m:r>
                    <m:r>
                      <a:rPr lang="en-US" altLang="zh-TW" sz="2000" b="0" i="1" smtClean="0">
                        <a:latin typeface="Cambria Math"/>
                      </a:rPr>
                      <m:t>(</m:t>
                    </m:r>
                    <m:f>
                      <m:fPr>
                        <m:ctrlPr>
                          <a:rPr lang="en-US" altLang="zh-TW" sz="2000" b="0" i="1" smtClean="0">
                            <a:latin typeface="Cambria Math"/>
                          </a:rPr>
                        </m:ctrlPr>
                      </m:fPr>
                      <m:num>
                        <m:r>
                          <a:rPr lang="en-US" altLang="zh-TW" sz="2000" b="0" i="1" smtClean="0">
                            <a:latin typeface="Cambria Math"/>
                          </a:rPr>
                          <m:t>𝑚𝑛</m:t>
                        </m:r>
                      </m:num>
                      <m:den>
                        <m:sSup>
                          <m:sSupPr>
                            <m:ctrlPr>
                              <a:rPr lang="en-US" altLang="zh-TW" sz="2000" b="0" i="1" smtClean="0">
                                <a:latin typeface="Cambria Math"/>
                              </a:rPr>
                            </m:ctrlPr>
                          </m:sSupPr>
                          <m:e>
                            <m:r>
                              <a:rPr lang="en-US" altLang="zh-TW" sz="2000" b="0" i="1" smtClean="0">
                                <a:latin typeface="Cambria Math"/>
                              </a:rPr>
                              <m:t>𝑙𝑜𝑔</m:t>
                            </m:r>
                          </m:e>
                          <m:sup>
                            <m:f>
                              <m:fPr>
                                <m:ctrlPr>
                                  <a:rPr lang="en-US" altLang="zh-TW" sz="2000" b="0" i="1" smtClean="0">
                                    <a:latin typeface="Cambria Math"/>
                                  </a:rPr>
                                </m:ctrlPr>
                              </m:fPr>
                              <m:num>
                                <m:r>
                                  <a:rPr lang="en-US" altLang="zh-TW" sz="2000" b="0" i="1" smtClean="0">
                                    <a:latin typeface="Cambria Math"/>
                                  </a:rPr>
                                  <m:t>1</m:t>
                                </m:r>
                              </m:num>
                              <m:den>
                                <m:r>
                                  <a:rPr lang="en-US" altLang="zh-TW" sz="2000" b="0" i="1" smtClean="0">
                                    <a:latin typeface="Cambria Math"/>
                                  </a:rPr>
                                  <m:t>2</m:t>
                                </m:r>
                              </m:den>
                            </m:f>
                          </m:sup>
                        </m:sSup>
                        <m:r>
                          <a:rPr lang="en-US" altLang="zh-TW" sz="2000" b="0" i="1" smtClean="0">
                            <a:latin typeface="Cambria Math"/>
                          </a:rPr>
                          <m:t>(</m:t>
                        </m:r>
                        <m:r>
                          <a:rPr lang="en-US" altLang="zh-TW" sz="2000" b="0" i="1" smtClean="0">
                            <a:latin typeface="Cambria Math"/>
                          </a:rPr>
                          <m:t>𝑚</m:t>
                        </m:r>
                        <m:r>
                          <a:rPr lang="en-US" altLang="zh-TW" sz="2000" b="0" i="1" smtClean="0">
                            <a:latin typeface="Cambria Math"/>
                          </a:rPr>
                          <m:t>+</m:t>
                        </m:r>
                        <m:r>
                          <a:rPr lang="en-US" altLang="zh-TW" sz="2000" b="0" i="1" smtClean="0">
                            <a:latin typeface="Cambria Math"/>
                          </a:rPr>
                          <m:t>𝑛</m:t>
                        </m:r>
                        <m:r>
                          <a:rPr lang="en-US" altLang="zh-TW" sz="2000" b="0" i="1" smtClean="0">
                            <a:latin typeface="Cambria Math"/>
                          </a:rPr>
                          <m:t>)</m:t>
                        </m:r>
                      </m:den>
                    </m:f>
                    <m:r>
                      <a:rPr lang="en-US" altLang="zh-TW" sz="2000" b="0" i="1" smtClean="0">
                        <a:latin typeface="Cambria Math"/>
                      </a:rPr>
                      <m:t>)</m:t>
                    </m:r>
                  </m:oMath>
                </a14:m>
                <a:endParaRPr lang="zh-TW" altLang="en-US" sz="20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7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715394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427</TotalTime>
  <Words>1166</Words>
  <Application>Microsoft Office PowerPoint</Application>
  <PresentationFormat>如螢幕大小 (4:3)</PresentationFormat>
  <Paragraphs>105</Paragraphs>
  <Slides>15</Slides>
  <Notes>4</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All semi-local longest common subsequences in subquadratic time</vt:lpstr>
      <vt:lpstr>Abstract</vt:lpstr>
      <vt:lpstr>LCS (Longest Common Subsequence)</vt:lpstr>
      <vt:lpstr>Problem statement (1/2)</vt:lpstr>
      <vt:lpstr>Problem statement (2/2)</vt:lpstr>
      <vt:lpstr>dag (directed acyclic graph)</vt:lpstr>
      <vt:lpstr>A(j,j’), A*(i,i’)</vt:lpstr>
      <vt:lpstr>G^+: extension of G</vt:lpstr>
      <vt:lpstr>PowerPoint 簡報</vt:lpstr>
      <vt:lpstr>G^+: extension of G</vt:lpstr>
      <vt:lpstr>Theorem 1</vt:lpstr>
      <vt:lpstr>PowerPoint 簡報</vt:lpstr>
      <vt:lpstr>Corollary 1</vt:lpstr>
      <vt:lpstr>PowerPoint 簡報</vt:lpstr>
      <vt:lpstr>All semi-local LCS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semi-local longest common subsequences in subquadratic time</dc:title>
  <dc:creator>YiPo</dc:creator>
  <cp:lastModifiedBy>YiPo</cp:lastModifiedBy>
  <cp:revision>27</cp:revision>
  <dcterms:created xsi:type="dcterms:W3CDTF">2012-08-28T01:59:38Z</dcterms:created>
  <dcterms:modified xsi:type="dcterms:W3CDTF">2012-08-28T10:19:03Z</dcterms:modified>
</cp:coreProperties>
</file>