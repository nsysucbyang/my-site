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58" r:id="rId5"/>
    <p:sldId id="260" r:id="rId6"/>
    <p:sldId id="261" r:id="rId7"/>
    <p:sldId id="275" r:id="rId8"/>
    <p:sldId id="274" r:id="rId9"/>
    <p:sldId id="265" r:id="rId10"/>
    <p:sldId id="276" r:id="rId11"/>
    <p:sldId id="277" r:id="rId12"/>
    <p:sldId id="278" r:id="rId13"/>
    <p:sldId id="279" r:id="rId14"/>
    <p:sldId id="280" r:id="rId15"/>
    <p:sldId id="271" r:id="rId16"/>
    <p:sldId id="272" r:id="rId17"/>
    <p:sldId id="281" r:id="rId18"/>
    <p:sldId id="273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81D9"/>
    <a:srgbClr val="93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97" autoAdjust="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outlineViewPr>
    <p:cViewPr>
      <p:scale>
        <a:sx n="33" d="100"/>
        <a:sy n="33" d="100"/>
      </p:scale>
      <p:origin x="0" y="-954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033D0-5A25-41C7-969A-EF5F7C649CD4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9F1D4-CE95-410B-B0BC-C775142743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86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545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824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1929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780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1946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D6350-B6ED-41FC-9D7E-7F401D1D3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0C62AA-5FAB-4981-A45A-1A8517CA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50ED99-A302-4A55-B3DF-54415272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77494-B569-42CD-88D2-0988ED58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DF940-0364-4C9B-9D2E-F53DCBCF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64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92AC1-9699-4F08-B315-69E76AA0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B8D7B-403B-4E87-82BF-F03CE715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124561-057D-4469-9AB5-4C6597D3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CA6533-3974-4E64-AB88-349851F8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1307E2-178E-4165-A305-28B31527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83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4F4D4-9F65-4A3C-90CA-5E6012D4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05989C-B6AE-485E-B909-2AACC4420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F143C1-A721-46A9-8DA4-CBAF6D76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4BB70-EBF3-4E15-B0D9-362EC635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2C94A2-8B8A-4F73-8AB7-9086E29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9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F601E-8FD2-4C96-84ED-A1535992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58968-2AA4-47D9-8EE7-25EB5B57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8EEDE-671F-4288-8102-60AF3949E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C4633D-0EA1-483A-BCAE-A2C1194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9957CD-A76F-4E8A-A600-37A8E89B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CD5A3C-70C9-4468-805A-3216FAD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2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8B42B-89C1-47C8-B9DF-997A8833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EC08FF-5F84-4CC0-B4E9-D623E4AC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51DA6E-7A90-4DB0-9126-5CC8C4B06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7D7BB7-2FC8-4BE2-A1A4-57D098F58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4E82F7-2C0E-4490-AD80-0749C7C5B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137E754-7BA1-463B-94AE-94931351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80C5EB-E691-4156-928C-26330C6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A806DF-D52B-4FB1-971E-F10E0C2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63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3BD06-DAE3-4E3E-B6B3-64819162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A04491-282C-4221-A3EF-28A94F78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1379CA-0E38-42B7-BE99-6B584783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B7507D-DFF5-48B7-9C10-7C05EE38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72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B1D52D3-FF08-4F05-AE9A-D07E40E7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2090C79-D9CF-4D2A-85D5-EBCD12C0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EFD9B8-B153-43FE-B1B0-FDFA1939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37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17D1F5-4F45-434A-9699-03158D52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4CFA46-9726-4680-8164-F1258B007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8E2037-0EFD-4F48-A629-1F43D084A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FA2B0E-7569-4EE9-B847-3B3B3E00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A74A09-DF0D-4516-9B6E-A1BA4FA5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E58F68-574D-4991-AB67-979AE7EC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71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A608B-EB2D-43E3-806D-315F7F6C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7BB9D9-6CF8-47E2-9613-CFC9E5CFB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AE305B-85A6-42D3-BDFE-E012EAD5A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33906F-B54E-487C-A495-4EE49A68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FDA8D6-DFC2-44AD-AB91-CCEF4579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7815D7-84B9-4D45-8E5A-58AFEF38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8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63308-F782-4AC8-A223-E354635B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3B59CF-1B41-495A-93CF-6101A5CE7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B80BB1-A83C-4652-BAC8-2B3F681B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07E1EE-E900-4925-B1A8-EE7DD6AF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1F960C-8C3A-496F-B3A0-26297D92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3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B6D235-6449-4393-9C71-2079D280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2B0F98-2672-4DE5-827E-1F7351B7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3C27C8-C683-4B57-A443-2B79354B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24A34C-43DD-4DF5-84E9-8562F9B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67B5B2-0E14-4C16-8BB2-353A2AA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11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747F35C-0173-40E0-88F5-5C85ABA0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18B1AB-6AFD-4952-BDFB-11797FAB9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CFE33-872D-4C90-867C-8B41F7A90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9E770-9C80-4ED4-983E-8A15F27ADAA7}" type="datetimeFigureOut">
              <a:rPr lang="zh-TW" altLang="en-US" smtClean="0"/>
              <a:t>2020/3/17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F5102-CD48-4F14-B5B2-F49CC9C3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21C4BF-8ADC-4392-A585-48B57FAFA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8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684BF-5890-4FC5-B196-08274D50E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493" y="1604685"/>
            <a:ext cx="9829014" cy="1414833"/>
          </a:xfrm>
        </p:spPr>
        <p:txBody>
          <a:bodyPr>
            <a:normAutofit fontScale="90000"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Computation of Longest Common Subsequences with Multiple Substring Inclusive Constraints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B088C0-E697-4363-A21A-D66DFFC16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953" y="3656415"/>
            <a:ext cx="10162093" cy="1655762"/>
          </a:xfrm>
        </p:spPr>
        <p:txBody>
          <a:bodyPr>
            <a:noAutofit/>
          </a:bodyPr>
          <a:lstStyle/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XIAODONG WANG, LEI WANG, and DAXIN ZHU</a:t>
            </a:r>
          </a:p>
          <a:p>
            <a:endParaRPr lang="de-DE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COMPUTATIONAL BIOLOGY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26, Number 9, 2019. P. 938-947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EC4D25-9ABF-4EA3-BD8D-ACD84E94CF46}"/>
              </a:ext>
            </a:extLst>
          </p:cNvPr>
          <p:cNvSpPr txBox="1"/>
          <p:nvPr/>
        </p:nvSpPr>
        <p:spPr>
          <a:xfrm>
            <a:off x="8942664" y="5933983"/>
            <a:ext cx="324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Yu-Cheng Chang</a:t>
            </a:r>
          </a:p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Mar. 17, 2020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75771A-477F-4B4A-9278-972CA4C5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article, we consider a generalized longest common subsequence (LCS) problem with multiple substring inclusive constraints. For the two input sequences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lengths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set of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constraints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… ‚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of total length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problem is to find a common subsequence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each of constraint string in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substring and the length of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maximized. A new dynamic programming solution to this problem is presented in this article. The correctness of the new algorithm is proved. The time complexity of our algorithm is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In the case of the number of constraint strings is fixed, our new algorithm for the generalized LCS problem with multiple substring inclusive constraints requires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and space.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8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665651-2DB1-4726-A81C-0DE997F4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Tree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Corasick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0EFC54-BE18-44DC-93A3-2904D7E61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set P = 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aab,aba,ba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aba, 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56CC3A72-C210-44E0-B6F1-E54B84CF2580}"/>
              </a:ext>
            </a:extLst>
          </p:cNvPr>
          <p:cNvGrpSpPr/>
          <p:nvPr/>
        </p:nvGrpSpPr>
        <p:grpSpPr>
          <a:xfrm>
            <a:off x="6428636" y="3053918"/>
            <a:ext cx="4529167" cy="3140800"/>
            <a:chOff x="5979712" y="3036163"/>
            <a:chExt cx="4529167" cy="3140800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08909DF9-F17D-4869-B876-2779162CE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75709" y="3036163"/>
              <a:ext cx="4133170" cy="3140800"/>
            </a:xfrm>
            <a:prstGeom prst="rect">
              <a:avLst/>
            </a:prstGeom>
          </p:spPr>
        </p:pic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BD4917A7-F60D-4D19-B15F-414D8C746968}"/>
                </a:ext>
              </a:extLst>
            </p:cNvPr>
            <p:cNvCxnSpPr>
              <a:cxnSpLocks/>
            </p:cNvCxnSpPr>
            <p:nvPr/>
          </p:nvCxnSpPr>
          <p:spPr>
            <a:xfrm>
              <a:off x="6690033" y="3464574"/>
              <a:ext cx="1268196" cy="151579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E51F5B0-236E-466D-AB01-706A20005F98}"/>
                </a:ext>
              </a:extLst>
            </p:cNvPr>
            <p:cNvSpPr/>
            <p:nvPr/>
          </p:nvSpPr>
          <p:spPr>
            <a:xfrm>
              <a:off x="5979712" y="3071737"/>
              <a:ext cx="1507662" cy="3928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 example</a:t>
              </a:r>
              <a:endPara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B92EB96-5B43-4794-BF31-2341C4041D6D}"/>
              </a:ext>
            </a:extLst>
          </p:cNvPr>
          <p:cNvSpPr txBox="1"/>
          <p:nvPr/>
        </p:nvSpPr>
        <p:spPr>
          <a:xfrm>
            <a:off x="838200" y="3053918"/>
            <a:ext cx="53107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of N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,””}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表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proper suffix</a:t>
            </a:r>
          </a:p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且必須存在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Tree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Pre(3) = 4 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ab</a:t>
            </a: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Corasick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稱之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function.</a:t>
            </a:r>
          </a:p>
        </p:txBody>
      </p:sp>
    </p:spTree>
    <p:extLst>
      <p:ext uri="{BB962C8B-B14F-4D97-AF65-F5344CB8AC3E}">
        <p14:creationId xmlns:p14="http://schemas.microsoft.com/office/powerpoint/2010/main" val="5478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665651-2DB1-4726-A81C-0DE997F4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Tree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Corasick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0EFC54-BE18-44DC-93A3-2904D7E61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set P = 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aab,aba,ba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aba, 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8909DF9-F17D-4869-B876-2779162CE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63" y="2929632"/>
            <a:ext cx="4133170" cy="3140800"/>
          </a:xfrm>
          <a:prstGeom prst="rect">
            <a:avLst/>
          </a:prstGeom>
        </p:spPr>
      </p:pic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3DFE705-8303-4D20-9217-A4DB4524D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512830"/>
              </p:ext>
            </p:extLst>
          </p:nvPr>
        </p:nvGraphicFramePr>
        <p:xfrm>
          <a:off x="5484729" y="2760956"/>
          <a:ext cx="5869071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2119">
                  <a:extLst>
                    <a:ext uri="{9D8B030D-6E8A-4147-A177-3AD203B41FA5}">
                      <a16:colId xmlns:a16="http://schemas.microsoft.com/office/drawing/2014/main" val="1367977754"/>
                    </a:ext>
                  </a:extLst>
                </a:gridCol>
                <a:gridCol w="652119">
                  <a:extLst>
                    <a:ext uri="{9D8B030D-6E8A-4147-A177-3AD203B41FA5}">
                      <a16:colId xmlns:a16="http://schemas.microsoft.com/office/drawing/2014/main" val="2358972934"/>
                    </a:ext>
                  </a:extLst>
                </a:gridCol>
                <a:gridCol w="652119">
                  <a:extLst>
                    <a:ext uri="{9D8B030D-6E8A-4147-A177-3AD203B41FA5}">
                      <a16:colId xmlns:a16="http://schemas.microsoft.com/office/drawing/2014/main" val="2990596097"/>
                    </a:ext>
                  </a:extLst>
                </a:gridCol>
                <a:gridCol w="652119">
                  <a:extLst>
                    <a:ext uri="{9D8B030D-6E8A-4147-A177-3AD203B41FA5}">
                      <a16:colId xmlns:a16="http://schemas.microsoft.com/office/drawing/2014/main" val="1787641352"/>
                    </a:ext>
                  </a:extLst>
                </a:gridCol>
                <a:gridCol w="652119">
                  <a:extLst>
                    <a:ext uri="{9D8B030D-6E8A-4147-A177-3AD203B41FA5}">
                      <a16:colId xmlns:a16="http://schemas.microsoft.com/office/drawing/2014/main" val="3822640682"/>
                    </a:ext>
                  </a:extLst>
                </a:gridCol>
                <a:gridCol w="652119">
                  <a:extLst>
                    <a:ext uri="{9D8B030D-6E8A-4147-A177-3AD203B41FA5}">
                      <a16:colId xmlns:a16="http://schemas.microsoft.com/office/drawing/2014/main" val="3943564368"/>
                    </a:ext>
                  </a:extLst>
                </a:gridCol>
                <a:gridCol w="652119">
                  <a:extLst>
                    <a:ext uri="{9D8B030D-6E8A-4147-A177-3AD203B41FA5}">
                      <a16:colId xmlns:a16="http://schemas.microsoft.com/office/drawing/2014/main" val="2412290128"/>
                    </a:ext>
                  </a:extLst>
                </a:gridCol>
                <a:gridCol w="652119">
                  <a:extLst>
                    <a:ext uri="{9D8B030D-6E8A-4147-A177-3AD203B41FA5}">
                      <a16:colId xmlns:a16="http://schemas.microsoft.com/office/drawing/2014/main" val="467670381"/>
                    </a:ext>
                  </a:extLst>
                </a:gridCol>
                <a:gridCol w="652119">
                  <a:extLst>
                    <a:ext uri="{9D8B030D-6E8A-4147-A177-3AD203B41FA5}">
                      <a16:colId xmlns:a16="http://schemas.microsoft.com/office/drawing/2014/main" val="2533534513"/>
                    </a:ext>
                  </a:extLst>
                </a:gridCol>
              </a:tblGrid>
              <a:tr h="370840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b="0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Aho</a:t>
                      </a:r>
                      <a:r>
                        <a:rPr lang="en-US" altLang="zh-TW" sz="24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altLang="zh-TW" sz="2400" b="0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Corasick</a:t>
                      </a:r>
                      <a:r>
                        <a:rPr lang="en-US" altLang="zh-TW" sz="24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-Next Function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457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86007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619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7259"/>
                  </a:ext>
                </a:extLst>
              </a:tr>
              <a:tr h="37084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δ(0,a) = 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556676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5596F3D8-24DB-4AC4-9237-2BCF8D797135}"/>
              </a:ext>
            </a:extLst>
          </p:cNvPr>
          <p:cNvSpPr txBox="1"/>
          <p:nvPr/>
        </p:nvSpPr>
        <p:spPr>
          <a:xfrm>
            <a:off x="5484729" y="5525087"/>
            <a:ext cx="4795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list of N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7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38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9E810-27B6-4F5E-9855-2B405A7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DAC52F94-940E-459E-87D9-C5CFB8E8DD44}"/>
              </a:ext>
            </a:extLst>
          </p:cNvPr>
          <p:cNvGrpSpPr/>
          <p:nvPr/>
        </p:nvGrpSpPr>
        <p:grpSpPr>
          <a:xfrm>
            <a:off x="838200" y="2036194"/>
            <a:ext cx="4213194" cy="3885211"/>
            <a:chOff x="918099" y="2045072"/>
            <a:chExt cx="3444165" cy="3112536"/>
          </a:xfrm>
        </p:grpSpPr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88599A94-4627-4BE4-BF01-8E693646A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4611" y="3544038"/>
              <a:ext cx="1889463" cy="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DAEE3121-5C88-40AE-B10A-CEB6A6900E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4075" y="3678976"/>
              <a:ext cx="1117476" cy="1039504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17701CE8-8209-44C2-9A6F-C23C63871F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0210" y="4695943"/>
              <a:ext cx="1934961" cy="12917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5BB3E647-174A-49FA-97F6-BDBB4F08A8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3896" y="3544038"/>
              <a:ext cx="10357" cy="117444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7F8B43BB-08DE-4184-9651-FEF1F92834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4074" y="3534419"/>
              <a:ext cx="10357" cy="117444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1D3AC25C-849B-494B-985B-4EBC31E02F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5656" y="2504534"/>
              <a:ext cx="10357" cy="1174441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1D27A84A-B5F4-463C-866E-8C364E346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2828" y="2495394"/>
              <a:ext cx="1889463" cy="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8CEF9843-748D-4A6B-86BA-E365043DE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4788" y="2504534"/>
              <a:ext cx="1117476" cy="1039504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6D066DC8-7E35-4F37-84F9-9A08E630C5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3897" y="2495394"/>
              <a:ext cx="1123025" cy="103525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4B85DB5E-A997-483A-BAE4-B8F7AF173100}"/>
                </a:ext>
              </a:extLst>
            </p:cNvPr>
            <p:cNvSpPr txBox="1"/>
            <p:nvPr/>
          </p:nvSpPr>
          <p:spPr>
            <a:xfrm>
              <a:off x="1997476" y="4695943"/>
              <a:ext cx="3821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A7FF950-A127-4CA1-B295-56B7C6D25AAA}"/>
                </a:ext>
              </a:extLst>
            </p:cNvPr>
            <p:cNvSpPr txBox="1"/>
            <p:nvPr/>
          </p:nvSpPr>
          <p:spPr>
            <a:xfrm>
              <a:off x="918099" y="3873685"/>
              <a:ext cx="3821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12457ABD-4BFF-4875-B919-EF7C4DDC58A7}"/>
                </a:ext>
              </a:extLst>
            </p:cNvPr>
            <p:cNvSpPr txBox="1"/>
            <p:nvPr/>
          </p:nvSpPr>
          <p:spPr>
            <a:xfrm>
              <a:off x="963597" y="2611809"/>
              <a:ext cx="9197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 * 2</a:t>
              </a:r>
              <a:r>
                <a:rPr lang="en-US" altLang="zh-TW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C041F5F7-868F-43DC-94AC-E4AB4C3143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4858" y="3429000"/>
              <a:ext cx="1962701" cy="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1E4C0FBD-47F0-4E7D-804C-9025B01897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42869" y="3323947"/>
              <a:ext cx="1962701" cy="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58E7AAB6-F16A-4A0C-AC40-94CB5F354F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0438" y="2611809"/>
              <a:ext cx="1962701" cy="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A86911E1-25A5-4644-AA6B-F012912E77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8531" y="2719820"/>
              <a:ext cx="1962701" cy="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FE243374-173F-4F8A-86CA-94DA2EAC592F}"/>
                </a:ext>
              </a:extLst>
            </p:cNvPr>
            <p:cNvSpPr txBox="1"/>
            <p:nvPr/>
          </p:nvSpPr>
          <p:spPr>
            <a:xfrm rot="18491612">
              <a:off x="2219418" y="2475626"/>
              <a:ext cx="13227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……</a:t>
              </a:r>
              <a:endParaRPr lang="zh-TW" altLang="en-US" sz="2400" dirty="0"/>
            </a:p>
          </p:txBody>
        </p:sp>
      </p:grpSp>
      <p:graphicFrame>
        <p:nvGraphicFramePr>
          <p:cNvPr id="45" name="表格 4">
            <a:extLst>
              <a:ext uri="{FF2B5EF4-FFF2-40B4-BE49-F238E27FC236}">
                <a16:creationId xmlns:a16="http://schemas.microsoft.com/office/drawing/2014/main" id="{50F6A084-4D72-46D9-A7FC-B571F0C61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6217962"/>
              </p:ext>
            </p:extLst>
          </p:nvPr>
        </p:nvGraphicFramePr>
        <p:xfrm>
          <a:off x="6094024" y="228600"/>
          <a:ext cx="4750263" cy="640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807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640080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State(0,0) ~ State(r,2</a:t>
                      </a:r>
                      <a:r>
                        <a:rPr lang="en-US" altLang="zh-TW" sz="2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TW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424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9E810-27B6-4F5E-9855-2B405A7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表格 4">
            <a:extLst>
              <a:ext uri="{FF2B5EF4-FFF2-40B4-BE49-F238E27FC236}">
                <a16:creationId xmlns:a16="http://schemas.microsoft.com/office/drawing/2014/main" id="{50F6A084-4D72-46D9-A7FC-B571F0C61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8923383"/>
              </p:ext>
            </p:extLst>
          </p:nvPr>
        </p:nvGraphicFramePr>
        <p:xfrm>
          <a:off x="136864" y="1580226"/>
          <a:ext cx="4750263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807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22698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State(0,0)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31778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graphicFrame>
        <p:nvGraphicFramePr>
          <p:cNvPr id="25" name="表格 4">
            <a:extLst>
              <a:ext uri="{FF2B5EF4-FFF2-40B4-BE49-F238E27FC236}">
                <a16:creationId xmlns:a16="http://schemas.microsoft.com/office/drawing/2014/main" id="{039D1C4B-DBFA-4DAC-BB75-CD668D63D2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2909007"/>
              </p:ext>
            </p:extLst>
          </p:nvPr>
        </p:nvGraphicFramePr>
        <p:xfrm>
          <a:off x="6925346" y="1580226"/>
          <a:ext cx="4522437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493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18690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State(1,0)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225067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E9274DC1-D0E3-48BE-A0A3-E5CF2877B84A}"/>
              </a:ext>
            </a:extLst>
          </p:cNvPr>
          <p:cNvSpPr txBox="1"/>
          <p:nvPr/>
        </p:nvSpPr>
        <p:spPr>
          <a:xfrm>
            <a:off x="136864" y="6031210"/>
            <a:ext cx="399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(0,0) , (1,0)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ADDE0E56-BCF0-46CD-8D81-8657A3A130C3}"/>
              </a:ext>
            </a:extLst>
          </p:cNvPr>
          <p:cNvCxnSpPr>
            <a:cxnSpLocks/>
          </p:cNvCxnSpPr>
          <p:nvPr/>
        </p:nvCxnSpPr>
        <p:spPr>
          <a:xfrm>
            <a:off x="1615736" y="2905788"/>
            <a:ext cx="6933460" cy="3434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DBF12DA-42A1-49AF-B807-BC45BF565192}"/>
              </a:ext>
            </a:extLst>
          </p:cNvPr>
          <p:cNvCxnSpPr>
            <a:cxnSpLocks/>
          </p:cNvCxnSpPr>
          <p:nvPr/>
        </p:nvCxnSpPr>
        <p:spPr>
          <a:xfrm>
            <a:off x="8291743" y="2905788"/>
            <a:ext cx="257453" cy="3023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A47198B-1AB2-4134-B668-432DB6412660}"/>
              </a:ext>
            </a:extLst>
          </p:cNvPr>
          <p:cNvSpPr txBox="1"/>
          <p:nvPr/>
        </p:nvSpPr>
        <p:spPr>
          <a:xfrm>
            <a:off x="5420935" y="2674956"/>
            <a:ext cx="745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5">
            <a:extLst>
              <a:ext uri="{FF2B5EF4-FFF2-40B4-BE49-F238E27FC236}">
                <a16:creationId xmlns:a16="http://schemas.microsoft.com/office/drawing/2014/main" id="{DAFF1AC1-FCA9-4F71-B135-A0A7AFA11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446965"/>
              </p:ext>
            </p:extLst>
          </p:nvPr>
        </p:nvGraphicFramePr>
        <p:xfrm>
          <a:off x="4965917" y="64082"/>
          <a:ext cx="306446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0496">
                  <a:extLst>
                    <a:ext uri="{9D8B030D-6E8A-4147-A177-3AD203B41FA5}">
                      <a16:colId xmlns:a16="http://schemas.microsoft.com/office/drawing/2014/main" val="136797775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35897293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990596097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178764135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82264068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94356436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41229012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467670381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533534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86007267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619806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7259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825379"/>
                  </a:ext>
                </a:extLst>
              </a:tr>
            </a:tbl>
          </a:graphicData>
        </a:graphic>
      </p:graphicFrame>
      <p:sp>
        <p:nvSpPr>
          <p:cNvPr id="35" name="文字方塊 34">
            <a:extLst>
              <a:ext uri="{FF2B5EF4-FFF2-40B4-BE49-F238E27FC236}">
                <a16:creationId xmlns:a16="http://schemas.microsoft.com/office/drawing/2014/main" id="{15B4C79D-666E-4E7A-BF99-877D3D55BAC2}"/>
              </a:ext>
            </a:extLst>
          </p:cNvPr>
          <p:cNvSpPr txBox="1"/>
          <p:nvPr/>
        </p:nvSpPr>
        <p:spPr>
          <a:xfrm>
            <a:off x="8615409" y="427741"/>
            <a:ext cx="1850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δ(0,A) = 1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γ(0,0,A) = 0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0332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6E969D-7DA1-46BF-BC7C-5A280675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γ(α,β,c)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54B032-AB8A-4490-9DB6-0C8B5BAA8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830" y="1750956"/>
            <a:ext cx="4133170" cy="3140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5675868-41B9-436C-9FCC-DDBBC90E1B31}"/>
                  </a:ext>
                </a:extLst>
              </p:cNvPr>
              <p:cNvSpPr txBox="1"/>
              <p:nvPr/>
            </p:nvSpPr>
            <p:spPr>
              <a:xfrm>
                <a:off x="366698" y="2351860"/>
                <a:ext cx="328202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δ(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,c)</a:t>
                </a:r>
              </a:p>
              <a:p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altLang="zh-TW" sz="2400" i="1" baseline="-25000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400" i="1" baseline="-25000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有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∪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altLang="zh-TW" sz="2400" i="1" baseline="-25000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400" i="1" baseline="-25000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g(s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∪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altLang="zh-TW" sz="2400" i="1" baseline="-25000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400" i="1" baseline="-25000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γ(α,β,c)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5675868-41B9-436C-9FCC-DDBBC90E1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98" y="2351860"/>
                <a:ext cx="3282024" cy="1938992"/>
              </a:xfrm>
              <a:prstGeom prst="rect">
                <a:avLst/>
              </a:prstGeom>
              <a:blipFill>
                <a:blip r:embed="rId3"/>
                <a:stretch>
                  <a:fillRect l="-2783" t="-2830" r="-2783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CC1B158F-152E-4EF9-B1D8-F9A336636C85}"/>
              </a:ext>
            </a:extLst>
          </p:cNvPr>
          <p:cNvSpPr/>
          <p:nvPr/>
        </p:nvSpPr>
        <p:spPr>
          <a:xfrm>
            <a:off x="409331" y="1690688"/>
            <a:ext cx="7447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set P = {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aab,aba,ba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aba, 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1EA577-4D78-4594-AECF-E61BC65297F4}"/>
              </a:ext>
            </a:extLst>
          </p:cNvPr>
          <p:cNvSpPr/>
          <p:nvPr/>
        </p:nvSpPr>
        <p:spPr>
          <a:xfrm>
            <a:off x="4796901" y="4724609"/>
            <a:ext cx="51904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γ(4,0,A)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δ(4,A) = 5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因此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γ(4,0,A)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2B0C5B-19B0-4390-BD5B-EDB14BA03E30}"/>
              </a:ext>
            </a:extLst>
          </p:cNvPr>
          <p:cNvSpPr/>
          <p:nvPr/>
        </p:nvSpPr>
        <p:spPr>
          <a:xfrm>
            <a:off x="409331" y="4724126"/>
            <a:ext cx="51904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γ(0,0,A)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δ(0,A) = A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但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沒有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因此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γ(0,0,A)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TW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84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9E810-27B6-4F5E-9855-2B405A7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表格 4">
            <a:extLst>
              <a:ext uri="{FF2B5EF4-FFF2-40B4-BE49-F238E27FC236}">
                <a16:creationId xmlns:a16="http://schemas.microsoft.com/office/drawing/2014/main" id="{50F6A084-4D72-46D9-A7FC-B571F0C61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5671098"/>
              </p:ext>
            </p:extLst>
          </p:nvPr>
        </p:nvGraphicFramePr>
        <p:xfrm>
          <a:off x="136864" y="1580226"/>
          <a:ext cx="4750263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807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22698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State(1,0)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31778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graphicFrame>
        <p:nvGraphicFramePr>
          <p:cNvPr id="25" name="表格 4">
            <a:extLst>
              <a:ext uri="{FF2B5EF4-FFF2-40B4-BE49-F238E27FC236}">
                <a16:creationId xmlns:a16="http://schemas.microsoft.com/office/drawing/2014/main" id="{039D1C4B-DBFA-4DAC-BB75-CD668D63D2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787148"/>
              </p:ext>
            </p:extLst>
          </p:nvPr>
        </p:nvGraphicFramePr>
        <p:xfrm>
          <a:off x="6925346" y="1580226"/>
          <a:ext cx="4522437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493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18690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State(2,0)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225067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E9274DC1-D0E3-48BE-A0A3-E5CF2877B84A}"/>
              </a:ext>
            </a:extLst>
          </p:cNvPr>
          <p:cNvSpPr txBox="1"/>
          <p:nvPr/>
        </p:nvSpPr>
        <p:spPr>
          <a:xfrm>
            <a:off x="136864" y="6031210"/>
            <a:ext cx="399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(0,0) , (1,0) , (2,0) 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ADDE0E56-BCF0-46CD-8D81-8657A3A130C3}"/>
              </a:ext>
            </a:extLst>
          </p:cNvPr>
          <p:cNvCxnSpPr>
            <a:cxnSpLocks/>
          </p:cNvCxnSpPr>
          <p:nvPr/>
        </p:nvCxnSpPr>
        <p:spPr>
          <a:xfrm>
            <a:off x="1615736" y="2905788"/>
            <a:ext cx="6933460" cy="3434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DBF12DA-42A1-49AF-B807-BC45BF565192}"/>
              </a:ext>
            </a:extLst>
          </p:cNvPr>
          <p:cNvCxnSpPr/>
          <p:nvPr/>
        </p:nvCxnSpPr>
        <p:spPr>
          <a:xfrm>
            <a:off x="8273988" y="2905789"/>
            <a:ext cx="257453" cy="3023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A47198B-1AB2-4134-B668-432DB6412660}"/>
              </a:ext>
            </a:extLst>
          </p:cNvPr>
          <p:cNvSpPr txBox="1"/>
          <p:nvPr/>
        </p:nvSpPr>
        <p:spPr>
          <a:xfrm>
            <a:off x="5420935" y="2674956"/>
            <a:ext cx="745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5">
            <a:extLst>
              <a:ext uri="{FF2B5EF4-FFF2-40B4-BE49-F238E27FC236}">
                <a16:creationId xmlns:a16="http://schemas.microsoft.com/office/drawing/2014/main" id="{37356EFE-0EC0-4307-864D-E43BA7E2D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120452"/>
              </p:ext>
            </p:extLst>
          </p:nvPr>
        </p:nvGraphicFramePr>
        <p:xfrm>
          <a:off x="4965917" y="64082"/>
          <a:ext cx="306446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0496">
                  <a:extLst>
                    <a:ext uri="{9D8B030D-6E8A-4147-A177-3AD203B41FA5}">
                      <a16:colId xmlns:a16="http://schemas.microsoft.com/office/drawing/2014/main" val="136797775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35897293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990596097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178764135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82264068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94356436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41229012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467670381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533534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86007267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619806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7259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825379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E4793D61-DD41-48A4-93D9-5087A81CDFA8}"/>
              </a:ext>
            </a:extLst>
          </p:cNvPr>
          <p:cNvSpPr txBox="1"/>
          <p:nvPr/>
        </p:nvSpPr>
        <p:spPr>
          <a:xfrm>
            <a:off x="8615409" y="427741"/>
            <a:ext cx="1850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δ(1,A) = 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γ(1,0,A) = 0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91249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9E810-27B6-4F5E-9855-2B405A7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表格 4">
            <a:extLst>
              <a:ext uri="{FF2B5EF4-FFF2-40B4-BE49-F238E27FC236}">
                <a16:creationId xmlns:a16="http://schemas.microsoft.com/office/drawing/2014/main" id="{50F6A084-4D72-46D9-A7FC-B571F0C61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299832"/>
              </p:ext>
            </p:extLst>
          </p:nvPr>
        </p:nvGraphicFramePr>
        <p:xfrm>
          <a:off x="136864" y="1580226"/>
          <a:ext cx="4750263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807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22698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State(0,0)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31778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graphicFrame>
        <p:nvGraphicFramePr>
          <p:cNvPr id="22" name="表格 4">
            <a:extLst>
              <a:ext uri="{FF2B5EF4-FFF2-40B4-BE49-F238E27FC236}">
                <a16:creationId xmlns:a16="http://schemas.microsoft.com/office/drawing/2014/main" id="{F2FE80D9-6CBE-4425-A30B-0C7B5F17CD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5677299"/>
              </p:ext>
            </p:extLst>
          </p:nvPr>
        </p:nvGraphicFramePr>
        <p:xfrm>
          <a:off x="5588463" y="0"/>
          <a:ext cx="4522437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493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18690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State(2,0)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225067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graphicFrame>
        <p:nvGraphicFramePr>
          <p:cNvPr id="25" name="表格 4">
            <a:extLst>
              <a:ext uri="{FF2B5EF4-FFF2-40B4-BE49-F238E27FC236}">
                <a16:creationId xmlns:a16="http://schemas.microsoft.com/office/drawing/2014/main" id="{039D1C4B-DBFA-4DAC-BB75-CD668D63D2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7495476"/>
              </p:ext>
            </p:extLst>
          </p:nvPr>
        </p:nvGraphicFramePr>
        <p:xfrm>
          <a:off x="7099916" y="2834640"/>
          <a:ext cx="4522437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493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18690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State(1,0)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225067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1B4F1DB8-DAC2-479D-BEE2-CA7DB96C3418}"/>
              </a:ext>
            </a:extLst>
          </p:cNvPr>
          <p:cNvSpPr txBox="1"/>
          <p:nvPr/>
        </p:nvSpPr>
        <p:spPr>
          <a:xfrm>
            <a:off x="136864" y="6031210"/>
            <a:ext cx="399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(0,0) , (1,0) , (2,0) 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6CC89A46-A3F4-47A6-AAB4-87E40AA06F43}"/>
              </a:ext>
            </a:extLst>
          </p:cNvPr>
          <p:cNvCxnSpPr>
            <a:cxnSpLocks/>
          </p:cNvCxnSpPr>
          <p:nvPr/>
        </p:nvCxnSpPr>
        <p:spPr>
          <a:xfrm>
            <a:off x="2147287" y="2936288"/>
            <a:ext cx="7094367" cy="16090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75929C6-2643-4186-BAA9-D5F4C9D82BD3}"/>
              </a:ext>
            </a:extLst>
          </p:cNvPr>
          <p:cNvSpPr txBox="1"/>
          <p:nvPr/>
        </p:nvSpPr>
        <p:spPr>
          <a:xfrm>
            <a:off x="5024916" y="3663343"/>
            <a:ext cx="745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95DFB9F4-9729-4CD8-BEDB-D6454475F28E}"/>
              </a:ext>
            </a:extLst>
          </p:cNvPr>
          <p:cNvCxnSpPr/>
          <p:nvPr/>
        </p:nvCxnSpPr>
        <p:spPr>
          <a:xfrm>
            <a:off x="8984201" y="4141751"/>
            <a:ext cx="257453" cy="3023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B40895D-F006-4358-A7D1-C082CB402B0A}"/>
              </a:ext>
            </a:extLst>
          </p:cNvPr>
          <p:cNvCxnSpPr>
            <a:cxnSpLocks/>
          </p:cNvCxnSpPr>
          <p:nvPr/>
        </p:nvCxnSpPr>
        <p:spPr>
          <a:xfrm flipH="1" flipV="1">
            <a:off x="7732450" y="1690689"/>
            <a:ext cx="976544" cy="241778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03E61522-372E-4A15-B62A-C3001794606B}"/>
              </a:ext>
            </a:extLst>
          </p:cNvPr>
          <p:cNvCxnSpPr>
            <a:cxnSpLocks/>
          </p:cNvCxnSpPr>
          <p:nvPr/>
        </p:nvCxnSpPr>
        <p:spPr>
          <a:xfrm>
            <a:off x="7448365" y="1332184"/>
            <a:ext cx="284085" cy="34438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22236D5-00B2-4154-B411-DC3EA1646DDF}"/>
              </a:ext>
            </a:extLst>
          </p:cNvPr>
          <p:cNvSpPr txBox="1"/>
          <p:nvPr/>
        </p:nvSpPr>
        <p:spPr>
          <a:xfrm>
            <a:off x="7723727" y="2820522"/>
            <a:ext cx="745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68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9E810-27B6-4F5E-9855-2B405A7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表格 4">
            <a:extLst>
              <a:ext uri="{FF2B5EF4-FFF2-40B4-BE49-F238E27FC236}">
                <a16:creationId xmlns:a16="http://schemas.microsoft.com/office/drawing/2014/main" id="{50F6A084-4D72-46D9-A7FC-B571F0C61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249519"/>
              </p:ext>
            </p:extLst>
          </p:nvPr>
        </p:nvGraphicFramePr>
        <p:xfrm>
          <a:off x="136864" y="1580226"/>
          <a:ext cx="4750263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807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22698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State(1,0)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31778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graphicFrame>
        <p:nvGraphicFramePr>
          <p:cNvPr id="25" name="表格 4">
            <a:extLst>
              <a:ext uri="{FF2B5EF4-FFF2-40B4-BE49-F238E27FC236}">
                <a16:creationId xmlns:a16="http://schemas.microsoft.com/office/drawing/2014/main" id="{039D1C4B-DBFA-4DAC-BB75-CD668D63D2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1107252"/>
              </p:ext>
            </p:extLst>
          </p:nvPr>
        </p:nvGraphicFramePr>
        <p:xfrm>
          <a:off x="7099916" y="1580225"/>
          <a:ext cx="4522437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493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18690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State(0,0)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225067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10CED662-DA8E-4FE1-ACD3-61DE5E878371}"/>
              </a:ext>
            </a:extLst>
          </p:cNvPr>
          <p:cNvSpPr txBox="1"/>
          <p:nvPr/>
        </p:nvSpPr>
        <p:spPr>
          <a:xfrm>
            <a:off x="136864" y="6031210"/>
            <a:ext cx="399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(0,0) , (1,0) , (2,0) 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71ACF2BF-BAD4-4C44-AE01-DE7CEB369FC5}"/>
              </a:ext>
            </a:extLst>
          </p:cNvPr>
          <p:cNvCxnSpPr>
            <a:cxnSpLocks/>
          </p:cNvCxnSpPr>
          <p:nvPr/>
        </p:nvCxnSpPr>
        <p:spPr>
          <a:xfrm>
            <a:off x="10319466" y="3163609"/>
            <a:ext cx="477730" cy="3546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6431C52D-5DC2-4D74-8A83-FD337B980828}"/>
              </a:ext>
            </a:extLst>
          </p:cNvPr>
          <p:cNvCxnSpPr>
            <a:cxnSpLocks/>
          </p:cNvCxnSpPr>
          <p:nvPr/>
        </p:nvCxnSpPr>
        <p:spPr>
          <a:xfrm>
            <a:off x="3684233" y="3287441"/>
            <a:ext cx="7112963" cy="3701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C693A53-09AB-4964-B0B1-C222D7AB65E6}"/>
              </a:ext>
            </a:extLst>
          </p:cNvPr>
          <p:cNvSpPr txBox="1"/>
          <p:nvPr/>
        </p:nvSpPr>
        <p:spPr>
          <a:xfrm>
            <a:off x="5620659" y="2967335"/>
            <a:ext cx="745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BB1E613-015B-4401-9377-3248DE1A3717}"/>
              </a:ext>
            </a:extLst>
          </p:cNvPr>
          <p:cNvSpPr txBox="1"/>
          <p:nvPr/>
        </p:nvSpPr>
        <p:spPr>
          <a:xfrm>
            <a:off x="8615409" y="427741"/>
            <a:ext cx="1850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δ(1,C) = 0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γ(1,0,C) = 0</a:t>
            </a:r>
          </a:p>
          <a:p>
            <a:endParaRPr lang="zh-TW" altLang="en-US" sz="2400" dirty="0"/>
          </a:p>
        </p:txBody>
      </p:sp>
      <p:graphicFrame>
        <p:nvGraphicFramePr>
          <p:cNvPr id="14" name="表格 5">
            <a:extLst>
              <a:ext uri="{FF2B5EF4-FFF2-40B4-BE49-F238E27FC236}">
                <a16:creationId xmlns:a16="http://schemas.microsoft.com/office/drawing/2014/main" id="{970A3FD6-5352-49EF-A405-CFFA85DA8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97043"/>
              </p:ext>
            </p:extLst>
          </p:nvPr>
        </p:nvGraphicFramePr>
        <p:xfrm>
          <a:off x="4965917" y="64082"/>
          <a:ext cx="306446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0496">
                  <a:extLst>
                    <a:ext uri="{9D8B030D-6E8A-4147-A177-3AD203B41FA5}">
                      <a16:colId xmlns:a16="http://schemas.microsoft.com/office/drawing/2014/main" val="136797775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35897293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990596097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178764135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82264068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94356436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41229012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467670381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533534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86007267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619806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7259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825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218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9E810-27B6-4F5E-9855-2B405A7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表格 4">
            <a:extLst>
              <a:ext uri="{FF2B5EF4-FFF2-40B4-BE49-F238E27FC236}">
                <a16:creationId xmlns:a16="http://schemas.microsoft.com/office/drawing/2014/main" id="{50F6A084-4D72-46D9-A7FC-B571F0C61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0126585"/>
              </p:ext>
            </p:extLst>
          </p:nvPr>
        </p:nvGraphicFramePr>
        <p:xfrm>
          <a:off x="136864" y="1580226"/>
          <a:ext cx="4750263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807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22698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State(1,0)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31778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7A22F4B-99AF-4F6E-9309-85C6A352B65C}"/>
              </a:ext>
            </a:extLst>
          </p:cNvPr>
          <p:cNvSpPr txBox="1"/>
          <p:nvPr/>
        </p:nvSpPr>
        <p:spPr>
          <a:xfrm>
            <a:off x="136864" y="6031210"/>
            <a:ext cx="399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(0,0) , (1,0) , (2,0) 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8CD7815C-8BBF-4D20-AFF5-840BAE0B2A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292257"/>
              </p:ext>
            </p:extLst>
          </p:nvPr>
        </p:nvGraphicFramePr>
        <p:xfrm>
          <a:off x="7099916" y="1580225"/>
          <a:ext cx="4522437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493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18690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State(2,0)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225067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70EA4BC-C072-4FA0-899C-EA1A31B74F61}"/>
              </a:ext>
            </a:extLst>
          </p:cNvPr>
          <p:cNvCxnSpPr>
            <a:cxnSpLocks/>
          </p:cNvCxnSpPr>
          <p:nvPr/>
        </p:nvCxnSpPr>
        <p:spPr>
          <a:xfrm>
            <a:off x="4128117" y="3625495"/>
            <a:ext cx="7112963" cy="3701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9BB2461-F649-48DA-8836-2B148000236D}"/>
              </a:ext>
            </a:extLst>
          </p:cNvPr>
          <p:cNvCxnSpPr>
            <a:cxnSpLocks/>
          </p:cNvCxnSpPr>
          <p:nvPr/>
        </p:nvCxnSpPr>
        <p:spPr>
          <a:xfrm>
            <a:off x="10813002" y="3625495"/>
            <a:ext cx="428078" cy="3210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5FEC281-A1D3-4621-9B89-BCEDB74D307E}"/>
              </a:ext>
            </a:extLst>
          </p:cNvPr>
          <p:cNvSpPr txBox="1"/>
          <p:nvPr/>
        </p:nvSpPr>
        <p:spPr>
          <a:xfrm>
            <a:off x="5620659" y="3232505"/>
            <a:ext cx="745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5">
            <a:extLst>
              <a:ext uri="{FF2B5EF4-FFF2-40B4-BE49-F238E27FC236}">
                <a16:creationId xmlns:a16="http://schemas.microsoft.com/office/drawing/2014/main" id="{2F3165E7-A724-429E-95A9-4829DC038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004073"/>
              </p:ext>
            </p:extLst>
          </p:nvPr>
        </p:nvGraphicFramePr>
        <p:xfrm>
          <a:off x="4965917" y="64082"/>
          <a:ext cx="306446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0496">
                  <a:extLst>
                    <a:ext uri="{9D8B030D-6E8A-4147-A177-3AD203B41FA5}">
                      <a16:colId xmlns:a16="http://schemas.microsoft.com/office/drawing/2014/main" val="136797775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35897293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990596097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178764135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82264068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94356436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41229012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467670381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533534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86007267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619806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7259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825379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6123D6B7-B879-4C7F-BAAB-FE0245401CD5}"/>
              </a:ext>
            </a:extLst>
          </p:cNvPr>
          <p:cNvSpPr txBox="1"/>
          <p:nvPr/>
        </p:nvSpPr>
        <p:spPr>
          <a:xfrm>
            <a:off x="8615409" y="427741"/>
            <a:ext cx="1850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δ(1,A) = 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γ(1,0,A) = 0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42683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9E810-27B6-4F5E-9855-2B405A7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表格 4">
            <a:extLst>
              <a:ext uri="{FF2B5EF4-FFF2-40B4-BE49-F238E27FC236}">
                <a16:creationId xmlns:a16="http://schemas.microsoft.com/office/drawing/2014/main" id="{50F6A084-4D72-46D9-A7FC-B571F0C61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285788"/>
              </p:ext>
            </p:extLst>
          </p:nvPr>
        </p:nvGraphicFramePr>
        <p:xfrm>
          <a:off x="136864" y="1580226"/>
          <a:ext cx="4750263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807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22698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State(0,0)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31778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7A22F4B-99AF-4F6E-9309-85C6A352B65C}"/>
              </a:ext>
            </a:extLst>
          </p:cNvPr>
          <p:cNvSpPr txBox="1"/>
          <p:nvPr/>
        </p:nvSpPr>
        <p:spPr>
          <a:xfrm>
            <a:off x="136864" y="6031210"/>
            <a:ext cx="8146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(0,0) , (1,0) , (2,0) , (6,0) 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8CD7815C-8BBF-4D20-AFF5-840BAE0B2A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2107485"/>
              </p:ext>
            </p:extLst>
          </p:nvPr>
        </p:nvGraphicFramePr>
        <p:xfrm>
          <a:off x="7099916" y="1580225"/>
          <a:ext cx="4522437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493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18690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State(6,0)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225067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70EA4BC-C072-4FA0-899C-EA1A31B74F61}"/>
              </a:ext>
            </a:extLst>
          </p:cNvPr>
          <p:cNvCxnSpPr>
            <a:cxnSpLocks/>
          </p:cNvCxnSpPr>
          <p:nvPr/>
        </p:nvCxnSpPr>
        <p:spPr>
          <a:xfrm>
            <a:off x="1091954" y="3970080"/>
            <a:ext cx="7191753" cy="4154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9BB2461-F649-48DA-8836-2B148000236D}"/>
              </a:ext>
            </a:extLst>
          </p:cNvPr>
          <p:cNvCxnSpPr>
            <a:cxnSpLocks/>
          </p:cNvCxnSpPr>
          <p:nvPr/>
        </p:nvCxnSpPr>
        <p:spPr>
          <a:xfrm>
            <a:off x="7981025" y="4048217"/>
            <a:ext cx="302682" cy="2429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5FEC281-A1D3-4621-9B89-BCEDB74D307E}"/>
              </a:ext>
            </a:extLst>
          </p:cNvPr>
          <p:cNvSpPr txBox="1"/>
          <p:nvPr/>
        </p:nvSpPr>
        <p:spPr>
          <a:xfrm>
            <a:off x="5620659" y="3739247"/>
            <a:ext cx="745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5">
            <a:extLst>
              <a:ext uri="{FF2B5EF4-FFF2-40B4-BE49-F238E27FC236}">
                <a16:creationId xmlns:a16="http://schemas.microsoft.com/office/drawing/2014/main" id="{2FCAF55A-68C7-4028-B761-1030D5D0B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484938"/>
              </p:ext>
            </p:extLst>
          </p:nvPr>
        </p:nvGraphicFramePr>
        <p:xfrm>
          <a:off x="4965917" y="64082"/>
          <a:ext cx="306446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0496">
                  <a:extLst>
                    <a:ext uri="{9D8B030D-6E8A-4147-A177-3AD203B41FA5}">
                      <a16:colId xmlns:a16="http://schemas.microsoft.com/office/drawing/2014/main" val="136797775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35897293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990596097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178764135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82264068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94356436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41229012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467670381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533534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86007267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619806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7259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825379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105A24C1-A53D-4C6B-AA96-46B8DA07C079}"/>
              </a:ext>
            </a:extLst>
          </p:cNvPr>
          <p:cNvSpPr txBox="1"/>
          <p:nvPr/>
        </p:nvSpPr>
        <p:spPr>
          <a:xfrm>
            <a:off x="8615409" y="427741"/>
            <a:ext cx="1850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δ(0,B) = 6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γ(0,0,B) = 0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39263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9E810-27B6-4F5E-9855-2B405A7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表格 4">
            <a:extLst>
              <a:ext uri="{FF2B5EF4-FFF2-40B4-BE49-F238E27FC236}">
                <a16:creationId xmlns:a16="http://schemas.microsoft.com/office/drawing/2014/main" id="{50F6A084-4D72-46D9-A7FC-B571F0C61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6864053"/>
              </p:ext>
            </p:extLst>
          </p:nvPr>
        </p:nvGraphicFramePr>
        <p:xfrm>
          <a:off x="136864" y="1580226"/>
          <a:ext cx="4750263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807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22698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State(1,0)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31778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7A22F4B-99AF-4F6E-9309-85C6A352B65C}"/>
              </a:ext>
            </a:extLst>
          </p:cNvPr>
          <p:cNvSpPr txBox="1"/>
          <p:nvPr/>
        </p:nvSpPr>
        <p:spPr>
          <a:xfrm>
            <a:off x="136864" y="6031210"/>
            <a:ext cx="8146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(0,0) , (1,0) , (2,0) , (6,0) , (4,0) 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8CD7815C-8BBF-4D20-AFF5-840BAE0B2A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3485917"/>
              </p:ext>
            </p:extLst>
          </p:nvPr>
        </p:nvGraphicFramePr>
        <p:xfrm>
          <a:off x="7099916" y="1580225"/>
          <a:ext cx="4522437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493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18690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State(4,0)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225067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70EA4BC-C072-4FA0-899C-EA1A31B74F61}"/>
              </a:ext>
            </a:extLst>
          </p:cNvPr>
          <p:cNvCxnSpPr>
            <a:cxnSpLocks/>
          </p:cNvCxnSpPr>
          <p:nvPr/>
        </p:nvCxnSpPr>
        <p:spPr>
          <a:xfrm>
            <a:off x="1091954" y="3970080"/>
            <a:ext cx="7191753" cy="4154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9BB2461-F649-48DA-8836-2B148000236D}"/>
              </a:ext>
            </a:extLst>
          </p:cNvPr>
          <p:cNvCxnSpPr>
            <a:cxnSpLocks/>
          </p:cNvCxnSpPr>
          <p:nvPr/>
        </p:nvCxnSpPr>
        <p:spPr>
          <a:xfrm>
            <a:off x="7981025" y="4048217"/>
            <a:ext cx="302682" cy="2429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5FEC281-A1D3-4621-9B89-BCEDB74D307E}"/>
              </a:ext>
            </a:extLst>
          </p:cNvPr>
          <p:cNvSpPr txBox="1"/>
          <p:nvPr/>
        </p:nvSpPr>
        <p:spPr>
          <a:xfrm>
            <a:off x="5620659" y="3739247"/>
            <a:ext cx="745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5">
            <a:extLst>
              <a:ext uri="{FF2B5EF4-FFF2-40B4-BE49-F238E27FC236}">
                <a16:creationId xmlns:a16="http://schemas.microsoft.com/office/drawing/2014/main" id="{60AF6905-E985-44D1-A055-2F26A4D84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484938"/>
              </p:ext>
            </p:extLst>
          </p:nvPr>
        </p:nvGraphicFramePr>
        <p:xfrm>
          <a:off x="4965917" y="64082"/>
          <a:ext cx="306446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0496">
                  <a:extLst>
                    <a:ext uri="{9D8B030D-6E8A-4147-A177-3AD203B41FA5}">
                      <a16:colId xmlns:a16="http://schemas.microsoft.com/office/drawing/2014/main" val="136797775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35897293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990596097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178764135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82264068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94356436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41229012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467670381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533534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86007267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619806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7259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825379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AB75AF62-3DC4-4E0D-BC17-FE3FFD808085}"/>
              </a:ext>
            </a:extLst>
          </p:cNvPr>
          <p:cNvSpPr txBox="1"/>
          <p:nvPr/>
        </p:nvSpPr>
        <p:spPr>
          <a:xfrm>
            <a:off x="8615409" y="427741"/>
            <a:ext cx="1850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δ(1,B) = 4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γ(1,0,B) = 0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50067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9E810-27B6-4F5E-9855-2B405A7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表格 4">
            <a:extLst>
              <a:ext uri="{FF2B5EF4-FFF2-40B4-BE49-F238E27FC236}">
                <a16:creationId xmlns:a16="http://schemas.microsoft.com/office/drawing/2014/main" id="{50F6A084-4D72-46D9-A7FC-B571F0C61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5936273"/>
              </p:ext>
            </p:extLst>
          </p:nvPr>
        </p:nvGraphicFramePr>
        <p:xfrm>
          <a:off x="136864" y="1580226"/>
          <a:ext cx="4750263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807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22698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State(2,0)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31778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7A22F4B-99AF-4F6E-9309-85C6A352B65C}"/>
              </a:ext>
            </a:extLst>
          </p:cNvPr>
          <p:cNvSpPr txBox="1"/>
          <p:nvPr/>
        </p:nvSpPr>
        <p:spPr>
          <a:xfrm>
            <a:off x="136864" y="6031210"/>
            <a:ext cx="8146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(0,0) , (1,0) , (2,0) , (6,0) , (4,0)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(3,1) 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8CD7815C-8BBF-4D20-AFF5-840BAE0B2A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7603901"/>
              </p:ext>
            </p:extLst>
          </p:nvPr>
        </p:nvGraphicFramePr>
        <p:xfrm>
          <a:off x="7099916" y="1580225"/>
          <a:ext cx="4522437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493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02493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18690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State(3,1)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225067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690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70EA4BC-C072-4FA0-899C-EA1A31B74F61}"/>
              </a:ext>
            </a:extLst>
          </p:cNvPr>
          <p:cNvCxnSpPr>
            <a:cxnSpLocks/>
          </p:cNvCxnSpPr>
          <p:nvPr/>
        </p:nvCxnSpPr>
        <p:spPr>
          <a:xfrm>
            <a:off x="1091954" y="3970080"/>
            <a:ext cx="7191753" cy="4154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9BB2461-F649-48DA-8836-2B148000236D}"/>
              </a:ext>
            </a:extLst>
          </p:cNvPr>
          <p:cNvCxnSpPr>
            <a:cxnSpLocks/>
          </p:cNvCxnSpPr>
          <p:nvPr/>
        </p:nvCxnSpPr>
        <p:spPr>
          <a:xfrm>
            <a:off x="7981025" y="4048217"/>
            <a:ext cx="302682" cy="2429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5FEC281-A1D3-4621-9B89-BCEDB74D307E}"/>
              </a:ext>
            </a:extLst>
          </p:cNvPr>
          <p:cNvSpPr txBox="1"/>
          <p:nvPr/>
        </p:nvSpPr>
        <p:spPr>
          <a:xfrm>
            <a:off x="5620659" y="3739247"/>
            <a:ext cx="745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5">
            <a:extLst>
              <a:ext uri="{FF2B5EF4-FFF2-40B4-BE49-F238E27FC236}">
                <a16:creationId xmlns:a16="http://schemas.microsoft.com/office/drawing/2014/main" id="{44A66335-6A29-4746-99CF-A3724659A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484938"/>
              </p:ext>
            </p:extLst>
          </p:nvPr>
        </p:nvGraphicFramePr>
        <p:xfrm>
          <a:off x="4965917" y="64082"/>
          <a:ext cx="306446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0496">
                  <a:extLst>
                    <a:ext uri="{9D8B030D-6E8A-4147-A177-3AD203B41FA5}">
                      <a16:colId xmlns:a16="http://schemas.microsoft.com/office/drawing/2014/main" val="136797775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358972934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990596097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178764135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822640682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394356436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412290128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467670381"/>
                    </a:ext>
                  </a:extLst>
                </a:gridCol>
                <a:gridCol w="340496">
                  <a:extLst>
                    <a:ext uri="{9D8B030D-6E8A-4147-A177-3AD203B41FA5}">
                      <a16:colId xmlns:a16="http://schemas.microsoft.com/office/drawing/2014/main" val="2533534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86007267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619806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7259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825379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5160EB65-21B6-4C36-AB49-A54BCD56898B}"/>
              </a:ext>
            </a:extLst>
          </p:cNvPr>
          <p:cNvSpPr txBox="1"/>
          <p:nvPr/>
        </p:nvSpPr>
        <p:spPr>
          <a:xfrm>
            <a:off x="8615409" y="427741"/>
            <a:ext cx="1850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δ(2,B) = 3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γ(2,0,B) = 1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94734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9E810-27B6-4F5E-9855-2B405A7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表格 4">
            <a:extLst>
              <a:ext uri="{FF2B5EF4-FFF2-40B4-BE49-F238E27FC236}">
                <a16:creationId xmlns:a16="http://schemas.microsoft.com/office/drawing/2014/main" id="{50F6A084-4D72-46D9-A7FC-B571F0C61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6590345"/>
              </p:ext>
            </p:extLst>
          </p:nvPr>
        </p:nvGraphicFramePr>
        <p:xfrm>
          <a:off x="995792" y="1417320"/>
          <a:ext cx="4750263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807">
                  <a:extLst>
                    <a:ext uri="{9D8B030D-6E8A-4147-A177-3AD203B41FA5}">
                      <a16:colId xmlns:a16="http://schemas.microsoft.com/office/drawing/2014/main" val="253324795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6232002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026579298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875080994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8186180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340615102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804176871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4219688623"/>
                    </a:ext>
                  </a:extLst>
                </a:gridCol>
                <a:gridCol w="527807">
                  <a:extLst>
                    <a:ext uri="{9D8B030D-6E8A-4147-A177-3AD203B41FA5}">
                      <a16:colId xmlns:a16="http://schemas.microsoft.com/office/drawing/2014/main" val="2699807644"/>
                    </a:ext>
                  </a:extLst>
                </a:gridCol>
              </a:tblGrid>
              <a:tr h="226986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State(i,7)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84083"/>
                  </a:ext>
                </a:extLst>
              </a:tr>
              <a:tr h="31778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93008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8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7" gridSpan="7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mpd="sng">
                      <a:noFill/>
                    </a:lnB>
                  </a:tcPr>
                </a:tc>
                <a:tc rowSpan="7"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7"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7"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7"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7"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7"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362119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7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3833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7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048173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7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402164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7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0300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7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76428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7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08216"/>
                  </a:ext>
                </a:extLst>
              </a:tr>
              <a:tr h="181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6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9614786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9AF875E7-92E3-48FA-9592-EAFD855560CE}"/>
              </a:ext>
            </a:extLst>
          </p:cNvPr>
          <p:cNvSpPr txBox="1"/>
          <p:nvPr/>
        </p:nvSpPr>
        <p:spPr>
          <a:xfrm>
            <a:off x="995792" y="6031210"/>
            <a:ext cx="732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(0,0) , (1,0) , (2,0) , (6,0) , (4,0) , (3,1) , (7,4) , … 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FAD5DBC-8642-4C93-AC58-BB1D02A32FF3}"/>
              </a:ext>
            </a:extLst>
          </p:cNvPr>
          <p:cNvSpPr txBox="1"/>
          <p:nvPr/>
        </p:nvSpPr>
        <p:spPr>
          <a:xfrm>
            <a:off x="3233322" y="2624616"/>
            <a:ext cx="985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44C3353-2B15-441D-88BF-FA77021CEE54}"/>
              </a:ext>
            </a:extLst>
          </p:cNvPr>
          <p:cNvSpPr txBox="1"/>
          <p:nvPr/>
        </p:nvSpPr>
        <p:spPr>
          <a:xfrm>
            <a:off x="3233322" y="4481875"/>
            <a:ext cx="985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3FAC45-E214-4F78-8F35-FD707B3E9318}"/>
              </a:ext>
            </a:extLst>
          </p:cNvPr>
          <p:cNvSpPr txBox="1"/>
          <p:nvPr/>
        </p:nvSpPr>
        <p:spPr>
          <a:xfrm rot="5400000">
            <a:off x="1661605" y="3697488"/>
            <a:ext cx="985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31BEF7E-7FCF-4954-B3DB-23FAC9403A85}"/>
              </a:ext>
            </a:extLst>
          </p:cNvPr>
          <p:cNvSpPr txBox="1"/>
          <p:nvPr/>
        </p:nvSpPr>
        <p:spPr>
          <a:xfrm rot="5400000">
            <a:off x="4903434" y="3758332"/>
            <a:ext cx="985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C3668EC-E421-42CF-BABB-F1A325EDDB0D}"/>
              </a:ext>
            </a:extLst>
          </p:cNvPr>
          <p:cNvSpPr txBox="1"/>
          <p:nvPr/>
        </p:nvSpPr>
        <p:spPr>
          <a:xfrm>
            <a:off x="6986728" y="3527499"/>
            <a:ext cx="3790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Len(M-STR-IC-LCS) = 5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 =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391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2DBD77-760F-4561-97DF-6020B3CD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3ABEFFC-A83C-4363-852B-0B88C3F3AB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mnr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1) δ(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2) γ(α,β,c)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∴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=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mnr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 i="1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3ABEFFC-A83C-4363-852B-0B88C3F3A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37D0E145-9DCB-41FC-BE9F-C2E88A19F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80" y="1367495"/>
            <a:ext cx="5936120" cy="441885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95DB1EA-C327-4E4B-89E0-3C94E78C8299}"/>
              </a:ext>
            </a:extLst>
          </p:cNvPr>
          <p:cNvSpPr/>
          <p:nvPr/>
        </p:nvSpPr>
        <p:spPr>
          <a:xfrm>
            <a:off x="7168161" y="3824212"/>
            <a:ext cx="2109003" cy="247628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105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4A10DC-1AC2-4570-B496-F4D17456F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Back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43696F-88C4-44BE-8FD6-38508DE23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00652"/>
            <a:ext cx="3272161" cy="317631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n+m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A3AA0BA-4EF7-4164-A4A3-643214B04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442" y="1171853"/>
            <a:ext cx="6801591" cy="480980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73F3B91-9282-4E67-A1D6-A3AA0729F340}"/>
              </a:ext>
            </a:extLst>
          </p:cNvPr>
          <p:cNvSpPr/>
          <p:nvPr/>
        </p:nvSpPr>
        <p:spPr>
          <a:xfrm>
            <a:off x="5650079" y="3337057"/>
            <a:ext cx="2610035" cy="479394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2825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48CC81-BD5C-44DC-B66C-EFD4894E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0753D42-BF61-4AE2-8AF4-2A7A242E1C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根據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the generalized constrained longest common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subsequence problems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M-STR-IC-LCS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𝑚𝑛</m:t>
                        </m:r>
                        <m:sSubSup>
                          <m:sSubSupPr>
                            <m:ctrlPr>
                              <a:rPr lang="en-US" altLang="zh-TW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𝛱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b="0" dirty="0">
                    <a:latin typeface="Times New Roman" panose="02020603050405020304" pitchFamily="18" charset="0"/>
                  </a:rPr>
                  <a:t>   … (1)</a:t>
                </a:r>
              </a:p>
              <a:p>
                <a:pPr marL="0" indent="0">
                  <a:buNone/>
                </a:pP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此篇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M-STR-IC-LCS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𝑚𝑛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b="0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Sup>
                      <m:sSubSupPr>
                        <m:ctrlPr>
                          <a:rPr lang="en-US" altLang="zh-TW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sSub>
                      <m:sSubPr>
                        <m:ctrlP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)   … (2)</a:t>
                </a:r>
              </a:p>
              <a:p>
                <a:pPr marL="0" indent="0">
                  <a:buNone/>
                </a:pP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若有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constraints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且長度皆為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10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(1)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(2) = 1000 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720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0753D42-BF61-4AE2-8AF4-2A7A242E1C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  <a:blipFill>
                <a:blip r:embed="rId2"/>
                <a:stretch>
                  <a:fillRect l="-1128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421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1982</Words>
  <Application>Microsoft Office PowerPoint</Application>
  <PresentationFormat>寬螢幕</PresentationFormat>
  <Paragraphs>1104</Paragraphs>
  <Slides>18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Efficient Computation of Longest Common Subsequences with Multiple Substring Inclusive Constraints</vt:lpstr>
      <vt:lpstr>Abstract</vt:lpstr>
      <vt:lpstr>Keyword Tree - Aho–Corasick</vt:lpstr>
      <vt:lpstr>Keyword Tree - Aho–Corasick</vt:lpstr>
      <vt:lpstr>M-STR-IC-LCS</vt:lpstr>
      <vt:lpstr>M-STR-IC-LCS</vt:lpstr>
      <vt:lpstr>γ(α,β,c)</vt:lpstr>
      <vt:lpstr>M-STR-IC-LCS</vt:lpstr>
      <vt:lpstr>M-STR-IC-LCS</vt:lpstr>
      <vt:lpstr>M-STR-IC-LCS</vt:lpstr>
      <vt:lpstr>M-STR-IC-LCS</vt:lpstr>
      <vt:lpstr>M-STR-IC-LCS</vt:lpstr>
      <vt:lpstr>M-STR-IC-LCS</vt:lpstr>
      <vt:lpstr>M-STR-IC-LCS</vt:lpstr>
      <vt:lpstr>M-STR-IC-LCS</vt:lpstr>
      <vt:lpstr>Complexity</vt:lpstr>
      <vt:lpstr>Trace Back</vt:lpstr>
      <vt:lpstr>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String Matching Algorithm Based on Logical Indexing</dc:title>
  <dc:creator>育誠 張</dc:creator>
  <cp:lastModifiedBy>pplab</cp:lastModifiedBy>
  <cp:revision>491</cp:revision>
  <dcterms:created xsi:type="dcterms:W3CDTF">2020-01-13T05:19:55Z</dcterms:created>
  <dcterms:modified xsi:type="dcterms:W3CDTF">2020-03-17T13:16:21Z</dcterms:modified>
</cp:coreProperties>
</file>