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311" r:id="rId3"/>
    <p:sldId id="312" r:id="rId4"/>
    <p:sldId id="379" r:id="rId5"/>
    <p:sldId id="380" r:id="rId6"/>
    <p:sldId id="356" r:id="rId7"/>
    <p:sldId id="378" r:id="rId8"/>
    <p:sldId id="381" r:id="rId9"/>
    <p:sldId id="382" r:id="rId10"/>
    <p:sldId id="364" r:id="rId11"/>
    <p:sldId id="366" r:id="rId12"/>
    <p:sldId id="367" r:id="rId13"/>
    <p:sldId id="383" r:id="rId14"/>
    <p:sldId id="369" r:id="rId15"/>
    <p:sldId id="371" r:id="rId16"/>
    <p:sldId id="370" r:id="rId17"/>
    <p:sldId id="373" r:id="rId18"/>
    <p:sldId id="375" r:id="rId19"/>
    <p:sldId id="376" r:id="rId20"/>
    <p:sldId id="37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6666FF"/>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59" autoAdjust="0"/>
    <p:restoredTop sz="81546" autoAdjust="0"/>
  </p:normalViewPr>
  <p:slideViewPr>
    <p:cSldViewPr snapToGrid="0">
      <p:cViewPr varScale="1">
        <p:scale>
          <a:sx n="70" d="100"/>
          <a:sy n="70" d="100"/>
        </p:scale>
        <p:origin x="2146"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pPr/>
              <a:t>2020/3/17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pPr/>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基於序列相似性做出有用推論的能力基於蛋白質序列，結構和功能之間的關係，所有這些都圍繞著同源性（見圖</a:t>
            </a:r>
            <a:r>
              <a:rPr lang="en-US" altLang="zh-TW" dirty="0" smtClean="0"/>
              <a:t>1</a:t>
            </a:r>
            <a:r>
              <a:rPr lang="zh-TW" altLang="en-US" dirty="0" smtClean="0"/>
              <a:t>）。</a:t>
            </a:r>
            <a:endParaRPr lang="en-US" altLang="zh-TW" dirty="0" smtClean="0"/>
          </a:p>
          <a:p>
            <a:r>
              <a:rPr lang="zh-TW" altLang="en-US" dirty="0" smtClean="0"/>
              <a:t>同源蛋白質是具有共同進化祖先的蛋白質。 推導同源性的常見方法是序列比較：</a:t>
            </a:r>
            <a:endParaRPr lang="en-US" altLang="zh-TW" dirty="0" smtClean="0"/>
          </a:p>
          <a:p>
            <a:r>
              <a:rPr lang="zh-TW" altLang="en-US" dirty="0" smtClean="0"/>
              <a:t>經驗表明，顯著的序列相似性是同源性的可靠指標。由於蛋白質結構進化非常緩慢，</a:t>
            </a:r>
            <a:endParaRPr lang="en-US" altLang="zh-TW" dirty="0" smtClean="0"/>
          </a:p>
          <a:p>
            <a:r>
              <a:rPr lang="zh-TW" altLang="en-US" dirty="0" smtClean="0"/>
              <a:t>核心在數十億年的進化中都得到了很好的保守性，因此兩種蛋白質之間的同源性有效地保證了 它們將共享相似的結構</a:t>
            </a:r>
            <a:r>
              <a:rPr lang="en-US" altLang="zh-TW" dirty="0" smtClean="0"/>
              <a:t>[11]</a:t>
            </a:r>
            <a:r>
              <a:rPr lang="zh-TW" altLang="en-US" dirty="0" smtClean="0"/>
              <a:t>。</a:t>
            </a:r>
            <a:endParaRPr lang="en-US" altLang="zh-TW" dirty="0" smtClean="0"/>
          </a:p>
          <a:p>
            <a:r>
              <a:rPr lang="zh-TW" altLang="en-US" dirty="0" smtClean="0"/>
              <a:t>通常認為，某些相似的蛋白質結構是獨立進化的，因此結構相似性並不總是表示進化相關性。</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680483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基於序列相似性做出有用推論的能力基於蛋白質序列，結構和功能之間的關係，所有這些都圍繞著同源性（見圖</a:t>
            </a:r>
            <a:r>
              <a:rPr lang="en-US" altLang="zh-TW" dirty="0" smtClean="0"/>
              <a:t>1</a:t>
            </a:r>
            <a:r>
              <a:rPr lang="zh-TW" altLang="en-US" dirty="0" smtClean="0"/>
              <a:t>）。</a:t>
            </a:r>
            <a:endParaRPr lang="en-US" altLang="zh-TW" dirty="0" smtClean="0"/>
          </a:p>
          <a:p>
            <a:r>
              <a:rPr lang="zh-TW" altLang="en-US" dirty="0" smtClean="0"/>
              <a:t>同源蛋白質是具有共同進化祖先的蛋白質。 推導同源性的常見方法是序列比較：</a:t>
            </a:r>
            <a:endParaRPr lang="en-US" altLang="zh-TW" dirty="0" smtClean="0"/>
          </a:p>
          <a:p>
            <a:r>
              <a:rPr lang="zh-TW" altLang="en-US" dirty="0" smtClean="0"/>
              <a:t>經驗表明，顯著的序列相似性是同源性的可靠指標。由於蛋白質結構進化非常緩慢，</a:t>
            </a:r>
            <a:endParaRPr lang="en-US" altLang="zh-TW" dirty="0" smtClean="0"/>
          </a:p>
          <a:p>
            <a:r>
              <a:rPr lang="zh-TW" altLang="en-US" dirty="0" smtClean="0"/>
              <a:t>核心在數十億年的進化中都得到了很好的保守性，因此兩種蛋白質之間的同源性有效地保證了 它們將共享相似的結構</a:t>
            </a:r>
            <a:r>
              <a:rPr lang="en-US" altLang="zh-TW" dirty="0" smtClean="0"/>
              <a:t>[11]</a:t>
            </a:r>
            <a:r>
              <a:rPr lang="zh-TW" altLang="en-US" dirty="0" smtClean="0"/>
              <a:t>。</a:t>
            </a:r>
            <a:endParaRPr lang="en-US" altLang="zh-TW" dirty="0" smtClean="0"/>
          </a:p>
          <a:p>
            <a:r>
              <a:rPr lang="zh-TW" altLang="en-US" dirty="0" smtClean="0"/>
              <a:t>通常認為，某些相似的蛋白質結構是獨立進化的，因此結構相似性並不總是表示進化相關性。</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195333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一個好的搜索方法將在數據庫中找到盡可能多的真實同系物，同時將它們與非同系物完全分開。 </a:t>
            </a:r>
            <a:endParaRPr lang="en-US" altLang="zh-TW" dirty="0"/>
          </a:p>
          <a:p>
            <a:r>
              <a:rPr lang="zh-TW" altLang="en-US" dirty="0"/>
              <a:t>此外，它將與一種良好的統計評分方法相結合，</a:t>
            </a:r>
            <a:endParaRPr lang="en-US" altLang="zh-TW" dirty="0"/>
          </a:p>
          <a:p>
            <a:r>
              <a:rPr lang="zh-TW" altLang="en-US" dirty="0"/>
              <a:t>該方法可以準確地報告任何給定匹配完全是偶然發生的可能性，而不是因為序列確實相關。</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238673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一個好的搜索方法將在數據庫中找到盡可能多的真實同系物，同時將它們與非同系物完全分開。 </a:t>
            </a:r>
            <a:endParaRPr lang="en-US" altLang="zh-TW" dirty="0"/>
          </a:p>
          <a:p>
            <a:r>
              <a:rPr lang="zh-TW" altLang="en-US" dirty="0"/>
              <a:t>此外，它將與一種良好的統計評分方法相結合，</a:t>
            </a:r>
            <a:endParaRPr lang="en-US" altLang="zh-TW" dirty="0"/>
          </a:p>
          <a:p>
            <a:r>
              <a:rPr lang="zh-TW" altLang="en-US" dirty="0"/>
              <a:t>該方法可以準確地報告任何給定匹配完全是偶然發生的可能性，而不是因為序列確實相關。</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42995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一個好的搜索方法將在數據庫中找到盡可能多的真實同系物，同時將它們與非同系物完全分開。 </a:t>
            </a:r>
            <a:endParaRPr lang="en-US" altLang="zh-TW" dirty="0"/>
          </a:p>
          <a:p>
            <a:r>
              <a:rPr lang="zh-TW" altLang="en-US" dirty="0"/>
              <a:t>此外，它將與一種良好的統計評分方法相結合，</a:t>
            </a:r>
            <a:endParaRPr lang="en-US" altLang="zh-TW" dirty="0"/>
          </a:p>
          <a:p>
            <a:r>
              <a:rPr lang="zh-TW" altLang="en-US" dirty="0"/>
              <a:t>該方法可以準確地報告任何給定匹配完全是偶然發生的可能性，而不是因為序列確實相關。</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230985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一個好的搜索方法將在數據庫中找到盡可能多的真實同系物，同時將它們與非同系物完全分開。 </a:t>
            </a:r>
            <a:endParaRPr lang="en-US" altLang="zh-TW" dirty="0"/>
          </a:p>
          <a:p>
            <a:r>
              <a:rPr lang="zh-TW" altLang="en-US" dirty="0"/>
              <a:t>此外，它將與一種良好的統計評分方法相結合，</a:t>
            </a:r>
            <a:endParaRPr lang="en-US" altLang="zh-TW" dirty="0"/>
          </a:p>
          <a:p>
            <a:r>
              <a:rPr lang="zh-TW" altLang="en-US" dirty="0"/>
              <a:t>該方法可以準確地報告任何給定匹配完全是偶然發生的可能性，而不是因為序列確實相關。</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286121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可以比較來自任何兩種數據庫搜索方法（或參數集或計分方案等）的</a:t>
            </a:r>
            <a:r>
              <a:rPr lang="en-US" altLang="zh-TW" dirty="0"/>
              <a:t>CVE</a:t>
            </a:r>
            <a:r>
              <a:rPr lang="zh-TW" altLang="en-US" dirty="0"/>
              <a:t>結果，</a:t>
            </a:r>
            <a:endParaRPr lang="en-US" altLang="zh-TW" dirty="0"/>
          </a:p>
          <a:p>
            <a:r>
              <a:rPr lang="zh-TW" altLang="en-US" dirty="0"/>
              <a:t>但並不能立即明顯看出任何性能差異有多大。</a:t>
            </a:r>
            <a:endParaRPr lang="en-US" altLang="zh-TW" dirty="0"/>
          </a:p>
          <a:p>
            <a:r>
              <a:rPr lang="zh-TW" altLang="en-US" dirty="0"/>
              <a:t>為了解決這個問題，我們使用了布拉德</a:t>
            </a:r>
            <a:r>
              <a:rPr lang="en-US" altLang="zh-TW" dirty="0"/>
              <a:t>·</a:t>
            </a:r>
            <a:r>
              <a:rPr lang="zh-TW" altLang="en-US" dirty="0"/>
              <a:t>埃夫隆（</a:t>
            </a:r>
            <a:r>
              <a:rPr lang="en-US" altLang="zh-TW" dirty="0"/>
              <a:t>Brad </a:t>
            </a:r>
            <a:r>
              <a:rPr lang="en-US" altLang="zh-TW" dirty="0" err="1"/>
              <a:t>Efron</a:t>
            </a:r>
            <a:r>
              <a:rPr lang="zh-TW" altLang="en-US" dirty="0"/>
              <a:t>）率先提出的一種稱為引導（</a:t>
            </a:r>
            <a:r>
              <a:rPr lang="en-US" altLang="zh-TW" dirty="0"/>
              <a:t>bootstrapping</a:t>
            </a:r>
            <a:r>
              <a:rPr lang="zh-TW" altLang="en-US" dirty="0"/>
              <a:t>）的技術。</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666239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使用針對</a:t>
            </a:r>
            <a:r>
              <a:rPr lang="en-US" altLang="zh-TW" dirty="0"/>
              <a:t>BLOCKS 13+ BLOSUM</a:t>
            </a:r>
            <a:r>
              <a:rPr lang="zh-TW" altLang="en-US" dirty="0"/>
              <a:t>矩陣族和測試數據集的最佳參數設置來演示標準引導程序和貝葉斯引導程序之間的差異。原始的</a:t>
            </a:r>
            <a:r>
              <a:rPr lang="en-US" altLang="zh-TW" dirty="0"/>
              <a:t>CVE</a:t>
            </a:r>
            <a:r>
              <a:rPr lang="zh-TW" altLang="en-US" dirty="0"/>
              <a:t>線比</a:t>
            </a:r>
            <a:r>
              <a:rPr lang="en-US" altLang="zh-TW" dirty="0"/>
              <a:t>200</a:t>
            </a:r>
            <a:r>
              <a:rPr lang="zh-TW" altLang="en-US" dirty="0"/>
              <a:t>個引導複製品重且厚。 （</a:t>
            </a:r>
            <a:r>
              <a:rPr lang="en-US" altLang="zh-TW" dirty="0"/>
              <a:t>A</a:t>
            </a:r>
            <a:r>
              <a:rPr lang="zh-TW" altLang="en-US" dirty="0"/>
              <a:t>）標準引導程序優先從更難發現正確序列關係的更大，更多樣的超家族中選擇序列。因此，當每個超家族擁有相同數量的可能覆蓋範圍（二次歸一化）時，引導程序會偏向左側，因為較小的超家族通常會完全退出分析。線性歸一化顯示的影響較小。由於很難找到更大的超家族關係，因此當超家族具有相等的總權重（二次歸一化）時，覆蓋率要比沒有歸一化時高得多。在較小程度上，通過線性歸一化可以觀察到相同的效果。底部的圖清楚地表明，標準引導程序也高估了歸一化條件下的方差。 （</a:t>
            </a:r>
            <a:r>
              <a:rPr lang="en-US" altLang="zh-TW" dirty="0"/>
              <a:t>B</a:t>
            </a:r>
            <a:r>
              <a:rPr lang="zh-TW" altLang="en-US" dirty="0"/>
              <a:t>）由於貝葉斯引導程序為每個序列分配了非整數權重，因此較小的超族不會退出分析。這消除了標準引導程序的偏差和過度預測的方差。</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659200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1846955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486252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967297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使用針對</a:t>
            </a:r>
            <a:r>
              <a:rPr lang="en-US" altLang="zh-TW" dirty="0"/>
              <a:t>BLOCKS 13+ BLOSUM</a:t>
            </a:r>
            <a:r>
              <a:rPr lang="zh-TW" altLang="en-US" dirty="0"/>
              <a:t>矩陣族和測試數據集的最佳參數設置來演示標準引導程序和貝葉斯引導程序之間的差異。原始的</a:t>
            </a:r>
            <a:r>
              <a:rPr lang="en-US" altLang="zh-TW" dirty="0"/>
              <a:t>CVE</a:t>
            </a:r>
            <a:r>
              <a:rPr lang="zh-TW" altLang="en-US" dirty="0"/>
              <a:t>線比</a:t>
            </a:r>
            <a:r>
              <a:rPr lang="en-US" altLang="zh-TW" dirty="0"/>
              <a:t>200</a:t>
            </a:r>
            <a:r>
              <a:rPr lang="zh-TW" altLang="en-US" dirty="0"/>
              <a:t>個引導複製品重且厚。 （</a:t>
            </a:r>
            <a:r>
              <a:rPr lang="en-US" altLang="zh-TW" dirty="0"/>
              <a:t>A</a:t>
            </a:r>
            <a:r>
              <a:rPr lang="zh-TW" altLang="en-US" dirty="0"/>
              <a:t>）標準引導程序優先從更難發現正確序列關係的更大，更多樣的超家族中選擇序列。因此，當每個超家族擁有相同數量的可能覆蓋範圍（二次歸一化）時，引導程序會偏向左側，因為較小的超家族通常會完全退出分析。線性歸一化顯示的影響較小。由於很難找到更大的超家族關係，因此當超家族具有相等的總權重（二次歸一化）時，覆蓋率要比沒有歸一化時高得多。在較小程度上，通過線性歸一化可以觀察到相同的效果。底部的圖清楚地表明，標準引導程序也高估了歸一化條件下的方差。 （</a:t>
            </a:r>
            <a:r>
              <a:rPr lang="en-US" altLang="zh-TW" dirty="0"/>
              <a:t>B</a:t>
            </a:r>
            <a:r>
              <a:rPr lang="zh-TW" altLang="en-US" dirty="0"/>
              <a:t>）由於貝葉斯引導程序為每個序列分配了非整數權重，因此較小的超族不會退出分析。這消除了標準引導程序的偏差和過度預測的方差。</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3115245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662100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2932193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18</a:t>
            </a:fld>
            <a:endParaRPr lang="zh-TW" altLang="en-US"/>
          </a:p>
        </p:txBody>
      </p:sp>
    </p:spTree>
    <p:extLst>
      <p:ext uri="{BB962C8B-B14F-4D97-AF65-F5344CB8AC3E}">
        <p14:creationId xmlns:p14="http://schemas.microsoft.com/office/powerpoint/2010/main" val="96056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3724415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20</a:t>
            </a:fld>
            <a:endParaRPr lang="zh-TW" altLang="en-US"/>
          </a:p>
        </p:txBody>
      </p:sp>
    </p:spTree>
    <p:extLst>
      <p:ext uri="{BB962C8B-B14F-4D97-AF65-F5344CB8AC3E}">
        <p14:creationId xmlns:p14="http://schemas.microsoft.com/office/powerpoint/2010/main" val="157813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pPr/>
              <a:t>2020/3/17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9" y="1052832"/>
            <a:ext cx="8348184" cy="1817434"/>
          </a:xfrm>
        </p:spPr>
        <p:txBody>
          <a:bodyPr>
            <a:noAutofit/>
          </a:bodyPr>
          <a:lstStyle/>
          <a:p>
            <a:r>
              <a:rPr lang="en-US" altLang="zh-TW" sz="4800" dirty="0">
                <a:latin typeface="Times New Roman" panose="02020603050405020304" pitchFamily="18" charset="0"/>
                <a:cs typeface="Times New Roman" panose="02020603050405020304" pitchFamily="18" charset="0"/>
              </a:rPr>
              <a:t>Statistical evaluation of pairwise protein sequence comparison</a:t>
            </a:r>
            <a:br>
              <a:rPr lang="en-US" altLang="zh-TW" sz="4800" dirty="0">
                <a:latin typeface="Times New Roman" panose="02020603050405020304" pitchFamily="18" charset="0"/>
                <a:cs typeface="Times New Roman" panose="02020603050405020304" pitchFamily="18" charset="0"/>
              </a:rPr>
            </a:br>
            <a:r>
              <a:rPr lang="en-US" altLang="zh-TW" sz="4800" dirty="0">
                <a:latin typeface="Times New Roman" panose="02020603050405020304" pitchFamily="18" charset="0"/>
                <a:cs typeface="Times New Roman" panose="02020603050405020304" pitchFamily="18" charset="0"/>
              </a:rPr>
              <a:t>with the Bayesian bootstrap</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3227035"/>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Gavin A. Price, Gavin E. Crooks, Richard E. Green, and Steven E. Brenner</a:t>
            </a:r>
            <a:endParaRPr lang="en-US" altLang="zh-TW" sz="32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Feng-Yang</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Tsai</a:t>
            </a:r>
          </a:p>
          <a:p>
            <a:pPr algn="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Date:Mar</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17,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4243880"/>
            <a:ext cx="7622889" cy="954107"/>
          </a:xfrm>
          <a:prstGeom prst="rect">
            <a:avLst/>
          </a:prstGeom>
        </p:spPr>
        <p:txBody>
          <a:bodyPr wrap="square">
            <a:spAutoFit/>
          </a:bodyPr>
          <a:lstStyle/>
          <a:p>
            <a:pPr algn="ct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Bioinformatics, </a:t>
            </a:r>
            <a:r>
              <a:rPr lang="pt-BR" altLang="zh-TW" sz="2800" dirty="0">
                <a:latin typeface="Times New Roman" panose="02020603050405020304" pitchFamily="18" charset="0"/>
                <a:ea typeface="Tahoma" panose="020B0604030504040204" pitchFamily="34" charset="0"/>
                <a:cs typeface="Times New Roman" panose="02020603050405020304" pitchFamily="18" charset="0"/>
              </a:rPr>
              <a:t>Vol. 21 no. 20 2005, pages 3824–3831</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51843"/>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26353"/>
            <a:ext cx="8753533" cy="5131633"/>
          </a:xfrm>
        </p:spPr>
        <p:txBody>
          <a:bodyPr>
            <a:noAutofit/>
          </a:bodyPr>
          <a:lstStyle/>
          <a:p>
            <a:pPr marL="0" indent="0">
              <a:lnSpc>
                <a:spcPts val="3200"/>
              </a:lnSpc>
              <a:buNone/>
            </a:pPr>
            <a:r>
              <a:rPr lang="en-US" altLang="zh-TW" b="1" dirty="0">
                <a:latin typeface="Times New Roman" panose="02020603050405020304" pitchFamily="18" charset="0"/>
                <a:cs typeface="Times New Roman" panose="02020603050405020304" pitchFamily="18" charset="0"/>
              </a:rPr>
              <a:t>Motivation</a:t>
            </a:r>
            <a:r>
              <a:rPr lang="en-US" altLang="zh-TW" dirty="0">
                <a:latin typeface="Times New Roman" panose="02020603050405020304" pitchFamily="18" charset="0"/>
                <a:cs typeface="Times New Roman" panose="02020603050405020304" pitchFamily="18" charset="0"/>
              </a:rPr>
              <a:t>: Protein sequence comparison methods are routinely used to infer the intricate network of evolutionary relationships found within the rapidly growing library of protein sequences, and thereby to predict the structure and function of uncharacterized proteins. In the present study, we detail an improved statistical benchmark of pairwise protein sequence comparison algorithms. We use bootstrap resampling techniques to determine standard statistical errors and to estimate the confidence of our conclusions. We show that the underlying structure within benchmark databases causes </a:t>
            </a:r>
            <a:r>
              <a:rPr lang="en-US" altLang="zh-TW" dirty="0" err="1">
                <a:latin typeface="Times New Roman" panose="02020603050405020304" pitchFamily="18" charset="0"/>
                <a:cs typeface="Times New Roman" panose="02020603050405020304" pitchFamily="18" charset="0"/>
              </a:rPr>
              <a:t>Efron's</a:t>
            </a:r>
            <a:r>
              <a:rPr lang="en-US" altLang="zh-TW" dirty="0">
                <a:latin typeface="Times New Roman" panose="02020603050405020304" pitchFamily="18" charset="0"/>
                <a:cs typeface="Times New Roman" panose="02020603050405020304" pitchFamily="18" charset="0"/>
              </a:rPr>
              <a:t> standard, non-parametric bootstrap to be biased. Consequently, the standard bootstrap underpredicts average performance when used in the context of evaluating sequence comparison methods.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582580"/>
            <a:ext cx="8759149"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We have developed, as an alternative, an unbiased statistical evaluation based on the Bayesian bootstrap, a resampling method operationally similar to the standard bootstrap.</a:t>
            </a:r>
          </a:p>
          <a:p>
            <a:pPr marL="0" indent="0">
              <a:lnSpc>
                <a:spcPts val="3200"/>
              </a:lnSpc>
              <a:buNone/>
            </a:pPr>
            <a:r>
              <a:rPr lang="en-US" altLang="zh-TW" b="1" dirty="0">
                <a:latin typeface="Times New Roman" panose="02020603050405020304" pitchFamily="18" charset="0"/>
                <a:cs typeface="Times New Roman" panose="02020603050405020304" pitchFamily="18" charset="0"/>
              </a:rPr>
              <a:t>Results</a:t>
            </a:r>
            <a:r>
              <a:rPr lang="en-US" altLang="zh-TW" dirty="0">
                <a:latin typeface="Times New Roman" panose="02020603050405020304" pitchFamily="18" charset="0"/>
                <a:cs typeface="Times New Roman" panose="02020603050405020304" pitchFamily="18" charset="0"/>
              </a:rPr>
              <a:t>: We apply our analysis to the comparative study of amino acid substitution matrix families and find that using modern matrices results in a small, but statistically significant improvement in remote homology detection compared with the classic PAM and BLOSUM matrices.</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Homology:</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111145" y="203811"/>
            <a:ext cx="5900914" cy="4375311"/>
          </a:xfrm>
          <a:prstGeom prst="rect">
            <a:avLst/>
          </a:prstGeom>
        </p:spPr>
      </p:pic>
      <p:sp>
        <p:nvSpPr>
          <p:cNvPr id="3" name="矩形 2"/>
          <p:cNvSpPr/>
          <p:nvPr/>
        </p:nvSpPr>
        <p:spPr>
          <a:xfrm>
            <a:off x="794656" y="4579122"/>
            <a:ext cx="7794171" cy="2246769"/>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A high degree if similarity implies a high probability of homology :</a:t>
            </a:r>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 • </a:t>
            </a:r>
            <a:r>
              <a:rPr lang="en-US" altLang="zh-TW" sz="2000" dirty="0">
                <a:latin typeface="Times New Roman" panose="02020603050405020304" pitchFamily="18" charset="0"/>
                <a:cs typeface="Times New Roman" panose="02020603050405020304" pitchFamily="18" charset="0"/>
              </a:rPr>
              <a:t>If two sequences are very similar, the sequences are usually </a:t>
            </a:r>
            <a:r>
              <a:rPr lang="en-US" altLang="zh-TW" sz="2000" dirty="0" smtClean="0">
                <a:latin typeface="Times New Roman" panose="02020603050405020304" pitchFamily="18" charset="0"/>
                <a:cs typeface="Times New Roman" panose="02020603050405020304" pitchFamily="18" charset="0"/>
              </a:rPr>
              <a:t>homologous.</a:t>
            </a:r>
          </a:p>
          <a:p>
            <a:r>
              <a:rPr lang="en-US" altLang="zh-TW" sz="2000" dirty="0" smtClean="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 If two sequence are not similar, we don’t know if they are </a:t>
            </a:r>
            <a:r>
              <a:rPr lang="en-US" altLang="zh-TW" sz="2000" dirty="0" smtClean="0">
                <a:latin typeface="Times New Roman" panose="02020603050405020304" pitchFamily="18" charset="0"/>
                <a:cs typeface="Times New Roman" panose="02020603050405020304" pitchFamily="18" charset="0"/>
              </a:rPr>
              <a:t>homologous.</a:t>
            </a:r>
          </a:p>
          <a:p>
            <a:r>
              <a:rPr lang="en-US" altLang="zh-TW" sz="2000" dirty="0" smtClean="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 If two sequences are not homologous, their sequences are usually not similar (but may be by chance</a:t>
            </a:r>
            <a:r>
              <a:rPr lang="en-US" altLang="zh-TW" sz="2000" dirty="0" smtClean="0">
                <a:latin typeface="Times New Roman" panose="02020603050405020304" pitchFamily="18" charset="0"/>
                <a:cs typeface="Times New Roman" panose="02020603050405020304" pitchFamily="18" charset="0"/>
              </a:rPr>
              <a:t>).</a:t>
            </a:r>
          </a:p>
          <a:p>
            <a:r>
              <a:rPr lang="en-US" altLang="zh-TW" sz="2000" dirty="0" smtClean="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 If two sequences are homologous, their sequences may or may not be similar; we don’t </a:t>
            </a:r>
            <a:r>
              <a:rPr lang="en-US" altLang="zh-TW" sz="2000" dirty="0" smtClean="0">
                <a:latin typeface="Times New Roman" panose="02020603050405020304" pitchFamily="18" charset="0"/>
                <a:cs typeface="Times New Roman" panose="02020603050405020304" pitchFamily="18" charset="0"/>
              </a:rPr>
              <a:t>know.</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662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Significance of alignments:</a:t>
            </a:r>
            <a:endParaRPr lang="zh-TW" altLang="en-US" sz="3200" b="1" dirty="0">
              <a:latin typeface="Times New Roman" panose="02020603050405020304" pitchFamily="18" charset="0"/>
              <a:cs typeface="Times New Roman" panose="02020603050405020304" pitchFamily="18" charset="0"/>
            </a:endParaRPr>
          </a:p>
        </p:txBody>
      </p:sp>
      <p:sp>
        <p:nvSpPr>
          <p:cNvPr id="4" name="矩形 3"/>
          <p:cNvSpPr/>
          <p:nvPr/>
        </p:nvSpPr>
        <p:spPr>
          <a:xfrm>
            <a:off x="609599" y="794657"/>
            <a:ext cx="6770915" cy="1569660"/>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The most commonly used indicator of significance</a:t>
            </a:r>
            <a:r>
              <a:rPr lang="zh-TW" altLang="en-US" sz="2400" dirty="0" smtClean="0">
                <a:latin typeface="Times New Roman" panose="02020603050405020304" pitchFamily="18" charset="0"/>
                <a:cs typeface="Times New Roman" panose="02020603050405020304" pitchFamily="18" charset="0"/>
              </a:rPr>
              <a:t>:</a:t>
            </a:r>
            <a:endParaRPr lang="en-US" altLang="zh-TW" sz="2400" dirty="0" smtClean="0">
              <a:latin typeface="Times New Roman" panose="02020603050405020304" pitchFamily="18" charset="0"/>
              <a:cs typeface="Times New Roman" panose="02020603050405020304" pitchFamily="18" charset="0"/>
            </a:endParaRPr>
          </a:p>
          <a:p>
            <a:r>
              <a:rPr lang="zh-TW" altLang="en-US" sz="2400" dirty="0" smtClean="0">
                <a:latin typeface="Times New Roman" panose="02020603050405020304" pitchFamily="18" charset="0"/>
                <a:cs typeface="Times New Roman" panose="02020603050405020304" pitchFamily="18" charset="0"/>
              </a:rPr>
              <a:t>E</a:t>
            </a:r>
            <a:r>
              <a:rPr lang="zh-TW" altLang="en-US" sz="2400" dirty="0">
                <a:latin typeface="Times New Roman" panose="02020603050405020304" pitchFamily="18" charset="0"/>
                <a:cs typeface="Times New Roman" panose="02020603050405020304" pitchFamily="18" charset="0"/>
              </a:rPr>
              <a:t>-value = Expect value = expected number of random matches at least as good as this one (with at least this alignment score)</a:t>
            </a:r>
          </a:p>
        </p:txBody>
      </p:sp>
      <p:pic>
        <p:nvPicPr>
          <p:cNvPr id="7" name="圖片 6"/>
          <p:cNvPicPr>
            <a:picLocks noChangeAspect="1"/>
          </p:cNvPicPr>
          <p:nvPr/>
        </p:nvPicPr>
        <p:blipFill>
          <a:blip r:embed="rId3"/>
          <a:stretch>
            <a:fillRect/>
          </a:stretch>
        </p:blipFill>
        <p:spPr>
          <a:xfrm>
            <a:off x="609599" y="2469767"/>
            <a:ext cx="4478508" cy="1197462"/>
          </a:xfrm>
          <a:prstGeom prst="rect">
            <a:avLst/>
          </a:prstGeom>
        </p:spPr>
      </p:pic>
      <p:sp>
        <p:nvSpPr>
          <p:cNvPr id="6" name="矩形 5"/>
          <p:cNvSpPr/>
          <p:nvPr/>
        </p:nvSpPr>
        <p:spPr>
          <a:xfrm>
            <a:off x="609600" y="3808550"/>
            <a:ext cx="5061858" cy="2308324"/>
          </a:xfrm>
          <a:prstGeom prst="rect">
            <a:avLst/>
          </a:prstGeom>
        </p:spPr>
        <p:txBody>
          <a:bodyPr wrap="square">
            <a:spAutoFit/>
          </a:bodyPr>
          <a:lstStyle/>
          <a:p>
            <a:r>
              <a:rPr lang="zh-TW" altLang="en-US" sz="2400" dirty="0" smtClean="0">
                <a:latin typeface="Times New Roman" panose="02020603050405020304" pitchFamily="18" charset="0"/>
                <a:cs typeface="Times New Roman" panose="02020603050405020304" pitchFamily="18" charset="0"/>
              </a:rPr>
              <a:t>Here,</a:t>
            </a:r>
            <a:endParaRPr lang="en-US" altLang="zh-TW" sz="2400" dirty="0" smtClean="0">
              <a:latin typeface="Times New Roman" panose="02020603050405020304" pitchFamily="18" charset="0"/>
              <a:cs typeface="Times New Roman" panose="02020603050405020304" pitchFamily="18" charset="0"/>
            </a:endParaRPr>
          </a:p>
          <a:p>
            <a:r>
              <a:rPr lang="zh-TW" altLang="en-US" sz="2400" dirty="0" smtClean="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S is the raw alignment score </a:t>
            </a:r>
            <a:endParaRPr lang="en-US" altLang="zh-TW" sz="2400" dirty="0" smtClean="0">
              <a:latin typeface="Times New Roman" panose="02020603050405020304" pitchFamily="18" charset="0"/>
              <a:cs typeface="Times New Roman" panose="02020603050405020304" pitchFamily="18" charset="0"/>
            </a:endParaRPr>
          </a:p>
          <a:p>
            <a:r>
              <a:rPr lang="zh-TW" altLang="en-US" sz="2400" dirty="0" smtClean="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K and λ are constants that depends on the score matrix and gap penalties used</a:t>
            </a:r>
            <a:r>
              <a:rPr lang="zh-TW" altLang="en-US" sz="2400" dirty="0" smtClean="0">
                <a:latin typeface="Times New Roman" panose="02020603050405020304" pitchFamily="18" charset="0"/>
                <a:cs typeface="Times New Roman" panose="02020603050405020304" pitchFamily="18" charset="0"/>
              </a:rPr>
              <a:t>.</a:t>
            </a:r>
            <a:endParaRPr lang="en-US" altLang="zh-TW" sz="2400" dirty="0" smtClean="0">
              <a:latin typeface="Times New Roman" panose="02020603050405020304" pitchFamily="18" charset="0"/>
              <a:cs typeface="Times New Roman" panose="02020603050405020304" pitchFamily="18" charset="0"/>
            </a:endParaRPr>
          </a:p>
          <a:p>
            <a:r>
              <a:rPr lang="zh-TW" altLang="en-US" sz="2400" dirty="0" smtClean="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M and N are the lengths of the query and database </a:t>
            </a:r>
            <a:r>
              <a:rPr lang="zh-TW" altLang="en-US" sz="2400" dirty="0" smtClean="0">
                <a:latin typeface="Times New Roman" panose="02020603050405020304" pitchFamily="18" charset="0"/>
                <a:cs typeface="Times New Roman" panose="02020603050405020304" pitchFamily="18" charset="0"/>
              </a:rPr>
              <a:t>sequences</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802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The CVE Plot:</a:t>
            </a:r>
            <a:endParaRPr lang="zh-TW" altLang="en-US" sz="3200" b="1"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789B474D-0ED9-4199-964F-AD4AC903D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4143" y="564114"/>
            <a:ext cx="4740196" cy="6293886"/>
          </a:xfrm>
          <a:prstGeom prst="rect">
            <a:avLst/>
          </a:prstGeom>
        </p:spPr>
      </p:pic>
    </p:spTree>
    <p:extLst>
      <p:ext uri="{BB962C8B-B14F-4D97-AF65-F5344CB8AC3E}">
        <p14:creationId xmlns:p14="http://schemas.microsoft.com/office/powerpoint/2010/main" val="3643201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90964" y="1687567"/>
            <a:ext cx="2576346"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S</a:t>
            </a:r>
            <a:r>
              <a:rPr lang="zh-TW" altLang="en-US" sz="2400" dirty="0" smtClean="0">
                <a:latin typeface="Times New Roman" panose="02020603050405020304" pitchFamily="18" charset="0"/>
                <a:cs typeface="Times New Roman" panose="02020603050405020304" pitchFamily="18" charset="0"/>
              </a:rPr>
              <a:t>uperfamily</a:t>
            </a:r>
            <a:r>
              <a:rPr lang="en-US" altLang="zh-TW" sz="2400" dirty="0" smtClean="0">
                <a:latin typeface="Times New Roman" panose="02020603050405020304" pitchFamily="18" charset="0"/>
                <a:cs typeface="Times New Roman" panose="02020603050405020304" pitchFamily="18" charset="0"/>
              </a:rPr>
              <a:t>:A,B,C</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490964" y="2443536"/>
            <a:ext cx="2939211" cy="461665"/>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A:200 B:20 C:2</a:t>
            </a:r>
            <a:endParaRPr lang="zh-TW" alt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490964" y="2046795"/>
            <a:ext cx="3632726" cy="461665"/>
          </a:xfrm>
          <a:prstGeom prst="rect">
            <a:avLst/>
          </a:prstGeom>
        </p:spPr>
        <p:txBody>
          <a:bodyPr wrap="none">
            <a:spAutoFit/>
          </a:bodyPr>
          <a:lstStyle/>
          <a:p>
            <a:r>
              <a:rPr lang="en-US" altLang="zh-TW" sz="2400" dirty="0" smtClean="0">
                <a:solidFill>
                  <a:srgbClr val="2A2A2A"/>
                </a:solidFill>
                <a:latin typeface="Times New Roman" panose="02020603050405020304" pitchFamily="18" charset="0"/>
                <a:cs typeface="Times New Roman" panose="02020603050405020304" pitchFamily="18" charset="0"/>
              </a:rPr>
              <a:t>The size of the superfamily:</a:t>
            </a:r>
            <a:endParaRPr lang="zh-TW" altLang="en-US" sz="2400" dirty="0">
              <a:latin typeface="Times New Roman" panose="02020603050405020304" pitchFamily="18" charset="0"/>
              <a:cs typeface="Times New Roman" panose="02020603050405020304" pitchFamily="18" charset="0"/>
            </a:endParaRPr>
          </a:p>
        </p:txBody>
      </p:sp>
      <p:sp>
        <p:nvSpPr>
          <p:cNvPr id="12" name="標題 1">
            <a:extLst>
              <a:ext uri="{FF2B5EF4-FFF2-40B4-BE49-F238E27FC236}">
                <a16:creationId xmlns:a16="http://schemas.microsoft.com/office/drawing/2014/main" id="{FDBD9B01-21FB-448C-8E4B-4ABAB0B0B6B9}"/>
              </a:ext>
            </a:extLst>
          </p:cNvPr>
          <p:cNvSpPr>
            <a:spLocks noGrp="1"/>
          </p:cNvSpPr>
          <p:nvPr>
            <p:ph type="title"/>
          </p:nvPr>
        </p:nvSpPr>
        <p:spPr>
          <a:xfrm>
            <a:off x="179788" y="139281"/>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Superfamily Size Normalization</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3"/>
          <a:stretch>
            <a:fillRect/>
          </a:stretch>
        </p:blipFill>
        <p:spPr>
          <a:xfrm>
            <a:off x="4021210" y="620878"/>
            <a:ext cx="4392035" cy="3249242"/>
          </a:xfrm>
          <a:prstGeom prst="rect">
            <a:avLst/>
          </a:prstGeom>
        </p:spPr>
      </p:pic>
      <mc:AlternateContent xmlns:mc="http://schemas.openxmlformats.org/markup-compatibility/2006">
        <mc:Choice xmlns:a14="http://schemas.microsoft.com/office/drawing/2010/main" Requires="a14">
          <p:sp>
            <p:nvSpPr>
              <p:cNvPr id="10" name="文字方塊 9"/>
              <p:cNvSpPr txBox="1"/>
              <p:nvPr/>
            </p:nvSpPr>
            <p:spPr>
              <a:xfrm>
                <a:off x="713862" y="4409949"/>
                <a:ext cx="6818552" cy="1804276"/>
              </a:xfrm>
              <a:prstGeom prst="rect">
                <a:avLst/>
              </a:prstGeom>
              <a:noFill/>
            </p:spPr>
            <p:txBody>
              <a:bodyPr wrap="square" lIns="0" tIns="0" rIns="0" bIns="0" rtlCol="0">
                <a:spAutoFit/>
              </a:bodyPr>
              <a:lstStyle/>
              <a:p>
                <a:r>
                  <a:rPr lang="en-US" altLang="zh-TW" sz="2400" dirty="0" smtClean="0">
                    <a:latin typeface="Times New Roman" panose="02020603050405020304" pitchFamily="18" charset="0"/>
                    <a:cs typeface="Times New Roman" panose="02020603050405020304" pitchFamily="18" charset="0"/>
                  </a:rPr>
                  <a:t>No Coverage</a:t>
                </a:r>
              </a:p>
              <a:p>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f>
                        <m:fPr>
                          <m:ctrlPr>
                            <a:rPr lang="en-US" altLang="zh-TW" sz="2400" i="1" smtClean="0">
                              <a:latin typeface="Cambria Math" panose="02040503050406030204" pitchFamily="18" charset="0"/>
                            </a:rPr>
                          </m:ctrlPr>
                        </m:fPr>
                        <m:num>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(200</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−200)+</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m:t>
                              </m:r>
                              <m:r>
                                <a:rPr lang="en-US" altLang="zh-TW" sz="2400" i="1" smtClean="0">
                                  <a:latin typeface="Cambria Math" panose="02040503050406030204" pitchFamily="18" charset="0"/>
                                </a:rPr>
                                <m:t>20</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−20)</m:t>
                          </m:r>
                          <m:r>
                            <a:rPr lang="en-US" altLang="zh-TW" sz="240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i="1">
                                  <a:latin typeface="Cambria Math" panose="02040503050406030204" pitchFamily="18" charset="0"/>
                                </a:rPr>
                                <m:t>(2</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m:t>
                          </m:r>
                        </m:num>
                        <m:den>
                          <m:sSup>
                            <m:sSupPr>
                              <m:ctrlPr>
                                <a:rPr lang="en-US" altLang="zh-TW" sz="2400" i="1" smtClean="0">
                                  <a:latin typeface="Cambria Math" panose="02040503050406030204" pitchFamily="18" charset="0"/>
                                </a:rPr>
                              </m:ctrlPr>
                            </m:sSupPr>
                            <m:e>
                              <m:r>
                                <a:rPr lang="en-US" altLang="zh-TW" sz="2400" i="1">
                                  <a:latin typeface="Cambria Math" panose="02040503050406030204" pitchFamily="18" charset="0"/>
                                </a:rPr>
                                <m:t>2</m:t>
                              </m:r>
                              <m:r>
                                <a:rPr lang="en-US" altLang="zh-TW" sz="2400" b="0" i="1" smtClean="0">
                                  <a:latin typeface="Cambria Math" panose="02040503050406030204" pitchFamily="18" charset="0"/>
                                </a:rPr>
                                <m:t>22</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m:t>
                          </m:r>
                          <m:r>
                            <a:rPr lang="en-US" altLang="zh-TW" sz="2400" b="0" i="1" smtClean="0">
                              <a:latin typeface="Cambria Math" panose="02040503050406030204" pitchFamily="18" charset="0"/>
                            </a:rPr>
                            <m:t>22</m:t>
                          </m:r>
                        </m:den>
                      </m:f>
                      <m:r>
                        <a:rPr lang="en-US" altLang="zh-TW" sz="2400" i="1">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40182</m:t>
                          </m:r>
                        </m:num>
                        <m:den>
                          <m:r>
                            <a:rPr lang="en-US" altLang="zh-TW" sz="2400" b="0" i="1" smtClean="0">
                              <a:latin typeface="Cambria Math" panose="02040503050406030204" pitchFamily="18" charset="0"/>
                            </a:rPr>
                            <m:t>49062</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181</m:t>
                          </m:r>
                        </m:num>
                        <m:den>
                          <m:r>
                            <a:rPr lang="en-US" altLang="zh-TW" sz="2400" b="0" i="1" smtClean="0">
                              <a:latin typeface="Cambria Math" panose="02040503050406030204" pitchFamily="18" charset="0"/>
                            </a:rPr>
                            <m:t>221</m:t>
                          </m:r>
                        </m:den>
                      </m:f>
                    </m:oMath>
                  </m:oMathPara>
                </a14:m>
                <a:endParaRPr lang="zh-TW" altLang="en-US" sz="2400" dirty="0">
                  <a:latin typeface="Times New Roman" panose="02020603050405020304" pitchFamily="18" charset="0"/>
                  <a:cs typeface="Times New Roman" panose="02020603050405020304" pitchFamily="18" charset="0"/>
                </a:endParaRPr>
              </a:p>
            </p:txBody>
          </p:sp>
        </mc:Choice>
        <mc:Fallback>
          <p:sp>
            <p:nvSpPr>
              <p:cNvPr id="10" name="文字方塊 9"/>
              <p:cNvSpPr txBox="1">
                <a:spLocks noRot="1" noChangeAspect="1" noMove="1" noResize="1" noEditPoints="1" noAdjustHandles="1" noChangeArrowheads="1" noChangeShapeType="1" noTextEdit="1"/>
              </p:cNvSpPr>
              <p:nvPr/>
            </p:nvSpPr>
            <p:spPr>
              <a:xfrm>
                <a:off x="713862" y="4409949"/>
                <a:ext cx="6818552" cy="1804276"/>
              </a:xfrm>
              <a:prstGeom prst="rect">
                <a:avLst/>
              </a:prstGeom>
              <a:blipFill>
                <a:blip r:embed="rId4"/>
                <a:stretch>
                  <a:fillRect l="-2681" t="-5068"/>
                </a:stretch>
              </a:blipFill>
            </p:spPr>
            <p:txBody>
              <a:bodyPr/>
              <a:lstStyle/>
              <a:p>
                <a:r>
                  <a:rPr lang="zh-TW" altLang="en-US">
                    <a:noFill/>
                  </a:rPr>
                  <a:t> </a:t>
                </a:r>
              </a:p>
            </p:txBody>
          </p:sp>
        </mc:Fallback>
      </mc:AlternateContent>
      <p:sp>
        <p:nvSpPr>
          <p:cNvPr id="22" name="文字方塊 21"/>
          <p:cNvSpPr txBox="1"/>
          <p:nvPr/>
        </p:nvSpPr>
        <p:spPr>
          <a:xfrm>
            <a:off x="713862" y="743442"/>
            <a:ext cx="3158237"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Assume 100% coverage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007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8484" y="1687567"/>
            <a:ext cx="2576346"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S</a:t>
            </a:r>
            <a:r>
              <a:rPr lang="zh-TW" altLang="en-US" sz="2400" dirty="0" smtClean="0">
                <a:latin typeface="Times New Roman" panose="02020603050405020304" pitchFamily="18" charset="0"/>
                <a:cs typeface="Times New Roman" panose="02020603050405020304" pitchFamily="18" charset="0"/>
              </a:rPr>
              <a:t>uperfamily</a:t>
            </a:r>
            <a:r>
              <a:rPr lang="en-US" altLang="zh-TW" sz="2400" dirty="0" smtClean="0">
                <a:latin typeface="Times New Roman" panose="02020603050405020304" pitchFamily="18" charset="0"/>
                <a:cs typeface="Times New Roman" panose="02020603050405020304" pitchFamily="18" charset="0"/>
              </a:rPr>
              <a:t>:A,B,C</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8484" y="2443536"/>
            <a:ext cx="2939211" cy="461665"/>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A:200 B:20 C:2</a:t>
            </a:r>
            <a:endParaRPr lang="zh-TW" alt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388484" y="2046795"/>
            <a:ext cx="3632726" cy="461665"/>
          </a:xfrm>
          <a:prstGeom prst="rect">
            <a:avLst/>
          </a:prstGeom>
        </p:spPr>
        <p:txBody>
          <a:bodyPr wrap="none">
            <a:spAutoFit/>
          </a:bodyPr>
          <a:lstStyle/>
          <a:p>
            <a:r>
              <a:rPr lang="en-US" altLang="zh-TW" sz="2400" dirty="0" smtClean="0">
                <a:solidFill>
                  <a:srgbClr val="2A2A2A"/>
                </a:solidFill>
                <a:latin typeface="Times New Roman" panose="02020603050405020304" pitchFamily="18" charset="0"/>
                <a:cs typeface="Times New Roman" panose="02020603050405020304" pitchFamily="18" charset="0"/>
              </a:rPr>
              <a:t>The size of the superfamily:</a:t>
            </a:r>
            <a:endParaRPr lang="zh-TW" altLang="en-US" sz="2400" dirty="0">
              <a:latin typeface="Times New Roman" panose="02020603050405020304" pitchFamily="18" charset="0"/>
              <a:cs typeface="Times New Roman" panose="02020603050405020304" pitchFamily="18" charset="0"/>
            </a:endParaRPr>
          </a:p>
        </p:txBody>
      </p:sp>
      <p:sp>
        <p:nvSpPr>
          <p:cNvPr id="12" name="標題 1">
            <a:extLst>
              <a:ext uri="{FF2B5EF4-FFF2-40B4-BE49-F238E27FC236}">
                <a16:creationId xmlns:a16="http://schemas.microsoft.com/office/drawing/2014/main" id="{FDBD9B01-21FB-448C-8E4B-4ABAB0B0B6B9}"/>
              </a:ext>
            </a:extLst>
          </p:cNvPr>
          <p:cNvSpPr>
            <a:spLocks noGrp="1"/>
          </p:cNvSpPr>
          <p:nvPr>
            <p:ph type="title"/>
          </p:nvPr>
        </p:nvSpPr>
        <p:spPr>
          <a:xfrm>
            <a:off x="179788" y="139281"/>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Superfamily Size Normalization:</a:t>
            </a:r>
            <a:endParaRPr lang="zh-TW" altLang="en-US" sz="3200" b="1"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3"/>
          <a:stretch>
            <a:fillRect/>
          </a:stretch>
        </p:blipFill>
        <p:spPr>
          <a:xfrm>
            <a:off x="4021210" y="620878"/>
            <a:ext cx="4392035" cy="3249242"/>
          </a:xfrm>
          <a:prstGeom prst="rect">
            <a:avLst/>
          </a:prstGeom>
        </p:spPr>
      </p:pic>
      <mc:AlternateContent xmlns:mc="http://schemas.openxmlformats.org/markup-compatibility/2006">
        <mc:Choice xmlns:a14="http://schemas.microsoft.com/office/drawing/2010/main" Requires="a14">
          <p:sp>
            <p:nvSpPr>
              <p:cNvPr id="17" name="文字方塊 16"/>
              <p:cNvSpPr txBox="1"/>
              <p:nvPr/>
            </p:nvSpPr>
            <p:spPr>
              <a:xfrm>
                <a:off x="665523" y="4266861"/>
                <a:ext cx="6609184" cy="2236766"/>
              </a:xfrm>
              <a:prstGeom prst="rect">
                <a:avLst/>
              </a:prstGeom>
              <a:noFill/>
            </p:spPr>
            <p:txBody>
              <a:bodyPr wrap="square" lIns="0" tIns="0" rIns="0" bIns="0" rtlCol="0">
                <a:spAutoFit/>
              </a:bodyPr>
              <a:lstStyle/>
              <a:p>
                <a:r>
                  <a:rPr lang="en-US" altLang="zh-TW" sz="2400" dirty="0" smtClean="0">
                    <a:latin typeface="Times New Roman" panose="02020603050405020304" pitchFamily="18" charset="0"/>
                    <a:cs typeface="Times New Roman" panose="02020603050405020304" pitchFamily="18" charset="0"/>
                  </a:rPr>
                  <a:t>L</a:t>
                </a:r>
                <a:r>
                  <a:rPr lang="en-US" altLang="zh-TW" sz="2400" dirty="0">
                    <a:latin typeface="Times New Roman" panose="02020603050405020304" pitchFamily="18" charset="0"/>
                    <a:cs typeface="Times New Roman" panose="02020603050405020304" pitchFamily="18" charset="0"/>
                  </a:rPr>
                  <a:t>i</a:t>
                </a:r>
                <a:r>
                  <a:rPr lang="en-US" altLang="zh-TW" sz="2400" dirty="0" smtClean="0">
                    <a:latin typeface="Times New Roman" panose="02020603050405020304" pitchFamily="18" charset="0"/>
                    <a:cs typeface="Times New Roman" panose="02020603050405020304" pitchFamily="18" charset="0"/>
                  </a:rPr>
                  <a:t> Coverage</a:t>
                </a:r>
                <a:endParaRPr lang="en-US" altLang="zh-TW" sz="2400" i="1" dirty="0" smtClean="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f>
                        <m:fPr>
                          <m:ctrlPr>
                            <a:rPr lang="en-US" altLang="zh-TW" sz="2400" i="1" smtClean="0">
                              <a:latin typeface="Cambria Math" panose="02040503050406030204" pitchFamily="18" charset="0"/>
                            </a:rPr>
                          </m:ctrlPr>
                        </m:fPr>
                        <m:num>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(200</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−200)</m:t>
                          </m:r>
                        </m:num>
                        <m:den>
                          <m:r>
                            <a:rPr lang="en-US" altLang="zh-TW" sz="2400" b="0" i="1" smtClean="0">
                              <a:latin typeface="Cambria Math" panose="02040503050406030204" pitchFamily="18" charset="0"/>
                            </a:rPr>
                            <m:t>222(200−1)</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m:t>
                              </m:r>
                              <m:r>
                                <a:rPr lang="en-US" altLang="zh-TW" sz="2400" b="0" i="1" smtClean="0">
                                  <a:latin typeface="Cambria Math" panose="02040503050406030204" pitchFamily="18" charset="0"/>
                                </a:rPr>
                                <m:t>20</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−20)</m:t>
                          </m:r>
                        </m:num>
                        <m:den>
                          <m:r>
                            <a:rPr lang="en-US" altLang="zh-TW" sz="2400" i="1">
                              <a:latin typeface="Cambria Math" panose="02040503050406030204" pitchFamily="18" charset="0"/>
                            </a:rPr>
                            <m:t>222(20−1)</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(2</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m:t>
                          </m:r>
                        </m:num>
                        <m:den>
                          <m:r>
                            <a:rPr lang="en-US" altLang="zh-TW" sz="2400" i="1">
                              <a:latin typeface="Cambria Math" panose="02040503050406030204" pitchFamily="18" charset="0"/>
                            </a:rPr>
                            <m:t>222(2−1)</m:t>
                          </m:r>
                        </m:den>
                      </m:f>
                      <m:r>
                        <a:rPr lang="en-US" altLang="zh-TW" sz="2400" b="0" i="1"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100</m:t>
                          </m:r>
                        </m:num>
                        <m:den>
                          <m:r>
                            <a:rPr lang="en-US" altLang="zh-TW" sz="2400" b="0" i="1" smtClean="0">
                              <a:latin typeface="Cambria Math" panose="02040503050406030204" pitchFamily="18" charset="0"/>
                            </a:rPr>
                            <m:t>111</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10</m:t>
                          </m:r>
                        </m:num>
                        <m:den>
                          <m:r>
                            <a:rPr lang="en-US" altLang="zh-TW" sz="2400" i="1">
                              <a:latin typeface="Cambria Math" panose="02040503050406030204" pitchFamily="18" charset="0"/>
                            </a:rPr>
                            <m:t>111</m:t>
                          </m:r>
                        </m:den>
                      </m:f>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111</m:t>
                          </m:r>
                        </m:den>
                      </m:f>
                      <m:r>
                        <a:rPr lang="en-US" altLang="zh-TW" sz="2400" b="0" i="1" smtClean="0">
                          <a:latin typeface="Cambria Math" panose="02040503050406030204" pitchFamily="18" charset="0"/>
                        </a:rPr>
                        <m:t>=1</m:t>
                      </m:r>
                    </m:oMath>
                  </m:oMathPara>
                </a14:m>
                <a:endParaRPr lang="en-US" altLang="zh-TW" sz="2400" i="1" dirty="0">
                  <a:latin typeface="Cambria Math" panose="02040503050406030204" pitchFamily="18" charset="0"/>
                </a:endParaRPr>
              </a:p>
              <a:p>
                <a:endParaRPr lang="en-US" altLang="zh-TW" sz="2400" i="1" dirty="0">
                  <a:latin typeface="Cambria Math" panose="02040503050406030204" pitchFamily="18" charset="0"/>
                </a:endParaRPr>
              </a:p>
            </p:txBody>
          </p:sp>
        </mc:Choice>
        <mc:Fallback>
          <p:sp>
            <p:nvSpPr>
              <p:cNvPr id="17" name="文字方塊 16"/>
              <p:cNvSpPr txBox="1">
                <a:spLocks noRot="1" noChangeAspect="1" noMove="1" noResize="1" noEditPoints="1" noAdjustHandles="1" noChangeArrowheads="1" noChangeShapeType="1" noTextEdit="1"/>
              </p:cNvSpPr>
              <p:nvPr/>
            </p:nvSpPr>
            <p:spPr>
              <a:xfrm>
                <a:off x="665523" y="4266861"/>
                <a:ext cx="6609184" cy="2236766"/>
              </a:xfrm>
              <a:prstGeom prst="rect">
                <a:avLst/>
              </a:prstGeom>
              <a:blipFill>
                <a:blip r:embed="rId4"/>
                <a:stretch>
                  <a:fillRect l="-2768" t="-43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09568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0674" y="1687567"/>
            <a:ext cx="2576346"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S</a:t>
            </a:r>
            <a:r>
              <a:rPr lang="zh-TW" altLang="en-US" sz="2400" dirty="0" smtClean="0">
                <a:latin typeface="Times New Roman" panose="02020603050405020304" pitchFamily="18" charset="0"/>
                <a:cs typeface="Times New Roman" panose="02020603050405020304" pitchFamily="18" charset="0"/>
              </a:rPr>
              <a:t>uperfamily</a:t>
            </a:r>
            <a:r>
              <a:rPr lang="en-US" altLang="zh-TW" sz="2400" dirty="0" smtClean="0">
                <a:latin typeface="Times New Roman" panose="02020603050405020304" pitchFamily="18" charset="0"/>
                <a:cs typeface="Times New Roman" panose="02020603050405020304" pitchFamily="18" charset="0"/>
              </a:rPr>
              <a:t>:A,B,C</a:t>
            </a:r>
            <a:endParaRPr lang="zh-TW"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500674" y="2443536"/>
            <a:ext cx="2939211" cy="461665"/>
          </a:xfrm>
          <a:prstGeom prst="rect">
            <a:avLst/>
          </a:prstGeom>
        </p:spPr>
        <p:txBody>
          <a:bodyPr wrap="square">
            <a:spAutoFit/>
          </a:bodyPr>
          <a:lstStyle/>
          <a:p>
            <a:r>
              <a:rPr lang="en-US" altLang="zh-TW" sz="2400" dirty="0" smtClean="0">
                <a:latin typeface="Times New Roman" panose="02020603050405020304" pitchFamily="18" charset="0"/>
                <a:cs typeface="Times New Roman" panose="02020603050405020304" pitchFamily="18" charset="0"/>
              </a:rPr>
              <a:t>A:200 B:20 C:2</a:t>
            </a:r>
            <a:endParaRPr lang="zh-TW" altLang="en-US" sz="2400" dirty="0">
              <a:latin typeface="Times New Roman" panose="02020603050405020304" pitchFamily="18" charset="0"/>
              <a:cs typeface="Times New Roman" panose="02020603050405020304" pitchFamily="18" charset="0"/>
            </a:endParaRPr>
          </a:p>
        </p:txBody>
      </p:sp>
      <p:sp>
        <p:nvSpPr>
          <p:cNvPr id="8" name="矩形 7"/>
          <p:cNvSpPr/>
          <p:nvPr/>
        </p:nvSpPr>
        <p:spPr>
          <a:xfrm>
            <a:off x="500674" y="2046795"/>
            <a:ext cx="3632726" cy="461665"/>
          </a:xfrm>
          <a:prstGeom prst="rect">
            <a:avLst/>
          </a:prstGeom>
        </p:spPr>
        <p:txBody>
          <a:bodyPr wrap="none">
            <a:spAutoFit/>
          </a:bodyPr>
          <a:lstStyle/>
          <a:p>
            <a:r>
              <a:rPr lang="en-US" altLang="zh-TW" sz="2400" dirty="0" smtClean="0">
                <a:solidFill>
                  <a:srgbClr val="2A2A2A"/>
                </a:solidFill>
                <a:latin typeface="Times New Roman" panose="02020603050405020304" pitchFamily="18" charset="0"/>
                <a:cs typeface="Times New Roman" panose="02020603050405020304" pitchFamily="18" charset="0"/>
              </a:rPr>
              <a:t>The size of the superfamily:</a:t>
            </a:r>
            <a:endParaRPr lang="zh-TW" altLang="en-US" sz="2400" dirty="0">
              <a:latin typeface="Times New Roman" panose="02020603050405020304" pitchFamily="18" charset="0"/>
              <a:cs typeface="Times New Roman" panose="02020603050405020304" pitchFamily="18" charset="0"/>
            </a:endParaRPr>
          </a:p>
        </p:txBody>
      </p:sp>
      <p:sp>
        <p:nvSpPr>
          <p:cNvPr id="12" name="標題 1">
            <a:extLst>
              <a:ext uri="{FF2B5EF4-FFF2-40B4-BE49-F238E27FC236}">
                <a16:creationId xmlns:a16="http://schemas.microsoft.com/office/drawing/2014/main" id="{FDBD9B01-21FB-448C-8E4B-4ABAB0B0B6B9}"/>
              </a:ext>
            </a:extLst>
          </p:cNvPr>
          <p:cNvSpPr>
            <a:spLocks noGrp="1"/>
          </p:cNvSpPr>
          <p:nvPr>
            <p:ph type="title"/>
          </p:nvPr>
        </p:nvSpPr>
        <p:spPr>
          <a:xfrm>
            <a:off x="179788" y="139281"/>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Superfamily Size Normalization:</a:t>
            </a:r>
            <a:endParaRPr lang="zh-TW" altLang="en-US" sz="3200" b="1"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3"/>
          <a:stretch>
            <a:fillRect/>
          </a:stretch>
        </p:blipFill>
        <p:spPr>
          <a:xfrm>
            <a:off x="4021210" y="620878"/>
            <a:ext cx="4392035" cy="3249242"/>
          </a:xfrm>
          <a:prstGeom prst="rect">
            <a:avLst/>
          </a:prstGeom>
        </p:spPr>
      </p:pic>
      <mc:AlternateContent xmlns:mc="http://schemas.openxmlformats.org/markup-compatibility/2006">
        <mc:Choice xmlns:a14="http://schemas.microsoft.com/office/drawing/2010/main" Requires="a14">
          <p:sp>
            <p:nvSpPr>
              <p:cNvPr id="17" name="文字方塊 16"/>
              <p:cNvSpPr txBox="1"/>
              <p:nvPr/>
            </p:nvSpPr>
            <p:spPr>
              <a:xfrm>
                <a:off x="665523" y="4266861"/>
                <a:ext cx="6609184" cy="1545295"/>
              </a:xfrm>
              <a:prstGeom prst="rect">
                <a:avLst/>
              </a:prstGeom>
              <a:noFill/>
            </p:spPr>
            <p:txBody>
              <a:bodyPr wrap="square" lIns="0" tIns="0" rIns="0" bIns="0" rtlCol="0">
                <a:spAutoFit/>
              </a:bodyPr>
              <a:lstStyle/>
              <a:p>
                <a:r>
                  <a:rPr lang="en-US" altLang="zh-TW" sz="2400" dirty="0" smtClean="0">
                    <a:latin typeface="Times New Roman" panose="02020603050405020304" pitchFamily="18" charset="0"/>
                    <a:cs typeface="Times New Roman" panose="02020603050405020304" pitchFamily="18" charset="0"/>
                  </a:rPr>
                  <a:t>Qu Coverage</a:t>
                </a:r>
                <a:endParaRPr lang="en-US" altLang="zh-TW" sz="2400" i="1" dirty="0" smtClean="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f>
                        <m:fPr>
                          <m:ctrlPr>
                            <a:rPr lang="en-US" altLang="zh-TW" sz="2400" i="1" smtClean="0">
                              <a:latin typeface="Cambria Math" panose="02040503050406030204" pitchFamily="18" charset="0"/>
                            </a:rPr>
                          </m:ctrlPr>
                        </m:fPr>
                        <m:num>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(200</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−200)</m:t>
                          </m:r>
                        </m:num>
                        <m:den>
                          <m:r>
                            <a:rPr lang="en-US" altLang="zh-TW" sz="2400" b="0" i="1" smtClean="0">
                              <a:latin typeface="Cambria Math" panose="02040503050406030204" pitchFamily="18" charset="0"/>
                            </a:rPr>
                            <m:t>3</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(200</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−200)</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m:t>
                              </m:r>
                              <m:r>
                                <a:rPr lang="en-US" altLang="zh-TW" sz="2400" b="0" i="1" smtClean="0">
                                  <a:latin typeface="Cambria Math" panose="02040503050406030204" pitchFamily="18" charset="0"/>
                                </a:rPr>
                                <m:t>20</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−20)</m:t>
                          </m:r>
                        </m:num>
                        <m:den>
                          <m:r>
                            <a:rPr lang="en-US" altLang="zh-TW" sz="2400" b="0" i="1" smtClean="0">
                              <a:latin typeface="Cambria Math" panose="02040503050406030204" pitchFamily="18" charset="0"/>
                            </a:rPr>
                            <m:t>3</m:t>
                          </m:r>
                          <m:sSup>
                            <m:sSupPr>
                              <m:ctrlPr>
                                <a:rPr lang="en-US" altLang="zh-TW" sz="2400" i="1" smtClean="0">
                                  <a:latin typeface="Cambria Math" panose="02040503050406030204" pitchFamily="18" charset="0"/>
                                </a:rPr>
                              </m:ctrlPr>
                            </m:sSupPr>
                            <m:e>
                              <m:r>
                                <a:rPr lang="en-US" altLang="zh-TW" sz="2400" i="1">
                                  <a:latin typeface="Cambria Math" panose="02040503050406030204" pitchFamily="18" charset="0"/>
                                </a:rPr>
                                <m:t>(</m:t>
                              </m:r>
                              <m:r>
                                <a:rPr lang="en-US" altLang="zh-TW" sz="2400" i="1">
                                  <a:latin typeface="Cambria Math" panose="02040503050406030204" pitchFamily="18" charset="0"/>
                                </a:rPr>
                                <m:t>20</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−20)</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(2</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m:t>
                          </m:r>
                        </m:num>
                        <m:den>
                          <m:r>
                            <a:rPr lang="en-US" altLang="zh-TW" sz="2400" b="0" i="1" smtClean="0">
                              <a:latin typeface="Cambria Math" panose="02040503050406030204" pitchFamily="18" charset="0"/>
                            </a:rPr>
                            <m:t>3</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(2</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−2)</m:t>
                          </m:r>
                        </m:den>
                      </m:f>
                      <m:r>
                        <a:rPr lang="en-US" altLang="zh-TW" sz="2400" b="0" i="1" smtClean="0">
                          <a:latin typeface="Cambria Math" panose="02040503050406030204" pitchFamily="18" charset="0"/>
                        </a:rPr>
                        <m:t>=1</m:t>
                      </m:r>
                    </m:oMath>
                  </m:oMathPara>
                </a14:m>
                <a:endParaRPr lang="en-US" altLang="zh-TW" sz="2400" i="1" dirty="0">
                  <a:latin typeface="Cambria Math" panose="02040503050406030204" pitchFamily="18" charset="0"/>
                </a:endParaRPr>
              </a:p>
              <a:p>
                <a:endParaRPr lang="en-US" altLang="zh-TW" sz="2400" i="1" dirty="0">
                  <a:latin typeface="Cambria Math" panose="02040503050406030204" pitchFamily="18" charset="0"/>
                </a:endParaRPr>
              </a:p>
            </p:txBody>
          </p:sp>
        </mc:Choice>
        <mc:Fallback>
          <p:sp>
            <p:nvSpPr>
              <p:cNvPr id="17" name="文字方塊 16"/>
              <p:cNvSpPr txBox="1">
                <a:spLocks noRot="1" noChangeAspect="1" noMove="1" noResize="1" noEditPoints="1" noAdjustHandles="1" noChangeArrowheads="1" noChangeShapeType="1" noTextEdit="1"/>
              </p:cNvSpPr>
              <p:nvPr/>
            </p:nvSpPr>
            <p:spPr>
              <a:xfrm>
                <a:off x="665523" y="4266861"/>
                <a:ext cx="6609184" cy="1545295"/>
              </a:xfrm>
              <a:prstGeom prst="rect">
                <a:avLst/>
              </a:prstGeom>
              <a:blipFill>
                <a:blip r:embed="rId4"/>
                <a:stretch>
                  <a:fillRect l="-2768" t="-63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1032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Bootstrapping:</a:t>
            </a:r>
            <a:endParaRPr lang="zh-TW" altLang="en-US" sz="3200" b="1"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A8E966C3-A0B5-416B-ABC5-AB6221814731}"/>
              </a:ext>
            </a:extLst>
          </p:cNvPr>
          <p:cNvSpPr/>
          <p:nvPr/>
        </p:nvSpPr>
        <p:spPr>
          <a:xfrm>
            <a:off x="1279002" y="5329364"/>
            <a:ext cx="7077919" cy="923330"/>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CVE results from any two database search methods (or parameter sets, or scoring schemes, etc.) can be compared but it is not immediately obvious how significant any performance difference may be.</a:t>
            </a:r>
          </a:p>
        </p:txBody>
      </p:sp>
      <p:pic>
        <p:nvPicPr>
          <p:cNvPr id="4" name="圖片 3">
            <a:extLst>
              <a:ext uri="{FF2B5EF4-FFF2-40B4-BE49-F238E27FC236}">
                <a16:creationId xmlns:a16="http://schemas.microsoft.com/office/drawing/2014/main" id="{EA3CCA1B-89F5-4635-8DF3-7BF062A394CF}"/>
              </a:ext>
            </a:extLst>
          </p:cNvPr>
          <p:cNvPicPr>
            <a:picLocks noChangeAspect="1"/>
          </p:cNvPicPr>
          <p:nvPr/>
        </p:nvPicPr>
        <p:blipFill>
          <a:blip r:embed="rId3"/>
          <a:stretch>
            <a:fillRect/>
          </a:stretch>
        </p:blipFill>
        <p:spPr>
          <a:xfrm>
            <a:off x="357676" y="689207"/>
            <a:ext cx="4214324" cy="4424340"/>
          </a:xfrm>
          <a:prstGeom prst="rect">
            <a:avLst/>
          </a:prstGeom>
        </p:spPr>
      </p:pic>
      <p:pic>
        <p:nvPicPr>
          <p:cNvPr id="5" name="圖片 4">
            <a:extLst>
              <a:ext uri="{FF2B5EF4-FFF2-40B4-BE49-F238E27FC236}">
                <a16:creationId xmlns:a16="http://schemas.microsoft.com/office/drawing/2014/main" id="{347D2040-B333-4554-961C-1F1316126848}"/>
              </a:ext>
            </a:extLst>
          </p:cNvPr>
          <p:cNvPicPr>
            <a:picLocks noChangeAspect="1"/>
          </p:cNvPicPr>
          <p:nvPr/>
        </p:nvPicPr>
        <p:blipFill>
          <a:blip r:embed="rId4"/>
          <a:stretch>
            <a:fillRect/>
          </a:stretch>
        </p:blipFill>
        <p:spPr>
          <a:xfrm>
            <a:off x="5339620" y="1924040"/>
            <a:ext cx="3446704" cy="1954673"/>
          </a:xfrm>
          <a:prstGeom prst="rect">
            <a:avLst/>
          </a:prstGeom>
        </p:spPr>
      </p:pic>
    </p:spTree>
    <p:extLst>
      <p:ext uri="{BB962C8B-B14F-4D97-AF65-F5344CB8AC3E}">
        <p14:creationId xmlns:p14="http://schemas.microsoft.com/office/powerpoint/2010/main" val="3427902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Bayesian Bootstrap:</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FD452425-1C05-4E3E-B9C9-237D448D0B7C}"/>
              </a:ext>
            </a:extLst>
          </p:cNvPr>
          <p:cNvPicPr>
            <a:picLocks noChangeAspect="1"/>
          </p:cNvPicPr>
          <p:nvPr/>
        </p:nvPicPr>
        <p:blipFill>
          <a:blip r:embed="rId3"/>
          <a:stretch>
            <a:fillRect/>
          </a:stretch>
        </p:blipFill>
        <p:spPr>
          <a:xfrm>
            <a:off x="553921" y="689207"/>
            <a:ext cx="8036157" cy="6062911"/>
          </a:xfrm>
          <a:prstGeom prst="rect">
            <a:avLst/>
          </a:prstGeom>
        </p:spPr>
      </p:pic>
      <p:sp>
        <p:nvSpPr>
          <p:cNvPr id="3" name="文字方塊 2">
            <a:extLst>
              <a:ext uri="{FF2B5EF4-FFF2-40B4-BE49-F238E27FC236}">
                <a16:creationId xmlns:a16="http://schemas.microsoft.com/office/drawing/2014/main" id="{70094279-3297-4304-8C51-D7C8300052B6}"/>
              </a:ext>
            </a:extLst>
          </p:cNvPr>
          <p:cNvSpPr txBox="1"/>
          <p:nvPr/>
        </p:nvSpPr>
        <p:spPr>
          <a:xfrm>
            <a:off x="7211027" y="397523"/>
            <a:ext cx="997389" cy="369332"/>
          </a:xfrm>
          <a:prstGeom prst="rect">
            <a:avLst/>
          </a:prstGeom>
          <a:noFill/>
        </p:spPr>
        <p:txBody>
          <a:bodyPr wrap="none" rtlCol="0">
            <a:spAutoFit/>
          </a:bodyPr>
          <a:lstStyle/>
          <a:p>
            <a:r>
              <a:rPr lang="en-US" altLang="zh-TW" dirty="0"/>
              <a:t>200</a:t>
            </a:r>
            <a:r>
              <a:rPr lang="zh-TW" altLang="en-US" dirty="0"/>
              <a:t>條線</a:t>
            </a:r>
          </a:p>
        </p:txBody>
      </p:sp>
    </p:spTree>
    <p:extLst>
      <p:ext uri="{BB962C8B-B14F-4D97-AF65-F5344CB8AC3E}">
        <p14:creationId xmlns:p14="http://schemas.microsoft.com/office/powerpoint/2010/main" val="3014727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Bayesian Bootstrap:</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AE99D526-DDE3-4E8D-9DBC-5F7F463EB5ED}"/>
              </a:ext>
            </a:extLst>
          </p:cNvPr>
          <p:cNvPicPr>
            <a:picLocks noChangeAspect="1"/>
          </p:cNvPicPr>
          <p:nvPr/>
        </p:nvPicPr>
        <p:blipFill>
          <a:blip r:embed="rId3"/>
          <a:stretch>
            <a:fillRect/>
          </a:stretch>
        </p:blipFill>
        <p:spPr>
          <a:xfrm>
            <a:off x="377624" y="1268965"/>
            <a:ext cx="8138965" cy="3783794"/>
          </a:xfrm>
          <a:prstGeom prst="rect">
            <a:avLst/>
          </a:prstGeom>
        </p:spPr>
      </p:pic>
      <p:sp>
        <p:nvSpPr>
          <p:cNvPr id="4" name="矩形 3">
            <a:extLst>
              <a:ext uri="{FF2B5EF4-FFF2-40B4-BE49-F238E27FC236}">
                <a16:creationId xmlns:a16="http://schemas.microsoft.com/office/drawing/2014/main" id="{C4852BD3-8DE4-4FD0-B654-E38CEF5D7444}"/>
              </a:ext>
            </a:extLst>
          </p:cNvPr>
          <p:cNvSpPr/>
          <p:nvPr/>
        </p:nvSpPr>
        <p:spPr>
          <a:xfrm>
            <a:off x="743881" y="5278574"/>
            <a:ext cx="6649656" cy="707886"/>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W</a:t>
            </a:r>
            <a:r>
              <a:rPr lang="zh-TW" altLang="en-US" sz="2000" dirty="0">
                <a:latin typeface="Times New Roman" panose="02020603050405020304" pitchFamily="18" charset="0"/>
                <a:cs typeface="Times New Roman" panose="02020603050405020304" pitchFamily="18" charset="0"/>
              </a:rPr>
              <a:t>e used Concerted Bayesian bootstrapping, where sequence weights are derived from a Dirichlet distribution.</a:t>
            </a:r>
          </a:p>
        </p:txBody>
      </p:sp>
    </p:spTree>
    <p:extLst>
      <p:ext uri="{BB962C8B-B14F-4D97-AF65-F5344CB8AC3E}">
        <p14:creationId xmlns:p14="http://schemas.microsoft.com/office/powerpoint/2010/main" val="3016951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zh-TW" altLang="en-US" sz="3200" b="1" dirty="0">
                <a:latin typeface="Times New Roman" panose="02020603050405020304" pitchFamily="18" charset="0"/>
                <a:cs typeface="Times New Roman" panose="02020603050405020304" pitchFamily="18" charset="0"/>
              </a:rPr>
              <a:t>Dirichlet </a:t>
            </a:r>
            <a:r>
              <a:rPr lang="en-US" altLang="zh-TW" sz="3200" b="1" dirty="0">
                <a:latin typeface="Times New Roman" panose="02020603050405020304" pitchFamily="18" charset="0"/>
                <a:cs typeface="Times New Roman" panose="02020603050405020304" pitchFamily="18" charset="0"/>
              </a:rPr>
              <a:t>D</a:t>
            </a:r>
            <a:r>
              <a:rPr lang="zh-TW" altLang="en-US" sz="3200" b="1" dirty="0" smtClean="0">
                <a:latin typeface="Times New Roman" panose="02020603050405020304" pitchFamily="18" charset="0"/>
                <a:cs typeface="Times New Roman" panose="02020603050405020304" pitchFamily="18" charset="0"/>
              </a:rPr>
              <a:t>istribution</a:t>
            </a:r>
            <a:r>
              <a:rPr lang="en-US" altLang="zh-TW" sz="3200" b="1" dirty="0" smtClean="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sp>
        <p:nvSpPr>
          <p:cNvPr id="5" name="矩形 4"/>
          <p:cNvSpPr/>
          <p:nvPr/>
        </p:nvSpPr>
        <p:spPr>
          <a:xfrm>
            <a:off x="1286024" y="811750"/>
            <a:ext cx="1874231" cy="523220"/>
          </a:xfrm>
          <a:prstGeom prst="rect">
            <a:avLst/>
          </a:prstGeom>
        </p:spPr>
        <p:txBody>
          <a:bodyPr wrap="none">
            <a:spAutoFit/>
          </a:bodyPr>
          <a:lstStyle/>
          <a:p>
            <a:r>
              <a:rPr lang="en-US" altLang="zh-TW" sz="2800" dirty="0" smtClean="0">
                <a:latin typeface="Times New Roman" panose="02020603050405020304" pitchFamily="18" charset="0"/>
                <a:cs typeface="Times New Roman" panose="02020603050405020304" pitchFamily="18" charset="0"/>
              </a:rPr>
              <a:t>X=(2.2,0.6)</a:t>
            </a:r>
            <a:endParaRPr lang="zh-TW"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字方塊 3"/>
              <p:cNvSpPr txBox="1"/>
              <p:nvPr/>
            </p:nvSpPr>
            <p:spPr>
              <a:xfrm>
                <a:off x="1286024" y="1303626"/>
                <a:ext cx="2033570" cy="4308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𝜋</m:t>
                      </m:r>
                      <m:r>
                        <a:rPr lang="en-US" altLang="zh-TW" sz="2800" b="0" i="1" smtClean="0">
                          <a:latin typeface="Cambria Math" panose="02040503050406030204" pitchFamily="18" charset="0"/>
                        </a:rPr>
                        <m:t>=(</m:t>
                      </m:r>
                      <m:r>
                        <a:rPr lang="zh-TW" altLang="en-US" sz="2800" i="1">
                          <a:latin typeface="Cambria Math" panose="02040503050406030204" pitchFamily="18" charset="0"/>
                        </a:rPr>
                        <m:t>𝜋</m:t>
                      </m:r>
                      <m:r>
                        <a:rPr lang="en-US" altLang="zh-TW" sz="2800" b="0" i="1" smtClean="0">
                          <a:latin typeface="Cambria Math" panose="02040503050406030204" pitchFamily="18" charset="0"/>
                        </a:rPr>
                        <m:t>1</m:t>
                      </m:r>
                      <m:r>
                        <a:rPr lang="en-US" altLang="zh-TW" sz="2800" b="1" i="1" smtClean="0">
                          <a:latin typeface="Cambria Math" panose="02040503050406030204" pitchFamily="18" charset="0"/>
                        </a:rPr>
                        <m:t>,</m:t>
                      </m:r>
                      <m:r>
                        <a:rPr lang="zh-TW" altLang="en-US" sz="2800" i="1">
                          <a:latin typeface="Cambria Math" panose="02040503050406030204" pitchFamily="18" charset="0"/>
                        </a:rPr>
                        <m:t>𝜋</m:t>
                      </m:r>
                      <m:r>
                        <a:rPr lang="en-US" altLang="zh-TW" sz="2800" b="0" i="0" smtClean="0">
                          <a:latin typeface="Cambria Math" panose="02040503050406030204" pitchFamily="18" charset="0"/>
                        </a:rPr>
                        <m:t>2</m:t>
                      </m:r>
                      <m:r>
                        <a:rPr lang="en-US" altLang="zh-TW" sz="2800" b="1" i="1" smtClean="0">
                          <a:latin typeface="Cambria Math" panose="02040503050406030204" pitchFamily="18" charset="0"/>
                        </a:rPr>
                        <m:t>)</m:t>
                      </m:r>
                    </m:oMath>
                  </m:oMathPara>
                </a14:m>
                <a:endParaRPr lang="zh-TW" altLang="en-US" sz="2800" b="1" dirty="0">
                  <a:latin typeface="Times New Roman" panose="02020603050405020304" pitchFamily="18" charset="0"/>
                  <a:cs typeface="Times New Roman" panose="02020603050405020304" pitchFamily="18" charset="0"/>
                </a:endParaRPr>
              </a:p>
            </p:txBody>
          </p:sp>
        </mc:Choice>
        <mc:Fallback>
          <p:sp>
            <p:nvSpPr>
              <p:cNvPr id="4" name="文字方塊 3"/>
              <p:cNvSpPr txBox="1">
                <a:spLocks noRot="1" noChangeAspect="1" noMove="1" noResize="1" noEditPoints="1" noAdjustHandles="1" noChangeArrowheads="1" noChangeShapeType="1" noTextEdit="1"/>
              </p:cNvSpPr>
              <p:nvPr/>
            </p:nvSpPr>
            <p:spPr>
              <a:xfrm>
                <a:off x="1286024" y="1303626"/>
                <a:ext cx="2033570" cy="43088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393372" y="1802111"/>
                <a:ext cx="4572000" cy="954107"/>
              </a:xfrm>
              <a:prstGeom prst="rect">
                <a:avLst/>
              </a:prstGeom>
            </p:spPr>
            <p:txBody>
              <a:bodyPr>
                <a:spAutoFit/>
              </a:bodyPr>
              <a:lstStyle/>
              <a:p>
                <a14:m>
                  <m:oMath xmlns:m="http://schemas.openxmlformats.org/officeDocument/2006/math">
                    <m:r>
                      <a:rPr lang="zh-TW" altLang="en-US" sz="2800" i="1" smtClean="0">
                        <a:latin typeface="Cambria Math" panose="02040503050406030204" pitchFamily="18" charset="0"/>
                      </a:rPr>
                      <m:t>𝜋</m:t>
                    </m:r>
                    <m:r>
                      <a:rPr lang="en-US" altLang="zh-TW" sz="2800" b="0" i="1" smtClean="0">
                        <a:latin typeface="Cambria Math" panose="02040503050406030204" pitchFamily="18" charset="0"/>
                      </a:rPr>
                      <m:t>1</m:t>
                    </m:r>
                  </m:oMath>
                </a14:m>
                <a:r>
                  <a:rPr lang="en-US" altLang="zh-TW" sz="2800" dirty="0" smtClean="0">
                    <a:latin typeface="Times New Roman" panose="02020603050405020304" pitchFamily="18" charset="0"/>
                    <a:cs typeface="Times New Roman" panose="02020603050405020304" pitchFamily="18" charset="0"/>
                  </a:rPr>
                  <a:t>[0,</a:t>
                </a:r>
                <a:r>
                  <a:rPr lang="en-US" altLang="zh-TW" sz="2800" dirty="0">
                    <a:latin typeface="Times New Roman" panose="02020603050405020304" pitchFamily="18" charset="0"/>
                    <a:cs typeface="Times New Roman" panose="02020603050405020304" pitchFamily="18" charset="0"/>
                  </a:rPr>
                  <a:t>⋯,1</a:t>
                </a:r>
                <a:r>
                  <a:rPr lang="en-US" altLang="zh-TW" sz="2800" dirty="0">
                    <a:solidFill>
                      <a:srgbClr val="242729"/>
                    </a:solidFill>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r>
                <a:br>
                  <a:rPr lang="zh-TW" altLang="en-US" sz="2800" dirty="0">
                    <a:latin typeface="Times New Roman" panose="02020603050405020304" pitchFamily="18" charset="0"/>
                    <a:cs typeface="Times New Roman" panose="02020603050405020304" pitchFamily="18" charset="0"/>
                  </a:rPr>
                </a:br>
                <a:endParaRPr lang="zh-TW" altLang="en-US" sz="2800" dirty="0">
                  <a:latin typeface="Times New Roman" panose="02020603050405020304" pitchFamily="18" charset="0"/>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1393372" y="1802111"/>
                <a:ext cx="4572000" cy="954107"/>
              </a:xfrm>
              <a:prstGeom prst="rect">
                <a:avLst/>
              </a:prstGeom>
              <a:blipFill>
                <a:blip r:embed="rId4"/>
                <a:stretch>
                  <a:fillRect t="-769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393372" y="2244580"/>
                <a:ext cx="4572000" cy="954107"/>
              </a:xfrm>
              <a:prstGeom prst="rect">
                <a:avLst/>
              </a:prstGeom>
            </p:spPr>
            <p:txBody>
              <a:bodyPr>
                <a:spAutoFit/>
              </a:bodyPr>
              <a:lstStyle/>
              <a:p>
                <a14:m>
                  <m:oMath xmlns:m="http://schemas.openxmlformats.org/officeDocument/2006/math">
                    <m:r>
                      <a:rPr lang="zh-TW" altLang="en-US" sz="2800" i="1" smtClean="0">
                        <a:latin typeface="Cambria Math" panose="02040503050406030204" pitchFamily="18" charset="0"/>
                      </a:rPr>
                      <m:t>𝜋</m:t>
                    </m:r>
                    <m:r>
                      <a:rPr lang="en-US" altLang="zh-TW" sz="2800" b="0" i="1" smtClean="0">
                        <a:latin typeface="Cambria Math" panose="02040503050406030204" pitchFamily="18" charset="0"/>
                      </a:rPr>
                      <m:t>2</m:t>
                    </m:r>
                  </m:oMath>
                </a14:m>
                <a:r>
                  <a:rPr lang="en-US" altLang="zh-TW" sz="2800" dirty="0" smtClean="0">
                    <a:latin typeface="Times New Roman" panose="02020603050405020304" pitchFamily="18" charset="0"/>
                    <a:cs typeface="Times New Roman" panose="02020603050405020304" pitchFamily="18" charset="0"/>
                  </a:rPr>
                  <a:t>[1,</a:t>
                </a:r>
                <a:r>
                  <a:rPr lang="en-US" altLang="zh-TW" sz="2800" dirty="0">
                    <a:latin typeface="Times New Roman" panose="02020603050405020304" pitchFamily="18" charset="0"/>
                    <a:cs typeface="Times New Roman" panose="02020603050405020304" pitchFamily="18" charset="0"/>
                  </a:rPr>
                  <a:t>⋯</a:t>
                </a:r>
                <a:r>
                  <a:rPr lang="en-US" altLang="zh-TW" sz="2800" dirty="0" smtClean="0">
                    <a:latin typeface="Times New Roman" panose="02020603050405020304" pitchFamily="18" charset="0"/>
                    <a:cs typeface="Times New Roman" panose="02020603050405020304" pitchFamily="18" charset="0"/>
                  </a:rPr>
                  <a:t>,0</a:t>
                </a:r>
                <a:r>
                  <a:rPr lang="en-US" altLang="zh-TW" sz="2800" dirty="0" smtClean="0">
                    <a:solidFill>
                      <a:srgbClr val="242729"/>
                    </a:solidFill>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r>
                <a:br>
                  <a:rPr lang="zh-TW" altLang="en-US" sz="2800" dirty="0">
                    <a:latin typeface="Times New Roman" panose="02020603050405020304" pitchFamily="18" charset="0"/>
                    <a:cs typeface="Times New Roman" panose="02020603050405020304" pitchFamily="18" charset="0"/>
                  </a:rPr>
                </a:br>
                <a:endParaRPr lang="zh-TW" altLang="en-US" sz="2800" dirty="0">
                  <a:latin typeface="Times New Roman" panose="02020603050405020304" pitchFamily="18" charset="0"/>
                  <a:cs typeface="Times New Roman" panose="020206030504050203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1393372" y="2244580"/>
                <a:ext cx="4572000" cy="954107"/>
              </a:xfrm>
              <a:prstGeom prst="rect">
                <a:avLst/>
              </a:prstGeom>
              <a:blipFill>
                <a:blip r:embed="rId5"/>
                <a:stretch>
                  <a:fillRect t="-700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182220" y="3450316"/>
                <a:ext cx="5610895" cy="523220"/>
              </a:xfrm>
              <a:prstGeom prst="rect">
                <a:avLst/>
              </a:prstGeom>
            </p:spPr>
            <p:txBody>
              <a:bodyPr wrap="none">
                <a:spAutoFit/>
              </a:bodyPr>
              <a:lstStyle/>
              <a:p>
                <a14:m>
                  <m:oMath xmlns:m="http://schemas.openxmlformats.org/officeDocument/2006/math">
                    <m:r>
                      <a:rPr lang="zh-TW" altLang="en-US" sz="2800" i="1" smtClean="0">
                        <a:latin typeface="Cambria Math" panose="02040503050406030204" pitchFamily="18" charset="0"/>
                      </a:rPr>
                      <m:t>𝜋</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0.9,0.1</m:t>
                        </m:r>
                      </m:e>
                    </m:d>
                    <m:r>
                      <a:rPr lang="en-US" altLang="zh-TW" sz="2800" b="0" i="1" smtClean="0">
                        <a:latin typeface="Cambria Math" panose="02040503050406030204" pitchFamily="18" charset="0"/>
                      </a:rPr>
                      <m:t>:0.9</m:t>
                    </m:r>
                    <m:r>
                      <a:rPr lang="zh-TW" altLang="en-US" sz="2800" i="1">
                        <a:latin typeface="Cambria Math" panose="02040503050406030204" pitchFamily="18" charset="0"/>
                      </a:rPr>
                      <m:t> </m:t>
                    </m:r>
                  </m:oMath>
                </a14:m>
                <a:r>
                  <a:rPr lang="en-US" altLang="zh-TW" sz="2800" dirty="0" smtClean="0">
                    <a:latin typeface="Times New Roman" panose="02020603050405020304" pitchFamily="18" charset="0"/>
                    <a:cs typeface="Times New Roman" panose="02020603050405020304" pitchFamily="18" charset="0"/>
                  </a:rPr>
                  <a:t>x 2.2+0.1 x 0.6 = 2.04</a:t>
                </a:r>
                <a:endParaRPr lang="zh-TW" altLang="en-US" sz="2800" dirty="0">
                  <a:latin typeface="Times New Roman" panose="02020603050405020304" pitchFamily="18" charset="0"/>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182220" y="3450316"/>
                <a:ext cx="5610895" cy="523220"/>
              </a:xfrm>
              <a:prstGeom prst="rect">
                <a:avLst/>
              </a:prstGeom>
              <a:blipFill>
                <a:blip r:embed="rId6"/>
                <a:stretch>
                  <a:fillRect t="-12791" r="-1304" b="-3139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1182221" y="2979873"/>
                <a:ext cx="5610895" cy="523220"/>
              </a:xfrm>
              <a:prstGeom prst="rect">
                <a:avLst/>
              </a:prstGeom>
            </p:spPr>
            <p:txBody>
              <a:bodyPr wrap="none">
                <a:spAutoFit/>
              </a:bodyPr>
              <a:lstStyle/>
              <a:p>
                <a14:m>
                  <m:oMath xmlns:m="http://schemas.openxmlformats.org/officeDocument/2006/math">
                    <m:r>
                      <a:rPr lang="zh-TW" altLang="en-US" sz="2800" i="1" smtClean="0">
                        <a:latin typeface="Cambria Math" panose="02040503050406030204" pitchFamily="18" charset="0"/>
                      </a:rPr>
                      <m:t>𝜋</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0.8,0.2</m:t>
                        </m:r>
                      </m:e>
                    </m:d>
                    <m:r>
                      <a:rPr lang="en-US" altLang="zh-TW" sz="2800" b="0" i="1" smtClean="0">
                        <a:latin typeface="Cambria Math" panose="02040503050406030204" pitchFamily="18" charset="0"/>
                      </a:rPr>
                      <m:t>:0.8</m:t>
                    </m:r>
                    <m:r>
                      <a:rPr lang="zh-TW" altLang="en-US" sz="2800" i="1">
                        <a:latin typeface="Cambria Math" panose="02040503050406030204" pitchFamily="18" charset="0"/>
                      </a:rPr>
                      <m:t> </m:t>
                    </m:r>
                  </m:oMath>
                </a14:m>
                <a:r>
                  <a:rPr lang="en-US" altLang="zh-TW" sz="2800" dirty="0" smtClean="0">
                    <a:latin typeface="Times New Roman" panose="02020603050405020304" pitchFamily="18" charset="0"/>
                    <a:cs typeface="Times New Roman" panose="02020603050405020304" pitchFamily="18" charset="0"/>
                  </a:rPr>
                  <a:t>x 2.2+0.2 x 0.6 = 1.88</a:t>
                </a:r>
                <a:endParaRPr lang="zh-TW" altLang="en-US" sz="2800" dirty="0">
                  <a:latin typeface="Times New Roman" panose="02020603050405020304" pitchFamily="18" charset="0"/>
                  <a:cs typeface="Times New Roman" panose="02020603050405020304" pitchFamily="18" charset="0"/>
                </a:endParaRPr>
              </a:p>
            </p:txBody>
          </p:sp>
        </mc:Choice>
        <mc:Fallback>
          <p:sp>
            <p:nvSpPr>
              <p:cNvPr id="10" name="矩形 9"/>
              <p:cNvSpPr>
                <a:spLocks noRot="1" noChangeAspect="1" noMove="1" noResize="1" noEditPoints="1" noAdjustHandles="1" noChangeArrowheads="1" noChangeShapeType="1" noTextEdit="1"/>
              </p:cNvSpPr>
              <p:nvPr/>
            </p:nvSpPr>
            <p:spPr>
              <a:xfrm>
                <a:off x="1182221" y="2979873"/>
                <a:ext cx="5610895" cy="523220"/>
              </a:xfrm>
              <a:prstGeom prst="rect">
                <a:avLst/>
              </a:prstGeom>
              <a:blipFill>
                <a:blip r:embed="rId7"/>
                <a:stretch>
                  <a:fillRect t="-12791" r="-1304" b="-3139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1182220" y="3917457"/>
                <a:ext cx="5610895" cy="523220"/>
              </a:xfrm>
              <a:prstGeom prst="rect">
                <a:avLst/>
              </a:prstGeom>
            </p:spPr>
            <p:txBody>
              <a:bodyPr wrap="none">
                <a:spAutoFit/>
              </a:bodyPr>
              <a:lstStyle/>
              <a:p>
                <a14:m>
                  <m:oMath xmlns:m="http://schemas.openxmlformats.org/officeDocument/2006/math">
                    <m:r>
                      <a:rPr lang="zh-TW" altLang="en-US" sz="2800" i="1" smtClean="0">
                        <a:latin typeface="Cambria Math" panose="02040503050406030204" pitchFamily="18" charset="0"/>
                      </a:rPr>
                      <m:t>𝜋</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0.3,0.7</m:t>
                        </m:r>
                      </m:e>
                    </m:d>
                    <m:r>
                      <a:rPr lang="en-US" altLang="zh-TW" sz="2800" b="0" i="1" smtClean="0">
                        <a:latin typeface="Cambria Math" panose="02040503050406030204" pitchFamily="18" charset="0"/>
                      </a:rPr>
                      <m:t>:0.3</m:t>
                    </m:r>
                    <m:r>
                      <a:rPr lang="zh-TW" altLang="en-US" sz="2800" i="1">
                        <a:latin typeface="Cambria Math" panose="02040503050406030204" pitchFamily="18" charset="0"/>
                      </a:rPr>
                      <m:t> </m:t>
                    </m:r>
                  </m:oMath>
                </a14:m>
                <a:r>
                  <a:rPr lang="en-US" altLang="zh-TW" sz="2800" dirty="0" smtClean="0">
                    <a:latin typeface="Times New Roman" panose="02020603050405020304" pitchFamily="18" charset="0"/>
                    <a:cs typeface="Times New Roman" panose="02020603050405020304" pitchFamily="18" charset="0"/>
                  </a:rPr>
                  <a:t>x 2.2+0.7 x 0.6 = 1.08</a:t>
                </a:r>
                <a:endParaRPr lang="zh-TW" altLang="en-US" sz="2800" dirty="0">
                  <a:latin typeface="Times New Roman" panose="02020603050405020304" pitchFamily="18" charset="0"/>
                  <a:cs typeface="Times New Roman" panose="020206030504050203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1182220" y="3917457"/>
                <a:ext cx="5610895" cy="523220"/>
              </a:xfrm>
              <a:prstGeom prst="rect">
                <a:avLst/>
              </a:prstGeom>
              <a:blipFill>
                <a:blip r:embed="rId8"/>
                <a:stretch>
                  <a:fillRect t="-12941" r="-1304" b="-329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67144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Bayesian Bootstrap:</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FD45DFB5-80E5-498B-9ED4-CE0AF58EA910}"/>
              </a:ext>
            </a:extLst>
          </p:cNvPr>
          <p:cNvPicPr>
            <a:picLocks noChangeAspect="1"/>
          </p:cNvPicPr>
          <p:nvPr/>
        </p:nvPicPr>
        <p:blipFill>
          <a:blip r:embed="rId3"/>
          <a:stretch>
            <a:fillRect/>
          </a:stretch>
        </p:blipFill>
        <p:spPr>
          <a:xfrm>
            <a:off x="628650" y="1263197"/>
            <a:ext cx="7886700" cy="3825639"/>
          </a:xfrm>
          <a:prstGeom prst="rect">
            <a:avLst/>
          </a:prstGeom>
        </p:spPr>
      </p:pic>
    </p:spTree>
    <p:extLst>
      <p:ext uri="{BB962C8B-B14F-4D97-AF65-F5344CB8AC3E}">
        <p14:creationId xmlns:p14="http://schemas.microsoft.com/office/powerpoint/2010/main" val="34868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Bayesian Bootstrap:</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FD452425-1C05-4E3E-B9C9-237D448D0B7C}"/>
              </a:ext>
            </a:extLst>
          </p:cNvPr>
          <p:cNvPicPr>
            <a:picLocks noChangeAspect="1"/>
          </p:cNvPicPr>
          <p:nvPr/>
        </p:nvPicPr>
        <p:blipFill>
          <a:blip r:embed="rId3"/>
          <a:stretch>
            <a:fillRect/>
          </a:stretch>
        </p:blipFill>
        <p:spPr>
          <a:xfrm>
            <a:off x="553921" y="689207"/>
            <a:ext cx="8036157" cy="6062911"/>
          </a:xfrm>
          <a:prstGeom prst="rect">
            <a:avLst/>
          </a:prstGeom>
        </p:spPr>
      </p:pic>
      <p:sp>
        <p:nvSpPr>
          <p:cNvPr id="3" name="文字方塊 2">
            <a:extLst>
              <a:ext uri="{FF2B5EF4-FFF2-40B4-BE49-F238E27FC236}">
                <a16:creationId xmlns:a16="http://schemas.microsoft.com/office/drawing/2014/main" id="{70094279-3297-4304-8C51-D7C8300052B6}"/>
              </a:ext>
            </a:extLst>
          </p:cNvPr>
          <p:cNvSpPr txBox="1"/>
          <p:nvPr/>
        </p:nvSpPr>
        <p:spPr>
          <a:xfrm>
            <a:off x="7211027" y="397523"/>
            <a:ext cx="997389" cy="369332"/>
          </a:xfrm>
          <a:prstGeom prst="rect">
            <a:avLst/>
          </a:prstGeom>
          <a:noFill/>
        </p:spPr>
        <p:txBody>
          <a:bodyPr wrap="none" rtlCol="0">
            <a:spAutoFit/>
          </a:bodyPr>
          <a:lstStyle/>
          <a:p>
            <a:r>
              <a:rPr lang="en-US" altLang="zh-TW" dirty="0"/>
              <a:t>200</a:t>
            </a:r>
            <a:r>
              <a:rPr lang="zh-TW" altLang="en-US" dirty="0"/>
              <a:t>條線</a:t>
            </a:r>
          </a:p>
        </p:txBody>
      </p:sp>
    </p:spTree>
    <p:extLst>
      <p:ext uri="{BB962C8B-B14F-4D97-AF65-F5344CB8AC3E}">
        <p14:creationId xmlns:p14="http://schemas.microsoft.com/office/powerpoint/2010/main" val="1833170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9AF6EF7C-586B-406A-AEE4-7B5B5D2532F7}"/>
              </a:ext>
            </a:extLst>
          </p:cNvPr>
          <p:cNvPicPr>
            <a:picLocks noChangeAspect="1"/>
          </p:cNvPicPr>
          <p:nvPr/>
        </p:nvPicPr>
        <p:blipFill>
          <a:blip r:embed="rId3"/>
          <a:stretch>
            <a:fillRect/>
          </a:stretch>
        </p:blipFill>
        <p:spPr>
          <a:xfrm>
            <a:off x="884864" y="561507"/>
            <a:ext cx="7374272" cy="6296493"/>
          </a:xfrm>
          <a:prstGeom prst="rect">
            <a:avLst/>
          </a:prstGeom>
        </p:spPr>
      </p:pic>
    </p:spTree>
    <p:extLst>
      <p:ext uri="{BB962C8B-B14F-4D97-AF65-F5344CB8AC3E}">
        <p14:creationId xmlns:p14="http://schemas.microsoft.com/office/powerpoint/2010/main" val="3032299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ADD343F4-7F33-49A3-A49A-3B9C14455F68}"/>
              </a:ext>
            </a:extLst>
          </p:cNvPr>
          <p:cNvPicPr>
            <a:picLocks noChangeAspect="1"/>
          </p:cNvPicPr>
          <p:nvPr/>
        </p:nvPicPr>
        <p:blipFill>
          <a:blip r:embed="rId3"/>
          <a:stretch>
            <a:fillRect/>
          </a:stretch>
        </p:blipFill>
        <p:spPr>
          <a:xfrm>
            <a:off x="849894" y="689207"/>
            <a:ext cx="7162165" cy="5888666"/>
          </a:xfrm>
          <a:prstGeom prst="rect">
            <a:avLst/>
          </a:prstGeom>
        </p:spPr>
      </p:pic>
    </p:spTree>
    <p:extLst>
      <p:ext uri="{BB962C8B-B14F-4D97-AF65-F5344CB8AC3E}">
        <p14:creationId xmlns:p14="http://schemas.microsoft.com/office/powerpoint/2010/main" val="3694171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EF806932-E7EA-4699-B39E-0D45DAE5E881}"/>
              </a:ext>
            </a:extLst>
          </p:cNvPr>
          <p:cNvPicPr>
            <a:picLocks noChangeAspect="1"/>
          </p:cNvPicPr>
          <p:nvPr/>
        </p:nvPicPr>
        <p:blipFill>
          <a:blip r:embed="rId3"/>
          <a:stretch>
            <a:fillRect/>
          </a:stretch>
        </p:blipFill>
        <p:spPr>
          <a:xfrm>
            <a:off x="1108905" y="777657"/>
            <a:ext cx="6926189" cy="5623142"/>
          </a:xfrm>
          <a:prstGeom prst="rect">
            <a:avLst/>
          </a:prstGeom>
        </p:spPr>
      </p:pic>
    </p:spTree>
    <p:extLst>
      <p:ext uri="{BB962C8B-B14F-4D97-AF65-F5344CB8AC3E}">
        <p14:creationId xmlns:p14="http://schemas.microsoft.com/office/powerpoint/2010/main" val="3321761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C935FC20-7AFE-4CE4-B6AD-0BC1F62DBE50}"/>
              </a:ext>
            </a:extLst>
          </p:cNvPr>
          <p:cNvPicPr>
            <a:picLocks noChangeAspect="1"/>
          </p:cNvPicPr>
          <p:nvPr/>
        </p:nvPicPr>
        <p:blipFill>
          <a:blip r:embed="rId3"/>
          <a:stretch>
            <a:fillRect/>
          </a:stretch>
        </p:blipFill>
        <p:spPr>
          <a:xfrm>
            <a:off x="805257" y="689207"/>
            <a:ext cx="7533485" cy="5724596"/>
          </a:xfrm>
          <a:prstGeom prst="rect">
            <a:avLst/>
          </a:prstGeom>
        </p:spPr>
      </p:pic>
    </p:spTree>
    <p:extLst>
      <p:ext uri="{BB962C8B-B14F-4D97-AF65-F5344CB8AC3E}">
        <p14:creationId xmlns:p14="http://schemas.microsoft.com/office/powerpoint/2010/main" val="903617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58BEA7F-61DF-4178-99F7-BFC709B0258A}"/>
              </a:ext>
            </a:extLst>
          </p:cNvPr>
          <p:cNvPicPr>
            <a:picLocks noChangeAspect="1"/>
          </p:cNvPicPr>
          <p:nvPr/>
        </p:nvPicPr>
        <p:blipFill>
          <a:blip r:embed="rId3"/>
          <a:stretch>
            <a:fillRect/>
          </a:stretch>
        </p:blipFill>
        <p:spPr>
          <a:xfrm>
            <a:off x="337124" y="1502499"/>
            <a:ext cx="8352019" cy="3283770"/>
          </a:xfrm>
          <a:prstGeom prst="rect">
            <a:avLst/>
          </a:prstGeom>
        </p:spPr>
      </p:pic>
      <p:sp>
        <p:nvSpPr>
          <p:cNvPr id="8" name="矩形 7"/>
          <p:cNvSpPr/>
          <p:nvPr/>
        </p:nvSpPr>
        <p:spPr>
          <a:xfrm>
            <a:off x="753458" y="4908006"/>
            <a:ext cx="7935685" cy="646331"/>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Statistics are for difference in mean coverage (independent bootstrap replica)/mea</a:t>
            </a:r>
            <a:r>
              <a:rPr lang="zh-TW" altLang="en-US" dirty="0" smtClean="0">
                <a:latin typeface="Times New Roman" panose="02020603050405020304" pitchFamily="18" charset="0"/>
                <a:cs typeface="Times New Roman" panose="02020603050405020304" pitchFamily="18" charset="0"/>
              </a:rPr>
              <a:t>n difference </a:t>
            </a:r>
            <a:r>
              <a:rPr lang="zh-TW" altLang="en-US" dirty="0">
                <a:latin typeface="Times New Roman" panose="02020603050405020304" pitchFamily="18" charset="0"/>
                <a:cs typeface="Times New Roman" panose="02020603050405020304" pitchFamily="18" charset="0"/>
              </a:rPr>
              <a:t>in coverage. </a:t>
            </a:r>
            <a:r>
              <a:rPr lang="zh-TW" altLang="en-US" dirty="0" smtClean="0">
                <a:latin typeface="Times New Roman" panose="02020603050405020304" pitchFamily="18" charset="0"/>
                <a:cs typeface="Times New Roman" panose="02020603050405020304" pitchFamily="18" charset="0"/>
              </a:rPr>
              <a:t>The </a:t>
            </a:r>
            <a:r>
              <a:rPr lang="zh-TW" altLang="en-US" dirty="0">
                <a:latin typeface="Times New Roman" panose="02020603050405020304" pitchFamily="18" charset="0"/>
                <a:cs typeface="Times New Roman" panose="02020603050405020304" pitchFamily="18" charset="0"/>
              </a:rPr>
              <a:t>latter is the statistic of interest.</a:t>
            </a:r>
          </a:p>
        </p:txBody>
      </p:sp>
      <p:sp>
        <p:nvSpPr>
          <p:cNvPr id="9" name="矩形 8"/>
          <p:cNvSpPr/>
          <p:nvPr/>
        </p:nvSpPr>
        <p:spPr>
          <a:xfrm>
            <a:off x="753458" y="5599562"/>
            <a:ext cx="6866542" cy="646331"/>
          </a:xfrm>
          <a:prstGeom prst="rect">
            <a:avLst/>
          </a:prstGeom>
        </p:spPr>
        <p:txBody>
          <a:bodyPr wrap="square">
            <a:spAutoFit/>
          </a:bodyPr>
          <a:lstStyle/>
          <a:p>
            <a:r>
              <a:rPr lang="en-US" altLang="zh-TW" i="1" dirty="0" smtClean="0">
                <a:solidFill>
                  <a:srgbClr val="2A2A2A"/>
                </a:solidFill>
                <a:latin typeface="Times New Roman" panose="02020603050405020304" pitchFamily="18" charset="0"/>
                <a:cs typeface="Times New Roman" panose="02020603050405020304" pitchFamily="18" charset="0"/>
              </a:rPr>
              <a:t>Z</a:t>
            </a:r>
            <a:r>
              <a:rPr lang="en-US" altLang="zh-TW" dirty="0" smtClean="0">
                <a:solidFill>
                  <a:srgbClr val="2A2A2A"/>
                </a:solidFill>
                <a:latin typeface="Times New Roman" panose="02020603050405020304" pitchFamily="18" charset="0"/>
                <a:cs typeface="Times New Roman" panose="02020603050405020304" pitchFamily="18" charset="0"/>
              </a:rPr>
              <a:t>-statistic </a:t>
            </a:r>
            <a:r>
              <a:rPr lang="en-US" altLang="zh-TW" dirty="0">
                <a:solidFill>
                  <a:srgbClr val="2A2A2A"/>
                </a:solidFill>
                <a:latin typeface="Times New Roman" panose="02020603050405020304" pitchFamily="18" charset="0"/>
                <a:cs typeface="Times New Roman" panose="02020603050405020304" pitchFamily="18" charset="0"/>
              </a:rPr>
              <a:t>(mean divided by the standard deviation of the difference in coverage) for each pair of search methods</a:t>
            </a:r>
            <a:endParaRPr lang="zh-TW" altLang="en-US" dirty="0">
              <a:latin typeface="Times New Roman" panose="02020603050405020304" pitchFamily="18" charset="0"/>
              <a:cs typeface="Times New Roman" panose="02020603050405020304" pitchFamily="18" charset="0"/>
            </a:endParaRPr>
          </a:p>
        </p:txBody>
      </p:sp>
      <p:sp>
        <p:nvSpPr>
          <p:cNvPr id="21" name="矩形 20"/>
          <p:cNvSpPr/>
          <p:nvPr/>
        </p:nvSpPr>
        <p:spPr>
          <a:xfrm>
            <a:off x="1961771" y="598475"/>
            <a:ext cx="5519057" cy="923330"/>
          </a:xfrm>
          <a:prstGeom prst="rect">
            <a:avLst/>
          </a:prstGeom>
        </p:spPr>
        <p:txBody>
          <a:bodyPr wrap="square">
            <a:spAutoFit/>
          </a:bodyPr>
          <a:lstStyle/>
          <a:p>
            <a:r>
              <a:rPr lang="en-US" altLang="zh-TW" dirty="0">
                <a:solidFill>
                  <a:srgbClr val="2A2A2A"/>
                </a:solidFill>
                <a:latin typeface="Times New Roman" panose="02020603050405020304" pitchFamily="18" charset="0"/>
                <a:cs typeface="Times New Roman" panose="02020603050405020304" pitchFamily="18" charset="0"/>
              </a:rPr>
              <a:t>If the </a:t>
            </a:r>
            <a:r>
              <a:rPr lang="en-US" altLang="zh-TW" i="1" dirty="0">
                <a:solidFill>
                  <a:srgbClr val="2A2A2A"/>
                </a:solidFill>
                <a:latin typeface="Times New Roman" panose="02020603050405020304" pitchFamily="18" charset="0"/>
                <a:cs typeface="Times New Roman" panose="02020603050405020304" pitchFamily="18" charset="0"/>
              </a:rPr>
              <a:t>Z</a:t>
            </a:r>
            <a:r>
              <a:rPr lang="en-US" altLang="zh-TW" dirty="0">
                <a:solidFill>
                  <a:srgbClr val="2A2A2A"/>
                </a:solidFill>
                <a:latin typeface="Times New Roman" panose="02020603050405020304" pitchFamily="18" charset="0"/>
                <a:cs typeface="Times New Roman" panose="02020603050405020304" pitchFamily="18" charset="0"/>
              </a:rPr>
              <a:t>-statistic is &gt;1.96, we reject the hypothesis that the methods possess equivalent performance at 95% confidence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817655"/>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100278</TotalTime>
  <Words>1730</Words>
  <Application>Microsoft Office PowerPoint</Application>
  <PresentationFormat>如螢幕大小 (4:3)</PresentationFormat>
  <Paragraphs>115</Paragraphs>
  <Slides>20</Slides>
  <Notes>20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20</vt:i4>
      </vt:variant>
    </vt:vector>
  </HeadingPairs>
  <TitlesOfParts>
    <vt:vector size="29" baseType="lpstr">
      <vt:lpstr>新細明體</vt:lpstr>
      <vt:lpstr>標楷體</vt:lpstr>
      <vt:lpstr>Arial</vt:lpstr>
      <vt:lpstr>Calibri</vt:lpstr>
      <vt:lpstr>Calibri Light</vt:lpstr>
      <vt:lpstr>Cambria Math</vt:lpstr>
      <vt:lpstr>Tahoma</vt:lpstr>
      <vt:lpstr>Times New Roman</vt:lpstr>
      <vt:lpstr>Office 佈景主題</vt:lpstr>
      <vt:lpstr>Statistical evaluation of pairwise protein sequence comparison with the Bayesian bootstrap</vt:lpstr>
      <vt:lpstr>Abstract(1/2)</vt:lpstr>
      <vt:lpstr>Abstract(2/2)</vt:lpstr>
      <vt:lpstr>Homology:</vt:lpstr>
      <vt:lpstr>Significance of alignments:</vt:lpstr>
      <vt:lpstr>The CVE Plot:</vt:lpstr>
      <vt:lpstr>Superfamily Size Normalization:</vt:lpstr>
      <vt:lpstr>Superfamily Size Normalization:</vt:lpstr>
      <vt:lpstr>Superfamily Size Normalization:</vt:lpstr>
      <vt:lpstr>Bootstrapping:</vt:lpstr>
      <vt:lpstr>Bayesian Bootstrap:</vt:lpstr>
      <vt:lpstr>Bayesian Bootstrap:</vt:lpstr>
      <vt:lpstr>Dirichlet Distribution:</vt:lpstr>
      <vt:lpstr>Bayesian Bootstrap:</vt:lpstr>
      <vt:lpstr>Bayesian Bootstrap:</vt:lpstr>
      <vt:lpstr>Result:</vt:lpstr>
      <vt:lpstr>Result:</vt:lpstr>
      <vt:lpstr>Result:</vt:lpstr>
      <vt:lpstr>Result:</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蔡豐仰</cp:lastModifiedBy>
  <cp:revision>1204</cp:revision>
  <dcterms:created xsi:type="dcterms:W3CDTF">2017-09-25T08:45:50Z</dcterms:created>
  <dcterms:modified xsi:type="dcterms:W3CDTF">2020-03-17T10:21:43Z</dcterms:modified>
</cp:coreProperties>
</file>