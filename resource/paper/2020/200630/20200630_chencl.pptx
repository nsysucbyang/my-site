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9"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zh-TW">
        <a:uFillTx/>
      </a:defRPr>
    </a:defPPr>
    <a:lvl1pPr marL="0" algn="l" defTabSz="914400" rtl="0" eaLnBrk="1" latinLnBrk="0" hangingPunct="1">
      <a:defRPr sz="1800" kern="1200">
        <a:solidFill>
          <a:schemeClr val="tx1"/>
        </a:solidFill>
        <a:uFillTx/>
        <a:latin typeface="+mn-lt"/>
        <a:ea typeface="+mn-ea"/>
        <a:cs typeface="+mn-cs"/>
      </a:defRPr>
    </a:lvl1pPr>
    <a:lvl2pPr marL="457200" algn="l" defTabSz="914400" rtl="0" eaLnBrk="1" latinLnBrk="0" hangingPunct="1">
      <a:defRPr sz="1800" kern="1200">
        <a:solidFill>
          <a:schemeClr val="tx1"/>
        </a:solidFill>
        <a:uFillTx/>
        <a:latin typeface="+mn-lt"/>
        <a:ea typeface="+mn-ea"/>
        <a:cs typeface="+mn-cs"/>
      </a:defRPr>
    </a:lvl2pPr>
    <a:lvl3pPr marL="914400" algn="l" defTabSz="914400" rtl="0" eaLnBrk="1" latinLnBrk="0" hangingPunct="1">
      <a:defRPr sz="1800" kern="1200">
        <a:solidFill>
          <a:schemeClr val="tx1"/>
        </a:solidFill>
        <a:uFillTx/>
        <a:latin typeface="+mn-lt"/>
        <a:ea typeface="+mn-ea"/>
        <a:cs typeface="+mn-cs"/>
      </a:defRPr>
    </a:lvl3pPr>
    <a:lvl4pPr marL="1371600" algn="l" defTabSz="914400" rtl="0" eaLnBrk="1" latinLnBrk="0" hangingPunct="1">
      <a:defRPr sz="1800" kern="1200">
        <a:solidFill>
          <a:schemeClr val="tx1"/>
        </a:solidFill>
        <a:uFillTx/>
        <a:latin typeface="+mn-lt"/>
        <a:ea typeface="+mn-ea"/>
        <a:cs typeface="+mn-cs"/>
      </a:defRPr>
    </a:lvl4pPr>
    <a:lvl5pPr marL="1828800" algn="l" defTabSz="914400" rtl="0" eaLnBrk="1" latinLnBrk="0" hangingPunct="1">
      <a:defRPr sz="1800" kern="1200">
        <a:solidFill>
          <a:schemeClr val="tx1"/>
        </a:solidFill>
        <a:uFillTx/>
        <a:latin typeface="+mn-lt"/>
        <a:ea typeface="+mn-ea"/>
        <a:cs typeface="+mn-cs"/>
      </a:defRPr>
    </a:lvl5pPr>
    <a:lvl6pPr marL="2286000" algn="l" defTabSz="914400" rtl="0" eaLnBrk="1" latinLnBrk="0" hangingPunct="1">
      <a:defRPr sz="1800" kern="1200">
        <a:solidFill>
          <a:schemeClr val="tx1"/>
        </a:solidFill>
        <a:uFillTx/>
        <a:latin typeface="+mn-lt"/>
        <a:ea typeface="+mn-ea"/>
        <a:cs typeface="+mn-cs"/>
      </a:defRPr>
    </a:lvl6pPr>
    <a:lvl7pPr marL="2743200" algn="l" defTabSz="914400" rtl="0" eaLnBrk="1" latinLnBrk="0" hangingPunct="1">
      <a:defRPr sz="1800" kern="1200">
        <a:solidFill>
          <a:schemeClr val="tx1"/>
        </a:solidFill>
        <a:uFillTx/>
        <a:latin typeface="+mn-lt"/>
        <a:ea typeface="+mn-ea"/>
        <a:cs typeface="+mn-cs"/>
      </a:defRPr>
    </a:lvl7pPr>
    <a:lvl8pPr marL="3200400" algn="l" defTabSz="914400" rtl="0" eaLnBrk="1" latinLnBrk="0" hangingPunct="1">
      <a:defRPr sz="1800" kern="1200">
        <a:solidFill>
          <a:schemeClr val="tx1"/>
        </a:solidFill>
        <a:uFillTx/>
        <a:latin typeface="+mn-lt"/>
        <a:ea typeface="+mn-ea"/>
        <a:cs typeface="+mn-cs"/>
      </a:defRPr>
    </a:lvl8pPr>
    <a:lvl9pPr marL="3657600" algn="l" defTabSz="914400" rtl="0" eaLnBrk="1" latinLnBrk="0" hangingPunct="1">
      <a:defRPr sz="1800" kern="1200">
        <a:solidFill>
          <a:schemeClr val="tx1"/>
        </a:solidFill>
        <a:uFillTx/>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78"/>
    <p:restoredTop sz="85027"/>
  </p:normalViewPr>
  <p:slideViewPr>
    <p:cSldViewPr snapToGrid="0" snapToObjects="1">
      <p:cViewPr varScale="1">
        <p:scale>
          <a:sx n="61" d="100"/>
          <a:sy n="61" d="100"/>
        </p:scale>
        <p:origin x="111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uFillTx/>
              </a:defRPr>
            </a:lvl1pPr>
          </a:lstStyle>
          <a:p>
            <a:endParaRPr kumimoji="1" lang="zh-TW" altLang="en-US">
              <a:uFillTx/>
            </a:endParaRPr>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uFillTx/>
              </a:defRPr>
            </a:lvl1pPr>
          </a:lstStyle>
          <a:p>
            <a:fld id="{8B3B8289-430C-634B-956C-93A1DD092B20}" type="datetimeFigureOut">
              <a:rPr kumimoji="1" lang="zh-TW" altLang="en-US" smtClean="0">
                <a:uFillTx/>
              </a:rPr>
              <a:t>2020/6/30</a:t>
            </a:fld>
            <a:endParaRPr kumimoji="1" lang="zh-TW" altLang="en-US">
              <a:uFillTx/>
            </a:endParaRPr>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srgbClr val="000000"/>
            </a:solidFill>
          </a:ln>
        </p:spPr>
        <p:txBody>
          <a:bodyPr vert="horz" lIns="91440" tIns="45720" rIns="91440" bIns="45720" rtlCol="0" anchor="ctr"/>
          <a:lstStyle/>
          <a:p>
            <a:endParaRPr lang="zh-TW" altLang="en-US">
              <a:uFillTx/>
            </a:endParaRPr>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uFillTx/>
              </a:defRPr>
            </a:lvl1pPr>
          </a:lstStyle>
          <a:p>
            <a:endParaRPr kumimoji="1" lang="zh-TW" altLang="en-US">
              <a:uFillTx/>
            </a:endParaRPr>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uFillTx/>
              </a:defRPr>
            </a:lvl1pPr>
          </a:lstStyle>
          <a:p>
            <a:fld id="{7EE94397-36E2-2E45-87E6-E091B69B03A8}" type="slidenum">
              <a:rPr kumimoji="1" lang="zh-TW" altLang="en-US" smtClean="0">
                <a:uFillTx/>
              </a:rPr>
              <a:t>‹#›</a:t>
            </a:fld>
            <a:endParaRPr kumimoji="1" lang="zh-TW" altLang="en-US">
              <a:uFillTx/>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uFillTx/>
        <a:latin typeface="+mn-lt"/>
        <a:ea typeface="+mn-ea"/>
        <a:cs typeface="+mn-cs"/>
      </a:defRPr>
    </a:lvl1pPr>
    <a:lvl2pPr marL="457200" algn="l" defTabSz="914400" rtl="0" eaLnBrk="1" latinLnBrk="0" hangingPunct="1">
      <a:defRPr sz="1200" kern="1200">
        <a:solidFill>
          <a:schemeClr val="tx1"/>
        </a:solidFill>
        <a:uFillTx/>
        <a:latin typeface="+mn-lt"/>
        <a:ea typeface="+mn-ea"/>
        <a:cs typeface="+mn-cs"/>
      </a:defRPr>
    </a:lvl2pPr>
    <a:lvl3pPr marL="914400" algn="l" defTabSz="914400" rtl="0" eaLnBrk="1" latinLnBrk="0" hangingPunct="1">
      <a:defRPr sz="1200" kern="1200">
        <a:solidFill>
          <a:schemeClr val="tx1"/>
        </a:solidFill>
        <a:uFillTx/>
        <a:latin typeface="+mn-lt"/>
        <a:ea typeface="+mn-ea"/>
        <a:cs typeface="+mn-cs"/>
      </a:defRPr>
    </a:lvl3pPr>
    <a:lvl4pPr marL="1371600" algn="l" defTabSz="914400" rtl="0" eaLnBrk="1" latinLnBrk="0" hangingPunct="1">
      <a:defRPr sz="1200" kern="1200">
        <a:solidFill>
          <a:schemeClr val="tx1"/>
        </a:solidFill>
        <a:uFillTx/>
        <a:latin typeface="+mn-lt"/>
        <a:ea typeface="+mn-ea"/>
        <a:cs typeface="+mn-cs"/>
      </a:defRPr>
    </a:lvl4pPr>
    <a:lvl5pPr marL="1828800" algn="l" defTabSz="914400" rtl="0" eaLnBrk="1" latinLnBrk="0" hangingPunct="1">
      <a:defRPr sz="1200" kern="1200">
        <a:solidFill>
          <a:schemeClr val="tx1"/>
        </a:solidFill>
        <a:uFillTx/>
        <a:latin typeface="+mn-lt"/>
        <a:ea typeface="+mn-ea"/>
        <a:cs typeface="+mn-cs"/>
      </a:defRPr>
    </a:lvl5pPr>
    <a:lvl6pPr marL="2286000" algn="l" defTabSz="914400" rtl="0" eaLnBrk="1" latinLnBrk="0" hangingPunct="1">
      <a:defRPr sz="1200" kern="1200">
        <a:solidFill>
          <a:schemeClr val="tx1"/>
        </a:solidFill>
        <a:uFillTx/>
        <a:latin typeface="+mn-lt"/>
        <a:ea typeface="+mn-ea"/>
        <a:cs typeface="+mn-cs"/>
      </a:defRPr>
    </a:lvl6pPr>
    <a:lvl7pPr marL="2743200" algn="l" defTabSz="914400" rtl="0" eaLnBrk="1" latinLnBrk="0" hangingPunct="1">
      <a:defRPr sz="1200" kern="1200">
        <a:solidFill>
          <a:schemeClr val="tx1"/>
        </a:solidFill>
        <a:uFillTx/>
        <a:latin typeface="+mn-lt"/>
        <a:ea typeface="+mn-ea"/>
        <a:cs typeface="+mn-cs"/>
      </a:defRPr>
    </a:lvl7pPr>
    <a:lvl8pPr marL="3200400" algn="l" defTabSz="914400" rtl="0" eaLnBrk="1" latinLnBrk="0" hangingPunct="1">
      <a:defRPr sz="1200" kern="1200">
        <a:solidFill>
          <a:schemeClr val="tx1"/>
        </a:solidFill>
        <a:uFillTx/>
        <a:latin typeface="+mn-lt"/>
        <a:ea typeface="+mn-ea"/>
        <a:cs typeface="+mn-cs"/>
      </a:defRPr>
    </a:lvl8pPr>
    <a:lvl9pPr marL="3657600" algn="l" defTabSz="914400" rtl="0" eaLnBrk="1" latinLnBrk="0" hangingPunct="1">
      <a:defRPr sz="1200" kern="1200">
        <a:solidFill>
          <a:schemeClr val="tx1"/>
        </a:solidFill>
        <a:uFillTx/>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FontTx/>
              <a:buNone/>
              <a:defRPr>
                <a:uFillTx/>
              </a:defRPr>
            </a:pPr>
            <a:r>
              <a:rPr kumimoji="1" lang="zh-CN" altLang="en-US" dirty="0">
                <a:uFillTx/>
              </a:rPr>
              <a:t>本文為</a:t>
            </a:r>
            <a:r>
              <a:rPr kumimoji="1" lang="en-US" altLang="zh-CN" dirty="0">
                <a:uFillTx/>
              </a:rPr>
              <a:t>2019</a:t>
            </a:r>
            <a:r>
              <a:rPr kumimoji="1" lang="zh-CN" altLang="en-US" dirty="0">
                <a:uFillTx/>
              </a:rPr>
              <a:t>年</a:t>
            </a:r>
            <a:r>
              <a:rPr kumimoji="1" lang="en-US" altLang="zh-CN" dirty="0">
                <a:uFillTx/>
              </a:rPr>
              <a:t>ACL</a:t>
            </a:r>
            <a:r>
              <a:rPr kumimoji="1" lang="zh-CN" altLang="en-US" dirty="0">
                <a:uFillTx/>
              </a:rPr>
              <a:t>最佳長短論文得主</a:t>
            </a:r>
            <a:r>
              <a:rPr kumimoji="1" lang="en-US" altLang="zh-CN" dirty="0">
                <a:uFillTx/>
              </a:rPr>
              <a:t>(</a:t>
            </a:r>
            <a:r>
              <a:rPr kumimoji="1" lang="zh-CN" altLang="en-US" dirty="0">
                <a:uFillTx/>
              </a:rPr>
              <a:t>只有ㄧ篇得主</a:t>
            </a:r>
            <a:r>
              <a:rPr kumimoji="1" lang="en-US" altLang="zh-CN" dirty="0">
                <a:uFillTx/>
              </a:rPr>
              <a:t>)</a:t>
            </a:r>
            <a:r>
              <a:rPr kumimoji="1" lang="zh-CN" altLang="en-US" dirty="0">
                <a:uFillTx/>
              </a:rPr>
              <a:t>。</a:t>
            </a:r>
            <a:r>
              <a:rPr kumimoji="1" lang="en-US" altLang="zh-CN" dirty="0">
                <a:uFillTx/>
              </a:rPr>
              <a:t>2019</a:t>
            </a:r>
            <a:r>
              <a:rPr kumimoji="1" lang="zh-CN" altLang="en-US" dirty="0">
                <a:uFillTx/>
              </a:rPr>
              <a:t>此期刊最佳長論文</a:t>
            </a:r>
            <a:r>
              <a:rPr kumimoji="1" lang="en-US" altLang="zh-CN" dirty="0">
                <a:uFillTx/>
              </a:rPr>
              <a:t>(</a:t>
            </a:r>
            <a:r>
              <a:rPr kumimoji="1" lang="zh-CN" altLang="en-US" dirty="0">
                <a:uFillTx/>
              </a:rPr>
              <a:t>只有一篇得主</a:t>
            </a:r>
            <a:r>
              <a:rPr kumimoji="1" lang="en-US" altLang="zh-CN" dirty="0">
                <a:uFillTx/>
              </a:rPr>
              <a:t>)</a:t>
            </a:r>
            <a:r>
              <a:rPr kumimoji="1" lang="zh-CN" altLang="en-US" dirty="0">
                <a:uFillTx/>
              </a:rPr>
              <a:t>長度共</a:t>
            </a:r>
            <a:r>
              <a:rPr kumimoji="1" lang="en-US" altLang="zh-CN" dirty="0">
                <a:uFillTx/>
              </a:rPr>
              <a:t>12</a:t>
            </a:r>
            <a:r>
              <a:rPr kumimoji="1" lang="zh-CN" altLang="en-US" dirty="0">
                <a:uFillTx/>
              </a:rPr>
              <a:t>頁，此篇最佳短論文共</a:t>
            </a:r>
            <a:r>
              <a:rPr kumimoji="1" lang="en-US" altLang="zh-CN" dirty="0">
                <a:uFillTx/>
              </a:rPr>
              <a:t>6</a:t>
            </a:r>
            <a:r>
              <a:rPr kumimoji="1" lang="zh-CN" altLang="en-US" dirty="0">
                <a:uFillTx/>
              </a:rPr>
              <a:t>頁。</a:t>
            </a:r>
            <a:endParaRPr kumimoji="1" lang="en-US" altLang="zh-CN" dirty="0">
              <a:uFillTx/>
            </a:endParaRPr>
          </a:p>
          <a:p>
            <a:pPr marL="0" marR="0" lvl="0" indent="0" algn="l" defTabSz="914400" rtl="0" eaLnBrk="1" fontAlgn="auto" latinLnBrk="0" hangingPunct="1">
              <a:lnSpc>
                <a:spcPct val="100000"/>
              </a:lnSpc>
              <a:spcBef>
                <a:spcPts val="0"/>
              </a:spcBef>
              <a:spcAft>
                <a:spcPts val="0"/>
              </a:spcAft>
              <a:buFontTx/>
              <a:buNone/>
              <a:defRPr>
                <a:uFillTx/>
              </a:defRPr>
            </a:pPr>
            <a:r>
              <a:rPr kumimoji="1" lang="zh-CN" altLang="en-US" dirty="0">
                <a:uFillTx/>
              </a:rPr>
              <a:t>第一作者為美國中部</a:t>
            </a:r>
            <a:r>
              <a:rPr kumimoji="1" lang="en-US" altLang="zh-CN" dirty="0">
                <a:uFillTx/>
              </a:rPr>
              <a:t>The Ohio State University</a:t>
            </a:r>
            <a:r>
              <a:rPr kumimoji="1" lang="zh-CN" altLang="en-US" dirty="0">
                <a:uFillTx/>
              </a:rPr>
              <a:t>的博士生，第二作者為其指導教授。</a:t>
            </a:r>
            <a:endParaRPr kumimoji="1" lang="en-US" altLang="zh-CN" dirty="0">
              <a:uFillTx/>
            </a:endParaRPr>
          </a:p>
          <a:p>
            <a:pPr marL="0" marR="0" lvl="0" indent="0" algn="l" defTabSz="914400" rtl="0" eaLnBrk="1" fontAlgn="auto" latinLnBrk="0" hangingPunct="1">
              <a:lnSpc>
                <a:spcPct val="100000"/>
              </a:lnSpc>
              <a:spcBef>
                <a:spcPts val="0"/>
              </a:spcBef>
              <a:spcAft>
                <a:spcPts val="0"/>
              </a:spcAft>
              <a:buFontTx/>
              <a:buNone/>
              <a:defRPr>
                <a:uFillTx/>
              </a:defRPr>
            </a:pPr>
            <a:r>
              <a:rPr kumimoji="1" lang="zh-CN" altLang="en-US" dirty="0">
                <a:uFillTx/>
              </a:rPr>
              <a:t>文中的</a:t>
            </a:r>
            <a:r>
              <a:rPr kumimoji="1" lang="en-US" altLang="zh-CN" dirty="0">
                <a:uFillTx/>
              </a:rPr>
              <a:t>Florence</a:t>
            </a:r>
            <a:r>
              <a:rPr kumimoji="1" lang="zh-CN" altLang="en-US" dirty="0">
                <a:uFillTx/>
              </a:rPr>
              <a:t>猜測是美國</a:t>
            </a:r>
            <a:r>
              <a:rPr kumimoji="1" lang="en-US" altLang="zh-CN" dirty="0">
                <a:uFillTx/>
              </a:rPr>
              <a:t>Ohio State</a:t>
            </a:r>
            <a:r>
              <a:rPr kumimoji="1" lang="zh-CN" altLang="en-US" dirty="0">
                <a:uFillTx/>
              </a:rPr>
              <a:t>的一個小鎮，此外美國東部南卡州也有個</a:t>
            </a:r>
            <a:r>
              <a:rPr kumimoji="1" lang="en-US" altLang="zh-CN" dirty="0">
                <a:uFillTx/>
              </a:rPr>
              <a:t>Florence City</a:t>
            </a:r>
            <a:r>
              <a:rPr kumimoji="1" lang="zh-CN" altLang="en-US" dirty="0">
                <a:uFillTx/>
              </a:rPr>
              <a:t>，義大利也有個</a:t>
            </a:r>
            <a:r>
              <a:rPr kumimoji="1" lang="en-US" altLang="zh-CN" dirty="0">
                <a:uFillTx/>
              </a:rPr>
              <a:t>Florence</a:t>
            </a:r>
            <a:r>
              <a:rPr kumimoji="1" lang="zh-CN" altLang="en-US" dirty="0">
                <a:uFillTx/>
              </a:rPr>
              <a:t>省。</a:t>
            </a:r>
            <a:endParaRPr kumimoji="1" lang="en-US" altLang="zh-CN" dirty="0">
              <a:uFillTx/>
            </a:endParaRPr>
          </a:p>
          <a:p>
            <a:pPr marL="0" marR="0" lvl="0" indent="0" algn="l" defTabSz="914400" rtl="0" eaLnBrk="1" fontAlgn="auto" latinLnBrk="0" hangingPunct="1">
              <a:lnSpc>
                <a:spcPct val="100000"/>
              </a:lnSpc>
              <a:spcBef>
                <a:spcPts val="0"/>
              </a:spcBef>
              <a:spcAft>
                <a:spcPts val="0"/>
              </a:spcAft>
              <a:buFontTx/>
              <a:buNone/>
              <a:defRPr>
                <a:uFillTx/>
              </a:defRPr>
            </a:pPr>
            <a:endParaRPr kumimoji="1" lang="en-US" altLang="zh-CN" dirty="0">
              <a:uFillTx/>
            </a:endParaRPr>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uFillTx/>
              </a:rPr>
              <a:t>1</a:t>
            </a:fld>
            <a:endParaRPr kumimoji="1" lang="zh-TW" altLang="en-US">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CN" altLang="en-US" dirty="0">
                <a:uFillTx/>
              </a:rPr>
              <a:t>資料集來自</a:t>
            </a:r>
            <a:r>
              <a:rPr kumimoji="1" lang="en-US" altLang="zh-TW" dirty="0">
                <a:uFillTx/>
              </a:rPr>
              <a:t>2013/1/1</a:t>
            </a:r>
            <a:r>
              <a:rPr kumimoji="1" lang="zh-CN" altLang="en-US" dirty="0">
                <a:uFillTx/>
              </a:rPr>
              <a:t>到</a:t>
            </a:r>
            <a:r>
              <a:rPr kumimoji="1" lang="en-US" altLang="zh-CN" dirty="0">
                <a:uFillTx/>
              </a:rPr>
              <a:t>2017/1/1</a:t>
            </a:r>
            <a:r>
              <a:rPr kumimoji="1" lang="zh-CN" altLang="en-US" dirty="0">
                <a:uFillTx/>
              </a:rPr>
              <a:t>的推特文章</a:t>
            </a:r>
            <a:endParaRPr kumimoji="1" lang="zh-TW" altLang="en-US" dirty="0">
              <a:uFillTx/>
            </a:endParaRPr>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uFillTx/>
              </a:rPr>
              <a:t>4</a:t>
            </a:fld>
            <a:endParaRPr kumimoji="1" lang="zh-TW" altLang="en-US">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uFillTx/>
              </a:rPr>
              <a:t>這是來自</a:t>
            </a:r>
            <a:r>
              <a:rPr kumimoji="1" lang="en-US" altLang="zh-TW" dirty="0">
                <a:uFillTx/>
              </a:rPr>
              <a:t>Wall Street Journal(</a:t>
            </a:r>
            <a:r>
              <a:rPr kumimoji="1" lang="zh-TW" altLang="en-US" dirty="0">
                <a:uFillTx/>
              </a:rPr>
              <a:t>英國科幻、校園小說評論區</a:t>
            </a:r>
            <a:r>
              <a:rPr kumimoji="1" lang="en-US" altLang="zh-TW" dirty="0">
                <a:uFillTx/>
              </a:rPr>
              <a:t>)</a:t>
            </a:r>
            <a:r>
              <a:rPr kumimoji="1" lang="zh-TW" altLang="en-US" dirty="0">
                <a:uFillTx/>
              </a:rPr>
              <a:t>的</a:t>
            </a:r>
            <a:r>
              <a:rPr kumimoji="1" lang="en-US" altLang="zh-TW" dirty="0">
                <a:uFillTx/>
              </a:rPr>
              <a:t>context</a:t>
            </a:r>
            <a:r>
              <a:rPr kumimoji="1" lang="zh-TW" altLang="en-US" dirty="0">
                <a:uFillTx/>
              </a:rPr>
              <a:t>跟</a:t>
            </a:r>
            <a:r>
              <a:rPr kumimoji="1" lang="en-US" altLang="zh-TW" dirty="0">
                <a:uFillTx/>
              </a:rPr>
              <a:t>target</a:t>
            </a:r>
            <a:r>
              <a:rPr kumimoji="1" lang="zh-TW" altLang="en-US" dirty="0">
                <a:uFillTx/>
              </a:rPr>
              <a:t>。</a:t>
            </a:r>
            <a:endParaRPr kumimoji="1" lang="en-US" altLang="zh-TW" dirty="0">
              <a:uFillTx/>
            </a:endParaRPr>
          </a:p>
          <a:p>
            <a:r>
              <a:rPr kumimoji="1" lang="zh-TW" altLang="en-US" dirty="0">
                <a:uFillTx/>
              </a:rPr>
              <a:t>每個</a:t>
            </a:r>
            <a:r>
              <a:rPr kumimoji="1" lang="en-US" altLang="zh-TW" dirty="0">
                <a:uFillTx/>
              </a:rPr>
              <a:t>item</a:t>
            </a:r>
            <a:r>
              <a:rPr kumimoji="1" lang="zh-TW" altLang="en-US" dirty="0">
                <a:uFillTx/>
              </a:rPr>
              <a:t>由至多二個</a:t>
            </a:r>
            <a:r>
              <a:rPr kumimoji="1" lang="en-US" altLang="zh-TW" dirty="0">
                <a:uFillTx/>
              </a:rPr>
              <a:t>Context</a:t>
            </a:r>
            <a:r>
              <a:rPr kumimoji="1" lang="zh-TW" altLang="en-US" dirty="0">
                <a:uFillTx/>
              </a:rPr>
              <a:t>跟一個</a:t>
            </a:r>
            <a:r>
              <a:rPr kumimoji="1" lang="en-US" altLang="zh-TW" dirty="0">
                <a:uFillTx/>
              </a:rPr>
              <a:t>Target</a:t>
            </a:r>
            <a:r>
              <a:rPr kumimoji="1" lang="zh-TW" altLang="en-US" dirty="0">
                <a:uFillTx/>
              </a:rPr>
              <a:t>組成，蒐集來自至少有八位</a:t>
            </a:r>
            <a:r>
              <a:rPr kumimoji="1" lang="en-US" altLang="zh-TW" dirty="0">
                <a:uFillTx/>
              </a:rPr>
              <a:t>naïve English speaker</a:t>
            </a:r>
            <a:r>
              <a:rPr kumimoji="1" lang="zh-TW" altLang="en-US" dirty="0">
                <a:uFillTx/>
              </a:rPr>
              <a:t>給的評論。</a:t>
            </a:r>
            <a:endParaRPr kumimoji="1" lang="en-US" altLang="zh-TW" dirty="0">
              <a:uFillTx/>
            </a:endParaRPr>
          </a:p>
          <a:p>
            <a:r>
              <a:rPr kumimoji="1" lang="en-US" altLang="zh-TW" dirty="0">
                <a:uFillTx/>
              </a:rPr>
              <a:t>Gold score</a:t>
            </a:r>
            <a:r>
              <a:rPr kumimoji="1" lang="zh-TW" altLang="en-US" dirty="0">
                <a:uFillTx/>
              </a:rPr>
              <a:t>範圍</a:t>
            </a:r>
            <a:r>
              <a:rPr kumimoji="1" lang="en-US" altLang="zh-TW" dirty="0">
                <a:uFillTx/>
              </a:rPr>
              <a:t>[-3,3], -3</a:t>
            </a:r>
            <a:r>
              <a:rPr kumimoji="1" lang="zh-TW" altLang="en-US" dirty="0">
                <a:uFillTx/>
              </a:rPr>
              <a:t>表示肯定</a:t>
            </a:r>
            <a:r>
              <a:rPr kumimoji="1" lang="en-US" altLang="zh-TW" dirty="0">
                <a:uFillTx/>
              </a:rPr>
              <a:t>non </a:t>
            </a:r>
            <a:r>
              <a:rPr kumimoji="1" lang="en-US" altLang="zh-TW" dirty="0" err="1">
                <a:uFillTx/>
              </a:rPr>
              <a:t>factical</a:t>
            </a:r>
            <a:r>
              <a:rPr kumimoji="1" lang="en-US" altLang="zh-TW" dirty="0">
                <a:uFillTx/>
              </a:rPr>
              <a:t>, 0</a:t>
            </a:r>
            <a:r>
              <a:rPr kumimoji="1" lang="zh-TW" altLang="en-US" dirty="0">
                <a:uFillTx/>
              </a:rPr>
              <a:t>表不確定</a:t>
            </a:r>
            <a:r>
              <a:rPr kumimoji="1" lang="en-US" altLang="zh-TW" dirty="0">
                <a:uFillTx/>
              </a:rPr>
              <a:t>, +3</a:t>
            </a:r>
            <a:r>
              <a:rPr kumimoji="1" lang="zh-TW" altLang="en-US" dirty="0">
                <a:uFillTx/>
              </a:rPr>
              <a:t>表肯定</a:t>
            </a:r>
            <a:r>
              <a:rPr kumimoji="1" lang="en-US" altLang="zh-TW" dirty="0" err="1">
                <a:uFillTx/>
              </a:rPr>
              <a:t>factical</a:t>
            </a:r>
            <a:r>
              <a:rPr kumimoji="1" lang="zh-TW" altLang="en-US" dirty="0">
                <a:uFillTx/>
              </a:rPr>
              <a:t>。</a:t>
            </a:r>
            <a:endParaRPr kumimoji="1" lang="en-US" altLang="zh-TW" dirty="0">
              <a:uFillTx/>
            </a:endParaRPr>
          </a:p>
          <a:p>
            <a:r>
              <a:rPr kumimoji="1" lang="en-US" altLang="zh-TW" dirty="0">
                <a:uFillTx/>
              </a:rPr>
              <a:t>table1</a:t>
            </a:r>
            <a:r>
              <a:rPr kumimoji="1" lang="zh-TW" altLang="en-US" dirty="0">
                <a:uFillTx/>
              </a:rPr>
              <a:t>中</a:t>
            </a:r>
            <a:r>
              <a:rPr kumimoji="1" lang="en-US" altLang="zh-TW" dirty="0">
                <a:uFillTx/>
              </a:rPr>
              <a:t>gold score</a:t>
            </a:r>
            <a:r>
              <a:rPr kumimoji="1" lang="zh-TW" altLang="en-US" dirty="0">
                <a:uFillTx/>
              </a:rPr>
              <a:t>值和</a:t>
            </a:r>
            <a:r>
              <a:rPr kumimoji="1" lang="en-US" altLang="zh-TW" dirty="0">
                <a:uFillTx/>
              </a:rPr>
              <a:t>Rule based</a:t>
            </a:r>
            <a:r>
              <a:rPr kumimoji="1" lang="zh-TW" altLang="en-US" dirty="0">
                <a:uFillTx/>
              </a:rPr>
              <a:t>跟</a:t>
            </a:r>
            <a:r>
              <a:rPr kumimoji="1" lang="en-US" altLang="zh-TW" dirty="0">
                <a:uFillTx/>
              </a:rPr>
              <a:t>Hybrid</a:t>
            </a:r>
            <a:r>
              <a:rPr kumimoji="1" lang="zh-TW" altLang="en-US" dirty="0">
                <a:uFillTx/>
              </a:rPr>
              <a:t>是兩種方法預測值，介於</a:t>
            </a:r>
            <a:r>
              <a:rPr kumimoji="1" lang="en-US" altLang="zh-TW" dirty="0">
                <a:uFillTx/>
              </a:rPr>
              <a:t>[-3,+3]</a:t>
            </a:r>
            <a:r>
              <a:rPr kumimoji="1" lang="zh-TW" altLang="en-US" dirty="0">
                <a:uFillTx/>
              </a:rPr>
              <a:t>。</a:t>
            </a:r>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uFillTx/>
              </a:rPr>
              <a:t>5</a:t>
            </a:fld>
            <a:endParaRPr kumimoji="1" lang="zh-TW" altLang="en-US">
              <a:uFillTx/>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uFillTx/>
              </a:rPr>
              <a:t>這是來自</a:t>
            </a:r>
            <a:r>
              <a:rPr kumimoji="1" lang="en-US" altLang="zh-TW" dirty="0">
                <a:uFillTx/>
              </a:rPr>
              <a:t>Wall Street Journal</a:t>
            </a:r>
            <a:r>
              <a:rPr kumimoji="1" lang="zh-TW" altLang="en-US" dirty="0">
                <a:uFillTx/>
              </a:rPr>
              <a:t>、英國科幻、校園小說評論區</a:t>
            </a:r>
            <a:r>
              <a:rPr kumimoji="1" lang="en-US" altLang="zh-TW" dirty="0">
                <a:uFillTx/>
              </a:rPr>
              <a:t>)</a:t>
            </a:r>
            <a:r>
              <a:rPr kumimoji="1" lang="zh-TW" altLang="en-US" dirty="0">
                <a:uFillTx/>
              </a:rPr>
              <a:t>的</a:t>
            </a:r>
            <a:r>
              <a:rPr kumimoji="1" lang="en-US" altLang="zh-TW" dirty="0">
                <a:uFillTx/>
              </a:rPr>
              <a:t>context</a:t>
            </a:r>
            <a:r>
              <a:rPr kumimoji="1" lang="zh-TW" altLang="en-US" dirty="0">
                <a:uFillTx/>
              </a:rPr>
              <a:t>跟</a:t>
            </a:r>
            <a:r>
              <a:rPr kumimoji="1" lang="en-US" altLang="zh-TW" dirty="0">
                <a:uFillTx/>
              </a:rPr>
              <a:t>target</a:t>
            </a:r>
            <a:r>
              <a:rPr kumimoji="1" lang="zh-TW" altLang="en-US" dirty="0">
                <a:uFillTx/>
              </a:rPr>
              <a:t>。</a:t>
            </a:r>
            <a:endParaRPr kumimoji="1" lang="en-US" altLang="zh-TW" dirty="0">
              <a:uFillTx/>
            </a:endParaRPr>
          </a:p>
          <a:p>
            <a:r>
              <a:rPr kumimoji="1" lang="zh-TW" altLang="en-US" dirty="0">
                <a:uFillTx/>
              </a:rPr>
              <a:t>每個</a:t>
            </a:r>
            <a:r>
              <a:rPr kumimoji="1" lang="en-US" altLang="zh-TW" dirty="0">
                <a:uFillTx/>
              </a:rPr>
              <a:t>item</a:t>
            </a:r>
            <a:r>
              <a:rPr kumimoji="1" lang="zh-TW" altLang="en-US" dirty="0">
                <a:uFillTx/>
              </a:rPr>
              <a:t>由至多二個</a:t>
            </a:r>
            <a:r>
              <a:rPr kumimoji="1" lang="en-US" altLang="zh-TW" dirty="0">
                <a:uFillTx/>
              </a:rPr>
              <a:t>Context</a:t>
            </a:r>
            <a:r>
              <a:rPr kumimoji="1" lang="zh-TW" altLang="en-US" dirty="0">
                <a:uFillTx/>
              </a:rPr>
              <a:t>跟一個</a:t>
            </a:r>
            <a:r>
              <a:rPr kumimoji="1" lang="en-US" altLang="zh-TW" dirty="0">
                <a:uFillTx/>
              </a:rPr>
              <a:t>Target</a:t>
            </a:r>
            <a:r>
              <a:rPr kumimoji="1" lang="zh-TW" altLang="en-US" dirty="0">
                <a:uFillTx/>
              </a:rPr>
              <a:t>組成，蒐集來自至少有八位</a:t>
            </a:r>
            <a:r>
              <a:rPr kumimoji="1" lang="en-US" altLang="zh-TW" dirty="0">
                <a:uFillTx/>
              </a:rPr>
              <a:t>naïve English speaker</a:t>
            </a:r>
            <a:r>
              <a:rPr kumimoji="1" lang="zh-TW" altLang="en-US" dirty="0">
                <a:uFillTx/>
              </a:rPr>
              <a:t>給的評論。</a:t>
            </a:r>
            <a:endParaRPr kumimoji="1" lang="en-US" altLang="zh-TW" dirty="0">
              <a:uFillTx/>
            </a:endParaRPr>
          </a:p>
          <a:p>
            <a:r>
              <a:rPr kumimoji="1" lang="en-US" altLang="zh-TW" dirty="0">
                <a:uFillTx/>
              </a:rPr>
              <a:t>Gold score</a:t>
            </a:r>
            <a:r>
              <a:rPr kumimoji="1" lang="zh-TW" altLang="en-US" dirty="0">
                <a:uFillTx/>
              </a:rPr>
              <a:t>範圍</a:t>
            </a:r>
            <a:r>
              <a:rPr kumimoji="1" lang="en-US" altLang="zh-TW" dirty="0">
                <a:uFillTx/>
              </a:rPr>
              <a:t>[-3,3], -3</a:t>
            </a:r>
            <a:r>
              <a:rPr kumimoji="1" lang="zh-TW" altLang="en-US" dirty="0">
                <a:uFillTx/>
              </a:rPr>
              <a:t>表示肯定</a:t>
            </a:r>
            <a:r>
              <a:rPr kumimoji="1" lang="en-US" altLang="zh-TW" dirty="0">
                <a:uFillTx/>
              </a:rPr>
              <a:t>non </a:t>
            </a:r>
            <a:r>
              <a:rPr kumimoji="1" lang="en-US" altLang="zh-TW" dirty="0" err="1">
                <a:uFillTx/>
              </a:rPr>
              <a:t>factical</a:t>
            </a:r>
            <a:r>
              <a:rPr kumimoji="1" lang="en-US" altLang="zh-TW" dirty="0">
                <a:uFillTx/>
              </a:rPr>
              <a:t>, 0</a:t>
            </a:r>
            <a:r>
              <a:rPr kumimoji="1" lang="zh-TW" altLang="en-US" dirty="0">
                <a:uFillTx/>
              </a:rPr>
              <a:t>表不確定</a:t>
            </a:r>
            <a:r>
              <a:rPr kumimoji="1" lang="en-US" altLang="zh-TW" dirty="0">
                <a:uFillTx/>
              </a:rPr>
              <a:t>, +3</a:t>
            </a:r>
            <a:r>
              <a:rPr kumimoji="1" lang="zh-TW" altLang="en-US" dirty="0">
                <a:uFillTx/>
              </a:rPr>
              <a:t>表肯定</a:t>
            </a:r>
            <a:r>
              <a:rPr kumimoji="1" lang="en-US" altLang="zh-TW" dirty="0" err="1">
                <a:uFillTx/>
              </a:rPr>
              <a:t>factical</a:t>
            </a:r>
            <a:r>
              <a:rPr kumimoji="1" lang="zh-TW" altLang="en-US" dirty="0">
                <a:uFillTx/>
              </a:rPr>
              <a:t>。</a:t>
            </a:r>
            <a:endParaRPr kumimoji="1" lang="en-US" altLang="zh-TW" dirty="0">
              <a:uFillTx/>
            </a:endParaRPr>
          </a:p>
          <a:p>
            <a:r>
              <a:rPr kumimoji="1" lang="en-US" altLang="zh-TW" dirty="0">
                <a:uFillTx/>
              </a:rPr>
              <a:t>table1</a:t>
            </a:r>
            <a:r>
              <a:rPr kumimoji="1" lang="zh-TW" altLang="en-US" dirty="0">
                <a:uFillTx/>
              </a:rPr>
              <a:t>中</a:t>
            </a:r>
            <a:r>
              <a:rPr kumimoji="1" lang="en-US" altLang="zh-TW" dirty="0">
                <a:uFillTx/>
              </a:rPr>
              <a:t>gold score</a:t>
            </a:r>
            <a:r>
              <a:rPr kumimoji="1" lang="zh-TW" altLang="en-US" dirty="0">
                <a:uFillTx/>
              </a:rPr>
              <a:t>值和</a:t>
            </a:r>
            <a:r>
              <a:rPr kumimoji="1" lang="en-US" altLang="zh-TW" dirty="0">
                <a:uFillTx/>
              </a:rPr>
              <a:t>Rule based</a:t>
            </a:r>
            <a:r>
              <a:rPr kumimoji="1" lang="zh-TW" altLang="en-US" dirty="0">
                <a:uFillTx/>
              </a:rPr>
              <a:t>跟</a:t>
            </a:r>
            <a:r>
              <a:rPr kumimoji="1" lang="en-US" altLang="zh-TW" dirty="0">
                <a:uFillTx/>
              </a:rPr>
              <a:t>Hybrid</a:t>
            </a:r>
            <a:r>
              <a:rPr kumimoji="1" lang="zh-TW" altLang="en-US" dirty="0">
                <a:uFillTx/>
              </a:rPr>
              <a:t>是兩種方法預測值，介於</a:t>
            </a:r>
            <a:r>
              <a:rPr kumimoji="1" lang="en-US" altLang="zh-TW" dirty="0">
                <a:uFillTx/>
              </a:rPr>
              <a:t>[-3,+3]</a:t>
            </a:r>
            <a:r>
              <a:rPr kumimoji="1" lang="zh-TW" altLang="en-US" dirty="0">
                <a:uFillTx/>
              </a:rPr>
              <a:t>。</a:t>
            </a:r>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uFillTx/>
              </a:rPr>
              <a:t>6</a:t>
            </a:fld>
            <a:endParaRPr kumimoji="1" lang="zh-TW" altLang="en-US">
              <a:uFillTx/>
            </a:endParaRPr>
          </a:p>
        </p:txBody>
      </p:sp>
    </p:spTree>
    <p:extLst>
      <p:ext uri="{BB962C8B-B14F-4D97-AF65-F5344CB8AC3E}">
        <p14:creationId xmlns:p14="http://schemas.microsoft.com/office/powerpoint/2010/main" val="3848675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uFillTx/>
              </a:rPr>
              <a:t>右圖</a:t>
            </a:r>
            <a:r>
              <a:rPr kumimoji="1" lang="en-US" altLang="zh-TW" dirty="0" err="1">
                <a:uFillTx/>
              </a:rPr>
              <a:t>Retricted</a:t>
            </a:r>
            <a:r>
              <a:rPr kumimoji="1" lang="en-US" altLang="zh-TW" dirty="0">
                <a:uFillTx/>
              </a:rPr>
              <a:t> set</a:t>
            </a:r>
            <a:r>
              <a:rPr kumimoji="1" lang="zh-TW" altLang="en-US" dirty="0">
                <a:uFillTx/>
              </a:rPr>
              <a:t>的計算為原</a:t>
            </a:r>
            <a:r>
              <a:rPr kumimoji="1" lang="en-US" altLang="zh-TW" dirty="0">
                <a:uFillTx/>
              </a:rPr>
              <a:t>[-3,+3]</a:t>
            </a:r>
            <a:r>
              <a:rPr kumimoji="1" lang="zh-TW" altLang="en-US" dirty="0">
                <a:uFillTx/>
              </a:rPr>
              <a:t>變成</a:t>
            </a:r>
            <a:r>
              <a:rPr kumimoji="1" lang="en-US" altLang="zh-TW" dirty="0">
                <a:uFillTx/>
              </a:rPr>
              <a:t>[1,3]</a:t>
            </a:r>
            <a:r>
              <a:rPr kumimoji="1" lang="zh-TW" altLang="en-US" dirty="0">
                <a:uFillTx/>
              </a:rPr>
              <a:t>亦即</a:t>
            </a:r>
            <a:r>
              <a:rPr kumimoji="1" lang="en-US" altLang="zh-TW" dirty="0">
                <a:uFillTx/>
              </a:rPr>
              <a:t>-p</a:t>
            </a:r>
            <a:r>
              <a:rPr kumimoji="1" lang="zh-TW" altLang="en-US" dirty="0">
                <a:uFillTx/>
              </a:rPr>
              <a:t>變成</a:t>
            </a:r>
            <a:r>
              <a:rPr kumimoji="1" lang="en-US" altLang="zh-TW" dirty="0">
                <a:uFillTx/>
              </a:rPr>
              <a:t>p</a:t>
            </a:r>
            <a:r>
              <a:rPr kumimoji="1" lang="zh-TW" altLang="en-US" dirty="0">
                <a:uFillTx/>
              </a:rPr>
              <a:t>當</a:t>
            </a:r>
            <a:r>
              <a:rPr kumimoji="1" lang="en-US" altLang="zh-TW" dirty="0">
                <a:uFillTx/>
              </a:rPr>
              <a:t>-p</a:t>
            </a:r>
            <a:r>
              <a:rPr kumimoji="1" lang="zh-TW" altLang="en-US" dirty="0">
                <a:uFillTx/>
              </a:rPr>
              <a:t>為</a:t>
            </a:r>
            <a:r>
              <a:rPr kumimoji="1" lang="en-US" altLang="zh-TW" dirty="0">
                <a:uFillTx/>
              </a:rPr>
              <a:t>[-3,-1]</a:t>
            </a:r>
            <a:r>
              <a:rPr kumimoji="1" lang="zh-TW" altLang="en-US" dirty="0">
                <a:uFillTx/>
              </a:rPr>
              <a:t>，原則被放棄使用。</a:t>
            </a:r>
            <a:endParaRPr kumimoji="1" lang="en-US" altLang="zh-TW" dirty="0">
              <a:uFillTx/>
            </a:endParaRPr>
          </a:p>
          <a:p>
            <a:r>
              <a:rPr kumimoji="1" lang="zh-TW" altLang="en-US" dirty="0">
                <a:uFillTx/>
              </a:rPr>
              <a:t>圖中</a:t>
            </a:r>
            <a:r>
              <a:rPr kumimoji="1" lang="en-US" altLang="zh-TW" dirty="0">
                <a:uFillTx/>
              </a:rPr>
              <a:t>Linear, Tree, Hybrid</a:t>
            </a:r>
            <a:r>
              <a:rPr kumimoji="1" lang="zh-TW" altLang="en-US" dirty="0">
                <a:uFillTx/>
              </a:rPr>
              <a:t>為</a:t>
            </a:r>
            <a:r>
              <a:rPr kumimoji="1" lang="en-US" altLang="zh-TW" dirty="0">
                <a:uFillTx/>
              </a:rPr>
              <a:t>Rudinger2018</a:t>
            </a:r>
            <a:r>
              <a:rPr kumimoji="1" lang="zh-TW" altLang="en-US" dirty="0">
                <a:uFillTx/>
              </a:rPr>
              <a:t>那篇三種</a:t>
            </a:r>
            <a:r>
              <a:rPr kumimoji="1" lang="en-US" altLang="zh-TW" dirty="0" err="1">
                <a:uFillTx/>
              </a:rPr>
              <a:t>BiLSTM</a:t>
            </a:r>
            <a:r>
              <a:rPr kumimoji="1" lang="en-US" altLang="zh-TW" dirty="0">
                <a:uFillTx/>
              </a:rPr>
              <a:t> model</a:t>
            </a:r>
            <a:r>
              <a:rPr kumimoji="1" lang="zh-TW" altLang="en-US" dirty="0">
                <a:uFillTx/>
              </a:rPr>
              <a:t>。</a:t>
            </a:r>
            <a:endParaRPr kumimoji="1" lang="en-US" altLang="zh-TW" dirty="0">
              <a:uFillTx/>
            </a:endParaRPr>
          </a:p>
          <a:p>
            <a:r>
              <a:rPr kumimoji="1" lang="en-US" altLang="zh-TW" dirty="0">
                <a:uFillTx/>
              </a:rPr>
              <a:t>Rule-based</a:t>
            </a:r>
            <a:r>
              <a:rPr kumimoji="1" lang="zh-TW" altLang="en-US" dirty="0">
                <a:uFillTx/>
              </a:rPr>
              <a:t>則為</a:t>
            </a:r>
            <a:r>
              <a:rPr kumimoji="1" lang="en-US" altLang="zh-TW" dirty="0">
                <a:uFillTx/>
              </a:rPr>
              <a:t>2017</a:t>
            </a:r>
            <a:r>
              <a:rPr kumimoji="1" lang="zh-TW" altLang="en-US" dirty="0">
                <a:uFillTx/>
              </a:rPr>
              <a:t>的</a:t>
            </a:r>
            <a:r>
              <a:rPr kumimoji="1" lang="en-US" altLang="zh-TW" dirty="0" err="1">
                <a:uFillTx/>
              </a:rPr>
              <a:t>Stanovsky</a:t>
            </a:r>
            <a:r>
              <a:rPr kumimoji="1" lang="zh-TW" altLang="en-US" dirty="0">
                <a:uFillTx/>
              </a:rPr>
              <a:t>的模型。</a:t>
            </a:r>
            <a:endParaRPr kumimoji="1" lang="en-US" altLang="zh-TW" dirty="0">
              <a:uFillTx/>
            </a:endParaRPr>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uFillTx/>
              </a:rPr>
              <a:t>8</a:t>
            </a:fld>
            <a:endParaRPr kumimoji="1" lang="zh-TW" altLang="en-US">
              <a:uFillTx/>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uFillTx/>
              </a:rPr>
              <a:t>Embedding</a:t>
            </a:r>
            <a:r>
              <a:rPr kumimoji="1" lang="zh-TW" altLang="en-US" dirty="0">
                <a:uFillTx/>
              </a:rPr>
              <a:t>部分在</a:t>
            </a:r>
            <a:r>
              <a:rPr kumimoji="1" lang="en-US" altLang="zh-TW" dirty="0">
                <a:uFillTx/>
              </a:rPr>
              <a:t>Modal</a:t>
            </a:r>
            <a:r>
              <a:rPr kumimoji="1" lang="zh-TW" altLang="en-US" dirty="0">
                <a:uFillTx/>
              </a:rPr>
              <a:t>情態動詞上表現不錯。</a:t>
            </a:r>
            <a:endParaRPr kumimoji="1" lang="en-US" altLang="zh-TW" dirty="0">
              <a:uFillTx/>
            </a:endParaRPr>
          </a:p>
          <a:p>
            <a:r>
              <a:rPr kumimoji="1" lang="en-US" altLang="zh-TW" dirty="0">
                <a:uFillTx/>
              </a:rPr>
              <a:t>Genre</a:t>
            </a:r>
            <a:r>
              <a:rPr kumimoji="1" lang="zh-TW" altLang="en-US" dirty="0">
                <a:uFillTx/>
              </a:rPr>
              <a:t>部分在</a:t>
            </a:r>
            <a:r>
              <a:rPr kumimoji="1" lang="en-US" altLang="zh-TW" dirty="0">
                <a:uFillTx/>
              </a:rPr>
              <a:t>Dialog</a:t>
            </a:r>
            <a:r>
              <a:rPr kumimoji="1" lang="zh-TW" altLang="en-US" dirty="0">
                <a:uFillTx/>
              </a:rPr>
              <a:t>問答與</a:t>
            </a:r>
            <a:r>
              <a:rPr kumimoji="1" lang="en-US" altLang="zh-TW" dirty="0">
                <a:uFillTx/>
              </a:rPr>
              <a:t>Fiction</a:t>
            </a:r>
            <a:r>
              <a:rPr kumimoji="1" lang="zh-TW" altLang="en-US" dirty="0">
                <a:uFillTx/>
              </a:rPr>
              <a:t>小說上表現不錯。</a:t>
            </a:r>
            <a:endParaRPr kumimoji="1" lang="en-US" altLang="zh-TW" dirty="0">
              <a:uFillTx/>
            </a:endParaRPr>
          </a:p>
          <a:p>
            <a:r>
              <a:rPr kumimoji="1" lang="en-US" altLang="zh-TW" dirty="0" err="1">
                <a:uFillTx/>
              </a:rPr>
              <a:t>Factive</a:t>
            </a:r>
            <a:r>
              <a:rPr kumimoji="1" lang="zh-TW" altLang="en-US" dirty="0">
                <a:uFillTx/>
              </a:rPr>
              <a:t>部分</a:t>
            </a:r>
            <a:r>
              <a:rPr kumimoji="1" lang="en-US" altLang="zh-TW" dirty="0">
                <a:uFillTx/>
              </a:rPr>
              <a:t>no</a:t>
            </a:r>
            <a:r>
              <a:rPr kumimoji="1" lang="zh-TW" altLang="en-US" dirty="0">
                <a:uFillTx/>
              </a:rPr>
              <a:t>在</a:t>
            </a:r>
            <a:r>
              <a:rPr kumimoji="1" lang="en-US" altLang="zh-TW" dirty="0">
                <a:uFillTx/>
              </a:rPr>
              <a:t>correlation</a:t>
            </a:r>
            <a:r>
              <a:rPr kumimoji="1" lang="zh-TW" altLang="en-US" dirty="0">
                <a:uFillTx/>
              </a:rPr>
              <a:t>表現較好，</a:t>
            </a:r>
            <a:r>
              <a:rPr kumimoji="1" lang="en-US" altLang="zh-TW" dirty="0">
                <a:uFillTx/>
              </a:rPr>
              <a:t>yes</a:t>
            </a:r>
            <a:r>
              <a:rPr kumimoji="1" lang="zh-TW" altLang="en-US" dirty="0">
                <a:uFillTx/>
              </a:rPr>
              <a:t>在</a:t>
            </a:r>
            <a:r>
              <a:rPr kumimoji="1" lang="en-US" altLang="zh-TW" dirty="0">
                <a:uFillTx/>
              </a:rPr>
              <a:t>MAE</a:t>
            </a:r>
            <a:r>
              <a:rPr kumimoji="1" lang="zh-TW" altLang="en-US" dirty="0">
                <a:uFillTx/>
              </a:rPr>
              <a:t>表現較好。</a:t>
            </a:r>
            <a:endParaRPr kumimoji="1" lang="en-US" altLang="zh-TW" dirty="0">
              <a:uFillTx/>
            </a:endParaRPr>
          </a:p>
          <a:p>
            <a:r>
              <a:rPr kumimoji="1" lang="en-US" altLang="zh-TW" dirty="0">
                <a:uFillTx/>
              </a:rPr>
              <a:t>Pearson</a:t>
            </a:r>
            <a:r>
              <a:rPr kumimoji="1" lang="zh-TW" altLang="en-US" dirty="0">
                <a:uFillTx/>
              </a:rPr>
              <a:t> </a:t>
            </a:r>
            <a:r>
              <a:rPr kumimoji="1" lang="en-US" altLang="zh-TW" dirty="0" err="1">
                <a:uFillTx/>
              </a:rPr>
              <a:t>corelation</a:t>
            </a:r>
            <a:r>
              <a:rPr kumimoji="1" lang="zh-TW" altLang="en-US" dirty="0">
                <a:uFillTx/>
              </a:rPr>
              <a:t>相關係數介於</a:t>
            </a:r>
            <a:r>
              <a:rPr kumimoji="1" lang="en-US" altLang="zh-TW" dirty="0">
                <a:uFillTx/>
              </a:rPr>
              <a:t>[-1,+1]</a:t>
            </a:r>
            <a:r>
              <a:rPr kumimoji="1" lang="zh-TW" altLang="en-US" dirty="0">
                <a:uFillTx/>
              </a:rPr>
              <a:t>。</a:t>
            </a:r>
            <a:endParaRPr kumimoji="1" lang="en-US" altLang="zh-TW" dirty="0">
              <a:uFillTx/>
            </a:endParaRPr>
          </a:p>
          <a:p>
            <a:r>
              <a:rPr kumimoji="1" lang="en-US" altLang="zh-TW" dirty="0" err="1">
                <a:uFillTx/>
              </a:rPr>
              <a:t>NegRasising</a:t>
            </a:r>
            <a:r>
              <a:rPr kumimoji="1" lang="zh-TW" altLang="en-US" dirty="0">
                <a:uFillTx/>
              </a:rPr>
              <a:t>的相關係數幾乎為</a:t>
            </a:r>
            <a:r>
              <a:rPr kumimoji="1" lang="en-US" altLang="zh-TW" dirty="0">
                <a:uFillTx/>
              </a:rPr>
              <a:t>0</a:t>
            </a:r>
            <a:r>
              <a:rPr kumimoji="1" lang="zh-TW" altLang="en-US" dirty="0">
                <a:uFillTx/>
              </a:rPr>
              <a:t>，表示</a:t>
            </a:r>
            <a:r>
              <a:rPr kumimoji="1" lang="en-US" altLang="zh-TW" dirty="0">
                <a:uFillTx/>
              </a:rPr>
              <a:t>rule-based</a:t>
            </a:r>
            <a:r>
              <a:rPr kumimoji="1" lang="zh-TW" altLang="en-US" dirty="0">
                <a:uFillTx/>
              </a:rPr>
              <a:t>跟</a:t>
            </a:r>
            <a:r>
              <a:rPr kumimoji="1" lang="en-US" altLang="zh-TW" dirty="0">
                <a:uFillTx/>
              </a:rPr>
              <a:t>Hybrid</a:t>
            </a:r>
            <a:r>
              <a:rPr kumimoji="1" lang="zh-TW" altLang="en-US" dirty="0">
                <a:uFillTx/>
              </a:rPr>
              <a:t>的</a:t>
            </a:r>
            <a:r>
              <a:rPr kumimoji="1" lang="en-US" altLang="zh-TW" dirty="0" err="1">
                <a:uFillTx/>
              </a:rPr>
              <a:t>BiLST</a:t>
            </a:r>
            <a:r>
              <a:rPr kumimoji="1" lang="zh-TW" altLang="en-US" dirty="0">
                <a:uFillTx/>
              </a:rPr>
              <a:t>Ｍ幾乎抓不到</a:t>
            </a:r>
            <a:r>
              <a:rPr kumimoji="1" lang="en-US" altLang="zh-TW" dirty="0">
                <a:uFillTx/>
              </a:rPr>
              <a:t>neg-raising(negation)</a:t>
            </a:r>
            <a:r>
              <a:rPr kumimoji="1" lang="zh-TW" altLang="en-US" dirty="0">
                <a:uFillTx/>
              </a:rPr>
              <a:t>。</a:t>
            </a:r>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uFillTx/>
              </a:rPr>
              <a:t>9</a:t>
            </a:fld>
            <a:endParaRPr kumimoji="1" lang="zh-TW" altLang="en-US">
              <a:uFillTx/>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Genre</a:t>
            </a:r>
            <a:r>
              <a:rPr lang="zh-TW" altLang="en-US" dirty="0"/>
              <a:t>的</a:t>
            </a:r>
            <a:r>
              <a:rPr lang="en-US" altLang="zh-TW" dirty="0"/>
              <a:t>Dialog(spoken):</a:t>
            </a:r>
            <a:r>
              <a:rPr lang="zh-TW" altLang="en-US" dirty="0"/>
              <a:t>問答</a:t>
            </a:r>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uFillTx/>
              </a:rPr>
              <a:t>10</a:t>
            </a:fld>
            <a:endParaRPr kumimoji="1" lang="zh-TW" altLang="en-US">
              <a:uFillTx/>
            </a:endParaRPr>
          </a:p>
        </p:txBody>
      </p:sp>
    </p:spTree>
    <p:extLst>
      <p:ext uri="{BB962C8B-B14F-4D97-AF65-F5344CB8AC3E}">
        <p14:creationId xmlns:p14="http://schemas.microsoft.com/office/powerpoint/2010/main" val="3163737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uFillTx/>
              </a:defRPr>
            </a:lvl1pPr>
          </a:lstStyle>
          <a:p>
            <a:r>
              <a:rPr kumimoji="1" lang="zh-TW" altLang="en-US">
                <a:uFillTx/>
              </a:rPr>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uFillTx/>
              </a:defRPr>
            </a:lvl1pPr>
            <a:lvl2pPr marL="457200" indent="0" algn="ctr">
              <a:buNone/>
              <a:defRPr sz="2000">
                <a:uFillTx/>
              </a:defRPr>
            </a:lvl2pPr>
            <a:lvl3pPr marL="914400" indent="0" algn="ctr">
              <a:buNone/>
              <a:defRPr sz="1800">
                <a:uFillTx/>
              </a:defRPr>
            </a:lvl3pPr>
            <a:lvl4pPr marL="1371600" indent="0" algn="ctr">
              <a:buNone/>
              <a:defRPr sz="1600">
                <a:uFillTx/>
              </a:defRPr>
            </a:lvl4pPr>
            <a:lvl5pPr marL="1828800" indent="0" algn="ctr">
              <a:buNone/>
              <a:defRPr sz="1600">
                <a:uFillTx/>
              </a:defRPr>
            </a:lvl5pPr>
            <a:lvl6pPr marL="2286000" indent="0" algn="ctr">
              <a:buNone/>
              <a:defRPr sz="1600">
                <a:uFillTx/>
              </a:defRPr>
            </a:lvl6pPr>
            <a:lvl7pPr marL="2743200" indent="0" algn="ctr">
              <a:buNone/>
              <a:defRPr sz="1600">
                <a:uFillTx/>
              </a:defRPr>
            </a:lvl7pPr>
            <a:lvl8pPr marL="3200400" indent="0" algn="ctr">
              <a:buNone/>
              <a:defRPr sz="1600">
                <a:uFillTx/>
              </a:defRPr>
            </a:lvl8pPr>
            <a:lvl9pPr marL="3657600" indent="0" algn="ctr">
              <a:buNone/>
              <a:defRPr sz="1600">
                <a:uFillTx/>
              </a:defRPr>
            </a:lvl9pPr>
          </a:lstStyle>
          <a:p>
            <a:r>
              <a:rPr kumimoji="1" lang="zh-TW" altLang="en-US">
                <a:uFillTx/>
              </a:rPr>
              <a:t>按一下以編輯母片子標題樣式</a:t>
            </a:r>
          </a:p>
        </p:txBody>
      </p:sp>
      <p:sp>
        <p:nvSpPr>
          <p:cNvPr id="4" name="日期版面配置區 3"/>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5" name="頁尾版面配置區 4"/>
          <p:cNvSpPr>
            <a:spLocks noGrp="1"/>
          </p:cNvSpPr>
          <p:nvPr>
            <p:ph type="ftr" sz="quarter" idx="11"/>
          </p:nvPr>
        </p:nvSpPr>
        <p:spPr/>
        <p:txBody>
          <a:bodyPr/>
          <a:lstStyle/>
          <a:p>
            <a:endParaRPr kumimoji="1" lang="zh-TW" altLang="en-US">
              <a:uFillTx/>
            </a:endParaRPr>
          </a:p>
        </p:txBody>
      </p:sp>
      <p:sp>
        <p:nvSpPr>
          <p:cNvPr id="6" name="投影片編號版面配置區 5"/>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uFillTx/>
              </a:rPr>
              <a:t>按一下以編輯母片標題樣式</a:t>
            </a:r>
          </a:p>
        </p:txBody>
      </p:sp>
      <p:sp>
        <p:nvSpPr>
          <p:cNvPr id="3" name="內容版面配置區 2"/>
          <p:cNvSpPr>
            <a:spLocks noGrp="1"/>
          </p:cNvSpPr>
          <p:nvPr>
            <p:ph idx="1"/>
          </p:nvPr>
        </p:nvSpPr>
        <p:spPr/>
        <p:txBody>
          <a:bodyPr/>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4" name="日期版面配置區 3"/>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5" name="頁尾版面配置區 4"/>
          <p:cNvSpPr>
            <a:spLocks noGrp="1"/>
          </p:cNvSpPr>
          <p:nvPr>
            <p:ph type="ftr" sz="quarter" idx="11"/>
          </p:nvPr>
        </p:nvSpPr>
        <p:spPr/>
        <p:txBody>
          <a:bodyPr/>
          <a:lstStyle/>
          <a:p>
            <a:endParaRPr kumimoji="1" lang="zh-TW" altLang="en-US">
              <a:uFillTx/>
            </a:endParaRPr>
          </a:p>
        </p:txBody>
      </p:sp>
      <p:sp>
        <p:nvSpPr>
          <p:cNvPr id="6" name="投影片編號版面配置區 5"/>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uFillTx/>
              </a:defRPr>
            </a:lvl1pPr>
          </a:lstStyle>
          <a:p>
            <a:r>
              <a:rPr kumimoji="1" lang="zh-TW" altLang="en-US">
                <a:uFillTx/>
              </a:rPr>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uFillTx/>
              </a:defRPr>
            </a:lvl1pPr>
            <a:lvl2pPr marL="457200" indent="0">
              <a:buNone/>
              <a:defRPr sz="2000">
                <a:solidFill>
                  <a:schemeClr val="tx1">
                    <a:tint val="75000"/>
                  </a:schemeClr>
                </a:solidFill>
                <a:uFillTx/>
              </a:defRPr>
            </a:lvl2pPr>
            <a:lvl3pPr marL="914400" indent="0">
              <a:buNone/>
              <a:defRPr sz="1800">
                <a:solidFill>
                  <a:schemeClr val="tx1">
                    <a:tint val="75000"/>
                  </a:schemeClr>
                </a:solidFill>
                <a:uFillTx/>
              </a:defRPr>
            </a:lvl3pPr>
            <a:lvl4pPr marL="1371600" indent="0">
              <a:buNone/>
              <a:defRPr sz="1600">
                <a:solidFill>
                  <a:schemeClr val="tx1">
                    <a:tint val="75000"/>
                  </a:schemeClr>
                </a:solidFill>
                <a:uFillTx/>
              </a:defRPr>
            </a:lvl4pPr>
            <a:lvl5pPr marL="1828800" indent="0">
              <a:buNone/>
              <a:defRPr sz="1600">
                <a:solidFill>
                  <a:schemeClr val="tx1">
                    <a:tint val="75000"/>
                  </a:schemeClr>
                </a:solidFill>
                <a:uFillTx/>
              </a:defRPr>
            </a:lvl5pPr>
            <a:lvl6pPr marL="2286000" indent="0">
              <a:buNone/>
              <a:defRPr sz="1600">
                <a:solidFill>
                  <a:schemeClr val="tx1">
                    <a:tint val="75000"/>
                  </a:schemeClr>
                </a:solidFill>
                <a:uFillTx/>
              </a:defRPr>
            </a:lvl6pPr>
            <a:lvl7pPr marL="2743200" indent="0">
              <a:buNone/>
              <a:defRPr sz="1600">
                <a:solidFill>
                  <a:schemeClr val="tx1">
                    <a:tint val="75000"/>
                  </a:schemeClr>
                </a:solidFill>
                <a:uFillTx/>
              </a:defRPr>
            </a:lvl7pPr>
            <a:lvl8pPr marL="3200400" indent="0">
              <a:buNone/>
              <a:defRPr sz="1600">
                <a:solidFill>
                  <a:schemeClr val="tx1">
                    <a:tint val="75000"/>
                  </a:schemeClr>
                </a:solidFill>
                <a:uFillTx/>
              </a:defRPr>
            </a:lvl8pPr>
            <a:lvl9pPr marL="3657600" indent="0">
              <a:buNone/>
              <a:defRPr sz="1600">
                <a:solidFill>
                  <a:schemeClr val="tx1">
                    <a:tint val="75000"/>
                  </a:schemeClr>
                </a:solidFill>
                <a:uFillTx/>
              </a:defRPr>
            </a:lvl9pPr>
          </a:lstStyle>
          <a:p>
            <a:pPr lvl="0"/>
            <a:r>
              <a:rPr kumimoji="1" lang="zh-TW" altLang="en-US">
                <a:uFillTx/>
              </a:rPr>
              <a:t>按一下以編輯母片文字樣式</a:t>
            </a:r>
          </a:p>
        </p:txBody>
      </p:sp>
      <p:sp>
        <p:nvSpPr>
          <p:cNvPr id="4" name="日期版面配置區 3"/>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5" name="頁尾版面配置區 4"/>
          <p:cNvSpPr>
            <a:spLocks noGrp="1"/>
          </p:cNvSpPr>
          <p:nvPr>
            <p:ph type="ftr" sz="quarter" idx="11"/>
          </p:nvPr>
        </p:nvSpPr>
        <p:spPr/>
        <p:txBody>
          <a:bodyPr/>
          <a:lstStyle/>
          <a:p>
            <a:endParaRPr kumimoji="1" lang="zh-TW" altLang="en-US">
              <a:uFillTx/>
            </a:endParaRPr>
          </a:p>
        </p:txBody>
      </p:sp>
      <p:sp>
        <p:nvSpPr>
          <p:cNvPr id="6" name="投影片編號版面配置區 5"/>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uFillTx/>
              </a:rPr>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4" name="內容版面配置區 3"/>
          <p:cNvSpPr>
            <a:spLocks noGrp="1"/>
          </p:cNvSpPr>
          <p:nvPr>
            <p:ph sz="half" idx="2"/>
          </p:nvPr>
        </p:nvSpPr>
        <p:spPr>
          <a:xfrm>
            <a:off x="6172200" y="1825625"/>
            <a:ext cx="5181600" cy="4351338"/>
          </a:xfrm>
        </p:spPr>
        <p:txBody>
          <a:bodyPr/>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5" name="日期版面配置區 4"/>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6" name="頁尾版面配置區 5"/>
          <p:cNvSpPr>
            <a:spLocks noGrp="1"/>
          </p:cNvSpPr>
          <p:nvPr>
            <p:ph type="ftr" sz="quarter" idx="11"/>
          </p:nvPr>
        </p:nvSpPr>
        <p:spPr/>
        <p:txBody>
          <a:bodyPr/>
          <a:lstStyle/>
          <a:p>
            <a:endParaRPr kumimoji="1" lang="zh-TW" altLang="en-US">
              <a:uFillTx/>
            </a:endParaRPr>
          </a:p>
        </p:txBody>
      </p:sp>
      <p:sp>
        <p:nvSpPr>
          <p:cNvPr id="7" name="投影片編號版面配置區 6"/>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kumimoji="1" lang="zh-TW" altLang="en-US">
                <a:uFillTx/>
              </a:rPr>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uFillTx/>
              </a:defRPr>
            </a:lvl1pPr>
            <a:lvl2pPr marL="457200" indent="0">
              <a:buNone/>
              <a:defRPr sz="2000" b="1">
                <a:uFillTx/>
              </a:defRPr>
            </a:lvl2pPr>
            <a:lvl3pPr marL="914400" indent="0">
              <a:buNone/>
              <a:defRPr sz="1800" b="1">
                <a:uFillTx/>
              </a:defRPr>
            </a:lvl3pPr>
            <a:lvl4pPr marL="1371600" indent="0">
              <a:buNone/>
              <a:defRPr sz="1600" b="1">
                <a:uFillTx/>
              </a:defRPr>
            </a:lvl4pPr>
            <a:lvl5pPr marL="1828800" indent="0">
              <a:buNone/>
              <a:defRPr sz="1600" b="1">
                <a:uFillTx/>
              </a:defRPr>
            </a:lvl5pPr>
            <a:lvl6pPr marL="2286000" indent="0">
              <a:buNone/>
              <a:defRPr sz="1600" b="1">
                <a:uFillTx/>
              </a:defRPr>
            </a:lvl6pPr>
            <a:lvl7pPr marL="2743200" indent="0">
              <a:buNone/>
              <a:defRPr sz="1600" b="1">
                <a:uFillTx/>
              </a:defRPr>
            </a:lvl7pPr>
            <a:lvl8pPr marL="3200400" indent="0">
              <a:buNone/>
              <a:defRPr sz="1600" b="1">
                <a:uFillTx/>
              </a:defRPr>
            </a:lvl8pPr>
            <a:lvl9pPr marL="3657600" indent="0">
              <a:buNone/>
              <a:defRPr sz="1600" b="1">
                <a:uFillTx/>
              </a:defRPr>
            </a:lvl9pPr>
          </a:lstStyle>
          <a:p>
            <a:pPr lvl="0"/>
            <a:r>
              <a:rPr kumimoji="1" lang="zh-TW" altLang="en-US">
                <a:uFillTx/>
              </a:rPr>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uFillTx/>
              </a:defRPr>
            </a:lvl1pPr>
            <a:lvl2pPr marL="457200" indent="0">
              <a:buNone/>
              <a:defRPr sz="2000" b="1">
                <a:uFillTx/>
              </a:defRPr>
            </a:lvl2pPr>
            <a:lvl3pPr marL="914400" indent="0">
              <a:buNone/>
              <a:defRPr sz="1800" b="1">
                <a:uFillTx/>
              </a:defRPr>
            </a:lvl3pPr>
            <a:lvl4pPr marL="1371600" indent="0">
              <a:buNone/>
              <a:defRPr sz="1600" b="1">
                <a:uFillTx/>
              </a:defRPr>
            </a:lvl4pPr>
            <a:lvl5pPr marL="1828800" indent="0">
              <a:buNone/>
              <a:defRPr sz="1600" b="1">
                <a:uFillTx/>
              </a:defRPr>
            </a:lvl5pPr>
            <a:lvl6pPr marL="2286000" indent="0">
              <a:buNone/>
              <a:defRPr sz="1600" b="1">
                <a:uFillTx/>
              </a:defRPr>
            </a:lvl6pPr>
            <a:lvl7pPr marL="2743200" indent="0">
              <a:buNone/>
              <a:defRPr sz="1600" b="1">
                <a:uFillTx/>
              </a:defRPr>
            </a:lvl7pPr>
            <a:lvl8pPr marL="3200400" indent="0">
              <a:buNone/>
              <a:defRPr sz="1600" b="1">
                <a:uFillTx/>
              </a:defRPr>
            </a:lvl8pPr>
            <a:lvl9pPr marL="3657600" indent="0">
              <a:buNone/>
              <a:defRPr sz="1600" b="1">
                <a:uFillTx/>
              </a:defRPr>
            </a:lvl9pPr>
          </a:lstStyle>
          <a:p>
            <a:pPr lvl="0"/>
            <a:r>
              <a:rPr kumimoji="1" lang="zh-TW" altLang="en-US">
                <a:uFillTx/>
              </a:rPr>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7" name="日期版面配置區 6"/>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8" name="頁尾版面配置區 7"/>
          <p:cNvSpPr>
            <a:spLocks noGrp="1"/>
          </p:cNvSpPr>
          <p:nvPr>
            <p:ph type="ftr" sz="quarter" idx="11"/>
          </p:nvPr>
        </p:nvSpPr>
        <p:spPr/>
        <p:txBody>
          <a:bodyPr/>
          <a:lstStyle/>
          <a:p>
            <a:endParaRPr kumimoji="1" lang="zh-TW" altLang="en-US">
              <a:uFillTx/>
            </a:endParaRPr>
          </a:p>
        </p:txBody>
      </p:sp>
      <p:sp>
        <p:nvSpPr>
          <p:cNvPr id="9" name="投影片編號版面配置區 8"/>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uFillTx/>
              </a:rPr>
              <a:t>按一下以編輯母片標題樣式</a:t>
            </a:r>
          </a:p>
        </p:txBody>
      </p:sp>
      <p:sp>
        <p:nvSpPr>
          <p:cNvPr id="3" name="日期版面配置區 2"/>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4" name="頁尾版面配置區 3"/>
          <p:cNvSpPr>
            <a:spLocks noGrp="1"/>
          </p:cNvSpPr>
          <p:nvPr>
            <p:ph type="ftr" sz="quarter" idx="11"/>
          </p:nvPr>
        </p:nvSpPr>
        <p:spPr/>
        <p:txBody>
          <a:bodyPr/>
          <a:lstStyle/>
          <a:p>
            <a:endParaRPr kumimoji="1" lang="zh-TW" altLang="en-US">
              <a:uFillTx/>
            </a:endParaRPr>
          </a:p>
        </p:txBody>
      </p:sp>
      <p:sp>
        <p:nvSpPr>
          <p:cNvPr id="5" name="投影片編號版面配置區 4"/>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3" name="頁尾版面配置區 2"/>
          <p:cNvSpPr>
            <a:spLocks noGrp="1"/>
          </p:cNvSpPr>
          <p:nvPr>
            <p:ph type="ftr" sz="quarter" idx="11"/>
          </p:nvPr>
        </p:nvSpPr>
        <p:spPr/>
        <p:txBody>
          <a:bodyPr/>
          <a:lstStyle/>
          <a:p>
            <a:endParaRPr kumimoji="1" lang="zh-TW" altLang="en-US">
              <a:uFillTx/>
            </a:endParaRPr>
          </a:p>
        </p:txBody>
      </p:sp>
      <p:sp>
        <p:nvSpPr>
          <p:cNvPr id="4" name="投影片編號版面配置區 3"/>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uFillTx/>
              </a:defRPr>
            </a:lvl1pPr>
          </a:lstStyle>
          <a:p>
            <a:r>
              <a:rPr kumimoji="1" lang="zh-TW" altLang="en-US">
                <a:uFillTx/>
              </a:rPr>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uFillTx/>
              </a:defRPr>
            </a:lvl1pPr>
            <a:lvl2pPr>
              <a:defRPr sz="2800">
                <a:uFillTx/>
              </a:defRPr>
            </a:lvl2pPr>
            <a:lvl3pPr>
              <a:defRPr sz="2400">
                <a:uFillTx/>
              </a:defRPr>
            </a:lvl3pPr>
            <a:lvl4pPr>
              <a:defRPr sz="2000">
                <a:uFillTx/>
              </a:defRPr>
            </a:lvl4pPr>
            <a:lvl5pPr>
              <a:defRPr sz="2000">
                <a:uFillTx/>
              </a:defRPr>
            </a:lvl5pPr>
            <a:lvl6pPr>
              <a:defRPr sz="2000">
                <a:uFillTx/>
              </a:defRPr>
            </a:lvl6pPr>
            <a:lvl7pPr>
              <a:defRPr sz="2000">
                <a:uFillTx/>
              </a:defRPr>
            </a:lvl7pPr>
            <a:lvl8pPr>
              <a:defRPr sz="2000">
                <a:uFillTx/>
              </a:defRPr>
            </a:lvl8pPr>
            <a:lvl9pPr>
              <a:defRPr sz="2000">
                <a:uFillTx/>
              </a:defRPr>
            </a:lvl9pPr>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uFillTx/>
              </a:defRPr>
            </a:lvl1pPr>
            <a:lvl2pPr marL="457200" indent="0">
              <a:buNone/>
              <a:defRPr sz="1400">
                <a:uFillTx/>
              </a:defRPr>
            </a:lvl2pPr>
            <a:lvl3pPr marL="914400" indent="0">
              <a:buNone/>
              <a:defRPr sz="1200">
                <a:uFillTx/>
              </a:defRPr>
            </a:lvl3pPr>
            <a:lvl4pPr marL="1371600" indent="0">
              <a:buNone/>
              <a:defRPr sz="1000">
                <a:uFillTx/>
              </a:defRPr>
            </a:lvl4pPr>
            <a:lvl5pPr marL="1828800" indent="0">
              <a:buNone/>
              <a:defRPr sz="1000">
                <a:uFillTx/>
              </a:defRPr>
            </a:lvl5pPr>
            <a:lvl6pPr marL="2286000" indent="0">
              <a:buNone/>
              <a:defRPr sz="1000">
                <a:uFillTx/>
              </a:defRPr>
            </a:lvl6pPr>
            <a:lvl7pPr marL="2743200" indent="0">
              <a:buNone/>
              <a:defRPr sz="1000">
                <a:uFillTx/>
              </a:defRPr>
            </a:lvl7pPr>
            <a:lvl8pPr marL="3200400" indent="0">
              <a:buNone/>
              <a:defRPr sz="1000">
                <a:uFillTx/>
              </a:defRPr>
            </a:lvl8pPr>
            <a:lvl9pPr marL="3657600" indent="0">
              <a:buNone/>
              <a:defRPr sz="1000">
                <a:uFillTx/>
              </a:defRPr>
            </a:lvl9pPr>
          </a:lstStyle>
          <a:p>
            <a:pPr lvl="0"/>
            <a:r>
              <a:rPr kumimoji="1" lang="zh-TW" altLang="en-US">
                <a:uFillTx/>
              </a:rPr>
              <a:t>按一下以編輯母片文字樣式</a:t>
            </a:r>
          </a:p>
        </p:txBody>
      </p:sp>
      <p:sp>
        <p:nvSpPr>
          <p:cNvPr id="5" name="日期版面配置區 4"/>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6" name="頁尾版面配置區 5"/>
          <p:cNvSpPr>
            <a:spLocks noGrp="1"/>
          </p:cNvSpPr>
          <p:nvPr>
            <p:ph type="ftr" sz="quarter" idx="11"/>
          </p:nvPr>
        </p:nvSpPr>
        <p:spPr/>
        <p:txBody>
          <a:bodyPr/>
          <a:lstStyle/>
          <a:p>
            <a:endParaRPr kumimoji="1" lang="zh-TW" altLang="en-US">
              <a:uFillTx/>
            </a:endParaRPr>
          </a:p>
        </p:txBody>
      </p:sp>
      <p:sp>
        <p:nvSpPr>
          <p:cNvPr id="7" name="投影片編號版面配置區 6"/>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uFillTx/>
              </a:defRPr>
            </a:lvl1pPr>
          </a:lstStyle>
          <a:p>
            <a:r>
              <a:rPr kumimoji="1" lang="zh-TW" altLang="en-US">
                <a:uFillTx/>
              </a:rPr>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uFillTx/>
              </a:defRPr>
            </a:lvl1pPr>
            <a:lvl2pPr marL="457200" indent="0">
              <a:buNone/>
              <a:defRPr sz="2800">
                <a:uFillTx/>
              </a:defRPr>
            </a:lvl2pPr>
            <a:lvl3pPr marL="914400" indent="0">
              <a:buNone/>
              <a:defRPr sz="2400">
                <a:uFillTx/>
              </a:defRPr>
            </a:lvl3pPr>
            <a:lvl4pPr marL="1371600" indent="0">
              <a:buNone/>
              <a:defRPr sz="2000">
                <a:uFillTx/>
              </a:defRPr>
            </a:lvl4pPr>
            <a:lvl5pPr marL="1828800" indent="0">
              <a:buNone/>
              <a:defRPr sz="2000">
                <a:uFillTx/>
              </a:defRPr>
            </a:lvl5pPr>
            <a:lvl6pPr marL="2286000" indent="0">
              <a:buNone/>
              <a:defRPr sz="2000">
                <a:uFillTx/>
              </a:defRPr>
            </a:lvl6pPr>
            <a:lvl7pPr marL="2743200" indent="0">
              <a:buNone/>
              <a:defRPr sz="2000">
                <a:uFillTx/>
              </a:defRPr>
            </a:lvl7pPr>
            <a:lvl8pPr marL="3200400" indent="0">
              <a:buNone/>
              <a:defRPr sz="2000">
                <a:uFillTx/>
              </a:defRPr>
            </a:lvl8pPr>
            <a:lvl9pPr marL="3657600" indent="0">
              <a:buNone/>
              <a:defRPr sz="2000">
                <a:uFillTx/>
              </a:defRPr>
            </a:lvl9pPr>
          </a:lstStyle>
          <a:p>
            <a:endParaRPr kumimoji="1" lang="zh-TW" altLang="en-US">
              <a:uFillTx/>
            </a:endParaRP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uFillTx/>
              </a:defRPr>
            </a:lvl1pPr>
            <a:lvl2pPr marL="457200" indent="0">
              <a:buNone/>
              <a:defRPr sz="1400">
                <a:uFillTx/>
              </a:defRPr>
            </a:lvl2pPr>
            <a:lvl3pPr marL="914400" indent="0">
              <a:buNone/>
              <a:defRPr sz="1200">
                <a:uFillTx/>
              </a:defRPr>
            </a:lvl3pPr>
            <a:lvl4pPr marL="1371600" indent="0">
              <a:buNone/>
              <a:defRPr sz="1000">
                <a:uFillTx/>
              </a:defRPr>
            </a:lvl4pPr>
            <a:lvl5pPr marL="1828800" indent="0">
              <a:buNone/>
              <a:defRPr sz="1000">
                <a:uFillTx/>
              </a:defRPr>
            </a:lvl5pPr>
            <a:lvl6pPr marL="2286000" indent="0">
              <a:buNone/>
              <a:defRPr sz="1000">
                <a:uFillTx/>
              </a:defRPr>
            </a:lvl6pPr>
            <a:lvl7pPr marL="2743200" indent="0">
              <a:buNone/>
              <a:defRPr sz="1000">
                <a:uFillTx/>
              </a:defRPr>
            </a:lvl7pPr>
            <a:lvl8pPr marL="3200400" indent="0">
              <a:buNone/>
              <a:defRPr sz="1000">
                <a:uFillTx/>
              </a:defRPr>
            </a:lvl8pPr>
            <a:lvl9pPr marL="3657600" indent="0">
              <a:buNone/>
              <a:defRPr sz="1000">
                <a:uFillTx/>
              </a:defRPr>
            </a:lvl9pPr>
          </a:lstStyle>
          <a:p>
            <a:pPr lvl="0"/>
            <a:r>
              <a:rPr kumimoji="1" lang="zh-TW" altLang="en-US">
                <a:uFillTx/>
              </a:rPr>
              <a:t>按一下以編輯母片文字樣式</a:t>
            </a:r>
          </a:p>
        </p:txBody>
      </p:sp>
      <p:sp>
        <p:nvSpPr>
          <p:cNvPr id="5" name="日期版面配置區 4"/>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6" name="頁尾版面配置區 5"/>
          <p:cNvSpPr>
            <a:spLocks noGrp="1"/>
          </p:cNvSpPr>
          <p:nvPr>
            <p:ph type="ftr" sz="quarter" idx="11"/>
          </p:nvPr>
        </p:nvSpPr>
        <p:spPr/>
        <p:txBody>
          <a:bodyPr/>
          <a:lstStyle/>
          <a:p>
            <a:endParaRPr kumimoji="1" lang="zh-TW" altLang="en-US">
              <a:uFillTx/>
            </a:endParaRPr>
          </a:p>
        </p:txBody>
      </p:sp>
      <p:sp>
        <p:nvSpPr>
          <p:cNvPr id="7" name="投影片編號版面配置區 6"/>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uFillTx/>
              </a:rPr>
              <a:t>按一下以編輯母片標題樣式</a:t>
            </a:r>
          </a:p>
        </p:txBody>
      </p:sp>
      <p:sp>
        <p:nvSpPr>
          <p:cNvPr id="3" name="直排文字版面配置區 2"/>
          <p:cNvSpPr>
            <a:spLocks noGrp="1"/>
          </p:cNvSpPr>
          <p:nvPr>
            <p:ph type="body" orient="vert" idx="1"/>
          </p:nvPr>
        </p:nvSpPr>
        <p:spPr/>
        <p:txBody>
          <a:bodyPr vert="eaVert"/>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4" name="日期版面配置區 3"/>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5" name="頁尾版面配置區 4"/>
          <p:cNvSpPr>
            <a:spLocks noGrp="1"/>
          </p:cNvSpPr>
          <p:nvPr>
            <p:ph type="ftr" sz="quarter" idx="11"/>
          </p:nvPr>
        </p:nvSpPr>
        <p:spPr/>
        <p:txBody>
          <a:bodyPr/>
          <a:lstStyle/>
          <a:p>
            <a:endParaRPr kumimoji="1" lang="zh-TW" altLang="en-US">
              <a:uFillTx/>
            </a:endParaRPr>
          </a:p>
        </p:txBody>
      </p:sp>
      <p:sp>
        <p:nvSpPr>
          <p:cNvPr id="6" name="投影片編號版面配置區 5"/>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kumimoji="1" lang="zh-TW" altLang="en-US">
                <a:uFillTx/>
              </a:rPr>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4" name="日期版面配置區 3"/>
          <p:cNvSpPr>
            <a:spLocks noGrp="1"/>
          </p:cNvSpPr>
          <p:nvPr>
            <p:ph type="dt" sz="half" idx="10"/>
          </p:nvPr>
        </p:nvSpPr>
        <p:spPr/>
        <p:txBody>
          <a:bodyPr/>
          <a:lstStyle/>
          <a:p>
            <a:fld id="{1F9C24E8-FD77-674B-9940-5378D0BFF31E}" type="datetimeFigureOut">
              <a:rPr kumimoji="1" lang="zh-TW" altLang="en-US" smtClean="0">
                <a:uFillTx/>
              </a:rPr>
              <a:t>2020/6/30</a:t>
            </a:fld>
            <a:endParaRPr kumimoji="1" lang="zh-TW" altLang="en-US">
              <a:uFillTx/>
            </a:endParaRPr>
          </a:p>
        </p:txBody>
      </p:sp>
      <p:sp>
        <p:nvSpPr>
          <p:cNvPr id="5" name="頁尾版面配置區 4"/>
          <p:cNvSpPr>
            <a:spLocks noGrp="1"/>
          </p:cNvSpPr>
          <p:nvPr>
            <p:ph type="ftr" sz="quarter" idx="11"/>
          </p:nvPr>
        </p:nvSpPr>
        <p:spPr/>
        <p:txBody>
          <a:bodyPr/>
          <a:lstStyle/>
          <a:p>
            <a:endParaRPr kumimoji="1" lang="zh-TW" altLang="en-US">
              <a:uFillTx/>
            </a:endParaRPr>
          </a:p>
        </p:txBody>
      </p:sp>
      <p:sp>
        <p:nvSpPr>
          <p:cNvPr id="6" name="投影片編號版面配置區 5"/>
          <p:cNvSpPr>
            <a:spLocks noGrp="1"/>
          </p:cNvSpPr>
          <p:nvPr>
            <p:ph type="sldNum" sz="quarter" idx="12"/>
          </p:nvPr>
        </p:nvSpPr>
        <p:spPr/>
        <p:txBody>
          <a:bodyPr/>
          <a:lstStyle/>
          <a:p>
            <a:fld id="{35AF2C09-F0D9-2B4A-AA05-75A050A60A76}" type="slidenum">
              <a:rPr kumimoji="1" lang="zh-TW" altLang="en-US" smtClean="0">
                <a:uFillTx/>
              </a:rPr>
              <a:t>‹#›</a:t>
            </a:fld>
            <a:endParaRPr kumimoji="1" lang="zh-TW" altLang="en-US">
              <a:uFillTx/>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uFillTx/>
              </a:rPr>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uFillTx/>
              </a:rPr>
              <a:t>按一下以編輯母片文字樣式</a:t>
            </a:r>
          </a:p>
          <a:p>
            <a:pPr lvl="1"/>
            <a:r>
              <a:rPr kumimoji="1" lang="zh-TW" altLang="en-US">
                <a:uFillTx/>
              </a:rPr>
              <a:t>第二層</a:t>
            </a:r>
          </a:p>
          <a:p>
            <a:pPr lvl="2"/>
            <a:r>
              <a:rPr kumimoji="1" lang="zh-TW" altLang="en-US">
                <a:uFillTx/>
              </a:rPr>
              <a:t>第三層</a:t>
            </a:r>
          </a:p>
          <a:p>
            <a:pPr lvl="3"/>
            <a:r>
              <a:rPr kumimoji="1" lang="zh-TW" altLang="en-US">
                <a:uFillTx/>
              </a:rPr>
              <a:t>第四層</a:t>
            </a:r>
          </a:p>
          <a:p>
            <a:pPr lvl="4"/>
            <a:r>
              <a:rPr kumimoji="1" lang="zh-TW" altLang="en-US">
                <a:uFillTx/>
              </a:rPr>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uFillTx/>
              </a:defRPr>
            </a:lvl1pPr>
          </a:lstStyle>
          <a:p>
            <a:fld id="{1F9C24E8-FD77-674B-9940-5378D0BFF31E}" type="datetimeFigureOut">
              <a:rPr kumimoji="1" lang="zh-TW" altLang="en-US" smtClean="0">
                <a:uFillTx/>
              </a:rPr>
              <a:t>2020/6/30</a:t>
            </a:fld>
            <a:endParaRPr kumimoji="1" lang="zh-TW" altLang="en-US">
              <a:uFillTx/>
            </a:endParaRPr>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uFillTx/>
              </a:defRPr>
            </a:lvl1pPr>
          </a:lstStyle>
          <a:p>
            <a:endParaRPr kumimoji="1" lang="zh-TW" altLang="en-US">
              <a:uFillTx/>
            </a:endParaRPr>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uFillTx/>
              </a:defRPr>
            </a:lvl1pPr>
          </a:lstStyle>
          <a:p>
            <a:fld id="{35AF2C09-F0D9-2B4A-AA05-75A050A60A76}" type="slidenum">
              <a:rPr kumimoji="1" lang="zh-TW" altLang="en-US" smtClean="0">
                <a:uFillTx/>
              </a:rPr>
              <a:t>‹#›</a:t>
            </a:fld>
            <a:endParaRPr kumimoji="1" lang="zh-TW" altLang="en-US">
              <a:uFillTx/>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uFillTx/>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uFillTx/>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uFillTx/>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uFillTx/>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uFillTx/>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uFillTx/>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uFillTx/>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uFillTx/>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uFillTx/>
          <a:latin typeface="+mn-lt"/>
          <a:ea typeface="+mn-ea"/>
          <a:cs typeface="+mn-cs"/>
        </a:defRPr>
      </a:lvl9pPr>
    </p:bodyStyle>
    <p:otherStyle>
      <a:defPPr>
        <a:defRPr lang="zh-TW">
          <a:uFillTx/>
        </a:defRPr>
      </a:defPPr>
      <a:lvl1pPr marL="0" algn="l" defTabSz="914400" rtl="0" eaLnBrk="1" latinLnBrk="0" hangingPunct="1">
        <a:defRPr sz="1800" kern="1200">
          <a:solidFill>
            <a:schemeClr val="tx1"/>
          </a:solidFill>
          <a:uFillTx/>
          <a:latin typeface="+mn-lt"/>
          <a:ea typeface="+mn-ea"/>
          <a:cs typeface="+mn-cs"/>
        </a:defRPr>
      </a:lvl1pPr>
      <a:lvl2pPr marL="457200" algn="l" defTabSz="914400" rtl="0" eaLnBrk="1" latinLnBrk="0" hangingPunct="1">
        <a:defRPr sz="1800" kern="1200">
          <a:solidFill>
            <a:schemeClr val="tx1"/>
          </a:solidFill>
          <a:uFillTx/>
          <a:latin typeface="+mn-lt"/>
          <a:ea typeface="+mn-ea"/>
          <a:cs typeface="+mn-cs"/>
        </a:defRPr>
      </a:lvl2pPr>
      <a:lvl3pPr marL="914400" algn="l" defTabSz="914400" rtl="0" eaLnBrk="1" latinLnBrk="0" hangingPunct="1">
        <a:defRPr sz="1800" kern="1200">
          <a:solidFill>
            <a:schemeClr val="tx1"/>
          </a:solidFill>
          <a:uFillTx/>
          <a:latin typeface="+mn-lt"/>
          <a:ea typeface="+mn-ea"/>
          <a:cs typeface="+mn-cs"/>
        </a:defRPr>
      </a:lvl3pPr>
      <a:lvl4pPr marL="1371600" algn="l" defTabSz="914400" rtl="0" eaLnBrk="1" latinLnBrk="0" hangingPunct="1">
        <a:defRPr sz="1800" kern="1200">
          <a:solidFill>
            <a:schemeClr val="tx1"/>
          </a:solidFill>
          <a:uFillTx/>
          <a:latin typeface="+mn-lt"/>
          <a:ea typeface="+mn-ea"/>
          <a:cs typeface="+mn-cs"/>
        </a:defRPr>
      </a:lvl4pPr>
      <a:lvl5pPr marL="1828800" algn="l" defTabSz="914400" rtl="0" eaLnBrk="1" latinLnBrk="0" hangingPunct="1">
        <a:defRPr sz="1800" kern="1200">
          <a:solidFill>
            <a:schemeClr val="tx1"/>
          </a:solidFill>
          <a:uFillTx/>
          <a:latin typeface="+mn-lt"/>
          <a:ea typeface="+mn-ea"/>
          <a:cs typeface="+mn-cs"/>
        </a:defRPr>
      </a:lvl5pPr>
      <a:lvl6pPr marL="2286000" algn="l" defTabSz="914400" rtl="0" eaLnBrk="1" latinLnBrk="0" hangingPunct="1">
        <a:defRPr sz="1800" kern="1200">
          <a:solidFill>
            <a:schemeClr val="tx1"/>
          </a:solidFill>
          <a:uFillTx/>
          <a:latin typeface="+mn-lt"/>
          <a:ea typeface="+mn-ea"/>
          <a:cs typeface="+mn-cs"/>
        </a:defRPr>
      </a:lvl6pPr>
      <a:lvl7pPr marL="2743200" algn="l" defTabSz="914400" rtl="0" eaLnBrk="1" latinLnBrk="0" hangingPunct="1">
        <a:defRPr sz="1800" kern="1200">
          <a:solidFill>
            <a:schemeClr val="tx1"/>
          </a:solidFill>
          <a:uFillTx/>
          <a:latin typeface="+mn-lt"/>
          <a:ea typeface="+mn-ea"/>
          <a:cs typeface="+mn-cs"/>
        </a:defRPr>
      </a:lvl7pPr>
      <a:lvl8pPr marL="3200400" algn="l" defTabSz="914400" rtl="0" eaLnBrk="1" latinLnBrk="0" hangingPunct="1">
        <a:defRPr sz="1800" kern="1200">
          <a:solidFill>
            <a:schemeClr val="tx1"/>
          </a:solidFill>
          <a:uFillTx/>
          <a:latin typeface="+mn-lt"/>
          <a:ea typeface="+mn-ea"/>
          <a:cs typeface="+mn-cs"/>
        </a:defRPr>
      </a:lvl8pPr>
      <a:lvl9pPr marL="3657600" algn="l" defTabSz="914400" rtl="0" eaLnBrk="1" latinLnBrk="0" hangingPunct="1">
        <a:defRPr sz="1800" kern="1200">
          <a:solidFill>
            <a:schemeClr val="tx1"/>
          </a:solidFill>
          <a:uFillTx/>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 y="672420"/>
            <a:ext cx="11968742" cy="2387600"/>
          </a:xfrm>
        </p:spPr>
        <p:txBody>
          <a:bodyPr>
            <a:normAutofit fontScale="90000"/>
          </a:bodyPr>
          <a:lstStyle/>
          <a:p>
            <a:r>
              <a:rPr lang="en" altLang="zh-TW" dirty="0">
                <a:uFillTx/>
              </a:rPr>
              <a:t>Do you know that Florence is packed with visitors? Evaluating state-of-the-art models of speaker commitment </a:t>
            </a:r>
          </a:p>
        </p:txBody>
      </p:sp>
      <p:sp>
        <p:nvSpPr>
          <p:cNvPr id="3" name="副標題 2"/>
          <p:cNvSpPr>
            <a:spLocks noGrp="1"/>
          </p:cNvSpPr>
          <p:nvPr>
            <p:ph type="subTitle" idx="1"/>
          </p:nvPr>
        </p:nvSpPr>
        <p:spPr>
          <a:xfrm>
            <a:off x="1146628" y="3602038"/>
            <a:ext cx="9898743" cy="1655762"/>
          </a:xfrm>
        </p:spPr>
        <p:txBody>
          <a:bodyPr>
            <a:noAutofit/>
          </a:bodyPr>
          <a:lstStyle/>
          <a:p>
            <a:r>
              <a:rPr lang="en" altLang="zh-TW" sz="2800" dirty="0">
                <a:uFillTx/>
              </a:rPr>
              <a:t>Proceedings of the 57th Annual Meeting of the Association for Computational Linguistics, </a:t>
            </a:r>
            <a:r>
              <a:rPr lang="en-US" altLang="zh-TW" sz="2800" dirty="0">
                <a:uFillTx/>
              </a:rPr>
              <a:t>pp.4208–4213</a:t>
            </a:r>
            <a:endParaRPr lang="en" altLang="zh-TW" sz="2800" dirty="0">
              <a:uFillTx/>
            </a:endParaRPr>
          </a:p>
          <a:p>
            <a:r>
              <a:rPr lang="en" altLang="zh-TW" dirty="0" err="1">
                <a:uFillTx/>
              </a:rPr>
              <a:t>Nanjiang</a:t>
            </a:r>
            <a:r>
              <a:rPr lang="en" altLang="zh-TW" dirty="0">
                <a:uFillTx/>
              </a:rPr>
              <a:t> Jiang and Marie-Catherine de </a:t>
            </a:r>
            <a:r>
              <a:rPr lang="en" altLang="zh-TW" dirty="0" err="1">
                <a:uFillTx/>
              </a:rPr>
              <a:t>Marneffe</a:t>
            </a:r>
            <a:r>
              <a:rPr lang="en" altLang="zh-TW" dirty="0">
                <a:uFillTx/>
              </a:rPr>
              <a:t> </a:t>
            </a:r>
            <a:endParaRPr lang="en" altLang="zh-TW" sz="2800" dirty="0">
              <a:uFillTx/>
            </a:endParaRPr>
          </a:p>
        </p:txBody>
      </p:sp>
      <p:sp>
        <p:nvSpPr>
          <p:cNvPr id="5" name="文字方塊 4"/>
          <p:cNvSpPr txBox="1">
            <a:spLocks/>
          </p:cNvSpPr>
          <p:nvPr/>
        </p:nvSpPr>
        <p:spPr>
          <a:xfrm>
            <a:off x="9610725" y="6029325"/>
            <a:ext cx="2358018" cy="646331"/>
          </a:xfrm>
          <a:prstGeom prst="rect">
            <a:avLst/>
          </a:prstGeom>
          <a:noFill/>
        </p:spPr>
        <p:txBody>
          <a:bodyPr wrap="none" rtlCol="0">
            <a:spAutoFit/>
          </a:bodyPr>
          <a:lstStyle/>
          <a:p>
            <a:r>
              <a:rPr kumimoji="1" lang="en-US" altLang="zh-TW" dirty="0">
                <a:uFillTx/>
              </a:rPr>
              <a:t>Present: Chia-Lin Chen</a:t>
            </a:r>
          </a:p>
          <a:p>
            <a:r>
              <a:rPr kumimoji="1" lang="en-US" altLang="zh-TW" dirty="0">
                <a:uFillTx/>
              </a:rPr>
              <a:t>Date: June 30, 2020</a:t>
            </a:r>
            <a:endParaRPr kumimoji="1" lang="zh-TW" altLang="en-US" dirty="0">
              <a:uFillTx/>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uFillTx/>
              </a:rPr>
              <a:t>Abstract</a:t>
            </a:r>
            <a:endParaRPr kumimoji="1" lang="zh-TW" altLang="en-US" dirty="0">
              <a:uFillTx/>
            </a:endParaRPr>
          </a:p>
        </p:txBody>
      </p:sp>
      <p:sp>
        <p:nvSpPr>
          <p:cNvPr id="5" name="內容版面配置區 4"/>
          <p:cNvSpPr>
            <a:spLocks noGrp="1"/>
          </p:cNvSpPr>
          <p:nvPr>
            <p:ph idx="1"/>
          </p:nvPr>
        </p:nvSpPr>
        <p:spPr>
          <a:xfrm>
            <a:off x="838200" y="1690688"/>
            <a:ext cx="10515600" cy="4351338"/>
          </a:xfrm>
        </p:spPr>
        <p:txBody>
          <a:bodyPr>
            <a:normAutofit/>
          </a:bodyPr>
          <a:lstStyle/>
          <a:p>
            <a:pPr marL="0" indent="0">
              <a:buNone/>
            </a:pPr>
            <a:r>
              <a:rPr lang="en" altLang="zh-TW" dirty="0">
                <a:uFillTx/>
              </a:rPr>
              <a:t>When a speaker, Mary, asks </a:t>
            </a:r>
            <a:r>
              <a:rPr lang="en" altLang="zh-TW" i="1" dirty="0">
                <a:uFillTx/>
              </a:rPr>
              <a:t>Do you know that Florence is packed with visitors?</a:t>
            </a:r>
            <a:r>
              <a:rPr lang="en" altLang="zh-TW" dirty="0">
                <a:uFillTx/>
              </a:rPr>
              <a:t>, we take her to believe that Florence is packed with visitors, but not if she asks </a:t>
            </a:r>
            <a:r>
              <a:rPr lang="en" altLang="zh-TW" i="1" dirty="0">
                <a:uFillTx/>
              </a:rPr>
              <a:t>Do you think that Florence is packed with visitors? </a:t>
            </a:r>
            <a:r>
              <a:rPr lang="en" altLang="zh-TW" dirty="0">
                <a:uFillTx/>
              </a:rPr>
              <a:t>Inferring speaker commitment (aka event factuality) is crucial for information extraction and question answering. Here we explore the hypothesis that linguistic deficits drive the error patterns of speaker commitment models by analyzing the linguistic correlates of model errors on a challenging naturalistic dataset. We evaluate two state-of-the-art speaker commitment models on the </a:t>
            </a:r>
            <a:r>
              <a:rPr lang="en" altLang="zh-TW" dirty="0" err="1">
                <a:uFillTx/>
              </a:rPr>
              <a:t>CommitmentBank</a:t>
            </a:r>
            <a:r>
              <a:rPr lang="en" altLang="zh-TW" dirty="0">
                <a:uFillTx/>
              </a:rPr>
              <a:t>, an English dataset of naturally occurring discourses.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uFillTx/>
              </a:rPr>
              <a:t>Abstract</a:t>
            </a:r>
            <a:endParaRPr kumimoji="1" lang="zh-TW" altLang="en-US" dirty="0">
              <a:uFillTx/>
            </a:endParaRPr>
          </a:p>
        </p:txBody>
      </p:sp>
      <p:sp>
        <p:nvSpPr>
          <p:cNvPr id="5" name="內容版面配置區 4"/>
          <p:cNvSpPr>
            <a:spLocks noGrp="1"/>
          </p:cNvSpPr>
          <p:nvPr>
            <p:ph idx="1"/>
          </p:nvPr>
        </p:nvSpPr>
        <p:spPr>
          <a:xfrm>
            <a:off x="838200" y="1690688"/>
            <a:ext cx="10515600" cy="4351338"/>
          </a:xfrm>
        </p:spPr>
        <p:txBody>
          <a:bodyPr>
            <a:normAutofit/>
          </a:bodyPr>
          <a:lstStyle/>
          <a:p>
            <a:pPr marL="0" indent="0">
              <a:buNone/>
            </a:pPr>
            <a:r>
              <a:rPr lang="en" altLang="zh-TW" dirty="0">
                <a:uFillTx/>
              </a:rPr>
              <a:t>The </a:t>
            </a:r>
            <a:r>
              <a:rPr lang="en" altLang="zh-TW" dirty="0" err="1">
                <a:uFillTx/>
              </a:rPr>
              <a:t>CommitmentBank</a:t>
            </a:r>
            <a:r>
              <a:rPr lang="en" altLang="zh-TW" dirty="0">
                <a:uFillTx/>
              </a:rPr>
              <a:t> is annotated with speaker commitment towards the content of the complement (</a:t>
            </a:r>
            <a:r>
              <a:rPr lang="en" altLang="zh-TW" i="1" dirty="0">
                <a:uFillTx/>
              </a:rPr>
              <a:t>Florence is packed with visitors </a:t>
            </a:r>
            <a:r>
              <a:rPr lang="en" altLang="zh-TW" dirty="0">
                <a:uFillTx/>
              </a:rPr>
              <a:t>in our example) of clause-embedding verbs (</a:t>
            </a:r>
            <a:r>
              <a:rPr lang="en" altLang="zh-TW" i="1" dirty="0">
                <a:uFillTx/>
              </a:rPr>
              <a:t>know</a:t>
            </a:r>
            <a:r>
              <a:rPr lang="en" altLang="zh-TW" dirty="0">
                <a:uFillTx/>
              </a:rPr>
              <a:t>, </a:t>
            </a:r>
            <a:r>
              <a:rPr lang="en" altLang="zh-TW" i="1" dirty="0">
                <a:uFillTx/>
              </a:rPr>
              <a:t>think</a:t>
            </a:r>
            <a:r>
              <a:rPr lang="en" altLang="zh-TW" dirty="0">
                <a:uFillTx/>
              </a:rPr>
              <a:t>) under four entailment-canceling environments. We found that a linguistically- informed model outperforms a LSTM-based one, suggesting that linguistic knowledge is needed to capture such challenging naturalistic data. A breakdown of items by linguistic features reveals asymmetrical error patterns: while the models achieve good performance on some classes (e.g., negation), they fail to generalize to the diverse linguistic constructions (e.g., conditionals) in natural language, highlighting directions for improvement. </a:t>
            </a:r>
            <a:endParaRPr lang="zh-TW" altLang="en-US" dirty="0">
              <a:uFillTx/>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3"/>
          <a:stretch>
            <a:fillRect/>
          </a:stretch>
        </p:blipFill>
        <p:spPr>
          <a:xfrm>
            <a:off x="215696" y="1111166"/>
            <a:ext cx="11760607" cy="2001002"/>
          </a:xfrm>
          <a:prstGeom prst="rect">
            <a:avLst/>
          </a:prstGeom>
        </p:spPr>
      </p:pic>
      <p:sp>
        <p:nvSpPr>
          <p:cNvPr id="7" name="文字方塊 6"/>
          <p:cNvSpPr txBox="1">
            <a:spLocks/>
          </p:cNvSpPr>
          <p:nvPr/>
        </p:nvSpPr>
        <p:spPr>
          <a:xfrm>
            <a:off x="1026693" y="4010526"/>
            <a:ext cx="10154654" cy="1200329"/>
          </a:xfrm>
          <a:prstGeom prst="rect">
            <a:avLst/>
          </a:prstGeom>
          <a:noFill/>
        </p:spPr>
        <p:txBody>
          <a:bodyPr wrap="square" rtlCol="0">
            <a:spAutoFit/>
          </a:bodyPr>
          <a:lstStyle/>
          <a:p>
            <a:pPr marL="342900" indent="-342900">
              <a:buFont typeface="+mj-lt"/>
              <a:buAutoNum type="arabicPeriod"/>
            </a:pPr>
            <a:r>
              <a:rPr kumimoji="1" lang="en-US" altLang="zh-TW" sz="2400" dirty="0">
                <a:uFillTx/>
              </a:rPr>
              <a:t>“know” being a </a:t>
            </a:r>
            <a:r>
              <a:rPr kumimoji="1" lang="en-US" altLang="zh-TW" sz="2400" dirty="0" err="1">
                <a:uFillTx/>
              </a:rPr>
              <a:t>Factive</a:t>
            </a:r>
            <a:r>
              <a:rPr kumimoji="1" lang="en-US" altLang="zh-TW" sz="2400" dirty="0">
                <a:uFillTx/>
              </a:rPr>
              <a:t> </a:t>
            </a:r>
            <a:r>
              <a:rPr kumimoji="1" lang="en-US" altLang="zh-TW" sz="2400" dirty="0" err="1">
                <a:uFillTx/>
              </a:rPr>
              <a:t>verb</a:t>
            </a:r>
            <a:r>
              <a:rPr kumimoji="1" lang="en-US" altLang="zh-TW" sz="2400" dirty="0" err="1">
                <a:uFillTx/>
                <a:sym typeface="Wingdings" pitchFamily="2" charset="2"/>
              </a:rPr>
              <a:t>embedding</a:t>
            </a:r>
            <a:r>
              <a:rPr kumimoji="1" lang="en-US" altLang="zh-TW" sz="2400" dirty="0">
                <a:uFillTx/>
                <a:sym typeface="Wingdings" pitchFamily="2" charset="2"/>
              </a:rPr>
              <a:t> clause is true.</a:t>
            </a:r>
          </a:p>
          <a:p>
            <a:pPr marL="342900" indent="-342900">
              <a:buFont typeface="+mj-lt"/>
              <a:buAutoNum type="arabicPeriod"/>
            </a:pPr>
            <a:r>
              <a:rPr kumimoji="1" lang="en-US" altLang="zh-TW" sz="2400" dirty="0">
                <a:uFillTx/>
                <a:sym typeface="Wingdings" pitchFamily="2" charset="2"/>
              </a:rPr>
              <a:t>“think” being a Non-</a:t>
            </a:r>
            <a:r>
              <a:rPr kumimoji="1" lang="en-US" altLang="zh-TW" sz="2400" dirty="0" err="1">
                <a:uFillTx/>
                <a:sym typeface="Wingdings" pitchFamily="2" charset="2"/>
              </a:rPr>
              <a:t>Factive</a:t>
            </a:r>
            <a:r>
              <a:rPr kumimoji="1" lang="en-US" altLang="zh-TW" sz="2400" dirty="0">
                <a:uFillTx/>
                <a:sym typeface="Wingdings" pitchFamily="2" charset="2"/>
              </a:rPr>
              <a:t> </a:t>
            </a:r>
            <a:r>
              <a:rPr kumimoji="1" lang="en-US" altLang="zh-TW" sz="2400" dirty="0" err="1">
                <a:uFillTx/>
                <a:sym typeface="Wingdings" pitchFamily="2" charset="2"/>
              </a:rPr>
              <a:t>verbembedding</a:t>
            </a:r>
            <a:r>
              <a:rPr kumimoji="1" lang="en-US" altLang="zh-TW" sz="2400" dirty="0">
                <a:uFillTx/>
                <a:sym typeface="Wingdings" pitchFamily="2" charset="2"/>
              </a:rPr>
              <a:t> clause is neither true or false.</a:t>
            </a:r>
          </a:p>
          <a:p>
            <a:pPr marL="342900" indent="-342900">
              <a:buFont typeface="+mj-lt"/>
              <a:buAutoNum type="arabicPeriod"/>
            </a:pPr>
            <a:r>
              <a:rPr kumimoji="1" lang="en-US" altLang="zh-TW" sz="2400" dirty="0">
                <a:uFillTx/>
              </a:rPr>
              <a:t>“don’t know” being Neg-</a:t>
            </a:r>
            <a:r>
              <a:rPr kumimoji="1" lang="en-US" altLang="zh-TW" sz="2400" dirty="0" err="1">
                <a:uFillTx/>
              </a:rPr>
              <a:t>raisiog</a:t>
            </a:r>
            <a:r>
              <a:rPr kumimoji="1" lang="en-US" altLang="zh-TW" sz="2400" dirty="0">
                <a:uFillTx/>
              </a:rPr>
              <a:t>(Negation)</a:t>
            </a:r>
            <a:r>
              <a:rPr kumimoji="1" lang="en-US" altLang="zh-TW" sz="2400" dirty="0">
                <a:uFillTx/>
                <a:sym typeface="Wingdings" pitchFamily="2" charset="2"/>
              </a:rPr>
              <a:t>embedding clause is false.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rotWithShape="1">
          <a:blip r:embed="rId3"/>
          <a:srcRect l="20000" r="21060" b="56872"/>
          <a:stretch/>
        </p:blipFill>
        <p:spPr>
          <a:xfrm rot="5400000">
            <a:off x="2340973" y="1363923"/>
            <a:ext cx="6669225" cy="39413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rotWithShape="1">
          <a:blip r:embed="rId3"/>
          <a:srcRect t="52184"/>
          <a:stretch/>
        </p:blipFill>
        <p:spPr>
          <a:xfrm>
            <a:off x="226495" y="1529255"/>
            <a:ext cx="11593903" cy="4477406"/>
          </a:xfrm>
          <a:prstGeom prst="rect">
            <a:avLst/>
          </a:prstGeom>
        </p:spPr>
      </p:pic>
    </p:spTree>
    <p:extLst>
      <p:ext uri="{BB962C8B-B14F-4D97-AF65-F5344CB8AC3E}">
        <p14:creationId xmlns:p14="http://schemas.microsoft.com/office/powerpoint/2010/main" val="827943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126228" y="1275331"/>
            <a:ext cx="11809098" cy="435544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96718" y="1203158"/>
            <a:ext cx="12071574" cy="3978442"/>
          </a:xfrm>
          <a:prstGeom prst="rect">
            <a:avLst/>
          </a:prstGeom>
        </p:spPr>
      </p:pic>
      <p:sp>
        <p:nvSpPr>
          <p:cNvPr id="3" name="文字方塊 2">
            <a:extLst>
              <a:ext uri="{FF2B5EF4-FFF2-40B4-BE49-F238E27FC236}">
                <a16:creationId xmlns:a16="http://schemas.microsoft.com/office/drawing/2014/main" id="{C8D1C49F-E8CD-495E-A9BF-0494D9A48682}"/>
              </a:ext>
            </a:extLst>
          </p:cNvPr>
          <p:cNvSpPr txBox="1"/>
          <p:nvPr/>
        </p:nvSpPr>
        <p:spPr>
          <a:xfrm>
            <a:off x="2522483" y="6043090"/>
            <a:ext cx="6012159" cy="400110"/>
          </a:xfrm>
          <a:prstGeom prst="rect">
            <a:avLst/>
          </a:prstGeom>
        </p:spPr>
        <p:txBody>
          <a:bodyPr wrap="none" rtlCol="0">
            <a:spAutoFit/>
          </a:bodyPr>
          <a:lstStyle/>
          <a:p>
            <a:r>
              <a:rPr lang="en-US" altLang="zh-TW" sz="2000" b="1" dirty="0"/>
              <a:t>Rule-based(top-down approach on a dependency tree)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3015915" y="13141"/>
            <a:ext cx="6352673" cy="66307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3144253" y="-26777"/>
            <a:ext cx="6047873" cy="67504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685868" y="513348"/>
            <a:ext cx="10820263" cy="50532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uFillTx/>
              </a:rPr>
              <a:t>Conclusion</a:t>
            </a:r>
            <a:endParaRPr kumimoji="1" lang="zh-TW" altLang="en-US" dirty="0">
              <a:uFillTx/>
            </a:endParaRPr>
          </a:p>
        </p:txBody>
      </p:sp>
      <p:sp>
        <p:nvSpPr>
          <p:cNvPr id="3" name="內容版面配置區 2"/>
          <p:cNvSpPr>
            <a:spLocks noGrp="1"/>
          </p:cNvSpPr>
          <p:nvPr>
            <p:ph idx="1"/>
          </p:nvPr>
        </p:nvSpPr>
        <p:spPr/>
        <p:txBody>
          <a:bodyPr/>
          <a:lstStyle/>
          <a:p>
            <a:r>
              <a:rPr lang="en" altLang="zh-TW" dirty="0">
                <a:uFillTx/>
              </a:rPr>
              <a:t>The rule- based model, outperforming the </a:t>
            </a:r>
            <a:r>
              <a:rPr lang="en" altLang="zh-TW" dirty="0" err="1">
                <a:uFillTx/>
              </a:rPr>
              <a:t>biLSTM</a:t>
            </a:r>
            <a:r>
              <a:rPr lang="en" altLang="zh-TW" dirty="0">
                <a:uFillTx/>
              </a:rPr>
              <a:t> models on the full </a:t>
            </a:r>
            <a:r>
              <a:rPr lang="en" altLang="zh-TW" dirty="0" err="1">
                <a:uFillTx/>
              </a:rPr>
              <a:t>CommitmentBank</a:t>
            </a:r>
            <a:r>
              <a:rPr lang="en" altLang="zh-TW" dirty="0">
                <a:uFillTx/>
              </a:rPr>
              <a:t>, shows that a linguistically-informed model scales more successfully to challenging naturalistic data. </a:t>
            </a:r>
          </a:p>
          <a:p>
            <a:endParaRPr kumimoji="1" lang="zh-TW" altLang="en-US" dirty="0">
              <a:uFillTx/>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582825" y="58629"/>
            <a:ext cx="11240207" cy="661488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138238"/>
            <a:ext cx="10515600" cy="2852737"/>
          </a:xfrm>
        </p:spPr>
        <p:txBody>
          <a:bodyPr/>
          <a:lstStyle/>
          <a:p>
            <a:pPr algn="ctr"/>
            <a:r>
              <a:rPr kumimoji="1" lang="en-US" altLang="zh-TW" dirty="0">
                <a:uFillTx/>
              </a:rPr>
              <a:t>Thank you!</a:t>
            </a:r>
            <a:endParaRPr kumimoji="1" lang="zh-TW" altLang="en-US" dirty="0">
              <a:uFillTx/>
            </a:endParaRPr>
          </a:p>
        </p:txBody>
      </p:sp>
    </p:spTree>
  </p:cSld>
  <p:clrMapOvr>
    <a:masterClrMapping/>
  </p:clrMapOvr>
</p:sld>
</file>

<file path=ppt/theme/theme1.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1">
          <a:schemeClr val="accent1"/>
        </a:lnRef>
        <a:fillRef idx="1">
          <a:schemeClr val="accent1"/>
        </a:fillRef>
        <a:effectRef idx="1">
          <a:schemeClr val="accent1"/>
        </a:effectRef>
        <a:fontRef idx="minor">
          <a:schemeClr val="lt1"/>
        </a:fontRef>
      </a:style>
    </a:spDef>
    <a:lnDef>
      <a:spPr/>
      <a:bodyPr/>
      <a:lstStyle/>
      <a:style>
        <a:lnRef idx="1">
          <a:schemeClr val="accent1"/>
        </a:lnRef>
        <a:fillRef idx="0">
          <a:schemeClr val="accent1"/>
        </a:fillRef>
        <a:effectRef idx="1">
          <a:schemeClr val="accent1"/>
        </a:effectRef>
        <a:fontRef idx="minor">
          <a:schemeClr val="tx1"/>
        </a:fontRef>
      </a:style>
    </a:lnDef>
    <a:txDef>
      <a:spPr/>
      <a:bodyPr/>
      <a:lstStyle/>
    </a:txDef>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1">
          <a:schemeClr val="accent1"/>
        </a:lnRef>
        <a:fillRef idx="1">
          <a:schemeClr val="accent1"/>
        </a:fillRef>
        <a:effectRef idx="1">
          <a:schemeClr val="accent1"/>
        </a:effectRef>
        <a:fontRef idx="minor">
          <a:schemeClr val="lt1"/>
        </a:fontRef>
      </a:style>
    </a:spDef>
    <a:lnDef>
      <a:spPr/>
      <a:bodyPr/>
      <a:lstStyle/>
      <a:style>
        <a:lnRef idx="1">
          <a:schemeClr val="accent1"/>
        </a:lnRef>
        <a:fillRef idx="0">
          <a:schemeClr val="accent1"/>
        </a:fillRef>
        <a:effectRef idx="1">
          <a:schemeClr val="accent1"/>
        </a:effectRef>
        <a:fontRef idx="minor">
          <a:schemeClr val="tx1"/>
        </a:fontRef>
      </a:style>
    </a:lnDef>
    <a:txDef>
      <a:spPr/>
      <a:bodyPr/>
      <a:lstStyle/>
    </a:txDef>
  </a:objectDefaults>
  <a:extraClrSchemeLst/>
</a:theme>
</file>

<file path=docProps/app.xml><?xml version="1.0" encoding="utf-8"?>
<Properties xmlns="http://schemas.openxmlformats.org/officeDocument/2006/extended-properties" xmlns:vt="http://schemas.openxmlformats.org/officeDocument/2006/docPropsVTypes">
  <TotalTime>1590</TotalTime>
  <Words>792</Words>
  <Application>Microsoft Office PowerPoint</Application>
  <PresentationFormat>寬螢幕</PresentationFormat>
  <Paragraphs>44</Paragraphs>
  <Slides>14</Slides>
  <Notes>7</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Arial</vt:lpstr>
      <vt:lpstr>Calibri</vt:lpstr>
      <vt:lpstr>Calibri Light</vt:lpstr>
      <vt:lpstr>Office 佈景主題</vt:lpstr>
      <vt:lpstr>Do you know that Florence is packed with visitors? Evaluating state-of-the-art models of speaker commitment </vt:lpstr>
      <vt:lpstr>Abstract</vt:lpstr>
      <vt:lpstr>Abstract</vt:lpstr>
      <vt:lpstr>PowerPoint 簡報</vt:lpstr>
      <vt:lpstr>PowerPoint 簡報</vt:lpstr>
      <vt:lpstr>PowerPoint 簡報</vt:lpstr>
      <vt:lpstr>PowerPoint 簡報</vt:lpstr>
      <vt:lpstr>PowerPoint 簡報</vt:lpstr>
      <vt:lpstr>PowerPoint 簡報</vt:lpstr>
      <vt:lpstr>PowerPoint 簡報</vt:lpstr>
      <vt:lpstr>PowerPoint 簡報</vt:lpstr>
      <vt:lpstr>Conclusion</vt:lpstr>
      <vt:lpstr>PowerPoint 簡報</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APPROXIMATE K-NEAREST NEIGHBOUR BASED SPATIAL CLUSTERING USING K-D TREE </dc:title>
  <dc:creator>M073040105</dc:creator>
  <cp:lastModifiedBy>pplab</cp:lastModifiedBy>
  <cp:revision>397</cp:revision>
  <dcterms:created xsi:type="dcterms:W3CDTF">2020-01-08T16:42:43Z</dcterms:created>
  <dcterms:modified xsi:type="dcterms:W3CDTF">2020-06-30T12:47:07Z</dcterms:modified>
</cp:coreProperties>
</file>