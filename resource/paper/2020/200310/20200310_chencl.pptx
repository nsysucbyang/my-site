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8" r:id="rId3"/>
    <p:sldId id="269" r:id="rId4"/>
    <p:sldId id="272" r:id="rId5"/>
    <p:sldId id="273" r:id="rId6"/>
    <p:sldId id="271" r:id="rId7"/>
    <p:sldId id="274" r:id="rId8"/>
    <p:sldId id="275" r:id="rId9"/>
    <p:sldId id="276" r:id="rId10"/>
    <p:sldId id="277" r:id="rId11"/>
    <p:sldId id="260" r:id="rId12"/>
    <p:sldId id="278" r:id="rId13"/>
    <p:sldId id="263" r:id="rId14"/>
    <p:sldId id="264" r:id="rId15"/>
    <p:sldId id="265" r:id="rId16"/>
    <p:sldId id="268" r:id="rId17"/>
    <p:sldId id="270" r:id="rId18"/>
    <p:sldId id="267" r:id="rId19"/>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678"/>
    <p:restoredTop sz="89526"/>
  </p:normalViewPr>
  <p:slideViewPr>
    <p:cSldViewPr snapToGrid="0" snapToObjects="1">
      <p:cViewPr varScale="1">
        <p:scale>
          <a:sx n="64" d="100"/>
          <a:sy n="64" d="100"/>
        </p:scale>
        <p:origin x="99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3B8289-430C-634B-956C-93A1DD092B20}" type="datetimeFigureOut">
              <a:rPr kumimoji="1" lang="zh-TW" altLang="en-US" smtClean="0"/>
              <a:t>2020/3/10</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E94397-36E2-2E45-87E6-E091B69B03A8}" type="slidenum">
              <a:rPr kumimoji="1" lang="zh-TW" altLang="en-US" smtClean="0"/>
              <a:t>‹#›</a:t>
            </a:fld>
            <a:endParaRPr kumimoji="1" lang="zh-TW" altLang="en-US"/>
          </a:p>
        </p:txBody>
      </p:sp>
    </p:spTree>
    <p:extLst>
      <p:ext uri="{BB962C8B-B14F-4D97-AF65-F5344CB8AC3E}">
        <p14:creationId xmlns:p14="http://schemas.microsoft.com/office/powerpoint/2010/main" val="3173860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www.ia.cas.cn/kygz/yjly/"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CN" altLang="en-US" dirty="0"/>
              <a:t>作者皆為中國科學院自動化研究所</a:t>
            </a:r>
            <a:r>
              <a:rPr kumimoji="1" lang="en-US" altLang="zh-CN" dirty="0"/>
              <a:t>(</a:t>
            </a:r>
            <a:r>
              <a:rPr lang="en" altLang="zh-TW" dirty="0">
                <a:hlinkClick r:id="rId3"/>
              </a:rPr>
              <a:t>http://www.ia.cas.cn/kygz/yjly/</a:t>
            </a:r>
            <a:r>
              <a:rPr lang="en" altLang="zh-TW" dirty="0"/>
              <a:t>)</a:t>
            </a:r>
            <a:r>
              <a:rPr kumimoji="1" lang="zh-CN" altLang="en-US" dirty="0"/>
              <a:t>研究員</a:t>
            </a:r>
            <a:endParaRPr kumimoji="1" lang="en-US" altLang="zh-CN" dirty="0"/>
          </a:p>
          <a:p>
            <a:r>
              <a:rPr kumimoji="1" lang="zh-CN" altLang="en-US" dirty="0"/>
              <a:t>查無</a:t>
            </a:r>
            <a:r>
              <a:rPr kumimoji="1" lang="en-US" altLang="zh-CN" dirty="0"/>
              <a:t>AAAI2015</a:t>
            </a:r>
            <a:r>
              <a:rPr kumimoji="1" lang="zh-CN" altLang="en-US" dirty="0"/>
              <a:t>的會議論文集，只查到</a:t>
            </a:r>
            <a:r>
              <a:rPr lang="en" altLang="zh-TW" dirty="0"/>
              <a:t>Proceedings of 29</a:t>
            </a:r>
            <a:r>
              <a:rPr lang="en" altLang="zh-TW" baseline="30000" dirty="0"/>
              <a:t>th</a:t>
            </a:r>
            <a:r>
              <a:rPr lang="en" altLang="zh-TW" dirty="0"/>
              <a:t> AAAI</a:t>
            </a:r>
            <a:endParaRPr kumimoji="1" lang="zh-TW" altLang="en-US" dirty="0"/>
          </a:p>
        </p:txBody>
      </p:sp>
      <p:sp>
        <p:nvSpPr>
          <p:cNvPr id="4" name="投影片編號版面配置區 3"/>
          <p:cNvSpPr>
            <a:spLocks noGrp="1"/>
          </p:cNvSpPr>
          <p:nvPr>
            <p:ph type="sldNum" sz="quarter" idx="5"/>
          </p:nvPr>
        </p:nvSpPr>
        <p:spPr/>
        <p:txBody>
          <a:bodyPr/>
          <a:lstStyle/>
          <a:p>
            <a:fld id="{7EE94397-36E2-2E45-87E6-E091B69B03A8}" type="slidenum">
              <a:rPr kumimoji="1" lang="zh-TW" altLang="en-US" smtClean="0"/>
              <a:t>1</a:t>
            </a:fld>
            <a:endParaRPr kumimoji="1" lang="zh-TW" altLang="en-US"/>
          </a:p>
        </p:txBody>
      </p:sp>
    </p:spTree>
    <p:extLst>
      <p:ext uri="{BB962C8B-B14F-4D97-AF65-F5344CB8AC3E}">
        <p14:creationId xmlns:p14="http://schemas.microsoft.com/office/powerpoint/2010/main" val="12250940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 altLang="zh-TW" dirty="0"/>
              <a:t>sentiment analysis</a:t>
            </a:r>
            <a:r>
              <a:rPr lang="zh-CN" altLang="en-US" dirty="0"/>
              <a:t>情感分析</a:t>
            </a:r>
            <a:endParaRPr kumimoji="1" lang="zh-TW" altLang="en-US" dirty="0"/>
          </a:p>
        </p:txBody>
      </p:sp>
      <p:sp>
        <p:nvSpPr>
          <p:cNvPr id="4" name="投影片編號版面配置區 3"/>
          <p:cNvSpPr>
            <a:spLocks noGrp="1"/>
          </p:cNvSpPr>
          <p:nvPr>
            <p:ph type="sldNum" sz="quarter" idx="5"/>
          </p:nvPr>
        </p:nvSpPr>
        <p:spPr/>
        <p:txBody>
          <a:bodyPr/>
          <a:lstStyle/>
          <a:p>
            <a:fld id="{7EE94397-36E2-2E45-87E6-E091B69B03A8}" type="slidenum">
              <a:rPr kumimoji="1" lang="zh-TW" altLang="en-US" smtClean="0"/>
              <a:t>4</a:t>
            </a:fld>
            <a:endParaRPr kumimoji="1" lang="zh-TW" altLang="en-US"/>
          </a:p>
        </p:txBody>
      </p:sp>
    </p:spTree>
    <p:extLst>
      <p:ext uri="{BB962C8B-B14F-4D97-AF65-F5344CB8AC3E}">
        <p14:creationId xmlns:p14="http://schemas.microsoft.com/office/powerpoint/2010/main" val="24306705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zh-CN" altLang="en-US" dirty="0"/>
              <a:t>第一篇</a:t>
            </a:r>
            <a:r>
              <a:rPr kumimoji="1" lang="en-US" altLang="zh-CN" dirty="0"/>
              <a:t>20Newsgroups</a:t>
            </a:r>
            <a:r>
              <a:rPr kumimoji="1" lang="zh-CN" altLang="en-US" dirty="0"/>
              <a:t>連結失效</a:t>
            </a:r>
            <a:endParaRPr kumimoji="1" lang="en-US" altLang="zh-TW" dirty="0"/>
          </a:p>
          <a:p>
            <a:r>
              <a:rPr kumimoji="1" lang="en-US" altLang="zh-TW" dirty="0"/>
              <a:t>Fudan(</a:t>
            </a:r>
            <a:r>
              <a:rPr kumimoji="1" lang="zh-CN" altLang="en-US" dirty="0"/>
              <a:t>復旦</a:t>
            </a:r>
            <a:r>
              <a:rPr kumimoji="1" lang="en-US" altLang="zh-CN" dirty="0"/>
              <a:t>)</a:t>
            </a:r>
            <a:r>
              <a:rPr kumimoji="1" lang="zh-CN" altLang="en-US" dirty="0"/>
              <a:t>大學</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TW" dirty="0"/>
              <a:t>ACL(association of computational linguistic) Anthology: </a:t>
            </a:r>
            <a:r>
              <a:rPr kumimoji="1" lang="zh-CN" altLang="en-US" dirty="0"/>
              <a:t>搜集</a:t>
            </a:r>
            <a:r>
              <a:rPr lang="en-US" altLang="zh-TW" sz="1200" b="0" i="0" kern="1200" dirty="0">
                <a:solidFill>
                  <a:schemeClr val="tx1"/>
                </a:solidFill>
                <a:effectLst/>
                <a:latin typeface="+mn-lt"/>
                <a:ea typeface="+mn-ea"/>
                <a:cs typeface="+mn-cs"/>
              </a:rPr>
              <a:t>54087</a:t>
            </a:r>
            <a:r>
              <a:rPr lang="zh-CN" altLang="en-US" sz="1200" b="0" i="0" kern="1200" dirty="0">
                <a:solidFill>
                  <a:schemeClr val="tx1"/>
                </a:solidFill>
                <a:effectLst/>
                <a:latin typeface="+mn-lt"/>
                <a:ea typeface="+mn-ea"/>
                <a:cs typeface="+mn-cs"/>
              </a:rPr>
              <a:t>篇自然語言處理論文</a:t>
            </a:r>
            <a:endParaRPr lang="en-US" altLang="zh-CN"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TW" altLang="en-US" dirty="0"/>
          </a:p>
        </p:txBody>
      </p:sp>
      <p:sp>
        <p:nvSpPr>
          <p:cNvPr id="4" name="投影片編號版面配置區 3"/>
          <p:cNvSpPr>
            <a:spLocks noGrp="1"/>
          </p:cNvSpPr>
          <p:nvPr>
            <p:ph type="sldNum" sz="quarter" idx="5"/>
          </p:nvPr>
        </p:nvSpPr>
        <p:spPr/>
        <p:txBody>
          <a:bodyPr/>
          <a:lstStyle/>
          <a:p>
            <a:fld id="{7EE94397-36E2-2E45-87E6-E091B69B03A8}" type="slidenum">
              <a:rPr kumimoji="1" lang="zh-TW" altLang="en-US" smtClean="0"/>
              <a:t>11</a:t>
            </a:fld>
            <a:endParaRPr kumimoji="1" lang="zh-TW" altLang="en-US"/>
          </a:p>
        </p:txBody>
      </p:sp>
    </p:spTree>
    <p:extLst>
      <p:ext uri="{BB962C8B-B14F-4D97-AF65-F5344CB8AC3E}">
        <p14:creationId xmlns:p14="http://schemas.microsoft.com/office/powerpoint/2010/main" val="42863074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kumimoji="1" lang="en-US" altLang="zh-TW" dirty="0"/>
              <a:t>LDA</a:t>
            </a:r>
            <a:r>
              <a:rPr kumimoji="1" lang="zh-CN" altLang="en-US" dirty="0"/>
              <a:t>相較於</a:t>
            </a:r>
            <a:r>
              <a:rPr kumimoji="1" lang="en-US" altLang="zh-CN" dirty="0" err="1"/>
              <a:t>kNN</a:t>
            </a:r>
            <a:r>
              <a:rPr kumimoji="1" lang="en-US" altLang="zh-CN" dirty="0"/>
              <a:t>, </a:t>
            </a:r>
            <a:r>
              <a:rPr kumimoji="1" lang="zh-CN" altLang="en-US" dirty="0"/>
              <a:t>每一類的機率都算，並取最高者</a:t>
            </a:r>
            <a:br>
              <a:rPr kumimoji="1" lang="en-US" altLang="zh-CN" dirty="0"/>
            </a:br>
            <a:r>
              <a:rPr kumimoji="1" lang="zh-CN" altLang="en-US" dirty="0"/>
              <a:t>亦即，一篇新聞可能政治類機率</a:t>
            </a:r>
            <a:r>
              <a:rPr kumimoji="1" lang="en-US" altLang="zh-CN" dirty="0"/>
              <a:t>0.9,</a:t>
            </a:r>
            <a:r>
              <a:rPr kumimoji="1" lang="zh-CN" altLang="en-US" dirty="0"/>
              <a:t>體育類</a:t>
            </a:r>
            <a:r>
              <a:rPr kumimoji="1" lang="en-US" altLang="zh-CN" dirty="0"/>
              <a:t>0.1,</a:t>
            </a:r>
            <a:r>
              <a:rPr kumimoji="1" lang="zh-CN" altLang="en-US" dirty="0"/>
              <a:t>娛樂類</a:t>
            </a:r>
            <a:r>
              <a:rPr kumimoji="1" lang="en-US" altLang="zh-CN" dirty="0"/>
              <a:t>0.1</a:t>
            </a:r>
            <a:endParaRPr kumimoji="1" lang="zh-TW" altLang="en-US" dirty="0"/>
          </a:p>
        </p:txBody>
      </p:sp>
      <p:sp>
        <p:nvSpPr>
          <p:cNvPr id="4" name="投影片編號版面配置區 3"/>
          <p:cNvSpPr>
            <a:spLocks noGrp="1"/>
          </p:cNvSpPr>
          <p:nvPr>
            <p:ph type="sldNum" sz="quarter" idx="5"/>
          </p:nvPr>
        </p:nvSpPr>
        <p:spPr/>
        <p:txBody>
          <a:bodyPr/>
          <a:lstStyle/>
          <a:p>
            <a:fld id="{7EE94397-36E2-2E45-87E6-E091B69B03A8}" type="slidenum">
              <a:rPr kumimoji="1" lang="zh-TW" altLang="en-US" smtClean="0"/>
              <a:t>14</a:t>
            </a:fld>
            <a:endParaRPr kumimoji="1" lang="zh-TW" altLang="en-US"/>
          </a:p>
        </p:txBody>
      </p:sp>
    </p:spTree>
    <p:extLst>
      <p:ext uri="{BB962C8B-B14F-4D97-AF65-F5344CB8AC3E}">
        <p14:creationId xmlns:p14="http://schemas.microsoft.com/office/powerpoint/2010/main" val="7029901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B84393E-5897-C742-9642-D9A052990A56}"/>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DC489EF9-A837-B54B-ACE9-C89FA3F852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DD925F08-ED4D-DE4A-83C5-B40BA9D8D487}"/>
              </a:ext>
            </a:extLst>
          </p:cNvPr>
          <p:cNvSpPr>
            <a:spLocks noGrp="1"/>
          </p:cNvSpPr>
          <p:nvPr>
            <p:ph type="dt" sz="half" idx="10"/>
          </p:nvPr>
        </p:nvSpPr>
        <p:spPr/>
        <p:txBody>
          <a:bodyPr/>
          <a:lstStyle/>
          <a:p>
            <a:fld id="{1F9C24E8-FD77-674B-9940-5378D0BFF31E}" type="datetimeFigureOut">
              <a:rPr kumimoji="1" lang="zh-TW" altLang="en-US" smtClean="0"/>
              <a:t>2020/3/10</a:t>
            </a:fld>
            <a:endParaRPr kumimoji="1" lang="zh-TW" altLang="en-US"/>
          </a:p>
        </p:txBody>
      </p:sp>
      <p:sp>
        <p:nvSpPr>
          <p:cNvPr id="5" name="頁尾版面配置區 4">
            <a:extLst>
              <a:ext uri="{FF2B5EF4-FFF2-40B4-BE49-F238E27FC236}">
                <a16:creationId xmlns:a16="http://schemas.microsoft.com/office/drawing/2014/main" id="{775561CD-17B8-2540-BD15-C9AB75C5A3FB}"/>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7D7148B7-4B3B-F04F-94F3-3CAADFCC5896}"/>
              </a:ext>
            </a:extLst>
          </p:cNvPr>
          <p:cNvSpPr>
            <a:spLocks noGrp="1"/>
          </p:cNvSpPr>
          <p:nvPr>
            <p:ph type="sldNum" sz="quarter" idx="12"/>
          </p:nvPr>
        </p:nvSpPr>
        <p:spPr/>
        <p:txBody>
          <a:bodyPr/>
          <a:lstStyle/>
          <a:p>
            <a:fld id="{35AF2C09-F0D9-2B4A-AA05-75A050A60A76}" type="slidenum">
              <a:rPr kumimoji="1" lang="zh-TW" altLang="en-US" smtClean="0"/>
              <a:t>‹#›</a:t>
            </a:fld>
            <a:endParaRPr kumimoji="1" lang="zh-TW" altLang="en-US"/>
          </a:p>
        </p:txBody>
      </p:sp>
    </p:spTree>
    <p:extLst>
      <p:ext uri="{BB962C8B-B14F-4D97-AF65-F5344CB8AC3E}">
        <p14:creationId xmlns:p14="http://schemas.microsoft.com/office/powerpoint/2010/main" val="30247643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061955D-0911-7F46-89A2-7B0AB9EEB645}"/>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82F87528-564D-1F4A-8902-02B0E2EB540F}"/>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25724E2D-8E8D-9644-8C9D-DB1D1C78ABA2}"/>
              </a:ext>
            </a:extLst>
          </p:cNvPr>
          <p:cNvSpPr>
            <a:spLocks noGrp="1"/>
          </p:cNvSpPr>
          <p:nvPr>
            <p:ph type="dt" sz="half" idx="10"/>
          </p:nvPr>
        </p:nvSpPr>
        <p:spPr/>
        <p:txBody>
          <a:bodyPr/>
          <a:lstStyle/>
          <a:p>
            <a:fld id="{1F9C24E8-FD77-674B-9940-5378D0BFF31E}" type="datetimeFigureOut">
              <a:rPr kumimoji="1" lang="zh-TW" altLang="en-US" smtClean="0"/>
              <a:t>2020/3/10</a:t>
            </a:fld>
            <a:endParaRPr kumimoji="1" lang="zh-TW" altLang="en-US"/>
          </a:p>
        </p:txBody>
      </p:sp>
      <p:sp>
        <p:nvSpPr>
          <p:cNvPr id="5" name="頁尾版面配置區 4">
            <a:extLst>
              <a:ext uri="{FF2B5EF4-FFF2-40B4-BE49-F238E27FC236}">
                <a16:creationId xmlns:a16="http://schemas.microsoft.com/office/drawing/2014/main" id="{E49D19FE-BC05-EE4D-AA8B-62522E6FB1EF}"/>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60C529EA-3208-654A-B77F-29C8F3F87F52}"/>
              </a:ext>
            </a:extLst>
          </p:cNvPr>
          <p:cNvSpPr>
            <a:spLocks noGrp="1"/>
          </p:cNvSpPr>
          <p:nvPr>
            <p:ph type="sldNum" sz="quarter" idx="12"/>
          </p:nvPr>
        </p:nvSpPr>
        <p:spPr/>
        <p:txBody>
          <a:bodyPr/>
          <a:lstStyle/>
          <a:p>
            <a:fld id="{35AF2C09-F0D9-2B4A-AA05-75A050A60A76}" type="slidenum">
              <a:rPr kumimoji="1" lang="zh-TW" altLang="en-US" smtClean="0"/>
              <a:t>‹#›</a:t>
            </a:fld>
            <a:endParaRPr kumimoji="1" lang="zh-TW" altLang="en-US"/>
          </a:p>
        </p:txBody>
      </p:sp>
    </p:spTree>
    <p:extLst>
      <p:ext uri="{BB962C8B-B14F-4D97-AF65-F5344CB8AC3E}">
        <p14:creationId xmlns:p14="http://schemas.microsoft.com/office/powerpoint/2010/main" val="22885173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86C73DE-6531-1248-9B32-37D78C629DB2}"/>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41800AA4-3B62-BF4E-A750-7421D33FC25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8531AF15-5B94-4840-AAF4-8C88249C39F4}"/>
              </a:ext>
            </a:extLst>
          </p:cNvPr>
          <p:cNvSpPr>
            <a:spLocks noGrp="1"/>
          </p:cNvSpPr>
          <p:nvPr>
            <p:ph type="dt" sz="half" idx="10"/>
          </p:nvPr>
        </p:nvSpPr>
        <p:spPr/>
        <p:txBody>
          <a:bodyPr/>
          <a:lstStyle/>
          <a:p>
            <a:fld id="{1F9C24E8-FD77-674B-9940-5378D0BFF31E}" type="datetimeFigureOut">
              <a:rPr kumimoji="1" lang="zh-TW" altLang="en-US" smtClean="0"/>
              <a:t>2020/3/10</a:t>
            </a:fld>
            <a:endParaRPr kumimoji="1" lang="zh-TW" altLang="en-US"/>
          </a:p>
        </p:txBody>
      </p:sp>
      <p:sp>
        <p:nvSpPr>
          <p:cNvPr id="5" name="頁尾版面配置區 4">
            <a:extLst>
              <a:ext uri="{FF2B5EF4-FFF2-40B4-BE49-F238E27FC236}">
                <a16:creationId xmlns:a16="http://schemas.microsoft.com/office/drawing/2014/main" id="{F490CED8-7F54-174E-98C3-FD57308E9BCB}"/>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D704C7D3-D0B0-3D4A-ACCF-E2C5D65DEDE3}"/>
              </a:ext>
            </a:extLst>
          </p:cNvPr>
          <p:cNvSpPr>
            <a:spLocks noGrp="1"/>
          </p:cNvSpPr>
          <p:nvPr>
            <p:ph type="sldNum" sz="quarter" idx="12"/>
          </p:nvPr>
        </p:nvSpPr>
        <p:spPr/>
        <p:txBody>
          <a:bodyPr/>
          <a:lstStyle/>
          <a:p>
            <a:fld id="{35AF2C09-F0D9-2B4A-AA05-75A050A60A76}" type="slidenum">
              <a:rPr kumimoji="1" lang="zh-TW" altLang="en-US" smtClean="0"/>
              <a:t>‹#›</a:t>
            </a:fld>
            <a:endParaRPr kumimoji="1" lang="zh-TW" altLang="en-US"/>
          </a:p>
        </p:txBody>
      </p:sp>
    </p:spTree>
    <p:extLst>
      <p:ext uri="{BB962C8B-B14F-4D97-AF65-F5344CB8AC3E}">
        <p14:creationId xmlns:p14="http://schemas.microsoft.com/office/powerpoint/2010/main" val="439648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5EB0910-0EB1-8D47-8A8A-C6DA98B9C46A}"/>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A4EFAE1D-32F5-C744-BE03-A08D08208FC3}"/>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C703AFFD-DD14-2249-87EA-D4D0F4D8A5C6}"/>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FFA9D9CF-AC65-7547-937C-462CB4B87E5E}"/>
              </a:ext>
            </a:extLst>
          </p:cNvPr>
          <p:cNvSpPr>
            <a:spLocks noGrp="1"/>
          </p:cNvSpPr>
          <p:nvPr>
            <p:ph type="dt" sz="half" idx="10"/>
          </p:nvPr>
        </p:nvSpPr>
        <p:spPr/>
        <p:txBody>
          <a:bodyPr/>
          <a:lstStyle/>
          <a:p>
            <a:fld id="{1F9C24E8-FD77-674B-9940-5378D0BFF31E}" type="datetimeFigureOut">
              <a:rPr kumimoji="1" lang="zh-TW" altLang="en-US" smtClean="0"/>
              <a:t>2020/3/10</a:t>
            </a:fld>
            <a:endParaRPr kumimoji="1" lang="zh-TW" altLang="en-US"/>
          </a:p>
        </p:txBody>
      </p:sp>
      <p:sp>
        <p:nvSpPr>
          <p:cNvPr id="6" name="頁尾版面配置區 5">
            <a:extLst>
              <a:ext uri="{FF2B5EF4-FFF2-40B4-BE49-F238E27FC236}">
                <a16:creationId xmlns:a16="http://schemas.microsoft.com/office/drawing/2014/main" id="{AD11A880-A8B0-8C45-9BBA-599FC8395F0E}"/>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86075468-71C7-564B-AD7A-5361E550A918}"/>
              </a:ext>
            </a:extLst>
          </p:cNvPr>
          <p:cNvSpPr>
            <a:spLocks noGrp="1"/>
          </p:cNvSpPr>
          <p:nvPr>
            <p:ph type="sldNum" sz="quarter" idx="12"/>
          </p:nvPr>
        </p:nvSpPr>
        <p:spPr/>
        <p:txBody>
          <a:bodyPr/>
          <a:lstStyle/>
          <a:p>
            <a:fld id="{35AF2C09-F0D9-2B4A-AA05-75A050A60A76}" type="slidenum">
              <a:rPr kumimoji="1" lang="zh-TW" altLang="en-US" smtClean="0"/>
              <a:t>‹#›</a:t>
            </a:fld>
            <a:endParaRPr kumimoji="1" lang="zh-TW" altLang="en-US"/>
          </a:p>
        </p:txBody>
      </p:sp>
    </p:spTree>
    <p:extLst>
      <p:ext uri="{BB962C8B-B14F-4D97-AF65-F5344CB8AC3E}">
        <p14:creationId xmlns:p14="http://schemas.microsoft.com/office/powerpoint/2010/main" val="4324377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5C3852D-F421-7747-8DBB-0DB6DBC725DF}"/>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B34D16B6-A3BC-F74C-95A3-90442D97E7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40FA2C45-D986-F543-82AE-0CA924B6E49E}"/>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1A14E94A-A453-F24C-9F3D-6509D772D2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72294A5F-C2BE-1E4A-A1B8-115A18F0B1EC}"/>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FF9AE945-0A1E-F844-9F27-0E69C6467A7F}"/>
              </a:ext>
            </a:extLst>
          </p:cNvPr>
          <p:cNvSpPr>
            <a:spLocks noGrp="1"/>
          </p:cNvSpPr>
          <p:nvPr>
            <p:ph type="dt" sz="half" idx="10"/>
          </p:nvPr>
        </p:nvSpPr>
        <p:spPr/>
        <p:txBody>
          <a:bodyPr/>
          <a:lstStyle/>
          <a:p>
            <a:fld id="{1F9C24E8-FD77-674B-9940-5378D0BFF31E}" type="datetimeFigureOut">
              <a:rPr kumimoji="1" lang="zh-TW" altLang="en-US" smtClean="0"/>
              <a:t>2020/3/10</a:t>
            </a:fld>
            <a:endParaRPr kumimoji="1" lang="zh-TW" altLang="en-US"/>
          </a:p>
        </p:txBody>
      </p:sp>
      <p:sp>
        <p:nvSpPr>
          <p:cNvPr id="8" name="頁尾版面配置區 7">
            <a:extLst>
              <a:ext uri="{FF2B5EF4-FFF2-40B4-BE49-F238E27FC236}">
                <a16:creationId xmlns:a16="http://schemas.microsoft.com/office/drawing/2014/main" id="{A85A71B7-7896-6444-BE7D-61E604E6BBBA}"/>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704A0783-9D55-FE44-831C-3B9D3276CC25}"/>
              </a:ext>
            </a:extLst>
          </p:cNvPr>
          <p:cNvSpPr>
            <a:spLocks noGrp="1"/>
          </p:cNvSpPr>
          <p:nvPr>
            <p:ph type="sldNum" sz="quarter" idx="12"/>
          </p:nvPr>
        </p:nvSpPr>
        <p:spPr/>
        <p:txBody>
          <a:bodyPr/>
          <a:lstStyle/>
          <a:p>
            <a:fld id="{35AF2C09-F0D9-2B4A-AA05-75A050A60A76}" type="slidenum">
              <a:rPr kumimoji="1" lang="zh-TW" altLang="en-US" smtClean="0"/>
              <a:t>‹#›</a:t>
            </a:fld>
            <a:endParaRPr kumimoji="1" lang="zh-TW" altLang="en-US"/>
          </a:p>
        </p:txBody>
      </p:sp>
    </p:spTree>
    <p:extLst>
      <p:ext uri="{BB962C8B-B14F-4D97-AF65-F5344CB8AC3E}">
        <p14:creationId xmlns:p14="http://schemas.microsoft.com/office/powerpoint/2010/main" val="119657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1641A76-0788-DF4B-AA7D-78E4E40FBBAC}"/>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C4F88631-6170-E741-893F-034159CE7432}"/>
              </a:ext>
            </a:extLst>
          </p:cNvPr>
          <p:cNvSpPr>
            <a:spLocks noGrp="1"/>
          </p:cNvSpPr>
          <p:nvPr>
            <p:ph type="dt" sz="half" idx="10"/>
          </p:nvPr>
        </p:nvSpPr>
        <p:spPr/>
        <p:txBody>
          <a:bodyPr/>
          <a:lstStyle/>
          <a:p>
            <a:fld id="{1F9C24E8-FD77-674B-9940-5378D0BFF31E}" type="datetimeFigureOut">
              <a:rPr kumimoji="1" lang="zh-TW" altLang="en-US" smtClean="0"/>
              <a:t>2020/3/10</a:t>
            </a:fld>
            <a:endParaRPr kumimoji="1" lang="zh-TW" altLang="en-US"/>
          </a:p>
        </p:txBody>
      </p:sp>
      <p:sp>
        <p:nvSpPr>
          <p:cNvPr id="4" name="頁尾版面配置區 3">
            <a:extLst>
              <a:ext uri="{FF2B5EF4-FFF2-40B4-BE49-F238E27FC236}">
                <a16:creationId xmlns:a16="http://schemas.microsoft.com/office/drawing/2014/main" id="{62996335-0723-1747-9227-55FEB623B5CB}"/>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F42CB33A-6712-FB46-9E30-E0CEB6960B8D}"/>
              </a:ext>
            </a:extLst>
          </p:cNvPr>
          <p:cNvSpPr>
            <a:spLocks noGrp="1"/>
          </p:cNvSpPr>
          <p:nvPr>
            <p:ph type="sldNum" sz="quarter" idx="12"/>
          </p:nvPr>
        </p:nvSpPr>
        <p:spPr/>
        <p:txBody>
          <a:bodyPr/>
          <a:lstStyle/>
          <a:p>
            <a:fld id="{35AF2C09-F0D9-2B4A-AA05-75A050A60A76}" type="slidenum">
              <a:rPr kumimoji="1" lang="zh-TW" altLang="en-US" smtClean="0"/>
              <a:t>‹#›</a:t>
            </a:fld>
            <a:endParaRPr kumimoji="1" lang="zh-TW" altLang="en-US"/>
          </a:p>
        </p:txBody>
      </p:sp>
    </p:spTree>
    <p:extLst>
      <p:ext uri="{BB962C8B-B14F-4D97-AF65-F5344CB8AC3E}">
        <p14:creationId xmlns:p14="http://schemas.microsoft.com/office/powerpoint/2010/main" val="2728869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F6D90877-E774-A949-BB52-79612810FC4B}"/>
              </a:ext>
            </a:extLst>
          </p:cNvPr>
          <p:cNvSpPr>
            <a:spLocks noGrp="1"/>
          </p:cNvSpPr>
          <p:nvPr>
            <p:ph type="dt" sz="half" idx="10"/>
          </p:nvPr>
        </p:nvSpPr>
        <p:spPr/>
        <p:txBody>
          <a:bodyPr/>
          <a:lstStyle/>
          <a:p>
            <a:fld id="{1F9C24E8-FD77-674B-9940-5378D0BFF31E}" type="datetimeFigureOut">
              <a:rPr kumimoji="1" lang="zh-TW" altLang="en-US" smtClean="0"/>
              <a:t>2020/3/10</a:t>
            </a:fld>
            <a:endParaRPr kumimoji="1" lang="zh-TW" altLang="en-US"/>
          </a:p>
        </p:txBody>
      </p:sp>
      <p:sp>
        <p:nvSpPr>
          <p:cNvPr id="3" name="頁尾版面配置區 2">
            <a:extLst>
              <a:ext uri="{FF2B5EF4-FFF2-40B4-BE49-F238E27FC236}">
                <a16:creationId xmlns:a16="http://schemas.microsoft.com/office/drawing/2014/main" id="{9EB10E54-D05D-AC49-9434-8CEBCA790731}"/>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26BDD14E-F21A-3942-85C4-674F303053F6}"/>
              </a:ext>
            </a:extLst>
          </p:cNvPr>
          <p:cNvSpPr>
            <a:spLocks noGrp="1"/>
          </p:cNvSpPr>
          <p:nvPr>
            <p:ph type="sldNum" sz="quarter" idx="12"/>
          </p:nvPr>
        </p:nvSpPr>
        <p:spPr/>
        <p:txBody>
          <a:bodyPr/>
          <a:lstStyle/>
          <a:p>
            <a:fld id="{35AF2C09-F0D9-2B4A-AA05-75A050A60A76}" type="slidenum">
              <a:rPr kumimoji="1" lang="zh-TW" altLang="en-US" smtClean="0"/>
              <a:t>‹#›</a:t>
            </a:fld>
            <a:endParaRPr kumimoji="1" lang="zh-TW" altLang="en-US"/>
          </a:p>
        </p:txBody>
      </p:sp>
    </p:spTree>
    <p:extLst>
      <p:ext uri="{BB962C8B-B14F-4D97-AF65-F5344CB8AC3E}">
        <p14:creationId xmlns:p14="http://schemas.microsoft.com/office/powerpoint/2010/main" val="39288517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0D07E89-25A4-3F4A-88C3-2C9334834536}"/>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7B6940F6-FE29-6648-A2BE-7504DBF6B4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7B68625D-6DF6-D942-A625-2C47CAC2C1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F6FFD26C-D0BD-3741-A99D-EF6E615C6900}"/>
              </a:ext>
            </a:extLst>
          </p:cNvPr>
          <p:cNvSpPr>
            <a:spLocks noGrp="1"/>
          </p:cNvSpPr>
          <p:nvPr>
            <p:ph type="dt" sz="half" idx="10"/>
          </p:nvPr>
        </p:nvSpPr>
        <p:spPr/>
        <p:txBody>
          <a:bodyPr/>
          <a:lstStyle/>
          <a:p>
            <a:fld id="{1F9C24E8-FD77-674B-9940-5378D0BFF31E}" type="datetimeFigureOut">
              <a:rPr kumimoji="1" lang="zh-TW" altLang="en-US" smtClean="0"/>
              <a:t>2020/3/10</a:t>
            </a:fld>
            <a:endParaRPr kumimoji="1" lang="zh-TW" altLang="en-US"/>
          </a:p>
        </p:txBody>
      </p:sp>
      <p:sp>
        <p:nvSpPr>
          <p:cNvPr id="6" name="頁尾版面配置區 5">
            <a:extLst>
              <a:ext uri="{FF2B5EF4-FFF2-40B4-BE49-F238E27FC236}">
                <a16:creationId xmlns:a16="http://schemas.microsoft.com/office/drawing/2014/main" id="{B4063BE9-7877-2A4C-8EFD-CEA183E54450}"/>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7F208AFB-457C-CC45-8298-46F2DA47E54E}"/>
              </a:ext>
            </a:extLst>
          </p:cNvPr>
          <p:cNvSpPr>
            <a:spLocks noGrp="1"/>
          </p:cNvSpPr>
          <p:nvPr>
            <p:ph type="sldNum" sz="quarter" idx="12"/>
          </p:nvPr>
        </p:nvSpPr>
        <p:spPr/>
        <p:txBody>
          <a:bodyPr/>
          <a:lstStyle/>
          <a:p>
            <a:fld id="{35AF2C09-F0D9-2B4A-AA05-75A050A60A76}" type="slidenum">
              <a:rPr kumimoji="1" lang="zh-TW" altLang="en-US" smtClean="0"/>
              <a:t>‹#›</a:t>
            </a:fld>
            <a:endParaRPr kumimoji="1" lang="zh-TW" altLang="en-US"/>
          </a:p>
        </p:txBody>
      </p:sp>
    </p:spTree>
    <p:extLst>
      <p:ext uri="{BB962C8B-B14F-4D97-AF65-F5344CB8AC3E}">
        <p14:creationId xmlns:p14="http://schemas.microsoft.com/office/powerpoint/2010/main" val="1521687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F157BA1-6B48-DE4F-9C0A-09422C6F7A69}"/>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05C9B1AF-140D-3845-B81F-42558E147DD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57EB01ED-FD15-C34B-B1FC-2E35B27602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2CBCB2AB-9052-5D4E-A22E-DF5D21D4487A}"/>
              </a:ext>
            </a:extLst>
          </p:cNvPr>
          <p:cNvSpPr>
            <a:spLocks noGrp="1"/>
          </p:cNvSpPr>
          <p:nvPr>
            <p:ph type="dt" sz="half" idx="10"/>
          </p:nvPr>
        </p:nvSpPr>
        <p:spPr/>
        <p:txBody>
          <a:bodyPr/>
          <a:lstStyle/>
          <a:p>
            <a:fld id="{1F9C24E8-FD77-674B-9940-5378D0BFF31E}" type="datetimeFigureOut">
              <a:rPr kumimoji="1" lang="zh-TW" altLang="en-US" smtClean="0"/>
              <a:t>2020/3/10</a:t>
            </a:fld>
            <a:endParaRPr kumimoji="1" lang="zh-TW" altLang="en-US"/>
          </a:p>
        </p:txBody>
      </p:sp>
      <p:sp>
        <p:nvSpPr>
          <p:cNvPr id="6" name="頁尾版面配置區 5">
            <a:extLst>
              <a:ext uri="{FF2B5EF4-FFF2-40B4-BE49-F238E27FC236}">
                <a16:creationId xmlns:a16="http://schemas.microsoft.com/office/drawing/2014/main" id="{D4923C13-AB2A-9B43-850E-220EB4422525}"/>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6E2BA8FE-CD93-F24F-870A-60F2CACA7AB4}"/>
              </a:ext>
            </a:extLst>
          </p:cNvPr>
          <p:cNvSpPr>
            <a:spLocks noGrp="1"/>
          </p:cNvSpPr>
          <p:nvPr>
            <p:ph type="sldNum" sz="quarter" idx="12"/>
          </p:nvPr>
        </p:nvSpPr>
        <p:spPr/>
        <p:txBody>
          <a:bodyPr/>
          <a:lstStyle/>
          <a:p>
            <a:fld id="{35AF2C09-F0D9-2B4A-AA05-75A050A60A76}" type="slidenum">
              <a:rPr kumimoji="1" lang="zh-TW" altLang="en-US" smtClean="0"/>
              <a:t>‹#›</a:t>
            </a:fld>
            <a:endParaRPr kumimoji="1" lang="zh-TW" altLang="en-US"/>
          </a:p>
        </p:txBody>
      </p:sp>
    </p:spTree>
    <p:extLst>
      <p:ext uri="{BB962C8B-B14F-4D97-AF65-F5344CB8AC3E}">
        <p14:creationId xmlns:p14="http://schemas.microsoft.com/office/powerpoint/2010/main" val="4181418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21FBC41-076D-604D-9767-145047CFE6A8}"/>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220D5BC6-792B-E749-B7E0-08A763B7750F}"/>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A2EF182E-7140-5D4D-88A7-840ED6890780}"/>
              </a:ext>
            </a:extLst>
          </p:cNvPr>
          <p:cNvSpPr>
            <a:spLocks noGrp="1"/>
          </p:cNvSpPr>
          <p:nvPr>
            <p:ph type="dt" sz="half" idx="10"/>
          </p:nvPr>
        </p:nvSpPr>
        <p:spPr/>
        <p:txBody>
          <a:bodyPr/>
          <a:lstStyle/>
          <a:p>
            <a:fld id="{1F9C24E8-FD77-674B-9940-5378D0BFF31E}" type="datetimeFigureOut">
              <a:rPr kumimoji="1" lang="zh-TW" altLang="en-US" smtClean="0"/>
              <a:t>2020/3/10</a:t>
            </a:fld>
            <a:endParaRPr kumimoji="1" lang="zh-TW" altLang="en-US"/>
          </a:p>
        </p:txBody>
      </p:sp>
      <p:sp>
        <p:nvSpPr>
          <p:cNvPr id="5" name="頁尾版面配置區 4">
            <a:extLst>
              <a:ext uri="{FF2B5EF4-FFF2-40B4-BE49-F238E27FC236}">
                <a16:creationId xmlns:a16="http://schemas.microsoft.com/office/drawing/2014/main" id="{46E41427-E252-3343-A75E-B1BA8D182EAB}"/>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2930D2C8-9823-1049-BDD9-711EE5734A16}"/>
              </a:ext>
            </a:extLst>
          </p:cNvPr>
          <p:cNvSpPr>
            <a:spLocks noGrp="1"/>
          </p:cNvSpPr>
          <p:nvPr>
            <p:ph type="sldNum" sz="quarter" idx="12"/>
          </p:nvPr>
        </p:nvSpPr>
        <p:spPr/>
        <p:txBody>
          <a:bodyPr/>
          <a:lstStyle/>
          <a:p>
            <a:fld id="{35AF2C09-F0D9-2B4A-AA05-75A050A60A76}" type="slidenum">
              <a:rPr kumimoji="1" lang="zh-TW" altLang="en-US" smtClean="0"/>
              <a:t>‹#›</a:t>
            </a:fld>
            <a:endParaRPr kumimoji="1" lang="zh-TW" altLang="en-US"/>
          </a:p>
        </p:txBody>
      </p:sp>
    </p:spTree>
    <p:extLst>
      <p:ext uri="{BB962C8B-B14F-4D97-AF65-F5344CB8AC3E}">
        <p14:creationId xmlns:p14="http://schemas.microsoft.com/office/powerpoint/2010/main" val="1681265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E1840DD2-A5F5-7344-BB1C-BEBDBFDF7758}"/>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4F95D08A-70C7-7245-88A1-DED901775BED}"/>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C7B7C2F8-DA6F-284E-8686-4FBCAC5D4792}"/>
              </a:ext>
            </a:extLst>
          </p:cNvPr>
          <p:cNvSpPr>
            <a:spLocks noGrp="1"/>
          </p:cNvSpPr>
          <p:nvPr>
            <p:ph type="dt" sz="half" idx="10"/>
          </p:nvPr>
        </p:nvSpPr>
        <p:spPr/>
        <p:txBody>
          <a:bodyPr/>
          <a:lstStyle/>
          <a:p>
            <a:fld id="{1F9C24E8-FD77-674B-9940-5378D0BFF31E}" type="datetimeFigureOut">
              <a:rPr kumimoji="1" lang="zh-TW" altLang="en-US" smtClean="0"/>
              <a:t>2020/3/10</a:t>
            </a:fld>
            <a:endParaRPr kumimoji="1" lang="zh-TW" altLang="en-US"/>
          </a:p>
        </p:txBody>
      </p:sp>
      <p:sp>
        <p:nvSpPr>
          <p:cNvPr id="5" name="頁尾版面配置區 4">
            <a:extLst>
              <a:ext uri="{FF2B5EF4-FFF2-40B4-BE49-F238E27FC236}">
                <a16:creationId xmlns:a16="http://schemas.microsoft.com/office/drawing/2014/main" id="{D7DEFA0B-7671-7F4B-AC38-12B670365EC0}"/>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44EC7011-F710-9243-8FF5-1777A21D66BC}"/>
              </a:ext>
            </a:extLst>
          </p:cNvPr>
          <p:cNvSpPr>
            <a:spLocks noGrp="1"/>
          </p:cNvSpPr>
          <p:nvPr>
            <p:ph type="sldNum" sz="quarter" idx="12"/>
          </p:nvPr>
        </p:nvSpPr>
        <p:spPr/>
        <p:txBody>
          <a:bodyPr/>
          <a:lstStyle/>
          <a:p>
            <a:fld id="{35AF2C09-F0D9-2B4A-AA05-75A050A60A76}" type="slidenum">
              <a:rPr kumimoji="1" lang="zh-TW" altLang="en-US" smtClean="0"/>
              <a:t>‹#›</a:t>
            </a:fld>
            <a:endParaRPr kumimoji="1" lang="zh-TW" altLang="en-US"/>
          </a:p>
        </p:txBody>
      </p:sp>
    </p:spTree>
    <p:extLst>
      <p:ext uri="{BB962C8B-B14F-4D97-AF65-F5344CB8AC3E}">
        <p14:creationId xmlns:p14="http://schemas.microsoft.com/office/powerpoint/2010/main" val="2389749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81D70FF8-812F-1849-95D4-3632E65D7A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490DFF90-9F2B-6F45-AB9D-B9B660DFB2A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295609CE-15C5-6643-A5A9-FBB1F99B63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9C24E8-FD77-674B-9940-5378D0BFF31E}" type="datetimeFigureOut">
              <a:rPr kumimoji="1" lang="zh-TW" altLang="en-US" smtClean="0"/>
              <a:t>2020/3/10</a:t>
            </a:fld>
            <a:endParaRPr kumimoji="1" lang="zh-TW" altLang="en-US"/>
          </a:p>
        </p:txBody>
      </p:sp>
      <p:sp>
        <p:nvSpPr>
          <p:cNvPr id="5" name="頁尾版面配置區 4">
            <a:extLst>
              <a:ext uri="{FF2B5EF4-FFF2-40B4-BE49-F238E27FC236}">
                <a16:creationId xmlns:a16="http://schemas.microsoft.com/office/drawing/2014/main" id="{44CB14FC-524A-6C4E-AA1D-1443A956A2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ED0285D5-567D-A74A-BA02-000936A8A1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AF2C09-F0D9-2B4A-AA05-75A050A60A76}" type="slidenum">
              <a:rPr kumimoji="1" lang="zh-TW" altLang="en-US" smtClean="0"/>
              <a:t>‹#›</a:t>
            </a:fld>
            <a:endParaRPr kumimoji="1" lang="zh-TW" altLang="en-US"/>
          </a:p>
        </p:txBody>
      </p:sp>
    </p:spTree>
    <p:extLst>
      <p:ext uri="{BB962C8B-B14F-4D97-AF65-F5344CB8AC3E}">
        <p14:creationId xmlns:p14="http://schemas.microsoft.com/office/powerpoint/2010/main" val="1950692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D67D7F-00E7-9344-8042-5D9F2C926FAD}"/>
              </a:ext>
            </a:extLst>
          </p:cNvPr>
          <p:cNvSpPr>
            <a:spLocks noGrp="1"/>
          </p:cNvSpPr>
          <p:nvPr>
            <p:ph type="ctrTitle"/>
          </p:nvPr>
        </p:nvSpPr>
        <p:spPr>
          <a:xfrm>
            <a:off x="1524000" y="672420"/>
            <a:ext cx="9144000" cy="2387600"/>
          </a:xfrm>
        </p:spPr>
        <p:txBody>
          <a:bodyPr>
            <a:normAutofit fontScale="90000"/>
          </a:bodyPr>
          <a:lstStyle/>
          <a:p>
            <a:r>
              <a:rPr lang="en" altLang="zh-TW" dirty="0"/>
              <a:t>Recurrent Convolutional Neural Networks for Text Classification </a:t>
            </a:r>
          </a:p>
        </p:txBody>
      </p:sp>
      <p:sp>
        <p:nvSpPr>
          <p:cNvPr id="3" name="副標題 2">
            <a:extLst>
              <a:ext uri="{FF2B5EF4-FFF2-40B4-BE49-F238E27FC236}">
                <a16:creationId xmlns:a16="http://schemas.microsoft.com/office/drawing/2014/main" id="{943C5B20-21F7-DC41-814C-7D9F6199BDA6}"/>
              </a:ext>
            </a:extLst>
          </p:cNvPr>
          <p:cNvSpPr>
            <a:spLocks noGrp="1"/>
          </p:cNvSpPr>
          <p:nvPr>
            <p:ph type="subTitle" idx="1"/>
          </p:nvPr>
        </p:nvSpPr>
        <p:spPr>
          <a:xfrm>
            <a:off x="1146628" y="3602038"/>
            <a:ext cx="9898743" cy="1655762"/>
          </a:xfrm>
        </p:spPr>
        <p:txBody>
          <a:bodyPr>
            <a:normAutofit lnSpcReduction="10000"/>
          </a:bodyPr>
          <a:lstStyle/>
          <a:p>
            <a:r>
              <a:rPr lang="en" altLang="zh-TW" dirty="0"/>
              <a:t>Proceedings of the Twenty-Ninth AAAI Conference on Artificial Intelligence pp.2267-2273, January, </a:t>
            </a:r>
            <a:r>
              <a:rPr lang="en-US" altLang="zh-TW" dirty="0"/>
              <a:t>25–30</a:t>
            </a:r>
            <a:r>
              <a:rPr lang="en" altLang="zh-TW" dirty="0"/>
              <a:t>, 2015,</a:t>
            </a:r>
            <a:r>
              <a:rPr lang="en-US" altLang="zh-TW" dirty="0"/>
              <a:t> Austin, Texas, USA</a:t>
            </a:r>
            <a:endParaRPr lang="en" altLang="zh-TW" dirty="0"/>
          </a:p>
          <a:p>
            <a:endParaRPr lang="en" altLang="zh-TW" dirty="0"/>
          </a:p>
          <a:p>
            <a:r>
              <a:rPr lang="en" altLang="zh-TW" dirty="0" err="1"/>
              <a:t>Siwei</a:t>
            </a:r>
            <a:r>
              <a:rPr lang="en" altLang="zh-TW" dirty="0"/>
              <a:t> Lai, </a:t>
            </a:r>
            <a:r>
              <a:rPr lang="en" altLang="zh-TW" dirty="0" err="1"/>
              <a:t>Liheng</a:t>
            </a:r>
            <a:r>
              <a:rPr lang="en" altLang="zh-TW" dirty="0"/>
              <a:t> Xu, Kang Liu, Jun Zhao </a:t>
            </a:r>
          </a:p>
        </p:txBody>
      </p:sp>
      <p:sp>
        <p:nvSpPr>
          <p:cNvPr id="5" name="文字方塊 4">
            <a:extLst>
              <a:ext uri="{FF2B5EF4-FFF2-40B4-BE49-F238E27FC236}">
                <a16:creationId xmlns:a16="http://schemas.microsoft.com/office/drawing/2014/main" id="{EEB66EE6-AF71-1643-8388-238FADD7E896}"/>
              </a:ext>
            </a:extLst>
          </p:cNvPr>
          <p:cNvSpPr txBox="1"/>
          <p:nvPr/>
        </p:nvSpPr>
        <p:spPr>
          <a:xfrm>
            <a:off x="9610725" y="6029325"/>
            <a:ext cx="2358018" cy="646331"/>
          </a:xfrm>
          <a:prstGeom prst="rect">
            <a:avLst/>
          </a:prstGeom>
          <a:noFill/>
        </p:spPr>
        <p:txBody>
          <a:bodyPr wrap="none" rtlCol="0">
            <a:spAutoFit/>
          </a:bodyPr>
          <a:lstStyle/>
          <a:p>
            <a:r>
              <a:rPr kumimoji="1" lang="en-US" altLang="zh-TW" dirty="0"/>
              <a:t>Present: Chia-Lin, Chen</a:t>
            </a:r>
          </a:p>
          <a:p>
            <a:r>
              <a:rPr kumimoji="1" lang="en-US" altLang="zh-TW" dirty="0"/>
              <a:t>Date: Mar. 10</a:t>
            </a:r>
            <a:r>
              <a:rPr kumimoji="1" lang="en-US" altLang="zh-TW" baseline="30000" dirty="0"/>
              <a:t>th</a:t>
            </a:r>
            <a:r>
              <a:rPr kumimoji="1" lang="en-US" altLang="zh-TW" dirty="0"/>
              <a:t> , 2020</a:t>
            </a:r>
            <a:endParaRPr kumimoji="1" lang="zh-TW" altLang="en-US" dirty="0"/>
          </a:p>
        </p:txBody>
      </p:sp>
    </p:spTree>
    <p:extLst>
      <p:ext uri="{BB962C8B-B14F-4D97-AF65-F5344CB8AC3E}">
        <p14:creationId xmlns:p14="http://schemas.microsoft.com/office/powerpoint/2010/main" val="3527523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DC68A8-0E16-1C4B-B914-ACA13A583E79}"/>
              </a:ext>
            </a:extLst>
          </p:cNvPr>
          <p:cNvSpPr>
            <a:spLocks noGrp="1"/>
          </p:cNvSpPr>
          <p:nvPr>
            <p:ph type="title"/>
          </p:nvPr>
        </p:nvSpPr>
        <p:spPr/>
        <p:txBody>
          <a:bodyPr/>
          <a:lstStyle/>
          <a:p>
            <a:r>
              <a:rPr kumimoji="1" lang="en-US" altLang="zh-TW" dirty="0"/>
              <a:t>Abstract(1/2)</a:t>
            </a:r>
            <a:endParaRPr kumimoji="1" lang="zh-TW" altLang="en-US" dirty="0"/>
          </a:p>
        </p:txBody>
      </p:sp>
      <p:sp>
        <p:nvSpPr>
          <p:cNvPr id="5" name="內容版面配置區 4">
            <a:extLst>
              <a:ext uri="{FF2B5EF4-FFF2-40B4-BE49-F238E27FC236}">
                <a16:creationId xmlns:a16="http://schemas.microsoft.com/office/drawing/2014/main" id="{21BC5A51-D5D2-5543-BC8E-27CAD4E5419E}"/>
              </a:ext>
            </a:extLst>
          </p:cNvPr>
          <p:cNvSpPr>
            <a:spLocks noGrp="1"/>
          </p:cNvSpPr>
          <p:nvPr>
            <p:ph idx="1"/>
          </p:nvPr>
        </p:nvSpPr>
        <p:spPr>
          <a:xfrm>
            <a:off x="838200" y="1690688"/>
            <a:ext cx="10515600" cy="4351338"/>
          </a:xfrm>
        </p:spPr>
        <p:txBody>
          <a:bodyPr>
            <a:normAutofit/>
          </a:bodyPr>
          <a:lstStyle/>
          <a:p>
            <a:pPr marL="0" indent="0">
              <a:buNone/>
            </a:pPr>
            <a:r>
              <a:rPr lang="en" altLang="zh-TW" sz="3200" dirty="0"/>
              <a:t>Text classification is a foundational task in many NLP applications. Traditional text classifiers often rely on many human-designed features, such as dictionaries, knowledge bases and special tree kernels. In contrast to traditional methods, we introduce a recurrent convolutional neural network for text classification without human-designed features. </a:t>
            </a:r>
            <a:endParaRPr lang="zh-TW" altLang="en-US" sz="3200" dirty="0"/>
          </a:p>
        </p:txBody>
      </p:sp>
    </p:spTree>
    <p:extLst>
      <p:ext uri="{BB962C8B-B14F-4D97-AF65-F5344CB8AC3E}">
        <p14:creationId xmlns:p14="http://schemas.microsoft.com/office/powerpoint/2010/main" val="3506045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4DC68A8-0E16-1C4B-B914-ACA13A583E79}"/>
              </a:ext>
            </a:extLst>
          </p:cNvPr>
          <p:cNvSpPr>
            <a:spLocks noGrp="1"/>
          </p:cNvSpPr>
          <p:nvPr>
            <p:ph type="title"/>
          </p:nvPr>
        </p:nvSpPr>
        <p:spPr/>
        <p:txBody>
          <a:bodyPr/>
          <a:lstStyle/>
          <a:p>
            <a:r>
              <a:rPr kumimoji="1" lang="en-US" altLang="zh-TW" dirty="0"/>
              <a:t>Abstract(2/2)</a:t>
            </a:r>
            <a:endParaRPr kumimoji="1" lang="zh-TW" altLang="en-US" dirty="0"/>
          </a:p>
        </p:txBody>
      </p:sp>
      <p:sp>
        <p:nvSpPr>
          <p:cNvPr id="5" name="內容版面配置區 4">
            <a:extLst>
              <a:ext uri="{FF2B5EF4-FFF2-40B4-BE49-F238E27FC236}">
                <a16:creationId xmlns:a16="http://schemas.microsoft.com/office/drawing/2014/main" id="{21BC5A51-D5D2-5543-BC8E-27CAD4E5419E}"/>
              </a:ext>
            </a:extLst>
          </p:cNvPr>
          <p:cNvSpPr>
            <a:spLocks noGrp="1"/>
          </p:cNvSpPr>
          <p:nvPr>
            <p:ph idx="1"/>
          </p:nvPr>
        </p:nvSpPr>
        <p:spPr>
          <a:xfrm>
            <a:off x="838200" y="1515659"/>
            <a:ext cx="10515600" cy="4351338"/>
          </a:xfrm>
        </p:spPr>
        <p:txBody>
          <a:bodyPr>
            <a:normAutofit fontScale="92500"/>
          </a:bodyPr>
          <a:lstStyle/>
          <a:p>
            <a:pPr marL="0" indent="0">
              <a:buNone/>
            </a:pPr>
            <a:r>
              <a:rPr lang="en" altLang="zh-TW" sz="3200" dirty="0"/>
              <a:t>In our model, we apply a recurrent structure to capture contextual information as far as possible when learning word representations, which may introduce considerably less noise compared to traditional window-based neural networks. We also employ a max-pooling layer that automatically judges which words play key roles in text classification to capture the key components in texts. We conduct experiments on four commonly used datasets. The experimental results show that the proposed method outperforms the state-of-the-art methods on several datasets, particularly on document-level datasets. </a:t>
            </a:r>
          </a:p>
          <a:p>
            <a:endParaRPr lang="zh-TW" altLang="en-US" sz="3200" dirty="0"/>
          </a:p>
        </p:txBody>
      </p:sp>
    </p:spTree>
    <p:extLst>
      <p:ext uri="{BB962C8B-B14F-4D97-AF65-F5344CB8AC3E}">
        <p14:creationId xmlns:p14="http://schemas.microsoft.com/office/powerpoint/2010/main" val="3729139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DDCAE4E-2D1D-B440-ADA5-363E13CE90F4}"/>
              </a:ext>
            </a:extLst>
          </p:cNvPr>
          <p:cNvSpPr>
            <a:spLocks noGrp="1"/>
          </p:cNvSpPr>
          <p:nvPr>
            <p:ph type="title"/>
          </p:nvPr>
        </p:nvSpPr>
        <p:spPr/>
        <p:txBody>
          <a:bodyPr/>
          <a:lstStyle/>
          <a:p>
            <a:r>
              <a:rPr kumimoji="1" lang="en-US" altLang="zh-TW" dirty="0"/>
              <a:t>Text classification</a:t>
            </a:r>
            <a:endParaRPr kumimoji="1" lang="zh-TW" altLang="en-US" dirty="0"/>
          </a:p>
        </p:txBody>
      </p:sp>
      <p:sp>
        <p:nvSpPr>
          <p:cNvPr id="3" name="內容版面配置區 2">
            <a:extLst>
              <a:ext uri="{FF2B5EF4-FFF2-40B4-BE49-F238E27FC236}">
                <a16:creationId xmlns:a16="http://schemas.microsoft.com/office/drawing/2014/main" id="{3DC94F08-FD8F-194B-A910-81AB5D2CF8D4}"/>
              </a:ext>
            </a:extLst>
          </p:cNvPr>
          <p:cNvSpPr>
            <a:spLocks noGrp="1"/>
          </p:cNvSpPr>
          <p:nvPr>
            <p:ph idx="1"/>
          </p:nvPr>
        </p:nvSpPr>
        <p:spPr>
          <a:xfrm>
            <a:off x="1" y="1825625"/>
            <a:ext cx="12192000" cy="4351338"/>
          </a:xfrm>
        </p:spPr>
        <p:txBody>
          <a:bodyPr>
            <a:normAutofit lnSpcReduction="10000"/>
          </a:bodyPr>
          <a:lstStyle/>
          <a:p>
            <a:r>
              <a:rPr lang="en" altLang="zh-TW" dirty="0"/>
              <a:t>Applications: web searching, information filtering, sentiment analysis</a:t>
            </a:r>
          </a:p>
          <a:p>
            <a:r>
              <a:rPr lang="en" altLang="zh-TW" dirty="0"/>
              <a:t> Key problem: </a:t>
            </a:r>
          </a:p>
          <a:p>
            <a:pPr lvl="1"/>
            <a:r>
              <a:rPr lang="en" altLang="zh-TW" dirty="0">
                <a:solidFill>
                  <a:srgbClr val="FF0000"/>
                </a:solidFill>
              </a:rPr>
              <a:t>Feature representation</a:t>
            </a:r>
            <a:endParaRPr lang="en" altLang="zh-TW" dirty="0"/>
          </a:p>
          <a:p>
            <a:pPr lvl="2"/>
            <a:r>
              <a:rPr kumimoji="1" lang="en-US" altLang="zh-TW" dirty="0"/>
              <a:t>Bag-of-Words(</a:t>
            </a:r>
            <a:r>
              <a:rPr kumimoji="1" lang="en-US" altLang="zh-TW" dirty="0" err="1"/>
              <a:t>BoW</a:t>
            </a:r>
            <a:r>
              <a:rPr kumimoji="1" lang="en-US" altLang="zh-TW" dirty="0"/>
              <a:t>)</a:t>
            </a:r>
            <a:r>
              <a:rPr kumimoji="1" lang="en-US" altLang="zh-TW" dirty="0">
                <a:sym typeface="Wingdings" pitchFamily="2" charset="2"/>
              </a:rPr>
              <a:t></a:t>
            </a:r>
            <a:r>
              <a:rPr lang="en" altLang="zh-TW" dirty="0"/>
              <a:t>unigrams, bigrams, n-grams </a:t>
            </a:r>
          </a:p>
          <a:p>
            <a:pPr lvl="1"/>
            <a:r>
              <a:rPr lang="en" altLang="zh-TW" dirty="0">
                <a:solidFill>
                  <a:srgbClr val="FF0000"/>
                </a:solidFill>
              </a:rPr>
              <a:t>Feature selection</a:t>
            </a:r>
          </a:p>
          <a:p>
            <a:pPr lvl="2"/>
            <a:r>
              <a:rPr lang="en" altLang="zh-TW" dirty="0"/>
              <a:t>Frequency, MI(2012), </a:t>
            </a:r>
            <a:r>
              <a:rPr lang="en" altLang="zh-TW" dirty="0" err="1"/>
              <a:t>pLSA</a:t>
            </a:r>
            <a:r>
              <a:rPr lang="en" altLang="zh-TW" dirty="0"/>
              <a:t>(2003), LDA(2013)</a:t>
            </a:r>
          </a:p>
          <a:p>
            <a:r>
              <a:rPr lang="en" altLang="zh-TW" dirty="0">
                <a:solidFill>
                  <a:srgbClr val="FF0000"/>
                </a:solidFill>
              </a:rPr>
              <a:t>The above don’t capture semantics of the sentences.</a:t>
            </a:r>
          </a:p>
          <a:p>
            <a:r>
              <a:rPr lang="en" altLang="zh-TW" dirty="0"/>
              <a:t>E.g. “</a:t>
            </a:r>
            <a:r>
              <a:rPr lang="en" altLang="zh-TW" i="1" dirty="0"/>
              <a:t>A sunset stroll along the South Bank affords an array of stunning vantage points.</a:t>
            </a:r>
            <a:r>
              <a:rPr lang="en" altLang="zh-TW" dirty="0"/>
              <a:t>” </a:t>
            </a:r>
          </a:p>
          <a:p>
            <a:pPr marL="0" indent="0">
              <a:buNone/>
            </a:pPr>
            <a:r>
              <a:rPr lang="en" altLang="zh-TW" dirty="0">
                <a:sym typeface="Wingdings" pitchFamily="2" charset="2"/>
              </a:rPr>
              <a:t></a:t>
            </a:r>
            <a:r>
              <a:rPr lang="en" altLang="zh-TW" dirty="0">
                <a:solidFill>
                  <a:srgbClr val="FF0000"/>
                </a:solidFill>
              </a:rPr>
              <a:t>Unigrams</a:t>
            </a:r>
            <a:r>
              <a:rPr lang="en" altLang="zh-TW" dirty="0"/>
              <a:t>(“Bank”), </a:t>
            </a:r>
            <a:r>
              <a:rPr lang="en" altLang="zh-TW" dirty="0">
                <a:solidFill>
                  <a:srgbClr val="FF0000"/>
                </a:solidFill>
              </a:rPr>
              <a:t>bigrams</a:t>
            </a:r>
            <a:r>
              <a:rPr lang="en" altLang="zh-TW" dirty="0"/>
              <a:t>(“South Bank”), </a:t>
            </a:r>
            <a:r>
              <a:rPr lang="en" altLang="zh-TW" dirty="0">
                <a:solidFill>
                  <a:srgbClr val="FF0000"/>
                </a:solidFill>
              </a:rPr>
              <a:t>5-grams</a:t>
            </a:r>
            <a:r>
              <a:rPr lang="en" altLang="zh-TW" dirty="0"/>
              <a:t>(stroll along the South Bank )</a:t>
            </a:r>
          </a:p>
          <a:p>
            <a:pPr marL="3657600" lvl="8" indent="0">
              <a:buNone/>
            </a:pPr>
            <a:r>
              <a:rPr lang="en" altLang="zh-TW" dirty="0"/>
              <a:t>			</a:t>
            </a:r>
            <a:r>
              <a:rPr lang="en" altLang="zh-TW" sz="2400" dirty="0">
                <a:solidFill>
                  <a:schemeClr val="accent5">
                    <a:lumMod val="75000"/>
                  </a:schemeClr>
                </a:solidFill>
              </a:rPr>
              <a:t>-&gt;Data Sparsity problem</a:t>
            </a:r>
            <a:r>
              <a:rPr lang="en" altLang="zh-TW" dirty="0">
                <a:solidFill>
                  <a:schemeClr val="accent5">
                    <a:lumMod val="75000"/>
                  </a:schemeClr>
                </a:solidFill>
              </a:rPr>
              <a:t> </a:t>
            </a:r>
            <a:r>
              <a:rPr lang="en" altLang="zh-TW" sz="2000" dirty="0">
                <a:solidFill>
                  <a:srgbClr val="00B050"/>
                </a:solidFill>
              </a:rPr>
              <a:t>-&gt;Accuracy problem</a:t>
            </a:r>
            <a:endParaRPr lang="en" altLang="zh-TW" dirty="0">
              <a:solidFill>
                <a:srgbClr val="00B050"/>
              </a:solidFill>
            </a:endParaRPr>
          </a:p>
        </p:txBody>
      </p:sp>
    </p:spTree>
    <p:extLst>
      <p:ext uri="{BB962C8B-B14F-4D97-AF65-F5344CB8AC3E}">
        <p14:creationId xmlns:p14="http://schemas.microsoft.com/office/powerpoint/2010/main" val="38719899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998AA2E-1D78-C44D-AF5C-E79E78CBB40E}"/>
              </a:ext>
            </a:extLst>
          </p:cNvPr>
          <p:cNvSpPr>
            <a:spLocks noGrp="1"/>
          </p:cNvSpPr>
          <p:nvPr>
            <p:ph type="title"/>
          </p:nvPr>
        </p:nvSpPr>
        <p:spPr/>
        <p:txBody>
          <a:bodyPr>
            <a:normAutofit/>
          </a:bodyPr>
          <a:lstStyle/>
          <a:p>
            <a:r>
              <a:rPr lang="en" altLang="zh-TW" dirty="0"/>
              <a:t>Pre-trained word embedding and </a:t>
            </a:r>
            <a:br>
              <a:rPr lang="en" altLang="zh-TW" dirty="0"/>
            </a:br>
            <a:r>
              <a:rPr lang="en" altLang="zh-TW" dirty="0"/>
              <a:t>deep neural networks </a:t>
            </a:r>
            <a:endParaRPr kumimoji="1" lang="zh-TW" altLang="en-US" dirty="0"/>
          </a:p>
        </p:txBody>
      </p:sp>
      <p:sp>
        <p:nvSpPr>
          <p:cNvPr id="3" name="內容版面配置區 2">
            <a:extLst>
              <a:ext uri="{FF2B5EF4-FFF2-40B4-BE49-F238E27FC236}">
                <a16:creationId xmlns:a16="http://schemas.microsoft.com/office/drawing/2014/main" id="{A470BA02-E26C-DF45-8061-8D79E511EE2F}"/>
              </a:ext>
            </a:extLst>
          </p:cNvPr>
          <p:cNvSpPr>
            <a:spLocks noGrp="1"/>
          </p:cNvSpPr>
          <p:nvPr>
            <p:ph idx="1"/>
          </p:nvPr>
        </p:nvSpPr>
        <p:spPr/>
        <p:txBody>
          <a:bodyPr>
            <a:normAutofit fontScale="92500"/>
          </a:bodyPr>
          <a:lstStyle/>
          <a:p>
            <a:r>
              <a:rPr lang="en" altLang="zh-TW" dirty="0"/>
              <a:t>Word embedding is a distributed representation of words and greatly alleviates the data sparsity problem </a:t>
            </a:r>
          </a:p>
          <a:p>
            <a:r>
              <a:rPr lang="en" altLang="zh-TW" dirty="0" err="1"/>
              <a:t>Mikolov</a:t>
            </a:r>
            <a:r>
              <a:rPr lang="en" altLang="zh-TW" dirty="0"/>
              <a:t>, </a:t>
            </a:r>
            <a:r>
              <a:rPr lang="en" altLang="zh-TW" dirty="0" err="1"/>
              <a:t>Yih</a:t>
            </a:r>
            <a:r>
              <a:rPr lang="en" altLang="zh-TW" dirty="0"/>
              <a:t>, and Zweig (2013) shows that pre-trained word embeddings can capture meaningful syntactic and semantic regularities. </a:t>
            </a:r>
          </a:p>
          <a:p>
            <a:r>
              <a:rPr lang="en" altLang="zh-TW" dirty="0"/>
              <a:t>Recursive Neural Network (</a:t>
            </a:r>
            <a:r>
              <a:rPr lang="en" altLang="zh-TW" dirty="0" err="1"/>
              <a:t>RecursiveNN</a:t>
            </a:r>
            <a:r>
              <a:rPr lang="en" altLang="zh-TW" dirty="0"/>
              <a:t>) </a:t>
            </a:r>
          </a:p>
          <a:p>
            <a:pPr lvl="1"/>
            <a:r>
              <a:rPr lang="en" altLang="zh-TW" dirty="0"/>
              <a:t>Construct a textual tree </a:t>
            </a:r>
          </a:p>
          <a:p>
            <a:pPr lvl="1"/>
            <a:r>
              <a:rPr lang="en" altLang="zh-TW" dirty="0"/>
              <a:t>Time </a:t>
            </a:r>
            <a:r>
              <a:rPr lang="en" altLang="zh-TW" dirty="0" err="1"/>
              <a:t>compexity</a:t>
            </a:r>
            <a:r>
              <a:rPr lang="en" altLang="zh-TW" dirty="0"/>
              <a:t>: O(n^2) </a:t>
            </a:r>
          </a:p>
          <a:p>
            <a:pPr lvl="1"/>
            <a:r>
              <a:rPr lang="en" altLang="zh-TW" dirty="0"/>
              <a:t>Relationship between two sentences can hardly be represented by a tree structure. </a:t>
            </a:r>
          </a:p>
          <a:p>
            <a:r>
              <a:rPr lang="en" altLang="zh-TW" dirty="0"/>
              <a:t>Therefore, </a:t>
            </a:r>
            <a:r>
              <a:rPr lang="en" altLang="zh-TW" dirty="0" err="1"/>
              <a:t>RecursiveNN</a:t>
            </a:r>
            <a:r>
              <a:rPr lang="en" altLang="zh-TW" dirty="0"/>
              <a:t> is unsuitable for modeling long sentences or documents. </a:t>
            </a:r>
          </a:p>
          <a:p>
            <a:endParaRPr lang="en" altLang="zh-TW" dirty="0"/>
          </a:p>
          <a:p>
            <a:pPr marL="457200" lvl="1" indent="0">
              <a:buNone/>
            </a:pPr>
            <a:endParaRPr lang="en" altLang="zh-TW" dirty="0"/>
          </a:p>
          <a:p>
            <a:endParaRPr lang="en" altLang="zh-TW" dirty="0"/>
          </a:p>
        </p:txBody>
      </p:sp>
    </p:spTree>
    <p:extLst>
      <p:ext uri="{BB962C8B-B14F-4D97-AF65-F5344CB8AC3E}">
        <p14:creationId xmlns:p14="http://schemas.microsoft.com/office/powerpoint/2010/main" val="417193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D7F58E7-80B2-C24E-BF91-66F7DBEA6875}"/>
              </a:ext>
            </a:extLst>
          </p:cNvPr>
          <p:cNvSpPr>
            <a:spLocks noGrp="1"/>
          </p:cNvSpPr>
          <p:nvPr>
            <p:ph type="title"/>
          </p:nvPr>
        </p:nvSpPr>
        <p:spPr/>
        <p:txBody>
          <a:bodyPr/>
          <a:lstStyle/>
          <a:p>
            <a:r>
              <a:rPr kumimoji="1" lang="en-US" altLang="zh-TW" dirty="0" err="1"/>
              <a:t>RecursiveNN</a:t>
            </a:r>
            <a:r>
              <a:rPr kumimoji="1" lang="en-US" altLang="zh-TW" dirty="0"/>
              <a:t> V.S. </a:t>
            </a:r>
            <a:r>
              <a:rPr kumimoji="1" lang="en-US" altLang="zh-TW" dirty="0" err="1"/>
              <a:t>RecurrentNN</a:t>
            </a:r>
            <a:r>
              <a:rPr kumimoji="1" lang="en-US" altLang="zh-TW" dirty="0"/>
              <a:t>(RNN) </a:t>
            </a:r>
            <a:endParaRPr kumimoji="1" lang="zh-TW" altLang="en-US" dirty="0"/>
          </a:p>
        </p:txBody>
      </p:sp>
      <p:pic>
        <p:nvPicPr>
          <p:cNvPr id="4" name="內容版面配置區 3">
            <a:extLst>
              <a:ext uri="{FF2B5EF4-FFF2-40B4-BE49-F238E27FC236}">
                <a16:creationId xmlns:a16="http://schemas.microsoft.com/office/drawing/2014/main" id="{8B5034BE-8CC6-384B-AB76-AE69EC6FFC32}"/>
              </a:ext>
            </a:extLst>
          </p:cNvPr>
          <p:cNvPicPr>
            <a:picLocks noGrp="1" noChangeAspect="1"/>
          </p:cNvPicPr>
          <p:nvPr>
            <p:ph idx="1"/>
          </p:nvPr>
        </p:nvPicPr>
        <p:blipFill rotWithShape="1">
          <a:blip r:embed="rId2"/>
          <a:srcRect l="737" t="208" r="990" b="63185"/>
          <a:stretch/>
        </p:blipFill>
        <p:spPr>
          <a:xfrm>
            <a:off x="5579932" y="2401317"/>
            <a:ext cx="6124005" cy="2823650"/>
          </a:xfrm>
          <a:prstGeom prst="rect">
            <a:avLst/>
          </a:prstGeom>
        </p:spPr>
      </p:pic>
      <p:pic>
        <p:nvPicPr>
          <p:cNvPr id="5" name="內容版面配置區 3">
            <a:extLst>
              <a:ext uri="{FF2B5EF4-FFF2-40B4-BE49-F238E27FC236}">
                <a16:creationId xmlns:a16="http://schemas.microsoft.com/office/drawing/2014/main" id="{86F802BB-5017-8D41-B69E-B61B5720900C}"/>
              </a:ext>
            </a:extLst>
          </p:cNvPr>
          <p:cNvPicPr>
            <a:picLocks noChangeAspect="1"/>
          </p:cNvPicPr>
          <p:nvPr/>
        </p:nvPicPr>
        <p:blipFill rotWithShape="1">
          <a:blip r:embed="rId2"/>
          <a:srcRect l="20297" t="45886" r="14997"/>
          <a:stretch/>
        </p:blipFill>
        <p:spPr>
          <a:xfrm>
            <a:off x="488063" y="1690688"/>
            <a:ext cx="4489929" cy="4647864"/>
          </a:xfrm>
          <a:prstGeom prst="rect">
            <a:avLst/>
          </a:prstGeom>
        </p:spPr>
      </p:pic>
    </p:spTree>
    <p:extLst>
      <p:ext uri="{BB962C8B-B14F-4D97-AF65-F5344CB8AC3E}">
        <p14:creationId xmlns:p14="http://schemas.microsoft.com/office/powerpoint/2010/main" val="20994959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D56D22-7A03-BC44-AA7F-F5C77E18F631}"/>
              </a:ext>
            </a:extLst>
          </p:cNvPr>
          <p:cNvSpPr>
            <a:spLocks noGrp="1"/>
          </p:cNvSpPr>
          <p:nvPr>
            <p:ph type="title"/>
          </p:nvPr>
        </p:nvSpPr>
        <p:spPr/>
        <p:txBody>
          <a:bodyPr>
            <a:normAutofit/>
          </a:bodyPr>
          <a:lstStyle/>
          <a:p>
            <a:r>
              <a:rPr lang="en" altLang="zh-TW" dirty="0"/>
              <a:t>To tackle the bias problem, the Convolutional Neural Network (CNN) </a:t>
            </a:r>
            <a:endParaRPr kumimoji="1" lang="zh-TW" altLang="en-US" dirty="0"/>
          </a:p>
        </p:txBody>
      </p:sp>
      <p:sp>
        <p:nvSpPr>
          <p:cNvPr id="3" name="內容版面配置區 2">
            <a:extLst>
              <a:ext uri="{FF2B5EF4-FFF2-40B4-BE49-F238E27FC236}">
                <a16:creationId xmlns:a16="http://schemas.microsoft.com/office/drawing/2014/main" id="{833E5E5D-7684-C34C-B1B1-94E0E5FD98F9}"/>
              </a:ext>
            </a:extLst>
          </p:cNvPr>
          <p:cNvSpPr>
            <a:spLocks noGrp="1"/>
          </p:cNvSpPr>
          <p:nvPr>
            <p:ph idx="1"/>
          </p:nvPr>
        </p:nvSpPr>
        <p:spPr/>
        <p:txBody>
          <a:bodyPr/>
          <a:lstStyle/>
          <a:p>
            <a:r>
              <a:rPr kumimoji="1" lang="en-US" altLang="zh-TW" dirty="0"/>
              <a:t>Time Complexity:</a:t>
            </a:r>
            <a:r>
              <a:rPr lang="en" altLang="zh-TW" dirty="0">
                <a:solidFill>
                  <a:srgbClr val="FF0000"/>
                </a:solidFill>
              </a:rPr>
              <a:t>O(n)</a:t>
            </a:r>
          </a:p>
          <a:p>
            <a:r>
              <a:rPr lang="en" altLang="zh-TW" dirty="0"/>
              <a:t>Max-pooling layer: fairly determine discriminative phrases in a text </a:t>
            </a:r>
          </a:p>
          <a:p>
            <a:r>
              <a:rPr lang="en" altLang="zh-TW" dirty="0"/>
              <a:t>However, pre</a:t>
            </a:r>
            <a:r>
              <a:rPr lang="en-US" altLang="zh-TW" dirty="0"/>
              <a:t>v</a:t>
            </a:r>
            <a:r>
              <a:rPr lang="en" altLang="zh-TW" dirty="0"/>
              <a:t>ious study with CNN need </a:t>
            </a:r>
            <a:r>
              <a:rPr lang="en" altLang="zh-TW" dirty="0">
                <a:solidFill>
                  <a:srgbClr val="FF0000"/>
                </a:solidFill>
              </a:rPr>
              <a:t>fixed window</a:t>
            </a:r>
            <a:r>
              <a:rPr lang="en" altLang="zh-TW" dirty="0"/>
              <a:t> </a:t>
            </a:r>
          </a:p>
          <a:p>
            <a:pPr lvl="1"/>
            <a:r>
              <a:rPr lang="en" altLang="zh-TW" dirty="0">
                <a:solidFill>
                  <a:srgbClr val="FF0000"/>
                </a:solidFill>
              </a:rPr>
              <a:t>small window sizes: </a:t>
            </a:r>
            <a:r>
              <a:rPr lang="en" altLang="zh-TW" dirty="0"/>
              <a:t>loss of some critical information </a:t>
            </a:r>
          </a:p>
          <a:p>
            <a:pPr lvl="1"/>
            <a:r>
              <a:rPr lang="en" altLang="zh-TW" dirty="0">
                <a:solidFill>
                  <a:srgbClr val="FF0000"/>
                </a:solidFill>
              </a:rPr>
              <a:t>large windows sizes: </a:t>
            </a:r>
            <a:r>
              <a:rPr lang="en" altLang="zh-TW" dirty="0"/>
              <a:t>enormous parameter space </a:t>
            </a:r>
            <a:r>
              <a:rPr lang="en" altLang="zh-TW" dirty="0">
                <a:sym typeface="Wingdings" pitchFamily="2" charset="2"/>
              </a:rPr>
              <a:t> difficult to train</a:t>
            </a:r>
            <a:endParaRPr lang="en" altLang="zh-TW" dirty="0"/>
          </a:p>
          <a:p>
            <a:endParaRPr lang="en" altLang="zh-TW" dirty="0"/>
          </a:p>
          <a:p>
            <a:endParaRPr lang="en" altLang="zh-TW" dirty="0"/>
          </a:p>
        </p:txBody>
      </p:sp>
    </p:spTree>
    <p:extLst>
      <p:ext uri="{BB962C8B-B14F-4D97-AF65-F5344CB8AC3E}">
        <p14:creationId xmlns:p14="http://schemas.microsoft.com/office/powerpoint/2010/main" val="2524179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E014BB7-C1E2-374C-8435-BF7692500B75}"/>
              </a:ext>
            </a:extLst>
          </p:cNvPr>
          <p:cNvSpPr>
            <a:spLocks noGrp="1"/>
          </p:cNvSpPr>
          <p:nvPr>
            <p:ph type="title"/>
          </p:nvPr>
        </p:nvSpPr>
        <p:spPr>
          <a:xfrm>
            <a:off x="265471" y="365125"/>
            <a:ext cx="11088329" cy="1325563"/>
          </a:xfrm>
        </p:spPr>
        <p:txBody>
          <a:bodyPr>
            <a:normAutofit/>
          </a:bodyPr>
          <a:lstStyle/>
          <a:p>
            <a:r>
              <a:rPr lang="en" altLang="zh-TW" dirty="0"/>
              <a:t>Recurrent Convolutional Neural Network (RCNN) </a:t>
            </a:r>
            <a:endParaRPr kumimoji="1" lang="zh-TW" altLang="en-US" dirty="0"/>
          </a:p>
        </p:txBody>
      </p:sp>
      <p:sp>
        <p:nvSpPr>
          <p:cNvPr id="3" name="內容版面配置區 2">
            <a:extLst>
              <a:ext uri="{FF2B5EF4-FFF2-40B4-BE49-F238E27FC236}">
                <a16:creationId xmlns:a16="http://schemas.microsoft.com/office/drawing/2014/main" id="{2ACCF0AD-DD75-134F-B455-5ADCD40F7636}"/>
              </a:ext>
            </a:extLst>
          </p:cNvPr>
          <p:cNvSpPr>
            <a:spLocks noGrp="1"/>
          </p:cNvSpPr>
          <p:nvPr>
            <p:ph idx="1"/>
          </p:nvPr>
        </p:nvSpPr>
        <p:spPr/>
        <p:txBody>
          <a:bodyPr/>
          <a:lstStyle/>
          <a:p>
            <a:r>
              <a:rPr lang="en" altLang="zh-TW" dirty="0"/>
              <a:t>First: </a:t>
            </a:r>
            <a:r>
              <a:rPr lang="en" altLang="zh-TW" dirty="0">
                <a:solidFill>
                  <a:srgbClr val="FF0000"/>
                </a:solidFill>
              </a:rPr>
              <a:t>Bi-directional recurrent structure</a:t>
            </a:r>
          </a:p>
          <a:p>
            <a:pPr lvl="1"/>
            <a:r>
              <a:rPr lang="en" altLang="zh-TW" dirty="0"/>
              <a:t>less noise </a:t>
            </a:r>
          </a:p>
          <a:p>
            <a:pPr lvl="1"/>
            <a:r>
              <a:rPr lang="en" altLang="zh-TW" dirty="0"/>
              <a:t>capture the contextual information to the greatest extent possible </a:t>
            </a:r>
          </a:p>
          <a:p>
            <a:r>
              <a:rPr lang="en" altLang="zh-TW" dirty="0"/>
              <a:t>Second: </a:t>
            </a:r>
            <a:r>
              <a:rPr lang="en" altLang="zh-TW" dirty="0">
                <a:solidFill>
                  <a:srgbClr val="FF0000"/>
                </a:solidFill>
              </a:rPr>
              <a:t>Max-pooling layer </a:t>
            </a:r>
          </a:p>
          <a:p>
            <a:pPr lvl="2"/>
            <a:r>
              <a:rPr lang="en" altLang="zh-TW" dirty="0"/>
              <a:t>play key roles to capture key component in the text</a:t>
            </a:r>
          </a:p>
          <a:p>
            <a:r>
              <a:rPr lang="en" altLang="zh-TW" dirty="0"/>
              <a:t>Advantage of both </a:t>
            </a:r>
            <a:r>
              <a:rPr lang="en" altLang="zh-TW" dirty="0">
                <a:solidFill>
                  <a:srgbClr val="FF0000"/>
                </a:solidFill>
              </a:rPr>
              <a:t>recurrent neural models </a:t>
            </a:r>
            <a:r>
              <a:rPr lang="en" altLang="zh-TW" dirty="0"/>
              <a:t>and </a:t>
            </a:r>
            <a:r>
              <a:rPr lang="en" altLang="zh-TW" dirty="0">
                <a:solidFill>
                  <a:srgbClr val="FF0000"/>
                </a:solidFill>
              </a:rPr>
              <a:t>convolutional neural models</a:t>
            </a:r>
          </a:p>
          <a:p>
            <a:r>
              <a:rPr lang="en" altLang="zh-TW" dirty="0"/>
              <a:t>Time Complexity: </a:t>
            </a:r>
            <a:r>
              <a:rPr lang="en" altLang="zh-TW" dirty="0">
                <a:solidFill>
                  <a:srgbClr val="FF0000"/>
                </a:solidFill>
              </a:rPr>
              <a:t>O(n)</a:t>
            </a:r>
            <a:r>
              <a:rPr lang="en" altLang="zh-TW" dirty="0"/>
              <a:t> </a:t>
            </a:r>
            <a:endParaRPr lang="en" altLang="zh-TW" dirty="0">
              <a:solidFill>
                <a:srgbClr val="FF0000"/>
              </a:solidFill>
            </a:endParaRPr>
          </a:p>
          <a:p>
            <a:endParaRPr lang="en" altLang="zh-TW" dirty="0"/>
          </a:p>
          <a:p>
            <a:pPr lvl="2"/>
            <a:endParaRPr lang="en" altLang="zh-TW" dirty="0"/>
          </a:p>
          <a:p>
            <a:pPr lvl="1"/>
            <a:endParaRPr lang="en" altLang="zh-TW" dirty="0"/>
          </a:p>
          <a:p>
            <a:endParaRPr kumimoji="1" lang="zh-TW" altLang="en-US" dirty="0"/>
          </a:p>
        </p:txBody>
      </p:sp>
    </p:spTree>
    <p:extLst>
      <p:ext uri="{BB962C8B-B14F-4D97-AF65-F5344CB8AC3E}">
        <p14:creationId xmlns:p14="http://schemas.microsoft.com/office/powerpoint/2010/main" val="3271936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a:extLst>
              <a:ext uri="{FF2B5EF4-FFF2-40B4-BE49-F238E27FC236}">
                <a16:creationId xmlns:a16="http://schemas.microsoft.com/office/drawing/2014/main" id="{DC7D83E9-7D2C-6A43-9A8E-B479216B503B}"/>
              </a:ext>
            </a:extLst>
          </p:cNvPr>
          <p:cNvPicPr>
            <a:picLocks noGrp="1" noChangeAspect="1"/>
          </p:cNvPicPr>
          <p:nvPr>
            <p:ph idx="1"/>
          </p:nvPr>
        </p:nvPicPr>
        <p:blipFill>
          <a:blip r:embed="rId2"/>
          <a:stretch>
            <a:fillRect/>
          </a:stretch>
        </p:blipFill>
        <p:spPr>
          <a:xfrm>
            <a:off x="0" y="839195"/>
            <a:ext cx="11747183" cy="5396585"/>
          </a:xfrm>
          <a:prstGeom prst="rect">
            <a:avLst/>
          </a:prstGeom>
        </p:spPr>
      </p:pic>
    </p:spTree>
    <p:extLst>
      <p:ext uri="{BB962C8B-B14F-4D97-AF65-F5344CB8AC3E}">
        <p14:creationId xmlns:p14="http://schemas.microsoft.com/office/powerpoint/2010/main" val="2267250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A0DD980-9942-C04F-A8E0-E0C90B574587}"/>
              </a:ext>
            </a:extLst>
          </p:cNvPr>
          <p:cNvSpPr>
            <a:spLocks noGrp="1"/>
          </p:cNvSpPr>
          <p:nvPr>
            <p:ph type="title"/>
          </p:nvPr>
        </p:nvSpPr>
        <p:spPr/>
        <p:txBody>
          <a:bodyPr/>
          <a:lstStyle/>
          <a:p>
            <a:r>
              <a:rPr lang="en" altLang="zh-TW" dirty="0"/>
              <a:t>Pre-training Word Embedding </a:t>
            </a:r>
            <a:endParaRPr kumimoji="1" lang="zh-TW" altLang="en-US" dirty="0"/>
          </a:p>
        </p:txBody>
      </p:sp>
      <p:sp>
        <p:nvSpPr>
          <p:cNvPr id="3" name="內容版面配置區 2">
            <a:extLst>
              <a:ext uri="{FF2B5EF4-FFF2-40B4-BE49-F238E27FC236}">
                <a16:creationId xmlns:a16="http://schemas.microsoft.com/office/drawing/2014/main" id="{AC6AD485-9EDC-B943-92E2-1D52A954266E}"/>
              </a:ext>
            </a:extLst>
          </p:cNvPr>
          <p:cNvSpPr>
            <a:spLocks noGrp="1"/>
          </p:cNvSpPr>
          <p:nvPr>
            <p:ph idx="1"/>
          </p:nvPr>
        </p:nvSpPr>
        <p:spPr/>
        <p:txBody>
          <a:bodyPr/>
          <a:lstStyle/>
          <a:p>
            <a:r>
              <a:rPr lang="en" altLang="zh-TW" dirty="0"/>
              <a:t>Traditional: one-hot encoding</a:t>
            </a:r>
          </a:p>
          <a:p>
            <a:r>
              <a:rPr lang="en" altLang="zh-TW" dirty="0"/>
              <a:t>In this work, they use default word2vec with the Skip-gram model. </a:t>
            </a:r>
          </a:p>
          <a:p>
            <a:endParaRPr lang="en" altLang="zh-TW" dirty="0"/>
          </a:p>
          <a:p>
            <a:endParaRPr kumimoji="1" lang="zh-TW" altLang="en-US" dirty="0"/>
          </a:p>
        </p:txBody>
      </p:sp>
    </p:spTree>
    <p:extLst>
      <p:ext uri="{BB962C8B-B14F-4D97-AF65-F5344CB8AC3E}">
        <p14:creationId xmlns:p14="http://schemas.microsoft.com/office/powerpoint/2010/main" val="33382934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97DD19-D6AD-E544-A66E-E6650810D553}"/>
              </a:ext>
            </a:extLst>
          </p:cNvPr>
          <p:cNvSpPr>
            <a:spLocks noGrp="1"/>
          </p:cNvSpPr>
          <p:nvPr>
            <p:ph type="title"/>
          </p:nvPr>
        </p:nvSpPr>
        <p:spPr/>
        <p:txBody>
          <a:bodyPr/>
          <a:lstStyle/>
          <a:p>
            <a:r>
              <a:rPr kumimoji="1" lang="en-US" altLang="zh-TW" dirty="0"/>
              <a:t>Experiment(1/5)</a:t>
            </a:r>
            <a:endParaRPr kumimoji="1" lang="zh-TW" altLang="en-US" dirty="0"/>
          </a:p>
        </p:txBody>
      </p:sp>
      <p:sp>
        <p:nvSpPr>
          <p:cNvPr id="3" name="內容版面配置區 2">
            <a:extLst>
              <a:ext uri="{FF2B5EF4-FFF2-40B4-BE49-F238E27FC236}">
                <a16:creationId xmlns:a16="http://schemas.microsoft.com/office/drawing/2014/main" id="{44791202-23E5-054A-994E-79D56A177910}"/>
              </a:ext>
            </a:extLst>
          </p:cNvPr>
          <p:cNvSpPr>
            <a:spLocks noGrp="1"/>
          </p:cNvSpPr>
          <p:nvPr>
            <p:ph idx="1"/>
          </p:nvPr>
        </p:nvSpPr>
        <p:spPr>
          <a:xfrm>
            <a:off x="838200" y="1332743"/>
            <a:ext cx="10515600" cy="4351338"/>
          </a:xfrm>
        </p:spPr>
        <p:txBody>
          <a:bodyPr/>
          <a:lstStyle/>
          <a:p>
            <a:r>
              <a:rPr lang="en" altLang="zh-TW" dirty="0"/>
              <a:t>Datasets: 20Newsgroups, Fudan Set, ACL Anthology Net- work, and Sentiment Treebank. </a:t>
            </a:r>
          </a:p>
          <a:p>
            <a:r>
              <a:rPr lang="en" altLang="zh-TW" dirty="0"/>
              <a:t>Segment: English(Stanford), Chinese(ICTCLAS)</a:t>
            </a:r>
          </a:p>
          <a:p>
            <a:endParaRPr kumimoji="1" lang="en-US" altLang="zh-TW" b="1" dirty="0"/>
          </a:p>
        </p:txBody>
      </p:sp>
      <p:pic>
        <p:nvPicPr>
          <p:cNvPr id="4" name="圖片 3">
            <a:extLst>
              <a:ext uri="{FF2B5EF4-FFF2-40B4-BE49-F238E27FC236}">
                <a16:creationId xmlns:a16="http://schemas.microsoft.com/office/drawing/2014/main" id="{359464B4-CF1B-944F-A035-EB5A1634BDC6}"/>
              </a:ext>
            </a:extLst>
          </p:cNvPr>
          <p:cNvPicPr>
            <a:picLocks noChangeAspect="1"/>
          </p:cNvPicPr>
          <p:nvPr/>
        </p:nvPicPr>
        <p:blipFill rotWithShape="1">
          <a:blip r:embed="rId3"/>
          <a:srcRect b="56142"/>
          <a:stretch/>
        </p:blipFill>
        <p:spPr>
          <a:xfrm>
            <a:off x="0" y="4359368"/>
            <a:ext cx="6210300" cy="2255866"/>
          </a:xfrm>
          <a:prstGeom prst="rect">
            <a:avLst/>
          </a:prstGeom>
        </p:spPr>
      </p:pic>
      <p:pic>
        <p:nvPicPr>
          <p:cNvPr id="5" name="圖片 4">
            <a:extLst>
              <a:ext uri="{FF2B5EF4-FFF2-40B4-BE49-F238E27FC236}">
                <a16:creationId xmlns:a16="http://schemas.microsoft.com/office/drawing/2014/main" id="{1F26E517-D126-7A4F-950D-83B1A616CBD2}"/>
              </a:ext>
            </a:extLst>
          </p:cNvPr>
          <p:cNvPicPr>
            <a:picLocks noChangeAspect="1"/>
          </p:cNvPicPr>
          <p:nvPr/>
        </p:nvPicPr>
        <p:blipFill rotWithShape="1">
          <a:blip r:embed="rId3"/>
          <a:srcRect t="46007"/>
          <a:stretch/>
        </p:blipFill>
        <p:spPr>
          <a:xfrm>
            <a:off x="6210300" y="2940205"/>
            <a:ext cx="6010323" cy="2687678"/>
          </a:xfrm>
          <a:prstGeom prst="rect">
            <a:avLst/>
          </a:prstGeom>
        </p:spPr>
      </p:pic>
    </p:spTree>
    <p:extLst>
      <p:ext uri="{BB962C8B-B14F-4D97-AF65-F5344CB8AC3E}">
        <p14:creationId xmlns:p14="http://schemas.microsoft.com/office/powerpoint/2010/main" val="1110613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內容版面配置區 5">
            <a:extLst>
              <a:ext uri="{FF2B5EF4-FFF2-40B4-BE49-F238E27FC236}">
                <a16:creationId xmlns:a16="http://schemas.microsoft.com/office/drawing/2014/main" id="{443B56F1-330D-5241-9BA4-1C041B94AC95}"/>
              </a:ext>
            </a:extLst>
          </p:cNvPr>
          <p:cNvSpPr>
            <a:spLocks noGrp="1"/>
          </p:cNvSpPr>
          <p:nvPr>
            <p:ph idx="1"/>
          </p:nvPr>
        </p:nvSpPr>
        <p:spPr/>
        <p:txBody>
          <a:bodyPr/>
          <a:lstStyle/>
          <a:p>
            <a:r>
              <a:rPr lang="en" altLang="zh-TW" sz="3600" b="1" u="sng" dirty="0"/>
              <a:t>Details about the experiment:</a:t>
            </a:r>
          </a:p>
          <a:p>
            <a:r>
              <a:rPr lang="en" altLang="zh-TW" dirty="0"/>
              <a:t>Set the learning rate of the stochastic gradient descent </a:t>
            </a:r>
            <a:r>
              <a:rPr lang="el-GR" altLang="zh-TW" dirty="0">
                <a:solidFill>
                  <a:srgbClr val="FF0000"/>
                </a:solidFill>
              </a:rPr>
              <a:t>α </a:t>
            </a:r>
            <a:r>
              <a:rPr lang="en" altLang="zh-TW" dirty="0">
                <a:solidFill>
                  <a:srgbClr val="FF0000"/>
                </a:solidFill>
              </a:rPr>
              <a:t>as 0.01</a:t>
            </a:r>
            <a:r>
              <a:rPr lang="en" altLang="zh-TW" dirty="0"/>
              <a:t>, </a:t>
            </a:r>
          </a:p>
          <a:p>
            <a:r>
              <a:rPr lang="en" altLang="zh-TW" dirty="0"/>
              <a:t>the hidden layer size as </a:t>
            </a:r>
            <a:r>
              <a:rPr lang="en" altLang="zh-TW" dirty="0">
                <a:solidFill>
                  <a:srgbClr val="FF0000"/>
                </a:solidFill>
              </a:rPr>
              <a:t>H = 100</a:t>
            </a:r>
            <a:r>
              <a:rPr lang="en" altLang="zh-TW" dirty="0"/>
              <a:t>,</a:t>
            </a:r>
          </a:p>
          <a:p>
            <a:r>
              <a:rPr lang="en" altLang="zh-TW" dirty="0"/>
              <a:t>the vector size of the word embedding as </a:t>
            </a:r>
            <a:r>
              <a:rPr lang="en" altLang="zh-TW" dirty="0">
                <a:solidFill>
                  <a:srgbClr val="FF0000"/>
                </a:solidFill>
              </a:rPr>
              <a:t>|e| = 50 </a:t>
            </a:r>
          </a:p>
          <a:p>
            <a:r>
              <a:rPr lang="en" altLang="zh-TW" dirty="0"/>
              <a:t>and the size of the context vector as |c| = 50. </a:t>
            </a:r>
          </a:p>
          <a:p>
            <a:r>
              <a:rPr lang="en" altLang="zh-TW" dirty="0"/>
              <a:t>Train word embeddings using the default parameter in word2vec with the Skip-gram algorithm. </a:t>
            </a:r>
          </a:p>
          <a:p>
            <a:endParaRPr lang="en" altLang="zh-TW" dirty="0"/>
          </a:p>
          <a:p>
            <a:endParaRPr lang="zh-TW" altLang="en-US" dirty="0"/>
          </a:p>
        </p:txBody>
      </p:sp>
      <p:sp>
        <p:nvSpPr>
          <p:cNvPr id="7" name="標題 1">
            <a:extLst>
              <a:ext uri="{FF2B5EF4-FFF2-40B4-BE49-F238E27FC236}">
                <a16:creationId xmlns:a16="http://schemas.microsoft.com/office/drawing/2014/main" id="{E573A73E-6C21-AB4D-9AE7-33EE8EA7210F}"/>
              </a:ext>
            </a:extLst>
          </p:cNvPr>
          <p:cNvSpPr>
            <a:spLocks noGrp="1"/>
          </p:cNvSpPr>
          <p:nvPr>
            <p:ph type="title"/>
          </p:nvPr>
        </p:nvSpPr>
        <p:spPr/>
        <p:txBody>
          <a:bodyPr/>
          <a:lstStyle/>
          <a:p>
            <a:r>
              <a:rPr kumimoji="1" lang="en-US" altLang="zh-TW" dirty="0"/>
              <a:t>Experiment(2/5)</a:t>
            </a:r>
            <a:endParaRPr kumimoji="1" lang="zh-TW" altLang="en-US" dirty="0"/>
          </a:p>
        </p:txBody>
      </p:sp>
    </p:spTree>
    <p:extLst>
      <p:ext uri="{BB962C8B-B14F-4D97-AF65-F5344CB8AC3E}">
        <p14:creationId xmlns:p14="http://schemas.microsoft.com/office/powerpoint/2010/main" val="35741126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97DD19-D6AD-E544-A66E-E6650810D553}"/>
              </a:ext>
            </a:extLst>
          </p:cNvPr>
          <p:cNvSpPr>
            <a:spLocks noGrp="1"/>
          </p:cNvSpPr>
          <p:nvPr>
            <p:ph type="title"/>
          </p:nvPr>
        </p:nvSpPr>
        <p:spPr/>
        <p:txBody>
          <a:bodyPr/>
          <a:lstStyle/>
          <a:p>
            <a:r>
              <a:rPr kumimoji="1" lang="en-US" altLang="zh-TW" dirty="0"/>
              <a:t>Experiment(3/5)</a:t>
            </a:r>
            <a:endParaRPr kumimoji="1" lang="zh-TW" altLang="en-US" dirty="0"/>
          </a:p>
        </p:txBody>
      </p:sp>
      <p:pic>
        <p:nvPicPr>
          <p:cNvPr id="3" name="內容版面配置區 2">
            <a:extLst>
              <a:ext uri="{FF2B5EF4-FFF2-40B4-BE49-F238E27FC236}">
                <a16:creationId xmlns:a16="http://schemas.microsoft.com/office/drawing/2014/main" id="{4DDB391A-8C6C-6144-B83A-FD8828A15336}"/>
              </a:ext>
            </a:extLst>
          </p:cNvPr>
          <p:cNvPicPr>
            <a:picLocks noGrp="1" noChangeAspect="1"/>
          </p:cNvPicPr>
          <p:nvPr>
            <p:ph idx="1"/>
          </p:nvPr>
        </p:nvPicPr>
        <p:blipFill>
          <a:blip r:embed="rId2"/>
          <a:stretch>
            <a:fillRect/>
          </a:stretch>
        </p:blipFill>
        <p:spPr>
          <a:xfrm>
            <a:off x="273050" y="1446950"/>
            <a:ext cx="9144676" cy="4525200"/>
          </a:xfrm>
          <a:prstGeom prst="rect">
            <a:avLst/>
          </a:prstGeom>
        </p:spPr>
      </p:pic>
      <p:sp>
        <p:nvSpPr>
          <p:cNvPr id="5" name="矩形 4">
            <a:extLst>
              <a:ext uri="{FF2B5EF4-FFF2-40B4-BE49-F238E27FC236}">
                <a16:creationId xmlns:a16="http://schemas.microsoft.com/office/drawing/2014/main" id="{35A1F033-BF7F-1641-B68B-968361BC2ABC}"/>
              </a:ext>
            </a:extLst>
          </p:cNvPr>
          <p:cNvSpPr/>
          <p:nvPr/>
        </p:nvSpPr>
        <p:spPr>
          <a:xfrm>
            <a:off x="9982876" y="1446950"/>
            <a:ext cx="1803048" cy="8103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t>train</a:t>
            </a:r>
            <a:endParaRPr kumimoji="1" lang="zh-TW" altLang="en-US" dirty="0"/>
          </a:p>
        </p:txBody>
      </p:sp>
      <p:sp>
        <p:nvSpPr>
          <p:cNvPr id="6" name="矩形 5">
            <a:extLst>
              <a:ext uri="{FF2B5EF4-FFF2-40B4-BE49-F238E27FC236}">
                <a16:creationId xmlns:a16="http://schemas.microsoft.com/office/drawing/2014/main" id="{1D3C31A6-81D3-1049-AC2D-8671BC3870B3}"/>
              </a:ext>
            </a:extLst>
          </p:cNvPr>
          <p:cNvSpPr/>
          <p:nvPr/>
        </p:nvSpPr>
        <p:spPr>
          <a:xfrm>
            <a:off x="9982876" y="2257326"/>
            <a:ext cx="1803048" cy="8103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t>dev</a:t>
            </a:r>
            <a:endParaRPr kumimoji="1" lang="zh-TW" altLang="en-US" dirty="0"/>
          </a:p>
        </p:txBody>
      </p:sp>
      <p:sp>
        <p:nvSpPr>
          <p:cNvPr id="7" name="矩形 6">
            <a:extLst>
              <a:ext uri="{FF2B5EF4-FFF2-40B4-BE49-F238E27FC236}">
                <a16:creationId xmlns:a16="http://schemas.microsoft.com/office/drawing/2014/main" id="{C0145A50-315D-4F49-A9CE-CD7CF0F690A8}"/>
              </a:ext>
            </a:extLst>
          </p:cNvPr>
          <p:cNvSpPr/>
          <p:nvPr/>
        </p:nvSpPr>
        <p:spPr>
          <a:xfrm>
            <a:off x="9982876" y="3067702"/>
            <a:ext cx="1803048" cy="81037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TW" dirty="0"/>
              <a:t>test</a:t>
            </a:r>
            <a:endParaRPr kumimoji="1" lang="zh-TW" altLang="en-US" dirty="0"/>
          </a:p>
        </p:txBody>
      </p:sp>
    </p:spTree>
    <p:extLst>
      <p:ext uri="{BB962C8B-B14F-4D97-AF65-F5344CB8AC3E}">
        <p14:creationId xmlns:p14="http://schemas.microsoft.com/office/powerpoint/2010/main" val="3785904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97DD19-D6AD-E544-A66E-E6650810D553}"/>
              </a:ext>
            </a:extLst>
          </p:cNvPr>
          <p:cNvSpPr>
            <a:spLocks noGrp="1"/>
          </p:cNvSpPr>
          <p:nvPr>
            <p:ph type="title"/>
          </p:nvPr>
        </p:nvSpPr>
        <p:spPr>
          <a:xfrm>
            <a:off x="418452" y="0"/>
            <a:ext cx="10515600" cy="1325563"/>
          </a:xfrm>
        </p:spPr>
        <p:txBody>
          <a:bodyPr/>
          <a:lstStyle/>
          <a:p>
            <a:r>
              <a:rPr kumimoji="1" lang="en-US" altLang="zh-TW" dirty="0"/>
              <a:t>Experiment(4/5)</a:t>
            </a:r>
            <a:endParaRPr kumimoji="1" lang="zh-TW" altLang="en-US" dirty="0"/>
          </a:p>
        </p:txBody>
      </p:sp>
      <p:pic>
        <p:nvPicPr>
          <p:cNvPr id="3" name="圖片 2">
            <a:extLst>
              <a:ext uri="{FF2B5EF4-FFF2-40B4-BE49-F238E27FC236}">
                <a16:creationId xmlns:a16="http://schemas.microsoft.com/office/drawing/2014/main" id="{A926E1FB-E2D6-0D4F-A3F1-788E465C61EA}"/>
              </a:ext>
            </a:extLst>
          </p:cNvPr>
          <p:cNvPicPr>
            <a:picLocks noChangeAspect="1"/>
          </p:cNvPicPr>
          <p:nvPr/>
        </p:nvPicPr>
        <p:blipFill>
          <a:blip r:embed="rId3"/>
          <a:stretch>
            <a:fillRect/>
          </a:stretch>
        </p:blipFill>
        <p:spPr>
          <a:xfrm>
            <a:off x="22838" y="1027906"/>
            <a:ext cx="12169162" cy="5553209"/>
          </a:xfrm>
          <a:prstGeom prst="rect">
            <a:avLst/>
          </a:prstGeom>
        </p:spPr>
      </p:pic>
    </p:spTree>
    <p:extLst>
      <p:ext uri="{BB962C8B-B14F-4D97-AF65-F5344CB8AC3E}">
        <p14:creationId xmlns:p14="http://schemas.microsoft.com/office/powerpoint/2010/main" val="33657927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97DD19-D6AD-E544-A66E-E6650810D553}"/>
              </a:ext>
            </a:extLst>
          </p:cNvPr>
          <p:cNvSpPr>
            <a:spLocks noGrp="1"/>
          </p:cNvSpPr>
          <p:nvPr>
            <p:ph type="title"/>
          </p:nvPr>
        </p:nvSpPr>
        <p:spPr/>
        <p:txBody>
          <a:bodyPr/>
          <a:lstStyle/>
          <a:p>
            <a:r>
              <a:rPr kumimoji="1" lang="en-US" altLang="zh-TW" dirty="0"/>
              <a:t>Experiment(5/5)</a:t>
            </a:r>
            <a:endParaRPr kumimoji="1" lang="zh-TW" altLang="en-US" dirty="0"/>
          </a:p>
        </p:txBody>
      </p:sp>
      <p:pic>
        <p:nvPicPr>
          <p:cNvPr id="3" name="圖片 2">
            <a:extLst>
              <a:ext uri="{FF2B5EF4-FFF2-40B4-BE49-F238E27FC236}">
                <a16:creationId xmlns:a16="http://schemas.microsoft.com/office/drawing/2014/main" id="{90A57EDA-122B-1040-941E-D3A7C0A7E9CF}"/>
              </a:ext>
            </a:extLst>
          </p:cNvPr>
          <p:cNvPicPr>
            <a:picLocks noChangeAspect="1"/>
          </p:cNvPicPr>
          <p:nvPr/>
        </p:nvPicPr>
        <p:blipFill>
          <a:blip r:embed="rId2"/>
          <a:stretch>
            <a:fillRect/>
          </a:stretch>
        </p:blipFill>
        <p:spPr>
          <a:xfrm>
            <a:off x="1323382" y="1259735"/>
            <a:ext cx="7030203" cy="5431120"/>
          </a:xfrm>
          <a:prstGeom prst="rect">
            <a:avLst/>
          </a:prstGeom>
        </p:spPr>
      </p:pic>
    </p:spTree>
    <p:extLst>
      <p:ext uri="{BB962C8B-B14F-4D97-AF65-F5344CB8AC3E}">
        <p14:creationId xmlns:p14="http://schemas.microsoft.com/office/powerpoint/2010/main" val="3004159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777DF2A-6575-AD43-A439-2B6BCC863D22}"/>
              </a:ext>
            </a:extLst>
          </p:cNvPr>
          <p:cNvSpPr>
            <a:spLocks noGrp="1"/>
          </p:cNvSpPr>
          <p:nvPr>
            <p:ph type="title"/>
          </p:nvPr>
        </p:nvSpPr>
        <p:spPr/>
        <p:txBody>
          <a:bodyPr/>
          <a:lstStyle/>
          <a:p>
            <a:r>
              <a:rPr kumimoji="1" lang="en-US" altLang="zh-TW" dirty="0"/>
              <a:t>Conclusion</a:t>
            </a:r>
            <a:endParaRPr kumimoji="1" lang="zh-TW" altLang="en-US" dirty="0"/>
          </a:p>
        </p:txBody>
      </p:sp>
      <p:sp>
        <p:nvSpPr>
          <p:cNvPr id="3" name="內容版面配置區 2">
            <a:extLst>
              <a:ext uri="{FF2B5EF4-FFF2-40B4-BE49-F238E27FC236}">
                <a16:creationId xmlns:a16="http://schemas.microsoft.com/office/drawing/2014/main" id="{B131E60B-01F7-3246-AB81-5A7E3614D5F9}"/>
              </a:ext>
            </a:extLst>
          </p:cNvPr>
          <p:cNvSpPr>
            <a:spLocks noGrp="1"/>
          </p:cNvSpPr>
          <p:nvPr>
            <p:ph idx="1"/>
          </p:nvPr>
        </p:nvSpPr>
        <p:spPr>
          <a:xfrm>
            <a:off x="838199" y="1825625"/>
            <a:ext cx="10691813" cy="4351338"/>
          </a:xfrm>
        </p:spPr>
        <p:txBody>
          <a:bodyPr/>
          <a:lstStyle/>
          <a:p>
            <a:pPr marL="0" indent="0">
              <a:buNone/>
            </a:pPr>
            <a:r>
              <a:rPr lang="en" altLang="zh-TW" sz="3200" b="1" dirty="0"/>
              <a:t>Recurrent Convolutional Neural Network (</a:t>
            </a:r>
            <a:r>
              <a:rPr kumimoji="1" lang="en-US" altLang="zh-TW" sz="3200" b="1" dirty="0"/>
              <a:t>RCNN) </a:t>
            </a:r>
          </a:p>
          <a:p>
            <a:pPr marL="0" indent="0">
              <a:buNone/>
            </a:pPr>
            <a:endParaRPr kumimoji="1" lang="en-US" altLang="zh-TW" b="1" dirty="0"/>
          </a:p>
          <a:p>
            <a:pPr marL="0" indent="0">
              <a:buNone/>
            </a:pPr>
            <a:r>
              <a:rPr kumimoji="1" lang="en-US" altLang="zh-TW" dirty="0"/>
              <a:t>Time Complexity: </a:t>
            </a:r>
            <a:r>
              <a:rPr lang="en" altLang="zh-TW" dirty="0">
                <a:solidFill>
                  <a:srgbClr val="FF0000"/>
                </a:solidFill>
              </a:rPr>
              <a:t>O(n)</a:t>
            </a:r>
            <a:r>
              <a:rPr lang="en" altLang="zh-TW" dirty="0"/>
              <a:t> </a:t>
            </a:r>
            <a:endParaRPr lang="en" altLang="zh-TW" dirty="0">
              <a:solidFill>
                <a:srgbClr val="FF0000"/>
              </a:solidFill>
            </a:endParaRPr>
          </a:p>
          <a:p>
            <a:pPr marL="0" indent="0">
              <a:buNone/>
            </a:pPr>
            <a:r>
              <a:rPr kumimoji="1" lang="en-US" altLang="zh-TW" dirty="0"/>
              <a:t>No fixed window problem</a:t>
            </a:r>
          </a:p>
          <a:p>
            <a:pPr marL="0" indent="0">
              <a:buNone/>
            </a:pPr>
            <a:r>
              <a:rPr kumimoji="1" lang="en-US" altLang="zh-TW" dirty="0"/>
              <a:t>State-of-the-art(2015) in text classification</a:t>
            </a:r>
          </a:p>
          <a:p>
            <a:pPr marL="0" indent="0">
              <a:buNone/>
            </a:pPr>
            <a:endParaRPr kumimoji="1" lang="en-US" altLang="zh-TW" dirty="0"/>
          </a:p>
        </p:txBody>
      </p:sp>
    </p:spTree>
    <p:extLst>
      <p:ext uri="{BB962C8B-B14F-4D97-AF65-F5344CB8AC3E}">
        <p14:creationId xmlns:p14="http://schemas.microsoft.com/office/powerpoint/2010/main" val="28311257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C0AFC2D-7155-314D-B0C3-1B7AA2711671}"/>
              </a:ext>
            </a:extLst>
          </p:cNvPr>
          <p:cNvSpPr>
            <a:spLocks noGrp="1"/>
          </p:cNvSpPr>
          <p:nvPr>
            <p:ph type="title"/>
          </p:nvPr>
        </p:nvSpPr>
        <p:spPr/>
        <p:txBody>
          <a:bodyPr/>
          <a:lstStyle/>
          <a:p>
            <a:r>
              <a:rPr kumimoji="1" lang="zh-TW" altLang="en-US" dirty="0"/>
              <a:t>我的實驗進度</a:t>
            </a:r>
            <a:r>
              <a:rPr kumimoji="1" lang="en-US" altLang="zh-TW" dirty="0"/>
              <a:t>(</a:t>
            </a:r>
            <a:r>
              <a:rPr kumimoji="1" lang="zh-CN" altLang="en-US" dirty="0"/>
              <a:t>跟本篇論文無關</a:t>
            </a:r>
            <a:r>
              <a:rPr kumimoji="1" lang="en-US" altLang="zh-CN" dirty="0"/>
              <a:t>)</a:t>
            </a:r>
            <a:endParaRPr kumimoji="1" lang="zh-TW" altLang="en-US" dirty="0"/>
          </a:p>
        </p:txBody>
      </p:sp>
      <p:pic>
        <p:nvPicPr>
          <p:cNvPr id="4" name="內容版面配置區 3">
            <a:extLst>
              <a:ext uri="{FF2B5EF4-FFF2-40B4-BE49-F238E27FC236}">
                <a16:creationId xmlns:a16="http://schemas.microsoft.com/office/drawing/2014/main" id="{A3CF4DE0-D6DF-A344-A4C4-D9EA8D95BB8B}"/>
              </a:ext>
            </a:extLst>
          </p:cNvPr>
          <p:cNvPicPr>
            <a:picLocks noGrp="1" noChangeAspect="1"/>
          </p:cNvPicPr>
          <p:nvPr>
            <p:ph idx="1"/>
          </p:nvPr>
        </p:nvPicPr>
        <p:blipFill>
          <a:blip r:embed="rId2"/>
          <a:stretch>
            <a:fillRect/>
          </a:stretch>
        </p:blipFill>
        <p:spPr>
          <a:xfrm>
            <a:off x="371959" y="1794814"/>
            <a:ext cx="6943241" cy="4698433"/>
          </a:xfrm>
          <a:prstGeom prst="rect">
            <a:avLst/>
          </a:prstGeom>
        </p:spPr>
      </p:pic>
      <p:sp>
        <p:nvSpPr>
          <p:cNvPr id="3" name="文字方塊 2">
            <a:extLst>
              <a:ext uri="{FF2B5EF4-FFF2-40B4-BE49-F238E27FC236}">
                <a16:creationId xmlns:a16="http://schemas.microsoft.com/office/drawing/2014/main" id="{650798C8-5FA4-644B-8D02-272F0AC61801}"/>
              </a:ext>
            </a:extLst>
          </p:cNvPr>
          <p:cNvSpPr txBox="1"/>
          <p:nvPr/>
        </p:nvSpPr>
        <p:spPr>
          <a:xfrm>
            <a:off x="7425022" y="2272001"/>
            <a:ext cx="4395019" cy="707886"/>
          </a:xfrm>
          <a:prstGeom prst="rect">
            <a:avLst/>
          </a:prstGeom>
          <a:noFill/>
        </p:spPr>
        <p:txBody>
          <a:bodyPr wrap="square" rtlCol="0">
            <a:spAutoFit/>
          </a:bodyPr>
          <a:lstStyle/>
          <a:p>
            <a:r>
              <a:rPr kumimoji="1" lang="en-US" altLang="zh-TW" sz="2000" dirty="0"/>
              <a:t>Dataset: </a:t>
            </a:r>
            <a:r>
              <a:rPr kumimoji="1" lang="zh-CN" altLang="en-US" sz="2000" dirty="0"/>
              <a:t>儒林外史</a:t>
            </a:r>
            <a:r>
              <a:rPr kumimoji="1" lang="en-US" altLang="zh-CN" sz="2000" dirty="0"/>
              <a:t>,(2</a:t>
            </a:r>
            <a:r>
              <a:rPr kumimoji="1" lang="zh-CN" altLang="en-US" sz="2000" dirty="0"/>
              <a:t>回</a:t>
            </a:r>
            <a:r>
              <a:rPr kumimoji="1" lang="en-US" altLang="zh-CN" sz="2000" dirty="0"/>
              <a:t>:18</a:t>
            </a:r>
            <a:r>
              <a:rPr kumimoji="1" lang="zh-CN" altLang="en-US" sz="2000" dirty="0"/>
              <a:t>回</a:t>
            </a:r>
            <a:r>
              <a:rPr kumimoji="1" lang="en-US" altLang="zh-CN" sz="2000" dirty="0"/>
              <a:t>)</a:t>
            </a:r>
          </a:p>
          <a:p>
            <a:r>
              <a:rPr kumimoji="1" lang="zh-CN" altLang="en-US" sz="2000" dirty="0"/>
              <a:t>發現</a:t>
            </a:r>
            <a:r>
              <a:rPr kumimoji="1" lang="en-US" altLang="zh-CN" sz="2000" dirty="0"/>
              <a:t>:Dataset</a:t>
            </a:r>
            <a:r>
              <a:rPr kumimoji="1" lang="zh-CN" altLang="en-US" sz="2000" dirty="0"/>
              <a:t>太小</a:t>
            </a:r>
            <a:r>
              <a:rPr kumimoji="1" lang="en-US" altLang="zh-CN" sz="2000" dirty="0"/>
              <a:t>-&gt;</a:t>
            </a:r>
            <a:r>
              <a:rPr kumimoji="1" lang="zh-CN" altLang="en-US" sz="2000" dirty="0"/>
              <a:t>四條線不正常</a:t>
            </a:r>
            <a:endParaRPr kumimoji="1" lang="zh-TW" altLang="en-US" sz="2000" dirty="0"/>
          </a:p>
        </p:txBody>
      </p:sp>
    </p:spTree>
    <p:extLst>
      <p:ext uri="{BB962C8B-B14F-4D97-AF65-F5344CB8AC3E}">
        <p14:creationId xmlns:p14="http://schemas.microsoft.com/office/powerpoint/2010/main" val="34267467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0D893F-EB37-6D4E-9A98-47C41E2985D4}"/>
              </a:ext>
            </a:extLst>
          </p:cNvPr>
          <p:cNvSpPr>
            <a:spLocks noGrp="1"/>
          </p:cNvSpPr>
          <p:nvPr>
            <p:ph type="title"/>
          </p:nvPr>
        </p:nvSpPr>
        <p:spPr>
          <a:xfrm>
            <a:off x="838200" y="1138238"/>
            <a:ext cx="10515600" cy="2852737"/>
          </a:xfrm>
        </p:spPr>
        <p:txBody>
          <a:bodyPr/>
          <a:lstStyle/>
          <a:p>
            <a:pPr algn="ctr"/>
            <a:r>
              <a:rPr kumimoji="1" lang="en-US" altLang="zh-TW" dirty="0"/>
              <a:t>Thank you!</a:t>
            </a:r>
            <a:endParaRPr kumimoji="1" lang="zh-TW" altLang="en-US" dirty="0"/>
          </a:p>
        </p:txBody>
      </p:sp>
    </p:spTree>
    <p:extLst>
      <p:ext uri="{BB962C8B-B14F-4D97-AF65-F5344CB8AC3E}">
        <p14:creationId xmlns:p14="http://schemas.microsoft.com/office/powerpoint/2010/main" val="35401045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1109</TotalTime>
  <Words>820</Words>
  <Application>Microsoft Office PowerPoint</Application>
  <PresentationFormat>寬螢幕</PresentationFormat>
  <Paragraphs>87</Paragraphs>
  <Slides>18</Slides>
  <Notes>4</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18</vt:i4>
      </vt:variant>
    </vt:vector>
  </HeadingPairs>
  <TitlesOfParts>
    <vt:vector size="22" baseType="lpstr">
      <vt:lpstr>Arial</vt:lpstr>
      <vt:lpstr>Calibri</vt:lpstr>
      <vt:lpstr>Calibri Light</vt:lpstr>
      <vt:lpstr>Office 佈景主題</vt:lpstr>
      <vt:lpstr>Recurrent Convolutional Neural Networks for Text Classification </vt:lpstr>
      <vt:lpstr>Abstract(1/2)</vt:lpstr>
      <vt:lpstr>Abstract(2/2)</vt:lpstr>
      <vt:lpstr>Text classification</vt:lpstr>
      <vt:lpstr>Pre-trained word embedding and  deep neural networks </vt:lpstr>
      <vt:lpstr>RecursiveNN V.S. RecurrentNN(RNN) </vt:lpstr>
      <vt:lpstr>To tackle the bias problem, the Convolutional Neural Network (CNN) </vt:lpstr>
      <vt:lpstr>Recurrent Convolutional Neural Network (RCNN) </vt:lpstr>
      <vt:lpstr>PowerPoint 簡報</vt:lpstr>
      <vt:lpstr>Pre-training Word Embedding </vt:lpstr>
      <vt:lpstr>Experiment(1/5)</vt:lpstr>
      <vt:lpstr>Experiment(2/5)</vt:lpstr>
      <vt:lpstr>Experiment(3/5)</vt:lpstr>
      <vt:lpstr>Experiment(4/5)</vt:lpstr>
      <vt:lpstr>Experiment(5/5)</vt:lpstr>
      <vt:lpstr>Conclusion</vt:lpstr>
      <vt:lpstr>我的實驗進度(跟本篇論文無關)</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APPROXIMATE K-NEAREST NEIGHBOUR BASED SPATIAL CLUSTERING USING K-D TREE </dc:title>
  <dc:creator>M073040105</dc:creator>
  <cp:lastModifiedBy>pplab</cp:lastModifiedBy>
  <cp:revision>213</cp:revision>
  <dcterms:created xsi:type="dcterms:W3CDTF">2020-01-08T16:42:43Z</dcterms:created>
  <dcterms:modified xsi:type="dcterms:W3CDTF">2020-03-10T12:16:50Z</dcterms:modified>
</cp:coreProperties>
</file>