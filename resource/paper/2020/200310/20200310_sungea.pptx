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3" r:id="rId7"/>
    <p:sldId id="268" r:id="rId8"/>
    <p:sldId id="262" r:id="rId9"/>
    <p:sldId id="267" r:id="rId10"/>
    <p:sldId id="264" r:id="rId11"/>
    <p:sldId id="265" r:id="rId12"/>
    <p:sldId id="266"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6" d="100"/>
          <a:sy n="116" d="100"/>
        </p:scale>
        <p:origin x="114" y="2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1F2BA9E7-2A51-4F70-9C0F-86284C15CB91}"/>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 xmlns:a16="http://schemas.microsoft.com/office/drawing/2014/main" id="{8BB16FF8-EFF1-4593-A5DA-EBA4C062EA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 xmlns:a16="http://schemas.microsoft.com/office/drawing/2014/main" id="{9F32D415-C944-4932-8096-1B144CA790C2}"/>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5" name="頁尾版面配置區 4">
            <a:extLst>
              <a:ext uri="{FF2B5EF4-FFF2-40B4-BE49-F238E27FC236}">
                <a16:creationId xmlns="" xmlns:a16="http://schemas.microsoft.com/office/drawing/2014/main" id="{E72D839C-C2B5-4E7C-B0F2-FB0F165A6CB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 xmlns:a16="http://schemas.microsoft.com/office/drawing/2014/main" id="{667940B5-AD4D-4772-8AE0-4D0004D1AC39}"/>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4287135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19F37411-B6D0-41F7-9D74-732017779CD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 xmlns:a16="http://schemas.microsoft.com/office/drawing/2014/main" id="{016269D6-65DB-467F-9AA9-585B3B75AB9F}"/>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 xmlns:a16="http://schemas.microsoft.com/office/drawing/2014/main" id="{51CAC845-EA63-45F0-92BE-652CFF3E7CA0}"/>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5" name="頁尾版面配置區 4">
            <a:extLst>
              <a:ext uri="{FF2B5EF4-FFF2-40B4-BE49-F238E27FC236}">
                <a16:creationId xmlns="" xmlns:a16="http://schemas.microsoft.com/office/drawing/2014/main" id="{47B6C186-726D-49D2-8A50-9F0861AF366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 xmlns:a16="http://schemas.microsoft.com/office/drawing/2014/main" id="{0CB91E5A-02E5-4BE7-97AA-3E09331FB4E6}"/>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451159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D5DE9A0C-3894-48E5-A511-4AEEE86642AC}"/>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 xmlns:a16="http://schemas.microsoft.com/office/drawing/2014/main" id="{0F42AB3F-22BF-4A9D-B19A-1B93CB8460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 xmlns:a16="http://schemas.microsoft.com/office/drawing/2014/main" id="{0955F562-2441-415D-BDC6-14528B55C7FC}"/>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5" name="頁尾版面配置區 4">
            <a:extLst>
              <a:ext uri="{FF2B5EF4-FFF2-40B4-BE49-F238E27FC236}">
                <a16:creationId xmlns="" xmlns:a16="http://schemas.microsoft.com/office/drawing/2014/main" id="{0B73952D-BC92-47EE-94EF-EE398ACFBB5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 xmlns:a16="http://schemas.microsoft.com/office/drawing/2014/main" id="{5E63B940-D86A-4E3F-B390-D35AB98E8F55}"/>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1387568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82829F3B-7662-42DC-9823-29C846169E7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 xmlns:a16="http://schemas.microsoft.com/office/drawing/2014/main" id="{3E7FA880-3EF7-40CE-9D10-88AC8C26EA2A}"/>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 xmlns:a16="http://schemas.microsoft.com/office/drawing/2014/main" id="{F0907D63-A1EF-4CCF-BC9E-63A8633BA0E7}"/>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 xmlns:a16="http://schemas.microsoft.com/office/drawing/2014/main" id="{52AC144D-C31F-488E-938E-476F7F71F51D}"/>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6" name="頁尾版面配置區 5">
            <a:extLst>
              <a:ext uri="{FF2B5EF4-FFF2-40B4-BE49-F238E27FC236}">
                <a16:creationId xmlns="" xmlns:a16="http://schemas.microsoft.com/office/drawing/2014/main" id="{E594D2C2-18F8-4F87-AC1D-8143942C24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 xmlns:a16="http://schemas.microsoft.com/office/drawing/2014/main" id="{A9B34317-1B20-4C8B-9751-530EE2E9E610}"/>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994653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290779D7-DFA7-40EC-91A9-EDB63BAB829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 xmlns:a16="http://schemas.microsoft.com/office/drawing/2014/main" id="{54C02164-6AF6-4203-9F99-46A7F53EBC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 xmlns:a16="http://schemas.microsoft.com/office/drawing/2014/main" id="{C8EB80B2-765A-4BF6-8338-B2437ECF03D3}"/>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 xmlns:a16="http://schemas.microsoft.com/office/drawing/2014/main" id="{DDDAADA1-69C5-4B95-B534-E5EFEDBD06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 xmlns:a16="http://schemas.microsoft.com/office/drawing/2014/main" id="{FC8A5CD5-D3E5-4012-B070-BA52341ED29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 xmlns:a16="http://schemas.microsoft.com/office/drawing/2014/main" id="{EFE841F0-212A-4DA1-94D4-AA2866DCB371}"/>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8" name="頁尾版面配置區 7">
            <a:extLst>
              <a:ext uri="{FF2B5EF4-FFF2-40B4-BE49-F238E27FC236}">
                <a16:creationId xmlns="" xmlns:a16="http://schemas.microsoft.com/office/drawing/2014/main" id="{F6CD1328-7338-4608-BDAA-4AA4C727718C}"/>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 xmlns:a16="http://schemas.microsoft.com/office/drawing/2014/main" id="{EC52B34D-7315-4F83-9DB2-02627B774F3E}"/>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325203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6BD731B5-9428-49F4-BA2F-1DF08F310CEC}"/>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 xmlns:a16="http://schemas.microsoft.com/office/drawing/2014/main" id="{68BA3020-A63B-4E0C-B1A9-C3C2376AFA01}"/>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4" name="頁尾版面配置區 3">
            <a:extLst>
              <a:ext uri="{FF2B5EF4-FFF2-40B4-BE49-F238E27FC236}">
                <a16:creationId xmlns="" xmlns:a16="http://schemas.microsoft.com/office/drawing/2014/main" id="{89A4D439-74F9-4EAD-9282-59E058DC79BF}"/>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 xmlns:a16="http://schemas.microsoft.com/office/drawing/2014/main" id="{AA9D343B-C953-4454-8D19-476D6E5FCBEE}"/>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1781617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 xmlns:a16="http://schemas.microsoft.com/office/drawing/2014/main" id="{40BEBC7D-4AF0-4EC7-85BC-C5F0C6070A10}"/>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3" name="頁尾版面配置區 2">
            <a:extLst>
              <a:ext uri="{FF2B5EF4-FFF2-40B4-BE49-F238E27FC236}">
                <a16:creationId xmlns="" xmlns:a16="http://schemas.microsoft.com/office/drawing/2014/main" id="{006D709A-4847-4147-9F17-E7885B0E6B0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 xmlns:a16="http://schemas.microsoft.com/office/drawing/2014/main" id="{57CC22E5-3A5A-474E-82F8-C265AF8C5FB0}"/>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340400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188DB55E-9739-4089-9827-E7E3DDE2591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 xmlns:a16="http://schemas.microsoft.com/office/drawing/2014/main" id="{B4AAA511-C1CA-41F9-B390-F412FF439D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 xmlns:a16="http://schemas.microsoft.com/office/drawing/2014/main" id="{72A5B122-7A2E-460C-9DFC-5C39E8B484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 xmlns:a16="http://schemas.microsoft.com/office/drawing/2014/main" id="{1B080D72-9818-4069-A2D4-150A492F803F}"/>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6" name="頁尾版面配置區 5">
            <a:extLst>
              <a:ext uri="{FF2B5EF4-FFF2-40B4-BE49-F238E27FC236}">
                <a16:creationId xmlns="" xmlns:a16="http://schemas.microsoft.com/office/drawing/2014/main" id="{8850169D-D15F-4CA6-AD9C-DCD9769CFB3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 xmlns:a16="http://schemas.microsoft.com/office/drawing/2014/main" id="{80329E7C-8CB4-4EBD-A00F-C1E6A067F855}"/>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2860558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E04713A2-68B5-4C27-AAF0-0DC648C7CF8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 xmlns:a16="http://schemas.microsoft.com/office/drawing/2014/main" id="{662F38A0-4EB4-4A64-82BB-35330EEF99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 xmlns:a16="http://schemas.microsoft.com/office/drawing/2014/main" id="{B64E66C6-7FCC-48E2-8C49-164B749172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 xmlns:a16="http://schemas.microsoft.com/office/drawing/2014/main" id="{2510BF8B-1E04-4A3A-9511-6E5FC49EC090}"/>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6" name="頁尾版面配置區 5">
            <a:extLst>
              <a:ext uri="{FF2B5EF4-FFF2-40B4-BE49-F238E27FC236}">
                <a16:creationId xmlns="" xmlns:a16="http://schemas.microsoft.com/office/drawing/2014/main" id="{A4194452-333E-4BED-9DF1-B4A2587B2C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 xmlns:a16="http://schemas.microsoft.com/office/drawing/2014/main" id="{9A6A7D61-63B7-44F5-9BFF-2EC8CD2EA19B}"/>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156252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AE5F0E0C-32BC-4D5D-9693-22848C225C5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 xmlns:a16="http://schemas.microsoft.com/office/drawing/2014/main" id="{36F39AE3-BC44-47C9-848D-4459C6AC1B2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 xmlns:a16="http://schemas.microsoft.com/office/drawing/2014/main" id="{65EE74DF-67E6-4E1C-B3BE-1BEB099D9B4D}"/>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5" name="頁尾版面配置區 4">
            <a:extLst>
              <a:ext uri="{FF2B5EF4-FFF2-40B4-BE49-F238E27FC236}">
                <a16:creationId xmlns="" xmlns:a16="http://schemas.microsoft.com/office/drawing/2014/main" id="{FA913EC4-9310-470E-A5DF-0EF60EF660E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 xmlns:a16="http://schemas.microsoft.com/office/drawing/2014/main" id="{56402C4E-0FB5-4E8E-BA18-81E294089B88}"/>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80295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 xmlns:a16="http://schemas.microsoft.com/office/drawing/2014/main" id="{A58006C8-B0CA-4BC0-9523-0E9DAB2C6F6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 xmlns:a16="http://schemas.microsoft.com/office/drawing/2014/main" id="{A3ACF937-0486-40B0-8285-9164B4D205A5}"/>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 xmlns:a16="http://schemas.microsoft.com/office/drawing/2014/main" id="{4776099B-0304-4BB2-9676-002DA5AC1241}"/>
              </a:ext>
            </a:extLst>
          </p:cNvPr>
          <p:cNvSpPr>
            <a:spLocks noGrp="1"/>
          </p:cNvSpPr>
          <p:nvPr>
            <p:ph type="dt" sz="half" idx="10"/>
          </p:nvPr>
        </p:nvSpPr>
        <p:spPr/>
        <p:txBody>
          <a:bodyPr/>
          <a:lstStyle/>
          <a:p>
            <a:fld id="{1D87C692-3A6F-4089-B831-08A06886F1ED}" type="datetimeFigureOut">
              <a:rPr lang="zh-TW" altLang="en-US" smtClean="0"/>
              <a:t>2020/3/10</a:t>
            </a:fld>
            <a:endParaRPr lang="zh-TW" altLang="en-US"/>
          </a:p>
        </p:txBody>
      </p:sp>
      <p:sp>
        <p:nvSpPr>
          <p:cNvPr id="5" name="頁尾版面配置區 4">
            <a:extLst>
              <a:ext uri="{FF2B5EF4-FFF2-40B4-BE49-F238E27FC236}">
                <a16:creationId xmlns="" xmlns:a16="http://schemas.microsoft.com/office/drawing/2014/main" id="{0BB222A0-CF0F-44A3-AB14-63CCB214325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 xmlns:a16="http://schemas.microsoft.com/office/drawing/2014/main" id="{6FD42C0C-8441-4BA3-B6F5-8F97E3C5ADA7}"/>
              </a:ext>
            </a:extLst>
          </p:cNvPr>
          <p:cNvSpPr>
            <a:spLocks noGrp="1"/>
          </p:cNvSpPr>
          <p:nvPr>
            <p:ph type="sldNum" sz="quarter" idx="12"/>
          </p:nvPr>
        </p:nvSpPr>
        <p:spPr/>
        <p:txBody>
          <a:body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245259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 xmlns:a16="http://schemas.microsoft.com/office/drawing/2014/main" id="{30505731-6E5B-4D06-A4F3-13EF1B0D36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 xmlns:a16="http://schemas.microsoft.com/office/drawing/2014/main" id="{6655E1DC-11E2-4958-8B17-CA4A7284A0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 xmlns:a16="http://schemas.microsoft.com/office/drawing/2014/main" id="{D2E9027D-1930-4AD4-8C89-F3985E25A5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7C692-3A6F-4089-B831-08A06886F1ED}" type="datetimeFigureOut">
              <a:rPr lang="zh-TW" altLang="en-US" smtClean="0"/>
              <a:t>2020/3/10</a:t>
            </a:fld>
            <a:endParaRPr lang="zh-TW" altLang="en-US"/>
          </a:p>
        </p:txBody>
      </p:sp>
      <p:sp>
        <p:nvSpPr>
          <p:cNvPr id="5" name="頁尾版面配置區 4">
            <a:extLst>
              <a:ext uri="{FF2B5EF4-FFF2-40B4-BE49-F238E27FC236}">
                <a16:creationId xmlns="" xmlns:a16="http://schemas.microsoft.com/office/drawing/2014/main" id="{FD1C50FF-7921-4C48-B79F-E2580FC41C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 xmlns:a16="http://schemas.microsoft.com/office/drawing/2014/main" id="{9D468E48-B935-439A-B709-829647A980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C57F5F-2258-436F-84BD-7FBED43FB564}" type="slidenum">
              <a:rPr lang="zh-TW" altLang="en-US" smtClean="0"/>
              <a:t>‹#›</a:t>
            </a:fld>
            <a:endParaRPr lang="zh-TW" altLang="en-US"/>
          </a:p>
        </p:txBody>
      </p:sp>
    </p:spTree>
    <p:extLst>
      <p:ext uri="{BB962C8B-B14F-4D97-AF65-F5344CB8AC3E}">
        <p14:creationId xmlns:p14="http://schemas.microsoft.com/office/powerpoint/2010/main" val="2386564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1A472BAA-CA07-4687-AE59-FE0F36C805FD}"/>
              </a:ext>
            </a:extLst>
          </p:cNvPr>
          <p:cNvSpPr>
            <a:spLocks noGrp="1"/>
          </p:cNvSpPr>
          <p:nvPr>
            <p:ph type="ctrTitle"/>
          </p:nvPr>
        </p:nvSpPr>
        <p:spPr/>
        <p:txBody>
          <a:bodyPr>
            <a:noAutofit/>
          </a:bodyPr>
          <a:lstStyle/>
          <a:p>
            <a:r>
              <a:rPr lang="en-US" altLang="zh-TW" sz="4800" dirty="0">
                <a:latin typeface="Times New Roman" panose="02020603050405020304" pitchFamily="18" charset="0"/>
                <a:cs typeface="Times New Roman" panose="02020603050405020304" pitchFamily="18" charset="0"/>
              </a:rPr>
              <a:t>Speed Up Similarity Search of Time Series Under Dynamic Time </a:t>
            </a:r>
            <a:r>
              <a:rPr lang="en-US" altLang="zh-TW" sz="4800" dirty="0" smtClean="0">
                <a:latin typeface="Times New Roman" panose="02020603050405020304" pitchFamily="18" charset="0"/>
                <a:cs typeface="Times New Roman" panose="02020603050405020304" pitchFamily="18" charset="0"/>
              </a:rPr>
              <a:t>Warping</a:t>
            </a:r>
            <a:endParaRPr lang="zh-TW" altLang="en-US" sz="48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 xmlns:a16="http://schemas.microsoft.com/office/drawing/2014/main" id="{6163030F-63C3-429B-B824-6E77F3DE2B92}"/>
              </a:ext>
            </a:extLst>
          </p:cNvPr>
          <p:cNvSpPr>
            <a:spLocks noGrp="1"/>
          </p:cNvSpPr>
          <p:nvPr>
            <p:ph type="subTitle" idx="1"/>
          </p:nvPr>
        </p:nvSpPr>
        <p:spPr/>
        <p:txBody>
          <a:bodyPr>
            <a:normAutofit/>
          </a:bodyPr>
          <a:lstStyle/>
          <a:p>
            <a:r>
              <a:rPr lang="en-US" altLang="zh-TW" dirty="0">
                <a:latin typeface="Times New Roman" panose="02020603050405020304" pitchFamily="18" charset="0"/>
                <a:cs typeface="Times New Roman" panose="02020603050405020304" pitchFamily="18" charset="0"/>
              </a:rPr>
              <a:t>ZHENGXIN LI, JIANSHENG GUO, HAILIN LI, TAO WU, SHENG MAO, FEIPING </a:t>
            </a:r>
            <a:r>
              <a:rPr lang="en-US" altLang="zh-TW" dirty="0" smtClean="0">
                <a:latin typeface="Times New Roman" panose="02020603050405020304" pitchFamily="18" charset="0"/>
                <a:cs typeface="Times New Roman" panose="02020603050405020304" pitchFamily="18" charset="0"/>
              </a:rPr>
              <a:t>NIE</a:t>
            </a:r>
          </a:p>
          <a:p>
            <a:r>
              <a:rPr lang="en-US" altLang="zh-TW" dirty="0">
                <a:latin typeface="Times New Roman" panose="02020603050405020304" pitchFamily="18" charset="0"/>
                <a:cs typeface="Times New Roman" panose="02020603050405020304" pitchFamily="18" charset="0"/>
              </a:rPr>
              <a:t>IEEE Access ( Volume: 7 </a:t>
            </a:r>
            <a:r>
              <a:rPr lang="en-US" altLang="zh-TW" dirty="0" smtClean="0">
                <a:latin typeface="Times New Roman" panose="02020603050405020304" pitchFamily="18" charset="0"/>
                <a:cs typeface="Times New Roman" panose="02020603050405020304" pitchFamily="18" charset="0"/>
              </a:rPr>
              <a:t>), 28 </a:t>
            </a:r>
            <a:r>
              <a:rPr lang="en-US" altLang="zh-TW" dirty="0">
                <a:latin typeface="Times New Roman" panose="02020603050405020304" pitchFamily="18" charset="0"/>
                <a:cs typeface="Times New Roman" panose="02020603050405020304" pitchFamily="18" charset="0"/>
              </a:rPr>
              <a:t>October 2019</a:t>
            </a:r>
            <a:endParaRPr lang="zh-TW" altLang="en-US" dirty="0">
              <a:latin typeface="Times New Roman" panose="02020603050405020304" pitchFamily="18" charset="0"/>
              <a:cs typeface="Times New Roman" panose="02020603050405020304" pitchFamily="18" charset="0"/>
            </a:endParaRPr>
          </a:p>
        </p:txBody>
      </p:sp>
      <p:sp>
        <p:nvSpPr>
          <p:cNvPr id="4" name="矩形 1"/>
          <p:cNvSpPr>
            <a:spLocks noChangeArrowheads="1"/>
          </p:cNvSpPr>
          <p:nvPr/>
        </p:nvSpPr>
        <p:spPr bwMode="auto">
          <a:xfrm>
            <a:off x="8475681" y="5876925"/>
            <a:ext cx="26463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lnSpc>
                <a:spcPct val="90000"/>
              </a:lnSpc>
              <a:spcBef>
                <a:spcPct val="0"/>
              </a:spcBef>
              <a:buFontTx/>
              <a:buNone/>
            </a:pPr>
            <a:r>
              <a:rPr lang="en-US" altLang="zh-TW" sz="1800" dirty="0">
                <a:latin typeface="Times New Roman" panose="02020603050405020304" pitchFamily="18" charset="0"/>
                <a:cs typeface="Times New Roman" panose="02020603050405020304" pitchFamily="18" charset="0"/>
              </a:rPr>
              <a:t>Presenter: EN-AN SONG</a:t>
            </a:r>
          </a:p>
          <a:p>
            <a:pPr eaLnBrk="1" hangingPunct="1">
              <a:lnSpc>
                <a:spcPct val="90000"/>
              </a:lnSpc>
              <a:spcBef>
                <a:spcPct val="0"/>
              </a:spcBef>
              <a:buFontTx/>
              <a:buNone/>
            </a:pPr>
            <a:r>
              <a:rPr lang="en-US" altLang="zh-TW" sz="1800" dirty="0">
                <a:latin typeface="Times New Roman" panose="02020603050405020304" pitchFamily="18" charset="0"/>
                <a:cs typeface="Times New Roman" panose="02020603050405020304" pitchFamily="18" charset="0"/>
              </a:rPr>
              <a:t>Date</a:t>
            </a:r>
            <a:r>
              <a:rPr lang="en-US" altLang="zh-TW" sz="1800">
                <a:latin typeface="Times New Roman" panose="02020603050405020304" pitchFamily="18" charset="0"/>
                <a:cs typeface="Times New Roman" panose="02020603050405020304" pitchFamily="18" charset="0"/>
              </a:rPr>
              <a:t>: </a:t>
            </a:r>
            <a:r>
              <a:rPr lang="en-US" altLang="zh-TW" sz="1800" smtClean="0">
                <a:latin typeface="Times New Roman" panose="02020603050405020304" pitchFamily="18" charset="0"/>
                <a:cs typeface="Times New Roman" panose="02020603050405020304" pitchFamily="18" charset="0"/>
              </a:rPr>
              <a:t>March 10, </a:t>
            </a:r>
            <a:r>
              <a:rPr lang="en-US" altLang="zh-TW" sz="1800" dirty="0" smtClean="0">
                <a:latin typeface="Times New Roman" panose="02020603050405020304" pitchFamily="18" charset="0"/>
                <a:cs typeface="Times New Roman" panose="02020603050405020304" pitchFamily="18" charset="0"/>
              </a:rPr>
              <a:t>2020</a:t>
            </a:r>
            <a:endParaRPr lang="en-US" altLang="zh-TW"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776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79B2F136-4089-48C6-8A0D-440231E51F6D}"/>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765D009C-22F6-4499-B189-F5C7299A7EE2}"/>
              </a:ext>
            </a:extLst>
          </p:cNvPr>
          <p:cNvSpPr>
            <a:spLocks noGrp="1"/>
          </p:cNvSpPr>
          <p:nvPr>
            <p:ph idx="1"/>
          </p:nvPr>
        </p:nvSpPr>
        <p:spPr>
          <a:xfrm>
            <a:off x="838200" y="1825624"/>
            <a:ext cx="10515600" cy="4667251"/>
          </a:xfrm>
        </p:spPr>
        <p:txBody>
          <a:bodyPr>
            <a:normAutofit fontScale="92500" lnSpcReduction="10000"/>
          </a:bodyPr>
          <a:lstStyle/>
          <a:p>
            <a:r>
              <a:rPr lang="en-US" altLang="zh-TW" dirty="0">
                <a:latin typeface="Times New Roman" panose="02020603050405020304" pitchFamily="18" charset="0"/>
                <a:cs typeface="Times New Roman" panose="02020603050405020304" pitchFamily="18" charset="0"/>
              </a:rPr>
              <a:t>Similarity search is a foundational task in time series data mining. Although there are many ways to measure the similarity of time series, a lot of evidence indicates that dynamic time warping (DTW) has the best robustness in many applications. Unfortunately, the expensive computational cost limits its application in large-scale databases. To speed up similarity search under DTW, we design a framework of two-stage similarity search for time series. In the ﬁrst stage, we propose an improved lower bounding distance, which can be used to discard plenty of dissimilar series to get a set of candidate sequences. In the second stage, to efﬁciently get the retrieval result from the set of candidate sequences, we explore early abandoning strategy to avoid the full calculation of DTW. Extensive experiments are conducted on real-world data sets. The experimental results indicate that the proposed method can improve the retrieval efﬁciency of similarity search under DTW and guarantee no false dismissals.</a:t>
            </a:r>
          </a:p>
          <a:p>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9513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6E0EB652-E2BE-4C38-9665-DD57EFE1A36D}"/>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DYNAMIC TIME WARPING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AFABE8C3-159E-4191-A23C-321D1C8DD141}"/>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DTW distance between two sequences X =x</a:t>
            </a:r>
            <a:r>
              <a:rPr lang="en-US" altLang="zh-TW" baseline="-14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,x</a:t>
            </a:r>
            <a:r>
              <a:rPr lang="en-US" altLang="zh-TW" baseline="-14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x</a:t>
            </a:r>
            <a:r>
              <a:rPr lang="en-US" altLang="zh-TW" baseline="-14000" dirty="0" err="1">
                <a:latin typeface="Times New Roman" panose="02020603050405020304" pitchFamily="18" charset="0"/>
                <a:cs typeface="Times New Roman" panose="02020603050405020304" pitchFamily="18" charset="0"/>
              </a:rPr>
              <a:t>n</a:t>
            </a:r>
            <a:r>
              <a:rPr lang="en-US" altLang="zh-TW" baseline="-14000"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 </a:t>
            </a:r>
          </a:p>
          <a:p>
            <a:pPr marL="0" indent="0">
              <a:buNone/>
            </a:pPr>
            <a:r>
              <a:rPr lang="en-US" altLang="zh-TW" dirty="0">
                <a:latin typeface="Times New Roman" panose="02020603050405020304" pitchFamily="18" charset="0"/>
                <a:cs typeface="Times New Roman" panose="02020603050405020304" pitchFamily="18" charset="0"/>
              </a:rPr>
              <a:t>   Y =y</a:t>
            </a:r>
            <a:r>
              <a:rPr lang="en-US" altLang="zh-TW" baseline="-14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,y</a:t>
            </a:r>
            <a:r>
              <a:rPr lang="en-US" altLang="zh-TW" baseline="-14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y</a:t>
            </a:r>
            <a:r>
              <a:rPr lang="en-US" altLang="zh-TW" baseline="-14000" dirty="0" err="1">
                <a:latin typeface="Times New Roman" panose="02020603050405020304" pitchFamily="18" charset="0"/>
                <a:cs typeface="Times New Roman" panose="02020603050405020304" pitchFamily="18" charset="0"/>
              </a:rPr>
              <a:t>m</a:t>
            </a:r>
            <a:endParaRPr lang="en-US" altLang="zh-TW" baseline="-14000" dirty="0">
              <a:latin typeface="Times New Roman" panose="02020603050405020304" pitchFamily="18" charset="0"/>
              <a:cs typeface="Times New Roman" panose="02020603050405020304" pitchFamily="18" charset="0"/>
            </a:endParaRPr>
          </a:p>
          <a:p>
            <a:endParaRPr lang="en-US" altLang="zh-TW" baseline="-14000" dirty="0">
              <a:latin typeface="Times New Roman" panose="02020603050405020304" pitchFamily="18" charset="0"/>
              <a:cs typeface="Times New Roman" panose="02020603050405020304" pitchFamily="18" charset="0"/>
            </a:endParaRPr>
          </a:p>
          <a:p>
            <a:endParaRPr lang="en-US" altLang="zh-TW" baseline="-14000" dirty="0">
              <a:latin typeface="Times New Roman" panose="02020603050405020304" pitchFamily="18" charset="0"/>
              <a:cs typeface="Times New Roman" panose="02020603050405020304" pitchFamily="18" charset="0"/>
            </a:endParaRPr>
          </a:p>
          <a:p>
            <a:pPr marL="0" indent="0">
              <a:buNone/>
            </a:pPr>
            <a:endParaRPr lang="en-US" altLang="zh-TW" baseline="-140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 xmlns:a16="http://schemas.microsoft.com/office/drawing/2014/main" id="{15885724-31AA-4AB6-90BF-4FD250DA5046}"/>
              </a:ext>
            </a:extLst>
          </p:cNvPr>
          <p:cNvPicPr>
            <a:picLocks noChangeAspect="1"/>
          </p:cNvPicPr>
          <p:nvPr/>
        </p:nvPicPr>
        <p:blipFill>
          <a:blip r:embed="rId2"/>
          <a:stretch>
            <a:fillRect/>
          </a:stretch>
        </p:blipFill>
        <p:spPr>
          <a:xfrm>
            <a:off x="944880" y="3253740"/>
            <a:ext cx="7069276" cy="2687003"/>
          </a:xfrm>
          <a:prstGeom prst="rect">
            <a:avLst/>
          </a:prstGeom>
        </p:spPr>
      </p:pic>
    </p:spTree>
    <p:extLst>
      <p:ext uri="{BB962C8B-B14F-4D97-AF65-F5344CB8AC3E}">
        <p14:creationId xmlns:p14="http://schemas.microsoft.com/office/powerpoint/2010/main" val="41373489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36D92028-086B-4825-84E6-020A5624978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DYNAMIC TIME WARPING</a:t>
            </a:r>
            <a:endParaRPr lang="zh-TW" altLang="en-US" dirty="0"/>
          </a:p>
        </p:txBody>
      </p:sp>
      <p:pic>
        <p:nvPicPr>
          <p:cNvPr id="15" name="圖片 14">
            <a:extLst>
              <a:ext uri="{FF2B5EF4-FFF2-40B4-BE49-F238E27FC236}">
                <a16:creationId xmlns="" xmlns:a16="http://schemas.microsoft.com/office/drawing/2014/main" id="{C9931E64-D398-4AD8-AF58-B950E0BD5111}"/>
              </a:ext>
            </a:extLst>
          </p:cNvPr>
          <p:cNvPicPr>
            <a:picLocks noChangeAspect="1"/>
          </p:cNvPicPr>
          <p:nvPr/>
        </p:nvPicPr>
        <p:blipFill>
          <a:blip r:embed="rId2"/>
          <a:stretch>
            <a:fillRect/>
          </a:stretch>
        </p:blipFill>
        <p:spPr>
          <a:xfrm>
            <a:off x="2758440" y="1311129"/>
            <a:ext cx="5026302" cy="776751"/>
          </a:xfrm>
          <a:prstGeom prst="rect">
            <a:avLst/>
          </a:prstGeom>
        </p:spPr>
      </p:pic>
      <p:pic>
        <p:nvPicPr>
          <p:cNvPr id="19" name="圖片 18">
            <a:extLst>
              <a:ext uri="{FF2B5EF4-FFF2-40B4-BE49-F238E27FC236}">
                <a16:creationId xmlns="" xmlns:a16="http://schemas.microsoft.com/office/drawing/2014/main" id="{46D5AF13-4751-45B3-BBB6-1898FF8FC9D4}"/>
              </a:ext>
            </a:extLst>
          </p:cNvPr>
          <p:cNvPicPr>
            <a:picLocks noChangeAspect="1"/>
          </p:cNvPicPr>
          <p:nvPr/>
        </p:nvPicPr>
        <p:blipFill>
          <a:blip r:embed="rId3"/>
          <a:stretch>
            <a:fillRect/>
          </a:stretch>
        </p:blipFill>
        <p:spPr>
          <a:xfrm>
            <a:off x="1202055" y="2644139"/>
            <a:ext cx="847725" cy="4119361"/>
          </a:xfrm>
          <a:prstGeom prst="rect">
            <a:avLst/>
          </a:prstGeom>
        </p:spPr>
      </p:pic>
      <p:graphicFrame>
        <p:nvGraphicFramePr>
          <p:cNvPr id="22" name="表格 22">
            <a:extLst>
              <a:ext uri="{FF2B5EF4-FFF2-40B4-BE49-F238E27FC236}">
                <a16:creationId xmlns="" xmlns:a16="http://schemas.microsoft.com/office/drawing/2014/main" id="{A02D3DFB-854A-4114-86B1-F6819D53F676}"/>
              </a:ext>
            </a:extLst>
          </p:cNvPr>
          <p:cNvGraphicFramePr>
            <a:graphicFrameLocks noGrp="1"/>
          </p:cNvGraphicFramePr>
          <p:nvPr>
            <p:extLst>
              <p:ext uri="{D42A27DB-BD31-4B8C-83A1-F6EECF244321}">
                <p14:modId xmlns:p14="http://schemas.microsoft.com/office/powerpoint/2010/main" val="897029147"/>
              </p:ext>
            </p:extLst>
          </p:nvPr>
        </p:nvGraphicFramePr>
        <p:xfrm>
          <a:off x="2105024" y="2101166"/>
          <a:ext cx="5679756" cy="4657776"/>
        </p:xfrm>
        <a:graphic>
          <a:graphicData uri="http://schemas.openxmlformats.org/drawingml/2006/table">
            <a:tbl>
              <a:tblPr firstRow="1" bandRow="1">
                <a:tableStyleId>{5C22544A-7EE6-4342-B048-85BDC9FD1C3A}</a:tableStyleId>
              </a:tblPr>
              <a:tblGrid>
                <a:gridCol w="631084">
                  <a:extLst>
                    <a:ext uri="{9D8B030D-6E8A-4147-A177-3AD203B41FA5}">
                      <a16:colId xmlns="" xmlns:a16="http://schemas.microsoft.com/office/drawing/2014/main" val="3807544619"/>
                    </a:ext>
                  </a:extLst>
                </a:gridCol>
                <a:gridCol w="631084">
                  <a:extLst>
                    <a:ext uri="{9D8B030D-6E8A-4147-A177-3AD203B41FA5}">
                      <a16:colId xmlns="" xmlns:a16="http://schemas.microsoft.com/office/drawing/2014/main" val="1591556560"/>
                    </a:ext>
                  </a:extLst>
                </a:gridCol>
                <a:gridCol w="631084">
                  <a:extLst>
                    <a:ext uri="{9D8B030D-6E8A-4147-A177-3AD203B41FA5}">
                      <a16:colId xmlns="" xmlns:a16="http://schemas.microsoft.com/office/drawing/2014/main" val="327582040"/>
                    </a:ext>
                  </a:extLst>
                </a:gridCol>
                <a:gridCol w="631084">
                  <a:extLst>
                    <a:ext uri="{9D8B030D-6E8A-4147-A177-3AD203B41FA5}">
                      <a16:colId xmlns="" xmlns:a16="http://schemas.microsoft.com/office/drawing/2014/main" val="1861548237"/>
                    </a:ext>
                  </a:extLst>
                </a:gridCol>
                <a:gridCol w="631084">
                  <a:extLst>
                    <a:ext uri="{9D8B030D-6E8A-4147-A177-3AD203B41FA5}">
                      <a16:colId xmlns="" xmlns:a16="http://schemas.microsoft.com/office/drawing/2014/main" val="3642982723"/>
                    </a:ext>
                  </a:extLst>
                </a:gridCol>
                <a:gridCol w="631084">
                  <a:extLst>
                    <a:ext uri="{9D8B030D-6E8A-4147-A177-3AD203B41FA5}">
                      <a16:colId xmlns="" xmlns:a16="http://schemas.microsoft.com/office/drawing/2014/main" val="3247995992"/>
                    </a:ext>
                  </a:extLst>
                </a:gridCol>
                <a:gridCol w="631084">
                  <a:extLst>
                    <a:ext uri="{9D8B030D-6E8A-4147-A177-3AD203B41FA5}">
                      <a16:colId xmlns="" xmlns:a16="http://schemas.microsoft.com/office/drawing/2014/main" val="1463923617"/>
                    </a:ext>
                  </a:extLst>
                </a:gridCol>
                <a:gridCol w="631084">
                  <a:extLst>
                    <a:ext uri="{9D8B030D-6E8A-4147-A177-3AD203B41FA5}">
                      <a16:colId xmlns="" xmlns:a16="http://schemas.microsoft.com/office/drawing/2014/main" val="1975129894"/>
                    </a:ext>
                  </a:extLst>
                </a:gridCol>
                <a:gridCol w="631084">
                  <a:extLst>
                    <a:ext uri="{9D8B030D-6E8A-4147-A177-3AD203B41FA5}">
                      <a16:colId xmlns="" xmlns:a16="http://schemas.microsoft.com/office/drawing/2014/main" val="3584097155"/>
                    </a:ext>
                  </a:extLst>
                </a:gridCol>
              </a:tblGrid>
              <a:tr h="582222">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302830206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2777617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19804241"/>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8982601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415850053"/>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2519607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8870384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6906171"/>
                  </a:ext>
                </a:extLst>
              </a:tr>
            </a:tbl>
          </a:graphicData>
        </a:graphic>
      </p:graphicFrame>
      <p:graphicFrame>
        <p:nvGraphicFramePr>
          <p:cNvPr id="25" name="表格 22">
            <a:extLst>
              <a:ext uri="{FF2B5EF4-FFF2-40B4-BE49-F238E27FC236}">
                <a16:creationId xmlns="" xmlns:a16="http://schemas.microsoft.com/office/drawing/2014/main" id="{BB8D72F7-5F89-4876-8E3A-E6400F0F3D39}"/>
              </a:ext>
            </a:extLst>
          </p:cNvPr>
          <p:cNvGraphicFramePr>
            <a:graphicFrameLocks noGrp="1"/>
          </p:cNvGraphicFramePr>
          <p:nvPr>
            <p:extLst>
              <p:ext uri="{D42A27DB-BD31-4B8C-83A1-F6EECF244321}">
                <p14:modId xmlns:p14="http://schemas.microsoft.com/office/powerpoint/2010/main" val="2725094927"/>
              </p:ext>
            </p:extLst>
          </p:nvPr>
        </p:nvGraphicFramePr>
        <p:xfrm>
          <a:off x="2105018" y="2101817"/>
          <a:ext cx="5679756" cy="4657776"/>
        </p:xfrm>
        <a:graphic>
          <a:graphicData uri="http://schemas.openxmlformats.org/drawingml/2006/table">
            <a:tbl>
              <a:tblPr firstRow="1" bandRow="1">
                <a:tableStyleId>{5C22544A-7EE6-4342-B048-85BDC9FD1C3A}</a:tableStyleId>
              </a:tblPr>
              <a:tblGrid>
                <a:gridCol w="631084">
                  <a:extLst>
                    <a:ext uri="{9D8B030D-6E8A-4147-A177-3AD203B41FA5}">
                      <a16:colId xmlns="" xmlns:a16="http://schemas.microsoft.com/office/drawing/2014/main" val="3807544619"/>
                    </a:ext>
                  </a:extLst>
                </a:gridCol>
                <a:gridCol w="631084">
                  <a:extLst>
                    <a:ext uri="{9D8B030D-6E8A-4147-A177-3AD203B41FA5}">
                      <a16:colId xmlns="" xmlns:a16="http://schemas.microsoft.com/office/drawing/2014/main" val="1591556560"/>
                    </a:ext>
                  </a:extLst>
                </a:gridCol>
                <a:gridCol w="631084">
                  <a:extLst>
                    <a:ext uri="{9D8B030D-6E8A-4147-A177-3AD203B41FA5}">
                      <a16:colId xmlns="" xmlns:a16="http://schemas.microsoft.com/office/drawing/2014/main" val="327582040"/>
                    </a:ext>
                  </a:extLst>
                </a:gridCol>
                <a:gridCol w="631084">
                  <a:extLst>
                    <a:ext uri="{9D8B030D-6E8A-4147-A177-3AD203B41FA5}">
                      <a16:colId xmlns="" xmlns:a16="http://schemas.microsoft.com/office/drawing/2014/main" val="1861548237"/>
                    </a:ext>
                  </a:extLst>
                </a:gridCol>
                <a:gridCol w="631084">
                  <a:extLst>
                    <a:ext uri="{9D8B030D-6E8A-4147-A177-3AD203B41FA5}">
                      <a16:colId xmlns="" xmlns:a16="http://schemas.microsoft.com/office/drawing/2014/main" val="3642982723"/>
                    </a:ext>
                  </a:extLst>
                </a:gridCol>
                <a:gridCol w="631084">
                  <a:extLst>
                    <a:ext uri="{9D8B030D-6E8A-4147-A177-3AD203B41FA5}">
                      <a16:colId xmlns="" xmlns:a16="http://schemas.microsoft.com/office/drawing/2014/main" val="3247995992"/>
                    </a:ext>
                  </a:extLst>
                </a:gridCol>
                <a:gridCol w="631084">
                  <a:extLst>
                    <a:ext uri="{9D8B030D-6E8A-4147-A177-3AD203B41FA5}">
                      <a16:colId xmlns="" xmlns:a16="http://schemas.microsoft.com/office/drawing/2014/main" val="1463923617"/>
                    </a:ext>
                  </a:extLst>
                </a:gridCol>
                <a:gridCol w="631084">
                  <a:extLst>
                    <a:ext uri="{9D8B030D-6E8A-4147-A177-3AD203B41FA5}">
                      <a16:colId xmlns="" xmlns:a16="http://schemas.microsoft.com/office/drawing/2014/main" val="1975129894"/>
                    </a:ext>
                  </a:extLst>
                </a:gridCol>
                <a:gridCol w="631084">
                  <a:extLst>
                    <a:ext uri="{9D8B030D-6E8A-4147-A177-3AD203B41FA5}">
                      <a16:colId xmlns="" xmlns:a16="http://schemas.microsoft.com/office/drawing/2014/main" val="3584097155"/>
                    </a:ext>
                  </a:extLst>
                </a:gridCol>
              </a:tblGrid>
              <a:tr h="582222">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302830206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2777617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19804241"/>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8982601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415850053"/>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2519607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8870384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6906171"/>
                  </a:ext>
                </a:extLst>
              </a:tr>
            </a:tbl>
          </a:graphicData>
        </a:graphic>
      </p:graphicFrame>
      <p:graphicFrame>
        <p:nvGraphicFramePr>
          <p:cNvPr id="30" name="表格 22">
            <a:extLst>
              <a:ext uri="{FF2B5EF4-FFF2-40B4-BE49-F238E27FC236}">
                <a16:creationId xmlns="" xmlns:a16="http://schemas.microsoft.com/office/drawing/2014/main" id="{A3FE21AC-4285-4134-BA0E-85791ADF520E}"/>
              </a:ext>
            </a:extLst>
          </p:cNvPr>
          <p:cNvGraphicFramePr>
            <a:graphicFrameLocks noGrp="1"/>
          </p:cNvGraphicFramePr>
          <p:nvPr>
            <p:extLst>
              <p:ext uri="{D42A27DB-BD31-4B8C-83A1-F6EECF244321}">
                <p14:modId xmlns:p14="http://schemas.microsoft.com/office/powerpoint/2010/main" val="611793062"/>
              </p:ext>
            </p:extLst>
          </p:nvPr>
        </p:nvGraphicFramePr>
        <p:xfrm>
          <a:off x="2106921" y="2103120"/>
          <a:ext cx="5679756" cy="4657776"/>
        </p:xfrm>
        <a:graphic>
          <a:graphicData uri="http://schemas.openxmlformats.org/drawingml/2006/table">
            <a:tbl>
              <a:tblPr firstRow="1" bandRow="1">
                <a:tableStyleId>{5C22544A-7EE6-4342-B048-85BDC9FD1C3A}</a:tableStyleId>
              </a:tblPr>
              <a:tblGrid>
                <a:gridCol w="631084">
                  <a:extLst>
                    <a:ext uri="{9D8B030D-6E8A-4147-A177-3AD203B41FA5}">
                      <a16:colId xmlns="" xmlns:a16="http://schemas.microsoft.com/office/drawing/2014/main" val="3807544619"/>
                    </a:ext>
                  </a:extLst>
                </a:gridCol>
                <a:gridCol w="631084">
                  <a:extLst>
                    <a:ext uri="{9D8B030D-6E8A-4147-A177-3AD203B41FA5}">
                      <a16:colId xmlns="" xmlns:a16="http://schemas.microsoft.com/office/drawing/2014/main" val="1591556560"/>
                    </a:ext>
                  </a:extLst>
                </a:gridCol>
                <a:gridCol w="631084">
                  <a:extLst>
                    <a:ext uri="{9D8B030D-6E8A-4147-A177-3AD203B41FA5}">
                      <a16:colId xmlns="" xmlns:a16="http://schemas.microsoft.com/office/drawing/2014/main" val="327582040"/>
                    </a:ext>
                  </a:extLst>
                </a:gridCol>
                <a:gridCol w="631084">
                  <a:extLst>
                    <a:ext uri="{9D8B030D-6E8A-4147-A177-3AD203B41FA5}">
                      <a16:colId xmlns="" xmlns:a16="http://schemas.microsoft.com/office/drawing/2014/main" val="1861548237"/>
                    </a:ext>
                  </a:extLst>
                </a:gridCol>
                <a:gridCol w="631084">
                  <a:extLst>
                    <a:ext uri="{9D8B030D-6E8A-4147-A177-3AD203B41FA5}">
                      <a16:colId xmlns="" xmlns:a16="http://schemas.microsoft.com/office/drawing/2014/main" val="3642982723"/>
                    </a:ext>
                  </a:extLst>
                </a:gridCol>
                <a:gridCol w="631084">
                  <a:extLst>
                    <a:ext uri="{9D8B030D-6E8A-4147-A177-3AD203B41FA5}">
                      <a16:colId xmlns="" xmlns:a16="http://schemas.microsoft.com/office/drawing/2014/main" val="3247995992"/>
                    </a:ext>
                  </a:extLst>
                </a:gridCol>
                <a:gridCol w="631084">
                  <a:extLst>
                    <a:ext uri="{9D8B030D-6E8A-4147-A177-3AD203B41FA5}">
                      <a16:colId xmlns="" xmlns:a16="http://schemas.microsoft.com/office/drawing/2014/main" val="1463923617"/>
                    </a:ext>
                  </a:extLst>
                </a:gridCol>
                <a:gridCol w="631084">
                  <a:extLst>
                    <a:ext uri="{9D8B030D-6E8A-4147-A177-3AD203B41FA5}">
                      <a16:colId xmlns="" xmlns:a16="http://schemas.microsoft.com/office/drawing/2014/main" val="1975129894"/>
                    </a:ext>
                  </a:extLst>
                </a:gridCol>
                <a:gridCol w="631084">
                  <a:extLst>
                    <a:ext uri="{9D8B030D-6E8A-4147-A177-3AD203B41FA5}">
                      <a16:colId xmlns="" xmlns:a16="http://schemas.microsoft.com/office/drawing/2014/main" val="3584097155"/>
                    </a:ext>
                  </a:extLst>
                </a:gridCol>
              </a:tblGrid>
              <a:tr h="582222">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302830206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2777617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19804241"/>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8982601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415850053"/>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2519607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8870384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6906171"/>
                  </a:ext>
                </a:extLst>
              </a:tr>
            </a:tbl>
          </a:graphicData>
        </a:graphic>
      </p:graphicFrame>
      <p:graphicFrame>
        <p:nvGraphicFramePr>
          <p:cNvPr id="31" name="表格 22">
            <a:extLst>
              <a:ext uri="{FF2B5EF4-FFF2-40B4-BE49-F238E27FC236}">
                <a16:creationId xmlns="" xmlns:a16="http://schemas.microsoft.com/office/drawing/2014/main" id="{F932E362-8B76-473D-BC71-674AB2444467}"/>
              </a:ext>
            </a:extLst>
          </p:cNvPr>
          <p:cNvGraphicFramePr>
            <a:graphicFrameLocks noGrp="1"/>
          </p:cNvGraphicFramePr>
          <p:nvPr>
            <p:extLst>
              <p:ext uri="{D42A27DB-BD31-4B8C-83A1-F6EECF244321}">
                <p14:modId xmlns:p14="http://schemas.microsoft.com/office/powerpoint/2010/main" val="87548632"/>
              </p:ext>
            </p:extLst>
          </p:nvPr>
        </p:nvGraphicFramePr>
        <p:xfrm>
          <a:off x="2106935" y="2105725"/>
          <a:ext cx="5679756" cy="4657776"/>
        </p:xfrm>
        <a:graphic>
          <a:graphicData uri="http://schemas.openxmlformats.org/drawingml/2006/table">
            <a:tbl>
              <a:tblPr firstRow="1" bandRow="1">
                <a:tableStyleId>{5C22544A-7EE6-4342-B048-85BDC9FD1C3A}</a:tableStyleId>
              </a:tblPr>
              <a:tblGrid>
                <a:gridCol w="631084">
                  <a:extLst>
                    <a:ext uri="{9D8B030D-6E8A-4147-A177-3AD203B41FA5}">
                      <a16:colId xmlns="" xmlns:a16="http://schemas.microsoft.com/office/drawing/2014/main" val="3807544619"/>
                    </a:ext>
                  </a:extLst>
                </a:gridCol>
                <a:gridCol w="631084">
                  <a:extLst>
                    <a:ext uri="{9D8B030D-6E8A-4147-A177-3AD203B41FA5}">
                      <a16:colId xmlns="" xmlns:a16="http://schemas.microsoft.com/office/drawing/2014/main" val="1591556560"/>
                    </a:ext>
                  </a:extLst>
                </a:gridCol>
                <a:gridCol w="631084">
                  <a:extLst>
                    <a:ext uri="{9D8B030D-6E8A-4147-A177-3AD203B41FA5}">
                      <a16:colId xmlns="" xmlns:a16="http://schemas.microsoft.com/office/drawing/2014/main" val="327582040"/>
                    </a:ext>
                  </a:extLst>
                </a:gridCol>
                <a:gridCol w="631084">
                  <a:extLst>
                    <a:ext uri="{9D8B030D-6E8A-4147-A177-3AD203B41FA5}">
                      <a16:colId xmlns="" xmlns:a16="http://schemas.microsoft.com/office/drawing/2014/main" val="1861548237"/>
                    </a:ext>
                  </a:extLst>
                </a:gridCol>
                <a:gridCol w="631084">
                  <a:extLst>
                    <a:ext uri="{9D8B030D-6E8A-4147-A177-3AD203B41FA5}">
                      <a16:colId xmlns="" xmlns:a16="http://schemas.microsoft.com/office/drawing/2014/main" val="3642982723"/>
                    </a:ext>
                  </a:extLst>
                </a:gridCol>
                <a:gridCol w="631084">
                  <a:extLst>
                    <a:ext uri="{9D8B030D-6E8A-4147-A177-3AD203B41FA5}">
                      <a16:colId xmlns="" xmlns:a16="http://schemas.microsoft.com/office/drawing/2014/main" val="3247995992"/>
                    </a:ext>
                  </a:extLst>
                </a:gridCol>
                <a:gridCol w="631084">
                  <a:extLst>
                    <a:ext uri="{9D8B030D-6E8A-4147-A177-3AD203B41FA5}">
                      <a16:colId xmlns="" xmlns:a16="http://schemas.microsoft.com/office/drawing/2014/main" val="1463923617"/>
                    </a:ext>
                  </a:extLst>
                </a:gridCol>
                <a:gridCol w="631084">
                  <a:extLst>
                    <a:ext uri="{9D8B030D-6E8A-4147-A177-3AD203B41FA5}">
                      <a16:colId xmlns="" xmlns:a16="http://schemas.microsoft.com/office/drawing/2014/main" val="1975129894"/>
                    </a:ext>
                  </a:extLst>
                </a:gridCol>
                <a:gridCol w="631084">
                  <a:extLst>
                    <a:ext uri="{9D8B030D-6E8A-4147-A177-3AD203B41FA5}">
                      <a16:colId xmlns="" xmlns:a16="http://schemas.microsoft.com/office/drawing/2014/main" val="3584097155"/>
                    </a:ext>
                  </a:extLst>
                </a:gridCol>
              </a:tblGrid>
              <a:tr h="582222">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302830206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2777617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19804241"/>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8982601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415850053"/>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2519607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8870384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6906171"/>
                  </a:ext>
                </a:extLst>
              </a:tr>
            </a:tbl>
          </a:graphicData>
        </a:graphic>
      </p:graphicFrame>
      <p:graphicFrame>
        <p:nvGraphicFramePr>
          <p:cNvPr id="34" name="表格 22">
            <a:extLst>
              <a:ext uri="{FF2B5EF4-FFF2-40B4-BE49-F238E27FC236}">
                <a16:creationId xmlns="" xmlns:a16="http://schemas.microsoft.com/office/drawing/2014/main" id="{EF870C84-3069-4D3C-8620-7E12E5FE3031}"/>
              </a:ext>
            </a:extLst>
          </p:cNvPr>
          <p:cNvGraphicFramePr>
            <a:graphicFrameLocks noGrp="1"/>
          </p:cNvGraphicFramePr>
          <p:nvPr>
            <p:extLst>
              <p:ext uri="{D42A27DB-BD31-4B8C-83A1-F6EECF244321}">
                <p14:modId xmlns:p14="http://schemas.microsoft.com/office/powerpoint/2010/main" val="2066233289"/>
              </p:ext>
            </p:extLst>
          </p:nvPr>
        </p:nvGraphicFramePr>
        <p:xfrm>
          <a:off x="2112639" y="2099212"/>
          <a:ext cx="5679756" cy="4657776"/>
        </p:xfrm>
        <a:graphic>
          <a:graphicData uri="http://schemas.openxmlformats.org/drawingml/2006/table">
            <a:tbl>
              <a:tblPr firstRow="1" bandRow="1">
                <a:tableStyleId>{5C22544A-7EE6-4342-B048-85BDC9FD1C3A}</a:tableStyleId>
              </a:tblPr>
              <a:tblGrid>
                <a:gridCol w="631084">
                  <a:extLst>
                    <a:ext uri="{9D8B030D-6E8A-4147-A177-3AD203B41FA5}">
                      <a16:colId xmlns="" xmlns:a16="http://schemas.microsoft.com/office/drawing/2014/main" val="3807544619"/>
                    </a:ext>
                  </a:extLst>
                </a:gridCol>
                <a:gridCol w="631084">
                  <a:extLst>
                    <a:ext uri="{9D8B030D-6E8A-4147-A177-3AD203B41FA5}">
                      <a16:colId xmlns="" xmlns:a16="http://schemas.microsoft.com/office/drawing/2014/main" val="1591556560"/>
                    </a:ext>
                  </a:extLst>
                </a:gridCol>
                <a:gridCol w="631084">
                  <a:extLst>
                    <a:ext uri="{9D8B030D-6E8A-4147-A177-3AD203B41FA5}">
                      <a16:colId xmlns="" xmlns:a16="http://schemas.microsoft.com/office/drawing/2014/main" val="327582040"/>
                    </a:ext>
                  </a:extLst>
                </a:gridCol>
                <a:gridCol w="631084">
                  <a:extLst>
                    <a:ext uri="{9D8B030D-6E8A-4147-A177-3AD203B41FA5}">
                      <a16:colId xmlns="" xmlns:a16="http://schemas.microsoft.com/office/drawing/2014/main" val="1861548237"/>
                    </a:ext>
                  </a:extLst>
                </a:gridCol>
                <a:gridCol w="631084">
                  <a:extLst>
                    <a:ext uri="{9D8B030D-6E8A-4147-A177-3AD203B41FA5}">
                      <a16:colId xmlns="" xmlns:a16="http://schemas.microsoft.com/office/drawing/2014/main" val="3642982723"/>
                    </a:ext>
                  </a:extLst>
                </a:gridCol>
                <a:gridCol w="631084">
                  <a:extLst>
                    <a:ext uri="{9D8B030D-6E8A-4147-A177-3AD203B41FA5}">
                      <a16:colId xmlns="" xmlns:a16="http://schemas.microsoft.com/office/drawing/2014/main" val="3247995992"/>
                    </a:ext>
                  </a:extLst>
                </a:gridCol>
                <a:gridCol w="631084">
                  <a:extLst>
                    <a:ext uri="{9D8B030D-6E8A-4147-A177-3AD203B41FA5}">
                      <a16:colId xmlns="" xmlns:a16="http://schemas.microsoft.com/office/drawing/2014/main" val="1463923617"/>
                    </a:ext>
                  </a:extLst>
                </a:gridCol>
                <a:gridCol w="631084">
                  <a:extLst>
                    <a:ext uri="{9D8B030D-6E8A-4147-A177-3AD203B41FA5}">
                      <a16:colId xmlns="" xmlns:a16="http://schemas.microsoft.com/office/drawing/2014/main" val="1975129894"/>
                    </a:ext>
                  </a:extLst>
                </a:gridCol>
                <a:gridCol w="631084">
                  <a:extLst>
                    <a:ext uri="{9D8B030D-6E8A-4147-A177-3AD203B41FA5}">
                      <a16:colId xmlns="" xmlns:a16="http://schemas.microsoft.com/office/drawing/2014/main" val="3584097155"/>
                    </a:ext>
                  </a:extLst>
                </a:gridCol>
              </a:tblGrid>
              <a:tr h="582222">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302830206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2777617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19804241"/>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8982601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415850053"/>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2519607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8870384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6906171"/>
                  </a:ext>
                </a:extLst>
              </a:tr>
            </a:tbl>
          </a:graphicData>
        </a:graphic>
      </p:graphicFrame>
      <p:cxnSp>
        <p:nvCxnSpPr>
          <p:cNvPr id="36" name="直線單箭頭接點 35">
            <a:extLst>
              <a:ext uri="{FF2B5EF4-FFF2-40B4-BE49-F238E27FC236}">
                <a16:creationId xmlns="" xmlns:a16="http://schemas.microsoft.com/office/drawing/2014/main" id="{6C70D9A2-2306-4BCD-9CB8-945EE57C1143}"/>
              </a:ext>
            </a:extLst>
          </p:cNvPr>
          <p:cNvCxnSpPr>
            <a:cxnSpLocks/>
          </p:cNvCxnSpPr>
          <p:nvPr/>
        </p:nvCxnSpPr>
        <p:spPr>
          <a:xfrm flipV="1">
            <a:off x="3040380" y="5966460"/>
            <a:ext cx="0" cy="2971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0" name="表格 22">
            <a:extLst>
              <a:ext uri="{FF2B5EF4-FFF2-40B4-BE49-F238E27FC236}">
                <a16:creationId xmlns="" xmlns:a16="http://schemas.microsoft.com/office/drawing/2014/main" id="{8C491621-F862-4B02-873D-F754ABC0B56B}"/>
              </a:ext>
            </a:extLst>
          </p:cNvPr>
          <p:cNvGraphicFramePr>
            <a:graphicFrameLocks noGrp="1"/>
          </p:cNvGraphicFramePr>
          <p:nvPr>
            <p:extLst>
              <p:ext uri="{D42A27DB-BD31-4B8C-83A1-F6EECF244321}">
                <p14:modId xmlns:p14="http://schemas.microsoft.com/office/powerpoint/2010/main" val="995483526"/>
              </p:ext>
            </p:extLst>
          </p:nvPr>
        </p:nvGraphicFramePr>
        <p:xfrm>
          <a:off x="2112625" y="2092439"/>
          <a:ext cx="5679756" cy="4657776"/>
        </p:xfrm>
        <a:graphic>
          <a:graphicData uri="http://schemas.openxmlformats.org/drawingml/2006/table">
            <a:tbl>
              <a:tblPr firstRow="1" bandRow="1">
                <a:tableStyleId>{5C22544A-7EE6-4342-B048-85BDC9FD1C3A}</a:tableStyleId>
              </a:tblPr>
              <a:tblGrid>
                <a:gridCol w="631084">
                  <a:extLst>
                    <a:ext uri="{9D8B030D-6E8A-4147-A177-3AD203B41FA5}">
                      <a16:colId xmlns="" xmlns:a16="http://schemas.microsoft.com/office/drawing/2014/main" val="3807544619"/>
                    </a:ext>
                  </a:extLst>
                </a:gridCol>
                <a:gridCol w="631084">
                  <a:extLst>
                    <a:ext uri="{9D8B030D-6E8A-4147-A177-3AD203B41FA5}">
                      <a16:colId xmlns="" xmlns:a16="http://schemas.microsoft.com/office/drawing/2014/main" val="1591556560"/>
                    </a:ext>
                  </a:extLst>
                </a:gridCol>
                <a:gridCol w="631084">
                  <a:extLst>
                    <a:ext uri="{9D8B030D-6E8A-4147-A177-3AD203B41FA5}">
                      <a16:colId xmlns="" xmlns:a16="http://schemas.microsoft.com/office/drawing/2014/main" val="327582040"/>
                    </a:ext>
                  </a:extLst>
                </a:gridCol>
                <a:gridCol w="631084">
                  <a:extLst>
                    <a:ext uri="{9D8B030D-6E8A-4147-A177-3AD203B41FA5}">
                      <a16:colId xmlns="" xmlns:a16="http://schemas.microsoft.com/office/drawing/2014/main" val="1861548237"/>
                    </a:ext>
                  </a:extLst>
                </a:gridCol>
                <a:gridCol w="631084">
                  <a:extLst>
                    <a:ext uri="{9D8B030D-6E8A-4147-A177-3AD203B41FA5}">
                      <a16:colId xmlns="" xmlns:a16="http://schemas.microsoft.com/office/drawing/2014/main" val="3642982723"/>
                    </a:ext>
                  </a:extLst>
                </a:gridCol>
                <a:gridCol w="631084">
                  <a:extLst>
                    <a:ext uri="{9D8B030D-6E8A-4147-A177-3AD203B41FA5}">
                      <a16:colId xmlns="" xmlns:a16="http://schemas.microsoft.com/office/drawing/2014/main" val="3247995992"/>
                    </a:ext>
                  </a:extLst>
                </a:gridCol>
                <a:gridCol w="631084">
                  <a:extLst>
                    <a:ext uri="{9D8B030D-6E8A-4147-A177-3AD203B41FA5}">
                      <a16:colId xmlns="" xmlns:a16="http://schemas.microsoft.com/office/drawing/2014/main" val="1463923617"/>
                    </a:ext>
                  </a:extLst>
                </a:gridCol>
                <a:gridCol w="631084">
                  <a:extLst>
                    <a:ext uri="{9D8B030D-6E8A-4147-A177-3AD203B41FA5}">
                      <a16:colId xmlns="" xmlns:a16="http://schemas.microsoft.com/office/drawing/2014/main" val="1975129894"/>
                    </a:ext>
                  </a:extLst>
                </a:gridCol>
                <a:gridCol w="631084">
                  <a:extLst>
                    <a:ext uri="{9D8B030D-6E8A-4147-A177-3AD203B41FA5}">
                      <a16:colId xmlns="" xmlns:a16="http://schemas.microsoft.com/office/drawing/2014/main" val="3584097155"/>
                    </a:ext>
                  </a:extLst>
                </a:gridCol>
              </a:tblGrid>
              <a:tr h="582222">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302830206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2777617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19804241"/>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8982601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415850053"/>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2519607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8870384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6906171"/>
                  </a:ext>
                </a:extLst>
              </a:tr>
            </a:tbl>
          </a:graphicData>
        </a:graphic>
      </p:graphicFrame>
      <p:cxnSp>
        <p:nvCxnSpPr>
          <p:cNvPr id="42" name="直線單箭頭接點 41">
            <a:extLst>
              <a:ext uri="{FF2B5EF4-FFF2-40B4-BE49-F238E27FC236}">
                <a16:creationId xmlns="" xmlns:a16="http://schemas.microsoft.com/office/drawing/2014/main" id="{7E707AEF-D664-49DF-8046-626B1AA33913}"/>
              </a:ext>
            </a:extLst>
          </p:cNvPr>
          <p:cNvCxnSpPr/>
          <p:nvPr/>
        </p:nvCxnSpPr>
        <p:spPr>
          <a:xfrm>
            <a:off x="3253740" y="6431915"/>
            <a:ext cx="29718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5" name="表格 22">
            <a:extLst>
              <a:ext uri="{FF2B5EF4-FFF2-40B4-BE49-F238E27FC236}">
                <a16:creationId xmlns="" xmlns:a16="http://schemas.microsoft.com/office/drawing/2014/main" id="{DADA82BC-CC48-41E5-9060-650E41B8E71D}"/>
              </a:ext>
            </a:extLst>
          </p:cNvPr>
          <p:cNvGraphicFramePr>
            <a:graphicFrameLocks noGrp="1"/>
          </p:cNvGraphicFramePr>
          <p:nvPr>
            <p:extLst>
              <p:ext uri="{D42A27DB-BD31-4B8C-83A1-F6EECF244321}">
                <p14:modId xmlns:p14="http://schemas.microsoft.com/office/powerpoint/2010/main" val="589069621"/>
              </p:ext>
            </p:extLst>
          </p:nvPr>
        </p:nvGraphicFramePr>
        <p:xfrm>
          <a:off x="2108825" y="2101817"/>
          <a:ext cx="5679756" cy="4648401"/>
        </p:xfrm>
        <a:graphic>
          <a:graphicData uri="http://schemas.openxmlformats.org/drawingml/2006/table">
            <a:tbl>
              <a:tblPr firstRow="1" bandRow="1">
                <a:tableStyleId>{5C22544A-7EE6-4342-B048-85BDC9FD1C3A}</a:tableStyleId>
              </a:tblPr>
              <a:tblGrid>
                <a:gridCol w="631084">
                  <a:extLst>
                    <a:ext uri="{9D8B030D-6E8A-4147-A177-3AD203B41FA5}">
                      <a16:colId xmlns="" xmlns:a16="http://schemas.microsoft.com/office/drawing/2014/main" val="3807544619"/>
                    </a:ext>
                  </a:extLst>
                </a:gridCol>
                <a:gridCol w="631084">
                  <a:extLst>
                    <a:ext uri="{9D8B030D-6E8A-4147-A177-3AD203B41FA5}">
                      <a16:colId xmlns="" xmlns:a16="http://schemas.microsoft.com/office/drawing/2014/main" val="1591556560"/>
                    </a:ext>
                  </a:extLst>
                </a:gridCol>
                <a:gridCol w="631084">
                  <a:extLst>
                    <a:ext uri="{9D8B030D-6E8A-4147-A177-3AD203B41FA5}">
                      <a16:colId xmlns="" xmlns:a16="http://schemas.microsoft.com/office/drawing/2014/main" val="327582040"/>
                    </a:ext>
                  </a:extLst>
                </a:gridCol>
                <a:gridCol w="631084">
                  <a:extLst>
                    <a:ext uri="{9D8B030D-6E8A-4147-A177-3AD203B41FA5}">
                      <a16:colId xmlns="" xmlns:a16="http://schemas.microsoft.com/office/drawing/2014/main" val="1861548237"/>
                    </a:ext>
                  </a:extLst>
                </a:gridCol>
                <a:gridCol w="631084">
                  <a:extLst>
                    <a:ext uri="{9D8B030D-6E8A-4147-A177-3AD203B41FA5}">
                      <a16:colId xmlns="" xmlns:a16="http://schemas.microsoft.com/office/drawing/2014/main" val="3642982723"/>
                    </a:ext>
                  </a:extLst>
                </a:gridCol>
                <a:gridCol w="631084">
                  <a:extLst>
                    <a:ext uri="{9D8B030D-6E8A-4147-A177-3AD203B41FA5}">
                      <a16:colId xmlns="" xmlns:a16="http://schemas.microsoft.com/office/drawing/2014/main" val="3247995992"/>
                    </a:ext>
                  </a:extLst>
                </a:gridCol>
                <a:gridCol w="631084">
                  <a:extLst>
                    <a:ext uri="{9D8B030D-6E8A-4147-A177-3AD203B41FA5}">
                      <a16:colId xmlns="" xmlns:a16="http://schemas.microsoft.com/office/drawing/2014/main" val="1463923617"/>
                    </a:ext>
                  </a:extLst>
                </a:gridCol>
                <a:gridCol w="631084">
                  <a:extLst>
                    <a:ext uri="{9D8B030D-6E8A-4147-A177-3AD203B41FA5}">
                      <a16:colId xmlns="" xmlns:a16="http://schemas.microsoft.com/office/drawing/2014/main" val="1975129894"/>
                    </a:ext>
                  </a:extLst>
                </a:gridCol>
                <a:gridCol w="631084">
                  <a:extLst>
                    <a:ext uri="{9D8B030D-6E8A-4147-A177-3AD203B41FA5}">
                      <a16:colId xmlns="" xmlns:a16="http://schemas.microsoft.com/office/drawing/2014/main" val="3584097155"/>
                    </a:ext>
                  </a:extLst>
                </a:gridCol>
              </a:tblGrid>
              <a:tr h="568157">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3028302062"/>
                  </a:ext>
                </a:extLst>
              </a:tr>
              <a:tr h="58289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27776172"/>
                  </a:ext>
                </a:extLst>
              </a:tr>
              <a:tr h="58289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19804241"/>
                  </a:ext>
                </a:extLst>
              </a:tr>
              <a:tr h="58289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89826019"/>
                  </a:ext>
                </a:extLst>
              </a:tr>
              <a:tr h="58289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415850053"/>
                  </a:ext>
                </a:extLst>
              </a:tr>
              <a:tr h="58289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251960799"/>
                  </a:ext>
                </a:extLst>
              </a:tr>
              <a:tr h="58289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887038499"/>
                  </a:ext>
                </a:extLst>
              </a:tr>
              <a:tr h="58289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6906171"/>
                  </a:ext>
                </a:extLst>
              </a:tr>
            </a:tbl>
          </a:graphicData>
        </a:graphic>
      </p:graphicFrame>
      <p:cxnSp>
        <p:nvCxnSpPr>
          <p:cNvPr id="77" name="直線單箭頭接點 76">
            <a:extLst>
              <a:ext uri="{FF2B5EF4-FFF2-40B4-BE49-F238E27FC236}">
                <a16:creationId xmlns="" xmlns:a16="http://schemas.microsoft.com/office/drawing/2014/main" id="{19C7A639-CAE2-4B74-B276-52EF2014BE2A}"/>
              </a:ext>
            </a:extLst>
          </p:cNvPr>
          <p:cNvCxnSpPr/>
          <p:nvPr/>
        </p:nvCxnSpPr>
        <p:spPr>
          <a:xfrm flipV="1">
            <a:off x="3253740" y="6057900"/>
            <a:ext cx="220980" cy="2057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8" name="表格 22">
            <a:extLst>
              <a:ext uri="{FF2B5EF4-FFF2-40B4-BE49-F238E27FC236}">
                <a16:creationId xmlns="" xmlns:a16="http://schemas.microsoft.com/office/drawing/2014/main" id="{99B71156-0AB4-4364-8183-7FF83D48FE5E}"/>
              </a:ext>
            </a:extLst>
          </p:cNvPr>
          <p:cNvGraphicFramePr>
            <a:graphicFrameLocks noGrp="1"/>
          </p:cNvGraphicFramePr>
          <p:nvPr>
            <p:extLst>
              <p:ext uri="{D42A27DB-BD31-4B8C-83A1-F6EECF244321}">
                <p14:modId xmlns:p14="http://schemas.microsoft.com/office/powerpoint/2010/main" val="3829933845"/>
              </p:ext>
            </p:extLst>
          </p:nvPr>
        </p:nvGraphicFramePr>
        <p:xfrm>
          <a:off x="2104986" y="2105725"/>
          <a:ext cx="5679756" cy="4657776"/>
        </p:xfrm>
        <a:graphic>
          <a:graphicData uri="http://schemas.openxmlformats.org/drawingml/2006/table">
            <a:tbl>
              <a:tblPr firstRow="1" bandRow="1">
                <a:tableStyleId>{5C22544A-7EE6-4342-B048-85BDC9FD1C3A}</a:tableStyleId>
              </a:tblPr>
              <a:tblGrid>
                <a:gridCol w="631084">
                  <a:extLst>
                    <a:ext uri="{9D8B030D-6E8A-4147-A177-3AD203B41FA5}">
                      <a16:colId xmlns="" xmlns:a16="http://schemas.microsoft.com/office/drawing/2014/main" val="3807544619"/>
                    </a:ext>
                  </a:extLst>
                </a:gridCol>
                <a:gridCol w="631084">
                  <a:extLst>
                    <a:ext uri="{9D8B030D-6E8A-4147-A177-3AD203B41FA5}">
                      <a16:colId xmlns="" xmlns:a16="http://schemas.microsoft.com/office/drawing/2014/main" val="1591556560"/>
                    </a:ext>
                  </a:extLst>
                </a:gridCol>
                <a:gridCol w="631084">
                  <a:extLst>
                    <a:ext uri="{9D8B030D-6E8A-4147-A177-3AD203B41FA5}">
                      <a16:colId xmlns="" xmlns:a16="http://schemas.microsoft.com/office/drawing/2014/main" val="327582040"/>
                    </a:ext>
                  </a:extLst>
                </a:gridCol>
                <a:gridCol w="631084">
                  <a:extLst>
                    <a:ext uri="{9D8B030D-6E8A-4147-A177-3AD203B41FA5}">
                      <a16:colId xmlns="" xmlns:a16="http://schemas.microsoft.com/office/drawing/2014/main" val="1861548237"/>
                    </a:ext>
                  </a:extLst>
                </a:gridCol>
                <a:gridCol w="631084">
                  <a:extLst>
                    <a:ext uri="{9D8B030D-6E8A-4147-A177-3AD203B41FA5}">
                      <a16:colId xmlns="" xmlns:a16="http://schemas.microsoft.com/office/drawing/2014/main" val="3642982723"/>
                    </a:ext>
                  </a:extLst>
                </a:gridCol>
                <a:gridCol w="631084">
                  <a:extLst>
                    <a:ext uri="{9D8B030D-6E8A-4147-A177-3AD203B41FA5}">
                      <a16:colId xmlns="" xmlns:a16="http://schemas.microsoft.com/office/drawing/2014/main" val="3247995992"/>
                    </a:ext>
                  </a:extLst>
                </a:gridCol>
                <a:gridCol w="631084">
                  <a:extLst>
                    <a:ext uri="{9D8B030D-6E8A-4147-A177-3AD203B41FA5}">
                      <a16:colId xmlns="" xmlns:a16="http://schemas.microsoft.com/office/drawing/2014/main" val="1463923617"/>
                    </a:ext>
                  </a:extLst>
                </a:gridCol>
                <a:gridCol w="631084">
                  <a:extLst>
                    <a:ext uri="{9D8B030D-6E8A-4147-A177-3AD203B41FA5}">
                      <a16:colId xmlns="" xmlns:a16="http://schemas.microsoft.com/office/drawing/2014/main" val="1975129894"/>
                    </a:ext>
                  </a:extLst>
                </a:gridCol>
                <a:gridCol w="631084">
                  <a:extLst>
                    <a:ext uri="{9D8B030D-6E8A-4147-A177-3AD203B41FA5}">
                      <a16:colId xmlns="" xmlns:a16="http://schemas.microsoft.com/office/drawing/2014/main" val="3584097155"/>
                    </a:ext>
                  </a:extLst>
                </a:gridCol>
              </a:tblGrid>
              <a:tr h="582222">
                <a:tc>
                  <a:txBody>
                    <a:bodyPr/>
                    <a:lstStyle/>
                    <a:p>
                      <a:pPr algn="ct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 xmlns:a16="http://schemas.microsoft.com/office/drawing/2014/main" val="302830206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7</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7</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 xmlns:a16="http://schemas.microsoft.com/office/drawing/2014/main" val="1027776172"/>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7</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19804241"/>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6</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7</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8982601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5</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415850053"/>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1</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6</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2519607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6</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6</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6</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887038499"/>
                  </a:ext>
                </a:extLst>
              </a:tr>
              <a:tr h="582222">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0</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2</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3</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4</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6</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6</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2800" b="1" dirty="0">
                          <a:solidFill>
                            <a:schemeClr val="tx1"/>
                          </a:solidFill>
                          <a:latin typeface="Times New Roman" panose="02020603050405020304" pitchFamily="18" charset="0"/>
                          <a:cs typeface="Times New Roman" panose="02020603050405020304" pitchFamily="18" charset="0"/>
                        </a:rPr>
                        <a:t>8</a:t>
                      </a:r>
                      <a:endParaRPr lang="zh-TW" altLang="en-US" sz="28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26906171"/>
                  </a:ext>
                </a:extLst>
              </a:tr>
            </a:tbl>
          </a:graphicData>
        </a:graphic>
      </p:graphicFrame>
      <p:cxnSp>
        <p:nvCxnSpPr>
          <p:cNvPr id="86" name="直線單箭頭接點 85">
            <a:extLst>
              <a:ext uri="{FF2B5EF4-FFF2-40B4-BE49-F238E27FC236}">
                <a16:creationId xmlns="" xmlns:a16="http://schemas.microsoft.com/office/drawing/2014/main" id="{D20F7435-F32F-4078-84F8-F592B4CE8285}"/>
              </a:ext>
            </a:extLst>
          </p:cNvPr>
          <p:cNvCxnSpPr/>
          <p:nvPr/>
        </p:nvCxnSpPr>
        <p:spPr>
          <a:xfrm flipV="1">
            <a:off x="3253740" y="6057900"/>
            <a:ext cx="259080" cy="2057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86">
            <a:extLst>
              <a:ext uri="{FF2B5EF4-FFF2-40B4-BE49-F238E27FC236}">
                <a16:creationId xmlns="" xmlns:a16="http://schemas.microsoft.com/office/drawing/2014/main" id="{E953F902-F777-4785-93FA-3411ACE376D7}"/>
              </a:ext>
            </a:extLst>
          </p:cNvPr>
          <p:cNvCxnSpPr/>
          <p:nvPr/>
        </p:nvCxnSpPr>
        <p:spPr>
          <a:xfrm flipV="1">
            <a:off x="3886200" y="5501151"/>
            <a:ext cx="259080" cy="2057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87">
            <a:extLst>
              <a:ext uri="{FF2B5EF4-FFF2-40B4-BE49-F238E27FC236}">
                <a16:creationId xmlns="" xmlns:a16="http://schemas.microsoft.com/office/drawing/2014/main" id="{1060F6DA-9A3D-4F23-8707-139A29D6B95A}"/>
              </a:ext>
            </a:extLst>
          </p:cNvPr>
          <p:cNvCxnSpPr/>
          <p:nvPr/>
        </p:nvCxnSpPr>
        <p:spPr>
          <a:xfrm flipV="1">
            <a:off x="4518660" y="4892040"/>
            <a:ext cx="259080" cy="2057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88">
            <a:extLst>
              <a:ext uri="{FF2B5EF4-FFF2-40B4-BE49-F238E27FC236}">
                <a16:creationId xmlns="" xmlns:a16="http://schemas.microsoft.com/office/drawing/2014/main" id="{CCA1C489-FFB6-4ECB-B9DA-5E7956A96BB2}"/>
              </a:ext>
            </a:extLst>
          </p:cNvPr>
          <p:cNvCxnSpPr/>
          <p:nvPr/>
        </p:nvCxnSpPr>
        <p:spPr>
          <a:xfrm flipV="1">
            <a:off x="5116830" y="4331743"/>
            <a:ext cx="259080" cy="2057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89">
            <a:extLst>
              <a:ext uri="{FF2B5EF4-FFF2-40B4-BE49-F238E27FC236}">
                <a16:creationId xmlns="" xmlns:a16="http://schemas.microsoft.com/office/drawing/2014/main" id="{51763611-4A27-48C9-A90E-D2F9FBA0517B}"/>
              </a:ext>
            </a:extLst>
          </p:cNvPr>
          <p:cNvCxnSpPr/>
          <p:nvPr/>
        </p:nvCxnSpPr>
        <p:spPr>
          <a:xfrm flipV="1">
            <a:off x="5768340" y="3741420"/>
            <a:ext cx="259080" cy="2057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90">
            <a:extLst>
              <a:ext uri="{FF2B5EF4-FFF2-40B4-BE49-F238E27FC236}">
                <a16:creationId xmlns="" xmlns:a16="http://schemas.microsoft.com/office/drawing/2014/main" id="{4B5B0074-507A-4A00-B097-23BC58D3D911}"/>
              </a:ext>
            </a:extLst>
          </p:cNvPr>
          <p:cNvCxnSpPr/>
          <p:nvPr/>
        </p:nvCxnSpPr>
        <p:spPr>
          <a:xfrm flipV="1">
            <a:off x="6400800" y="3154680"/>
            <a:ext cx="259080" cy="2057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a:extLst>
              <a:ext uri="{FF2B5EF4-FFF2-40B4-BE49-F238E27FC236}">
                <a16:creationId xmlns="" xmlns:a16="http://schemas.microsoft.com/office/drawing/2014/main" id="{C326B67E-751E-4CD1-B293-F29EEBA2AA81}"/>
              </a:ext>
            </a:extLst>
          </p:cNvPr>
          <p:cNvCxnSpPr/>
          <p:nvPr/>
        </p:nvCxnSpPr>
        <p:spPr>
          <a:xfrm>
            <a:off x="7010400" y="2972435"/>
            <a:ext cx="29718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49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8"/>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0"/>
                                  </p:stCondLst>
                                  <p:childTnLst>
                                    <p:set>
                                      <p:cBhvr>
                                        <p:cTn id="39" dur="1" fill="hold">
                                          <p:stCondLst>
                                            <p:cond delay="0"/>
                                          </p:stCondLst>
                                        </p:cTn>
                                        <p:tgtEl>
                                          <p:spTgt spid="92"/>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nodeType="afterEffect">
                                  <p:stCondLst>
                                    <p:cond delay="0"/>
                                  </p:stCondLst>
                                  <p:childTnLst>
                                    <p:set>
                                      <p:cBhvr>
                                        <p:cTn id="42" dur="1" fill="hold">
                                          <p:stCondLst>
                                            <p:cond delay="0"/>
                                          </p:stCondLst>
                                        </p:cTn>
                                        <p:tgtEl>
                                          <p:spTgt spid="91"/>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nodeType="afterEffect">
                                  <p:stCondLst>
                                    <p:cond delay="0"/>
                                  </p:stCondLst>
                                  <p:childTnLst>
                                    <p:set>
                                      <p:cBhvr>
                                        <p:cTn id="45" dur="1" fill="hold">
                                          <p:stCondLst>
                                            <p:cond delay="0"/>
                                          </p:stCondLst>
                                        </p:cTn>
                                        <p:tgtEl>
                                          <p:spTgt spid="90"/>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nodeType="after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nodeType="afterEffect">
                                  <p:stCondLst>
                                    <p:cond delay="0"/>
                                  </p:stCondLst>
                                  <p:childTnLst>
                                    <p:set>
                                      <p:cBhvr>
                                        <p:cTn id="51" dur="1" fill="hold">
                                          <p:stCondLst>
                                            <p:cond delay="0"/>
                                          </p:stCondLst>
                                        </p:cTn>
                                        <p:tgtEl>
                                          <p:spTgt spid="88"/>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nodeType="afterEffect">
                                  <p:stCondLst>
                                    <p:cond delay="0"/>
                                  </p:stCondLst>
                                  <p:childTnLst>
                                    <p:set>
                                      <p:cBhvr>
                                        <p:cTn id="54" dur="1" fill="hold">
                                          <p:stCondLst>
                                            <p:cond delay="0"/>
                                          </p:stCondLst>
                                        </p:cTn>
                                        <p:tgtEl>
                                          <p:spTgt spid="87"/>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36D92028-086B-4825-84E6-020A56249783}"/>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DYNAMIC TIME WARPING</a:t>
            </a:r>
            <a:endParaRPr lang="zh-TW" altLang="en-US" dirty="0"/>
          </a:p>
        </p:txBody>
      </p:sp>
      <p:pic>
        <p:nvPicPr>
          <p:cNvPr id="5" name="圖片 4">
            <a:extLst>
              <a:ext uri="{FF2B5EF4-FFF2-40B4-BE49-F238E27FC236}">
                <a16:creationId xmlns="" xmlns:a16="http://schemas.microsoft.com/office/drawing/2014/main" id="{8303BC07-AF7A-47C9-9BE6-DA753ED2DC7A}"/>
              </a:ext>
            </a:extLst>
          </p:cNvPr>
          <p:cNvPicPr>
            <a:picLocks noChangeAspect="1"/>
          </p:cNvPicPr>
          <p:nvPr/>
        </p:nvPicPr>
        <p:blipFill>
          <a:blip r:embed="rId2"/>
          <a:stretch>
            <a:fillRect/>
          </a:stretch>
        </p:blipFill>
        <p:spPr>
          <a:xfrm>
            <a:off x="5513070" y="2531120"/>
            <a:ext cx="4676775" cy="2867025"/>
          </a:xfrm>
          <a:prstGeom prst="rect">
            <a:avLst/>
          </a:prstGeom>
        </p:spPr>
      </p:pic>
      <p:pic>
        <p:nvPicPr>
          <p:cNvPr id="6" name="圖片 5">
            <a:extLst>
              <a:ext uri="{FF2B5EF4-FFF2-40B4-BE49-F238E27FC236}">
                <a16:creationId xmlns="" xmlns:a16="http://schemas.microsoft.com/office/drawing/2014/main" id="{AEA78867-70AD-4D7D-87E9-2E190EFC71BF}"/>
              </a:ext>
            </a:extLst>
          </p:cNvPr>
          <p:cNvPicPr>
            <a:picLocks noChangeAspect="1"/>
          </p:cNvPicPr>
          <p:nvPr/>
        </p:nvPicPr>
        <p:blipFill>
          <a:blip r:embed="rId3"/>
          <a:stretch>
            <a:fillRect/>
          </a:stretch>
        </p:blipFill>
        <p:spPr>
          <a:xfrm>
            <a:off x="316230" y="1921520"/>
            <a:ext cx="4838700" cy="4876800"/>
          </a:xfrm>
          <a:prstGeom prst="rect">
            <a:avLst/>
          </a:prstGeom>
        </p:spPr>
      </p:pic>
      <p:sp>
        <p:nvSpPr>
          <p:cNvPr id="7" name="矩形 6">
            <a:extLst>
              <a:ext uri="{FF2B5EF4-FFF2-40B4-BE49-F238E27FC236}">
                <a16:creationId xmlns="" xmlns:a16="http://schemas.microsoft.com/office/drawing/2014/main" id="{D92981FD-862E-4EE5-89CA-84BCBF5C7084}"/>
              </a:ext>
            </a:extLst>
          </p:cNvPr>
          <p:cNvSpPr/>
          <p:nvPr/>
        </p:nvSpPr>
        <p:spPr>
          <a:xfrm>
            <a:off x="6265440" y="1471910"/>
            <a:ext cx="2954655" cy="461665"/>
          </a:xfrm>
          <a:prstGeom prst="rect">
            <a:avLst/>
          </a:prstGeom>
        </p:spPr>
        <p:txBody>
          <a:bodyPr wrap="none">
            <a:spAutoFit/>
          </a:bodyPr>
          <a:lstStyle/>
          <a:p>
            <a:r>
              <a:rPr lang="en-US" altLang="zh-TW" sz="2400" dirty="0">
                <a:latin typeface="Times New Roman" panose="02020603050405020304" pitchFamily="18" charset="0"/>
                <a:cs typeface="Times New Roman" panose="02020603050405020304" pitchFamily="18" charset="0"/>
              </a:rPr>
              <a:t>The result alignment</a:t>
            </a:r>
            <a:r>
              <a:rPr lang="en-US" altLang="zh-TW" dirty="0">
                <a:latin typeface="Times New Roman" panose="02020603050405020304" pitchFamily="18" charset="0"/>
                <a:cs typeface="Times New Roman" panose="02020603050405020304" pitchFamily="18" charset="0"/>
              </a:rPr>
              <a:t>	</a:t>
            </a:r>
            <a:endParaRPr lang="zh-TW" altLang="en-US" dirty="0"/>
          </a:p>
        </p:txBody>
      </p:sp>
      <p:sp>
        <p:nvSpPr>
          <p:cNvPr id="28" name="矩形 27">
            <a:extLst>
              <a:ext uri="{FF2B5EF4-FFF2-40B4-BE49-F238E27FC236}">
                <a16:creationId xmlns="" xmlns:a16="http://schemas.microsoft.com/office/drawing/2014/main" id="{7AC708FD-20ED-473E-9247-2093A1818419}"/>
              </a:ext>
            </a:extLst>
          </p:cNvPr>
          <p:cNvSpPr/>
          <p:nvPr/>
        </p:nvSpPr>
        <p:spPr>
          <a:xfrm>
            <a:off x="1960138" y="1418406"/>
            <a:ext cx="2353529" cy="461665"/>
          </a:xfrm>
          <a:prstGeom prst="rect">
            <a:avLst/>
          </a:prstGeom>
        </p:spPr>
        <p:txBody>
          <a:bodyPr wrap="none">
            <a:spAutoFit/>
          </a:bodyPr>
          <a:lstStyle/>
          <a:p>
            <a:r>
              <a:rPr lang="en-US" altLang="zh-TW" sz="2400" dirty="0">
                <a:latin typeface="Times New Roman" panose="02020603050405020304" pitchFamily="18" charset="0"/>
                <a:cs typeface="Times New Roman" panose="02020603050405020304" pitchFamily="18" charset="0"/>
              </a:rPr>
              <a:t>The warping path</a:t>
            </a:r>
            <a:endParaRPr lang="zh-TW" altLang="en-US" dirty="0"/>
          </a:p>
        </p:txBody>
      </p:sp>
    </p:spTree>
    <p:extLst>
      <p:ext uri="{BB962C8B-B14F-4D97-AF65-F5344CB8AC3E}">
        <p14:creationId xmlns:p14="http://schemas.microsoft.com/office/powerpoint/2010/main" val="295718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F998459F-8E0E-479D-A7F4-BC387B70B2A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WARPING PATH</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270B0BFD-6FA8-4030-BEEA-D76DF62EEAC4}"/>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W =w</a:t>
            </a:r>
            <a:r>
              <a:rPr lang="en-US" altLang="zh-TW" baseline="-14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,w</a:t>
            </a:r>
            <a:r>
              <a:rPr lang="en-US" altLang="zh-TW" baseline="-14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w</a:t>
            </a:r>
            <a:r>
              <a:rPr lang="en-US" altLang="zh-TW" baseline="-14000" dirty="0" err="1">
                <a:latin typeface="Times New Roman" panose="02020603050405020304" pitchFamily="18" charset="0"/>
                <a:cs typeface="Times New Roman" panose="02020603050405020304" pitchFamily="18" charset="0"/>
              </a:rPr>
              <a:t>K</a:t>
            </a:r>
            <a:endParaRPr lang="en-US" altLang="zh-TW" baseline="-14000"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The k-</a:t>
            </a:r>
            <a:r>
              <a:rPr lang="en-US" altLang="zh-TW" dirty="0" err="1">
                <a:latin typeface="Times New Roman" panose="02020603050405020304" pitchFamily="18" charset="0"/>
                <a:cs typeface="Times New Roman" panose="02020603050405020304" pitchFamily="18" charset="0"/>
              </a:rPr>
              <a:t>th</a:t>
            </a:r>
            <a:r>
              <a:rPr lang="en-US" altLang="zh-TW" dirty="0">
                <a:latin typeface="Times New Roman" panose="02020603050405020304" pitchFamily="18" charset="0"/>
                <a:cs typeface="Times New Roman" panose="02020603050405020304" pitchFamily="18" charset="0"/>
              </a:rPr>
              <a:t> element of W is denoted as </a:t>
            </a:r>
            <a:r>
              <a:rPr lang="en-US" altLang="zh-TW" dirty="0" err="1">
                <a:latin typeface="Times New Roman" panose="02020603050405020304" pitchFamily="18" charset="0"/>
                <a:cs typeface="Times New Roman" panose="02020603050405020304" pitchFamily="18" charset="0"/>
              </a:rPr>
              <a:t>w</a:t>
            </a:r>
            <a:r>
              <a:rPr lang="en-US" altLang="zh-TW" baseline="-14000" dirty="0" err="1">
                <a:latin typeface="Times New Roman" panose="02020603050405020304" pitchFamily="18" charset="0"/>
                <a:cs typeface="Times New Roman" panose="02020603050405020304" pitchFamily="18" charset="0"/>
              </a:rPr>
              <a:t>k</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i,j</a:t>
            </a:r>
            <a:r>
              <a:rPr lang="en-US" altLang="zh-TW" dirty="0">
                <a:latin typeface="Times New Roman" panose="02020603050405020304" pitchFamily="18" charset="0"/>
                <a:cs typeface="Times New Roman" panose="02020603050405020304" pitchFamily="18" charset="0"/>
              </a:rPr>
              <a:t>)</a:t>
            </a:r>
            <a:r>
              <a:rPr lang="en-US" altLang="zh-TW" baseline="-14000" dirty="0">
                <a:latin typeface="Times New Roman" panose="02020603050405020304" pitchFamily="18" charset="0"/>
                <a:cs typeface="Times New Roman" panose="02020603050405020304" pitchFamily="18" charset="0"/>
              </a:rPr>
              <a:t>k</a:t>
            </a:r>
          </a:p>
          <a:p>
            <a:endParaRPr lang="zh-TW" altLang="en-US" baseline="-14000" dirty="0">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 xmlns:a16="http://schemas.microsoft.com/office/drawing/2014/main" id="{CD140773-A85E-4335-B41B-139AD5D59D6D}"/>
              </a:ext>
            </a:extLst>
          </p:cNvPr>
          <p:cNvSpPr/>
          <p:nvPr/>
        </p:nvSpPr>
        <p:spPr>
          <a:xfrm>
            <a:off x="5881839" y="3244334"/>
            <a:ext cx="1478290" cy="3416320"/>
          </a:xfrm>
          <a:prstGeom prst="rect">
            <a:avLst/>
          </a:prstGeom>
        </p:spPr>
        <p:txBody>
          <a:bodyPr wrap="none">
            <a:spAutoFit/>
          </a:bodyPr>
          <a:lstStyle/>
          <a:p>
            <a:r>
              <a:rPr lang="en-US" altLang="zh-TW" sz="2400" dirty="0">
                <a:latin typeface="Times New Roman" panose="02020603050405020304" pitchFamily="18" charset="0"/>
                <a:cs typeface="Times New Roman" panose="02020603050405020304" pitchFamily="18" charset="0"/>
              </a:rPr>
              <a:t>w</a:t>
            </a:r>
            <a:r>
              <a:rPr lang="en-US" altLang="zh-TW" sz="2400" baseline="-14000" dirty="0">
                <a:latin typeface="Times New Roman" panose="02020603050405020304" pitchFamily="18" charset="0"/>
                <a:cs typeface="Times New Roman" panose="02020603050405020304" pitchFamily="18" charset="0"/>
              </a:rPr>
              <a:t>1 </a:t>
            </a:r>
            <a:r>
              <a:rPr lang="en-US" altLang="zh-TW" sz="2400" dirty="0">
                <a:latin typeface="Times New Roman" panose="02020603050405020304" pitchFamily="18" charset="0"/>
                <a:cs typeface="Times New Roman" panose="02020603050405020304" pitchFamily="18" charset="0"/>
              </a:rPr>
              <a:t>=(1,1)</a:t>
            </a:r>
            <a:r>
              <a:rPr lang="en-US" altLang="zh-TW" sz="2400" baseline="-14000" dirty="0">
                <a:latin typeface="Times New Roman" panose="02020603050405020304" pitchFamily="18" charset="0"/>
                <a:cs typeface="Times New Roman" panose="02020603050405020304" pitchFamily="18" charset="0"/>
              </a:rPr>
              <a:t> 1</a:t>
            </a:r>
          </a:p>
          <a:p>
            <a:r>
              <a:rPr lang="en-US" altLang="zh-TW" sz="2400" dirty="0">
                <a:latin typeface="Times New Roman" panose="02020603050405020304" pitchFamily="18" charset="0"/>
                <a:cs typeface="Times New Roman" panose="02020603050405020304" pitchFamily="18" charset="0"/>
              </a:rPr>
              <a:t>w</a:t>
            </a:r>
            <a:r>
              <a:rPr lang="en-US" altLang="zh-TW" sz="2400" baseline="-14000" dirty="0">
                <a:latin typeface="Times New Roman" panose="02020603050405020304" pitchFamily="18" charset="0"/>
                <a:cs typeface="Times New Roman" panose="02020603050405020304" pitchFamily="18" charset="0"/>
              </a:rPr>
              <a:t>2 </a:t>
            </a:r>
            <a:r>
              <a:rPr lang="en-US" altLang="zh-TW" sz="2400" dirty="0">
                <a:latin typeface="Times New Roman" panose="02020603050405020304" pitchFamily="18" charset="0"/>
                <a:cs typeface="Times New Roman" panose="02020603050405020304" pitchFamily="18" charset="0"/>
              </a:rPr>
              <a:t>=(2,2)</a:t>
            </a:r>
            <a:r>
              <a:rPr lang="en-US" altLang="zh-TW" sz="2400" baseline="-14000" dirty="0">
                <a:latin typeface="Times New Roman" panose="02020603050405020304" pitchFamily="18" charset="0"/>
                <a:cs typeface="Times New Roman" panose="02020603050405020304" pitchFamily="18" charset="0"/>
              </a:rPr>
              <a:t> 2</a:t>
            </a:r>
            <a:endParaRPr lang="zh-TW" altLang="en-US" sz="2400" dirty="0"/>
          </a:p>
          <a:p>
            <a:r>
              <a:rPr lang="en-US" altLang="zh-TW" sz="2400" dirty="0">
                <a:latin typeface="Times New Roman" panose="02020603050405020304" pitchFamily="18" charset="0"/>
                <a:cs typeface="Times New Roman" panose="02020603050405020304" pitchFamily="18" charset="0"/>
              </a:rPr>
              <a:t>w</a:t>
            </a:r>
            <a:r>
              <a:rPr lang="en-US" altLang="zh-TW" sz="2400" baseline="-14000" dirty="0">
                <a:latin typeface="Times New Roman" panose="02020603050405020304" pitchFamily="18" charset="0"/>
                <a:cs typeface="Times New Roman" panose="02020603050405020304" pitchFamily="18" charset="0"/>
              </a:rPr>
              <a:t>3 </a:t>
            </a:r>
            <a:r>
              <a:rPr lang="en-US" altLang="zh-TW" sz="2400" dirty="0">
                <a:latin typeface="Times New Roman" panose="02020603050405020304" pitchFamily="18" charset="0"/>
                <a:cs typeface="Times New Roman" panose="02020603050405020304" pitchFamily="18" charset="0"/>
              </a:rPr>
              <a:t>=(3,3)</a:t>
            </a:r>
            <a:r>
              <a:rPr lang="en-US" altLang="zh-TW" sz="2400" baseline="-14000" dirty="0">
                <a:latin typeface="Times New Roman" panose="02020603050405020304" pitchFamily="18" charset="0"/>
                <a:cs typeface="Times New Roman" panose="02020603050405020304" pitchFamily="18" charset="0"/>
              </a:rPr>
              <a:t> 3</a:t>
            </a:r>
            <a:endParaRPr lang="zh-TW" altLang="en-US" sz="2400" dirty="0"/>
          </a:p>
          <a:p>
            <a:r>
              <a:rPr lang="en-US" altLang="zh-TW" sz="2400" dirty="0">
                <a:latin typeface="Times New Roman" panose="02020603050405020304" pitchFamily="18" charset="0"/>
                <a:cs typeface="Times New Roman" panose="02020603050405020304" pitchFamily="18" charset="0"/>
              </a:rPr>
              <a:t>w</a:t>
            </a:r>
            <a:r>
              <a:rPr lang="en-US" altLang="zh-TW" sz="2400" baseline="-14000" dirty="0">
                <a:latin typeface="Times New Roman" panose="02020603050405020304" pitchFamily="18" charset="0"/>
                <a:cs typeface="Times New Roman" panose="02020603050405020304" pitchFamily="18" charset="0"/>
              </a:rPr>
              <a:t>4 </a:t>
            </a:r>
            <a:r>
              <a:rPr lang="en-US" altLang="zh-TW" sz="2400" dirty="0">
                <a:latin typeface="Times New Roman" panose="02020603050405020304" pitchFamily="18" charset="0"/>
                <a:cs typeface="Times New Roman" panose="02020603050405020304" pitchFamily="18" charset="0"/>
              </a:rPr>
              <a:t>=(4,4)</a:t>
            </a:r>
            <a:r>
              <a:rPr lang="en-US" altLang="zh-TW" sz="2400" baseline="-14000" dirty="0">
                <a:latin typeface="Times New Roman" panose="02020603050405020304" pitchFamily="18" charset="0"/>
                <a:cs typeface="Times New Roman" panose="02020603050405020304" pitchFamily="18" charset="0"/>
              </a:rPr>
              <a:t> 4</a:t>
            </a:r>
            <a:endParaRPr lang="zh-TW" altLang="en-US" sz="2400" dirty="0"/>
          </a:p>
          <a:p>
            <a:r>
              <a:rPr lang="en-US" altLang="zh-TW" sz="2400" dirty="0">
                <a:latin typeface="Times New Roman" panose="02020603050405020304" pitchFamily="18" charset="0"/>
                <a:cs typeface="Times New Roman" panose="02020603050405020304" pitchFamily="18" charset="0"/>
              </a:rPr>
              <a:t>w</a:t>
            </a:r>
            <a:r>
              <a:rPr lang="en-US" altLang="zh-TW" sz="2400" baseline="-14000" dirty="0">
                <a:latin typeface="Times New Roman" panose="02020603050405020304" pitchFamily="18" charset="0"/>
                <a:cs typeface="Times New Roman" panose="02020603050405020304" pitchFamily="18" charset="0"/>
              </a:rPr>
              <a:t>5 </a:t>
            </a:r>
            <a:r>
              <a:rPr lang="en-US" altLang="zh-TW" sz="2400" dirty="0">
                <a:latin typeface="Times New Roman" panose="02020603050405020304" pitchFamily="18" charset="0"/>
                <a:cs typeface="Times New Roman" panose="02020603050405020304" pitchFamily="18" charset="0"/>
              </a:rPr>
              <a:t>=(5,5)</a:t>
            </a:r>
            <a:r>
              <a:rPr lang="en-US" altLang="zh-TW" sz="2400" baseline="-14000" dirty="0">
                <a:latin typeface="Times New Roman" panose="02020603050405020304" pitchFamily="18" charset="0"/>
                <a:cs typeface="Times New Roman" panose="02020603050405020304" pitchFamily="18" charset="0"/>
              </a:rPr>
              <a:t> 5</a:t>
            </a:r>
            <a:endParaRPr lang="zh-TW" altLang="en-US" sz="2400" dirty="0"/>
          </a:p>
          <a:p>
            <a:r>
              <a:rPr lang="en-US" altLang="zh-TW" sz="2400" dirty="0">
                <a:latin typeface="Times New Roman" panose="02020603050405020304" pitchFamily="18" charset="0"/>
                <a:cs typeface="Times New Roman" panose="02020603050405020304" pitchFamily="18" charset="0"/>
              </a:rPr>
              <a:t>w</a:t>
            </a:r>
            <a:r>
              <a:rPr lang="en-US" altLang="zh-TW" sz="2400" baseline="-14000" dirty="0">
                <a:latin typeface="Times New Roman" panose="02020603050405020304" pitchFamily="18" charset="0"/>
                <a:cs typeface="Times New Roman" panose="02020603050405020304" pitchFamily="18" charset="0"/>
              </a:rPr>
              <a:t>6 </a:t>
            </a:r>
            <a:r>
              <a:rPr lang="en-US" altLang="zh-TW" sz="2400" dirty="0">
                <a:latin typeface="Times New Roman" panose="02020603050405020304" pitchFamily="18" charset="0"/>
                <a:cs typeface="Times New Roman" panose="02020603050405020304" pitchFamily="18" charset="0"/>
              </a:rPr>
              <a:t>=(6,6)</a:t>
            </a:r>
            <a:r>
              <a:rPr lang="en-US" altLang="zh-TW" sz="2400" baseline="-14000" dirty="0">
                <a:latin typeface="Times New Roman" panose="02020603050405020304" pitchFamily="18" charset="0"/>
                <a:cs typeface="Times New Roman" panose="02020603050405020304" pitchFamily="18" charset="0"/>
              </a:rPr>
              <a:t> 6</a:t>
            </a:r>
            <a:endParaRPr lang="zh-TW" altLang="en-US" sz="2400" dirty="0"/>
          </a:p>
          <a:p>
            <a:r>
              <a:rPr lang="en-US" altLang="zh-TW" sz="2400" dirty="0">
                <a:latin typeface="Times New Roman" panose="02020603050405020304" pitchFamily="18" charset="0"/>
                <a:cs typeface="Times New Roman" panose="02020603050405020304" pitchFamily="18" charset="0"/>
              </a:rPr>
              <a:t>w</a:t>
            </a:r>
            <a:r>
              <a:rPr lang="en-US" altLang="zh-TW" sz="2400" baseline="-14000" dirty="0">
                <a:latin typeface="Times New Roman" panose="02020603050405020304" pitchFamily="18" charset="0"/>
                <a:cs typeface="Times New Roman" panose="02020603050405020304" pitchFamily="18" charset="0"/>
              </a:rPr>
              <a:t>7 </a:t>
            </a:r>
            <a:r>
              <a:rPr lang="en-US" altLang="zh-TW" sz="2400" dirty="0">
                <a:latin typeface="Times New Roman" panose="02020603050405020304" pitchFamily="18" charset="0"/>
                <a:cs typeface="Times New Roman" panose="02020603050405020304" pitchFamily="18" charset="0"/>
              </a:rPr>
              <a:t>=(7,7)</a:t>
            </a:r>
            <a:r>
              <a:rPr lang="en-US" altLang="zh-TW" sz="2400" baseline="-14000" dirty="0">
                <a:latin typeface="Times New Roman" panose="02020603050405020304" pitchFamily="18" charset="0"/>
                <a:cs typeface="Times New Roman" panose="02020603050405020304" pitchFamily="18" charset="0"/>
              </a:rPr>
              <a:t> 7</a:t>
            </a:r>
            <a:endParaRPr lang="zh-TW" altLang="en-US" sz="2400" dirty="0"/>
          </a:p>
          <a:p>
            <a:r>
              <a:rPr lang="en-US" altLang="zh-TW" sz="2400" dirty="0">
                <a:latin typeface="Times New Roman" panose="02020603050405020304" pitchFamily="18" charset="0"/>
                <a:cs typeface="Times New Roman" panose="02020603050405020304" pitchFamily="18" charset="0"/>
              </a:rPr>
              <a:t>w</a:t>
            </a:r>
            <a:r>
              <a:rPr lang="en-US" altLang="zh-TW" sz="2400" baseline="-14000" dirty="0">
                <a:latin typeface="Times New Roman" panose="02020603050405020304" pitchFamily="18" charset="0"/>
                <a:cs typeface="Times New Roman" panose="02020603050405020304" pitchFamily="18" charset="0"/>
              </a:rPr>
              <a:t>8 </a:t>
            </a:r>
            <a:r>
              <a:rPr lang="en-US" altLang="zh-TW" sz="2400" dirty="0">
                <a:latin typeface="Times New Roman" panose="02020603050405020304" pitchFamily="18" charset="0"/>
                <a:cs typeface="Times New Roman" panose="02020603050405020304" pitchFamily="18" charset="0"/>
              </a:rPr>
              <a:t>=(7,8)</a:t>
            </a:r>
            <a:r>
              <a:rPr lang="en-US" altLang="zh-TW" sz="2400" baseline="-14000" dirty="0">
                <a:latin typeface="Times New Roman" panose="02020603050405020304" pitchFamily="18" charset="0"/>
                <a:cs typeface="Times New Roman" panose="02020603050405020304" pitchFamily="18" charset="0"/>
              </a:rPr>
              <a:t> 8</a:t>
            </a:r>
            <a:endParaRPr lang="zh-TW" altLang="en-US" sz="2400" dirty="0"/>
          </a:p>
          <a:p>
            <a:endParaRPr lang="en-US" altLang="zh-TW" sz="2400" dirty="0"/>
          </a:p>
        </p:txBody>
      </p:sp>
      <p:pic>
        <p:nvPicPr>
          <p:cNvPr id="19" name="圖片 18">
            <a:extLst>
              <a:ext uri="{FF2B5EF4-FFF2-40B4-BE49-F238E27FC236}">
                <a16:creationId xmlns="" xmlns:a16="http://schemas.microsoft.com/office/drawing/2014/main" id="{6F5BE96E-DF07-4E1A-8CD8-152767A22C0D}"/>
              </a:ext>
            </a:extLst>
          </p:cNvPr>
          <p:cNvPicPr>
            <a:picLocks noChangeAspect="1"/>
          </p:cNvPicPr>
          <p:nvPr/>
        </p:nvPicPr>
        <p:blipFill>
          <a:blip r:embed="rId2"/>
          <a:stretch>
            <a:fillRect/>
          </a:stretch>
        </p:blipFill>
        <p:spPr>
          <a:xfrm>
            <a:off x="964035" y="3059637"/>
            <a:ext cx="4497198" cy="3601017"/>
          </a:xfrm>
          <a:prstGeom prst="rect">
            <a:avLst/>
          </a:prstGeom>
        </p:spPr>
      </p:pic>
    </p:spTree>
    <p:extLst>
      <p:ext uri="{BB962C8B-B14F-4D97-AF65-F5344CB8AC3E}">
        <p14:creationId xmlns:p14="http://schemas.microsoft.com/office/powerpoint/2010/main" val="13720629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EARLY ABANDONING STRATEGY </a:t>
            </a:r>
            <a:endParaRPr lang="zh-TW" altLang="en-US" dirty="0">
              <a:latin typeface="Times New Roman" panose="02020603050405020304" pitchFamily="18" charset="0"/>
              <a:cs typeface="Times New Roman" panose="02020603050405020304" pitchFamily="18" charset="0"/>
            </a:endParaRP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026849344"/>
              </p:ext>
            </p:extLst>
          </p:nvPr>
        </p:nvGraphicFramePr>
        <p:xfrm>
          <a:off x="978243" y="1754659"/>
          <a:ext cx="5257800" cy="4646608"/>
        </p:xfrm>
        <a:graphic>
          <a:graphicData uri="http://schemas.openxmlformats.org/drawingml/2006/table">
            <a:tbl>
              <a:tblPr firstRow="1" bandRow="1">
                <a:tableStyleId>{5C22544A-7EE6-4342-B048-85BDC9FD1C3A}</a:tableStyleId>
              </a:tblPr>
              <a:tblGrid>
                <a:gridCol w="876300"/>
                <a:gridCol w="876300"/>
                <a:gridCol w="876300"/>
                <a:gridCol w="876300"/>
                <a:gridCol w="876300"/>
                <a:gridCol w="876300"/>
              </a:tblGrid>
              <a:tr h="746997">
                <a:tc>
                  <a:txBody>
                    <a:bodyPr/>
                    <a:lstStyle/>
                    <a:p>
                      <a:pPr algn="ctr"/>
                      <a:r>
                        <a:rPr lang="en-US" altLang="zh-TW" sz="1600" dirty="0" smtClean="0">
                          <a:solidFill>
                            <a:schemeClr val="tx1"/>
                          </a:solidFill>
                        </a:rPr>
                        <a:t>.</a:t>
                      </a:r>
                    </a:p>
                    <a:p>
                      <a:pPr algn="ctr"/>
                      <a:r>
                        <a:rPr lang="en-US" altLang="zh-TW" sz="1600" dirty="0" smtClean="0">
                          <a:solidFill>
                            <a:schemeClr val="tx1"/>
                          </a:solidFill>
                        </a:rPr>
                        <a:t>.</a:t>
                      </a:r>
                    </a:p>
                    <a:p>
                      <a:pPr algn="ctr"/>
                      <a:r>
                        <a:rPr lang="en-US" altLang="zh-TW" sz="1600" dirty="0" smtClean="0">
                          <a:solidFill>
                            <a:schemeClr val="tx1"/>
                          </a:solidFill>
                        </a:rPr>
                        <a:t>.</a:t>
                      </a:r>
                      <a:endParaRPr lang="zh-TW"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600" dirty="0" smtClean="0">
                          <a:solidFill>
                            <a:schemeClr val="tx1"/>
                          </a:solidFill>
                        </a:rPr>
                        <a:t>.</a:t>
                      </a:r>
                    </a:p>
                    <a:p>
                      <a:pPr algn="ctr"/>
                      <a:r>
                        <a:rPr lang="en-US" altLang="zh-TW" sz="1600" dirty="0" smtClean="0">
                          <a:solidFill>
                            <a:schemeClr val="tx1"/>
                          </a:solidFill>
                        </a:rPr>
                        <a:t>.</a:t>
                      </a:r>
                    </a:p>
                    <a:p>
                      <a:pPr algn="ctr"/>
                      <a:r>
                        <a:rPr lang="en-US" altLang="zh-TW" sz="1600" dirty="0" smtClean="0">
                          <a:solidFill>
                            <a:schemeClr val="tx1"/>
                          </a:solidFill>
                        </a:rPr>
                        <a:t>.</a:t>
                      </a:r>
                      <a:endParaRPr lang="zh-TW"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600" dirty="0" smtClean="0">
                          <a:solidFill>
                            <a:schemeClr val="tx1"/>
                          </a:solidFill>
                        </a:rPr>
                        <a:t>.</a:t>
                      </a:r>
                    </a:p>
                    <a:p>
                      <a:pPr algn="ctr"/>
                      <a:r>
                        <a:rPr lang="en-US" altLang="zh-TW" sz="1600" dirty="0" smtClean="0">
                          <a:solidFill>
                            <a:schemeClr val="tx1"/>
                          </a:solidFill>
                        </a:rPr>
                        <a:t>.</a:t>
                      </a:r>
                    </a:p>
                    <a:p>
                      <a:pPr algn="ctr"/>
                      <a:r>
                        <a:rPr lang="en-US" altLang="zh-TW" sz="1600" dirty="0" smtClean="0">
                          <a:solidFill>
                            <a:schemeClr val="tx1"/>
                          </a:solidFill>
                        </a:rPr>
                        <a:t>.</a:t>
                      </a:r>
                      <a:endParaRPr lang="zh-TW"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600" dirty="0" smtClean="0">
                          <a:solidFill>
                            <a:schemeClr val="tx1"/>
                          </a:solidFill>
                        </a:rPr>
                        <a:t>.</a:t>
                      </a:r>
                    </a:p>
                    <a:p>
                      <a:pPr algn="ctr"/>
                      <a:r>
                        <a:rPr lang="en-US" altLang="zh-TW" sz="1600" dirty="0" smtClean="0">
                          <a:solidFill>
                            <a:schemeClr val="tx1"/>
                          </a:solidFill>
                        </a:rPr>
                        <a:t>.</a:t>
                      </a:r>
                    </a:p>
                    <a:p>
                      <a:pPr algn="ctr"/>
                      <a:r>
                        <a:rPr lang="en-US" altLang="zh-TW" sz="1600" dirty="0" smtClean="0">
                          <a:solidFill>
                            <a:schemeClr val="tx1"/>
                          </a:solidFill>
                        </a:rPr>
                        <a:t>.</a:t>
                      </a:r>
                      <a:endParaRPr lang="zh-TW"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600" dirty="0" smtClean="0">
                          <a:solidFill>
                            <a:schemeClr val="tx1"/>
                          </a:solidFill>
                        </a:rPr>
                        <a:t>.</a:t>
                      </a:r>
                    </a:p>
                    <a:p>
                      <a:pPr algn="ctr"/>
                      <a:r>
                        <a:rPr lang="en-US" altLang="zh-TW" sz="1600" dirty="0" smtClean="0">
                          <a:solidFill>
                            <a:schemeClr val="tx1"/>
                          </a:solidFill>
                        </a:rPr>
                        <a:t>.</a:t>
                      </a:r>
                    </a:p>
                    <a:p>
                      <a:pPr algn="ctr"/>
                      <a:r>
                        <a:rPr lang="en-US" altLang="zh-TW" sz="1600" dirty="0" smtClean="0">
                          <a:solidFill>
                            <a:schemeClr val="tx1"/>
                          </a:solidFill>
                        </a:rPr>
                        <a:t>.</a:t>
                      </a:r>
                      <a:endParaRPr lang="zh-TW"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TW" sz="1600" dirty="0" smtClean="0">
                          <a:solidFill>
                            <a:schemeClr val="tx1"/>
                          </a:solidFill>
                        </a:rPr>
                        <a:t>.</a:t>
                      </a:r>
                    </a:p>
                    <a:p>
                      <a:pPr algn="ctr"/>
                      <a:r>
                        <a:rPr lang="en-US" altLang="zh-TW" sz="1600" dirty="0" smtClean="0">
                          <a:solidFill>
                            <a:schemeClr val="tx1"/>
                          </a:solidFill>
                        </a:rPr>
                        <a:t>.</a:t>
                      </a:r>
                    </a:p>
                    <a:p>
                      <a:pPr algn="ctr"/>
                      <a:r>
                        <a:rPr lang="en-US" altLang="zh-TW" sz="1600" dirty="0" smtClean="0">
                          <a:solidFill>
                            <a:schemeClr val="tx1"/>
                          </a:solidFill>
                        </a:rPr>
                        <a:t>.</a:t>
                      </a:r>
                      <a:endParaRPr lang="zh-TW" altLang="en-US" sz="160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750172">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750172">
                <a:tc>
                  <a:txBody>
                    <a:bodyPr/>
                    <a:lstStyle/>
                    <a:p>
                      <a:pPr algn="ct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zh-TW" altLang="en-US"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zh-TW" altLang="en-US"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endParaRPr lang="zh-TW" altLang="en-US"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r>
              <a:tr h="750172">
                <a:tc>
                  <a:txBody>
                    <a:bodyPr/>
                    <a:lstStyle/>
                    <a:p>
                      <a:pPr algn="ctr"/>
                      <a:r>
                        <a:rPr lang="en-US" altLang="zh-TW" sz="1600" dirty="0" smtClean="0"/>
                        <a:t>.</a:t>
                      </a:r>
                    </a:p>
                    <a:p>
                      <a:pPr algn="ctr"/>
                      <a:r>
                        <a:rPr lang="en-US" altLang="zh-TW" sz="1600" dirty="0" smtClean="0"/>
                        <a:t>.</a:t>
                      </a:r>
                    </a:p>
                    <a:p>
                      <a:pPr algn="ctr"/>
                      <a:r>
                        <a:rPr lang="en-US" altLang="zh-TW" sz="1600" dirty="0" smtClean="0"/>
                        <a:t>.</a:t>
                      </a:r>
                      <a:endParaRPr lang="zh-TW"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dirty="0" smtClean="0"/>
                        <a:t>.</a:t>
                      </a:r>
                    </a:p>
                    <a:p>
                      <a:pPr algn="ctr"/>
                      <a:r>
                        <a:rPr lang="en-US" altLang="zh-TW" sz="1600" dirty="0" smtClean="0"/>
                        <a:t>.</a:t>
                      </a:r>
                    </a:p>
                    <a:p>
                      <a:pPr algn="ctr"/>
                      <a:r>
                        <a:rPr lang="en-US" altLang="zh-TW" sz="1600" dirty="0" smtClean="0"/>
                        <a:t>.</a:t>
                      </a:r>
                      <a:endParaRPr lang="zh-TW" altLang="en-US"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dirty="0" smtClean="0"/>
                        <a:t>.</a:t>
                      </a:r>
                    </a:p>
                    <a:p>
                      <a:pPr algn="ctr"/>
                      <a:r>
                        <a:rPr lang="en-US" altLang="zh-TW" sz="1600" dirty="0" smtClean="0"/>
                        <a:t>.</a:t>
                      </a:r>
                    </a:p>
                    <a:p>
                      <a:pPr algn="ctr"/>
                      <a:r>
                        <a:rPr lang="en-US" altLang="zh-TW" sz="1600" dirty="0" smtClean="0"/>
                        <a:t>.</a:t>
                      </a:r>
                      <a:endParaRPr lang="zh-TW" altLang="en-US"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dirty="0" smtClean="0"/>
                        <a:t>.</a:t>
                      </a:r>
                    </a:p>
                    <a:p>
                      <a:pPr algn="ctr"/>
                      <a:r>
                        <a:rPr lang="en-US" altLang="zh-TW" sz="1600" dirty="0" smtClean="0"/>
                        <a:t>.</a:t>
                      </a:r>
                    </a:p>
                    <a:p>
                      <a:pPr algn="ctr"/>
                      <a:r>
                        <a:rPr lang="en-US" altLang="zh-TW" sz="1600" dirty="0" smtClean="0"/>
                        <a:t>.</a:t>
                      </a:r>
                      <a:endParaRPr lang="zh-TW" altLang="en-US"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dirty="0" smtClean="0"/>
                        <a:t>.</a:t>
                      </a:r>
                    </a:p>
                    <a:p>
                      <a:pPr algn="ctr"/>
                      <a:r>
                        <a:rPr lang="en-US" altLang="zh-TW" sz="1600" dirty="0" smtClean="0"/>
                        <a:t>.</a:t>
                      </a:r>
                    </a:p>
                    <a:p>
                      <a:pPr algn="ctr"/>
                      <a:r>
                        <a:rPr lang="en-US" altLang="zh-TW" sz="1600" dirty="0" smtClean="0"/>
                        <a:t>.</a:t>
                      </a:r>
                      <a:endParaRPr lang="zh-TW" altLang="en-US"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600" dirty="0" smtClean="0"/>
                        <a:t>.</a:t>
                      </a:r>
                    </a:p>
                    <a:p>
                      <a:pPr algn="ctr"/>
                      <a:r>
                        <a:rPr lang="en-US" altLang="zh-TW" sz="1600" dirty="0" smtClean="0"/>
                        <a:t>.</a:t>
                      </a:r>
                    </a:p>
                    <a:p>
                      <a:pPr algn="ctr"/>
                      <a:r>
                        <a:rPr lang="en-US" altLang="zh-TW" sz="1600" dirty="0" smtClean="0"/>
                        <a:t>.</a:t>
                      </a:r>
                      <a:endParaRPr lang="zh-TW" altLang="en-US" sz="16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50172">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50172">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cxnSp>
        <p:nvCxnSpPr>
          <p:cNvPr id="11" name="直線單箭頭接點 10"/>
          <p:cNvCxnSpPr/>
          <p:nvPr/>
        </p:nvCxnSpPr>
        <p:spPr>
          <a:xfrm>
            <a:off x="6236043" y="3649363"/>
            <a:ext cx="84849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93CC6F8E-17F5-49FB-9734-8A48BD7FEACD}"/>
              </a:ext>
            </a:extLst>
          </p:cNvPr>
          <p:cNvSpPr/>
          <p:nvPr/>
        </p:nvSpPr>
        <p:spPr>
          <a:xfrm>
            <a:off x="7238576" y="3421796"/>
            <a:ext cx="2825645" cy="830997"/>
          </a:xfrm>
          <a:prstGeom prst="rect">
            <a:avLst/>
          </a:prstGeom>
        </p:spPr>
        <p:txBody>
          <a:bodyPr wrap="none">
            <a:spAutoFit/>
          </a:bodyPr>
          <a:lstStyle/>
          <a:p>
            <a:r>
              <a:rPr lang="en-US" altLang="zh-TW" sz="2400" dirty="0" smtClean="0">
                <a:latin typeface="Times New Roman" panose="02020603050405020304" pitchFamily="18" charset="0"/>
                <a:cs typeface="Times New Roman" panose="02020603050405020304" pitchFamily="18" charset="0"/>
              </a:rPr>
              <a:t>Larger </a:t>
            </a:r>
            <a:r>
              <a:rPr lang="en-US" altLang="zh-TW" sz="2400" dirty="0">
                <a:latin typeface="Times New Roman" panose="02020603050405020304" pitchFamily="18" charset="0"/>
                <a:cs typeface="Times New Roman" panose="02020603050405020304" pitchFamily="18" charset="0"/>
              </a:rPr>
              <a:t>than </a:t>
            </a:r>
            <a:r>
              <a:rPr lang="en-US" altLang="zh-TW" sz="2400" dirty="0" smtClean="0">
                <a:latin typeface="Times New Roman" panose="02020603050405020304" pitchFamily="18" charset="0"/>
                <a:cs typeface="Times New Roman" panose="02020603050405020304" pitchFamily="18" charset="0"/>
              </a:rPr>
              <a:t>threshold</a:t>
            </a:r>
          </a:p>
          <a:p>
            <a:endParaRPr lang="en-US" altLang="zh-TW" sz="2400" dirty="0">
              <a:latin typeface="Times New Roman" panose="02020603050405020304" pitchFamily="18" charset="0"/>
              <a:cs typeface="Times New Roman" panose="02020603050405020304" pitchFamily="18" charset="0"/>
            </a:endParaRPr>
          </a:p>
        </p:txBody>
      </p:sp>
      <p:pic>
        <p:nvPicPr>
          <p:cNvPr id="14" name="圖片 13"/>
          <p:cNvPicPr>
            <a:picLocks noChangeAspect="1"/>
          </p:cNvPicPr>
          <p:nvPr/>
        </p:nvPicPr>
        <p:blipFill>
          <a:blip r:embed="rId2"/>
          <a:stretch>
            <a:fillRect/>
          </a:stretch>
        </p:blipFill>
        <p:spPr>
          <a:xfrm>
            <a:off x="10007273" y="3529015"/>
            <a:ext cx="219075" cy="257175"/>
          </a:xfrm>
          <a:prstGeom prst="rect">
            <a:avLst/>
          </a:prstGeom>
        </p:spPr>
      </p:pic>
      <p:cxnSp>
        <p:nvCxnSpPr>
          <p:cNvPr id="17" name="直線單箭頭接點 16"/>
          <p:cNvCxnSpPr/>
          <p:nvPr/>
        </p:nvCxnSpPr>
        <p:spPr>
          <a:xfrm>
            <a:off x="6236043" y="2895601"/>
            <a:ext cx="84849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 xmlns:a16="http://schemas.microsoft.com/office/drawing/2014/main" id="{93CC6F8E-17F5-49FB-9734-8A48BD7FEACD}"/>
              </a:ext>
            </a:extLst>
          </p:cNvPr>
          <p:cNvSpPr/>
          <p:nvPr/>
        </p:nvSpPr>
        <p:spPr>
          <a:xfrm>
            <a:off x="7238576" y="2537768"/>
            <a:ext cx="2701381" cy="830997"/>
          </a:xfrm>
          <a:prstGeom prst="rect">
            <a:avLst/>
          </a:prstGeom>
        </p:spPr>
        <p:txBody>
          <a:bodyPr wrap="none">
            <a:spAutoFit/>
          </a:bodyPr>
          <a:lstStyle/>
          <a:p>
            <a:r>
              <a:rPr lang="en-US" altLang="zh-TW" sz="2400" dirty="0" smtClean="0">
                <a:latin typeface="Times New Roman" panose="02020603050405020304" pitchFamily="18" charset="0"/>
                <a:cs typeface="Times New Roman" panose="02020603050405020304" pitchFamily="18" charset="0"/>
              </a:rPr>
              <a:t>No need to calculate</a:t>
            </a:r>
            <a:endParaRPr lang="en-US" altLang="zh-TW" sz="2400" dirty="0" smtClean="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p:txBody>
      </p:sp>
      <p:cxnSp>
        <p:nvCxnSpPr>
          <p:cNvPr id="20" name="直線單箭頭接點 19"/>
          <p:cNvCxnSpPr/>
          <p:nvPr/>
        </p:nvCxnSpPr>
        <p:spPr>
          <a:xfrm>
            <a:off x="6236043" y="2158314"/>
            <a:ext cx="848498" cy="4979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611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38244FE1-491B-40EC-8B3B-B7FA0DD46D60}"/>
              </a:ext>
            </a:extLst>
          </p:cNvPr>
          <p:cNvSpPr>
            <a:spLocks noGrp="1"/>
          </p:cNvSpPr>
          <p:nvPr>
            <p:ph type="title"/>
          </p:nvPr>
        </p:nvSpPr>
        <p:spPr/>
        <p:txBody>
          <a:bodyPr/>
          <a:lstStyle/>
          <a:p>
            <a:r>
              <a:rPr lang="en-US" altLang="zh-TW" dirty="0">
                <a:latin typeface="Times New Roman" panose="02020603050405020304" pitchFamily="18" charset="0"/>
                <a:ea typeface="新細明體-ExtB" panose="02020500000000000000" pitchFamily="18" charset="-120"/>
                <a:cs typeface="Times New Roman" panose="02020603050405020304" pitchFamily="18" charset="0"/>
              </a:rPr>
              <a:t>GLOBAL CONSTRAINTS</a:t>
            </a:r>
            <a:endParaRPr lang="zh-TW" altLang="en-US" dirty="0">
              <a:latin typeface="Times New Roman" panose="02020603050405020304" pitchFamily="18" charset="0"/>
              <a:ea typeface="新細明體-ExtB" panose="02020500000000000000" pitchFamily="18" charset="-120"/>
              <a:cs typeface="Times New Roman" panose="02020603050405020304" pitchFamily="18" charset="0"/>
            </a:endParaRPr>
          </a:p>
        </p:txBody>
      </p:sp>
      <p:sp>
        <p:nvSpPr>
          <p:cNvPr id="8" name="左大括弧 7">
            <a:extLst>
              <a:ext uri="{FF2B5EF4-FFF2-40B4-BE49-F238E27FC236}">
                <a16:creationId xmlns="" xmlns:a16="http://schemas.microsoft.com/office/drawing/2014/main" id="{E99E44E4-1825-4554-A45F-BFE43C076EC9}"/>
              </a:ext>
            </a:extLst>
          </p:cNvPr>
          <p:cNvSpPr/>
          <p:nvPr/>
        </p:nvSpPr>
        <p:spPr>
          <a:xfrm>
            <a:off x="1049322" y="3996250"/>
            <a:ext cx="352338" cy="1641152"/>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矩形 8">
            <a:extLst>
              <a:ext uri="{FF2B5EF4-FFF2-40B4-BE49-F238E27FC236}">
                <a16:creationId xmlns="" xmlns:a16="http://schemas.microsoft.com/office/drawing/2014/main" id="{9F7B4764-0A04-45C9-9C12-D77AE3C32978}"/>
              </a:ext>
            </a:extLst>
          </p:cNvPr>
          <p:cNvSpPr/>
          <p:nvPr/>
        </p:nvSpPr>
        <p:spPr>
          <a:xfrm>
            <a:off x="742348" y="4632160"/>
            <a:ext cx="261610" cy="369332"/>
          </a:xfrm>
          <a:prstGeom prst="rect">
            <a:avLst/>
          </a:prstGeom>
          <a:ln>
            <a:solidFill>
              <a:schemeClr val="bg1"/>
            </a:solidFill>
          </a:ln>
        </p:spPr>
        <p:txBody>
          <a:bodyPr wrap="none">
            <a:spAutoFit/>
          </a:bodyPr>
          <a:lstStyle/>
          <a:p>
            <a:r>
              <a:rPr lang="en-US" altLang="zh-TW" dirty="0">
                <a:solidFill>
                  <a:srgbClr val="FF0000"/>
                </a:solidFill>
                <a:latin typeface="Times New Roman" panose="02020603050405020304" pitchFamily="18" charset="0"/>
                <a:cs typeface="Times New Roman" panose="02020603050405020304" pitchFamily="18" charset="0"/>
              </a:rPr>
              <a:t>r</a:t>
            </a:r>
            <a:endParaRPr lang="zh-TW" altLang="en-US" dirty="0">
              <a:solidFill>
                <a:srgbClr val="FF0000"/>
              </a:solidFill>
            </a:endParaRPr>
          </a:p>
        </p:txBody>
      </p:sp>
      <p:pic>
        <p:nvPicPr>
          <p:cNvPr id="10" name="圖片 9">
            <a:extLst>
              <a:ext uri="{FF2B5EF4-FFF2-40B4-BE49-F238E27FC236}">
                <a16:creationId xmlns="" xmlns:a16="http://schemas.microsoft.com/office/drawing/2014/main" id="{29B597AB-7319-4254-B7BC-A1F1720E2413}"/>
              </a:ext>
            </a:extLst>
          </p:cNvPr>
          <p:cNvPicPr>
            <a:picLocks noChangeAspect="1"/>
          </p:cNvPicPr>
          <p:nvPr/>
        </p:nvPicPr>
        <p:blipFill>
          <a:blip r:embed="rId2"/>
          <a:stretch>
            <a:fillRect/>
          </a:stretch>
        </p:blipFill>
        <p:spPr>
          <a:xfrm>
            <a:off x="1401660" y="1412421"/>
            <a:ext cx="5584026" cy="5445579"/>
          </a:xfrm>
          <a:prstGeom prst="rect">
            <a:avLst/>
          </a:prstGeom>
        </p:spPr>
      </p:pic>
      <p:sp>
        <p:nvSpPr>
          <p:cNvPr id="12" name="矩形 11">
            <a:extLst>
              <a:ext uri="{FF2B5EF4-FFF2-40B4-BE49-F238E27FC236}">
                <a16:creationId xmlns="" xmlns:a16="http://schemas.microsoft.com/office/drawing/2014/main" id="{93CC6F8E-17F5-49FB-9734-8A48BD7FEACD}"/>
              </a:ext>
            </a:extLst>
          </p:cNvPr>
          <p:cNvSpPr/>
          <p:nvPr/>
        </p:nvSpPr>
        <p:spPr>
          <a:xfrm>
            <a:off x="6793733" y="3044593"/>
            <a:ext cx="3996607" cy="1200329"/>
          </a:xfrm>
          <a:prstGeom prst="rect">
            <a:avLst/>
          </a:prstGeom>
        </p:spPr>
        <p:txBody>
          <a:bodyPr wrap="none">
            <a:spAutoFit/>
          </a:bodyPr>
          <a:lstStyle/>
          <a:p>
            <a:r>
              <a:rPr lang="en-US" altLang="zh-TW" sz="2400" dirty="0">
                <a:latin typeface="Times New Roman" panose="02020603050405020304" pitchFamily="18" charset="0"/>
                <a:cs typeface="Times New Roman" panose="02020603050405020304" pitchFamily="18" charset="0"/>
              </a:rPr>
              <a:t>T</a:t>
            </a:r>
            <a:r>
              <a:rPr lang="zh-TW" altLang="en-US" sz="2400" dirty="0">
                <a:latin typeface="Times New Roman" panose="02020603050405020304" pitchFamily="18" charset="0"/>
                <a:cs typeface="Times New Roman" panose="02020603050405020304" pitchFamily="18" charset="0"/>
              </a:rPr>
              <a:t>he warping path w</a:t>
            </a:r>
            <a:r>
              <a:rPr lang="zh-TW" altLang="en-US" sz="2400" baseline="-14000" dirty="0">
                <a:latin typeface="Times New Roman" panose="02020603050405020304" pitchFamily="18" charset="0"/>
                <a:cs typeface="Times New Roman" panose="02020603050405020304" pitchFamily="18" charset="0"/>
              </a:rPr>
              <a:t>k</a:t>
            </a:r>
            <a:r>
              <a:rPr lang="zh-TW" altLang="en-US" sz="2400" dirty="0">
                <a:latin typeface="Times New Roman" panose="02020603050405020304" pitchFamily="18" charset="0"/>
                <a:cs typeface="Times New Roman" panose="02020603050405020304" pitchFamily="18" charset="0"/>
              </a:rPr>
              <a:t> = (i,j)</a:t>
            </a:r>
            <a:r>
              <a:rPr lang="zh-TW" altLang="en-US" sz="2400" baseline="-14000" dirty="0">
                <a:latin typeface="Times New Roman" panose="02020603050405020304" pitchFamily="18" charset="0"/>
                <a:cs typeface="Times New Roman" panose="02020603050405020304" pitchFamily="18" charset="0"/>
              </a:rPr>
              <a:t>k</a:t>
            </a:r>
            <a:r>
              <a:rPr lang="zh-TW" altLang="en-US" sz="2400" dirty="0">
                <a:latin typeface="Times New Roman" panose="02020603050405020304" pitchFamily="18" charset="0"/>
                <a:cs typeface="Times New Roman" panose="02020603050405020304" pitchFamily="18" charset="0"/>
              </a:rPr>
              <a:t> is </a:t>
            </a:r>
            <a:endParaRPr lang="en-US" altLang="zh-TW" sz="2400" dirty="0">
              <a:latin typeface="Times New Roman" panose="02020603050405020304" pitchFamily="18" charset="0"/>
              <a:cs typeface="Times New Roman" panose="02020603050405020304" pitchFamily="18" charset="0"/>
            </a:endParaRPr>
          </a:p>
          <a:p>
            <a:r>
              <a:rPr lang="zh-TW" altLang="en-US" sz="2400" dirty="0">
                <a:latin typeface="Times New Roman" panose="02020603050405020304" pitchFamily="18" charset="0"/>
                <a:cs typeface="Times New Roman" panose="02020603050405020304" pitchFamily="18" charset="0"/>
              </a:rPr>
              <a:t>subject to j − r ≤ i ≤ j + r</a:t>
            </a:r>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64567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 xmlns:a16="http://schemas.microsoft.com/office/drawing/2014/main" id="{96EC9FFF-7CDD-4B77-831C-0C0E576C8A5D}"/>
              </a:ext>
            </a:extLst>
          </p:cNvPr>
          <p:cNvSpPr>
            <a:spLocks noGrp="1"/>
          </p:cNvSpPr>
          <p:nvPr>
            <p:ph type="title"/>
          </p:nvPr>
        </p:nvSpPr>
        <p:spPr>
          <a:xfrm>
            <a:off x="838200" y="365125"/>
            <a:ext cx="10515600" cy="1325563"/>
          </a:xfrm>
        </p:spPr>
        <p:txBody>
          <a:bodyPr>
            <a:normAutofit/>
          </a:bodyPr>
          <a:lstStyle/>
          <a:p>
            <a:r>
              <a:rPr lang="en-US" altLang="zh-TW" sz="4000" dirty="0">
                <a:latin typeface="Times New Roman" panose="02020603050405020304" pitchFamily="18" charset="0"/>
                <a:cs typeface="Times New Roman" panose="02020603050405020304" pitchFamily="18" charset="0"/>
              </a:rPr>
              <a:t>PROPOSED LOWER BOUNDING DISTANCE</a:t>
            </a:r>
            <a:endParaRPr lang="zh-TW" altLang="en-US" sz="40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 xmlns:a16="http://schemas.microsoft.com/office/drawing/2014/main" id="{9B78F466-015D-44F7-B6AC-A554E1FCCA1E}"/>
              </a:ext>
            </a:extLst>
          </p:cNvPr>
          <p:cNvPicPr>
            <a:picLocks noChangeAspect="1"/>
          </p:cNvPicPr>
          <p:nvPr/>
        </p:nvPicPr>
        <p:blipFill>
          <a:blip r:embed="rId2"/>
          <a:stretch>
            <a:fillRect/>
          </a:stretch>
        </p:blipFill>
        <p:spPr>
          <a:xfrm>
            <a:off x="1122649" y="3341494"/>
            <a:ext cx="6438900" cy="2571750"/>
          </a:xfrm>
          <a:prstGeom prst="rect">
            <a:avLst/>
          </a:prstGeom>
        </p:spPr>
      </p:pic>
      <p:sp>
        <p:nvSpPr>
          <p:cNvPr id="7" name="矩形 6"/>
          <p:cNvSpPr/>
          <p:nvPr/>
        </p:nvSpPr>
        <p:spPr>
          <a:xfrm>
            <a:off x="3515912" y="4384795"/>
            <a:ext cx="106680" cy="13716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接點 8"/>
          <p:cNvCxnSpPr/>
          <p:nvPr/>
        </p:nvCxnSpPr>
        <p:spPr>
          <a:xfrm>
            <a:off x="3264452" y="3537709"/>
            <a:ext cx="0" cy="217932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a:off x="3919772" y="3537709"/>
            <a:ext cx="0" cy="217932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左大括弧 14">
            <a:extLst>
              <a:ext uri="{FF2B5EF4-FFF2-40B4-BE49-F238E27FC236}">
                <a16:creationId xmlns="" xmlns:a16="http://schemas.microsoft.com/office/drawing/2014/main" id="{E99E44E4-1825-4554-A45F-BFE43C076EC9}"/>
              </a:ext>
            </a:extLst>
          </p:cNvPr>
          <p:cNvSpPr/>
          <p:nvPr/>
        </p:nvSpPr>
        <p:spPr>
          <a:xfrm rot="16200000">
            <a:off x="3313029" y="5664640"/>
            <a:ext cx="196217" cy="300992"/>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16" name="左大括弧 15">
            <a:extLst>
              <a:ext uri="{FF2B5EF4-FFF2-40B4-BE49-F238E27FC236}">
                <a16:creationId xmlns="" xmlns:a16="http://schemas.microsoft.com/office/drawing/2014/main" id="{E99E44E4-1825-4554-A45F-BFE43C076EC9}"/>
              </a:ext>
            </a:extLst>
          </p:cNvPr>
          <p:cNvSpPr/>
          <p:nvPr/>
        </p:nvSpPr>
        <p:spPr>
          <a:xfrm rot="16200000">
            <a:off x="3621640" y="5664639"/>
            <a:ext cx="196217" cy="300992"/>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17" name="矩形 16">
            <a:extLst>
              <a:ext uri="{FF2B5EF4-FFF2-40B4-BE49-F238E27FC236}">
                <a16:creationId xmlns="" xmlns:a16="http://schemas.microsoft.com/office/drawing/2014/main" id="{9F7B4764-0A04-45C9-9C12-D77AE3C32978}"/>
              </a:ext>
            </a:extLst>
          </p:cNvPr>
          <p:cNvSpPr/>
          <p:nvPr/>
        </p:nvSpPr>
        <p:spPr>
          <a:xfrm>
            <a:off x="3280332" y="6054890"/>
            <a:ext cx="261610" cy="369332"/>
          </a:xfrm>
          <a:prstGeom prst="rect">
            <a:avLst/>
          </a:prstGeom>
          <a:ln>
            <a:solidFill>
              <a:schemeClr val="bg1"/>
            </a:solidFill>
          </a:ln>
        </p:spPr>
        <p:txBody>
          <a:bodyPr wrap="none">
            <a:spAutoFit/>
          </a:bodyPr>
          <a:lstStyle/>
          <a:p>
            <a:r>
              <a:rPr lang="en-US" altLang="zh-TW" dirty="0">
                <a:solidFill>
                  <a:srgbClr val="FF0000"/>
                </a:solidFill>
                <a:latin typeface="Times New Roman" panose="02020603050405020304" pitchFamily="18" charset="0"/>
                <a:cs typeface="Times New Roman" panose="02020603050405020304" pitchFamily="18" charset="0"/>
              </a:rPr>
              <a:t>r</a:t>
            </a:r>
            <a:endParaRPr lang="zh-TW" altLang="en-US" dirty="0">
              <a:solidFill>
                <a:srgbClr val="FF0000"/>
              </a:solidFill>
            </a:endParaRPr>
          </a:p>
        </p:txBody>
      </p:sp>
      <p:sp>
        <p:nvSpPr>
          <p:cNvPr id="18" name="矩形 17">
            <a:extLst>
              <a:ext uri="{FF2B5EF4-FFF2-40B4-BE49-F238E27FC236}">
                <a16:creationId xmlns="" xmlns:a16="http://schemas.microsoft.com/office/drawing/2014/main" id="{9F7B4764-0A04-45C9-9C12-D77AE3C32978}"/>
              </a:ext>
            </a:extLst>
          </p:cNvPr>
          <p:cNvSpPr/>
          <p:nvPr/>
        </p:nvSpPr>
        <p:spPr>
          <a:xfrm>
            <a:off x="3588943" y="6054890"/>
            <a:ext cx="261610" cy="369332"/>
          </a:xfrm>
          <a:prstGeom prst="rect">
            <a:avLst/>
          </a:prstGeom>
          <a:ln>
            <a:solidFill>
              <a:schemeClr val="bg1"/>
            </a:solidFill>
          </a:ln>
        </p:spPr>
        <p:txBody>
          <a:bodyPr wrap="none">
            <a:spAutoFit/>
          </a:bodyPr>
          <a:lstStyle/>
          <a:p>
            <a:r>
              <a:rPr lang="en-US" altLang="zh-TW" dirty="0">
                <a:solidFill>
                  <a:srgbClr val="FF0000"/>
                </a:solidFill>
                <a:latin typeface="Times New Roman" panose="02020603050405020304" pitchFamily="18" charset="0"/>
                <a:cs typeface="Times New Roman" panose="02020603050405020304" pitchFamily="18" charset="0"/>
              </a:rPr>
              <a:t>r</a:t>
            </a:r>
            <a:endParaRPr lang="zh-TW" altLang="en-US" dirty="0">
              <a:solidFill>
                <a:srgbClr val="FF0000"/>
              </a:solidFill>
            </a:endParaRPr>
          </a:p>
        </p:txBody>
      </p:sp>
      <p:cxnSp>
        <p:nvCxnSpPr>
          <p:cNvPr id="20" name="直線單箭頭接點 19"/>
          <p:cNvCxnSpPr/>
          <p:nvPr/>
        </p:nvCxnSpPr>
        <p:spPr>
          <a:xfrm flipH="1" flipV="1">
            <a:off x="3260641" y="4975654"/>
            <a:ext cx="300993" cy="2231"/>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a:off x="3541942" y="4193059"/>
            <a:ext cx="328303"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橢圓 24"/>
          <p:cNvSpPr/>
          <p:nvPr/>
        </p:nvSpPr>
        <p:spPr>
          <a:xfrm>
            <a:off x="3515707" y="4156395"/>
            <a:ext cx="76405" cy="733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p:nvSpPr>
        <p:spPr>
          <a:xfrm>
            <a:off x="3527654" y="4923027"/>
            <a:ext cx="76405" cy="7332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1" name="圖片 30">
            <a:extLst>
              <a:ext uri="{FF2B5EF4-FFF2-40B4-BE49-F238E27FC236}">
                <a16:creationId xmlns="" xmlns:a16="http://schemas.microsoft.com/office/drawing/2014/main" id="{CA751381-676A-4E5C-8193-4563D05CB6E3}"/>
              </a:ext>
            </a:extLst>
          </p:cNvPr>
          <p:cNvPicPr>
            <a:picLocks noChangeAspect="1"/>
          </p:cNvPicPr>
          <p:nvPr/>
        </p:nvPicPr>
        <p:blipFill>
          <a:blip r:embed="rId3"/>
          <a:stretch>
            <a:fillRect/>
          </a:stretch>
        </p:blipFill>
        <p:spPr>
          <a:xfrm>
            <a:off x="8005892" y="4229722"/>
            <a:ext cx="2981325" cy="971550"/>
          </a:xfrm>
          <a:prstGeom prst="rect">
            <a:avLst/>
          </a:prstGeom>
        </p:spPr>
      </p:pic>
      <p:sp>
        <p:nvSpPr>
          <p:cNvPr id="33" name="內容版面配置區 2">
            <a:extLst>
              <a:ext uri="{FF2B5EF4-FFF2-40B4-BE49-F238E27FC236}">
                <a16:creationId xmlns="" xmlns:a16="http://schemas.microsoft.com/office/drawing/2014/main" id="{D825C707-F5FC-42DC-A16B-3D9D1013632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Upper bound U =u</a:t>
            </a:r>
            <a:r>
              <a:rPr lang="en-US" altLang="zh-TW" baseline="-14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,u</a:t>
            </a:r>
            <a:r>
              <a:rPr lang="en-US" altLang="zh-TW" baseline="-14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,u</a:t>
            </a:r>
            <a:r>
              <a:rPr lang="en-US" altLang="zh-TW" baseline="-14000" dirty="0">
                <a:latin typeface="Times New Roman" panose="02020603050405020304" pitchFamily="18" charset="0"/>
                <a:cs typeface="Times New Roman" panose="02020603050405020304" pitchFamily="18" charset="0"/>
              </a:rPr>
              <a:t>n </a:t>
            </a:r>
            <a:r>
              <a:rPr lang="en-US" altLang="zh-TW" dirty="0">
                <a:latin typeface="Times New Roman" panose="02020603050405020304" pitchFamily="18" charset="0"/>
                <a:cs typeface="Times New Roman" panose="02020603050405020304" pitchFamily="18" charset="0"/>
              </a:rPr>
              <a:t>and lower bound L =l</a:t>
            </a:r>
            <a:r>
              <a:rPr lang="en-US" altLang="zh-TW" baseline="-14000"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,l</a:t>
            </a:r>
            <a:r>
              <a:rPr lang="en-US" altLang="zh-TW" baseline="-14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l</a:t>
            </a:r>
            <a:r>
              <a:rPr lang="en-US" altLang="zh-TW" baseline="-14000" dirty="0" err="1">
                <a:latin typeface="Times New Roman" panose="02020603050405020304" pitchFamily="18" charset="0"/>
                <a:cs typeface="Times New Roman" panose="02020603050405020304" pitchFamily="18" charset="0"/>
              </a:rPr>
              <a:t>m</a:t>
            </a:r>
            <a:endParaRPr lang="en-US" altLang="zh-TW" baseline="-14000" dirty="0">
              <a:latin typeface="Times New Roman" panose="02020603050405020304" pitchFamily="18" charset="0"/>
              <a:cs typeface="Times New Roman" panose="02020603050405020304" pitchFamily="18" charset="0"/>
            </a:endParaRPr>
          </a:p>
          <a:p>
            <a:endParaRPr lang="en-US" altLang="zh-TW" baseline="-14000" dirty="0">
              <a:latin typeface="Times New Roman" panose="02020603050405020304" pitchFamily="18" charset="0"/>
              <a:cs typeface="Times New Roman" panose="02020603050405020304" pitchFamily="18" charset="0"/>
            </a:endParaRPr>
          </a:p>
          <a:p>
            <a:endParaRPr lang="en-US" altLang="zh-TW" baseline="-14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TW" baseline="-1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04098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A9E62796-FA0E-4E92-87C4-869674C5D658}"/>
              </a:ext>
            </a:extLst>
          </p:cNvPr>
          <p:cNvSpPr>
            <a:spLocks noGrp="1"/>
          </p:cNvSpPr>
          <p:nvPr>
            <p:ph type="title"/>
          </p:nvPr>
        </p:nvSpPr>
        <p:spPr/>
        <p:txBody>
          <a:bodyPr>
            <a:normAutofit/>
          </a:bodyPr>
          <a:lstStyle/>
          <a:p>
            <a:r>
              <a:rPr lang="en-US" altLang="zh-TW" sz="4000" dirty="0">
                <a:latin typeface="Times New Roman" panose="02020603050405020304" pitchFamily="18" charset="0"/>
                <a:cs typeface="Times New Roman" panose="02020603050405020304" pitchFamily="18" charset="0"/>
              </a:rPr>
              <a:t>PROPOSED LOWER BOUNDING DISTANCE</a:t>
            </a:r>
            <a:endParaRPr lang="zh-TW" altLang="en-US" sz="4000" dirty="0"/>
          </a:p>
        </p:txBody>
      </p:sp>
      <p:pic>
        <p:nvPicPr>
          <p:cNvPr id="5" name="內容版面配置區 4">
            <a:extLst>
              <a:ext uri="{FF2B5EF4-FFF2-40B4-BE49-F238E27FC236}">
                <a16:creationId xmlns="" xmlns:a16="http://schemas.microsoft.com/office/drawing/2014/main" id="{8D3A859A-9E4F-4F7B-A9CA-BDED6AB564E5}"/>
              </a:ext>
            </a:extLst>
          </p:cNvPr>
          <p:cNvPicPr>
            <a:picLocks noGrp="1" noChangeAspect="1"/>
          </p:cNvPicPr>
          <p:nvPr>
            <p:ph idx="1"/>
          </p:nvPr>
        </p:nvPicPr>
        <p:blipFill>
          <a:blip r:embed="rId2"/>
          <a:stretch>
            <a:fillRect/>
          </a:stretch>
        </p:blipFill>
        <p:spPr>
          <a:xfrm>
            <a:off x="2331353" y="1690688"/>
            <a:ext cx="6351165" cy="3217924"/>
          </a:xfrm>
          <a:prstGeom prst="rect">
            <a:avLst/>
          </a:prstGeom>
        </p:spPr>
      </p:pic>
      <p:pic>
        <p:nvPicPr>
          <p:cNvPr id="6" name="圖片 5">
            <a:extLst>
              <a:ext uri="{FF2B5EF4-FFF2-40B4-BE49-F238E27FC236}">
                <a16:creationId xmlns="" xmlns:a16="http://schemas.microsoft.com/office/drawing/2014/main" id="{684D6DB0-F2C3-492A-B04A-3AB460C8958A}"/>
              </a:ext>
            </a:extLst>
          </p:cNvPr>
          <p:cNvPicPr>
            <a:picLocks noChangeAspect="1"/>
          </p:cNvPicPr>
          <p:nvPr/>
        </p:nvPicPr>
        <p:blipFill>
          <a:blip r:embed="rId3"/>
          <a:stretch>
            <a:fillRect/>
          </a:stretch>
        </p:blipFill>
        <p:spPr>
          <a:xfrm>
            <a:off x="2163660" y="4783339"/>
            <a:ext cx="6686550" cy="1943100"/>
          </a:xfrm>
          <a:prstGeom prst="rect">
            <a:avLst/>
          </a:prstGeom>
        </p:spPr>
      </p:pic>
    </p:spTree>
    <p:extLst>
      <p:ext uri="{BB962C8B-B14F-4D97-AF65-F5344CB8AC3E}">
        <p14:creationId xmlns:p14="http://schemas.microsoft.com/office/powerpoint/2010/main" val="867851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8074B888-0873-4384-B54D-4023F68247E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PROPOSED METHOD </a:t>
            </a:r>
            <a:endParaRPr lang="zh-TW" altLang="en-US" dirty="0"/>
          </a:p>
        </p:txBody>
      </p:sp>
      <p:pic>
        <p:nvPicPr>
          <p:cNvPr id="4" name="內容版面配置區 3">
            <a:extLst>
              <a:ext uri="{FF2B5EF4-FFF2-40B4-BE49-F238E27FC236}">
                <a16:creationId xmlns="" xmlns:a16="http://schemas.microsoft.com/office/drawing/2014/main" id="{2414C216-E727-4127-9A5A-DC342A04A8D0}"/>
              </a:ext>
            </a:extLst>
          </p:cNvPr>
          <p:cNvPicPr>
            <a:picLocks noGrp="1" noChangeAspect="1"/>
          </p:cNvPicPr>
          <p:nvPr>
            <p:ph idx="1"/>
          </p:nvPr>
        </p:nvPicPr>
        <p:blipFill>
          <a:blip r:embed="rId2"/>
          <a:stretch>
            <a:fillRect/>
          </a:stretch>
        </p:blipFill>
        <p:spPr>
          <a:xfrm>
            <a:off x="838200" y="2113889"/>
            <a:ext cx="6153150" cy="3924300"/>
          </a:xfrm>
          <a:prstGeom prst="rect">
            <a:avLst/>
          </a:prstGeom>
        </p:spPr>
      </p:pic>
      <p:sp>
        <p:nvSpPr>
          <p:cNvPr id="3" name="矩形 2"/>
          <p:cNvSpPr/>
          <p:nvPr/>
        </p:nvSpPr>
        <p:spPr>
          <a:xfrm>
            <a:off x="1013254" y="3163330"/>
            <a:ext cx="5544065" cy="3377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p:cNvSpPr/>
          <p:nvPr/>
        </p:nvSpPr>
        <p:spPr>
          <a:xfrm>
            <a:off x="1013253" y="4600759"/>
            <a:ext cx="3361039" cy="35018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56922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58502DE5-9EE0-495E-A1AF-D3761F5A0C4B}"/>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EXPERIMENTAL EVALUATION</a:t>
            </a:r>
            <a:endParaRPr lang="zh-TW" altLang="en-US" dirty="0">
              <a:latin typeface="Times New Roman" panose="02020603050405020304" pitchFamily="18" charset="0"/>
              <a:cs typeface="Times New Roman" panose="02020603050405020304" pitchFamily="18" charset="0"/>
            </a:endParaRPr>
          </a:p>
        </p:txBody>
      </p:sp>
      <p:sp>
        <p:nvSpPr>
          <p:cNvPr id="6" name="內容版面配置區 5">
            <a:extLst>
              <a:ext uri="{FF2B5EF4-FFF2-40B4-BE49-F238E27FC236}">
                <a16:creationId xmlns="" xmlns:a16="http://schemas.microsoft.com/office/drawing/2014/main" id="{FFC409F1-AEDF-4D43-A0DE-102070235B53}"/>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In our experiments ,the global constraint r of the </a:t>
            </a:r>
            <a:r>
              <a:rPr lang="en-US" altLang="zh-TW" dirty="0" err="1">
                <a:latin typeface="Times New Roman" panose="02020603050405020304" pitchFamily="18" charset="0"/>
                <a:cs typeface="Times New Roman" panose="02020603050405020304" pitchFamily="18" charset="0"/>
              </a:rPr>
              <a:t>Sakoe</a:t>
            </a:r>
            <a:r>
              <a:rPr lang="en-US" altLang="zh-TW" dirty="0">
                <a:latin typeface="Times New Roman" panose="02020603050405020304" pitchFamily="18" charset="0"/>
                <a:cs typeface="Times New Roman" panose="02020603050405020304" pitchFamily="18" charset="0"/>
              </a:rPr>
              <a:t>-Chiba band equals 10 percent of the length of sequences.</a:t>
            </a:r>
          </a:p>
          <a:p>
            <a:r>
              <a:rPr lang="en-US" altLang="zh-TW" dirty="0">
                <a:latin typeface="Times New Roman" panose="02020603050405020304" pitchFamily="18" charset="0"/>
                <a:cs typeface="Times New Roman" panose="02020603050405020304" pitchFamily="18" charset="0"/>
              </a:rPr>
              <a:t>Execute experiments on Yoga data set.</a:t>
            </a:r>
          </a:p>
          <a:p>
            <a:endParaRPr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 xmlns:a16="http://schemas.microsoft.com/office/drawing/2014/main" id="{FA01837E-B397-4DFC-8318-574CFFD84AE4}"/>
              </a:ext>
            </a:extLst>
          </p:cNvPr>
          <p:cNvPicPr>
            <a:picLocks noChangeAspect="1"/>
          </p:cNvPicPr>
          <p:nvPr/>
        </p:nvPicPr>
        <p:blipFill>
          <a:blip r:embed="rId2"/>
          <a:stretch>
            <a:fillRect/>
          </a:stretch>
        </p:blipFill>
        <p:spPr>
          <a:xfrm>
            <a:off x="1805643" y="3219974"/>
            <a:ext cx="6953250" cy="3505200"/>
          </a:xfrm>
          <a:prstGeom prst="rect">
            <a:avLst/>
          </a:prstGeom>
        </p:spPr>
      </p:pic>
    </p:spTree>
    <p:extLst>
      <p:ext uri="{BB962C8B-B14F-4D97-AF65-F5344CB8AC3E}">
        <p14:creationId xmlns:p14="http://schemas.microsoft.com/office/powerpoint/2010/main" val="18282125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459</TotalTime>
  <Words>630</Words>
  <Application>Microsoft Office PowerPoint</Application>
  <PresentationFormat>寬螢幕</PresentationFormat>
  <Paragraphs>266</Paragraphs>
  <Slides>12</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12</vt:i4>
      </vt:variant>
    </vt:vector>
  </HeadingPairs>
  <TitlesOfParts>
    <vt:vector size="19" baseType="lpstr">
      <vt:lpstr>新細明體</vt:lpstr>
      <vt:lpstr>新細明體-ExtB</vt:lpstr>
      <vt:lpstr>Arial</vt:lpstr>
      <vt:lpstr>Calibri</vt:lpstr>
      <vt:lpstr>Calibri Light</vt:lpstr>
      <vt:lpstr>Times New Roman</vt:lpstr>
      <vt:lpstr>Office 佈景主題</vt:lpstr>
      <vt:lpstr>Speed Up Similarity Search of Time Series Under Dynamic Time Warping</vt:lpstr>
      <vt:lpstr>ABSTRACT</vt:lpstr>
      <vt:lpstr>DYNAMIC TIME WARPING</vt:lpstr>
      <vt:lpstr>DYNAMIC TIME WARPING</vt:lpstr>
      <vt:lpstr>DYNAMIC TIME WARPING</vt:lpstr>
      <vt:lpstr>WARPING PATH</vt:lpstr>
      <vt:lpstr>EARLY ABANDONING STRATEGY </vt:lpstr>
      <vt:lpstr>GLOBAL CONSTRAINTS</vt:lpstr>
      <vt:lpstr>PROPOSED LOWER BOUNDING DISTANCE</vt:lpstr>
      <vt:lpstr>PROPOSED LOWER BOUNDING DISTANCE</vt:lpstr>
      <vt:lpstr>PROPOSED METHOD </vt:lpstr>
      <vt:lpstr>EXPERIMENTAL EVALUATION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宋恩安</dc:creator>
  <cp:lastModifiedBy>Alex</cp:lastModifiedBy>
  <cp:revision>33</cp:revision>
  <dcterms:created xsi:type="dcterms:W3CDTF">2020-03-07T06:25:14Z</dcterms:created>
  <dcterms:modified xsi:type="dcterms:W3CDTF">2020-03-10T08:56:17Z</dcterms:modified>
</cp:coreProperties>
</file>