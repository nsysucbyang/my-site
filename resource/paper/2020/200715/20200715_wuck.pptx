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321" r:id="rId2"/>
    <p:sldId id="311" r:id="rId3"/>
    <p:sldId id="337" r:id="rId4"/>
    <p:sldId id="344" r:id="rId5"/>
    <p:sldId id="345" r:id="rId6"/>
    <p:sldId id="341" r:id="rId7"/>
    <p:sldId id="342" r:id="rId8"/>
    <p:sldId id="347" r:id="rId9"/>
    <p:sldId id="348" r:id="rId10"/>
    <p:sldId id="343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豐仰 蔡" initials="豐仰" lastIdx="1" clrIdx="0">
    <p:extLst>
      <p:ext uri="{19B8F6BF-5375-455C-9EA6-DF929625EA0E}">
        <p15:presenceInfo xmlns:p15="http://schemas.microsoft.com/office/powerpoint/2012/main" userId="8fbda77307fba9f0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0AFE"/>
    <a:srgbClr val="E9EB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43" autoAdjust="0"/>
    <p:restoredTop sz="93971" autoAdjust="0"/>
  </p:normalViewPr>
  <p:slideViewPr>
    <p:cSldViewPr snapToGrid="0">
      <p:cViewPr varScale="1">
        <p:scale>
          <a:sx n="108" d="100"/>
          <a:sy n="108" d="100"/>
        </p:scale>
        <p:origin x="1746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Relationship Id="rId30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EB1F98-CDCA-4E1F-B89C-7712647B005A}" type="datetimeFigureOut">
              <a:rPr lang="zh-TW" altLang="en-US" smtClean="0"/>
              <a:t>2020/7/15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E0A4FA-366C-40B7-9E40-EFBC7A72D85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80661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聖胡安是美國自治領地波多黎各的首府和最大城市</a:t>
            </a:r>
            <a:endParaRPr lang="en-US" altLang="zh-TW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141255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918789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473999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548956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293316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895973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026731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587439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t>2020/7/15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658464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t>2020/7/15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779464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t>2020/7/15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434384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t>2020/7/15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10689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t>2020/7/15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73240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t>2020/7/15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65871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t>2020/7/15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961549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t>2020/7/15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7834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t>2020/7/15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848322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t>2020/7/15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468569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t>2020/7/15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091451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6EFCFE-425C-4696-9D05-22E06C3112FC}" type="datetimeFigureOut">
              <a:rPr lang="zh-TW" altLang="en-US" smtClean="0"/>
              <a:t>2020/7/15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086228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447A32-0D96-4B57-86B2-82EC84E899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4993" y="461639"/>
            <a:ext cx="8433339" cy="1699666"/>
          </a:xfrm>
        </p:spPr>
        <p:txBody>
          <a:bodyPr>
            <a:noAutofit/>
          </a:bodyPr>
          <a:lstStyle/>
          <a:p>
            <a:r>
              <a:rPr lang="en-US" altLang="zh-TW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Optimum Scheduling System for Container Truck Based on Genetic Algorithm on</a:t>
            </a:r>
            <a:br>
              <a:rPr lang="en-US" altLang="zh-TW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Spin(simulator </a:t>
            </a:r>
            <a:r>
              <a:rPr lang="en-US" altLang="zh-TW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Pelabuhan</a:t>
            </a:r>
            <a:r>
              <a:rPr lang="en-US" altLang="zh-TW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Indonesia)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61456E59-5D91-4093-B1A4-6F308EA967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4993" y="2819042"/>
            <a:ext cx="8536249" cy="927245"/>
          </a:xfrm>
        </p:spPr>
        <p:txBody>
          <a:bodyPr>
            <a:noAutofit/>
          </a:bodyPr>
          <a:lstStyle/>
          <a:p>
            <a:r>
              <a:rPr lang="it-IT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Handoko Supeno, </a:t>
            </a:r>
            <a:r>
              <a:rPr lang="it-IT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Pranoto H </a:t>
            </a:r>
            <a:r>
              <a:rPr lang="it-IT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Rusmin, </a:t>
            </a:r>
            <a:r>
              <a:rPr lang="it-IT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Hilwadi Hindersah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副標題 2">
            <a:extLst>
              <a:ext uri="{FF2B5EF4-FFF2-40B4-BE49-F238E27FC236}">
                <a16:creationId xmlns:a16="http://schemas.microsoft.com/office/drawing/2014/main" id="{A64E0364-4674-4930-835E-A413D880DCDB}"/>
              </a:ext>
            </a:extLst>
          </p:cNvPr>
          <p:cNvSpPr txBox="1">
            <a:spLocks/>
          </p:cNvSpPr>
          <p:nvPr/>
        </p:nvSpPr>
        <p:spPr>
          <a:xfrm>
            <a:off x="5192159" y="5487972"/>
            <a:ext cx="3486173" cy="856478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</a:t>
            </a:r>
            <a:r>
              <a:rPr lang="en-US" altLang="zh-TW" sz="1800" dirty="0"/>
              <a:t> </a:t>
            </a:r>
            <a:r>
              <a:rPr lang="en-US" altLang="zh-TW" sz="18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en-US" altLang="zh-TW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Chih</a:t>
            </a:r>
            <a:r>
              <a:rPr lang="en-US" altLang="zh-TW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-Kai Wu</a:t>
            </a:r>
          </a:p>
          <a:p>
            <a:pPr algn="r"/>
            <a:r>
              <a:rPr lang="en-US" altLang="zh-TW" sz="18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Date: 7.15, 2020.</a:t>
            </a:r>
            <a:endParaRPr lang="zh-TW" altLang="en-US"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724277" y="4003914"/>
            <a:ext cx="822441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2015 4th International Conference on Interactive Digital Media (ICIDM), 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1-5 Dec. 2015,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Bandung, Indonesia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9859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19"/>
    </mc:Choice>
    <mc:Fallback xmlns="">
      <p:transition spd="slow" advTm="2519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B01AB9-0651-4F6D-A93A-D571F0BAE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007" y="260700"/>
            <a:ext cx="7886700" cy="583367"/>
          </a:xfrm>
        </p:spPr>
        <p:txBody>
          <a:bodyPr>
            <a:normAutofit/>
          </a:bodyPr>
          <a:lstStyle/>
          <a:p>
            <a:r>
              <a:rPr lang="en-US" altLang="zh-TW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r>
              <a:rPr lang="zh-TW" alt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(1/2)</a:t>
            </a:r>
            <a:endParaRPr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E26DCC3-1991-4383-BF81-99FF895536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007" y="906211"/>
            <a:ext cx="9004993" cy="5131633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process of Container is very crucial to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port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but often problem occur due to lack of truck scheduling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 that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adds to the turn around time. Response to this problem,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this thesis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will try to generate scheduling trucks by genetic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to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minimizes the traveling distance when operating in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unloading and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loading cargo so can reduce the turn around time.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This optimization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will embedded to SPIN (Simulator </a:t>
            </a:r>
            <a:r>
              <a:rPr lang="en-US" altLang="zh-TW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Pelabuhan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Indonesia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so user can see the result with 3d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visualization. Because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genetic algorithm used in a simulator, the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computing time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becomes an important issue. </a:t>
            </a:r>
            <a:endParaRPr lang="fr-FR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4483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B01AB9-0651-4F6D-A93A-D571F0BAE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007" y="260700"/>
            <a:ext cx="7886700" cy="583367"/>
          </a:xfrm>
        </p:spPr>
        <p:txBody>
          <a:bodyPr>
            <a:normAutofit/>
          </a:bodyPr>
          <a:lstStyle/>
          <a:p>
            <a:r>
              <a:rPr lang="en-US" altLang="zh-TW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r>
              <a:rPr lang="zh-TW" alt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(2/2)</a:t>
            </a:r>
            <a:endParaRPr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E26DCC3-1991-4383-BF81-99FF895536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007" y="728657"/>
            <a:ext cx="9004993" cy="5131633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genetic algorithms built using several techniques, such as permutation with two part chromosome,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crossover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tournament selection, and simple swap </a:t>
            </a:r>
            <a:r>
              <a:rPr lang="en-US" altLang="zh-TW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mutation.The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test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of this study prove that by using the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techniques described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above, the time and distance it takes to complete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process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unloading is a decreased and computation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time program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relatively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small. From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results of experiments conducted it was concluded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that genetic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 can reduce unloading time that there is a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way to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 the truck to the next job that has the shortest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distance. With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shorter unloading time, the direct impact on the costs to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 incurred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mooring the vessel so that the port becomes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more underserved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customers.</a:t>
            </a:r>
            <a:endParaRPr lang="fr-FR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6808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0" y="185584"/>
            <a:ext cx="7886700" cy="1325563"/>
          </a:xfrm>
        </p:spPr>
        <p:txBody>
          <a:bodyPr/>
          <a:lstStyle/>
          <a:p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Tanjung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Priok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4317" y="1511147"/>
            <a:ext cx="6947400" cy="4428013"/>
          </a:xfrm>
        </p:spPr>
      </p:pic>
    </p:spTree>
    <p:extLst>
      <p:ext uri="{BB962C8B-B14F-4D97-AF65-F5344CB8AC3E}">
        <p14:creationId xmlns:p14="http://schemas.microsoft.com/office/powerpoint/2010/main" val="18544235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315" y="1580279"/>
            <a:ext cx="7205370" cy="3613158"/>
          </a:xfrm>
        </p:spPr>
      </p:pic>
      <p:sp>
        <p:nvSpPr>
          <p:cNvPr id="5" name="標題 1"/>
          <p:cNvSpPr txBox="1">
            <a:spLocks/>
          </p:cNvSpPr>
          <p:nvPr/>
        </p:nvSpPr>
        <p:spPr>
          <a:xfrm>
            <a:off x="0" y="185584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Tanjung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Priok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08662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B01AB9-0651-4F6D-A93A-D571F0BAE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007" y="712181"/>
            <a:ext cx="7886700" cy="583367"/>
          </a:xfrm>
        </p:spPr>
        <p:txBody>
          <a:bodyPr>
            <a:normAutofit/>
          </a:bodyPr>
          <a:lstStyle/>
          <a:p>
            <a:r>
              <a:rPr lang="en-US" altLang="zh-TW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</a:t>
            </a:r>
            <a:endParaRPr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內容版面配置區 4"/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752"/>
          <a:stretch/>
        </p:blipFill>
        <p:spPr>
          <a:xfrm>
            <a:off x="2422914" y="-6431"/>
            <a:ext cx="5709031" cy="6864431"/>
          </a:xfrm>
        </p:spPr>
      </p:pic>
    </p:spTree>
    <p:extLst>
      <p:ext uri="{BB962C8B-B14F-4D97-AF65-F5344CB8AC3E}">
        <p14:creationId xmlns:p14="http://schemas.microsoft.com/office/powerpoint/2010/main" val="3691954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B01AB9-0651-4F6D-A93A-D571F0BAE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007" y="712181"/>
            <a:ext cx="7886700" cy="583367"/>
          </a:xfrm>
        </p:spPr>
        <p:txBody>
          <a:bodyPr>
            <a:normAutofit/>
          </a:bodyPr>
          <a:lstStyle/>
          <a:p>
            <a:r>
              <a:rPr lang="en-US" altLang="zh-TW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</a:t>
            </a:r>
            <a:endParaRPr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內容版面配置區 4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4720" y="627138"/>
            <a:ext cx="5026911" cy="5920367"/>
          </a:xfrm>
        </p:spPr>
      </p:pic>
    </p:spTree>
    <p:extLst>
      <p:ext uri="{BB962C8B-B14F-4D97-AF65-F5344CB8AC3E}">
        <p14:creationId xmlns:p14="http://schemas.microsoft.com/office/powerpoint/2010/main" val="34236480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B01AB9-0651-4F6D-A93A-D571F0BAE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007" y="712181"/>
            <a:ext cx="7886700" cy="583367"/>
          </a:xfrm>
        </p:spPr>
        <p:txBody>
          <a:bodyPr>
            <a:normAutofit/>
          </a:bodyPr>
          <a:lstStyle/>
          <a:p>
            <a:r>
              <a:rPr lang="en-US" altLang="zh-TW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</a:t>
            </a:r>
            <a:endParaRPr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1047766" y="183215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0037556"/>
              </p:ext>
            </p:extLst>
          </p:nvPr>
        </p:nvGraphicFramePr>
        <p:xfrm>
          <a:off x="914601" y="1549672"/>
          <a:ext cx="6084162" cy="56496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676018">
                  <a:extLst>
                    <a:ext uri="{9D8B030D-6E8A-4147-A177-3AD203B41FA5}">
                      <a16:colId xmlns:a16="http://schemas.microsoft.com/office/drawing/2014/main" val="781866443"/>
                    </a:ext>
                  </a:extLst>
                </a:gridCol>
                <a:gridCol w="676018">
                  <a:extLst>
                    <a:ext uri="{9D8B030D-6E8A-4147-A177-3AD203B41FA5}">
                      <a16:colId xmlns:a16="http://schemas.microsoft.com/office/drawing/2014/main" val="1125871748"/>
                    </a:ext>
                  </a:extLst>
                </a:gridCol>
                <a:gridCol w="676018">
                  <a:extLst>
                    <a:ext uri="{9D8B030D-6E8A-4147-A177-3AD203B41FA5}">
                      <a16:colId xmlns:a16="http://schemas.microsoft.com/office/drawing/2014/main" val="1930088866"/>
                    </a:ext>
                  </a:extLst>
                </a:gridCol>
                <a:gridCol w="676018">
                  <a:extLst>
                    <a:ext uri="{9D8B030D-6E8A-4147-A177-3AD203B41FA5}">
                      <a16:colId xmlns:a16="http://schemas.microsoft.com/office/drawing/2014/main" val="3666760489"/>
                    </a:ext>
                  </a:extLst>
                </a:gridCol>
                <a:gridCol w="676018">
                  <a:extLst>
                    <a:ext uri="{9D8B030D-6E8A-4147-A177-3AD203B41FA5}">
                      <a16:colId xmlns:a16="http://schemas.microsoft.com/office/drawing/2014/main" val="2660620588"/>
                    </a:ext>
                  </a:extLst>
                </a:gridCol>
                <a:gridCol w="676018">
                  <a:extLst>
                    <a:ext uri="{9D8B030D-6E8A-4147-A177-3AD203B41FA5}">
                      <a16:colId xmlns:a16="http://schemas.microsoft.com/office/drawing/2014/main" val="490341942"/>
                    </a:ext>
                  </a:extLst>
                </a:gridCol>
                <a:gridCol w="676018">
                  <a:extLst>
                    <a:ext uri="{9D8B030D-6E8A-4147-A177-3AD203B41FA5}">
                      <a16:colId xmlns:a16="http://schemas.microsoft.com/office/drawing/2014/main" val="202768423"/>
                    </a:ext>
                  </a:extLst>
                </a:gridCol>
                <a:gridCol w="676018">
                  <a:extLst>
                    <a:ext uri="{9D8B030D-6E8A-4147-A177-3AD203B41FA5}">
                      <a16:colId xmlns:a16="http://schemas.microsoft.com/office/drawing/2014/main" val="623367005"/>
                    </a:ext>
                  </a:extLst>
                </a:gridCol>
                <a:gridCol w="676018">
                  <a:extLst>
                    <a:ext uri="{9D8B030D-6E8A-4147-A177-3AD203B41FA5}">
                      <a16:colId xmlns:a16="http://schemas.microsoft.com/office/drawing/2014/main" val="1717027087"/>
                    </a:ext>
                  </a:extLst>
                </a:gridCol>
              </a:tblGrid>
              <a:tr h="56496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6627286"/>
                  </a:ext>
                </a:extLst>
              </a:tr>
            </a:tbl>
          </a:graphicData>
        </a:graphic>
      </p:graphicFrame>
      <p:graphicFrame>
        <p:nvGraphicFramePr>
          <p:cNvPr id="15" name="表格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0250071"/>
              </p:ext>
            </p:extLst>
          </p:nvPr>
        </p:nvGraphicFramePr>
        <p:xfrm>
          <a:off x="914601" y="2368761"/>
          <a:ext cx="6084162" cy="56496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676018">
                  <a:extLst>
                    <a:ext uri="{9D8B030D-6E8A-4147-A177-3AD203B41FA5}">
                      <a16:colId xmlns:a16="http://schemas.microsoft.com/office/drawing/2014/main" val="781866443"/>
                    </a:ext>
                  </a:extLst>
                </a:gridCol>
                <a:gridCol w="676018">
                  <a:extLst>
                    <a:ext uri="{9D8B030D-6E8A-4147-A177-3AD203B41FA5}">
                      <a16:colId xmlns:a16="http://schemas.microsoft.com/office/drawing/2014/main" val="1125871748"/>
                    </a:ext>
                  </a:extLst>
                </a:gridCol>
                <a:gridCol w="676018">
                  <a:extLst>
                    <a:ext uri="{9D8B030D-6E8A-4147-A177-3AD203B41FA5}">
                      <a16:colId xmlns:a16="http://schemas.microsoft.com/office/drawing/2014/main" val="1930088866"/>
                    </a:ext>
                  </a:extLst>
                </a:gridCol>
                <a:gridCol w="676018">
                  <a:extLst>
                    <a:ext uri="{9D8B030D-6E8A-4147-A177-3AD203B41FA5}">
                      <a16:colId xmlns:a16="http://schemas.microsoft.com/office/drawing/2014/main" val="3666760489"/>
                    </a:ext>
                  </a:extLst>
                </a:gridCol>
                <a:gridCol w="676018">
                  <a:extLst>
                    <a:ext uri="{9D8B030D-6E8A-4147-A177-3AD203B41FA5}">
                      <a16:colId xmlns:a16="http://schemas.microsoft.com/office/drawing/2014/main" val="2660620588"/>
                    </a:ext>
                  </a:extLst>
                </a:gridCol>
                <a:gridCol w="676018">
                  <a:extLst>
                    <a:ext uri="{9D8B030D-6E8A-4147-A177-3AD203B41FA5}">
                      <a16:colId xmlns:a16="http://schemas.microsoft.com/office/drawing/2014/main" val="490341942"/>
                    </a:ext>
                  </a:extLst>
                </a:gridCol>
                <a:gridCol w="676018">
                  <a:extLst>
                    <a:ext uri="{9D8B030D-6E8A-4147-A177-3AD203B41FA5}">
                      <a16:colId xmlns:a16="http://schemas.microsoft.com/office/drawing/2014/main" val="202768423"/>
                    </a:ext>
                  </a:extLst>
                </a:gridCol>
                <a:gridCol w="676018">
                  <a:extLst>
                    <a:ext uri="{9D8B030D-6E8A-4147-A177-3AD203B41FA5}">
                      <a16:colId xmlns:a16="http://schemas.microsoft.com/office/drawing/2014/main" val="623367005"/>
                    </a:ext>
                  </a:extLst>
                </a:gridCol>
                <a:gridCol w="676018">
                  <a:extLst>
                    <a:ext uri="{9D8B030D-6E8A-4147-A177-3AD203B41FA5}">
                      <a16:colId xmlns:a16="http://schemas.microsoft.com/office/drawing/2014/main" val="1717027087"/>
                    </a:ext>
                  </a:extLst>
                </a:gridCol>
              </a:tblGrid>
              <a:tr h="56496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6627286"/>
                  </a:ext>
                </a:extLst>
              </a:tr>
            </a:tbl>
          </a:graphicData>
        </a:graphic>
      </p:graphicFrame>
      <p:sp>
        <p:nvSpPr>
          <p:cNvPr id="16" name="矩形 15"/>
          <p:cNvSpPr/>
          <p:nvPr/>
        </p:nvSpPr>
        <p:spPr>
          <a:xfrm>
            <a:off x="293842" y="2292093"/>
            <a:ext cx="458228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TW" sz="3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</a:t>
            </a:r>
            <a:endParaRPr lang="zh-TW" alt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279494" y="1620706"/>
            <a:ext cx="458228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TW" sz="36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</a:t>
            </a:r>
            <a:endParaRPr lang="zh-TW" alt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aphicFrame>
        <p:nvGraphicFramePr>
          <p:cNvPr id="18" name="表格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7821193"/>
              </p:ext>
            </p:extLst>
          </p:nvPr>
        </p:nvGraphicFramePr>
        <p:xfrm>
          <a:off x="914601" y="3814957"/>
          <a:ext cx="6084162" cy="56496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676018">
                  <a:extLst>
                    <a:ext uri="{9D8B030D-6E8A-4147-A177-3AD203B41FA5}">
                      <a16:colId xmlns:a16="http://schemas.microsoft.com/office/drawing/2014/main" val="781866443"/>
                    </a:ext>
                  </a:extLst>
                </a:gridCol>
                <a:gridCol w="676018">
                  <a:extLst>
                    <a:ext uri="{9D8B030D-6E8A-4147-A177-3AD203B41FA5}">
                      <a16:colId xmlns:a16="http://schemas.microsoft.com/office/drawing/2014/main" val="1125871748"/>
                    </a:ext>
                  </a:extLst>
                </a:gridCol>
                <a:gridCol w="676018">
                  <a:extLst>
                    <a:ext uri="{9D8B030D-6E8A-4147-A177-3AD203B41FA5}">
                      <a16:colId xmlns:a16="http://schemas.microsoft.com/office/drawing/2014/main" val="1930088866"/>
                    </a:ext>
                  </a:extLst>
                </a:gridCol>
                <a:gridCol w="676018">
                  <a:extLst>
                    <a:ext uri="{9D8B030D-6E8A-4147-A177-3AD203B41FA5}">
                      <a16:colId xmlns:a16="http://schemas.microsoft.com/office/drawing/2014/main" val="3666760489"/>
                    </a:ext>
                  </a:extLst>
                </a:gridCol>
                <a:gridCol w="676018">
                  <a:extLst>
                    <a:ext uri="{9D8B030D-6E8A-4147-A177-3AD203B41FA5}">
                      <a16:colId xmlns:a16="http://schemas.microsoft.com/office/drawing/2014/main" val="2660620588"/>
                    </a:ext>
                  </a:extLst>
                </a:gridCol>
                <a:gridCol w="676018">
                  <a:extLst>
                    <a:ext uri="{9D8B030D-6E8A-4147-A177-3AD203B41FA5}">
                      <a16:colId xmlns:a16="http://schemas.microsoft.com/office/drawing/2014/main" val="490341942"/>
                    </a:ext>
                  </a:extLst>
                </a:gridCol>
                <a:gridCol w="676018">
                  <a:extLst>
                    <a:ext uri="{9D8B030D-6E8A-4147-A177-3AD203B41FA5}">
                      <a16:colId xmlns:a16="http://schemas.microsoft.com/office/drawing/2014/main" val="202768423"/>
                    </a:ext>
                  </a:extLst>
                </a:gridCol>
                <a:gridCol w="676018">
                  <a:extLst>
                    <a:ext uri="{9D8B030D-6E8A-4147-A177-3AD203B41FA5}">
                      <a16:colId xmlns:a16="http://schemas.microsoft.com/office/drawing/2014/main" val="623367005"/>
                    </a:ext>
                  </a:extLst>
                </a:gridCol>
                <a:gridCol w="676018">
                  <a:extLst>
                    <a:ext uri="{9D8B030D-6E8A-4147-A177-3AD203B41FA5}">
                      <a16:colId xmlns:a16="http://schemas.microsoft.com/office/drawing/2014/main" val="1717027087"/>
                    </a:ext>
                  </a:extLst>
                </a:gridCol>
              </a:tblGrid>
              <a:tr h="56496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1" dirty="0" smtClean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8</a:t>
                      </a:r>
                      <a:endParaRPr lang="zh-TW" altLang="en-US" sz="2800" b="1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1" dirty="0" smtClean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1</a:t>
                      </a:r>
                      <a:endParaRPr lang="zh-TW" altLang="en-US" sz="2800" b="1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1" dirty="0" smtClean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3</a:t>
                      </a:r>
                      <a:endParaRPr lang="zh-TW" altLang="en-US" sz="2800" b="1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6627286"/>
                  </a:ext>
                </a:extLst>
              </a:tr>
            </a:tbl>
          </a:graphicData>
        </a:graphic>
      </p:graphicFrame>
      <p:graphicFrame>
        <p:nvGraphicFramePr>
          <p:cNvPr id="19" name="表格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4378946"/>
              </p:ext>
            </p:extLst>
          </p:nvPr>
        </p:nvGraphicFramePr>
        <p:xfrm>
          <a:off x="914601" y="4767212"/>
          <a:ext cx="6084162" cy="56496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676018">
                  <a:extLst>
                    <a:ext uri="{9D8B030D-6E8A-4147-A177-3AD203B41FA5}">
                      <a16:colId xmlns:a16="http://schemas.microsoft.com/office/drawing/2014/main" val="781866443"/>
                    </a:ext>
                  </a:extLst>
                </a:gridCol>
                <a:gridCol w="676018">
                  <a:extLst>
                    <a:ext uri="{9D8B030D-6E8A-4147-A177-3AD203B41FA5}">
                      <a16:colId xmlns:a16="http://schemas.microsoft.com/office/drawing/2014/main" val="1125871748"/>
                    </a:ext>
                  </a:extLst>
                </a:gridCol>
                <a:gridCol w="676018">
                  <a:extLst>
                    <a:ext uri="{9D8B030D-6E8A-4147-A177-3AD203B41FA5}">
                      <a16:colId xmlns:a16="http://schemas.microsoft.com/office/drawing/2014/main" val="1930088866"/>
                    </a:ext>
                  </a:extLst>
                </a:gridCol>
                <a:gridCol w="676018">
                  <a:extLst>
                    <a:ext uri="{9D8B030D-6E8A-4147-A177-3AD203B41FA5}">
                      <a16:colId xmlns:a16="http://schemas.microsoft.com/office/drawing/2014/main" val="3666760489"/>
                    </a:ext>
                  </a:extLst>
                </a:gridCol>
                <a:gridCol w="676018">
                  <a:extLst>
                    <a:ext uri="{9D8B030D-6E8A-4147-A177-3AD203B41FA5}">
                      <a16:colId xmlns:a16="http://schemas.microsoft.com/office/drawing/2014/main" val="2660620588"/>
                    </a:ext>
                  </a:extLst>
                </a:gridCol>
                <a:gridCol w="676018">
                  <a:extLst>
                    <a:ext uri="{9D8B030D-6E8A-4147-A177-3AD203B41FA5}">
                      <a16:colId xmlns:a16="http://schemas.microsoft.com/office/drawing/2014/main" val="490341942"/>
                    </a:ext>
                  </a:extLst>
                </a:gridCol>
                <a:gridCol w="676018">
                  <a:extLst>
                    <a:ext uri="{9D8B030D-6E8A-4147-A177-3AD203B41FA5}">
                      <a16:colId xmlns:a16="http://schemas.microsoft.com/office/drawing/2014/main" val="202768423"/>
                    </a:ext>
                  </a:extLst>
                </a:gridCol>
                <a:gridCol w="676018">
                  <a:extLst>
                    <a:ext uri="{9D8B030D-6E8A-4147-A177-3AD203B41FA5}">
                      <a16:colId xmlns:a16="http://schemas.microsoft.com/office/drawing/2014/main" val="623367005"/>
                    </a:ext>
                  </a:extLst>
                </a:gridCol>
                <a:gridCol w="676018">
                  <a:extLst>
                    <a:ext uri="{9D8B030D-6E8A-4147-A177-3AD203B41FA5}">
                      <a16:colId xmlns:a16="http://schemas.microsoft.com/office/drawing/2014/main" val="1717027087"/>
                    </a:ext>
                  </a:extLst>
                </a:gridCol>
              </a:tblGrid>
              <a:tr h="56496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1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6</a:t>
                      </a:r>
                      <a:endParaRPr lang="zh-TW" altLang="en-US" sz="2800" b="1" dirty="0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1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9</a:t>
                      </a:r>
                      <a:endParaRPr lang="zh-TW" altLang="en-US" sz="2800" b="1" dirty="0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1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4</a:t>
                      </a:r>
                      <a:endParaRPr lang="zh-TW" altLang="en-US" sz="2800" b="1" dirty="0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66272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4984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B01AB9-0651-4F6D-A93A-D571F0BAE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007" y="712181"/>
            <a:ext cx="7886700" cy="583367"/>
          </a:xfrm>
        </p:spPr>
        <p:txBody>
          <a:bodyPr>
            <a:normAutofit/>
          </a:bodyPr>
          <a:lstStyle/>
          <a:p>
            <a:r>
              <a:rPr lang="en-US" altLang="zh-TW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</a:t>
            </a:r>
            <a:endParaRPr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8" name="表格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5020912"/>
              </p:ext>
            </p:extLst>
          </p:nvPr>
        </p:nvGraphicFramePr>
        <p:xfrm>
          <a:off x="914601" y="1604417"/>
          <a:ext cx="6084162" cy="56496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676018">
                  <a:extLst>
                    <a:ext uri="{9D8B030D-6E8A-4147-A177-3AD203B41FA5}">
                      <a16:colId xmlns:a16="http://schemas.microsoft.com/office/drawing/2014/main" val="781866443"/>
                    </a:ext>
                  </a:extLst>
                </a:gridCol>
                <a:gridCol w="676018">
                  <a:extLst>
                    <a:ext uri="{9D8B030D-6E8A-4147-A177-3AD203B41FA5}">
                      <a16:colId xmlns:a16="http://schemas.microsoft.com/office/drawing/2014/main" val="1125871748"/>
                    </a:ext>
                  </a:extLst>
                </a:gridCol>
                <a:gridCol w="676018">
                  <a:extLst>
                    <a:ext uri="{9D8B030D-6E8A-4147-A177-3AD203B41FA5}">
                      <a16:colId xmlns:a16="http://schemas.microsoft.com/office/drawing/2014/main" val="1930088866"/>
                    </a:ext>
                  </a:extLst>
                </a:gridCol>
                <a:gridCol w="676018">
                  <a:extLst>
                    <a:ext uri="{9D8B030D-6E8A-4147-A177-3AD203B41FA5}">
                      <a16:colId xmlns:a16="http://schemas.microsoft.com/office/drawing/2014/main" val="3666760489"/>
                    </a:ext>
                  </a:extLst>
                </a:gridCol>
                <a:gridCol w="676018">
                  <a:extLst>
                    <a:ext uri="{9D8B030D-6E8A-4147-A177-3AD203B41FA5}">
                      <a16:colId xmlns:a16="http://schemas.microsoft.com/office/drawing/2014/main" val="2660620588"/>
                    </a:ext>
                  </a:extLst>
                </a:gridCol>
                <a:gridCol w="676018">
                  <a:extLst>
                    <a:ext uri="{9D8B030D-6E8A-4147-A177-3AD203B41FA5}">
                      <a16:colId xmlns:a16="http://schemas.microsoft.com/office/drawing/2014/main" val="490341942"/>
                    </a:ext>
                  </a:extLst>
                </a:gridCol>
                <a:gridCol w="676018">
                  <a:extLst>
                    <a:ext uri="{9D8B030D-6E8A-4147-A177-3AD203B41FA5}">
                      <a16:colId xmlns:a16="http://schemas.microsoft.com/office/drawing/2014/main" val="202768423"/>
                    </a:ext>
                  </a:extLst>
                </a:gridCol>
                <a:gridCol w="676018">
                  <a:extLst>
                    <a:ext uri="{9D8B030D-6E8A-4147-A177-3AD203B41FA5}">
                      <a16:colId xmlns:a16="http://schemas.microsoft.com/office/drawing/2014/main" val="623367005"/>
                    </a:ext>
                  </a:extLst>
                </a:gridCol>
                <a:gridCol w="676018">
                  <a:extLst>
                    <a:ext uri="{9D8B030D-6E8A-4147-A177-3AD203B41FA5}">
                      <a16:colId xmlns:a16="http://schemas.microsoft.com/office/drawing/2014/main" val="1717027087"/>
                    </a:ext>
                  </a:extLst>
                </a:gridCol>
              </a:tblGrid>
              <a:tr h="56496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1" dirty="0" smtClean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8</a:t>
                      </a:r>
                      <a:endParaRPr lang="zh-TW" altLang="en-US" sz="2800" b="1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1" dirty="0" smtClean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1</a:t>
                      </a:r>
                      <a:endParaRPr lang="zh-TW" altLang="en-US" sz="2800" b="1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1" dirty="0" smtClean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3</a:t>
                      </a:r>
                      <a:endParaRPr lang="zh-TW" altLang="en-US" sz="2800" b="1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6627286"/>
                  </a:ext>
                </a:extLst>
              </a:tr>
            </a:tbl>
          </a:graphicData>
        </a:graphic>
      </p:graphicFrame>
      <p:graphicFrame>
        <p:nvGraphicFramePr>
          <p:cNvPr id="19" name="表格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7847707"/>
              </p:ext>
            </p:extLst>
          </p:nvPr>
        </p:nvGraphicFramePr>
        <p:xfrm>
          <a:off x="914601" y="2654327"/>
          <a:ext cx="6084162" cy="56496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676018">
                  <a:extLst>
                    <a:ext uri="{9D8B030D-6E8A-4147-A177-3AD203B41FA5}">
                      <a16:colId xmlns:a16="http://schemas.microsoft.com/office/drawing/2014/main" val="781866443"/>
                    </a:ext>
                  </a:extLst>
                </a:gridCol>
                <a:gridCol w="676018">
                  <a:extLst>
                    <a:ext uri="{9D8B030D-6E8A-4147-A177-3AD203B41FA5}">
                      <a16:colId xmlns:a16="http://schemas.microsoft.com/office/drawing/2014/main" val="1125871748"/>
                    </a:ext>
                  </a:extLst>
                </a:gridCol>
                <a:gridCol w="676018">
                  <a:extLst>
                    <a:ext uri="{9D8B030D-6E8A-4147-A177-3AD203B41FA5}">
                      <a16:colId xmlns:a16="http://schemas.microsoft.com/office/drawing/2014/main" val="1930088866"/>
                    </a:ext>
                  </a:extLst>
                </a:gridCol>
                <a:gridCol w="676018">
                  <a:extLst>
                    <a:ext uri="{9D8B030D-6E8A-4147-A177-3AD203B41FA5}">
                      <a16:colId xmlns:a16="http://schemas.microsoft.com/office/drawing/2014/main" val="3666760489"/>
                    </a:ext>
                  </a:extLst>
                </a:gridCol>
                <a:gridCol w="676018">
                  <a:extLst>
                    <a:ext uri="{9D8B030D-6E8A-4147-A177-3AD203B41FA5}">
                      <a16:colId xmlns:a16="http://schemas.microsoft.com/office/drawing/2014/main" val="2660620588"/>
                    </a:ext>
                  </a:extLst>
                </a:gridCol>
                <a:gridCol w="676018">
                  <a:extLst>
                    <a:ext uri="{9D8B030D-6E8A-4147-A177-3AD203B41FA5}">
                      <a16:colId xmlns:a16="http://schemas.microsoft.com/office/drawing/2014/main" val="490341942"/>
                    </a:ext>
                  </a:extLst>
                </a:gridCol>
                <a:gridCol w="676018">
                  <a:extLst>
                    <a:ext uri="{9D8B030D-6E8A-4147-A177-3AD203B41FA5}">
                      <a16:colId xmlns:a16="http://schemas.microsoft.com/office/drawing/2014/main" val="202768423"/>
                    </a:ext>
                  </a:extLst>
                </a:gridCol>
                <a:gridCol w="676018">
                  <a:extLst>
                    <a:ext uri="{9D8B030D-6E8A-4147-A177-3AD203B41FA5}">
                      <a16:colId xmlns:a16="http://schemas.microsoft.com/office/drawing/2014/main" val="623367005"/>
                    </a:ext>
                  </a:extLst>
                </a:gridCol>
                <a:gridCol w="676018">
                  <a:extLst>
                    <a:ext uri="{9D8B030D-6E8A-4147-A177-3AD203B41FA5}">
                      <a16:colId xmlns:a16="http://schemas.microsoft.com/office/drawing/2014/main" val="1717027087"/>
                    </a:ext>
                  </a:extLst>
                </a:gridCol>
              </a:tblGrid>
              <a:tr h="56496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1" dirty="0" smtClean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8</a:t>
                      </a:r>
                      <a:endParaRPr lang="zh-TW" altLang="en-US" sz="2800" b="1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1" dirty="0" smtClean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1</a:t>
                      </a:r>
                      <a:endParaRPr lang="zh-TW" altLang="en-US" sz="2800" b="1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1" dirty="0" smtClean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3</a:t>
                      </a:r>
                      <a:endParaRPr lang="zh-TW" altLang="en-US" sz="2800" b="1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6627286"/>
                  </a:ext>
                </a:extLst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6950314"/>
              </p:ext>
            </p:extLst>
          </p:nvPr>
        </p:nvGraphicFramePr>
        <p:xfrm>
          <a:off x="914601" y="3704237"/>
          <a:ext cx="6084162" cy="56496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676018">
                  <a:extLst>
                    <a:ext uri="{9D8B030D-6E8A-4147-A177-3AD203B41FA5}">
                      <a16:colId xmlns:a16="http://schemas.microsoft.com/office/drawing/2014/main" val="781866443"/>
                    </a:ext>
                  </a:extLst>
                </a:gridCol>
                <a:gridCol w="676018">
                  <a:extLst>
                    <a:ext uri="{9D8B030D-6E8A-4147-A177-3AD203B41FA5}">
                      <a16:colId xmlns:a16="http://schemas.microsoft.com/office/drawing/2014/main" val="1125871748"/>
                    </a:ext>
                  </a:extLst>
                </a:gridCol>
                <a:gridCol w="676018">
                  <a:extLst>
                    <a:ext uri="{9D8B030D-6E8A-4147-A177-3AD203B41FA5}">
                      <a16:colId xmlns:a16="http://schemas.microsoft.com/office/drawing/2014/main" val="1930088866"/>
                    </a:ext>
                  </a:extLst>
                </a:gridCol>
                <a:gridCol w="676018">
                  <a:extLst>
                    <a:ext uri="{9D8B030D-6E8A-4147-A177-3AD203B41FA5}">
                      <a16:colId xmlns:a16="http://schemas.microsoft.com/office/drawing/2014/main" val="3666760489"/>
                    </a:ext>
                  </a:extLst>
                </a:gridCol>
                <a:gridCol w="676018">
                  <a:extLst>
                    <a:ext uri="{9D8B030D-6E8A-4147-A177-3AD203B41FA5}">
                      <a16:colId xmlns:a16="http://schemas.microsoft.com/office/drawing/2014/main" val="2660620588"/>
                    </a:ext>
                  </a:extLst>
                </a:gridCol>
                <a:gridCol w="676018">
                  <a:extLst>
                    <a:ext uri="{9D8B030D-6E8A-4147-A177-3AD203B41FA5}">
                      <a16:colId xmlns:a16="http://schemas.microsoft.com/office/drawing/2014/main" val="490341942"/>
                    </a:ext>
                  </a:extLst>
                </a:gridCol>
                <a:gridCol w="676018">
                  <a:extLst>
                    <a:ext uri="{9D8B030D-6E8A-4147-A177-3AD203B41FA5}">
                      <a16:colId xmlns:a16="http://schemas.microsoft.com/office/drawing/2014/main" val="202768423"/>
                    </a:ext>
                  </a:extLst>
                </a:gridCol>
                <a:gridCol w="676018">
                  <a:extLst>
                    <a:ext uri="{9D8B030D-6E8A-4147-A177-3AD203B41FA5}">
                      <a16:colId xmlns:a16="http://schemas.microsoft.com/office/drawing/2014/main" val="623367005"/>
                    </a:ext>
                  </a:extLst>
                </a:gridCol>
                <a:gridCol w="676018">
                  <a:extLst>
                    <a:ext uri="{9D8B030D-6E8A-4147-A177-3AD203B41FA5}">
                      <a16:colId xmlns:a16="http://schemas.microsoft.com/office/drawing/2014/main" val="1717027087"/>
                    </a:ext>
                  </a:extLst>
                </a:gridCol>
              </a:tblGrid>
              <a:tr h="56496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1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4</a:t>
                      </a:r>
                      <a:endParaRPr lang="zh-TW" altLang="en-US" sz="2800" b="1" dirty="0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1" dirty="0" smtClean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8</a:t>
                      </a:r>
                      <a:endParaRPr lang="zh-TW" altLang="en-US" sz="2800" b="1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1" dirty="0" smtClean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1</a:t>
                      </a:r>
                      <a:endParaRPr lang="zh-TW" altLang="en-US" sz="2800" b="1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1" dirty="0" smtClean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3</a:t>
                      </a:r>
                      <a:endParaRPr lang="zh-TW" altLang="en-US" sz="2800" b="1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1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9</a:t>
                      </a:r>
                      <a:endParaRPr lang="zh-TW" altLang="en-US" sz="2800" b="1" dirty="0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1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6</a:t>
                      </a:r>
                      <a:endParaRPr lang="zh-TW" altLang="en-US" sz="2800" b="1" dirty="0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6627286"/>
                  </a:ext>
                </a:extLst>
              </a:tr>
            </a:tbl>
          </a:graphicData>
        </a:graphic>
      </p:graphicFrame>
      <p:sp>
        <p:nvSpPr>
          <p:cNvPr id="12" name="矩形 11"/>
          <p:cNvSpPr/>
          <p:nvPr/>
        </p:nvSpPr>
        <p:spPr>
          <a:xfrm>
            <a:off x="0" y="4430981"/>
            <a:ext cx="1984312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TW" sz="36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final</a:t>
            </a:r>
            <a:endParaRPr lang="zh-TW" alt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aphicFrame>
        <p:nvGraphicFramePr>
          <p:cNvPr id="14" name="表格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9066892"/>
              </p:ext>
            </p:extLst>
          </p:nvPr>
        </p:nvGraphicFramePr>
        <p:xfrm>
          <a:off x="914601" y="5198408"/>
          <a:ext cx="6084162" cy="56496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676018">
                  <a:extLst>
                    <a:ext uri="{9D8B030D-6E8A-4147-A177-3AD203B41FA5}">
                      <a16:colId xmlns:a16="http://schemas.microsoft.com/office/drawing/2014/main" val="781866443"/>
                    </a:ext>
                  </a:extLst>
                </a:gridCol>
                <a:gridCol w="676018">
                  <a:extLst>
                    <a:ext uri="{9D8B030D-6E8A-4147-A177-3AD203B41FA5}">
                      <a16:colId xmlns:a16="http://schemas.microsoft.com/office/drawing/2014/main" val="1125871748"/>
                    </a:ext>
                  </a:extLst>
                </a:gridCol>
                <a:gridCol w="676018">
                  <a:extLst>
                    <a:ext uri="{9D8B030D-6E8A-4147-A177-3AD203B41FA5}">
                      <a16:colId xmlns:a16="http://schemas.microsoft.com/office/drawing/2014/main" val="1930088866"/>
                    </a:ext>
                  </a:extLst>
                </a:gridCol>
                <a:gridCol w="676018">
                  <a:extLst>
                    <a:ext uri="{9D8B030D-6E8A-4147-A177-3AD203B41FA5}">
                      <a16:colId xmlns:a16="http://schemas.microsoft.com/office/drawing/2014/main" val="3666760489"/>
                    </a:ext>
                  </a:extLst>
                </a:gridCol>
                <a:gridCol w="676018">
                  <a:extLst>
                    <a:ext uri="{9D8B030D-6E8A-4147-A177-3AD203B41FA5}">
                      <a16:colId xmlns:a16="http://schemas.microsoft.com/office/drawing/2014/main" val="2660620588"/>
                    </a:ext>
                  </a:extLst>
                </a:gridCol>
                <a:gridCol w="676018">
                  <a:extLst>
                    <a:ext uri="{9D8B030D-6E8A-4147-A177-3AD203B41FA5}">
                      <a16:colId xmlns:a16="http://schemas.microsoft.com/office/drawing/2014/main" val="490341942"/>
                    </a:ext>
                  </a:extLst>
                </a:gridCol>
                <a:gridCol w="676018">
                  <a:extLst>
                    <a:ext uri="{9D8B030D-6E8A-4147-A177-3AD203B41FA5}">
                      <a16:colId xmlns:a16="http://schemas.microsoft.com/office/drawing/2014/main" val="202768423"/>
                    </a:ext>
                  </a:extLst>
                </a:gridCol>
                <a:gridCol w="676018">
                  <a:extLst>
                    <a:ext uri="{9D8B030D-6E8A-4147-A177-3AD203B41FA5}">
                      <a16:colId xmlns:a16="http://schemas.microsoft.com/office/drawing/2014/main" val="623367005"/>
                    </a:ext>
                  </a:extLst>
                </a:gridCol>
                <a:gridCol w="676018">
                  <a:extLst>
                    <a:ext uri="{9D8B030D-6E8A-4147-A177-3AD203B41FA5}">
                      <a16:colId xmlns:a16="http://schemas.microsoft.com/office/drawing/2014/main" val="1717027087"/>
                    </a:ext>
                  </a:extLst>
                </a:gridCol>
              </a:tblGrid>
              <a:tr h="56496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6627286"/>
                  </a:ext>
                </a:extLst>
              </a:tr>
            </a:tbl>
          </a:graphicData>
        </a:graphic>
      </p:graphicFrame>
      <p:graphicFrame>
        <p:nvGraphicFramePr>
          <p:cNvPr id="20" name="表格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6346457"/>
              </p:ext>
            </p:extLst>
          </p:nvPr>
        </p:nvGraphicFramePr>
        <p:xfrm>
          <a:off x="914601" y="6006518"/>
          <a:ext cx="6084162" cy="56496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676018">
                  <a:extLst>
                    <a:ext uri="{9D8B030D-6E8A-4147-A177-3AD203B41FA5}">
                      <a16:colId xmlns:a16="http://schemas.microsoft.com/office/drawing/2014/main" val="781866443"/>
                    </a:ext>
                  </a:extLst>
                </a:gridCol>
                <a:gridCol w="676018">
                  <a:extLst>
                    <a:ext uri="{9D8B030D-6E8A-4147-A177-3AD203B41FA5}">
                      <a16:colId xmlns:a16="http://schemas.microsoft.com/office/drawing/2014/main" val="1125871748"/>
                    </a:ext>
                  </a:extLst>
                </a:gridCol>
                <a:gridCol w="676018">
                  <a:extLst>
                    <a:ext uri="{9D8B030D-6E8A-4147-A177-3AD203B41FA5}">
                      <a16:colId xmlns:a16="http://schemas.microsoft.com/office/drawing/2014/main" val="1930088866"/>
                    </a:ext>
                  </a:extLst>
                </a:gridCol>
                <a:gridCol w="676018">
                  <a:extLst>
                    <a:ext uri="{9D8B030D-6E8A-4147-A177-3AD203B41FA5}">
                      <a16:colId xmlns:a16="http://schemas.microsoft.com/office/drawing/2014/main" val="3666760489"/>
                    </a:ext>
                  </a:extLst>
                </a:gridCol>
                <a:gridCol w="676018">
                  <a:extLst>
                    <a:ext uri="{9D8B030D-6E8A-4147-A177-3AD203B41FA5}">
                      <a16:colId xmlns:a16="http://schemas.microsoft.com/office/drawing/2014/main" val="2660620588"/>
                    </a:ext>
                  </a:extLst>
                </a:gridCol>
                <a:gridCol w="676018">
                  <a:extLst>
                    <a:ext uri="{9D8B030D-6E8A-4147-A177-3AD203B41FA5}">
                      <a16:colId xmlns:a16="http://schemas.microsoft.com/office/drawing/2014/main" val="490341942"/>
                    </a:ext>
                  </a:extLst>
                </a:gridCol>
                <a:gridCol w="676018">
                  <a:extLst>
                    <a:ext uri="{9D8B030D-6E8A-4147-A177-3AD203B41FA5}">
                      <a16:colId xmlns:a16="http://schemas.microsoft.com/office/drawing/2014/main" val="202768423"/>
                    </a:ext>
                  </a:extLst>
                </a:gridCol>
                <a:gridCol w="676018">
                  <a:extLst>
                    <a:ext uri="{9D8B030D-6E8A-4147-A177-3AD203B41FA5}">
                      <a16:colId xmlns:a16="http://schemas.microsoft.com/office/drawing/2014/main" val="623367005"/>
                    </a:ext>
                  </a:extLst>
                </a:gridCol>
                <a:gridCol w="676018">
                  <a:extLst>
                    <a:ext uri="{9D8B030D-6E8A-4147-A177-3AD203B41FA5}">
                      <a16:colId xmlns:a16="http://schemas.microsoft.com/office/drawing/2014/main" val="1717027087"/>
                    </a:ext>
                  </a:extLst>
                </a:gridCol>
              </a:tblGrid>
              <a:tr h="56496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66272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33212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B01AB9-0651-4F6D-A93A-D571F0BAE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007" y="712181"/>
            <a:ext cx="7886700" cy="583367"/>
          </a:xfrm>
        </p:spPr>
        <p:txBody>
          <a:bodyPr>
            <a:normAutofit/>
          </a:bodyPr>
          <a:lstStyle/>
          <a:p>
            <a:r>
              <a:rPr lang="en-US" altLang="zh-TW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</a:t>
            </a:r>
            <a:endParaRPr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9295" y="186431"/>
            <a:ext cx="4462739" cy="6413183"/>
          </a:xfrm>
        </p:spPr>
      </p:pic>
    </p:spTree>
    <p:extLst>
      <p:ext uri="{BB962C8B-B14F-4D97-AF65-F5344CB8AC3E}">
        <p14:creationId xmlns:p14="http://schemas.microsoft.com/office/powerpoint/2010/main" val="2803443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89398</TotalTime>
  <Words>401</Words>
  <Application>Microsoft Office PowerPoint</Application>
  <PresentationFormat>如螢幕大小 (4:3)</PresentationFormat>
  <Paragraphs>109</Paragraphs>
  <Slides>10</Slides>
  <Notes>8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7" baseType="lpstr">
      <vt:lpstr>新細明體</vt:lpstr>
      <vt:lpstr>標楷體</vt:lpstr>
      <vt:lpstr>Arial</vt:lpstr>
      <vt:lpstr>Calibri</vt:lpstr>
      <vt:lpstr>Calibri Light</vt:lpstr>
      <vt:lpstr>Times New Roman</vt:lpstr>
      <vt:lpstr>Office 佈景主題</vt:lpstr>
      <vt:lpstr>Optimum Scheduling System for Container Truck Based on Genetic Algorithm on Spin(simulator Pelabuhan Indonesia)</vt:lpstr>
      <vt:lpstr>Abstract (1/2)</vt:lpstr>
      <vt:lpstr>Abstract (2/2)</vt:lpstr>
      <vt:lpstr>Tanjung Priok</vt:lpstr>
      <vt:lpstr>PowerPoint 簡報</vt:lpstr>
      <vt:lpstr>Experiment</vt:lpstr>
      <vt:lpstr>Experiment</vt:lpstr>
      <vt:lpstr>Experiment</vt:lpstr>
      <vt:lpstr>Experiment</vt:lpstr>
      <vt:lpstr>Experiment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fast algorithm for computing a longest common increasing subsequence</dc:title>
  <dc:creator/>
  <cp:lastModifiedBy>智愷 吳</cp:lastModifiedBy>
  <cp:revision>810</cp:revision>
  <dcterms:created xsi:type="dcterms:W3CDTF">2017-09-25T08:45:50Z</dcterms:created>
  <dcterms:modified xsi:type="dcterms:W3CDTF">2020-07-15T05:43:27Z</dcterms:modified>
</cp:coreProperties>
</file>