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58" r:id="rId3"/>
    <p:sldId id="278" r:id="rId4"/>
    <p:sldId id="280" r:id="rId5"/>
    <p:sldId id="263" r:id="rId6"/>
    <p:sldId id="281" r:id="rId7"/>
    <p:sldId id="282" r:id="rId8"/>
    <p:sldId id="283" r:id="rId9"/>
    <p:sldId id="284" r:id="rId10"/>
    <p:sldId id="285" r:id="rId11"/>
    <p:sldId id="286" r:id="rId12"/>
    <p:sldId id="288" r:id="rId13"/>
    <p:sldId id="287" r:id="rId14"/>
    <p:sldId id="289" r:id="rId15"/>
    <p:sldId id="277" r:id="rId16"/>
    <p:sldId id="291" r:id="rId17"/>
    <p:sldId id="292" r:id="rId1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1618" autoAdjust="0"/>
  </p:normalViewPr>
  <p:slideViewPr>
    <p:cSldViewPr>
      <p:cViewPr varScale="1">
        <p:scale>
          <a:sx n="105" d="100"/>
          <a:sy n="105" d="100"/>
        </p:scale>
        <p:origin x="-1794"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2020/3/3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BioMed_Centra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BMC</a:t>
            </a:r>
            <a:r>
              <a:rPr lang="zh-TW" altLang="en-US" dirty="0" smtClean="0"/>
              <a:t> </a:t>
            </a:r>
            <a:r>
              <a:rPr lang="en-US" altLang="zh-TW" dirty="0" smtClean="0"/>
              <a:t>Research Notes</a:t>
            </a:r>
          </a:p>
          <a:p>
            <a:r>
              <a:rPr lang="en-US" altLang="zh-TW" dirty="0" smtClean="0">
                <a:hlinkClick r:id="rId3"/>
              </a:rPr>
              <a:t>https://en.wikipedia.org/wiki/BioMed_Central</a:t>
            </a:r>
            <a:endParaRPr lang="en-US" altLang="zh-TW" dirty="0" smtClean="0"/>
          </a:p>
          <a:p>
            <a:r>
              <a:rPr lang="zh-TW" altLang="en-US" dirty="0" smtClean="0"/>
              <a:t>作者是 加拿大人</a:t>
            </a:r>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xmlns=""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xmlns=""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it-IT" altLang="zh-TW" dirty="0" smtClean="0"/>
              <a:t>2.MPI(Message Passing Interface)</a:t>
            </a:r>
          </a:p>
          <a:p>
            <a:r>
              <a:rPr lang="it-IT" altLang="zh-TW" dirty="0" smtClean="0"/>
              <a:t>https://zh.wikipedia.org/wiki/%E8%A8%8A%E6%81%AF%E5%82%B3%E9%81%9E%E4%BB%8B%E9%9D%A2</a:t>
            </a:r>
          </a:p>
          <a:p>
            <a:endParaRPr lang="it-IT" altLang="zh-TW" dirty="0" smtClean="0"/>
          </a:p>
          <a:p>
            <a:r>
              <a:rPr lang="it-IT" altLang="zh-TW" dirty="0" smtClean="0"/>
              <a:t>3.open  multi-processing  (OpenMP))</a:t>
            </a:r>
          </a:p>
          <a:p>
            <a:r>
              <a:rPr lang="it-IT" altLang="zh-TW" dirty="0" smtClean="0"/>
              <a:t>https://zh.wikipedia.org/wiki/OpenMP</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p14="http://schemas.microsoft.com/office/powerpoint/2010/main" xmlns=""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4</a:t>
            </a:fld>
            <a:endParaRPr lang="zh-TW" altLang="en-US"/>
          </a:p>
        </p:txBody>
      </p:sp>
    </p:spTree>
    <p:extLst>
      <p:ext uri="{BB962C8B-B14F-4D97-AF65-F5344CB8AC3E}">
        <p14:creationId xmlns:p14="http://schemas.microsoft.com/office/powerpoint/2010/main" xmlns="" val="1491878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err="1" smtClean="0"/>
              <a:t>openMP</a:t>
            </a:r>
            <a:r>
              <a:rPr lang="zh-TW" altLang="en-US" dirty="0" smtClean="0"/>
              <a:t>程式平行化 參數解說</a:t>
            </a:r>
          </a:p>
          <a:p>
            <a:r>
              <a:rPr lang="en-US" altLang="zh-TW" dirty="0" smtClean="0"/>
              <a:t>https://kheresy.wordpress.com/2006/09/15/%E7%B0%A1%E6%98%93%E7%9A%84%E7%A8%8B%E5%BC%8F%E5%B9%B3%E8%A1%8C%E5%8C%96%EF%BC%8Dopenmp%EF%BC%88%E5%9B%9B%EF%BC%89%E7%AF%84%E4%BE%8B-for/</a:t>
            </a:r>
          </a:p>
          <a:p>
            <a:r>
              <a:rPr lang="en-US" altLang="zh-TW" dirty="0" smtClean="0"/>
              <a:t>static:</a:t>
            </a:r>
            <a:r>
              <a:rPr lang="zh-TW" altLang="en-US" dirty="0" smtClean="0"/>
              <a:t>指定</a:t>
            </a:r>
            <a:r>
              <a:rPr lang="en-US" altLang="zh-TW" dirty="0" err="1" smtClean="0"/>
              <a:t>chunk_size</a:t>
            </a:r>
            <a:r>
              <a:rPr lang="en-US" altLang="zh-TW" dirty="0" smtClean="0"/>
              <a:t> </a:t>
            </a:r>
            <a:r>
              <a:rPr lang="zh-TW" altLang="en-US" dirty="0" smtClean="0"/>
              <a:t>來切成數個</a:t>
            </a:r>
            <a:r>
              <a:rPr lang="en-US" altLang="zh-TW" dirty="0" smtClean="0"/>
              <a:t>chunk </a:t>
            </a:r>
            <a:r>
              <a:rPr lang="zh-TW" altLang="en-US" dirty="0" smtClean="0"/>
              <a:t>，將</a:t>
            </a:r>
            <a:r>
              <a:rPr lang="en-US" altLang="zh-TW" dirty="0" smtClean="0"/>
              <a:t>chunk</a:t>
            </a:r>
            <a:r>
              <a:rPr lang="zh-TW" altLang="en-US" dirty="0" smtClean="0"/>
              <a:t>指定給</a:t>
            </a:r>
            <a:r>
              <a:rPr lang="en-US" altLang="zh-TW" dirty="0" smtClean="0"/>
              <a:t>thread</a:t>
            </a:r>
            <a:r>
              <a:rPr lang="zh-TW" altLang="en-US" dirty="0" smtClean="0"/>
              <a:t>執行，若未指定</a:t>
            </a:r>
            <a:r>
              <a:rPr lang="en-US" altLang="zh-TW" dirty="0" err="1" smtClean="0"/>
              <a:t>chunk_size</a:t>
            </a:r>
            <a:r>
              <a:rPr lang="zh-TW" altLang="en-US" dirty="0" smtClean="0"/>
              <a:t>則平均分配給</a:t>
            </a:r>
            <a:r>
              <a:rPr lang="en-US" altLang="zh-TW" dirty="0" smtClean="0"/>
              <a:t>thread</a:t>
            </a:r>
          </a:p>
          <a:p>
            <a:endParaRPr lang="en-US" altLang="zh-TW" dirty="0" smtClean="0"/>
          </a:p>
          <a:p>
            <a:r>
              <a:rPr lang="en-US" altLang="zh-TW" dirty="0" smtClean="0"/>
              <a:t>dynamic:</a:t>
            </a:r>
            <a:r>
              <a:rPr lang="zh-TW" altLang="en-US" dirty="0" smtClean="0"/>
              <a:t>指定</a:t>
            </a:r>
            <a:r>
              <a:rPr lang="en-US" altLang="zh-TW" dirty="0" err="1" smtClean="0"/>
              <a:t>chunk_size</a:t>
            </a:r>
            <a:r>
              <a:rPr lang="en-US" altLang="zh-TW" dirty="0" smtClean="0"/>
              <a:t> </a:t>
            </a:r>
            <a:r>
              <a:rPr lang="zh-TW" altLang="en-US" dirty="0" smtClean="0"/>
              <a:t>來切數個</a:t>
            </a:r>
            <a:r>
              <a:rPr lang="en-US" altLang="zh-TW" dirty="0" smtClean="0"/>
              <a:t>chunk</a:t>
            </a:r>
            <a:r>
              <a:rPr lang="zh-TW" altLang="en-US" dirty="0" smtClean="0"/>
              <a:t>，如果未指定</a:t>
            </a:r>
            <a:r>
              <a:rPr lang="en-US" altLang="zh-TW" dirty="0" err="1" smtClean="0"/>
              <a:t>chunk_size</a:t>
            </a:r>
            <a:r>
              <a:rPr lang="zh-TW" altLang="en-US" dirty="0" smtClean="0"/>
              <a:t>則預設為</a:t>
            </a:r>
            <a:r>
              <a:rPr lang="en-US" altLang="zh-TW" dirty="0" smtClean="0"/>
              <a:t>1</a:t>
            </a:r>
            <a:r>
              <a:rPr lang="zh-TW" altLang="en-US" dirty="0" smtClean="0"/>
              <a:t>，即切成總執行個數， </a:t>
            </a:r>
            <a:r>
              <a:rPr lang="en-US" altLang="zh-TW" dirty="0" smtClean="0"/>
              <a:t>thread</a:t>
            </a:r>
            <a:r>
              <a:rPr lang="zh-TW" altLang="en-US" dirty="0" smtClean="0"/>
              <a:t>執行完畢會自動去尋找未執行的</a:t>
            </a:r>
            <a:r>
              <a:rPr lang="en-US" altLang="zh-TW" dirty="0" smtClean="0"/>
              <a:t>chunk</a:t>
            </a:r>
          </a:p>
          <a:p>
            <a:endParaRPr lang="en-US" altLang="zh-TW" dirty="0" smtClean="0"/>
          </a:p>
          <a:p>
            <a:r>
              <a:rPr lang="en-US" altLang="zh-TW" dirty="0" smtClean="0"/>
              <a:t>guided:</a:t>
            </a:r>
            <a:r>
              <a:rPr lang="zh-TW" altLang="en-US" dirty="0" smtClean="0"/>
              <a:t>指定</a:t>
            </a:r>
            <a:r>
              <a:rPr lang="en-US" altLang="zh-TW" dirty="0" err="1" smtClean="0"/>
              <a:t>chunk_size</a:t>
            </a:r>
            <a:r>
              <a:rPr lang="zh-TW" altLang="en-US" dirty="0" smtClean="0"/>
              <a:t>，但 會以遞減的方式減至</a:t>
            </a:r>
            <a:r>
              <a:rPr lang="en-US" altLang="zh-TW" dirty="0" err="1" smtClean="0"/>
              <a:t>chunk_size</a:t>
            </a:r>
            <a:r>
              <a:rPr lang="zh-TW" altLang="en-US" dirty="0" smtClean="0"/>
              <a:t>，即 一開始分配很大，後來逐次減少，以逐步減輕</a:t>
            </a:r>
            <a:r>
              <a:rPr lang="en-US" altLang="zh-TW" dirty="0" smtClean="0"/>
              <a:t>thread</a:t>
            </a:r>
            <a:r>
              <a:rPr lang="zh-TW" altLang="en-US" dirty="0" smtClean="0"/>
              <a:t>執行的數量，若未指定</a:t>
            </a:r>
            <a:r>
              <a:rPr lang="en-US" altLang="zh-TW" dirty="0" err="1" smtClean="0"/>
              <a:t>chunk_size</a:t>
            </a:r>
            <a:r>
              <a:rPr lang="zh-TW" altLang="en-US" dirty="0" smtClean="0"/>
              <a:t>則預設為</a:t>
            </a:r>
            <a:r>
              <a:rPr lang="en-US" altLang="zh-TW" dirty="0" smtClean="0"/>
              <a:t>1</a:t>
            </a:r>
            <a:endParaRPr lang="zh-TW" altLang="en-US" dirty="0"/>
          </a:p>
        </p:txBody>
      </p:sp>
      <p:sp>
        <p:nvSpPr>
          <p:cNvPr id="4" name="投影片編號版面配置區 3"/>
          <p:cNvSpPr>
            <a:spLocks noGrp="1"/>
          </p:cNvSpPr>
          <p:nvPr>
            <p:ph type="sldNum" sz="quarter" idx="10"/>
          </p:nvPr>
        </p:nvSpPr>
        <p:spPr/>
        <p:txBody>
          <a:bodyPr/>
          <a:lstStyle/>
          <a:p>
            <a:fld id="{65A18BCC-D1EA-4D8A-929C-D092EA2B4393}" type="slidenum">
              <a:rPr lang="zh-TW" altLang="en-US" smtClean="0"/>
              <a:pPr/>
              <a:t>16</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t>a.</a:t>
            </a:r>
            <a:r>
              <a:rPr lang="zh-TW" altLang="en-US" dirty="0" smtClean="0"/>
              <a:t>長度不同</a:t>
            </a:r>
            <a:endParaRPr lang="en-US" altLang="zh-TW" dirty="0" smtClean="0"/>
          </a:p>
          <a:p>
            <a:r>
              <a:rPr lang="en-US" altLang="zh-TW" dirty="0" smtClean="0"/>
              <a:t>b.</a:t>
            </a:r>
            <a:r>
              <a:rPr lang="zh-TW" altLang="en-US" dirty="0" smtClean="0"/>
              <a:t>真實的</a:t>
            </a:r>
            <a:r>
              <a:rPr lang="en-US" altLang="zh-TW" dirty="0" smtClean="0"/>
              <a:t>DNA</a:t>
            </a:r>
            <a:r>
              <a:rPr lang="zh-TW" altLang="en-US" dirty="0" smtClean="0"/>
              <a:t>序列</a:t>
            </a:r>
            <a:r>
              <a:rPr lang="en-US" altLang="zh-TW" dirty="0" smtClean="0"/>
              <a:t>---SP9</a:t>
            </a:r>
            <a:r>
              <a:rPr lang="zh-TW" altLang="en-US" dirty="0" smtClean="0"/>
              <a:t>跟</a:t>
            </a:r>
            <a:r>
              <a:rPr lang="en-US" altLang="zh-TW" dirty="0" smtClean="0"/>
              <a:t>10</a:t>
            </a:r>
            <a:r>
              <a:rPr lang="zh-TW" altLang="en-US" dirty="0" smtClean="0"/>
              <a:t>都是真核生物的鹼基對，</a:t>
            </a:r>
            <a:r>
              <a:rPr lang="en-US" altLang="zh-TW" dirty="0" smtClean="0"/>
              <a:t>MPI</a:t>
            </a:r>
            <a:r>
              <a:rPr lang="zh-TW" altLang="en-US" dirty="0" smtClean="0"/>
              <a:t>跟</a:t>
            </a:r>
            <a:r>
              <a:rPr lang="en-US" altLang="zh-TW" dirty="0" smtClean="0"/>
              <a:t>hybrid</a:t>
            </a:r>
            <a:r>
              <a:rPr lang="zh-TW" altLang="en-US" dirty="0" smtClean="0"/>
              <a:t>都超過</a:t>
            </a:r>
            <a:r>
              <a:rPr lang="en-US" altLang="zh-TW" dirty="0" smtClean="0"/>
              <a:t>1</a:t>
            </a:r>
            <a:r>
              <a:rPr lang="zh-TW" altLang="en-US" dirty="0" smtClean="0"/>
              <a:t>周</a:t>
            </a:r>
            <a:endParaRPr lang="en-US" altLang="zh-TW" dirty="0" smtClean="0"/>
          </a:p>
          <a:p>
            <a:r>
              <a:rPr lang="en-US" altLang="zh-TW" dirty="0" smtClean="0"/>
              <a:t>c.</a:t>
            </a:r>
            <a:r>
              <a:rPr lang="zh-TW" altLang="en-US" dirty="0" smtClean="0"/>
              <a:t>版本</a:t>
            </a:r>
            <a:r>
              <a:rPr lang="en-US" altLang="zh-TW" dirty="0" smtClean="0"/>
              <a:t>1</a:t>
            </a:r>
            <a:r>
              <a:rPr lang="zh-TW" altLang="en-US" dirty="0" smtClean="0"/>
              <a:t>跟</a:t>
            </a:r>
            <a:r>
              <a:rPr lang="en-US" altLang="zh-TW" dirty="0" smtClean="0"/>
              <a:t>2</a:t>
            </a:r>
            <a:r>
              <a:rPr lang="zh-TW" altLang="en-US" dirty="0" smtClean="0"/>
              <a:t>的差別</a:t>
            </a:r>
            <a:r>
              <a:rPr lang="en-US" altLang="zh-TW" dirty="0" smtClean="0"/>
              <a:t>---CPU</a:t>
            </a:r>
            <a:r>
              <a:rPr lang="zh-TW" altLang="en-US" dirty="0" smtClean="0"/>
              <a:t>在版本</a:t>
            </a:r>
            <a:r>
              <a:rPr lang="en-US" altLang="zh-TW" dirty="0" smtClean="0"/>
              <a:t>1</a:t>
            </a:r>
            <a:r>
              <a:rPr lang="zh-TW" altLang="en-US" dirty="0" smtClean="0"/>
              <a:t>較好，</a:t>
            </a:r>
            <a:r>
              <a:rPr lang="en-US" altLang="zh-TW" dirty="0" smtClean="0"/>
              <a:t>GPU</a:t>
            </a:r>
            <a:r>
              <a:rPr lang="zh-TW" altLang="en-US" dirty="0" smtClean="0"/>
              <a:t>在版本</a:t>
            </a:r>
            <a:r>
              <a:rPr lang="en-US" altLang="zh-TW" dirty="0" smtClean="0"/>
              <a:t>2</a:t>
            </a:r>
            <a:r>
              <a:rPr lang="zh-TW" altLang="en-US" dirty="0" smtClean="0"/>
              <a:t>較好</a:t>
            </a:r>
            <a:endParaRPr lang="en-US" altLang="zh-TW" dirty="0" smtClean="0"/>
          </a:p>
          <a:p>
            <a:r>
              <a:rPr lang="en-US" altLang="zh-TW" dirty="0" smtClean="0"/>
              <a:t>MPI</a:t>
            </a:r>
            <a:r>
              <a:rPr lang="zh-TW" altLang="en-US" dirty="0" smtClean="0"/>
              <a:t>效能差的原因，可能是在 </a:t>
            </a:r>
            <a:r>
              <a:rPr lang="en-US" altLang="zh-TW" dirty="0" smtClean="0"/>
              <a:t>communication </a:t>
            </a:r>
            <a:r>
              <a:rPr lang="zh-TW" altLang="en-US" dirty="0" smtClean="0"/>
              <a:t>跟 </a:t>
            </a:r>
            <a:r>
              <a:rPr lang="en-US" altLang="zh-TW" dirty="0" smtClean="0"/>
              <a:t>synchronization</a:t>
            </a:r>
            <a:r>
              <a:rPr lang="en-US" altLang="zh-TW" baseline="0" dirty="0" smtClean="0"/>
              <a:t> </a:t>
            </a:r>
            <a:r>
              <a:rPr lang="zh-TW" altLang="en-US" baseline="0" smtClean="0"/>
              <a:t>的開銷太大</a:t>
            </a:r>
            <a:endParaRPr lang="zh-TW" altLang="en-US" dirty="0"/>
          </a:p>
        </p:txBody>
      </p:sp>
      <p:sp>
        <p:nvSpPr>
          <p:cNvPr id="4" name="投影片編號版面配置區 3"/>
          <p:cNvSpPr>
            <a:spLocks noGrp="1"/>
          </p:cNvSpPr>
          <p:nvPr>
            <p:ph type="sldNum" sz="quarter" idx="10"/>
          </p:nvPr>
        </p:nvSpPr>
        <p:spPr/>
        <p:txBody>
          <a:bodyPr/>
          <a:lstStyle/>
          <a:p>
            <a:fld id="{65A18BCC-D1EA-4D8A-929C-D092EA2B4393}" type="slidenum">
              <a:rPr lang="zh-TW" altLang="en-US" smtClean="0"/>
              <a:pPr/>
              <a:t>17</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2020/3/3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cs typeface="Times New Roman" pitchFamily="18" charset="0"/>
              </a:rPr>
              <a:t>An </a:t>
            </a:r>
            <a:r>
              <a:rPr lang="en-US" altLang="zh-TW" sz="3200" dirty="0" err="1" smtClean="0">
                <a:latin typeface="Times New Roman" pitchFamily="18" charset="0"/>
                <a:cs typeface="Times New Roman" pitchFamily="18" charset="0"/>
              </a:rPr>
              <a:t>OpenMP</a:t>
            </a:r>
            <a:r>
              <a:rPr lang="en-US" altLang="zh-TW" sz="3200" dirty="0" smtClean="0">
                <a:latin typeface="Times New Roman" pitchFamily="18" charset="0"/>
                <a:cs typeface="Times New Roman" pitchFamily="18" charset="0"/>
              </a:rPr>
              <a:t>-based tool for finding longest common subsequence in bioinformatics</a:t>
            </a:r>
            <a:endParaRPr lang="en-US" altLang="zh-TW" sz="3200" dirty="0">
              <a:latin typeface="Times New Roman" pitchFamily="18" charset="0"/>
              <a:cs typeface="Times New Roman" pitchFamily="18" charset="0"/>
            </a:endParaRPr>
          </a:p>
        </p:txBody>
      </p:sp>
      <p:sp>
        <p:nvSpPr>
          <p:cNvPr id="3" name="副標題 2">
            <a:extLst>
              <a:ext uri="{FF2B5EF4-FFF2-40B4-BE49-F238E27FC236}">
                <a16:creationId xmlns:a16="http://schemas.microsoft.com/office/drawing/2014/main" xmlns=""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err="1" smtClean="0">
                <a:solidFill>
                  <a:schemeClr val="tx1"/>
                </a:solidFill>
                <a:latin typeface="Times New Roman" pitchFamily="18" charset="0"/>
                <a:cs typeface="Times New Roman" pitchFamily="18" charset="0"/>
              </a:rPr>
              <a:t>Rayhan</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Shikder</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Parimala</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Thulasiraman</a:t>
            </a:r>
            <a:r>
              <a:rPr lang="en-US" altLang="zh-TW" sz="2000" dirty="0" smtClean="0">
                <a:solidFill>
                  <a:schemeClr val="tx1"/>
                </a:solidFill>
                <a:latin typeface="Times New Roman" pitchFamily="18" charset="0"/>
                <a:cs typeface="Times New Roman" pitchFamily="18" charset="0"/>
              </a:rPr>
              <a:t>, </a:t>
            </a:r>
          </a:p>
          <a:p>
            <a:pPr fontAlgn="ctr"/>
            <a:r>
              <a:rPr lang="en-US" altLang="zh-TW" sz="2000" dirty="0" err="1" smtClean="0">
                <a:solidFill>
                  <a:schemeClr val="tx1"/>
                </a:solidFill>
                <a:latin typeface="Times New Roman" pitchFamily="18" charset="0"/>
                <a:cs typeface="Times New Roman" pitchFamily="18" charset="0"/>
              </a:rPr>
              <a:t>Pourang</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Irani</a:t>
            </a:r>
            <a:r>
              <a:rPr lang="en-US" altLang="zh-TW" sz="2000" dirty="0" smtClean="0">
                <a:solidFill>
                  <a:schemeClr val="tx1"/>
                </a:solidFill>
                <a:latin typeface="Times New Roman" pitchFamily="18" charset="0"/>
                <a:cs typeface="Times New Roman" pitchFamily="18" charset="0"/>
              </a:rPr>
              <a:t> and </a:t>
            </a:r>
            <a:r>
              <a:rPr lang="en-US" altLang="zh-TW" sz="2000" dirty="0" err="1" smtClean="0">
                <a:solidFill>
                  <a:schemeClr val="tx1"/>
                </a:solidFill>
                <a:latin typeface="Times New Roman" pitchFamily="18" charset="0"/>
                <a:cs typeface="Times New Roman" pitchFamily="18" charset="0"/>
              </a:rPr>
              <a:t>Pingzhao</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Hu</a:t>
            </a:r>
            <a:endParaRPr lang="en-US" altLang="zh-TW" dirty="0">
              <a:solidFill>
                <a:schemeClr val="tx1"/>
              </a:solidFill>
              <a:latin typeface="Times New Roman" pitchFamily="18" charset="0"/>
              <a:cs typeface="Times New Roman" pitchFamily="18" charset="0"/>
            </a:endParaRPr>
          </a:p>
        </p:txBody>
      </p:sp>
      <p:sp>
        <p:nvSpPr>
          <p:cNvPr id="8" name="文字方塊 7">
            <a:extLst>
              <a:ext uri="{FF2B5EF4-FFF2-40B4-BE49-F238E27FC236}">
                <a16:creationId xmlns:a16="http://schemas.microsoft.com/office/drawing/2014/main" xmlns="" id="{8F2527E8-BB8F-41FB-8AF1-03DCC96BC069}"/>
              </a:ext>
            </a:extLst>
          </p:cNvPr>
          <p:cNvSpPr txBox="1"/>
          <p:nvPr/>
        </p:nvSpPr>
        <p:spPr>
          <a:xfrm>
            <a:off x="1893487" y="3873343"/>
            <a:ext cx="4931415" cy="707886"/>
          </a:xfrm>
          <a:prstGeom prst="rect">
            <a:avLst/>
          </a:prstGeom>
          <a:noFill/>
        </p:spPr>
        <p:txBody>
          <a:bodyPr wrap="none" rtlCol="0">
            <a:spAutoFit/>
          </a:bodyPr>
          <a:lstStyle/>
          <a:p>
            <a:pPr algn="ctr"/>
            <a:r>
              <a:rPr lang="en-US" altLang="zh-TW" sz="2000" dirty="0" smtClean="0">
                <a:latin typeface="Times New Roman" pitchFamily="18" charset="0"/>
                <a:cs typeface="Times New Roman" pitchFamily="18" charset="0"/>
              </a:rPr>
              <a:t>BMC Research Notes 12, Article number: 220</a:t>
            </a:r>
          </a:p>
          <a:p>
            <a:pPr algn="ctr"/>
            <a:r>
              <a:rPr lang="en-US" altLang="zh-TW" sz="2000" dirty="0" smtClean="0">
                <a:latin typeface="Times New Roman" pitchFamily="18" charset="0"/>
                <a:cs typeface="Times New Roman" pitchFamily="18" charset="0"/>
              </a:rPr>
              <a:t>Published: 11 April 2019</a:t>
            </a:r>
            <a:endParaRPr lang="en-US" altLang="zh-TW" sz="2000" dirty="0">
              <a:latin typeface="Times New Roman" pitchFamily="18" charset="0"/>
              <a:cs typeface="Times New Roman" pitchFamily="18" charset="0"/>
            </a:endParaRPr>
          </a:p>
        </p:txBody>
      </p:sp>
      <p:sp>
        <p:nvSpPr>
          <p:cNvPr id="9" name="文字方塊 8">
            <a:extLst>
              <a:ext uri="{FF2B5EF4-FFF2-40B4-BE49-F238E27FC236}">
                <a16:creationId xmlns:a16="http://schemas.microsoft.com/office/drawing/2014/main" xmlns=""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xmlns="" id="{52A0654C-2F84-4026-9FCF-04C8DF590D5F}"/>
              </a:ext>
            </a:extLst>
          </p:cNvPr>
          <p:cNvSpPr txBox="1"/>
          <p:nvPr/>
        </p:nvSpPr>
        <p:spPr>
          <a:xfrm>
            <a:off x="5652120" y="5824855"/>
            <a:ext cx="2500043"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Mar. 2, 2020</a:t>
            </a:r>
            <a:endParaRPr lang="zh-TW" altLang="en-US" dirty="0"/>
          </a:p>
        </p:txBody>
      </p:sp>
    </p:spTree>
    <p:extLst>
      <p:ext uri="{BB962C8B-B14F-4D97-AF65-F5344CB8AC3E}">
        <p14:creationId xmlns:p14="http://schemas.microsoft.com/office/powerpoint/2010/main" xmlns=""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Objective:</a:t>
            </a:r>
          </a:p>
          <a:p>
            <a:pPr marL="0" indent="0">
              <a:lnSpc>
                <a:spcPts val="3200"/>
              </a:lnSpc>
              <a:buNone/>
            </a:pPr>
            <a:r>
              <a:rPr lang="en-US" altLang="zh-TW" sz="2800" dirty="0" smtClean="0">
                <a:latin typeface="Times New Roman" pitchFamily="18" charset="0"/>
                <a:cs typeface="Times New Roman" pitchFamily="18" charset="0"/>
              </a:rPr>
              <a:t>Finding the longest common subsequence (LCS) among sequences is NP-hard. This is an important problem in bioinformatics for DNA sequence alignment and pattern discovery. In this research, we propose new CPU-based parallel implementations that can provide significant advantages in terms of execution times, monetary cost, and pervasiveness in finding LCS of DNA sequences in an environment where Graphics Processing Units are not available. For general purpose use, we also make the </a:t>
            </a:r>
            <a:r>
              <a:rPr lang="en-US" altLang="zh-TW" sz="2800" dirty="0" err="1" smtClean="0">
                <a:latin typeface="Times New Roman" pitchFamily="18" charset="0"/>
                <a:cs typeface="Times New Roman" pitchFamily="18" charset="0"/>
              </a:rPr>
              <a:t>OpenMP</a:t>
            </a:r>
            <a:r>
              <a:rPr lang="en-US" altLang="zh-TW" sz="2800" dirty="0" smtClean="0">
                <a:latin typeface="Times New Roman" pitchFamily="18" charset="0"/>
                <a:cs typeface="Times New Roman" pitchFamily="18" charset="0"/>
              </a:rPr>
              <a:t>-based tool publicly available to end users.</a:t>
            </a:r>
            <a:endParaRPr lang="fr-FR" altLang="zh-TW"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673631"/>
            <a:ext cx="9004993" cy="5347657"/>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Result:</a:t>
            </a:r>
          </a:p>
          <a:p>
            <a:pPr marL="0" indent="0">
              <a:lnSpc>
                <a:spcPts val="3200"/>
              </a:lnSpc>
              <a:buNone/>
            </a:pPr>
            <a:r>
              <a:rPr lang="en-US" altLang="zh-TW" sz="2800" dirty="0" smtClean="0">
                <a:latin typeface="Times New Roman" pitchFamily="18" charset="0"/>
                <a:cs typeface="Times New Roman" pitchFamily="18" charset="0"/>
              </a:rPr>
              <a:t>In this study, we develop three novel parallel versions of the LCS algorithm on: </a:t>
            </a:r>
          </a:p>
          <a:p>
            <a:pPr marL="571500" indent="-571500">
              <a:lnSpc>
                <a:spcPts val="3200"/>
              </a:lnSpc>
              <a:buAutoNum type="romanLcParenBoth"/>
            </a:pPr>
            <a:r>
              <a:rPr lang="en-US" altLang="zh-TW" sz="2800" dirty="0" smtClean="0">
                <a:latin typeface="Times New Roman" pitchFamily="18" charset="0"/>
                <a:cs typeface="Times New Roman" pitchFamily="18" charset="0"/>
              </a:rPr>
              <a:t>distributed memory machine using message passing interface (MPI).</a:t>
            </a:r>
          </a:p>
          <a:p>
            <a:pPr marL="571500" indent="-571500">
              <a:lnSpc>
                <a:spcPts val="3200"/>
              </a:lnSpc>
              <a:buAutoNum type="romanLcParenBoth"/>
            </a:pPr>
            <a:r>
              <a:rPr lang="en-US" altLang="zh-TW" sz="2800" dirty="0" smtClean="0">
                <a:latin typeface="Times New Roman" pitchFamily="18" charset="0"/>
                <a:cs typeface="Times New Roman" pitchFamily="18" charset="0"/>
              </a:rPr>
              <a:t>shared memory machine using </a:t>
            </a:r>
            <a:r>
              <a:rPr lang="en-US" altLang="zh-TW" sz="2800" dirty="0" err="1" smtClean="0">
                <a:latin typeface="Times New Roman" pitchFamily="18" charset="0"/>
                <a:cs typeface="Times New Roman" pitchFamily="18" charset="0"/>
              </a:rPr>
              <a:t>OpenMP</a:t>
            </a:r>
            <a:r>
              <a:rPr lang="en-US" altLang="zh-TW" sz="2800" dirty="0" smtClean="0">
                <a:latin typeface="Times New Roman" pitchFamily="18" charset="0"/>
                <a:cs typeface="Times New Roman" pitchFamily="18" charset="0"/>
              </a:rPr>
              <a:t>.</a:t>
            </a:r>
          </a:p>
          <a:p>
            <a:pPr marL="571500" indent="-571500">
              <a:lnSpc>
                <a:spcPts val="3200"/>
              </a:lnSpc>
              <a:buAutoNum type="romanLcParenBoth"/>
            </a:pPr>
            <a:r>
              <a:rPr lang="en-US" altLang="zh-TW" sz="2800" dirty="0" smtClean="0">
                <a:latin typeface="Times New Roman" pitchFamily="18" charset="0"/>
                <a:cs typeface="Times New Roman" pitchFamily="18" charset="0"/>
              </a:rPr>
              <a:t>hybrid platform that utilizes both distributed and shared memory using MPI-</a:t>
            </a:r>
            <a:r>
              <a:rPr lang="en-US" altLang="zh-TW" sz="2800" dirty="0" err="1" smtClean="0">
                <a:latin typeface="Times New Roman" pitchFamily="18" charset="0"/>
                <a:cs typeface="Times New Roman" pitchFamily="18" charset="0"/>
              </a:rPr>
              <a:t>OpenMP</a:t>
            </a:r>
            <a:r>
              <a:rPr lang="en-US" altLang="zh-TW" sz="2800" dirty="0" smtClean="0">
                <a:latin typeface="Times New Roman" pitchFamily="18" charset="0"/>
                <a:cs typeface="Times New Roman" pitchFamily="18" charset="0"/>
              </a:rPr>
              <a:t>. </a:t>
            </a:r>
          </a:p>
        </p:txBody>
      </p:sp>
    </p:spTree>
    <p:extLst>
      <p:ext uri="{BB962C8B-B14F-4D97-AF65-F5344CB8AC3E}">
        <p14:creationId xmlns:p14="http://schemas.microsoft.com/office/powerpoint/2010/main" xmlns=""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Abstract(3/3)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xmlns="" id="{5E26DCC3-1991-4383-BF81-99FF895536EE}"/>
              </a:ext>
            </a:extLst>
          </p:cNvPr>
          <p:cNvSpPr>
            <a:spLocks noGrp="1"/>
          </p:cNvSpPr>
          <p:nvPr>
            <p:ph idx="1"/>
          </p:nvPr>
        </p:nvSpPr>
        <p:spPr>
          <a:xfrm>
            <a:off x="139007" y="673631"/>
            <a:ext cx="9004993" cy="5347657"/>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The experimental results with both simulated and real DNA sequence data show that the shared memory </a:t>
            </a:r>
            <a:r>
              <a:rPr lang="en-US" altLang="zh-TW" sz="2800" dirty="0" err="1" smtClean="0">
                <a:latin typeface="Times New Roman" pitchFamily="18" charset="0"/>
                <a:cs typeface="Times New Roman" pitchFamily="18" charset="0"/>
              </a:rPr>
              <a:t>OpenMP</a:t>
            </a:r>
            <a:r>
              <a:rPr lang="en-US" altLang="zh-TW" sz="2800" dirty="0" smtClean="0">
                <a:latin typeface="Times New Roman" pitchFamily="18" charset="0"/>
                <a:cs typeface="Times New Roman" pitchFamily="18" charset="0"/>
              </a:rPr>
              <a:t> implementation provides at least two-times absolute speedup than the best sequential version of the algorithm and a relative speedup of almost 7. We provide a detailed comparison of the execution times among the implementations on different platforms with different versions of the algorithm. We also show that removing branch conditions negatively affects the performance of the CPU-based parallel algorithm on </a:t>
            </a:r>
            <a:r>
              <a:rPr lang="en-US" altLang="zh-TW" sz="2800" dirty="0" err="1" smtClean="0">
                <a:latin typeface="Times New Roman" pitchFamily="18" charset="0"/>
                <a:cs typeface="Times New Roman" pitchFamily="18" charset="0"/>
              </a:rPr>
              <a:t>OpenMP</a:t>
            </a:r>
            <a:r>
              <a:rPr lang="en-US" altLang="zh-TW" sz="2800" dirty="0" smtClean="0">
                <a:latin typeface="Times New Roman" pitchFamily="18" charset="0"/>
                <a:cs typeface="Times New Roman" pitchFamily="18" charset="0"/>
              </a:rPr>
              <a:t> platform.</a:t>
            </a:r>
          </a:p>
        </p:txBody>
      </p:sp>
    </p:spTree>
    <p:extLst>
      <p:ext uri="{BB962C8B-B14F-4D97-AF65-F5344CB8AC3E}">
        <p14:creationId xmlns:p14="http://schemas.microsoft.com/office/powerpoint/2010/main" xmlns="" val="3994483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4757758"/>
          </a:xfrm>
        </p:spPr>
        <p:txBody>
          <a:bodyPr/>
          <a:lstStyle/>
          <a:p>
            <a:pPr marL="342900" lvl="1" indent="-342900">
              <a:buFont typeface="Arial" pitchFamily="34" charset="0"/>
              <a:buChar char="•"/>
            </a:pPr>
            <a:r>
              <a:rPr lang="en-US" altLang="zh-TW" dirty="0" smtClean="0">
                <a:latin typeface="Times New Roman" pitchFamily="18" charset="0"/>
                <a:ea typeface="標楷體" pitchFamily="65" charset="-120"/>
                <a:cs typeface="Times New Roman" pitchFamily="18" charset="0"/>
              </a:rPr>
              <a:t>Longest Common Subsequence</a:t>
            </a:r>
          </a:p>
          <a:p>
            <a:pPr marL="342900" lvl="1" indent="-342900">
              <a:buNone/>
            </a:pPr>
            <a:r>
              <a:rPr lang="en-US" altLang="zh-TW" dirty="0" smtClean="0">
                <a:latin typeface="Times New Roman" pitchFamily="18" charset="0"/>
                <a:ea typeface="標楷體" pitchFamily="65" charset="-120"/>
                <a:cs typeface="Times New Roman" pitchFamily="18" charset="0"/>
              </a:rPr>
              <a:t>	S = </a:t>
            </a:r>
            <a:r>
              <a:rPr lang="en-US" altLang="zh-TW" dirty="0" smtClean="0">
                <a:solidFill>
                  <a:srgbClr val="FF0000"/>
                </a:solidFill>
                <a:latin typeface="Times New Roman" pitchFamily="18" charset="0"/>
                <a:ea typeface="標楷體" pitchFamily="65" charset="-120"/>
                <a:cs typeface="Times New Roman" pitchFamily="18" charset="0"/>
              </a:rPr>
              <a:t>ATT</a:t>
            </a:r>
            <a:r>
              <a:rPr lang="en-US" altLang="zh-TW" dirty="0" smtClean="0">
                <a:latin typeface="Times New Roman" pitchFamily="18" charset="0"/>
                <a:ea typeface="標楷體" pitchFamily="65" charset="-120"/>
                <a:cs typeface="Times New Roman" pitchFamily="18" charset="0"/>
              </a:rPr>
              <a:t>C</a:t>
            </a:r>
            <a:r>
              <a:rPr lang="en-US" altLang="zh-TW" dirty="0" smtClean="0">
                <a:solidFill>
                  <a:srgbClr val="FF0000"/>
                </a:solidFill>
                <a:latin typeface="Times New Roman" pitchFamily="18" charset="0"/>
                <a:ea typeface="標楷體" pitchFamily="65" charset="-120"/>
                <a:cs typeface="Times New Roman" pitchFamily="18" charset="0"/>
              </a:rPr>
              <a:t>GA</a:t>
            </a:r>
          </a:p>
          <a:p>
            <a:pPr marL="342900" lvl="1" indent="-342900">
              <a:buNone/>
            </a:pPr>
            <a:r>
              <a:rPr lang="en-US" altLang="zh-TW" dirty="0" smtClean="0">
                <a:latin typeface="Times New Roman" pitchFamily="18" charset="0"/>
                <a:ea typeface="標楷體" pitchFamily="65" charset="-120"/>
                <a:cs typeface="Times New Roman" pitchFamily="18" charset="0"/>
              </a:rPr>
              <a:t>	T = </a:t>
            </a:r>
            <a:r>
              <a:rPr lang="en-US" altLang="zh-TW" dirty="0" smtClean="0">
                <a:solidFill>
                  <a:srgbClr val="FF0000"/>
                </a:solidFill>
                <a:latin typeface="Times New Roman" pitchFamily="18" charset="0"/>
                <a:ea typeface="標楷體" pitchFamily="65" charset="-120"/>
                <a:cs typeface="Times New Roman" pitchFamily="18" charset="0"/>
              </a:rPr>
              <a:t>AT</a:t>
            </a:r>
            <a:r>
              <a:rPr lang="en-US" altLang="zh-TW" dirty="0" smtClean="0">
                <a:latin typeface="Times New Roman" pitchFamily="18" charset="0"/>
                <a:ea typeface="標楷體" pitchFamily="65" charset="-120"/>
                <a:cs typeface="Times New Roman" pitchFamily="18" charset="0"/>
              </a:rPr>
              <a:t>C</a:t>
            </a:r>
            <a:r>
              <a:rPr lang="en-US" altLang="zh-TW" dirty="0" smtClean="0">
                <a:solidFill>
                  <a:srgbClr val="FF0000"/>
                </a:solidFill>
                <a:latin typeface="Times New Roman" pitchFamily="18" charset="0"/>
                <a:ea typeface="標楷體" pitchFamily="65" charset="-120"/>
                <a:cs typeface="Times New Roman" pitchFamily="18" charset="0"/>
              </a:rPr>
              <a:t>TGA</a:t>
            </a:r>
          </a:p>
          <a:p>
            <a:pPr marL="342900" lvl="1" indent="-342900">
              <a:buNone/>
            </a:pPr>
            <a:r>
              <a:rPr lang="en-US" altLang="zh-TW" dirty="0" smtClean="0">
                <a:latin typeface="Times New Roman" pitchFamily="18" charset="0"/>
                <a:ea typeface="標楷體" pitchFamily="65" charset="-120"/>
                <a:cs typeface="Times New Roman" pitchFamily="18" charset="0"/>
              </a:rPr>
              <a:t>	=&gt; LCS of (S,T)= ATTGA</a:t>
            </a:r>
          </a:p>
          <a:p>
            <a:pPr marL="342900" lvl="1" indent="-342900">
              <a:buNone/>
            </a:pPr>
            <a:r>
              <a:rPr lang="en-US" altLang="zh-TW" dirty="0" smtClean="0">
                <a:latin typeface="Times New Roman" pitchFamily="18" charset="0"/>
                <a:ea typeface="標楷體" pitchFamily="65" charset="-120"/>
                <a:cs typeface="Times New Roman" pitchFamily="18" charset="0"/>
              </a:rPr>
              <a:t>	</a:t>
            </a:r>
            <a:endParaRPr lang="zh-TW" altLang="en-US" dirty="0">
              <a:latin typeface="Times New Roman" pitchFamily="18" charset="0"/>
              <a:ea typeface="標楷體" pitchFamily="65" charset="-12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Introduction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196752"/>
            <a:ext cx="8229600" cy="4525963"/>
          </a:xfrm>
        </p:spPr>
        <p:txBody>
          <a:bodyPr/>
          <a:lstStyle/>
          <a:p>
            <a:pPr marL="342900" lvl="1" indent="-342900">
              <a:buNone/>
            </a:pPr>
            <a:r>
              <a:rPr lang="en-US" altLang="zh-TW" dirty="0" smtClean="0">
                <a:latin typeface="Times New Roman" pitchFamily="18" charset="0"/>
                <a:ea typeface="標楷體" pitchFamily="65" charset="-120"/>
                <a:cs typeface="Times New Roman" pitchFamily="18" charset="0"/>
              </a:rPr>
              <a:t>S = ATTCGA</a:t>
            </a:r>
          </a:p>
          <a:p>
            <a:pPr marL="342900" lvl="1" indent="-342900">
              <a:buNone/>
            </a:pPr>
            <a:r>
              <a:rPr lang="en-US" altLang="zh-TW" dirty="0" smtClean="0">
                <a:latin typeface="Times New Roman" pitchFamily="18" charset="0"/>
                <a:ea typeface="標楷體" pitchFamily="65" charset="-120"/>
                <a:cs typeface="Times New Roman" pitchFamily="18" charset="0"/>
              </a:rPr>
              <a:t>T = ATCTGA		=&gt; length of LCS = 5</a:t>
            </a:r>
          </a:p>
        </p:txBody>
      </p:sp>
      <p:graphicFrame>
        <p:nvGraphicFramePr>
          <p:cNvPr id="6" name="表格 5"/>
          <p:cNvGraphicFramePr>
            <a:graphicFrameLocks noGrp="1"/>
          </p:cNvGraphicFramePr>
          <p:nvPr/>
        </p:nvGraphicFramePr>
        <p:xfrm>
          <a:off x="1403648" y="2276872"/>
          <a:ext cx="6096000" cy="3240360"/>
        </p:xfrm>
        <a:graphic>
          <a:graphicData uri="http://schemas.openxmlformats.org/drawingml/2006/table">
            <a:tbl>
              <a:tblPr firstRow="1" bandRow="1">
                <a:tableStyleId>{5C22544A-7EE6-4342-B048-85BDC9FD1C3A}</a:tableStyleId>
              </a:tblPr>
              <a:tblGrid>
                <a:gridCol w="762000"/>
                <a:gridCol w="762000"/>
                <a:gridCol w="762000"/>
                <a:gridCol w="762000"/>
                <a:gridCol w="762000"/>
                <a:gridCol w="762000"/>
                <a:gridCol w="762000"/>
                <a:gridCol w="762000"/>
              </a:tblGrid>
              <a:tr h="405045">
                <a:tc>
                  <a:txBody>
                    <a:bodyPr/>
                    <a:lstStyle/>
                    <a:p>
                      <a:pPr algn="ctr"/>
                      <a:r>
                        <a:rPr lang="en-US" altLang="zh-TW" dirty="0" smtClean="0">
                          <a:latin typeface="Times New Roman" pitchFamily="18" charset="0"/>
                          <a:cs typeface="Times New Roman" pitchFamily="18" charset="0"/>
                        </a:rPr>
                        <a:t>T \ S</a:t>
                      </a:r>
                      <a:endParaRPr lang="zh-TW" altLang="en-US" dirty="0">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405045">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r>
              <a:tr h="405045">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r>
              <a:tr h="405045">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r>
            </a:tbl>
          </a:graphicData>
        </a:graphic>
      </p:graphicFrame>
      <p:pic>
        <p:nvPicPr>
          <p:cNvPr id="7" name="內容版面配置區 3" descr="1.PNG"/>
          <p:cNvPicPr>
            <a:picLocks noChangeAspect="1"/>
          </p:cNvPicPr>
          <p:nvPr/>
        </p:nvPicPr>
        <p:blipFill>
          <a:blip r:embed="rId2" cstate="print"/>
          <a:stretch>
            <a:fillRect/>
          </a:stretch>
        </p:blipFill>
        <p:spPr>
          <a:xfrm>
            <a:off x="611560" y="5517232"/>
            <a:ext cx="7592485" cy="132416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Algorithm—version 1</a:t>
            </a:r>
            <a:endParaRPr lang="zh-TW" altLang="en-US" dirty="0">
              <a:latin typeface="Times New Roman" pitchFamily="18" charset="0"/>
              <a:cs typeface="Times New Roman" pitchFamily="18" charset="0"/>
            </a:endParaRPr>
          </a:p>
        </p:txBody>
      </p:sp>
      <p:pic>
        <p:nvPicPr>
          <p:cNvPr id="6" name="圖片 5" descr="2.PNG"/>
          <p:cNvPicPr>
            <a:picLocks noChangeAspect="1"/>
          </p:cNvPicPr>
          <p:nvPr/>
        </p:nvPicPr>
        <p:blipFill>
          <a:blip r:embed="rId2" cstate="print"/>
          <a:stretch>
            <a:fillRect/>
          </a:stretch>
        </p:blipFill>
        <p:spPr>
          <a:xfrm>
            <a:off x="179512" y="3618706"/>
            <a:ext cx="9144000" cy="1538486"/>
          </a:xfrm>
          <a:prstGeom prst="rect">
            <a:avLst/>
          </a:prstGeom>
        </p:spPr>
      </p:pic>
      <p:pic>
        <p:nvPicPr>
          <p:cNvPr id="8" name="圖片 7" descr="3.PNG"/>
          <p:cNvPicPr>
            <a:picLocks noChangeAspect="1"/>
          </p:cNvPicPr>
          <p:nvPr/>
        </p:nvPicPr>
        <p:blipFill>
          <a:blip r:embed="rId3" cstate="print"/>
          <a:stretch>
            <a:fillRect/>
          </a:stretch>
        </p:blipFill>
        <p:spPr>
          <a:xfrm>
            <a:off x="0" y="2132856"/>
            <a:ext cx="6315957" cy="150516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Algorithm—version 1</a:t>
            </a:r>
            <a:endParaRPr lang="zh-TW" altLang="en-US" dirty="0"/>
          </a:p>
        </p:txBody>
      </p:sp>
      <p:sp>
        <p:nvSpPr>
          <p:cNvPr id="3" name="內容版面配置區 2"/>
          <p:cNvSpPr>
            <a:spLocks noGrp="1"/>
          </p:cNvSpPr>
          <p:nvPr>
            <p:ph idx="1"/>
          </p:nvPr>
        </p:nvSpPr>
        <p:spPr>
          <a:xfrm>
            <a:off x="251520" y="1700808"/>
            <a:ext cx="8229600" cy="4525963"/>
          </a:xfrm>
        </p:spPr>
        <p:txBody>
          <a:bodyPr/>
          <a:lstStyle/>
          <a:p>
            <a:pPr>
              <a:buNone/>
            </a:pPr>
            <a:r>
              <a:rPr lang="en-US" altLang="zh-TW" dirty="0" smtClean="0">
                <a:latin typeface="Times New Roman" pitchFamily="18" charset="0"/>
                <a:cs typeface="Times New Roman" pitchFamily="18" charset="0"/>
              </a:rPr>
              <a:t>T=ATCTGA</a:t>
            </a:r>
            <a:endParaRPr lang="zh-TW" altLang="en-US" dirty="0">
              <a:latin typeface="Times New Roman" pitchFamily="18" charset="0"/>
              <a:cs typeface="Times New Roman" pitchFamily="18" charset="0"/>
            </a:endParaRPr>
          </a:p>
        </p:txBody>
      </p:sp>
      <p:graphicFrame>
        <p:nvGraphicFramePr>
          <p:cNvPr id="4" name="表格 3"/>
          <p:cNvGraphicFramePr>
            <a:graphicFrameLocks noGrp="1"/>
          </p:cNvGraphicFramePr>
          <p:nvPr/>
        </p:nvGraphicFramePr>
        <p:xfrm>
          <a:off x="539552" y="2852936"/>
          <a:ext cx="7488832" cy="3240360"/>
        </p:xfrm>
        <a:graphic>
          <a:graphicData uri="http://schemas.openxmlformats.org/drawingml/2006/table">
            <a:tbl>
              <a:tblPr firstRow="1" bandRow="1">
                <a:tableStyleId>{5C22544A-7EE6-4342-B048-85BDC9FD1C3A}</a:tableStyleId>
              </a:tblPr>
              <a:tblGrid>
                <a:gridCol w="936104"/>
                <a:gridCol w="936104"/>
                <a:gridCol w="936104"/>
                <a:gridCol w="936104"/>
                <a:gridCol w="936104"/>
                <a:gridCol w="936104"/>
                <a:gridCol w="936104"/>
                <a:gridCol w="936104"/>
              </a:tblGrid>
              <a:tr h="540060">
                <a:tc>
                  <a:txBody>
                    <a:bodyPr/>
                    <a:lstStyle/>
                    <a:p>
                      <a:pPr algn="ctr"/>
                      <a:endParaRPr lang="zh-TW" altLang="en-US" dirty="0"/>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r>
              <a:tr h="540060">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540060">
                <a:tc>
                  <a:txBody>
                    <a:bodyPr/>
                    <a:lstStyle/>
                    <a:p>
                      <a:pPr algn="ctr"/>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540060">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r>
              <a:tr h="540060">
                <a:tc>
                  <a:txBody>
                    <a:bodyPr/>
                    <a:lstStyle/>
                    <a:p>
                      <a:pPr algn="ctr"/>
                      <a:r>
                        <a:rPr lang="en-US" altLang="zh-TW" dirty="0" smtClean="0"/>
                        <a:t>C</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540060">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5</a:t>
                      </a:r>
                      <a:endParaRPr lang="zh-TW" altLang="en-US" dirty="0"/>
                    </a:p>
                  </a:txBody>
                  <a:tcPr/>
                </a:tc>
              </a:tr>
            </a:tbl>
          </a:graphicData>
        </a:graphic>
      </p:graphicFrame>
      <p:pic>
        <p:nvPicPr>
          <p:cNvPr id="5" name="圖片 4" descr="3.PNG"/>
          <p:cNvPicPr>
            <a:picLocks noChangeAspect="1"/>
          </p:cNvPicPr>
          <p:nvPr/>
        </p:nvPicPr>
        <p:blipFill>
          <a:blip r:embed="rId2" cstate="print"/>
          <a:stretch>
            <a:fillRect/>
          </a:stretch>
        </p:blipFill>
        <p:spPr>
          <a:xfrm>
            <a:off x="2915816" y="1347776"/>
            <a:ext cx="6315957" cy="1505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71400"/>
            <a:ext cx="8229600" cy="1143000"/>
          </a:xfrm>
        </p:spPr>
        <p:txBody>
          <a:bodyPr/>
          <a:lstStyle/>
          <a:p>
            <a:pPr algn="l"/>
            <a:r>
              <a:rPr lang="en-US" altLang="zh-TW" dirty="0" smtClean="0">
                <a:latin typeface="Times New Roman" pitchFamily="18" charset="0"/>
                <a:cs typeface="Times New Roman" pitchFamily="18" charset="0"/>
              </a:rPr>
              <a:t>Algorithm—version 1</a:t>
            </a:r>
            <a:endParaRPr lang="zh-TW" altLang="en-US" dirty="0"/>
          </a:p>
        </p:txBody>
      </p:sp>
      <p:sp>
        <p:nvSpPr>
          <p:cNvPr id="3" name="內容版面配置區 2"/>
          <p:cNvSpPr>
            <a:spLocks noGrp="1"/>
          </p:cNvSpPr>
          <p:nvPr>
            <p:ph idx="1"/>
          </p:nvPr>
        </p:nvSpPr>
        <p:spPr>
          <a:xfrm>
            <a:off x="251520" y="1700808"/>
            <a:ext cx="8229600" cy="4525963"/>
          </a:xfrm>
        </p:spPr>
        <p:txBody>
          <a:bodyPr/>
          <a:lstStyle/>
          <a:p>
            <a:pPr>
              <a:buNone/>
            </a:pPr>
            <a:endParaRPr lang="zh-TW" altLang="en-US" dirty="0">
              <a:latin typeface="Times New Roman" pitchFamily="18" charset="0"/>
              <a:cs typeface="Times New Roman" pitchFamily="18" charset="0"/>
            </a:endParaRPr>
          </a:p>
        </p:txBody>
      </p:sp>
      <p:graphicFrame>
        <p:nvGraphicFramePr>
          <p:cNvPr id="4" name="表格 3"/>
          <p:cNvGraphicFramePr>
            <a:graphicFrameLocks noGrp="1"/>
          </p:cNvGraphicFramePr>
          <p:nvPr/>
        </p:nvGraphicFramePr>
        <p:xfrm>
          <a:off x="0" y="908720"/>
          <a:ext cx="4680520" cy="2304258"/>
        </p:xfrm>
        <a:graphic>
          <a:graphicData uri="http://schemas.openxmlformats.org/drawingml/2006/table">
            <a:tbl>
              <a:tblPr firstRow="1" bandRow="1">
                <a:tableStyleId>{5C22544A-7EE6-4342-B048-85BDC9FD1C3A}</a:tableStyleId>
              </a:tblPr>
              <a:tblGrid>
                <a:gridCol w="585065"/>
                <a:gridCol w="585065"/>
                <a:gridCol w="585065"/>
                <a:gridCol w="585065"/>
                <a:gridCol w="585065"/>
                <a:gridCol w="585065"/>
                <a:gridCol w="585065"/>
                <a:gridCol w="585065"/>
              </a:tblGrid>
              <a:tr h="384043">
                <a:tc>
                  <a:txBody>
                    <a:bodyPr/>
                    <a:lstStyle/>
                    <a:p>
                      <a:pPr algn="ctr"/>
                      <a:r>
                        <a:rPr lang="en-US" altLang="zh-TW" i="1" dirty="0" smtClean="0">
                          <a:solidFill>
                            <a:schemeClr val="tx1"/>
                          </a:solidFill>
                        </a:rPr>
                        <a:t>P</a:t>
                      </a:r>
                      <a:endParaRPr lang="zh-TW" altLang="en-US" i="1" dirty="0">
                        <a:solidFill>
                          <a:schemeClr val="tx1"/>
                        </a:solidFill>
                      </a:endParaRPr>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r>
              <a:tr h="384043">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384043">
                <a:tc>
                  <a:txBody>
                    <a:bodyPr/>
                    <a:lstStyle/>
                    <a:p>
                      <a:pPr algn="ctr"/>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84043">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00B050"/>
                          </a:solidFill>
                        </a:rPr>
                        <a:t>1</a:t>
                      </a:r>
                      <a:endParaRPr lang="zh-TW" altLang="en-US" dirty="0">
                        <a:solidFill>
                          <a:srgbClr val="00B05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r>
              <a:tr h="384043">
                <a:tc>
                  <a:txBody>
                    <a:bodyPr/>
                    <a:lstStyle/>
                    <a:p>
                      <a:pPr algn="ctr"/>
                      <a:r>
                        <a:rPr lang="en-US" altLang="zh-TW" dirty="0" smtClean="0"/>
                        <a:t>C</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384043">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5</a:t>
                      </a:r>
                      <a:endParaRPr lang="zh-TW" altLang="en-US" dirty="0"/>
                    </a:p>
                  </a:txBody>
                  <a:tcPr/>
                </a:tc>
              </a:tr>
            </a:tbl>
          </a:graphicData>
        </a:graphic>
      </p:graphicFrame>
      <p:graphicFrame>
        <p:nvGraphicFramePr>
          <p:cNvPr id="6" name="表格 5"/>
          <p:cNvGraphicFramePr>
            <a:graphicFrameLocks noGrp="1"/>
          </p:cNvGraphicFramePr>
          <p:nvPr/>
        </p:nvGraphicFramePr>
        <p:xfrm>
          <a:off x="35496" y="3356992"/>
          <a:ext cx="7560840" cy="3240360"/>
        </p:xfrm>
        <a:graphic>
          <a:graphicData uri="http://schemas.openxmlformats.org/drawingml/2006/table">
            <a:tbl>
              <a:tblPr firstRow="1" bandRow="1">
                <a:tableStyleId>{5C22544A-7EE6-4342-B048-85BDC9FD1C3A}</a:tableStyleId>
              </a:tblPr>
              <a:tblGrid>
                <a:gridCol w="945105"/>
                <a:gridCol w="945105"/>
                <a:gridCol w="945105"/>
                <a:gridCol w="945105"/>
                <a:gridCol w="945105"/>
                <a:gridCol w="945105"/>
                <a:gridCol w="945105"/>
                <a:gridCol w="945105"/>
              </a:tblGrid>
              <a:tr h="405045">
                <a:tc>
                  <a:txBody>
                    <a:bodyPr/>
                    <a:lstStyle/>
                    <a:p>
                      <a:pPr algn="ctr"/>
                      <a:r>
                        <a:rPr lang="en-US" altLang="zh-TW" i="1" dirty="0" smtClean="0">
                          <a:latin typeface="Times New Roman" pitchFamily="18" charset="0"/>
                          <a:cs typeface="Times New Roman" pitchFamily="18" charset="0"/>
                        </a:rPr>
                        <a:t>T \ S</a:t>
                      </a:r>
                      <a:endParaRPr lang="zh-TW" altLang="en-US" i="1" dirty="0">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405045">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t>0</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00B050"/>
                          </a:solidFill>
                          <a:latin typeface="Times New Roman" pitchFamily="18" charset="0"/>
                          <a:cs typeface="Times New Roman" pitchFamily="18" charset="0"/>
                        </a:rPr>
                        <a:t>1</a:t>
                      </a:r>
                      <a:endParaRPr lang="zh-TW" altLang="en-US" dirty="0">
                        <a:solidFill>
                          <a:srgbClr val="00B050"/>
                        </a:solidFill>
                        <a:latin typeface="Times New Roman" pitchFamily="18" charset="0"/>
                        <a:cs typeface="Times New Roman" pitchFamily="18" charset="0"/>
                      </a:endParaRPr>
                    </a:p>
                  </a:txBody>
                  <a:tcPr/>
                </a:tc>
                <a:tc>
                  <a:txBody>
                    <a:bodyPr/>
                    <a:lstStyle/>
                    <a:p>
                      <a:pPr algn="ctr"/>
                      <a:r>
                        <a:rPr lang="en-US" altLang="zh-TW" dirty="0" smtClean="0"/>
                        <a:t>1</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00B050"/>
                          </a:solidFill>
                        </a:rPr>
                        <a:t>?(2)</a:t>
                      </a:r>
                      <a:endParaRPr lang="zh-TW" altLang="en-US" dirty="0">
                        <a:solidFill>
                          <a:srgbClr val="00B050"/>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p:pic>
        <p:nvPicPr>
          <p:cNvPr id="7" name="圖片 6" descr="2.PNG"/>
          <p:cNvPicPr>
            <a:picLocks noChangeAspect="1"/>
          </p:cNvPicPr>
          <p:nvPr/>
        </p:nvPicPr>
        <p:blipFill>
          <a:blip r:embed="rId2" cstate="print"/>
          <a:stretch>
            <a:fillRect/>
          </a:stretch>
        </p:blipFill>
        <p:spPr>
          <a:xfrm>
            <a:off x="4716016" y="1988840"/>
            <a:ext cx="4635771" cy="792088"/>
          </a:xfrm>
          <a:prstGeom prst="rect">
            <a:avLst/>
          </a:prstGeom>
        </p:spPr>
      </p:pic>
      <p:cxnSp>
        <p:nvCxnSpPr>
          <p:cNvPr id="9" name="直線單箭頭接點 8"/>
          <p:cNvCxnSpPr/>
          <p:nvPr/>
        </p:nvCxnSpPr>
        <p:spPr>
          <a:xfrm flipH="1" flipV="1">
            <a:off x="2771800" y="2348880"/>
            <a:ext cx="432048" cy="2664296"/>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H="1">
            <a:off x="2483768" y="2420888"/>
            <a:ext cx="72008" cy="187220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71400"/>
            <a:ext cx="8229600" cy="1143000"/>
          </a:xfrm>
        </p:spPr>
        <p:txBody>
          <a:bodyPr/>
          <a:lstStyle/>
          <a:p>
            <a:pPr algn="l"/>
            <a:r>
              <a:rPr lang="en-US" altLang="zh-TW" dirty="0" smtClean="0">
                <a:latin typeface="Times New Roman" pitchFamily="18" charset="0"/>
                <a:cs typeface="Times New Roman" pitchFamily="18" charset="0"/>
              </a:rPr>
              <a:t>Algorithm—version 1</a:t>
            </a:r>
            <a:endParaRPr lang="zh-TW" altLang="en-US" dirty="0"/>
          </a:p>
        </p:txBody>
      </p:sp>
      <p:sp>
        <p:nvSpPr>
          <p:cNvPr id="3" name="內容版面配置區 2"/>
          <p:cNvSpPr>
            <a:spLocks noGrp="1"/>
          </p:cNvSpPr>
          <p:nvPr>
            <p:ph idx="1"/>
          </p:nvPr>
        </p:nvSpPr>
        <p:spPr>
          <a:xfrm>
            <a:off x="251520" y="1700808"/>
            <a:ext cx="8229600" cy="4525963"/>
          </a:xfrm>
        </p:spPr>
        <p:txBody>
          <a:bodyPr/>
          <a:lstStyle/>
          <a:p>
            <a:pPr>
              <a:buNone/>
            </a:pPr>
            <a:endParaRPr lang="zh-TW" altLang="en-US" dirty="0">
              <a:latin typeface="Times New Roman" pitchFamily="18" charset="0"/>
              <a:cs typeface="Times New Roman" pitchFamily="18" charset="0"/>
            </a:endParaRPr>
          </a:p>
        </p:txBody>
      </p:sp>
      <p:graphicFrame>
        <p:nvGraphicFramePr>
          <p:cNvPr id="4" name="表格 3"/>
          <p:cNvGraphicFramePr>
            <a:graphicFrameLocks noGrp="1"/>
          </p:cNvGraphicFramePr>
          <p:nvPr/>
        </p:nvGraphicFramePr>
        <p:xfrm>
          <a:off x="0" y="908720"/>
          <a:ext cx="4680520" cy="2304258"/>
        </p:xfrm>
        <a:graphic>
          <a:graphicData uri="http://schemas.openxmlformats.org/drawingml/2006/table">
            <a:tbl>
              <a:tblPr firstRow="1" bandRow="1">
                <a:tableStyleId>{5C22544A-7EE6-4342-B048-85BDC9FD1C3A}</a:tableStyleId>
              </a:tblPr>
              <a:tblGrid>
                <a:gridCol w="585065"/>
                <a:gridCol w="585065"/>
                <a:gridCol w="585065"/>
                <a:gridCol w="585065"/>
                <a:gridCol w="585065"/>
                <a:gridCol w="585065"/>
                <a:gridCol w="585065"/>
                <a:gridCol w="585065"/>
              </a:tblGrid>
              <a:tr h="384043">
                <a:tc>
                  <a:txBody>
                    <a:bodyPr/>
                    <a:lstStyle/>
                    <a:p>
                      <a:pPr algn="ctr"/>
                      <a:r>
                        <a:rPr lang="en-US" altLang="zh-TW" i="1" dirty="0" smtClean="0">
                          <a:solidFill>
                            <a:schemeClr val="tx1"/>
                          </a:solidFill>
                        </a:rPr>
                        <a:t>P</a:t>
                      </a:r>
                      <a:endParaRPr lang="zh-TW" altLang="en-US" i="1" dirty="0">
                        <a:solidFill>
                          <a:schemeClr val="tx1"/>
                        </a:solidFill>
                      </a:endParaRPr>
                    </a:p>
                  </a:txBody>
                  <a:tcPr/>
                </a:tc>
                <a:tc>
                  <a:txBody>
                    <a:bodyPr/>
                    <a:lstStyle/>
                    <a:p>
                      <a:pPr algn="ct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T</a:t>
                      </a:r>
                      <a:endParaRPr lang="zh-TW" altLang="en-US" dirty="0"/>
                    </a:p>
                  </a:txBody>
                  <a:tcPr/>
                </a:tc>
                <a:tc>
                  <a:txBody>
                    <a:bodyPr/>
                    <a:lstStyle/>
                    <a:p>
                      <a:pPr algn="ctr"/>
                      <a:r>
                        <a:rPr lang="en-US" altLang="zh-TW" dirty="0" smtClean="0"/>
                        <a:t>G</a:t>
                      </a:r>
                      <a:endParaRPr lang="zh-TW" altLang="en-US" dirty="0"/>
                    </a:p>
                  </a:txBody>
                  <a:tcPr/>
                </a:tc>
                <a:tc>
                  <a:txBody>
                    <a:bodyPr/>
                    <a:lstStyle/>
                    <a:p>
                      <a:pPr algn="ctr"/>
                      <a:r>
                        <a:rPr lang="en-US" altLang="zh-TW" dirty="0" smtClean="0"/>
                        <a:t>A</a:t>
                      </a:r>
                      <a:endParaRPr lang="zh-TW" altLang="en-US" dirty="0"/>
                    </a:p>
                  </a:txBody>
                  <a:tcPr/>
                </a:tc>
              </a:tr>
              <a:tr h="384043">
                <a:tc>
                  <a:txBody>
                    <a:bodyPr/>
                    <a:lstStyle/>
                    <a:p>
                      <a:pPr algn="ct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r>
              <a:tr h="384043">
                <a:tc>
                  <a:txBody>
                    <a:bodyPr/>
                    <a:lstStyle/>
                    <a:p>
                      <a:pPr algn="ctr"/>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384043">
                <a:tc>
                  <a:txBody>
                    <a:bodyPr/>
                    <a:lstStyle/>
                    <a:p>
                      <a:pPr algn="ctr"/>
                      <a:r>
                        <a:rPr lang="en-US" altLang="zh-TW" dirty="0" smtClean="0"/>
                        <a:t>T</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solidFill>
                            <a:srgbClr val="00B050"/>
                          </a:solidFill>
                        </a:rPr>
                        <a:t>1</a:t>
                      </a:r>
                      <a:endParaRPr lang="zh-TW" altLang="en-US" dirty="0">
                        <a:solidFill>
                          <a:srgbClr val="00B050"/>
                        </a:solidFill>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r>
              <a:tr h="384043">
                <a:tc>
                  <a:txBody>
                    <a:bodyPr/>
                    <a:lstStyle/>
                    <a:p>
                      <a:pPr algn="ctr"/>
                      <a:r>
                        <a:rPr lang="en-US" altLang="zh-TW" dirty="0" smtClean="0"/>
                        <a:t>C</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384043">
                <a:tc>
                  <a:txBody>
                    <a:bodyPr/>
                    <a:lstStyle/>
                    <a:p>
                      <a:pPr algn="ctr"/>
                      <a:r>
                        <a:rPr lang="en-US" altLang="zh-TW" dirty="0" smtClean="0"/>
                        <a:t>G</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5</a:t>
                      </a:r>
                      <a:endParaRPr lang="zh-TW" altLang="en-US" dirty="0"/>
                    </a:p>
                  </a:txBody>
                  <a:tcPr/>
                </a:tc>
              </a:tr>
            </a:tbl>
          </a:graphicData>
        </a:graphic>
      </p:graphicFrame>
      <p:graphicFrame>
        <p:nvGraphicFramePr>
          <p:cNvPr id="6" name="表格 5"/>
          <p:cNvGraphicFramePr>
            <a:graphicFrameLocks noGrp="1"/>
          </p:cNvGraphicFramePr>
          <p:nvPr/>
        </p:nvGraphicFramePr>
        <p:xfrm>
          <a:off x="35496" y="3356992"/>
          <a:ext cx="7560840" cy="3240360"/>
        </p:xfrm>
        <a:graphic>
          <a:graphicData uri="http://schemas.openxmlformats.org/drawingml/2006/table">
            <a:tbl>
              <a:tblPr firstRow="1" bandRow="1">
                <a:tableStyleId>{5C22544A-7EE6-4342-B048-85BDC9FD1C3A}</a:tableStyleId>
              </a:tblPr>
              <a:tblGrid>
                <a:gridCol w="945105"/>
                <a:gridCol w="945105"/>
                <a:gridCol w="945105"/>
                <a:gridCol w="945105"/>
                <a:gridCol w="945105"/>
                <a:gridCol w="945105"/>
                <a:gridCol w="945105"/>
                <a:gridCol w="945105"/>
              </a:tblGrid>
              <a:tr h="405045">
                <a:tc>
                  <a:txBody>
                    <a:bodyPr/>
                    <a:lstStyle/>
                    <a:p>
                      <a:pPr algn="ctr"/>
                      <a:r>
                        <a:rPr lang="en-US" altLang="zh-TW" i="1" dirty="0" smtClean="0">
                          <a:latin typeface="Times New Roman" pitchFamily="18" charset="0"/>
                          <a:cs typeface="Times New Roman" pitchFamily="18" charset="0"/>
                        </a:rPr>
                        <a:t>T \ S</a:t>
                      </a:r>
                      <a:endParaRPr lang="zh-TW" altLang="en-US" i="1" dirty="0">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405045">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t>0</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latin typeface="Times New Roman" pitchFamily="18" charset="0"/>
                          <a:cs typeface="Times New Roman" pitchFamily="18" charset="0"/>
                        </a:rPr>
                        <a:t>1</a:t>
                      </a:r>
                      <a:endParaRPr lang="zh-TW" altLang="en-US" dirty="0">
                        <a:solidFill>
                          <a:srgbClr val="FF0000"/>
                        </a:solidFill>
                        <a:latin typeface="Times New Roman" pitchFamily="18" charset="0"/>
                        <a:cs typeface="Times New Roman" pitchFamily="18" charset="0"/>
                      </a:endParaRPr>
                    </a:p>
                  </a:txBody>
                  <a:tcPr/>
                </a:tc>
                <a:tc>
                  <a:txBody>
                    <a:bodyPr/>
                    <a:lstStyle/>
                    <a:p>
                      <a:pPr algn="ctr"/>
                      <a:r>
                        <a:rPr lang="en-US" altLang="zh-TW" dirty="0" smtClean="0"/>
                        <a:t>1</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00B050"/>
                          </a:solidFill>
                        </a:rPr>
                        <a:t>?(2)</a:t>
                      </a:r>
                      <a:endParaRPr lang="zh-TW" altLang="en-US" dirty="0">
                        <a:solidFill>
                          <a:srgbClr val="00B050"/>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a:p>
                  </a:txBody>
                  <a:tcPr/>
                </a:tc>
              </a:tr>
              <a:tr h="405045">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00B050"/>
                          </a:solidFill>
                        </a:rPr>
                        <a:t>2</a:t>
                      </a:r>
                      <a:endParaRPr lang="zh-TW" altLang="en-US" dirty="0">
                        <a:solidFill>
                          <a:srgbClr val="00B050"/>
                        </a:solidFill>
                      </a:endParaRP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c>
                  <a:txBody>
                    <a:bodyPr/>
                    <a:lstStyle/>
                    <a:p>
                      <a:pPr algn="ctr"/>
                      <a:endParaRPr lang="zh-TW" altLang="en-US" dirty="0"/>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00B050"/>
                          </a:solidFill>
                        </a:rPr>
                        <a:t>2</a:t>
                      </a:r>
                      <a:endParaRPr lang="zh-TW" altLang="en-US" dirty="0">
                        <a:solidFill>
                          <a:srgbClr val="00B050"/>
                        </a:solidFill>
                      </a:endParaRPr>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dirty="0"/>
                    </a:p>
                  </a:txBody>
                  <a:tcPr/>
                </a:tc>
              </a:tr>
            </a:tbl>
          </a:graphicData>
        </a:graphic>
      </p:graphicFrame>
      <p:pic>
        <p:nvPicPr>
          <p:cNvPr id="7" name="圖片 6" descr="2.PNG"/>
          <p:cNvPicPr>
            <a:picLocks noChangeAspect="1"/>
          </p:cNvPicPr>
          <p:nvPr/>
        </p:nvPicPr>
        <p:blipFill>
          <a:blip r:embed="rId2" cstate="print"/>
          <a:stretch>
            <a:fillRect/>
          </a:stretch>
        </p:blipFill>
        <p:spPr>
          <a:xfrm>
            <a:off x="4716016" y="1988840"/>
            <a:ext cx="4635771" cy="792088"/>
          </a:xfrm>
          <a:prstGeom prst="rect">
            <a:avLst/>
          </a:prstGeom>
        </p:spPr>
      </p:pic>
      <p:cxnSp>
        <p:nvCxnSpPr>
          <p:cNvPr id="9" name="直線單箭頭接點 8"/>
          <p:cNvCxnSpPr/>
          <p:nvPr/>
        </p:nvCxnSpPr>
        <p:spPr>
          <a:xfrm flipH="1" flipV="1">
            <a:off x="2771800" y="2348880"/>
            <a:ext cx="432048" cy="2664296"/>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10" name="直線單箭頭接點 9"/>
          <p:cNvCxnSpPr/>
          <p:nvPr/>
        </p:nvCxnSpPr>
        <p:spPr>
          <a:xfrm flipH="1">
            <a:off x="2483768" y="2420888"/>
            <a:ext cx="72008" cy="187220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Algorithm---Version2</a:t>
            </a:r>
            <a:endParaRPr lang="zh-TW" altLang="en-US" dirty="0">
              <a:latin typeface="Times New Roman" pitchFamily="18" charset="0"/>
              <a:cs typeface="Times New Roman" pitchFamily="18" charset="0"/>
            </a:endParaRPr>
          </a:p>
        </p:txBody>
      </p:sp>
      <p:pic>
        <p:nvPicPr>
          <p:cNvPr id="4" name="圖片 3" descr="6.PNG"/>
          <p:cNvPicPr>
            <a:picLocks noChangeAspect="1"/>
          </p:cNvPicPr>
          <p:nvPr/>
        </p:nvPicPr>
        <p:blipFill>
          <a:blip r:embed="rId2" cstate="print"/>
          <a:stretch>
            <a:fillRect/>
          </a:stretch>
        </p:blipFill>
        <p:spPr>
          <a:xfrm>
            <a:off x="179512" y="1844824"/>
            <a:ext cx="6344536" cy="1390844"/>
          </a:xfrm>
          <a:prstGeom prst="rect">
            <a:avLst/>
          </a:prstGeom>
        </p:spPr>
      </p:pic>
      <p:pic>
        <p:nvPicPr>
          <p:cNvPr id="5" name="圖片 4" descr="7.PNG"/>
          <p:cNvPicPr>
            <a:picLocks noChangeAspect="1"/>
          </p:cNvPicPr>
          <p:nvPr/>
        </p:nvPicPr>
        <p:blipFill>
          <a:blip r:embed="rId3" cstate="print"/>
          <a:stretch>
            <a:fillRect/>
          </a:stretch>
        </p:blipFill>
        <p:spPr>
          <a:xfrm>
            <a:off x="180528" y="3573016"/>
            <a:ext cx="9144000" cy="137564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Algorithm—version 2</a:t>
            </a:r>
            <a:endParaRPr lang="zh-TW" altLang="en-US" dirty="0"/>
          </a:p>
        </p:txBody>
      </p:sp>
      <p:sp>
        <p:nvSpPr>
          <p:cNvPr id="3" name="內容版面配置區 2"/>
          <p:cNvSpPr>
            <a:spLocks noGrp="1"/>
          </p:cNvSpPr>
          <p:nvPr>
            <p:ph idx="1"/>
          </p:nvPr>
        </p:nvSpPr>
        <p:spPr>
          <a:xfrm>
            <a:off x="251520" y="1700808"/>
            <a:ext cx="8229600" cy="4525963"/>
          </a:xfrm>
        </p:spPr>
        <p:txBody>
          <a:bodyPr/>
          <a:lstStyle/>
          <a:p>
            <a:pPr>
              <a:buNone/>
            </a:pPr>
            <a:r>
              <a:rPr lang="en-US" altLang="zh-TW" dirty="0" smtClean="0">
                <a:latin typeface="Times New Roman" pitchFamily="18" charset="0"/>
                <a:cs typeface="Times New Roman" pitchFamily="18" charset="0"/>
              </a:rPr>
              <a:t>T=ATCTGA</a:t>
            </a:r>
            <a:endParaRPr lang="zh-TW" altLang="en-US" dirty="0">
              <a:latin typeface="Times New Roman" pitchFamily="18" charset="0"/>
              <a:cs typeface="Times New Roman" pitchFamily="18" charset="0"/>
            </a:endParaRPr>
          </a:p>
        </p:txBody>
      </p:sp>
      <p:graphicFrame>
        <p:nvGraphicFramePr>
          <p:cNvPr id="4" name="表格 3"/>
          <p:cNvGraphicFramePr>
            <a:graphicFrameLocks noGrp="1"/>
          </p:cNvGraphicFramePr>
          <p:nvPr/>
        </p:nvGraphicFramePr>
        <p:xfrm>
          <a:off x="539552" y="2852936"/>
          <a:ext cx="7488832" cy="3240360"/>
        </p:xfrm>
        <a:graphic>
          <a:graphicData uri="http://schemas.openxmlformats.org/drawingml/2006/table">
            <a:tbl>
              <a:tblPr firstRow="1" bandRow="1">
                <a:tableStyleId>{5C22544A-7EE6-4342-B048-85BDC9FD1C3A}</a:tableStyleId>
              </a:tblPr>
              <a:tblGrid>
                <a:gridCol w="936104"/>
                <a:gridCol w="936104"/>
                <a:gridCol w="936104"/>
                <a:gridCol w="936104"/>
                <a:gridCol w="936104"/>
                <a:gridCol w="936104"/>
                <a:gridCol w="936104"/>
                <a:gridCol w="936104"/>
              </a:tblGrid>
              <a:tr h="540060">
                <a:tc>
                  <a:txBody>
                    <a:bodyPr/>
                    <a:lstStyle/>
                    <a:p>
                      <a:pPr algn="ctr"/>
                      <a:r>
                        <a:rPr lang="en-US" altLang="zh-TW" i="1" dirty="0" smtClean="0">
                          <a:solidFill>
                            <a:schemeClr val="tx1"/>
                          </a:solidFill>
                          <a:latin typeface="Times New Roman" pitchFamily="18" charset="0"/>
                          <a:cs typeface="Times New Roman" pitchFamily="18" charset="0"/>
                        </a:rPr>
                        <a:t>P</a:t>
                      </a:r>
                      <a:endParaRPr lang="zh-TW" altLang="en-US" i="1" dirty="0">
                        <a:solidFill>
                          <a:schemeClr val="tx1"/>
                        </a:solidFill>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540060">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6</a:t>
                      </a:r>
                      <a:endParaRPr lang="zh-TW" altLang="en-US" dirty="0">
                        <a:latin typeface="Times New Roman" pitchFamily="18" charset="0"/>
                        <a:cs typeface="Times New Roman" pitchFamily="18" charset="0"/>
                      </a:endParaRPr>
                    </a:p>
                  </a:txBody>
                  <a:tcPr/>
                </a:tc>
              </a:tr>
              <a:tr h="540060">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6</a:t>
                      </a:r>
                      <a:endParaRPr lang="zh-TW" altLang="en-US" dirty="0">
                        <a:latin typeface="Times New Roman" pitchFamily="18" charset="0"/>
                        <a:cs typeface="Times New Roman" pitchFamily="18" charset="0"/>
                      </a:endParaRPr>
                    </a:p>
                  </a:txBody>
                  <a:tcPr/>
                </a:tc>
              </a:tr>
              <a:tr h="540060">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r>
              <a:tr h="540060">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r>
              <a:tr h="540060">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r>
            </a:tbl>
          </a:graphicData>
        </a:graphic>
      </p:graphicFrame>
      <p:pic>
        <p:nvPicPr>
          <p:cNvPr id="6" name="圖片 5" descr="6.PNG"/>
          <p:cNvPicPr>
            <a:picLocks noChangeAspect="1"/>
          </p:cNvPicPr>
          <p:nvPr/>
        </p:nvPicPr>
        <p:blipFill>
          <a:blip r:embed="rId2" cstate="print"/>
          <a:stretch>
            <a:fillRect/>
          </a:stretch>
        </p:blipFill>
        <p:spPr>
          <a:xfrm>
            <a:off x="2699792" y="1318076"/>
            <a:ext cx="6344536" cy="139084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pPr algn="l"/>
            <a:r>
              <a:rPr lang="en-US" altLang="zh-TW" dirty="0" smtClean="0">
                <a:latin typeface="Times New Roman" pitchFamily="18" charset="0"/>
                <a:cs typeface="Times New Roman" pitchFamily="18" charset="0"/>
              </a:rPr>
              <a:t>Algorithm---Version2</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zh-TW" altLang="en-US" dirty="0"/>
          </a:p>
        </p:txBody>
      </p:sp>
      <p:graphicFrame>
        <p:nvGraphicFramePr>
          <p:cNvPr id="6" name="表格 5"/>
          <p:cNvGraphicFramePr>
            <a:graphicFrameLocks noGrp="1"/>
          </p:cNvGraphicFramePr>
          <p:nvPr/>
        </p:nvGraphicFramePr>
        <p:xfrm>
          <a:off x="467544" y="3284984"/>
          <a:ext cx="6096000" cy="3240360"/>
        </p:xfrm>
        <a:graphic>
          <a:graphicData uri="http://schemas.openxmlformats.org/drawingml/2006/table">
            <a:tbl>
              <a:tblPr firstRow="1" bandRow="1">
                <a:tableStyleId>{5C22544A-7EE6-4342-B048-85BDC9FD1C3A}</a:tableStyleId>
              </a:tblPr>
              <a:tblGrid>
                <a:gridCol w="762000"/>
                <a:gridCol w="762000"/>
                <a:gridCol w="762000"/>
                <a:gridCol w="762000"/>
                <a:gridCol w="762000"/>
                <a:gridCol w="762000"/>
                <a:gridCol w="762000"/>
                <a:gridCol w="762000"/>
              </a:tblGrid>
              <a:tr h="405045">
                <a:tc>
                  <a:txBody>
                    <a:bodyPr/>
                    <a:lstStyle/>
                    <a:p>
                      <a:pPr algn="ctr"/>
                      <a:r>
                        <a:rPr lang="en-US" altLang="zh-TW" dirty="0" smtClean="0">
                          <a:latin typeface="Times New Roman" pitchFamily="18" charset="0"/>
                          <a:cs typeface="Times New Roman" pitchFamily="18" charset="0"/>
                        </a:rPr>
                        <a:t>T \ S</a:t>
                      </a:r>
                      <a:endParaRPr lang="zh-TW" altLang="en-US" dirty="0">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405045">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latin typeface="Times New Roman" pitchFamily="18" charset="0"/>
                          <a:cs typeface="Times New Roman" pitchFamily="18" charset="0"/>
                        </a:rPr>
                        <a:t>1</a:t>
                      </a:r>
                      <a:endParaRPr lang="zh-TW" altLang="en-US" dirty="0">
                        <a:solidFill>
                          <a:srgbClr val="FF0000"/>
                        </a:solidFill>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latin typeface="Times New Roman" pitchFamily="18" charset="0"/>
                          <a:cs typeface="Times New Roman" pitchFamily="18" charset="0"/>
                        </a:rPr>
                        <a:t>?(2)</a:t>
                      </a:r>
                      <a:endParaRPr lang="zh-TW" altLang="en-US" dirty="0">
                        <a:solidFill>
                          <a:srgbClr val="FF0000"/>
                        </a:solidFill>
                        <a:latin typeface="Times New Roman" pitchFamily="18" charset="0"/>
                        <a:cs typeface="Times New Roman" pitchFamily="18" charset="0"/>
                      </a:endParaRPr>
                    </a:p>
                  </a:txBody>
                  <a:tcPr/>
                </a:tc>
                <a:tc>
                  <a:txBody>
                    <a:bodyPr/>
                    <a:lstStyle/>
                    <a:p>
                      <a:endParaRPr lang="zh-TW" altLang="en-US" dirty="0"/>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405045">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405045">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endParaRPr lang="zh-TW" altLang="en-US"/>
                    </a:p>
                  </a:txBody>
                  <a:tcPr/>
                </a:tc>
                <a:tc>
                  <a:txBody>
                    <a:bodyPr/>
                    <a:lstStyle/>
                    <a:p>
                      <a:endParaRPr lang="zh-TW" altLang="en-US"/>
                    </a:p>
                  </a:txBody>
                  <a:tcPr/>
                </a:tc>
                <a:tc>
                  <a:txBody>
                    <a:bodyPr/>
                    <a:lstStyle/>
                    <a:p>
                      <a:endParaRPr lang="zh-TW" altLang="en-US"/>
                    </a:p>
                  </a:txBody>
                  <a:tcPr/>
                </a:tc>
                <a:tc>
                  <a:txBody>
                    <a:bodyPr/>
                    <a:lstStyle/>
                    <a:p>
                      <a:endParaRPr lang="zh-TW" altLang="en-US" dirty="0"/>
                    </a:p>
                  </a:txBody>
                  <a:tcPr/>
                </a:tc>
              </a:tr>
            </a:tbl>
          </a:graphicData>
        </a:graphic>
      </p:graphicFrame>
      <p:pic>
        <p:nvPicPr>
          <p:cNvPr id="8" name="圖片 7" descr="7.PNG"/>
          <p:cNvPicPr>
            <a:picLocks noChangeAspect="1"/>
          </p:cNvPicPr>
          <p:nvPr/>
        </p:nvPicPr>
        <p:blipFill>
          <a:blip r:embed="rId2" cstate="print"/>
          <a:stretch>
            <a:fillRect/>
          </a:stretch>
        </p:blipFill>
        <p:spPr>
          <a:xfrm>
            <a:off x="4572000" y="1916832"/>
            <a:ext cx="4474578" cy="673166"/>
          </a:xfrm>
          <a:prstGeom prst="rect">
            <a:avLst/>
          </a:prstGeom>
        </p:spPr>
      </p:pic>
      <p:graphicFrame>
        <p:nvGraphicFramePr>
          <p:cNvPr id="9" name="表格 8"/>
          <p:cNvGraphicFramePr>
            <a:graphicFrameLocks noGrp="1"/>
          </p:cNvGraphicFramePr>
          <p:nvPr/>
        </p:nvGraphicFramePr>
        <p:xfrm>
          <a:off x="467544" y="1018416"/>
          <a:ext cx="4104456" cy="2194560"/>
        </p:xfrm>
        <a:graphic>
          <a:graphicData uri="http://schemas.openxmlformats.org/drawingml/2006/table">
            <a:tbl>
              <a:tblPr firstRow="1" bandRow="1">
                <a:tableStyleId>{5C22544A-7EE6-4342-B048-85BDC9FD1C3A}</a:tableStyleId>
              </a:tblPr>
              <a:tblGrid>
                <a:gridCol w="513057"/>
                <a:gridCol w="513057"/>
                <a:gridCol w="513057"/>
                <a:gridCol w="513057"/>
                <a:gridCol w="513057"/>
                <a:gridCol w="513057"/>
                <a:gridCol w="513057"/>
                <a:gridCol w="513057"/>
              </a:tblGrid>
              <a:tr h="336037">
                <a:tc>
                  <a:txBody>
                    <a:bodyPr/>
                    <a:lstStyle/>
                    <a:p>
                      <a:pPr algn="ctr"/>
                      <a:r>
                        <a:rPr lang="en-US" altLang="zh-TW" i="1" dirty="0" smtClean="0">
                          <a:solidFill>
                            <a:schemeClr val="tx1"/>
                          </a:solidFill>
                          <a:latin typeface="Times New Roman" pitchFamily="18" charset="0"/>
                          <a:cs typeface="Times New Roman" pitchFamily="18" charset="0"/>
                        </a:rPr>
                        <a:t>P</a:t>
                      </a:r>
                      <a:endParaRPr lang="zh-TW" altLang="en-US" i="1" dirty="0">
                        <a:solidFill>
                          <a:schemeClr val="tx1"/>
                        </a:solidFill>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336037">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6</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6</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latin typeface="Times New Roman" pitchFamily="18" charset="0"/>
                          <a:cs typeface="Times New Roman" pitchFamily="18" charset="0"/>
                        </a:rPr>
                        <a:t>2</a:t>
                      </a:r>
                      <a:endParaRPr lang="zh-TW" altLang="en-US" dirty="0">
                        <a:solidFill>
                          <a:srgbClr val="FF0000"/>
                        </a:solidFill>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r>
            </a:tbl>
          </a:graphicData>
        </a:graphic>
      </p:graphicFrame>
      <p:cxnSp>
        <p:nvCxnSpPr>
          <p:cNvPr id="11" name="直線單箭頭接點 10"/>
          <p:cNvCxnSpPr/>
          <p:nvPr/>
        </p:nvCxnSpPr>
        <p:spPr>
          <a:xfrm flipH="1" flipV="1">
            <a:off x="2411760" y="2348880"/>
            <a:ext cx="576064" cy="2232248"/>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2339752" y="2420888"/>
            <a:ext cx="144016" cy="180020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84"/>
            <a:ext cx="8229600" cy="1143000"/>
          </a:xfrm>
        </p:spPr>
        <p:txBody>
          <a:bodyPr/>
          <a:lstStyle/>
          <a:p>
            <a:pPr algn="l"/>
            <a:r>
              <a:rPr lang="en-US" altLang="zh-TW" dirty="0" smtClean="0">
                <a:latin typeface="Times New Roman" pitchFamily="18" charset="0"/>
                <a:cs typeface="Times New Roman" pitchFamily="18" charset="0"/>
              </a:rPr>
              <a:t>Algorithm---Version2</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zh-TW" altLang="en-US" dirty="0"/>
          </a:p>
        </p:txBody>
      </p:sp>
      <p:graphicFrame>
        <p:nvGraphicFramePr>
          <p:cNvPr id="6" name="表格 5"/>
          <p:cNvGraphicFramePr>
            <a:graphicFrameLocks noGrp="1"/>
          </p:cNvGraphicFramePr>
          <p:nvPr/>
        </p:nvGraphicFramePr>
        <p:xfrm>
          <a:off x="467544" y="3284984"/>
          <a:ext cx="6096000" cy="3240360"/>
        </p:xfrm>
        <a:graphic>
          <a:graphicData uri="http://schemas.openxmlformats.org/drawingml/2006/table">
            <a:tbl>
              <a:tblPr firstRow="1" bandRow="1">
                <a:tableStyleId>{5C22544A-7EE6-4342-B048-85BDC9FD1C3A}</a:tableStyleId>
              </a:tblPr>
              <a:tblGrid>
                <a:gridCol w="762000"/>
                <a:gridCol w="762000"/>
                <a:gridCol w="762000"/>
                <a:gridCol w="762000"/>
                <a:gridCol w="762000"/>
                <a:gridCol w="762000"/>
                <a:gridCol w="762000"/>
                <a:gridCol w="762000"/>
              </a:tblGrid>
              <a:tr h="405045">
                <a:tc>
                  <a:txBody>
                    <a:bodyPr/>
                    <a:lstStyle/>
                    <a:p>
                      <a:pPr algn="ctr"/>
                      <a:r>
                        <a:rPr lang="en-US" altLang="zh-TW" i="1" dirty="0" smtClean="0">
                          <a:latin typeface="Times New Roman" pitchFamily="18" charset="0"/>
                          <a:cs typeface="Times New Roman" pitchFamily="18" charset="0"/>
                        </a:rPr>
                        <a:t>T \ S</a:t>
                      </a:r>
                      <a:endParaRPr lang="zh-TW" altLang="en-US" i="1" dirty="0">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405045">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0</a:t>
                      </a:r>
                      <a:endParaRPr lang="zh-TW" altLang="en-US" dirty="0"/>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latin typeface="Times New Roman" pitchFamily="18" charset="0"/>
                          <a:cs typeface="Times New Roman" pitchFamily="18" charset="0"/>
                        </a:rPr>
                        <a:t>1</a:t>
                      </a:r>
                      <a:endParaRPr lang="zh-TW" altLang="en-US" dirty="0">
                        <a:solidFill>
                          <a:srgbClr val="FF0000"/>
                        </a:solidFill>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1</a:t>
                      </a:r>
                      <a:endParaRPr lang="zh-TW" altLang="en-US" dirty="0"/>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latin typeface="Times New Roman" pitchFamily="18" charset="0"/>
                          <a:cs typeface="Times New Roman" pitchFamily="18" charset="0"/>
                        </a:rPr>
                        <a:t>?(2)</a:t>
                      </a:r>
                      <a:endParaRPr lang="zh-TW" altLang="en-US" dirty="0">
                        <a:solidFill>
                          <a:srgbClr val="FF0000"/>
                        </a:solidFill>
                        <a:latin typeface="Times New Roman" pitchFamily="18" charset="0"/>
                        <a:cs typeface="Times New Roman" pitchFamily="18" charset="0"/>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2</a:t>
                      </a:r>
                      <a:endParaRPr lang="zh-TW" altLang="en-US" dirty="0"/>
                    </a:p>
                  </a:txBody>
                  <a:tcPr/>
                </a:tc>
              </a:tr>
              <a:tr h="405045">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405045">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r>
              <a:tr h="405045">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a:t>
                      </a:r>
                      <a:endParaRPr lang="zh-TW" altLang="en-US" dirty="0"/>
                    </a:p>
                  </a:txBody>
                  <a:tcPr/>
                </a:tc>
              </a:tr>
              <a:tr h="405045">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t>3</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r>
            </a:tbl>
          </a:graphicData>
        </a:graphic>
      </p:graphicFrame>
      <p:pic>
        <p:nvPicPr>
          <p:cNvPr id="8" name="圖片 7" descr="7.PNG"/>
          <p:cNvPicPr>
            <a:picLocks noChangeAspect="1"/>
          </p:cNvPicPr>
          <p:nvPr/>
        </p:nvPicPr>
        <p:blipFill>
          <a:blip r:embed="rId2" cstate="print"/>
          <a:stretch>
            <a:fillRect/>
          </a:stretch>
        </p:blipFill>
        <p:spPr>
          <a:xfrm>
            <a:off x="4572000" y="1916832"/>
            <a:ext cx="4474578" cy="673166"/>
          </a:xfrm>
          <a:prstGeom prst="rect">
            <a:avLst/>
          </a:prstGeom>
        </p:spPr>
      </p:pic>
      <p:graphicFrame>
        <p:nvGraphicFramePr>
          <p:cNvPr id="9" name="表格 8"/>
          <p:cNvGraphicFramePr>
            <a:graphicFrameLocks noGrp="1"/>
          </p:cNvGraphicFramePr>
          <p:nvPr/>
        </p:nvGraphicFramePr>
        <p:xfrm>
          <a:off x="467544" y="1018416"/>
          <a:ext cx="4104456" cy="2194560"/>
        </p:xfrm>
        <a:graphic>
          <a:graphicData uri="http://schemas.openxmlformats.org/drawingml/2006/table">
            <a:tbl>
              <a:tblPr firstRow="1" bandRow="1">
                <a:tableStyleId>{5C22544A-7EE6-4342-B048-85BDC9FD1C3A}</a:tableStyleId>
              </a:tblPr>
              <a:tblGrid>
                <a:gridCol w="513057"/>
                <a:gridCol w="513057"/>
                <a:gridCol w="513057"/>
                <a:gridCol w="513057"/>
                <a:gridCol w="513057"/>
                <a:gridCol w="513057"/>
                <a:gridCol w="513057"/>
                <a:gridCol w="513057"/>
              </a:tblGrid>
              <a:tr h="336037">
                <a:tc>
                  <a:txBody>
                    <a:bodyPr/>
                    <a:lstStyle/>
                    <a:p>
                      <a:pPr algn="ctr"/>
                      <a:r>
                        <a:rPr lang="en-US" altLang="zh-TW" i="1" dirty="0" smtClean="0">
                          <a:solidFill>
                            <a:schemeClr val="tx1"/>
                          </a:solidFill>
                          <a:latin typeface="Times New Roman" pitchFamily="18" charset="0"/>
                          <a:cs typeface="Times New Roman" pitchFamily="18" charset="0"/>
                        </a:rPr>
                        <a:t>P</a:t>
                      </a:r>
                      <a:endParaRPr lang="zh-TW" altLang="en-US" i="1" dirty="0">
                        <a:solidFill>
                          <a:schemeClr val="tx1"/>
                        </a:solidFill>
                        <a:latin typeface="Times New Roman" pitchFamily="18" charset="0"/>
                        <a:cs typeface="Times New Roman" pitchFamily="18" charset="0"/>
                      </a:endParaRPr>
                    </a:p>
                  </a:txBody>
                  <a:tcPr/>
                </a:tc>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r>
              <a:tr h="336037">
                <a:tc>
                  <a:txBody>
                    <a:bodyPr/>
                    <a:lstStyle/>
                    <a:p>
                      <a:pPr algn="ct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6</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A</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1</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6</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T</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solidFill>
                            <a:srgbClr val="FF0000"/>
                          </a:solidFill>
                          <a:latin typeface="Times New Roman" pitchFamily="18" charset="0"/>
                          <a:cs typeface="Times New Roman" pitchFamily="18" charset="0"/>
                        </a:rPr>
                        <a:t>2</a:t>
                      </a:r>
                      <a:endParaRPr lang="zh-TW" altLang="en-US" dirty="0">
                        <a:solidFill>
                          <a:srgbClr val="FF0000"/>
                        </a:solidFill>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2</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4</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C</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3</a:t>
                      </a:r>
                      <a:endParaRPr lang="zh-TW" altLang="en-US" dirty="0">
                        <a:latin typeface="Times New Roman" pitchFamily="18" charset="0"/>
                        <a:cs typeface="Times New Roman" pitchFamily="18" charset="0"/>
                      </a:endParaRPr>
                    </a:p>
                  </a:txBody>
                  <a:tcPr/>
                </a:tc>
              </a:tr>
              <a:tr h="336037">
                <a:tc>
                  <a:txBody>
                    <a:bodyPr/>
                    <a:lstStyle/>
                    <a:p>
                      <a:pPr algn="ctr"/>
                      <a:r>
                        <a:rPr lang="en-US" altLang="zh-TW" dirty="0" smtClean="0">
                          <a:latin typeface="Times New Roman" pitchFamily="18" charset="0"/>
                          <a:cs typeface="Times New Roman" pitchFamily="18" charset="0"/>
                        </a:rPr>
                        <a:t>G</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0</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c>
                  <a:txBody>
                    <a:bodyPr/>
                    <a:lstStyle/>
                    <a:p>
                      <a:pPr algn="ctr"/>
                      <a:r>
                        <a:rPr lang="en-US" altLang="zh-TW" dirty="0" smtClean="0">
                          <a:latin typeface="Times New Roman" pitchFamily="18" charset="0"/>
                          <a:cs typeface="Times New Roman" pitchFamily="18" charset="0"/>
                        </a:rPr>
                        <a:t>5</a:t>
                      </a:r>
                      <a:endParaRPr lang="zh-TW" altLang="en-US" dirty="0">
                        <a:latin typeface="Times New Roman" pitchFamily="18" charset="0"/>
                        <a:cs typeface="Times New Roman" pitchFamily="18" charset="0"/>
                      </a:endParaRPr>
                    </a:p>
                  </a:txBody>
                  <a:tcPr/>
                </a:tc>
              </a:tr>
            </a:tbl>
          </a:graphicData>
        </a:graphic>
      </p:graphicFrame>
      <p:cxnSp>
        <p:nvCxnSpPr>
          <p:cNvPr id="11" name="直線單箭頭接點 10"/>
          <p:cNvCxnSpPr/>
          <p:nvPr/>
        </p:nvCxnSpPr>
        <p:spPr>
          <a:xfrm flipH="1" flipV="1">
            <a:off x="2411760" y="2348880"/>
            <a:ext cx="576064" cy="2232248"/>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a:off x="2339752" y="2420888"/>
            <a:ext cx="144016" cy="1800200"/>
          </a:xfrm>
          <a:prstGeom prst="straightConnector1">
            <a:avLst/>
          </a:prstGeom>
          <a:ln w="158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Experiments</a:t>
            </a:r>
            <a:endParaRPr lang="zh-TW" altLang="en-US" dirty="0">
              <a:latin typeface="Times New Roman" pitchFamily="18" charset="0"/>
              <a:cs typeface="Times New Roman" pitchFamily="18" charset="0"/>
            </a:endParaRPr>
          </a:p>
        </p:txBody>
      </p:sp>
      <p:pic>
        <p:nvPicPr>
          <p:cNvPr id="6" name="內容版面配置區 5" descr="14.PNG"/>
          <p:cNvPicPr>
            <a:picLocks noGrp="1" noChangeAspect="1"/>
          </p:cNvPicPr>
          <p:nvPr>
            <p:ph idx="1"/>
          </p:nvPr>
        </p:nvPicPr>
        <p:blipFill>
          <a:blip r:embed="rId2" cstate="print"/>
          <a:stretch>
            <a:fillRect/>
          </a:stretch>
        </p:blipFill>
        <p:spPr>
          <a:xfrm>
            <a:off x="42907" y="2132856"/>
            <a:ext cx="9092447" cy="3160708"/>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Experiments</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p:txBody>
          <a:bodyPr/>
          <a:lstStyle/>
          <a:p>
            <a:endParaRPr lang="zh-TW" altLang="en-US" dirty="0"/>
          </a:p>
        </p:txBody>
      </p:sp>
      <p:pic>
        <p:nvPicPr>
          <p:cNvPr id="6" name="內容版面配置區 3" descr="12.PNG"/>
          <p:cNvPicPr>
            <a:picLocks noChangeAspect="1"/>
          </p:cNvPicPr>
          <p:nvPr/>
        </p:nvPicPr>
        <p:blipFill>
          <a:blip r:embed="rId3" cstate="print"/>
          <a:stretch>
            <a:fillRect/>
          </a:stretch>
        </p:blipFill>
        <p:spPr>
          <a:xfrm>
            <a:off x="0" y="1556792"/>
            <a:ext cx="9181021" cy="367240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a:latin typeface="Times New Roman" pitchFamily="18" charset="0"/>
                <a:cs typeface="Times New Roman" pitchFamily="18" charset="0"/>
              </a:rPr>
              <a:t>Experiments</a:t>
            </a:r>
            <a:endParaRPr lang="zh-TW" altLang="en-US" dirty="0">
              <a:latin typeface="Times New Roman" pitchFamily="18" charset="0"/>
              <a:cs typeface="Times New Roman" pitchFamily="18" charset="0"/>
            </a:endParaRPr>
          </a:p>
        </p:txBody>
      </p:sp>
      <p:sp>
        <p:nvSpPr>
          <p:cNvPr id="5" name="內容版面配置區 4"/>
          <p:cNvSpPr>
            <a:spLocks noGrp="1"/>
          </p:cNvSpPr>
          <p:nvPr>
            <p:ph idx="1"/>
          </p:nvPr>
        </p:nvSpPr>
        <p:spPr/>
        <p:txBody>
          <a:bodyPr/>
          <a:lstStyle/>
          <a:p>
            <a:endParaRPr lang="zh-TW" altLang="en-US" dirty="0"/>
          </a:p>
        </p:txBody>
      </p:sp>
      <p:pic>
        <p:nvPicPr>
          <p:cNvPr id="6" name="圖片 5" descr="13.PNG"/>
          <p:cNvPicPr>
            <a:picLocks noChangeAspect="1"/>
          </p:cNvPicPr>
          <p:nvPr/>
        </p:nvPicPr>
        <p:blipFill>
          <a:blip r:embed="rId3" cstate="print"/>
          <a:stretch>
            <a:fillRect/>
          </a:stretch>
        </p:blipFill>
        <p:spPr>
          <a:xfrm>
            <a:off x="-1" y="1628800"/>
            <a:ext cx="9134063" cy="3528392"/>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755</TotalTime>
  <Words>1027</Words>
  <Application>Microsoft Office PowerPoint</Application>
  <PresentationFormat>如螢幕大小 (4:3)</PresentationFormat>
  <Paragraphs>563</Paragraphs>
  <Slides>17</Slides>
  <Notes>6</Notes>
  <HiddenSlides>0</HiddenSlides>
  <MMClips>0</MMClips>
  <ScaleCrop>false</ScaleCrop>
  <HeadingPairs>
    <vt:vector size="4" baseType="variant">
      <vt:variant>
        <vt:lpstr>佈景主題</vt:lpstr>
      </vt:variant>
      <vt:variant>
        <vt:i4>1</vt:i4>
      </vt:variant>
      <vt:variant>
        <vt:lpstr>投影片標題</vt:lpstr>
      </vt:variant>
      <vt:variant>
        <vt:i4>17</vt:i4>
      </vt:variant>
    </vt:vector>
  </HeadingPairs>
  <TitlesOfParts>
    <vt:vector size="18" baseType="lpstr">
      <vt:lpstr>Office 佈景主題</vt:lpstr>
      <vt:lpstr>An OpenMP-based tool for finding longest common subsequence in bioinformatics</vt:lpstr>
      <vt:lpstr>Abstract(1/3)</vt:lpstr>
      <vt:lpstr>Abstract(2/3)</vt:lpstr>
      <vt:lpstr>Abstract(3/3)</vt:lpstr>
      <vt:lpstr>Introduction</vt:lpstr>
      <vt:lpstr>Introduction</vt:lpstr>
      <vt:lpstr>Algorithm—version 1</vt:lpstr>
      <vt:lpstr>Algorithm—version 1</vt:lpstr>
      <vt:lpstr>Algorithm—version 1</vt:lpstr>
      <vt:lpstr>Algorithm—version 1</vt:lpstr>
      <vt:lpstr>Algorithm---Version2</vt:lpstr>
      <vt:lpstr>Algorithm—version 2</vt:lpstr>
      <vt:lpstr>Algorithm---Version2</vt:lpstr>
      <vt:lpstr>Algorithm---Version2</vt:lpstr>
      <vt:lpstr>Experiments</vt:lpstr>
      <vt:lpstr>Experiments</vt:lpstr>
      <vt:lpstr>Experiments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rshow</cp:lastModifiedBy>
  <cp:revision>87</cp:revision>
  <dcterms:created xsi:type="dcterms:W3CDTF">2019-09-15T07:43:36Z</dcterms:created>
  <dcterms:modified xsi:type="dcterms:W3CDTF">2020-03-03T07:28:44Z</dcterms:modified>
</cp:coreProperties>
</file>