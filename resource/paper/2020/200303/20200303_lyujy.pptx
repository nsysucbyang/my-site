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73" r:id="rId3"/>
    <p:sldId id="257" r:id="rId4"/>
    <p:sldId id="330" r:id="rId5"/>
    <p:sldId id="283" r:id="rId6"/>
    <p:sldId id="334" r:id="rId7"/>
    <p:sldId id="336" r:id="rId8"/>
    <p:sldId id="328" r:id="rId9"/>
    <p:sldId id="337" r:id="rId10"/>
    <p:sldId id="320" r:id="rId11"/>
    <p:sldId id="335" r:id="rId12"/>
    <p:sldId id="312" r:id="rId13"/>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u" initials="l" lastIdx="2" clrIdx="0">
    <p:extLst>
      <p:ext uri="{19B8F6BF-5375-455C-9EA6-DF929625EA0E}">
        <p15:presenceInfo xmlns:p15="http://schemas.microsoft.com/office/powerpoint/2012/main" userId="lu"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15" autoAdjust="0"/>
    <p:restoredTop sz="94235" autoAdjust="0"/>
  </p:normalViewPr>
  <p:slideViewPr>
    <p:cSldViewPr snapToGrid="0">
      <p:cViewPr varScale="1">
        <p:scale>
          <a:sx n="107" d="100"/>
          <a:sy n="107" d="100"/>
        </p:scale>
        <p:origin x="6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26F1585-2514-4ABD-9D02-307B86E5C09C}" type="datetimeFigureOut">
              <a:rPr lang="zh-TW" altLang="en-US" smtClean="0"/>
              <a:t>2020/3/3</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E677D1C-3D7C-420B-BCA3-33BEDD3D5A80}" type="slidenum">
              <a:rPr lang="zh-TW" altLang="en-US" smtClean="0"/>
              <a:t>‹#›</a:t>
            </a:fld>
            <a:endParaRPr lang="zh-TW" altLang="en-US"/>
          </a:p>
        </p:txBody>
      </p:sp>
    </p:spTree>
    <p:extLst>
      <p:ext uri="{BB962C8B-B14F-4D97-AF65-F5344CB8AC3E}">
        <p14:creationId xmlns:p14="http://schemas.microsoft.com/office/powerpoint/2010/main" val="28389453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272092154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3574880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618691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1396239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31746736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5152831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2135614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E677D1C-3D7C-420B-BCA3-33BEDD3D5A80}" type="slidenum">
              <a:rPr lang="zh-TW" altLang="en-US" smtClean="0"/>
              <a:t>10</a:t>
            </a:fld>
            <a:endParaRPr lang="zh-TW" altLang="en-US"/>
          </a:p>
        </p:txBody>
      </p:sp>
    </p:spTree>
    <p:extLst>
      <p:ext uri="{BB962C8B-B14F-4D97-AF65-F5344CB8AC3E}">
        <p14:creationId xmlns:p14="http://schemas.microsoft.com/office/powerpoint/2010/main" val="2767897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5"/>
          </p:nvPr>
        </p:nvSpPr>
        <p:spPr/>
        <p:txBody>
          <a:bodyPr/>
          <a:lstStyle/>
          <a:p>
            <a:fld id="{0E677D1C-3D7C-420B-BCA3-33BEDD3D5A80}" type="slidenum">
              <a:rPr lang="zh-TW" altLang="en-US" smtClean="0"/>
              <a:t>11</a:t>
            </a:fld>
            <a:endParaRPr lang="zh-TW" altLang="en-US"/>
          </a:p>
        </p:txBody>
      </p:sp>
    </p:spTree>
    <p:extLst>
      <p:ext uri="{BB962C8B-B14F-4D97-AF65-F5344CB8AC3E}">
        <p14:creationId xmlns:p14="http://schemas.microsoft.com/office/powerpoint/2010/main" val="6529420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685800" y="1143000"/>
            <a:ext cx="5486400" cy="3086100"/>
          </a:xfrm>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TW" sz="1200"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12</a:t>
            </a:fld>
            <a:endParaRPr lang="zh-TW" altLang="en-US"/>
          </a:p>
        </p:txBody>
      </p:sp>
    </p:spTree>
    <p:extLst>
      <p:ext uri="{BB962C8B-B14F-4D97-AF65-F5344CB8AC3E}">
        <p14:creationId xmlns:p14="http://schemas.microsoft.com/office/powerpoint/2010/main" val="4000792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CFD9DDC-1562-41E3-9F1A-6464E55FA6CC}"/>
              </a:ext>
            </a:extLst>
          </p:cNvPr>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a:extLst>
              <a:ext uri="{FF2B5EF4-FFF2-40B4-BE49-F238E27FC236}">
                <a16:creationId xmlns:a16="http://schemas.microsoft.com/office/drawing/2014/main" id="{78DFE20D-93A5-46C2-A49A-F0C15C370E1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p>
        </p:txBody>
      </p:sp>
      <p:sp>
        <p:nvSpPr>
          <p:cNvPr id="4" name="日期版面配置區 3">
            <a:extLst>
              <a:ext uri="{FF2B5EF4-FFF2-40B4-BE49-F238E27FC236}">
                <a16:creationId xmlns:a16="http://schemas.microsoft.com/office/drawing/2014/main" id="{2E469C4C-F457-4167-B363-FB6DD59DC296}"/>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5" name="頁尾版面配置區 4">
            <a:extLst>
              <a:ext uri="{FF2B5EF4-FFF2-40B4-BE49-F238E27FC236}">
                <a16:creationId xmlns:a16="http://schemas.microsoft.com/office/drawing/2014/main" id="{DFFC6E50-6AB9-4105-98EF-724B3C0041C4}"/>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950C054-D98D-4C90-938F-17BEFCE88E9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3118731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47533DA1-7165-4DF5-971F-78735A9CE427}"/>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9257B16-48F3-4742-8243-9C7ED79E7ABC}"/>
              </a:ext>
            </a:extLst>
          </p:cNvPr>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88E6861-BAD9-4B1E-B7CC-ED4F8B71DB22}"/>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5" name="頁尾版面配置區 4">
            <a:extLst>
              <a:ext uri="{FF2B5EF4-FFF2-40B4-BE49-F238E27FC236}">
                <a16:creationId xmlns:a16="http://schemas.microsoft.com/office/drawing/2014/main" id="{F706F4B5-A649-474C-8BFE-57517ED0EAD6}"/>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228F86C2-A14C-422A-8FC6-1D63EF61726C}"/>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636614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CB4346D0-9FE7-4F7E-985A-585F1F59E5C2}"/>
              </a:ext>
            </a:extLst>
          </p:cNvPr>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a:extLst>
              <a:ext uri="{FF2B5EF4-FFF2-40B4-BE49-F238E27FC236}">
                <a16:creationId xmlns:a16="http://schemas.microsoft.com/office/drawing/2014/main" id="{A6063CD7-FE57-450D-939C-29084736AE3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日期版面配置區 3">
            <a:extLst>
              <a:ext uri="{FF2B5EF4-FFF2-40B4-BE49-F238E27FC236}">
                <a16:creationId xmlns:a16="http://schemas.microsoft.com/office/drawing/2014/main" id="{DBCE3ACB-7971-48F1-9875-489AE8943338}"/>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5" name="頁尾版面配置區 4">
            <a:extLst>
              <a:ext uri="{FF2B5EF4-FFF2-40B4-BE49-F238E27FC236}">
                <a16:creationId xmlns:a16="http://schemas.microsoft.com/office/drawing/2014/main" id="{35413690-EB95-4432-8BFC-09F929C3BB3D}"/>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934FA246-600E-4025-B715-2485B36E1332}"/>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288196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C1659F-69D8-4B85-B7A6-F42E1F3A37EE}"/>
              </a:ext>
            </a:extLst>
          </p:cNvPr>
          <p:cNvSpPr>
            <a:spLocks noGrp="1"/>
          </p:cNvSpPr>
          <p:nvPr>
            <p:ph type="title"/>
          </p:nvPr>
        </p:nvSpPr>
        <p:spPr/>
        <p:txBody>
          <a:bodyPr/>
          <a:lstStyle/>
          <a:p>
            <a:r>
              <a:rPr lang="zh-TW" altLang="en-US"/>
              <a:t>按一下以編輯母片標題樣式</a:t>
            </a:r>
          </a:p>
        </p:txBody>
      </p:sp>
      <p:sp>
        <p:nvSpPr>
          <p:cNvPr id="3" name="內容版面配置區 2">
            <a:extLst>
              <a:ext uri="{FF2B5EF4-FFF2-40B4-BE49-F238E27FC236}">
                <a16:creationId xmlns:a16="http://schemas.microsoft.com/office/drawing/2014/main" id="{ABEBF960-4F47-46F0-89DB-C64F0F1E1283}"/>
              </a:ext>
            </a:extLst>
          </p:cNvPr>
          <p:cNvSpPr>
            <a:spLocks noGrp="1"/>
          </p:cNvSpPr>
          <p:nvPr>
            <p:ph sz="half" idx="1"/>
          </p:nvPr>
        </p:nvSpPr>
        <p:spPr>
          <a:xfrm>
            <a:off x="838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a:extLst>
              <a:ext uri="{FF2B5EF4-FFF2-40B4-BE49-F238E27FC236}">
                <a16:creationId xmlns:a16="http://schemas.microsoft.com/office/drawing/2014/main" id="{F16245D3-5283-415A-84E2-E6274B6E00A2}"/>
              </a:ext>
            </a:extLst>
          </p:cNvPr>
          <p:cNvSpPr>
            <a:spLocks noGrp="1"/>
          </p:cNvSpPr>
          <p:nvPr>
            <p:ph sz="half" idx="2"/>
          </p:nvPr>
        </p:nvSpPr>
        <p:spPr>
          <a:xfrm>
            <a:off x="6172200" y="1825625"/>
            <a:ext cx="51816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a:extLst>
              <a:ext uri="{FF2B5EF4-FFF2-40B4-BE49-F238E27FC236}">
                <a16:creationId xmlns:a16="http://schemas.microsoft.com/office/drawing/2014/main" id="{62DDA930-81B0-4724-B815-F2EBD1DC4556}"/>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6" name="頁尾版面配置區 5">
            <a:extLst>
              <a:ext uri="{FF2B5EF4-FFF2-40B4-BE49-F238E27FC236}">
                <a16:creationId xmlns:a16="http://schemas.microsoft.com/office/drawing/2014/main" id="{F39B2AB0-21DB-4DB7-82C3-46F676AEB0E8}"/>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B797DCFC-9953-4E19-A454-CA08295F589E}"/>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2286691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F60DB38-9964-45C8-A1EF-D1F8C2A33AEB}"/>
              </a:ext>
            </a:extLst>
          </p:cNvPr>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a:extLst>
              <a:ext uri="{FF2B5EF4-FFF2-40B4-BE49-F238E27FC236}">
                <a16:creationId xmlns:a16="http://schemas.microsoft.com/office/drawing/2014/main" id="{A59A4D11-828E-4CB5-A6AE-5F8FA90F4AD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內容版面配置區 3">
            <a:extLst>
              <a:ext uri="{FF2B5EF4-FFF2-40B4-BE49-F238E27FC236}">
                <a16:creationId xmlns:a16="http://schemas.microsoft.com/office/drawing/2014/main" id="{5DEDA618-7B28-4B92-955D-D9F57DA002F3}"/>
              </a:ext>
            </a:extLst>
          </p:cNvPr>
          <p:cNvSpPr>
            <a:spLocks noGrp="1"/>
          </p:cNvSpPr>
          <p:nvPr>
            <p:ph sz="half" idx="2"/>
          </p:nvPr>
        </p:nvSpPr>
        <p:spPr>
          <a:xfrm>
            <a:off x="839788" y="2505075"/>
            <a:ext cx="5157787"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a:extLst>
              <a:ext uri="{FF2B5EF4-FFF2-40B4-BE49-F238E27FC236}">
                <a16:creationId xmlns:a16="http://schemas.microsoft.com/office/drawing/2014/main" id="{1B7155B0-41F4-4173-8A9E-AC97385B04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內容版面配置區 5">
            <a:extLst>
              <a:ext uri="{FF2B5EF4-FFF2-40B4-BE49-F238E27FC236}">
                <a16:creationId xmlns:a16="http://schemas.microsoft.com/office/drawing/2014/main" id="{AE9D421D-015E-480B-A473-59B674316675}"/>
              </a:ext>
            </a:extLst>
          </p:cNvPr>
          <p:cNvSpPr>
            <a:spLocks noGrp="1"/>
          </p:cNvSpPr>
          <p:nvPr>
            <p:ph sz="quarter" idx="4"/>
          </p:nvPr>
        </p:nvSpPr>
        <p:spPr>
          <a:xfrm>
            <a:off x="6172200" y="2505075"/>
            <a:ext cx="5183188"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a:extLst>
              <a:ext uri="{FF2B5EF4-FFF2-40B4-BE49-F238E27FC236}">
                <a16:creationId xmlns:a16="http://schemas.microsoft.com/office/drawing/2014/main" id="{B161ED9B-DFA5-480A-AD88-6DFF046FCB53}"/>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8" name="頁尾版面配置區 7">
            <a:extLst>
              <a:ext uri="{FF2B5EF4-FFF2-40B4-BE49-F238E27FC236}">
                <a16:creationId xmlns:a16="http://schemas.microsoft.com/office/drawing/2014/main" id="{F3B77038-7B39-4853-9220-09E92BEB16F8}"/>
              </a:ext>
            </a:extLst>
          </p:cNvPr>
          <p:cNvSpPr>
            <a:spLocks noGrp="1"/>
          </p:cNvSpPr>
          <p:nvPr>
            <p:ph type="ftr" sz="quarter" idx="11"/>
          </p:nvPr>
        </p:nvSpPr>
        <p:spPr/>
        <p:txBody>
          <a:bodyPr/>
          <a:lstStyle/>
          <a:p>
            <a:endParaRPr lang="zh-TW" altLang="en-US"/>
          </a:p>
        </p:txBody>
      </p:sp>
      <p:sp>
        <p:nvSpPr>
          <p:cNvPr id="9" name="投影片編號版面配置區 8">
            <a:extLst>
              <a:ext uri="{FF2B5EF4-FFF2-40B4-BE49-F238E27FC236}">
                <a16:creationId xmlns:a16="http://schemas.microsoft.com/office/drawing/2014/main" id="{127B11AF-87CE-457B-9D69-58137A50985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215180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783FC20B-A168-4787-91C9-454E6B2BC8C5}"/>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D2DA7D75-DCEA-4D5F-817A-1F76017002B1}"/>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4" name="頁尾版面配置區 3">
            <a:extLst>
              <a:ext uri="{FF2B5EF4-FFF2-40B4-BE49-F238E27FC236}">
                <a16:creationId xmlns:a16="http://schemas.microsoft.com/office/drawing/2014/main" id="{6E420462-1E6B-4811-A101-C24EE185E4F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EF5204FD-F249-467A-809E-2B53F765C671}"/>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1798190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a:extLst>
              <a:ext uri="{FF2B5EF4-FFF2-40B4-BE49-F238E27FC236}">
                <a16:creationId xmlns:a16="http://schemas.microsoft.com/office/drawing/2014/main" id="{00AA5AFE-F983-4BD0-A86F-D18589BB081B}"/>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3" name="頁尾版面配置區 2">
            <a:extLst>
              <a:ext uri="{FF2B5EF4-FFF2-40B4-BE49-F238E27FC236}">
                <a16:creationId xmlns:a16="http://schemas.microsoft.com/office/drawing/2014/main" id="{8AE15BC6-0BDC-4D5E-B093-968EA5FDED06}"/>
              </a:ext>
            </a:extLst>
          </p:cNvPr>
          <p:cNvSpPr>
            <a:spLocks noGrp="1"/>
          </p:cNvSpPr>
          <p:nvPr>
            <p:ph type="ftr" sz="quarter" idx="11"/>
          </p:nvPr>
        </p:nvSpPr>
        <p:spPr/>
        <p:txBody>
          <a:bodyPr/>
          <a:lstStyle/>
          <a:p>
            <a:endParaRPr lang="zh-TW" altLang="en-US"/>
          </a:p>
        </p:txBody>
      </p:sp>
      <p:sp>
        <p:nvSpPr>
          <p:cNvPr id="4" name="投影片編號版面配置區 3">
            <a:extLst>
              <a:ext uri="{FF2B5EF4-FFF2-40B4-BE49-F238E27FC236}">
                <a16:creationId xmlns:a16="http://schemas.microsoft.com/office/drawing/2014/main" id="{571BFC94-F3F4-4DC3-AAE4-BC932631BD05}"/>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724721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A77FD33-544D-451E-8F35-6516C626BEC6}"/>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a:extLst>
              <a:ext uri="{FF2B5EF4-FFF2-40B4-BE49-F238E27FC236}">
                <a16:creationId xmlns:a16="http://schemas.microsoft.com/office/drawing/2014/main" id="{3A37D552-228A-402E-AE3D-2AEAE23C9DD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a:extLst>
              <a:ext uri="{FF2B5EF4-FFF2-40B4-BE49-F238E27FC236}">
                <a16:creationId xmlns:a16="http://schemas.microsoft.com/office/drawing/2014/main" id="{25E0435F-1CA3-499B-A972-EE4FA12CA1D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C189A80C-0898-442B-A9DB-6CE747D9C7F0}"/>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6" name="頁尾版面配置區 5">
            <a:extLst>
              <a:ext uri="{FF2B5EF4-FFF2-40B4-BE49-F238E27FC236}">
                <a16:creationId xmlns:a16="http://schemas.microsoft.com/office/drawing/2014/main" id="{DF1EF31A-4A67-484F-8573-1D1F63C18EB1}"/>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48DADBDA-C04D-4B1F-9E13-784372684EE0}"/>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945764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E619C6B2-1FC1-4D82-AE09-83971387173B}"/>
              </a:ext>
            </a:extLst>
          </p:cNvPr>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a:extLst>
              <a:ext uri="{FF2B5EF4-FFF2-40B4-BE49-F238E27FC236}">
                <a16:creationId xmlns:a16="http://schemas.microsoft.com/office/drawing/2014/main" id="{053A6602-82D6-4233-AD5A-DC49828316B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a:extLst>
              <a:ext uri="{FF2B5EF4-FFF2-40B4-BE49-F238E27FC236}">
                <a16:creationId xmlns:a16="http://schemas.microsoft.com/office/drawing/2014/main" id="{AF7135F2-2932-4070-9CCA-6213EFE682E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日期版面配置區 4">
            <a:extLst>
              <a:ext uri="{FF2B5EF4-FFF2-40B4-BE49-F238E27FC236}">
                <a16:creationId xmlns:a16="http://schemas.microsoft.com/office/drawing/2014/main" id="{14D3864F-50D1-4DBD-A5B6-1645AA45EA59}"/>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6" name="頁尾版面配置區 5">
            <a:extLst>
              <a:ext uri="{FF2B5EF4-FFF2-40B4-BE49-F238E27FC236}">
                <a16:creationId xmlns:a16="http://schemas.microsoft.com/office/drawing/2014/main" id="{D59F5A93-207A-45A5-9BEC-53C28FF8F1E0}"/>
              </a:ext>
            </a:extLst>
          </p:cNvPr>
          <p:cNvSpPr>
            <a:spLocks noGrp="1"/>
          </p:cNvSpPr>
          <p:nvPr>
            <p:ph type="ftr" sz="quarter" idx="11"/>
          </p:nvPr>
        </p:nvSpPr>
        <p:spPr/>
        <p:txBody>
          <a:bodyPr/>
          <a:lstStyle/>
          <a:p>
            <a:endParaRPr lang="zh-TW" altLang="en-US"/>
          </a:p>
        </p:txBody>
      </p:sp>
      <p:sp>
        <p:nvSpPr>
          <p:cNvPr id="7" name="投影片編號版面配置區 6">
            <a:extLst>
              <a:ext uri="{FF2B5EF4-FFF2-40B4-BE49-F238E27FC236}">
                <a16:creationId xmlns:a16="http://schemas.microsoft.com/office/drawing/2014/main" id="{54103368-FB4E-41AE-811C-7BC7ADAFC7D3}"/>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2552169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29C4861-2A8C-4410-8E4A-4441FC1320E8}"/>
              </a:ext>
            </a:extLst>
          </p:cNvPr>
          <p:cNvSpPr>
            <a:spLocks noGrp="1"/>
          </p:cNvSpPr>
          <p:nvPr>
            <p:ph type="title"/>
          </p:nvPr>
        </p:nvSpPr>
        <p:spPr/>
        <p:txBody>
          <a:bodyPr/>
          <a:lstStyle/>
          <a:p>
            <a:r>
              <a:rPr lang="zh-TW" altLang="en-US"/>
              <a:t>按一下以編輯母片標題樣式</a:t>
            </a:r>
          </a:p>
        </p:txBody>
      </p:sp>
      <p:sp>
        <p:nvSpPr>
          <p:cNvPr id="3" name="直排文字版面配置區 2">
            <a:extLst>
              <a:ext uri="{FF2B5EF4-FFF2-40B4-BE49-F238E27FC236}">
                <a16:creationId xmlns:a16="http://schemas.microsoft.com/office/drawing/2014/main" id="{91ED451D-7435-47B8-AA6C-87B8EEA207EC}"/>
              </a:ext>
            </a:extLst>
          </p:cNvPr>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91A2253F-98FC-4AD8-AB1E-608801808E4B}"/>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5" name="頁尾版面配置區 4">
            <a:extLst>
              <a:ext uri="{FF2B5EF4-FFF2-40B4-BE49-F238E27FC236}">
                <a16:creationId xmlns:a16="http://schemas.microsoft.com/office/drawing/2014/main" id="{A12D5CBA-DDC5-46C6-9551-77D0E481A030}"/>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0021B7B3-C52D-4681-8005-1EC96B7EE50D}"/>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35553865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a:extLst>
              <a:ext uri="{FF2B5EF4-FFF2-40B4-BE49-F238E27FC236}">
                <a16:creationId xmlns:a16="http://schemas.microsoft.com/office/drawing/2014/main" id="{C702BAFC-3D18-4325-B382-BF414846856F}"/>
              </a:ext>
            </a:extLst>
          </p:cNvPr>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a:extLst>
              <a:ext uri="{FF2B5EF4-FFF2-40B4-BE49-F238E27FC236}">
                <a16:creationId xmlns:a16="http://schemas.microsoft.com/office/drawing/2014/main" id="{2D2FEE02-A709-4FB0-9DDE-940FDB4B61FF}"/>
              </a:ext>
            </a:extLst>
          </p:cNvPr>
          <p:cNvSpPr>
            <a:spLocks noGrp="1"/>
          </p:cNvSpPr>
          <p:nvPr>
            <p:ph type="body" orient="vert" idx="1"/>
          </p:nvPr>
        </p:nvSpPr>
        <p:spPr>
          <a:xfrm>
            <a:off x="838200" y="365125"/>
            <a:ext cx="7734300"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01DB4D53-3EC7-453D-BD90-F21F29EA365F}"/>
              </a:ext>
            </a:extLst>
          </p:cNvPr>
          <p:cNvSpPr>
            <a:spLocks noGrp="1"/>
          </p:cNvSpPr>
          <p:nvPr>
            <p:ph type="dt" sz="half" idx="10"/>
          </p:nvPr>
        </p:nvSpPr>
        <p:spPr/>
        <p:txBody>
          <a:bodyPr/>
          <a:lstStyle/>
          <a:p>
            <a:fld id="{289B6366-6E92-4855-9B33-10136FFB9F55}" type="datetimeFigureOut">
              <a:rPr lang="zh-TW" altLang="en-US" smtClean="0"/>
              <a:t>2020/3/3</a:t>
            </a:fld>
            <a:endParaRPr lang="zh-TW" altLang="en-US"/>
          </a:p>
        </p:txBody>
      </p:sp>
      <p:sp>
        <p:nvSpPr>
          <p:cNvPr id="5" name="頁尾版面配置區 4">
            <a:extLst>
              <a:ext uri="{FF2B5EF4-FFF2-40B4-BE49-F238E27FC236}">
                <a16:creationId xmlns:a16="http://schemas.microsoft.com/office/drawing/2014/main" id="{324CA5CE-17CD-419F-8C13-16D273AFBF2E}"/>
              </a:ext>
            </a:extLst>
          </p:cNvPr>
          <p:cNvSpPr>
            <a:spLocks noGrp="1"/>
          </p:cNvSpPr>
          <p:nvPr>
            <p:ph type="ftr" sz="quarter" idx="11"/>
          </p:nvPr>
        </p:nvSpPr>
        <p:spPr/>
        <p:txBody>
          <a:bodyPr/>
          <a:lstStyle/>
          <a:p>
            <a:endParaRPr lang="zh-TW" altLang="en-US"/>
          </a:p>
        </p:txBody>
      </p:sp>
      <p:sp>
        <p:nvSpPr>
          <p:cNvPr id="6" name="投影片編號版面配置區 5">
            <a:extLst>
              <a:ext uri="{FF2B5EF4-FFF2-40B4-BE49-F238E27FC236}">
                <a16:creationId xmlns:a16="http://schemas.microsoft.com/office/drawing/2014/main" id="{C3B6B85C-8189-47A7-8D84-0B8FD90A869B}"/>
              </a:ext>
            </a:extLst>
          </p:cNvPr>
          <p:cNvSpPr>
            <a:spLocks noGrp="1"/>
          </p:cNvSpPr>
          <p:nvPr>
            <p:ph type="sldNum" sz="quarter" idx="12"/>
          </p:nvPr>
        </p:nvSpPr>
        <p:spPr/>
        <p:txBody>
          <a:body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6589745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a:extLst>
              <a:ext uri="{FF2B5EF4-FFF2-40B4-BE49-F238E27FC236}">
                <a16:creationId xmlns:a16="http://schemas.microsoft.com/office/drawing/2014/main" id="{8C2E46CB-D80A-4DE1-9C2C-DBEB59D1D1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a:extLst>
              <a:ext uri="{FF2B5EF4-FFF2-40B4-BE49-F238E27FC236}">
                <a16:creationId xmlns:a16="http://schemas.microsoft.com/office/drawing/2014/main" id="{3A01FB3C-2F61-41E2-A419-5D2378D7B7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a:extLst>
              <a:ext uri="{FF2B5EF4-FFF2-40B4-BE49-F238E27FC236}">
                <a16:creationId xmlns:a16="http://schemas.microsoft.com/office/drawing/2014/main" id="{AC1DBDDA-1C0E-4B2A-A31E-1956DBF268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89B6366-6E92-4855-9B33-10136FFB9F55}" type="datetimeFigureOut">
              <a:rPr lang="zh-TW" altLang="en-US" smtClean="0"/>
              <a:t>2020/3/3</a:t>
            </a:fld>
            <a:endParaRPr lang="zh-TW" altLang="en-US"/>
          </a:p>
        </p:txBody>
      </p:sp>
      <p:sp>
        <p:nvSpPr>
          <p:cNvPr id="5" name="頁尾版面配置區 4">
            <a:extLst>
              <a:ext uri="{FF2B5EF4-FFF2-40B4-BE49-F238E27FC236}">
                <a16:creationId xmlns:a16="http://schemas.microsoft.com/office/drawing/2014/main" id="{5420D0D2-BA69-4AB7-97C4-062135932B2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a:extLst>
              <a:ext uri="{FF2B5EF4-FFF2-40B4-BE49-F238E27FC236}">
                <a16:creationId xmlns:a16="http://schemas.microsoft.com/office/drawing/2014/main" id="{534B1C00-4FD7-4FEA-B3B1-0FC2095819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DE51D2F-49B7-459E-9DAE-281F9066C62D}" type="slidenum">
              <a:rPr lang="zh-TW" altLang="en-US" smtClean="0"/>
              <a:t>‹#›</a:t>
            </a:fld>
            <a:endParaRPr lang="zh-TW" altLang="en-US"/>
          </a:p>
        </p:txBody>
      </p:sp>
    </p:spTree>
    <p:extLst>
      <p:ext uri="{BB962C8B-B14F-4D97-AF65-F5344CB8AC3E}">
        <p14:creationId xmlns:p14="http://schemas.microsoft.com/office/powerpoint/2010/main" val="1847293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JPG"/><Relationship Id="rId5" Type="http://schemas.openxmlformats.org/officeDocument/2006/relationships/image" Target="../media/image5.JPG"/><Relationship Id="rId4" Type="http://schemas.openxmlformats.org/officeDocument/2006/relationships/image" Target="../media/image4.JPG"/></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s>
</file>

<file path=ppt/slides/_rels/slide1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DDABD277-3DCF-4084-9E03-BF06B086F7E6}"/>
              </a:ext>
            </a:extLst>
          </p:cNvPr>
          <p:cNvSpPr>
            <a:spLocks noGrp="1"/>
          </p:cNvSpPr>
          <p:nvPr>
            <p:ph type="ctrTitle"/>
          </p:nvPr>
        </p:nvSpPr>
        <p:spPr>
          <a:xfrm>
            <a:off x="367552" y="357189"/>
            <a:ext cx="10979804" cy="1826615"/>
          </a:xfrm>
        </p:spPr>
        <p:txBody>
          <a:bodyPr>
            <a:normAutofit/>
          </a:bodyPr>
          <a:lstStyle/>
          <a:p>
            <a:r>
              <a:rPr lang="en-US" altLang="zh-TW" sz="3200" b="1" dirty="0">
                <a:latin typeface="Times New Roman" panose="02020603050405020304" pitchFamily="18" charset="0"/>
                <a:cs typeface="Times New Roman" panose="02020603050405020304" pitchFamily="18" charset="0"/>
              </a:rPr>
              <a:t>Prediction of microRNAs Associated with Human Diseases Based on Weighted k Most Similar Neighbors</a:t>
            </a:r>
            <a:endParaRPr lang="zh-TW" altLang="en-US" sz="3200" b="1" dirty="0">
              <a:latin typeface="Times New Roman" panose="02020603050405020304" pitchFamily="18" charset="0"/>
              <a:cs typeface="Times New Roman" panose="02020603050405020304" pitchFamily="18" charset="0"/>
            </a:endParaRPr>
          </a:p>
        </p:txBody>
      </p:sp>
      <p:sp>
        <p:nvSpPr>
          <p:cNvPr id="3" name="副標題 2">
            <a:extLst>
              <a:ext uri="{FF2B5EF4-FFF2-40B4-BE49-F238E27FC236}">
                <a16:creationId xmlns:a16="http://schemas.microsoft.com/office/drawing/2014/main" id="{2FF96485-B26C-4B59-B13D-880AA0BD68EA}"/>
              </a:ext>
            </a:extLst>
          </p:cNvPr>
          <p:cNvSpPr>
            <a:spLocks noGrp="1"/>
          </p:cNvSpPr>
          <p:nvPr>
            <p:ph type="subTitle" idx="1"/>
          </p:nvPr>
        </p:nvSpPr>
        <p:spPr>
          <a:xfrm>
            <a:off x="530878" y="2183804"/>
            <a:ext cx="10979804" cy="1697113"/>
          </a:xfrm>
        </p:spPr>
        <p:txBody>
          <a:bodyPr>
            <a:normAutofit/>
          </a:bodyPr>
          <a:lstStyle/>
          <a:p>
            <a:endParaRPr lang="en-US" altLang="zh-TW" dirty="0"/>
          </a:p>
          <a:p>
            <a:r>
              <a:rPr lang="en-US" altLang="zh-TW" sz="2800" dirty="0"/>
              <a:t>Ping Xuan,</a:t>
            </a:r>
            <a:r>
              <a:rPr lang="zh-TW" altLang="en-US" sz="2800" dirty="0"/>
              <a:t> </a:t>
            </a:r>
            <a:r>
              <a:rPr lang="en-US" altLang="zh-TW" sz="2800" dirty="0" err="1"/>
              <a:t>Ke</a:t>
            </a:r>
            <a:r>
              <a:rPr lang="en-US" altLang="zh-TW" sz="2800" dirty="0"/>
              <a:t> Han,</a:t>
            </a:r>
            <a:r>
              <a:rPr lang="zh-TW" altLang="en-US" sz="2800" dirty="0"/>
              <a:t> </a:t>
            </a:r>
            <a:r>
              <a:rPr lang="en-US" altLang="zh-TW" sz="2800" dirty="0" err="1"/>
              <a:t>Maozu</a:t>
            </a:r>
            <a:r>
              <a:rPr lang="en-US" altLang="zh-TW" sz="2800" dirty="0"/>
              <a:t> Guo,</a:t>
            </a:r>
            <a:r>
              <a:rPr lang="zh-TW" altLang="en-US" sz="2800" dirty="0"/>
              <a:t> </a:t>
            </a:r>
            <a:r>
              <a:rPr lang="en-US" altLang="zh-TW" sz="2800" dirty="0" err="1"/>
              <a:t>Yahong</a:t>
            </a:r>
            <a:r>
              <a:rPr lang="en-US" altLang="zh-TW" sz="2800" dirty="0"/>
              <a:t> Guo,</a:t>
            </a:r>
            <a:r>
              <a:rPr lang="zh-TW" altLang="en-US" sz="2800" dirty="0"/>
              <a:t> </a:t>
            </a:r>
            <a:r>
              <a:rPr lang="en-US" altLang="zh-TW" sz="2800" dirty="0" err="1"/>
              <a:t>Jinbao</a:t>
            </a:r>
            <a:r>
              <a:rPr lang="en-US" altLang="zh-TW" sz="2800" dirty="0"/>
              <a:t> Li,</a:t>
            </a:r>
            <a:r>
              <a:rPr lang="zh-TW" altLang="en-US" sz="2800" dirty="0"/>
              <a:t> </a:t>
            </a:r>
            <a:r>
              <a:rPr lang="en-US" altLang="zh-TW" sz="2800" dirty="0"/>
              <a:t>Jian Ding,</a:t>
            </a:r>
            <a:r>
              <a:rPr lang="zh-TW" altLang="en-US" sz="2800" dirty="0"/>
              <a:t> </a:t>
            </a:r>
            <a:r>
              <a:rPr lang="en-US" altLang="zh-TW" sz="2800" dirty="0"/>
              <a:t>Yong Liu,</a:t>
            </a:r>
            <a:r>
              <a:rPr lang="zh-TW" altLang="en-US" sz="2800" dirty="0"/>
              <a:t> </a:t>
            </a:r>
            <a:r>
              <a:rPr lang="en-US" altLang="zh-TW" sz="2800" dirty="0" err="1"/>
              <a:t>Qiguo</a:t>
            </a:r>
            <a:r>
              <a:rPr lang="en-US" altLang="zh-TW" sz="2800" dirty="0"/>
              <a:t> Dai,</a:t>
            </a:r>
            <a:r>
              <a:rPr lang="zh-TW" altLang="en-US" sz="2800" dirty="0"/>
              <a:t> </a:t>
            </a:r>
            <a:r>
              <a:rPr lang="en-US" altLang="zh-TW" sz="2800" dirty="0" err="1"/>
              <a:t>Jin</a:t>
            </a:r>
            <a:r>
              <a:rPr lang="en-US" altLang="zh-TW" sz="2800" dirty="0"/>
              <a:t> Li,</a:t>
            </a:r>
            <a:r>
              <a:rPr lang="zh-TW" altLang="en-US" sz="2800" dirty="0"/>
              <a:t> </a:t>
            </a:r>
            <a:r>
              <a:rPr lang="en-US" altLang="zh-TW" sz="2800" dirty="0" err="1"/>
              <a:t>Zhixia</a:t>
            </a:r>
            <a:r>
              <a:rPr lang="en-US" altLang="zh-TW" sz="2800" dirty="0"/>
              <a:t> Teng,</a:t>
            </a:r>
            <a:r>
              <a:rPr lang="zh-TW" altLang="en-US" sz="2800" dirty="0"/>
              <a:t> </a:t>
            </a:r>
            <a:r>
              <a:rPr lang="en-US" altLang="zh-TW" sz="2800" dirty="0" err="1"/>
              <a:t>Yufei</a:t>
            </a:r>
            <a:r>
              <a:rPr lang="en-US" altLang="zh-TW" sz="2800" dirty="0"/>
              <a:t> Huang</a:t>
            </a:r>
            <a:endParaRPr lang="zh-TW" altLang="en-US" sz="2800" dirty="0">
              <a:latin typeface="Times New Roman" panose="02020603050405020304" pitchFamily="18" charset="0"/>
              <a:cs typeface="Times New Roman" panose="02020603050405020304" pitchFamily="18" charset="0"/>
            </a:endParaRPr>
          </a:p>
        </p:txBody>
      </p:sp>
      <p:sp>
        <p:nvSpPr>
          <p:cNvPr id="4" name="副標題 2">
            <a:extLst>
              <a:ext uri="{FF2B5EF4-FFF2-40B4-BE49-F238E27FC236}">
                <a16:creationId xmlns:a16="http://schemas.microsoft.com/office/drawing/2014/main" id="{64AE8193-1DE0-47D4-9DBB-4734B89CA666}"/>
              </a:ext>
            </a:extLst>
          </p:cNvPr>
          <p:cNvSpPr txBox="1">
            <a:spLocks/>
          </p:cNvSpPr>
          <p:nvPr/>
        </p:nvSpPr>
        <p:spPr>
          <a:xfrm>
            <a:off x="367552" y="3987993"/>
            <a:ext cx="11591366" cy="1381865"/>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tLang="zh-TW" dirty="0">
                <a:latin typeface="Times New Roman" panose="02020603050405020304" pitchFamily="18" charset="0"/>
                <a:cs typeface="Times New Roman" panose="02020603050405020304" pitchFamily="18" charset="0"/>
              </a:rPr>
              <a:t>PLOS ONE, Volume 8, 2013</a:t>
            </a:r>
          </a:p>
        </p:txBody>
      </p:sp>
      <p:sp>
        <p:nvSpPr>
          <p:cNvPr id="5" name="副標題 2">
            <a:extLst>
              <a:ext uri="{FF2B5EF4-FFF2-40B4-BE49-F238E27FC236}">
                <a16:creationId xmlns:a16="http://schemas.microsoft.com/office/drawing/2014/main" id="{83311FB5-1C7C-4049-9C63-3A86A28231CF}"/>
              </a:ext>
            </a:extLst>
          </p:cNvPr>
          <p:cNvSpPr txBox="1">
            <a:spLocks/>
          </p:cNvSpPr>
          <p:nvPr/>
        </p:nvSpPr>
        <p:spPr>
          <a:xfrm>
            <a:off x="8616875" y="5526721"/>
            <a:ext cx="2893807" cy="83099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Speaker: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Jheng</a:t>
            </a: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-Yan </a:t>
            </a:r>
            <a:r>
              <a:rPr lang="en-US" altLang="zh-TW" sz="2000" dirty="0" err="1">
                <a:latin typeface="Times New Roman" panose="02020603050405020304" pitchFamily="18" charset="0"/>
                <a:ea typeface="標楷體" panose="03000509000000000000" pitchFamily="65" charset="-120"/>
                <a:cs typeface="Times New Roman" panose="02020603050405020304" pitchFamily="18" charset="0"/>
              </a:rPr>
              <a:t>Lyu</a:t>
            </a:r>
            <a:endParaRPr lang="en-US" altLang="zh-TW" sz="2000" dirty="0">
              <a:latin typeface="Times New Roman" panose="02020603050405020304" pitchFamily="18" charset="0"/>
              <a:ea typeface="標楷體" panose="03000509000000000000" pitchFamily="65" charset="-120"/>
              <a:cs typeface="Times New Roman" panose="02020603050405020304" pitchFamily="18" charset="0"/>
            </a:endParaRPr>
          </a:p>
          <a:p>
            <a:pPr algn="r"/>
            <a:r>
              <a:rPr lang="en-US" altLang="zh-TW" sz="2000" dirty="0">
                <a:latin typeface="Times New Roman" panose="02020603050405020304" pitchFamily="18" charset="0"/>
                <a:ea typeface="標楷體" panose="03000509000000000000" pitchFamily="65" charset="-120"/>
                <a:cs typeface="Times New Roman" panose="02020603050405020304" pitchFamily="18" charset="0"/>
              </a:rPr>
              <a:t>Date: Mar. 3, 2020</a:t>
            </a:r>
          </a:p>
        </p:txBody>
      </p:sp>
    </p:spTree>
    <p:extLst>
      <p:ext uri="{BB962C8B-B14F-4D97-AF65-F5344CB8AC3E}">
        <p14:creationId xmlns:p14="http://schemas.microsoft.com/office/powerpoint/2010/main" val="301494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80913" y="27469"/>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a:t>
            </a:r>
            <a:r>
              <a:rPr lang="zh-TW" altLang="en-US" sz="3600" dirty="0">
                <a:latin typeface="Times New Roman" panose="02020603050405020304" pitchFamily="18" charset="0"/>
                <a:cs typeface="Times New Roman" panose="02020603050405020304" pitchFamily="18" charset="0"/>
              </a:rPr>
              <a:t> </a:t>
            </a:r>
            <a:r>
              <a:rPr lang="en-US" altLang="zh-TW" sz="3600" dirty="0">
                <a:latin typeface="Times New Roman" panose="02020603050405020304" pitchFamily="18" charset="0"/>
                <a:cs typeface="Times New Roman" panose="02020603050405020304" pitchFamily="18" charset="0"/>
              </a:rPr>
              <a:t>(1/2)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2</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80913" y="613185"/>
            <a:ext cx="10875981" cy="6108289"/>
          </a:xfrm>
        </p:spPr>
        <p:txBody>
          <a:bodyPr>
            <a:noAutofit/>
          </a:bodyPr>
          <a:lstStyle/>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Background: The identification of human disease-related microRNAs (disease miRNAs) is important for further investigating their involvement in the pathogenesis of diseases. More experimentally validated miRNA-disease associations have been accumulated recently. On the basis of these associations, it is essential to predict disease miRNAs for various human diseases. It is useful in providing reliable disease miRNA candidates for subsequent experimental studies. Methodology/Principal Findings: It is known that miRNAs with similar functions are often associated with similar diseases and vice versa. Therefore, the functional similarity of two miRNAs has been successfully estimated by measuring the semantic similarity of their associated diseases. To effectively predict disease miRNAs, we calculated the functional similarity by incorporating the information content of disease terms and phenotype similarity between diseases. Furthermore, the members of miRNA family or cluster are assigned higher weight since they are more probably associated with similar diseases. A new prediction method, HDMP, based on weighted k most similar neighbors is presented for predicting disease miRNAs. Experiments validated that HDMP achieved significantly higher prediction performance than existing methods. </a:t>
            </a:r>
          </a:p>
        </p:txBody>
      </p:sp>
    </p:spTree>
    <p:extLst>
      <p:ext uri="{BB962C8B-B14F-4D97-AF65-F5344CB8AC3E}">
        <p14:creationId xmlns:p14="http://schemas.microsoft.com/office/powerpoint/2010/main" val="15950678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517271" y="145695"/>
            <a:ext cx="7886700" cy="742817"/>
          </a:xfrm>
        </p:spPr>
        <p:txBody>
          <a:bodyPr>
            <a:normAutofit/>
          </a:bodyPr>
          <a:lstStyle/>
          <a:p>
            <a:r>
              <a:rPr lang="en-US" altLang="zh-TW" sz="3600" dirty="0">
                <a:latin typeface="Times New Roman" panose="02020603050405020304" pitchFamily="18" charset="0"/>
                <a:cs typeface="Times New Roman" panose="02020603050405020304" pitchFamily="18" charset="0"/>
              </a:rPr>
              <a:t>Abstract (2/2)</a:t>
            </a:r>
            <a:endParaRPr lang="zh-TW" altLang="en-US" sz="36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p:txBody>
          <a:bodyPr/>
          <a:lstStyle/>
          <a:p>
            <a:fld id="{872633CA-77E0-4863-94F8-E28139DFB2B4}" type="slidenum">
              <a:rPr lang="zh-TW" altLang="en-US" smtClean="0"/>
              <a:t>3</a:t>
            </a:fld>
            <a:endParaRPr lang="zh-TW" altLang="en-US"/>
          </a:p>
        </p:txBody>
      </p:sp>
      <p:sp>
        <p:nvSpPr>
          <p:cNvPr id="7" name="內容版面配置區 6">
            <a:extLst>
              <a:ext uri="{FF2B5EF4-FFF2-40B4-BE49-F238E27FC236}">
                <a16:creationId xmlns:a16="http://schemas.microsoft.com/office/drawing/2014/main" id="{878CA31B-C758-4215-B281-353CA02EC37A}"/>
              </a:ext>
            </a:extLst>
          </p:cNvPr>
          <p:cNvSpPr>
            <a:spLocks noGrp="1"/>
          </p:cNvSpPr>
          <p:nvPr>
            <p:ph idx="1"/>
          </p:nvPr>
        </p:nvSpPr>
        <p:spPr>
          <a:xfrm>
            <a:off x="517271" y="888513"/>
            <a:ext cx="11455990" cy="5652136"/>
          </a:xfrm>
        </p:spPr>
        <p:txBody>
          <a:bodyPr vert="horz" lIns="91440" tIns="45720" rIns="91440" bIns="45720" rtlCol="0">
            <a:noAutofit/>
          </a:bodyPr>
          <a:lstStyle/>
          <a:p>
            <a:pPr marL="0" indent="0" algn="just">
              <a:lnSpc>
                <a:spcPct val="150000"/>
              </a:lnSpc>
              <a:buNone/>
            </a:pPr>
            <a:r>
              <a:rPr lang="en-US" altLang="zh-TW" sz="2200" spc="-150" dirty="0">
                <a:latin typeface="Times New Roman" panose="02020603050405020304" pitchFamily="18" charset="0"/>
                <a:cs typeface="Times New Roman" panose="02020603050405020304" pitchFamily="18" charset="0"/>
              </a:rPr>
              <a:t>In addition, the case studies examining prostatic neoplasms, breast neoplasms, and lung neoplasms, showed that HDMP can uncover potential disease miRNA candidates. Conclusions: The superior performance of HDMP can be attributed to the accurate measurement of miRNA functional similarity, the weight assignment based on miRNA family or cluster, and the effective prediction based on weighted k most similar neighbors.</a:t>
            </a:r>
          </a:p>
        </p:txBody>
      </p:sp>
    </p:spTree>
    <p:extLst>
      <p:ext uri="{BB962C8B-B14F-4D97-AF65-F5344CB8AC3E}">
        <p14:creationId xmlns:p14="http://schemas.microsoft.com/office/powerpoint/2010/main" val="32047819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MiRNA functional similarity measurement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4</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200" y="1161826"/>
            <a:ext cx="10633038" cy="4929076"/>
          </a:xfrm>
        </p:spPr>
        <p:txBody>
          <a:bodyPr/>
          <a:lstStyle/>
          <a:p>
            <a:endParaRPr lang="zh-TW" altLang="en-US" dirty="0"/>
          </a:p>
        </p:txBody>
      </p:sp>
      <p:pic>
        <p:nvPicPr>
          <p:cNvPr id="6" name="圖片 5" descr="一張含有 地圖, 文字 的圖片&#10;&#10;自動產生的描述">
            <a:extLst>
              <a:ext uri="{FF2B5EF4-FFF2-40B4-BE49-F238E27FC236}">
                <a16:creationId xmlns:a16="http://schemas.microsoft.com/office/drawing/2014/main" id="{6D330002-309A-4F13-A9CB-34FEAB5CC16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200" y="1236397"/>
            <a:ext cx="10393530" cy="3730050"/>
          </a:xfrm>
          <a:prstGeom prst="rect">
            <a:avLst/>
          </a:prstGeom>
        </p:spPr>
      </p:pic>
    </p:spTree>
    <p:extLst>
      <p:ext uri="{BB962C8B-B14F-4D97-AF65-F5344CB8AC3E}">
        <p14:creationId xmlns:p14="http://schemas.microsoft.com/office/powerpoint/2010/main" val="19621861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MiRNA functional similarity measurement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5</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199" y="1161825"/>
            <a:ext cx="11111753" cy="4996927"/>
          </a:xfrm>
        </p:spPr>
        <p:txBody>
          <a:bodyPr/>
          <a:lstStyle/>
          <a:p>
            <a:r>
              <a:rPr lang="en-US" altLang="zh-TW" dirty="0"/>
              <a:t>IC(t) = -log[p(t)]</a:t>
            </a:r>
          </a:p>
          <a:p>
            <a:r>
              <a:rPr lang="en-US" altLang="zh-TW" dirty="0"/>
              <a:t>the semantic value of ‘liver neoplasms’, DV(LN), is updated as 10.160 (10.160 is the value of IC(liver neoplasms)) + 6.838 (IC(digestive system neoplasms)) + 4.453 (IC(neoplasms by site)) + 2.785 (IC(neoplasms)) + 6.116 (IC(liver diseases)) + 3.961 (IC(digestive system diseases)) = 34.313.</a:t>
            </a:r>
          </a:p>
          <a:p>
            <a:endParaRPr lang="en-US" altLang="zh-TW" dirty="0"/>
          </a:p>
        </p:txBody>
      </p:sp>
      <p:pic>
        <p:nvPicPr>
          <p:cNvPr id="11" name="圖片 10" descr="一張含有 螢幕擷取畫面, 黑色, 城市 的圖片&#10;&#10;自動產生的描述">
            <a:extLst>
              <a:ext uri="{FF2B5EF4-FFF2-40B4-BE49-F238E27FC236}">
                <a16:creationId xmlns:a16="http://schemas.microsoft.com/office/drawing/2014/main" id="{E8B293FD-1BEA-4B8F-880A-461E002F32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8636" y="3429000"/>
            <a:ext cx="7952970" cy="3002002"/>
          </a:xfrm>
          <a:prstGeom prst="rect">
            <a:avLst/>
          </a:prstGeom>
        </p:spPr>
      </p:pic>
    </p:spTree>
    <p:extLst>
      <p:ext uri="{BB962C8B-B14F-4D97-AF65-F5344CB8AC3E}">
        <p14:creationId xmlns:p14="http://schemas.microsoft.com/office/powerpoint/2010/main" val="8154466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MiRNA functional similarity measurement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6</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199" y="1161825"/>
            <a:ext cx="11111753" cy="4996927"/>
          </a:xfrm>
        </p:spPr>
        <p:txBody>
          <a:bodyPr/>
          <a:lstStyle/>
          <a:p>
            <a:r>
              <a:rPr lang="en-US" altLang="zh-TW" dirty="0" err="1"/>
              <a:t>dadad</a:t>
            </a:r>
            <a:endParaRPr lang="en-US" altLang="zh-TW" dirty="0"/>
          </a:p>
        </p:txBody>
      </p:sp>
      <p:pic>
        <p:nvPicPr>
          <p:cNvPr id="5" name="圖片 4">
            <a:extLst>
              <a:ext uri="{FF2B5EF4-FFF2-40B4-BE49-F238E27FC236}">
                <a16:creationId xmlns:a16="http://schemas.microsoft.com/office/drawing/2014/main" id="{5BDD0711-64AF-4330-AA35-E7F7FDB2121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58903" y="1245281"/>
            <a:ext cx="6000411" cy="2741240"/>
          </a:xfrm>
          <a:prstGeom prst="rect">
            <a:avLst/>
          </a:prstGeom>
        </p:spPr>
      </p:pic>
      <p:pic>
        <p:nvPicPr>
          <p:cNvPr id="7" name="圖片 6">
            <a:extLst>
              <a:ext uri="{FF2B5EF4-FFF2-40B4-BE49-F238E27FC236}">
                <a16:creationId xmlns:a16="http://schemas.microsoft.com/office/drawing/2014/main" id="{2B095746-1640-4867-A882-0B28030814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38987" y="1359424"/>
            <a:ext cx="3224213" cy="2201647"/>
          </a:xfrm>
          <a:prstGeom prst="rect">
            <a:avLst/>
          </a:prstGeom>
        </p:spPr>
      </p:pic>
      <p:pic>
        <p:nvPicPr>
          <p:cNvPr id="9" name="圖片 8" descr="一張含有 刀 的圖片&#10;&#10;自動產生的描述">
            <a:extLst>
              <a:ext uri="{FF2B5EF4-FFF2-40B4-BE49-F238E27FC236}">
                <a16:creationId xmlns:a16="http://schemas.microsoft.com/office/drawing/2014/main" id="{D26189EF-7DFA-4005-B859-53CB4160D10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248" y="4069976"/>
            <a:ext cx="4572748" cy="2286374"/>
          </a:xfrm>
          <a:prstGeom prst="rect">
            <a:avLst/>
          </a:prstGeom>
        </p:spPr>
      </p:pic>
      <p:pic>
        <p:nvPicPr>
          <p:cNvPr id="12" name="圖片 11" descr="一張含有 螢幕擷取畫面 的圖片&#10;&#10;自動產生的描述">
            <a:extLst>
              <a:ext uri="{FF2B5EF4-FFF2-40B4-BE49-F238E27FC236}">
                <a16:creationId xmlns:a16="http://schemas.microsoft.com/office/drawing/2014/main" id="{D4A6EFF7-7B2D-482F-99C2-18F9C0BA29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827301" y="3757861"/>
            <a:ext cx="5311346" cy="2988857"/>
          </a:xfrm>
          <a:prstGeom prst="rect">
            <a:avLst/>
          </a:prstGeom>
        </p:spPr>
      </p:pic>
    </p:spTree>
    <p:extLst>
      <p:ext uri="{BB962C8B-B14F-4D97-AF65-F5344CB8AC3E}">
        <p14:creationId xmlns:p14="http://schemas.microsoft.com/office/powerpoint/2010/main" val="35487537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10844604" cy="729274"/>
          </a:xfrm>
        </p:spPr>
        <p:txBody>
          <a:bodyPr>
            <a:normAutofit/>
          </a:bodyPr>
          <a:lstStyle/>
          <a:p>
            <a:r>
              <a:rPr lang="en-US" altLang="zh-TW" sz="3200" dirty="0">
                <a:latin typeface="Times New Roman" panose="02020603050405020304" pitchFamily="18" charset="0"/>
                <a:cs typeface="Times New Roman" panose="02020603050405020304" pitchFamily="18" charset="0"/>
              </a:rPr>
              <a:t>MiRNA functional similarity measurement</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7</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838199" y="1161825"/>
            <a:ext cx="11111753" cy="4996927"/>
          </a:xfrm>
        </p:spPr>
        <p:txBody>
          <a:bodyPr/>
          <a:lstStyle/>
          <a:p>
            <a:r>
              <a:rPr lang="en-US" altLang="zh-TW" dirty="0" err="1"/>
              <a:t>dadad</a:t>
            </a:r>
            <a:endParaRPr lang="en-US" altLang="zh-TW" dirty="0"/>
          </a:p>
        </p:txBody>
      </p:sp>
      <p:pic>
        <p:nvPicPr>
          <p:cNvPr id="10" name="圖片 9" descr="一張含有 文字, 地圖, 螢幕擷取畫面 的圖片&#10;&#10;自動產生的描述">
            <a:extLst>
              <a:ext uri="{FF2B5EF4-FFF2-40B4-BE49-F238E27FC236}">
                <a16:creationId xmlns:a16="http://schemas.microsoft.com/office/drawing/2014/main" id="{A18CD76E-4650-49FE-BB38-16651DE2A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38197" y="1228164"/>
            <a:ext cx="8574743" cy="4889730"/>
          </a:xfrm>
          <a:prstGeom prst="rect">
            <a:avLst/>
          </a:prstGeom>
        </p:spPr>
      </p:pic>
    </p:spTree>
    <p:extLst>
      <p:ext uri="{BB962C8B-B14F-4D97-AF65-F5344CB8AC3E}">
        <p14:creationId xmlns:p14="http://schemas.microsoft.com/office/powerpoint/2010/main" val="3541032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33355" y="408509"/>
            <a:ext cx="11098861" cy="839919"/>
          </a:xfrm>
        </p:spPr>
        <p:txBody>
          <a:bodyPr>
            <a:noAutofit/>
          </a:bodyPr>
          <a:lstStyle/>
          <a:p>
            <a:r>
              <a:rPr lang="en-US" altLang="zh-TW" sz="3200" dirty="0">
                <a:latin typeface="Times New Roman" panose="02020603050405020304" pitchFamily="18" charset="0"/>
                <a:cs typeface="Times New Roman" panose="02020603050405020304" pitchFamily="18" charset="0"/>
              </a:rPr>
              <a:t>Assignment of weight based on miRNA families or clusters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8</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633355" y="1520415"/>
            <a:ext cx="10633038" cy="4929076"/>
          </a:xfrm>
        </p:spPr>
        <p:txBody>
          <a:bodyPr/>
          <a:lstStyle/>
          <a:p>
            <a:endParaRPr lang="zh-TW" altLang="en-US" dirty="0"/>
          </a:p>
        </p:txBody>
      </p:sp>
      <p:pic>
        <p:nvPicPr>
          <p:cNvPr id="19" name="圖片 18" descr="一張含有 地圖 的圖片&#10;&#10;自動產生的描述">
            <a:extLst>
              <a:ext uri="{FF2B5EF4-FFF2-40B4-BE49-F238E27FC236}">
                <a16:creationId xmlns:a16="http://schemas.microsoft.com/office/drawing/2014/main" id="{2A5E839C-3B38-4D69-9E2D-66D297C734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355" y="1520414"/>
            <a:ext cx="10011306" cy="3132267"/>
          </a:xfrm>
          <a:prstGeom prst="rect">
            <a:avLst/>
          </a:prstGeom>
        </p:spPr>
      </p:pic>
    </p:spTree>
    <p:extLst>
      <p:ext uri="{BB962C8B-B14F-4D97-AF65-F5344CB8AC3E}">
        <p14:creationId xmlns:p14="http://schemas.microsoft.com/office/powerpoint/2010/main" val="18315496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633355" y="408509"/>
            <a:ext cx="11098861" cy="839919"/>
          </a:xfrm>
        </p:spPr>
        <p:txBody>
          <a:bodyPr>
            <a:noAutofit/>
          </a:bodyPr>
          <a:lstStyle/>
          <a:p>
            <a:r>
              <a:rPr lang="en-US" altLang="zh-TW" sz="3200" dirty="0">
                <a:latin typeface="Times New Roman" panose="02020603050405020304" pitchFamily="18" charset="0"/>
                <a:cs typeface="Times New Roman" panose="02020603050405020304" pitchFamily="18" charset="0"/>
              </a:rPr>
              <a:t>Assignment of weight based on miRNA families or clusters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9</a:t>
            </a:fld>
            <a:endParaRPr lang="zh-TW" altLang="en-US"/>
          </a:p>
        </p:txBody>
      </p:sp>
      <p:sp>
        <p:nvSpPr>
          <p:cNvPr id="17" name="內容版面配置區 16">
            <a:extLst>
              <a:ext uri="{FF2B5EF4-FFF2-40B4-BE49-F238E27FC236}">
                <a16:creationId xmlns:a16="http://schemas.microsoft.com/office/drawing/2014/main" id="{B3B369A4-994D-4FC9-B14F-FC14ACB6A342}"/>
              </a:ext>
            </a:extLst>
          </p:cNvPr>
          <p:cNvSpPr>
            <a:spLocks noGrp="1"/>
          </p:cNvSpPr>
          <p:nvPr>
            <p:ph idx="1"/>
          </p:nvPr>
        </p:nvSpPr>
        <p:spPr>
          <a:xfrm>
            <a:off x="633355" y="1520415"/>
            <a:ext cx="10633038" cy="4929076"/>
          </a:xfrm>
        </p:spPr>
        <p:txBody>
          <a:bodyPr/>
          <a:lstStyle/>
          <a:p>
            <a:endParaRPr lang="zh-TW" altLang="en-US" dirty="0"/>
          </a:p>
        </p:txBody>
      </p:sp>
      <p:pic>
        <p:nvPicPr>
          <p:cNvPr id="6" name="圖片 5" descr="一張含有 桌 的圖片&#10;&#10;自動產生的描述">
            <a:extLst>
              <a:ext uri="{FF2B5EF4-FFF2-40B4-BE49-F238E27FC236}">
                <a16:creationId xmlns:a16="http://schemas.microsoft.com/office/drawing/2014/main" id="{D8350128-BA61-42C3-B0AD-3CD5C8540D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7348" y="1533721"/>
            <a:ext cx="4480110" cy="928947"/>
          </a:xfrm>
          <a:prstGeom prst="rect">
            <a:avLst/>
          </a:prstGeom>
        </p:spPr>
      </p:pic>
      <p:pic>
        <p:nvPicPr>
          <p:cNvPr id="9" name="圖片 8" descr="一張含有 時鐘 的圖片&#10;&#10;自動產生的描述">
            <a:extLst>
              <a:ext uri="{FF2B5EF4-FFF2-40B4-BE49-F238E27FC236}">
                <a16:creationId xmlns:a16="http://schemas.microsoft.com/office/drawing/2014/main" id="{55614E33-65CC-4BC2-B5CD-CA66D7CEEAE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735071" y="2321019"/>
            <a:ext cx="2109468" cy="915648"/>
          </a:xfrm>
          <a:prstGeom prst="rect">
            <a:avLst/>
          </a:prstGeom>
        </p:spPr>
      </p:pic>
      <p:pic>
        <p:nvPicPr>
          <p:cNvPr id="11" name="圖片 10" descr="一張含有 紅色 的圖片&#10;&#10;自動產生的描述">
            <a:extLst>
              <a:ext uri="{FF2B5EF4-FFF2-40B4-BE49-F238E27FC236}">
                <a16:creationId xmlns:a16="http://schemas.microsoft.com/office/drawing/2014/main" id="{678E4C3E-2710-41D6-A4E3-1C179576B56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365064" y="1597119"/>
            <a:ext cx="3724275" cy="723900"/>
          </a:xfrm>
          <a:prstGeom prst="rect">
            <a:avLst/>
          </a:prstGeom>
        </p:spPr>
      </p:pic>
      <p:pic>
        <p:nvPicPr>
          <p:cNvPr id="13" name="圖片 12" descr="一張含有 物件, 時鐘, 畫畫 的圖片&#10;&#10;自動產生的描述">
            <a:extLst>
              <a:ext uri="{FF2B5EF4-FFF2-40B4-BE49-F238E27FC236}">
                <a16:creationId xmlns:a16="http://schemas.microsoft.com/office/drawing/2014/main" id="{191F4674-B278-44E9-B7ED-1ECDDF19B00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47463" y="2408843"/>
            <a:ext cx="1790700" cy="857250"/>
          </a:xfrm>
          <a:prstGeom prst="rect">
            <a:avLst/>
          </a:prstGeom>
        </p:spPr>
      </p:pic>
      <p:pic>
        <p:nvPicPr>
          <p:cNvPr id="18" name="圖片 17" descr="一張含有 文字, 地圖 的圖片&#10;&#10;自動產生的描述">
            <a:extLst>
              <a:ext uri="{FF2B5EF4-FFF2-40B4-BE49-F238E27FC236}">
                <a16:creationId xmlns:a16="http://schemas.microsoft.com/office/drawing/2014/main" id="{41F013F6-F7F5-4539-8AC2-1EFCF5ECF5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258966" y="3217550"/>
            <a:ext cx="5001090" cy="3272397"/>
          </a:xfrm>
          <a:prstGeom prst="rect">
            <a:avLst/>
          </a:prstGeom>
        </p:spPr>
      </p:pic>
    </p:spTree>
    <p:extLst>
      <p:ext uri="{BB962C8B-B14F-4D97-AF65-F5344CB8AC3E}">
        <p14:creationId xmlns:p14="http://schemas.microsoft.com/office/powerpoint/2010/main" val="28385367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843F6-EE57-48F9-BFE5-DDD702F8E535}"/>
              </a:ext>
            </a:extLst>
          </p:cNvPr>
          <p:cNvSpPr>
            <a:spLocks noGrp="1"/>
          </p:cNvSpPr>
          <p:nvPr>
            <p:ph type="title"/>
          </p:nvPr>
        </p:nvSpPr>
        <p:spPr>
          <a:xfrm>
            <a:off x="838200" y="365126"/>
            <a:ext cx="10690412" cy="1024404"/>
          </a:xfrm>
        </p:spPr>
        <p:txBody>
          <a:bodyPr>
            <a:normAutofit/>
          </a:bodyPr>
          <a:lstStyle/>
          <a:p>
            <a:r>
              <a:rPr lang="en-US" altLang="zh-TW" sz="3200" dirty="0">
                <a:latin typeface="Times New Roman" panose="02020603050405020304" pitchFamily="18" charset="0"/>
                <a:cs typeface="Times New Roman" panose="02020603050405020304" pitchFamily="18" charset="0"/>
              </a:rPr>
              <a:t>Assignment of weight based on miRNA families or clusters</a:t>
            </a:r>
            <a:endParaRPr lang="zh-TW" altLang="en-US" sz="3200" dirty="0">
              <a:latin typeface="Times New Roman" panose="02020603050405020304" pitchFamily="18" charset="0"/>
              <a:cs typeface="Times New Roman" panose="02020603050405020304" pitchFamily="18" charset="0"/>
            </a:endParaRPr>
          </a:p>
        </p:txBody>
      </p:sp>
      <p:sp>
        <p:nvSpPr>
          <p:cNvPr id="9" name="內容版面配置區 8">
            <a:extLst>
              <a:ext uri="{FF2B5EF4-FFF2-40B4-BE49-F238E27FC236}">
                <a16:creationId xmlns:a16="http://schemas.microsoft.com/office/drawing/2014/main" id="{3036FC36-076A-4378-BF87-F8B3D7BF7873}"/>
              </a:ext>
            </a:extLst>
          </p:cNvPr>
          <p:cNvSpPr>
            <a:spLocks noGrp="1"/>
          </p:cNvSpPr>
          <p:nvPr>
            <p:ph idx="1"/>
          </p:nvPr>
        </p:nvSpPr>
        <p:spPr>
          <a:xfrm>
            <a:off x="838200" y="1389530"/>
            <a:ext cx="10515600" cy="4787433"/>
          </a:xfrm>
        </p:spPr>
        <p:txBody>
          <a:bodyPr>
            <a:normAutofit/>
          </a:bodyPr>
          <a:lstStyle/>
          <a:p>
            <a:endParaRPr lang="zh-TW" altLang="en-US" dirty="0"/>
          </a:p>
        </p:txBody>
      </p:sp>
      <p:pic>
        <p:nvPicPr>
          <p:cNvPr id="8" name="圖片 7" descr="一張含有 文字, 地圖 的圖片&#10;&#10;自動產生的描述">
            <a:extLst>
              <a:ext uri="{FF2B5EF4-FFF2-40B4-BE49-F238E27FC236}">
                <a16:creationId xmlns:a16="http://schemas.microsoft.com/office/drawing/2014/main" id="{7603745F-60E7-47A4-A1E3-D68568B5BE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3343" y="1389530"/>
            <a:ext cx="7888940" cy="5353961"/>
          </a:xfrm>
          <a:prstGeom prst="rect">
            <a:avLst/>
          </a:prstGeom>
        </p:spPr>
      </p:pic>
    </p:spTree>
    <p:extLst>
      <p:ext uri="{BB962C8B-B14F-4D97-AF65-F5344CB8AC3E}">
        <p14:creationId xmlns:p14="http://schemas.microsoft.com/office/powerpoint/2010/main" val="20482042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FDF843F6-EE57-48F9-BFE5-DDD702F8E535}"/>
              </a:ext>
            </a:extLst>
          </p:cNvPr>
          <p:cNvSpPr>
            <a:spLocks noGrp="1"/>
          </p:cNvSpPr>
          <p:nvPr>
            <p:ph type="title"/>
          </p:nvPr>
        </p:nvSpPr>
        <p:spPr>
          <a:xfrm>
            <a:off x="838200" y="365126"/>
            <a:ext cx="10690412" cy="1024404"/>
          </a:xfrm>
        </p:spPr>
        <p:txBody>
          <a:bodyPr>
            <a:normAutofit/>
          </a:bodyPr>
          <a:lstStyle/>
          <a:p>
            <a:r>
              <a:rPr lang="en-US" altLang="zh-TW" sz="3200" dirty="0">
                <a:latin typeface="Times New Roman" panose="02020603050405020304" pitchFamily="18" charset="0"/>
                <a:cs typeface="Times New Roman" panose="02020603050405020304" pitchFamily="18" charset="0"/>
              </a:rPr>
              <a:t>Assignment of weight based on miRNA families or clusters</a:t>
            </a:r>
            <a:endParaRPr lang="zh-TW" altLang="en-US" sz="3200" dirty="0">
              <a:latin typeface="Times New Roman" panose="02020603050405020304" pitchFamily="18" charset="0"/>
              <a:cs typeface="Times New Roman" panose="02020603050405020304" pitchFamily="18" charset="0"/>
            </a:endParaRPr>
          </a:p>
        </p:txBody>
      </p:sp>
      <p:sp>
        <p:nvSpPr>
          <p:cNvPr id="9" name="內容版面配置區 8">
            <a:extLst>
              <a:ext uri="{FF2B5EF4-FFF2-40B4-BE49-F238E27FC236}">
                <a16:creationId xmlns:a16="http://schemas.microsoft.com/office/drawing/2014/main" id="{3036FC36-076A-4378-BF87-F8B3D7BF7873}"/>
              </a:ext>
            </a:extLst>
          </p:cNvPr>
          <p:cNvSpPr>
            <a:spLocks noGrp="1"/>
          </p:cNvSpPr>
          <p:nvPr>
            <p:ph idx="1"/>
          </p:nvPr>
        </p:nvSpPr>
        <p:spPr>
          <a:xfrm>
            <a:off x="838200" y="1389530"/>
            <a:ext cx="10515600" cy="4787433"/>
          </a:xfrm>
        </p:spPr>
        <p:txBody>
          <a:bodyPr>
            <a:normAutofit fontScale="77500" lnSpcReduction="20000"/>
          </a:bodyPr>
          <a:lstStyle/>
          <a:p>
            <a:r>
              <a:rPr lang="en-US" altLang="zh-TW" dirty="0"/>
              <a:t>MiRNA u and its neighbor v are not in the same miRNA family or cluster. Also, v is associated with d. For instance, as shown in the 3th part of Figure 1, miRNA 1 is an unlabeled miRNA. Since its neighbor 5 is associated with d, 1 is possibly associated with d. The greater functional similarity between 1 and 5, MS(1, 5), means that 1 is more likely to associate with d. Thus, with respect to 1, the </a:t>
            </a:r>
            <a:r>
              <a:rPr lang="en-US" altLang="zh-TW" dirty="0" err="1"/>
              <a:t>subscore</a:t>
            </a:r>
            <a:r>
              <a:rPr lang="en-US" altLang="zh-TW" dirty="0"/>
              <a:t> of 5 is assigned to MS(1, 5) = 0.6.</a:t>
            </a:r>
          </a:p>
          <a:p>
            <a:r>
              <a:rPr lang="en-US" altLang="zh-TW" dirty="0"/>
              <a:t>MiRNA u and its neighbor v belong to the same miRNA family or cluster. Also, v is associated with d. In Figure 1, since the neighbor 20 is associated with d, 1 is possibly associated with d. Furthermore, as both 1 and 20 are in the </a:t>
            </a:r>
            <a:r>
              <a:rPr lang="en-US" altLang="zh-TW" dirty="0" err="1"/>
              <a:t>ith</a:t>
            </a:r>
            <a:r>
              <a:rPr lang="en-US" altLang="zh-TW" dirty="0"/>
              <a:t> family, they are more likely to associate with d. Therefore, to assign the </a:t>
            </a:r>
            <a:r>
              <a:rPr lang="en-US" altLang="zh-TW" dirty="0" err="1"/>
              <a:t>subscore</a:t>
            </a:r>
            <a:r>
              <a:rPr lang="en-US" altLang="zh-TW" dirty="0"/>
              <a:t> of 20, we consider the functional similarity between 1 and 20. At the same time, the weight of these two miRNAs in this family is considered. The </a:t>
            </a:r>
            <a:r>
              <a:rPr lang="en-US" altLang="zh-TW" dirty="0" err="1"/>
              <a:t>subscore</a:t>
            </a:r>
            <a:r>
              <a:rPr lang="en-US" altLang="zh-TW" dirty="0"/>
              <a:t> of 20 is MS(1, 20)×</a:t>
            </a:r>
            <a:r>
              <a:rPr lang="en-US" altLang="zh-TW" dirty="0" err="1"/>
              <a:t>wfi</a:t>
            </a:r>
            <a:r>
              <a:rPr lang="en-US" altLang="zh-TW" dirty="0"/>
              <a:t>(d) = 0.6×1.15 = 0.69. In addition, if two miRNAs not only belong to a family but also belong to a cluster, both the weight based on this family and that based on this cluster are multiplied by their functional similarity as the </a:t>
            </a:r>
            <a:r>
              <a:rPr lang="en-US" altLang="zh-TW" dirty="0" err="1"/>
              <a:t>subscore</a:t>
            </a:r>
            <a:r>
              <a:rPr lang="en-US" altLang="zh-TW" dirty="0"/>
              <a:t>.</a:t>
            </a:r>
          </a:p>
          <a:p>
            <a:r>
              <a:rPr lang="en-US" altLang="zh-TW" dirty="0"/>
              <a:t>The neighbor v has no evidence to validate that it is associated with d. For instance, miRNA 2 is a neighbor of 1 and 2 is not associated with d. As far as 2 is concerned, it is very little possibility that 1 is associated with d. At this time, the </a:t>
            </a:r>
            <a:r>
              <a:rPr lang="en-US" altLang="zh-TW" dirty="0" err="1"/>
              <a:t>subscore</a:t>
            </a:r>
            <a:r>
              <a:rPr lang="en-US" altLang="zh-TW" dirty="0"/>
              <a:t> of 2 is assigned to 0.</a:t>
            </a:r>
            <a:endParaRPr lang="zh-TW" altLang="en-US" dirty="0"/>
          </a:p>
        </p:txBody>
      </p:sp>
    </p:spTree>
    <p:extLst>
      <p:ext uri="{BB962C8B-B14F-4D97-AF65-F5344CB8AC3E}">
        <p14:creationId xmlns:p14="http://schemas.microsoft.com/office/powerpoint/2010/main" val="2871845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838200" y="432552"/>
            <a:ext cx="9188988" cy="833020"/>
          </a:xfrm>
        </p:spPr>
        <p:txBody>
          <a:bodyPr>
            <a:normAutofit/>
          </a:bodyPr>
          <a:lstStyle/>
          <a:p>
            <a:r>
              <a:rPr lang="en-US" altLang="zh-TW" sz="3200" dirty="0">
                <a:latin typeface="Times New Roman" panose="02020603050405020304" pitchFamily="18" charset="0"/>
                <a:cs typeface="Times New Roman" panose="02020603050405020304" pitchFamily="18" charset="0"/>
              </a:rPr>
              <a:t>Results</a:t>
            </a:r>
            <a:endParaRPr lang="zh-TW" altLang="en-US" sz="3200" dirty="0">
              <a:latin typeface="Times New Roman" panose="02020603050405020304" pitchFamily="18" charset="0"/>
              <a:cs typeface="Times New Roman" panose="02020603050405020304" pitchFamily="18" charset="0"/>
            </a:endParaRPr>
          </a:p>
        </p:txBody>
      </p:sp>
      <p:sp>
        <p:nvSpPr>
          <p:cNvPr id="4" name="投影片編號版面配置區 3">
            <a:extLst>
              <a:ext uri="{FF2B5EF4-FFF2-40B4-BE49-F238E27FC236}">
                <a16:creationId xmlns:a16="http://schemas.microsoft.com/office/drawing/2014/main" id="{EC242670-B200-4340-9830-52717E351455}"/>
              </a:ext>
            </a:extLst>
          </p:cNvPr>
          <p:cNvSpPr>
            <a:spLocks noGrp="1"/>
          </p:cNvSpPr>
          <p:nvPr>
            <p:ph type="sldNum" sz="quarter" idx="12"/>
          </p:nvPr>
        </p:nvSpPr>
        <p:spPr>
          <a:xfrm>
            <a:off x="8610600" y="6356350"/>
            <a:ext cx="2743200" cy="365125"/>
          </a:xfrm>
        </p:spPr>
        <p:txBody>
          <a:bodyPr/>
          <a:lstStyle/>
          <a:p>
            <a:fld id="{872633CA-77E0-4863-94F8-E28139DFB2B4}" type="slidenum">
              <a:rPr lang="zh-TW" altLang="en-US" smtClean="0"/>
              <a:t>12</a:t>
            </a:fld>
            <a:endParaRPr lang="zh-TW" altLang="en-US"/>
          </a:p>
        </p:txBody>
      </p:sp>
      <p:pic>
        <p:nvPicPr>
          <p:cNvPr id="5" name="內容版面配置區 4" descr="一張含有 螢幕擷取畫面 的圖片&#10;&#10;自動產生的描述">
            <a:extLst>
              <a:ext uri="{FF2B5EF4-FFF2-40B4-BE49-F238E27FC236}">
                <a16:creationId xmlns:a16="http://schemas.microsoft.com/office/drawing/2014/main" id="{44AAAFC7-AAEB-42FA-A879-4F70C1EAC2F0}"/>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174377" y="1028101"/>
            <a:ext cx="9502589" cy="5926669"/>
          </a:xfrm>
        </p:spPr>
      </p:pic>
    </p:spTree>
    <p:extLst>
      <p:ext uri="{BB962C8B-B14F-4D97-AF65-F5344CB8AC3E}">
        <p14:creationId xmlns:p14="http://schemas.microsoft.com/office/powerpoint/2010/main" val="4221497461"/>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8383</TotalTime>
  <Words>831</Words>
  <Application>Microsoft Office PowerPoint</Application>
  <PresentationFormat>寬螢幕</PresentationFormat>
  <Paragraphs>46</Paragraphs>
  <Slides>12</Slides>
  <Notes>11</Notes>
  <HiddenSlides>1</HiddenSlides>
  <MMClips>0</MMClips>
  <ScaleCrop>false</ScaleCrop>
  <HeadingPairs>
    <vt:vector size="6" baseType="variant">
      <vt:variant>
        <vt:lpstr>使用字型</vt:lpstr>
      </vt:variant>
      <vt:variant>
        <vt:i4>4</vt:i4>
      </vt:variant>
      <vt:variant>
        <vt:lpstr>佈景主題</vt:lpstr>
      </vt:variant>
      <vt:variant>
        <vt:i4>1</vt:i4>
      </vt:variant>
      <vt:variant>
        <vt:lpstr>投影片標題</vt:lpstr>
      </vt:variant>
      <vt:variant>
        <vt:i4>12</vt:i4>
      </vt:variant>
    </vt:vector>
  </HeadingPairs>
  <TitlesOfParts>
    <vt:vector size="17" baseType="lpstr">
      <vt:lpstr>Arial</vt:lpstr>
      <vt:lpstr>Calibri</vt:lpstr>
      <vt:lpstr>Calibri Light</vt:lpstr>
      <vt:lpstr>Times New Roman</vt:lpstr>
      <vt:lpstr>Office 佈景主題</vt:lpstr>
      <vt:lpstr>Prediction of microRNAs Associated with Human Diseases Based on Weighted k Most Similar Neighbors</vt:lpstr>
      <vt:lpstr>Abstract (1/2)</vt:lpstr>
      <vt:lpstr>Abstract (2/2)</vt:lpstr>
      <vt:lpstr>MiRNA functional similarity measurement</vt:lpstr>
      <vt:lpstr>MiRNA functional similarity measurement</vt:lpstr>
      <vt:lpstr>MiRNA functional similarity measurement</vt:lpstr>
      <vt:lpstr>MiRNA functional similarity measurement</vt:lpstr>
      <vt:lpstr>Assignment of weight based on miRNA families or clusters</vt:lpstr>
      <vt:lpstr>Assignment of weight based on miRNA families or clusters</vt:lpstr>
      <vt:lpstr>Assignment of weight based on miRNA families or clusters</vt:lpstr>
      <vt:lpstr>Assignment of weight based on miRNA families or clusters</vt:lpstr>
      <vt:lpstr>Results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 and Accurate Template Averaging for Time Series Classification</dc:title>
  <dc:creator>lu</dc:creator>
  <cp:lastModifiedBy>M073040026</cp:lastModifiedBy>
  <cp:revision>1761</cp:revision>
  <dcterms:created xsi:type="dcterms:W3CDTF">2018-10-30T09:09:31Z</dcterms:created>
  <dcterms:modified xsi:type="dcterms:W3CDTF">2020-03-03T10:30:24Z</dcterms:modified>
</cp:coreProperties>
</file>