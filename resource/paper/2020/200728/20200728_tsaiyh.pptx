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7" r:id="rId2"/>
    <p:sldId id="275" r:id="rId3"/>
    <p:sldId id="260" r:id="rId4"/>
    <p:sldId id="261" r:id="rId5"/>
    <p:sldId id="263" r:id="rId6"/>
    <p:sldId id="264" r:id="rId7"/>
    <p:sldId id="265" r:id="rId8"/>
    <p:sldId id="270" r:id="rId9"/>
    <p:sldId id="266" r:id="rId10"/>
    <p:sldId id="267" r:id="rId11"/>
    <p:sldId id="268" r:id="rId12"/>
    <p:sldId id="269" r:id="rId13"/>
    <p:sldId id="271" r:id="rId14"/>
    <p:sldId id="272" r:id="rId15"/>
    <p:sldId id="273" r:id="rId16"/>
    <p:sldId id="274" r:id="rId17"/>
    <p:sldId id="276" r:id="rId18"/>
    <p:sldId id="258" r:id="rId19"/>
    <p:sldId id="277" r:id="rId20"/>
    <p:sldId id="278" r:id="rId21"/>
    <p:sldId id="279" r:id="rId22"/>
    <p:sldId id="281" r:id="rId23"/>
    <p:sldId id="282" r:id="rId24"/>
    <p:sldId id="283" r:id="rId25"/>
    <p:sldId id="284" r:id="rId26"/>
    <p:sldId id="285" r:id="rId27"/>
    <p:sldId id="286" r:id="rId28"/>
    <p:sldId id="287" r:id="rId29"/>
    <p:sldId id="288" r:id="rId30"/>
    <p:sldId id="289" r:id="rId31"/>
    <p:sldId id="290" r:id="rId32"/>
    <p:sldId id="292" r:id="rId33"/>
    <p:sldId id="293" r:id="rId34"/>
    <p:sldId id="294" r:id="rId35"/>
    <p:sldId id="295" r:id="rId36"/>
    <p:sldId id="296" r:id="rId37"/>
    <p:sldId id="297" r:id="rId38"/>
    <p:sldId id="298" r:id="rId39"/>
    <p:sldId id="300" r:id="rId40"/>
    <p:sldId id="299"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4" r:id="rId54"/>
    <p:sldId id="315" r:id="rId5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2020/7/28</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2</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17</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18</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2020/7/28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2020/7/28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2020/7/28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2020/7/28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2020/7/28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2020/7/28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2020/7/28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2020/7/28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2020/7/28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2020/7/28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2020/7/28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2020/7/28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5.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8.wmf"/><Relationship Id="rId5" Type="http://schemas.openxmlformats.org/officeDocument/2006/relationships/oleObject" Target="../embeddings/oleObject7.bin"/><Relationship Id="rId4" Type="http://schemas.openxmlformats.org/officeDocument/2006/relationships/image" Target="../media/image7.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9.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0.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3104961"/>
            <a:ext cx="7890145" cy="649317"/>
          </a:xfrm>
        </p:spPr>
        <p:txBody>
          <a:bodyPr>
            <a:noAutofit/>
          </a:bodyPr>
          <a:lstStyle/>
          <a:p>
            <a:r>
              <a:rPr lang="en-US" altLang="zh-TW" sz="3200" dirty="0">
                <a:latin typeface="Times New Roman" pitchFamily="18" charset="0"/>
                <a:cs typeface="Times New Roman" pitchFamily="18" charset="0"/>
              </a:rPr>
              <a:t>An Improved Algorithm for Matching Biological Sequences</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969057"/>
            <a:ext cx="6858000" cy="425017"/>
          </a:xfrm>
        </p:spPr>
        <p:txBody>
          <a:bodyPr>
            <a:noAutofit/>
          </a:bodyPr>
          <a:lstStyle/>
          <a:p>
            <a:pPr fontAlgn="ctr"/>
            <a:r>
              <a:rPr lang="en-US" altLang="zh-TW" sz="2000" dirty="0">
                <a:solidFill>
                  <a:schemeClr val="tx1"/>
                </a:solidFill>
                <a:latin typeface="Times New Roman" pitchFamily="18" charset="0"/>
                <a:cs typeface="Times New Roman" pitchFamily="18" charset="0"/>
              </a:rPr>
              <a:t>Osamu </a:t>
            </a:r>
            <a:r>
              <a:rPr lang="en-US" altLang="zh-TW" sz="2000" dirty="0" err="1">
                <a:solidFill>
                  <a:schemeClr val="tx1"/>
                </a:solidFill>
                <a:latin typeface="Times New Roman" pitchFamily="18" charset="0"/>
                <a:cs typeface="Times New Roman" pitchFamily="18" charset="0"/>
              </a:rPr>
              <a:t>Gotoh</a:t>
            </a:r>
            <a:endParaRPr lang="en-US" altLang="zh-TW" dirty="0"/>
          </a:p>
        </p:txBody>
      </p:sp>
      <p:sp>
        <p:nvSpPr>
          <p:cNvPr id="8" name="文字方塊 7">
            <a:extLst>
              <a:ext uri="{FF2B5EF4-FFF2-40B4-BE49-F238E27FC236}">
                <a16:creationId xmlns:a16="http://schemas.microsoft.com/office/drawing/2014/main" id="{8F2527E8-BB8F-41FB-8AF1-03DCC96BC069}"/>
              </a:ext>
            </a:extLst>
          </p:cNvPr>
          <p:cNvSpPr txBox="1"/>
          <p:nvPr/>
        </p:nvSpPr>
        <p:spPr>
          <a:xfrm>
            <a:off x="2518308" y="4257089"/>
            <a:ext cx="4499950" cy="1908215"/>
          </a:xfrm>
          <a:prstGeom prst="rect">
            <a:avLst/>
          </a:prstGeom>
          <a:noFill/>
        </p:spPr>
        <p:txBody>
          <a:bodyPr wrap="none" rtlCol="0">
            <a:spAutoFit/>
          </a:bodyPr>
          <a:lstStyle/>
          <a:p>
            <a:pPr algn="ctr"/>
            <a:r>
              <a:rPr lang="en-US" sz="2400" dirty="0">
                <a:latin typeface="Times New Roman" panose="02020603050405020304" pitchFamily="18" charset="0"/>
                <a:cs typeface="Times New Roman" panose="02020603050405020304" pitchFamily="18" charset="0"/>
              </a:rPr>
              <a:t>Journal of Molecular Biology</a:t>
            </a:r>
          </a:p>
          <a:p>
            <a:pPr algn="ctr"/>
            <a:r>
              <a:rPr lang="en-US" sz="2400" dirty="0">
                <a:latin typeface="Times New Roman" panose="02020603050405020304" pitchFamily="18" charset="0"/>
                <a:cs typeface="Times New Roman" panose="02020603050405020304" pitchFamily="18" charset="0"/>
              </a:rPr>
              <a:t>Volume 162, Issue 3, </a:t>
            </a:r>
          </a:p>
          <a:p>
            <a:pPr algn="ctr"/>
            <a:r>
              <a:rPr lang="en-US" sz="2400" dirty="0">
                <a:latin typeface="Times New Roman" panose="02020603050405020304" pitchFamily="18" charset="0"/>
                <a:cs typeface="Times New Roman" panose="02020603050405020304" pitchFamily="18" charset="0"/>
              </a:rPr>
              <a:t>15 December 1982, Pages 705-708</a:t>
            </a:r>
          </a:p>
          <a:p>
            <a:pPr algn="ctr"/>
            <a:br>
              <a:rPr lang="en-US" sz="2400" dirty="0">
                <a:latin typeface="Times New Roman" panose="02020603050405020304" pitchFamily="18" charset="0"/>
                <a:cs typeface="Times New Roman" panose="02020603050405020304" pitchFamily="18" charset="0"/>
              </a:rPr>
            </a:br>
            <a:endParaRPr lang="en-US" altLang="zh-TW" sz="2200" dirty="0">
              <a:latin typeface="+mj-lt"/>
              <a:cs typeface="Times New Roman" pitchFamily="18" charset="0"/>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580112" y="574001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6207695"/>
            <a:ext cx="2593980"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July 28, 2020</a:t>
            </a:r>
            <a:endParaRPr lang="zh-TW" altLang="en-US" dirty="0"/>
          </a:p>
        </p:txBody>
      </p:sp>
      <p:sp>
        <p:nvSpPr>
          <p:cNvPr id="13" name="標題 1">
            <a:extLst>
              <a:ext uri="{FF2B5EF4-FFF2-40B4-BE49-F238E27FC236}">
                <a16:creationId xmlns:a16="http://schemas.microsoft.com/office/drawing/2014/main" id="{40B6A882-00D3-47EF-9E00-5F5448FB3E79}"/>
              </a:ext>
            </a:extLst>
          </p:cNvPr>
          <p:cNvSpPr txBox="1">
            <a:spLocks/>
          </p:cNvSpPr>
          <p:nvPr/>
        </p:nvSpPr>
        <p:spPr>
          <a:xfrm>
            <a:off x="251520" y="413956"/>
            <a:ext cx="8640959" cy="649317"/>
          </a:xfrm>
          <a:prstGeom prst="rect">
            <a:avLst/>
          </a:prstGeom>
        </p:spPr>
        <p:txBody>
          <a:bodyPr vert="horz" lIns="91440" tIns="45720" rIns="91440" bIns="45720" rtlCol="0" anchor="ctr">
            <a:noAutofit/>
          </a:bodyPr>
          <a:lstStyle/>
          <a:p>
            <a:pPr lvl="0" algn="ctr">
              <a:spcBef>
                <a:spcPct val="0"/>
              </a:spcBef>
            </a:pPr>
            <a:r>
              <a:rPr lang="en-US" altLang="zh-TW" sz="3200" dirty="0">
                <a:latin typeface="Times New Roman" pitchFamily="18" charset="0"/>
                <a:ea typeface="+mj-ea"/>
                <a:cs typeface="Times New Roman" pitchFamily="18" charset="0"/>
              </a:rPr>
              <a:t>Identification of Common Molecular Subsequences</a:t>
            </a:r>
          </a:p>
        </p:txBody>
      </p:sp>
      <p:sp>
        <p:nvSpPr>
          <p:cNvPr id="14" name="副標題 2">
            <a:extLst>
              <a:ext uri="{FF2B5EF4-FFF2-40B4-BE49-F238E27FC236}">
                <a16:creationId xmlns:a16="http://schemas.microsoft.com/office/drawing/2014/main" id="{7DA53B5D-3737-4D8B-A009-A9D02CAEE169}"/>
              </a:ext>
            </a:extLst>
          </p:cNvPr>
          <p:cNvSpPr txBox="1">
            <a:spLocks/>
          </p:cNvSpPr>
          <p:nvPr/>
        </p:nvSpPr>
        <p:spPr>
          <a:xfrm>
            <a:off x="1314400" y="1062028"/>
            <a:ext cx="6858000" cy="425017"/>
          </a:xfrm>
          <a:prstGeom prst="rect">
            <a:avLst/>
          </a:prstGeom>
        </p:spPr>
        <p:txBody>
          <a:bodyPr vert="horz" lIns="91440" tIns="45720" rIns="91440" bIns="45720" rtlCol="0">
            <a:noAutofit/>
          </a:bodyPr>
          <a:lstStyle/>
          <a:p>
            <a:pPr lvl="0" algn="ctr" fontAlgn="ctr">
              <a:spcBef>
                <a:spcPct val="20000"/>
              </a:spcBef>
            </a:pPr>
            <a:r>
              <a:rPr lang="en-US" altLang="zh-TW" sz="2000" dirty="0" err="1">
                <a:latin typeface="Times New Roman" pitchFamily="18" charset="0"/>
                <a:cs typeface="Times New Roman" pitchFamily="18" charset="0"/>
              </a:rPr>
              <a:t>T.F.Smith</a:t>
            </a:r>
            <a:r>
              <a:rPr lang="en-US" altLang="zh-TW" sz="2000" dirty="0">
                <a:latin typeface="Times New Roman" pitchFamily="18" charset="0"/>
                <a:cs typeface="Times New Roman" pitchFamily="18" charset="0"/>
              </a:rPr>
              <a:t> and </a:t>
            </a:r>
            <a:r>
              <a:rPr lang="en-US" altLang="zh-TW" sz="2000" dirty="0" err="1">
                <a:latin typeface="Times New Roman" pitchFamily="18" charset="0"/>
                <a:cs typeface="Times New Roman" pitchFamily="18" charset="0"/>
              </a:rPr>
              <a:t>M.S.Waterman</a:t>
            </a:r>
            <a:endParaRPr kumimoji="0" lang="en-US" altLang="zh-TW"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5" name="文字方塊 14">
            <a:extLst>
              <a:ext uri="{FF2B5EF4-FFF2-40B4-BE49-F238E27FC236}">
                <a16:creationId xmlns:a16="http://schemas.microsoft.com/office/drawing/2014/main" id="{8F2527E8-BB8F-41FB-8AF1-03DCC96BC069}"/>
              </a:ext>
            </a:extLst>
          </p:cNvPr>
          <p:cNvSpPr txBox="1"/>
          <p:nvPr/>
        </p:nvSpPr>
        <p:spPr>
          <a:xfrm>
            <a:off x="2736293" y="1458069"/>
            <a:ext cx="4039888" cy="1538883"/>
          </a:xfrm>
          <a:prstGeom prst="rect">
            <a:avLst/>
          </a:prstGeom>
          <a:noFill/>
        </p:spPr>
        <p:txBody>
          <a:bodyPr wrap="none" rtlCol="0">
            <a:spAutoFit/>
          </a:bodyPr>
          <a:lstStyle/>
          <a:p>
            <a:pPr algn="ctr"/>
            <a:r>
              <a:rPr lang="en-US" sz="2400" dirty="0">
                <a:latin typeface="Times New Roman" panose="02020603050405020304" pitchFamily="18" charset="0"/>
                <a:cs typeface="Times New Roman" panose="02020603050405020304" pitchFamily="18" charset="0"/>
              </a:rPr>
              <a:t>Journal of Molecular Biology</a:t>
            </a:r>
          </a:p>
          <a:p>
            <a:pPr algn="ctr"/>
            <a:r>
              <a:rPr lang="en-US" sz="2400" dirty="0">
                <a:latin typeface="Times New Roman" panose="02020603050405020304" pitchFamily="18" charset="0"/>
                <a:cs typeface="Times New Roman" panose="02020603050405020304" pitchFamily="18" charset="0"/>
              </a:rPr>
              <a:t>Volume 147, Issue 1, </a:t>
            </a:r>
          </a:p>
          <a:p>
            <a:pPr algn="ctr"/>
            <a:r>
              <a:rPr lang="en-US" sz="2400" dirty="0">
                <a:latin typeface="Times New Roman" panose="02020603050405020304" pitchFamily="18" charset="0"/>
                <a:cs typeface="Times New Roman" panose="02020603050405020304" pitchFamily="18" charset="0"/>
              </a:rPr>
              <a:t>25 March 1981, Pages 195-197</a:t>
            </a:r>
            <a:br>
              <a:rPr lang="en-US" sz="2400" dirty="0">
                <a:latin typeface="Times New Roman" panose="02020603050405020304" pitchFamily="18" charset="0"/>
                <a:cs typeface="Times New Roman" panose="02020603050405020304" pitchFamily="18" charset="0"/>
              </a:rPr>
            </a:br>
            <a:endParaRPr lang="en-US" altLang="zh-TW" sz="2200" dirty="0">
              <a:latin typeface="+mj-lt"/>
              <a:cs typeface="Times New Roman" pitchFamily="18" charset="0"/>
            </a:endParaRPr>
          </a:p>
        </p:txBody>
      </p:sp>
    </p:spTree>
    <p:extLst>
      <p:ext uri="{BB962C8B-B14F-4D97-AF65-F5344CB8AC3E}">
        <p14:creationId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字方塊 8">
            <a:extLst>
              <a:ext uri="{FF2B5EF4-FFF2-40B4-BE49-F238E27FC236}">
                <a16:creationId xmlns:a16="http://schemas.microsoft.com/office/drawing/2014/main" id="{6BC92671-3184-4146-A361-F82079153C2E}"/>
              </a:ext>
            </a:extLst>
          </p:cNvPr>
          <p:cNvSpPr txBox="1"/>
          <p:nvPr/>
        </p:nvSpPr>
        <p:spPr>
          <a:xfrm>
            <a:off x="5580112" y="574001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6207695"/>
            <a:ext cx="2593980"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July 28, 2020</a:t>
            </a:r>
            <a:endParaRPr lang="zh-TW" altLang="en-US" dirty="0"/>
          </a:p>
        </p:txBody>
      </p:sp>
      <p:sp>
        <p:nvSpPr>
          <p:cNvPr id="13" name="標題 1">
            <a:extLst>
              <a:ext uri="{FF2B5EF4-FFF2-40B4-BE49-F238E27FC236}">
                <a16:creationId xmlns:a16="http://schemas.microsoft.com/office/drawing/2014/main" id="{40B6A882-00D3-47EF-9E00-5F5448FB3E79}"/>
              </a:ext>
            </a:extLst>
          </p:cNvPr>
          <p:cNvSpPr txBox="1">
            <a:spLocks/>
          </p:cNvSpPr>
          <p:nvPr/>
        </p:nvSpPr>
        <p:spPr>
          <a:xfrm>
            <a:off x="251520" y="1782108"/>
            <a:ext cx="8640959" cy="649317"/>
          </a:xfrm>
          <a:prstGeom prst="rect">
            <a:avLst/>
          </a:prstGeom>
        </p:spPr>
        <p:txBody>
          <a:bodyPr vert="horz" lIns="91440" tIns="45720" rIns="91440" bIns="45720" rtlCol="0" anchor="ctr">
            <a:noAutofit/>
          </a:bodyPr>
          <a:lstStyle/>
          <a:p>
            <a:pPr lvl="0" algn="ctr">
              <a:spcBef>
                <a:spcPct val="0"/>
              </a:spcBef>
            </a:pPr>
            <a:r>
              <a:rPr lang="en-US" altLang="zh-TW" sz="3200" dirty="0">
                <a:latin typeface="Times New Roman" pitchFamily="18" charset="0"/>
                <a:ea typeface="+mj-ea"/>
                <a:cs typeface="Times New Roman" pitchFamily="18" charset="0"/>
              </a:rPr>
              <a:t>Identification of Common Molecular Subsequences</a:t>
            </a:r>
          </a:p>
        </p:txBody>
      </p:sp>
      <p:sp>
        <p:nvSpPr>
          <p:cNvPr id="14" name="副標題 2">
            <a:extLst>
              <a:ext uri="{FF2B5EF4-FFF2-40B4-BE49-F238E27FC236}">
                <a16:creationId xmlns:a16="http://schemas.microsoft.com/office/drawing/2014/main" id="{7DA53B5D-3737-4D8B-A009-A9D02CAEE169}"/>
              </a:ext>
            </a:extLst>
          </p:cNvPr>
          <p:cNvSpPr txBox="1">
            <a:spLocks/>
          </p:cNvSpPr>
          <p:nvPr/>
        </p:nvSpPr>
        <p:spPr>
          <a:xfrm>
            <a:off x="1314400" y="3140968"/>
            <a:ext cx="6858000" cy="425017"/>
          </a:xfrm>
          <a:prstGeom prst="rect">
            <a:avLst/>
          </a:prstGeom>
        </p:spPr>
        <p:txBody>
          <a:bodyPr vert="horz" lIns="91440" tIns="45720" rIns="91440" bIns="45720" rtlCol="0">
            <a:noAutofit/>
          </a:bodyPr>
          <a:lstStyle/>
          <a:p>
            <a:pPr lvl="0" algn="ctr" fontAlgn="ctr">
              <a:spcBef>
                <a:spcPct val="20000"/>
              </a:spcBef>
            </a:pPr>
            <a:r>
              <a:rPr lang="en-US" altLang="zh-TW" sz="2000" dirty="0" err="1">
                <a:latin typeface="Times New Roman" pitchFamily="18" charset="0"/>
                <a:cs typeface="Times New Roman" pitchFamily="18" charset="0"/>
              </a:rPr>
              <a:t>T.F.Smith</a:t>
            </a:r>
            <a:r>
              <a:rPr lang="en-US" altLang="zh-TW" sz="2000" dirty="0">
                <a:latin typeface="Times New Roman" pitchFamily="18" charset="0"/>
                <a:cs typeface="Times New Roman" pitchFamily="18" charset="0"/>
              </a:rPr>
              <a:t> and </a:t>
            </a:r>
            <a:r>
              <a:rPr lang="en-US" altLang="zh-TW" sz="2000" dirty="0" err="1">
                <a:latin typeface="Times New Roman" pitchFamily="18" charset="0"/>
                <a:cs typeface="Times New Roman" pitchFamily="18" charset="0"/>
              </a:rPr>
              <a:t>M.S.Waterman</a:t>
            </a:r>
            <a:endParaRPr kumimoji="0" lang="en-US" altLang="zh-TW"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5" name="文字方塊 14">
            <a:extLst>
              <a:ext uri="{FF2B5EF4-FFF2-40B4-BE49-F238E27FC236}">
                <a16:creationId xmlns:a16="http://schemas.microsoft.com/office/drawing/2014/main" id="{8F2527E8-BB8F-41FB-8AF1-03DCC96BC069}"/>
              </a:ext>
            </a:extLst>
          </p:cNvPr>
          <p:cNvSpPr txBox="1"/>
          <p:nvPr/>
        </p:nvSpPr>
        <p:spPr>
          <a:xfrm>
            <a:off x="2736293" y="4122365"/>
            <a:ext cx="4039888" cy="1538883"/>
          </a:xfrm>
          <a:prstGeom prst="rect">
            <a:avLst/>
          </a:prstGeom>
          <a:noFill/>
        </p:spPr>
        <p:txBody>
          <a:bodyPr wrap="none" rtlCol="0">
            <a:spAutoFit/>
          </a:bodyPr>
          <a:lstStyle/>
          <a:p>
            <a:pPr algn="ctr"/>
            <a:r>
              <a:rPr lang="en-US" sz="2400" dirty="0">
                <a:latin typeface="Times New Roman" panose="02020603050405020304" pitchFamily="18" charset="0"/>
                <a:cs typeface="Times New Roman" panose="02020603050405020304" pitchFamily="18" charset="0"/>
              </a:rPr>
              <a:t>Journal of Molecular Biology</a:t>
            </a:r>
          </a:p>
          <a:p>
            <a:pPr algn="ctr"/>
            <a:r>
              <a:rPr lang="en-US" sz="2400" dirty="0">
                <a:latin typeface="Times New Roman" panose="02020603050405020304" pitchFamily="18" charset="0"/>
                <a:cs typeface="Times New Roman" panose="02020603050405020304" pitchFamily="18" charset="0"/>
              </a:rPr>
              <a:t>Volume 147, Issue 1, </a:t>
            </a:r>
          </a:p>
          <a:p>
            <a:pPr algn="ctr"/>
            <a:r>
              <a:rPr lang="en-US" sz="2400" dirty="0">
                <a:latin typeface="Times New Roman" panose="02020603050405020304" pitchFamily="18" charset="0"/>
                <a:cs typeface="Times New Roman" panose="02020603050405020304" pitchFamily="18" charset="0"/>
              </a:rPr>
              <a:t>25 March 1981, Pages 195-197</a:t>
            </a:r>
            <a:br>
              <a:rPr lang="en-US" sz="2400" dirty="0">
                <a:latin typeface="Times New Roman" panose="02020603050405020304" pitchFamily="18" charset="0"/>
                <a:cs typeface="Times New Roman" panose="02020603050405020304" pitchFamily="18" charset="0"/>
              </a:rPr>
            </a:br>
            <a:endParaRPr lang="en-US" altLang="zh-TW" sz="2200" dirty="0">
              <a:latin typeface="+mj-lt"/>
              <a:cs typeface="Times New Roman" pitchFamily="18" charset="0"/>
            </a:endParaRPr>
          </a:p>
        </p:txBody>
      </p:sp>
    </p:spTree>
    <p:extLst>
      <p:ext uri="{BB962C8B-B14F-4D97-AF65-F5344CB8AC3E}">
        <p14:creationId xmlns:p14="http://schemas.microsoft.com/office/powerpoint/2010/main" val="3557049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a:latin typeface="Times New Roman" pitchFamily="18" charset="0"/>
                <a:ea typeface="標楷體" pitchFamily="65" charset="-120"/>
                <a:cs typeface="Times New Roman" pitchFamily="18" charset="0"/>
              </a:rPr>
              <a:t>There are four score in biology alignment</a:t>
            </a:r>
          </a:p>
          <a:p>
            <a:pPr lvl="1"/>
            <a:r>
              <a:rPr lang="en-US" altLang="zh-TW" dirty="0">
                <a:latin typeface="Times New Roman" pitchFamily="18" charset="0"/>
                <a:ea typeface="標楷體" pitchFamily="65" charset="-120"/>
                <a:cs typeface="Times New Roman" pitchFamily="18" charset="0"/>
              </a:rPr>
              <a:t>Match</a:t>
            </a:r>
          </a:p>
          <a:p>
            <a:pPr lvl="1"/>
            <a:r>
              <a:rPr lang="en-US" altLang="zh-TW" dirty="0">
                <a:latin typeface="Times New Roman" pitchFamily="18" charset="0"/>
                <a:ea typeface="標楷體" pitchFamily="65" charset="-120"/>
                <a:cs typeface="Times New Roman" pitchFamily="18" charset="0"/>
              </a:rPr>
              <a:t>Mismatch</a:t>
            </a:r>
          </a:p>
          <a:p>
            <a:pPr lvl="1"/>
            <a:r>
              <a:rPr lang="en-US" altLang="zh-TW" dirty="0">
                <a:latin typeface="Times New Roman" pitchFamily="18" charset="0"/>
                <a:ea typeface="標楷體" pitchFamily="65" charset="-120"/>
                <a:cs typeface="Times New Roman" pitchFamily="18" charset="0"/>
              </a:rPr>
              <a:t>Gap opening</a:t>
            </a:r>
          </a:p>
          <a:p>
            <a:pPr lvl="1"/>
            <a:r>
              <a:rPr lang="en-US" altLang="zh-TW" dirty="0">
                <a:latin typeface="Times New Roman" pitchFamily="18" charset="0"/>
                <a:ea typeface="標楷體" pitchFamily="65" charset="-120"/>
                <a:cs typeface="Times New Roman" pitchFamily="18" charset="0"/>
              </a:rPr>
              <a:t>Gap extension</a:t>
            </a:r>
          </a:p>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pic>
        <p:nvPicPr>
          <p:cNvPr id="30722" name="Picture 2" descr="C:\Users\阿修\Desktop\meeting論文\20200630\Smith-Waterman-Algorithm-Example.gif"/>
          <p:cNvPicPr>
            <a:picLocks noChangeAspect="1" noChangeArrowheads="1" noCrop="1"/>
          </p:cNvPicPr>
          <p:nvPr/>
        </p:nvPicPr>
        <p:blipFill>
          <a:blip r:embed="rId2" cstate="print"/>
          <a:srcRect/>
          <a:stretch>
            <a:fillRect/>
          </a:stretch>
        </p:blipFill>
        <p:spPr bwMode="auto">
          <a:xfrm>
            <a:off x="5004048" y="908720"/>
            <a:ext cx="3744416" cy="5991065"/>
          </a:xfrm>
          <a:prstGeom prst="rect">
            <a:avLst/>
          </a:prstGeom>
          <a:noFill/>
        </p:spPr>
      </p:pic>
      <p:pic>
        <p:nvPicPr>
          <p:cNvPr id="5" name="圖片 4" descr="Smith-Waterman-Algorithm-Example.bmp"/>
          <p:cNvPicPr>
            <a:picLocks noChangeAspect="1"/>
          </p:cNvPicPr>
          <p:nvPr/>
        </p:nvPicPr>
        <p:blipFill>
          <a:blip r:embed="rId3" cstate="print"/>
          <a:stretch>
            <a:fillRect/>
          </a:stretch>
        </p:blipFill>
        <p:spPr>
          <a:xfrm>
            <a:off x="899592" y="908720"/>
            <a:ext cx="3744416" cy="599106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ea typeface="標楷體" pitchFamily="65" charset="-120"/>
                <a:cs typeface="Times New Roman" pitchFamily="18" charset="0"/>
              </a:rPr>
              <a:t>Algorithm</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a:xfrm>
            <a:off x="457200" y="1124744"/>
            <a:ext cx="8229600" cy="4813995"/>
          </a:xfrm>
        </p:spPr>
        <p:txBody>
          <a:bodyPr/>
          <a:lstStyle/>
          <a:p>
            <a:r>
              <a:rPr lang="en-US" altLang="zh-TW" dirty="0">
                <a:latin typeface="Times New Roman" pitchFamily="18" charset="0"/>
                <a:ea typeface="標楷體" pitchFamily="65" charset="-120"/>
                <a:cs typeface="Times New Roman" pitchFamily="18" charset="0"/>
              </a:rPr>
              <a:t>Do not use gap </a:t>
            </a:r>
            <a:r>
              <a:rPr lang="en-US" altLang="zh-TW" dirty="0" err="1">
                <a:latin typeface="Times New Roman" pitchFamily="18" charset="0"/>
                <a:ea typeface="標楷體" pitchFamily="65" charset="-120"/>
                <a:cs typeface="Times New Roman" pitchFamily="18" charset="0"/>
              </a:rPr>
              <a:t>extesion</a:t>
            </a:r>
            <a:endParaRPr lang="en-US" altLang="zh-TW" dirty="0">
              <a:latin typeface="Times New Roman" pitchFamily="18" charset="0"/>
              <a:ea typeface="標楷體" pitchFamily="65" charset="-120"/>
              <a:cs typeface="Times New Roman" pitchFamily="18" charset="0"/>
            </a:endParaRPr>
          </a:p>
          <a:p>
            <a:endParaRPr lang="en-US" altLang="zh-TW" dirty="0">
              <a:latin typeface="Times New Roman" pitchFamily="18" charset="0"/>
              <a:ea typeface="標楷體" pitchFamily="65" charset="-120"/>
              <a:cs typeface="Times New Roman" pitchFamily="18" charset="0"/>
            </a:endParaRPr>
          </a:p>
          <a:p>
            <a:endParaRPr lang="en-US" altLang="zh-TW" dirty="0">
              <a:latin typeface="Times New Roman" pitchFamily="18" charset="0"/>
              <a:ea typeface="標楷體" pitchFamily="65" charset="-120"/>
              <a:cs typeface="Times New Roman" pitchFamily="18" charset="0"/>
            </a:endParaRPr>
          </a:p>
          <a:p>
            <a:pPr>
              <a:buNone/>
            </a:pPr>
            <a:endParaRPr lang="en-US" altLang="zh-TW" dirty="0">
              <a:latin typeface="Times New Roman" pitchFamily="18" charset="0"/>
              <a:ea typeface="標楷體" pitchFamily="65" charset="-120"/>
              <a:cs typeface="Times New Roman" pitchFamily="18" charset="0"/>
            </a:endParaRPr>
          </a:p>
          <a:p>
            <a:pPr>
              <a:buNone/>
            </a:pPr>
            <a:endParaRPr lang="en-US" altLang="zh-TW" sz="1000" dirty="0">
              <a:latin typeface="Times New Roman" pitchFamily="18" charset="0"/>
              <a:ea typeface="標楷體" pitchFamily="65" charset="-120"/>
              <a:cs typeface="Times New Roman" pitchFamily="18" charset="0"/>
            </a:endParaRPr>
          </a:p>
          <a:p>
            <a:r>
              <a:rPr lang="en-US" altLang="zh-TW" dirty="0">
                <a:latin typeface="Times New Roman" pitchFamily="18" charset="0"/>
                <a:ea typeface="標楷體" pitchFamily="65" charset="-120"/>
                <a:cs typeface="Times New Roman" pitchFamily="18" charset="0"/>
              </a:rPr>
              <a:t>Use gap extension</a:t>
            </a:r>
          </a:p>
        </p:txBody>
      </p:sp>
      <p:graphicFrame>
        <p:nvGraphicFramePr>
          <p:cNvPr id="31747" name="Object 3"/>
          <p:cNvGraphicFramePr>
            <a:graphicFrameLocks noChangeAspect="1"/>
          </p:cNvGraphicFramePr>
          <p:nvPr/>
        </p:nvGraphicFramePr>
        <p:xfrm>
          <a:off x="1547664" y="1700808"/>
          <a:ext cx="4359275" cy="1944688"/>
        </p:xfrm>
        <a:graphic>
          <a:graphicData uri="http://schemas.openxmlformats.org/presentationml/2006/ole">
            <mc:AlternateContent xmlns:mc="http://schemas.openxmlformats.org/markup-compatibility/2006">
              <mc:Choice xmlns:v="urn:schemas-microsoft-com:vml" Requires="v">
                <p:oleObj spid="_x0000_s31749" name="Equation" r:id="rId3" imgW="1879560" imgH="838080" progId="Equation.DSMT4">
                  <p:embed/>
                </p:oleObj>
              </mc:Choice>
              <mc:Fallback>
                <p:oleObj name="Equation" r:id="rId3" imgW="1879560" imgH="83808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1700808"/>
                        <a:ext cx="4359275"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48" name="Object 4"/>
          <p:cNvGraphicFramePr>
            <a:graphicFrameLocks noChangeAspect="1"/>
          </p:cNvGraphicFramePr>
          <p:nvPr/>
        </p:nvGraphicFramePr>
        <p:xfrm>
          <a:off x="1580877" y="4365104"/>
          <a:ext cx="4359275" cy="2239962"/>
        </p:xfrm>
        <a:graphic>
          <a:graphicData uri="http://schemas.openxmlformats.org/presentationml/2006/ole">
            <mc:AlternateContent xmlns:mc="http://schemas.openxmlformats.org/markup-compatibility/2006">
              <mc:Choice xmlns:v="urn:schemas-microsoft-com:vml" Requires="v">
                <p:oleObj spid="_x0000_s31750" name="Equation" r:id="rId5" imgW="1879560" imgH="965160" progId="Equation.DSMT4">
                  <p:embed/>
                </p:oleObj>
              </mc:Choice>
              <mc:Fallback>
                <p:oleObj name="Equation" r:id="rId5" imgW="1879560" imgH="96516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0877" y="4365104"/>
                        <a:ext cx="4359275" cy="2239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3131840" y="2492896"/>
            <a:ext cx="576064" cy="50405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rgbClr val="FF0000"/>
                          </a:solidFill>
                          <a:latin typeface="Times New Roman" pitchFamily="18" charset="0"/>
                          <a:cs typeface="Times New Roman" pitchFamily="18" charset="0"/>
                        </a:rPr>
                        <a:t>1-4</a:t>
                      </a:r>
                      <a:endParaRPr lang="zh-TW" altLang="en-US" sz="3200" dirty="0">
                        <a:solidFill>
                          <a:srgbClr val="FF0000"/>
                        </a:solidFill>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4283968" y="2996952"/>
            <a:ext cx="648072"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rgbClr val="FF0000"/>
                          </a:solidFill>
                          <a:latin typeface="Times New Roman" pitchFamily="18" charset="0"/>
                          <a:cs typeface="Times New Roman" pitchFamily="18" charset="0"/>
                        </a:rPr>
                        <a:t>1-5</a:t>
                      </a:r>
                      <a:endParaRPr lang="zh-TW" altLang="en-US" sz="3200" dirty="0">
                        <a:solidFill>
                          <a:srgbClr val="FF0000"/>
                        </a:solidFill>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10" name="直線單箭頭接點 9"/>
          <p:cNvCxnSpPr/>
          <p:nvPr/>
        </p:nvCxnSpPr>
        <p:spPr>
          <a:xfrm>
            <a:off x="4211960" y="2996952"/>
            <a:ext cx="1944216"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chemeClr val="tx1"/>
                          </a:solidFill>
                          <a:latin typeface="Times New Roman" pitchFamily="18" charset="0"/>
                          <a:cs typeface="Times New Roman" pitchFamily="18" charset="0"/>
                        </a:rPr>
                        <a:t>-4</a:t>
                      </a:r>
                      <a:endParaRPr lang="zh-TW" altLang="en-US" sz="3200" dirty="0">
                        <a:solidFill>
                          <a:schemeClr val="tx1"/>
                        </a:solidFill>
                        <a:latin typeface="Times New Roman" pitchFamily="18" charset="0"/>
                        <a:cs typeface="Times New Roman" pitchFamily="18" charset="0"/>
                      </a:endParaRPr>
                    </a:p>
                  </a:txBody>
                  <a:tcPr/>
                </a:tc>
                <a:tc>
                  <a:txBody>
                    <a:bodyPr/>
                    <a:lstStyle/>
                    <a:p>
                      <a:pPr algn="ctr"/>
                      <a:r>
                        <a:rPr lang="en-US" altLang="zh-TW" sz="3200" dirty="0">
                          <a:solidFill>
                            <a:srgbClr val="FF0000"/>
                          </a:solidFill>
                          <a:latin typeface="Times New Roman" pitchFamily="18" charset="0"/>
                          <a:cs typeface="Times New Roman" pitchFamily="18" charset="0"/>
                        </a:rPr>
                        <a:t>1-6</a:t>
                      </a:r>
                      <a:endParaRPr lang="zh-TW" altLang="en-US" sz="3200" dirty="0">
                        <a:solidFill>
                          <a:srgbClr val="FF0000"/>
                        </a:solidFill>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4427984" y="2996952"/>
            <a:ext cx="3024336"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chemeClr val="tx1"/>
                          </a:solidFill>
                          <a:latin typeface="Times New Roman" pitchFamily="18" charset="0"/>
                          <a:cs typeface="Times New Roman" pitchFamily="18" charset="0"/>
                        </a:rPr>
                        <a:t>-4</a:t>
                      </a:r>
                      <a:endParaRPr lang="zh-TW" altLang="en-US" sz="3200" dirty="0">
                        <a:solidFill>
                          <a:schemeClr val="tx1"/>
                        </a:solidFill>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4283968" y="3068960"/>
            <a:ext cx="0" cy="72008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chemeClr val="tx1"/>
                          </a:solidFill>
                          <a:latin typeface="Times New Roman" pitchFamily="18" charset="0"/>
                          <a:cs typeface="Times New Roman" pitchFamily="18" charset="0"/>
                        </a:rPr>
                        <a:t>-4</a:t>
                      </a:r>
                      <a:endParaRPr lang="zh-TW" altLang="en-US" sz="3200" dirty="0">
                        <a:solidFill>
                          <a:schemeClr val="tx1"/>
                        </a:solidFill>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4355976" y="3284984"/>
            <a:ext cx="576064" cy="43204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chemeClr val="tx1"/>
                          </a:solidFill>
                          <a:latin typeface="Times New Roman" pitchFamily="18" charset="0"/>
                          <a:cs typeface="Times New Roman" pitchFamily="18" charset="0"/>
                        </a:rPr>
                        <a:t>-4</a:t>
                      </a:r>
                      <a:endParaRPr lang="zh-TW" altLang="en-US" sz="3200" dirty="0">
                        <a:solidFill>
                          <a:schemeClr val="tx1"/>
                        </a:solidFill>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6948264" y="3284984"/>
            <a:ext cx="504056" cy="43204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chemeClr val="tx1"/>
                          </a:solidFill>
                          <a:latin typeface="Times New Roman" pitchFamily="18" charset="0"/>
                          <a:cs typeface="Times New Roman" pitchFamily="18" charset="0"/>
                        </a:rPr>
                        <a:t>-4</a:t>
                      </a:r>
                      <a:endParaRPr lang="zh-TW" altLang="en-US" sz="3200" dirty="0">
                        <a:solidFill>
                          <a:schemeClr val="tx1"/>
                        </a:solidFill>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-9</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4283968" y="3212976"/>
            <a:ext cx="0" cy="122413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chemeClr val="tx1"/>
                          </a:solidFill>
                          <a:latin typeface="Times New Roman" pitchFamily="18" charset="0"/>
                          <a:cs typeface="Times New Roman" pitchFamily="18" charset="0"/>
                        </a:rPr>
                        <a:t>-4</a:t>
                      </a:r>
                      <a:endParaRPr lang="zh-TW" altLang="en-US" sz="3200" dirty="0">
                        <a:solidFill>
                          <a:schemeClr val="tx1"/>
                        </a:solidFill>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-9</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-9</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chemeClr val="tx1"/>
                          </a:solidFill>
                          <a:latin typeface="Times New Roman" pitchFamily="18" charset="0"/>
                          <a:cs typeface="Times New Roman" pitchFamily="18" charset="0"/>
                        </a:rPr>
                        <a:t>-4</a:t>
                      </a:r>
                      <a:endParaRPr lang="zh-TW" altLang="en-US" sz="3200" dirty="0">
                        <a:solidFill>
                          <a:schemeClr val="tx1"/>
                        </a:solidFill>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-9</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-9</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6876256" y="5301208"/>
            <a:ext cx="576064" cy="43204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a:off x="4355976" y="3068960"/>
            <a:ext cx="0" cy="273630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268760"/>
            <a:ext cx="7890145" cy="649317"/>
          </a:xfrm>
        </p:spPr>
        <p:txBody>
          <a:bodyPr>
            <a:noAutofit/>
          </a:bodyPr>
          <a:lstStyle/>
          <a:p>
            <a:r>
              <a:rPr lang="en-US" altLang="zh-TW" sz="3200" dirty="0">
                <a:latin typeface="Times New Roman" pitchFamily="18" charset="0"/>
                <a:cs typeface="Times New Roman" pitchFamily="18" charset="0"/>
              </a:rPr>
              <a:t>An Improved Algorithm for Matching Biological Sequences</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2852936"/>
            <a:ext cx="6858000" cy="425017"/>
          </a:xfrm>
        </p:spPr>
        <p:txBody>
          <a:bodyPr>
            <a:noAutofit/>
          </a:bodyPr>
          <a:lstStyle/>
          <a:p>
            <a:pPr fontAlgn="ctr"/>
            <a:r>
              <a:rPr lang="en-US" altLang="zh-TW" sz="2000" dirty="0">
                <a:solidFill>
                  <a:schemeClr val="tx1"/>
                </a:solidFill>
                <a:latin typeface="Times New Roman" pitchFamily="18" charset="0"/>
                <a:cs typeface="Times New Roman" pitchFamily="18" charset="0"/>
              </a:rPr>
              <a:t>Osamu </a:t>
            </a:r>
            <a:r>
              <a:rPr lang="en-US" altLang="zh-TW" sz="2000" dirty="0" err="1">
                <a:solidFill>
                  <a:schemeClr val="tx1"/>
                </a:solidFill>
                <a:latin typeface="Times New Roman" pitchFamily="18" charset="0"/>
                <a:cs typeface="Times New Roman" pitchFamily="18" charset="0"/>
              </a:rPr>
              <a:t>Gotoh</a:t>
            </a:r>
            <a:endParaRPr lang="en-US" altLang="zh-TW" dirty="0"/>
          </a:p>
        </p:txBody>
      </p:sp>
      <p:sp>
        <p:nvSpPr>
          <p:cNvPr id="8" name="文字方塊 7">
            <a:extLst>
              <a:ext uri="{FF2B5EF4-FFF2-40B4-BE49-F238E27FC236}">
                <a16:creationId xmlns:a16="http://schemas.microsoft.com/office/drawing/2014/main" id="{8F2527E8-BB8F-41FB-8AF1-03DCC96BC069}"/>
              </a:ext>
            </a:extLst>
          </p:cNvPr>
          <p:cNvSpPr txBox="1"/>
          <p:nvPr/>
        </p:nvSpPr>
        <p:spPr>
          <a:xfrm>
            <a:off x="2518308" y="3681025"/>
            <a:ext cx="4499950" cy="1908215"/>
          </a:xfrm>
          <a:prstGeom prst="rect">
            <a:avLst/>
          </a:prstGeom>
          <a:noFill/>
        </p:spPr>
        <p:txBody>
          <a:bodyPr wrap="none" rtlCol="0">
            <a:spAutoFit/>
          </a:bodyPr>
          <a:lstStyle/>
          <a:p>
            <a:pPr algn="ctr"/>
            <a:r>
              <a:rPr lang="en-US" sz="2400" dirty="0">
                <a:latin typeface="Times New Roman" panose="02020603050405020304" pitchFamily="18" charset="0"/>
                <a:cs typeface="Times New Roman" panose="02020603050405020304" pitchFamily="18" charset="0"/>
              </a:rPr>
              <a:t>Journal of Molecular Biology</a:t>
            </a:r>
          </a:p>
          <a:p>
            <a:pPr algn="ctr"/>
            <a:r>
              <a:rPr lang="en-US" sz="2400" dirty="0">
                <a:latin typeface="Times New Roman" panose="02020603050405020304" pitchFamily="18" charset="0"/>
                <a:cs typeface="Times New Roman" panose="02020603050405020304" pitchFamily="18" charset="0"/>
              </a:rPr>
              <a:t>Volume 162, Issue 3, </a:t>
            </a:r>
          </a:p>
          <a:p>
            <a:pPr algn="ctr"/>
            <a:r>
              <a:rPr lang="en-US" sz="2400" dirty="0">
                <a:latin typeface="Times New Roman" panose="02020603050405020304" pitchFamily="18" charset="0"/>
                <a:cs typeface="Times New Roman" panose="02020603050405020304" pitchFamily="18" charset="0"/>
              </a:rPr>
              <a:t>15 December 1982, Pages 705-708</a:t>
            </a:r>
          </a:p>
          <a:p>
            <a:pPr algn="ctr"/>
            <a:br>
              <a:rPr lang="en-US" sz="2400" dirty="0">
                <a:latin typeface="Times New Roman" panose="02020603050405020304" pitchFamily="18" charset="0"/>
                <a:cs typeface="Times New Roman" panose="02020603050405020304" pitchFamily="18" charset="0"/>
              </a:rPr>
            </a:br>
            <a:endParaRPr lang="en-US" altLang="zh-TW" sz="2200" dirty="0">
              <a:latin typeface="+mj-lt"/>
              <a:cs typeface="Times New Roman" pitchFamily="18" charset="0"/>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580112" y="574001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6207695"/>
            <a:ext cx="2593980"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July 28, 2020</a:t>
            </a:r>
            <a:endParaRPr lang="zh-TW" altLang="en-US" dirty="0"/>
          </a:p>
        </p:txBody>
      </p:sp>
    </p:spTree>
    <p:extLst>
      <p:ext uri="{BB962C8B-B14F-4D97-AF65-F5344CB8AC3E}">
        <p14:creationId xmlns:p14="http://schemas.microsoft.com/office/powerpoint/2010/main" val="3557049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17647"/>
            <a:ext cx="9004993" cy="5347657"/>
          </a:xfrm>
        </p:spPr>
        <p:txBody>
          <a:bodyPr>
            <a:noAutofit/>
          </a:bodyPr>
          <a:lstStyle/>
          <a:p>
            <a:pPr marL="0" indent="0">
              <a:lnSpc>
                <a:spcPts val="3200"/>
              </a:lnSpc>
              <a:buNone/>
            </a:pPr>
            <a:r>
              <a:rPr lang="en-US" altLang="zh-TW" sz="2800" dirty="0">
                <a:latin typeface="Times New Roman" pitchFamily="18" charset="0"/>
                <a:cs typeface="Times New Roman" pitchFamily="18" charset="0"/>
              </a:rPr>
              <a:t>The algorithm of Waterman et al. (1976) for matching biological sequences was modified under some limitations to be accomplished in essentially </a:t>
            </a:r>
            <a:r>
              <a:rPr lang="en-US" altLang="zh-TW" sz="2800" i="1" dirty="0">
                <a:latin typeface="Times New Roman" pitchFamily="18" charset="0"/>
                <a:cs typeface="Times New Roman" pitchFamily="18" charset="0"/>
              </a:rPr>
              <a:t>MN</a:t>
            </a:r>
            <a:r>
              <a:rPr lang="en-US" altLang="zh-TW" sz="2800" dirty="0">
                <a:latin typeface="Times New Roman" pitchFamily="18" charset="0"/>
                <a:cs typeface="Times New Roman" pitchFamily="18" charset="0"/>
              </a:rPr>
              <a:t> steps, instead of the </a:t>
            </a:r>
            <a:r>
              <a:rPr lang="en-US" altLang="zh-TW" sz="2800" i="1" dirty="0">
                <a:latin typeface="Times New Roman" pitchFamily="18" charset="0"/>
                <a:cs typeface="Times New Roman" pitchFamily="18" charset="0"/>
              </a:rPr>
              <a:t>M</a:t>
            </a:r>
            <a:r>
              <a:rPr lang="en-US" altLang="zh-TW" sz="2800" baseline="30000" dirty="0">
                <a:latin typeface="Times New Roman" pitchFamily="18" charset="0"/>
                <a:cs typeface="Times New Roman" pitchFamily="18" charset="0"/>
              </a:rPr>
              <a:t>2</a:t>
            </a:r>
            <a:r>
              <a:rPr lang="en-US" altLang="zh-TW" sz="2800" i="1" dirty="0">
                <a:latin typeface="Times New Roman" pitchFamily="18" charset="0"/>
                <a:cs typeface="Times New Roman" pitchFamily="18" charset="0"/>
              </a:rPr>
              <a:t>N</a:t>
            </a:r>
            <a:r>
              <a:rPr lang="en-US" altLang="zh-TW" sz="2800" dirty="0">
                <a:latin typeface="Times New Roman" pitchFamily="18" charset="0"/>
                <a:cs typeface="Times New Roman" pitchFamily="18" charset="0"/>
              </a:rPr>
              <a:t> steps necessary in the original algorithm. The limitations do not seriously reduce the generality of the original method, and the present method is available for most practical uses. The algorithm can be executed on a small computer with a limited capacity of core memory.</a:t>
            </a:r>
          </a:p>
          <a:p>
            <a:pPr marL="0" indent="0">
              <a:lnSpc>
                <a:spcPts val="3200"/>
              </a:lnSpc>
              <a:buNone/>
            </a:pP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ea typeface="標楷體" pitchFamily="65" charset="-120"/>
                <a:cs typeface="Times New Roman" pitchFamily="18" charset="0"/>
              </a:rPr>
              <a:t>Algorithm</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a:xfrm>
            <a:off x="457200" y="1124744"/>
            <a:ext cx="8229600" cy="4813995"/>
          </a:xfrm>
        </p:spPr>
        <p:txBody>
          <a:bodyPr/>
          <a:lstStyle/>
          <a:p>
            <a:r>
              <a:rPr lang="en-US" altLang="zh-TW" dirty="0">
                <a:latin typeface="Times New Roman" pitchFamily="18" charset="0"/>
                <a:ea typeface="標楷體" pitchFamily="65" charset="-120"/>
                <a:cs typeface="Times New Roman" pitchFamily="18" charset="0"/>
              </a:rPr>
              <a:t>Smith-Waterman</a:t>
            </a:r>
          </a:p>
          <a:p>
            <a:endParaRPr lang="en-US" altLang="zh-TW" dirty="0">
              <a:latin typeface="Times New Roman" pitchFamily="18" charset="0"/>
              <a:ea typeface="標楷體" pitchFamily="65" charset="-120"/>
              <a:cs typeface="Times New Roman" pitchFamily="18" charset="0"/>
            </a:endParaRPr>
          </a:p>
          <a:p>
            <a:endParaRPr lang="en-US" altLang="zh-TW" dirty="0">
              <a:latin typeface="Times New Roman" pitchFamily="18" charset="0"/>
              <a:ea typeface="標楷體" pitchFamily="65" charset="-120"/>
              <a:cs typeface="Times New Roman" pitchFamily="18" charset="0"/>
            </a:endParaRPr>
          </a:p>
          <a:p>
            <a:endParaRPr lang="en-US" altLang="zh-TW" dirty="0">
              <a:latin typeface="Times New Roman" pitchFamily="18" charset="0"/>
              <a:ea typeface="標楷體" pitchFamily="65" charset="-120"/>
              <a:cs typeface="Times New Roman" pitchFamily="18" charset="0"/>
            </a:endParaRPr>
          </a:p>
          <a:p>
            <a:pPr>
              <a:buNone/>
            </a:pPr>
            <a:endParaRPr lang="en-US" altLang="zh-TW" dirty="0">
              <a:latin typeface="Times New Roman" pitchFamily="18" charset="0"/>
              <a:ea typeface="標楷體" pitchFamily="65" charset="-120"/>
              <a:cs typeface="Times New Roman" pitchFamily="18" charset="0"/>
            </a:endParaRPr>
          </a:p>
          <a:p>
            <a:r>
              <a:rPr lang="en-US" altLang="zh-TW" dirty="0" err="1">
                <a:latin typeface="Times New Roman" pitchFamily="18" charset="0"/>
                <a:ea typeface="標楷體" pitchFamily="65" charset="-120"/>
                <a:cs typeface="Times New Roman" pitchFamily="18" charset="0"/>
              </a:rPr>
              <a:t>Gotoh</a:t>
            </a:r>
            <a:endParaRPr lang="en-US" altLang="zh-TW" dirty="0">
              <a:latin typeface="Times New Roman" pitchFamily="18" charset="0"/>
              <a:ea typeface="標楷體" pitchFamily="65" charset="-120"/>
              <a:cs typeface="Times New Roman" pitchFamily="18" charset="0"/>
            </a:endParaRPr>
          </a:p>
        </p:txBody>
      </p:sp>
      <p:graphicFrame>
        <p:nvGraphicFramePr>
          <p:cNvPr id="31747" name="Object 3"/>
          <p:cNvGraphicFramePr>
            <a:graphicFrameLocks noChangeAspect="1"/>
          </p:cNvGraphicFramePr>
          <p:nvPr/>
        </p:nvGraphicFramePr>
        <p:xfrm>
          <a:off x="755650" y="4365625"/>
          <a:ext cx="4518025" cy="2016125"/>
        </p:xfrm>
        <a:graphic>
          <a:graphicData uri="http://schemas.openxmlformats.org/presentationml/2006/ole">
            <mc:AlternateContent xmlns:mc="http://schemas.openxmlformats.org/markup-compatibility/2006">
              <mc:Choice xmlns:v="urn:schemas-microsoft-com:vml" Requires="v">
                <p:oleObj spid="_x0000_s32773" name="Equation" r:id="rId3" imgW="1879560" imgH="838080" progId="Equation.DSMT4">
                  <p:embed/>
                </p:oleObj>
              </mc:Choice>
              <mc:Fallback>
                <p:oleObj name="Equation" r:id="rId3" imgW="1879560" imgH="83808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4365625"/>
                        <a:ext cx="4518025"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48" name="Object 4"/>
          <p:cNvGraphicFramePr>
            <a:graphicFrameLocks noChangeAspect="1"/>
          </p:cNvGraphicFramePr>
          <p:nvPr/>
        </p:nvGraphicFramePr>
        <p:xfrm>
          <a:off x="827584" y="1556792"/>
          <a:ext cx="4359275" cy="2239962"/>
        </p:xfrm>
        <a:graphic>
          <a:graphicData uri="http://schemas.openxmlformats.org/presentationml/2006/ole">
            <mc:AlternateContent xmlns:mc="http://schemas.openxmlformats.org/markup-compatibility/2006">
              <mc:Choice xmlns:v="urn:schemas-microsoft-com:vml" Requires="v">
                <p:oleObj spid="_x0000_s32774" name="Equation" r:id="rId5" imgW="1879560" imgH="965160" progId="Equation.DSMT4">
                  <p:embed/>
                </p:oleObj>
              </mc:Choice>
              <mc:Fallback>
                <p:oleObj name="Equation" r:id="rId5" imgW="1879560" imgH="96516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584" y="1556792"/>
                        <a:ext cx="4359275" cy="2239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72" name="Object 4"/>
          <p:cNvGraphicFramePr>
            <a:graphicFrameLocks noChangeAspect="1"/>
          </p:cNvGraphicFramePr>
          <p:nvPr/>
        </p:nvGraphicFramePr>
        <p:xfrm>
          <a:off x="5494338" y="4652963"/>
          <a:ext cx="3573462" cy="1612900"/>
        </p:xfrm>
        <a:graphic>
          <a:graphicData uri="http://schemas.openxmlformats.org/presentationml/2006/ole">
            <mc:AlternateContent xmlns:mc="http://schemas.openxmlformats.org/markup-compatibility/2006">
              <mc:Choice xmlns:v="urn:schemas-microsoft-com:vml" Requires="v">
                <p:oleObj spid="_x0000_s32775" name="Equation" r:id="rId7" imgW="1409400" imgH="634680" progId="Equation.DSMT4">
                  <p:embed/>
                </p:oleObj>
              </mc:Choice>
              <mc:Fallback>
                <p:oleObj name="Equation" r:id="rId7" imgW="1409400" imgH="63468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94338" y="4652963"/>
                        <a:ext cx="3573462" cy="161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ea typeface="標楷體" pitchFamily="65" charset="-120"/>
                <a:cs typeface="Times New Roman" pitchFamily="18" charset="0"/>
              </a:rPr>
              <a:t>Algorithm</a:t>
            </a:r>
            <a:endParaRPr lang="zh-TW" altLang="en-US" dirty="0">
              <a:latin typeface="Times New Roman" pitchFamily="18" charset="0"/>
              <a:ea typeface="標楷體" pitchFamily="65" charset="-120"/>
              <a:cs typeface="Times New Roman" pitchFamily="18" charset="0"/>
            </a:endParaRPr>
          </a:p>
        </p:txBody>
      </p:sp>
      <p:graphicFrame>
        <p:nvGraphicFramePr>
          <p:cNvPr id="34823" name="Object 7"/>
          <p:cNvGraphicFramePr>
            <a:graphicFrameLocks noChangeAspect="1"/>
          </p:cNvGraphicFramePr>
          <p:nvPr/>
        </p:nvGraphicFramePr>
        <p:xfrm>
          <a:off x="4499992" y="-99392"/>
          <a:ext cx="3573462" cy="1612900"/>
        </p:xfrm>
        <a:graphic>
          <a:graphicData uri="http://schemas.openxmlformats.org/presentationml/2006/ole">
            <mc:AlternateContent xmlns:mc="http://schemas.openxmlformats.org/markup-compatibility/2006">
              <mc:Choice xmlns:v="urn:schemas-microsoft-com:vml" Requires="v">
                <p:oleObj spid="_x0000_s34825" name="Equation" r:id="rId3" imgW="1409400" imgH="634680" progId="Equation.DSMT4">
                  <p:embed/>
                </p:oleObj>
              </mc:Choice>
              <mc:Fallback>
                <p:oleObj name="Equation" r:id="rId3" imgW="1409400" imgH="634680" progId="Equation.DSMT4">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9992" y="-99392"/>
                        <a:ext cx="3573462" cy="161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4" name="Object 8"/>
          <p:cNvGraphicFramePr>
            <a:graphicFrameLocks noChangeAspect="1"/>
          </p:cNvGraphicFramePr>
          <p:nvPr/>
        </p:nvGraphicFramePr>
        <p:xfrm>
          <a:off x="438150" y="1412776"/>
          <a:ext cx="7806258" cy="5410574"/>
        </p:xfrm>
        <a:graphic>
          <a:graphicData uri="http://schemas.openxmlformats.org/presentationml/2006/ole">
            <mc:AlternateContent xmlns:mc="http://schemas.openxmlformats.org/markup-compatibility/2006">
              <mc:Choice xmlns:v="urn:schemas-microsoft-com:vml" Requires="v">
                <p:oleObj spid="_x0000_s34826" name="Equation" r:id="rId5" imgW="2717640" imgH="1879560" progId="Equation.DSMT4">
                  <p:embed/>
                </p:oleObj>
              </mc:Choice>
              <mc:Fallback>
                <p:oleObj name="Equation" r:id="rId5" imgW="2717640" imgH="1879560" progId="Equation.DSMT4">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8150" y="1412776"/>
                        <a:ext cx="7806258" cy="5410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ea typeface="標楷體" pitchFamily="65" charset="-120"/>
                <a:cs typeface="Times New Roman" pitchFamily="18" charset="0"/>
              </a:rPr>
              <a:t>Initialization</a:t>
            </a:r>
            <a:endParaRPr lang="zh-TW" altLang="en-US" dirty="0">
              <a:latin typeface="Times New Roman" pitchFamily="18" charset="0"/>
              <a:ea typeface="標楷體" pitchFamily="65" charset="-120"/>
              <a:cs typeface="Times New Roman" pitchFamily="18" charset="0"/>
            </a:endParaRPr>
          </a:p>
        </p:txBody>
      </p:sp>
      <p:graphicFrame>
        <p:nvGraphicFramePr>
          <p:cNvPr id="35842" name="Object 2"/>
          <p:cNvGraphicFramePr>
            <a:graphicFrameLocks noChangeAspect="1"/>
          </p:cNvGraphicFramePr>
          <p:nvPr/>
        </p:nvGraphicFramePr>
        <p:xfrm>
          <a:off x="539750" y="1409700"/>
          <a:ext cx="4151313" cy="4324350"/>
        </p:xfrm>
        <a:graphic>
          <a:graphicData uri="http://schemas.openxmlformats.org/presentationml/2006/ole">
            <mc:AlternateContent xmlns:mc="http://schemas.openxmlformats.org/markup-compatibility/2006">
              <mc:Choice xmlns:v="urn:schemas-microsoft-com:vml" Requires="v">
                <p:oleObj spid="_x0000_s35843" name="Equation" r:id="rId3" imgW="1638000" imgH="1701720" progId="Equation.DSMT4">
                  <p:embed/>
                </p:oleObj>
              </mc:Choice>
              <mc:Fallback>
                <p:oleObj name="Equation" r:id="rId3" imgW="1638000" imgH="170172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409700"/>
                        <a:ext cx="4151313" cy="432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rgbClr val="FF0000"/>
                          </a:solidFill>
                          <a:latin typeface="Times New Roman" pitchFamily="18" charset="0"/>
                          <a:cs typeface="Times New Roman" pitchFamily="18" charset="0"/>
                        </a:rPr>
                        <a:t>1</a:t>
                      </a:r>
                      <a:endParaRPr lang="zh-TW" altLang="en-US" sz="2000" dirty="0">
                        <a:solidFill>
                          <a:srgbClr val="FF0000"/>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cxnSp>
        <p:nvCxnSpPr>
          <p:cNvPr id="12" name="直線單箭頭接點 11"/>
          <p:cNvCxnSpPr/>
          <p:nvPr/>
        </p:nvCxnSpPr>
        <p:spPr>
          <a:xfrm>
            <a:off x="1907704" y="2924944"/>
            <a:ext cx="288032"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a:off x="6876256" y="908720"/>
            <a:ext cx="0"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a:off x="6300192" y="4653136"/>
            <a:ext cx="288032"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endParaRPr lang="zh-TW" altLang="en-US" dirty="0"/>
                    </a:p>
                  </a:txBody>
                  <a:tcPr marL="56616" marR="56616" marT="28308" marB="28308"/>
                </a:tc>
                <a:tc>
                  <a:txBody>
                    <a:bodyPr/>
                    <a:lstStyle/>
                    <a:p>
                      <a:endParaRPr lang="zh-TW" altLang="en-US" dirty="0"/>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rgbClr val="FF0000"/>
                          </a:solidFill>
                          <a:latin typeface="Times New Roman" pitchFamily="18" charset="0"/>
                          <a:cs typeface="Times New Roman" pitchFamily="18" charset="0"/>
                        </a:rPr>
                        <a:t>1-4</a:t>
                      </a:r>
                      <a:endParaRPr lang="zh-TW" altLang="en-US" sz="2000" dirty="0">
                        <a:solidFill>
                          <a:srgbClr val="FF0000"/>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cxnSp>
        <p:nvCxnSpPr>
          <p:cNvPr id="8" name="直線單箭頭接點 7"/>
          <p:cNvCxnSpPr/>
          <p:nvPr/>
        </p:nvCxnSpPr>
        <p:spPr>
          <a:xfrm>
            <a:off x="2483768" y="3356992"/>
            <a:ext cx="4608512" cy="115212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a:off x="7452320" y="908720"/>
            <a:ext cx="0" cy="43204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endParaRPr lang="zh-TW" altLang="en-US" dirty="0"/>
                    </a:p>
                  </a:txBody>
                  <a:tcPr marL="56616" marR="56616" marT="28308" marB="28308"/>
                </a:tc>
                <a:tc>
                  <a:txBody>
                    <a:bodyPr/>
                    <a:lstStyle/>
                    <a:p>
                      <a:endParaRPr lang="zh-TW" altLang="en-US" dirty="0"/>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cxnSp>
        <p:nvCxnSpPr>
          <p:cNvPr id="8" name="直線單箭頭接點 7"/>
          <p:cNvCxnSpPr/>
          <p:nvPr/>
        </p:nvCxnSpPr>
        <p:spPr>
          <a:xfrm>
            <a:off x="2483768" y="2924944"/>
            <a:ext cx="288032"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H="1" flipV="1">
            <a:off x="2987824" y="3356992"/>
            <a:ext cx="4104456" cy="115212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cxnSp>
        <p:nvCxnSpPr>
          <p:cNvPr id="13" name="直線單箭頭接點 12"/>
          <p:cNvCxnSpPr/>
          <p:nvPr/>
        </p:nvCxnSpPr>
        <p:spPr>
          <a:xfrm>
            <a:off x="7956376" y="908720"/>
            <a:ext cx="0"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7452320" y="4653136"/>
            <a:ext cx="288032"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cxnSp>
        <p:nvCxnSpPr>
          <p:cNvPr id="8" name="直線單箭頭接點 7"/>
          <p:cNvCxnSpPr/>
          <p:nvPr/>
        </p:nvCxnSpPr>
        <p:spPr>
          <a:xfrm flipH="1" flipV="1">
            <a:off x="3563888" y="3356992"/>
            <a:ext cx="4104456" cy="115212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-3</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cxnSp>
        <p:nvCxnSpPr>
          <p:cNvPr id="8" name="直線單箭頭接點 7"/>
          <p:cNvCxnSpPr/>
          <p:nvPr/>
        </p:nvCxnSpPr>
        <p:spPr>
          <a:xfrm flipV="1">
            <a:off x="2483768" y="1772816"/>
            <a:ext cx="4104456" cy="158417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H="1">
            <a:off x="2483768" y="1844824"/>
            <a:ext cx="4320480" cy="18002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-3</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cxnSp>
        <p:nvCxnSpPr>
          <p:cNvPr id="8" name="直線單箭頭接點 7"/>
          <p:cNvCxnSpPr/>
          <p:nvPr/>
        </p:nvCxnSpPr>
        <p:spPr>
          <a:xfrm>
            <a:off x="2483768" y="3356992"/>
            <a:ext cx="288032"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a:off x="3563888" y="3429000"/>
            <a:ext cx="288032" cy="21602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-3</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cxnSp>
        <p:nvCxnSpPr>
          <p:cNvPr id="8" name="直線單箭頭接點 7"/>
          <p:cNvCxnSpPr/>
          <p:nvPr/>
        </p:nvCxnSpPr>
        <p:spPr>
          <a:xfrm flipV="1">
            <a:off x="4139952" y="2204864"/>
            <a:ext cx="4032448" cy="158417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H="1">
            <a:off x="4139952" y="2276872"/>
            <a:ext cx="4248472" cy="194421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-3</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endParaRPr lang="zh-TW" altLang="en-US" dirty="0"/>
                    </a:p>
                  </a:txBody>
                  <a:tcPr marL="56616" marR="56616" marT="28308" marB="28308"/>
                </a:tc>
                <a:tc>
                  <a:txBody>
                    <a:bodyPr/>
                    <a:lstStyle/>
                    <a:p>
                      <a:endParaRPr lang="zh-TW" altLang="en-US"/>
                    </a:p>
                  </a:txBody>
                  <a:tcPr marL="56616" marR="56616" marT="28308" marB="28308"/>
                </a:tc>
                <a:tc>
                  <a:txBody>
                    <a:bodyPr/>
                    <a:lstStyle/>
                    <a:p>
                      <a:endParaRPr lang="zh-TW" altLang="en-US" dirty="0"/>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cxnSp>
        <p:nvCxnSpPr>
          <p:cNvPr id="8" name="直線單箭頭接點 7"/>
          <p:cNvCxnSpPr/>
          <p:nvPr/>
        </p:nvCxnSpPr>
        <p:spPr>
          <a:xfrm flipH="1">
            <a:off x="2483768" y="2708920"/>
            <a:ext cx="4176464" cy="187220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-3</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-10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cxnSp>
        <p:nvCxnSpPr>
          <p:cNvPr id="8" name="直線單箭頭接點 7"/>
          <p:cNvCxnSpPr/>
          <p:nvPr/>
        </p:nvCxnSpPr>
        <p:spPr>
          <a:xfrm>
            <a:off x="3059832" y="4221088"/>
            <a:ext cx="288032"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-3</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-10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-11</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-3</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-10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endParaRPr lang="zh-TW" altLang="en-US" dirty="0"/>
                    </a:p>
                  </a:txBody>
                  <a:tcPr marL="56616" marR="56616" marT="28308" marB="28308"/>
                </a:tc>
                <a:tc>
                  <a:txBody>
                    <a:bodyPr/>
                    <a:lstStyle/>
                    <a:p>
                      <a:endParaRPr lang="zh-TW" altLang="en-US"/>
                    </a:p>
                  </a:txBody>
                  <a:tcPr marL="56616" marR="56616" marT="28308" marB="28308"/>
                </a:tc>
                <a:tc>
                  <a:txBody>
                    <a:bodyPr/>
                    <a:lstStyle/>
                    <a:p>
                      <a:endParaRPr lang="zh-TW" altLang="en-US" dirty="0"/>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-11</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cxnSp>
        <p:nvCxnSpPr>
          <p:cNvPr id="8" name="直線單箭頭接點 7"/>
          <p:cNvCxnSpPr/>
          <p:nvPr/>
        </p:nvCxnSpPr>
        <p:spPr>
          <a:xfrm flipH="1">
            <a:off x="2483768" y="3140968"/>
            <a:ext cx="4104456" cy="18002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-11</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-3</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-10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-10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-11</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-11</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-11</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-3</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-10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-10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-11</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-11</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-12</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cxnSp>
        <p:nvCxnSpPr>
          <p:cNvPr id="8" name="直線單箭頭接點 7"/>
          <p:cNvCxnSpPr/>
          <p:nvPr/>
        </p:nvCxnSpPr>
        <p:spPr>
          <a:xfrm>
            <a:off x="3563888" y="4653136"/>
            <a:ext cx="288032"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971600" y="2204865"/>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H</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9" name="表格 8"/>
          <p:cNvGraphicFramePr>
            <a:graphicFrameLocks noGrp="1"/>
          </p:cNvGraphicFramePr>
          <p:nvPr/>
        </p:nvGraphicFramePr>
        <p:xfrm>
          <a:off x="5364088" y="188640"/>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P</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-3</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-4</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-7</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-5</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-10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-8</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marL="0" algn="ctr" defTabSz="914400" rtl="0" eaLnBrk="1" latinLnBrk="0" hangingPunct="1"/>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-6</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-10</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-11</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tc>
                  <a:txBody>
                    <a:bodyPr/>
                    <a:lstStyle/>
                    <a:p>
                      <a:pPr marL="0" algn="ctr" defTabSz="914400" rtl="0" eaLnBrk="1" latinLnBrk="0" hangingPunct="1"/>
                      <a:r>
                        <a:rPr lang="en-US" altLang="zh-TW" sz="2000" kern="1200" dirty="0">
                          <a:solidFill>
                            <a:schemeClr val="dk1"/>
                          </a:solidFill>
                          <a:latin typeface="Times New Roman" pitchFamily="18" charset="0"/>
                          <a:ea typeface="+mn-ea"/>
                          <a:cs typeface="Times New Roman" pitchFamily="18" charset="0"/>
                        </a:rPr>
                        <a:t>-9</a:t>
                      </a:r>
                      <a:endParaRPr lang="zh-TW" altLang="en-US" sz="2000" kern="1200" dirty="0">
                        <a:solidFill>
                          <a:schemeClr val="dk1"/>
                        </a:solidFill>
                        <a:latin typeface="Times New Roman" pitchFamily="18" charset="0"/>
                        <a:ea typeface="+mn-ea"/>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graphicFrame>
        <p:nvGraphicFramePr>
          <p:cNvPr id="10" name="表格 9"/>
          <p:cNvGraphicFramePr>
            <a:graphicFrameLocks noGrp="1"/>
          </p:cNvGraphicFramePr>
          <p:nvPr/>
        </p:nvGraphicFramePr>
        <p:xfrm>
          <a:off x="5364088" y="3501008"/>
          <a:ext cx="3275856" cy="3024336"/>
        </p:xfrm>
        <a:graphic>
          <a:graphicData uri="http://schemas.openxmlformats.org/drawingml/2006/table">
            <a:tbl>
              <a:tblPr firstRow="1" bandRow="1">
                <a:tableStyleId>{5C22544A-7EE6-4342-B048-85BDC9FD1C3A}</a:tableStyleId>
              </a:tblPr>
              <a:tblGrid>
                <a:gridCol w="545976">
                  <a:extLst>
                    <a:ext uri="{9D8B030D-6E8A-4147-A177-3AD203B41FA5}">
                      <a16:colId xmlns:a16="http://schemas.microsoft.com/office/drawing/2014/main" val="20000"/>
                    </a:ext>
                  </a:extLst>
                </a:gridCol>
                <a:gridCol w="545976">
                  <a:extLst>
                    <a:ext uri="{9D8B030D-6E8A-4147-A177-3AD203B41FA5}">
                      <a16:colId xmlns:a16="http://schemas.microsoft.com/office/drawing/2014/main" val="20001"/>
                    </a:ext>
                  </a:extLst>
                </a:gridCol>
                <a:gridCol w="545976">
                  <a:extLst>
                    <a:ext uri="{9D8B030D-6E8A-4147-A177-3AD203B41FA5}">
                      <a16:colId xmlns:a16="http://schemas.microsoft.com/office/drawing/2014/main" val="20002"/>
                    </a:ext>
                  </a:extLst>
                </a:gridCol>
                <a:gridCol w="545976">
                  <a:extLst>
                    <a:ext uri="{9D8B030D-6E8A-4147-A177-3AD203B41FA5}">
                      <a16:colId xmlns:a16="http://schemas.microsoft.com/office/drawing/2014/main" val="20003"/>
                    </a:ext>
                  </a:extLst>
                </a:gridCol>
                <a:gridCol w="545976">
                  <a:extLst>
                    <a:ext uri="{9D8B030D-6E8A-4147-A177-3AD203B41FA5}">
                      <a16:colId xmlns:a16="http://schemas.microsoft.com/office/drawing/2014/main" val="20004"/>
                    </a:ext>
                  </a:extLst>
                </a:gridCol>
                <a:gridCol w="545976">
                  <a:extLst>
                    <a:ext uri="{9D8B030D-6E8A-4147-A177-3AD203B41FA5}">
                      <a16:colId xmlns:a16="http://schemas.microsoft.com/office/drawing/2014/main" val="20005"/>
                    </a:ext>
                  </a:extLst>
                </a:gridCol>
              </a:tblGrid>
              <a:tr h="432048">
                <a:tc>
                  <a:txBody>
                    <a:bodyPr/>
                    <a:lstStyle/>
                    <a:p>
                      <a:pPr algn="ctr"/>
                      <a:r>
                        <a:rPr lang="en-US" altLang="zh-TW" sz="2000" i="1" dirty="0">
                          <a:latin typeface="Times New Roman" pitchFamily="18" charset="0"/>
                          <a:cs typeface="Times New Roman" pitchFamily="18" charset="0"/>
                        </a:rPr>
                        <a:t>Q</a:t>
                      </a:r>
                      <a:endParaRPr lang="zh-TW" altLang="en-US" sz="2000" i="1"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0"/>
                  </a:ext>
                </a:extLst>
              </a:tr>
              <a:tr h="432048">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0</a:t>
                      </a: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tc>
                  <a:txBody>
                    <a:bodyPr/>
                    <a:lstStyle/>
                    <a:p>
                      <a:pPr algn="ct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1"/>
                  </a:ext>
                </a:extLst>
              </a:tr>
              <a:tr h="432048">
                <a:tc>
                  <a:txBody>
                    <a:bodyPr/>
                    <a:lstStyle/>
                    <a:p>
                      <a:pPr algn="ctr"/>
                      <a:r>
                        <a:rPr lang="en-US" altLang="zh-TW" sz="2000" dirty="0">
                          <a:latin typeface="Times New Roman" pitchFamily="18" charset="0"/>
                          <a:cs typeface="Times New Roman" pitchFamily="18" charset="0"/>
                        </a:rPr>
                        <a:t>C</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-4</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-3</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solidFill>
                            <a:schemeClr val="tx1"/>
                          </a:solidFill>
                          <a:latin typeface="Times New Roman" pitchFamily="18" charset="0"/>
                          <a:cs typeface="Times New Roman" pitchFamily="18" charset="0"/>
                        </a:rPr>
                        <a:t>-4</a:t>
                      </a:r>
                      <a:endParaRPr lang="zh-TW" altLang="en-US" sz="2000" dirty="0">
                        <a:solidFill>
                          <a:schemeClr val="tx1"/>
                        </a:solidFill>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2"/>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-5</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3"/>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-6</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4"/>
                  </a:ext>
                </a:extLst>
              </a:tr>
              <a:tr h="432048">
                <a:tc>
                  <a:txBody>
                    <a:bodyPr/>
                    <a:lstStyle/>
                    <a:p>
                      <a:pPr algn="ctr"/>
                      <a:r>
                        <a:rPr lang="en-US" altLang="zh-TW" sz="2000" dirty="0">
                          <a:latin typeface="Times New Roman" pitchFamily="18" charset="0"/>
                          <a:cs typeface="Times New Roman" pitchFamily="18" charset="0"/>
                        </a:rPr>
                        <a:t>G</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-7</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-11</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5"/>
                  </a:ext>
                </a:extLst>
              </a:tr>
              <a:tr h="432048">
                <a:tc>
                  <a:txBody>
                    <a:bodyPr/>
                    <a:lstStyle/>
                    <a:p>
                      <a:pPr algn="ctr"/>
                      <a:r>
                        <a:rPr lang="en-US" altLang="zh-TW" sz="2000" dirty="0">
                          <a:latin typeface="Times New Roman" pitchFamily="18" charset="0"/>
                          <a:cs typeface="Times New Roman" pitchFamily="18" charset="0"/>
                        </a:rPr>
                        <a:t>A</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-8</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-9</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-10</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-11</a:t>
                      </a:r>
                      <a:endParaRPr lang="zh-TW" altLang="en-US" sz="2000" dirty="0">
                        <a:latin typeface="Times New Roman" pitchFamily="18" charset="0"/>
                        <a:cs typeface="Times New Roman" pitchFamily="18" charset="0"/>
                      </a:endParaRPr>
                    </a:p>
                  </a:txBody>
                  <a:tcPr marL="56616" marR="56616" marT="28308" marB="28308"/>
                </a:tc>
                <a:tc>
                  <a:txBody>
                    <a:bodyPr/>
                    <a:lstStyle/>
                    <a:p>
                      <a:pPr algn="ctr"/>
                      <a:r>
                        <a:rPr lang="en-US" altLang="zh-TW" sz="2000" dirty="0">
                          <a:latin typeface="Times New Roman" pitchFamily="18" charset="0"/>
                          <a:cs typeface="Times New Roman" pitchFamily="18" charset="0"/>
                        </a:rPr>
                        <a:t>-12</a:t>
                      </a:r>
                      <a:endParaRPr lang="zh-TW" altLang="en-US" sz="2000" dirty="0">
                        <a:latin typeface="Times New Roman" pitchFamily="18" charset="0"/>
                        <a:cs typeface="Times New Roman" pitchFamily="18" charset="0"/>
                      </a:endParaRPr>
                    </a:p>
                  </a:txBody>
                  <a:tcPr marL="56616" marR="56616" marT="28308" marB="28308"/>
                </a:tc>
                <a:extLst>
                  <a:ext uri="{0D108BD9-81ED-4DB2-BD59-A6C34878D82A}">
                    <a16:rowId xmlns:a16="http://schemas.microsoft.com/office/drawing/2014/main" val="10006"/>
                  </a:ext>
                </a:extLst>
              </a:tr>
            </a:tbl>
          </a:graphicData>
        </a:graphic>
      </p:graphicFrame>
      <p:cxnSp>
        <p:nvCxnSpPr>
          <p:cNvPr id="12" name="直線單箭頭接點 11"/>
          <p:cNvCxnSpPr/>
          <p:nvPr/>
        </p:nvCxnSpPr>
        <p:spPr>
          <a:xfrm flipH="1" flipV="1">
            <a:off x="3563888" y="4653136"/>
            <a:ext cx="288032" cy="288032"/>
          </a:xfrm>
          <a:prstGeom prst="straightConnector1">
            <a:avLst/>
          </a:prstGeom>
          <a:ln w="2540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flipH="1" flipV="1">
            <a:off x="3059832" y="4221088"/>
            <a:ext cx="216024" cy="288032"/>
          </a:xfrm>
          <a:prstGeom prst="straightConnector1">
            <a:avLst/>
          </a:prstGeom>
          <a:ln w="2540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V="1">
            <a:off x="3059832" y="2204864"/>
            <a:ext cx="4176464" cy="1872208"/>
          </a:xfrm>
          <a:prstGeom prst="straightConnector1">
            <a:avLst/>
          </a:prstGeom>
          <a:ln w="2540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flipV="1">
            <a:off x="7092280" y="1628800"/>
            <a:ext cx="0" cy="504056"/>
          </a:xfrm>
          <a:prstGeom prst="straightConnector1">
            <a:avLst/>
          </a:prstGeom>
          <a:ln w="2540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flipH="1">
            <a:off x="3059832" y="1556792"/>
            <a:ext cx="4032448" cy="1656184"/>
          </a:xfrm>
          <a:prstGeom prst="straightConnector1">
            <a:avLst/>
          </a:prstGeom>
          <a:ln w="2540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flipH="1" flipV="1">
            <a:off x="2483768" y="2924944"/>
            <a:ext cx="288032" cy="288032"/>
          </a:xfrm>
          <a:prstGeom prst="straightConnector1">
            <a:avLst/>
          </a:prstGeom>
          <a:ln w="2540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flipH="1">
            <a:off x="1907704" y="2780928"/>
            <a:ext cx="288032" cy="0"/>
          </a:xfrm>
          <a:prstGeom prst="straightConnector1">
            <a:avLst/>
          </a:prstGeom>
          <a:ln w="2540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5" name="文字方塊 24"/>
          <p:cNvSpPr txBox="1"/>
          <p:nvPr/>
        </p:nvSpPr>
        <p:spPr>
          <a:xfrm>
            <a:off x="1619672" y="5445224"/>
            <a:ext cx="3528392" cy="1200329"/>
          </a:xfrm>
          <a:prstGeom prst="rect">
            <a:avLst/>
          </a:prstGeom>
          <a:noFill/>
        </p:spPr>
        <p:txBody>
          <a:bodyPr wrap="square" rtlCol="0">
            <a:spAutoFit/>
          </a:bodyPr>
          <a:lstStyle/>
          <a:p>
            <a:r>
              <a:rPr lang="en-US" altLang="zh-TW" dirty="0">
                <a:latin typeface="FangSong" pitchFamily="49" charset="-122"/>
                <a:ea typeface="FangSong" pitchFamily="49" charset="-122"/>
                <a:cs typeface="Times New Roman" pitchFamily="18" charset="0"/>
              </a:rPr>
              <a:t>C </a:t>
            </a:r>
            <a:r>
              <a:rPr lang="en-US" altLang="zh-TW" dirty="0" err="1">
                <a:latin typeface="FangSong" pitchFamily="49" charset="-122"/>
                <a:ea typeface="FangSong" pitchFamily="49" charset="-122"/>
                <a:cs typeface="Times New Roman" pitchFamily="18" charset="0"/>
              </a:rPr>
              <a:t>C</a:t>
            </a:r>
            <a:r>
              <a:rPr lang="en-US" altLang="zh-TW" dirty="0">
                <a:latin typeface="FangSong" pitchFamily="49" charset="-122"/>
                <a:ea typeface="FangSong" pitchFamily="49" charset="-122"/>
                <a:cs typeface="Times New Roman" pitchFamily="18" charset="0"/>
              </a:rPr>
              <a:t> _ _ G A</a:t>
            </a:r>
          </a:p>
          <a:p>
            <a:r>
              <a:rPr lang="en-US" altLang="zh-TW" dirty="0">
                <a:latin typeface="FangSong" pitchFamily="49" charset="-122"/>
                <a:ea typeface="FangSong" pitchFamily="49" charset="-122"/>
                <a:cs typeface="Times New Roman" pitchFamily="18" charset="0"/>
              </a:rPr>
              <a:t>_ C A </a:t>
            </a:r>
            <a:r>
              <a:rPr lang="en-US" altLang="zh-TW" dirty="0" err="1">
                <a:latin typeface="FangSong" pitchFamily="49" charset="-122"/>
                <a:ea typeface="FangSong" pitchFamily="49" charset="-122"/>
                <a:cs typeface="Times New Roman" pitchFamily="18" charset="0"/>
              </a:rPr>
              <a:t>A</a:t>
            </a:r>
            <a:r>
              <a:rPr lang="en-US" altLang="zh-TW" dirty="0">
                <a:latin typeface="FangSong" pitchFamily="49" charset="-122"/>
                <a:ea typeface="FangSong" pitchFamily="49" charset="-122"/>
                <a:cs typeface="Times New Roman" pitchFamily="18" charset="0"/>
              </a:rPr>
              <a:t> G A</a:t>
            </a:r>
          </a:p>
          <a:p>
            <a:endParaRPr lang="en-US" altLang="zh-TW" dirty="0">
              <a:latin typeface="FangSong" pitchFamily="49" charset="-122"/>
              <a:ea typeface="FangSong" pitchFamily="49" charset="-122"/>
              <a:cs typeface="Times New Roman" pitchFamily="18" charset="0"/>
            </a:endParaRPr>
          </a:p>
          <a:p>
            <a:r>
              <a:rPr lang="en-US" altLang="zh-TW" dirty="0">
                <a:latin typeface="FangSong" pitchFamily="49" charset="-122"/>
                <a:ea typeface="FangSong" pitchFamily="49" charset="-122"/>
                <a:cs typeface="Times New Roman" pitchFamily="18" charset="0"/>
              </a:rPr>
              <a:t>Score is -6</a:t>
            </a:r>
            <a:endParaRPr lang="zh-TW" altLang="en-US" dirty="0">
              <a:latin typeface="FangSong" pitchFamily="49" charset="-122"/>
              <a:ea typeface="FangSong" pitchFamily="49" charset="-122"/>
              <a:cs typeface="Times New Roman" pitchFamily="18" charset="0"/>
            </a:endParaRPr>
          </a:p>
        </p:txBody>
      </p:sp>
      <p:sp>
        <p:nvSpPr>
          <p:cNvPr id="26" name="向右箭號 25"/>
          <p:cNvSpPr/>
          <p:nvPr/>
        </p:nvSpPr>
        <p:spPr>
          <a:xfrm>
            <a:off x="755576" y="5733256"/>
            <a:ext cx="648072"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cs typeface="Times New Roman" pitchFamily="18" charset="0"/>
              </a:rPr>
              <a:t>But</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a:latin typeface="Times New Roman" pitchFamily="18" charset="0"/>
                <a:cs typeface="Times New Roman" pitchFamily="18" charset="0"/>
              </a:rPr>
              <a:t>It have a big bug</a:t>
            </a:r>
            <a:endParaRPr lang="zh-TW" altLang="en-US" dirty="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-7</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-7</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-7</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-7</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-7</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-7</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cxnSp>
        <p:nvCxnSpPr>
          <p:cNvPr id="11" name="直線單箭頭接點 10"/>
          <p:cNvCxnSpPr/>
          <p:nvPr/>
        </p:nvCxnSpPr>
        <p:spPr>
          <a:xfrm flipV="1">
            <a:off x="3851920" y="3573016"/>
            <a:ext cx="4104456" cy="1296144"/>
          </a:xfrm>
          <a:prstGeom prst="straightConnector1">
            <a:avLst/>
          </a:prstGeom>
          <a:ln w="2540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flipV="1">
            <a:off x="7884368" y="2060848"/>
            <a:ext cx="0" cy="1440160"/>
          </a:xfrm>
          <a:prstGeom prst="straightConnector1">
            <a:avLst/>
          </a:prstGeom>
          <a:ln w="2540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H="1">
            <a:off x="2051720" y="1916832"/>
            <a:ext cx="5760640" cy="1296144"/>
          </a:xfrm>
          <a:prstGeom prst="straightConnector1">
            <a:avLst/>
          </a:prstGeom>
          <a:ln w="2540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文字方塊 19"/>
          <p:cNvSpPr txBox="1"/>
          <p:nvPr/>
        </p:nvSpPr>
        <p:spPr>
          <a:xfrm>
            <a:off x="1331640" y="5229200"/>
            <a:ext cx="1569660" cy="1200329"/>
          </a:xfrm>
          <a:prstGeom prst="rect">
            <a:avLst/>
          </a:prstGeom>
          <a:noFill/>
        </p:spPr>
        <p:txBody>
          <a:bodyPr wrap="none" rtlCol="0">
            <a:spAutoFit/>
          </a:bodyPr>
          <a:lstStyle/>
          <a:p>
            <a:r>
              <a:rPr lang="en-US" altLang="zh-TW" dirty="0">
                <a:latin typeface="FangSong" pitchFamily="49" charset="-122"/>
                <a:ea typeface="FangSong" pitchFamily="49" charset="-122"/>
              </a:rPr>
              <a:t>A </a:t>
            </a:r>
            <a:r>
              <a:rPr lang="en-US" altLang="zh-TW" dirty="0" err="1">
                <a:latin typeface="FangSong" pitchFamily="49" charset="-122"/>
                <a:ea typeface="FangSong" pitchFamily="49" charset="-122"/>
              </a:rPr>
              <a:t>A</a:t>
            </a:r>
            <a:r>
              <a:rPr lang="en-US" altLang="zh-TW" dirty="0">
                <a:latin typeface="FangSong" pitchFamily="49" charset="-122"/>
                <a:ea typeface="FangSong" pitchFamily="49" charset="-122"/>
              </a:rPr>
              <a:t> _ _</a:t>
            </a:r>
          </a:p>
          <a:p>
            <a:r>
              <a:rPr lang="en-US" altLang="zh-TW" dirty="0">
                <a:latin typeface="FangSong" pitchFamily="49" charset="-122"/>
                <a:ea typeface="FangSong" pitchFamily="49" charset="-122"/>
              </a:rPr>
              <a:t>_ _ T </a:t>
            </a:r>
            <a:r>
              <a:rPr lang="en-US" altLang="zh-TW" dirty="0" err="1">
                <a:latin typeface="FangSong" pitchFamily="49" charset="-122"/>
                <a:ea typeface="FangSong" pitchFamily="49" charset="-122"/>
              </a:rPr>
              <a:t>T</a:t>
            </a:r>
            <a:endParaRPr lang="en-US" altLang="zh-TW" dirty="0">
              <a:latin typeface="FangSong" pitchFamily="49" charset="-122"/>
              <a:ea typeface="FangSong" pitchFamily="49" charset="-122"/>
            </a:endParaRPr>
          </a:p>
          <a:p>
            <a:endParaRPr lang="en-US" altLang="zh-TW" dirty="0">
              <a:latin typeface="FangSong" pitchFamily="49" charset="-122"/>
              <a:ea typeface="FangSong" pitchFamily="49" charset="-122"/>
            </a:endParaRPr>
          </a:p>
          <a:p>
            <a:r>
              <a:rPr lang="en-US" altLang="zh-TW" dirty="0">
                <a:solidFill>
                  <a:srgbClr val="FF0000"/>
                </a:solidFill>
                <a:latin typeface="FangSong" pitchFamily="49" charset="-122"/>
                <a:ea typeface="FangSong" pitchFamily="49" charset="-122"/>
              </a:rPr>
              <a:t>Score is -10</a:t>
            </a:r>
            <a:endParaRPr lang="zh-TW" altLang="en-US" dirty="0">
              <a:solidFill>
                <a:srgbClr val="FF0000"/>
              </a:solidFill>
              <a:latin typeface="FangSong" pitchFamily="49" charset="-122"/>
              <a:ea typeface="FangSong" pitchFamily="49" charset="-122"/>
            </a:endParaRPr>
          </a:p>
        </p:txBody>
      </p:sp>
      <p:sp>
        <p:nvSpPr>
          <p:cNvPr id="22" name="左-上雙向箭號 21"/>
          <p:cNvSpPr/>
          <p:nvPr/>
        </p:nvSpPr>
        <p:spPr>
          <a:xfrm>
            <a:off x="2915816" y="4941168"/>
            <a:ext cx="720080" cy="1512168"/>
          </a:xfrm>
          <a:prstGeom prst="leftUpArrow">
            <a:avLst>
              <a:gd name="adj1" fmla="val 25000"/>
              <a:gd name="adj2" fmla="val 24395"/>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cs typeface="Times New Roman" pitchFamily="18" charset="0"/>
              </a:rPr>
              <a:t>How to solve?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a:latin typeface="Times New Roman" pitchFamily="18" charset="0"/>
                <a:cs typeface="Times New Roman" pitchFamily="18" charset="0"/>
              </a:rPr>
              <a:t>Initialization is incorrect,</a:t>
            </a: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so we rewrite the initialization.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ea typeface="標楷體" pitchFamily="65" charset="-120"/>
                <a:cs typeface="Times New Roman" pitchFamily="18" charset="0"/>
              </a:rPr>
              <a:t>Initialization</a:t>
            </a:r>
            <a:endParaRPr lang="zh-TW" altLang="en-US" dirty="0">
              <a:latin typeface="Times New Roman" pitchFamily="18" charset="0"/>
              <a:ea typeface="標楷體" pitchFamily="65" charset="-120"/>
              <a:cs typeface="Times New Roman" pitchFamily="18" charset="0"/>
            </a:endParaRPr>
          </a:p>
        </p:txBody>
      </p:sp>
      <p:graphicFrame>
        <p:nvGraphicFramePr>
          <p:cNvPr id="35842" name="Object 2"/>
          <p:cNvGraphicFramePr>
            <a:graphicFrameLocks noChangeAspect="1"/>
          </p:cNvGraphicFramePr>
          <p:nvPr/>
        </p:nvGraphicFramePr>
        <p:xfrm>
          <a:off x="900113" y="1868488"/>
          <a:ext cx="4751387" cy="3949700"/>
        </p:xfrm>
        <a:graphic>
          <a:graphicData uri="http://schemas.openxmlformats.org/presentationml/2006/ole">
            <mc:AlternateContent xmlns:mc="http://schemas.openxmlformats.org/markup-compatibility/2006">
              <mc:Choice xmlns:v="urn:schemas-microsoft-com:vml" Requires="v">
                <p:oleObj spid="_x0000_s36867" name="Equation" r:id="rId3" imgW="1257120" imgH="1041120" progId="Equation.DSMT4">
                  <p:embed/>
                </p:oleObj>
              </mc:Choice>
              <mc:Fallback>
                <p:oleObj name="Equation" r:id="rId3" imgW="1257120" imgH="104112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868488"/>
                        <a:ext cx="4751387" cy="394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cxnSp>
        <p:nvCxnSpPr>
          <p:cNvPr id="11" name="直線單箭頭接點 10"/>
          <p:cNvCxnSpPr/>
          <p:nvPr/>
        </p:nvCxnSpPr>
        <p:spPr>
          <a:xfrm flipV="1">
            <a:off x="2915816" y="2852936"/>
            <a:ext cx="4176464" cy="50405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1979712" y="4149080"/>
            <a:ext cx="5040560" cy="158417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cxnSp>
        <p:nvCxnSpPr>
          <p:cNvPr id="9" name="直線單箭頭接點 8"/>
          <p:cNvCxnSpPr/>
          <p:nvPr/>
        </p:nvCxnSpPr>
        <p:spPr>
          <a:xfrm>
            <a:off x="1979712" y="3429000"/>
            <a:ext cx="504056" cy="43204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cxnSp>
        <p:nvCxnSpPr>
          <p:cNvPr id="9" name="直線單箭頭接點 8"/>
          <p:cNvCxnSpPr/>
          <p:nvPr/>
        </p:nvCxnSpPr>
        <p:spPr>
          <a:xfrm flipH="1">
            <a:off x="3923928" y="2996952"/>
            <a:ext cx="4104456" cy="93610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flipH="1" flipV="1">
            <a:off x="3923928" y="4149080"/>
            <a:ext cx="4032448" cy="165618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cxnSp>
        <p:nvCxnSpPr>
          <p:cNvPr id="9" name="直線單箭頭接點 8"/>
          <p:cNvCxnSpPr/>
          <p:nvPr/>
        </p:nvCxnSpPr>
        <p:spPr>
          <a:xfrm flipH="1">
            <a:off x="2915816" y="3717032"/>
            <a:ext cx="4248472" cy="93610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flipH="1" flipV="1">
            <a:off x="2843808" y="4869160"/>
            <a:ext cx="4176464" cy="165618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-10</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-10</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-10</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cxnSp>
        <p:nvCxnSpPr>
          <p:cNvPr id="9" name="直線單箭頭接點 8"/>
          <p:cNvCxnSpPr/>
          <p:nvPr/>
        </p:nvCxnSpPr>
        <p:spPr>
          <a:xfrm flipH="1">
            <a:off x="3851920" y="3717032"/>
            <a:ext cx="4176464" cy="108012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flipH="1" flipV="1">
            <a:off x="3851920" y="4941168"/>
            <a:ext cx="4176464" cy="165618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-10</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-10</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-10</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cxnSp>
        <p:nvCxnSpPr>
          <p:cNvPr id="14" name="直線單箭頭接點 13"/>
          <p:cNvCxnSpPr/>
          <p:nvPr/>
        </p:nvCxnSpPr>
        <p:spPr>
          <a:xfrm flipV="1">
            <a:off x="3923928" y="3645024"/>
            <a:ext cx="4104456" cy="1224136"/>
          </a:xfrm>
          <a:prstGeom prst="straightConnector1">
            <a:avLst/>
          </a:prstGeom>
          <a:ln w="254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V="1">
            <a:off x="7884368" y="2708920"/>
            <a:ext cx="0" cy="864096"/>
          </a:xfrm>
          <a:prstGeom prst="straightConnector1">
            <a:avLst/>
          </a:prstGeom>
          <a:ln w="254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flipH="1">
            <a:off x="3851920" y="2564904"/>
            <a:ext cx="3960440" cy="792088"/>
          </a:xfrm>
          <a:prstGeom prst="straightConnector1">
            <a:avLst/>
          </a:prstGeom>
          <a:ln w="254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flipH="1">
            <a:off x="1835696" y="3429000"/>
            <a:ext cx="1872208" cy="0"/>
          </a:xfrm>
          <a:prstGeom prst="straightConnector1">
            <a:avLst/>
          </a:prstGeom>
          <a:ln w="254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1331640" y="5445224"/>
            <a:ext cx="1569660" cy="1200329"/>
          </a:xfrm>
          <a:prstGeom prst="rect">
            <a:avLst/>
          </a:prstGeom>
          <a:noFill/>
        </p:spPr>
        <p:txBody>
          <a:bodyPr wrap="none" rtlCol="0">
            <a:spAutoFit/>
          </a:bodyPr>
          <a:lstStyle/>
          <a:p>
            <a:r>
              <a:rPr lang="en-US" altLang="zh-TW" dirty="0">
                <a:latin typeface="FangSong" pitchFamily="49" charset="-122"/>
                <a:ea typeface="FangSong" pitchFamily="49" charset="-122"/>
              </a:rPr>
              <a:t>A </a:t>
            </a:r>
            <a:r>
              <a:rPr lang="en-US" altLang="zh-TW" dirty="0" err="1">
                <a:latin typeface="FangSong" pitchFamily="49" charset="-122"/>
                <a:ea typeface="FangSong" pitchFamily="49" charset="-122"/>
              </a:rPr>
              <a:t>A</a:t>
            </a:r>
            <a:r>
              <a:rPr lang="en-US" altLang="zh-TW" dirty="0">
                <a:latin typeface="FangSong" pitchFamily="49" charset="-122"/>
                <a:ea typeface="FangSong" pitchFamily="49" charset="-122"/>
              </a:rPr>
              <a:t> _ _</a:t>
            </a:r>
          </a:p>
          <a:p>
            <a:r>
              <a:rPr lang="en-US" altLang="zh-TW" dirty="0">
                <a:latin typeface="FangSong" pitchFamily="49" charset="-122"/>
                <a:ea typeface="FangSong" pitchFamily="49" charset="-122"/>
              </a:rPr>
              <a:t>_ _ T </a:t>
            </a:r>
            <a:r>
              <a:rPr lang="en-US" altLang="zh-TW" dirty="0" err="1">
                <a:latin typeface="FangSong" pitchFamily="49" charset="-122"/>
                <a:ea typeface="FangSong" pitchFamily="49" charset="-122"/>
              </a:rPr>
              <a:t>T</a:t>
            </a:r>
            <a:endParaRPr lang="en-US" altLang="zh-TW" dirty="0">
              <a:latin typeface="FangSong" pitchFamily="49" charset="-122"/>
              <a:ea typeface="FangSong" pitchFamily="49" charset="-122"/>
            </a:endParaRPr>
          </a:p>
          <a:p>
            <a:endParaRPr lang="en-US" altLang="zh-TW" dirty="0">
              <a:latin typeface="FangSong" pitchFamily="49" charset="-122"/>
              <a:ea typeface="FangSong" pitchFamily="49" charset="-122"/>
            </a:endParaRPr>
          </a:p>
          <a:p>
            <a:r>
              <a:rPr lang="en-US" altLang="zh-TW" dirty="0">
                <a:latin typeface="FangSong" pitchFamily="49" charset="-122"/>
                <a:ea typeface="FangSong" pitchFamily="49" charset="-122"/>
              </a:rPr>
              <a:t>Score is -10</a:t>
            </a:r>
            <a:endParaRPr lang="zh-TW" altLang="en-US" dirty="0">
              <a:latin typeface="FangSong" pitchFamily="49" charset="-122"/>
              <a:ea typeface="FangSong" pitchFamily="49" charset="-122"/>
            </a:endParaRP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25400">
          <a:solidFill>
            <a:schemeClr val="accent6">
              <a:lumMod val="75000"/>
            </a:schemeClr>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837</TotalTime>
  <Words>4087</Words>
  <Application>Microsoft Office PowerPoint</Application>
  <PresentationFormat>如螢幕大小 (4:3)</PresentationFormat>
  <Paragraphs>2308</Paragraphs>
  <Slides>54</Slides>
  <Notes>4</Notes>
  <HiddenSlides>0</HiddenSlides>
  <MMClips>0</MMClips>
  <ScaleCrop>false</ScaleCrop>
  <HeadingPairs>
    <vt:vector size="8" baseType="variant">
      <vt:variant>
        <vt:lpstr>使用字型</vt:lpstr>
      </vt:variant>
      <vt:variant>
        <vt:i4>4</vt:i4>
      </vt:variant>
      <vt:variant>
        <vt:lpstr>佈景主題</vt:lpstr>
      </vt:variant>
      <vt:variant>
        <vt:i4>1</vt:i4>
      </vt:variant>
      <vt:variant>
        <vt:lpstr>內嵌 OLE 伺服程式</vt:lpstr>
      </vt:variant>
      <vt:variant>
        <vt:i4>1</vt:i4>
      </vt:variant>
      <vt:variant>
        <vt:lpstr>投影片標題</vt:lpstr>
      </vt:variant>
      <vt:variant>
        <vt:i4>54</vt:i4>
      </vt:variant>
    </vt:vector>
  </HeadingPairs>
  <TitlesOfParts>
    <vt:vector size="60" baseType="lpstr">
      <vt:lpstr>FangSong</vt:lpstr>
      <vt:lpstr>Arial</vt:lpstr>
      <vt:lpstr>Calibri</vt:lpstr>
      <vt:lpstr>Times New Roman</vt:lpstr>
      <vt:lpstr>Office 佈景主題</vt:lpstr>
      <vt:lpstr>Equation</vt:lpstr>
      <vt:lpstr>An Improved Algorithm for Matching Biological Sequences</vt:lpstr>
      <vt:lpstr>PowerPoint 簡報</vt:lpstr>
      <vt:lpstr>Introduction</vt:lpstr>
      <vt:lpstr>Introduction</vt:lpstr>
      <vt:lpstr>Algorithm</vt:lpstr>
      <vt:lpstr>Example</vt:lpstr>
      <vt:lpstr>Example</vt:lpstr>
      <vt:lpstr>Example</vt:lpstr>
      <vt:lpstr>Example</vt:lpstr>
      <vt:lpstr>Example</vt:lpstr>
      <vt:lpstr>Example</vt:lpstr>
      <vt:lpstr>Example</vt:lpstr>
      <vt:lpstr>Example</vt:lpstr>
      <vt:lpstr>Example</vt:lpstr>
      <vt:lpstr>Example</vt:lpstr>
      <vt:lpstr>Example</vt:lpstr>
      <vt:lpstr>An Improved Algorithm for Matching Biological Sequences</vt:lpstr>
      <vt:lpstr>Abstract</vt:lpstr>
      <vt:lpstr>Algorithm</vt:lpstr>
      <vt:lpstr>Algorithm</vt:lpstr>
      <vt:lpstr>Initialization</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But</vt:lpstr>
      <vt:lpstr>Example</vt:lpstr>
      <vt:lpstr>Example</vt:lpstr>
      <vt:lpstr>Example</vt:lpstr>
      <vt:lpstr>Example</vt:lpstr>
      <vt:lpstr>Example</vt:lpstr>
      <vt:lpstr>Example</vt:lpstr>
      <vt:lpstr>How to solve?</vt:lpstr>
      <vt:lpstr>Initialization</vt:lpstr>
      <vt:lpstr>Example</vt:lpstr>
      <vt:lpstr>Example</vt:lpstr>
      <vt:lpstr>Example</vt:lpstr>
      <vt:lpstr>Example</vt:lpstr>
      <vt:lpstr>Example</vt:lpstr>
      <vt:lpstr>Example</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pplab</cp:lastModifiedBy>
  <cp:revision>95</cp:revision>
  <dcterms:created xsi:type="dcterms:W3CDTF">2019-09-15T07:43:36Z</dcterms:created>
  <dcterms:modified xsi:type="dcterms:W3CDTF">2020-07-28T09:07:17Z</dcterms:modified>
</cp:coreProperties>
</file>