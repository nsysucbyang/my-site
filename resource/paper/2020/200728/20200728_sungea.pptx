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1" r:id="rId5"/>
    <p:sldId id="265" r:id="rId6"/>
    <p:sldId id="262" r:id="rId7"/>
    <p:sldId id="267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5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D5D2D-54E3-46FA-BF73-C4FB56379FE6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B323F-806A-4C0D-AA55-E94E138611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1990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6929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那麼因為我在上一輪</a:t>
            </a:r>
            <a:r>
              <a:rPr lang="en-US" altLang="zh-TW" dirty="0"/>
              <a:t>R1</a:t>
            </a:r>
            <a:r>
              <a:rPr lang="zh-TW" altLang="en-US" dirty="0"/>
              <a:t>已經加到最大值</a:t>
            </a:r>
            <a:r>
              <a:rPr lang="en-US" altLang="zh-TW" dirty="0"/>
              <a:t>3</a:t>
            </a:r>
            <a:r>
              <a:rPr lang="zh-TW" altLang="en-US" dirty="0"/>
              <a:t>了，那麼在這一輪我就知道</a:t>
            </a:r>
            <a:r>
              <a:rPr lang="en-US" altLang="zh-TW" dirty="0"/>
              <a:t>R1</a:t>
            </a:r>
            <a:r>
              <a:rPr lang="zh-TW" altLang="en-US" dirty="0"/>
              <a:t>不能再加上去了，所以可以從這邊知道，只有在</a:t>
            </a:r>
            <a:r>
              <a:rPr lang="en-US" altLang="zh-TW" dirty="0"/>
              <a:t>R1</a:t>
            </a:r>
            <a:r>
              <a:rPr lang="zh-TW" altLang="en-US" dirty="0"/>
              <a:t>之後的才需要把值再</a:t>
            </a:r>
            <a:r>
              <a:rPr lang="en-US" altLang="zh-TW" dirty="0"/>
              <a:t>+1</a:t>
            </a:r>
          </a:p>
          <a:p>
            <a:r>
              <a:rPr lang="zh-TW" altLang="en-US" dirty="0"/>
              <a:t>所以就是原先的</a:t>
            </a:r>
            <a:r>
              <a:rPr lang="en-US" altLang="zh-TW" dirty="0"/>
              <a:t>R2 R3</a:t>
            </a:r>
            <a:r>
              <a:rPr lang="zh-TW" altLang="en-US" dirty="0"/>
              <a:t> 再</a:t>
            </a:r>
            <a:r>
              <a:rPr lang="en-US" altLang="zh-TW" dirty="0"/>
              <a:t>+1</a:t>
            </a:r>
            <a:r>
              <a:rPr lang="zh-TW" altLang="en-US" dirty="0"/>
              <a:t> ，再新增</a:t>
            </a:r>
            <a:r>
              <a:rPr lang="en-US" altLang="zh-TW" dirty="0"/>
              <a:t>R4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4B323F-806A-4C0D-AA55-E94E138611E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709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4B323F-806A-4C0D-AA55-E94E138611E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19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00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939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39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744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7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215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387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42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488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592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6779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7BE9E-101D-495D-89DC-3680D01B80AF}" type="datetimeFigureOut">
              <a:rPr lang="zh-TW" altLang="en-US" smtClean="0"/>
              <a:t>2020/7/28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B3E7A-612D-4A9F-B6B8-CC6E7FF417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01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Longest Common Subsequences with Run-Length-Encoded Strings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93371" y="3833551"/>
            <a:ext cx="9144000" cy="1898516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Jia-Jie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Liu, Yue-Li Wang and Yu-Shan Chiu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EN-AN SONG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July 28, 2020</a:t>
            </a:r>
          </a:p>
        </p:txBody>
      </p:sp>
      <p:sp>
        <p:nvSpPr>
          <p:cNvPr id="5" name="矩形 4"/>
          <p:cNvSpPr/>
          <p:nvPr/>
        </p:nvSpPr>
        <p:spPr>
          <a:xfrm>
            <a:off x="2787004" y="438688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Computer Journal Advance Access published March 5, 2014</a:t>
            </a: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09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two strings X and Y and a constraining string P, a string Z is called a constrained longest common subsequence of X and Y with respect to P if Z is the longest common subsequence of X and Y such that P is a subsequence of Z. In this paper, we propose an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r×min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mN,nM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})-time algorithm for solving this problem, where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 are the lengths of X,Y and P, respectively, and M and N are the number of runs of the run-length-encoded strings of X and Y, respectively.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54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069465"/>
            <a:ext cx="10515600" cy="4351338"/>
          </a:xfrm>
        </p:spPr>
        <p:txBody>
          <a:bodyPr/>
          <a:lstStyle/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can be encoded as 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 ,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b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 , 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 , 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b , 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12896" y="3151505"/>
          <a:ext cx="81280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Run-Length Encoded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2095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ddaaadddd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RLE(X) = d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adaaddd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CLCS(X,Y,P)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daa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ddd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83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/>
          </a:p>
        </p:txBody>
      </p:sp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016219"/>
              </p:ext>
            </p:extLst>
          </p:nvPr>
        </p:nvGraphicFramePr>
        <p:xfrm>
          <a:off x="4577436" y="3464503"/>
          <a:ext cx="3477600" cy="3280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1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5499152"/>
              </p:ext>
            </p:extLst>
          </p:nvPr>
        </p:nvGraphicFramePr>
        <p:xfrm>
          <a:off x="4577436" y="50599"/>
          <a:ext cx="3477600" cy="336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1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0462823"/>
              </p:ext>
            </p:extLst>
          </p:nvPr>
        </p:nvGraphicFramePr>
        <p:xfrm>
          <a:off x="8148336" y="50599"/>
          <a:ext cx="3477600" cy="3280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1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2004440"/>
              </p:ext>
            </p:extLst>
          </p:nvPr>
        </p:nvGraphicFramePr>
        <p:xfrm>
          <a:off x="8148336" y="3464503"/>
          <a:ext cx="3477600" cy="3280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1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137160" y="4068206"/>
            <a:ext cx="416814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LCS(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CLCS(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consists ‘d’</a:t>
            </a:r>
            <a:endParaRPr lang="en-US" altLang="zh-TW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CLCS(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consists ‘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altLang="zh-TW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CLCS(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consists ‘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altLang="zh-TW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93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272112"/>
              </p:ext>
            </p:extLst>
          </p:nvPr>
        </p:nvGraphicFramePr>
        <p:xfrm>
          <a:off x="3329473" y="1495754"/>
          <a:ext cx="4534472" cy="4588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8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4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4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6444729" y="2895962"/>
            <a:ext cx="21385" cy="1097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5990500" y="4122723"/>
            <a:ext cx="363647" cy="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158204" y="1495754"/>
            <a:ext cx="569167" cy="612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329473" y="2995127"/>
            <a:ext cx="569167" cy="13048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738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9973851"/>
              </p:ext>
            </p:extLst>
          </p:nvPr>
        </p:nvGraphicFramePr>
        <p:xfrm>
          <a:off x="8303464" y="1607722"/>
          <a:ext cx="327660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93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4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4890950"/>
              </p:ext>
            </p:extLst>
          </p:nvPr>
        </p:nvGraphicFramePr>
        <p:xfrm>
          <a:off x="4598037" y="1607722"/>
          <a:ext cx="327660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93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4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3" name="直線單箭頭接點 12"/>
          <p:cNvCxnSpPr/>
          <p:nvPr/>
        </p:nvCxnSpPr>
        <p:spPr>
          <a:xfrm>
            <a:off x="5590600" y="2649893"/>
            <a:ext cx="747996" cy="9610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908670" y="2807374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916837" y="5538509"/>
            <a:ext cx="2957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ad,dd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LCS(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,aaa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1+2 = 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3089278"/>
              </p:ext>
            </p:extLst>
          </p:nvPr>
        </p:nvGraphicFramePr>
        <p:xfrm>
          <a:off x="886404" y="1607722"/>
          <a:ext cx="327660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93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4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>
          <a:xfrm>
            <a:off x="1300069" y="2519265"/>
            <a:ext cx="1435355" cy="10916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094782" y="2807374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234038" y="5525304"/>
            <a:ext cx="292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LCS(‘’,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LCS(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 = 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6" name="直線單箭頭接點 35"/>
          <p:cNvCxnSpPr/>
          <p:nvPr/>
        </p:nvCxnSpPr>
        <p:spPr>
          <a:xfrm>
            <a:off x="9755156" y="2649893"/>
            <a:ext cx="373224" cy="9610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9890452" y="2807374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622264" y="5525304"/>
            <a:ext cx="2957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ada,dd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LCS(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1+1 =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94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graphicFrame>
        <p:nvGraphicFramePr>
          <p:cNvPr id="7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0849575"/>
              </p:ext>
            </p:extLst>
          </p:nvPr>
        </p:nvGraphicFramePr>
        <p:xfrm>
          <a:off x="4577436" y="3464503"/>
          <a:ext cx="3477600" cy="3280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1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0788957"/>
              </p:ext>
            </p:extLst>
          </p:nvPr>
        </p:nvGraphicFramePr>
        <p:xfrm>
          <a:off x="4577436" y="50599"/>
          <a:ext cx="3477600" cy="336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1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0127206"/>
              </p:ext>
            </p:extLst>
          </p:nvPr>
        </p:nvGraphicFramePr>
        <p:xfrm>
          <a:off x="8148336" y="50599"/>
          <a:ext cx="3477600" cy="3280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1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9796457"/>
              </p:ext>
            </p:extLst>
          </p:nvPr>
        </p:nvGraphicFramePr>
        <p:xfrm>
          <a:off x="8148336" y="3464503"/>
          <a:ext cx="3477600" cy="3280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TW" sz="11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/>
          <p:nvPr/>
        </p:nvCxnSpPr>
        <p:spPr>
          <a:xfrm>
            <a:off x="7548465" y="5281127"/>
            <a:ext cx="3750900" cy="14286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10534261" y="1910397"/>
            <a:ext cx="819539" cy="45670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6624735" y="1910397"/>
            <a:ext cx="4674630" cy="45670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5309118" y="1910397"/>
            <a:ext cx="5990247" cy="4695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0568607" y="2027662"/>
            <a:ext cx="3754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173042" y="2186462"/>
            <a:ext cx="3754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942759" y="2181550"/>
            <a:ext cx="3754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+4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634053" y="5445956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840271" y="1667324"/>
            <a:ext cx="3909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adaadd,ddaaa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LCS(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2+1 = 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38200" y="2489327"/>
            <a:ext cx="3909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adaad,ddaaa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LCS(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3+2 = 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38200" y="3311330"/>
            <a:ext cx="3909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adaa,ddaaa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LCS(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3+3 = 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838200" y="4133333"/>
            <a:ext cx="3909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adaadd,ddaaa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LCS(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dddd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dddd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1+4 = 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987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Totally time complexity :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+…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/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022833" y="2359182"/>
            <a:ext cx="930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7022833" y="3192760"/>
            <a:ext cx="853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7022832" y="4454028"/>
            <a:ext cx="930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 </a:t>
            </a:r>
            <a:endParaRPr lang="zh-TW" altLang="en-US" sz="2400" dirty="0"/>
          </a:p>
        </p:txBody>
      </p:sp>
      <p:graphicFrame>
        <p:nvGraphicFramePr>
          <p:cNvPr id="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0923943"/>
              </p:ext>
            </p:extLst>
          </p:nvPr>
        </p:nvGraphicFramePr>
        <p:xfrm>
          <a:off x="8179829" y="1825625"/>
          <a:ext cx="327660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9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9390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17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3095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 list of numbers</a:t>
            </a:r>
          </a:p>
          <a:p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max{j |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max{a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list (3,7,4,6,2,1,6,4)</a:t>
            </a:r>
          </a:p>
          <a:p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TW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,4,6,2,1,6,4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TW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,4,6,2,1,6,4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(3,7,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4,6,2,1,</a:t>
            </a:r>
            <a:r>
              <a:rPr lang="en-US" altLang="zh-TW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(3,7,4,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6,2,1,</a:t>
            </a:r>
            <a:r>
              <a:rPr lang="en-US" altLang="zh-TW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(3,7,4,6,2,1,6,</a:t>
            </a:r>
            <a:r>
              <a:rPr lang="en-US" altLang="zh-TW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indices = 2,2,7,7,7,7,7,8</a:t>
            </a:r>
          </a:p>
          <a:p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 = {[1,2],[3,7],[8,8]}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492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30955"/>
          </a:xfrm>
        </p:spPr>
        <p:txBody>
          <a:bodyPr/>
          <a:lstStyle/>
          <a:p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 = {[1,2],[3,7],[8,8]}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max{a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max{a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...,a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max{a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01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81869"/>
              </p:ext>
            </p:extLst>
          </p:nvPr>
        </p:nvGraphicFramePr>
        <p:xfrm>
          <a:off x="818754" y="1527045"/>
          <a:ext cx="3276610" cy="256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69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>
            <a:off x="1669395" y="2911150"/>
            <a:ext cx="242596" cy="961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724279" y="3083899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143504"/>
              </p:ext>
            </p:extLst>
          </p:nvPr>
        </p:nvGraphicFramePr>
        <p:xfrm>
          <a:off x="6468207" y="1527045"/>
          <a:ext cx="3276610" cy="256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69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2" name="直線單箭頭接點 21"/>
          <p:cNvCxnSpPr/>
          <p:nvPr/>
        </p:nvCxnSpPr>
        <p:spPr>
          <a:xfrm>
            <a:off x="7635623" y="2911150"/>
            <a:ext cx="242596" cy="961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7635623" y="3083899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7323503" y="2911150"/>
            <a:ext cx="499832" cy="961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7135616" y="3083899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259313"/>
              </p:ext>
            </p:extLst>
          </p:nvPr>
        </p:nvGraphicFramePr>
        <p:xfrm>
          <a:off x="736515" y="4201070"/>
          <a:ext cx="3276610" cy="256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69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>
          <a:xfrm>
            <a:off x="1903931" y="5585175"/>
            <a:ext cx="1168607" cy="961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350353" y="5757924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/>
          <p:cNvCxnSpPr/>
          <p:nvPr/>
        </p:nvCxnSpPr>
        <p:spPr>
          <a:xfrm>
            <a:off x="1591811" y="5585175"/>
            <a:ext cx="1480727" cy="11010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403924" y="5757924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線單箭頭接點 38"/>
          <p:cNvCxnSpPr/>
          <p:nvPr/>
        </p:nvCxnSpPr>
        <p:spPr>
          <a:xfrm>
            <a:off x="2876595" y="5585175"/>
            <a:ext cx="320526" cy="8771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3009234" y="5757924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17278"/>
              </p:ext>
            </p:extLst>
          </p:nvPr>
        </p:nvGraphicFramePr>
        <p:xfrm>
          <a:off x="6468207" y="4201070"/>
          <a:ext cx="3276610" cy="256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69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7586616" y="5585175"/>
            <a:ext cx="1567452" cy="1030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8651117" y="5768191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7274496" y="5585175"/>
            <a:ext cx="1884859" cy="11010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8056329" y="5768190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線單箭頭接點 45"/>
          <p:cNvCxnSpPr/>
          <p:nvPr/>
        </p:nvCxnSpPr>
        <p:spPr>
          <a:xfrm>
            <a:off x="8559280" y="5585175"/>
            <a:ext cx="637949" cy="961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9075924" y="5757924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線單箭頭接點 47"/>
          <p:cNvCxnSpPr/>
          <p:nvPr/>
        </p:nvCxnSpPr>
        <p:spPr>
          <a:xfrm>
            <a:off x="8943110" y="5585174"/>
            <a:ext cx="320526" cy="8771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7367252" y="5772789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333649" y="1690688"/>
            <a:ext cx="208101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list={4}</a:t>
            </a:r>
          </a:p>
          <a:p>
            <a:r>
              <a:rPr lang="el-G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indices = 1</a:t>
            </a:r>
          </a:p>
          <a:p>
            <a:r>
              <a:rPr lang="el-G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 = [1,1]</a:t>
            </a:r>
          </a:p>
          <a:p>
            <a:endParaRPr lang="zh-TW" altLang="en-US" sz="2000" dirty="0"/>
          </a:p>
        </p:txBody>
      </p:sp>
      <p:sp>
        <p:nvSpPr>
          <p:cNvPr id="54" name="矩形 53"/>
          <p:cNvSpPr/>
          <p:nvPr/>
        </p:nvSpPr>
        <p:spPr>
          <a:xfrm>
            <a:off x="10036641" y="1690687"/>
            <a:ext cx="2081019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list={5,4}</a:t>
            </a:r>
          </a:p>
          <a:p>
            <a:r>
              <a:rPr lang="el-G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indices = 1,2</a:t>
            </a:r>
          </a:p>
          <a:p>
            <a:r>
              <a:rPr lang="el-G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 = [1,1]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[2,2]</a:t>
            </a:r>
          </a:p>
          <a:p>
            <a:endParaRPr lang="zh-TW" altLang="en-US" sz="2000" dirty="0"/>
          </a:p>
        </p:txBody>
      </p:sp>
      <p:sp>
        <p:nvSpPr>
          <p:cNvPr id="55" name="矩形 54"/>
          <p:cNvSpPr/>
          <p:nvPr/>
        </p:nvSpPr>
        <p:spPr>
          <a:xfrm>
            <a:off x="4241191" y="4586287"/>
            <a:ext cx="2081019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list={6,5,5}</a:t>
            </a:r>
          </a:p>
          <a:p>
            <a:r>
              <a:rPr lang="el-G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indices = 1,3,3</a:t>
            </a:r>
          </a:p>
          <a:p>
            <a:r>
              <a:rPr lang="el-G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 = [1,1]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[2,3]</a:t>
            </a:r>
          </a:p>
          <a:p>
            <a:endParaRPr lang="zh-TW" altLang="en-US" sz="2000" dirty="0"/>
          </a:p>
        </p:txBody>
      </p:sp>
      <p:sp>
        <p:nvSpPr>
          <p:cNvPr id="56" name="矩形 55"/>
          <p:cNvSpPr/>
          <p:nvPr/>
        </p:nvSpPr>
        <p:spPr>
          <a:xfrm>
            <a:off x="9970672" y="4586287"/>
            <a:ext cx="2140330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list={6,6,6,5}</a:t>
            </a:r>
          </a:p>
          <a:p>
            <a:r>
              <a:rPr lang="el-G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indices = 3,3,3,4</a:t>
            </a:r>
          </a:p>
          <a:p>
            <a:r>
              <a:rPr lang="el-GR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 = [1,3]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[4,4]</a:t>
            </a:r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17909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159892"/>
              </p:ext>
            </p:extLst>
          </p:nvPr>
        </p:nvGraphicFramePr>
        <p:xfrm>
          <a:off x="838200" y="1483549"/>
          <a:ext cx="3276610" cy="256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69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>
            <a:off x="2034882" y="2873829"/>
            <a:ext cx="1118654" cy="1031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40736" y="2971502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>
            <a:off x="1659458" y="2873829"/>
            <a:ext cx="1494078" cy="11713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56451" y="2979762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>
            <a:off x="3023118" y="2873829"/>
            <a:ext cx="255001" cy="9474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174024" y="3116762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82908"/>
              </p:ext>
            </p:extLst>
          </p:nvPr>
        </p:nvGraphicFramePr>
        <p:xfrm>
          <a:off x="838200" y="4190589"/>
          <a:ext cx="3276610" cy="256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69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/>
          <p:nvPr/>
        </p:nvCxnSpPr>
        <p:spPr>
          <a:xfrm>
            <a:off x="2034882" y="5598367"/>
            <a:ext cx="1477922" cy="1041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838837" y="5850784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>
          <a:xfrm>
            <a:off x="1659458" y="5598367"/>
            <a:ext cx="1871988" cy="11538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543208" y="5851292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>
            <a:off x="3023118" y="5598367"/>
            <a:ext cx="576367" cy="905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504241" y="5848567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>
            <a:off x="3318747" y="5598367"/>
            <a:ext cx="403753" cy="905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757155" y="5863359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22189" y="1945277"/>
            <a:ext cx="13997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list={6,5,5}</a:t>
            </a:r>
          </a:p>
          <a:p>
            <a:endParaRPr lang="zh-TW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4322189" y="4605010"/>
            <a:ext cx="1592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list={6,6,6,5}</a:t>
            </a:r>
          </a:p>
          <a:p>
            <a:endParaRPr lang="zh-TW" altLang="en-US" sz="2000" dirty="0"/>
          </a:p>
        </p:txBody>
      </p:sp>
      <p:sp>
        <p:nvSpPr>
          <p:cNvPr id="36" name="矩形 35"/>
          <p:cNvSpPr/>
          <p:nvPr/>
        </p:nvSpPr>
        <p:spPr>
          <a:xfrm>
            <a:off x="5946696" y="1945277"/>
            <a:ext cx="2642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(3+3) 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(3+2) 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(4+1)}</a:t>
            </a:r>
          </a:p>
        </p:txBody>
      </p:sp>
      <p:sp>
        <p:nvSpPr>
          <p:cNvPr id="37" name="矩形 36"/>
          <p:cNvSpPr/>
          <p:nvPr/>
        </p:nvSpPr>
        <p:spPr>
          <a:xfrm>
            <a:off x="5929310" y="4594131"/>
            <a:ext cx="2392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{6, 5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</p:txBody>
      </p:sp>
      <p:cxnSp>
        <p:nvCxnSpPr>
          <p:cNvPr id="39" name="直線單箭頭接點 38"/>
          <p:cNvCxnSpPr/>
          <p:nvPr/>
        </p:nvCxnSpPr>
        <p:spPr>
          <a:xfrm flipH="1">
            <a:off x="6923314" y="2299220"/>
            <a:ext cx="805479" cy="22949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>
            <a:off x="6466114" y="2314609"/>
            <a:ext cx="522515" cy="22904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6252612" y="163331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/>
          </a:p>
        </p:txBody>
      </p:sp>
      <p:sp>
        <p:nvSpPr>
          <p:cNvPr id="60" name="矩形 59"/>
          <p:cNvSpPr/>
          <p:nvPr/>
        </p:nvSpPr>
        <p:spPr>
          <a:xfrm>
            <a:off x="7059982" y="162976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/>
          </a:p>
        </p:txBody>
      </p:sp>
      <p:sp>
        <p:nvSpPr>
          <p:cNvPr id="61" name="矩形 60"/>
          <p:cNvSpPr/>
          <p:nvPr/>
        </p:nvSpPr>
        <p:spPr>
          <a:xfrm>
            <a:off x="7867352" y="162852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aseline="-25000" dirty="0"/>
          </a:p>
        </p:txBody>
      </p:sp>
      <p:sp>
        <p:nvSpPr>
          <p:cNvPr id="66" name="矩形 65"/>
          <p:cNvSpPr/>
          <p:nvPr/>
        </p:nvSpPr>
        <p:spPr>
          <a:xfrm>
            <a:off x="9017507" y="3600563"/>
            <a:ext cx="22076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origin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origin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origin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zh-TW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194535" y="3292786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400" baseline="-25000" dirty="0"/>
          </a:p>
        </p:txBody>
      </p:sp>
      <p:sp>
        <p:nvSpPr>
          <p:cNvPr id="69" name="矩形 68"/>
          <p:cNvSpPr/>
          <p:nvPr/>
        </p:nvSpPr>
        <p:spPr>
          <a:xfrm>
            <a:off x="2461224" y="3139808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400" baseline="-25000" dirty="0"/>
          </a:p>
        </p:txBody>
      </p:sp>
      <p:sp>
        <p:nvSpPr>
          <p:cNvPr id="70" name="矩形 69"/>
          <p:cNvSpPr/>
          <p:nvPr/>
        </p:nvSpPr>
        <p:spPr>
          <a:xfrm>
            <a:off x="1510267" y="3141545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400" baseline="-25000" dirty="0"/>
          </a:p>
        </p:txBody>
      </p:sp>
      <p:sp>
        <p:nvSpPr>
          <p:cNvPr id="71" name="矩形 70"/>
          <p:cNvSpPr/>
          <p:nvPr/>
        </p:nvSpPr>
        <p:spPr>
          <a:xfrm>
            <a:off x="3507936" y="6017247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400" baseline="-25000" dirty="0"/>
          </a:p>
        </p:txBody>
      </p:sp>
    </p:spTree>
    <p:extLst>
      <p:ext uri="{BB962C8B-B14F-4D97-AF65-F5344CB8AC3E}">
        <p14:creationId xmlns:p14="http://schemas.microsoft.com/office/powerpoint/2010/main" val="2668728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1006151" y="1506022"/>
            <a:ext cx="3149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 = {[1,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],[2,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 </a:t>
            </a:r>
          </a:p>
        </p:txBody>
      </p:sp>
      <p:cxnSp>
        <p:nvCxnSpPr>
          <p:cNvPr id="48" name="直線單箭頭接點 47"/>
          <p:cNvCxnSpPr>
            <a:stCxn id="46" idx="2"/>
          </p:cNvCxnSpPr>
          <p:nvPr/>
        </p:nvCxnSpPr>
        <p:spPr>
          <a:xfrm>
            <a:off x="2580794" y="1875354"/>
            <a:ext cx="0" cy="292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1476167" y="2306091"/>
            <a:ext cx="206819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max{R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max{R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線單箭頭接點 49"/>
          <p:cNvCxnSpPr/>
          <p:nvPr/>
        </p:nvCxnSpPr>
        <p:spPr>
          <a:xfrm flipH="1">
            <a:off x="2580795" y="3063798"/>
            <a:ext cx="1" cy="337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639673" y="3470767"/>
            <a:ext cx="1904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, if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&gt;1 </a:t>
            </a:r>
          </a:p>
        </p:txBody>
      </p:sp>
      <p:cxnSp>
        <p:nvCxnSpPr>
          <p:cNvPr id="52" name="直線單箭頭接點 51"/>
          <p:cNvCxnSpPr/>
          <p:nvPr/>
        </p:nvCxnSpPr>
        <p:spPr>
          <a:xfrm flipH="1">
            <a:off x="2580794" y="3978827"/>
            <a:ext cx="1" cy="337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1376522" y="4455502"/>
            <a:ext cx="2537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之後可能大於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54" name="直線單箭頭接點 53"/>
          <p:cNvCxnSpPr/>
          <p:nvPr/>
        </p:nvCxnSpPr>
        <p:spPr>
          <a:xfrm flipH="1">
            <a:off x="2105708" y="4924085"/>
            <a:ext cx="475087" cy="4410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1343859" y="5543096"/>
            <a:ext cx="1172116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≥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/>
          </a:p>
        </p:txBody>
      </p:sp>
      <p:cxnSp>
        <p:nvCxnSpPr>
          <p:cNvPr id="61" name="直線單箭頭接點 60"/>
          <p:cNvCxnSpPr/>
          <p:nvPr/>
        </p:nvCxnSpPr>
        <p:spPr>
          <a:xfrm>
            <a:off x="2580795" y="4932177"/>
            <a:ext cx="507638" cy="432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2760875" y="5543096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&lt;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/>
          </a:p>
        </p:txBody>
      </p:sp>
      <p:sp>
        <p:nvSpPr>
          <p:cNvPr id="77" name="矩形 76"/>
          <p:cNvSpPr/>
          <p:nvPr/>
        </p:nvSpPr>
        <p:spPr>
          <a:xfrm>
            <a:off x="8009026" y="1506022"/>
            <a:ext cx="1172116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≥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/>
          </a:p>
        </p:txBody>
      </p:sp>
      <p:cxnSp>
        <p:nvCxnSpPr>
          <p:cNvPr id="78" name="直線單箭頭接點 77"/>
          <p:cNvCxnSpPr/>
          <p:nvPr/>
        </p:nvCxnSpPr>
        <p:spPr>
          <a:xfrm flipH="1">
            <a:off x="8526206" y="1875448"/>
            <a:ext cx="1" cy="337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6589567" y="2306091"/>
            <a:ext cx="4011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max{new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dirty="0"/>
          </a:p>
        </p:txBody>
      </p:sp>
      <p:cxnSp>
        <p:nvCxnSpPr>
          <p:cNvPr id="80" name="直線單箭頭接點 79"/>
          <p:cNvCxnSpPr/>
          <p:nvPr/>
        </p:nvCxnSpPr>
        <p:spPr>
          <a:xfrm flipH="1">
            <a:off x="8526206" y="2678304"/>
            <a:ext cx="1" cy="337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7163974" y="3048105"/>
            <a:ext cx="2724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{[1,1],[2,3]} merge = [1,3] </a:t>
            </a:r>
          </a:p>
        </p:txBody>
      </p:sp>
      <p:sp>
        <p:nvSpPr>
          <p:cNvPr id="84" name="矩形 83"/>
          <p:cNvSpPr/>
          <p:nvPr/>
        </p:nvSpPr>
        <p:spPr>
          <a:xfrm>
            <a:off x="7431139" y="3840099"/>
            <a:ext cx="2172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是否大於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85" name="直線單箭頭接點 84"/>
          <p:cNvCxnSpPr/>
          <p:nvPr/>
        </p:nvCxnSpPr>
        <p:spPr>
          <a:xfrm flipH="1">
            <a:off x="8042247" y="4262744"/>
            <a:ext cx="475087" cy="4410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>
            <a:off x="8517334" y="4270836"/>
            <a:ext cx="507638" cy="432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>
            <a:off x="8526206" y="3413078"/>
            <a:ext cx="1" cy="337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6208368" y="4794138"/>
            <a:ext cx="2445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[1,3][4,4] merge = [1,4] </a:t>
            </a:r>
            <a:endParaRPr lang="zh-TW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8771153" y="4775298"/>
            <a:ext cx="1069524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[1,3][4,4]</a:t>
            </a:r>
            <a:endParaRPr lang="zh-TW" altLang="en-US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7918057" y="4265574"/>
            <a:ext cx="853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TW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8771153" y="4260888"/>
            <a:ext cx="853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TW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" name="直線單箭頭接點 94"/>
          <p:cNvCxnSpPr/>
          <p:nvPr/>
        </p:nvCxnSpPr>
        <p:spPr>
          <a:xfrm flipH="1">
            <a:off x="9197700" y="5244205"/>
            <a:ext cx="1" cy="337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8342594" y="5681727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maximum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3395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133936"/>
              </p:ext>
            </p:extLst>
          </p:nvPr>
        </p:nvGraphicFramePr>
        <p:xfrm>
          <a:off x="3257204" y="2614188"/>
          <a:ext cx="3276610" cy="256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76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69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5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>
          <a:xfrm>
            <a:off x="4375613" y="3998293"/>
            <a:ext cx="1567452" cy="1030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485294" y="4181308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zh-TW" altLang="en-US" sz="1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>
            <a:off x="4063493" y="3998293"/>
            <a:ext cx="1884859" cy="1101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845326" y="4181308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>
            <a:off x="5348277" y="3998293"/>
            <a:ext cx="637949" cy="961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864921" y="4171042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zh-TW" alt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/>
          <p:cNvCxnSpPr/>
          <p:nvPr/>
        </p:nvCxnSpPr>
        <p:spPr>
          <a:xfrm>
            <a:off x="5732107" y="3998292"/>
            <a:ext cx="320526" cy="877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156249" y="4185907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zh-TW" alt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10612" y="2909213"/>
            <a:ext cx="235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 = [1,3][4,4]</a:t>
            </a:r>
          </a:p>
        </p:txBody>
      </p:sp>
    </p:spTree>
    <p:extLst>
      <p:ext uri="{BB962C8B-B14F-4D97-AF65-F5344CB8AC3E}">
        <p14:creationId xmlns:p14="http://schemas.microsoft.com/office/powerpoint/2010/main" val="1060048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dirty="0"/>
          </a:p>
        </p:txBody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09" y="1494754"/>
            <a:ext cx="5637491" cy="5255179"/>
          </a:xfrm>
          <a:prstGeom prst="rect">
            <a:avLst/>
          </a:prstGeom>
        </p:spPr>
      </p:pic>
      <p:pic>
        <p:nvPicPr>
          <p:cNvPr id="32" name="圖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234" y="1494754"/>
            <a:ext cx="5530388" cy="525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9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Amortized time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{[1,1][2,2]…[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 : O(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O(1)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{[1,1][2,2]…[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r>
              <a:rPr lang="zh-TW" altLang="en-US" sz="2400" dirty="0"/>
              <a:t>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-1][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merge = {[1,1][2,2]…[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-1,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r>
              <a:rPr lang="zh-TW" altLang="en-US" sz="2400" dirty="0"/>
              <a:t>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-2][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-,1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merge …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{[1,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r>
              <a:rPr lang="zh-TW" altLang="en-US" sz="2400" dirty="0"/>
              <a:t> </a:t>
            </a:r>
            <a:endParaRPr lang="en-US" altLang="zh-TW" sz="2400" dirty="0"/>
          </a:p>
          <a:p>
            <a:pPr marL="0" indent="0">
              <a:buNone/>
            </a:pPr>
            <a:endParaRPr lang="en-US" altLang="zh-TW" sz="2400" dirty="0"/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most merging 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time , (O(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)+O(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/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λ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O(1)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154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amortized O(1)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amortized O(1)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Totally time complexity :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44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1947</TotalTime>
  <Words>1490</Words>
  <Application>Microsoft Office PowerPoint</Application>
  <PresentationFormat>寬螢幕</PresentationFormat>
  <Paragraphs>574</Paragraphs>
  <Slides>18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佈景主題</vt:lpstr>
      <vt:lpstr>Constrained Longest Common Subsequences with Run-Length-Encoded Strings</vt:lpstr>
      <vt:lpstr>Abstract</vt:lpstr>
      <vt:lpstr>Run-Length Encoded </vt:lpstr>
      <vt:lpstr>Example</vt:lpstr>
      <vt:lpstr>Example</vt:lpstr>
      <vt:lpstr>RXi ≠ Yj</vt:lpstr>
      <vt:lpstr>RXi = Yj ≠ Pk</vt:lpstr>
      <vt:lpstr>RXi = Yj = Pk</vt:lpstr>
      <vt:lpstr>Now Time complexity</vt:lpstr>
      <vt:lpstr>Improve method</vt:lpstr>
      <vt:lpstr>Improve method</vt:lpstr>
      <vt:lpstr>RXi = Yj ≠ Pk</vt:lpstr>
      <vt:lpstr>RXi = Yj ≠ Pk</vt:lpstr>
      <vt:lpstr>RXi = Yj ≠ Pk</vt:lpstr>
      <vt:lpstr>RXi = Yj ≠ Pk</vt:lpstr>
      <vt:lpstr>RXi = Yj = Pk</vt:lpstr>
      <vt:lpstr>Amortized time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Constrained Longest Common Subsequences with Run-Length-Encoded Strings</dc:title>
  <dc:creator>Alex</dc:creator>
  <cp:lastModifiedBy>pplab</cp:lastModifiedBy>
  <cp:revision>42</cp:revision>
  <dcterms:created xsi:type="dcterms:W3CDTF">2020-07-26T10:47:08Z</dcterms:created>
  <dcterms:modified xsi:type="dcterms:W3CDTF">2020-07-28T09:40:14Z</dcterms:modified>
</cp:coreProperties>
</file>