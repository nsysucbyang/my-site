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7" r:id="rId2"/>
    <p:sldId id="288" r:id="rId3"/>
    <p:sldId id="287" r:id="rId4"/>
    <p:sldId id="258" r:id="rId5"/>
    <p:sldId id="259" r:id="rId6"/>
    <p:sldId id="289" r:id="rId7"/>
    <p:sldId id="290" r:id="rId8"/>
    <p:sldId id="291" r:id="rId9"/>
    <p:sldId id="292" r:id="rId10"/>
    <p:sldId id="293" r:id="rId11"/>
    <p:sldId id="294" r:id="rId12"/>
    <p:sldId id="295" r:id="rId13"/>
    <p:sldId id="296" r:id="rId14"/>
    <p:sldId id="311" r:id="rId15"/>
    <p:sldId id="297" r:id="rId16"/>
    <p:sldId id="298" r:id="rId17"/>
    <p:sldId id="299" r:id="rId18"/>
    <p:sldId id="301" r:id="rId19"/>
    <p:sldId id="312" r:id="rId20"/>
    <p:sldId id="313" r:id="rId21"/>
    <p:sldId id="302" r:id="rId22"/>
    <p:sldId id="303" r:id="rId23"/>
    <p:sldId id="304" r:id="rId24"/>
    <p:sldId id="308" r:id="rId25"/>
    <p:sldId id="309" r:id="rId26"/>
    <p:sldId id="315" r:id="rId27"/>
    <p:sldId id="305" r:id="rId28"/>
    <p:sldId id="306" r:id="rId29"/>
    <p:sldId id="307" r:id="rId30"/>
    <p:sldId id="310" r:id="rId31"/>
    <p:sldId id="314" r:id="rId3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2020/5/5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3</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4</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5</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13</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14</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18</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19</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20</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2020/5/5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2020/5/5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0" y="1715999"/>
            <a:ext cx="9144000" cy="649317"/>
          </a:xfrm>
        </p:spPr>
        <p:txBody>
          <a:bodyPr>
            <a:noAutofit/>
          </a:bodyPr>
          <a:lstStyle/>
          <a:p>
            <a:r>
              <a:rPr lang="en-US" altLang="zh-TW" sz="3200" dirty="0">
                <a:latin typeface="Times New Roman" pitchFamily="18" charset="0"/>
                <a:ea typeface="標楷體" pitchFamily="65" charset="-120"/>
                <a:cs typeface="Times New Roman" pitchFamily="18" charset="0"/>
              </a:rPr>
              <a:t>An Introduction to Protein Alignment Algorithms</a:t>
            </a: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itchFamily="18" charset="0"/>
                <a:ea typeface="標楷體" pitchFamily="65" charset="-120"/>
                <a:cs typeface="Times New Roman" pitchFamily="18" charset="0"/>
              </a:rPr>
              <a:t>Presenter: Yuan-Hsiu Tsai</a:t>
            </a:r>
            <a:endParaRPr lang="zh-TW" altLang="en-US" sz="2400" dirty="0">
              <a:latin typeface="Times New Roman" pitchFamily="18" charset="0"/>
              <a:ea typeface="標楷體" pitchFamily="65" charset="-120"/>
              <a:cs typeface="Times New Roman"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24855"/>
            <a:ext cx="2548326"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ea typeface="標楷體" pitchFamily="65" charset="-120"/>
              </a:rPr>
              <a:t>Date: May 5, 2020</a:t>
            </a:r>
            <a:endParaRPr lang="zh-TW" altLang="en-US" dirty="0">
              <a:ea typeface="標楷體" pitchFamily="65" charset="-120"/>
            </a:endParaRPr>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Index</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sz="2000" dirty="0">
                <a:latin typeface="Times New Roman" pitchFamily="18" charset="0"/>
                <a:ea typeface="標楷體" pitchFamily="65" charset="-120"/>
                <a:cs typeface="Times New Roman" pitchFamily="18" charset="0"/>
              </a:rPr>
              <a:t>A Novel Structure of the Smith-Waterman Algorithm for efficient sequence alignment   ---- 3</a:t>
            </a:r>
          </a:p>
          <a:p>
            <a:endParaRPr lang="en-US" altLang="zh-TW" sz="2000" dirty="0">
              <a:latin typeface="Times New Roman" pitchFamily="18" charset="0"/>
              <a:ea typeface="標楷體" pitchFamily="65" charset="-120"/>
              <a:cs typeface="Times New Roman" pitchFamily="18" charset="0"/>
            </a:endParaRPr>
          </a:p>
          <a:p>
            <a:r>
              <a:rPr lang="en-US" altLang="zh-TW" sz="2000" dirty="0">
                <a:latin typeface="Times New Roman" pitchFamily="18" charset="0"/>
                <a:cs typeface="Times New Roman" pitchFamily="18" charset="0"/>
              </a:rPr>
              <a:t>Optimal alignments of biological sequences on a microcomputer ---- 13</a:t>
            </a:r>
          </a:p>
          <a:p>
            <a:endParaRPr lang="en-US" altLang="zh-TW" sz="2000" dirty="0">
              <a:latin typeface="Times New Roman" pitchFamily="18" charset="0"/>
              <a:cs typeface="Times New Roman" pitchFamily="18" charset="0"/>
            </a:endParaRPr>
          </a:p>
          <a:p>
            <a:r>
              <a:rPr lang="en-US" altLang="zh-TW" sz="2000" dirty="0">
                <a:latin typeface="Times New Roman" pitchFamily="18" charset="0"/>
                <a:ea typeface="標楷體" pitchFamily="65" charset="-120"/>
                <a:cs typeface="Times New Roman" pitchFamily="18" charset="0"/>
              </a:rPr>
              <a:t>Efficient Alignment of Very Long Sequences ---- 17</a:t>
            </a:r>
            <a:endParaRPr lang="zh-TW" alt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a:latin typeface="Times New Roman" pitchFamily="18" charset="0"/>
                <a:ea typeface="標楷體" pitchFamily="65" charset="-120"/>
                <a:cs typeface="Times New Roman" pitchFamily="18" charset="0"/>
              </a:rPr>
              <a:t>A novel structure of the Smith-Waterman Algorithm for efficient sequence alignment</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sz="1800" dirty="0" err="1">
                <a:solidFill>
                  <a:schemeClr val="tx1"/>
                </a:solidFill>
                <a:latin typeface="Times New Roman" pitchFamily="18" charset="0"/>
                <a:cs typeface="Times New Roman" pitchFamily="18" charset="0"/>
              </a:rPr>
              <a:t>Saad</a:t>
            </a:r>
            <a:r>
              <a:rPr lang="en-US" sz="1800" dirty="0">
                <a:solidFill>
                  <a:schemeClr val="tx1"/>
                </a:solidFill>
                <a:latin typeface="Times New Roman" pitchFamily="18" charset="0"/>
                <a:cs typeface="Times New Roman" pitchFamily="18" charset="0"/>
              </a:rPr>
              <a:t> Khan </a:t>
            </a:r>
            <a:r>
              <a:rPr lang="en-US" sz="1800" dirty="0" err="1">
                <a:solidFill>
                  <a:schemeClr val="tx1"/>
                </a:solidFill>
                <a:latin typeface="Times New Roman" pitchFamily="18" charset="0"/>
                <a:cs typeface="Times New Roman" pitchFamily="18" charset="0"/>
              </a:rPr>
              <a:t>Zahid</a:t>
            </a:r>
            <a:r>
              <a:rPr lang="en-US" sz="1800" dirty="0">
                <a:solidFill>
                  <a:schemeClr val="tx1"/>
                </a:solidFill>
                <a:latin typeface="Times New Roman" pitchFamily="18" charset="0"/>
                <a:cs typeface="Times New Roman" pitchFamily="18" charset="0"/>
              </a:rPr>
              <a:t>, </a:t>
            </a:r>
            <a:r>
              <a:rPr lang="en-US" sz="1800" dirty="0" err="1">
                <a:solidFill>
                  <a:schemeClr val="tx1"/>
                </a:solidFill>
                <a:latin typeface="Times New Roman" pitchFamily="18" charset="0"/>
                <a:cs typeface="Times New Roman" pitchFamily="18" charset="0"/>
              </a:rPr>
              <a:t>Laiq</a:t>
            </a:r>
            <a:r>
              <a:rPr lang="en-US" sz="1800" dirty="0">
                <a:solidFill>
                  <a:schemeClr val="tx1"/>
                </a:solidFill>
                <a:latin typeface="Times New Roman" pitchFamily="18" charset="0"/>
                <a:cs typeface="Times New Roman" pitchFamily="18" charset="0"/>
              </a:rPr>
              <a:t> </a:t>
            </a:r>
            <a:r>
              <a:rPr lang="en-US" sz="1800" dirty="0" err="1">
                <a:solidFill>
                  <a:schemeClr val="tx1"/>
                </a:solidFill>
                <a:latin typeface="Times New Roman" pitchFamily="18" charset="0"/>
                <a:cs typeface="Times New Roman" pitchFamily="18" charset="0"/>
              </a:rPr>
              <a:t>Hasan</a:t>
            </a:r>
            <a:r>
              <a:rPr lang="fi-FI" sz="1800" dirty="0">
                <a:solidFill>
                  <a:schemeClr val="tx1"/>
                </a:solidFill>
                <a:latin typeface="Times New Roman" pitchFamily="18" charset="0"/>
                <a:cs typeface="Times New Roman" pitchFamily="18" charset="0"/>
              </a:rPr>
              <a:t>, Asif Ali Khan, Salim Ullah</a:t>
            </a:r>
            <a:endParaRPr lang="en-US" altLang="zh-TW" sz="1800" dirty="0">
              <a:solidFill>
                <a:schemeClr val="tx1"/>
              </a:solidFill>
              <a:latin typeface="Times New Roman" pitchFamily="18" charset="0"/>
              <a:ea typeface="標楷體" pitchFamily="65" charset="-120"/>
              <a:cs typeface="Times New Roman" pitchFamily="18" charset="0"/>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928662" y="3873343"/>
            <a:ext cx="7726667" cy="830997"/>
          </a:xfrm>
          <a:prstGeom prst="rect">
            <a:avLst/>
          </a:prstGeom>
          <a:noFill/>
        </p:spPr>
        <p:txBody>
          <a:bodyPr wrap="none" rtlCol="0">
            <a:spAutoFit/>
          </a:bodyPr>
          <a:lstStyle/>
          <a:p>
            <a:pPr algn="ct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2015 Third International Conference on Digital Information, </a:t>
            </a:r>
          </a:p>
          <a:p>
            <a:pPr algn="ctr"/>
            <a:r>
              <a:rPr lang="en-US" sz="2400" dirty="0">
                <a:latin typeface="Times New Roman" pitchFamily="18" charset="0"/>
                <a:cs typeface="Times New Roman" pitchFamily="18" charset="0"/>
              </a:rPr>
              <a:t>Networking, and Wireless Communications (DINWC)</a:t>
            </a:r>
            <a:endParaRPr lang="en-US" altLang="zh-TW" sz="2200" dirty="0">
              <a:latin typeface="Times New Roman" pitchFamily="18" charset="0"/>
              <a:ea typeface="標楷體" pitchFamily="65" charset="-120"/>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itchFamily="18" charset="0"/>
                <a:ea typeface="標楷體" pitchFamily="65" charset="-120"/>
                <a:cs typeface="Times New Roman" pitchFamily="18" charset="0"/>
              </a:rPr>
              <a:t>Presenter: Yuan-Hsiu Tsai</a:t>
            </a:r>
            <a:endParaRPr lang="zh-TW" altLang="en-US" sz="2400" dirty="0">
              <a:latin typeface="Times New Roman" pitchFamily="18" charset="0"/>
              <a:ea typeface="標楷體" pitchFamily="65" charset="-120"/>
              <a:cs typeface="Times New Roman"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24855"/>
            <a:ext cx="2548326"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ea typeface="標楷體" pitchFamily="65" charset="-120"/>
              </a:rPr>
              <a:t>Date: May. 5, 2020</a:t>
            </a:r>
            <a:endParaRPr lang="zh-TW" altLang="en-US" dirty="0">
              <a:ea typeface="標楷體" pitchFamily="65" charset="-120"/>
            </a:endParaRPr>
          </a:p>
        </p:txBody>
      </p:sp>
    </p:spTree>
    <p:extLst>
      <p:ext uri="{BB962C8B-B14F-4D97-AF65-F5344CB8AC3E}">
        <p14:creationId xmlns:p14="http://schemas.microsoft.com/office/powerpoint/2010/main" val="355704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sz="2800" dirty="0">
                <a:latin typeface="Times New Roman" pitchFamily="18" charset="0"/>
                <a:cs typeface="Times New Roman" pitchFamily="18" charset="0"/>
              </a:rPr>
              <a:t>The emergence of bioinformatics has led to many new discoveries in living organisms. These discoveries would not have been possible without the developments made in the sequence alignment techniques. Many sequence alignment algorithms were developed to make the alignment process fast and accurate. However, the more precise algorithms take longer than their less precise counterparts. Researchers came with innovative approaches to combat the time consuming constraint. Their aim was to speed up the computational process by using more efficient implementations of the algorithms using state-of-the-art hardware platforms. </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774493"/>
            <a:ext cx="9004993" cy="5246795"/>
          </a:xfrm>
        </p:spPr>
        <p:txBody>
          <a:bodyPr>
            <a:noAutofit/>
          </a:bodyPr>
          <a:lstStyle/>
          <a:p>
            <a:pPr marL="0" indent="0">
              <a:lnSpc>
                <a:spcPts val="3200"/>
              </a:lnSpc>
              <a:buNone/>
            </a:pPr>
            <a:r>
              <a:rPr lang="en-US" sz="2800" dirty="0">
                <a:latin typeface="Times New Roman" pitchFamily="18" charset="0"/>
                <a:cs typeface="Times New Roman" pitchFamily="18" charset="0"/>
              </a:rPr>
              <a:t>Smith Waterman (SW) algorithm, being the most accurate in the alignment process, has been implemented on various high performance computing platforms for the same purpose. However, the intrinsic structure of the algorithm has got little attention. In this paper, we present a novel structure of the SW algorithm that takes less number of cycles at the cost of utilizing a minimal amount of extra hardware resources as compared to its existing form. The newly proposed architecture achieves up to 25% performance gain.</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pic>
        <p:nvPicPr>
          <p:cNvPr id="4" name="內容版面配置區 3" descr="1.PNG"/>
          <p:cNvPicPr>
            <a:picLocks noGrp="1" noChangeAspect="1"/>
          </p:cNvPicPr>
          <p:nvPr>
            <p:ph idx="1"/>
          </p:nvPr>
        </p:nvPicPr>
        <p:blipFill>
          <a:blip r:embed="rId2"/>
          <a:stretch>
            <a:fillRect/>
          </a:stretch>
        </p:blipFill>
        <p:spPr>
          <a:xfrm>
            <a:off x="-1" y="1714488"/>
            <a:ext cx="9129025" cy="4214842"/>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pic>
        <p:nvPicPr>
          <p:cNvPr id="6" name="內容版面配置區 5" descr="2.PNG"/>
          <p:cNvPicPr>
            <a:picLocks noGrp="1" noChangeAspect="1"/>
          </p:cNvPicPr>
          <p:nvPr>
            <p:ph idx="1"/>
          </p:nvPr>
        </p:nvPicPr>
        <p:blipFill>
          <a:blip r:embed="rId2"/>
          <a:stretch>
            <a:fillRect/>
          </a:stretch>
        </p:blipFill>
        <p:spPr>
          <a:xfrm>
            <a:off x="785786" y="2357430"/>
            <a:ext cx="7697275" cy="2238688"/>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sp>
        <p:nvSpPr>
          <p:cNvPr id="5" name="內容版面配置區 4"/>
          <p:cNvSpPr>
            <a:spLocks noGrp="1"/>
          </p:cNvSpPr>
          <p:nvPr>
            <p:ph idx="1"/>
          </p:nvPr>
        </p:nvSpPr>
        <p:spPr/>
        <p:txBody>
          <a:bodyPr/>
          <a:lstStyle/>
          <a:p>
            <a:r>
              <a:rPr lang="en-US" altLang="zh-TW" dirty="0"/>
              <a:t>Two structure</a:t>
            </a:r>
            <a:br>
              <a:rPr lang="en-US" altLang="zh-TW" dirty="0"/>
            </a:br>
            <a:br>
              <a:rPr lang="en-US" altLang="zh-TW" dirty="0"/>
            </a:br>
            <a:r>
              <a:rPr lang="en-US" altLang="zh-TW" dirty="0"/>
              <a:t>1.  4 – cycle</a:t>
            </a:r>
            <a:br>
              <a:rPr lang="en-US" altLang="zh-TW" dirty="0"/>
            </a:br>
            <a:br>
              <a:rPr lang="en-US" altLang="zh-TW" dirty="0"/>
            </a:br>
            <a:r>
              <a:rPr lang="en-US" altLang="zh-TW" dirty="0"/>
              <a:t>2.  3 – cycle</a:t>
            </a:r>
          </a:p>
          <a:p>
            <a:endParaRPr lang="en-US" altLang="zh-TW" dirty="0"/>
          </a:p>
          <a:p>
            <a:endParaRPr lang="zh-TW"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pic>
        <p:nvPicPr>
          <p:cNvPr id="12" name="內容版面配置區 11" descr="3.PNG"/>
          <p:cNvPicPr>
            <a:picLocks noGrp="1" noChangeAspect="1"/>
          </p:cNvPicPr>
          <p:nvPr>
            <p:ph idx="1"/>
          </p:nvPr>
        </p:nvPicPr>
        <p:blipFill>
          <a:blip r:embed="rId2"/>
          <a:stretch>
            <a:fillRect/>
          </a:stretch>
        </p:blipFill>
        <p:spPr>
          <a:xfrm>
            <a:off x="714380" y="1189053"/>
            <a:ext cx="8143900" cy="5637053"/>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pic>
        <p:nvPicPr>
          <p:cNvPr id="5" name="內容版面配置區 4" descr="4.PNG"/>
          <p:cNvPicPr>
            <a:picLocks noGrp="1" noChangeAspect="1"/>
          </p:cNvPicPr>
          <p:nvPr>
            <p:ph idx="1"/>
          </p:nvPr>
        </p:nvPicPr>
        <p:blipFill>
          <a:blip r:embed="rId2"/>
          <a:stretch>
            <a:fillRect/>
          </a:stretch>
        </p:blipFill>
        <p:spPr>
          <a:xfrm>
            <a:off x="92966" y="1285859"/>
            <a:ext cx="8908190" cy="5572141"/>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pic>
        <p:nvPicPr>
          <p:cNvPr id="5" name="內容版面配置區 4" descr="5.PNG"/>
          <p:cNvPicPr>
            <a:picLocks noGrp="1" noChangeAspect="1"/>
          </p:cNvPicPr>
          <p:nvPr>
            <p:ph idx="1"/>
          </p:nvPr>
        </p:nvPicPr>
        <p:blipFill>
          <a:blip r:embed="rId2"/>
          <a:stretch>
            <a:fillRect/>
          </a:stretch>
        </p:blipFill>
        <p:spPr>
          <a:xfrm>
            <a:off x="1071538" y="1186237"/>
            <a:ext cx="7000924" cy="5671763"/>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pic>
        <p:nvPicPr>
          <p:cNvPr id="5" name="內容版面配置區 4" descr="6.PNG"/>
          <p:cNvPicPr>
            <a:picLocks noGrp="1" noChangeAspect="1"/>
          </p:cNvPicPr>
          <p:nvPr>
            <p:ph idx="1"/>
          </p:nvPr>
        </p:nvPicPr>
        <p:blipFill>
          <a:blip r:embed="rId2"/>
          <a:stretch>
            <a:fillRect/>
          </a:stretch>
        </p:blipFill>
        <p:spPr>
          <a:xfrm>
            <a:off x="0" y="1285860"/>
            <a:ext cx="9144000" cy="5256508"/>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a:latin typeface="Times New Roman" pitchFamily="18" charset="0"/>
                <a:ea typeface="標楷體" pitchFamily="65" charset="-120"/>
                <a:cs typeface="Times New Roman" pitchFamily="18" charset="0"/>
              </a:rPr>
              <a:t>Optimal alignments of biological sequences on a microcomputer</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sz="1800" dirty="0" err="1">
                <a:solidFill>
                  <a:schemeClr val="tx1"/>
                </a:solidFill>
                <a:latin typeface="Times New Roman" pitchFamily="18" charset="0"/>
                <a:cs typeface="Times New Roman" pitchFamily="18" charset="0"/>
              </a:rPr>
              <a:t>Kazutada</a:t>
            </a:r>
            <a:r>
              <a:rPr lang="en-US" sz="1800" dirty="0">
                <a:solidFill>
                  <a:schemeClr val="tx1"/>
                </a:solidFill>
                <a:latin typeface="Times New Roman" pitchFamily="18" charset="0"/>
                <a:cs typeface="Times New Roman" pitchFamily="18" charset="0"/>
              </a:rPr>
              <a:t> Watanabe, Yoshio </a:t>
            </a:r>
            <a:r>
              <a:rPr lang="en-US" sz="1800" dirty="0" err="1">
                <a:solidFill>
                  <a:schemeClr val="tx1"/>
                </a:solidFill>
                <a:latin typeface="Times New Roman" pitchFamily="18" charset="0"/>
                <a:cs typeface="Times New Roman" pitchFamily="18" charset="0"/>
              </a:rPr>
              <a:t>Urano</a:t>
            </a:r>
            <a:r>
              <a:rPr lang="en-US" sz="1800" dirty="0">
                <a:solidFill>
                  <a:schemeClr val="tx1"/>
                </a:solidFill>
                <a:latin typeface="Times New Roman" pitchFamily="18" charset="0"/>
                <a:cs typeface="Times New Roman" pitchFamily="18" charset="0"/>
              </a:rPr>
              <a:t>, </a:t>
            </a:r>
            <a:r>
              <a:rPr lang="en-US" sz="1800" dirty="0" err="1">
                <a:solidFill>
                  <a:schemeClr val="tx1"/>
                </a:solidFill>
                <a:latin typeface="Times New Roman" pitchFamily="18" charset="0"/>
                <a:cs typeface="Times New Roman" pitchFamily="18" charset="0"/>
              </a:rPr>
              <a:t>Taiki</a:t>
            </a:r>
            <a:r>
              <a:rPr lang="en-US" sz="1800" dirty="0">
                <a:solidFill>
                  <a:schemeClr val="tx1"/>
                </a:solidFill>
                <a:latin typeface="Times New Roman" pitchFamily="18" charset="0"/>
                <a:cs typeface="Times New Roman" pitchFamily="18" charset="0"/>
              </a:rPr>
              <a:t> </a:t>
            </a:r>
            <a:r>
              <a:rPr lang="en-US" sz="1800" dirty="0" err="1">
                <a:solidFill>
                  <a:schemeClr val="tx1"/>
                </a:solidFill>
                <a:latin typeface="Times New Roman" pitchFamily="18" charset="0"/>
                <a:cs typeface="Times New Roman" pitchFamily="18" charset="0"/>
              </a:rPr>
              <a:t>Tamaoki</a:t>
            </a:r>
            <a:endParaRPr lang="en-US" altLang="zh-TW" sz="1800" dirty="0">
              <a:solidFill>
                <a:schemeClr val="tx1"/>
              </a:solidFill>
              <a:latin typeface="Times New Roman" pitchFamily="18" charset="0"/>
              <a:ea typeface="標楷體" pitchFamily="65" charset="-120"/>
              <a:cs typeface="Times New Roman" pitchFamily="18" charset="0"/>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928662" y="3873343"/>
            <a:ext cx="6868932" cy="461665"/>
          </a:xfrm>
          <a:prstGeom prst="rect">
            <a:avLst/>
          </a:prstGeom>
          <a:noFill/>
        </p:spPr>
        <p:txBody>
          <a:bodyPr wrap="none" rtlCol="0">
            <a:spAutoFit/>
          </a:bodyPr>
          <a:lstStyle/>
          <a:p>
            <a:pPr algn="ctr"/>
            <a:r>
              <a:rPr lang="en-US" sz="2400" b="1" dirty="0">
                <a:latin typeface="Times New Roman" pitchFamily="18" charset="0"/>
                <a:cs typeface="Times New Roman" pitchFamily="18" charset="0"/>
              </a:rPr>
              <a:t> </a:t>
            </a:r>
            <a:r>
              <a:rPr lang="en-US" sz="2400" i="1" dirty="0">
                <a:latin typeface="Times New Roman" pitchFamily="18" charset="0"/>
                <a:cs typeface="Times New Roman" pitchFamily="18" charset="0"/>
              </a:rPr>
              <a:t>Bioinformatics</a:t>
            </a:r>
            <a:r>
              <a:rPr lang="en-US" sz="2400" dirty="0">
                <a:latin typeface="Times New Roman" pitchFamily="18" charset="0"/>
                <a:cs typeface="Times New Roman" pitchFamily="18" charset="0"/>
              </a:rPr>
              <a:t>, Volume 1, Issue 2, 1985, Pages 83–87</a:t>
            </a:r>
            <a:endParaRPr lang="en-US" altLang="zh-TW" sz="2200" dirty="0">
              <a:latin typeface="Times New Roman" pitchFamily="18" charset="0"/>
              <a:ea typeface="標楷體" pitchFamily="65" charset="-120"/>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itchFamily="18" charset="0"/>
                <a:ea typeface="標楷體" pitchFamily="65" charset="-120"/>
                <a:cs typeface="Times New Roman" pitchFamily="18" charset="0"/>
              </a:rPr>
              <a:t>Presenter: Yuan-Hsiu Tsai</a:t>
            </a:r>
            <a:endParaRPr lang="zh-TW" altLang="en-US" sz="2400" dirty="0">
              <a:latin typeface="Times New Roman" pitchFamily="18" charset="0"/>
              <a:ea typeface="標楷體" pitchFamily="65" charset="-120"/>
              <a:cs typeface="Times New Roman"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24855"/>
            <a:ext cx="2548326"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ea typeface="標楷體" pitchFamily="65" charset="-120"/>
              </a:rPr>
              <a:t>Date: May. 5, 2020</a:t>
            </a:r>
            <a:endParaRPr lang="zh-TW" altLang="en-US" dirty="0">
              <a:ea typeface="標楷體" pitchFamily="65" charset="-120"/>
            </a:endParaRPr>
          </a:p>
        </p:txBody>
      </p:sp>
    </p:spTree>
    <p:extLst>
      <p:ext uri="{BB962C8B-B14F-4D97-AF65-F5344CB8AC3E}">
        <p14:creationId xmlns:p14="http://schemas.microsoft.com/office/powerpoint/2010/main" val="3557049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sz="2800" dirty="0"/>
              <a:t>An algorithm and a program have been developed which enable optimal alignments of biological sequences on an 8–bit microcomputer. The compiled program can process sequences up to 1000 residues on a Commodore 64. Since this program was written originally in the BASIC language, it may readily be adapted to other microcomputers with small changes.</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pic>
        <p:nvPicPr>
          <p:cNvPr id="6" name="內容版面配置區 5" descr="1.PNG"/>
          <p:cNvPicPr>
            <a:picLocks noGrp="1" noChangeAspect="1"/>
          </p:cNvPicPr>
          <p:nvPr>
            <p:ph idx="1"/>
          </p:nvPr>
        </p:nvPicPr>
        <p:blipFill>
          <a:blip r:embed="rId2"/>
          <a:stretch>
            <a:fillRect/>
          </a:stretch>
        </p:blipFill>
        <p:spPr>
          <a:xfrm>
            <a:off x="0" y="1643050"/>
            <a:ext cx="9098772" cy="4429156"/>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pic>
        <p:nvPicPr>
          <p:cNvPr id="5" name="內容版面配置區 4" descr="2.PNG"/>
          <p:cNvPicPr>
            <a:picLocks noGrp="1" noChangeAspect="1"/>
          </p:cNvPicPr>
          <p:nvPr>
            <p:ph idx="1"/>
          </p:nvPr>
        </p:nvPicPr>
        <p:blipFill>
          <a:blip r:embed="rId2"/>
          <a:stretch>
            <a:fillRect/>
          </a:stretch>
        </p:blipFill>
        <p:spPr>
          <a:xfrm>
            <a:off x="1285884" y="1214422"/>
            <a:ext cx="6715140" cy="5541502"/>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cs typeface="Times New Roman" pitchFamily="18" charset="0"/>
              </a:rPr>
              <a:t>Protein Alignment</a:t>
            </a:r>
            <a:endParaRPr lang="zh-TW" altLang="en-US" dirty="0">
              <a:latin typeface="Times New Roman" pitchFamily="18" charset="0"/>
              <a:cs typeface="Times New Roman" pitchFamily="18" charset="0"/>
            </a:endParaRPr>
          </a:p>
        </p:txBody>
      </p:sp>
      <p:pic>
        <p:nvPicPr>
          <p:cNvPr id="6" name="內容版面配置區 5" descr="3.PNG"/>
          <p:cNvPicPr>
            <a:picLocks noGrp="1" noChangeAspect="1"/>
          </p:cNvPicPr>
          <p:nvPr>
            <p:ph idx="1"/>
          </p:nvPr>
        </p:nvPicPr>
        <p:blipFill>
          <a:blip r:embed="rId2"/>
          <a:stretch>
            <a:fillRect/>
          </a:stretch>
        </p:blipFill>
        <p:spPr>
          <a:xfrm>
            <a:off x="0" y="1500174"/>
            <a:ext cx="9144000" cy="4544476"/>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a:latin typeface="Times New Roman" pitchFamily="18" charset="0"/>
                <a:ea typeface="標楷體" pitchFamily="65" charset="-120"/>
                <a:cs typeface="Times New Roman" pitchFamily="18" charset="0"/>
              </a:rPr>
              <a:t>Efficient Alignment of Very Long Sequences</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sz="1800" dirty="0" err="1">
                <a:solidFill>
                  <a:schemeClr val="tx1"/>
                </a:solidFill>
                <a:latin typeface="Times New Roman" pitchFamily="18" charset="0"/>
                <a:cs typeface="Times New Roman" pitchFamily="18" charset="0"/>
              </a:rPr>
              <a:t>Chunchun</a:t>
            </a:r>
            <a:r>
              <a:rPr lang="en-US" sz="1800" dirty="0">
                <a:solidFill>
                  <a:schemeClr val="tx1"/>
                </a:solidFill>
                <a:latin typeface="Times New Roman" pitchFamily="18" charset="0"/>
                <a:cs typeface="Times New Roman" pitchFamily="18" charset="0"/>
              </a:rPr>
              <a:t> Zhao, </a:t>
            </a:r>
            <a:r>
              <a:rPr lang="en-US" sz="1800" dirty="0" err="1">
                <a:solidFill>
                  <a:schemeClr val="tx1"/>
                </a:solidFill>
                <a:latin typeface="Times New Roman" pitchFamily="18" charset="0"/>
                <a:cs typeface="Times New Roman" pitchFamily="18" charset="0"/>
              </a:rPr>
              <a:t>Sartaj</a:t>
            </a:r>
            <a:r>
              <a:rPr lang="en-US" sz="1800" dirty="0">
                <a:solidFill>
                  <a:schemeClr val="tx1"/>
                </a:solidFill>
                <a:latin typeface="Times New Roman" pitchFamily="18" charset="0"/>
                <a:cs typeface="Times New Roman" pitchFamily="18" charset="0"/>
              </a:rPr>
              <a:t> </a:t>
            </a:r>
            <a:r>
              <a:rPr lang="en-US" sz="1800" dirty="0" err="1">
                <a:solidFill>
                  <a:schemeClr val="tx1"/>
                </a:solidFill>
                <a:latin typeface="Times New Roman" pitchFamily="18" charset="0"/>
                <a:cs typeface="Times New Roman" pitchFamily="18" charset="0"/>
              </a:rPr>
              <a:t>Sahni</a:t>
            </a:r>
            <a:endParaRPr lang="en-US" altLang="zh-TW" sz="1800" dirty="0">
              <a:solidFill>
                <a:schemeClr val="tx1"/>
              </a:solidFill>
              <a:latin typeface="Times New Roman" pitchFamily="18" charset="0"/>
              <a:ea typeface="標楷體" pitchFamily="65" charset="-120"/>
              <a:cs typeface="Times New Roman" pitchFamily="18" charset="0"/>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428596" y="3857628"/>
            <a:ext cx="8526886" cy="830997"/>
          </a:xfrm>
          <a:prstGeom prst="rect">
            <a:avLst/>
          </a:prstGeom>
          <a:noFill/>
        </p:spPr>
        <p:txBody>
          <a:bodyPr wrap="none" rtlCol="0">
            <a:spAutoFit/>
          </a:bodyPr>
          <a:lstStyle/>
          <a:p>
            <a:pPr algn="ctr"/>
            <a:r>
              <a:rPr lang="en-US" sz="2400" dirty="0">
                <a:latin typeface="Times New Roman" pitchFamily="18" charset="0"/>
                <a:cs typeface="Times New Roman" pitchFamily="18" charset="0"/>
              </a:rPr>
              <a:t>Advances in Science, Technology and Engineering Systems Journal</a:t>
            </a:r>
          </a:p>
          <a:p>
            <a:pPr algn="ctr"/>
            <a:r>
              <a:rPr lang="en-US" sz="2400" dirty="0">
                <a:latin typeface="Times New Roman" pitchFamily="18" charset="0"/>
                <a:cs typeface="Times New Roman" pitchFamily="18" charset="0"/>
              </a:rPr>
              <a:t>Vol. 3, No. 2, 329-345 (2018)</a:t>
            </a:r>
            <a:endParaRPr lang="en-US" altLang="zh-TW" sz="2200" dirty="0">
              <a:latin typeface="Times New Roman" pitchFamily="18" charset="0"/>
              <a:ea typeface="標楷體" pitchFamily="65" charset="-120"/>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itchFamily="18" charset="0"/>
                <a:ea typeface="標楷體" pitchFamily="65" charset="-120"/>
                <a:cs typeface="Times New Roman" pitchFamily="18" charset="0"/>
              </a:rPr>
              <a:t>Presenter: Yuan-Hsiu Tsai</a:t>
            </a:r>
            <a:endParaRPr lang="zh-TW" altLang="en-US" sz="2400" dirty="0">
              <a:latin typeface="Times New Roman" pitchFamily="18" charset="0"/>
              <a:ea typeface="標楷體" pitchFamily="65" charset="-120"/>
              <a:cs typeface="Times New Roman"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24855"/>
            <a:ext cx="2548326"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ea typeface="標楷體" pitchFamily="65" charset="-120"/>
              </a:rPr>
              <a:t>Date: May. 5, 2020</a:t>
            </a:r>
            <a:endParaRPr lang="zh-TW" altLang="en-US" dirty="0">
              <a:ea typeface="標楷體" pitchFamily="65" charset="-120"/>
            </a:endParaRPr>
          </a:p>
        </p:txBody>
      </p:sp>
    </p:spTree>
    <p:extLst>
      <p:ext uri="{BB962C8B-B14F-4D97-AF65-F5344CB8AC3E}">
        <p14:creationId xmlns:p14="http://schemas.microsoft.com/office/powerpoint/2010/main" val="3557049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sz="2800" dirty="0">
                <a:latin typeface="Times New Roman" pitchFamily="18" charset="0"/>
                <a:cs typeface="Times New Roman" pitchFamily="18" charset="0"/>
              </a:rPr>
              <a:t>We consider the problem of aligning two very long biological sequences. The score for the best alignment may be found using the Smith-Waterman scoring algorithm while the best alignment itself maybe determined using Myers and Miller’s alignment algorithm. Neither of these algorithms takes advantage of computer caches to obtain high efficiency. We propose cache-efficient algorithms to determine the score of the best alignment as well as the best alignment itself. All algorithms were implemented using C and </a:t>
            </a:r>
            <a:r>
              <a:rPr lang="en-US" sz="2800" dirty="0" err="1">
                <a:latin typeface="Times New Roman" pitchFamily="18" charset="0"/>
                <a:cs typeface="Times New Roman" pitchFamily="18" charset="0"/>
              </a:rPr>
              <a:t>OpenMP</a:t>
            </a:r>
            <a:r>
              <a:rPr lang="en-US" sz="2800" dirty="0">
                <a:latin typeface="Times New Roman" pitchFamily="18" charset="0"/>
                <a:cs typeface="Times New Roman" pitchFamily="18" charset="0"/>
              </a:rPr>
              <a:t>, and benchmarked using real data sets from the National Center for Biotechnology In-formation (NCBI) database.</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sz="2800" dirty="0">
                <a:latin typeface="Times New Roman" pitchFamily="18" charset="0"/>
                <a:cs typeface="Times New Roman" pitchFamily="18" charset="0"/>
              </a:rPr>
              <a:t>The test computational platforms were Xeon E5 2603, I7-x980 and Xeon E5 2695. Our best single-core cache-efficient scoring algorithm reduces the running time by as much as19.7% relative to the Smith-Waterman scoring algorithm and our </a:t>
            </a:r>
            <a:r>
              <a:rPr lang="en-US" sz="2800" dirty="0" err="1">
                <a:latin typeface="Times New Roman" pitchFamily="18" charset="0"/>
                <a:cs typeface="Times New Roman" pitchFamily="18" charset="0"/>
              </a:rPr>
              <a:t>bestcache</a:t>
            </a:r>
            <a:r>
              <a:rPr lang="en-US" sz="2800" dirty="0">
                <a:latin typeface="Times New Roman" pitchFamily="18" charset="0"/>
                <a:cs typeface="Times New Roman" pitchFamily="18" charset="0"/>
              </a:rPr>
              <a:t>-efficient alignment algorithm reduces the running time by as much as 17.1% relative to the Myers and Miller alignment algorithm. </a:t>
            </a:r>
            <a:r>
              <a:rPr lang="en-US" sz="2800" dirty="0" err="1">
                <a:latin typeface="Times New Roman" pitchFamily="18" charset="0"/>
                <a:cs typeface="Times New Roman" pitchFamily="18" charset="0"/>
              </a:rPr>
              <a:t>Multicore</a:t>
            </a:r>
            <a:r>
              <a:rPr lang="en-US" sz="2800" dirty="0">
                <a:latin typeface="Times New Roman" pitchFamily="18" charset="0"/>
                <a:cs typeface="Times New Roman" pitchFamily="18" charset="0"/>
              </a:rPr>
              <a:t> versions of our cache-efficient algorithms scale quite </a:t>
            </a:r>
            <a:r>
              <a:rPr lang="en-US" sz="2800" dirty="0" err="1">
                <a:latin typeface="Times New Roman" pitchFamily="18" charset="0"/>
                <a:cs typeface="Times New Roman" pitchFamily="18" charset="0"/>
              </a:rPr>
              <a:t>wellup</a:t>
            </a:r>
            <a:r>
              <a:rPr lang="en-US" sz="2800" dirty="0">
                <a:latin typeface="Times New Roman" pitchFamily="18" charset="0"/>
                <a:cs typeface="Times New Roman" pitchFamily="18" charset="0"/>
              </a:rPr>
              <a:t> to the 24 cores we tested; achieving a speedup of 22 with 24 cores. Our multi-core scoring and alignment algorithms reduce the running time by as much as 61.4% and 47.3% relative to multi-core versions of the Smith-Waterman scoring algorithm and Myers and </a:t>
            </a:r>
            <a:r>
              <a:rPr lang="en-US" sz="2800" dirty="0" err="1">
                <a:latin typeface="Times New Roman" pitchFamily="18" charset="0"/>
                <a:cs typeface="Times New Roman" pitchFamily="18" charset="0"/>
              </a:rPr>
              <a:t>Miller’salignment</a:t>
            </a:r>
            <a:r>
              <a:rPr lang="en-US" sz="2800" dirty="0">
                <a:latin typeface="Times New Roman" pitchFamily="18" charset="0"/>
                <a:cs typeface="Times New Roman" pitchFamily="18" charset="0"/>
              </a:rPr>
              <a:t> algorithm, respectively.</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Times New Roman" pitchFamily="18" charset="0"/>
                <a:cs typeface="Times New Roman" pitchFamily="18" charset="0"/>
              </a:rPr>
              <a:t>Algortithm</a:t>
            </a:r>
            <a:endParaRPr lang="zh-TW" altLang="en-US" dirty="0">
              <a:latin typeface="Times New Roman" pitchFamily="18" charset="0"/>
              <a:cs typeface="Times New Roman" pitchFamily="18" charset="0"/>
            </a:endParaRPr>
          </a:p>
        </p:txBody>
      </p:sp>
      <p:sp>
        <p:nvSpPr>
          <p:cNvPr id="5" name="內容版面配置區 4"/>
          <p:cNvSpPr>
            <a:spLocks noGrp="1"/>
          </p:cNvSpPr>
          <p:nvPr>
            <p:ph idx="1"/>
          </p:nvPr>
        </p:nvSpPr>
        <p:spPr>
          <a:xfrm>
            <a:off x="457200" y="1214422"/>
            <a:ext cx="8229600" cy="5643578"/>
          </a:xfrm>
        </p:spPr>
        <p:txBody>
          <a:bodyPr>
            <a:normAutofit/>
          </a:bodyPr>
          <a:lstStyle/>
          <a:p>
            <a:r>
              <a:rPr lang="en-US" altLang="zh-TW" dirty="0">
                <a:latin typeface="Times New Roman" pitchFamily="18" charset="0"/>
                <a:cs typeface="Times New Roman" pitchFamily="18" charset="0"/>
              </a:rPr>
              <a:t>Five algorithm</a:t>
            </a: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1. Needleman-</a:t>
            </a:r>
            <a:r>
              <a:rPr lang="en-US" altLang="zh-TW" dirty="0" err="1">
                <a:latin typeface="Times New Roman" pitchFamily="18" charset="0"/>
                <a:cs typeface="Times New Roman" pitchFamily="18" charset="0"/>
              </a:rPr>
              <a:t>Wunsch</a:t>
            </a:r>
            <a:r>
              <a:rPr lang="en-US" altLang="zh-TW" dirty="0">
                <a:latin typeface="Times New Roman" pitchFamily="18" charset="0"/>
                <a:cs typeface="Times New Roman" pitchFamily="18" charset="0"/>
              </a:rPr>
              <a:t>(NW) Algorithm </a:t>
            </a: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2. Smith-Waterman(SW) Algorithm</a:t>
            </a: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3. Hirschberg algorithm</a:t>
            </a: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4. Strip Algorithm</a:t>
            </a: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5. Diagonal Algorithm</a:t>
            </a:r>
          </a:p>
          <a:p>
            <a:endParaRPr lang="zh-TW" altLang="en-US"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latin typeface="Times New Roman" pitchFamily="18" charset="0"/>
                <a:cs typeface="Times New Roman" pitchFamily="18" charset="0"/>
              </a:rPr>
              <a:t>Needleman-</a:t>
            </a:r>
            <a:r>
              <a:rPr lang="en-US" altLang="zh-TW" dirty="0" err="1">
                <a:latin typeface="Times New Roman" pitchFamily="18" charset="0"/>
                <a:cs typeface="Times New Roman" pitchFamily="18" charset="0"/>
              </a:rPr>
              <a:t>Wunsch</a:t>
            </a:r>
            <a:r>
              <a:rPr lang="en-US" altLang="zh-TW" dirty="0">
                <a:latin typeface="Times New Roman" pitchFamily="18" charset="0"/>
                <a:cs typeface="Times New Roman" pitchFamily="18" charset="0"/>
              </a:rPr>
              <a:t>(NW) Algorithm</a:t>
            </a:r>
            <a:endParaRPr lang="zh-TW" altLang="en-US" dirty="0">
              <a:latin typeface="Times New Roman" pitchFamily="18" charset="0"/>
              <a:cs typeface="Times New Roman" pitchFamily="18" charset="0"/>
            </a:endParaRPr>
          </a:p>
        </p:txBody>
      </p:sp>
      <p:pic>
        <p:nvPicPr>
          <p:cNvPr id="6" name="內容版面配置區 5" descr="6.png"/>
          <p:cNvPicPr>
            <a:picLocks noGrp="1" noChangeAspect="1"/>
          </p:cNvPicPr>
          <p:nvPr>
            <p:ph idx="1"/>
          </p:nvPr>
        </p:nvPicPr>
        <p:blipFill>
          <a:blip r:embed="rId2"/>
          <a:stretch>
            <a:fillRect/>
          </a:stretch>
        </p:blipFill>
        <p:spPr>
          <a:xfrm>
            <a:off x="1643042" y="1071522"/>
            <a:ext cx="5786478" cy="5786478"/>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latin typeface="Times New Roman" pitchFamily="18" charset="0"/>
                <a:cs typeface="Times New Roman" pitchFamily="18" charset="0"/>
              </a:rPr>
              <a:t>Smith-Waterman(SW) Algorithm</a:t>
            </a:r>
            <a:endParaRPr lang="zh-TW" altLang="en-US" dirty="0">
              <a:latin typeface="Times New Roman" pitchFamily="18" charset="0"/>
              <a:cs typeface="Times New Roman" pitchFamily="18" charset="0"/>
            </a:endParaRPr>
          </a:p>
        </p:txBody>
      </p:sp>
      <p:pic>
        <p:nvPicPr>
          <p:cNvPr id="5" name="內容版面配置區 4" descr="7.png"/>
          <p:cNvPicPr>
            <a:picLocks noGrp="1" noChangeAspect="1"/>
          </p:cNvPicPr>
          <p:nvPr>
            <p:ph idx="1"/>
          </p:nvPr>
        </p:nvPicPr>
        <p:blipFill>
          <a:blip r:embed="rId2"/>
          <a:stretch>
            <a:fillRect/>
          </a:stretch>
        </p:blipFill>
        <p:spPr>
          <a:xfrm>
            <a:off x="357158" y="1571612"/>
            <a:ext cx="4000528" cy="4400581"/>
          </a:xfrm>
        </p:spPr>
      </p:pic>
      <p:pic>
        <p:nvPicPr>
          <p:cNvPr id="7" name="圖片 6" descr="8.png"/>
          <p:cNvPicPr>
            <a:picLocks noChangeAspect="1"/>
          </p:cNvPicPr>
          <p:nvPr/>
        </p:nvPicPr>
        <p:blipFill>
          <a:blip r:embed="rId3"/>
          <a:stretch>
            <a:fillRect/>
          </a:stretch>
        </p:blipFill>
        <p:spPr>
          <a:xfrm>
            <a:off x="5000628" y="1571612"/>
            <a:ext cx="3429024" cy="480063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latin typeface="Times New Roman" pitchFamily="18" charset="0"/>
                <a:cs typeface="Times New Roman" pitchFamily="18" charset="0"/>
              </a:rPr>
              <a:t>Hirschberg algorithm</a:t>
            </a:r>
            <a:endParaRPr lang="zh-TW" altLang="en-US" dirty="0">
              <a:latin typeface="Times New Roman" pitchFamily="18" charset="0"/>
              <a:cs typeface="Times New Roman" pitchFamily="18" charset="0"/>
            </a:endParaRPr>
          </a:p>
        </p:txBody>
      </p:sp>
      <p:pic>
        <p:nvPicPr>
          <p:cNvPr id="8" name="內容版面配置區 7" descr="9.PNG"/>
          <p:cNvPicPr>
            <a:picLocks noGrp="1" noChangeAspect="1"/>
          </p:cNvPicPr>
          <p:nvPr>
            <p:ph idx="1"/>
          </p:nvPr>
        </p:nvPicPr>
        <p:blipFill>
          <a:blip r:embed="rId2"/>
          <a:stretch>
            <a:fillRect/>
          </a:stretch>
        </p:blipFill>
        <p:spPr>
          <a:xfrm>
            <a:off x="214282" y="2214554"/>
            <a:ext cx="4639323" cy="3410426"/>
          </a:xfrm>
        </p:spPr>
      </p:pic>
      <p:pic>
        <p:nvPicPr>
          <p:cNvPr id="9" name="圖片 8" descr="10.PNG"/>
          <p:cNvPicPr>
            <a:picLocks noChangeAspect="1"/>
          </p:cNvPicPr>
          <p:nvPr/>
        </p:nvPicPr>
        <p:blipFill>
          <a:blip r:embed="rId3"/>
          <a:stretch>
            <a:fillRect/>
          </a:stretch>
        </p:blipFill>
        <p:spPr>
          <a:xfrm>
            <a:off x="4929190" y="1643050"/>
            <a:ext cx="4134427" cy="2152951"/>
          </a:xfrm>
          <a:prstGeom prst="rect">
            <a:avLst/>
          </a:prstGeom>
        </p:spPr>
      </p:pic>
      <p:pic>
        <p:nvPicPr>
          <p:cNvPr id="10" name="圖片 9" descr="11.PNG"/>
          <p:cNvPicPr>
            <a:picLocks noChangeAspect="1"/>
          </p:cNvPicPr>
          <p:nvPr/>
        </p:nvPicPr>
        <p:blipFill>
          <a:blip r:embed="rId4"/>
          <a:stretch>
            <a:fillRect/>
          </a:stretch>
        </p:blipFill>
        <p:spPr>
          <a:xfrm>
            <a:off x="5004870" y="4476479"/>
            <a:ext cx="3924848" cy="2095793"/>
          </a:xfrm>
          <a:prstGeom prst="rect">
            <a:avLst/>
          </a:prstGeom>
        </p:spPr>
      </p:pic>
      <p:sp>
        <p:nvSpPr>
          <p:cNvPr id="11" name="向右箭號 10"/>
          <p:cNvSpPr/>
          <p:nvPr/>
        </p:nvSpPr>
        <p:spPr>
          <a:xfrm>
            <a:off x="4429124" y="3714752"/>
            <a:ext cx="500066" cy="5715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p:cNvSpPr txBox="1"/>
          <p:nvPr/>
        </p:nvSpPr>
        <p:spPr>
          <a:xfrm>
            <a:off x="6572264" y="4286256"/>
            <a:ext cx="1800493" cy="276999"/>
          </a:xfrm>
          <a:prstGeom prst="rect">
            <a:avLst/>
          </a:prstGeom>
          <a:noFill/>
        </p:spPr>
        <p:txBody>
          <a:bodyPr wrap="none" rtlCol="0">
            <a:spAutoFit/>
          </a:bodyPr>
          <a:lstStyle/>
          <a:p>
            <a:r>
              <a:rPr lang="zh-TW" altLang="en-US" sz="1200" dirty="0">
                <a:latin typeface="標楷體" pitchFamily="65" charset="-120"/>
                <a:ea typeface="標楷體" pitchFamily="65" charset="-120"/>
              </a:rPr>
              <a:t>這個序列是</a:t>
            </a:r>
            <a:r>
              <a:rPr lang="en-US" altLang="zh-TW" sz="1200" dirty="0">
                <a:latin typeface="標楷體" pitchFamily="65" charset="-120"/>
                <a:ea typeface="標楷體" pitchFamily="65" charset="-120"/>
              </a:rPr>
              <a:t>inversion</a:t>
            </a:r>
            <a:r>
              <a:rPr lang="zh-TW" altLang="en-US" sz="1200" dirty="0">
                <a:latin typeface="標楷體" pitchFamily="65" charset="-120"/>
                <a:ea typeface="標楷體" pitchFamily="65" charset="-120"/>
              </a:rPr>
              <a:t>的</a:t>
            </a:r>
          </a:p>
        </p:txBody>
      </p:sp>
      <p:cxnSp>
        <p:nvCxnSpPr>
          <p:cNvPr id="14" name="直線接點 13"/>
          <p:cNvCxnSpPr/>
          <p:nvPr/>
        </p:nvCxnSpPr>
        <p:spPr>
          <a:xfrm>
            <a:off x="8429652" y="4429132"/>
            <a:ext cx="41408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rot="5400000">
            <a:off x="8700861" y="4572008"/>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rot="10800000">
            <a:off x="8629423" y="4714884"/>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latin typeface="Times New Roman" pitchFamily="18" charset="0"/>
                <a:cs typeface="Times New Roman" pitchFamily="18" charset="0"/>
              </a:rPr>
              <a:t>Hirschberg algorithm</a:t>
            </a:r>
            <a:endParaRPr lang="zh-TW" altLang="en-US" dirty="0">
              <a:latin typeface="Times New Roman" pitchFamily="18" charset="0"/>
              <a:cs typeface="Times New Roman" pitchFamily="18" charset="0"/>
            </a:endParaRPr>
          </a:p>
        </p:txBody>
      </p:sp>
      <p:pic>
        <p:nvPicPr>
          <p:cNvPr id="13" name="圖片 12" descr="11.PNG"/>
          <p:cNvPicPr>
            <a:picLocks noChangeAspect="1"/>
          </p:cNvPicPr>
          <p:nvPr/>
        </p:nvPicPr>
        <p:blipFill>
          <a:blip r:embed="rId2"/>
          <a:stretch>
            <a:fillRect/>
          </a:stretch>
        </p:blipFill>
        <p:spPr>
          <a:xfrm>
            <a:off x="0" y="1714488"/>
            <a:ext cx="3924848" cy="2095793"/>
          </a:xfrm>
          <a:prstGeom prst="rect">
            <a:avLst/>
          </a:prstGeom>
        </p:spPr>
      </p:pic>
      <p:pic>
        <p:nvPicPr>
          <p:cNvPr id="14" name="圖片 13" descr="12.PNG"/>
          <p:cNvPicPr>
            <a:picLocks noChangeAspect="1"/>
          </p:cNvPicPr>
          <p:nvPr/>
        </p:nvPicPr>
        <p:blipFill>
          <a:blip r:embed="rId3"/>
          <a:stretch>
            <a:fillRect/>
          </a:stretch>
        </p:blipFill>
        <p:spPr>
          <a:xfrm>
            <a:off x="3728304" y="2285992"/>
            <a:ext cx="5487166" cy="1124107"/>
          </a:xfrm>
          <a:prstGeom prst="rect">
            <a:avLst/>
          </a:prstGeom>
        </p:spPr>
      </p:pic>
      <p:pic>
        <p:nvPicPr>
          <p:cNvPr id="15" name="圖片 14" descr="13.PNG"/>
          <p:cNvPicPr>
            <a:picLocks noChangeAspect="1"/>
          </p:cNvPicPr>
          <p:nvPr/>
        </p:nvPicPr>
        <p:blipFill>
          <a:blip r:embed="rId4"/>
          <a:stretch>
            <a:fillRect/>
          </a:stretch>
        </p:blipFill>
        <p:spPr>
          <a:xfrm>
            <a:off x="2713727" y="4438312"/>
            <a:ext cx="6430273" cy="2419688"/>
          </a:xfrm>
          <a:prstGeom prst="rect">
            <a:avLst/>
          </a:prstGeom>
        </p:spPr>
      </p:pic>
      <p:sp>
        <p:nvSpPr>
          <p:cNvPr id="16" name="向下箭號 15"/>
          <p:cNvSpPr/>
          <p:nvPr/>
        </p:nvSpPr>
        <p:spPr>
          <a:xfrm>
            <a:off x="5429256" y="3571876"/>
            <a:ext cx="571504"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p:cNvSpPr txBox="1"/>
          <p:nvPr/>
        </p:nvSpPr>
        <p:spPr>
          <a:xfrm>
            <a:off x="6072198" y="3571876"/>
            <a:ext cx="2000264" cy="646331"/>
          </a:xfrm>
          <a:prstGeom prst="rect">
            <a:avLst/>
          </a:prstGeom>
          <a:noFill/>
        </p:spPr>
        <p:txBody>
          <a:bodyPr wrap="square" rtlCol="0">
            <a:spAutoFit/>
          </a:bodyPr>
          <a:lstStyle/>
          <a:p>
            <a:r>
              <a:rPr lang="zh-TW" altLang="en-US" dirty="0">
                <a:latin typeface="標楷體" pitchFamily="65" charset="-120"/>
                <a:ea typeface="標楷體" pitchFamily="65" charset="-120"/>
              </a:rPr>
              <a:t>得出切點在第</a:t>
            </a:r>
            <a:r>
              <a:rPr lang="en-US" altLang="zh-TW" dirty="0">
                <a:latin typeface="標楷體" pitchFamily="65" charset="-120"/>
                <a:ea typeface="標楷體" pitchFamily="65" charset="-120"/>
              </a:rPr>
              <a:t>2</a:t>
            </a:r>
            <a:r>
              <a:rPr lang="zh-TW" altLang="en-US" dirty="0">
                <a:latin typeface="標楷體" pitchFamily="65" charset="-120"/>
                <a:ea typeface="標楷體" pitchFamily="65" charset="-120"/>
              </a:rPr>
              <a:t>個字母位置</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dirty="0">
                <a:latin typeface="Times New Roman" pitchFamily="18" charset="0"/>
                <a:cs typeface="Times New Roman" pitchFamily="18" charset="0"/>
              </a:rPr>
              <a:t>Myers and Miller’s algorithm</a:t>
            </a:r>
            <a:endParaRPr lang="zh-TW" altLang="en-US" dirty="0"/>
          </a:p>
        </p:txBody>
      </p:sp>
      <p:pic>
        <p:nvPicPr>
          <p:cNvPr id="4" name="內容版面配置區 3" descr="3.PNG"/>
          <p:cNvPicPr>
            <a:picLocks noGrp="1" noChangeAspect="1"/>
          </p:cNvPicPr>
          <p:nvPr>
            <p:ph idx="1"/>
          </p:nvPr>
        </p:nvPicPr>
        <p:blipFill>
          <a:blip r:embed="rId2"/>
          <a:stretch>
            <a:fillRect/>
          </a:stretch>
        </p:blipFill>
        <p:spPr>
          <a:xfrm>
            <a:off x="1643042" y="1214422"/>
            <a:ext cx="5572164" cy="5589742"/>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latin typeface="Times New Roman" pitchFamily="18" charset="0"/>
                <a:cs typeface="Times New Roman" pitchFamily="18" charset="0"/>
              </a:rPr>
              <a:t>Strip Algorithm</a:t>
            </a:r>
            <a:endParaRPr lang="zh-TW" altLang="en-US" dirty="0">
              <a:latin typeface="Times New Roman" pitchFamily="18" charset="0"/>
              <a:cs typeface="Times New Roman" pitchFamily="18" charset="0"/>
            </a:endParaRPr>
          </a:p>
        </p:txBody>
      </p:sp>
      <p:pic>
        <p:nvPicPr>
          <p:cNvPr id="8" name="圖片 7" descr="2.PNG"/>
          <p:cNvPicPr>
            <a:picLocks noChangeAspect="1"/>
          </p:cNvPicPr>
          <p:nvPr/>
        </p:nvPicPr>
        <p:blipFill>
          <a:blip r:embed="rId2"/>
          <a:stretch>
            <a:fillRect/>
          </a:stretch>
        </p:blipFill>
        <p:spPr>
          <a:xfrm>
            <a:off x="127584" y="1214422"/>
            <a:ext cx="8808114" cy="564357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latin typeface="Times New Roman" pitchFamily="18" charset="0"/>
                <a:cs typeface="Times New Roman" pitchFamily="18" charset="0"/>
              </a:rPr>
              <a:t>Diagonal Algorithm</a:t>
            </a:r>
            <a:endParaRPr lang="zh-TW" altLang="en-US" dirty="0">
              <a:latin typeface="Times New Roman" pitchFamily="18" charset="0"/>
              <a:cs typeface="Times New Roman" pitchFamily="18" charset="0"/>
            </a:endParaRPr>
          </a:p>
        </p:txBody>
      </p:sp>
      <p:pic>
        <p:nvPicPr>
          <p:cNvPr id="6" name="圖片 5" descr="1.PNG"/>
          <p:cNvPicPr>
            <a:picLocks noChangeAspect="1"/>
          </p:cNvPicPr>
          <p:nvPr/>
        </p:nvPicPr>
        <p:blipFill>
          <a:blip r:embed="rId2"/>
          <a:stretch>
            <a:fillRect/>
          </a:stretch>
        </p:blipFill>
        <p:spPr>
          <a:xfrm>
            <a:off x="0" y="1428736"/>
            <a:ext cx="9144000" cy="489857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latin typeface="Times New Roman" pitchFamily="18" charset="0"/>
                <a:cs typeface="Times New Roman" pitchFamily="18" charset="0"/>
              </a:rPr>
              <a:t>Diagonal Algorithm</a:t>
            </a:r>
            <a:endParaRPr lang="zh-TW" altLang="en-US" dirty="0">
              <a:latin typeface="Times New Roman" pitchFamily="18" charset="0"/>
              <a:cs typeface="Times New Roman" pitchFamily="18" charset="0"/>
            </a:endParaRPr>
          </a:p>
        </p:txBody>
      </p:sp>
      <p:pic>
        <p:nvPicPr>
          <p:cNvPr id="4" name="圖片 3" descr="4.PNG"/>
          <p:cNvPicPr>
            <a:picLocks noChangeAspect="1"/>
          </p:cNvPicPr>
          <p:nvPr/>
        </p:nvPicPr>
        <p:blipFill>
          <a:blip r:embed="rId2"/>
          <a:stretch>
            <a:fillRect/>
          </a:stretch>
        </p:blipFill>
        <p:spPr>
          <a:xfrm>
            <a:off x="928662" y="1285860"/>
            <a:ext cx="7057513" cy="527397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latin typeface="Times New Roman" pitchFamily="18" charset="0"/>
                <a:cs typeface="Times New Roman" pitchFamily="18" charset="0"/>
              </a:rPr>
              <a:t>Diagonal Algorithm</a:t>
            </a:r>
            <a:endParaRPr lang="zh-TW" altLang="en-US" dirty="0">
              <a:latin typeface="Times New Roman" pitchFamily="18" charset="0"/>
              <a:cs typeface="Times New Roman" pitchFamily="18" charset="0"/>
            </a:endParaRPr>
          </a:p>
        </p:txBody>
      </p:sp>
      <p:pic>
        <p:nvPicPr>
          <p:cNvPr id="5" name="圖片 4" descr="2.PNG"/>
          <p:cNvPicPr>
            <a:picLocks noChangeAspect="1"/>
          </p:cNvPicPr>
          <p:nvPr/>
        </p:nvPicPr>
        <p:blipFill>
          <a:blip r:embed="rId2"/>
          <a:stretch>
            <a:fillRect/>
          </a:stretch>
        </p:blipFill>
        <p:spPr>
          <a:xfrm>
            <a:off x="1142976" y="1214422"/>
            <a:ext cx="6805491" cy="564357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a:xfrm>
            <a:off x="142844" y="1600200"/>
            <a:ext cx="9001156" cy="4525963"/>
          </a:xfrm>
        </p:spPr>
        <p:txBody>
          <a:bodyPr>
            <a:normAutofit/>
          </a:bodyPr>
          <a:lstStyle/>
          <a:p>
            <a:pPr algn="ctr">
              <a:buNone/>
            </a:pPr>
            <a:r>
              <a:rPr lang="en-US" altLang="zh-TW" sz="7200" dirty="0">
                <a:latin typeface="Times New Roman" pitchFamily="18" charset="0"/>
                <a:cs typeface="Times New Roman" pitchFamily="18" charset="0"/>
              </a:rPr>
              <a:t>THANK you for Listening</a:t>
            </a:r>
            <a:endParaRPr lang="zh-TW" altLang="en-US" sz="72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820</TotalTime>
  <Words>796</Words>
  <Application>Microsoft Office PowerPoint</Application>
  <PresentationFormat>如螢幕大小 (4:3)</PresentationFormat>
  <Paragraphs>70</Paragraphs>
  <Slides>31</Slides>
  <Notes>9</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31</vt:i4>
      </vt:variant>
    </vt:vector>
  </HeadingPairs>
  <TitlesOfParts>
    <vt:vector size="36" baseType="lpstr">
      <vt:lpstr>標楷體</vt:lpstr>
      <vt:lpstr>Arial</vt:lpstr>
      <vt:lpstr>Calibri</vt:lpstr>
      <vt:lpstr>Times New Roman</vt:lpstr>
      <vt:lpstr>Office 佈景主題</vt:lpstr>
      <vt:lpstr>An Introduction to Protein Alignment Algorithms</vt:lpstr>
      <vt:lpstr>Index</vt:lpstr>
      <vt:lpstr>A novel structure of the Smith-Waterman Algorithm for efficient sequence alignment</vt:lpstr>
      <vt:lpstr>Abstract(1/2)</vt:lpstr>
      <vt:lpstr>Abstract(2/2)</vt:lpstr>
      <vt:lpstr>Protein Alignment</vt:lpstr>
      <vt:lpstr>Protein Alignment</vt:lpstr>
      <vt:lpstr>Protein Alignment</vt:lpstr>
      <vt:lpstr>Protein Alignment</vt:lpstr>
      <vt:lpstr>Protein Alignment</vt:lpstr>
      <vt:lpstr>Protein Alignment</vt:lpstr>
      <vt:lpstr>Protein Alignment</vt:lpstr>
      <vt:lpstr>Optimal alignments of biological sequences on a microcomputer</vt:lpstr>
      <vt:lpstr>Abstract</vt:lpstr>
      <vt:lpstr>Protein Alignment</vt:lpstr>
      <vt:lpstr>Protein Alignment</vt:lpstr>
      <vt:lpstr>Protein Alignment</vt:lpstr>
      <vt:lpstr>Efficient Alignment of Very Long Sequences</vt:lpstr>
      <vt:lpstr>Abstract(1/2)</vt:lpstr>
      <vt:lpstr>Abstract(2/2)</vt:lpstr>
      <vt:lpstr>Algortithm</vt:lpstr>
      <vt:lpstr>Needleman-Wunsch(NW) Algorithm</vt:lpstr>
      <vt:lpstr>Smith-Waterman(SW) Algorithm</vt:lpstr>
      <vt:lpstr>Hirschberg algorithm</vt:lpstr>
      <vt:lpstr>Hirschberg algorithm</vt:lpstr>
      <vt:lpstr>Myers and Miller’s algorithm</vt:lpstr>
      <vt:lpstr>Strip Algorithm</vt:lpstr>
      <vt:lpstr>Diagonal Algorithm</vt:lpstr>
      <vt:lpstr>Diagonal Algorithm</vt:lpstr>
      <vt:lpstr>Diagonal Algorithm</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pplab</cp:lastModifiedBy>
  <cp:revision>109</cp:revision>
  <dcterms:created xsi:type="dcterms:W3CDTF">2019-09-15T07:43:36Z</dcterms:created>
  <dcterms:modified xsi:type="dcterms:W3CDTF">2020-05-05T12:50:16Z</dcterms:modified>
</cp:coreProperties>
</file>